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315" r:id="rId3"/>
    <p:sldId id="326" r:id="rId4"/>
    <p:sldId id="296" r:id="rId5"/>
    <p:sldId id="295" r:id="rId6"/>
    <p:sldId id="391" r:id="rId7"/>
    <p:sldId id="390" r:id="rId8"/>
    <p:sldId id="609" r:id="rId9"/>
    <p:sldId id="389" r:id="rId10"/>
    <p:sldId id="608" r:id="rId11"/>
    <p:sldId id="610" r:id="rId12"/>
    <p:sldId id="319" r:id="rId13"/>
    <p:sldId id="318" r:id="rId14"/>
    <p:sldId id="525" r:id="rId16"/>
    <p:sldId id="321" r:id="rId17"/>
    <p:sldId id="395" r:id="rId18"/>
    <p:sldId id="526" r:id="rId19"/>
    <p:sldId id="298" r:id="rId20"/>
    <p:sldId id="314" r:id="rId21"/>
    <p:sldId id="527" r:id="rId22"/>
    <p:sldId id="297" r:id="rId23"/>
    <p:sldId id="277" r:id="rId24"/>
    <p:sldId id="324" r:id="rId25"/>
    <p:sldId id="323" r:id="rId26"/>
    <p:sldId id="325" r:id="rId27"/>
    <p:sldId id="278" r:id="rId28"/>
    <p:sldId id="612" r:id="rId29"/>
    <p:sldId id="311" r:id="rId30"/>
    <p:sldId id="310" r:id="rId31"/>
    <p:sldId id="613" r:id="rId32"/>
    <p:sldId id="611" r:id="rId33"/>
    <p:sldId id="328" r:id="rId34"/>
    <p:sldId id="614" r:id="rId35"/>
    <p:sldId id="617" r:id="rId36"/>
    <p:sldId id="616" r:id="rId37"/>
    <p:sldId id="284" r:id="rId38"/>
    <p:sldId id="285" r:id="rId39"/>
    <p:sldId id="530" r:id="rId40"/>
    <p:sldId id="531" r:id="rId41"/>
    <p:sldId id="532" r:id="rId42"/>
    <p:sldId id="618" r:id="rId43"/>
    <p:sldId id="534" r:id="rId44"/>
    <p:sldId id="536" r:id="rId45"/>
    <p:sldId id="621" r:id="rId46"/>
    <p:sldId id="622" r:id="rId47"/>
    <p:sldId id="623" r:id="rId48"/>
    <p:sldId id="537" r:id="rId49"/>
    <p:sldId id="538" r:id="rId50"/>
    <p:sldId id="539" r:id="rId51"/>
    <p:sldId id="540" r:id="rId52"/>
    <p:sldId id="290" r:id="rId53"/>
    <p:sldId id="624" r:id="rId54"/>
    <p:sldId id="625" r:id="rId55"/>
    <p:sldId id="626" r:id="rId56"/>
    <p:sldId id="627" r:id="rId57"/>
    <p:sldId id="528" r:id="rId58"/>
    <p:sldId id="331" r:id="rId59"/>
    <p:sldId id="628" r:id="rId60"/>
    <p:sldId id="629" r:id="rId61"/>
    <p:sldId id="630" r:id="rId62"/>
    <p:sldId id="631" r:id="rId63"/>
    <p:sldId id="632" r:id="rId64"/>
    <p:sldId id="633" r:id="rId65"/>
    <p:sldId id="634" r:id="rId66"/>
    <p:sldId id="635" r:id="rId67"/>
    <p:sldId id="636" r:id="rId68"/>
    <p:sldId id="637" r:id="rId69"/>
    <p:sldId id="638" r:id="rId70"/>
    <p:sldId id="640" r:id="rId71"/>
    <p:sldId id="641" r:id="rId72"/>
    <p:sldId id="642" r:id="rId73"/>
    <p:sldId id="643" r:id="rId74"/>
    <p:sldId id="644" r:id="rId75"/>
    <p:sldId id="645" r:id="rId76"/>
    <p:sldId id="646" r:id="rId77"/>
    <p:sldId id="647" r:id="rId78"/>
    <p:sldId id="648" r:id="rId79"/>
    <p:sldId id="649" r:id="rId80"/>
    <p:sldId id="650" r:id="rId81"/>
    <p:sldId id="651" r:id="rId82"/>
    <p:sldId id="652" r:id="rId83"/>
    <p:sldId id="653" r:id="rId84"/>
    <p:sldId id="654" r:id="rId85"/>
    <p:sldId id="655" r:id="rId86"/>
    <p:sldId id="656" r:id="rId87"/>
    <p:sldId id="657" r:id="rId88"/>
    <p:sldId id="658" r:id="rId89"/>
    <p:sldId id="659" r:id="rId90"/>
    <p:sldId id="660" r:id="rId91"/>
    <p:sldId id="661" r:id="rId92"/>
    <p:sldId id="662" r:id="rId93"/>
    <p:sldId id="663" r:id="rId94"/>
    <p:sldId id="664" r:id="rId95"/>
    <p:sldId id="665" r:id="rId96"/>
    <p:sldId id="666" r:id="rId97"/>
    <p:sldId id="667" r:id="rId98"/>
    <p:sldId id="668" r:id="rId99"/>
  </p:sldIdLst>
  <p:sldSz cx="9144000" cy="6858000" type="screen4x3"/>
  <p:notesSz cx="6858000" cy="9144000"/>
  <p:custShowLst>
    <p:custShow name="自定义放映1" id="0">
      <p:sldLst/>
    </p:custShow>
  </p:custShowLst>
  <p:custDataLst>
    <p:tags r:id="rId104"/>
  </p:custDataLst>
  <p:defaultTextStyle>
    <a:defPPr>
      <a:defRPr lang="zh-CN"/>
    </a:defPPr>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9" userDrawn="1">
          <p15:clr>
            <a:srgbClr val="A4A3A4"/>
          </p15:clr>
        </p15:guide>
        <p15:guide id="2" pos="278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 id="2" name="WPS" initials="W"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FF"/>
    <a:srgbClr val="FF3300"/>
    <a:srgbClr val="66FFFF"/>
    <a:srgbClr val="006600"/>
    <a:srgbClr val="FF33CC"/>
    <a:srgbClr val="A029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09"/>
    <p:restoredTop sz="90929"/>
  </p:normalViewPr>
  <p:slideViewPr>
    <p:cSldViewPr showGuides="1">
      <p:cViewPr>
        <p:scale>
          <a:sx n="87" d="100"/>
          <a:sy n="87" d="100"/>
        </p:scale>
        <p:origin x="848" y="-396"/>
      </p:cViewPr>
      <p:guideLst>
        <p:guide orient="horz" pos="2179"/>
        <p:guide pos="2784"/>
      </p:guideLst>
    </p:cSldViewPr>
  </p:slideViewPr>
  <p:outlineViewPr>
    <p:cViewPr>
      <p:scale>
        <a:sx n="33" d="100"/>
        <a:sy n="33" d="100"/>
      </p:scale>
      <p:origin x="0" y="0"/>
    </p:cViewPr>
  </p:outlineViewPr>
  <p:notesTextViewPr>
    <p:cViewPr>
      <p:scale>
        <a:sx n="100" d="100"/>
        <a:sy n="100" d="100"/>
      </p:scale>
      <p:origin x="0" y="0"/>
    </p:cViewPr>
  </p:notesTextViewPr>
  <p:gridSpacing cx="36000" cy="360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4" Type="http://schemas.openxmlformats.org/officeDocument/2006/relationships/tags" Target="tags/tag49.xml"/><Relationship Id="rId103" Type="http://schemas.openxmlformats.org/officeDocument/2006/relationships/commentAuthors" Target="commentAuthors.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0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0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页眉占位符 4097"/>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p>
        </p:txBody>
      </p:sp>
      <p:sp>
        <p:nvSpPr>
          <p:cNvPr id="4099" name="日期占位符 4098"/>
          <p:cNvSpPr>
            <a:spLocks noGrp="1"/>
          </p:cNvSpPr>
          <p:nvPr>
            <p:ph type="dt" idx="1"/>
          </p:nvPr>
        </p:nvSpPr>
        <p:spPr>
          <a:xfrm>
            <a:off x="3886200" y="0"/>
            <a:ext cx="2971800" cy="457200"/>
          </a:xfrm>
          <a:prstGeom prst="rect">
            <a:avLst/>
          </a:prstGeom>
          <a:noFill/>
          <a:ln w="9525">
            <a:noFill/>
          </a:ln>
        </p:spPr>
        <p:txBody>
          <a:bodyPr/>
          <a:lstStyle/>
          <a:p>
            <a:pPr lvl="0" algn="r"/>
            <a:endParaRPr lang="zh-CN" altLang="en-US" sz="1200" dirty="0"/>
          </a:p>
        </p:txBody>
      </p:sp>
      <p:sp>
        <p:nvSpPr>
          <p:cNvPr id="4100" name="幻灯片图像占位符 4099"/>
          <p:cNvSpPr>
            <a:spLocks noGrp="1" noRot="1" noChangeAspec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4101" name="文本占位符 4100"/>
          <p:cNvSpPr>
            <a:spLocks noGrp="1"/>
          </p:cNvSpPr>
          <p:nvPr>
            <p:ph type="body" sz="quarter" idx="3"/>
          </p:nvPr>
        </p:nvSpPr>
        <p:spPr>
          <a:xfrm>
            <a:off x="914400" y="4343400"/>
            <a:ext cx="5029200" cy="41148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2" name="页脚占位符 4101"/>
          <p:cNvSpPr>
            <a:spLocks noGrp="1"/>
          </p:cNvSpPr>
          <p:nvPr>
            <p:ph type="ftr" sz="quarter" idx="4"/>
          </p:nvPr>
        </p:nvSpPr>
        <p:spPr>
          <a:xfrm>
            <a:off x="0" y="8686800"/>
            <a:ext cx="2971800" cy="457200"/>
          </a:xfrm>
          <a:prstGeom prst="rect">
            <a:avLst/>
          </a:prstGeom>
          <a:noFill/>
          <a:ln w="9525">
            <a:noFill/>
          </a:ln>
        </p:spPr>
        <p:txBody>
          <a:bodyPr anchor="b"/>
          <a:lstStyle/>
          <a:p>
            <a:pPr lvl="0"/>
            <a:endParaRPr lang="zh-CN" altLang="en-US" sz="1200" dirty="0"/>
          </a:p>
        </p:txBody>
      </p:sp>
      <p:sp>
        <p:nvSpPr>
          <p:cNvPr id="4103" name="灯片编号占位符 4102"/>
          <p:cNvSpPr>
            <a:spLocks noGrp="1"/>
          </p:cNvSpPr>
          <p:nvPr>
            <p:ph type="sldNum" sz="quarter" idx="5"/>
          </p:nvPr>
        </p:nvSpPr>
        <p:spPr>
          <a:xfrm>
            <a:off x="3886200" y="8686800"/>
            <a:ext cx="2971800" cy="457200"/>
          </a:xfrm>
          <a:prstGeom prst="rect">
            <a:avLst/>
          </a:prstGeom>
          <a:noFill/>
          <a:ln w="9525">
            <a:noFill/>
          </a:ln>
        </p:spPr>
        <p:txBody>
          <a:bodyPr anchor="b"/>
          <a:lstStyle/>
          <a:p>
            <a:pPr lvl="0" algn="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lvl="0" algn="r"/>
            <a:fld id="{9A0DB2DC-4C9A-4742-B13C-FB6460FD3503}" type="slidenum">
              <a:rPr lang="zh-CN" altLang="en-US" sz="1200" smtClean="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lvl="0" algn="r"/>
            <a:fld id="{9A0DB2DC-4C9A-4742-B13C-FB6460FD3503}" type="slidenum">
              <a:rPr lang="zh-CN" altLang="en-US" sz="1200" smtClean="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70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870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fld id="{997BFCCF-04D9-449F-85CD-2369D9498934}" type="slidenum">
              <a:rPr lang="zh-CN" altLang="en-US" sz="1200"/>
            </a:fld>
            <a:endParaRPr lang="zh-CN"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lvl="0" algn="r"/>
            <a:fld id="{9A0DB2DC-4C9A-4742-B13C-FB6460FD3503}" type="slidenum">
              <a:rPr lang="zh-CN" altLang="en-US" sz="1200" smtClean="0"/>
            </a:fld>
            <a:endParaRPr lang="zh-CN" alt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lvl="0" algn="r"/>
            <a:fld id="{9A0DB2DC-4C9A-4742-B13C-FB6460FD3503}" type="slidenum">
              <a:rPr lang="zh-CN" altLang="en-US" sz="1200" smtClean="0"/>
            </a:fld>
            <a:endParaRPr lang="zh-CN" alt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lvl="0" algn="r"/>
            <a:fld id="{9A0DB2DC-4C9A-4742-B13C-FB6460FD3503}" type="slidenum">
              <a:rPr lang="zh-CN" altLang="en-US" sz="1200" smtClean="0"/>
            </a:fld>
            <a:endParaRPr lang="zh-CN" alt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lvl="0" algn="r"/>
            <a:fld id="{9A0DB2DC-4C9A-4742-B13C-FB6460FD3503}" type="slidenum">
              <a:rPr lang="zh-CN" altLang="en-US" sz="1200" smtClean="0"/>
            </a:fld>
            <a:endParaRPr lang="zh-CN" alt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9724"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716657"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文本占位符 1026"/>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sz="1400"/>
            </a:lvl1pPr>
          </a:lstStyle>
          <a:p>
            <a:pPr lvl="0"/>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a:defRPr sz="1400"/>
            </a:lvl1pPr>
          </a:lstStyle>
          <a:p>
            <a:pPr lvl="0"/>
            <a:endParaRPr lang="zh-CN" altLang="en-US" dirty="0">
              <a:latin typeface="Times New Roman" panose="02020603050405020304" pitchFamily="18" charset="0"/>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a:defRPr sz="1400"/>
            </a:lvl1p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slide" Target="slide3.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png"/><Relationship Id="rId7" Type="http://schemas.openxmlformats.org/officeDocument/2006/relationships/image" Target="../media/image1.png"/><Relationship Id="rId6" Type="http://schemas.openxmlformats.org/officeDocument/2006/relationships/image" Target="../media/image2.png"/><Relationship Id="rId5" Type="http://schemas.openxmlformats.org/officeDocument/2006/relationships/slide" Target="slide3.xml"/><Relationship Id="rId4" Type="http://schemas.openxmlformats.org/officeDocument/2006/relationships/image" Target="../media/image16.wmf"/><Relationship Id="rId3" Type="http://schemas.openxmlformats.org/officeDocument/2006/relationships/oleObject" Target="../embeddings/oleObject3.bin"/><Relationship Id="rId2" Type="http://schemas.openxmlformats.org/officeDocument/2006/relationships/image" Target="../media/image15.wmf"/><Relationship Id="rId10" Type="http://schemas.openxmlformats.org/officeDocument/2006/relationships/vmlDrawing" Target="../drawings/vmlDrawing2.vml"/><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hemeOverride" Target="../theme/themeOverride1.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3.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3.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hemeOverride" Target="../theme/themeOverride2.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hemeOverride" Target="../theme/themeOverride3.xml"/><Relationship Id="rId7" Type="http://schemas.openxmlformats.org/officeDocument/2006/relationships/image" Target="../media/image19.png"/><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slide" Target="slide3.xml"/><Relationship Id="rId2" Type="http://schemas.openxmlformats.org/officeDocument/2006/relationships/image" Target="../media/image18.wmf"/><Relationship Id="rId10" Type="http://schemas.openxmlformats.org/officeDocument/2006/relationships/vmlDrawing" Target="../drawings/vmlDrawing3.vml"/><Relationship Id="rId1"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3.png"/><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slide" Target="slide3.xml"/><Relationship Id="rId3" Type="http://schemas.openxmlformats.org/officeDocument/2006/relationships/image" Target="../media/image20.png"/><Relationship Id="rId2" Type="http://schemas.openxmlformats.org/officeDocument/2006/relationships/image" Target="../media/image18.wmf"/><Relationship Id="rId13" Type="http://schemas.openxmlformats.org/officeDocument/2006/relationships/vmlDrawing" Target="../drawings/vmlDrawing4.vml"/><Relationship Id="rId12" Type="http://schemas.openxmlformats.org/officeDocument/2006/relationships/slideLayout" Target="../slideLayouts/slideLayout2.xml"/><Relationship Id="rId11" Type="http://schemas.openxmlformats.org/officeDocument/2006/relationships/themeOverride" Target="../theme/themeOverride4.xml"/><Relationship Id="rId10" Type="http://schemas.openxmlformats.org/officeDocument/2006/relationships/image" Target="../media/image23.png"/><Relationship Id="rId1" Type="http://schemas.openxmlformats.org/officeDocument/2006/relationships/oleObject" Target="../embeddings/oleObject5.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tags" Target="../tags/tag2.xml"/></Relationships>
</file>

<file path=ppt/slides/_rels/slide3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image" Target="../media/image28.wmf"/><Relationship Id="rId3" Type="http://schemas.openxmlformats.org/officeDocument/2006/relationships/oleObject" Target="../embeddings/oleObject6.bin"/><Relationship Id="rId2" Type="http://schemas.openxmlformats.org/officeDocument/2006/relationships/tags" Target="../tags/tag4.xml"/><Relationship Id="rId12" Type="http://schemas.openxmlformats.org/officeDocument/2006/relationships/notesSlide" Target="../notesSlides/notesSlide5.xml"/><Relationship Id="rId11" Type="http://schemas.openxmlformats.org/officeDocument/2006/relationships/vmlDrawing" Target="../drawings/vmlDrawing5.vml"/><Relationship Id="rId10" Type="http://schemas.openxmlformats.org/officeDocument/2006/relationships/slideLayout" Target="../slideLayouts/slideLayout7.xml"/><Relationship Id="rId1" Type="http://schemas.openxmlformats.org/officeDocument/2006/relationships/tags" Target="../tags/tag3.xml"/></Relationships>
</file>

<file path=ppt/slides/_rels/slide34.xml.rels><?xml version="1.0" encoding="UTF-8" standalone="yes"?>
<Relationships xmlns="http://schemas.openxmlformats.org/package/2006/relationships"><Relationship Id="rId9" Type="http://schemas.openxmlformats.org/officeDocument/2006/relationships/slide" Target="slide1.xml"/><Relationship Id="rId8" Type="http://schemas.openxmlformats.org/officeDocument/2006/relationships/image" Target="../media/image32.wmf"/><Relationship Id="rId7" Type="http://schemas.openxmlformats.org/officeDocument/2006/relationships/oleObject" Target="../embeddings/oleObject10.bin"/><Relationship Id="rId6" Type="http://schemas.openxmlformats.org/officeDocument/2006/relationships/image" Target="../media/image31.wmf"/><Relationship Id="rId5" Type="http://schemas.openxmlformats.org/officeDocument/2006/relationships/oleObject" Target="../embeddings/oleObject9.bin"/><Relationship Id="rId4" Type="http://schemas.openxmlformats.org/officeDocument/2006/relationships/image" Target="../media/image30.wmf"/><Relationship Id="rId3" Type="http://schemas.openxmlformats.org/officeDocument/2006/relationships/oleObject" Target="../embeddings/oleObject8.bin"/><Relationship Id="rId2" Type="http://schemas.openxmlformats.org/officeDocument/2006/relationships/image" Target="../media/image29.wmf"/><Relationship Id="rId14" Type="http://schemas.openxmlformats.org/officeDocument/2006/relationships/vmlDrawing" Target="../drawings/vmlDrawing6.vml"/><Relationship Id="rId13" Type="http://schemas.openxmlformats.org/officeDocument/2006/relationships/slideLayout" Target="../slideLayouts/slideLayout2.xml"/><Relationship Id="rId12" Type="http://schemas.openxmlformats.org/officeDocument/2006/relationships/image" Target="../media/image3.png"/><Relationship Id="rId11" Type="http://schemas.openxmlformats.org/officeDocument/2006/relationships/image" Target="../media/image1.png"/><Relationship Id="rId10" Type="http://schemas.openxmlformats.org/officeDocument/2006/relationships/image" Target="../media/image2.png"/><Relationship Id="rId1" Type="http://schemas.openxmlformats.org/officeDocument/2006/relationships/oleObject" Target="../embeddings/oleObject7.bin"/></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hemeOverride" Target="../theme/themeOverride5.xml"/><Relationship Id="rId5" Type="http://schemas.openxmlformats.org/officeDocument/2006/relationships/image" Target="../media/image3.png"/><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slide" Target="slide3.xml"/><Relationship Id="rId1" Type="http://schemas.openxmlformats.org/officeDocument/2006/relationships/slide" Target="slide1.xml"/></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35.jpeg"/><Relationship Id="rId7" Type="http://schemas.openxmlformats.org/officeDocument/2006/relationships/image" Target="../media/image34.png"/><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slide" Target="slide3.xml"/><Relationship Id="rId2" Type="http://schemas.openxmlformats.org/officeDocument/2006/relationships/image" Target="../media/image33.wmf"/><Relationship Id="rId13" Type="http://schemas.openxmlformats.org/officeDocument/2006/relationships/vmlDrawing" Target="../drawings/vmlDrawing7.vml"/><Relationship Id="rId12" Type="http://schemas.openxmlformats.org/officeDocument/2006/relationships/slideLayout" Target="../slideLayouts/slideLayout2.xml"/><Relationship Id="rId11" Type="http://schemas.openxmlformats.org/officeDocument/2006/relationships/themeOverride" Target="../theme/themeOverride6.xml"/><Relationship Id="rId10" Type="http://schemas.openxmlformats.org/officeDocument/2006/relationships/image" Target="../media/image36.wmf"/><Relationship Id="rId1" Type="http://schemas.openxmlformats.org/officeDocument/2006/relationships/oleObject" Target="../embeddings/oleObject11.bin"/></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jpeg"/><Relationship Id="rId4" Type="http://schemas.openxmlformats.org/officeDocument/2006/relationships/image" Target="../media/image41.jpe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7.png"/><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27.pn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9.jpeg"/><Relationship Id="rId4" Type="http://schemas.openxmlformats.org/officeDocument/2006/relationships/image" Target="../media/image48.jpe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7.png"/></Relationships>
</file>

<file path=ppt/slides/_rels/slide42.xml.rels><?xml version="1.0" encoding="UTF-8" standalone="yes"?>
<Relationships xmlns="http://schemas.openxmlformats.org/package/2006/relationships"><Relationship Id="rId9" Type="http://schemas.openxmlformats.org/officeDocument/2006/relationships/image" Target="../media/image54.wmf"/><Relationship Id="rId8" Type="http://schemas.openxmlformats.org/officeDocument/2006/relationships/oleObject" Target="../embeddings/oleObject16.bin"/><Relationship Id="rId7" Type="http://schemas.openxmlformats.org/officeDocument/2006/relationships/image" Target="../media/image53.wmf"/><Relationship Id="rId6" Type="http://schemas.openxmlformats.org/officeDocument/2006/relationships/oleObject" Target="../embeddings/oleObject15.bin"/><Relationship Id="rId5" Type="http://schemas.openxmlformats.org/officeDocument/2006/relationships/image" Target="../media/image52.wmf"/><Relationship Id="rId4" Type="http://schemas.openxmlformats.org/officeDocument/2006/relationships/oleObject" Target="../embeddings/oleObject14.bin"/><Relationship Id="rId3" Type="http://schemas.openxmlformats.org/officeDocument/2006/relationships/image" Target="../media/image51.wmf"/><Relationship Id="rId2" Type="http://schemas.openxmlformats.org/officeDocument/2006/relationships/oleObject" Target="../embeddings/oleObject13.bin"/><Relationship Id="rId11" Type="http://schemas.openxmlformats.org/officeDocument/2006/relationships/vmlDrawing" Target="../drawings/vmlDrawing8.vml"/><Relationship Id="rId10" Type="http://schemas.openxmlformats.org/officeDocument/2006/relationships/slideLayout" Target="../slideLayouts/slideLayout7.xml"/><Relationship Id="rId1" Type="http://schemas.openxmlformats.org/officeDocument/2006/relationships/image" Target="../media/image5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8.jpe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7.png"/></Relationships>
</file>

<file path=ppt/slides/_rels/slide4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1.jpe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7.png"/></Relationships>
</file>

<file path=ppt/slides/_rels/slide4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0.png"/><Relationship Id="rId6" Type="http://schemas.openxmlformats.org/officeDocument/2006/relationships/image" Target="../media/image64.jpe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7.pn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5.jpe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7.png"/></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hemeOverride" Target="../theme/themeOverride7.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3.xml"/></Relationships>
</file>

<file path=ppt/slides/_rels/slide51.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7.xml"/><Relationship Id="rId3" Type="http://schemas.openxmlformats.org/officeDocument/2006/relationships/tags" Target="../tags/tag10.xml"/><Relationship Id="rId2" Type="http://schemas.openxmlformats.org/officeDocument/2006/relationships/image" Target="../media/image66.wmf"/><Relationship Id="rId1" Type="http://schemas.openxmlformats.org/officeDocument/2006/relationships/oleObject" Target="../embeddings/oleObject17.bin"/></Relationships>
</file>

<file path=ppt/slides/_rels/slide52.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vmlDrawing" Target="../drawings/vmlDrawing10.vml"/><Relationship Id="rId7" Type="http://schemas.openxmlformats.org/officeDocument/2006/relationships/slideLayout" Target="../slideLayouts/slideLayout2.xml"/><Relationship Id="rId6" Type="http://schemas.openxmlformats.org/officeDocument/2006/relationships/image" Target="../media/image67.wmf"/><Relationship Id="rId5" Type="http://schemas.openxmlformats.org/officeDocument/2006/relationships/oleObject" Target="../embeddings/oleObject18.bin"/><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1.xml"/></Relationships>
</file>

<file path=ppt/slides/_rels/slide53.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slide" Target="slide1.xml"/><Relationship Id="rId2" Type="http://schemas.openxmlformats.org/officeDocument/2006/relationships/image" Target="../media/image68.wmf"/><Relationship Id="rId1" Type="http://schemas.openxmlformats.org/officeDocument/2006/relationships/oleObject" Target="../embeddings/oleObject19.bin"/></Relationships>
</file>

<file path=ppt/slides/_rels/slide54.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7.xml"/><Relationship Id="rId3" Type="http://schemas.openxmlformats.org/officeDocument/2006/relationships/tags" Target="../tags/tag11.xml"/><Relationship Id="rId2" Type="http://schemas.openxmlformats.org/officeDocument/2006/relationships/image" Target="../media/image69.wmf"/><Relationship Id="rId1" Type="http://schemas.openxmlformats.org/officeDocument/2006/relationships/oleObject" Target="../embeddings/oleObject20.bin"/></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0.png"/><Relationship Id="rId1" Type="http://schemas.openxmlformats.org/officeDocument/2006/relationships/tags" Target="../tags/tag1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1.png"/></Relationships>
</file>

<file path=ppt/slides/_rels/slide57.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tags" Target="../tags/tag13.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74.jpeg"/><Relationship Id="rId1" Type="http://schemas.openxmlformats.org/officeDocument/2006/relationships/tags" Target="../tags/tag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tags" Target="../tags/tag16.xml"/><Relationship Id="rId2" Type="http://schemas.openxmlformats.org/officeDocument/2006/relationships/image" Target="../media/image75.png"/><Relationship Id="rId1" Type="http://schemas.openxmlformats.org/officeDocument/2006/relationships/tags" Target="../tags/tag15.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6.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7.jpeg"/><Relationship Id="rId1" Type="http://schemas.openxmlformats.org/officeDocument/2006/relationships/tags" Target="../tags/tag17.xml"/></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tags" Target="../tags/tag20.xml"/><Relationship Id="rId3" Type="http://schemas.openxmlformats.org/officeDocument/2006/relationships/image" Target="../media/image78.png"/><Relationship Id="rId2" Type="http://schemas.openxmlformats.org/officeDocument/2006/relationships/tags" Target="../tags/tag19.xml"/><Relationship Id="rId1" Type="http://schemas.openxmlformats.org/officeDocument/2006/relationships/tags" Target="../tags/tag18.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0.jpeg"/><Relationship Id="rId1" Type="http://schemas.openxmlformats.org/officeDocument/2006/relationships/image" Target="../media/image79.jpe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image" Target="../media/image81.png"/></Relationships>
</file>

<file path=ppt/slides/_rels/slide69.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2.xml"/><Relationship Id="rId7" Type="http://schemas.openxmlformats.org/officeDocument/2006/relationships/image" Target="../media/image19.png"/><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slide" Target="slide1.xml"/><Relationship Id="rId2" Type="http://schemas.openxmlformats.org/officeDocument/2006/relationships/image" Target="../media/image18.wmf"/><Relationship Id="rId1" Type="http://schemas.openxmlformats.org/officeDocument/2006/relationships/oleObject" Target="../embeddings/oleObject21.bin"/></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3.xml"/><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tags" Target="../tags/tag22.xml"/></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5.xml"/><Relationship Id="rId2" Type="http://schemas.openxmlformats.org/officeDocument/2006/relationships/image" Target="../media/image82.png"/><Relationship Id="rId1" Type="http://schemas.openxmlformats.org/officeDocument/2006/relationships/tags" Target="../tags/tag24.xml"/></Relationships>
</file>

<file path=ppt/slides/_rels/slide72.xml.rels><?xml version="1.0" encoding="UTF-8" standalone="yes"?>
<Relationships xmlns="http://schemas.openxmlformats.org/package/2006/relationships"><Relationship Id="rId7" Type="http://schemas.openxmlformats.org/officeDocument/2006/relationships/vmlDrawing" Target="../drawings/vmlDrawing14.vml"/><Relationship Id="rId6" Type="http://schemas.openxmlformats.org/officeDocument/2006/relationships/slideLayout" Target="../slideLayouts/slideLayout7.xml"/><Relationship Id="rId5" Type="http://schemas.openxmlformats.org/officeDocument/2006/relationships/tags" Target="../tags/tag26.xml"/><Relationship Id="rId4" Type="http://schemas.openxmlformats.org/officeDocument/2006/relationships/image" Target="../media/image85.wmf"/><Relationship Id="rId3" Type="http://schemas.openxmlformats.org/officeDocument/2006/relationships/oleObject" Target="../embeddings/oleObject23.bin"/><Relationship Id="rId2" Type="http://schemas.openxmlformats.org/officeDocument/2006/relationships/image" Target="../media/image84.wmf"/><Relationship Id="rId1" Type="http://schemas.openxmlformats.org/officeDocument/2006/relationships/oleObject" Target="../embeddings/oleObject22.bin"/></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7.xml"/><Relationship Id="rId2" Type="http://schemas.openxmlformats.org/officeDocument/2006/relationships/image" Target="../media/image87.png"/><Relationship Id="rId1" Type="http://schemas.openxmlformats.org/officeDocument/2006/relationships/image" Target="../media/image86.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xml"/><Relationship Id="rId1" Type="http://schemas.openxmlformats.org/officeDocument/2006/relationships/image" Target="../media/image19.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9.xml"/><Relationship Id="rId1" Type="http://schemas.openxmlformats.org/officeDocument/2006/relationships/image" Target="../media/image19.png"/></Relationships>
</file>

<file path=ppt/slides/_rels/slide76.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7.xml"/><Relationship Id="rId3" Type="http://schemas.openxmlformats.org/officeDocument/2006/relationships/tags" Target="../tags/tag30.xml"/><Relationship Id="rId2" Type="http://schemas.openxmlformats.org/officeDocument/2006/relationships/image" Target="../media/image88.wmf"/><Relationship Id="rId1" Type="http://schemas.openxmlformats.org/officeDocument/2006/relationships/oleObject" Target="../embeddings/oleObject24.bin"/></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1.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2.xml"/><Relationship Id="rId1" Type="http://schemas.openxmlformats.org/officeDocument/2006/relationships/image" Target="../media/image89.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xml"/><Relationship Id="rId1" Type="http://schemas.openxmlformats.org/officeDocument/2006/relationships/image" Target="../media/image90.png"/></Relationships>
</file>

<file path=ppt/slides/_rels/slide8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png"/><Relationship Id="rId7" Type="http://schemas.openxmlformats.org/officeDocument/2006/relationships/image" Target="../media/image1.png"/><Relationship Id="rId6" Type="http://schemas.openxmlformats.org/officeDocument/2006/relationships/image" Target="../media/image2.png"/><Relationship Id="rId5" Type="http://schemas.openxmlformats.org/officeDocument/2006/relationships/slide" Target="slide1.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91.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8.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9.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2.png"/></Relationships>
</file>

<file path=ppt/slides/_rels/slide8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 Id="rId3" Type="http://schemas.openxmlformats.org/officeDocument/2006/relationships/image" Target="../media/image2.png"/><Relationship Id="rId2" Type="http://schemas.openxmlformats.org/officeDocument/2006/relationships/slide" Target="slide1.xml"/><Relationship Id="rId1" Type="http://schemas.openxmlformats.org/officeDocument/2006/relationships/image" Target="../media/image93.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94.png"/></Relationships>
</file>

<file path=ppt/slides/_rels/slide8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png"/><Relationship Id="rId3" Type="http://schemas.openxmlformats.org/officeDocument/2006/relationships/slide" Target="slide1.xml"/><Relationship Id="rId2" Type="http://schemas.openxmlformats.org/officeDocument/2006/relationships/tags" Target="../tags/tag41.xml"/><Relationship Id="rId1" Type="http://schemas.openxmlformats.org/officeDocument/2006/relationships/tags" Target="../tags/tag40.xml"/></Relationships>
</file>

<file path=ppt/slides/_rels/slide9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 Target="slide1.xml"/></Relationships>
</file>

<file path=ppt/slides/_rels/slide9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5.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 Target="slide1.xml"/></Relationships>
</file>

<file path=ppt/slides/_rels/slide9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slide" Target="slide14.xml"/><Relationship Id="rId3" Type="http://schemas.openxmlformats.org/officeDocument/2006/relationships/slide" Target="slide66.xml"/><Relationship Id="rId2" Type="http://schemas.openxmlformats.org/officeDocument/2006/relationships/image" Target="../media/image97.png"/><Relationship Id="rId1" Type="http://schemas.openxmlformats.org/officeDocument/2006/relationships/image" Target="../media/image96.png"/></Relationships>
</file>

<file path=ppt/slides/_rels/slide9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slide" Target="slide14.xml"/><Relationship Id="rId7" Type="http://schemas.openxmlformats.org/officeDocument/2006/relationships/slide" Target="slide6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image" Target="../media/image99.png"/><Relationship Id="rId3" Type="http://schemas.openxmlformats.org/officeDocument/2006/relationships/tags" Target="../tags/tag43.xml"/><Relationship Id="rId2" Type="http://schemas.openxmlformats.org/officeDocument/2006/relationships/image" Target="../media/image98.png"/><Relationship Id="rId1" Type="http://schemas.openxmlformats.org/officeDocument/2006/relationships/tags" Target="../tags/tag42.xml"/></Relationships>
</file>

<file path=ppt/slides/_rels/slide94.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7.xml"/><Relationship Id="rId3" Type="http://schemas.openxmlformats.org/officeDocument/2006/relationships/tags" Target="../tags/tag46.xml"/><Relationship Id="rId2" Type="http://schemas.openxmlformats.org/officeDocument/2006/relationships/image" Target="../media/image100.wmf"/><Relationship Id="rId1" Type="http://schemas.openxmlformats.org/officeDocument/2006/relationships/oleObject" Target="../embeddings/oleObject25.bin"/></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7.xml"/><Relationship Id="rId1" Type="http://schemas.openxmlformats.org/officeDocument/2006/relationships/image" Target="../media/image101.png"/></Relationships>
</file>

<file path=ppt/slides/_rels/slide96.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7.xml"/><Relationship Id="rId3" Type="http://schemas.openxmlformats.org/officeDocument/2006/relationships/tags" Target="../tags/tag48.xml"/><Relationship Id="rId2" Type="http://schemas.openxmlformats.org/officeDocument/2006/relationships/image" Target="../media/image102.wmf"/><Relationship Id="rId1" Type="http://schemas.openxmlformats.org/officeDocument/2006/relationships/oleObject" Target="../embeddings/oleObject2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直接连接符 63490"/>
          <p:cNvSpPr/>
          <p:nvPr/>
        </p:nvSpPr>
        <p:spPr>
          <a:xfrm>
            <a:off x="0" y="1556792"/>
            <a:ext cx="9144000" cy="0"/>
          </a:xfrm>
          <a:prstGeom prst="line">
            <a:avLst/>
          </a:prstGeom>
          <a:ln w="57150" cap="flat" cmpd="thickThin">
            <a:solidFill>
              <a:srgbClr val="C00000"/>
            </a:solidFill>
            <a:prstDash val="solid"/>
            <a:headEnd type="none" w="med" len="med"/>
            <a:tailEnd type="none" w="med" len="med"/>
          </a:ln>
        </p:spPr>
      </p:sp>
      <p:sp>
        <p:nvSpPr>
          <p:cNvPr id="63492" name="文本框 63491">
            <a:hlinkClick r:id="" action="ppaction://noaction"/>
          </p:cNvPr>
          <p:cNvSpPr txBox="1"/>
          <p:nvPr/>
        </p:nvSpPr>
        <p:spPr>
          <a:xfrm>
            <a:off x="5076056" y="836712"/>
            <a:ext cx="3600400" cy="579438"/>
          </a:xfrm>
          <a:prstGeom prst="rect">
            <a:avLst/>
          </a:prstGeom>
          <a:noFill/>
          <a:ln w="9525">
            <a:noFill/>
          </a:ln>
        </p:spPr>
        <p:txBody>
          <a:bodyPr wrap="square">
            <a:spAutoFit/>
          </a:bodyPr>
          <a:lstStyle/>
          <a:p>
            <a:pPr algn="l"/>
            <a:r>
              <a:rPr lang="zh-CN" altLang="en-US" sz="3200" dirty="0" smtClean="0">
                <a:solidFill>
                  <a:schemeClr val="accent2"/>
                </a:solidFill>
                <a:effectLst>
                  <a:outerShdw blurRad="38100" dist="38100" dir="2700000">
                    <a:srgbClr val="C0C0C0"/>
                  </a:outerShdw>
                </a:effectLst>
                <a:latin typeface="黑体" panose="02010609060101010101" pitchFamily="49" charset="-122"/>
                <a:ea typeface="黑体" panose="02010609060101010101" pitchFamily="49" charset="-122"/>
              </a:rPr>
              <a:t>机械设计课程设计</a:t>
            </a:r>
            <a:endParaRPr lang="zh-CN" altLang="en-US" sz="2800" dirty="0">
              <a:solidFill>
                <a:srgbClr val="006600"/>
              </a:solidFill>
              <a:latin typeface="黑体" panose="02010609060101010101" pitchFamily="49" charset="-122"/>
              <a:ea typeface="黑体" panose="02010609060101010101" pitchFamily="49" charset="-122"/>
            </a:endParaRPr>
          </a:p>
        </p:txBody>
      </p:sp>
      <p:pic>
        <p:nvPicPr>
          <p:cNvPr id="63500" name="图片 63499" descr="下一步">
            <a:hlinkClick r:id="" action="ppaction://hlinkshowjump?jump=nextslide"/>
          </p:cNvPr>
          <p:cNvPicPr>
            <a:picLocks noChangeAspect="1"/>
          </p:cNvPicPr>
          <p:nvPr/>
        </p:nvPicPr>
        <p:blipFill>
          <a:blip r:embed="rId1"/>
          <a:stretch>
            <a:fillRect/>
          </a:stretch>
        </p:blipFill>
        <p:spPr>
          <a:xfrm>
            <a:off x="8801100" y="6515100"/>
            <a:ext cx="342900" cy="342900"/>
          </a:xfrm>
          <a:prstGeom prst="rect">
            <a:avLst/>
          </a:prstGeom>
          <a:noFill/>
          <a:ln w="9525">
            <a:noFill/>
          </a:ln>
        </p:spPr>
      </p:pic>
      <p:sp>
        <p:nvSpPr>
          <p:cNvPr id="2" name="文本框 1"/>
          <p:cNvSpPr txBox="1"/>
          <p:nvPr/>
        </p:nvSpPr>
        <p:spPr>
          <a:xfrm>
            <a:off x="1187450" y="2997200"/>
            <a:ext cx="7298690" cy="645160"/>
          </a:xfrm>
          <a:prstGeom prst="rect">
            <a:avLst/>
          </a:prstGeom>
          <a:noFill/>
        </p:spPr>
        <p:txBody>
          <a:bodyPr wrap="square" rtlCol="0">
            <a:spAutoFit/>
          </a:bodyPr>
          <a:lstStyle/>
          <a:p>
            <a:r>
              <a:rPr lang="zh-CN" altLang="en-US" sz="3600" dirty="0" smtClean="0">
                <a:solidFill>
                  <a:srgbClr val="002060"/>
                </a:solidFill>
                <a:latin typeface="黑体" panose="02010609060101010101" pitchFamily="49" charset="-122"/>
                <a:ea typeface="黑体" panose="02010609060101010101" pitchFamily="49" charset="-122"/>
              </a:rPr>
              <a:t>板链斗式提升机传动装置的设计</a:t>
            </a:r>
            <a:endParaRPr lang="zh-CN" altLang="en-US" sz="3600" dirty="0">
              <a:solidFill>
                <a:srgbClr val="002060"/>
              </a:solidFill>
              <a:latin typeface="黑体" panose="02010609060101010101" pitchFamily="49" charset="-122"/>
              <a:ea typeface="黑体" panose="02010609060101010101" pitchFamily="49" charset="-122"/>
            </a:endParaRPr>
          </a:p>
        </p:txBody>
      </p:sp>
      <p:sp>
        <p:nvSpPr>
          <p:cNvPr id="3" name="文本框 2"/>
          <p:cNvSpPr txBox="1"/>
          <p:nvPr/>
        </p:nvSpPr>
        <p:spPr>
          <a:xfrm>
            <a:off x="2411760" y="3933056"/>
            <a:ext cx="3960440" cy="584775"/>
          </a:xfrm>
          <a:prstGeom prst="rect">
            <a:avLst/>
          </a:prstGeom>
          <a:noFill/>
        </p:spPr>
        <p:txBody>
          <a:bodyPr wrap="square" rtlCol="0">
            <a:spAutoFit/>
          </a:bodyPr>
          <a:lstStyle/>
          <a:p>
            <a:r>
              <a:rPr lang="zh-CN" altLang="en-US" sz="3200" dirty="0" smtClean="0">
                <a:solidFill>
                  <a:srgbClr val="002060"/>
                </a:solidFill>
                <a:latin typeface="黑体" panose="02010609060101010101" pitchFamily="49" charset="-122"/>
                <a:ea typeface="黑体" panose="02010609060101010101" pitchFamily="49" charset="-122"/>
              </a:rPr>
              <a:t>（三周）</a:t>
            </a:r>
            <a:endParaRPr lang="zh-CN" altLang="en-US" sz="3200" dirty="0">
              <a:solidFill>
                <a:srgbClr val="00206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直接连接符 63490"/>
          <p:cNvSpPr/>
          <p:nvPr/>
        </p:nvSpPr>
        <p:spPr>
          <a:xfrm>
            <a:off x="0" y="1556792"/>
            <a:ext cx="9144000" cy="0"/>
          </a:xfrm>
          <a:prstGeom prst="line">
            <a:avLst/>
          </a:prstGeom>
          <a:ln w="57150" cap="flat" cmpd="thickThin">
            <a:solidFill>
              <a:srgbClr val="C00000"/>
            </a:solidFill>
            <a:prstDash val="solid"/>
            <a:headEnd type="none" w="med" len="med"/>
            <a:tailEnd type="none" w="med" len="med"/>
          </a:ln>
        </p:spPr>
      </p:sp>
      <p:sp>
        <p:nvSpPr>
          <p:cNvPr id="63492" name="文本框 63491">
            <a:hlinkClick r:id="" action="ppaction://noaction"/>
          </p:cNvPr>
          <p:cNvSpPr txBox="1"/>
          <p:nvPr/>
        </p:nvSpPr>
        <p:spPr>
          <a:xfrm>
            <a:off x="5076056" y="836712"/>
            <a:ext cx="3600400" cy="579438"/>
          </a:xfrm>
          <a:prstGeom prst="rect">
            <a:avLst/>
          </a:prstGeom>
          <a:noFill/>
          <a:ln w="9525">
            <a:noFill/>
          </a:ln>
        </p:spPr>
        <p:txBody>
          <a:bodyPr wrap="square">
            <a:spAutoFit/>
          </a:bodyPr>
          <a:lstStyle/>
          <a:p>
            <a:pPr algn="l"/>
            <a:r>
              <a:rPr lang="zh-CN" altLang="en-US" sz="3200" dirty="0" smtClean="0">
                <a:solidFill>
                  <a:schemeClr val="accent2"/>
                </a:solidFill>
                <a:effectLst>
                  <a:outerShdw blurRad="38100" dist="38100" dir="2700000">
                    <a:srgbClr val="C0C0C0"/>
                  </a:outerShdw>
                </a:effectLst>
                <a:latin typeface="黑体" panose="02010609060101010101" pitchFamily="49" charset="-122"/>
                <a:ea typeface="黑体" panose="02010609060101010101" pitchFamily="49" charset="-122"/>
              </a:rPr>
              <a:t>机械设计课程设计</a:t>
            </a:r>
            <a:endParaRPr lang="zh-CN" altLang="en-US" sz="2800" dirty="0">
              <a:solidFill>
                <a:srgbClr val="006600"/>
              </a:solidFill>
              <a:latin typeface="黑体" panose="02010609060101010101" pitchFamily="49" charset="-122"/>
              <a:ea typeface="黑体" panose="02010609060101010101" pitchFamily="49" charset="-122"/>
            </a:endParaRPr>
          </a:p>
        </p:txBody>
      </p:sp>
      <p:pic>
        <p:nvPicPr>
          <p:cNvPr id="63500" name="图片 63499" descr="下一步">
            <a:hlinkClick r:id="" action="ppaction://hlinkshowjump?jump=nextslide"/>
          </p:cNvPr>
          <p:cNvPicPr>
            <a:picLocks noChangeAspect="1"/>
          </p:cNvPicPr>
          <p:nvPr/>
        </p:nvPicPr>
        <p:blipFill>
          <a:blip r:embed="rId1"/>
          <a:stretch>
            <a:fillRect/>
          </a:stretch>
        </p:blipFill>
        <p:spPr>
          <a:xfrm>
            <a:off x="8801100" y="6515100"/>
            <a:ext cx="342900" cy="342900"/>
          </a:xfrm>
          <a:prstGeom prst="rect">
            <a:avLst/>
          </a:prstGeom>
          <a:noFill/>
          <a:ln w="9525">
            <a:noFill/>
          </a:ln>
        </p:spPr>
      </p:pic>
      <p:sp>
        <p:nvSpPr>
          <p:cNvPr id="4" name="文本框 3"/>
          <p:cNvSpPr txBox="1"/>
          <p:nvPr/>
        </p:nvSpPr>
        <p:spPr>
          <a:xfrm>
            <a:off x="395536" y="1988840"/>
            <a:ext cx="4248472" cy="523220"/>
          </a:xfrm>
          <a:prstGeom prst="rect">
            <a:avLst/>
          </a:prstGeom>
          <a:noFill/>
        </p:spPr>
        <p:txBody>
          <a:bodyPr wrap="square" rtlCol="0">
            <a:spAutoFit/>
          </a:bodyPr>
          <a:lstStyle/>
          <a:p>
            <a:pPr algn="l"/>
            <a:r>
              <a:rPr lang="zh-CN" altLang="en-US" sz="2800" dirty="0" smtClean="0">
                <a:latin typeface="黑体" panose="02010609060101010101" pitchFamily="49" charset="-122"/>
                <a:ea typeface="黑体" panose="02010609060101010101" pitchFamily="49" charset="-122"/>
              </a:rPr>
              <a:t>参考文献</a:t>
            </a:r>
            <a:endParaRPr lang="zh-CN" altLang="en-US" sz="2800" dirty="0">
              <a:latin typeface="黑体" panose="02010609060101010101" pitchFamily="49" charset="-122"/>
              <a:ea typeface="黑体" panose="02010609060101010101" pitchFamily="49" charset="-122"/>
            </a:endParaRPr>
          </a:p>
        </p:txBody>
      </p:sp>
      <p:sp>
        <p:nvSpPr>
          <p:cNvPr id="5" name="文本框 4"/>
          <p:cNvSpPr txBox="1"/>
          <p:nvPr/>
        </p:nvSpPr>
        <p:spPr>
          <a:xfrm>
            <a:off x="323528" y="2636912"/>
            <a:ext cx="8496944" cy="460375"/>
          </a:xfrm>
          <a:prstGeom prst="rect">
            <a:avLst/>
          </a:prstGeom>
          <a:noFill/>
        </p:spPr>
        <p:txBody>
          <a:bodyPr wrap="square" rtlCol="0">
            <a:spAutoFit/>
          </a:bodyPr>
          <a:lstStyle/>
          <a:p>
            <a:pPr algn="l"/>
            <a:r>
              <a:rPr lang="en-US" altLang="zh-CN" dirty="0" smtClean="0"/>
              <a:t>[1] </a:t>
            </a:r>
            <a:r>
              <a:rPr lang="zh-CN" dirty="0" smtClean="0"/>
              <a:t>张文忠</a:t>
            </a:r>
            <a:r>
              <a:rPr lang="en-US" altLang="zh-CN" dirty="0" smtClean="0"/>
              <a:t>. </a:t>
            </a:r>
            <a:r>
              <a:rPr lang="zh-CN" altLang="en-US" dirty="0" smtClean="0"/>
              <a:t>机械设计</a:t>
            </a:r>
            <a:r>
              <a:rPr lang="en-US" altLang="zh-CN" dirty="0" smtClean="0"/>
              <a:t>[M].</a:t>
            </a:r>
            <a:r>
              <a:rPr lang="zh-CN" altLang="en-US" dirty="0" smtClean="0"/>
              <a:t>北京：高等教育出版社，</a:t>
            </a:r>
            <a:r>
              <a:rPr lang="en-US" altLang="zh-CN" dirty="0" smtClean="0"/>
              <a:t>2021.</a:t>
            </a:r>
            <a:endParaRPr lang="zh-CN" altLang="en-US" dirty="0"/>
          </a:p>
        </p:txBody>
      </p:sp>
      <p:sp>
        <p:nvSpPr>
          <p:cNvPr id="9" name="文本框 8"/>
          <p:cNvSpPr txBox="1"/>
          <p:nvPr/>
        </p:nvSpPr>
        <p:spPr>
          <a:xfrm>
            <a:off x="324163" y="3429124"/>
            <a:ext cx="8640960" cy="830997"/>
          </a:xfrm>
          <a:prstGeom prst="rect">
            <a:avLst/>
          </a:prstGeom>
          <a:noFill/>
        </p:spPr>
        <p:txBody>
          <a:bodyPr wrap="square" rtlCol="0">
            <a:spAutoFit/>
          </a:bodyPr>
          <a:lstStyle/>
          <a:p>
            <a:pPr algn="l"/>
            <a:r>
              <a:rPr lang="en-US" altLang="zh-CN" dirty="0" smtClean="0"/>
              <a:t>[2] </a:t>
            </a:r>
            <a:r>
              <a:rPr lang="zh-CN" altLang="en-US" dirty="0" smtClean="0"/>
              <a:t>吴宗泽</a:t>
            </a:r>
            <a:r>
              <a:rPr lang="en-US" altLang="zh-CN" dirty="0" smtClean="0"/>
              <a:t>,</a:t>
            </a:r>
            <a:r>
              <a:rPr lang="zh-CN" altLang="en-US" dirty="0" smtClean="0"/>
              <a:t>高志</a:t>
            </a:r>
            <a:r>
              <a:rPr lang="en-US" altLang="zh-CN" dirty="0" smtClean="0"/>
              <a:t>,</a:t>
            </a:r>
            <a:r>
              <a:rPr lang="zh-CN" altLang="en-US" dirty="0" smtClean="0"/>
              <a:t>罗圣国</a:t>
            </a:r>
            <a:r>
              <a:rPr lang="en-US" altLang="zh-CN" dirty="0" smtClean="0"/>
              <a:t>,</a:t>
            </a:r>
            <a:r>
              <a:rPr lang="zh-CN" altLang="en-US" dirty="0" smtClean="0"/>
              <a:t>等</a:t>
            </a:r>
            <a:r>
              <a:rPr lang="en-US" altLang="zh-CN" dirty="0" smtClean="0"/>
              <a:t>. </a:t>
            </a:r>
            <a:r>
              <a:rPr lang="zh-CN" altLang="en-US" dirty="0" smtClean="0"/>
              <a:t>机械设计课程设计手册（第</a:t>
            </a:r>
            <a:r>
              <a:rPr lang="en-US" altLang="zh-CN" dirty="0" smtClean="0"/>
              <a:t>5</a:t>
            </a:r>
            <a:r>
              <a:rPr lang="zh-CN" altLang="en-US" dirty="0" smtClean="0"/>
              <a:t>版</a:t>
            </a:r>
            <a:r>
              <a:rPr lang="en-US" altLang="zh-CN" dirty="0" smtClean="0"/>
              <a:t>)[M].</a:t>
            </a:r>
            <a:r>
              <a:rPr lang="zh-CN" altLang="en-US" dirty="0" smtClean="0"/>
              <a:t>北京：高等教育出版社，</a:t>
            </a:r>
            <a:r>
              <a:rPr lang="en-US" altLang="zh-CN" dirty="0" smtClean="0"/>
              <a:t>2018.</a:t>
            </a:r>
            <a:endParaRPr lang="zh-CN" altLang="en-US" dirty="0"/>
          </a:p>
        </p:txBody>
      </p:sp>
      <p:sp>
        <p:nvSpPr>
          <p:cNvPr id="10" name="文本框 9"/>
          <p:cNvSpPr txBox="1"/>
          <p:nvPr/>
        </p:nvSpPr>
        <p:spPr>
          <a:xfrm>
            <a:off x="323910" y="4436854"/>
            <a:ext cx="8640960" cy="829945"/>
          </a:xfrm>
          <a:prstGeom prst="rect">
            <a:avLst/>
          </a:prstGeom>
          <a:noFill/>
        </p:spPr>
        <p:txBody>
          <a:bodyPr wrap="square" rtlCol="0">
            <a:spAutoFit/>
          </a:bodyPr>
          <a:lstStyle/>
          <a:p>
            <a:pPr algn="l"/>
            <a:r>
              <a:rPr lang="en-US" altLang="zh-CN" dirty="0" smtClean="0"/>
              <a:t>[3] </a:t>
            </a:r>
            <a:r>
              <a:rPr lang="zh-CN" altLang="en-US" dirty="0" smtClean="0"/>
              <a:t>李秀明</a:t>
            </a:r>
            <a:r>
              <a:rPr lang="en-US" altLang="zh-CN" dirty="0" smtClean="0"/>
              <a:t>,</a:t>
            </a:r>
            <a:r>
              <a:rPr lang="zh-CN" altLang="en-US" dirty="0" smtClean="0"/>
              <a:t> 张文忠，董芩华</a:t>
            </a:r>
            <a:r>
              <a:rPr lang="en-US" altLang="zh-CN" dirty="0" smtClean="0"/>
              <a:t>. </a:t>
            </a:r>
            <a:r>
              <a:rPr lang="zh-CN" altLang="en-US" dirty="0" smtClean="0"/>
              <a:t>机械设计课程设计指导书（自编</a:t>
            </a:r>
            <a:r>
              <a:rPr lang="en-US" altLang="zh-CN" dirty="0" smtClean="0"/>
              <a:t>).</a:t>
            </a:r>
            <a:r>
              <a:rPr lang="zh-CN" altLang="en-US" dirty="0" smtClean="0"/>
              <a:t>北京：中国矿业大学（北京）</a:t>
            </a:r>
            <a:r>
              <a:rPr lang="en-US" altLang="zh-CN" dirty="0" smtClean="0"/>
              <a:t>,2021.</a:t>
            </a:r>
            <a:endParaRPr lang="zh-CN" alt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直接连接符 63490"/>
          <p:cNvSpPr/>
          <p:nvPr/>
        </p:nvSpPr>
        <p:spPr>
          <a:xfrm>
            <a:off x="0" y="1052736"/>
            <a:ext cx="9144000" cy="0"/>
          </a:xfrm>
          <a:prstGeom prst="line">
            <a:avLst/>
          </a:prstGeom>
          <a:ln w="57150" cap="flat" cmpd="thickThin">
            <a:solidFill>
              <a:srgbClr val="C00000"/>
            </a:solidFill>
            <a:prstDash val="solid"/>
            <a:headEnd type="none" w="med" len="med"/>
            <a:tailEnd type="none" w="med" len="med"/>
          </a:ln>
        </p:spPr>
      </p:sp>
      <p:sp>
        <p:nvSpPr>
          <p:cNvPr id="63492" name="文本框 63491">
            <a:hlinkClick r:id="" action="ppaction://noaction"/>
          </p:cNvPr>
          <p:cNvSpPr txBox="1"/>
          <p:nvPr/>
        </p:nvSpPr>
        <p:spPr>
          <a:xfrm>
            <a:off x="1080438" y="2132985"/>
            <a:ext cx="5218113" cy="579438"/>
          </a:xfrm>
          <a:prstGeom prst="rect">
            <a:avLst/>
          </a:prstGeom>
          <a:noFill/>
          <a:ln w="9525">
            <a:noFill/>
          </a:ln>
        </p:spPr>
        <p:txBody>
          <a:bodyPr>
            <a:spAutoFit/>
          </a:bodyPr>
          <a:lstStyle/>
          <a:p>
            <a:pPr algn="l"/>
            <a:r>
              <a:rPr lang="zh-CN" altLang="en-US" sz="3200" b="1" dirty="0">
                <a:solidFill>
                  <a:schemeClr val="accent2"/>
                </a:solidFill>
                <a:effectLst>
                  <a:outerShdw blurRad="38100" dist="38100" dir="2700000">
                    <a:srgbClr val="C0C0C0"/>
                  </a:outerShdw>
                </a:effectLst>
                <a:latin typeface="宋体" panose="02010600030101010101" pitchFamily="2" charset="-122"/>
              </a:rPr>
              <a:t>第一部分 课程设计概述</a:t>
            </a:r>
            <a:endParaRPr lang="zh-CN" altLang="en-US" sz="2800" b="1" dirty="0">
              <a:solidFill>
                <a:srgbClr val="006600"/>
              </a:solidFill>
              <a:latin typeface="华文中宋" panose="02010600040101010101" pitchFamily="2" charset="-122"/>
              <a:ea typeface="华文中宋" panose="02010600040101010101" pitchFamily="2" charset="-122"/>
            </a:endParaRPr>
          </a:p>
        </p:txBody>
      </p:sp>
      <p:sp>
        <p:nvSpPr>
          <p:cNvPr id="63493" name="文本框 63492">
            <a:hlinkClick r:id="rId1" action="ppaction://hlinksldjump"/>
          </p:cNvPr>
          <p:cNvSpPr txBox="1"/>
          <p:nvPr/>
        </p:nvSpPr>
        <p:spPr>
          <a:xfrm>
            <a:off x="1115695" y="3536950"/>
            <a:ext cx="6672580" cy="583565"/>
          </a:xfrm>
          <a:prstGeom prst="rect">
            <a:avLst/>
          </a:prstGeom>
          <a:noFill/>
          <a:ln w="9525">
            <a:noFill/>
          </a:ln>
        </p:spPr>
        <p:txBody>
          <a:bodyPr wrap="square">
            <a:spAutoFit/>
          </a:bodyPr>
          <a:lstStyle/>
          <a:p>
            <a:pPr algn="l"/>
            <a:r>
              <a:rPr lang="zh-CN" altLang="en-US" sz="3200" b="1" dirty="0">
                <a:solidFill>
                  <a:schemeClr val="accent2"/>
                </a:solidFill>
                <a:effectLst>
                  <a:outerShdw blurRad="38100" dist="38100" dir="2700000">
                    <a:srgbClr val="C0C0C0"/>
                  </a:outerShdw>
                </a:effectLst>
                <a:latin typeface="宋体" panose="02010600030101010101" pitchFamily="2" charset="-122"/>
              </a:rPr>
              <a:t>第二部分 减速器的结构级</a:t>
            </a:r>
            <a:r>
              <a:rPr lang="zh-CN" altLang="en-US" sz="3200" b="1" dirty="0">
                <a:solidFill>
                  <a:schemeClr val="accent2"/>
                </a:solidFill>
                <a:effectLst>
                  <a:outerShdw blurRad="38100" dist="38100" dir="2700000">
                    <a:srgbClr val="C0C0C0"/>
                  </a:outerShdw>
                </a:effectLst>
                <a:latin typeface="宋体" panose="02010600030101010101" pitchFamily="2" charset="-122"/>
              </a:rPr>
              <a:t>设计</a:t>
            </a:r>
            <a:endParaRPr lang="zh-CN" altLang="en-US" sz="3200" b="1" dirty="0">
              <a:solidFill>
                <a:schemeClr val="accent2"/>
              </a:solidFill>
              <a:effectLst>
                <a:outerShdw blurRad="38100" dist="38100" dir="2700000">
                  <a:srgbClr val="C0C0C0"/>
                </a:outerShdw>
              </a:effectLst>
              <a:latin typeface="宋体" panose="02010600030101010101" pitchFamily="2" charset="-122"/>
            </a:endParaRPr>
          </a:p>
        </p:txBody>
      </p:sp>
      <p:pic>
        <p:nvPicPr>
          <p:cNvPr id="63500" name="图片 63499" descr="下一步">
            <a:hlinkClick r:id="" action="ppaction://hlinkshowjump?jump=nextslide"/>
          </p:cNvPr>
          <p:cNvPicPr>
            <a:picLocks noChangeAspect="1"/>
          </p:cNvPicPr>
          <p:nvPr/>
        </p:nvPicPr>
        <p:blipFill>
          <a:blip r:embed="rId2"/>
          <a:stretch>
            <a:fillRect/>
          </a:stretch>
        </p:blipFill>
        <p:spPr>
          <a:xfrm>
            <a:off x="8801100" y="6515100"/>
            <a:ext cx="342900" cy="342900"/>
          </a:xfrm>
          <a:prstGeom prst="rect">
            <a:avLst/>
          </a:prstGeom>
          <a:noFill/>
          <a:ln w="9525">
            <a:noFill/>
          </a:ln>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直接连接符 62465"/>
          <p:cNvSpPr/>
          <p:nvPr/>
        </p:nvSpPr>
        <p:spPr>
          <a:xfrm>
            <a:off x="0" y="764704"/>
            <a:ext cx="9144000" cy="0"/>
          </a:xfrm>
          <a:prstGeom prst="line">
            <a:avLst/>
          </a:prstGeom>
          <a:ln w="57150" cap="flat" cmpd="thickThin">
            <a:solidFill>
              <a:srgbClr val="C00000"/>
            </a:solidFill>
            <a:prstDash val="solid"/>
            <a:headEnd type="none" w="med" len="med"/>
            <a:tailEnd type="none" w="med" len="med"/>
          </a:ln>
        </p:spPr>
      </p:sp>
      <p:sp>
        <p:nvSpPr>
          <p:cNvPr id="62467" name="文本框 62466">
            <a:hlinkClick r:id="" action="ppaction://noaction"/>
          </p:cNvPr>
          <p:cNvSpPr txBox="1"/>
          <p:nvPr/>
        </p:nvSpPr>
        <p:spPr>
          <a:xfrm>
            <a:off x="2339752" y="116632"/>
            <a:ext cx="4572000" cy="579438"/>
          </a:xfrm>
          <a:prstGeom prst="rect">
            <a:avLst/>
          </a:prstGeom>
          <a:noFill/>
          <a:ln w="9525">
            <a:noFill/>
          </a:ln>
        </p:spPr>
        <p:txBody>
          <a:bodyPr>
            <a:spAutoFit/>
          </a:bodyPr>
          <a:lstStyle/>
          <a:p>
            <a:pPr algn="l"/>
            <a:r>
              <a:rPr lang="zh-CN" altLang="en-US" sz="3200" b="1" dirty="0">
                <a:solidFill>
                  <a:schemeClr val="accent2"/>
                </a:solidFill>
                <a:effectLst>
                  <a:outerShdw blurRad="38100" dist="38100" dir="2700000">
                    <a:srgbClr val="C0C0C0"/>
                  </a:outerShdw>
                </a:effectLst>
                <a:latin typeface="宋体" panose="02010600030101010101" pitchFamily="2" charset="-122"/>
              </a:rPr>
              <a:t>第一部分 课程设计概述</a:t>
            </a:r>
            <a:endParaRPr lang="zh-CN" altLang="en-US" sz="3200" b="1" dirty="0">
              <a:solidFill>
                <a:schemeClr val="accent2"/>
              </a:solidFill>
              <a:effectLst>
                <a:outerShdw blurRad="38100" dist="38100" dir="2700000">
                  <a:srgbClr val="C0C0C0"/>
                </a:outerShdw>
              </a:effectLst>
              <a:latin typeface="宋体" panose="02010600030101010101" pitchFamily="2" charset="-122"/>
            </a:endParaRPr>
          </a:p>
        </p:txBody>
      </p:sp>
      <p:sp>
        <p:nvSpPr>
          <p:cNvPr id="62474" name="文本框 62473"/>
          <p:cNvSpPr txBox="1"/>
          <p:nvPr/>
        </p:nvSpPr>
        <p:spPr>
          <a:xfrm>
            <a:off x="188595" y="2060575"/>
            <a:ext cx="8955405" cy="977265"/>
          </a:xfrm>
          <a:prstGeom prst="rect">
            <a:avLst/>
          </a:prstGeom>
          <a:noFill/>
          <a:ln w="9525">
            <a:noFill/>
          </a:ln>
        </p:spPr>
        <p:txBody>
          <a:bodyPr wrap="square">
            <a:spAutoFit/>
          </a:bodyPr>
          <a:lstStyle/>
          <a:p>
            <a:pPr algn="l">
              <a:lnSpc>
                <a:spcPct val="120000"/>
              </a:lnSpc>
              <a:spcBef>
                <a:spcPts val="0"/>
              </a:spcBef>
            </a:pPr>
            <a:r>
              <a:rPr lang="en-US" altLang="zh-CN" b="1" dirty="0">
                <a:solidFill>
                  <a:srgbClr val="000000"/>
                </a:solidFill>
                <a:latin typeface="楷体_GB2312" pitchFamily="49" charset="-122"/>
                <a:ea typeface="楷体_GB2312" pitchFamily="49" charset="-122"/>
              </a:rPr>
              <a:t>1</a:t>
            </a:r>
            <a:r>
              <a:rPr lang="zh-CN" altLang="en-US" b="1" dirty="0">
                <a:solidFill>
                  <a:srgbClr val="000000"/>
                </a:solidFill>
                <a:latin typeface="楷体_GB2312" pitchFamily="49" charset="-122"/>
                <a:ea typeface="楷体_GB2312" pitchFamily="49" charset="-122"/>
              </a:rPr>
              <a:t>、</a:t>
            </a:r>
            <a:r>
              <a:rPr lang="zh-CN" altLang="en-US" dirty="0">
                <a:solidFill>
                  <a:srgbClr val="000000"/>
                </a:solidFill>
                <a:latin typeface="黑体" panose="02010609060101010101" pitchFamily="49" charset="-122"/>
                <a:ea typeface="黑体" panose="02010609060101010101" pitchFamily="49" charset="-122"/>
              </a:rPr>
              <a:t>培养学生综合运用所学知识解决工程实际问题的能力，并通过实际设计训练使所学理论知识得以巩固和提高。</a:t>
            </a:r>
            <a:endParaRPr lang="zh-CN" altLang="en-US" dirty="0">
              <a:solidFill>
                <a:srgbClr val="000000"/>
              </a:solidFill>
              <a:latin typeface="黑体" panose="02010609060101010101" pitchFamily="49" charset="-122"/>
              <a:ea typeface="黑体" panose="02010609060101010101" pitchFamily="49" charset="-122"/>
            </a:endParaRPr>
          </a:p>
        </p:txBody>
      </p:sp>
      <p:sp>
        <p:nvSpPr>
          <p:cNvPr id="62475" name="文本框 62474"/>
          <p:cNvSpPr txBox="1"/>
          <p:nvPr/>
        </p:nvSpPr>
        <p:spPr>
          <a:xfrm>
            <a:off x="170815" y="3429000"/>
            <a:ext cx="8936355" cy="1420495"/>
          </a:xfrm>
          <a:prstGeom prst="rect">
            <a:avLst/>
          </a:prstGeom>
          <a:noFill/>
          <a:ln w="9525">
            <a:noFill/>
          </a:ln>
        </p:spPr>
        <p:txBody>
          <a:bodyPr wrap="square">
            <a:spAutoFit/>
          </a:bodyPr>
          <a:lstStyle/>
          <a:p>
            <a:pPr algn="l">
              <a:lnSpc>
                <a:spcPct val="120000"/>
              </a:lnSpc>
              <a:spcBef>
                <a:spcPts val="0"/>
              </a:spcBef>
              <a:buClrTx/>
              <a:buSzTx/>
              <a:buFontTx/>
            </a:pPr>
            <a:r>
              <a:rPr lang="zh-CN" altLang="en-US" dirty="0">
                <a:solidFill>
                  <a:srgbClr val="000000"/>
                </a:solidFill>
                <a:latin typeface="黑体" panose="02010609060101010101" pitchFamily="49" charset="-122"/>
                <a:ea typeface="黑体" panose="02010609060101010101" pitchFamily="49" charset="-122"/>
              </a:rPr>
              <a:t>2、学习和掌握一般机械设计的基本方法和程序，树立正确的工程设计思想，培养独立设计能力，为后续课的学习和实际工作打基础。 </a:t>
            </a:r>
            <a:endParaRPr lang="zh-CN" altLang="en-US" dirty="0">
              <a:solidFill>
                <a:srgbClr val="000000"/>
              </a:solidFill>
              <a:latin typeface="黑体" panose="02010609060101010101" pitchFamily="49" charset="-122"/>
              <a:ea typeface="黑体" panose="02010609060101010101" pitchFamily="49" charset="-122"/>
            </a:endParaRPr>
          </a:p>
        </p:txBody>
      </p:sp>
      <p:sp>
        <p:nvSpPr>
          <p:cNvPr id="62476" name="文本框 62475"/>
          <p:cNvSpPr txBox="1"/>
          <p:nvPr/>
        </p:nvSpPr>
        <p:spPr>
          <a:xfrm>
            <a:off x="267970" y="4869180"/>
            <a:ext cx="8910955" cy="977265"/>
          </a:xfrm>
          <a:prstGeom prst="rect">
            <a:avLst/>
          </a:prstGeom>
          <a:noFill/>
          <a:ln w="9525">
            <a:noFill/>
          </a:ln>
        </p:spPr>
        <p:txBody>
          <a:bodyPr wrap="square">
            <a:spAutoFit/>
          </a:bodyPr>
          <a:lstStyle/>
          <a:p>
            <a:pPr algn="l">
              <a:lnSpc>
                <a:spcPct val="120000"/>
              </a:lnSpc>
              <a:spcBef>
                <a:spcPts val="0"/>
              </a:spcBef>
              <a:buClrTx/>
              <a:buSzTx/>
              <a:buFontTx/>
            </a:pPr>
            <a:r>
              <a:rPr lang="zh-CN" altLang="en-US" dirty="0">
                <a:solidFill>
                  <a:srgbClr val="000000"/>
                </a:solidFill>
                <a:latin typeface="黑体" panose="02010609060101010101" pitchFamily="49" charset="-122"/>
                <a:ea typeface="黑体" panose="02010609060101010101" pitchFamily="49" charset="-122"/>
              </a:rPr>
              <a:t>3</a:t>
            </a:r>
            <a:r>
              <a:rPr lang="zh-CN" altLang="en-US" dirty="0">
                <a:solidFill>
                  <a:srgbClr val="000000"/>
                </a:solidFill>
                <a:latin typeface="黑体" panose="02010609060101010101" pitchFamily="49" charset="-122"/>
                <a:ea typeface="黑体" panose="02010609060101010101" pitchFamily="49" charset="-122"/>
              </a:rPr>
              <a:t>、进行机械设计基本技能的训练，包括设计计算、绘图、查阅和使用标准规范、手册、图册等相关技术资料等。 </a:t>
            </a:r>
            <a:endParaRPr lang="zh-CN" altLang="en-US" dirty="0">
              <a:solidFill>
                <a:srgbClr val="000000"/>
              </a:solidFill>
              <a:latin typeface="黑体" panose="02010609060101010101" pitchFamily="49" charset="-122"/>
              <a:ea typeface="黑体" panose="02010609060101010101" pitchFamily="49" charset="-122"/>
            </a:endParaRPr>
          </a:p>
        </p:txBody>
      </p:sp>
      <p:sp>
        <p:nvSpPr>
          <p:cNvPr id="62480" name="文本框 62479">
            <a:hlinkClick r:id="" action="ppaction://noaction"/>
          </p:cNvPr>
          <p:cNvSpPr txBox="1"/>
          <p:nvPr/>
        </p:nvSpPr>
        <p:spPr>
          <a:xfrm>
            <a:off x="2771800" y="1052736"/>
            <a:ext cx="2895600" cy="579438"/>
          </a:xfrm>
          <a:prstGeom prst="rect">
            <a:avLst/>
          </a:prstGeom>
          <a:noFill/>
          <a:ln w="9525">
            <a:noFill/>
          </a:ln>
        </p:spPr>
        <p:txBody>
          <a:bodyPr>
            <a:spAutoFit/>
          </a:bodyPr>
          <a:lstStyle/>
          <a:p>
            <a:pPr algn="l"/>
            <a:r>
              <a:rPr lang="zh-CN" altLang="en-US" sz="3200" b="1" dirty="0">
                <a:solidFill>
                  <a:srgbClr val="FF3300"/>
                </a:solidFill>
                <a:effectLst>
                  <a:outerShdw blurRad="38100" dist="38100" dir="2700000">
                    <a:srgbClr val="C0C0C0"/>
                  </a:outerShdw>
                </a:effectLst>
                <a:latin typeface="楷体_GB2312" pitchFamily="49" charset="-122"/>
                <a:ea typeface="楷体_GB2312" pitchFamily="49" charset="-122"/>
              </a:rPr>
              <a:t>一、设计目的</a:t>
            </a:r>
            <a:endParaRPr lang="zh-CN" altLang="en-US" sz="3200" b="1" dirty="0">
              <a:solidFill>
                <a:srgbClr val="FF3300"/>
              </a:solidFill>
              <a:effectLst>
                <a:outerShdw blurRad="38100" dist="38100" dir="2700000">
                  <a:srgbClr val="C0C0C0"/>
                </a:outerShdw>
              </a:effectLst>
              <a:latin typeface="楷体_GB2312" pitchFamily="49" charset="-122"/>
              <a:ea typeface="楷体_GB2312" pitchFamily="49" charset="-122"/>
            </a:endParaRPr>
          </a:p>
        </p:txBody>
      </p:sp>
      <p:grpSp>
        <p:nvGrpSpPr>
          <p:cNvPr id="62481" name="组合 62480"/>
          <p:cNvGrpSpPr/>
          <p:nvPr/>
        </p:nvGrpSpPr>
        <p:grpSpPr>
          <a:xfrm>
            <a:off x="8115300" y="6515100"/>
            <a:ext cx="1028700" cy="342900"/>
            <a:chOff x="5112" y="4104"/>
            <a:chExt cx="648" cy="216"/>
          </a:xfrm>
        </p:grpSpPr>
        <p:pic>
          <p:nvPicPr>
            <p:cNvPr id="62482" name="图片 62481"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62483" name="组合 62482"/>
            <p:cNvGrpSpPr/>
            <p:nvPr/>
          </p:nvGrpSpPr>
          <p:grpSpPr>
            <a:xfrm>
              <a:off x="5352" y="4104"/>
              <a:ext cx="408" cy="216"/>
              <a:chOff x="5232" y="4100"/>
              <a:chExt cx="408" cy="216"/>
            </a:xfrm>
          </p:grpSpPr>
          <p:pic>
            <p:nvPicPr>
              <p:cNvPr id="62484" name="图片 62483"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62485" name="图片 62484"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74"/>
                                        </p:tgtEl>
                                        <p:attrNameLst>
                                          <p:attrName>style.visibility</p:attrName>
                                        </p:attrNameLst>
                                      </p:cBhvr>
                                      <p:to>
                                        <p:strVal val="visible"/>
                                      </p:to>
                                    </p:set>
                                    <p:anim calcmode="lin" valueType="num">
                                      <p:cBhvr additive="base">
                                        <p:cTn id="7" dur="500" fill="hold"/>
                                        <p:tgtEl>
                                          <p:spTgt spid="62474"/>
                                        </p:tgtEl>
                                        <p:attrNameLst>
                                          <p:attrName>ppt_x</p:attrName>
                                        </p:attrNameLst>
                                      </p:cBhvr>
                                      <p:tavLst>
                                        <p:tav tm="0">
                                          <p:val>
                                            <p:strVal val="0-#ppt_w/2"/>
                                          </p:val>
                                        </p:tav>
                                        <p:tav tm="100000">
                                          <p:val>
                                            <p:strVal val="#ppt_x"/>
                                          </p:val>
                                        </p:tav>
                                      </p:tavLst>
                                    </p:anim>
                                    <p:anim calcmode="lin" valueType="num">
                                      <p:cBhvr additive="base">
                                        <p:cTn id="8" dur="500" fill="hold"/>
                                        <p:tgtEl>
                                          <p:spTgt spid="624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2475"/>
                                        </p:tgtEl>
                                        <p:attrNameLst>
                                          <p:attrName>style.visibility</p:attrName>
                                        </p:attrNameLst>
                                      </p:cBhvr>
                                      <p:to>
                                        <p:strVal val="visible"/>
                                      </p:to>
                                    </p:set>
                                    <p:anim calcmode="lin" valueType="num">
                                      <p:cBhvr additive="base">
                                        <p:cTn id="13" dur="500" fill="hold"/>
                                        <p:tgtEl>
                                          <p:spTgt spid="62475"/>
                                        </p:tgtEl>
                                        <p:attrNameLst>
                                          <p:attrName>ppt_x</p:attrName>
                                        </p:attrNameLst>
                                      </p:cBhvr>
                                      <p:tavLst>
                                        <p:tav tm="0">
                                          <p:val>
                                            <p:strVal val="0-#ppt_w/2"/>
                                          </p:val>
                                        </p:tav>
                                        <p:tav tm="100000">
                                          <p:val>
                                            <p:strVal val="#ppt_x"/>
                                          </p:val>
                                        </p:tav>
                                      </p:tavLst>
                                    </p:anim>
                                    <p:anim calcmode="lin" valueType="num">
                                      <p:cBhvr additive="base">
                                        <p:cTn id="14" dur="500" fill="hold"/>
                                        <p:tgtEl>
                                          <p:spTgt spid="624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476"/>
                                        </p:tgtEl>
                                        <p:attrNameLst>
                                          <p:attrName>style.visibility</p:attrName>
                                        </p:attrNameLst>
                                      </p:cBhvr>
                                      <p:to>
                                        <p:strVal val="visible"/>
                                      </p:to>
                                    </p:set>
                                    <p:anim calcmode="lin" valueType="num">
                                      <p:cBhvr additive="base">
                                        <p:cTn id="19" dur="500" fill="hold"/>
                                        <p:tgtEl>
                                          <p:spTgt spid="62476"/>
                                        </p:tgtEl>
                                        <p:attrNameLst>
                                          <p:attrName>ppt_x</p:attrName>
                                        </p:attrNameLst>
                                      </p:cBhvr>
                                      <p:tavLst>
                                        <p:tav tm="0">
                                          <p:val>
                                            <p:strVal val="0-#ppt_w/2"/>
                                          </p:val>
                                        </p:tav>
                                        <p:tav tm="100000">
                                          <p:val>
                                            <p:strVal val="#ppt_x"/>
                                          </p:val>
                                        </p:tav>
                                      </p:tavLst>
                                    </p:anim>
                                    <p:anim calcmode="lin" valueType="num">
                                      <p:cBhvr additive="base">
                                        <p:cTn id="20" dur="500" fill="hold"/>
                                        <p:tgtEl>
                                          <p:spTgt spid="624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4" grpId="0"/>
      <p:bldP spid="62475" grpId="0"/>
      <p:bldP spid="6247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1026"/>
          <p:cNvSpPr>
            <a:spLocks noGrp="1"/>
          </p:cNvSpPr>
          <p:nvPr>
            <p:ph type="title"/>
          </p:nvPr>
        </p:nvSpPr>
        <p:spPr>
          <a:xfrm>
            <a:off x="7620000" y="762000"/>
            <a:ext cx="533400" cy="152400"/>
          </a:xfrm>
          <a:noFill/>
          <a:ln>
            <a:noFill/>
          </a:ln>
        </p:spPr>
        <p:txBody>
          <a:bodyPr/>
          <a:p>
            <a:pPr eaLnBrk="1" hangingPunct="1"/>
            <a:r>
              <a:rPr lang="zh-CN" altLang="en-US" sz="800" dirty="0">
                <a:solidFill>
                  <a:schemeClr val="bg1"/>
                </a:solidFill>
              </a:rPr>
              <a:t>引言</a:t>
            </a:r>
            <a:endParaRPr lang="zh-CN" altLang="en-US" sz="800" dirty="0">
              <a:solidFill>
                <a:schemeClr val="bg1"/>
              </a:solidFill>
            </a:endParaRPr>
          </a:p>
        </p:txBody>
      </p:sp>
      <p:pic>
        <p:nvPicPr>
          <p:cNvPr id="166921" name="Picture 1033" descr="rewind1">
            <a:hlinkClick r:id="" action="ppaction://hlinkshowjump?jump=firstslide"/>
          </p:cNvPr>
          <p:cNvPicPr>
            <a:picLocks noChangeAspect="1"/>
          </p:cNvPicPr>
          <p:nvPr/>
        </p:nvPicPr>
        <p:blipFill>
          <a:blip r:embed="rId1"/>
          <a:stretch>
            <a:fillRect/>
          </a:stretch>
        </p:blipFill>
        <p:spPr>
          <a:xfrm>
            <a:off x="8704263" y="6523038"/>
            <a:ext cx="287337" cy="287337"/>
          </a:xfrm>
          <a:prstGeom prst="rect">
            <a:avLst/>
          </a:prstGeom>
          <a:noFill/>
          <a:ln w="9525">
            <a:noFill/>
          </a:ln>
        </p:spPr>
      </p:pic>
      <p:sp>
        <p:nvSpPr>
          <p:cNvPr id="166924" name="Text Box 1036"/>
          <p:cNvSpPr txBox="1"/>
          <p:nvPr/>
        </p:nvSpPr>
        <p:spPr>
          <a:xfrm>
            <a:off x="7223125" y="6186488"/>
            <a:ext cx="247650" cy="396875"/>
          </a:xfrm>
          <a:prstGeom prst="rect">
            <a:avLst/>
          </a:prstGeom>
          <a:noFill/>
          <a:ln w="9525">
            <a:noFill/>
          </a:ln>
        </p:spPr>
        <p:txBody>
          <a:bodyPr wrap="none">
            <a:spAutoFit/>
          </a:bodyPr>
          <a:p>
            <a:pPr eaLnBrk="1" hangingPunct="1"/>
            <a:r>
              <a:rPr lang="en-US" altLang="zh-CN" dirty="0">
                <a:latin typeface="Times New Roman" panose="02020603050405020304" pitchFamily="18" charset="0"/>
              </a:rPr>
              <a:t> </a:t>
            </a:r>
            <a:endParaRPr lang="en-US" altLang="zh-CN" dirty="0">
              <a:latin typeface="Times New Roman" panose="02020603050405020304" pitchFamily="18" charset="0"/>
            </a:endParaRPr>
          </a:p>
        </p:txBody>
      </p:sp>
      <p:sp>
        <p:nvSpPr>
          <p:cNvPr id="3" name="文本框 2"/>
          <p:cNvSpPr txBox="1"/>
          <p:nvPr/>
        </p:nvSpPr>
        <p:spPr>
          <a:xfrm>
            <a:off x="395605" y="1772920"/>
            <a:ext cx="8457565" cy="1420495"/>
          </a:xfrm>
          <a:prstGeom prst="rect">
            <a:avLst/>
          </a:prstGeom>
          <a:noFill/>
          <a:ln w="9525">
            <a:noFill/>
          </a:ln>
        </p:spPr>
        <p:txBody>
          <a:bodyPr wrap="square">
            <a:spAutoFit/>
          </a:bodyPr>
          <a:p>
            <a:pPr>
              <a:lnSpc>
                <a:spcPct val="120000"/>
              </a:lnSpc>
            </a:pPr>
            <a:r>
              <a:rPr lang="en-US" altLang="zh-CN" dirty="0">
                <a:latin typeface="Times New Roman" panose="02020603050405020304" pitchFamily="18" charset="0"/>
              </a:rPr>
              <a:t>         </a:t>
            </a:r>
            <a:r>
              <a:rPr lang="zh-CN" altLang="zh-CN" sz="2400" dirty="0">
                <a:latin typeface="黑体" panose="02010609060101010101" pitchFamily="49" charset="-122"/>
                <a:ea typeface="黑体" panose="02010609060101010101" pitchFamily="49" charset="-122"/>
              </a:rPr>
              <a:t>某生产企业有一个生产工艺流程需要将大批物料连续不断地垂直输送到指定高度，然后卸料给下一个生产流程，由此提出对该生产流程的机械设备需求，要求安全、高效、环保。</a:t>
            </a:r>
            <a:endParaRPr lang="zh-CN" altLang="zh-CN" sz="2400" dirty="0">
              <a:latin typeface="黑体" panose="02010609060101010101" pitchFamily="49" charset="-122"/>
              <a:ea typeface="黑体" panose="02010609060101010101" pitchFamily="49" charset="-122"/>
            </a:endParaRPr>
          </a:p>
        </p:txBody>
      </p:sp>
      <p:sp>
        <p:nvSpPr>
          <p:cNvPr id="4" name="文本框 3"/>
          <p:cNvSpPr txBox="1">
            <a:spLocks noRot="1" noChangeAspect="1" noMove="1" noResize="1" noEditPoints="1" noAdjustHandles="1" noChangeArrowheads="1" noChangeShapeType="1" noTextEdit="1"/>
          </p:cNvSpPr>
          <p:nvPr/>
        </p:nvSpPr>
        <p:spPr>
          <a:xfrm>
            <a:off x="395605" y="3500755"/>
            <a:ext cx="8103235" cy="2320925"/>
          </a:xfrm>
          <a:prstGeom prst="rect">
            <a:avLst/>
          </a:prstGeom>
          <a:blipFill>
            <a:blip r:embed="rId2"/>
            <a:stretch>
              <a:fillRect l="-1292" r="-565" b="-2362"/>
            </a:stretch>
          </a:blipFill>
        </p:spPr>
        <p:txBody>
          <a:bodyPr/>
          <a:p>
            <a:r>
              <a:rPr lang="zh-CN" altLang="en-US">
                <a:noFill/>
              </a:rPr>
              <a:t> </a:t>
            </a:r>
            <a:endParaRPr lang="zh-CN" altLang="en-US">
              <a:noFill/>
            </a:endParaRPr>
          </a:p>
        </p:txBody>
      </p:sp>
      <p:cxnSp>
        <p:nvCxnSpPr>
          <p:cNvPr id="5" name="直接连接符 4"/>
          <p:cNvCxnSpPr/>
          <p:nvPr/>
        </p:nvCxnSpPr>
        <p:spPr>
          <a:xfrm>
            <a:off x="899795" y="4653280"/>
            <a:ext cx="1101725" cy="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6" name="直接连接符 5"/>
          <p:cNvCxnSpPr/>
          <p:nvPr/>
        </p:nvCxnSpPr>
        <p:spPr>
          <a:xfrm>
            <a:off x="4178300" y="4600575"/>
            <a:ext cx="1101725" cy="0"/>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7" name="直接连接符 6"/>
          <p:cNvCxnSpPr/>
          <p:nvPr/>
        </p:nvCxnSpPr>
        <p:spPr>
          <a:xfrm>
            <a:off x="5775325" y="4657725"/>
            <a:ext cx="1732280" cy="17145"/>
          </a:xfrm>
          <a:prstGeom prst="line">
            <a:avLst/>
          </a:prstGeom>
          <a:solidFill>
            <a:schemeClr val="accent1"/>
          </a:solidFill>
          <a:ln w="9525" cap="flat" cmpd="sng" algn="ctr">
            <a:solidFill>
              <a:srgbClr val="FF0000"/>
            </a:solidFill>
            <a:prstDash val="solid"/>
            <a:round/>
            <a:headEnd type="none" w="med" len="med"/>
            <a:tailEnd type="none" w="med" len="med"/>
          </a:ln>
        </p:spPr>
      </p:cxnSp>
      <p:cxnSp>
        <p:nvCxnSpPr>
          <p:cNvPr id="8" name="直接连接符 7"/>
          <p:cNvCxnSpPr/>
          <p:nvPr/>
        </p:nvCxnSpPr>
        <p:spPr>
          <a:xfrm>
            <a:off x="5292090" y="4149090"/>
            <a:ext cx="1732280" cy="17145"/>
          </a:xfrm>
          <a:prstGeom prst="line">
            <a:avLst/>
          </a:prstGeom>
          <a:solidFill>
            <a:schemeClr val="accent1"/>
          </a:solidFill>
          <a:ln w="9525" cap="flat" cmpd="sng" algn="ctr">
            <a:solidFill>
              <a:srgbClr val="FF0000"/>
            </a:solidFill>
            <a:prstDash val="solid"/>
            <a:round/>
            <a:headEnd type="none" w="med" len="med"/>
            <a:tailEnd type="none" w="med" len="med"/>
          </a:ln>
        </p:spPr>
      </p:cxnSp>
      <p:sp>
        <p:nvSpPr>
          <p:cNvPr id="62466" name="直接连接符 62465"/>
          <p:cNvSpPr/>
          <p:nvPr/>
        </p:nvSpPr>
        <p:spPr>
          <a:xfrm>
            <a:off x="0" y="764704"/>
            <a:ext cx="9144000" cy="0"/>
          </a:xfrm>
          <a:prstGeom prst="line">
            <a:avLst/>
          </a:prstGeom>
          <a:ln w="57150" cap="flat" cmpd="thickThin">
            <a:solidFill>
              <a:srgbClr val="C00000"/>
            </a:solidFill>
            <a:prstDash val="solid"/>
            <a:headEnd type="none" w="med" len="med"/>
            <a:tailEnd type="none" w="med" len="med"/>
          </a:ln>
        </p:spPr>
      </p:sp>
      <p:sp>
        <p:nvSpPr>
          <p:cNvPr id="62467" name="文本框 62466">
            <a:hlinkClick r:id="" action="ppaction://noaction"/>
          </p:cNvPr>
          <p:cNvSpPr txBox="1"/>
          <p:nvPr/>
        </p:nvSpPr>
        <p:spPr>
          <a:xfrm>
            <a:off x="2339752" y="116632"/>
            <a:ext cx="4572000" cy="579438"/>
          </a:xfrm>
          <a:prstGeom prst="rect">
            <a:avLst/>
          </a:prstGeom>
          <a:noFill/>
          <a:ln w="9525">
            <a:noFill/>
          </a:ln>
        </p:spPr>
        <p:txBody>
          <a:bodyPr>
            <a:spAutoFit/>
          </a:bodyPr>
          <a:p>
            <a:pPr algn="l"/>
            <a:r>
              <a:rPr lang="zh-CN" altLang="en-US" sz="3200" b="1" dirty="0">
                <a:solidFill>
                  <a:schemeClr val="accent2"/>
                </a:solidFill>
                <a:effectLst>
                  <a:outerShdw blurRad="38100" dist="38100" dir="2700000">
                    <a:srgbClr val="C0C0C0"/>
                  </a:outerShdw>
                </a:effectLst>
                <a:latin typeface="宋体" panose="02010600030101010101" pitchFamily="2" charset="-122"/>
              </a:rPr>
              <a:t>第一部分 课程设计概述</a:t>
            </a:r>
            <a:endParaRPr lang="zh-CN" altLang="en-US" sz="3200" b="1" dirty="0">
              <a:solidFill>
                <a:schemeClr val="accent2"/>
              </a:solidFill>
              <a:effectLst>
                <a:outerShdw blurRad="38100" dist="38100" dir="2700000">
                  <a:srgbClr val="C0C0C0"/>
                </a:outerShdw>
              </a:effectLst>
              <a:latin typeface="宋体" panose="02010600030101010101" pitchFamily="2" charset="-122"/>
            </a:endParaRPr>
          </a:p>
        </p:txBody>
      </p:sp>
      <p:sp>
        <p:nvSpPr>
          <p:cNvPr id="62477" name="文本框 62476">
            <a:hlinkClick r:id="" action="ppaction://noaction"/>
          </p:cNvPr>
          <p:cNvSpPr txBox="1"/>
          <p:nvPr/>
        </p:nvSpPr>
        <p:spPr>
          <a:xfrm>
            <a:off x="2771775" y="980440"/>
            <a:ext cx="4264660" cy="583565"/>
          </a:xfrm>
          <a:prstGeom prst="rect">
            <a:avLst/>
          </a:prstGeom>
          <a:noFill/>
          <a:ln w="9525">
            <a:noFill/>
          </a:ln>
        </p:spPr>
        <p:txBody>
          <a:bodyPr wrap="square">
            <a:spAutoFit/>
          </a:bodyPr>
          <a:p>
            <a:r>
              <a:rPr lang="zh-CN" altLang="en-US" sz="3200" b="1" dirty="0">
                <a:solidFill>
                  <a:srgbClr val="FF3300"/>
                </a:solidFill>
                <a:effectLst>
                  <a:outerShdw blurRad="38100" dist="38100" dir="2700000">
                    <a:srgbClr val="C0C0C0"/>
                  </a:outerShdw>
                </a:effectLst>
                <a:latin typeface="楷体_GB2312" pitchFamily="49" charset="-122"/>
                <a:ea typeface="楷体_GB2312" pitchFamily="49" charset="-122"/>
              </a:rPr>
              <a:t>二、设计任务的提出</a:t>
            </a:r>
            <a:endParaRPr lang="en-US" altLang="zh-CN" sz="3200" b="1" dirty="0">
              <a:solidFill>
                <a:srgbClr val="FF3300"/>
              </a:solidFill>
              <a:effectLst>
                <a:outerShdw blurRad="38100" dist="38100" dir="2700000">
                  <a:srgbClr val="C0C0C0"/>
                </a:outerShdw>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6921"/>
                                        </p:tgtEl>
                                        <p:attrNameLst>
                                          <p:attrName>style.visibility</p:attrName>
                                        </p:attrNameLst>
                                      </p:cBhvr>
                                      <p:to>
                                        <p:strVal val="visible"/>
                                      </p:to>
                                    </p:set>
                                    <p:anim calcmode="lin" valueType="num">
                                      <p:cBhvr additive="base">
                                        <p:cTn id="7" dur="500" fill="hold"/>
                                        <p:tgtEl>
                                          <p:spTgt spid="166921"/>
                                        </p:tgtEl>
                                        <p:attrNameLst>
                                          <p:attrName>ppt_x</p:attrName>
                                        </p:attrNameLst>
                                      </p:cBhvr>
                                      <p:tavLst>
                                        <p:tav tm="0">
                                          <p:val>
                                            <p:strVal val="0-#ppt_w/2"/>
                                          </p:val>
                                        </p:tav>
                                        <p:tav tm="100000">
                                          <p:val>
                                            <p:strVal val="#ppt_x"/>
                                          </p:val>
                                        </p:tav>
                                      </p:tavLst>
                                    </p:anim>
                                    <p:anim calcmode="lin" valueType="num">
                                      <p:cBhvr additive="base">
                                        <p:cTn id="8" dur="500" fill="hold"/>
                                        <p:tgtEl>
                                          <p:spTgt spid="1669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6924"/>
                                        </p:tgtEl>
                                        <p:attrNameLst>
                                          <p:attrName>style.visibility</p:attrName>
                                        </p:attrNameLst>
                                      </p:cBhvr>
                                      <p:to>
                                        <p:strVal val="visible"/>
                                      </p:to>
                                    </p:set>
                                    <p:anim calcmode="lin" valueType="num">
                                      <p:cBhvr additive="base">
                                        <p:cTn id="13" dur="500" fill="hold"/>
                                        <p:tgtEl>
                                          <p:spTgt spid="166924"/>
                                        </p:tgtEl>
                                        <p:attrNameLst>
                                          <p:attrName>ppt_x</p:attrName>
                                        </p:attrNameLst>
                                      </p:cBhvr>
                                      <p:tavLst>
                                        <p:tav tm="0">
                                          <p:val>
                                            <p:strVal val="0-#ppt_w/2"/>
                                          </p:val>
                                        </p:tav>
                                        <p:tav tm="100000">
                                          <p:val>
                                            <p:strVal val="#ppt_x"/>
                                          </p:val>
                                        </p:tav>
                                      </p:tavLst>
                                    </p:anim>
                                    <p:anim calcmode="lin" valueType="num">
                                      <p:cBhvr additive="base">
                                        <p:cTn id="14" dur="500" fill="hold"/>
                                        <p:tgtEl>
                                          <p:spTgt spid="1669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par>
                          <p:cTn id="38" fill="hold">
                            <p:stCondLst>
                              <p:cond delay="1500"/>
                            </p:stCondLst>
                            <p:childTnLst>
                              <p:par>
                                <p:cTn id="39" presetID="22" presetClass="entr" presetSubtype="8"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62477"/>
                                        </p:tgtEl>
                                        <p:attrNameLst>
                                          <p:attrName>style.visibility</p:attrName>
                                        </p:attrNameLst>
                                      </p:cBhvr>
                                      <p:to>
                                        <p:strVal val="visible"/>
                                      </p:to>
                                    </p:set>
                                    <p:anim calcmode="lin" valueType="num">
                                      <p:cBhvr additive="base">
                                        <p:cTn id="46" dur="500" fill="hold"/>
                                        <p:tgtEl>
                                          <p:spTgt spid="62477"/>
                                        </p:tgtEl>
                                        <p:attrNameLst>
                                          <p:attrName>ppt_x</p:attrName>
                                        </p:attrNameLst>
                                      </p:cBhvr>
                                      <p:tavLst>
                                        <p:tav tm="0">
                                          <p:val>
                                            <p:strVal val="0-#ppt_w/2"/>
                                          </p:val>
                                        </p:tav>
                                        <p:tav tm="100000">
                                          <p:val>
                                            <p:strVal val="#ppt_x"/>
                                          </p:val>
                                        </p:tav>
                                      </p:tavLst>
                                    </p:anim>
                                    <p:anim calcmode="lin" valueType="num">
                                      <p:cBhvr additive="base">
                                        <p:cTn id="47" dur="500" fill="hold"/>
                                        <p:tgtEl>
                                          <p:spTgt spid="624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24" grpId="0"/>
      <p:bldP spid="3" grpId="0"/>
      <p:bldP spid="6247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6477000" y="838200"/>
            <a:ext cx="1981200" cy="152400"/>
          </a:xfrm>
          <a:noFill/>
          <a:ln>
            <a:noFill/>
          </a:ln>
        </p:spPr>
        <p:txBody>
          <a:bodyPr/>
          <a:p>
            <a:pPr eaLnBrk="1" hangingPunct="1"/>
            <a:r>
              <a:rPr lang="zh-CN" altLang="en-US" sz="800" dirty="0">
                <a:solidFill>
                  <a:schemeClr val="bg1"/>
                </a:solidFill>
              </a:rPr>
              <a:t>第一节</a:t>
            </a:r>
            <a:endParaRPr lang="zh-CN" altLang="en-US" sz="800" dirty="0">
              <a:solidFill>
                <a:schemeClr val="bg1"/>
              </a:solidFill>
            </a:endParaRPr>
          </a:p>
        </p:txBody>
      </p:sp>
      <p:pic>
        <p:nvPicPr>
          <p:cNvPr id="167940" name="Picture 4" descr="rewind1">
            <a:hlinkClick r:id="" action="ppaction://hlinkshowjump?jump=firstslide"/>
          </p:cNvPr>
          <p:cNvPicPr>
            <a:picLocks noChangeAspect="1"/>
          </p:cNvPicPr>
          <p:nvPr/>
        </p:nvPicPr>
        <p:blipFill>
          <a:blip r:embed="rId1"/>
          <a:stretch>
            <a:fillRect/>
          </a:stretch>
        </p:blipFill>
        <p:spPr>
          <a:xfrm>
            <a:off x="8763000" y="6523038"/>
            <a:ext cx="287338" cy="287337"/>
          </a:xfrm>
          <a:prstGeom prst="rect">
            <a:avLst/>
          </a:prstGeom>
          <a:noFill/>
          <a:ln w="9525">
            <a:noFill/>
          </a:ln>
        </p:spPr>
      </p:pic>
      <p:sp>
        <p:nvSpPr>
          <p:cNvPr id="167947" name="Text Box 11"/>
          <p:cNvSpPr txBox="1"/>
          <p:nvPr/>
        </p:nvSpPr>
        <p:spPr>
          <a:xfrm>
            <a:off x="6308725" y="6186488"/>
            <a:ext cx="438150" cy="396875"/>
          </a:xfrm>
          <a:prstGeom prst="rect">
            <a:avLst/>
          </a:prstGeom>
          <a:noFill/>
          <a:ln w="9525">
            <a:noFill/>
          </a:ln>
        </p:spPr>
        <p:txBody>
          <a:bodyPr wrap="none">
            <a:spAutoFit/>
          </a:bodyPr>
          <a:p>
            <a:pPr eaLnBrk="1" hangingPunct="1"/>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1224280" y="441325"/>
            <a:ext cx="6883400" cy="6263005"/>
          </a:xfrm>
          <a:prstGeom prst="rect">
            <a:avLst/>
          </a:prstGeom>
        </p:spPr>
      </p:pic>
      <p:sp>
        <p:nvSpPr>
          <p:cNvPr id="5" name="文本框 4"/>
          <p:cNvSpPr txBox="1"/>
          <p:nvPr/>
        </p:nvSpPr>
        <p:spPr>
          <a:xfrm>
            <a:off x="3348355" y="153035"/>
            <a:ext cx="3048000" cy="368300"/>
          </a:xfrm>
          <a:prstGeom prst="rect">
            <a:avLst/>
          </a:prstGeom>
        </p:spPr>
        <p:txBody>
          <a:bodyPr>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charset="-122"/>
              </a:rPr>
              <a:t>第二个设计任务</a:t>
            </a:r>
            <a:r>
              <a:rPr lang="zh-CN" altLang="en-US" sz="1800">
                <a:latin typeface="Arial" panose="020B0604020202020204" pitchFamily="34" charset="0"/>
                <a:ea typeface="微软雅黑" panose="020B0503020204020204" charset="-122"/>
              </a:rPr>
              <a:t>题目</a:t>
            </a:r>
            <a:endParaRPr lang="zh-CN" altLang="en-US" sz="1800">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7940"/>
                                        </p:tgtEl>
                                        <p:attrNameLst>
                                          <p:attrName>style.visibility</p:attrName>
                                        </p:attrNameLst>
                                      </p:cBhvr>
                                      <p:to>
                                        <p:strVal val="visible"/>
                                      </p:to>
                                    </p:set>
                                    <p:anim calcmode="lin" valueType="num">
                                      <p:cBhvr additive="base">
                                        <p:cTn id="7" dur="500" fill="hold"/>
                                        <p:tgtEl>
                                          <p:spTgt spid="167940"/>
                                        </p:tgtEl>
                                        <p:attrNameLst>
                                          <p:attrName>ppt_x</p:attrName>
                                        </p:attrNameLst>
                                      </p:cBhvr>
                                      <p:tavLst>
                                        <p:tav tm="0">
                                          <p:val>
                                            <p:strVal val="0-#ppt_w/2"/>
                                          </p:val>
                                        </p:tav>
                                        <p:tav tm="100000">
                                          <p:val>
                                            <p:strVal val="#ppt_x"/>
                                          </p:val>
                                        </p:tav>
                                      </p:tavLst>
                                    </p:anim>
                                    <p:anim calcmode="lin" valueType="num">
                                      <p:cBhvr additive="base">
                                        <p:cTn id="8" dur="500" fill="hold"/>
                                        <p:tgtEl>
                                          <p:spTgt spid="1679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7947"/>
                                        </p:tgtEl>
                                        <p:attrNameLst>
                                          <p:attrName>style.visibility</p:attrName>
                                        </p:attrNameLst>
                                      </p:cBhvr>
                                      <p:to>
                                        <p:strVal val="visible"/>
                                      </p:to>
                                    </p:set>
                                    <p:anim calcmode="lin" valueType="num">
                                      <p:cBhvr additive="base">
                                        <p:cTn id="13" dur="500" fill="hold"/>
                                        <p:tgtEl>
                                          <p:spTgt spid="167947"/>
                                        </p:tgtEl>
                                        <p:attrNameLst>
                                          <p:attrName>ppt_x</p:attrName>
                                        </p:attrNameLst>
                                      </p:cBhvr>
                                      <p:tavLst>
                                        <p:tav tm="0">
                                          <p:val>
                                            <p:strVal val="0-#ppt_w/2"/>
                                          </p:val>
                                        </p:tav>
                                        <p:tav tm="100000">
                                          <p:val>
                                            <p:strVal val="#ppt_x"/>
                                          </p:val>
                                        </p:tav>
                                      </p:tavLst>
                                    </p:anim>
                                    <p:anim calcmode="lin" valueType="num">
                                      <p:cBhvr additive="base">
                                        <p:cTn id="14" dur="500" fill="hold"/>
                                        <p:tgtEl>
                                          <p:spTgt spid="1679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rcRect r="31948"/>
          <a:stretch>
            <a:fillRect/>
          </a:stretch>
        </p:blipFill>
        <p:spPr>
          <a:xfrm>
            <a:off x="3131820" y="944880"/>
            <a:ext cx="5612130" cy="5037455"/>
          </a:xfrm>
          <a:prstGeom prst="rect">
            <a:avLst/>
          </a:prstGeom>
        </p:spPr>
      </p:pic>
      <p:sp>
        <p:nvSpPr>
          <p:cNvPr id="62466" name="直接连接符 62465"/>
          <p:cNvSpPr/>
          <p:nvPr/>
        </p:nvSpPr>
        <p:spPr>
          <a:xfrm>
            <a:off x="0" y="764704"/>
            <a:ext cx="9144000" cy="0"/>
          </a:xfrm>
          <a:prstGeom prst="line">
            <a:avLst/>
          </a:prstGeom>
          <a:ln w="57150" cap="flat" cmpd="thickThin">
            <a:solidFill>
              <a:srgbClr val="C00000"/>
            </a:solidFill>
            <a:prstDash val="solid"/>
            <a:headEnd type="none" w="med" len="med"/>
            <a:tailEnd type="none" w="med" len="med"/>
          </a:ln>
        </p:spPr>
      </p:sp>
      <p:sp>
        <p:nvSpPr>
          <p:cNvPr id="62467" name="文本框 62466">
            <a:hlinkClick r:id="" action="ppaction://noaction"/>
          </p:cNvPr>
          <p:cNvSpPr txBox="1"/>
          <p:nvPr/>
        </p:nvSpPr>
        <p:spPr>
          <a:xfrm>
            <a:off x="2339752" y="116632"/>
            <a:ext cx="4572000" cy="579438"/>
          </a:xfrm>
          <a:prstGeom prst="rect">
            <a:avLst/>
          </a:prstGeom>
          <a:noFill/>
          <a:ln w="9525">
            <a:noFill/>
          </a:ln>
        </p:spPr>
        <p:txBody>
          <a:bodyPr>
            <a:spAutoFit/>
          </a:bodyPr>
          <a:p>
            <a:pPr algn="l"/>
            <a:r>
              <a:rPr lang="zh-CN" altLang="en-US" sz="3200" b="1" dirty="0">
                <a:solidFill>
                  <a:schemeClr val="accent2"/>
                </a:solidFill>
                <a:effectLst>
                  <a:outerShdw blurRad="38100" dist="38100" dir="2700000">
                    <a:srgbClr val="C0C0C0"/>
                  </a:outerShdw>
                </a:effectLst>
                <a:latin typeface="宋体" panose="02010600030101010101" pitchFamily="2" charset="-122"/>
              </a:rPr>
              <a:t>第一部分 课程设计概述</a:t>
            </a:r>
            <a:endParaRPr lang="zh-CN" altLang="en-US" sz="3200" b="1" dirty="0">
              <a:solidFill>
                <a:schemeClr val="accent2"/>
              </a:solidFill>
              <a:effectLst>
                <a:outerShdw blurRad="38100" dist="38100" dir="2700000">
                  <a:srgbClr val="C0C0C0"/>
                </a:outerShdw>
              </a:effectLst>
              <a:latin typeface="宋体" panose="02010600030101010101" pitchFamily="2" charset="-122"/>
            </a:endParaRPr>
          </a:p>
        </p:txBody>
      </p:sp>
      <p:sp>
        <p:nvSpPr>
          <p:cNvPr id="9223" name="文本框 4"/>
          <p:cNvSpPr txBox="1"/>
          <p:nvPr/>
        </p:nvSpPr>
        <p:spPr>
          <a:xfrm>
            <a:off x="3239770" y="5982335"/>
            <a:ext cx="4151630" cy="398780"/>
          </a:xfrm>
          <a:prstGeom prst="rect">
            <a:avLst/>
          </a:prstGeom>
          <a:noFill/>
          <a:ln w="9525">
            <a:noFill/>
          </a:ln>
        </p:spPr>
        <p:txBody>
          <a:bodyPr wrap="square">
            <a:spAutoFit/>
          </a:bodyPr>
          <a:p>
            <a:r>
              <a:rPr lang="zh-CN" altLang="en-US" sz="2000" b="1" dirty="0">
                <a:latin typeface="Times New Roman" panose="02020603050405020304" pitchFamily="18" charset="0"/>
              </a:rPr>
              <a:t>板链斗式提升机工作原理图</a:t>
            </a:r>
            <a:endParaRPr lang="zh-CN" altLang="en-US" sz="2000" b="1" dirty="0">
              <a:latin typeface="Times New Roman" panose="02020603050405020304" pitchFamily="18" charset="0"/>
            </a:endParaRPr>
          </a:p>
        </p:txBody>
      </p:sp>
      <p:sp>
        <p:nvSpPr>
          <p:cNvPr id="5" name="文本框 4"/>
          <p:cNvSpPr txBox="1"/>
          <p:nvPr/>
        </p:nvSpPr>
        <p:spPr>
          <a:xfrm>
            <a:off x="223520" y="2348865"/>
            <a:ext cx="2979420" cy="829945"/>
          </a:xfrm>
          <a:prstGeom prst="rect">
            <a:avLst/>
          </a:prstGeom>
          <a:noFill/>
        </p:spPr>
        <p:txBody>
          <a:bodyPr wrap="square" rtlCol="0">
            <a:spAutoFit/>
          </a:bodyPr>
          <a:p>
            <a:r>
              <a:rPr lang="zh-CN" altLang="en-US" sz="2400">
                <a:solidFill>
                  <a:srgbClr val="C00000"/>
                </a:solidFill>
                <a:latin typeface="黑体" panose="02010609060101010101" pitchFamily="49" charset="-122"/>
                <a:ea typeface="黑体" panose="02010609060101010101" pitchFamily="49" charset="-122"/>
                <a:cs typeface="黑体" panose="02010609060101010101" pitchFamily="49" charset="-122"/>
              </a:rPr>
              <a:t>轻载：</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r>
              <a:rPr lang="zh-CN" altLang="en-US" sz="2400">
                <a:latin typeface="黑体" panose="02010609060101010101" pitchFamily="49" charset="-122"/>
                <a:ea typeface="黑体" panose="02010609060101010101" pitchFamily="49" charset="-122"/>
                <a:cs typeface="黑体" panose="02010609060101010101" pitchFamily="49" charset="-122"/>
              </a:rPr>
              <a:t> 单链，三角斗（</a:t>
            </a:r>
            <a:r>
              <a:rPr lang="en-US" altLang="zh-CN" sz="2400">
                <a:latin typeface="黑体" panose="02010609060101010101" pitchFamily="49" charset="-122"/>
                <a:ea typeface="黑体" panose="02010609060101010101" pitchFamily="49" charset="-122"/>
                <a:cs typeface="黑体" panose="02010609060101010101" pitchFamily="49" charset="-122"/>
              </a:rPr>
              <a:t>J</a:t>
            </a:r>
            <a:r>
              <a:rPr lang="zh-CN" altLang="en-US" sz="2400">
                <a:latin typeface="黑体" panose="02010609060101010101" pitchFamily="49" charset="-122"/>
                <a:ea typeface="黑体" panose="02010609060101010101" pitchFamily="49" charset="-122"/>
                <a:cs typeface="黑体" panose="02010609060101010101" pitchFamily="49" charset="-122"/>
              </a:rPr>
              <a:t>）</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nvSpPr>
        <p:spPr>
          <a:xfrm>
            <a:off x="180340" y="3896995"/>
            <a:ext cx="2879090" cy="829945"/>
          </a:xfrm>
          <a:prstGeom prst="rect">
            <a:avLst/>
          </a:prstGeom>
          <a:noFill/>
        </p:spPr>
        <p:txBody>
          <a:bodyPr wrap="square" rtlCol="0">
            <a:spAutoFit/>
          </a:bodyPr>
          <a:p>
            <a:r>
              <a:rPr lang="zh-CN" altLang="en-US" sz="2400">
                <a:solidFill>
                  <a:srgbClr val="C00000"/>
                </a:solidFill>
                <a:latin typeface="黑体" panose="02010609060101010101" pitchFamily="49" charset="-122"/>
                <a:ea typeface="黑体" panose="02010609060101010101" pitchFamily="49" charset="-122"/>
                <a:cs typeface="黑体" panose="02010609060101010101" pitchFamily="49" charset="-122"/>
              </a:rPr>
              <a:t>重载：</a:t>
            </a:r>
            <a:endParaRPr lang="zh-CN" altLang="en-US" sz="2400">
              <a:latin typeface="黑体" panose="02010609060101010101" pitchFamily="49" charset="-122"/>
              <a:ea typeface="黑体" panose="02010609060101010101" pitchFamily="49" charset="-122"/>
              <a:cs typeface="黑体" panose="02010609060101010101" pitchFamily="49" charset="-122"/>
            </a:endParaRPr>
          </a:p>
          <a:p>
            <a:r>
              <a:rPr lang="zh-CN" altLang="en-US" sz="2400">
                <a:latin typeface="黑体" panose="02010609060101010101" pitchFamily="49" charset="-122"/>
                <a:ea typeface="黑体" panose="02010609060101010101" pitchFamily="49" charset="-122"/>
                <a:cs typeface="黑体" panose="02010609060101010101" pitchFamily="49" charset="-122"/>
              </a:rPr>
              <a:t>双链，梯形斗（</a:t>
            </a:r>
            <a:r>
              <a:rPr lang="en-US" altLang="zh-CN" sz="2400">
                <a:latin typeface="黑体" panose="02010609060101010101" pitchFamily="49" charset="-122"/>
                <a:ea typeface="黑体" panose="02010609060101010101" pitchFamily="49" charset="-122"/>
                <a:cs typeface="黑体" panose="02010609060101010101" pitchFamily="49" charset="-122"/>
              </a:rPr>
              <a:t>T</a:t>
            </a:r>
            <a:r>
              <a:rPr lang="zh-CN" altLang="en-US" sz="2400">
                <a:latin typeface="黑体" panose="02010609060101010101" pitchFamily="49" charset="-122"/>
                <a:ea typeface="黑体" panose="02010609060101010101" pitchFamily="49" charset="-122"/>
                <a:cs typeface="黑体" panose="02010609060101010101" pitchFamily="49" charset="-122"/>
              </a:rPr>
              <a:t>）</a:t>
            </a:r>
            <a:endParaRPr lang="zh-CN" altLang="en-US" sz="2400">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23"/>
                                        </p:tgtEl>
                                        <p:attrNameLst>
                                          <p:attrName>style.visibility</p:attrName>
                                        </p:attrNameLst>
                                      </p:cBhvr>
                                      <p:to>
                                        <p:strVal val="visible"/>
                                      </p:to>
                                    </p:set>
                                    <p:animEffect transition="in" filter="wipe(left)">
                                      <p:cBhvr>
                                        <p:cTn id="7" dur="500"/>
                                        <p:tgtEl>
                                          <p:spTgt spid="92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3"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直接连接符 62465"/>
          <p:cNvSpPr/>
          <p:nvPr/>
        </p:nvSpPr>
        <p:spPr>
          <a:xfrm>
            <a:off x="0" y="764704"/>
            <a:ext cx="9144000" cy="0"/>
          </a:xfrm>
          <a:prstGeom prst="line">
            <a:avLst/>
          </a:prstGeom>
          <a:ln w="57150" cap="flat" cmpd="thickThin">
            <a:solidFill>
              <a:srgbClr val="C00000"/>
            </a:solidFill>
            <a:prstDash val="solid"/>
            <a:headEnd type="none" w="med" len="med"/>
            <a:tailEnd type="none" w="med" len="med"/>
          </a:ln>
        </p:spPr>
      </p:sp>
      <p:sp>
        <p:nvSpPr>
          <p:cNvPr id="62467" name="文本框 62466">
            <a:hlinkClick r:id="" action="ppaction://noaction"/>
          </p:cNvPr>
          <p:cNvSpPr txBox="1"/>
          <p:nvPr/>
        </p:nvSpPr>
        <p:spPr>
          <a:xfrm>
            <a:off x="2339752" y="116632"/>
            <a:ext cx="4572000" cy="579438"/>
          </a:xfrm>
          <a:prstGeom prst="rect">
            <a:avLst/>
          </a:prstGeom>
          <a:noFill/>
          <a:ln w="9525">
            <a:noFill/>
          </a:ln>
        </p:spPr>
        <p:txBody>
          <a:bodyPr>
            <a:spAutoFit/>
          </a:bodyPr>
          <a:lstStyle/>
          <a:p>
            <a:pPr algn="l"/>
            <a:r>
              <a:rPr lang="zh-CN" altLang="en-US" sz="3200" b="1" dirty="0">
                <a:solidFill>
                  <a:schemeClr val="accent2"/>
                </a:solidFill>
                <a:effectLst>
                  <a:outerShdw blurRad="38100" dist="38100" dir="2700000">
                    <a:srgbClr val="C0C0C0"/>
                  </a:outerShdw>
                </a:effectLst>
                <a:latin typeface="宋体" panose="02010600030101010101" pitchFamily="2" charset="-122"/>
              </a:rPr>
              <a:t>第一部分 课程设计概述</a:t>
            </a:r>
            <a:endParaRPr lang="zh-CN" altLang="en-US" sz="3200" b="1" dirty="0">
              <a:solidFill>
                <a:schemeClr val="accent2"/>
              </a:solidFill>
              <a:effectLst>
                <a:outerShdw blurRad="38100" dist="38100" dir="2700000">
                  <a:srgbClr val="C0C0C0"/>
                </a:outerShdw>
              </a:effectLst>
              <a:latin typeface="宋体" panose="02010600030101010101" pitchFamily="2" charset="-122"/>
            </a:endParaRPr>
          </a:p>
        </p:txBody>
      </p:sp>
      <p:sp>
        <p:nvSpPr>
          <p:cNvPr id="62477" name="文本框 62476">
            <a:hlinkClick r:id="" action="ppaction://noaction"/>
          </p:cNvPr>
          <p:cNvSpPr txBox="1"/>
          <p:nvPr/>
        </p:nvSpPr>
        <p:spPr>
          <a:xfrm>
            <a:off x="2267585" y="1017270"/>
            <a:ext cx="4501515" cy="583565"/>
          </a:xfrm>
          <a:prstGeom prst="rect">
            <a:avLst/>
          </a:prstGeom>
          <a:noFill/>
          <a:ln w="9525">
            <a:noFill/>
          </a:ln>
        </p:spPr>
        <p:txBody>
          <a:bodyPr wrap="square">
            <a:spAutoFit/>
          </a:bodyPr>
          <a:lstStyle/>
          <a:p>
            <a:r>
              <a:rPr lang="zh-CN" altLang="en-US" sz="3200" b="1" dirty="0">
                <a:solidFill>
                  <a:srgbClr val="FF3300"/>
                </a:solidFill>
                <a:effectLst>
                  <a:outerShdw blurRad="38100" dist="38100" dir="2700000">
                    <a:srgbClr val="C0C0C0"/>
                  </a:outerShdw>
                </a:effectLst>
                <a:latin typeface="楷体_GB2312" pitchFamily="49" charset="-122"/>
                <a:ea typeface="楷体_GB2312" pitchFamily="49" charset="-122"/>
              </a:rPr>
              <a:t>三、设计题目及</a:t>
            </a:r>
            <a:r>
              <a:rPr lang="zh-CN" altLang="en-US" sz="3200" b="1" dirty="0">
                <a:solidFill>
                  <a:srgbClr val="FF3300"/>
                </a:solidFill>
                <a:effectLst>
                  <a:outerShdw blurRad="38100" dist="38100" dir="2700000">
                    <a:srgbClr val="C0C0C0"/>
                  </a:outerShdw>
                </a:effectLst>
                <a:latin typeface="楷体_GB2312" pitchFamily="49" charset="-122"/>
                <a:ea typeface="楷体_GB2312" pitchFamily="49" charset="-122"/>
              </a:rPr>
              <a:t>内容</a:t>
            </a:r>
            <a:endParaRPr lang="zh-CN" altLang="en-US" sz="3200" b="1" dirty="0">
              <a:solidFill>
                <a:srgbClr val="FF3300"/>
              </a:solidFill>
              <a:effectLst>
                <a:outerShdw blurRad="38100" dist="38100" dir="2700000">
                  <a:srgbClr val="C0C0C0"/>
                </a:outerShdw>
              </a:effectLst>
              <a:latin typeface="楷体_GB2312" pitchFamily="49" charset="-122"/>
              <a:ea typeface="楷体_GB2312" pitchFamily="49" charset="-122"/>
            </a:endParaRPr>
          </a:p>
        </p:txBody>
      </p:sp>
      <p:sp>
        <p:nvSpPr>
          <p:cNvPr id="62478" name="文本框 62477"/>
          <p:cNvSpPr txBox="1"/>
          <p:nvPr/>
        </p:nvSpPr>
        <p:spPr>
          <a:xfrm>
            <a:off x="360045" y="1731645"/>
            <a:ext cx="8605520" cy="534035"/>
          </a:xfrm>
          <a:prstGeom prst="rect">
            <a:avLst/>
          </a:prstGeom>
          <a:noFill/>
          <a:ln w="9525">
            <a:noFill/>
          </a:ln>
        </p:spPr>
        <p:txBody>
          <a:bodyPr wrap="square">
            <a:spAutoFit/>
          </a:bodyPr>
          <a:lstStyle/>
          <a:p>
            <a:pPr algn="l">
              <a:lnSpc>
                <a:spcPct val="120000"/>
              </a:lnSpc>
              <a:spcBef>
                <a:spcPts val="0"/>
              </a:spcBef>
            </a:pPr>
            <a:r>
              <a:rPr lang="en-US" altLang="zh-CN" dirty="0">
                <a:solidFill>
                  <a:srgbClr val="000000"/>
                </a:solidFill>
                <a:latin typeface="宋体" panose="02010600030101010101" pitchFamily="2" charset="-122"/>
              </a:rPr>
              <a:t>    </a:t>
            </a:r>
            <a:r>
              <a:rPr lang="zh-CN" altLang="en-US" b="1" dirty="0">
                <a:solidFill>
                  <a:srgbClr val="000000"/>
                </a:solidFill>
                <a:latin typeface="楷体_GB2312" pitchFamily="49" charset="-122"/>
                <a:ea typeface="楷体_GB2312" pitchFamily="49" charset="-122"/>
              </a:rPr>
              <a:t>本课程设计题目为</a:t>
            </a:r>
            <a:r>
              <a:rPr lang="zh-CN" altLang="en-US" b="1" dirty="0">
                <a:solidFill>
                  <a:srgbClr val="FF0000"/>
                </a:solidFill>
                <a:latin typeface="楷体_GB2312" pitchFamily="49" charset="-122"/>
                <a:ea typeface="楷体_GB2312" pitchFamily="49" charset="-122"/>
              </a:rPr>
              <a:t>板链斗式提升机传动装置的设计</a:t>
            </a:r>
            <a:r>
              <a:rPr lang="zh-CN" altLang="en-US" b="1" dirty="0">
                <a:solidFill>
                  <a:srgbClr val="000000"/>
                </a:solidFill>
                <a:latin typeface="楷体_GB2312" pitchFamily="49" charset="-122"/>
                <a:ea typeface="楷体_GB2312" pitchFamily="49" charset="-122"/>
              </a:rPr>
              <a:t>，</a:t>
            </a:r>
            <a:endParaRPr lang="zh-CN" altLang="en-US" b="1" dirty="0">
              <a:solidFill>
                <a:srgbClr val="000000"/>
              </a:solidFill>
              <a:latin typeface="楷体_GB2312" pitchFamily="49" charset="-122"/>
              <a:ea typeface="楷体_GB2312" pitchFamily="49" charset="-122"/>
            </a:endParaRPr>
          </a:p>
        </p:txBody>
      </p:sp>
      <p:sp>
        <p:nvSpPr>
          <p:cNvPr id="62479" name="文本框 62478"/>
          <p:cNvSpPr txBox="1"/>
          <p:nvPr/>
        </p:nvSpPr>
        <p:spPr>
          <a:xfrm>
            <a:off x="288290" y="2385060"/>
            <a:ext cx="8681085" cy="1420495"/>
          </a:xfrm>
          <a:prstGeom prst="rect">
            <a:avLst/>
          </a:prstGeom>
          <a:noFill/>
          <a:ln w="9525">
            <a:noFill/>
          </a:ln>
        </p:spPr>
        <p:txBody>
          <a:bodyPr wrap="square">
            <a:spAutoFit/>
          </a:bodyPr>
          <a:lstStyle/>
          <a:p>
            <a:pPr algn="l">
              <a:lnSpc>
                <a:spcPct val="120000"/>
              </a:lnSpc>
              <a:spcBef>
                <a:spcPts val="0"/>
              </a:spcBef>
            </a:pPr>
            <a:r>
              <a:rPr lang="en-US" altLang="zh-CN" b="1" dirty="0">
                <a:latin typeface="楷体_GB2312" pitchFamily="49" charset="-122"/>
                <a:ea typeface="楷体_GB2312" pitchFamily="49" charset="-122"/>
              </a:rPr>
              <a:t>   </a:t>
            </a:r>
            <a:r>
              <a:rPr lang="en-US" altLang="zh-CN" b="1" dirty="0">
                <a:solidFill>
                  <a:srgbClr val="FF0000"/>
                </a:solidFill>
                <a:latin typeface="楷体_GB2312" pitchFamily="49" charset="-122"/>
                <a:ea typeface="楷体_GB2312" pitchFamily="49" charset="-122"/>
              </a:rPr>
              <a:t> </a:t>
            </a:r>
            <a:r>
              <a:rPr lang="zh-CN" altLang="en-US" b="1" dirty="0">
                <a:solidFill>
                  <a:srgbClr val="FF0000"/>
                </a:solidFill>
                <a:latin typeface="楷体_GB2312" pitchFamily="49" charset="-122"/>
                <a:ea typeface="楷体_GB2312" pitchFamily="49" charset="-122"/>
              </a:rPr>
              <a:t>传动装置</a:t>
            </a:r>
            <a:r>
              <a:rPr lang="zh-CN" altLang="en-US" b="1" dirty="0">
                <a:solidFill>
                  <a:srgbClr val="000000"/>
                </a:solidFill>
                <a:latin typeface="楷体_GB2312" pitchFamily="49" charset="-122"/>
                <a:ea typeface="楷体_GB2312" pitchFamily="49" charset="-122"/>
              </a:rPr>
              <a:t>是用于原动机和工作机之间用来起减速作用的系统，其中二级圆柱齿轮减速器由刚性箱体、齿轮等传动副及若干附件组成，属系列产品。</a:t>
            </a:r>
            <a:endParaRPr lang="zh-CN" altLang="en-US" b="1" dirty="0">
              <a:solidFill>
                <a:srgbClr val="000000"/>
              </a:solidFill>
              <a:latin typeface="楷体_GB2312" pitchFamily="49" charset="-122"/>
              <a:ea typeface="楷体_GB2312" pitchFamily="49" charset="-122"/>
            </a:endParaRPr>
          </a:p>
        </p:txBody>
      </p:sp>
      <p:grpSp>
        <p:nvGrpSpPr>
          <p:cNvPr id="62481" name="组合 62480"/>
          <p:cNvGrpSpPr/>
          <p:nvPr/>
        </p:nvGrpSpPr>
        <p:grpSpPr>
          <a:xfrm>
            <a:off x="8115300" y="6515100"/>
            <a:ext cx="1028700" cy="342900"/>
            <a:chOff x="5112" y="4104"/>
            <a:chExt cx="648" cy="216"/>
          </a:xfrm>
        </p:grpSpPr>
        <p:pic>
          <p:nvPicPr>
            <p:cNvPr id="62482" name="图片 62481"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62483" name="组合 62482"/>
            <p:cNvGrpSpPr/>
            <p:nvPr/>
          </p:nvGrpSpPr>
          <p:grpSpPr>
            <a:xfrm>
              <a:off x="5352" y="4104"/>
              <a:ext cx="408" cy="216"/>
              <a:chOff x="5232" y="4100"/>
              <a:chExt cx="408" cy="216"/>
            </a:xfrm>
          </p:grpSpPr>
          <p:pic>
            <p:nvPicPr>
              <p:cNvPr id="62484" name="图片 62483"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62485" name="图片 62484"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
        <p:nvSpPr>
          <p:cNvPr id="2" name="文本框 1"/>
          <p:cNvSpPr txBox="1"/>
          <p:nvPr/>
        </p:nvSpPr>
        <p:spPr>
          <a:xfrm>
            <a:off x="288290" y="5121275"/>
            <a:ext cx="8538210" cy="829945"/>
          </a:xfrm>
          <a:prstGeom prst="rect">
            <a:avLst/>
          </a:prstGeom>
          <a:noFill/>
          <a:ln w="9525">
            <a:noFill/>
          </a:ln>
        </p:spPr>
        <p:txBody>
          <a:bodyPr wrap="square">
            <a:spAutoFit/>
          </a:bodyPr>
          <a:p>
            <a:pPr algn="l">
              <a:spcBef>
                <a:spcPct val="50000"/>
              </a:spcBef>
            </a:pPr>
            <a:r>
              <a:rPr lang="en-US" altLang="zh-CN" b="1" dirty="0">
                <a:solidFill>
                  <a:schemeClr val="tx1"/>
                </a:solidFill>
                <a:latin typeface="楷体_GB2312" pitchFamily="49" charset="-122"/>
                <a:ea typeface="楷体_GB2312" pitchFamily="49" charset="-122"/>
              </a:rPr>
              <a:t>   </a:t>
            </a:r>
            <a:r>
              <a:rPr lang="zh-CN" altLang="en-US" b="1" dirty="0">
                <a:solidFill>
                  <a:schemeClr val="tx1"/>
                </a:solidFill>
                <a:latin typeface="楷体_GB2312" pitchFamily="49" charset="-122"/>
                <a:ea typeface="楷体_GB2312" pitchFamily="49" charset="-122"/>
              </a:rPr>
              <a:t>重点完成：</a:t>
            </a:r>
            <a:r>
              <a:rPr lang="zh-CN" altLang="en-US" b="1" dirty="0">
                <a:solidFill>
                  <a:srgbClr val="FF0000"/>
                </a:solidFill>
                <a:latin typeface="楷体_GB2312" pitchFamily="49" charset="-122"/>
                <a:ea typeface="楷体_GB2312" pitchFamily="49" charset="-122"/>
              </a:rPr>
              <a:t>二级圆柱齿轮减速器的结构设计</a:t>
            </a:r>
            <a:r>
              <a:rPr lang="zh-CN" altLang="en-US" b="1" dirty="0">
                <a:solidFill>
                  <a:srgbClr val="000000"/>
                </a:solidFill>
                <a:latin typeface="楷体_GB2312" pitchFamily="49" charset="-122"/>
                <a:ea typeface="楷体_GB2312" pitchFamily="49" charset="-122"/>
              </a:rPr>
              <a:t>，因为它包含齿轮、轴、箱体、螺栓、键、轴承等多种零部件。</a:t>
            </a:r>
            <a:endParaRPr lang="zh-CN" altLang="en-US" b="1" dirty="0">
              <a:solidFill>
                <a:srgbClr val="000000"/>
              </a:solidFill>
              <a:latin typeface="楷体_GB2312" pitchFamily="49" charset="-122"/>
              <a:ea typeface="楷体_GB2312" pitchFamily="49" charset="-122"/>
            </a:endParaRPr>
          </a:p>
        </p:txBody>
      </p:sp>
      <p:sp>
        <p:nvSpPr>
          <p:cNvPr id="3" name="文本框 2"/>
          <p:cNvSpPr txBox="1"/>
          <p:nvPr/>
        </p:nvSpPr>
        <p:spPr>
          <a:xfrm>
            <a:off x="467995" y="3933190"/>
            <a:ext cx="8068310" cy="977265"/>
          </a:xfrm>
          <a:prstGeom prst="rect">
            <a:avLst/>
          </a:prstGeom>
          <a:noFill/>
        </p:spPr>
        <p:txBody>
          <a:bodyPr wrap="square" rtlCol="0" anchor="t">
            <a:spAutoFit/>
          </a:bodyPr>
          <a:p>
            <a:pPr algn="l">
              <a:lnSpc>
                <a:spcPct val="120000"/>
              </a:lnSpc>
              <a:spcBef>
                <a:spcPts val="0"/>
              </a:spcBef>
            </a:pPr>
            <a:r>
              <a:rPr lang="zh-CN" altLang="en-US" b="1" dirty="0">
                <a:solidFill>
                  <a:srgbClr val="000000"/>
                </a:solidFill>
                <a:latin typeface="楷体_GB2312" pitchFamily="49" charset="-122"/>
                <a:ea typeface="楷体_GB2312" pitchFamily="49" charset="-122"/>
                <a:sym typeface="+mn-ea"/>
              </a:rPr>
              <a:t>本课程设计主要完成：</a:t>
            </a:r>
            <a:r>
              <a:rPr lang="zh-CN" altLang="en-US" b="1" dirty="0">
                <a:solidFill>
                  <a:schemeClr val="tx1"/>
                </a:solidFill>
                <a:latin typeface="楷体_GB2312" pitchFamily="49" charset="-122"/>
                <a:ea typeface="楷体_GB2312" pitchFamily="49" charset="-122"/>
                <a:sym typeface="+mn-ea"/>
              </a:rPr>
              <a:t>电动机选型、传动比分配、带传动、二级齿轮传动、链传动的设计计算</a:t>
            </a:r>
            <a:r>
              <a:rPr lang="zh-CN" altLang="en-US" b="1" dirty="0">
                <a:solidFill>
                  <a:srgbClr val="000000"/>
                </a:solidFill>
                <a:latin typeface="楷体_GB2312" pitchFamily="49" charset="-122"/>
                <a:ea typeface="楷体_GB2312" pitchFamily="49" charset="-122"/>
                <a:sym typeface="+mn-ea"/>
              </a:rPr>
              <a:t>。</a:t>
            </a:r>
            <a:endParaRPr lang="zh-CN" altLang="en-US" b="1" dirty="0">
              <a:solidFill>
                <a:srgbClr val="000000"/>
              </a:solidFill>
              <a:latin typeface="楷体_GB2312" pitchFamily="49" charset="-122"/>
              <a:ea typeface="楷体_GB2312" pitchFamily="49"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77"/>
                                        </p:tgtEl>
                                        <p:attrNameLst>
                                          <p:attrName>style.visibility</p:attrName>
                                        </p:attrNameLst>
                                      </p:cBhvr>
                                      <p:to>
                                        <p:strVal val="visible"/>
                                      </p:to>
                                    </p:set>
                                    <p:anim calcmode="lin" valueType="num">
                                      <p:cBhvr additive="base">
                                        <p:cTn id="7" dur="500" fill="hold"/>
                                        <p:tgtEl>
                                          <p:spTgt spid="62477"/>
                                        </p:tgtEl>
                                        <p:attrNameLst>
                                          <p:attrName>ppt_x</p:attrName>
                                        </p:attrNameLst>
                                      </p:cBhvr>
                                      <p:tavLst>
                                        <p:tav tm="0">
                                          <p:val>
                                            <p:strVal val="0-#ppt_w/2"/>
                                          </p:val>
                                        </p:tav>
                                        <p:tav tm="100000">
                                          <p:val>
                                            <p:strVal val="#ppt_x"/>
                                          </p:val>
                                        </p:tav>
                                      </p:tavLst>
                                    </p:anim>
                                    <p:anim calcmode="lin" valueType="num">
                                      <p:cBhvr additive="base">
                                        <p:cTn id="8" dur="500" fill="hold"/>
                                        <p:tgtEl>
                                          <p:spTgt spid="6247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2478"/>
                                        </p:tgtEl>
                                        <p:attrNameLst>
                                          <p:attrName>style.visibility</p:attrName>
                                        </p:attrNameLst>
                                      </p:cBhvr>
                                      <p:to>
                                        <p:strVal val="visible"/>
                                      </p:to>
                                    </p:set>
                                    <p:anim calcmode="lin" valueType="num">
                                      <p:cBhvr additive="base">
                                        <p:cTn id="13" dur="500" fill="hold"/>
                                        <p:tgtEl>
                                          <p:spTgt spid="62478"/>
                                        </p:tgtEl>
                                        <p:attrNameLst>
                                          <p:attrName>ppt_x</p:attrName>
                                        </p:attrNameLst>
                                      </p:cBhvr>
                                      <p:tavLst>
                                        <p:tav tm="0">
                                          <p:val>
                                            <p:strVal val="0-#ppt_w/2"/>
                                          </p:val>
                                        </p:tav>
                                        <p:tav tm="100000">
                                          <p:val>
                                            <p:strVal val="#ppt_x"/>
                                          </p:val>
                                        </p:tav>
                                      </p:tavLst>
                                    </p:anim>
                                    <p:anim calcmode="lin" valueType="num">
                                      <p:cBhvr additive="base">
                                        <p:cTn id="14" dur="500" fill="hold"/>
                                        <p:tgtEl>
                                          <p:spTgt spid="6247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479"/>
                                        </p:tgtEl>
                                        <p:attrNameLst>
                                          <p:attrName>style.visibility</p:attrName>
                                        </p:attrNameLst>
                                      </p:cBhvr>
                                      <p:to>
                                        <p:strVal val="visible"/>
                                      </p:to>
                                    </p:set>
                                    <p:anim calcmode="lin" valueType="num">
                                      <p:cBhvr additive="base">
                                        <p:cTn id="19" dur="500" fill="hold"/>
                                        <p:tgtEl>
                                          <p:spTgt spid="62479"/>
                                        </p:tgtEl>
                                        <p:attrNameLst>
                                          <p:attrName>ppt_x</p:attrName>
                                        </p:attrNameLst>
                                      </p:cBhvr>
                                      <p:tavLst>
                                        <p:tav tm="0">
                                          <p:val>
                                            <p:strVal val="0-#ppt_w/2"/>
                                          </p:val>
                                        </p:tav>
                                        <p:tav tm="100000">
                                          <p:val>
                                            <p:strVal val="#ppt_x"/>
                                          </p:val>
                                        </p:tav>
                                      </p:tavLst>
                                    </p:anim>
                                    <p:anim calcmode="lin" valueType="num">
                                      <p:cBhvr additive="base">
                                        <p:cTn id="20" dur="500" fill="hold"/>
                                        <p:tgtEl>
                                          <p:spTgt spid="6247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0-#ppt_w/2"/>
                                          </p:val>
                                        </p:tav>
                                        <p:tav tm="100000">
                                          <p:val>
                                            <p:strVal val="#ppt_x"/>
                                          </p:val>
                                        </p:tav>
                                      </p:tavLst>
                                    </p:anim>
                                    <p:anim calcmode="lin" valueType="num">
                                      <p:cBhvr additive="base">
                                        <p:cTn id="31"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7" grpId="0"/>
      <p:bldP spid="62478" grpId="0"/>
      <p:bldP spid="62479" grpId="0"/>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1259840" y="944880"/>
            <a:ext cx="6248400" cy="5572125"/>
          </a:xfrm>
          <a:prstGeom prst="rect">
            <a:avLst/>
          </a:prstGeom>
        </p:spPr>
      </p:pic>
      <p:sp>
        <p:nvSpPr>
          <p:cNvPr id="62466" name="直接连接符 62465"/>
          <p:cNvSpPr/>
          <p:nvPr/>
        </p:nvSpPr>
        <p:spPr>
          <a:xfrm>
            <a:off x="0" y="764704"/>
            <a:ext cx="9144000" cy="0"/>
          </a:xfrm>
          <a:prstGeom prst="line">
            <a:avLst/>
          </a:prstGeom>
          <a:ln w="57150" cap="flat" cmpd="thickThin">
            <a:solidFill>
              <a:srgbClr val="C00000"/>
            </a:solidFill>
            <a:prstDash val="solid"/>
            <a:headEnd type="none" w="med" len="med"/>
            <a:tailEnd type="none" w="med" len="med"/>
          </a:ln>
        </p:spPr>
      </p:sp>
      <p:sp>
        <p:nvSpPr>
          <p:cNvPr id="62467" name="文本框 62466">
            <a:hlinkClick r:id="" action="ppaction://noaction"/>
          </p:cNvPr>
          <p:cNvSpPr txBox="1"/>
          <p:nvPr/>
        </p:nvSpPr>
        <p:spPr>
          <a:xfrm>
            <a:off x="2339752" y="116632"/>
            <a:ext cx="4572000" cy="579438"/>
          </a:xfrm>
          <a:prstGeom prst="rect">
            <a:avLst/>
          </a:prstGeom>
          <a:noFill/>
          <a:ln w="9525">
            <a:noFill/>
          </a:ln>
        </p:spPr>
        <p:txBody>
          <a:bodyPr>
            <a:spAutoFit/>
          </a:bodyPr>
          <a:lstStyle/>
          <a:p>
            <a:pPr algn="l"/>
            <a:r>
              <a:rPr lang="zh-CN" altLang="en-US" sz="3200" b="1" dirty="0">
                <a:solidFill>
                  <a:schemeClr val="accent2"/>
                </a:solidFill>
                <a:effectLst>
                  <a:outerShdw blurRad="38100" dist="38100" dir="2700000">
                    <a:srgbClr val="C0C0C0"/>
                  </a:outerShdw>
                </a:effectLst>
                <a:latin typeface="宋体" panose="02010600030101010101" pitchFamily="2" charset="-122"/>
              </a:rPr>
              <a:t>第一部分 课程设计概述</a:t>
            </a:r>
            <a:endParaRPr lang="zh-CN" altLang="en-US" sz="3200" b="1" dirty="0">
              <a:solidFill>
                <a:schemeClr val="accent2"/>
              </a:solidFill>
              <a:effectLst>
                <a:outerShdw blurRad="38100" dist="38100" dir="2700000">
                  <a:srgbClr val="C0C0C0"/>
                </a:outerShdw>
              </a:effectLst>
              <a:latin typeface="宋体" panose="02010600030101010101" pitchFamily="2" charset="-122"/>
            </a:endParaRPr>
          </a:p>
        </p:txBody>
      </p:sp>
      <p:sp>
        <p:nvSpPr>
          <p:cNvPr id="5" name="矩形 4"/>
          <p:cNvSpPr/>
          <p:nvPr/>
        </p:nvSpPr>
        <p:spPr>
          <a:xfrm>
            <a:off x="1259840" y="909320"/>
            <a:ext cx="2771775" cy="2912110"/>
          </a:xfrm>
          <a:prstGeom prst="rect">
            <a:avLst/>
          </a:prstGeom>
          <a:noFill/>
          <a:ln w="28575">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2)">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40180" y="728980"/>
            <a:ext cx="2685415" cy="4475480"/>
          </a:xfrm>
          <a:prstGeom prst="rect">
            <a:avLst/>
          </a:prstGeom>
        </p:spPr>
      </p:pic>
      <p:sp>
        <p:nvSpPr>
          <p:cNvPr id="3" name="文本框 2"/>
          <p:cNvSpPr txBox="1"/>
          <p:nvPr/>
        </p:nvSpPr>
        <p:spPr>
          <a:xfrm>
            <a:off x="4032250" y="4688840"/>
            <a:ext cx="4060190" cy="460375"/>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rPr>
              <a:t>二级展开式圆柱齿轮减速器</a:t>
            </a:r>
            <a:endParaRPr lang="zh-CN" altLang="en-US">
              <a:latin typeface="黑体" panose="02010609060101010101" pitchFamily="49" charset="-122"/>
              <a:ea typeface="黑体" panose="02010609060101010101" pitchFamily="49" charset="-122"/>
            </a:endParaRPr>
          </a:p>
        </p:txBody>
      </p:sp>
      <p:sp>
        <p:nvSpPr>
          <p:cNvPr id="4" name="文本框 3"/>
          <p:cNvSpPr txBox="1"/>
          <p:nvPr/>
        </p:nvSpPr>
        <p:spPr>
          <a:xfrm>
            <a:off x="4248150" y="189230"/>
            <a:ext cx="1963420" cy="460375"/>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rPr>
              <a:t>带传动</a:t>
            </a:r>
            <a:endParaRPr lang="zh-CN" altLang="en-US">
              <a:latin typeface="黑体" panose="02010609060101010101" pitchFamily="49" charset="-122"/>
              <a:ea typeface="黑体" panose="02010609060101010101" pitchFamily="49" charset="-122"/>
            </a:endParaRPr>
          </a:p>
        </p:txBody>
      </p:sp>
      <p:sp>
        <p:nvSpPr>
          <p:cNvPr id="5" name="文本框 4"/>
          <p:cNvSpPr txBox="1"/>
          <p:nvPr/>
        </p:nvSpPr>
        <p:spPr>
          <a:xfrm>
            <a:off x="720090" y="189230"/>
            <a:ext cx="1963420" cy="460375"/>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rPr>
              <a:t>链传动</a:t>
            </a:r>
            <a:endParaRPr lang="zh-CN" altLang="en-US">
              <a:latin typeface="黑体" panose="02010609060101010101" pitchFamily="49" charset="-122"/>
              <a:ea typeface="黑体" panose="02010609060101010101" pitchFamily="49" charset="-122"/>
            </a:endParaRPr>
          </a:p>
        </p:txBody>
      </p:sp>
      <p:sp>
        <p:nvSpPr>
          <p:cNvPr id="6" name="文本框 5"/>
          <p:cNvSpPr txBox="1"/>
          <p:nvPr/>
        </p:nvSpPr>
        <p:spPr>
          <a:xfrm>
            <a:off x="2447925" y="153035"/>
            <a:ext cx="1963420" cy="460375"/>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rPr>
              <a:t>电动机</a:t>
            </a:r>
            <a:endParaRPr lang="zh-CN" altLang="en-US">
              <a:latin typeface="黑体" panose="02010609060101010101" pitchFamily="49" charset="-122"/>
              <a:ea typeface="黑体" panose="02010609060101010101" pitchFamily="49" charset="-122"/>
            </a:endParaRPr>
          </a:p>
        </p:txBody>
      </p:sp>
      <p:sp>
        <p:nvSpPr>
          <p:cNvPr id="10" name="文本框 9"/>
          <p:cNvSpPr txBox="1"/>
          <p:nvPr/>
        </p:nvSpPr>
        <p:spPr>
          <a:xfrm>
            <a:off x="6841490" y="2313305"/>
            <a:ext cx="1915160" cy="460375"/>
          </a:xfrm>
          <a:prstGeom prst="rect">
            <a:avLst/>
          </a:prstGeom>
          <a:noFill/>
        </p:spPr>
        <p:txBody>
          <a:bodyPr wrap="square" rtlCol="0">
            <a:spAutoFit/>
          </a:bodyPr>
          <a:p>
            <a:r>
              <a:rPr lang="zh-CN" altLang="en-US" b="1">
                <a:solidFill>
                  <a:srgbClr val="FF0000"/>
                </a:solidFill>
              </a:rPr>
              <a:t>中间轴系</a:t>
            </a:r>
            <a:endParaRPr lang="zh-CN" altLang="en-US" b="1">
              <a:solidFill>
                <a:srgbClr val="FF0000"/>
              </a:solidFill>
            </a:endParaRPr>
          </a:p>
        </p:txBody>
      </p:sp>
      <p:sp>
        <p:nvSpPr>
          <p:cNvPr id="11" name="文本框 10"/>
          <p:cNvSpPr txBox="1"/>
          <p:nvPr/>
        </p:nvSpPr>
        <p:spPr>
          <a:xfrm>
            <a:off x="6875780" y="1593215"/>
            <a:ext cx="1915160" cy="460375"/>
          </a:xfrm>
          <a:prstGeom prst="rect">
            <a:avLst/>
          </a:prstGeom>
          <a:noFill/>
        </p:spPr>
        <p:txBody>
          <a:bodyPr wrap="square" rtlCol="0">
            <a:spAutoFit/>
          </a:bodyPr>
          <a:p>
            <a:r>
              <a:rPr lang="zh-CN" altLang="en-US" b="1">
                <a:solidFill>
                  <a:srgbClr val="FF0000"/>
                </a:solidFill>
              </a:rPr>
              <a:t>高速轴系</a:t>
            </a:r>
            <a:endParaRPr lang="zh-CN" altLang="en-US" b="1">
              <a:solidFill>
                <a:srgbClr val="FF0000"/>
              </a:solidFill>
            </a:endParaRPr>
          </a:p>
        </p:txBody>
      </p:sp>
      <p:sp>
        <p:nvSpPr>
          <p:cNvPr id="12" name="文本框 11"/>
          <p:cNvSpPr txBox="1"/>
          <p:nvPr/>
        </p:nvSpPr>
        <p:spPr>
          <a:xfrm>
            <a:off x="6875780" y="3213100"/>
            <a:ext cx="1915160" cy="460375"/>
          </a:xfrm>
          <a:prstGeom prst="rect">
            <a:avLst/>
          </a:prstGeom>
          <a:noFill/>
        </p:spPr>
        <p:txBody>
          <a:bodyPr wrap="square" rtlCol="0">
            <a:spAutoFit/>
          </a:bodyPr>
          <a:p>
            <a:r>
              <a:rPr lang="zh-CN" altLang="en-US" b="1">
                <a:solidFill>
                  <a:srgbClr val="FF0000"/>
                </a:solidFill>
              </a:rPr>
              <a:t>低速轴系</a:t>
            </a:r>
            <a:endParaRPr lang="zh-CN" altLang="en-US" b="1">
              <a:solidFill>
                <a:srgbClr val="FF0000"/>
              </a:solidFill>
            </a:endParaRPr>
          </a:p>
        </p:txBody>
      </p:sp>
      <p:sp>
        <p:nvSpPr>
          <p:cNvPr id="13" name="文本框 12"/>
          <p:cNvSpPr txBox="1"/>
          <p:nvPr/>
        </p:nvSpPr>
        <p:spPr>
          <a:xfrm>
            <a:off x="6227445" y="2313305"/>
            <a:ext cx="614045" cy="473710"/>
          </a:xfrm>
          <a:prstGeom prst="rect">
            <a:avLst/>
          </a:prstGeom>
          <a:noFill/>
        </p:spPr>
        <p:txBody>
          <a:bodyPr wrap="square" rtlCol="0">
            <a:noAutofit/>
          </a:bodyPr>
          <a:p>
            <a:r>
              <a:rPr lang="zh-CN" altLang="en-US">
                <a:latin typeface="微软雅黑" panose="020B0503020204020204" charset="-122"/>
                <a:ea typeface="微软雅黑" panose="020B0503020204020204" charset="-122"/>
              </a:rPr>
              <a:t>Ⅱ</a:t>
            </a:r>
            <a:endParaRPr lang="zh-CN" altLang="en-US">
              <a:latin typeface="微软雅黑" panose="020B0503020204020204" charset="-122"/>
              <a:ea typeface="微软雅黑" panose="020B0503020204020204" charset="-122"/>
            </a:endParaRPr>
          </a:p>
        </p:txBody>
      </p:sp>
      <p:sp>
        <p:nvSpPr>
          <p:cNvPr id="14" name="文本框 13"/>
          <p:cNvSpPr txBox="1"/>
          <p:nvPr/>
        </p:nvSpPr>
        <p:spPr>
          <a:xfrm>
            <a:off x="6336030" y="3176905"/>
            <a:ext cx="399415" cy="460375"/>
          </a:xfrm>
          <a:prstGeom prst="rect">
            <a:avLst/>
          </a:prstGeom>
          <a:noFill/>
        </p:spPr>
        <p:txBody>
          <a:bodyPr wrap="square" rtlCol="0">
            <a:spAutoFit/>
          </a:bodyPr>
          <a:p>
            <a:r>
              <a:rPr lang="zh-CN" altLang="en-US">
                <a:latin typeface="微软雅黑" panose="020B0503020204020204" charset="-122"/>
                <a:ea typeface="微软雅黑" panose="020B0503020204020204" charset="-122"/>
              </a:rPr>
              <a:t>Ⅲ</a:t>
            </a:r>
            <a:endParaRPr lang="zh-CN" altLang="en-US">
              <a:latin typeface="微软雅黑" panose="020B0503020204020204" charset="-122"/>
              <a:ea typeface="微软雅黑" panose="020B0503020204020204" charset="-122"/>
            </a:endParaRPr>
          </a:p>
        </p:txBody>
      </p:sp>
      <p:graphicFrame>
        <p:nvGraphicFramePr>
          <p:cNvPr id="17" name="对象 16"/>
          <p:cNvGraphicFramePr/>
          <p:nvPr/>
        </p:nvGraphicFramePr>
        <p:xfrm>
          <a:off x="4895850" y="1485265"/>
          <a:ext cx="1509395" cy="2836545"/>
        </p:xfrm>
        <a:graphic>
          <a:graphicData uri="http://schemas.openxmlformats.org/presentationml/2006/ole">
            <mc:AlternateContent xmlns:mc="http://schemas.openxmlformats.org/markup-compatibility/2006">
              <mc:Choice xmlns:v="urn:schemas-microsoft-com:vml" Requires="v">
                <p:oleObj spid="_x0000_s18" name="" r:id="rId2" imgW="1098550" imgH="2019300" progId="Paint.Picture">
                  <p:embed/>
                </p:oleObj>
              </mc:Choice>
              <mc:Fallback>
                <p:oleObj name="" r:id="rId2" imgW="1098550" imgH="2019300" progId="Paint.Picture">
                  <p:embed/>
                  <p:pic>
                    <p:nvPicPr>
                      <p:cNvPr id="0" name="图片 17"/>
                      <p:cNvPicPr/>
                      <p:nvPr/>
                    </p:nvPicPr>
                    <p:blipFill>
                      <a:blip r:embed="rId3"/>
                      <a:stretch>
                        <a:fillRect/>
                      </a:stretch>
                    </p:blipFill>
                    <p:spPr>
                      <a:xfrm>
                        <a:off x="4895850" y="1485265"/>
                        <a:ext cx="1509395" cy="2836545"/>
                      </a:xfrm>
                      <a:prstGeom prst="rect">
                        <a:avLst/>
                      </a:prstGeom>
                    </p:spPr>
                  </p:pic>
                </p:oleObj>
              </mc:Fallback>
            </mc:AlternateContent>
          </a:graphicData>
        </a:graphic>
      </p:graphicFrame>
      <p:sp>
        <p:nvSpPr>
          <p:cNvPr id="19" name="文本框 18"/>
          <p:cNvSpPr txBox="1"/>
          <p:nvPr/>
        </p:nvSpPr>
        <p:spPr>
          <a:xfrm>
            <a:off x="6333490" y="1628775"/>
            <a:ext cx="614045" cy="473710"/>
          </a:xfrm>
          <a:prstGeom prst="rect">
            <a:avLst/>
          </a:prstGeom>
          <a:noFill/>
        </p:spPr>
        <p:txBody>
          <a:bodyPr wrap="square" rtlCol="0">
            <a:noAutofit/>
          </a:bodyPr>
          <a:p>
            <a:r>
              <a:rPr lang="zh-CN" altLang="en-US">
                <a:latin typeface="微软雅黑" panose="020B0503020204020204" charset="-122"/>
                <a:ea typeface="微软雅黑" panose="020B0503020204020204" charset="-122"/>
              </a:rPr>
              <a:t>Ⅰ</a:t>
            </a:r>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4" grpId="0"/>
      <p:bldP spid="3" grpId="0"/>
      <p:bldP spid="5" grpId="0"/>
      <p:bldP spid="19" grpId="0"/>
      <p:bldP spid="13" grpId="0"/>
      <p:bldP spid="14" grpId="0"/>
      <p:bldP spid="11" grpId="0"/>
      <p:bldP spid="10"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直接连接符 5"/>
          <p:cNvSpPr/>
          <p:nvPr/>
        </p:nvSpPr>
        <p:spPr>
          <a:xfrm>
            <a:off x="0" y="1052736"/>
            <a:ext cx="9144000" cy="0"/>
          </a:xfrm>
          <a:prstGeom prst="line">
            <a:avLst/>
          </a:prstGeom>
          <a:ln w="57150" cap="flat" cmpd="thickThin">
            <a:solidFill>
              <a:srgbClr val="C00000"/>
            </a:solidFill>
            <a:prstDash val="solid"/>
            <a:headEnd type="none" w="med" len="med"/>
            <a:tailEnd type="none" w="med" len="med"/>
          </a:ln>
        </p:spPr>
      </p:sp>
      <p:sp>
        <p:nvSpPr>
          <p:cNvPr id="7" name="文本框 6">
            <a:hlinkClick r:id="" action="ppaction://noaction"/>
          </p:cNvPr>
          <p:cNvSpPr txBox="1"/>
          <p:nvPr/>
        </p:nvSpPr>
        <p:spPr>
          <a:xfrm>
            <a:off x="2627784" y="332656"/>
            <a:ext cx="3733800" cy="579438"/>
          </a:xfrm>
          <a:prstGeom prst="rect">
            <a:avLst/>
          </a:prstGeom>
          <a:noFill/>
          <a:ln w="9525">
            <a:noFill/>
          </a:ln>
        </p:spPr>
        <p:txBody>
          <a:bodyPr>
            <a:spAutoFit/>
          </a:bodyPr>
          <a:lstStyle/>
          <a:p>
            <a:pPr algn="l"/>
            <a:r>
              <a:rPr lang="zh-CN" altLang="en-US" sz="3200" dirty="0" smtClean="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三、</a:t>
            </a:r>
            <a:r>
              <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设计主要步骤</a:t>
            </a:r>
            <a:endPar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100" name="文本框 99"/>
          <p:cNvSpPr txBox="1"/>
          <p:nvPr/>
        </p:nvSpPr>
        <p:spPr>
          <a:xfrm>
            <a:off x="755650" y="1196975"/>
            <a:ext cx="6576060" cy="1799590"/>
          </a:xfrm>
          <a:prstGeom prst="rect">
            <a:avLst/>
          </a:prstGeom>
          <a:noFill/>
          <a:ln w="9525">
            <a:noFill/>
          </a:ln>
        </p:spPr>
        <p:txBody>
          <a:bodyPr wrap="square">
            <a:spAutoFit/>
          </a:bodyPr>
          <a:p>
            <a:pPr algn="l">
              <a:lnSpc>
                <a:spcPct val="150000"/>
              </a:lnSpc>
            </a:pPr>
            <a:r>
              <a:rPr lang="zh-CN" sz="2000">
                <a:latin typeface="黑体" panose="02010609060101010101" pitchFamily="49" charset="-122"/>
                <a:ea typeface="黑体" panose="02010609060101010101" pitchFamily="49" charset="-122"/>
              </a:rPr>
              <a:t>设计条件：</a:t>
            </a:r>
            <a:endParaRPr lang="zh-CN" sz="1800" b="1">
              <a:latin typeface="Times New Roman" panose="02020603050405020304" pitchFamily="18" charset="0"/>
              <a:ea typeface="宋体" panose="02010600030101010101" pitchFamily="2" charset="-122"/>
            </a:endParaRPr>
          </a:p>
          <a:p>
            <a:pPr algn="l">
              <a:lnSpc>
                <a:spcPct val="150000"/>
              </a:lnSpc>
            </a:pPr>
            <a:r>
              <a:rPr lang="en-US" altLang="zh-CN" sz="1800" b="1">
                <a:latin typeface="Times New Roman" panose="02020603050405020304" pitchFamily="18" charset="0"/>
                <a:ea typeface="宋体" panose="02010600030101010101" pitchFamily="2" charset="-122"/>
              </a:rPr>
              <a:t>    </a:t>
            </a:r>
            <a:r>
              <a:rPr lang="zh-CN" sz="1800" b="1">
                <a:latin typeface="Times New Roman" panose="02020603050405020304" pitchFamily="18" charset="0"/>
                <a:ea typeface="宋体" panose="02010600030101010101" pitchFamily="2" charset="-122"/>
              </a:rPr>
              <a:t>（</a:t>
            </a:r>
            <a:r>
              <a:rPr lang="en-US" sz="1800" b="1">
                <a:latin typeface="Times New Roman" panose="02020603050405020304" pitchFamily="18" charset="0"/>
                <a:ea typeface="宋体" panose="02010600030101010101" pitchFamily="2" charset="-122"/>
              </a:rPr>
              <a:t>1</a:t>
            </a:r>
            <a:r>
              <a:rPr lang="zh-CN" sz="1800" b="1">
                <a:latin typeface="Times New Roman" panose="02020603050405020304" pitchFamily="18" charset="0"/>
                <a:ea typeface="宋体" panose="02010600030101010101" pitchFamily="2" charset="-122"/>
              </a:rPr>
              <a:t>）年处理物料</a:t>
            </a:r>
            <a:r>
              <a:rPr lang="en-US" sz="1800" b="1">
                <a:latin typeface="Times New Roman" panose="02020603050405020304" pitchFamily="18" charset="0"/>
                <a:ea typeface="宋体" panose="02010600030101010101" pitchFamily="2" charset="-122"/>
                <a:cs typeface="Times New Roman" panose="02020603050405020304" pitchFamily="18" charset="0"/>
              </a:rPr>
              <a:t>       </a:t>
            </a:r>
            <a:r>
              <a:rPr lang="zh-CN" sz="1800" b="1">
                <a:latin typeface="Times New Roman" panose="02020603050405020304" pitchFamily="18" charset="0"/>
                <a:ea typeface="宋体" panose="02010600030101010101" pitchFamily="2" charset="-122"/>
              </a:rPr>
              <a:t>万吨；</a:t>
            </a:r>
            <a:endParaRPr lang="zh-CN" sz="1800" b="1">
              <a:latin typeface="Times New Roman" panose="02020603050405020304" pitchFamily="18" charset="0"/>
              <a:ea typeface="宋体" panose="02010600030101010101" pitchFamily="2" charset="-122"/>
            </a:endParaRPr>
          </a:p>
          <a:p>
            <a:pPr algn="l">
              <a:lnSpc>
                <a:spcPct val="150000"/>
              </a:lnSpc>
            </a:pPr>
            <a:r>
              <a:rPr lang="en-US" altLang="zh-CN" sz="1800" b="1">
                <a:latin typeface="Times New Roman" panose="02020603050405020304" pitchFamily="18" charset="0"/>
                <a:ea typeface="宋体" panose="02010600030101010101" pitchFamily="2" charset="-122"/>
              </a:rPr>
              <a:t>   </a:t>
            </a:r>
            <a:r>
              <a:rPr lang="zh-CN" sz="1800" b="1">
                <a:latin typeface="Times New Roman" panose="02020603050405020304" pitchFamily="18" charset="0"/>
                <a:ea typeface="宋体" panose="02010600030101010101" pitchFamily="2" charset="-122"/>
              </a:rPr>
              <a:t>（</a:t>
            </a:r>
            <a:r>
              <a:rPr lang="en-US" altLang="zh-CN" sz="1800" b="1">
                <a:latin typeface="Times New Roman" panose="02020603050405020304" pitchFamily="18" charset="0"/>
                <a:ea typeface="宋体" panose="02010600030101010101" pitchFamily="2" charset="-122"/>
              </a:rPr>
              <a:t> </a:t>
            </a:r>
            <a:r>
              <a:rPr lang="en-US" sz="1800" b="1">
                <a:latin typeface="Times New Roman" panose="02020603050405020304" pitchFamily="18" charset="0"/>
                <a:ea typeface="宋体" panose="02010600030101010101" pitchFamily="2" charset="-122"/>
              </a:rPr>
              <a:t>2</a:t>
            </a:r>
            <a:r>
              <a:rPr lang="zh-CN" sz="1800" b="1">
                <a:latin typeface="Times New Roman" panose="02020603050405020304" pitchFamily="18" charset="0"/>
                <a:ea typeface="宋体" panose="02010600030101010101" pitchFamily="2" charset="-122"/>
              </a:rPr>
              <a:t>）物料颗粒状态：</a:t>
            </a:r>
            <a:r>
              <a:rPr lang="en-US" sz="1800" b="1">
                <a:latin typeface="Times New Roman" panose="02020603050405020304" pitchFamily="18" charset="0"/>
                <a:ea typeface="宋体" panose="02010600030101010101" pitchFamily="2" charset="-122"/>
              </a:rPr>
              <a:t>20~50mm</a:t>
            </a:r>
            <a:r>
              <a:rPr lang="zh-CN" sz="1800" b="1">
                <a:latin typeface="Times New Roman" panose="02020603050405020304" pitchFamily="18" charset="0"/>
                <a:ea typeface="宋体" panose="02010600030101010101" pitchFamily="2" charset="-122"/>
              </a:rPr>
              <a:t>；</a:t>
            </a:r>
            <a:endParaRPr lang="zh-CN" sz="1800" b="1">
              <a:latin typeface="Times New Roman" panose="02020603050405020304" pitchFamily="18" charset="0"/>
              <a:ea typeface="宋体" panose="02010600030101010101" pitchFamily="2" charset="-122"/>
            </a:endParaRPr>
          </a:p>
          <a:p>
            <a:pPr algn="l">
              <a:lnSpc>
                <a:spcPct val="150000"/>
              </a:lnSpc>
            </a:pPr>
            <a:r>
              <a:rPr lang="en-US" altLang="zh-CN" sz="1800" b="1">
                <a:latin typeface="Times New Roman" panose="02020603050405020304" pitchFamily="18" charset="0"/>
                <a:ea typeface="宋体" panose="02010600030101010101" pitchFamily="2" charset="-122"/>
              </a:rPr>
              <a:t>   </a:t>
            </a:r>
            <a:r>
              <a:rPr lang="zh-CN" sz="1800" b="1">
                <a:latin typeface="Times New Roman" panose="02020603050405020304" pitchFamily="18" charset="0"/>
                <a:ea typeface="宋体" panose="02010600030101010101" pitchFamily="2" charset="-122"/>
              </a:rPr>
              <a:t>（</a:t>
            </a:r>
            <a:r>
              <a:rPr lang="en-US" sz="1800" b="1">
                <a:latin typeface="Times New Roman" panose="02020603050405020304" pitchFamily="18" charset="0"/>
                <a:ea typeface="宋体" panose="02010600030101010101" pitchFamily="2" charset="-122"/>
              </a:rPr>
              <a:t>3</a:t>
            </a:r>
            <a:r>
              <a:rPr lang="zh-CN" sz="1800" b="1">
                <a:latin typeface="Times New Roman" panose="02020603050405020304" pitchFamily="18" charset="0"/>
                <a:ea typeface="宋体" panose="02010600030101010101" pitchFamily="2" charset="-122"/>
              </a:rPr>
              <a:t>）物料堆积密度</a:t>
            </a:r>
            <a:r>
              <a:rPr lang="en-US" altLang="zh-CN" sz="1800" b="1">
                <a:latin typeface="Times New Roman" panose="02020603050405020304" pitchFamily="18" charset="0"/>
                <a:ea typeface="宋体" panose="02010600030101010101" pitchFamily="2" charset="-122"/>
              </a:rPr>
              <a:t>                            </a:t>
            </a:r>
            <a:r>
              <a:rPr lang="zh-CN" altLang="en-US" sz="1800" b="1">
                <a:latin typeface="Times New Roman" panose="02020603050405020304" pitchFamily="18" charset="0"/>
                <a:ea typeface="宋体" panose="02010600030101010101" pitchFamily="2" charset="-122"/>
              </a:rPr>
              <a:t>；</a:t>
            </a:r>
            <a:endParaRPr lang="zh-CN" altLang="en-US" sz="1800" b="1">
              <a:latin typeface="Times New Roman" panose="02020603050405020304" pitchFamily="18" charset="0"/>
              <a:ea typeface="宋体" panose="02010600030101010101" pitchFamily="2" charset="-122"/>
            </a:endParaRPr>
          </a:p>
        </p:txBody>
      </p:sp>
      <p:pic>
        <p:nvPicPr>
          <p:cNvPr id="2" name="图片 1"/>
          <p:cNvPicPr/>
          <p:nvPr/>
        </p:nvPicPr>
        <p:blipFill>
          <a:blip r:embed="rId1"/>
          <a:stretch>
            <a:fillRect/>
          </a:stretch>
        </p:blipFill>
        <p:spPr>
          <a:xfrm>
            <a:off x="3131820" y="2600960"/>
            <a:ext cx="1361440" cy="373380"/>
          </a:xfrm>
          <a:prstGeom prst="rect">
            <a:avLst/>
          </a:prstGeom>
          <a:noFill/>
          <a:ln w="9525">
            <a:noFill/>
          </a:ln>
        </p:spPr>
      </p:pic>
      <p:sp>
        <p:nvSpPr>
          <p:cNvPr id="101" name="文本框 100"/>
          <p:cNvSpPr txBox="1"/>
          <p:nvPr/>
        </p:nvSpPr>
        <p:spPr>
          <a:xfrm>
            <a:off x="756285" y="2997200"/>
            <a:ext cx="6133465" cy="368300"/>
          </a:xfrm>
          <a:prstGeom prst="rect">
            <a:avLst/>
          </a:prstGeom>
          <a:noFill/>
          <a:ln w="9525">
            <a:noFill/>
          </a:ln>
        </p:spPr>
        <p:txBody>
          <a:bodyPr wrap="square">
            <a:spAutoFit/>
          </a:bodyPr>
          <a:p>
            <a:pPr indent="153035" algn="l"/>
            <a:r>
              <a:rPr lang="zh-CN" sz="1800" b="1">
                <a:latin typeface="Times New Roman" panose="02020603050405020304" pitchFamily="18" charset="0"/>
                <a:ea typeface="宋体" panose="02010600030101010101" pitchFamily="2" charset="-122"/>
              </a:rPr>
              <a:t>（</a:t>
            </a:r>
            <a:r>
              <a:rPr lang="en-US" sz="1800" b="1">
                <a:latin typeface="Times New Roman" panose="02020603050405020304" pitchFamily="18" charset="0"/>
                <a:ea typeface="宋体" panose="02010600030101010101" pitchFamily="2" charset="-122"/>
              </a:rPr>
              <a:t>4</a:t>
            </a:r>
            <a:r>
              <a:rPr lang="zh-CN" sz="1800" b="1">
                <a:latin typeface="Times New Roman" panose="02020603050405020304" pitchFamily="18" charset="0"/>
                <a:ea typeface="宋体" panose="02010600030101010101" pitchFamily="2" charset="-122"/>
              </a:rPr>
              <a:t>）垂直提升高度</a:t>
            </a:r>
            <a:r>
              <a:rPr lang="en-US" altLang="zh-CN" sz="1800" b="1">
                <a:latin typeface="Times New Roman" panose="02020603050405020304" pitchFamily="18" charset="0"/>
                <a:ea typeface="宋体" panose="02010600030101010101" pitchFamily="2" charset="-122"/>
              </a:rPr>
              <a:t>                        </a:t>
            </a:r>
            <a:r>
              <a:rPr lang="zh-CN" altLang="en-US" sz="1800" b="1">
                <a:latin typeface="Times New Roman" panose="02020603050405020304" pitchFamily="18" charset="0"/>
                <a:ea typeface="宋体" panose="02010600030101010101" pitchFamily="2" charset="-122"/>
              </a:rPr>
              <a:t>；</a:t>
            </a:r>
            <a:endParaRPr lang="zh-CN" altLang="en-US" sz="1800" b="1">
              <a:latin typeface="Times New Roman" panose="02020603050405020304" pitchFamily="18" charset="0"/>
              <a:ea typeface="宋体" panose="02010600030101010101" pitchFamily="2" charset="-122"/>
            </a:endParaRPr>
          </a:p>
        </p:txBody>
      </p:sp>
      <p:pic>
        <p:nvPicPr>
          <p:cNvPr id="3" name="图片 2"/>
          <p:cNvPicPr/>
          <p:nvPr/>
        </p:nvPicPr>
        <p:blipFill>
          <a:blip r:embed="rId2"/>
          <a:stretch>
            <a:fillRect/>
          </a:stretch>
        </p:blipFill>
        <p:spPr>
          <a:xfrm>
            <a:off x="3131820" y="2970530"/>
            <a:ext cx="1117600" cy="430530"/>
          </a:xfrm>
          <a:prstGeom prst="rect">
            <a:avLst/>
          </a:prstGeom>
          <a:noFill/>
          <a:ln w="9525">
            <a:noFill/>
          </a:ln>
        </p:spPr>
      </p:pic>
      <p:sp>
        <p:nvSpPr>
          <p:cNvPr id="102" name="文本框 101"/>
          <p:cNvSpPr txBox="1"/>
          <p:nvPr/>
        </p:nvSpPr>
        <p:spPr>
          <a:xfrm>
            <a:off x="648335" y="3424555"/>
            <a:ext cx="7875270" cy="2584450"/>
          </a:xfrm>
          <a:prstGeom prst="rect">
            <a:avLst/>
          </a:prstGeom>
          <a:noFill/>
          <a:ln w="9525">
            <a:noFill/>
          </a:ln>
        </p:spPr>
        <p:txBody>
          <a:bodyPr wrap="square">
            <a:spAutoFit/>
          </a:bodyPr>
          <a:p>
            <a:pPr indent="153035" algn="l">
              <a:lnSpc>
                <a:spcPct val="150000"/>
              </a:lnSpc>
            </a:pPr>
            <a:r>
              <a:rPr lang="en-US" altLang="zh-CN" sz="1800" b="1">
                <a:latin typeface="Times New Roman" panose="02020603050405020304" pitchFamily="18" charset="0"/>
                <a:ea typeface="宋体" panose="02010600030101010101" pitchFamily="2" charset="-122"/>
              </a:rPr>
              <a:t> </a:t>
            </a:r>
            <a:r>
              <a:rPr lang="zh-CN" sz="1800" b="1">
                <a:latin typeface="Times New Roman" panose="02020603050405020304" pitchFamily="18" charset="0"/>
                <a:ea typeface="宋体" panose="02010600030101010101" pitchFamily="2" charset="-122"/>
              </a:rPr>
              <a:t>（</a:t>
            </a:r>
            <a:r>
              <a:rPr lang="en-US" sz="1800" b="1">
                <a:latin typeface="Times New Roman" panose="02020603050405020304" pitchFamily="18" charset="0"/>
                <a:ea typeface="宋体" panose="02010600030101010101" pitchFamily="2" charset="-122"/>
              </a:rPr>
              <a:t>5</a:t>
            </a:r>
            <a:r>
              <a:rPr lang="zh-CN" sz="1800" b="1">
                <a:latin typeface="Times New Roman" panose="02020603050405020304" pitchFamily="18" charset="0"/>
                <a:ea typeface="宋体" panose="02010600030101010101" pitchFamily="2" charset="-122"/>
              </a:rPr>
              <a:t>）工作情况：单班制、两班制三班制，连续单向运转（每班</a:t>
            </a:r>
            <a:r>
              <a:rPr lang="en-US" sz="1800" b="1">
                <a:latin typeface="Times New Roman" panose="02020603050405020304" pitchFamily="18" charset="0"/>
                <a:ea typeface="宋体" panose="02010600030101010101" pitchFamily="2" charset="-122"/>
              </a:rPr>
              <a:t>8h</a:t>
            </a:r>
            <a:r>
              <a:rPr lang="zh-CN" sz="1800" b="1">
                <a:latin typeface="Times New Roman" panose="02020603050405020304" pitchFamily="18" charset="0"/>
                <a:ea typeface="宋体" panose="02010600030101010101" pitchFamily="2" charset="-122"/>
              </a:rPr>
              <a:t>）；</a:t>
            </a:r>
            <a:endParaRPr lang="zh-CN" sz="1800" b="1">
              <a:latin typeface="Times New Roman" panose="02020603050405020304" pitchFamily="18" charset="0"/>
              <a:ea typeface="宋体" panose="02010600030101010101" pitchFamily="2" charset="-122"/>
            </a:endParaRPr>
          </a:p>
          <a:p>
            <a:pPr indent="153035" algn="l">
              <a:lnSpc>
                <a:spcPct val="150000"/>
              </a:lnSpc>
            </a:pPr>
            <a:r>
              <a:rPr lang="en-US" altLang="zh-CN" sz="1800" b="1">
                <a:latin typeface="Times New Roman" panose="02020603050405020304" pitchFamily="18" charset="0"/>
                <a:ea typeface="宋体" panose="02010600030101010101" pitchFamily="2" charset="-122"/>
              </a:rPr>
              <a:t>  </a:t>
            </a:r>
            <a:r>
              <a:rPr lang="zh-CN" sz="1800" b="1">
                <a:latin typeface="Times New Roman" panose="02020603050405020304" pitchFamily="18" charset="0"/>
                <a:ea typeface="宋体" panose="02010600030101010101" pitchFamily="2" charset="-122"/>
              </a:rPr>
              <a:t>（</a:t>
            </a:r>
            <a:r>
              <a:rPr lang="en-US" sz="1800" b="1">
                <a:latin typeface="Times New Roman" panose="02020603050405020304" pitchFamily="18" charset="0"/>
                <a:ea typeface="宋体" panose="02010600030101010101" pitchFamily="2" charset="-122"/>
              </a:rPr>
              <a:t>6</a:t>
            </a:r>
            <a:r>
              <a:rPr lang="zh-CN" sz="1800" b="1">
                <a:latin typeface="Times New Roman" panose="02020603050405020304" pitchFamily="18" charset="0"/>
                <a:ea typeface="宋体" panose="02010600030101010101" pitchFamily="2" charset="-122"/>
              </a:rPr>
              <a:t>）工作环境：室外，灰尘较大，环境最高温度</a:t>
            </a:r>
            <a:r>
              <a:rPr lang="en-US" sz="1800" b="1">
                <a:latin typeface="Times New Roman" panose="02020603050405020304" pitchFamily="18" charset="0"/>
                <a:ea typeface="宋体" panose="02010600030101010101" pitchFamily="2" charset="-122"/>
              </a:rPr>
              <a:t>40</a:t>
            </a:r>
            <a:r>
              <a:rPr lang="zh-CN" sz="1800" b="1">
                <a:ea typeface="宋体" panose="02010600030101010101" pitchFamily="2" charset="-122"/>
              </a:rPr>
              <a:t>℃；</a:t>
            </a:r>
            <a:endParaRPr lang="zh-CN" sz="1800" b="1">
              <a:latin typeface="Times New Roman" panose="02020603050405020304" pitchFamily="18" charset="0"/>
              <a:ea typeface="宋体" panose="02010600030101010101" pitchFamily="2" charset="-122"/>
            </a:endParaRPr>
          </a:p>
          <a:p>
            <a:pPr indent="153035" algn="l">
              <a:lnSpc>
                <a:spcPct val="150000"/>
              </a:lnSpc>
            </a:pPr>
            <a:r>
              <a:rPr lang="en-US" altLang="zh-CN" sz="1800" b="1">
                <a:latin typeface="Times New Roman" panose="02020603050405020304" pitchFamily="18" charset="0"/>
                <a:ea typeface="宋体" panose="02010600030101010101" pitchFamily="2" charset="-122"/>
              </a:rPr>
              <a:t>  </a:t>
            </a:r>
            <a:r>
              <a:rPr lang="zh-CN" sz="1800" b="1">
                <a:latin typeface="Times New Roman" panose="02020603050405020304" pitchFamily="18" charset="0"/>
                <a:ea typeface="宋体" panose="02010600030101010101" pitchFamily="2" charset="-122"/>
              </a:rPr>
              <a:t>（</a:t>
            </a:r>
            <a:r>
              <a:rPr lang="en-US" sz="1800" b="1">
                <a:latin typeface="Times New Roman" panose="02020603050405020304" pitchFamily="18" charset="0"/>
                <a:ea typeface="宋体" panose="02010600030101010101" pitchFamily="2" charset="-122"/>
              </a:rPr>
              <a:t>7</a:t>
            </a:r>
            <a:r>
              <a:rPr lang="zh-CN" sz="1800" b="1">
                <a:latin typeface="Times New Roman" panose="02020603050405020304" pitchFamily="18" charset="0"/>
                <a:ea typeface="宋体" panose="02010600030101010101" pitchFamily="2" charset="-122"/>
              </a:rPr>
              <a:t>）动力来源：电力，三相交流，电压</a:t>
            </a:r>
            <a:r>
              <a:rPr lang="en-US" sz="1800" b="1">
                <a:latin typeface="Times New Roman" panose="02020603050405020304" pitchFamily="18" charset="0"/>
                <a:ea typeface="宋体" panose="02010600030101010101" pitchFamily="2" charset="-122"/>
              </a:rPr>
              <a:t>380/220V</a:t>
            </a:r>
            <a:r>
              <a:rPr lang="zh-CN" sz="1800" b="1">
                <a:latin typeface="Times New Roman" panose="02020603050405020304" pitchFamily="18" charset="0"/>
                <a:ea typeface="宋体" panose="02010600030101010101" pitchFamily="2" charset="-122"/>
              </a:rPr>
              <a:t>；</a:t>
            </a:r>
            <a:endParaRPr lang="zh-CN" sz="1800" b="1">
              <a:latin typeface="Times New Roman" panose="02020603050405020304" pitchFamily="18" charset="0"/>
              <a:ea typeface="宋体" panose="02010600030101010101" pitchFamily="2" charset="-122"/>
            </a:endParaRPr>
          </a:p>
          <a:p>
            <a:pPr indent="153035" algn="l">
              <a:lnSpc>
                <a:spcPct val="150000"/>
              </a:lnSpc>
            </a:pPr>
            <a:r>
              <a:rPr lang="en-US" altLang="zh-CN" sz="1800" b="1">
                <a:latin typeface="Times New Roman" panose="02020603050405020304" pitchFamily="18" charset="0"/>
                <a:ea typeface="宋体" panose="02010600030101010101" pitchFamily="2" charset="-122"/>
              </a:rPr>
              <a:t>  </a:t>
            </a:r>
            <a:r>
              <a:rPr lang="zh-CN" sz="1800" b="1">
                <a:latin typeface="Times New Roman" panose="02020603050405020304" pitchFamily="18" charset="0"/>
                <a:ea typeface="宋体" panose="02010600030101010101" pitchFamily="2" charset="-122"/>
              </a:rPr>
              <a:t>（</a:t>
            </a:r>
            <a:r>
              <a:rPr lang="en-US" sz="1800" b="1">
                <a:latin typeface="Times New Roman" panose="02020603050405020304" pitchFamily="18" charset="0"/>
                <a:ea typeface="宋体" panose="02010600030101010101" pitchFamily="2" charset="-122"/>
              </a:rPr>
              <a:t>8</a:t>
            </a:r>
            <a:r>
              <a:rPr lang="zh-CN" sz="1800" b="1">
                <a:latin typeface="Times New Roman" panose="02020603050405020304" pitchFamily="18" charset="0"/>
                <a:ea typeface="宋体" panose="02010600030101010101" pitchFamily="2" charset="-122"/>
              </a:rPr>
              <a:t>）使用折旧期：</a:t>
            </a:r>
            <a:r>
              <a:rPr lang="en-US" sz="1800" b="1">
                <a:latin typeface="Times New Roman" panose="02020603050405020304" pitchFamily="18" charset="0"/>
                <a:ea typeface="宋体" panose="02010600030101010101" pitchFamily="2" charset="-122"/>
              </a:rPr>
              <a:t>8</a:t>
            </a:r>
            <a:r>
              <a:rPr lang="zh-CN" sz="1800" b="1">
                <a:latin typeface="Times New Roman" panose="02020603050405020304" pitchFamily="18" charset="0"/>
                <a:ea typeface="宋体" panose="02010600030101010101" pitchFamily="2" charset="-122"/>
              </a:rPr>
              <a:t>年</a:t>
            </a:r>
            <a:endParaRPr lang="zh-CN" sz="1800" b="1">
              <a:latin typeface="Times New Roman" panose="02020603050405020304" pitchFamily="18" charset="0"/>
              <a:ea typeface="宋体" panose="02010600030101010101" pitchFamily="2" charset="-122"/>
            </a:endParaRPr>
          </a:p>
          <a:p>
            <a:pPr indent="153035" algn="l">
              <a:lnSpc>
                <a:spcPct val="150000"/>
              </a:lnSpc>
            </a:pPr>
            <a:r>
              <a:rPr lang="en-US" altLang="zh-CN" sz="1800" b="1">
                <a:latin typeface="Times New Roman" panose="02020603050405020304" pitchFamily="18" charset="0"/>
                <a:ea typeface="宋体" panose="02010600030101010101" pitchFamily="2" charset="-122"/>
              </a:rPr>
              <a:t> </a:t>
            </a:r>
            <a:r>
              <a:rPr lang="zh-CN" sz="1800" b="1">
                <a:latin typeface="Times New Roman" panose="02020603050405020304" pitchFamily="18" charset="0"/>
                <a:ea typeface="宋体" panose="02010600030101010101" pitchFamily="2" charset="-122"/>
              </a:rPr>
              <a:t>（</a:t>
            </a:r>
            <a:r>
              <a:rPr lang="en-US" sz="1800" b="1">
                <a:latin typeface="Times New Roman" panose="02020603050405020304" pitchFamily="18" charset="0"/>
                <a:ea typeface="宋体" panose="02010600030101010101" pitchFamily="2" charset="-122"/>
              </a:rPr>
              <a:t>9</a:t>
            </a:r>
            <a:r>
              <a:rPr lang="zh-CN" sz="1800" b="1">
                <a:latin typeface="Times New Roman" panose="02020603050405020304" pitchFamily="18" charset="0"/>
                <a:ea typeface="宋体" panose="02010600030101010101" pitchFamily="2" charset="-122"/>
              </a:rPr>
              <a:t>）检修间隔期：</a:t>
            </a:r>
            <a:r>
              <a:rPr lang="en-US" sz="1800" b="1">
                <a:latin typeface="Times New Roman" panose="02020603050405020304" pitchFamily="18" charset="0"/>
                <a:ea typeface="宋体" panose="02010600030101010101" pitchFamily="2" charset="-122"/>
              </a:rPr>
              <a:t>4</a:t>
            </a:r>
            <a:r>
              <a:rPr lang="zh-CN" sz="1800" b="1">
                <a:latin typeface="Times New Roman" panose="02020603050405020304" pitchFamily="18" charset="0"/>
                <a:ea typeface="宋体" panose="02010600030101010101" pitchFamily="2" charset="-122"/>
              </a:rPr>
              <a:t>年一次大修，</a:t>
            </a:r>
            <a:r>
              <a:rPr lang="en-US" sz="1800" b="1">
                <a:latin typeface="Times New Roman" panose="02020603050405020304" pitchFamily="18" charset="0"/>
                <a:ea typeface="宋体" panose="02010600030101010101" pitchFamily="2" charset="-122"/>
              </a:rPr>
              <a:t>2</a:t>
            </a:r>
            <a:r>
              <a:rPr lang="zh-CN" sz="1800" b="1">
                <a:latin typeface="Times New Roman" panose="02020603050405020304" pitchFamily="18" charset="0"/>
                <a:ea typeface="宋体" panose="02010600030101010101" pitchFamily="2" charset="-122"/>
              </a:rPr>
              <a:t>年一次中修，半年一次小修；</a:t>
            </a:r>
            <a:endParaRPr lang="zh-CN" sz="1800" b="1">
              <a:latin typeface="Times New Roman" panose="02020603050405020304" pitchFamily="18" charset="0"/>
              <a:ea typeface="宋体" panose="02010600030101010101" pitchFamily="2" charset="-122"/>
            </a:endParaRPr>
          </a:p>
          <a:p>
            <a:pPr indent="153035" algn="l">
              <a:lnSpc>
                <a:spcPct val="150000"/>
              </a:lnSpc>
            </a:pPr>
            <a:r>
              <a:rPr lang="en-US" altLang="zh-CN" sz="1800" b="1">
                <a:latin typeface="Times New Roman" panose="02020603050405020304" pitchFamily="18" charset="0"/>
                <a:ea typeface="宋体" panose="02010600030101010101" pitchFamily="2" charset="-122"/>
              </a:rPr>
              <a:t> </a:t>
            </a:r>
            <a:r>
              <a:rPr lang="zh-CN" sz="1800" b="1">
                <a:latin typeface="Times New Roman" panose="02020603050405020304" pitchFamily="18" charset="0"/>
                <a:ea typeface="宋体" panose="02010600030101010101" pitchFamily="2" charset="-122"/>
              </a:rPr>
              <a:t>（</a:t>
            </a:r>
            <a:r>
              <a:rPr lang="en-US" sz="1800" b="1">
                <a:latin typeface="Times New Roman" panose="02020603050405020304" pitchFamily="18" charset="0"/>
                <a:ea typeface="宋体" panose="02010600030101010101" pitchFamily="2" charset="-122"/>
              </a:rPr>
              <a:t>10</a:t>
            </a:r>
            <a:r>
              <a:rPr lang="zh-CN" sz="1800" b="1">
                <a:latin typeface="Times New Roman" panose="02020603050405020304" pitchFamily="18" charset="0"/>
                <a:ea typeface="宋体" panose="02010600030101010101" pitchFamily="2" charset="-122"/>
              </a:rPr>
              <a:t>）制造条件与生产批量：一般机械厂制造，小批量生产。</a:t>
            </a:r>
            <a:endParaRPr lang="zh-CN" altLang="en-US" sz="18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直接连接符 41985"/>
          <p:cNvSpPr/>
          <p:nvPr/>
        </p:nvSpPr>
        <p:spPr>
          <a:xfrm>
            <a:off x="0" y="1052736"/>
            <a:ext cx="9144000" cy="0"/>
          </a:xfrm>
          <a:prstGeom prst="line">
            <a:avLst/>
          </a:prstGeom>
          <a:ln w="57150" cap="flat" cmpd="thickThin">
            <a:solidFill>
              <a:srgbClr val="C00000"/>
            </a:solidFill>
            <a:prstDash val="solid"/>
            <a:headEnd type="none" w="med" len="med"/>
            <a:tailEnd type="none" w="med" len="med"/>
          </a:ln>
        </p:spPr>
      </p:sp>
      <p:sp>
        <p:nvSpPr>
          <p:cNvPr id="41999" name="文本框 41998">
            <a:hlinkClick r:id="" action="ppaction://noaction"/>
          </p:cNvPr>
          <p:cNvSpPr txBox="1"/>
          <p:nvPr/>
        </p:nvSpPr>
        <p:spPr>
          <a:xfrm>
            <a:off x="2627784" y="332656"/>
            <a:ext cx="3733800" cy="579438"/>
          </a:xfrm>
          <a:prstGeom prst="rect">
            <a:avLst/>
          </a:prstGeom>
          <a:noFill/>
          <a:ln w="9525">
            <a:noFill/>
          </a:ln>
        </p:spPr>
        <p:txBody>
          <a:bodyPr>
            <a:spAutoFit/>
          </a:bodyPr>
          <a:lstStyle/>
          <a:p>
            <a:pPr algn="l"/>
            <a:r>
              <a:rPr lang="zh-CN" altLang="en-US" sz="3200" dirty="0" smtClean="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三、</a:t>
            </a:r>
            <a:r>
              <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设计主要步骤</a:t>
            </a:r>
            <a:endPar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42000" name="文本框 41999"/>
          <p:cNvSpPr txBox="1"/>
          <p:nvPr/>
        </p:nvSpPr>
        <p:spPr>
          <a:xfrm>
            <a:off x="179512" y="1340768"/>
            <a:ext cx="9144000" cy="460375"/>
          </a:xfrm>
          <a:prstGeom prst="rect">
            <a:avLst/>
          </a:prstGeom>
          <a:noFill/>
          <a:ln w="9525">
            <a:noFill/>
          </a:ln>
        </p:spPr>
        <p:txBody>
          <a:bodyPr>
            <a:spAutoFit/>
          </a:bodyPr>
          <a:lstStyle/>
          <a:p>
            <a:pPr algn="l">
              <a:spcBef>
                <a:spcPct val="50000"/>
              </a:spcBef>
            </a:pPr>
            <a:r>
              <a:rPr lang="en-US" altLang="zh-CN" dirty="0" smtClean="0">
                <a:solidFill>
                  <a:srgbClr val="FF0000"/>
                </a:solidFill>
                <a:latin typeface="黑体" panose="02010609060101010101" pitchFamily="49" charset="-122"/>
                <a:ea typeface="黑体" panose="02010609060101010101" pitchFamily="49" charset="-122"/>
              </a:rPr>
              <a:t>1</a:t>
            </a:r>
            <a:r>
              <a:rPr lang="zh-CN" altLang="en-US" dirty="0" smtClean="0">
                <a:solidFill>
                  <a:srgbClr val="FF0000"/>
                </a:solidFill>
                <a:latin typeface="黑体" panose="02010609060101010101" pitchFamily="49" charset="-122"/>
                <a:ea typeface="黑体" panose="02010609060101010101" pitchFamily="49" charset="-122"/>
              </a:rPr>
              <a:t>、斗式提升机传动方案的选择与确定</a:t>
            </a:r>
            <a:endParaRPr lang="zh-CN" altLang="en-US" dirty="0" smtClean="0">
              <a:solidFill>
                <a:srgbClr val="FF0000"/>
              </a:solidFill>
              <a:latin typeface="黑体" panose="02010609060101010101" pitchFamily="49" charset="-122"/>
              <a:ea typeface="黑体" panose="02010609060101010101" pitchFamily="49" charset="-122"/>
            </a:endParaRPr>
          </a:p>
        </p:txBody>
      </p:sp>
      <p:sp>
        <p:nvSpPr>
          <p:cNvPr id="42008" name="文本框 42007"/>
          <p:cNvSpPr txBox="1"/>
          <p:nvPr/>
        </p:nvSpPr>
        <p:spPr>
          <a:xfrm>
            <a:off x="611813" y="2156480"/>
            <a:ext cx="4464050" cy="460375"/>
          </a:xfrm>
          <a:prstGeom prst="rect">
            <a:avLst/>
          </a:prstGeom>
          <a:noFill/>
          <a:ln w="9525">
            <a:noFill/>
          </a:ln>
        </p:spPr>
        <p:txBody>
          <a:bodyPr>
            <a:spAutoFit/>
          </a:bodyPr>
          <a:lstStyle/>
          <a:p>
            <a:pPr algn="l">
              <a:spcBef>
                <a:spcPct val="50000"/>
              </a:spcBef>
              <a:buClr>
                <a:srgbClr val="FF3300"/>
              </a:buClr>
            </a:pPr>
            <a:r>
              <a:rPr lang="zh-CN" altLang="en-US" b="1" dirty="0" smtClean="0">
                <a:solidFill>
                  <a:srgbClr val="000000"/>
                </a:solidFill>
                <a:latin typeface="楷体_GB2312" pitchFamily="49" charset="-122"/>
                <a:ea typeface="楷体_GB2312" pitchFamily="49" charset="-122"/>
              </a:rPr>
              <a:t>分析</a:t>
            </a:r>
            <a:r>
              <a:rPr lang="zh-CN" altLang="en-US" b="1" dirty="0">
                <a:solidFill>
                  <a:srgbClr val="000000"/>
                </a:solidFill>
                <a:latin typeface="楷体_GB2312" pitchFamily="49" charset="-122"/>
                <a:ea typeface="楷体_GB2312" pitchFamily="49" charset="-122"/>
              </a:rPr>
              <a:t>和拟定传动方案</a:t>
            </a:r>
            <a:endParaRPr lang="zh-CN" altLang="en-US" b="1" dirty="0">
              <a:solidFill>
                <a:srgbClr val="000000"/>
              </a:solidFill>
              <a:latin typeface="楷体_GB2312" pitchFamily="49" charset="-122"/>
              <a:ea typeface="楷体_GB2312" pitchFamily="49" charset="-122"/>
            </a:endParaRPr>
          </a:p>
        </p:txBody>
      </p:sp>
      <p:grpSp>
        <p:nvGrpSpPr>
          <p:cNvPr id="42013" name="组合 42012"/>
          <p:cNvGrpSpPr/>
          <p:nvPr/>
        </p:nvGrpSpPr>
        <p:grpSpPr>
          <a:xfrm>
            <a:off x="8115300" y="6515100"/>
            <a:ext cx="1028700" cy="342900"/>
            <a:chOff x="5112" y="4104"/>
            <a:chExt cx="648" cy="216"/>
          </a:xfrm>
        </p:grpSpPr>
        <p:pic>
          <p:nvPicPr>
            <p:cNvPr id="42014" name="图片 42013"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42015" name="组合 42014"/>
            <p:cNvGrpSpPr/>
            <p:nvPr/>
          </p:nvGrpSpPr>
          <p:grpSpPr>
            <a:xfrm>
              <a:off x="5352" y="4104"/>
              <a:ext cx="408" cy="216"/>
              <a:chOff x="5232" y="4100"/>
              <a:chExt cx="408" cy="216"/>
            </a:xfrm>
          </p:grpSpPr>
          <p:pic>
            <p:nvPicPr>
              <p:cNvPr id="42016" name="图片 42015"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42017" name="图片 42016"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
        <p:nvSpPr>
          <p:cNvPr id="5" name="文本框 4"/>
          <p:cNvSpPr txBox="1"/>
          <p:nvPr/>
        </p:nvSpPr>
        <p:spPr>
          <a:xfrm>
            <a:off x="611758" y="3501167"/>
            <a:ext cx="3312368" cy="829945"/>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effectLst>
            <a:outerShdw blurRad="63500" sx="102000" sy="102000" algn="ctr" rotWithShape="0">
              <a:prstClr val="black">
                <a:alpha val="40000"/>
              </a:prstClr>
            </a:outerShdw>
          </a:effectLst>
        </p:spPr>
        <p:txBody>
          <a:bodyPr wrap="square" rtlCol="0">
            <a:spAutoFit/>
          </a:bodyPr>
          <a:lstStyle/>
          <a:p>
            <a:r>
              <a:rPr lang="zh-CN" altLang="en-US" dirty="0" smtClean="0"/>
              <a:t>详见：</a:t>
            </a:r>
            <a:r>
              <a:rPr lang="en-US" altLang="zh-CN" dirty="0" smtClean="0"/>
              <a:t>《</a:t>
            </a:r>
            <a:r>
              <a:rPr lang="zh-CN" altLang="en-US" dirty="0" smtClean="0"/>
              <a:t>机械</a:t>
            </a:r>
            <a:r>
              <a:rPr lang="zh-CN" altLang="en-US" dirty="0"/>
              <a:t>设计</a:t>
            </a:r>
            <a:r>
              <a:rPr lang="en-US" altLang="zh-CN" dirty="0" smtClean="0"/>
              <a:t>》</a:t>
            </a:r>
            <a:endParaRPr lang="en-US" altLang="zh-CN" dirty="0" smtClean="0"/>
          </a:p>
          <a:p>
            <a:r>
              <a:rPr lang="en-US" altLang="zh-CN" dirty="0" smtClean="0"/>
              <a:t>P147~152</a:t>
            </a:r>
            <a:endParaRPr lang="zh-CN" altLang="en-US" dirty="0"/>
          </a:p>
        </p:txBody>
      </p:sp>
      <p:pic>
        <p:nvPicPr>
          <p:cNvPr id="2" name="图片 1"/>
          <p:cNvPicPr>
            <a:picLocks noChangeAspect="1"/>
          </p:cNvPicPr>
          <p:nvPr/>
        </p:nvPicPr>
        <p:blipFill>
          <a:blip r:embed="rId5"/>
          <a:stretch>
            <a:fillRect/>
          </a:stretch>
        </p:blipFill>
        <p:spPr>
          <a:xfrm>
            <a:off x="4211955" y="1880870"/>
            <a:ext cx="4077335" cy="450024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999"/>
                                        </p:tgtEl>
                                        <p:attrNameLst>
                                          <p:attrName>style.visibility</p:attrName>
                                        </p:attrNameLst>
                                      </p:cBhvr>
                                      <p:to>
                                        <p:strVal val="visible"/>
                                      </p:to>
                                    </p:set>
                                    <p:anim calcmode="lin" valueType="num">
                                      <p:cBhvr additive="base">
                                        <p:cTn id="7" dur="500" fill="hold"/>
                                        <p:tgtEl>
                                          <p:spTgt spid="41999"/>
                                        </p:tgtEl>
                                        <p:attrNameLst>
                                          <p:attrName>ppt_x</p:attrName>
                                        </p:attrNameLst>
                                      </p:cBhvr>
                                      <p:tavLst>
                                        <p:tav tm="0">
                                          <p:val>
                                            <p:strVal val="0-#ppt_w/2"/>
                                          </p:val>
                                        </p:tav>
                                        <p:tav tm="100000">
                                          <p:val>
                                            <p:strVal val="#ppt_x"/>
                                          </p:val>
                                        </p:tav>
                                      </p:tavLst>
                                    </p:anim>
                                    <p:anim calcmode="lin" valueType="num">
                                      <p:cBhvr additive="base">
                                        <p:cTn id="8" dur="500" fill="hold"/>
                                        <p:tgtEl>
                                          <p:spTgt spid="4199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2000"/>
                                        </p:tgtEl>
                                        <p:attrNameLst>
                                          <p:attrName>style.visibility</p:attrName>
                                        </p:attrNameLst>
                                      </p:cBhvr>
                                      <p:to>
                                        <p:strVal val="visible"/>
                                      </p:to>
                                    </p:set>
                                    <p:anim calcmode="lin" valueType="num">
                                      <p:cBhvr additive="base">
                                        <p:cTn id="13" dur="500" fill="hold"/>
                                        <p:tgtEl>
                                          <p:spTgt spid="42000"/>
                                        </p:tgtEl>
                                        <p:attrNameLst>
                                          <p:attrName>ppt_x</p:attrName>
                                        </p:attrNameLst>
                                      </p:cBhvr>
                                      <p:tavLst>
                                        <p:tav tm="0">
                                          <p:val>
                                            <p:strVal val="0-#ppt_w/2"/>
                                          </p:val>
                                        </p:tav>
                                        <p:tav tm="100000">
                                          <p:val>
                                            <p:strVal val="#ppt_x"/>
                                          </p:val>
                                        </p:tav>
                                      </p:tavLst>
                                    </p:anim>
                                    <p:anim calcmode="lin" valueType="num">
                                      <p:cBhvr additive="base">
                                        <p:cTn id="14" dur="500" fill="hold"/>
                                        <p:tgtEl>
                                          <p:spTgt spid="4200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2008"/>
                                        </p:tgtEl>
                                        <p:attrNameLst>
                                          <p:attrName>style.visibility</p:attrName>
                                        </p:attrNameLst>
                                      </p:cBhvr>
                                      <p:to>
                                        <p:strVal val="visible"/>
                                      </p:to>
                                    </p:set>
                                    <p:anim calcmode="lin" valueType="num">
                                      <p:cBhvr additive="base">
                                        <p:cTn id="19" dur="500" fill="hold"/>
                                        <p:tgtEl>
                                          <p:spTgt spid="42008"/>
                                        </p:tgtEl>
                                        <p:attrNameLst>
                                          <p:attrName>ppt_x</p:attrName>
                                        </p:attrNameLst>
                                      </p:cBhvr>
                                      <p:tavLst>
                                        <p:tav tm="0">
                                          <p:val>
                                            <p:strVal val="0-#ppt_w/2"/>
                                          </p:val>
                                        </p:tav>
                                        <p:tav tm="100000">
                                          <p:val>
                                            <p:strVal val="#ppt_x"/>
                                          </p:val>
                                        </p:tav>
                                      </p:tavLst>
                                    </p:anim>
                                    <p:anim calcmode="lin" valueType="num">
                                      <p:cBhvr additive="base">
                                        <p:cTn id="20" dur="500" fill="hold"/>
                                        <p:tgtEl>
                                          <p:spTgt spid="4200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9" grpId="0"/>
      <p:bldP spid="42000" grpId="0"/>
      <p:bldP spid="42008" grpId="0"/>
      <p:bldP spid="5"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 name="文本框 101"/>
          <p:cNvSpPr txBox="1"/>
          <p:nvPr/>
        </p:nvSpPr>
        <p:spPr>
          <a:xfrm>
            <a:off x="323215" y="1450975"/>
            <a:ext cx="7927975" cy="1106805"/>
          </a:xfrm>
          <a:prstGeom prst="rect">
            <a:avLst/>
          </a:prstGeom>
          <a:noFill/>
          <a:ln w="9525">
            <a:noFill/>
          </a:ln>
        </p:spPr>
        <p:txBody>
          <a:bodyPr wrap="square">
            <a:spAutoFit/>
          </a:bodyPr>
          <a:p>
            <a:pPr indent="139065" algn="l">
              <a:lnSpc>
                <a:spcPct val="150000"/>
              </a:lnSpc>
            </a:pPr>
            <a:r>
              <a:rPr lang="en-US" altLang="zh-CN">
                <a:solidFill>
                  <a:srgbClr val="FF0000"/>
                </a:solidFill>
                <a:latin typeface="黑体" panose="02010609060101010101" pitchFamily="49" charset="-122"/>
                <a:ea typeface="黑体" panose="02010609060101010101" pitchFamily="49" charset="-122"/>
                <a:cs typeface="黑体" panose="02010609060101010101" pitchFamily="49" charset="-122"/>
              </a:rPr>
              <a:t>2</a:t>
            </a:r>
            <a:r>
              <a:rPr lang="zh-CN">
                <a:solidFill>
                  <a:srgbClr val="FF0000"/>
                </a:solidFill>
                <a:latin typeface="黑体" panose="02010609060101010101" pitchFamily="49" charset="-122"/>
                <a:ea typeface="黑体" panose="02010609060101010101" pitchFamily="49" charset="-122"/>
                <a:cs typeface="黑体" panose="02010609060101010101" pitchFamily="49" charset="-122"/>
              </a:rPr>
              <a:t>、斗式提升机的整体功能性需求计算</a:t>
            </a:r>
            <a:endParaRPr lang="en-US">
              <a:solidFill>
                <a:srgbClr val="FF0000"/>
              </a:solidFill>
              <a:latin typeface="黑体" panose="02010609060101010101" pitchFamily="49" charset="-122"/>
              <a:ea typeface="黑体" panose="02010609060101010101" pitchFamily="49" charset="-122"/>
              <a:cs typeface="黑体" panose="02010609060101010101" pitchFamily="49" charset="-122"/>
            </a:endParaRPr>
          </a:p>
          <a:p>
            <a:pPr indent="139065" algn="l">
              <a:lnSpc>
                <a:spcPct val="150000"/>
              </a:lnSpc>
            </a:pPr>
            <a:r>
              <a:rPr 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   </a:t>
            </a:r>
            <a:r>
              <a:rPr lang="zh-CN" sz="2000">
                <a:latin typeface="黑体" panose="02010609060101010101" pitchFamily="49" charset="-122"/>
                <a:ea typeface="黑体" panose="02010609060101010101" pitchFamily="49" charset="-122"/>
                <a:cs typeface="黑体" panose="02010609060101010101" pitchFamily="49" charset="-122"/>
              </a:rPr>
              <a:t>已知斗式提升机执行机构输送练的运动速度</a:t>
            </a:r>
            <a:endParaRPr lang="zh-CN" altLang="en-US" sz="2000">
              <a:latin typeface="黑体" panose="02010609060101010101" pitchFamily="49" charset="-122"/>
              <a:ea typeface="黑体" panose="02010609060101010101" pitchFamily="49" charset="-122"/>
              <a:cs typeface="黑体" panose="02010609060101010101" pitchFamily="49" charset="-122"/>
            </a:endParaRPr>
          </a:p>
        </p:txBody>
      </p:sp>
      <p:pic>
        <p:nvPicPr>
          <p:cNvPr id="4" name="图片 3"/>
          <p:cNvPicPr/>
          <p:nvPr/>
        </p:nvPicPr>
        <p:blipFill>
          <a:blip r:embed="rId1"/>
          <a:stretch>
            <a:fillRect/>
          </a:stretch>
        </p:blipFill>
        <p:spPr>
          <a:xfrm>
            <a:off x="5688330" y="2205355"/>
            <a:ext cx="1522095" cy="330200"/>
          </a:xfrm>
          <a:prstGeom prst="rect">
            <a:avLst/>
          </a:prstGeom>
          <a:noFill/>
          <a:ln w="9525">
            <a:noFill/>
          </a:ln>
        </p:spPr>
      </p:pic>
      <p:sp>
        <p:nvSpPr>
          <p:cNvPr id="103" name="文本框 102"/>
          <p:cNvSpPr txBox="1"/>
          <p:nvPr/>
        </p:nvSpPr>
        <p:spPr>
          <a:xfrm>
            <a:off x="683260" y="2132965"/>
            <a:ext cx="6821170" cy="2353310"/>
          </a:xfrm>
          <a:prstGeom prst="rect">
            <a:avLst/>
          </a:prstGeom>
          <a:noFill/>
          <a:ln w="9525">
            <a:noFill/>
          </a:ln>
        </p:spPr>
        <p:txBody>
          <a:bodyPr wrap="square">
            <a:spAutoFit/>
          </a:bodyPr>
          <a:p>
            <a:pPr algn="l">
              <a:lnSpc>
                <a:spcPct val="150000"/>
              </a:lnSpc>
            </a:pPr>
            <a:r>
              <a:rPr lang="en-US" sz="1800">
                <a:latin typeface="Times New Roman" panose="02020603050405020304" pitchFamily="18" charset="0"/>
                <a:ea typeface="宋体" panose="02010600030101010101" pitchFamily="2" charset="-122"/>
                <a:cs typeface="Times New Roman" panose="02020603050405020304" pitchFamily="18" charset="0"/>
              </a:rPr>
              <a:t>       </a:t>
            </a:r>
            <a:r>
              <a:rPr lang="en-US" sz="2000">
                <a:latin typeface="黑体" panose="02010609060101010101" pitchFamily="49" charset="-122"/>
                <a:ea typeface="黑体" panose="02010609060101010101" pitchFamily="49" charset="-122"/>
                <a:cs typeface="黑体" panose="02010609060101010101" pitchFamily="49" charset="-122"/>
              </a:rPr>
              <a:t>2.1 </a:t>
            </a:r>
            <a:r>
              <a:rPr lang="zh-CN" sz="2000">
                <a:latin typeface="黑体" panose="02010609060101010101" pitchFamily="49" charset="-122"/>
                <a:ea typeface="黑体" panose="02010609060101010101" pitchFamily="49" charset="-122"/>
                <a:cs typeface="黑体" panose="02010609060101010101" pitchFamily="49" charset="-122"/>
              </a:rPr>
              <a:t>斗式提升机输送量的计算</a:t>
            </a:r>
            <a:r>
              <a:rPr lang="en-US" sz="2000">
                <a:latin typeface="黑体" panose="02010609060101010101" pitchFamily="49" charset="-122"/>
                <a:ea typeface="黑体" panose="02010609060101010101" pitchFamily="49" charset="-122"/>
                <a:cs typeface="黑体" panose="02010609060101010101" pitchFamily="49" charset="-122"/>
              </a:rPr>
              <a:t>   2.2 </a:t>
            </a:r>
            <a:r>
              <a:rPr lang="zh-CN" sz="2000">
                <a:latin typeface="黑体" panose="02010609060101010101" pitchFamily="49" charset="-122"/>
                <a:ea typeface="黑体" panose="02010609060101010101" pitchFamily="49" charset="-122"/>
                <a:cs typeface="黑体" panose="02010609060101010101" pitchFamily="49" charset="-122"/>
              </a:rPr>
              <a:t>料斗的计算</a:t>
            </a:r>
            <a:r>
              <a:rPr lang="en-US" sz="2000">
                <a:latin typeface="黑体" panose="02010609060101010101" pitchFamily="49" charset="-122"/>
                <a:ea typeface="黑体" panose="02010609060101010101" pitchFamily="49" charset="-122"/>
                <a:cs typeface="黑体" panose="02010609060101010101" pitchFamily="49" charset="-122"/>
              </a:rPr>
              <a:t>   2.3 </a:t>
            </a:r>
            <a:r>
              <a:rPr lang="zh-CN" sz="2000">
                <a:latin typeface="黑体" panose="02010609060101010101" pitchFamily="49" charset="-122"/>
                <a:ea typeface="黑体" panose="02010609060101010101" pitchFamily="49" charset="-122"/>
                <a:cs typeface="黑体" panose="02010609060101010101" pitchFamily="49" charset="-122"/>
              </a:rPr>
              <a:t>传动链轮直径的计算</a:t>
            </a:r>
            <a:endParaRPr lang="en-US" sz="2000">
              <a:latin typeface="黑体" panose="02010609060101010101" pitchFamily="49" charset="-122"/>
              <a:ea typeface="黑体" panose="02010609060101010101" pitchFamily="49" charset="-122"/>
              <a:cs typeface="黑体" panose="02010609060101010101" pitchFamily="49" charset="-122"/>
            </a:endParaRPr>
          </a:p>
          <a:p>
            <a:pPr algn="l">
              <a:lnSpc>
                <a:spcPct val="150000"/>
              </a:lnSpc>
            </a:pPr>
            <a:r>
              <a:rPr lang="en-US" sz="2000">
                <a:latin typeface="黑体" panose="02010609060101010101" pitchFamily="49" charset="-122"/>
                <a:ea typeface="黑体" panose="02010609060101010101" pitchFamily="49" charset="-122"/>
                <a:cs typeface="黑体" panose="02010609060101010101" pitchFamily="49" charset="-122"/>
              </a:rPr>
              <a:t>   2.4 </a:t>
            </a:r>
            <a:r>
              <a:rPr lang="zh-CN" sz="2000">
                <a:latin typeface="黑体" panose="02010609060101010101" pitchFamily="49" charset="-122"/>
                <a:ea typeface="黑体" panose="02010609060101010101" pitchFamily="49" charset="-122"/>
                <a:cs typeface="黑体" panose="02010609060101010101" pitchFamily="49" charset="-122"/>
              </a:rPr>
              <a:t>执行机构主轴上的圆周力、功率和转速的计算</a:t>
            </a:r>
            <a:endParaRPr lang="zh-CN" altLang="en-US" sz="2000">
              <a:latin typeface="黑体" panose="02010609060101010101" pitchFamily="49" charset="-122"/>
              <a:ea typeface="黑体" panose="02010609060101010101" pitchFamily="49" charset="-122"/>
              <a:cs typeface="黑体" panose="02010609060101010101" pitchFamily="49" charset="-122"/>
            </a:endParaRPr>
          </a:p>
        </p:txBody>
      </p:sp>
      <p:sp>
        <p:nvSpPr>
          <p:cNvPr id="41986" name="直接连接符 41985"/>
          <p:cNvSpPr/>
          <p:nvPr/>
        </p:nvSpPr>
        <p:spPr>
          <a:xfrm>
            <a:off x="0" y="1052736"/>
            <a:ext cx="9144000" cy="0"/>
          </a:xfrm>
          <a:prstGeom prst="line">
            <a:avLst/>
          </a:prstGeom>
          <a:ln w="57150" cap="flat" cmpd="thickThin">
            <a:solidFill>
              <a:srgbClr val="C00000"/>
            </a:solidFill>
            <a:prstDash val="solid"/>
            <a:headEnd type="none" w="med" len="med"/>
            <a:tailEnd type="none" w="med" len="med"/>
          </a:ln>
        </p:spPr>
      </p:sp>
      <p:sp>
        <p:nvSpPr>
          <p:cNvPr id="41999" name="文本框 41998">
            <a:hlinkClick r:id="" action="ppaction://noaction"/>
          </p:cNvPr>
          <p:cNvSpPr txBox="1"/>
          <p:nvPr/>
        </p:nvSpPr>
        <p:spPr>
          <a:xfrm>
            <a:off x="2627784" y="332656"/>
            <a:ext cx="3733800" cy="579438"/>
          </a:xfrm>
          <a:prstGeom prst="rect">
            <a:avLst/>
          </a:prstGeom>
          <a:noFill/>
          <a:ln w="9525">
            <a:noFill/>
          </a:ln>
        </p:spPr>
        <p:txBody>
          <a:bodyPr>
            <a:spAutoFit/>
          </a:bodyPr>
          <a:p>
            <a:pPr algn="l"/>
            <a:r>
              <a:rPr lang="zh-CN" altLang="en-US" sz="3200" dirty="0" smtClean="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三、</a:t>
            </a:r>
            <a:r>
              <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设计主要步骤</a:t>
            </a:r>
            <a:endPar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5" name="文本框 4"/>
          <p:cNvSpPr txBox="1"/>
          <p:nvPr/>
        </p:nvSpPr>
        <p:spPr>
          <a:xfrm>
            <a:off x="1296035" y="4869180"/>
            <a:ext cx="5266055" cy="1014730"/>
          </a:xfrm>
          <a:prstGeom prst="rect">
            <a:avLst/>
          </a:prstGeom>
          <a:solidFill>
            <a:schemeClr val="bg2">
              <a:lumMod val="20000"/>
              <a:lumOff val="80000"/>
            </a:schemeClr>
          </a:solidFill>
          <a:ln w="9525">
            <a:noFill/>
          </a:ln>
        </p:spPr>
        <p:txBody>
          <a:bodyPr wrap="square">
            <a:spAutoFit/>
          </a:bodyPr>
          <a:p>
            <a:pPr indent="457200" algn="l">
              <a:lnSpc>
                <a:spcPct val="150000"/>
              </a:lnSpc>
            </a:pPr>
            <a:r>
              <a:rPr 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（参考教材</a:t>
            </a:r>
            <a:r>
              <a:rPr 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P157~158</a:t>
            </a:r>
            <a:r>
              <a:rPr 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，，按原始数据计算，查表</a:t>
            </a:r>
            <a:r>
              <a:rPr 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3.1-4 </a:t>
            </a:r>
            <a:r>
              <a:rPr 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确定</a:t>
            </a:r>
            <a:r>
              <a:rPr 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NE</a:t>
            </a:r>
            <a:r>
              <a:rPr 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板链式斗提机型号）</a:t>
            </a:r>
            <a:endPar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直接连接符 41985"/>
          <p:cNvSpPr/>
          <p:nvPr/>
        </p:nvSpPr>
        <p:spPr>
          <a:xfrm>
            <a:off x="0" y="1052736"/>
            <a:ext cx="9144000" cy="0"/>
          </a:xfrm>
          <a:prstGeom prst="line">
            <a:avLst/>
          </a:prstGeom>
          <a:ln w="57150" cap="flat" cmpd="thickThin">
            <a:solidFill>
              <a:srgbClr val="C00000"/>
            </a:solidFill>
            <a:prstDash val="solid"/>
            <a:headEnd type="none" w="med" len="med"/>
            <a:tailEnd type="none" w="med" len="med"/>
          </a:ln>
        </p:spPr>
      </p:sp>
      <p:sp>
        <p:nvSpPr>
          <p:cNvPr id="41999" name="文本框 41998">
            <a:hlinkClick r:id="" action="ppaction://noaction"/>
          </p:cNvPr>
          <p:cNvSpPr txBox="1"/>
          <p:nvPr/>
        </p:nvSpPr>
        <p:spPr>
          <a:xfrm>
            <a:off x="2627784" y="332656"/>
            <a:ext cx="3733800" cy="579438"/>
          </a:xfrm>
          <a:prstGeom prst="rect">
            <a:avLst/>
          </a:prstGeom>
          <a:noFill/>
          <a:ln w="9525">
            <a:noFill/>
          </a:ln>
        </p:spPr>
        <p:txBody>
          <a:bodyPr>
            <a:spAutoFit/>
          </a:bodyPr>
          <a:lstStyle/>
          <a:p>
            <a:pPr algn="l"/>
            <a:r>
              <a:rPr lang="zh-CN" altLang="en-US" sz="3200" dirty="0" smtClean="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三、</a:t>
            </a:r>
            <a:r>
              <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设计主要步骤</a:t>
            </a:r>
            <a:endPar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42000" name="文本框 41999"/>
          <p:cNvSpPr txBox="1"/>
          <p:nvPr/>
        </p:nvSpPr>
        <p:spPr>
          <a:xfrm>
            <a:off x="179512" y="837213"/>
            <a:ext cx="9144000" cy="1014730"/>
          </a:xfrm>
          <a:prstGeom prst="rect">
            <a:avLst/>
          </a:prstGeom>
          <a:noFill/>
          <a:ln w="9525">
            <a:noFill/>
          </a:ln>
        </p:spPr>
        <p:txBody>
          <a:bodyPr>
            <a:spAutoFit/>
          </a:bodyPr>
          <a:lstStyle/>
          <a:p>
            <a:pPr algn="l">
              <a:spcBef>
                <a:spcPct val="50000"/>
              </a:spcBef>
            </a:pPr>
            <a:endParaRPr lang="en-US" altLang="zh-CN" dirty="0">
              <a:solidFill>
                <a:srgbClr val="FF0000"/>
              </a:solidFill>
              <a:latin typeface="黑体" panose="02010609060101010101" pitchFamily="49" charset="-122"/>
              <a:ea typeface="黑体" panose="02010609060101010101" pitchFamily="49" charset="-122"/>
            </a:endParaRPr>
          </a:p>
          <a:p>
            <a:pPr algn="l">
              <a:spcBef>
                <a:spcPct val="50000"/>
              </a:spcBef>
            </a:pPr>
            <a:r>
              <a:rPr lang="en-US" altLang="zh-CN" dirty="0">
                <a:solidFill>
                  <a:srgbClr val="FF0000"/>
                </a:solidFill>
                <a:latin typeface="黑体" panose="02010609060101010101" pitchFamily="49" charset="-122"/>
                <a:ea typeface="黑体" panose="02010609060101010101" pitchFamily="49" charset="-122"/>
              </a:rPr>
              <a:t>3</a:t>
            </a:r>
            <a:r>
              <a:rPr lang="zh-CN" altLang="en-US" dirty="0" smtClean="0">
                <a:solidFill>
                  <a:srgbClr val="FF0000"/>
                </a:solidFill>
                <a:latin typeface="黑体" panose="02010609060101010101" pitchFamily="49" charset="-122"/>
                <a:ea typeface="黑体" panose="02010609060101010101" pitchFamily="49" charset="-122"/>
              </a:rPr>
              <a:t>、传动系统特性参数计算</a:t>
            </a:r>
            <a:endParaRPr lang="zh-CN" altLang="en-US" dirty="0" smtClean="0">
              <a:solidFill>
                <a:srgbClr val="FF0000"/>
              </a:solidFill>
              <a:latin typeface="黑体" panose="02010609060101010101" pitchFamily="49" charset="-122"/>
              <a:ea typeface="黑体" panose="02010609060101010101" pitchFamily="49" charset="-122"/>
            </a:endParaRPr>
          </a:p>
        </p:txBody>
      </p:sp>
      <p:sp>
        <p:nvSpPr>
          <p:cNvPr id="42009" name="文本框 42008"/>
          <p:cNvSpPr txBox="1"/>
          <p:nvPr/>
        </p:nvSpPr>
        <p:spPr>
          <a:xfrm>
            <a:off x="503863" y="2362215"/>
            <a:ext cx="4464050" cy="398780"/>
          </a:xfrm>
          <a:prstGeom prst="rect">
            <a:avLst/>
          </a:prstGeom>
          <a:noFill/>
          <a:ln w="9525">
            <a:noFill/>
          </a:ln>
        </p:spPr>
        <p:txBody>
          <a:bodyPr>
            <a:spAutoFit/>
          </a:bodyPr>
          <a:lstStyle/>
          <a:p>
            <a:pPr algn="l">
              <a:spcBef>
                <a:spcPct val="50000"/>
              </a:spcBef>
              <a:buClr>
                <a:srgbClr val="FF3300"/>
              </a:buClr>
            </a:pPr>
            <a:r>
              <a:rPr lang="en-US" altLang="zh-CN" sz="2000" dirty="0" smtClean="0">
                <a:latin typeface="黑体" panose="02010609060101010101" pitchFamily="49" charset="-122"/>
                <a:ea typeface="黑体" panose="02010609060101010101" pitchFamily="49" charset="-122"/>
                <a:cs typeface="黑体" panose="02010609060101010101" pitchFamily="49" charset="-122"/>
              </a:rPr>
              <a:t> 3.2 选定电动机的类型和型号</a:t>
            </a:r>
            <a:endParaRPr lang="en-US" altLang="zh-CN" sz="2000" dirty="0" smtClean="0">
              <a:latin typeface="黑体" panose="02010609060101010101" pitchFamily="49" charset="-122"/>
              <a:ea typeface="黑体" panose="02010609060101010101" pitchFamily="49" charset="-122"/>
              <a:cs typeface="黑体" panose="02010609060101010101" pitchFamily="49" charset="-122"/>
            </a:endParaRPr>
          </a:p>
        </p:txBody>
      </p:sp>
      <p:grpSp>
        <p:nvGrpSpPr>
          <p:cNvPr id="42013" name="组合 42012"/>
          <p:cNvGrpSpPr/>
          <p:nvPr/>
        </p:nvGrpSpPr>
        <p:grpSpPr>
          <a:xfrm>
            <a:off x="8115300" y="6515100"/>
            <a:ext cx="1028700" cy="342900"/>
            <a:chOff x="5112" y="4104"/>
            <a:chExt cx="648" cy="216"/>
          </a:xfrm>
        </p:grpSpPr>
        <p:pic>
          <p:nvPicPr>
            <p:cNvPr id="42014" name="图片 42013"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42015" name="组合 42014"/>
            <p:cNvGrpSpPr/>
            <p:nvPr/>
          </p:nvGrpSpPr>
          <p:grpSpPr>
            <a:xfrm>
              <a:off x="5352" y="4104"/>
              <a:ext cx="408" cy="216"/>
              <a:chOff x="5232" y="4100"/>
              <a:chExt cx="408" cy="216"/>
            </a:xfrm>
          </p:grpSpPr>
          <p:pic>
            <p:nvPicPr>
              <p:cNvPr id="42016" name="图片 42015"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42017" name="图片 42016"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
        <p:nvSpPr>
          <p:cNvPr id="21" name="文本框 20"/>
          <p:cNvSpPr txBox="1"/>
          <p:nvPr/>
        </p:nvSpPr>
        <p:spPr>
          <a:xfrm>
            <a:off x="4463916" y="5426978"/>
            <a:ext cx="3528392" cy="706755"/>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lstStyle/>
          <a:p>
            <a:r>
              <a:rPr lang="zh-CN" altLang="en-US" sz="2000" b="1" dirty="0" smtClean="0"/>
              <a:t>参见教材</a:t>
            </a:r>
            <a:r>
              <a:rPr lang="en-US" altLang="zh-CN" sz="2000" b="1" dirty="0" smtClean="0"/>
              <a:t>《</a:t>
            </a:r>
            <a:r>
              <a:rPr lang="zh-CN" altLang="en-US" sz="2000" b="1" dirty="0" smtClean="0"/>
              <a:t>机械</a:t>
            </a:r>
            <a:r>
              <a:rPr lang="zh-CN" altLang="en-US" sz="2000" b="1" dirty="0"/>
              <a:t>设计</a:t>
            </a:r>
            <a:r>
              <a:rPr lang="en-US" altLang="zh-CN" sz="2000" b="1" dirty="0" smtClean="0"/>
              <a:t>》</a:t>
            </a:r>
            <a:endParaRPr lang="en-US" altLang="zh-CN" sz="2000" b="1" dirty="0" smtClean="0"/>
          </a:p>
          <a:p>
            <a:r>
              <a:rPr lang="zh-CN" altLang="en-US" sz="2000" b="1" dirty="0" smtClean="0"/>
              <a:t>  </a:t>
            </a:r>
            <a:r>
              <a:rPr lang="en-US" altLang="zh-CN" sz="2000" b="1" dirty="0" smtClean="0"/>
              <a:t>P159-161</a:t>
            </a:r>
            <a:endParaRPr lang="zh-CN" altLang="en-US" sz="2000" b="1" dirty="0"/>
          </a:p>
        </p:txBody>
      </p:sp>
      <p:sp>
        <p:nvSpPr>
          <p:cNvPr id="9" name="文本框 8"/>
          <p:cNvSpPr txBox="1"/>
          <p:nvPr/>
        </p:nvSpPr>
        <p:spPr>
          <a:xfrm>
            <a:off x="34851" y="4080892"/>
            <a:ext cx="5400600" cy="398780"/>
          </a:xfrm>
          <a:prstGeom prst="rect">
            <a:avLst/>
          </a:prstGeom>
          <a:noFill/>
        </p:spPr>
        <p:txBody>
          <a:bodyPr wrap="square" rtlCol="0">
            <a:spAutoFit/>
          </a:bodyPr>
          <a:lstStyle/>
          <a:p>
            <a:r>
              <a:rPr lang="en-US" altLang="zh-CN" sz="2000" dirty="0" smtClean="0">
                <a:latin typeface="黑体" panose="02010609060101010101" pitchFamily="49" charset="-122"/>
                <a:ea typeface="黑体" panose="02010609060101010101" pitchFamily="49" charset="-122"/>
                <a:cs typeface="黑体" panose="02010609060101010101" pitchFamily="49" charset="-122"/>
              </a:rPr>
              <a:t>3.3 总传动比</a:t>
            </a:r>
            <a:r>
              <a:rPr lang="zh-CN" altLang="en-US" sz="2000" dirty="0" smtClean="0">
                <a:latin typeface="黑体" panose="02010609060101010101" pitchFamily="49" charset="-122"/>
                <a:ea typeface="黑体" panose="02010609060101010101" pitchFamily="49" charset="-122"/>
                <a:cs typeface="黑体" panose="02010609060101010101" pitchFamily="49" charset="-122"/>
              </a:rPr>
              <a:t>计算</a:t>
            </a:r>
            <a:r>
              <a:rPr lang="en-US" altLang="zh-CN" sz="2000" dirty="0" smtClean="0">
                <a:latin typeface="黑体" panose="02010609060101010101" pitchFamily="49" charset="-122"/>
                <a:ea typeface="黑体" panose="02010609060101010101" pitchFamily="49" charset="-122"/>
                <a:cs typeface="黑体" panose="02010609060101010101" pitchFamily="49" charset="-122"/>
              </a:rPr>
              <a:t>及各级传动比</a:t>
            </a:r>
            <a:r>
              <a:rPr lang="en-US" altLang="zh-CN" sz="2000" dirty="0" smtClean="0">
                <a:latin typeface="黑体" panose="02010609060101010101" pitchFamily="49" charset="-122"/>
                <a:ea typeface="黑体" panose="02010609060101010101" pitchFamily="49" charset="-122"/>
                <a:cs typeface="黑体" panose="02010609060101010101" pitchFamily="49" charset="-122"/>
                <a:sym typeface="+mn-ea"/>
              </a:rPr>
              <a:t>分配</a:t>
            </a:r>
            <a:endParaRPr lang="en-US" altLang="zh-CN" sz="2000" dirty="0" smtClean="0">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23" name="文本框 22"/>
          <p:cNvSpPr txBox="1"/>
          <p:nvPr/>
        </p:nvSpPr>
        <p:spPr>
          <a:xfrm>
            <a:off x="34216" y="4628381"/>
            <a:ext cx="5400600" cy="398780"/>
          </a:xfrm>
          <a:prstGeom prst="rect">
            <a:avLst/>
          </a:prstGeom>
          <a:noFill/>
        </p:spPr>
        <p:txBody>
          <a:bodyPr wrap="square" rtlCol="0">
            <a:spAutoFit/>
          </a:bodyPr>
          <a:lstStyle/>
          <a:p>
            <a:r>
              <a:rPr lang="en-US" altLang="zh-CN" sz="2000" dirty="0" smtClean="0">
                <a:latin typeface="黑体" panose="02010609060101010101" pitchFamily="49" charset="-122"/>
                <a:ea typeface="黑体" panose="02010609060101010101" pitchFamily="49" charset="-122"/>
                <a:cs typeface="黑体" panose="02010609060101010101" pitchFamily="49" charset="-122"/>
              </a:rPr>
              <a:t> 3.4 计算传动装置的运动和动力参数</a:t>
            </a:r>
            <a:endParaRPr lang="en-US" altLang="zh-CN" sz="2000" dirty="0" smtClean="0">
              <a:latin typeface="黑体" panose="02010609060101010101" pitchFamily="49" charset="-122"/>
              <a:ea typeface="黑体" panose="02010609060101010101" pitchFamily="49" charset="-122"/>
              <a:cs typeface="黑体" panose="02010609060101010101" pitchFamily="49" charset="-122"/>
            </a:endParaRPr>
          </a:p>
        </p:txBody>
      </p:sp>
      <p:sp>
        <p:nvSpPr>
          <p:cNvPr id="25" name="文本框 24"/>
          <p:cNvSpPr txBox="1"/>
          <p:nvPr/>
        </p:nvSpPr>
        <p:spPr>
          <a:xfrm>
            <a:off x="1043861" y="4905087"/>
            <a:ext cx="4248472" cy="1476375"/>
          </a:xfrm>
          <a:prstGeom prst="rect">
            <a:avLst/>
          </a:prstGeom>
          <a:noFill/>
        </p:spPr>
        <p:txBody>
          <a:bodyPr wrap="square" rtlCol="0">
            <a:spAutoFit/>
          </a:bodyPr>
          <a:lstStyle/>
          <a:p>
            <a:pPr algn="l">
              <a:lnSpc>
                <a:spcPct val="150000"/>
              </a:lnSpc>
            </a:pPr>
            <a:r>
              <a:rPr lang="en-US" altLang="zh-CN" sz="2000" dirty="0" smtClean="0">
                <a:latin typeface="黑体" panose="02010609060101010101" pitchFamily="49" charset="-122"/>
                <a:ea typeface="黑体" panose="02010609060101010101" pitchFamily="49" charset="-122"/>
                <a:cs typeface="黑体" panose="02010609060101010101" pitchFamily="49" charset="-122"/>
              </a:rPr>
              <a:t>3.4.1 计算各轴转速</a:t>
            </a:r>
            <a:endParaRPr lang="en-US" altLang="zh-CN" sz="2000" dirty="0" smtClean="0">
              <a:latin typeface="黑体" panose="02010609060101010101" pitchFamily="49" charset="-122"/>
              <a:ea typeface="黑体" panose="02010609060101010101" pitchFamily="49" charset="-122"/>
              <a:cs typeface="黑体" panose="02010609060101010101" pitchFamily="49" charset="-122"/>
            </a:endParaRPr>
          </a:p>
          <a:p>
            <a:pPr algn="l">
              <a:lnSpc>
                <a:spcPct val="150000"/>
              </a:lnSpc>
            </a:pPr>
            <a:r>
              <a:rPr lang="en-US" altLang="zh-CN" sz="2000" dirty="0" smtClean="0">
                <a:latin typeface="黑体" panose="02010609060101010101" pitchFamily="49" charset="-122"/>
                <a:ea typeface="黑体" panose="02010609060101010101" pitchFamily="49" charset="-122"/>
                <a:cs typeface="黑体" panose="02010609060101010101" pitchFamily="49" charset="-122"/>
              </a:rPr>
              <a:t>3.4.2 计算各轴功率</a:t>
            </a:r>
            <a:endParaRPr lang="en-US" altLang="zh-CN" sz="2000" dirty="0" smtClean="0">
              <a:latin typeface="黑体" panose="02010609060101010101" pitchFamily="49" charset="-122"/>
              <a:ea typeface="黑体" panose="02010609060101010101" pitchFamily="49" charset="-122"/>
              <a:cs typeface="黑体" panose="02010609060101010101" pitchFamily="49" charset="-122"/>
            </a:endParaRPr>
          </a:p>
          <a:p>
            <a:pPr algn="l">
              <a:lnSpc>
                <a:spcPct val="150000"/>
              </a:lnSpc>
            </a:pPr>
            <a:r>
              <a:rPr lang="en-US" altLang="zh-CN" sz="2000" dirty="0" smtClean="0">
                <a:latin typeface="黑体" panose="02010609060101010101" pitchFamily="49" charset="-122"/>
                <a:ea typeface="黑体" panose="02010609060101010101" pitchFamily="49" charset="-122"/>
                <a:cs typeface="黑体" panose="02010609060101010101" pitchFamily="49" charset="-122"/>
              </a:rPr>
              <a:t>3.4.3 计算各轴转矩 </a:t>
            </a:r>
            <a:endParaRPr lang="en-US" altLang="zh-CN" sz="2000" dirty="0" smtClean="0">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p:nvPr/>
        </p:nvSpPr>
        <p:spPr>
          <a:xfrm>
            <a:off x="683895" y="1907540"/>
            <a:ext cx="5878195" cy="398780"/>
          </a:xfrm>
          <a:prstGeom prst="rect">
            <a:avLst/>
          </a:prstGeom>
          <a:noFill/>
          <a:ln w="9525">
            <a:noFill/>
          </a:ln>
        </p:spPr>
        <p:txBody>
          <a:bodyPr wrap="square">
            <a:spAutoFit/>
          </a:bodyPr>
          <a:p>
            <a:pPr algn="l">
              <a:spcBef>
                <a:spcPct val="50000"/>
              </a:spcBef>
              <a:buClr>
                <a:srgbClr val="FF3300"/>
              </a:buClr>
            </a:pPr>
            <a:r>
              <a:rPr lang="en-US" altLang="zh-CN" sz="2000" dirty="0" smtClean="0">
                <a:solidFill>
                  <a:schemeClr val="tx1"/>
                </a:solidFill>
                <a:latin typeface="黑体" panose="02010609060101010101" pitchFamily="49" charset="-122"/>
                <a:ea typeface="黑体" panose="02010609060101010101" pitchFamily="49" charset="-122"/>
                <a:cs typeface="黑体" panose="02010609060101010101" pitchFamily="49" charset="-122"/>
              </a:rPr>
              <a:t>3.1 </a:t>
            </a:r>
            <a:r>
              <a:rPr lang="zh-CN" altLang="en-US" sz="2000" dirty="0" smtClean="0">
                <a:solidFill>
                  <a:schemeClr val="tx1"/>
                </a:solidFill>
                <a:latin typeface="黑体" panose="02010609060101010101" pitchFamily="49" charset="-122"/>
                <a:ea typeface="黑体" panose="02010609060101010101" pitchFamily="49" charset="-122"/>
                <a:cs typeface="黑体" panose="02010609060101010101" pitchFamily="49" charset="-122"/>
              </a:rPr>
              <a:t>求传动系统的总效率和电动机功率</a:t>
            </a:r>
            <a:endParaRPr lang="zh-CN" altLang="en-US" sz="2000" dirty="0" smtClean="0">
              <a:solidFill>
                <a:schemeClr val="tx1"/>
              </a:solidFill>
              <a:latin typeface="黑体" panose="02010609060101010101" pitchFamily="49" charset="-122"/>
              <a:ea typeface="黑体" panose="02010609060101010101" pitchFamily="49" charset="-122"/>
              <a:cs typeface="黑体" panose="02010609060101010101" pitchFamily="49" charset="-122"/>
            </a:endParaRPr>
          </a:p>
        </p:txBody>
      </p:sp>
      <p:sp>
        <p:nvSpPr>
          <p:cNvPr id="3" name="矩形 2"/>
          <p:cNvSpPr/>
          <p:nvPr/>
        </p:nvSpPr>
        <p:spPr>
          <a:xfrm>
            <a:off x="1010230" y="2852802"/>
            <a:ext cx="3129280" cy="347345"/>
          </a:xfrm>
          <a:prstGeom prst="rect">
            <a:avLst/>
          </a:prstGeom>
        </p:spPr>
        <p:txBody>
          <a:bodyPr wrap="none">
            <a:spAutoFit/>
          </a:bodyPr>
          <a:p>
            <a:pPr indent="152400" algn="just">
              <a:lnSpc>
                <a:spcPts val="2000"/>
              </a:lnSpc>
              <a:spcBef>
                <a:spcPts val="0"/>
              </a:spcBef>
              <a:spcAft>
                <a:spcPts val="0"/>
              </a:spcAft>
            </a:pPr>
            <a:r>
              <a:rPr lang="en-US" altLang="zh-CN" sz="2000" kern="100" dirty="0" smtClean="0">
                <a:latin typeface="黑体" panose="02010609060101010101" pitchFamily="49" charset="-122"/>
                <a:ea typeface="黑体" panose="02010609060101010101" pitchFamily="49" charset="-122"/>
                <a:cs typeface="黑体" panose="02010609060101010101" pitchFamily="49" charset="-122"/>
              </a:rPr>
              <a:t>3.2.1 </a:t>
            </a:r>
            <a:r>
              <a:rPr lang="zh-CN" altLang="en-US" sz="2000" kern="100" dirty="0" smtClean="0">
                <a:latin typeface="黑体" panose="02010609060101010101" pitchFamily="49" charset="-122"/>
                <a:ea typeface="黑体" panose="02010609060101010101" pitchFamily="49" charset="-122"/>
                <a:cs typeface="黑体" panose="02010609060101010101" pitchFamily="49" charset="-122"/>
              </a:rPr>
              <a:t>电动机</a:t>
            </a:r>
            <a:r>
              <a:rPr lang="zh-CN" altLang="en-US" sz="2000" kern="100" dirty="0">
                <a:latin typeface="黑体" panose="02010609060101010101" pitchFamily="49" charset="-122"/>
                <a:ea typeface="黑体" panose="02010609060101010101" pitchFamily="49" charset="-122"/>
                <a:cs typeface="黑体" panose="02010609060101010101" pitchFamily="49" charset="-122"/>
              </a:rPr>
              <a:t>类型的选择</a:t>
            </a:r>
            <a:endParaRPr lang="zh-CN" altLang="en-US" sz="2000" kern="100" dirty="0">
              <a:effectLst/>
              <a:latin typeface="黑体" panose="02010609060101010101" pitchFamily="49" charset="-122"/>
              <a:ea typeface="黑体" panose="02010609060101010101" pitchFamily="49" charset="-122"/>
              <a:cs typeface="黑体" panose="02010609060101010101" pitchFamily="49" charset="-122"/>
            </a:endParaRPr>
          </a:p>
        </p:txBody>
      </p:sp>
      <p:sp>
        <p:nvSpPr>
          <p:cNvPr id="5" name="矩形 4"/>
          <p:cNvSpPr/>
          <p:nvPr/>
        </p:nvSpPr>
        <p:spPr>
          <a:xfrm>
            <a:off x="1162645" y="3255129"/>
            <a:ext cx="2976880" cy="347345"/>
          </a:xfrm>
          <a:prstGeom prst="rect">
            <a:avLst/>
          </a:prstGeom>
        </p:spPr>
        <p:txBody>
          <a:bodyPr wrap="none">
            <a:spAutoFit/>
          </a:bodyPr>
          <a:p>
            <a:pPr algn="just">
              <a:lnSpc>
                <a:spcPts val="2000"/>
              </a:lnSpc>
              <a:spcBef>
                <a:spcPts val="0"/>
              </a:spcBef>
              <a:spcAft>
                <a:spcPts val="0"/>
              </a:spcAft>
            </a:pPr>
            <a:r>
              <a:rPr lang="en-US" altLang="zh-CN" sz="2000" kern="100" dirty="0" smtClean="0">
                <a:latin typeface="黑体" panose="02010609060101010101" pitchFamily="49" charset="-122"/>
                <a:ea typeface="黑体" panose="02010609060101010101" pitchFamily="49" charset="-122"/>
                <a:cs typeface="黑体" panose="02010609060101010101" pitchFamily="49" charset="-122"/>
              </a:rPr>
              <a:t>3.2.2 </a:t>
            </a:r>
            <a:r>
              <a:rPr lang="zh-CN" altLang="en-US" sz="2000" kern="100" dirty="0" smtClean="0">
                <a:latin typeface="黑体" panose="02010609060101010101" pitchFamily="49" charset="-122"/>
                <a:ea typeface="黑体" panose="02010609060101010101" pitchFamily="49" charset="-122"/>
                <a:cs typeface="黑体" panose="02010609060101010101" pitchFamily="49" charset="-122"/>
              </a:rPr>
              <a:t>电动机功率的</a:t>
            </a:r>
            <a:r>
              <a:rPr lang="zh-CN" altLang="en-US" sz="2000" kern="100" dirty="0">
                <a:latin typeface="黑体" panose="02010609060101010101" pitchFamily="49" charset="-122"/>
                <a:ea typeface="黑体" panose="02010609060101010101" pitchFamily="49" charset="-122"/>
                <a:cs typeface="黑体" panose="02010609060101010101" pitchFamily="49" charset="-122"/>
              </a:rPr>
              <a:t>选择</a:t>
            </a:r>
            <a:endParaRPr lang="zh-CN" altLang="en-US" sz="2000" kern="100" dirty="0">
              <a:effectLst/>
              <a:latin typeface="黑体" panose="02010609060101010101" pitchFamily="49" charset="-122"/>
              <a:ea typeface="黑体" panose="02010609060101010101" pitchFamily="49" charset="-122"/>
              <a:cs typeface="黑体" panose="02010609060101010101" pitchFamily="49" charset="-122"/>
            </a:endParaRPr>
          </a:p>
        </p:txBody>
      </p:sp>
      <p:sp>
        <p:nvSpPr>
          <p:cNvPr id="6" name="矩形 5"/>
          <p:cNvSpPr/>
          <p:nvPr/>
        </p:nvSpPr>
        <p:spPr>
          <a:xfrm>
            <a:off x="1186984" y="3644756"/>
            <a:ext cx="2976880" cy="398780"/>
          </a:xfrm>
          <a:prstGeom prst="rect">
            <a:avLst/>
          </a:prstGeom>
        </p:spPr>
        <p:txBody>
          <a:bodyPr wrap="none">
            <a:spAutoFit/>
          </a:bodyPr>
          <a:p>
            <a:pPr algn="just">
              <a:spcBef>
                <a:spcPts val="0"/>
              </a:spcBef>
              <a:spcAft>
                <a:spcPts val="0"/>
              </a:spcAft>
            </a:pPr>
            <a:r>
              <a:rPr lang="en-US" altLang="zh-CN" sz="2000" kern="100" dirty="0" smtClean="0">
                <a:latin typeface="黑体" panose="02010609060101010101" pitchFamily="49" charset="-122"/>
                <a:ea typeface="黑体" panose="02010609060101010101" pitchFamily="49" charset="-122"/>
                <a:cs typeface="黑体" panose="02010609060101010101" pitchFamily="49" charset="-122"/>
              </a:rPr>
              <a:t>3.2.3 </a:t>
            </a:r>
            <a:r>
              <a:rPr lang="zh-CN" altLang="en-US" sz="2000" kern="100" dirty="0" smtClean="0">
                <a:latin typeface="黑体" panose="02010609060101010101" pitchFamily="49" charset="-122"/>
                <a:ea typeface="黑体" panose="02010609060101010101" pitchFamily="49" charset="-122"/>
                <a:cs typeface="黑体" panose="02010609060101010101" pitchFamily="49" charset="-122"/>
              </a:rPr>
              <a:t>电动机转速</a:t>
            </a:r>
            <a:r>
              <a:rPr lang="zh-CN" altLang="en-US" sz="2000" kern="100" dirty="0">
                <a:latin typeface="黑体" panose="02010609060101010101" pitchFamily="49" charset="-122"/>
                <a:ea typeface="黑体" panose="02010609060101010101" pitchFamily="49" charset="-122"/>
                <a:cs typeface="黑体" panose="02010609060101010101" pitchFamily="49" charset="-122"/>
              </a:rPr>
              <a:t>的选择</a:t>
            </a:r>
            <a:endParaRPr lang="zh-CN" altLang="en-US" sz="2000" kern="100" dirty="0">
              <a:effectLst/>
              <a:latin typeface="黑体" panose="02010609060101010101" pitchFamily="49" charset="-122"/>
              <a:ea typeface="黑体" panose="02010609060101010101" pitchFamily="49" charset="-122"/>
              <a:cs typeface="黑体" panose="02010609060101010101" pitchFamily="49" charset="-122"/>
            </a:endParaRPr>
          </a:p>
        </p:txBody>
      </p:sp>
      <p:sp>
        <p:nvSpPr>
          <p:cNvPr id="7" name="文本框 6"/>
          <p:cNvSpPr txBox="1"/>
          <p:nvPr/>
        </p:nvSpPr>
        <p:spPr>
          <a:xfrm>
            <a:off x="4571866" y="2732673"/>
            <a:ext cx="3528392" cy="101473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rtlCol="0">
            <a:spAutoFit/>
          </a:bodyPr>
          <a:p>
            <a:r>
              <a:rPr lang="zh-CN" altLang="en-US" sz="2000" b="1" dirty="0" smtClean="0"/>
              <a:t>电机技术参数</a:t>
            </a:r>
            <a:endParaRPr lang="en-US" altLang="zh-CN" sz="2000" b="1" dirty="0" smtClean="0"/>
          </a:p>
          <a:p>
            <a:r>
              <a:rPr lang="zh-CN" altLang="en-US" sz="2000" b="1" dirty="0" smtClean="0"/>
              <a:t>参见</a:t>
            </a:r>
            <a:r>
              <a:rPr lang="en-US" altLang="zh-CN" sz="2000" b="1" dirty="0" smtClean="0"/>
              <a:t>《</a:t>
            </a:r>
            <a:r>
              <a:rPr lang="zh-CN" altLang="en-US" sz="2000" b="1" dirty="0"/>
              <a:t>设计</a:t>
            </a:r>
            <a:r>
              <a:rPr lang="zh-CN" altLang="en-US" sz="2000" b="1" dirty="0" smtClean="0"/>
              <a:t>手册</a:t>
            </a:r>
            <a:r>
              <a:rPr lang="en-US" altLang="zh-CN" sz="2000" b="1" dirty="0" smtClean="0"/>
              <a:t>》</a:t>
            </a:r>
            <a:endParaRPr lang="en-US" altLang="zh-CN" sz="2000" b="1" dirty="0" smtClean="0"/>
          </a:p>
          <a:p>
            <a:r>
              <a:rPr lang="zh-CN" altLang="en-US" sz="2000" b="1" dirty="0" smtClean="0"/>
              <a:t>第十二章  </a:t>
            </a:r>
            <a:r>
              <a:rPr lang="en-US" altLang="zh-CN" sz="2000" b="1" dirty="0" smtClean="0"/>
              <a:t>P173</a:t>
            </a:r>
            <a:endParaRPr lang="zh-CN" altLang="en-US" sz="20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009"/>
                                        </p:tgtEl>
                                        <p:attrNameLst>
                                          <p:attrName>style.visibility</p:attrName>
                                        </p:attrNameLst>
                                      </p:cBhvr>
                                      <p:to>
                                        <p:strVal val="visible"/>
                                      </p:to>
                                    </p:set>
                                    <p:animEffect transition="in" filter="wipe(left)">
                                      <p:cBhvr>
                                        <p:cTn id="12" dur="500"/>
                                        <p:tgtEl>
                                          <p:spTgt spid="4200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circle(in)">
                                      <p:cBhvr>
                                        <p:cTn id="32" dur="75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circle(in)">
                                      <p:cBhvr>
                                        <p:cTn id="52" dur="7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9" grpId="0"/>
      <p:bldP spid="23" grpId="0"/>
      <p:bldP spid="25" grpId="0"/>
      <p:bldP spid="3" grpId="0"/>
      <p:bldP spid="5" grpId="0"/>
      <p:bldP spid="6" grpId="0"/>
      <p:bldP spid="7" grpId="0" bldLvl="0" animBg="1"/>
      <p:bldP spid="2" grpId="0"/>
      <p:bldP spid="4200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直接连接符 41985"/>
          <p:cNvSpPr/>
          <p:nvPr/>
        </p:nvSpPr>
        <p:spPr>
          <a:xfrm>
            <a:off x="0" y="1052736"/>
            <a:ext cx="9144000" cy="0"/>
          </a:xfrm>
          <a:prstGeom prst="line">
            <a:avLst/>
          </a:prstGeom>
          <a:ln w="57150" cap="flat" cmpd="thickThin">
            <a:solidFill>
              <a:srgbClr val="C00000"/>
            </a:solidFill>
            <a:prstDash val="solid"/>
            <a:headEnd type="none" w="med" len="med"/>
            <a:tailEnd type="none" w="med" len="med"/>
          </a:ln>
        </p:spPr>
      </p:sp>
      <p:sp>
        <p:nvSpPr>
          <p:cNvPr id="41996" name="文本框 41995"/>
          <p:cNvSpPr txBox="1"/>
          <p:nvPr/>
        </p:nvSpPr>
        <p:spPr>
          <a:xfrm>
            <a:off x="395536" y="2060848"/>
            <a:ext cx="8001000" cy="457200"/>
          </a:xfrm>
          <a:prstGeom prst="rect">
            <a:avLst/>
          </a:prstGeom>
          <a:noFill/>
          <a:ln w="9525">
            <a:noFill/>
          </a:ln>
        </p:spPr>
        <p:txBody>
          <a:bodyPr>
            <a:spAutoFit/>
          </a:bodyPr>
          <a:lstStyle/>
          <a:p>
            <a:pPr algn="l">
              <a:spcBef>
                <a:spcPct val="50000"/>
              </a:spcBef>
            </a:pPr>
            <a:r>
              <a:rPr lang="en-US" altLang="zh-CN" dirty="0">
                <a:latin typeface="Times New Roman" panose="02020603050405020304" pitchFamily="18" charset="0"/>
              </a:rPr>
              <a:t>              </a:t>
            </a:r>
            <a:endParaRPr lang="zh-CN" altLang="en-US" b="1" dirty="0">
              <a:solidFill>
                <a:srgbClr val="000000"/>
              </a:solidFill>
              <a:latin typeface="楷体_GB2312" pitchFamily="49" charset="-122"/>
              <a:ea typeface="楷体_GB2312" pitchFamily="49" charset="-122"/>
            </a:endParaRPr>
          </a:p>
        </p:txBody>
      </p:sp>
      <p:sp>
        <p:nvSpPr>
          <p:cNvPr id="41999" name="文本框 41998">
            <a:hlinkClick r:id="" action="ppaction://noaction"/>
          </p:cNvPr>
          <p:cNvSpPr txBox="1"/>
          <p:nvPr/>
        </p:nvSpPr>
        <p:spPr>
          <a:xfrm>
            <a:off x="2627784" y="332656"/>
            <a:ext cx="3733800" cy="579438"/>
          </a:xfrm>
          <a:prstGeom prst="rect">
            <a:avLst/>
          </a:prstGeom>
          <a:noFill/>
          <a:ln w="9525">
            <a:noFill/>
          </a:ln>
        </p:spPr>
        <p:txBody>
          <a:bodyPr>
            <a:spAutoFit/>
          </a:bodyPr>
          <a:lstStyle/>
          <a:p>
            <a:pPr algn="l"/>
            <a:r>
              <a:rPr lang="zh-CN" altLang="en-US" sz="3200" dirty="0" smtClean="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三、</a:t>
            </a:r>
            <a:r>
              <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设计主要步骤</a:t>
            </a:r>
            <a:endPar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42001" name="文本框 42000"/>
          <p:cNvSpPr txBox="1"/>
          <p:nvPr/>
        </p:nvSpPr>
        <p:spPr>
          <a:xfrm>
            <a:off x="251267" y="1340386"/>
            <a:ext cx="9144000" cy="460375"/>
          </a:xfrm>
          <a:prstGeom prst="rect">
            <a:avLst/>
          </a:prstGeom>
          <a:noFill/>
          <a:ln w="9525">
            <a:noFill/>
          </a:ln>
        </p:spPr>
        <p:txBody>
          <a:bodyPr>
            <a:spAutoFit/>
          </a:bodyPr>
          <a:lstStyle/>
          <a:p>
            <a:pPr algn="l">
              <a:spcBef>
                <a:spcPct val="50000"/>
              </a:spcBef>
            </a:pPr>
            <a:r>
              <a:rPr lang="en-US" altLang="zh-CN" dirty="0">
                <a:solidFill>
                  <a:srgbClr val="FF0000"/>
                </a:solidFill>
                <a:latin typeface="黑体" panose="02010609060101010101" pitchFamily="49" charset="-122"/>
                <a:ea typeface="黑体" panose="02010609060101010101" pitchFamily="49" charset="-122"/>
              </a:rPr>
              <a:t>4</a:t>
            </a:r>
            <a:r>
              <a:rPr lang="zh-CN" altLang="en-US" dirty="0">
                <a:solidFill>
                  <a:srgbClr val="FF0000"/>
                </a:solidFill>
                <a:latin typeface="黑体" panose="02010609060101010101" pitchFamily="49" charset="-122"/>
                <a:ea typeface="黑体" panose="02010609060101010101" pitchFamily="49" charset="-122"/>
              </a:rPr>
              <a:t>、</a:t>
            </a:r>
            <a:r>
              <a:rPr lang="zh-CN" altLang="en-US" dirty="0" smtClean="0">
                <a:solidFill>
                  <a:srgbClr val="FF0000"/>
                </a:solidFill>
                <a:latin typeface="黑体" panose="02010609060101010101" pitchFamily="49" charset="-122"/>
                <a:ea typeface="黑体" panose="02010609060101010101" pitchFamily="49" charset="-122"/>
              </a:rPr>
              <a:t>传动件的</a:t>
            </a:r>
            <a:r>
              <a:rPr lang="zh-CN" altLang="en-US" dirty="0">
                <a:solidFill>
                  <a:srgbClr val="FF0000"/>
                </a:solidFill>
                <a:latin typeface="黑体" panose="02010609060101010101" pitchFamily="49" charset="-122"/>
                <a:ea typeface="黑体" panose="02010609060101010101" pitchFamily="49" charset="-122"/>
              </a:rPr>
              <a:t>设计计算</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42012" name="文本框 42011"/>
          <p:cNvSpPr txBox="1"/>
          <p:nvPr/>
        </p:nvSpPr>
        <p:spPr>
          <a:xfrm>
            <a:off x="539805" y="2875518"/>
            <a:ext cx="8136904" cy="1722120"/>
          </a:xfrm>
          <a:prstGeom prst="rect">
            <a:avLst/>
          </a:prstGeom>
          <a:noFill/>
          <a:ln w="9525">
            <a:noFill/>
          </a:ln>
        </p:spPr>
        <p:txBody>
          <a:bodyPr wrap="square">
            <a:spAutoFit/>
          </a:bodyPr>
          <a:lstStyle/>
          <a:p>
            <a:pPr algn="l">
              <a:spcBef>
                <a:spcPct val="50000"/>
              </a:spcBef>
              <a:buClrTx/>
              <a:buSzTx/>
              <a:buFontTx/>
            </a:pPr>
            <a:r>
              <a:rPr lang="en-US" altLang="zh-CN" sz="2000" dirty="0" smtClean="0">
                <a:latin typeface="黑体" panose="02010609060101010101" pitchFamily="49" charset="-122"/>
                <a:ea typeface="黑体" panose="02010609060101010101" pitchFamily="49" charset="-122"/>
                <a:cs typeface="黑体" panose="02010609060101010101" pitchFamily="49" charset="-122"/>
              </a:rPr>
              <a:t>4.2 高速级齿轮传动的参数计算（斜齿圆柱齿轮）</a:t>
            </a:r>
            <a:endParaRPr lang="en-US" altLang="zh-CN" sz="2000" dirty="0" smtClean="0">
              <a:latin typeface="黑体" panose="02010609060101010101" pitchFamily="49" charset="-122"/>
              <a:ea typeface="黑体" panose="02010609060101010101" pitchFamily="49" charset="-122"/>
              <a:cs typeface="黑体" panose="02010609060101010101" pitchFamily="49" charset="-122"/>
            </a:endParaRPr>
          </a:p>
          <a:p>
            <a:pPr algn="l">
              <a:spcBef>
                <a:spcPct val="50000"/>
              </a:spcBef>
              <a:buClrTx/>
              <a:buSzTx/>
              <a:buFontTx/>
            </a:pPr>
            <a:r>
              <a:rPr lang="en-US" altLang="zh-CN" sz="2000" b="1" dirty="0" smtClean="0">
                <a:solidFill>
                  <a:srgbClr val="000000"/>
                </a:solidFill>
                <a:latin typeface="黑体" panose="02010609060101010101" pitchFamily="49" charset="-122"/>
                <a:ea typeface="黑体" panose="02010609060101010101" pitchFamily="49" charset="-122"/>
              </a:rPr>
              <a:t>4</a:t>
            </a:r>
            <a:r>
              <a:rPr lang="en-US" altLang="zh-CN" sz="2000" dirty="0" smtClean="0">
                <a:latin typeface="黑体" panose="02010609060101010101" pitchFamily="49" charset="-122"/>
                <a:ea typeface="黑体" panose="02010609060101010101" pitchFamily="49" charset="-122"/>
                <a:cs typeface="黑体" panose="02010609060101010101" pitchFamily="49" charset="-122"/>
              </a:rPr>
              <a:t>.3 低速级齿轮传动的参数计算（斜齿或直齿圆柱齿轮）</a:t>
            </a:r>
            <a:endParaRPr lang="en-US" altLang="zh-CN" sz="2000" dirty="0" smtClean="0">
              <a:latin typeface="黑体" panose="02010609060101010101" pitchFamily="49" charset="-122"/>
              <a:ea typeface="黑体" panose="02010609060101010101" pitchFamily="49" charset="-122"/>
              <a:cs typeface="黑体" panose="02010609060101010101" pitchFamily="49" charset="-122"/>
            </a:endParaRPr>
          </a:p>
          <a:p>
            <a:pPr algn="l">
              <a:spcBef>
                <a:spcPct val="50000"/>
              </a:spcBef>
              <a:buClrTx/>
              <a:buSzTx/>
              <a:buFontTx/>
            </a:pPr>
            <a:r>
              <a:rPr lang="zh-CN" altLang="en-US" b="1" dirty="0" smtClean="0">
                <a:solidFill>
                  <a:srgbClr val="000000"/>
                </a:solidFill>
                <a:latin typeface="楷体_GB2312" pitchFamily="49" charset="-122"/>
                <a:ea typeface="楷体_GB2312" pitchFamily="49" charset="-122"/>
              </a:rPr>
              <a:t>    </a:t>
            </a:r>
            <a:r>
              <a:rPr lang="en-US" altLang="zh-CN" sz="2000" dirty="0" smtClean="0">
                <a:solidFill>
                  <a:schemeClr val="accent2">
                    <a:lumMod val="75000"/>
                  </a:schemeClr>
                </a:solidFill>
                <a:latin typeface="黑体" panose="02010609060101010101" pitchFamily="49" charset="-122"/>
                <a:ea typeface="黑体" panose="02010609060101010101" pitchFamily="49" charset="-122"/>
                <a:cs typeface="黑体" panose="02010609060101010101" pitchFamily="49" charset="-122"/>
              </a:rPr>
              <a:t>确定齿轮的材料，模数，齿数，螺旋角，宽度，分度圆直径，齿顶圆直径，齿根圆直径，中心距等</a:t>
            </a:r>
            <a:endParaRPr lang="en-US" altLang="zh-CN" sz="2000" dirty="0" smtClean="0">
              <a:solidFill>
                <a:schemeClr val="accent2">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p:nvPr/>
        </p:nvSpPr>
        <p:spPr>
          <a:xfrm>
            <a:off x="611565" y="2133238"/>
            <a:ext cx="4608512" cy="398780"/>
          </a:xfrm>
          <a:prstGeom prst="rect">
            <a:avLst/>
          </a:prstGeom>
          <a:noFill/>
        </p:spPr>
        <p:txBody>
          <a:bodyPr wrap="square" rtlCol="0">
            <a:spAutoFit/>
          </a:bodyPr>
          <a:lstStyle/>
          <a:p>
            <a:pPr algn="l"/>
            <a:r>
              <a:rPr lang="en-US" altLang="zh-CN" sz="2000" dirty="0" smtClean="0">
                <a:latin typeface="黑体" panose="02010609060101010101" pitchFamily="49" charset="-122"/>
                <a:ea typeface="黑体" panose="02010609060101010101" pitchFamily="49" charset="-122"/>
                <a:cs typeface="黑体" panose="02010609060101010101" pitchFamily="49" charset="-122"/>
              </a:rPr>
              <a:t>4.1 </a:t>
            </a:r>
            <a:r>
              <a:rPr lang="zh-CN" altLang="en-US" sz="2000" dirty="0" smtClean="0">
                <a:latin typeface="黑体" panose="02010609060101010101" pitchFamily="49" charset="-122"/>
                <a:ea typeface="黑体" panose="02010609060101010101" pitchFamily="49" charset="-122"/>
                <a:cs typeface="黑体" panose="02010609060101010101" pitchFamily="49" charset="-122"/>
              </a:rPr>
              <a:t>带传动设计计算</a:t>
            </a:r>
            <a:endParaRPr lang="zh-CN" altLang="en-US" sz="2000" dirty="0">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nvSpPr>
        <p:spPr>
          <a:xfrm>
            <a:off x="467420" y="4869453"/>
            <a:ext cx="4608512" cy="398780"/>
          </a:xfrm>
          <a:prstGeom prst="rect">
            <a:avLst/>
          </a:prstGeom>
          <a:noFill/>
        </p:spPr>
        <p:txBody>
          <a:bodyPr wrap="square" rtlCol="0">
            <a:spAutoFit/>
          </a:bodyPr>
          <a:p>
            <a:pPr algn="l">
              <a:buClrTx/>
              <a:buSzTx/>
              <a:buFontTx/>
            </a:pPr>
            <a:r>
              <a:rPr lang="en-US" altLang="zh-CN" sz="2000" dirty="0" smtClean="0">
                <a:latin typeface="黑体" panose="02010609060101010101" pitchFamily="49" charset="-122"/>
                <a:ea typeface="黑体" panose="02010609060101010101" pitchFamily="49" charset="-122"/>
                <a:cs typeface="黑体" panose="02010609060101010101" pitchFamily="49" charset="-122"/>
              </a:rPr>
              <a:t>4.4  </a:t>
            </a:r>
            <a:r>
              <a:rPr lang="en-US" altLang="zh-CN" sz="2000" dirty="0" smtClean="0">
                <a:latin typeface="黑体" panose="02010609060101010101" pitchFamily="49" charset="-122"/>
                <a:ea typeface="黑体" panose="02010609060101010101" pitchFamily="49" charset="-122"/>
                <a:cs typeface="黑体" panose="02010609060101010101" pitchFamily="49" charset="-122"/>
              </a:rPr>
              <a:t>链传动设计计算</a:t>
            </a:r>
            <a:endParaRPr lang="en-US" altLang="zh-CN" sz="2000" dirty="0" smtClean="0">
              <a:latin typeface="黑体" panose="02010609060101010101" pitchFamily="49" charset="-122"/>
              <a:ea typeface="黑体" panose="02010609060101010101" pitchFamily="49" charset="-122"/>
              <a:cs typeface="黑体" panose="02010609060101010101" pitchFamily="49" charset="-122"/>
            </a:endParaRPr>
          </a:p>
        </p:txBody>
      </p:sp>
      <p:sp>
        <p:nvSpPr>
          <p:cNvPr id="3" name="文本框 2"/>
          <p:cNvSpPr txBox="1"/>
          <p:nvPr/>
        </p:nvSpPr>
        <p:spPr>
          <a:xfrm>
            <a:off x="1331595" y="5768975"/>
            <a:ext cx="5808345" cy="460375"/>
          </a:xfrm>
          <a:prstGeom prst="rect">
            <a:avLst/>
          </a:prstGeom>
          <a:solidFill>
            <a:schemeClr val="bg2">
              <a:lumMod val="20000"/>
              <a:lumOff val="80000"/>
            </a:schemeClr>
          </a:solidFill>
          <a:effectLst>
            <a:outerShdw blurRad="50800" dist="38100" algn="l" rotWithShape="0">
              <a:prstClr val="black">
                <a:alpha val="40000"/>
              </a:prstClr>
            </a:outerShdw>
          </a:effectLst>
        </p:spPr>
        <p:txBody>
          <a:bodyPr wrap="square" rtlCol="0">
            <a:spAutoFit/>
          </a:bodyPr>
          <a:p>
            <a:r>
              <a:rPr lang="zh-CN" altLang="en-US">
                <a:solidFill>
                  <a:srgbClr val="FF0000"/>
                </a:solidFill>
                <a:latin typeface="黑体" panose="02010609060101010101" pitchFamily="49" charset="-122"/>
                <a:ea typeface="黑体" panose="02010609060101010101" pitchFamily="49" charset="-122"/>
              </a:rPr>
              <a:t>到目前位置以上内容应已完成</a:t>
            </a:r>
            <a:endParaRPr lang="zh-CN" altLang="en-US">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001"/>
                                        </p:tgtEl>
                                        <p:attrNameLst>
                                          <p:attrName>style.visibility</p:attrName>
                                        </p:attrNameLst>
                                      </p:cBhvr>
                                      <p:to>
                                        <p:strVal val="visible"/>
                                      </p:to>
                                    </p:set>
                                    <p:anim calcmode="lin" valueType="num">
                                      <p:cBhvr additive="base">
                                        <p:cTn id="7" dur="500" fill="hold"/>
                                        <p:tgtEl>
                                          <p:spTgt spid="42001"/>
                                        </p:tgtEl>
                                        <p:attrNameLst>
                                          <p:attrName>ppt_x</p:attrName>
                                        </p:attrNameLst>
                                      </p:cBhvr>
                                      <p:tavLst>
                                        <p:tav tm="0">
                                          <p:val>
                                            <p:strVal val="0-#ppt_w/2"/>
                                          </p:val>
                                        </p:tav>
                                        <p:tav tm="100000">
                                          <p:val>
                                            <p:strVal val="#ppt_x"/>
                                          </p:val>
                                        </p:tav>
                                      </p:tavLst>
                                    </p:anim>
                                    <p:anim calcmode="lin" valueType="num">
                                      <p:cBhvr additive="base">
                                        <p:cTn id="8" dur="500" fill="hold"/>
                                        <p:tgtEl>
                                          <p:spTgt spid="4200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996"/>
                                        </p:tgtEl>
                                        <p:attrNameLst>
                                          <p:attrName>style.visibility</p:attrName>
                                        </p:attrNameLst>
                                      </p:cBhvr>
                                      <p:to>
                                        <p:strVal val="visible"/>
                                      </p:to>
                                    </p:set>
                                    <p:anim calcmode="lin" valueType="num">
                                      <p:cBhvr additive="base">
                                        <p:cTn id="13" dur="500" fill="hold"/>
                                        <p:tgtEl>
                                          <p:spTgt spid="41996"/>
                                        </p:tgtEl>
                                        <p:attrNameLst>
                                          <p:attrName>ppt_x</p:attrName>
                                        </p:attrNameLst>
                                      </p:cBhvr>
                                      <p:tavLst>
                                        <p:tav tm="0">
                                          <p:val>
                                            <p:strVal val="0-#ppt_w/2"/>
                                          </p:val>
                                        </p:tav>
                                        <p:tav tm="100000">
                                          <p:val>
                                            <p:strVal val="#ppt_x"/>
                                          </p:val>
                                        </p:tav>
                                      </p:tavLst>
                                    </p:anim>
                                    <p:anim calcmode="lin" valueType="num">
                                      <p:cBhvr additive="base">
                                        <p:cTn id="14" dur="500" fill="hold"/>
                                        <p:tgtEl>
                                          <p:spTgt spid="4199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2012"/>
                                        </p:tgtEl>
                                        <p:attrNameLst>
                                          <p:attrName>style.visibility</p:attrName>
                                        </p:attrNameLst>
                                      </p:cBhvr>
                                      <p:to>
                                        <p:strVal val="visible"/>
                                      </p:to>
                                    </p:set>
                                    <p:anim calcmode="lin" valueType="num">
                                      <p:cBhvr additive="base">
                                        <p:cTn id="19" dur="500" fill="hold"/>
                                        <p:tgtEl>
                                          <p:spTgt spid="42012"/>
                                        </p:tgtEl>
                                        <p:attrNameLst>
                                          <p:attrName>ppt_x</p:attrName>
                                        </p:attrNameLst>
                                      </p:cBhvr>
                                      <p:tavLst>
                                        <p:tav tm="0">
                                          <p:val>
                                            <p:strVal val="0-#ppt_w/2"/>
                                          </p:val>
                                        </p:tav>
                                        <p:tav tm="100000">
                                          <p:val>
                                            <p:strVal val="#ppt_x"/>
                                          </p:val>
                                        </p:tav>
                                      </p:tavLst>
                                    </p:anim>
                                    <p:anim calcmode="lin" valueType="num">
                                      <p:cBhvr additive="base">
                                        <p:cTn id="20" dur="500" fill="hold"/>
                                        <p:tgtEl>
                                          <p:spTgt spid="4201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2012">
                                            <p:txEl>
                                              <p:pRg st="2" end="2"/>
                                            </p:txEl>
                                          </p:spTgt>
                                        </p:tgtEl>
                                        <p:attrNameLst>
                                          <p:attrName>style.visibility</p:attrName>
                                        </p:attrNameLst>
                                      </p:cBhvr>
                                      <p:to>
                                        <p:strVal val="visible"/>
                                      </p:to>
                                    </p:set>
                                    <p:animEffect transition="in" filter="wipe(left)">
                                      <p:cBhvr>
                                        <p:cTn id="25" dur="500"/>
                                        <p:tgtEl>
                                          <p:spTgt spid="42012">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down)">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6" grpId="0"/>
      <p:bldP spid="42001" grpId="0"/>
      <p:bldP spid="42012" grpId="0"/>
      <p:bldP spid="6" grpId="0"/>
      <p:bldP spid="3"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直接连接符 71681"/>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71691" name="文本框 71690"/>
          <p:cNvSpPr txBox="1"/>
          <p:nvPr/>
        </p:nvSpPr>
        <p:spPr>
          <a:xfrm>
            <a:off x="381000" y="762000"/>
            <a:ext cx="8991600" cy="457200"/>
          </a:xfrm>
          <a:prstGeom prst="rect">
            <a:avLst/>
          </a:prstGeom>
          <a:noFill/>
          <a:ln w="9525">
            <a:noFill/>
          </a:ln>
        </p:spPr>
        <p:txBody>
          <a:bodyPr>
            <a:spAutoFit/>
          </a:bodyPr>
          <a:lstStyle/>
          <a:p>
            <a:pPr algn="just"/>
            <a:r>
              <a:rPr lang="zh-CN" altLang="en-US" b="1">
                <a:solidFill>
                  <a:srgbClr val="FF3300"/>
                </a:solidFill>
                <a:latin typeface="楷体_GB2312" pitchFamily="49" charset="-122"/>
                <a:ea typeface="楷体_GB2312" pitchFamily="49" charset="-122"/>
              </a:rPr>
              <a:t>　</a:t>
            </a:r>
            <a:endParaRPr lang="zh-CN" altLang="en-US" sz="2800">
              <a:latin typeface="Times New Roman" panose="02020603050405020304" pitchFamily="18" charset="0"/>
            </a:endParaRPr>
          </a:p>
        </p:txBody>
      </p:sp>
      <p:sp>
        <p:nvSpPr>
          <p:cNvPr id="71695" name="文本框 71694"/>
          <p:cNvSpPr txBox="1"/>
          <p:nvPr/>
        </p:nvSpPr>
        <p:spPr>
          <a:xfrm>
            <a:off x="434975" y="1371883"/>
            <a:ext cx="9144000" cy="460375"/>
          </a:xfrm>
          <a:prstGeom prst="rect">
            <a:avLst/>
          </a:prstGeom>
          <a:noFill/>
          <a:ln w="9525">
            <a:noFill/>
          </a:ln>
        </p:spPr>
        <p:txBody>
          <a:bodyPr>
            <a:spAutoFit/>
          </a:bodyPr>
          <a:lstStyle/>
          <a:p>
            <a:pPr algn="l">
              <a:spcBef>
                <a:spcPct val="50000"/>
              </a:spcBef>
            </a:pPr>
            <a:r>
              <a:rPr lang="en-US" altLang="zh-CN" b="1" dirty="0">
                <a:solidFill>
                  <a:srgbClr val="000000"/>
                </a:solidFill>
                <a:latin typeface="楷体_GB2312" pitchFamily="49" charset="-122"/>
                <a:ea typeface="楷体_GB2312" pitchFamily="49" charset="-122"/>
              </a:rPr>
              <a:t>  </a:t>
            </a:r>
            <a:r>
              <a:rPr lang="zh-CN" altLang="en-US" b="1" dirty="0">
                <a:solidFill>
                  <a:srgbClr val="000000"/>
                </a:solidFill>
                <a:latin typeface="楷体_GB2312" pitchFamily="49" charset="-122"/>
                <a:ea typeface="楷体_GB2312" pitchFamily="49" charset="-122"/>
              </a:rPr>
              <a:t>根据</a:t>
            </a:r>
            <a:r>
              <a:rPr lang="en-US" altLang="zh-CN" b="1" dirty="0">
                <a:solidFill>
                  <a:srgbClr val="000000"/>
                </a:solidFill>
                <a:latin typeface="楷体_GB2312" pitchFamily="49" charset="-122"/>
                <a:ea typeface="楷体_GB2312" pitchFamily="49" charset="-122"/>
              </a:rPr>
              <a:t>V</a:t>
            </a:r>
            <a:r>
              <a:rPr lang="zh-CN" altLang="en-US" b="1" dirty="0">
                <a:solidFill>
                  <a:srgbClr val="000000"/>
                </a:solidFill>
                <a:latin typeface="楷体_GB2312" pitchFamily="49" charset="-122"/>
                <a:ea typeface="楷体_GB2312" pitchFamily="49" charset="-122"/>
              </a:rPr>
              <a:t>带传递的计算功率和小带轮的转速，选定带型。</a:t>
            </a:r>
            <a:endParaRPr lang="en-US" altLang="zh-CN" b="1" dirty="0">
              <a:solidFill>
                <a:srgbClr val="000000"/>
              </a:solidFill>
              <a:latin typeface="楷体_GB2312" pitchFamily="49" charset="-122"/>
              <a:ea typeface="楷体_GB2312" pitchFamily="49" charset="-122"/>
            </a:endParaRPr>
          </a:p>
        </p:txBody>
      </p:sp>
      <p:sp>
        <p:nvSpPr>
          <p:cNvPr id="71696" name="文本框 71695"/>
          <p:cNvSpPr txBox="1"/>
          <p:nvPr/>
        </p:nvSpPr>
        <p:spPr>
          <a:xfrm>
            <a:off x="434975" y="1807210"/>
            <a:ext cx="8274685" cy="1753235"/>
          </a:xfrm>
          <a:prstGeom prst="rect">
            <a:avLst/>
          </a:prstGeom>
          <a:noFill/>
          <a:ln w="9525">
            <a:noFill/>
          </a:ln>
        </p:spPr>
        <p:txBody>
          <a:bodyPr wrap="square">
            <a:spAutoFit/>
          </a:bodyPr>
          <a:lstStyle/>
          <a:p>
            <a:pPr algn="l">
              <a:lnSpc>
                <a:spcPct val="150000"/>
              </a:lnSpc>
              <a:spcBef>
                <a:spcPts val="0"/>
              </a:spcBef>
            </a:pPr>
            <a:r>
              <a:rPr lang="en-US" altLang="zh-CN" b="1" dirty="0">
                <a:solidFill>
                  <a:srgbClr val="000000"/>
                </a:solidFill>
                <a:latin typeface="楷体_GB2312" pitchFamily="49" charset="-122"/>
                <a:ea typeface="楷体_GB2312" pitchFamily="49" charset="-122"/>
              </a:rPr>
              <a:t>  </a:t>
            </a:r>
            <a:r>
              <a:rPr lang="zh-CN" altLang="en-US" dirty="0">
                <a:solidFill>
                  <a:srgbClr val="000000"/>
                </a:solidFill>
                <a:latin typeface="黑体" panose="02010609060101010101" pitchFamily="49" charset="-122"/>
                <a:ea typeface="黑体" panose="02010609060101010101" pitchFamily="49" charset="-122"/>
                <a:cs typeface="黑体" panose="02010609060101010101" pitchFamily="49" charset="-122"/>
              </a:rPr>
              <a:t>要设计：</a:t>
            </a:r>
            <a:r>
              <a:rPr lang="en-US" dirty="0">
                <a:solidFill>
                  <a:srgbClr val="000000"/>
                </a:solidFill>
                <a:latin typeface="黑体" panose="02010609060101010101" pitchFamily="49" charset="-122"/>
                <a:ea typeface="黑体" panose="02010609060101010101" pitchFamily="49" charset="-122"/>
                <a:cs typeface="黑体" panose="02010609060101010101" pitchFamily="49" charset="-122"/>
              </a:rPr>
              <a:t>V</a:t>
            </a:r>
            <a:r>
              <a:rPr lang="zh-CN" altLang="en-US" dirty="0">
                <a:solidFill>
                  <a:srgbClr val="000000"/>
                </a:solidFill>
                <a:latin typeface="黑体" panose="02010609060101010101" pitchFamily="49" charset="-122"/>
                <a:ea typeface="黑体" panose="02010609060101010101" pitchFamily="49" charset="-122"/>
                <a:cs typeface="黑体" panose="02010609060101010101" pitchFamily="49" charset="-122"/>
              </a:rPr>
              <a:t>带带型，根数，带长，小带轮的基准直径，大带轮的基准直径，中心距，单根带的初拉力，计算出压轴力</a:t>
            </a:r>
            <a:r>
              <a:rPr lang="en-US" altLang="zh-CN" dirty="0">
                <a:solidFill>
                  <a:srgbClr val="000000"/>
                </a:solidFill>
                <a:latin typeface="黑体" panose="02010609060101010101" pitchFamily="49" charset="-122"/>
                <a:ea typeface="黑体" panose="02010609060101010101" pitchFamily="49" charset="-122"/>
                <a:cs typeface="黑体" panose="02010609060101010101" pitchFamily="49" charset="-122"/>
              </a:rPr>
              <a:t>,</a:t>
            </a:r>
            <a:r>
              <a:rPr lang="zh-CN" altLang="en-US" dirty="0">
                <a:solidFill>
                  <a:srgbClr val="000000"/>
                </a:solidFill>
                <a:latin typeface="黑体" panose="02010609060101010101" pitchFamily="49" charset="-122"/>
                <a:ea typeface="黑体" panose="02010609060101010101" pitchFamily="49" charset="-122"/>
                <a:cs typeface="黑体" panose="02010609060101010101" pitchFamily="49" charset="-122"/>
              </a:rPr>
              <a:t>小带轮轮毂宽度，</a:t>
            </a:r>
            <a:r>
              <a:rPr lang="zh-CN" dirty="0">
                <a:solidFill>
                  <a:srgbClr val="000000"/>
                </a:solidFill>
                <a:latin typeface="黑体" panose="02010609060101010101" pitchFamily="49" charset="-122"/>
                <a:ea typeface="黑体" panose="02010609060101010101" pitchFamily="49" charset="-122"/>
                <a:cs typeface="黑体" panose="02010609060101010101" pitchFamily="49" charset="-122"/>
              </a:rPr>
              <a:t>大带轮的轮毂宽度</a:t>
            </a:r>
            <a:r>
              <a:rPr lang="zh-CN" altLang="en-US" dirty="0">
                <a:solidFill>
                  <a:srgbClr val="000000"/>
                </a:solidFill>
                <a:latin typeface="黑体" panose="02010609060101010101" pitchFamily="49" charset="-122"/>
                <a:ea typeface="黑体" panose="02010609060101010101" pitchFamily="49" charset="-122"/>
                <a:cs typeface="黑体" panose="02010609060101010101" pitchFamily="49" charset="-122"/>
              </a:rPr>
              <a:t>等。</a:t>
            </a:r>
            <a:endParaRPr lang="zh-CN" altLang="en-US"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71700" name="标题 71699"/>
          <p:cNvSpPr>
            <a:spLocks noGrp="1"/>
          </p:cNvSpPr>
          <p:nvPr>
            <p:ph type="title"/>
          </p:nvPr>
        </p:nvSpPr>
        <p:spPr>
          <a:xfrm>
            <a:off x="539552" y="764704"/>
            <a:ext cx="7772400" cy="609600"/>
          </a:xfrm>
        </p:spPr>
        <p:txBody>
          <a:bodyPr anchor="ctr"/>
          <a:lstStyle/>
          <a:p>
            <a:pPr algn="l"/>
            <a:r>
              <a:rPr lang="zh-CN" altLang="en-US" sz="2400" dirty="0" smtClean="0">
                <a:solidFill>
                  <a:srgbClr val="FF3300"/>
                </a:solidFill>
                <a:latin typeface="黑体" panose="02010609060101010101" pitchFamily="49" charset="-122"/>
                <a:ea typeface="黑体" panose="02010609060101010101" pitchFamily="49" charset="-122"/>
                <a:cs typeface="黑体" panose="02010609060101010101" pitchFamily="49" charset="-122"/>
              </a:rPr>
              <a:t>（</a:t>
            </a:r>
            <a:r>
              <a:rPr lang="en-US" altLang="zh-CN" sz="2400" dirty="0" smtClean="0">
                <a:solidFill>
                  <a:srgbClr val="FF3300"/>
                </a:solidFill>
                <a:latin typeface="黑体" panose="02010609060101010101" pitchFamily="49" charset="-122"/>
                <a:ea typeface="黑体" panose="02010609060101010101" pitchFamily="49" charset="-122"/>
                <a:cs typeface="黑体" panose="02010609060101010101" pitchFamily="49" charset="-122"/>
              </a:rPr>
              <a:t>1</a:t>
            </a:r>
            <a:r>
              <a:rPr lang="zh-CN" altLang="en-US" sz="2400" dirty="0" smtClean="0">
                <a:solidFill>
                  <a:srgbClr val="FF3300"/>
                </a:solidFill>
                <a:latin typeface="黑体" panose="02010609060101010101" pitchFamily="49" charset="-122"/>
                <a:ea typeface="黑体" panose="02010609060101010101" pitchFamily="49" charset="-122"/>
                <a:cs typeface="黑体" panose="02010609060101010101" pitchFamily="49" charset="-122"/>
              </a:rPr>
              <a:t>）</a:t>
            </a:r>
            <a:r>
              <a:rPr lang="en-US" altLang="zh-CN" sz="2400" dirty="0" smtClean="0">
                <a:solidFill>
                  <a:srgbClr val="FF3300"/>
                </a:solidFill>
                <a:latin typeface="黑体" panose="02010609060101010101" pitchFamily="49" charset="-122"/>
                <a:ea typeface="黑体" panose="02010609060101010101" pitchFamily="49" charset="-122"/>
                <a:cs typeface="黑体" panose="02010609060101010101" pitchFamily="49" charset="-122"/>
              </a:rPr>
              <a:t> </a:t>
            </a:r>
            <a:r>
              <a:rPr lang="zh-CN" altLang="en-US" sz="2400" dirty="0">
                <a:solidFill>
                  <a:srgbClr val="FF3300"/>
                </a:solidFill>
                <a:latin typeface="黑体" panose="02010609060101010101" pitchFamily="49" charset="-122"/>
                <a:ea typeface="黑体" panose="02010609060101010101" pitchFamily="49" charset="-122"/>
                <a:cs typeface="黑体" panose="02010609060101010101" pitchFamily="49" charset="-122"/>
              </a:rPr>
              <a:t>带传动</a:t>
            </a:r>
            <a:endParaRPr lang="zh-CN" altLang="en-US" dirty="0">
              <a:latin typeface="黑体" panose="02010609060101010101" pitchFamily="49" charset="-122"/>
              <a:ea typeface="黑体" panose="02010609060101010101" pitchFamily="49" charset="-122"/>
              <a:cs typeface="黑体" panose="02010609060101010101" pitchFamily="49" charset="-122"/>
            </a:endParaRPr>
          </a:p>
        </p:txBody>
      </p:sp>
      <p:sp>
        <p:nvSpPr>
          <p:cNvPr id="71703" name="文本框 71702"/>
          <p:cNvSpPr txBox="1"/>
          <p:nvPr/>
        </p:nvSpPr>
        <p:spPr>
          <a:xfrm>
            <a:off x="899795" y="4149090"/>
            <a:ext cx="6884670" cy="460375"/>
          </a:xfrm>
          <a:prstGeom prst="rect">
            <a:avLst/>
          </a:prstGeom>
          <a:noFill/>
          <a:ln w="9525">
            <a:noFill/>
          </a:ln>
        </p:spPr>
        <p:txBody>
          <a:bodyPr wrap="square">
            <a:spAutoFit/>
          </a:bodyPr>
          <a:lstStyle/>
          <a:p>
            <a:pPr algn="l">
              <a:spcBef>
                <a:spcPct val="50000"/>
              </a:spcBef>
            </a:pPr>
            <a:r>
              <a:rPr lang="zh-CN" b="1" dirty="0">
                <a:solidFill>
                  <a:srgbClr val="FF0000"/>
                </a:solidFill>
                <a:latin typeface="楷体_GB2312" pitchFamily="49" charset="-122"/>
                <a:ea typeface="楷体_GB2312" pitchFamily="49" charset="-122"/>
              </a:rPr>
              <a:t>带的根数不可过多，</a:t>
            </a:r>
            <a:r>
              <a:rPr lang="en-US" altLang="zh-CN" b="1" dirty="0">
                <a:solidFill>
                  <a:srgbClr val="FF0000"/>
                </a:solidFill>
                <a:latin typeface="楷体_GB2312" pitchFamily="49" charset="-122"/>
                <a:ea typeface="楷体_GB2312" pitchFamily="49" charset="-122"/>
              </a:rPr>
              <a:t>&gt;5</a:t>
            </a:r>
            <a:r>
              <a:rPr lang="zh-CN" altLang="en-US" b="1" dirty="0">
                <a:solidFill>
                  <a:srgbClr val="FF0000"/>
                </a:solidFill>
                <a:latin typeface="楷体_GB2312" pitchFamily="49" charset="-122"/>
                <a:ea typeface="楷体_GB2312" pitchFamily="49" charset="-122"/>
              </a:rPr>
              <a:t>根考虑换带型。</a:t>
            </a:r>
            <a:endParaRPr lang="zh-CN" altLang="en-US" b="1" dirty="0">
              <a:solidFill>
                <a:srgbClr val="FF0000"/>
              </a:solidFill>
              <a:latin typeface="楷体_GB2312" pitchFamily="49" charset="-122"/>
              <a:ea typeface="楷体_GB2312" pitchFamily="49" charset="-122"/>
            </a:endParaRPr>
          </a:p>
        </p:txBody>
      </p:sp>
      <p:sp>
        <p:nvSpPr>
          <p:cNvPr id="71704" name="文本框 71703"/>
          <p:cNvSpPr txBox="1"/>
          <p:nvPr/>
        </p:nvSpPr>
        <p:spPr>
          <a:xfrm>
            <a:off x="380759" y="3645163"/>
            <a:ext cx="8991600" cy="457200"/>
          </a:xfrm>
          <a:prstGeom prst="rect">
            <a:avLst/>
          </a:prstGeom>
          <a:noFill/>
          <a:ln w="9525">
            <a:noFill/>
          </a:ln>
        </p:spPr>
        <p:txBody>
          <a:bodyPr>
            <a:spAutoFit/>
          </a:bodyPr>
          <a:lstStyle/>
          <a:p>
            <a:pPr algn="just"/>
            <a:r>
              <a:rPr lang="zh-CN" altLang="en-US" b="1" dirty="0">
                <a:solidFill>
                  <a:srgbClr val="FF3300"/>
                </a:solidFill>
                <a:latin typeface="楷体_GB2312" pitchFamily="49" charset="-122"/>
                <a:ea typeface="楷体_GB2312" pitchFamily="49" charset="-122"/>
              </a:rPr>
              <a:t>　</a:t>
            </a:r>
            <a:r>
              <a:rPr lang="zh-CN" altLang="en-US" b="1" dirty="0">
                <a:solidFill>
                  <a:srgbClr val="FF0000"/>
                </a:solidFill>
                <a:latin typeface="楷体_GB2312" pitchFamily="49" charset="-122"/>
                <a:ea typeface="楷体_GB2312" pitchFamily="49" charset="-122"/>
              </a:rPr>
              <a:t>注意：</a:t>
            </a:r>
            <a:endParaRPr lang="zh-CN" altLang="en-US" b="1" dirty="0">
              <a:solidFill>
                <a:srgbClr val="FF0000"/>
              </a:solidFill>
              <a:latin typeface="楷体_GB2312" pitchFamily="49" charset="-122"/>
              <a:ea typeface="楷体_GB2312" pitchFamily="49" charset="-122"/>
            </a:endParaRPr>
          </a:p>
        </p:txBody>
      </p:sp>
      <p:sp>
        <p:nvSpPr>
          <p:cNvPr id="16" name="文本框 15"/>
          <p:cNvSpPr txBox="1"/>
          <p:nvPr/>
        </p:nvSpPr>
        <p:spPr>
          <a:xfrm>
            <a:off x="323528" y="116632"/>
            <a:ext cx="8915400" cy="460375"/>
          </a:xfrm>
          <a:prstGeom prst="rect">
            <a:avLst/>
          </a:prstGeom>
          <a:noFill/>
          <a:ln w="9525">
            <a:noFill/>
          </a:ln>
        </p:spPr>
        <p:txBody>
          <a:bodyPr>
            <a:spAutoFit/>
          </a:bodyPr>
          <a:lstStyle/>
          <a:p>
            <a:pPr algn="l">
              <a:spcBef>
                <a:spcPct val="50000"/>
              </a:spcBef>
            </a:pPr>
            <a:r>
              <a:rPr lang="en-US" altLang="zh-CN" b="1" dirty="0">
                <a:solidFill>
                  <a:srgbClr val="A02904"/>
                </a:solidFill>
                <a:latin typeface="楷体_GB2312" pitchFamily="49" charset="-122"/>
                <a:ea typeface="楷体_GB2312" pitchFamily="49" charset="-122"/>
              </a:rPr>
              <a:t>4</a:t>
            </a:r>
            <a:r>
              <a:rPr lang="zh-CN" altLang="en-US" b="1" dirty="0">
                <a:solidFill>
                  <a:srgbClr val="A02904"/>
                </a:solidFill>
                <a:latin typeface="楷体_GB2312" pitchFamily="49" charset="-122"/>
                <a:ea typeface="楷体_GB2312" pitchFamily="49" charset="-122"/>
              </a:rPr>
              <a:t>、传动件的设计计算</a:t>
            </a:r>
            <a:endParaRPr lang="zh-CN" altLang="en-US" b="1" dirty="0">
              <a:solidFill>
                <a:srgbClr val="000000"/>
              </a:solidFill>
              <a:latin typeface="楷体_GB2312" pitchFamily="49" charset="-122"/>
              <a:ea typeface="楷体_GB2312" pitchFamily="49" charset="-122"/>
            </a:endParaRPr>
          </a:p>
        </p:txBody>
      </p:sp>
      <p:sp>
        <p:nvSpPr>
          <p:cNvPr id="2" name="文本框 1"/>
          <p:cNvSpPr txBox="1"/>
          <p:nvPr/>
        </p:nvSpPr>
        <p:spPr>
          <a:xfrm>
            <a:off x="1835785" y="5048885"/>
            <a:ext cx="4342130" cy="460375"/>
          </a:xfrm>
          <a:prstGeom prst="rect">
            <a:avLst/>
          </a:prstGeom>
          <a:solidFill>
            <a:schemeClr val="accent1">
              <a:lumMod val="40000"/>
              <a:lumOff val="60000"/>
            </a:schemeClr>
          </a:solidFill>
        </p:spPr>
        <p:txBody>
          <a:bodyPr wrap="square" rtlCol="0">
            <a:spAutoFit/>
          </a:bodyPr>
          <a:p>
            <a:r>
              <a:rPr lang="zh-CN" altLang="en-US">
                <a:latin typeface="黑体" panose="02010609060101010101" pitchFamily="49" charset="-122"/>
                <a:ea typeface="黑体" panose="02010609060101010101" pitchFamily="49" charset="-122"/>
                <a:cs typeface="黑体" panose="02010609060101010101" pitchFamily="49" charset="-122"/>
              </a:rPr>
              <a:t>参考教材</a:t>
            </a:r>
            <a:r>
              <a:rPr lang="en-US" altLang="zh-CN">
                <a:latin typeface="黑体" panose="02010609060101010101" pitchFamily="49" charset="-122"/>
                <a:ea typeface="黑体" panose="02010609060101010101" pitchFamily="49" charset="-122"/>
                <a:cs typeface="黑体" panose="02010609060101010101" pitchFamily="49" charset="-122"/>
              </a:rPr>
              <a:t>P184~186</a:t>
            </a:r>
            <a:endParaRPr lang="en-US" altLang="zh-CN">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04"/>
                                        </p:tgtEl>
                                        <p:attrNameLst>
                                          <p:attrName>style.visibility</p:attrName>
                                        </p:attrNameLst>
                                      </p:cBhvr>
                                      <p:to>
                                        <p:strVal val="visible"/>
                                      </p:to>
                                    </p:set>
                                    <p:animEffect transition="in" filter="blinds(horizontal)">
                                      <p:cBhvr>
                                        <p:cTn id="7" dur="500"/>
                                        <p:tgtEl>
                                          <p:spTgt spid="7170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1703"/>
                                        </p:tgtEl>
                                        <p:attrNameLst>
                                          <p:attrName>style.visibility</p:attrName>
                                        </p:attrNameLst>
                                      </p:cBhvr>
                                      <p:to>
                                        <p:strVal val="visible"/>
                                      </p:to>
                                    </p:set>
                                    <p:anim calcmode="lin" valueType="num">
                                      <p:cBhvr additive="base">
                                        <p:cTn id="12" dur="500" fill="hold"/>
                                        <p:tgtEl>
                                          <p:spTgt spid="71703"/>
                                        </p:tgtEl>
                                        <p:attrNameLst>
                                          <p:attrName>ppt_x</p:attrName>
                                        </p:attrNameLst>
                                      </p:cBhvr>
                                      <p:tavLst>
                                        <p:tav tm="0">
                                          <p:val>
                                            <p:strVal val="0-#ppt_w/2"/>
                                          </p:val>
                                        </p:tav>
                                        <p:tav tm="100000">
                                          <p:val>
                                            <p:strVal val="#ppt_x"/>
                                          </p:val>
                                        </p:tav>
                                      </p:tavLst>
                                    </p:anim>
                                    <p:anim calcmode="lin" valueType="num">
                                      <p:cBhvr additive="base">
                                        <p:cTn id="13" dur="500" fill="hold"/>
                                        <p:tgtEl>
                                          <p:spTgt spid="717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3" grpId="0"/>
      <p:bldP spid="7170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直接连接符 71681"/>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71691" name="文本框 71690"/>
          <p:cNvSpPr txBox="1"/>
          <p:nvPr/>
        </p:nvSpPr>
        <p:spPr>
          <a:xfrm>
            <a:off x="381000" y="762000"/>
            <a:ext cx="8991600" cy="457200"/>
          </a:xfrm>
          <a:prstGeom prst="rect">
            <a:avLst/>
          </a:prstGeom>
          <a:noFill/>
          <a:ln w="9525">
            <a:noFill/>
          </a:ln>
        </p:spPr>
        <p:txBody>
          <a:bodyPr>
            <a:spAutoFit/>
          </a:bodyPr>
          <a:lstStyle/>
          <a:p>
            <a:pPr algn="just"/>
            <a:r>
              <a:rPr lang="zh-CN" altLang="en-US" b="1">
                <a:solidFill>
                  <a:srgbClr val="FF3300"/>
                </a:solidFill>
                <a:latin typeface="楷体_GB2312" pitchFamily="49" charset="-122"/>
                <a:ea typeface="楷体_GB2312" pitchFamily="49" charset="-122"/>
              </a:rPr>
              <a:t>　</a:t>
            </a:r>
            <a:endParaRPr lang="zh-CN" altLang="en-US" sz="2800">
              <a:latin typeface="Times New Roman" panose="02020603050405020304" pitchFamily="18" charset="0"/>
            </a:endParaRPr>
          </a:p>
        </p:txBody>
      </p:sp>
      <p:sp>
        <p:nvSpPr>
          <p:cNvPr id="71695" name="文本框 71694"/>
          <p:cNvSpPr txBox="1"/>
          <p:nvPr/>
        </p:nvSpPr>
        <p:spPr>
          <a:xfrm>
            <a:off x="0" y="1340768"/>
            <a:ext cx="9144000" cy="457200"/>
          </a:xfrm>
          <a:prstGeom prst="rect">
            <a:avLst/>
          </a:prstGeom>
          <a:noFill/>
          <a:ln w="9525">
            <a:noFill/>
          </a:ln>
        </p:spPr>
        <p:txBody>
          <a:bodyPr>
            <a:spAutoFit/>
          </a:bodyPr>
          <a:lstStyle/>
          <a:p>
            <a:pPr algn="l">
              <a:spcBef>
                <a:spcPct val="50000"/>
              </a:spcBef>
            </a:pPr>
            <a:r>
              <a:rPr lang="en-US" altLang="zh-CN" b="1" dirty="0">
                <a:solidFill>
                  <a:srgbClr val="000000"/>
                </a:solidFill>
                <a:latin typeface="楷体_GB2312" pitchFamily="49" charset="-122"/>
                <a:ea typeface="楷体_GB2312" pitchFamily="49" charset="-122"/>
              </a:rPr>
              <a:t>  </a:t>
            </a:r>
            <a:r>
              <a:rPr lang="zh-CN" altLang="en-US" b="1" dirty="0">
                <a:solidFill>
                  <a:srgbClr val="000000"/>
                </a:solidFill>
                <a:latin typeface="楷体_GB2312" pitchFamily="49" charset="-122"/>
                <a:ea typeface="楷体_GB2312" pitchFamily="49" charset="-122"/>
              </a:rPr>
              <a:t>根据情况，选择直齿轮或斜齿轮传动，软齿面或硬齿面。</a:t>
            </a:r>
            <a:endParaRPr lang="zh-CN" altLang="en-US" b="1" dirty="0">
              <a:solidFill>
                <a:srgbClr val="000000"/>
              </a:solidFill>
              <a:latin typeface="楷体_GB2312" pitchFamily="49" charset="-122"/>
              <a:ea typeface="楷体_GB2312" pitchFamily="49" charset="-122"/>
            </a:endParaRPr>
          </a:p>
        </p:txBody>
      </p:sp>
      <p:sp>
        <p:nvSpPr>
          <p:cNvPr id="71696" name="文本框 71695"/>
          <p:cNvSpPr txBox="1"/>
          <p:nvPr/>
        </p:nvSpPr>
        <p:spPr>
          <a:xfrm>
            <a:off x="35361" y="1916832"/>
            <a:ext cx="9144000" cy="822325"/>
          </a:xfrm>
          <a:prstGeom prst="rect">
            <a:avLst/>
          </a:prstGeom>
          <a:noFill/>
          <a:ln w="9525">
            <a:noFill/>
          </a:ln>
        </p:spPr>
        <p:txBody>
          <a:bodyPr>
            <a:spAutoFit/>
          </a:bodyPr>
          <a:lstStyle/>
          <a:p>
            <a:pPr algn="l">
              <a:spcBef>
                <a:spcPct val="50000"/>
              </a:spcBef>
            </a:pPr>
            <a:r>
              <a:rPr lang="en-US" altLang="zh-CN" b="1" dirty="0">
                <a:solidFill>
                  <a:srgbClr val="000000"/>
                </a:solidFill>
                <a:latin typeface="楷体_GB2312" pitchFamily="49" charset="-122"/>
                <a:ea typeface="楷体_GB2312" pitchFamily="49" charset="-122"/>
              </a:rPr>
              <a:t>  </a:t>
            </a:r>
            <a:r>
              <a:rPr lang="zh-CN" altLang="en-US" b="1" dirty="0">
                <a:solidFill>
                  <a:srgbClr val="000000"/>
                </a:solidFill>
                <a:latin typeface="楷体_GB2312" pitchFamily="49" charset="-122"/>
                <a:ea typeface="楷体_GB2312" pitchFamily="49" charset="-122"/>
              </a:rPr>
              <a:t>要设计：模数</a:t>
            </a:r>
            <a:r>
              <a:rPr lang="en-US" altLang="zh-CN" b="1" i="1" dirty="0">
                <a:solidFill>
                  <a:srgbClr val="000000"/>
                </a:solidFill>
                <a:latin typeface="Times New Roman" panose="02020603050405020304" pitchFamily="18" charset="0"/>
                <a:ea typeface="楷体_GB2312" pitchFamily="49" charset="-122"/>
              </a:rPr>
              <a:t>m</a:t>
            </a:r>
            <a:r>
              <a:rPr lang="zh-CN" altLang="en-US" b="1" dirty="0">
                <a:solidFill>
                  <a:srgbClr val="000000"/>
                </a:solidFill>
                <a:latin typeface="楷体_GB2312" pitchFamily="49" charset="-122"/>
                <a:ea typeface="楷体_GB2312" pitchFamily="49" charset="-122"/>
              </a:rPr>
              <a:t>，中心距</a:t>
            </a:r>
            <a:r>
              <a:rPr lang="en-US" altLang="zh-CN" b="1" i="1" dirty="0">
                <a:solidFill>
                  <a:srgbClr val="000000"/>
                </a:solidFill>
                <a:latin typeface="Times New Roman" panose="02020603050405020304" pitchFamily="18" charset="0"/>
                <a:ea typeface="楷体_GB2312" pitchFamily="49" charset="-122"/>
              </a:rPr>
              <a:t>a</a:t>
            </a:r>
            <a:r>
              <a:rPr lang="zh-CN" altLang="en-US" b="1" dirty="0">
                <a:solidFill>
                  <a:srgbClr val="000000"/>
                </a:solidFill>
                <a:latin typeface="楷体_GB2312" pitchFamily="49" charset="-122"/>
                <a:ea typeface="楷体_GB2312" pitchFamily="49" charset="-122"/>
              </a:rPr>
              <a:t>，齿数</a:t>
            </a:r>
            <a:r>
              <a:rPr lang="en-US" altLang="zh-CN" b="1" dirty="0">
                <a:solidFill>
                  <a:srgbClr val="000000"/>
                </a:solidFill>
                <a:latin typeface="Times New Roman" panose="02020603050405020304" pitchFamily="18" charset="0"/>
                <a:ea typeface="楷体_GB2312" pitchFamily="49" charset="-122"/>
              </a:rPr>
              <a:t>z</a:t>
            </a:r>
            <a:r>
              <a:rPr lang="zh-CN" altLang="en-US" b="1" dirty="0">
                <a:solidFill>
                  <a:srgbClr val="000000"/>
                </a:solidFill>
                <a:latin typeface="楷体_GB2312" pitchFamily="49" charset="-122"/>
                <a:ea typeface="楷体_GB2312" pitchFamily="49" charset="-122"/>
              </a:rPr>
              <a:t>，分度圆直径</a:t>
            </a:r>
            <a:r>
              <a:rPr lang="en-US" altLang="zh-CN" b="1" i="1" dirty="0">
                <a:solidFill>
                  <a:srgbClr val="000000"/>
                </a:solidFill>
                <a:latin typeface="Times New Roman" panose="02020603050405020304" pitchFamily="18" charset="0"/>
                <a:ea typeface="楷体_GB2312" pitchFamily="49" charset="-122"/>
              </a:rPr>
              <a:t>d</a:t>
            </a:r>
            <a:r>
              <a:rPr lang="zh-CN" altLang="en-US" b="1" i="1" dirty="0">
                <a:solidFill>
                  <a:srgbClr val="000000"/>
                </a:solidFill>
                <a:latin typeface="Times New Roman" panose="02020603050405020304" pitchFamily="18" charset="0"/>
                <a:ea typeface="楷体_GB2312" pitchFamily="49" charset="-122"/>
              </a:rPr>
              <a:t>，</a:t>
            </a:r>
            <a:r>
              <a:rPr lang="zh-CN" altLang="en-US" b="1" dirty="0">
                <a:solidFill>
                  <a:srgbClr val="000000"/>
                </a:solidFill>
                <a:latin typeface="楷体_GB2312" pitchFamily="49" charset="-122"/>
                <a:ea typeface="楷体_GB2312" pitchFamily="49" charset="-122"/>
              </a:rPr>
              <a:t>齿顶圆直径</a:t>
            </a:r>
            <a:r>
              <a:rPr lang="en-US" altLang="zh-CN" b="1" i="1" dirty="0">
                <a:solidFill>
                  <a:srgbClr val="000000"/>
                </a:solidFill>
                <a:latin typeface="Times New Roman" panose="02020603050405020304" pitchFamily="18" charset="0"/>
                <a:ea typeface="楷体_GB2312" pitchFamily="49" charset="-122"/>
              </a:rPr>
              <a:t>d</a:t>
            </a:r>
            <a:r>
              <a:rPr lang="en-US" altLang="zh-CN" b="1" baseline="-25000" dirty="0">
                <a:solidFill>
                  <a:srgbClr val="000000"/>
                </a:solidFill>
                <a:latin typeface="Times New Roman" panose="02020603050405020304" pitchFamily="18" charset="0"/>
                <a:ea typeface="楷体_GB2312" pitchFamily="49" charset="-122"/>
              </a:rPr>
              <a:t>a</a:t>
            </a:r>
            <a:r>
              <a:rPr lang="zh-CN" altLang="en-US" b="1" dirty="0">
                <a:solidFill>
                  <a:srgbClr val="000000"/>
                </a:solidFill>
                <a:latin typeface="Times New Roman" panose="02020603050405020304" pitchFamily="18" charset="0"/>
                <a:ea typeface="楷体_GB2312" pitchFamily="49" charset="-122"/>
              </a:rPr>
              <a:t>，</a:t>
            </a:r>
            <a:r>
              <a:rPr lang="zh-CN" altLang="en-US" b="1" dirty="0">
                <a:solidFill>
                  <a:srgbClr val="000000"/>
                </a:solidFill>
                <a:latin typeface="楷体_GB2312" pitchFamily="49" charset="-122"/>
                <a:ea typeface="楷体_GB2312" pitchFamily="49" charset="-122"/>
              </a:rPr>
              <a:t>齿根圆直径</a:t>
            </a:r>
            <a:r>
              <a:rPr lang="en-US" altLang="zh-CN" b="1" i="1" dirty="0" err="1">
                <a:solidFill>
                  <a:srgbClr val="000000"/>
                </a:solidFill>
                <a:latin typeface="Times New Roman" panose="02020603050405020304" pitchFamily="18" charset="0"/>
                <a:ea typeface="楷体_GB2312" pitchFamily="49" charset="-122"/>
              </a:rPr>
              <a:t>d</a:t>
            </a:r>
            <a:r>
              <a:rPr lang="en-US" altLang="zh-CN" b="1" baseline="-25000" dirty="0" err="1">
                <a:solidFill>
                  <a:srgbClr val="000000"/>
                </a:solidFill>
                <a:latin typeface="Times New Roman" panose="02020603050405020304" pitchFamily="18" charset="0"/>
                <a:ea typeface="楷体_GB2312" pitchFamily="49" charset="-122"/>
              </a:rPr>
              <a:t>f</a:t>
            </a:r>
            <a:r>
              <a:rPr lang="en-US" altLang="zh-CN" b="1" dirty="0">
                <a:solidFill>
                  <a:srgbClr val="000000"/>
                </a:solidFill>
                <a:latin typeface="楷体_GB2312" pitchFamily="49" charset="-122"/>
                <a:ea typeface="楷体_GB2312" pitchFamily="49" charset="-122"/>
              </a:rPr>
              <a:t> ,</a:t>
            </a:r>
            <a:r>
              <a:rPr lang="zh-CN" altLang="en-US" b="1" dirty="0">
                <a:solidFill>
                  <a:srgbClr val="000000"/>
                </a:solidFill>
                <a:latin typeface="楷体_GB2312" pitchFamily="49" charset="-122"/>
                <a:ea typeface="楷体_GB2312" pitchFamily="49" charset="-122"/>
              </a:rPr>
              <a:t>齿宽</a:t>
            </a:r>
            <a:r>
              <a:rPr lang="en-US" altLang="zh-CN" b="1" i="1" dirty="0">
                <a:solidFill>
                  <a:srgbClr val="000000"/>
                </a:solidFill>
                <a:latin typeface="Times New Roman" panose="02020603050405020304" pitchFamily="18" charset="0"/>
                <a:ea typeface="楷体_GB2312" pitchFamily="49" charset="-122"/>
              </a:rPr>
              <a:t>b</a:t>
            </a:r>
            <a:r>
              <a:rPr lang="zh-CN" altLang="en-US" b="1" dirty="0">
                <a:solidFill>
                  <a:srgbClr val="000000"/>
                </a:solidFill>
                <a:latin typeface="楷体_GB2312" pitchFamily="49" charset="-122"/>
                <a:ea typeface="楷体_GB2312" pitchFamily="49" charset="-122"/>
              </a:rPr>
              <a:t>，精度等级，螺旋角</a:t>
            </a:r>
            <a:r>
              <a:rPr lang="en-US" altLang="zh-CN"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zh-CN" altLang="en-US" b="1" dirty="0">
                <a:solidFill>
                  <a:srgbClr val="000000"/>
                </a:solidFill>
                <a:latin typeface="楷体_GB2312" pitchFamily="49" charset="-122"/>
                <a:ea typeface="楷体_GB2312" pitchFamily="49" charset="-122"/>
                <a:sym typeface="Symbol" panose="05050102010706020507" pitchFamily="18" charset="2"/>
              </a:rPr>
              <a:t>，齿轮的结构形式</a:t>
            </a:r>
            <a:r>
              <a:rPr lang="zh-CN" altLang="en-US" b="1" dirty="0">
                <a:solidFill>
                  <a:srgbClr val="000000"/>
                </a:solidFill>
                <a:latin typeface="楷体_GB2312" pitchFamily="49" charset="-122"/>
                <a:ea typeface="楷体_GB2312" pitchFamily="49" charset="-122"/>
              </a:rPr>
              <a:t>等。</a:t>
            </a:r>
            <a:endParaRPr lang="zh-CN" altLang="en-US" b="1" dirty="0">
              <a:solidFill>
                <a:srgbClr val="000000"/>
              </a:solidFill>
              <a:latin typeface="楷体_GB2312" pitchFamily="49" charset="-122"/>
              <a:ea typeface="楷体_GB2312" pitchFamily="49" charset="-122"/>
            </a:endParaRPr>
          </a:p>
        </p:txBody>
      </p:sp>
      <p:sp>
        <p:nvSpPr>
          <p:cNvPr id="71700" name="标题 71699"/>
          <p:cNvSpPr>
            <a:spLocks noGrp="1"/>
          </p:cNvSpPr>
          <p:nvPr>
            <p:ph type="title"/>
          </p:nvPr>
        </p:nvSpPr>
        <p:spPr>
          <a:xfrm>
            <a:off x="539552" y="764704"/>
            <a:ext cx="7772400" cy="609600"/>
          </a:xfrm>
        </p:spPr>
        <p:txBody>
          <a:bodyPr anchor="ctr"/>
          <a:lstStyle/>
          <a:p>
            <a:pPr algn="l"/>
            <a:r>
              <a:rPr lang="zh-CN" altLang="en-US" sz="2400" b="1" dirty="0" smtClean="0">
                <a:solidFill>
                  <a:srgbClr val="FF3300"/>
                </a:solidFill>
                <a:latin typeface="楷体_GB2312" pitchFamily="49" charset="-122"/>
                <a:ea typeface="楷体_GB2312" pitchFamily="49" charset="-122"/>
              </a:rPr>
              <a:t>（</a:t>
            </a:r>
            <a:r>
              <a:rPr lang="en-US" altLang="zh-CN" sz="2400" b="1" dirty="0" smtClean="0">
                <a:solidFill>
                  <a:srgbClr val="FF3300"/>
                </a:solidFill>
                <a:latin typeface="楷体_GB2312" pitchFamily="49" charset="-122"/>
                <a:ea typeface="楷体_GB2312" pitchFamily="49" charset="-122"/>
              </a:rPr>
              <a:t>2</a:t>
            </a:r>
            <a:r>
              <a:rPr lang="zh-CN" altLang="en-US" sz="2400" b="1" dirty="0" smtClean="0">
                <a:solidFill>
                  <a:srgbClr val="FF3300"/>
                </a:solidFill>
                <a:latin typeface="楷体_GB2312" pitchFamily="49" charset="-122"/>
                <a:ea typeface="楷体_GB2312" pitchFamily="49" charset="-122"/>
              </a:rPr>
              <a:t>）</a:t>
            </a:r>
            <a:r>
              <a:rPr lang="en-US" altLang="zh-CN" sz="2400" b="1" dirty="0" smtClean="0">
                <a:solidFill>
                  <a:srgbClr val="FF3300"/>
                </a:solidFill>
                <a:latin typeface="楷体_GB2312" pitchFamily="49" charset="-122"/>
                <a:ea typeface="楷体_GB2312" pitchFamily="49" charset="-122"/>
              </a:rPr>
              <a:t> </a:t>
            </a:r>
            <a:r>
              <a:rPr lang="zh-CN" altLang="en-US" sz="2400" b="1" dirty="0">
                <a:solidFill>
                  <a:srgbClr val="FF3300"/>
                </a:solidFill>
                <a:latin typeface="楷体_GB2312" pitchFamily="49" charset="-122"/>
                <a:ea typeface="楷体_GB2312" pitchFamily="49" charset="-122"/>
              </a:rPr>
              <a:t>齿轮传动</a:t>
            </a:r>
            <a:endParaRPr lang="zh-CN" altLang="en-US" dirty="0"/>
          </a:p>
        </p:txBody>
      </p:sp>
      <p:sp>
        <p:nvSpPr>
          <p:cNvPr id="71703" name="文本框 71702"/>
          <p:cNvSpPr txBox="1"/>
          <p:nvPr/>
        </p:nvSpPr>
        <p:spPr>
          <a:xfrm>
            <a:off x="-13387" y="3356992"/>
            <a:ext cx="9144000" cy="457200"/>
          </a:xfrm>
          <a:prstGeom prst="rect">
            <a:avLst/>
          </a:prstGeom>
          <a:noFill/>
          <a:ln w="9525">
            <a:noFill/>
          </a:ln>
        </p:spPr>
        <p:txBody>
          <a:bodyPr>
            <a:spAutoFit/>
          </a:bodyPr>
          <a:lstStyle/>
          <a:p>
            <a:pPr algn="l">
              <a:spcBef>
                <a:spcPct val="50000"/>
              </a:spcBef>
            </a:pPr>
            <a:r>
              <a:rPr lang="zh-CN" altLang="en-US" b="1" dirty="0">
                <a:solidFill>
                  <a:schemeClr val="accent2"/>
                </a:solidFill>
                <a:latin typeface="楷体_GB2312" pitchFamily="49" charset="-122"/>
                <a:ea typeface="楷体_GB2312" pitchFamily="49" charset="-122"/>
              </a:rPr>
              <a:t>（</a:t>
            </a:r>
            <a:r>
              <a:rPr lang="en-US" altLang="zh-CN" b="1" dirty="0">
                <a:solidFill>
                  <a:schemeClr val="accent2"/>
                </a:solidFill>
                <a:latin typeface="楷体_GB2312" pitchFamily="49" charset="-122"/>
                <a:ea typeface="楷体_GB2312" pitchFamily="49" charset="-122"/>
              </a:rPr>
              <a:t>1</a:t>
            </a:r>
            <a:r>
              <a:rPr lang="zh-CN" altLang="en-US" b="1" dirty="0">
                <a:solidFill>
                  <a:schemeClr val="accent2"/>
                </a:solidFill>
                <a:latin typeface="楷体_GB2312" pitchFamily="49" charset="-122"/>
                <a:ea typeface="楷体_GB2312" pitchFamily="49" charset="-122"/>
              </a:rPr>
              <a:t>）软齿面与硬齿面齿轮传动的设计程序不同</a:t>
            </a:r>
            <a:endParaRPr lang="zh-CN" altLang="en-US" b="1" dirty="0">
              <a:solidFill>
                <a:schemeClr val="accent2"/>
              </a:solidFill>
              <a:latin typeface="楷体_GB2312" pitchFamily="49" charset="-122"/>
              <a:ea typeface="楷体_GB2312" pitchFamily="49" charset="-122"/>
            </a:endParaRPr>
          </a:p>
        </p:txBody>
      </p:sp>
      <p:sp>
        <p:nvSpPr>
          <p:cNvPr id="71704" name="文本框 71703"/>
          <p:cNvSpPr txBox="1"/>
          <p:nvPr/>
        </p:nvSpPr>
        <p:spPr>
          <a:xfrm>
            <a:off x="-12306" y="2780928"/>
            <a:ext cx="8991600" cy="457200"/>
          </a:xfrm>
          <a:prstGeom prst="rect">
            <a:avLst/>
          </a:prstGeom>
          <a:noFill/>
          <a:ln w="9525">
            <a:noFill/>
          </a:ln>
        </p:spPr>
        <p:txBody>
          <a:bodyPr>
            <a:spAutoFit/>
          </a:bodyPr>
          <a:lstStyle/>
          <a:p>
            <a:pPr algn="just"/>
            <a:r>
              <a:rPr lang="zh-CN" altLang="en-US" b="1" dirty="0">
                <a:solidFill>
                  <a:srgbClr val="FF3300"/>
                </a:solidFill>
                <a:latin typeface="楷体_GB2312" pitchFamily="49" charset="-122"/>
                <a:ea typeface="楷体_GB2312" pitchFamily="49" charset="-122"/>
              </a:rPr>
              <a:t>　</a:t>
            </a:r>
            <a:r>
              <a:rPr lang="zh-CN" altLang="en-US" b="1" dirty="0">
                <a:solidFill>
                  <a:srgbClr val="0000FF"/>
                </a:solidFill>
                <a:latin typeface="楷体_GB2312" pitchFamily="49" charset="-122"/>
                <a:ea typeface="楷体_GB2312" pitchFamily="49" charset="-122"/>
              </a:rPr>
              <a:t>注意：</a:t>
            </a:r>
            <a:endParaRPr lang="zh-CN" altLang="en-US" b="1" dirty="0">
              <a:solidFill>
                <a:srgbClr val="0000FF"/>
              </a:solidFill>
              <a:latin typeface="楷体_GB2312" pitchFamily="49" charset="-122"/>
              <a:ea typeface="楷体_GB2312" pitchFamily="49" charset="-122"/>
            </a:endParaRPr>
          </a:p>
        </p:txBody>
      </p:sp>
      <p:sp>
        <p:nvSpPr>
          <p:cNvPr id="71719" name="矩形 71718"/>
          <p:cNvSpPr/>
          <p:nvPr/>
        </p:nvSpPr>
        <p:spPr>
          <a:xfrm>
            <a:off x="228600" y="3933056"/>
            <a:ext cx="8915400" cy="1335088"/>
          </a:xfrm>
          <a:prstGeom prst="rect">
            <a:avLst/>
          </a:prstGeom>
          <a:noFill/>
          <a:ln w="9525">
            <a:noFill/>
          </a:ln>
        </p:spPr>
        <p:txBody>
          <a:bodyPr>
            <a:spAutoFit/>
          </a:bodyPr>
          <a:lstStyle/>
          <a:p>
            <a:pPr algn="l">
              <a:lnSpc>
                <a:spcPct val="110000"/>
              </a:lnSpc>
              <a:spcBef>
                <a:spcPct val="5000"/>
              </a:spcBef>
              <a:buClr>
                <a:srgbClr val="006600"/>
              </a:buClr>
              <a:buFont typeface="Wingdings" panose="05000000000000000000" pitchFamily="2" charset="2"/>
              <a:buChar char="Ø"/>
            </a:pPr>
            <a:r>
              <a:rPr lang="en-US" altLang="zh-CN" b="1" dirty="0">
                <a:solidFill>
                  <a:srgbClr val="CC0000"/>
                </a:solidFill>
                <a:latin typeface="Times New Roman" panose="02020603050405020304" pitchFamily="18" charset="0"/>
              </a:rPr>
              <a:t>   </a:t>
            </a:r>
            <a:r>
              <a:rPr lang="zh-CN" altLang="en-US" b="1" dirty="0">
                <a:solidFill>
                  <a:srgbClr val="CC0000"/>
                </a:solidFill>
                <a:latin typeface="Times New Roman" panose="02020603050405020304" pitchFamily="18" charset="0"/>
              </a:rPr>
              <a:t>对闭式软齿面齿轮传动 </a:t>
            </a:r>
            <a:r>
              <a:rPr lang="en-US" altLang="zh-CN" b="1" dirty="0">
                <a:solidFill>
                  <a:srgbClr val="CC0000"/>
                </a:solidFill>
                <a:latin typeface="Times New Roman" panose="02020603050405020304" pitchFamily="18" charset="0"/>
              </a:rPr>
              <a:t>(</a:t>
            </a:r>
            <a:r>
              <a:rPr lang="zh-CN" altLang="en-US" b="1" dirty="0">
                <a:solidFill>
                  <a:srgbClr val="CC0000"/>
                </a:solidFill>
                <a:latin typeface="Times New Roman" panose="02020603050405020304" pitchFamily="18" charset="0"/>
              </a:rPr>
              <a:t>配对齿轮之一的硬度</a:t>
            </a:r>
            <a:r>
              <a:rPr lang="en-US" altLang="zh-CN" b="1" dirty="0">
                <a:solidFill>
                  <a:srgbClr val="CC0000"/>
                </a:solidFill>
                <a:latin typeface="Times New Roman" panose="02020603050405020304" pitchFamily="18" charset="0"/>
              </a:rPr>
              <a:t>≤350HBS),</a:t>
            </a:r>
            <a:r>
              <a:rPr lang="en-US" altLang="zh-CN" b="1" dirty="0">
                <a:solidFill>
                  <a:srgbClr val="000000"/>
                </a:solidFill>
                <a:latin typeface="Times New Roman" panose="02020603050405020304" pitchFamily="18" charset="0"/>
              </a:rPr>
              <a:t>  </a:t>
            </a:r>
            <a:endParaRPr lang="en-US" altLang="zh-CN" b="1" dirty="0">
              <a:solidFill>
                <a:srgbClr val="000000"/>
              </a:solidFill>
              <a:latin typeface="Times New Roman" panose="02020603050405020304" pitchFamily="18" charset="0"/>
            </a:endParaRPr>
          </a:p>
          <a:p>
            <a:pPr algn="l">
              <a:lnSpc>
                <a:spcPct val="110000"/>
              </a:lnSpc>
              <a:spcBef>
                <a:spcPct val="5000"/>
              </a:spcBef>
              <a:buFont typeface="Wingdings" panose="05000000000000000000" pitchFamily="2" charset="2"/>
            </a:pPr>
            <a:r>
              <a:rPr lang="en-US" altLang="zh-CN" dirty="0">
                <a:solidFill>
                  <a:srgbClr val="000000"/>
                </a:solidFill>
                <a:latin typeface="Times New Roman" panose="02020603050405020304" pitchFamily="18" charset="0"/>
              </a:rPr>
              <a:t>           </a:t>
            </a:r>
            <a:r>
              <a:rPr lang="zh-CN" altLang="en-US" dirty="0">
                <a:solidFill>
                  <a:srgbClr val="000000"/>
                </a:solidFill>
                <a:latin typeface="Times New Roman" panose="02020603050405020304" pitchFamily="18" charset="0"/>
              </a:rPr>
              <a:t>最常出现：齿面疲劳点蚀</a:t>
            </a:r>
            <a:endParaRPr lang="zh-CN" altLang="en-US" b="1" dirty="0">
              <a:solidFill>
                <a:srgbClr val="000000"/>
              </a:solidFill>
              <a:latin typeface="Times New Roman" panose="02020603050405020304" pitchFamily="18" charset="0"/>
            </a:endParaRPr>
          </a:p>
          <a:p>
            <a:pPr algn="l">
              <a:lnSpc>
                <a:spcPct val="110000"/>
              </a:lnSpc>
              <a:spcBef>
                <a:spcPct val="5000"/>
              </a:spcBef>
            </a:pPr>
            <a:r>
              <a:rPr lang="zh-CN" altLang="en-US" b="1" dirty="0">
                <a:solidFill>
                  <a:srgbClr val="000000"/>
                </a:solidFill>
                <a:latin typeface="Times New Roman" panose="02020603050405020304" pitchFamily="18" charset="0"/>
              </a:rPr>
              <a:t>        </a:t>
            </a:r>
            <a:r>
              <a:rPr lang="zh-CN" altLang="en-US" dirty="0">
                <a:solidFill>
                  <a:srgbClr val="000000"/>
                </a:solidFill>
                <a:latin typeface="Times New Roman" panose="02020603050405020304" pitchFamily="18" charset="0"/>
              </a:rPr>
              <a:t>   </a:t>
            </a:r>
            <a:r>
              <a:rPr lang="zh-CN" altLang="en-US" b="1" dirty="0">
                <a:solidFill>
                  <a:schemeClr val="tx2"/>
                </a:solidFill>
                <a:latin typeface="Times New Roman" panose="02020603050405020304" pitchFamily="18" charset="0"/>
              </a:rPr>
              <a:t>先按齿面接触强度进行设计，然后校核齿根弯曲强度</a:t>
            </a:r>
            <a:endParaRPr lang="zh-CN" altLang="en-US" b="1" dirty="0">
              <a:solidFill>
                <a:schemeClr val="tx2"/>
              </a:solidFill>
              <a:latin typeface="Times New Roman" panose="02020603050405020304" pitchFamily="18" charset="0"/>
            </a:endParaRPr>
          </a:p>
        </p:txBody>
      </p:sp>
      <p:sp>
        <p:nvSpPr>
          <p:cNvPr id="71720" name="矩形 71719"/>
          <p:cNvSpPr/>
          <p:nvPr/>
        </p:nvSpPr>
        <p:spPr>
          <a:xfrm>
            <a:off x="337255" y="5229200"/>
            <a:ext cx="8839200" cy="1335088"/>
          </a:xfrm>
          <a:prstGeom prst="rect">
            <a:avLst/>
          </a:prstGeom>
          <a:noFill/>
          <a:ln w="9525">
            <a:noFill/>
          </a:ln>
        </p:spPr>
        <p:txBody>
          <a:bodyPr>
            <a:spAutoFit/>
          </a:bodyPr>
          <a:lstStyle/>
          <a:p>
            <a:pPr algn="l">
              <a:lnSpc>
                <a:spcPct val="110000"/>
              </a:lnSpc>
              <a:spcBef>
                <a:spcPct val="5000"/>
              </a:spcBef>
              <a:buClr>
                <a:srgbClr val="006600"/>
              </a:buClr>
              <a:buFont typeface="Wingdings" panose="05000000000000000000" pitchFamily="2" charset="2"/>
              <a:buChar char="Ø"/>
            </a:pPr>
            <a:r>
              <a:rPr lang="en-US" altLang="zh-CN" b="1" dirty="0">
                <a:solidFill>
                  <a:srgbClr val="CC0000"/>
                </a:solidFill>
                <a:latin typeface="Times New Roman" panose="02020603050405020304" pitchFamily="18" charset="0"/>
              </a:rPr>
              <a:t>    </a:t>
            </a:r>
            <a:r>
              <a:rPr lang="zh-CN" altLang="en-US" b="1" dirty="0">
                <a:solidFill>
                  <a:srgbClr val="CC0000"/>
                </a:solidFill>
                <a:latin typeface="Times New Roman" panose="02020603050405020304" pitchFamily="18" charset="0"/>
              </a:rPr>
              <a:t>对闭式硬齿面齿轮传动（配对齿轮的硬度均</a:t>
            </a:r>
            <a:r>
              <a:rPr lang="en-US" altLang="zh-CN" b="1" dirty="0">
                <a:solidFill>
                  <a:srgbClr val="CC0000"/>
                </a:solidFill>
                <a:latin typeface="Times New Roman" panose="02020603050405020304" pitchFamily="18" charset="0"/>
              </a:rPr>
              <a:t>&gt;350HBS</a:t>
            </a:r>
            <a:r>
              <a:rPr lang="zh-CN" altLang="en-US" b="1" dirty="0">
                <a:solidFill>
                  <a:srgbClr val="CC0000"/>
                </a:solidFill>
                <a:latin typeface="Times New Roman" panose="02020603050405020304" pitchFamily="18" charset="0"/>
              </a:rPr>
              <a:t>），</a:t>
            </a:r>
            <a:endParaRPr lang="zh-CN" altLang="en-US" b="1" dirty="0">
              <a:solidFill>
                <a:srgbClr val="CC0000"/>
              </a:solidFill>
              <a:latin typeface="Times New Roman" panose="02020603050405020304" pitchFamily="18" charset="0"/>
            </a:endParaRPr>
          </a:p>
          <a:p>
            <a:pPr algn="l">
              <a:lnSpc>
                <a:spcPct val="110000"/>
              </a:lnSpc>
              <a:spcBef>
                <a:spcPct val="5000"/>
              </a:spcBef>
            </a:pPr>
            <a:r>
              <a:rPr lang="zh-CN" altLang="en-US" dirty="0">
                <a:solidFill>
                  <a:srgbClr val="000000"/>
                </a:solidFill>
                <a:latin typeface="Times New Roman" panose="02020603050405020304" pitchFamily="18" charset="0"/>
              </a:rPr>
              <a:t>          最常出现：轮齿折断</a:t>
            </a:r>
            <a:endParaRPr lang="zh-CN" altLang="en-US" dirty="0">
              <a:solidFill>
                <a:srgbClr val="000000"/>
              </a:solidFill>
              <a:latin typeface="Times New Roman" panose="02020603050405020304" pitchFamily="18" charset="0"/>
            </a:endParaRPr>
          </a:p>
          <a:p>
            <a:pPr algn="l">
              <a:lnSpc>
                <a:spcPct val="110000"/>
              </a:lnSpc>
              <a:spcBef>
                <a:spcPct val="5000"/>
              </a:spcBef>
            </a:pPr>
            <a:r>
              <a:rPr lang="zh-CN" altLang="en-US" dirty="0">
                <a:solidFill>
                  <a:srgbClr val="000000"/>
                </a:solidFill>
                <a:latin typeface="Times New Roman" panose="02020603050405020304" pitchFamily="18" charset="0"/>
              </a:rPr>
              <a:t>          </a:t>
            </a:r>
            <a:r>
              <a:rPr lang="zh-CN" altLang="en-US" b="1" dirty="0">
                <a:solidFill>
                  <a:schemeClr val="tx2"/>
                </a:solidFill>
                <a:latin typeface="Times New Roman" panose="02020603050405020304" pitchFamily="18" charset="0"/>
              </a:rPr>
              <a:t>先按齿根弯曲强度进行设计，然后校核齿面接触强度</a:t>
            </a:r>
            <a:endParaRPr lang="zh-CN" altLang="en-US" b="1" dirty="0">
              <a:solidFill>
                <a:schemeClr val="tx2"/>
              </a:solidFill>
              <a:latin typeface="Times New Roman" panose="02020603050405020304" pitchFamily="18" charset="0"/>
            </a:endParaRPr>
          </a:p>
        </p:txBody>
      </p:sp>
      <p:sp>
        <p:nvSpPr>
          <p:cNvPr id="16" name="文本框 15"/>
          <p:cNvSpPr txBox="1"/>
          <p:nvPr/>
        </p:nvSpPr>
        <p:spPr>
          <a:xfrm>
            <a:off x="323528" y="116632"/>
            <a:ext cx="8915400" cy="460375"/>
          </a:xfrm>
          <a:prstGeom prst="rect">
            <a:avLst/>
          </a:prstGeom>
          <a:noFill/>
          <a:ln w="9525">
            <a:noFill/>
          </a:ln>
        </p:spPr>
        <p:txBody>
          <a:bodyPr>
            <a:spAutoFit/>
          </a:bodyPr>
          <a:lstStyle/>
          <a:p>
            <a:pPr algn="l">
              <a:spcBef>
                <a:spcPct val="50000"/>
              </a:spcBef>
            </a:pPr>
            <a:r>
              <a:rPr lang="en-US" altLang="zh-CN" b="1" dirty="0">
                <a:solidFill>
                  <a:srgbClr val="A02904"/>
                </a:solidFill>
                <a:latin typeface="楷体_GB2312" pitchFamily="49" charset="-122"/>
                <a:ea typeface="楷体_GB2312" pitchFamily="49" charset="-122"/>
              </a:rPr>
              <a:t>4</a:t>
            </a:r>
            <a:r>
              <a:rPr lang="zh-CN" altLang="en-US" b="1" dirty="0">
                <a:solidFill>
                  <a:srgbClr val="A02904"/>
                </a:solidFill>
                <a:latin typeface="楷体_GB2312" pitchFamily="49" charset="-122"/>
                <a:ea typeface="楷体_GB2312" pitchFamily="49" charset="-122"/>
              </a:rPr>
              <a:t>、传动件的设计计算</a:t>
            </a:r>
            <a:endParaRPr lang="zh-CN" altLang="en-US" b="1" dirty="0">
              <a:solidFill>
                <a:srgbClr val="000000"/>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04"/>
                                        </p:tgtEl>
                                        <p:attrNameLst>
                                          <p:attrName>style.visibility</p:attrName>
                                        </p:attrNameLst>
                                      </p:cBhvr>
                                      <p:to>
                                        <p:strVal val="visible"/>
                                      </p:to>
                                    </p:set>
                                    <p:animEffect transition="in" filter="blinds(horizontal)">
                                      <p:cBhvr>
                                        <p:cTn id="7" dur="500"/>
                                        <p:tgtEl>
                                          <p:spTgt spid="7170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1703"/>
                                        </p:tgtEl>
                                        <p:attrNameLst>
                                          <p:attrName>style.visibility</p:attrName>
                                        </p:attrNameLst>
                                      </p:cBhvr>
                                      <p:to>
                                        <p:strVal val="visible"/>
                                      </p:to>
                                    </p:set>
                                    <p:anim calcmode="lin" valueType="num">
                                      <p:cBhvr additive="base">
                                        <p:cTn id="12" dur="500" fill="hold"/>
                                        <p:tgtEl>
                                          <p:spTgt spid="71703"/>
                                        </p:tgtEl>
                                        <p:attrNameLst>
                                          <p:attrName>ppt_x</p:attrName>
                                        </p:attrNameLst>
                                      </p:cBhvr>
                                      <p:tavLst>
                                        <p:tav tm="0">
                                          <p:val>
                                            <p:strVal val="0-#ppt_w/2"/>
                                          </p:val>
                                        </p:tav>
                                        <p:tav tm="100000">
                                          <p:val>
                                            <p:strVal val="#ppt_x"/>
                                          </p:val>
                                        </p:tav>
                                      </p:tavLst>
                                    </p:anim>
                                    <p:anim calcmode="lin" valueType="num">
                                      <p:cBhvr additive="base">
                                        <p:cTn id="13" dur="500" fill="hold"/>
                                        <p:tgtEl>
                                          <p:spTgt spid="7170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1719">
                                            <p:txEl>
                                              <p:pRg st="0" end="0"/>
                                            </p:txEl>
                                          </p:spTgt>
                                        </p:tgtEl>
                                        <p:attrNameLst>
                                          <p:attrName>style.visibility</p:attrName>
                                        </p:attrNameLst>
                                      </p:cBhvr>
                                      <p:to>
                                        <p:strVal val="visible"/>
                                      </p:to>
                                    </p:set>
                                    <p:animEffect transition="in" filter="blinds(horizontal)">
                                      <p:cBhvr>
                                        <p:cTn id="18" dur="500"/>
                                        <p:tgtEl>
                                          <p:spTgt spid="71719">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1719">
                                            <p:txEl>
                                              <p:pRg st="1" end="1"/>
                                            </p:txEl>
                                          </p:spTgt>
                                        </p:tgtEl>
                                        <p:attrNameLst>
                                          <p:attrName>style.visibility</p:attrName>
                                        </p:attrNameLst>
                                      </p:cBhvr>
                                      <p:to>
                                        <p:strVal val="visible"/>
                                      </p:to>
                                    </p:set>
                                    <p:animEffect transition="in" filter="blinds(horizontal)">
                                      <p:cBhvr>
                                        <p:cTn id="23" dur="500"/>
                                        <p:tgtEl>
                                          <p:spTgt spid="71719">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1719">
                                            <p:txEl>
                                              <p:pRg st="2" end="2"/>
                                            </p:txEl>
                                          </p:spTgt>
                                        </p:tgtEl>
                                        <p:attrNameLst>
                                          <p:attrName>style.visibility</p:attrName>
                                        </p:attrNameLst>
                                      </p:cBhvr>
                                      <p:to>
                                        <p:strVal val="visible"/>
                                      </p:to>
                                    </p:set>
                                    <p:animEffect transition="in" filter="blinds(horizontal)">
                                      <p:cBhvr>
                                        <p:cTn id="28" dur="500"/>
                                        <p:tgtEl>
                                          <p:spTgt spid="71719">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71720">
                                            <p:txEl>
                                              <p:pRg st="0" end="0"/>
                                            </p:txEl>
                                          </p:spTgt>
                                        </p:tgtEl>
                                        <p:attrNameLst>
                                          <p:attrName>style.visibility</p:attrName>
                                        </p:attrNameLst>
                                      </p:cBhvr>
                                      <p:to>
                                        <p:strVal val="visible"/>
                                      </p:to>
                                    </p:set>
                                    <p:animEffect transition="in" filter="checkerboard(across)">
                                      <p:cBhvr>
                                        <p:cTn id="33" dur="500"/>
                                        <p:tgtEl>
                                          <p:spTgt spid="71720">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71720">
                                            <p:txEl>
                                              <p:pRg st="1" end="1"/>
                                            </p:txEl>
                                          </p:spTgt>
                                        </p:tgtEl>
                                        <p:attrNameLst>
                                          <p:attrName>style.visibility</p:attrName>
                                        </p:attrNameLst>
                                      </p:cBhvr>
                                      <p:to>
                                        <p:strVal val="visible"/>
                                      </p:to>
                                    </p:set>
                                    <p:animEffect transition="in" filter="checkerboard(across)">
                                      <p:cBhvr>
                                        <p:cTn id="38" dur="500"/>
                                        <p:tgtEl>
                                          <p:spTgt spid="71720">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71720">
                                            <p:txEl>
                                              <p:pRg st="2" end="2"/>
                                            </p:txEl>
                                          </p:spTgt>
                                        </p:tgtEl>
                                        <p:attrNameLst>
                                          <p:attrName>style.visibility</p:attrName>
                                        </p:attrNameLst>
                                      </p:cBhvr>
                                      <p:to>
                                        <p:strVal val="visible"/>
                                      </p:to>
                                    </p:set>
                                    <p:animEffect transition="in" filter="checkerboard(across)">
                                      <p:cBhvr>
                                        <p:cTn id="43" dur="500"/>
                                        <p:tgtEl>
                                          <p:spTgt spid="717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3" grpId="0"/>
      <p:bldP spid="71704" grpId="0"/>
      <p:bldP spid="71719" grpId="0" build="p"/>
      <p:bldP spid="7172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直接连接符 89089"/>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89091" name="文本框 89090"/>
          <p:cNvSpPr txBox="1"/>
          <p:nvPr/>
        </p:nvSpPr>
        <p:spPr>
          <a:xfrm>
            <a:off x="381000" y="762000"/>
            <a:ext cx="8991600" cy="457200"/>
          </a:xfrm>
          <a:prstGeom prst="rect">
            <a:avLst/>
          </a:prstGeom>
          <a:noFill/>
          <a:ln w="9525">
            <a:noFill/>
          </a:ln>
        </p:spPr>
        <p:txBody>
          <a:bodyPr>
            <a:spAutoFit/>
          </a:bodyPr>
          <a:lstStyle/>
          <a:p>
            <a:pPr algn="just"/>
            <a:r>
              <a:rPr lang="zh-CN" altLang="en-US" b="1">
                <a:solidFill>
                  <a:srgbClr val="FF3300"/>
                </a:solidFill>
                <a:latin typeface="楷体_GB2312" pitchFamily="49" charset="-122"/>
                <a:ea typeface="楷体_GB2312" pitchFamily="49" charset="-122"/>
              </a:rPr>
              <a:t>　</a:t>
            </a:r>
            <a:endParaRPr lang="zh-CN" altLang="en-US" sz="2800">
              <a:latin typeface="Times New Roman" panose="02020603050405020304" pitchFamily="18" charset="0"/>
            </a:endParaRPr>
          </a:p>
        </p:txBody>
      </p:sp>
      <p:sp>
        <p:nvSpPr>
          <p:cNvPr id="89095" name="矩形 89094"/>
          <p:cNvSpPr/>
          <p:nvPr/>
        </p:nvSpPr>
        <p:spPr>
          <a:xfrm>
            <a:off x="609600" y="3962400"/>
            <a:ext cx="8208963" cy="457200"/>
          </a:xfrm>
          <a:prstGeom prst="rect">
            <a:avLst/>
          </a:prstGeom>
          <a:noFill/>
          <a:ln w="9525">
            <a:noFill/>
          </a:ln>
        </p:spPr>
        <p:txBody>
          <a:bodyPr>
            <a:spAutoFit/>
          </a:bodyPr>
          <a:lstStyle/>
          <a:p>
            <a:pPr algn="l"/>
            <a:r>
              <a:rPr lang="zh-CN" altLang="en-US" b="1" dirty="0">
                <a:solidFill>
                  <a:srgbClr val="000000"/>
                </a:solidFill>
                <a:latin typeface="楷体_GB2312" pitchFamily="49" charset="-122"/>
                <a:ea typeface="楷体_GB2312" pitchFamily="49" charset="-122"/>
              </a:rPr>
              <a:t>齿宽</a:t>
            </a:r>
            <a:r>
              <a:rPr lang="en-US" altLang="zh-CN" b="1" i="1">
                <a:solidFill>
                  <a:srgbClr val="000000"/>
                </a:solidFill>
                <a:latin typeface="Times New Roman" panose="02020603050405020304" pitchFamily="18" charset="0"/>
                <a:ea typeface="楷体_GB2312" pitchFamily="49" charset="-122"/>
              </a:rPr>
              <a:t>b——</a:t>
            </a:r>
            <a:r>
              <a:rPr lang="zh-CN" altLang="en-US" b="1" dirty="0">
                <a:solidFill>
                  <a:srgbClr val="000000"/>
                </a:solidFill>
                <a:latin typeface="Times New Roman" panose="02020603050405020304" pitchFamily="18" charset="0"/>
                <a:ea typeface="楷体_GB2312" pitchFamily="49" charset="-122"/>
              </a:rPr>
              <a:t>取整，</a:t>
            </a:r>
            <a:r>
              <a:rPr lang="en-US" altLang="zh-CN" b="1">
                <a:solidFill>
                  <a:srgbClr val="000000"/>
                </a:solidFill>
                <a:latin typeface="Times New Roman" panose="02020603050405020304" pitchFamily="18" charset="0"/>
                <a:ea typeface="楷体_GB2312" pitchFamily="49" charset="-122"/>
              </a:rPr>
              <a:t>b</a:t>
            </a:r>
            <a:r>
              <a:rPr lang="en-US" altLang="zh-CN" b="1" baseline="-25000">
                <a:solidFill>
                  <a:srgbClr val="000000"/>
                </a:solidFill>
                <a:latin typeface="Times New Roman" panose="02020603050405020304" pitchFamily="18" charset="0"/>
                <a:ea typeface="楷体_GB2312" pitchFamily="49" charset="-122"/>
              </a:rPr>
              <a:t>1</a:t>
            </a:r>
            <a:r>
              <a:rPr lang="en-US" altLang="zh-CN" b="1">
                <a:solidFill>
                  <a:srgbClr val="000000"/>
                </a:solidFill>
                <a:latin typeface="Times New Roman" panose="02020603050405020304" pitchFamily="18" charset="0"/>
                <a:ea typeface="楷体_GB2312" pitchFamily="49" charset="-122"/>
              </a:rPr>
              <a:t> = b</a:t>
            </a:r>
            <a:r>
              <a:rPr lang="en-US" altLang="zh-CN" b="1" baseline="-25000">
                <a:solidFill>
                  <a:srgbClr val="000000"/>
                </a:solidFill>
                <a:latin typeface="Times New Roman" panose="02020603050405020304" pitchFamily="18" charset="0"/>
                <a:ea typeface="楷体_GB2312" pitchFamily="49" charset="-122"/>
              </a:rPr>
              <a:t>2</a:t>
            </a:r>
            <a:r>
              <a:rPr lang="en-US" altLang="zh-CN" b="1">
                <a:solidFill>
                  <a:srgbClr val="000000"/>
                </a:solidFill>
                <a:latin typeface="Times New Roman" panose="02020603050405020304" pitchFamily="18" charset="0"/>
                <a:ea typeface="楷体_GB2312" pitchFamily="49" charset="-122"/>
              </a:rPr>
              <a:t> + (5</a:t>
            </a:r>
            <a:r>
              <a:rPr lang="zh-CN" altLang="en-US" b="1">
                <a:solidFill>
                  <a:srgbClr val="000000"/>
                </a:solidFill>
                <a:latin typeface="Times New Roman" panose="02020603050405020304" pitchFamily="18" charset="0"/>
                <a:ea typeface="楷体_GB2312" pitchFamily="49" charset="-122"/>
              </a:rPr>
              <a:t>～ </a:t>
            </a:r>
            <a:r>
              <a:rPr lang="en-US" altLang="zh-CN" b="1">
                <a:solidFill>
                  <a:srgbClr val="000000"/>
                </a:solidFill>
                <a:latin typeface="Times New Roman" panose="02020603050405020304" pitchFamily="18" charset="0"/>
                <a:ea typeface="楷体_GB2312" pitchFamily="49" charset="-122"/>
              </a:rPr>
              <a:t>10) mm</a:t>
            </a:r>
            <a:r>
              <a:rPr lang="zh-CN" altLang="en-US" b="1">
                <a:solidFill>
                  <a:srgbClr val="000000"/>
                </a:solidFill>
                <a:latin typeface="Times New Roman" panose="02020603050405020304" pitchFamily="18" charset="0"/>
                <a:ea typeface="楷体_GB2312" pitchFamily="49" charset="-122"/>
              </a:rPr>
              <a:t>； </a:t>
            </a:r>
            <a:endParaRPr lang="zh-CN" altLang="en-US" b="1">
              <a:solidFill>
                <a:srgbClr val="000000"/>
              </a:solidFill>
              <a:latin typeface="Times New Roman" panose="02020603050405020304" pitchFamily="18" charset="0"/>
              <a:ea typeface="楷体_GB2312" pitchFamily="49" charset="-122"/>
            </a:endParaRPr>
          </a:p>
        </p:txBody>
      </p:sp>
      <p:sp>
        <p:nvSpPr>
          <p:cNvPr id="89096" name="矩形 89095"/>
          <p:cNvSpPr/>
          <p:nvPr/>
        </p:nvSpPr>
        <p:spPr>
          <a:xfrm>
            <a:off x="609600" y="4648200"/>
            <a:ext cx="6340475" cy="457200"/>
          </a:xfrm>
          <a:prstGeom prst="rect">
            <a:avLst/>
          </a:prstGeom>
          <a:noFill/>
          <a:ln w="9525">
            <a:noFill/>
          </a:ln>
        </p:spPr>
        <p:txBody>
          <a:bodyPr wrap="none" anchor="t">
            <a:spAutoFit/>
          </a:bodyPr>
          <a:lstStyle/>
          <a:p>
            <a:pPr algn="l"/>
            <a:r>
              <a:rPr lang="zh-CN" altLang="en-US" b="1" dirty="0">
                <a:solidFill>
                  <a:srgbClr val="000000"/>
                </a:solidFill>
                <a:latin typeface="楷体_GB2312" pitchFamily="49" charset="-122"/>
                <a:ea typeface="楷体_GB2312" pitchFamily="49" charset="-122"/>
              </a:rPr>
              <a:t>直径</a:t>
            </a:r>
            <a:r>
              <a:rPr lang="en-US" altLang="zh-CN" b="1" i="1">
                <a:solidFill>
                  <a:srgbClr val="000000"/>
                </a:solidFill>
                <a:latin typeface="Times New Roman" panose="02020603050405020304" pitchFamily="18" charset="0"/>
                <a:ea typeface="楷体_GB2312" pitchFamily="49" charset="-122"/>
              </a:rPr>
              <a:t>d</a:t>
            </a:r>
            <a:r>
              <a:rPr lang="en-US" altLang="zh-CN" b="1">
                <a:solidFill>
                  <a:srgbClr val="000000"/>
                </a:solidFill>
                <a:latin typeface="楷体_GB2312" pitchFamily="49" charset="-122"/>
                <a:ea typeface="楷体_GB2312" pitchFamily="49" charset="-122"/>
              </a:rPr>
              <a:t> </a:t>
            </a:r>
            <a:r>
              <a:rPr lang="zh-CN" altLang="en-US" b="1">
                <a:solidFill>
                  <a:srgbClr val="000000"/>
                </a:solidFill>
                <a:latin typeface="楷体_GB2312" pitchFamily="49" charset="-122"/>
                <a:ea typeface="楷体_GB2312" pitchFamily="49" charset="-122"/>
              </a:rPr>
              <a:t>、 </a:t>
            </a:r>
            <a:r>
              <a:rPr lang="en-US" altLang="zh-CN" b="1" i="1" err="1">
                <a:solidFill>
                  <a:srgbClr val="000000"/>
                </a:solidFill>
                <a:latin typeface="Times New Roman" panose="02020603050405020304" pitchFamily="18" charset="0"/>
                <a:ea typeface="楷体_GB2312" pitchFamily="49" charset="-122"/>
              </a:rPr>
              <a:t>d</a:t>
            </a:r>
            <a:r>
              <a:rPr lang="en-US" altLang="zh-CN" b="1" baseline="-25000" err="1">
                <a:solidFill>
                  <a:srgbClr val="000000"/>
                </a:solidFill>
                <a:latin typeface="Times New Roman" panose="02020603050405020304" pitchFamily="18" charset="0"/>
                <a:ea typeface="楷体_GB2312" pitchFamily="49" charset="-122"/>
              </a:rPr>
              <a:t>a</a:t>
            </a:r>
            <a:r>
              <a:rPr lang="en-US" altLang="zh-CN" b="1">
                <a:solidFill>
                  <a:srgbClr val="000000"/>
                </a:solidFill>
                <a:latin typeface="楷体_GB2312" pitchFamily="49" charset="-122"/>
                <a:ea typeface="楷体_GB2312" pitchFamily="49" charset="-122"/>
              </a:rPr>
              <a:t> </a:t>
            </a:r>
            <a:r>
              <a:rPr lang="zh-CN" altLang="en-US" b="1">
                <a:solidFill>
                  <a:srgbClr val="000000"/>
                </a:solidFill>
                <a:latin typeface="楷体_GB2312" pitchFamily="49" charset="-122"/>
                <a:ea typeface="楷体_GB2312" pitchFamily="49" charset="-122"/>
              </a:rPr>
              <a:t>、 </a:t>
            </a:r>
            <a:r>
              <a:rPr lang="en-US" altLang="zh-CN" b="1" i="1" err="1">
                <a:solidFill>
                  <a:srgbClr val="000000"/>
                </a:solidFill>
                <a:latin typeface="Times New Roman" panose="02020603050405020304" pitchFamily="18" charset="0"/>
                <a:ea typeface="楷体_GB2312" pitchFamily="49" charset="-122"/>
              </a:rPr>
              <a:t>d</a:t>
            </a:r>
            <a:r>
              <a:rPr lang="en-US" altLang="zh-CN" b="1" baseline="-25000" err="1">
                <a:solidFill>
                  <a:srgbClr val="000000"/>
                </a:solidFill>
                <a:latin typeface="Times New Roman" panose="02020603050405020304" pitchFamily="18" charset="0"/>
                <a:ea typeface="楷体_GB2312" pitchFamily="49" charset="-122"/>
              </a:rPr>
              <a:t>f</a:t>
            </a:r>
            <a:r>
              <a:rPr lang="en-US" altLang="zh-CN" b="1" dirty="0">
                <a:solidFill>
                  <a:srgbClr val="000000"/>
                </a:solidFill>
                <a:latin typeface="楷体_GB2312" pitchFamily="49" charset="-122"/>
                <a:ea typeface="楷体_GB2312" pitchFamily="49" charset="-122"/>
              </a:rPr>
              <a:t> </a:t>
            </a:r>
            <a:r>
              <a:rPr lang="zh-CN" altLang="en-US" b="1" dirty="0">
                <a:solidFill>
                  <a:srgbClr val="000000"/>
                </a:solidFill>
                <a:latin typeface="楷体_GB2312" pitchFamily="49" charset="-122"/>
                <a:ea typeface="楷体_GB2312" pitchFamily="49" charset="-122"/>
              </a:rPr>
              <a:t>，螺旋角</a:t>
            </a:r>
            <a:r>
              <a:rPr lang="en-US" altLang="zh-CN" b="1" i="1" dirty="0">
                <a:solidFill>
                  <a:srgbClr val="000000"/>
                </a:solidFill>
                <a:latin typeface="Times New Roman" panose="02020603050405020304" pitchFamily="18" charset="0"/>
                <a:ea typeface="楷体_GB2312" pitchFamily="49" charset="-122"/>
                <a:sym typeface="Symbol" panose="05050102010706020507" pitchFamily="18" charset="2"/>
              </a:rPr>
              <a:t></a:t>
            </a:r>
            <a:r>
              <a:rPr lang="en-US" altLang="zh-CN" b="1" i="1">
                <a:solidFill>
                  <a:srgbClr val="000000"/>
                </a:solidFill>
                <a:latin typeface="Times New Roman" panose="02020603050405020304" pitchFamily="18" charset="0"/>
                <a:ea typeface="楷体_GB2312" pitchFamily="49" charset="-122"/>
              </a:rPr>
              <a:t>——</a:t>
            </a:r>
            <a:r>
              <a:rPr lang="zh-CN" altLang="en-US" b="1" dirty="0">
                <a:solidFill>
                  <a:srgbClr val="000000"/>
                </a:solidFill>
                <a:latin typeface="Times New Roman" panose="02020603050405020304" pitchFamily="18" charset="0"/>
                <a:ea typeface="楷体_GB2312" pitchFamily="49" charset="-122"/>
              </a:rPr>
              <a:t>应为精确值</a:t>
            </a:r>
            <a:endParaRPr lang="zh-CN" altLang="en-US" b="1">
              <a:solidFill>
                <a:srgbClr val="000000"/>
              </a:solidFill>
              <a:latin typeface="Times New Roman" panose="02020603050405020304" pitchFamily="18" charset="0"/>
              <a:ea typeface="楷体_GB2312" pitchFamily="49" charset="-122"/>
            </a:endParaRPr>
          </a:p>
        </p:txBody>
      </p:sp>
      <p:sp>
        <p:nvSpPr>
          <p:cNvPr id="89099" name="文本框 89098"/>
          <p:cNvSpPr txBox="1"/>
          <p:nvPr/>
        </p:nvSpPr>
        <p:spPr>
          <a:xfrm>
            <a:off x="0" y="838200"/>
            <a:ext cx="9144000" cy="457200"/>
          </a:xfrm>
          <a:prstGeom prst="rect">
            <a:avLst/>
          </a:prstGeom>
          <a:noFill/>
          <a:ln w="9525">
            <a:noFill/>
          </a:ln>
        </p:spPr>
        <p:txBody>
          <a:bodyPr>
            <a:spAutoFit/>
          </a:bodyPr>
          <a:lstStyle/>
          <a:p>
            <a:pPr algn="l">
              <a:spcBef>
                <a:spcPct val="50000"/>
              </a:spcBef>
            </a:pPr>
            <a:r>
              <a:rPr lang="zh-CN" altLang="en-US" b="1" dirty="0">
                <a:solidFill>
                  <a:schemeClr val="accent2"/>
                </a:solidFill>
                <a:latin typeface="楷体_GB2312" pitchFamily="49" charset="-122"/>
                <a:ea typeface="楷体_GB2312" pitchFamily="49" charset="-122"/>
              </a:rPr>
              <a:t>（</a:t>
            </a:r>
            <a:r>
              <a:rPr lang="en-US" altLang="zh-CN" b="1" dirty="0">
                <a:solidFill>
                  <a:schemeClr val="accent2"/>
                </a:solidFill>
                <a:latin typeface="楷体_GB2312" pitchFamily="49" charset="-122"/>
                <a:ea typeface="楷体_GB2312" pitchFamily="49" charset="-122"/>
              </a:rPr>
              <a:t>2</a:t>
            </a:r>
            <a:r>
              <a:rPr lang="zh-CN" altLang="en-US" b="1" dirty="0">
                <a:solidFill>
                  <a:schemeClr val="accent2"/>
                </a:solidFill>
                <a:latin typeface="楷体_GB2312" pitchFamily="49" charset="-122"/>
                <a:ea typeface="楷体_GB2312" pitchFamily="49" charset="-122"/>
              </a:rPr>
              <a:t>）数据处理</a:t>
            </a:r>
            <a:endParaRPr lang="zh-CN" altLang="en-US" b="1">
              <a:solidFill>
                <a:schemeClr val="accent2"/>
              </a:solidFill>
              <a:latin typeface="楷体_GB2312" pitchFamily="49" charset="-122"/>
              <a:ea typeface="楷体_GB2312" pitchFamily="49" charset="-122"/>
            </a:endParaRPr>
          </a:p>
        </p:txBody>
      </p:sp>
      <p:sp>
        <p:nvSpPr>
          <p:cNvPr id="89100" name="矩形 89099"/>
          <p:cNvSpPr/>
          <p:nvPr/>
        </p:nvSpPr>
        <p:spPr>
          <a:xfrm>
            <a:off x="685800" y="1371600"/>
            <a:ext cx="5824538" cy="457200"/>
          </a:xfrm>
          <a:prstGeom prst="rect">
            <a:avLst/>
          </a:prstGeom>
          <a:noFill/>
          <a:ln w="9525">
            <a:noFill/>
          </a:ln>
        </p:spPr>
        <p:txBody>
          <a:bodyPr wrap="none" anchor="t">
            <a:spAutoFit/>
          </a:bodyPr>
          <a:lstStyle/>
          <a:p>
            <a:pPr algn="l"/>
            <a:r>
              <a:rPr lang="zh-CN" altLang="en-US" b="1" dirty="0">
                <a:solidFill>
                  <a:srgbClr val="000000"/>
                </a:solidFill>
                <a:latin typeface="楷体_GB2312" pitchFamily="49" charset="-122"/>
                <a:ea typeface="楷体_GB2312" pitchFamily="49" charset="-122"/>
              </a:rPr>
              <a:t>模数</a:t>
            </a:r>
            <a:r>
              <a:rPr lang="en-US" altLang="zh-CN" b="1" i="1">
                <a:solidFill>
                  <a:srgbClr val="000000"/>
                </a:solidFill>
                <a:latin typeface="Times New Roman" panose="02020603050405020304" pitchFamily="18" charset="0"/>
                <a:ea typeface="楷体_GB2312" pitchFamily="49" charset="-122"/>
              </a:rPr>
              <a:t>m——</a:t>
            </a:r>
            <a:r>
              <a:rPr lang="zh-CN" altLang="en-US" b="1" dirty="0">
                <a:solidFill>
                  <a:srgbClr val="000000"/>
                </a:solidFill>
                <a:latin typeface="Times New Roman" panose="02020603050405020304" pitchFamily="18" charset="0"/>
                <a:ea typeface="楷体_GB2312" pitchFamily="49" charset="-122"/>
              </a:rPr>
              <a:t>标准系列值，不小于 </a:t>
            </a:r>
            <a:r>
              <a:rPr lang="en-US" altLang="zh-CN" b="1">
                <a:solidFill>
                  <a:srgbClr val="000000"/>
                </a:solidFill>
                <a:latin typeface="Times New Roman" panose="02020603050405020304" pitchFamily="18" charset="0"/>
                <a:ea typeface="楷体_GB2312" pitchFamily="49" charset="-122"/>
              </a:rPr>
              <a:t>1.5mm </a:t>
            </a:r>
            <a:r>
              <a:rPr lang="zh-CN" altLang="en-US" b="1">
                <a:solidFill>
                  <a:srgbClr val="000000"/>
                </a:solidFill>
                <a:latin typeface="Times New Roman" panose="02020603050405020304" pitchFamily="18" charset="0"/>
              </a:rPr>
              <a:t>；</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89101" name="矩形 89100"/>
          <p:cNvSpPr/>
          <p:nvPr/>
        </p:nvSpPr>
        <p:spPr>
          <a:xfrm>
            <a:off x="685800" y="1828800"/>
            <a:ext cx="4008438" cy="457200"/>
          </a:xfrm>
          <a:prstGeom prst="rect">
            <a:avLst/>
          </a:prstGeom>
          <a:noFill/>
          <a:ln w="9525">
            <a:noFill/>
          </a:ln>
        </p:spPr>
        <p:txBody>
          <a:bodyPr wrap="none" anchor="t">
            <a:spAutoFit/>
          </a:bodyPr>
          <a:lstStyle/>
          <a:p>
            <a:pPr algn="l"/>
            <a:r>
              <a:rPr lang="zh-CN" altLang="en-US" b="1" dirty="0">
                <a:solidFill>
                  <a:srgbClr val="000000"/>
                </a:solidFill>
                <a:latin typeface="楷体_GB2312" pitchFamily="49" charset="-122"/>
                <a:ea typeface="楷体_GB2312" pitchFamily="49" charset="-122"/>
              </a:rPr>
              <a:t>中心距</a:t>
            </a:r>
            <a:r>
              <a:rPr lang="en-US" altLang="zh-CN" b="1" i="1">
                <a:solidFill>
                  <a:srgbClr val="000000"/>
                </a:solidFill>
                <a:latin typeface="Times New Roman" panose="02020603050405020304" pitchFamily="18" charset="0"/>
                <a:ea typeface="楷体_GB2312" pitchFamily="49" charset="-122"/>
              </a:rPr>
              <a:t>a——</a:t>
            </a:r>
            <a:r>
              <a:rPr lang="en-US" altLang="zh-CN" b="1" dirty="0">
                <a:solidFill>
                  <a:srgbClr val="000000"/>
                </a:solidFill>
                <a:latin typeface="Times New Roman" panose="02020603050405020304" pitchFamily="18" charset="0"/>
                <a:ea typeface="楷体_GB2312" pitchFamily="49" charset="-122"/>
              </a:rPr>
              <a:t>0</a:t>
            </a:r>
            <a:r>
              <a:rPr lang="zh-CN" altLang="en-US" b="1" dirty="0">
                <a:solidFill>
                  <a:srgbClr val="000000"/>
                </a:solidFill>
                <a:latin typeface="Times New Roman" panose="02020603050405020304" pitchFamily="18" charset="0"/>
                <a:ea typeface="楷体_GB2312" pitchFamily="49" charset="-122"/>
              </a:rPr>
              <a:t>或</a:t>
            </a:r>
            <a:r>
              <a:rPr lang="en-US" altLang="zh-CN" b="1" dirty="0">
                <a:solidFill>
                  <a:srgbClr val="000000"/>
                </a:solidFill>
                <a:latin typeface="Times New Roman" panose="02020603050405020304" pitchFamily="18" charset="0"/>
                <a:ea typeface="楷体_GB2312" pitchFamily="49" charset="-122"/>
              </a:rPr>
              <a:t>5</a:t>
            </a:r>
            <a:r>
              <a:rPr lang="zh-CN" altLang="en-US" b="1" dirty="0">
                <a:solidFill>
                  <a:srgbClr val="000000"/>
                </a:solidFill>
                <a:latin typeface="Times New Roman" panose="02020603050405020304" pitchFamily="18" charset="0"/>
                <a:ea typeface="楷体_GB2312" pitchFamily="49" charset="-122"/>
              </a:rPr>
              <a:t>结尾的整数</a:t>
            </a:r>
            <a:endParaRPr lang="zh-CN" altLang="en-US" b="1">
              <a:solidFill>
                <a:srgbClr val="000000"/>
              </a:solidFill>
              <a:latin typeface="Times New Roman" panose="02020603050405020304" pitchFamily="18" charset="0"/>
              <a:ea typeface="楷体_GB2312" pitchFamily="49" charset="-122"/>
            </a:endParaRPr>
          </a:p>
        </p:txBody>
      </p:sp>
      <p:grpSp>
        <p:nvGrpSpPr>
          <p:cNvPr id="89102" name="组合 89101"/>
          <p:cNvGrpSpPr/>
          <p:nvPr/>
        </p:nvGrpSpPr>
        <p:grpSpPr>
          <a:xfrm>
            <a:off x="1905000" y="2362200"/>
            <a:ext cx="5183188" cy="735013"/>
            <a:chOff x="1247" y="2208"/>
            <a:chExt cx="3265" cy="463"/>
          </a:xfrm>
        </p:grpSpPr>
        <p:sp>
          <p:nvSpPr>
            <p:cNvPr id="89103" name="文本框 89102"/>
            <p:cNvSpPr txBox="1"/>
            <p:nvPr/>
          </p:nvSpPr>
          <p:spPr>
            <a:xfrm>
              <a:off x="1247" y="2296"/>
              <a:ext cx="2401" cy="288"/>
            </a:xfrm>
            <a:prstGeom prst="rect">
              <a:avLst/>
            </a:prstGeom>
            <a:noFill/>
            <a:ln w="9525">
              <a:noFill/>
            </a:ln>
          </p:spPr>
          <p:txBody>
            <a:bodyPr>
              <a:spAutoFit/>
            </a:bodyPr>
            <a:lstStyle/>
            <a:p>
              <a:pPr algn="l">
                <a:spcBef>
                  <a:spcPct val="50000"/>
                </a:spcBef>
              </a:pPr>
              <a:r>
                <a:rPr lang="zh-CN" altLang="en-US" b="1" dirty="0">
                  <a:solidFill>
                    <a:srgbClr val="000000"/>
                  </a:solidFill>
                  <a:latin typeface="Times New Roman" panose="02020603050405020304" pitchFamily="18" charset="0"/>
                  <a:ea typeface="楷体_GB2312" pitchFamily="49" charset="-122"/>
                </a:rPr>
                <a:t>对于直齿轮， </a:t>
              </a:r>
              <a:r>
                <a:rPr lang="en-US" altLang="zh-CN" b="1" dirty="0">
                  <a:solidFill>
                    <a:srgbClr val="000000"/>
                  </a:solidFill>
                  <a:latin typeface="Times New Roman" panose="02020603050405020304" pitchFamily="18" charset="0"/>
                  <a:ea typeface="楷体_GB2312" pitchFamily="49" charset="-122"/>
                </a:rPr>
                <a:t>a</a:t>
              </a:r>
              <a:r>
                <a:rPr lang="zh-CN" altLang="en-US" b="1" dirty="0">
                  <a:solidFill>
                    <a:srgbClr val="000000"/>
                  </a:solidFill>
                  <a:latin typeface="Times New Roman" panose="02020603050405020304" pitchFamily="18" charset="0"/>
                  <a:ea typeface="楷体_GB2312" pitchFamily="49" charset="-122"/>
                </a:rPr>
                <a:t>应严格等于</a:t>
              </a:r>
              <a:endParaRPr lang="zh-CN" altLang="en-US" b="1">
                <a:solidFill>
                  <a:srgbClr val="000000"/>
                </a:solidFill>
                <a:latin typeface="Times New Roman" panose="02020603050405020304" pitchFamily="18" charset="0"/>
                <a:ea typeface="楷体_GB2312" pitchFamily="49" charset="-122"/>
              </a:endParaRPr>
            </a:p>
          </p:txBody>
        </p:sp>
        <p:graphicFrame>
          <p:nvGraphicFramePr>
            <p:cNvPr id="89104" name="对象 89103"/>
            <p:cNvGraphicFramePr/>
            <p:nvPr/>
          </p:nvGraphicFramePr>
          <p:xfrm>
            <a:off x="3600" y="2208"/>
            <a:ext cx="912" cy="463"/>
          </p:xfrm>
          <a:graphic>
            <a:graphicData uri="http://schemas.openxmlformats.org/presentationml/2006/ole">
              <mc:AlternateContent xmlns:mc="http://schemas.openxmlformats.org/markup-compatibility/2006">
                <mc:Choice xmlns:v="urn:schemas-microsoft-com:vml" Requires="v">
                  <p:oleObj spid="_x0000_s12361" name="" r:id="rId1" imgW="774065" imgH="393700" progId="Equation.3">
                    <p:embed/>
                  </p:oleObj>
                </mc:Choice>
                <mc:Fallback>
                  <p:oleObj name="" r:id="rId1" imgW="774065" imgH="393700" progId="Equation.3">
                    <p:embed/>
                    <p:pic>
                      <p:nvPicPr>
                        <p:cNvPr id="0" name="图片 3094"/>
                        <p:cNvPicPr/>
                        <p:nvPr/>
                      </p:nvPicPr>
                      <p:blipFill>
                        <a:blip r:embed="rId2"/>
                        <a:stretch>
                          <a:fillRect/>
                        </a:stretch>
                      </p:blipFill>
                      <p:spPr>
                        <a:xfrm>
                          <a:off x="3600" y="2208"/>
                          <a:ext cx="912" cy="463"/>
                        </a:xfrm>
                        <a:prstGeom prst="rect">
                          <a:avLst/>
                        </a:prstGeom>
                        <a:noFill/>
                        <a:ln w="38100">
                          <a:noFill/>
                          <a:miter/>
                        </a:ln>
                      </p:spPr>
                    </p:pic>
                  </p:oleObj>
                </mc:Fallback>
              </mc:AlternateContent>
            </a:graphicData>
          </a:graphic>
        </p:graphicFrame>
      </p:grpSp>
      <p:grpSp>
        <p:nvGrpSpPr>
          <p:cNvPr id="89105" name="组合 89104"/>
          <p:cNvGrpSpPr/>
          <p:nvPr/>
        </p:nvGrpSpPr>
        <p:grpSpPr>
          <a:xfrm>
            <a:off x="1908175" y="3048000"/>
            <a:ext cx="7235825" cy="676275"/>
            <a:chOff x="1202" y="2544"/>
            <a:chExt cx="4558" cy="426"/>
          </a:xfrm>
        </p:grpSpPr>
        <p:sp>
          <p:nvSpPr>
            <p:cNvPr id="89106" name="文本框 89105"/>
            <p:cNvSpPr txBox="1"/>
            <p:nvPr/>
          </p:nvSpPr>
          <p:spPr>
            <a:xfrm>
              <a:off x="1202" y="2640"/>
              <a:ext cx="4558" cy="288"/>
            </a:xfrm>
            <a:prstGeom prst="rect">
              <a:avLst/>
            </a:prstGeom>
            <a:noFill/>
            <a:ln w="9525">
              <a:noFill/>
            </a:ln>
          </p:spPr>
          <p:txBody>
            <a:bodyPr>
              <a:spAutoFit/>
            </a:bodyPr>
            <a:lstStyle/>
            <a:p>
              <a:pPr algn="l">
                <a:spcBef>
                  <a:spcPct val="50000"/>
                </a:spcBef>
              </a:pPr>
              <a:r>
                <a:rPr lang="zh-CN" altLang="en-US" b="1" dirty="0">
                  <a:solidFill>
                    <a:srgbClr val="000000"/>
                  </a:solidFill>
                  <a:latin typeface="Times New Roman" panose="02020603050405020304" pitchFamily="18" charset="0"/>
                  <a:ea typeface="楷体_GB2312" pitchFamily="49" charset="-122"/>
                </a:rPr>
                <a:t>对于斜齿轮， </a:t>
              </a:r>
              <a:r>
                <a:rPr lang="en-US" altLang="zh-CN" b="1" dirty="0">
                  <a:solidFill>
                    <a:srgbClr val="000000"/>
                  </a:solidFill>
                  <a:latin typeface="Times New Roman" panose="02020603050405020304" pitchFamily="18" charset="0"/>
                  <a:ea typeface="楷体_GB2312" pitchFamily="49" charset="-122"/>
                </a:rPr>
                <a:t>a</a:t>
              </a:r>
              <a:r>
                <a:rPr lang="zh-CN" altLang="en-US" b="1" dirty="0">
                  <a:solidFill>
                    <a:srgbClr val="000000"/>
                  </a:solidFill>
                  <a:latin typeface="Times New Roman" panose="02020603050405020304" pitchFamily="18" charset="0"/>
                  <a:ea typeface="楷体_GB2312" pitchFamily="49" charset="-122"/>
                </a:rPr>
                <a:t>应严格等于</a:t>
              </a:r>
              <a:endParaRPr lang="zh-CN" altLang="en-US" b="1">
                <a:solidFill>
                  <a:srgbClr val="000000"/>
                </a:solidFill>
                <a:latin typeface="Times New Roman" panose="02020603050405020304" pitchFamily="18" charset="0"/>
                <a:ea typeface="楷体_GB2312" pitchFamily="49" charset="-122"/>
              </a:endParaRPr>
            </a:p>
          </p:txBody>
        </p:sp>
        <p:graphicFrame>
          <p:nvGraphicFramePr>
            <p:cNvPr id="89107" name="对象 89106"/>
            <p:cNvGraphicFramePr/>
            <p:nvPr/>
          </p:nvGraphicFramePr>
          <p:xfrm>
            <a:off x="3546" y="2544"/>
            <a:ext cx="1020" cy="426"/>
          </p:xfrm>
          <a:graphic>
            <a:graphicData uri="http://schemas.openxmlformats.org/presentationml/2006/ole">
              <mc:AlternateContent xmlns:mc="http://schemas.openxmlformats.org/markup-compatibility/2006">
                <mc:Choice xmlns:v="urn:schemas-microsoft-com:vml" Requires="v">
                  <p:oleObj spid="_x0000_s12362" name="" r:id="rId3" imgW="1002665" imgH="419100" progId="Equation.DSMT4">
                    <p:embed/>
                  </p:oleObj>
                </mc:Choice>
                <mc:Fallback>
                  <p:oleObj name="" r:id="rId3" imgW="1002665" imgH="419100" progId="Equation.DSMT4">
                    <p:embed/>
                    <p:pic>
                      <p:nvPicPr>
                        <p:cNvPr id="0" name="图片 3095"/>
                        <p:cNvPicPr/>
                        <p:nvPr/>
                      </p:nvPicPr>
                      <p:blipFill>
                        <a:blip r:embed="rId4"/>
                        <a:stretch>
                          <a:fillRect/>
                        </a:stretch>
                      </p:blipFill>
                      <p:spPr>
                        <a:xfrm>
                          <a:off x="3546" y="2544"/>
                          <a:ext cx="1020" cy="426"/>
                        </a:xfrm>
                        <a:prstGeom prst="rect">
                          <a:avLst/>
                        </a:prstGeom>
                        <a:noFill/>
                        <a:ln w="38100">
                          <a:noFill/>
                          <a:miter/>
                        </a:ln>
                      </p:spPr>
                    </p:pic>
                  </p:oleObj>
                </mc:Fallback>
              </mc:AlternateContent>
            </a:graphicData>
          </a:graphic>
        </p:graphicFrame>
      </p:grpSp>
      <p:grpSp>
        <p:nvGrpSpPr>
          <p:cNvPr id="89108" name="组合 89107"/>
          <p:cNvGrpSpPr/>
          <p:nvPr/>
        </p:nvGrpSpPr>
        <p:grpSpPr>
          <a:xfrm>
            <a:off x="8115300" y="6515100"/>
            <a:ext cx="1028700" cy="342900"/>
            <a:chOff x="5112" y="4104"/>
            <a:chExt cx="648" cy="216"/>
          </a:xfrm>
        </p:grpSpPr>
        <p:pic>
          <p:nvPicPr>
            <p:cNvPr id="89109" name="图片 89108" descr="返回">
              <a:hlinkClick r:id="rId5" action="ppaction://hlinksldjump"/>
            </p:cNvPr>
            <p:cNvPicPr>
              <a:picLocks noChangeAspect="1"/>
            </p:cNvPicPr>
            <p:nvPr/>
          </p:nvPicPr>
          <p:blipFill>
            <a:blip r:embed="rId6"/>
            <a:stretch>
              <a:fillRect/>
            </a:stretch>
          </p:blipFill>
          <p:spPr>
            <a:xfrm>
              <a:off x="5112" y="4104"/>
              <a:ext cx="216" cy="216"/>
            </a:xfrm>
            <a:prstGeom prst="rect">
              <a:avLst/>
            </a:prstGeom>
            <a:noFill/>
            <a:ln w="9525">
              <a:noFill/>
            </a:ln>
          </p:spPr>
        </p:pic>
        <p:grpSp>
          <p:nvGrpSpPr>
            <p:cNvPr id="89110" name="组合 89109"/>
            <p:cNvGrpSpPr/>
            <p:nvPr/>
          </p:nvGrpSpPr>
          <p:grpSpPr>
            <a:xfrm>
              <a:off x="5352" y="4104"/>
              <a:ext cx="408" cy="216"/>
              <a:chOff x="5232" y="4100"/>
              <a:chExt cx="408" cy="216"/>
            </a:xfrm>
          </p:grpSpPr>
          <p:pic>
            <p:nvPicPr>
              <p:cNvPr id="89111" name="图片 89110" descr="下一步">
                <a:hlinkClick r:id="" action="ppaction://hlinkshowjump?jump=nextslide"/>
              </p:cNvPr>
              <p:cNvPicPr>
                <a:picLocks noChangeAspect="1"/>
              </p:cNvPicPr>
              <p:nvPr/>
            </p:nvPicPr>
            <p:blipFill>
              <a:blip r:embed="rId7"/>
              <a:stretch>
                <a:fillRect/>
              </a:stretch>
            </p:blipFill>
            <p:spPr>
              <a:xfrm>
                <a:off x="5424" y="4100"/>
                <a:ext cx="216" cy="216"/>
              </a:xfrm>
              <a:prstGeom prst="rect">
                <a:avLst/>
              </a:prstGeom>
              <a:noFill/>
              <a:ln w="9525">
                <a:noFill/>
              </a:ln>
            </p:spPr>
          </p:pic>
          <p:pic>
            <p:nvPicPr>
              <p:cNvPr id="89112" name="图片 89111" descr="上一步">
                <a:hlinkClick r:id="" action="ppaction://hlinkshowjump?jump=previousslide"/>
              </p:cNvPr>
              <p:cNvPicPr>
                <a:picLocks noChangeAspect="1"/>
              </p:cNvPicPr>
              <p:nvPr/>
            </p:nvPicPr>
            <p:blipFill>
              <a:blip r:embed="rId8"/>
              <a:stretch>
                <a:fillRect/>
              </a:stretch>
            </p:blipFill>
            <p:spPr>
              <a:xfrm>
                <a:off x="5232" y="4100"/>
                <a:ext cx="216" cy="216"/>
              </a:xfrm>
              <a:prstGeom prst="rect">
                <a:avLst/>
              </a:prstGeom>
              <a:noFill/>
              <a:ln w="9525">
                <a:noFill/>
              </a:ln>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9099"/>
                                        </p:tgtEl>
                                        <p:attrNameLst>
                                          <p:attrName>style.visibility</p:attrName>
                                        </p:attrNameLst>
                                      </p:cBhvr>
                                      <p:to>
                                        <p:strVal val="visible"/>
                                      </p:to>
                                    </p:set>
                                    <p:anim calcmode="lin" valueType="num">
                                      <p:cBhvr additive="base">
                                        <p:cTn id="7" dur="500" fill="hold"/>
                                        <p:tgtEl>
                                          <p:spTgt spid="89099"/>
                                        </p:tgtEl>
                                        <p:attrNameLst>
                                          <p:attrName>ppt_x</p:attrName>
                                        </p:attrNameLst>
                                      </p:cBhvr>
                                      <p:tavLst>
                                        <p:tav tm="0">
                                          <p:val>
                                            <p:strVal val="0-#ppt_w/2"/>
                                          </p:val>
                                        </p:tav>
                                        <p:tav tm="100000">
                                          <p:val>
                                            <p:strVal val="#ppt_x"/>
                                          </p:val>
                                        </p:tav>
                                      </p:tavLst>
                                    </p:anim>
                                    <p:anim calcmode="lin" valueType="num">
                                      <p:cBhvr additive="base">
                                        <p:cTn id="8" dur="500" fill="hold"/>
                                        <p:tgtEl>
                                          <p:spTgt spid="8909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9100"/>
                                        </p:tgtEl>
                                        <p:attrNameLst>
                                          <p:attrName>style.visibility</p:attrName>
                                        </p:attrNameLst>
                                      </p:cBhvr>
                                      <p:to>
                                        <p:strVal val="visible"/>
                                      </p:to>
                                    </p:set>
                                    <p:anim calcmode="lin" valueType="num">
                                      <p:cBhvr additive="base">
                                        <p:cTn id="13" dur="500" fill="hold"/>
                                        <p:tgtEl>
                                          <p:spTgt spid="89100"/>
                                        </p:tgtEl>
                                        <p:attrNameLst>
                                          <p:attrName>ppt_x</p:attrName>
                                        </p:attrNameLst>
                                      </p:cBhvr>
                                      <p:tavLst>
                                        <p:tav tm="0">
                                          <p:val>
                                            <p:strVal val="0-#ppt_w/2"/>
                                          </p:val>
                                        </p:tav>
                                        <p:tav tm="100000">
                                          <p:val>
                                            <p:strVal val="#ppt_x"/>
                                          </p:val>
                                        </p:tav>
                                      </p:tavLst>
                                    </p:anim>
                                    <p:anim calcmode="lin" valueType="num">
                                      <p:cBhvr additive="base">
                                        <p:cTn id="14" dur="500" fill="hold"/>
                                        <p:tgtEl>
                                          <p:spTgt spid="8910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101"/>
                                        </p:tgtEl>
                                        <p:attrNameLst>
                                          <p:attrName>style.visibility</p:attrName>
                                        </p:attrNameLst>
                                      </p:cBhvr>
                                      <p:to>
                                        <p:strVal val="visible"/>
                                      </p:to>
                                    </p:set>
                                    <p:anim calcmode="lin" valueType="num">
                                      <p:cBhvr additive="base">
                                        <p:cTn id="19" dur="500" fill="hold"/>
                                        <p:tgtEl>
                                          <p:spTgt spid="89101"/>
                                        </p:tgtEl>
                                        <p:attrNameLst>
                                          <p:attrName>ppt_x</p:attrName>
                                        </p:attrNameLst>
                                      </p:cBhvr>
                                      <p:tavLst>
                                        <p:tav tm="0">
                                          <p:val>
                                            <p:strVal val="0-#ppt_w/2"/>
                                          </p:val>
                                        </p:tav>
                                        <p:tav tm="100000">
                                          <p:val>
                                            <p:strVal val="#ppt_x"/>
                                          </p:val>
                                        </p:tav>
                                      </p:tavLst>
                                    </p:anim>
                                    <p:anim calcmode="lin" valueType="num">
                                      <p:cBhvr additive="base">
                                        <p:cTn id="20" dur="500" fill="hold"/>
                                        <p:tgtEl>
                                          <p:spTgt spid="8910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89102"/>
                                        </p:tgtEl>
                                        <p:attrNameLst>
                                          <p:attrName>style.visibility</p:attrName>
                                        </p:attrNameLst>
                                      </p:cBhvr>
                                      <p:to>
                                        <p:strVal val="visible"/>
                                      </p:to>
                                    </p:set>
                                    <p:anim calcmode="lin" valueType="num">
                                      <p:cBhvr additive="base">
                                        <p:cTn id="25" dur="500" fill="hold"/>
                                        <p:tgtEl>
                                          <p:spTgt spid="89102"/>
                                        </p:tgtEl>
                                        <p:attrNameLst>
                                          <p:attrName>ppt_x</p:attrName>
                                        </p:attrNameLst>
                                      </p:cBhvr>
                                      <p:tavLst>
                                        <p:tav tm="0">
                                          <p:val>
                                            <p:strVal val="0-#ppt_w/2"/>
                                          </p:val>
                                        </p:tav>
                                        <p:tav tm="100000">
                                          <p:val>
                                            <p:strVal val="#ppt_x"/>
                                          </p:val>
                                        </p:tav>
                                      </p:tavLst>
                                    </p:anim>
                                    <p:anim calcmode="lin" valueType="num">
                                      <p:cBhvr additive="base">
                                        <p:cTn id="26" dur="500" fill="hold"/>
                                        <p:tgtEl>
                                          <p:spTgt spid="8910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89105"/>
                                        </p:tgtEl>
                                        <p:attrNameLst>
                                          <p:attrName>style.visibility</p:attrName>
                                        </p:attrNameLst>
                                      </p:cBhvr>
                                      <p:to>
                                        <p:strVal val="visible"/>
                                      </p:to>
                                    </p:set>
                                    <p:anim calcmode="lin" valueType="num">
                                      <p:cBhvr additive="base">
                                        <p:cTn id="31" dur="500" fill="hold"/>
                                        <p:tgtEl>
                                          <p:spTgt spid="89105"/>
                                        </p:tgtEl>
                                        <p:attrNameLst>
                                          <p:attrName>ppt_x</p:attrName>
                                        </p:attrNameLst>
                                      </p:cBhvr>
                                      <p:tavLst>
                                        <p:tav tm="0">
                                          <p:val>
                                            <p:strVal val="0-#ppt_w/2"/>
                                          </p:val>
                                        </p:tav>
                                        <p:tav tm="100000">
                                          <p:val>
                                            <p:strVal val="#ppt_x"/>
                                          </p:val>
                                        </p:tav>
                                      </p:tavLst>
                                    </p:anim>
                                    <p:anim calcmode="lin" valueType="num">
                                      <p:cBhvr additive="base">
                                        <p:cTn id="32" dur="500" fill="hold"/>
                                        <p:tgtEl>
                                          <p:spTgt spid="8910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9095"/>
                                        </p:tgtEl>
                                        <p:attrNameLst>
                                          <p:attrName>style.visibility</p:attrName>
                                        </p:attrNameLst>
                                      </p:cBhvr>
                                      <p:to>
                                        <p:strVal val="visible"/>
                                      </p:to>
                                    </p:set>
                                    <p:anim calcmode="lin" valueType="num">
                                      <p:cBhvr additive="base">
                                        <p:cTn id="37" dur="500" fill="hold"/>
                                        <p:tgtEl>
                                          <p:spTgt spid="89095"/>
                                        </p:tgtEl>
                                        <p:attrNameLst>
                                          <p:attrName>ppt_x</p:attrName>
                                        </p:attrNameLst>
                                      </p:cBhvr>
                                      <p:tavLst>
                                        <p:tav tm="0">
                                          <p:val>
                                            <p:strVal val="0-#ppt_w/2"/>
                                          </p:val>
                                        </p:tav>
                                        <p:tav tm="100000">
                                          <p:val>
                                            <p:strVal val="#ppt_x"/>
                                          </p:val>
                                        </p:tav>
                                      </p:tavLst>
                                    </p:anim>
                                    <p:anim calcmode="lin" valueType="num">
                                      <p:cBhvr additive="base">
                                        <p:cTn id="38" dur="500" fill="hold"/>
                                        <p:tgtEl>
                                          <p:spTgt spid="8909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9096"/>
                                        </p:tgtEl>
                                        <p:attrNameLst>
                                          <p:attrName>style.visibility</p:attrName>
                                        </p:attrNameLst>
                                      </p:cBhvr>
                                      <p:to>
                                        <p:strVal val="visible"/>
                                      </p:to>
                                    </p:set>
                                    <p:anim calcmode="lin" valueType="num">
                                      <p:cBhvr additive="base">
                                        <p:cTn id="43" dur="500" fill="hold"/>
                                        <p:tgtEl>
                                          <p:spTgt spid="89096"/>
                                        </p:tgtEl>
                                        <p:attrNameLst>
                                          <p:attrName>ppt_x</p:attrName>
                                        </p:attrNameLst>
                                      </p:cBhvr>
                                      <p:tavLst>
                                        <p:tav tm="0">
                                          <p:val>
                                            <p:strVal val="0-#ppt_w/2"/>
                                          </p:val>
                                        </p:tav>
                                        <p:tav tm="100000">
                                          <p:val>
                                            <p:strVal val="#ppt_x"/>
                                          </p:val>
                                        </p:tav>
                                      </p:tavLst>
                                    </p:anim>
                                    <p:anim calcmode="lin" valueType="num">
                                      <p:cBhvr additive="base">
                                        <p:cTn id="44" dur="500" fill="hold"/>
                                        <p:tgtEl>
                                          <p:spTgt spid="890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5" grpId="0"/>
      <p:bldP spid="89096" grpId="0"/>
      <p:bldP spid="89099" grpId="0"/>
      <p:bldP spid="89100" grpId="0"/>
      <p:bldP spid="8910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直接连接符 71681"/>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71691" name="文本框 71690"/>
          <p:cNvSpPr txBox="1"/>
          <p:nvPr/>
        </p:nvSpPr>
        <p:spPr>
          <a:xfrm>
            <a:off x="381000" y="762000"/>
            <a:ext cx="8991600" cy="457200"/>
          </a:xfrm>
          <a:prstGeom prst="rect">
            <a:avLst/>
          </a:prstGeom>
          <a:noFill/>
          <a:ln w="9525">
            <a:noFill/>
          </a:ln>
        </p:spPr>
        <p:txBody>
          <a:bodyPr>
            <a:spAutoFit/>
          </a:bodyPr>
          <a:lstStyle/>
          <a:p>
            <a:pPr algn="just"/>
            <a:r>
              <a:rPr lang="zh-CN" altLang="en-US" b="1">
                <a:solidFill>
                  <a:srgbClr val="FF3300"/>
                </a:solidFill>
                <a:latin typeface="楷体_GB2312" pitchFamily="49" charset="-122"/>
                <a:ea typeface="楷体_GB2312" pitchFamily="49" charset="-122"/>
              </a:rPr>
              <a:t>　</a:t>
            </a:r>
            <a:endParaRPr lang="zh-CN" altLang="en-US" sz="2800">
              <a:latin typeface="Times New Roman" panose="02020603050405020304" pitchFamily="18" charset="0"/>
            </a:endParaRPr>
          </a:p>
        </p:txBody>
      </p:sp>
      <p:sp>
        <p:nvSpPr>
          <p:cNvPr id="71695" name="文本框 71694"/>
          <p:cNvSpPr txBox="1"/>
          <p:nvPr/>
        </p:nvSpPr>
        <p:spPr>
          <a:xfrm>
            <a:off x="434975" y="1371883"/>
            <a:ext cx="9144000" cy="460375"/>
          </a:xfrm>
          <a:prstGeom prst="rect">
            <a:avLst/>
          </a:prstGeom>
          <a:noFill/>
          <a:ln w="9525">
            <a:noFill/>
          </a:ln>
        </p:spPr>
        <p:txBody>
          <a:bodyPr>
            <a:spAutoFit/>
          </a:bodyPr>
          <a:lstStyle/>
          <a:p>
            <a:pPr algn="l">
              <a:spcBef>
                <a:spcPct val="50000"/>
              </a:spcBef>
            </a:pPr>
            <a:r>
              <a:rPr lang="en-US" altLang="zh-CN" b="1" dirty="0">
                <a:solidFill>
                  <a:srgbClr val="000000"/>
                </a:solidFill>
                <a:latin typeface="楷体_GB2312" pitchFamily="49" charset="-122"/>
                <a:ea typeface="楷体_GB2312" pitchFamily="49" charset="-122"/>
              </a:rPr>
              <a:t>  </a:t>
            </a:r>
            <a:r>
              <a:rPr lang="zh-CN" altLang="en-US" b="1" dirty="0">
                <a:solidFill>
                  <a:srgbClr val="000000"/>
                </a:solidFill>
                <a:latin typeface="楷体_GB2312" pitchFamily="49" charset="-122"/>
                <a:ea typeface="楷体_GB2312" pitchFamily="49" charset="-122"/>
              </a:rPr>
              <a:t>根据</a:t>
            </a:r>
            <a:r>
              <a:rPr lang="zh-CN" b="1" dirty="0">
                <a:solidFill>
                  <a:srgbClr val="000000"/>
                </a:solidFill>
                <a:latin typeface="楷体_GB2312" pitchFamily="49" charset="-122"/>
                <a:ea typeface="楷体_GB2312" pitchFamily="49" charset="-122"/>
              </a:rPr>
              <a:t>链传动</a:t>
            </a:r>
            <a:r>
              <a:rPr lang="zh-CN" altLang="en-US" b="1" dirty="0">
                <a:solidFill>
                  <a:srgbClr val="000000"/>
                </a:solidFill>
                <a:latin typeface="楷体_GB2312" pitchFamily="49" charset="-122"/>
                <a:ea typeface="楷体_GB2312" pitchFamily="49" charset="-122"/>
              </a:rPr>
              <a:t>传递的计算功率和小链轮的转速，选定链号。</a:t>
            </a:r>
            <a:endParaRPr lang="en-US" altLang="zh-CN" b="1" dirty="0">
              <a:solidFill>
                <a:srgbClr val="000000"/>
              </a:solidFill>
              <a:latin typeface="楷体_GB2312" pitchFamily="49" charset="-122"/>
              <a:ea typeface="楷体_GB2312" pitchFamily="49" charset="-122"/>
            </a:endParaRPr>
          </a:p>
        </p:txBody>
      </p:sp>
      <p:sp>
        <p:nvSpPr>
          <p:cNvPr id="71696" name="文本框 71695"/>
          <p:cNvSpPr txBox="1"/>
          <p:nvPr/>
        </p:nvSpPr>
        <p:spPr>
          <a:xfrm>
            <a:off x="434975" y="1807210"/>
            <a:ext cx="8274685" cy="1198880"/>
          </a:xfrm>
          <a:prstGeom prst="rect">
            <a:avLst/>
          </a:prstGeom>
          <a:noFill/>
          <a:ln w="9525">
            <a:noFill/>
          </a:ln>
        </p:spPr>
        <p:txBody>
          <a:bodyPr wrap="square">
            <a:spAutoFit/>
          </a:bodyPr>
          <a:lstStyle/>
          <a:p>
            <a:pPr algn="l">
              <a:lnSpc>
                <a:spcPct val="150000"/>
              </a:lnSpc>
              <a:spcBef>
                <a:spcPts val="0"/>
              </a:spcBef>
            </a:pPr>
            <a:r>
              <a:rPr lang="en-US" altLang="zh-CN" b="1" dirty="0">
                <a:solidFill>
                  <a:srgbClr val="000000"/>
                </a:solidFill>
                <a:latin typeface="楷体_GB2312" pitchFamily="49" charset="-122"/>
                <a:ea typeface="楷体_GB2312" pitchFamily="49" charset="-122"/>
              </a:rPr>
              <a:t>  </a:t>
            </a:r>
            <a:r>
              <a:rPr lang="zh-CN" altLang="en-US" dirty="0">
                <a:solidFill>
                  <a:srgbClr val="000000"/>
                </a:solidFill>
                <a:latin typeface="黑体" panose="02010609060101010101" pitchFamily="49" charset="-122"/>
                <a:ea typeface="黑体" panose="02010609060101010101" pitchFamily="49" charset="-122"/>
                <a:cs typeface="黑体" panose="02010609060101010101" pitchFamily="49" charset="-122"/>
              </a:rPr>
              <a:t>要设计：大、小</a:t>
            </a:r>
            <a:r>
              <a:rPr lang="zh-CN" dirty="0">
                <a:solidFill>
                  <a:srgbClr val="000000"/>
                </a:solidFill>
                <a:latin typeface="黑体" panose="02010609060101010101" pitchFamily="49" charset="-122"/>
                <a:ea typeface="黑体" panose="02010609060101010101" pitchFamily="49" charset="-122"/>
                <a:cs typeface="黑体" panose="02010609060101010101" pitchFamily="49" charset="-122"/>
              </a:rPr>
              <a:t>链轮齿数</a:t>
            </a:r>
            <a:r>
              <a:rPr lang="zh-CN" altLang="en-US" dirty="0">
                <a:solidFill>
                  <a:srgbClr val="000000"/>
                </a:solidFill>
                <a:latin typeface="黑体" panose="02010609060101010101" pitchFamily="49" charset="-122"/>
                <a:ea typeface="黑体" panose="02010609060101010101" pitchFamily="49" charset="-122"/>
                <a:cs typeface="黑体" panose="02010609060101010101" pitchFamily="49" charset="-122"/>
              </a:rPr>
              <a:t>，链号，链节数，中心距，链速、润滑方式，压轴力，小链轮的结构设计及其轮毂宽度。</a:t>
            </a:r>
            <a:endParaRPr lang="zh-CN" altLang="en-US"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71700" name="标题 71699"/>
          <p:cNvSpPr>
            <a:spLocks noGrp="1"/>
          </p:cNvSpPr>
          <p:nvPr>
            <p:ph type="title"/>
          </p:nvPr>
        </p:nvSpPr>
        <p:spPr>
          <a:xfrm>
            <a:off x="539552" y="764704"/>
            <a:ext cx="7772400" cy="609600"/>
          </a:xfrm>
        </p:spPr>
        <p:txBody>
          <a:bodyPr anchor="ctr"/>
          <a:lstStyle/>
          <a:p>
            <a:pPr algn="l"/>
            <a:r>
              <a:rPr lang="zh-CN" altLang="en-US" sz="2400" dirty="0" smtClean="0">
                <a:solidFill>
                  <a:srgbClr val="FF3300"/>
                </a:solidFill>
                <a:latin typeface="黑体" panose="02010609060101010101" pitchFamily="49" charset="-122"/>
                <a:ea typeface="黑体" panose="02010609060101010101" pitchFamily="49" charset="-122"/>
                <a:cs typeface="黑体" panose="02010609060101010101" pitchFamily="49" charset="-122"/>
              </a:rPr>
              <a:t>（</a:t>
            </a:r>
            <a:r>
              <a:rPr lang="en-US" altLang="zh-CN" sz="2400" dirty="0" smtClean="0">
                <a:solidFill>
                  <a:srgbClr val="FF3300"/>
                </a:solidFill>
                <a:latin typeface="黑体" panose="02010609060101010101" pitchFamily="49" charset="-122"/>
                <a:ea typeface="黑体" panose="02010609060101010101" pitchFamily="49" charset="-122"/>
                <a:cs typeface="黑体" panose="02010609060101010101" pitchFamily="49" charset="-122"/>
              </a:rPr>
              <a:t>3</a:t>
            </a:r>
            <a:r>
              <a:rPr lang="zh-CN" altLang="en-US" sz="2400" dirty="0" smtClean="0">
                <a:solidFill>
                  <a:srgbClr val="FF3300"/>
                </a:solidFill>
                <a:latin typeface="黑体" panose="02010609060101010101" pitchFamily="49" charset="-122"/>
                <a:ea typeface="黑体" panose="02010609060101010101" pitchFamily="49" charset="-122"/>
                <a:cs typeface="黑体" panose="02010609060101010101" pitchFamily="49" charset="-122"/>
              </a:rPr>
              <a:t>）</a:t>
            </a:r>
            <a:r>
              <a:rPr lang="en-US" altLang="zh-CN" sz="2400" dirty="0" smtClean="0">
                <a:solidFill>
                  <a:srgbClr val="FF3300"/>
                </a:solidFill>
                <a:latin typeface="黑体" panose="02010609060101010101" pitchFamily="49" charset="-122"/>
                <a:ea typeface="黑体" panose="02010609060101010101" pitchFamily="49" charset="-122"/>
                <a:cs typeface="黑体" panose="02010609060101010101" pitchFamily="49" charset="-122"/>
              </a:rPr>
              <a:t> </a:t>
            </a:r>
            <a:r>
              <a:rPr lang="zh-CN" altLang="en-US" sz="2400" dirty="0">
                <a:solidFill>
                  <a:srgbClr val="FF3300"/>
                </a:solidFill>
                <a:latin typeface="黑体" panose="02010609060101010101" pitchFamily="49" charset="-122"/>
                <a:ea typeface="黑体" panose="02010609060101010101" pitchFamily="49" charset="-122"/>
                <a:cs typeface="黑体" panose="02010609060101010101" pitchFamily="49" charset="-122"/>
              </a:rPr>
              <a:t>链</a:t>
            </a:r>
            <a:r>
              <a:rPr lang="zh-CN" altLang="en-US" sz="2400" dirty="0">
                <a:solidFill>
                  <a:srgbClr val="FF3300"/>
                </a:solidFill>
                <a:latin typeface="黑体" panose="02010609060101010101" pitchFamily="49" charset="-122"/>
                <a:ea typeface="黑体" panose="02010609060101010101" pitchFamily="49" charset="-122"/>
                <a:cs typeface="黑体" panose="02010609060101010101" pitchFamily="49" charset="-122"/>
              </a:rPr>
              <a:t>传动</a:t>
            </a:r>
            <a:endParaRPr lang="zh-CN" altLang="en-US" dirty="0">
              <a:latin typeface="黑体" panose="02010609060101010101" pitchFamily="49" charset="-122"/>
              <a:ea typeface="黑体" panose="02010609060101010101" pitchFamily="49" charset="-122"/>
              <a:cs typeface="黑体" panose="02010609060101010101" pitchFamily="49" charset="-122"/>
            </a:endParaRPr>
          </a:p>
        </p:txBody>
      </p:sp>
      <p:sp>
        <p:nvSpPr>
          <p:cNvPr id="71703" name="文本框 71702"/>
          <p:cNvSpPr txBox="1"/>
          <p:nvPr/>
        </p:nvSpPr>
        <p:spPr>
          <a:xfrm>
            <a:off x="899795" y="3732530"/>
            <a:ext cx="6884670" cy="460375"/>
          </a:xfrm>
          <a:prstGeom prst="rect">
            <a:avLst/>
          </a:prstGeom>
          <a:noFill/>
          <a:ln w="9525">
            <a:noFill/>
          </a:ln>
        </p:spPr>
        <p:txBody>
          <a:bodyPr wrap="square">
            <a:spAutoFit/>
          </a:bodyPr>
          <a:lstStyle/>
          <a:p>
            <a:pPr algn="l">
              <a:spcBef>
                <a:spcPct val="50000"/>
              </a:spcBef>
            </a:pPr>
            <a:r>
              <a:rPr lang="zh-CN" b="1" dirty="0">
                <a:solidFill>
                  <a:schemeClr val="accent2"/>
                </a:solidFill>
                <a:latin typeface="楷体_GB2312" pitchFamily="49" charset="-122"/>
                <a:ea typeface="楷体_GB2312" pitchFamily="49" charset="-122"/>
              </a:rPr>
              <a:t>传递功率大，选用双排链或三排链</a:t>
            </a:r>
            <a:r>
              <a:rPr lang="zh-CN" altLang="en-US" b="1" dirty="0">
                <a:solidFill>
                  <a:schemeClr val="accent2"/>
                </a:solidFill>
                <a:latin typeface="楷体_GB2312" pitchFamily="49" charset="-122"/>
                <a:ea typeface="楷体_GB2312" pitchFamily="49" charset="-122"/>
              </a:rPr>
              <a:t>。</a:t>
            </a:r>
            <a:endParaRPr lang="zh-CN" altLang="en-US" b="1" dirty="0">
              <a:solidFill>
                <a:schemeClr val="accent2"/>
              </a:solidFill>
              <a:latin typeface="楷体_GB2312" pitchFamily="49" charset="-122"/>
              <a:ea typeface="楷体_GB2312" pitchFamily="49" charset="-122"/>
            </a:endParaRPr>
          </a:p>
        </p:txBody>
      </p:sp>
      <p:sp>
        <p:nvSpPr>
          <p:cNvPr id="71704" name="文本框 71703"/>
          <p:cNvSpPr txBox="1"/>
          <p:nvPr/>
        </p:nvSpPr>
        <p:spPr>
          <a:xfrm>
            <a:off x="380759" y="3140973"/>
            <a:ext cx="8991600" cy="457200"/>
          </a:xfrm>
          <a:prstGeom prst="rect">
            <a:avLst/>
          </a:prstGeom>
          <a:noFill/>
          <a:ln w="9525">
            <a:noFill/>
          </a:ln>
        </p:spPr>
        <p:txBody>
          <a:bodyPr>
            <a:spAutoFit/>
          </a:bodyPr>
          <a:lstStyle/>
          <a:p>
            <a:pPr algn="just"/>
            <a:r>
              <a:rPr lang="zh-CN" altLang="en-US" b="1" dirty="0">
                <a:solidFill>
                  <a:srgbClr val="FF3300"/>
                </a:solidFill>
                <a:latin typeface="楷体_GB2312" pitchFamily="49" charset="-122"/>
                <a:ea typeface="楷体_GB2312" pitchFamily="49" charset="-122"/>
              </a:rPr>
              <a:t>　</a:t>
            </a:r>
            <a:r>
              <a:rPr lang="zh-CN" altLang="en-US" b="1" dirty="0">
                <a:solidFill>
                  <a:srgbClr val="0000FF"/>
                </a:solidFill>
                <a:latin typeface="楷体_GB2312" pitchFamily="49" charset="-122"/>
                <a:ea typeface="楷体_GB2312" pitchFamily="49" charset="-122"/>
              </a:rPr>
              <a:t>注意：</a:t>
            </a:r>
            <a:endParaRPr lang="zh-CN" altLang="en-US" b="1" dirty="0">
              <a:solidFill>
                <a:srgbClr val="0000FF"/>
              </a:solidFill>
              <a:latin typeface="楷体_GB2312" pitchFamily="49" charset="-122"/>
              <a:ea typeface="楷体_GB2312" pitchFamily="49" charset="-122"/>
            </a:endParaRPr>
          </a:p>
        </p:txBody>
      </p:sp>
      <p:sp>
        <p:nvSpPr>
          <p:cNvPr id="16" name="文本框 15"/>
          <p:cNvSpPr txBox="1"/>
          <p:nvPr/>
        </p:nvSpPr>
        <p:spPr>
          <a:xfrm>
            <a:off x="323528" y="116632"/>
            <a:ext cx="8915400" cy="460375"/>
          </a:xfrm>
          <a:prstGeom prst="rect">
            <a:avLst/>
          </a:prstGeom>
          <a:noFill/>
          <a:ln w="9525">
            <a:noFill/>
          </a:ln>
        </p:spPr>
        <p:txBody>
          <a:bodyPr>
            <a:spAutoFit/>
          </a:bodyPr>
          <a:lstStyle/>
          <a:p>
            <a:pPr algn="l">
              <a:spcBef>
                <a:spcPct val="50000"/>
              </a:spcBef>
            </a:pPr>
            <a:r>
              <a:rPr lang="en-US" altLang="zh-CN" b="1" dirty="0">
                <a:solidFill>
                  <a:srgbClr val="A02904"/>
                </a:solidFill>
                <a:latin typeface="楷体_GB2312" pitchFamily="49" charset="-122"/>
                <a:ea typeface="楷体_GB2312" pitchFamily="49" charset="-122"/>
              </a:rPr>
              <a:t>4</a:t>
            </a:r>
            <a:r>
              <a:rPr lang="zh-CN" altLang="en-US" b="1" dirty="0">
                <a:solidFill>
                  <a:srgbClr val="A02904"/>
                </a:solidFill>
                <a:latin typeface="楷体_GB2312" pitchFamily="49" charset="-122"/>
                <a:ea typeface="楷体_GB2312" pitchFamily="49" charset="-122"/>
              </a:rPr>
              <a:t>、传动件的设计计算</a:t>
            </a:r>
            <a:endParaRPr lang="zh-CN" altLang="en-US" b="1" dirty="0">
              <a:solidFill>
                <a:srgbClr val="000000"/>
              </a:solidFill>
              <a:latin typeface="楷体_GB2312" pitchFamily="49" charset="-122"/>
              <a:ea typeface="楷体_GB2312" pitchFamily="49" charset="-122"/>
            </a:endParaRPr>
          </a:p>
        </p:txBody>
      </p:sp>
      <p:sp>
        <p:nvSpPr>
          <p:cNvPr id="2" name="文本框 1"/>
          <p:cNvSpPr txBox="1"/>
          <p:nvPr/>
        </p:nvSpPr>
        <p:spPr>
          <a:xfrm>
            <a:off x="1764030" y="4797425"/>
            <a:ext cx="4342130" cy="460375"/>
          </a:xfrm>
          <a:prstGeom prst="rect">
            <a:avLst/>
          </a:prstGeom>
          <a:solidFill>
            <a:schemeClr val="accent1">
              <a:lumMod val="40000"/>
              <a:lumOff val="60000"/>
            </a:schemeClr>
          </a:solidFill>
        </p:spPr>
        <p:txBody>
          <a:bodyPr wrap="square" rtlCol="0">
            <a:spAutoFit/>
          </a:bodyPr>
          <a:p>
            <a:r>
              <a:rPr lang="zh-CN" altLang="en-US">
                <a:latin typeface="黑体" panose="02010609060101010101" pitchFamily="49" charset="-122"/>
                <a:ea typeface="黑体" panose="02010609060101010101" pitchFamily="49" charset="-122"/>
                <a:cs typeface="黑体" panose="02010609060101010101" pitchFamily="49" charset="-122"/>
              </a:rPr>
              <a:t>参考教材</a:t>
            </a:r>
            <a:r>
              <a:rPr lang="en-US" altLang="zh-CN">
                <a:latin typeface="黑体" panose="02010609060101010101" pitchFamily="49" charset="-122"/>
                <a:ea typeface="黑体" panose="02010609060101010101" pitchFamily="49" charset="-122"/>
                <a:cs typeface="黑体" panose="02010609060101010101" pitchFamily="49" charset="-122"/>
              </a:rPr>
              <a:t>P205~207</a:t>
            </a:r>
            <a:endParaRPr lang="en-US" altLang="zh-CN">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04"/>
                                        </p:tgtEl>
                                        <p:attrNameLst>
                                          <p:attrName>style.visibility</p:attrName>
                                        </p:attrNameLst>
                                      </p:cBhvr>
                                      <p:to>
                                        <p:strVal val="visible"/>
                                      </p:to>
                                    </p:set>
                                    <p:animEffect transition="in" filter="blinds(horizontal)">
                                      <p:cBhvr>
                                        <p:cTn id="7" dur="500"/>
                                        <p:tgtEl>
                                          <p:spTgt spid="7170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1703"/>
                                        </p:tgtEl>
                                        <p:attrNameLst>
                                          <p:attrName>style.visibility</p:attrName>
                                        </p:attrNameLst>
                                      </p:cBhvr>
                                      <p:to>
                                        <p:strVal val="visible"/>
                                      </p:to>
                                    </p:set>
                                    <p:anim calcmode="lin" valueType="num">
                                      <p:cBhvr additive="base">
                                        <p:cTn id="12" dur="500" fill="hold"/>
                                        <p:tgtEl>
                                          <p:spTgt spid="71703"/>
                                        </p:tgtEl>
                                        <p:attrNameLst>
                                          <p:attrName>ppt_x</p:attrName>
                                        </p:attrNameLst>
                                      </p:cBhvr>
                                      <p:tavLst>
                                        <p:tav tm="0">
                                          <p:val>
                                            <p:strVal val="0-#ppt_w/2"/>
                                          </p:val>
                                        </p:tav>
                                        <p:tav tm="100000">
                                          <p:val>
                                            <p:strVal val="#ppt_x"/>
                                          </p:val>
                                        </p:tav>
                                      </p:tavLst>
                                    </p:anim>
                                    <p:anim calcmode="lin" valueType="num">
                                      <p:cBhvr additive="base">
                                        <p:cTn id="13" dur="500" fill="hold"/>
                                        <p:tgtEl>
                                          <p:spTgt spid="717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3" grpId="0"/>
      <p:bldP spid="7170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直接连接符 70657"/>
          <p:cNvSpPr/>
          <p:nvPr/>
        </p:nvSpPr>
        <p:spPr>
          <a:xfrm>
            <a:off x="0" y="548680"/>
            <a:ext cx="9144000" cy="0"/>
          </a:xfrm>
          <a:prstGeom prst="line">
            <a:avLst/>
          </a:prstGeom>
          <a:ln w="57150" cap="flat" cmpd="thickThin">
            <a:solidFill>
              <a:srgbClr val="C00000"/>
            </a:solidFill>
            <a:prstDash val="solid"/>
            <a:headEnd type="none" w="med" len="med"/>
            <a:tailEnd type="none" w="med" len="med"/>
          </a:ln>
        </p:spPr>
      </p:sp>
      <p:sp>
        <p:nvSpPr>
          <p:cNvPr id="70676" name="文本框 70675"/>
          <p:cNvSpPr txBox="1"/>
          <p:nvPr/>
        </p:nvSpPr>
        <p:spPr>
          <a:xfrm>
            <a:off x="251520" y="4292967"/>
            <a:ext cx="9144000" cy="460375"/>
          </a:xfrm>
          <a:prstGeom prst="rect">
            <a:avLst/>
          </a:prstGeom>
          <a:noFill/>
          <a:ln w="9525">
            <a:noFill/>
          </a:ln>
        </p:spPr>
        <p:txBody>
          <a:bodyPr>
            <a:spAutoFit/>
          </a:bodyPr>
          <a:lstStyle/>
          <a:p>
            <a:pPr algn="l">
              <a:spcBef>
                <a:spcPct val="50000"/>
              </a:spcBef>
            </a:pPr>
            <a:r>
              <a:rPr lang="en-US" altLang="zh-CN" b="1" dirty="0">
                <a:solidFill>
                  <a:srgbClr val="FF0000"/>
                </a:solidFill>
                <a:latin typeface="楷体_GB2312" pitchFamily="49" charset="-122"/>
                <a:ea typeface="楷体_GB2312" pitchFamily="49" charset="-122"/>
              </a:rPr>
              <a:t>6</a:t>
            </a:r>
            <a:r>
              <a:rPr lang="zh-CN" altLang="en-US" b="1" dirty="0">
                <a:solidFill>
                  <a:srgbClr val="FF0000"/>
                </a:solidFill>
                <a:latin typeface="楷体_GB2312" pitchFamily="49" charset="-122"/>
                <a:ea typeface="楷体_GB2312" pitchFamily="49" charset="-122"/>
              </a:rPr>
              <a:t>、零件工作图设计</a:t>
            </a:r>
            <a:endParaRPr lang="zh-CN" altLang="en-US" b="1" dirty="0">
              <a:solidFill>
                <a:srgbClr val="FF0000"/>
              </a:solidFill>
              <a:latin typeface="楷体_GB2312" pitchFamily="49" charset="-122"/>
              <a:ea typeface="楷体_GB2312" pitchFamily="49" charset="-122"/>
            </a:endParaRPr>
          </a:p>
        </p:txBody>
      </p:sp>
      <p:sp>
        <p:nvSpPr>
          <p:cNvPr id="70677" name="文本框 70676"/>
          <p:cNvSpPr txBox="1"/>
          <p:nvPr/>
        </p:nvSpPr>
        <p:spPr>
          <a:xfrm>
            <a:off x="251520" y="5013047"/>
            <a:ext cx="9144000" cy="460375"/>
          </a:xfrm>
          <a:prstGeom prst="rect">
            <a:avLst/>
          </a:prstGeom>
          <a:noFill/>
          <a:ln w="9525">
            <a:noFill/>
          </a:ln>
        </p:spPr>
        <p:txBody>
          <a:bodyPr>
            <a:spAutoFit/>
          </a:bodyPr>
          <a:lstStyle/>
          <a:p>
            <a:pPr algn="l">
              <a:spcBef>
                <a:spcPct val="50000"/>
              </a:spcBef>
            </a:pPr>
            <a:r>
              <a:rPr lang="en-US" altLang="zh-CN" b="1" dirty="0">
                <a:solidFill>
                  <a:srgbClr val="FF0000"/>
                </a:solidFill>
                <a:latin typeface="楷体_GB2312" pitchFamily="49" charset="-122"/>
                <a:ea typeface="楷体_GB2312" pitchFamily="49" charset="-122"/>
              </a:rPr>
              <a:t>7</a:t>
            </a:r>
            <a:r>
              <a:rPr lang="zh-CN" altLang="en-US" b="1" dirty="0">
                <a:solidFill>
                  <a:srgbClr val="FF0000"/>
                </a:solidFill>
                <a:latin typeface="楷体_GB2312" pitchFamily="49" charset="-122"/>
                <a:ea typeface="楷体_GB2312" pitchFamily="49" charset="-122"/>
              </a:rPr>
              <a:t>、撰写整理设计计算说明书</a:t>
            </a:r>
            <a:endParaRPr lang="zh-CN" altLang="en-US" b="1" dirty="0">
              <a:solidFill>
                <a:srgbClr val="FF0000"/>
              </a:solidFill>
              <a:latin typeface="楷体_GB2312" pitchFamily="49" charset="-122"/>
              <a:ea typeface="楷体_GB2312" pitchFamily="49" charset="-122"/>
            </a:endParaRPr>
          </a:p>
        </p:txBody>
      </p:sp>
      <p:sp>
        <p:nvSpPr>
          <p:cNvPr id="70678" name="文本框 70677"/>
          <p:cNvSpPr txBox="1"/>
          <p:nvPr/>
        </p:nvSpPr>
        <p:spPr>
          <a:xfrm>
            <a:off x="252155" y="5769069"/>
            <a:ext cx="9144000" cy="460375"/>
          </a:xfrm>
          <a:prstGeom prst="rect">
            <a:avLst/>
          </a:prstGeom>
          <a:noFill/>
          <a:ln w="9525">
            <a:noFill/>
          </a:ln>
        </p:spPr>
        <p:txBody>
          <a:bodyPr>
            <a:spAutoFit/>
          </a:bodyPr>
          <a:lstStyle/>
          <a:p>
            <a:pPr algn="l">
              <a:spcBef>
                <a:spcPct val="50000"/>
              </a:spcBef>
            </a:pPr>
            <a:r>
              <a:rPr lang="en-US" altLang="zh-CN" b="1" dirty="0">
                <a:solidFill>
                  <a:srgbClr val="FF0000"/>
                </a:solidFill>
                <a:latin typeface="楷体_GB2312" pitchFamily="49" charset="-122"/>
                <a:ea typeface="楷体_GB2312" pitchFamily="49" charset="-122"/>
              </a:rPr>
              <a:t>8</a:t>
            </a:r>
            <a:r>
              <a:rPr lang="zh-CN" altLang="en-US" b="1" dirty="0">
                <a:solidFill>
                  <a:srgbClr val="FF0000"/>
                </a:solidFill>
                <a:latin typeface="楷体_GB2312" pitchFamily="49" charset="-122"/>
                <a:ea typeface="楷体_GB2312" pitchFamily="49" charset="-122"/>
              </a:rPr>
              <a:t>、设计总结及答辩</a:t>
            </a:r>
            <a:endParaRPr lang="zh-CN" altLang="en-US" b="1" dirty="0">
              <a:solidFill>
                <a:srgbClr val="FF0000"/>
              </a:solidFill>
              <a:latin typeface="楷体_GB2312" pitchFamily="49" charset="-122"/>
              <a:ea typeface="楷体_GB2312" pitchFamily="49" charset="-122"/>
            </a:endParaRPr>
          </a:p>
        </p:txBody>
      </p:sp>
      <p:sp>
        <p:nvSpPr>
          <p:cNvPr id="70679" name="文本框 70678"/>
          <p:cNvSpPr txBox="1"/>
          <p:nvPr/>
        </p:nvSpPr>
        <p:spPr>
          <a:xfrm>
            <a:off x="252284" y="836712"/>
            <a:ext cx="9144000" cy="460375"/>
          </a:xfrm>
          <a:prstGeom prst="rect">
            <a:avLst/>
          </a:prstGeom>
          <a:noFill/>
          <a:ln w="9525">
            <a:noFill/>
          </a:ln>
        </p:spPr>
        <p:txBody>
          <a:bodyPr>
            <a:spAutoFit/>
          </a:bodyPr>
          <a:lstStyle/>
          <a:p>
            <a:pPr algn="l">
              <a:spcBef>
                <a:spcPct val="50000"/>
              </a:spcBef>
            </a:pPr>
            <a:r>
              <a:rPr lang="en-US" altLang="zh-CN" b="1" dirty="0">
                <a:solidFill>
                  <a:srgbClr val="FF0000"/>
                </a:solidFill>
                <a:latin typeface="楷体_GB2312" pitchFamily="49" charset="-122"/>
                <a:ea typeface="楷体_GB2312" pitchFamily="49" charset="-122"/>
              </a:rPr>
              <a:t>5</a:t>
            </a:r>
            <a:r>
              <a:rPr lang="zh-CN" altLang="en-US" b="1" dirty="0">
                <a:solidFill>
                  <a:srgbClr val="FF0000"/>
                </a:solidFill>
                <a:latin typeface="楷体_GB2312" pitchFamily="49" charset="-122"/>
                <a:ea typeface="楷体_GB2312" pitchFamily="49" charset="-122"/>
              </a:rPr>
              <a:t>、装配图的设计</a:t>
            </a:r>
            <a:endParaRPr lang="zh-CN" altLang="en-US" b="1" dirty="0">
              <a:solidFill>
                <a:srgbClr val="FF0000"/>
              </a:solidFill>
              <a:latin typeface="楷体_GB2312" pitchFamily="49" charset="-122"/>
              <a:ea typeface="楷体_GB2312" pitchFamily="49" charset="-122"/>
            </a:endParaRPr>
          </a:p>
        </p:txBody>
      </p:sp>
      <p:sp>
        <p:nvSpPr>
          <p:cNvPr id="70682" name="文本框 70681"/>
          <p:cNvSpPr txBox="1"/>
          <p:nvPr/>
        </p:nvSpPr>
        <p:spPr>
          <a:xfrm>
            <a:off x="483684" y="1412776"/>
            <a:ext cx="8664575" cy="45720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绘制装配草图，进行轴和传动件的结构设计，选择键和轴承</a:t>
            </a:r>
            <a:endParaRPr lang="zh-CN" altLang="en-US" b="1" dirty="0">
              <a:solidFill>
                <a:srgbClr val="000000"/>
              </a:solidFill>
              <a:latin typeface="楷体_GB2312" pitchFamily="49" charset="-122"/>
              <a:ea typeface="楷体_GB2312" pitchFamily="49" charset="-122"/>
            </a:endParaRPr>
          </a:p>
        </p:txBody>
      </p:sp>
      <p:sp>
        <p:nvSpPr>
          <p:cNvPr id="70684" name="文本框 70683"/>
          <p:cNvSpPr txBox="1"/>
          <p:nvPr/>
        </p:nvSpPr>
        <p:spPr>
          <a:xfrm>
            <a:off x="539552" y="1988840"/>
            <a:ext cx="8207375" cy="45720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进行键、轴承的校核，轴的强度验算</a:t>
            </a:r>
            <a:endParaRPr lang="zh-CN" altLang="en-US" b="1" dirty="0">
              <a:solidFill>
                <a:srgbClr val="000000"/>
              </a:solidFill>
              <a:latin typeface="楷体_GB2312" pitchFamily="49" charset="-122"/>
              <a:ea typeface="楷体_GB2312" pitchFamily="49" charset="-122"/>
            </a:endParaRPr>
          </a:p>
        </p:txBody>
      </p:sp>
      <p:sp>
        <p:nvSpPr>
          <p:cNvPr id="70685" name="文本框 70684"/>
          <p:cNvSpPr txBox="1"/>
          <p:nvPr/>
        </p:nvSpPr>
        <p:spPr>
          <a:xfrm>
            <a:off x="467544" y="2564904"/>
            <a:ext cx="8207375" cy="45720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进行机体结构及其附件的设计</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70686" name="文本框 70685"/>
          <p:cNvSpPr txBox="1"/>
          <p:nvPr/>
        </p:nvSpPr>
        <p:spPr>
          <a:xfrm>
            <a:off x="501650" y="3140968"/>
            <a:ext cx="8642350" cy="822325"/>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标注尺寸，填写减速器特性、技术要求、标题栏和明细表，检查、修改、线条加深</a:t>
            </a:r>
            <a:endParaRPr lang="zh-CN" altLang="en-US" b="1" dirty="0">
              <a:solidFill>
                <a:srgbClr val="000000"/>
              </a:solidFill>
              <a:latin typeface="楷体_GB2312" pitchFamily="49" charset="-122"/>
              <a:ea typeface="楷体_GB2312" pitchFamily="49" charset="-122"/>
            </a:endParaRPr>
          </a:p>
        </p:txBody>
      </p:sp>
      <p:sp>
        <p:nvSpPr>
          <p:cNvPr id="2" name="文本框 1"/>
          <p:cNvSpPr txBox="1"/>
          <p:nvPr/>
        </p:nvSpPr>
        <p:spPr>
          <a:xfrm>
            <a:off x="3384441" y="729144"/>
            <a:ext cx="5256584" cy="461665"/>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8100000" scaled="1"/>
            <a:tileRect/>
          </a:gradFill>
          <a:effectLst>
            <a:outerShdw blurRad="63500" sx="102000" sy="102000" algn="ctr" rotWithShape="0">
              <a:prstClr val="black">
                <a:alpha val="40000"/>
              </a:prstClr>
            </a:outerShdw>
          </a:effectLst>
        </p:spPr>
        <p:txBody>
          <a:bodyPr wrap="square" rtlCol="0">
            <a:spAutoFit/>
          </a:bodyPr>
          <a:lstStyle/>
          <a:p>
            <a:r>
              <a:rPr lang="zh-CN" altLang="en-US" b="1" dirty="0" smtClean="0">
                <a:solidFill>
                  <a:srgbClr val="FF0000"/>
                </a:solidFill>
              </a:rPr>
              <a:t>参见</a:t>
            </a:r>
            <a:r>
              <a:rPr lang="en-US" altLang="zh-CN" b="1" dirty="0" smtClean="0">
                <a:solidFill>
                  <a:srgbClr val="FF0000"/>
                </a:solidFill>
              </a:rPr>
              <a:t>《</a:t>
            </a:r>
            <a:r>
              <a:rPr lang="zh-CN" altLang="en-US" b="1" dirty="0" smtClean="0">
                <a:solidFill>
                  <a:srgbClr val="FF0000"/>
                </a:solidFill>
              </a:rPr>
              <a:t>设计手册</a:t>
            </a:r>
            <a:r>
              <a:rPr lang="en-US" altLang="zh-CN" b="1" dirty="0" smtClean="0">
                <a:solidFill>
                  <a:srgbClr val="FF0000"/>
                </a:solidFill>
              </a:rPr>
              <a:t>》P216~</a:t>
            </a:r>
            <a:endParaRPr lang="en-US" altLang="zh-CN" b="1" dirty="0" smtClean="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0682"/>
                                        </p:tgtEl>
                                        <p:attrNameLst>
                                          <p:attrName>style.visibility</p:attrName>
                                        </p:attrNameLst>
                                      </p:cBhvr>
                                      <p:to>
                                        <p:strVal val="visible"/>
                                      </p:to>
                                    </p:set>
                                    <p:anim calcmode="lin" valueType="num">
                                      <p:cBhvr additive="base">
                                        <p:cTn id="12" dur="500" fill="hold"/>
                                        <p:tgtEl>
                                          <p:spTgt spid="70682"/>
                                        </p:tgtEl>
                                        <p:attrNameLst>
                                          <p:attrName>ppt_x</p:attrName>
                                        </p:attrNameLst>
                                      </p:cBhvr>
                                      <p:tavLst>
                                        <p:tav tm="0">
                                          <p:val>
                                            <p:strVal val="0-#ppt_w/2"/>
                                          </p:val>
                                        </p:tav>
                                        <p:tav tm="100000">
                                          <p:val>
                                            <p:strVal val="#ppt_x"/>
                                          </p:val>
                                        </p:tav>
                                      </p:tavLst>
                                    </p:anim>
                                    <p:anim calcmode="lin" valueType="num">
                                      <p:cBhvr additive="base">
                                        <p:cTn id="13" dur="500" fill="hold"/>
                                        <p:tgtEl>
                                          <p:spTgt spid="7068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0684"/>
                                        </p:tgtEl>
                                        <p:attrNameLst>
                                          <p:attrName>style.visibility</p:attrName>
                                        </p:attrNameLst>
                                      </p:cBhvr>
                                      <p:to>
                                        <p:strVal val="visible"/>
                                      </p:to>
                                    </p:set>
                                    <p:anim calcmode="lin" valueType="num">
                                      <p:cBhvr additive="base">
                                        <p:cTn id="18" dur="500" fill="hold"/>
                                        <p:tgtEl>
                                          <p:spTgt spid="70684"/>
                                        </p:tgtEl>
                                        <p:attrNameLst>
                                          <p:attrName>ppt_x</p:attrName>
                                        </p:attrNameLst>
                                      </p:cBhvr>
                                      <p:tavLst>
                                        <p:tav tm="0">
                                          <p:val>
                                            <p:strVal val="0-#ppt_w/2"/>
                                          </p:val>
                                        </p:tav>
                                        <p:tav tm="100000">
                                          <p:val>
                                            <p:strVal val="#ppt_x"/>
                                          </p:val>
                                        </p:tav>
                                      </p:tavLst>
                                    </p:anim>
                                    <p:anim calcmode="lin" valueType="num">
                                      <p:cBhvr additive="base">
                                        <p:cTn id="19" dur="500" fill="hold"/>
                                        <p:tgtEl>
                                          <p:spTgt spid="7068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70685"/>
                                        </p:tgtEl>
                                        <p:attrNameLst>
                                          <p:attrName>style.visibility</p:attrName>
                                        </p:attrNameLst>
                                      </p:cBhvr>
                                      <p:to>
                                        <p:strVal val="visible"/>
                                      </p:to>
                                    </p:set>
                                    <p:anim calcmode="lin" valueType="num">
                                      <p:cBhvr additive="base">
                                        <p:cTn id="24" dur="500" fill="hold"/>
                                        <p:tgtEl>
                                          <p:spTgt spid="70685"/>
                                        </p:tgtEl>
                                        <p:attrNameLst>
                                          <p:attrName>ppt_x</p:attrName>
                                        </p:attrNameLst>
                                      </p:cBhvr>
                                      <p:tavLst>
                                        <p:tav tm="0">
                                          <p:val>
                                            <p:strVal val="0-#ppt_w/2"/>
                                          </p:val>
                                        </p:tav>
                                        <p:tav tm="100000">
                                          <p:val>
                                            <p:strVal val="#ppt_x"/>
                                          </p:val>
                                        </p:tav>
                                      </p:tavLst>
                                    </p:anim>
                                    <p:anim calcmode="lin" valueType="num">
                                      <p:cBhvr additive="base">
                                        <p:cTn id="25" dur="500" fill="hold"/>
                                        <p:tgtEl>
                                          <p:spTgt spid="70685"/>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70686"/>
                                        </p:tgtEl>
                                        <p:attrNameLst>
                                          <p:attrName>style.visibility</p:attrName>
                                        </p:attrNameLst>
                                      </p:cBhvr>
                                      <p:to>
                                        <p:strVal val="visible"/>
                                      </p:to>
                                    </p:set>
                                    <p:anim calcmode="lin" valueType="num">
                                      <p:cBhvr additive="base">
                                        <p:cTn id="30" dur="500" fill="hold"/>
                                        <p:tgtEl>
                                          <p:spTgt spid="70686"/>
                                        </p:tgtEl>
                                        <p:attrNameLst>
                                          <p:attrName>ppt_x</p:attrName>
                                        </p:attrNameLst>
                                      </p:cBhvr>
                                      <p:tavLst>
                                        <p:tav tm="0">
                                          <p:val>
                                            <p:strVal val="0-#ppt_w/2"/>
                                          </p:val>
                                        </p:tav>
                                        <p:tav tm="100000">
                                          <p:val>
                                            <p:strVal val="#ppt_x"/>
                                          </p:val>
                                        </p:tav>
                                      </p:tavLst>
                                    </p:anim>
                                    <p:anim calcmode="lin" valueType="num">
                                      <p:cBhvr additive="base">
                                        <p:cTn id="31" dur="500" fill="hold"/>
                                        <p:tgtEl>
                                          <p:spTgt spid="7068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70676"/>
                                        </p:tgtEl>
                                        <p:attrNameLst>
                                          <p:attrName>style.visibility</p:attrName>
                                        </p:attrNameLst>
                                      </p:cBhvr>
                                      <p:to>
                                        <p:strVal val="visible"/>
                                      </p:to>
                                    </p:set>
                                    <p:anim calcmode="lin" valueType="num">
                                      <p:cBhvr additive="base">
                                        <p:cTn id="36" dur="500" fill="hold"/>
                                        <p:tgtEl>
                                          <p:spTgt spid="70676"/>
                                        </p:tgtEl>
                                        <p:attrNameLst>
                                          <p:attrName>ppt_x</p:attrName>
                                        </p:attrNameLst>
                                      </p:cBhvr>
                                      <p:tavLst>
                                        <p:tav tm="0">
                                          <p:val>
                                            <p:strVal val="0-#ppt_w/2"/>
                                          </p:val>
                                        </p:tav>
                                        <p:tav tm="100000">
                                          <p:val>
                                            <p:strVal val="#ppt_x"/>
                                          </p:val>
                                        </p:tav>
                                      </p:tavLst>
                                    </p:anim>
                                    <p:anim calcmode="lin" valueType="num">
                                      <p:cBhvr additive="base">
                                        <p:cTn id="37" dur="500" fill="hold"/>
                                        <p:tgtEl>
                                          <p:spTgt spid="70676"/>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70677"/>
                                        </p:tgtEl>
                                        <p:attrNameLst>
                                          <p:attrName>style.visibility</p:attrName>
                                        </p:attrNameLst>
                                      </p:cBhvr>
                                      <p:to>
                                        <p:strVal val="visible"/>
                                      </p:to>
                                    </p:set>
                                    <p:anim calcmode="lin" valueType="num">
                                      <p:cBhvr additive="base">
                                        <p:cTn id="42" dur="500" fill="hold"/>
                                        <p:tgtEl>
                                          <p:spTgt spid="70677"/>
                                        </p:tgtEl>
                                        <p:attrNameLst>
                                          <p:attrName>ppt_x</p:attrName>
                                        </p:attrNameLst>
                                      </p:cBhvr>
                                      <p:tavLst>
                                        <p:tav tm="0">
                                          <p:val>
                                            <p:strVal val="0-#ppt_w/2"/>
                                          </p:val>
                                        </p:tav>
                                        <p:tav tm="100000">
                                          <p:val>
                                            <p:strVal val="#ppt_x"/>
                                          </p:val>
                                        </p:tav>
                                      </p:tavLst>
                                    </p:anim>
                                    <p:anim calcmode="lin" valueType="num">
                                      <p:cBhvr additive="base">
                                        <p:cTn id="43" dur="500" fill="hold"/>
                                        <p:tgtEl>
                                          <p:spTgt spid="70677"/>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70678"/>
                                        </p:tgtEl>
                                        <p:attrNameLst>
                                          <p:attrName>style.visibility</p:attrName>
                                        </p:attrNameLst>
                                      </p:cBhvr>
                                      <p:to>
                                        <p:strVal val="visible"/>
                                      </p:to>
                                    </p:set>
                                    <p:anim calcmode="lin" valueType="num">
                                      <p:cBhvr additive="base">
                                        <p:cTn id="48" dur="500" fill="hold"/>
                                        <p:tgtEl>
                                          <p:spTgt spid="70678"/>
                                        </p:tgtEl>
                                        <p:attrNameLst>
                                          <p:attrName>ppt_x</p:attrName>
                                        </p:attrNameLst>
                                      </p:cBhvr>
                                      <p:tavLst>
                                        <p:tav tm="0">
                                          <p:val>
                                            <p:strVal val="0-#ppt_w/2"/>
                                          </p:val>
                                        </p:tav>
                                        <p:tav tm="100000">
                                          <p:val>
                                            <p:strVal val="#ppt_x"/>
                                          </p:val>
                                        </p:tav>
                                      </p:tavLst>
                                    </p:anim>
                                    <p:anim calcmode="lin" valueType="num">
                                      <p:cBhvr additive="base">
                                        <p:cTn id="49" dur="500" fill="hold"/>
                                        <p:tgtEl>
                                          <p:spTgt spid="706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76" grpId="0"/>
      <p:bldP spid="70677" grpId="0"/>
      <p:bldP spid="70678" grpId="0"/>
      <p:bldP spid="70682" grpId="0"/>
      <p:bldP spid="70684" grpId="0"/>
      <p:bldP spid="70685" grpId="0"/>
      <p:bldP spid="70686" grpId="0"/>
      <p:bldP spid="2"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直接连接符 41985"/>
          <p:cNvSpPr/>
          <p:nvPr/>
        </p:nvSpPr>
        <p:spPr>
          <a:xfrm>
            <a:off x="0" y="1052736"/>
            <a:ext cx="9144000" cy="0"/>
          </a:xfrm>
          <a:prstGeom prst="line">
            <a:avLst/>
          </a:prstGeom>
          <a:ln w="57150" cap="flat" cmpd="thickThin">
            <a:solidFill>
              <a:srgbClr val="C00000"/>
            </a:solidFill>
            <a:prstDash val="solid"/>
            <a:headEnd type="none" w="med" len="med"/>
            <a:tailEnd type="none" w="med" len="med"/>
          </a:ln>
        </p:spPr>
      </p:sp>
      <p:sp>
        <p:nvSpPr>
          <p:cNvPr id="41987" name="文本框 41986">
            <a:hlinkClick r:id="" action="ppaction://noaction"/>
          </p:cNvPr>
          <p:cNvSpPr txBox="1"/>
          <p:nvPr/>
        </p:nvSpPr>
        <p:spPr>
          <a:xfrm>
            <a:off x="2771800" y="332656"/>
            <a:ext cx="3040063" cy="579438"/>
          </a:xfrm>
          <a:prstGeom prst="rect">
            <a:avLst/>
          </a:prstGeom>
          <a:noFill/>
          <a:ln w="9525">
            <a:noFill/>
          </a:ln>
        </p:spPr>
        <p:txBody>
          <a:bodyPr wrap="none" anchor="t">
            <a:spAutoFit/>
          </a:bodyPr>
          <a:lstStyle/>
          <a:p>
            <a:pPr algn="l"/>
            <a:r>
              <a:rPr lang="zh-CN" altLang="en-US" sz="3200" dirty="0" smtClean="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四、</a:t>
            </a:r>
            <a:r>
              <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rPr>
              <a:t>设计工作量</a:t>
            </a:r>
            <a:endParaRPr lang="zh-CN" altLang="en-US" sz="3200" dirty="0">
              <a:solidFill>
                <a:srgbClr val="FF3300"/>
              </a:solidFill>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41994" name="文本框 41993"/>
          <p:cNvSpPr txBox="1"/>
          <p:nvPr/>
        </p:nvSpPr>
        <p:spPr>
          <a:xfrm>
            <a:off x="-216088" y="1341021"/>
            <a:ext cx="8915400" cy="460375"/>
          </a:xfrm>
          <a:prstGeom prst="rect">
            <a:avLst/>
          </a:prstGeom>
          <a:noFill/>
          <a:ln w="9525">
            <a:noFill/>
          </a:ln>
        </p:spPr>
        <p:txBody>
          <a:bodyPr>
            <a:spAutoFit/>
          </a:bodyPr>
          <a:lstStyle/>
          <a:p>
            <a:pPr algn="l">
              <a:spcBef>
                <a:spcPct val="50000"/>
              </a:spcBef>
            </a:pPr>
            <a:r>
              <a:rPr lang="en-US" altLang="zh-CN" b="1" dirty="0">
                <a:solidFill>
                  <a:srgbClr val="000000"/>
                </a:solidFill>
                <a:latin typeface="楷体_GB2312" pitchFamily="49" charset="-122"/>
                <a:ea typeface="楷体_GB2312" pitchFamily="49" charset="-122"/>
              </a:rPr>
              <a:t>    </a:t>
            </a:r>
            <a:r>
              <a:rPr lang="zh-CN" altLang="en-US" b="1" dirty="0" smtClean="0">
                <a:solidFill>
                  <a:srgbClr val="FF0000"/>
                </a:solidFill>
                <a:latin typeface="楷体_GB2312" pitchFamily="49" charset="-122"/>
                <a:ea typeface="楷体_GB2312" pitchFamily="49" charset="-122"/>
              </a:rPr>
              <a:t>传动方案</a:t>
            </a:r>
            <a:r>
              <a:rPr lang="zh-CN" altLang="en-US" b="1" dirty="0" smtClean="0">
                <a:solidFill>
                  <a:srgbClr val="000000"/>
                </a:solidFill>
                <a:latin typeface="楷体_GB2312" pitchFamily="49" charset="-122"/>
                <a:ea typeface="楷体_GB2312" pitchFamily="49" charset="-122"/>
              </a:rPr>
              <a:t>：</a:t>
            </a:r>
            <a:r>
              <a:rPr lang="en-US" altLang="zh-CN" b="1" dirty="0" smtClean="0">
                <a:solidFill>
                  <a:srgbClr val="000000"/>
                </a:solidFill>
                <a:latin typeface="楷体_GB2312" pitchFamily="49" charset="-122"/>
                <a:ea typeface="楷体_GB2312" pitchFamily="49" charset="-122"/>
              </a:rPr>
              <a:t>  </a:t>
            </a:r>
            <a:r>
              <a:rPr lang="zh-CN" altLang="en-US" b="1" dirty="0" smtClean="0">
                <a:solidFill>
                  <a:srgbClr val="000000"/>
                </a:solidFill>
                <a:latin typeface="楷体_GB2312" pitchFamily="49" charset="-122"/>
                <a:ea typeface="楷体_GB2312" pitchFamily="49" charset="-122"/>
              </a:rPr>
              <a:t>带传动</a:t>
            </a:r>
            <a:r>
              <a:rPr lang="zh-CN" altLang="en-US" b="1" dirty="0" smtClean="0">
                <a:solidFill>
                  <a:srgbClr val="000000"/>
                </a:solidFill>
                <a:latin typeface="Arial" panose="020B0604020202020204" pitchFamily="34" charset="0"/>
                <a:ea typeface="楷体_GB2312" pitchFamily="49" charset="-122"/>
                <a:cs typeface="Arial" panose="020B0604020202020204" pitchFamily="34" charset="0"/>
              </a:rPr>
              <a:t>→</a:t>
            </a:r>
            <a:r>
              <a:rPr lang="zh-CN" altLang="en-US" b="1" dirty="0">
                <a:solidFill>
                  <a:srgbClr val="000000"/>
                </a:solidFill>
                <a:latin typeface="楷体_GB2312" pitchFamily="49" charset="-122"/>
                <a:ea typeface="楷体_GB2312" pitchFamily="49" charset="-122"/>
              </a:rPr>
              <a:t>二级展开式圆柱齿轮减速器</a:t>
            </a:r>
            <a:r>
              <a:rPr lang="zh-CN" altLang="en-US" b="1" dirty="0" smtClean="0">
                <a:solidFill>
                  <a:srgbClr val="000000"/>
                </a:solidFill>
                <a:latin typeface="Arial" panose="020B0604020202020204" pitchFamily="34" charset="0"/>
                <a:ea typeface="楷体_GB2312" pitchFamily="49" charset="-122"/>
                <a:cs typeface="Arial" panose="020B0604020202020204" pitchFamily="34" charset="0"/>
                <a:sym typeface="+mn-ea"/>
              </a:rPr>
              <a:t>→链传动</a:t>
            </a:r>
            <a:endParaRPr lang="zh-CN" altLang="en-US" b="1" dirty="0" smtClean="0">
              <a:solidFill>
                <a:srgbClr val="000000"/>
              </a:solidFill>
              <a:latin typeface="Arial" panose="020B0604020202020204" pitchFamily="34" charset="0"/>
              <a:ea typeface="楷体_GB2312" pitchFamily="49" charset="-122"/>
              <a:cs typeface="Arial" panose="020B0604020202020204" pitchFamily="34" charset="0"/>
              <a:sym typeface="+mn-ea"/>
            </a:endParaRPr>
          </a:p>
        </p:txBody>
      </p:sp>
      <p:sp>
        <p:nvSpPr>
          <p:cNvPr id="41995" name="文本框 41994"/>
          <p:cNvSpPr txBox="1"/>
          <p:nvPr/>
        </p:nvSpPr>
        <p:spPr>
          <a:xfrm>
            <a:off x="467544" y="2276872"/>
            <a:ext cx="8001000" cy="457200"/>
          </a:xfrm>
          <a:prstGeom prst="rect">
            <a:avLst/>
          </a:prstGeom>
          <a:noFill/>
          <a:ln w="9525">
            <a:noFill/>
          </a:ln>
        </p:spPr>
        <p:txBody>
          <a:bodyPr>
            <a:spAutoFit/>
          </a:bodyPr>
          <a:lstStyle/>
          <a:p>
            <a:pPr algn="l">
              <a:spcBef>
                <a:spcPct val="50000"/>
              </a:spcBef>
            </a:pPr>
            <a:r>
              <a:rPr lang="zh-CN" altLang="en-US" b="1" dirty="0">
                <a:solidFill>
                  <a:srgbClr val="FF0000"/>
                </a:solidFill>
                <a:latin typeface="楷体_GB2312" pitchFamily="49" charset="-122"/>
                <a:ea typeface="楷体_GB2312" pitchFamily="49" charset="-122"/>
              </a:rPr>
              <a:t>工作量</a:t>
            </a:r>
            <a:r>
              <a:rPr lang="zh-CN" altLang="en-US" b="1" dirty="0">
                <a:solidFill>
                  <a:srgbClr val="000000"/>
                </a:solidFill>
                <a:latin typeface="楷体_GB2312" pitchFamily="49" charset="-122"/>
                <a:ea typeface="楷体_GB2312" pitchFamily="49" charset="-122"/>
              </a:rPr>
              <a:t>：</a:t>
            </a:r>
            <a:r>
              <a:rPr lang="en-US" altLang="zh-CN" b="1" dirty="0">
                <a:solidFill>
                  <a:srgbClr val="000000"/>
                </a:solidFill>
                <a:latin typeface="楷体_GB2312" pitchFamily="49" charset="-122"/>
                <a:ea typeface="楷体_GB2312" pitchFamily="49" charset="-122"/>
              </a:rPr>
              <a:t>1</a:t>
            </a:r>
            <a:r>
              <a:rPr lang="zh-CN" altLang="en-US" b="1" dirty="0">
                <a:solidFill>
                  <a:srgbClr val="000000"/>
                </a:solidFill>
                <a:latin typeface="楷体_GB2312" pitchFamily="49" charset="-122"/>
                <a:ea typeface="楷体_GB2312" pitchFamily="49" charset="-122"/>
              </a:rPr>
              <a:t>、减速器</a:t>
            </a:r>
            <a:r>
              <a:rPr lang="zh-CN" altLang="en-US" b="1" dirty="0" smtClean="0">
                <a:solidFill>
                  <a:srgbClr val="000000"/>
                </a:solidFill>
                <a:latin typeface="楷体_GB2312" pitchFamily="49" charset="-122"/>
                <a:ea typeface="楷体_GB2312" pitchFamily="49" charset="-122"/>
              </a:rPr>
              <a:t>装配图</a:t>
            </a:r>
            <a:r>
              <a:rPr lang="en-US" altLang="zh-CN" b="1" dirty="0" smtClean="0">
                <a:solidFill>
                  <a:srgbClr val="000000"/>
                </a:solidFill>
                <a:latin typeface="楷体_GB2312" pitchFamily="49" charset="-122"/>
                <a:ea typeface="楷体_GB2312" pitchFamily="49" charset="-122"/>
              </a:rPr>
              <a:t>(A0</a:t>
            </a:r>
            <a:r>
              <a:rPr lang="zh-CN" altLang="en-US" b="1" dirty="0" smtClean="0">
                <a:solidFill>
                  <a:srgbClr val="000000"/>
                </a:solidFill>
                <a:latin typeface="楷体_GB2312" pitchFamily="49" charset="-122"/>
                <a:ea typeface="楷体_GB2312" pitchFamily="49" charset="-122"/>
              </a:rPr>
              <a:t>一张</a:t>
            </a:r>
            <a:r>
              <a:rPr lang="en-US" altLang="zh-CN" b="1" dirty="0" smtClean="0">
                <a:solidFill>
                  <a:srgbClr val="000000"/>
                </a:solidFill>
                <a:latin typeface="楷体_GB2312" pitchFamily="49" charset="-122"/>
                <a:ea typeface="楷体_GB2312" pitchFamily="49" charset="-122"/>
              </a:rPr>
              <a:t>)</a:t>
            </a:r>
            <a:endParaRPr lang="zh-CN" altLang="en-US" b="1" dirty="0">
              <a:solidFill>
                <a:srgbClr val="000000"/>
              </a:solidFill>
              <a:latin typeface="楷体_GB2312" pitchFamily="49" charset="-122"/>
              <a:ea typeface="楷体_GB2312" pitchFamily="49" charset="-122"/>
            </a:endParaRPr>
          </a:p>
        </p:txBody>
      </p:sp>
      <p:sp>
        <p:nvSpPr>
          <p:cNvPr id="41997" name="文本框 41996"/>
          <p:cNvSpPr txBox="1"/>
          <p:nvPr/>
        </p:nvSpPr>
        <p:spPr>
          <a:xfrm>
            <a:off x="683568" y="2996952"/>
            <a:ext cx="8763000" cy="460375"/>
          </a:xfrm>
          <a:prstGeom prst="rect">
            <a:avLst/>
          </a:prstGeom>
          <a:noFill/>
          <a:ln w="9525">
            <a:noFill/>
          </a:ln>
        </p:spPr>
        <p:txBody>
          <a:bodyPr>
            <a:spAutoFit/>
          </a:bodyPr>
          <a:lstStyle/>
          <a:p>
            <a:pPr algn="l">
              <a:spcBef>
                <a:spcPct val="50000"/>
              </a:spcBef>
            </a:pPr>
            <a:r>
              <a:rPr lang="en-US" altLang="zh-CN" dirty="0">
                <a:latin typeface="Times New Roman" panose="02020603050405020304" pitchFamily="18" charset="0"/>
              </a:rPr>
              <a:t>             </a:t>
            </a:r>
            <a:r>
              <a:rPr lang="en-US" altLang="zh-CN" dirty="0" smtClean="0">
                <a:latin typeface="Times New Roman" panose="02020603050405020304" pitchFamily="18" charset="0"/>
              </a:rPr>
              <a:t>2</a:t>
            </a:r>
            <a:r>
              <a:rPr lang="zh-CN" altLang="en-US" b="1" dirty="0" smtClean="0">
                <a:solidFill>
                  <a:srgbClr val="000000"/>
                </a:solidFill>
                <a:latin typeface="楷体_GB2312" pitchFamily="49" charset="-122"/>
                <a:ea typeface="楷体_GB2312" pitchFamily="49" charset="-122"/>
              </a:rPr>
              <a:t>、</a:t>
            </a:r>
            <a:r>
              <a:rPr lang="zh-CN" altLang="en-US" b="1" dirty="0">
                <a:solidFill>
                  <a:srgbClr val="000000"/>
                </a:solidFill>
                <a:latin typeface="楷体_GB2312" pitchFamily="49" charset="-122"/>
                <a:ea typeface="楷体_GB2312" pitchFamily="49" charset="-122"/>
              </a:rPr>
              <a:t>轴、齿轮零件图任选两张</a:t>
            </a:r>
            <a:r>
              <a:rPr lang="zh-CN" altLang="en-US" b="1" dirty="0" smtClean="0">
                <a:solidFill>
                  <a:srgbClr val="000000"/>
                </a:solidFill>
                <a:latin typeface="楷体_GB2312" pitchFamily="49" charset="-122"/>
                <a:ea typeface="楷体_GB2312" pitchFamily="49" charset="-122"/>
              </a:rPr>
              <a:t>（</a:t>
            </a:r>
            <a:r>
              <a:rPr lang="en-US" altLang="zh-CN" b="1" dirty="0" smtClean="0">
                <a:solidFill>
                  <a:srgbClr val="000000"/>
                </a:solidFill>
                <a:latin typeface="楷体_GB2312" pitchFamily="49" charset="-122"/>
                <a:ea typeface="楷体_GB2312" pitchFamily="49" charset="-122"/>
              </a:rPr>
              <a:t>A3</a:t>
            </a:r>
            <a:r>
              <a:rPr lang="zh-CN" altLang="en-US" b="1" dirty="0" smtClean="0">
                <a:solidFill>
                  <a:srgbClr val="000000"/>
                </a:solidFill>
                <a:latin typeface="楷体_GB2312" pitchFamily="49" charset="-122"/>
                <a:ea typeface="楷体_GB2312" pitchFamily="49" charset="-122"/>
              </a:rPr>
              <a:t>或</a:t>
            </a:r>
            <a:r>
              <a:rPr lang="en-US" altLang="zh-CN" b="1" dirty="0" smtClean="0">
                <a:solidFill>
                  <a:srgbClr val="000000"/>
                </a:solidFill>
                <a:latin typeface="楷体_GB2312" pitchFamily="49" charset="-122"/>
                <a:ea typeface="楷体_GB2312" pitchFamily="49" charset="-122"/>
              </a:rPr>
              <a:t>A2</a:t>
            </a:r>
            <a:r>
              <a:rPr lang="zh-CN" altLang="en-US" b="1" dirty="0" smtClean="0">
                <a:solidFill>
                  <a:srgbClr val="000000"/>
                </a:solidFill>
                <a:latin typeface="楷体_GB2312" pitchFamily="49" charset="-122"/>
                <a:ea typeface="楷体_GB2312" pitchFamily="49" charset="-122"/>
              </a:rPr>
              <a:t>）</a:t>
            </a:r>
            <a:endParaRPr lang="zh-CN" altLang="en-US" b="1" dirty="0">
              <a:solidFill>
                <a:srgbClr val="000000"/>
              </a:solidFill>
              <a:latin typeface="楷体_GB2312" pitchFamily="49" charset="-122"/>
              <a:ea typeface="楷体_GB2312" pitchFamily="49" charset="-122"/>
            </a:endParaRPr>
          </a:p>
        </p:txBody>
      </p:sp>
      <p:sp>
        <p:nvSpPr>
          <p:cNvPr id="41998" name="文本框 41997"/>
          <p:cNvSpPr txBox="1"/>
          <p:nvPr/>
        </p:nvSpPr>
        <p:spPr>
          <a:xfrm>
            <a:off x="1619672" y="3789040"/>
            <a:ext cx="8001000" cy="457200"/>
          </a:xfrm>
          <a:prstGeom prst="rect">
            <a:avLst/>
          </a:prstGeom>
          <a:noFill/>
          <a:ln w="9525">
            <a:noFill/>
          </a:ln>
        </p:spPr>
        <p:txBody>
          <a:bodyPr>
            <a:spAutoFit/>
          </a:bodyPr>
          <a:lstStyle/>
          <a:p>
            <a:pPr algn="l">
              <a:spcBef>
                <a:spcPct val="50000"/>
              </a:spcBef>
            </a:pPr>
            <a:r>
              <a:rPr lang="en-US" altLang="zh-CN" dirty="0" smtClean="0">
                <a:latin typeface="Times New Roman" panose="02020603050405020304" pitchFamily="18" charset="0"/>
              </a:rPr>
              <a:t>3</a:t>
            </a:r>
            <a:r>
              <a:rPr lang="zh-CN" altLang="en-US" b="1" dirty="0" smtClean="0">
                <a:solidFill>
                  <a:srgbClr val="000000"/>
                </a:solidFill>
                <a:latin typeface="楷体_GB2312" pitchFamily="49" charset="-122"/>
                <a:ea typeface="楷体_GB2312" pitchFamily="49" charset="-122"/>
              </a:rPr>
              <a:t>、</a:t>
            </a:r>
            <a:r>
              <a:rPr lang="zh-CN" altLang="en-US" b="1" dirty="0">
                <a:solidFill>
                  <a:srgbClr val="000000"/>
                </a:solidFill>
                <a:latin typeface="楷体_GB2312" pitchFamily="49" charset="-122"/>
                <a:ea typeface="楷体_GB2312" pitchFamily="49" charset="-122"/>
              </a:rPr>
              <a:t>设计说明书一份</a:t>
            </a:r>
            <a:endParaRPr lang="zh-CN" altLang="en-US" b="1" dirty="0">
              <a:solidFill>
                <a:srgbClr val="000000"/>
              </a:solidFill>
              <a:latin typeface="楷体_GB2312" pitchFamily="49" charset="-122"/>
              <a:ea typeface="楷体_GB2312" pitchFamily="49" charset="-122"/>
            </a:endParaRPr>
          </a:p>
        </p:txBody>
      </p:sp>
      <p:grpSp>
        <p:nvGrpSpPr>
          <p:cNvPr id="42013" name="组合 42012"/>
          <p:cNvGrpSpPr/>
          <p:nvPr/>
        </p:nvGrpSpPr>
        <p:grpSpPr>
          <a:xfrm>
            <a:off x="8115300" y="6515100"/>
            <a:ext cx="1028700" cy="342900"/>
            <a:chOff x="5112" y="4104"/>
            <a:chExt cx="648" cy="216"/>
          </a:xfrm>
        </p:grpSpPr>
        <p:pic>
          <p:nvPicPr>
            <p:cNvPr id="42014" name="图片 42013"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42015" name="组合 42014"/>
            <p:cNvGrpSpPr/>
            <p:nvPr/>
          </p:nvGrpSpPr>
          <p:grpSpPr>
            <a:xfrm>
              <a:off x="5352" y="4104"/>
              <a:ext cx="408" cy="216"/>
              <a:chOff x="5232" y="4100"/>
              <a:chExt cx="408" cy="216"/>
            </a:xfrm>
          </p:grpSpPr>
          <p:pic>
            <p:nvPicPr>
              <p:cNvPr id="42016" name="图片 42015"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42017" name="图片 42016"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994"/>
                                        </p:tgtEl>
                                        <p:attrNameLst>
                                          <p:attrName>style.visibility</p:attrName>
                                        </p:attrNameLst>
                                      </p:cBhvr>
                                      <p:to>
                                        <p:strVal val="visible"/>
                                      </p:to>
                                    </p:set>
                                    <p:anim calcmode="lin" valueType="num">
                                      <p:cBhvr additive="base">
                                        <p:cTn id="7" dur="500" fill="hold"/>
                                        <p:tgtEl>
                                          <p:spTgt spid="41994"/>
                                        </p:tgtEl>
                                        <p:attrNameLst>
                                          <p:attrName>ppt_x</p:attrName>
                                        </p:attrNameLst>
                                      </p:cBhvr>
                                      <p:tavLst>
                                        <p:tav tm="0">
                                          <p:val>
                                            <p:strVal val="0-#ppt_w/2"/>
                                          </p:val>
                                        </p:tav>
                                        <p:tav tm="100000">
                                          <p:val>
                                            <p:strVal val="#ppt_x"/>
                                          </p:val>
                                        </p:tav>
                                      </p:tavLst>
                                    </p:anim>
                                    <p:anim calcmode="lin" valueType="num">
                                      <p:cBhvr additive="base">
                                        <p:cTn id="8" dur="500" fill="hold"/>
                                        <p:tgtEl>
                                          <p:spTgt spid="419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995"/>
                                        </p:tgtEl>
                                        <p:attrNameLst>
                                          <p:attrName>style.visibility</p:attrName>
                                        </p:attrNameLst>
                                      </p:cBhvr>
                                      <p:to>
                                        <p:strVal val="visible"/>
                                      </p:to>
                                    </p:set>
                                    <p:anim calcmode="lin" valueType="num">
                                      <p:cBhvr additive="base">
                                        <p:cTn id="13" dur="500" fill="hold"/>
                                        <p:tgtEl>
                                          <p:spTgt spid="41995"/>
                                        </p:tgtEl>
                                        <p:attrNameLst>
                                          <p:attrName>ppt_x</p:attrName>
                                        </p:attrNameLst>
                                      </p:cBhvr>
                                      <p:tavLst>
                                        <p:tav tm="0">
                                          <p:val>
                                            <p:strVal val="0-#ppt_w/2"/>
                                          </p:val>
                                        </p:tav>
                                        <p:tav tm="100000">
                                          <p:val>
                                            <p:strVal val="#ppt_x"/>
                                          </p:val>
                                        </p:tav>
                                      </p:tavLst>
                                    </p:anim>
                                    <p:anim calcmode="lin" valueType="num">
                                      <p:cBhvr additive="base">
                                        <p:cTn id="14" dur="500" fill="hold"/>
                                        <p:tgtEl>
                                          <p:spTgt spid="4199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997"/>
                                        </p:tgtEl>
                                        <p:attrNameLst>
                                          <p:attrName>style.visibility</p:attrName>
                                        </p:attrNameLst>
                                      </p:cBhvr>
                                      <p:to>
                                        <p:strVal val="visible"/>
                                      </p:to>
                                    </p:set>
                                    <p:anim calcmode="lin" valueType="num">
                                      <p:cBhvr additive="base">
                                        <p:cTn id="19" dur="500" fill="hold"/>
                                        <p:tgtEl>
                                          <p:spTgt spid="41997"/>
                                        </p:tgtEl>
                                        <p:attrNameLst>
                                          <p:attrName>ppt_x</p:attrName>
                                        </p:attrNameLst>
                                      </p:cBhvr>
                                      <p:tavLst>
                                        <p:tav tm="0">
                                          <p:val>
                                            <p:strVal val="0-#ppt_w/2"/>
                                          </p:val>
                                        </p:tav>
                                        <p:tav tm="100000">
                                          <p:val>
                                            <p:strVal val="#ppt_x"/>
                                          </p:val>
                                        </p:tav>
                                      </p:tavLst>
                                    </p:anim>
                                    <p:anim calcmode="lin" valueType="num">
                                      <p:cBhvr additive="base">
                                        <p:cTn id="20" dur="500" fill="hold"/>
                                        <p:tgtEl>
                                          <p:spTgt spid="4199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1998"/>
                                        </p:tgtEl>
                                        <p:attrNameLst>
                                          <p:attrName>style.visibility</p:attrName>
                                        </p:attrNameLst>
                                      </p:cBhvr>
                                      <p:to>
                                        <p:strVal val="visible"/>
                                      </p:to>
                                    </p:set>
                                    <p:anim calcmode="lin" valueType="num">
                                      <p:cBhvr additive="base">
                                        <p:cTn id="25" dur="500" fill="hold"/>
                                        <p:tgtEl>
                                          <p:spTgt spid="41998"/>
                                        </p:tgtEl>
                                        <p:attrNameLst>
                                          <p:attrName>ppt_x</p:attrName>
                                        </p:attrNameLst>
                                      </p:cBhvr>
                                      <p:tavLst>
                                        <p:tav tm="0">
                                          <p:val>
                                            <p:strVal val="0-#ppt_w/2"/>
                                          </p:val>
                                        </p:tav>
                                        <p:tav tm="100000">
                                          <p:val>
                                            <p:strVal val="#ppt_x"/>
                                          </p:val>
                                        </p:tav>
                                      </p:tavLst>
                                    </p:anim>
                                    <p:anim calcmode="lin" valueType="num">
                                      <p:cBhvr additive="base">
                                        <p:cTn id="26" dur="500" fill="hold"/>
                                        <p:tgtEl>
                                          <p:spTgt spid="419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4" grpId="0"/>
      <p:bldP spid="41995" grpId="0"/>
      <p:bldP spid="41997" grpId="0"/>
      <p:bldP spid="4199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直接连接符 43009"/>
          <p:cNvSpPr/>
          <p:nvPr/>
        </p:nvSpPr>
        <p:spPr>
          <a:xfrm>
            <a:off x="0" y="836712"/>
            <a:ext cx="9144000" cy="0"/>
          </a:xfrm>
          <a:prstGeom prst="line">
            <a:avLst/>
          </a:prstGeom>
          <a:ln w="57150" cap="flat" cmpd="thickThin">
            <a:solidFill>
              <a:srgbClr val="C00000"/>
            </a:solidFill>
            <a:prstDash val="solid"/>
            <a:headEnd type="none" w="med" len="med"/>
            <a:tailEnd type="none" w="med" len="med"/>
          </a:ln>
        </p:spPr>
      </p:sp>
      <p:sp>
        <p:nvSpPr>
          <p:cNvPr id="43011" name="文本框 43010">
            <a:hlinkClick r:id="" action="ppaction://noaction"/>
          </p:cNvPr>
          <p:cNvSpPr txBox="1"/>
          <p:nvPr/>
        </p:nvSpPr>
        <p:spPr>
          <a:xfrm>
            <a:off x="1907704" y="188640"/>
            <a:ext cx="5945188" cy="579438"/>
          </a:xfrm>
          <a:prstGeom prst="rect">
            <a:avLst/>
          </a:prstGeom>
          <a:noFill/>
          <a:ln w="9525">
            <a:noFill/>
          </a:ln>
        </p:spPr>
        <p:txBody>
          <a:bodyPr>
            <a:spAutoFit/>
          </a:bodyPr>
          <a:lstStyle/>
          <a:p>
            <a:pPr algn="l"/>
            <a:r>
              <a:rPr lang="zh-CN" altLang="en-US" sz="3200" dirty="0">
                <a:solidFill>
                  <a:srgbClr val="FF3300"/>
                </a:solidFill>
                <a:latin typeface="黑体" panose="02010609060101010101" pitchFamily="49" charset="-122"/>
                <a:ea typeface="黑体" panose="02010609060101010101" pitchFamily="49" charset="-122"/>
              </a:rPr>
              <a:t>五</a:t>
            </a:r>
            <a:r>
              <a:rPr lang="zh-CN" altLang="en-US" sz="3200" dirty="0" smtClean="0">
                <a:solidFill>
                  <a:srgbClr val="FF3300"/>
                </a:solidFill>
                <a:latin typeface="黑体" panose="02010609060101010101" pitchFamily="49" charset="-122"/>
                <a:ea typeface="黑体" panose="02010609060101010101" pitchFamily="49" charset="-122"/>
              </a:rPr>
              <a:t>、课程设计进度安排</a:t>
            </a:r>
            <a:endParaRPr lang="zh-CN" altLang="en-US" sz="3200" dirty="0">
              <a:solidFill>
                <a:srgbClr val="FF3300"/>
              </a:solidFill>
              <a:latin typeface="黑体" panose="02010609060101010101" pitchFamily="49" charset="-122"/>
              <a:ea typeface="黑体" panose="02010609060101010101" pitchFamily="49" charset="-122"/>
            </a:endParaRPr>
          </a:p>
        </p:txBody>
      </p:sp>
      <p:grpSp>
        <p:nvGrpSpPr>
          <p:cNvPr id="43024" name="组合 43023"/>
          <p:cNvGrpSpPr/>
          <p:nvPr/>
        </p:nvGrpSpPr>
        <p:grpSpPr>
          <a:xfrm>
            <a:off x="8115300" y="6515100"/>
            <a:ext cx="1028700" cy="342900"/>
            <a:chOff x="5112" y="4104"/>
            <a:chExt cx="648" cy="216"/>
          </a:xfrm>
        </p:grpSpPr>
        <p:pic>
          <p:nvPicPr>
            <p:cNvPr id="43025" name="图片 43024"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43026" name="组合 43025"/>
            <p:cNvGrpSpPr/>
            <p:nvPr/>
          </p:nvGrpSpPr>
          <p:grpSpPr>
            <a:xfrm>
              <a:off x="5352" y="4104"/>
              <a:ext cx="408" cy="216"/>
              <a:chOff x="5232" y="4100"/>
              <a:chExt cx="408" cy="216"/>
            </a:xfrm>
          </p:grpSpPr>
          <p:pic>
            <p:nvPicPr>
              <p:cNvPr id="43027" name="图片 43026"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43028" name="图片 43027"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
        <p:nvSpPr>
          <p:cNvPr id="2" name="文本框 1"/>
          <p:cNvSpPr txBox="1"/>
          <p:nvPr/>
        </p:nvSpPr>
        <p:spPr>
          <a:xfrm>
            <a:off x="324485" y="2025015"/>
            <a:ext cx="3829050" cy="52197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a:effectLst>
            <a:outerShdw blurRad="50800" dist="38100" dir="16200000" rotWithShape="0">
              <a:prstClr val="black">
                <a:alpha val="40000"/>
              </a:prstClr>
            </a:outerShdw>
          </a:effectLst>
        </p:spPr>
        <p:txBody>
          <a:bodyPr wrap="square" rtlCol="0">
            <a:spAutoFit/>
          </a:bodyPr>
          <a:lstStyle/>
          <a:p>
            <a:pPr algn="l"/>
            <a:r>
              <a:rPr lang="zh-CN" altLang="en-US" sz="2800" dirty="0">
                <a:solidFill>
                  <a:schemeClr val="accent6">
                    <a:lumMod val="75000"/>
                  </a:schemeClr>
                </a:solidFill>
                <a:latin typeface="黑体" panose="02010609060101010101" pitchFamily="49" charset="-122"/>
                <a:ea typeface="黑体" panose="02010609060101010101" pitchFamily="49" charset="-122"/>
              </a:rPr>
              <a:t>第一阶段：</a:t>
            </a:r>
            <a:endParaRPr lang="zh-CN" altLang="en-US" sz="2800" dirty="0">
              <a:solidFill>
                <a:schemeClr val="accent6">
                  <a:lumMod val="75000"/>
                </a:schemeClr>
              </a:solidFill>
              <a:latin typeface="黑体" panose="02010609060101010101" pitchFamily="49" charset="-122"/>
              <a:ea typeface="黑体" panose="02010609060101010101" pitchFamily="49" charset="-122"/>
            </a:endParaRPr>
          </a:p>
        </p:txBody>
      </p:sp>
      <p:sp>
        <p:nvSpPr>
          <p:cNvPr id="17" name="文本框 16"/>
          <p:cNvSpPr txBox="1"/>
          <p:nvPr/>
        </p:nvSpPr>
        <p:spPr>
          <a:xfrm>
            <a:off x="2520315" y="1233170"/>
            <a:ext cx="2224405" cy="460375"/>
          </a:xfrm>
          <a:prstGeom prst="rect">
            <a:avLst/>
          </a:prstGeom>
          <a:noFill/>
        </p:spPr>
        <p:txBody>
          <a:bodyPr wrap="square" rtlCol="0">
            <a:spAutoFit/>
          </a:bodyPr>
          <a:lstStyle/>
          <a:p>
            <a:pPr algn="l"/>
            <a:r>
              <a:rPr lang="en-US" dirty="0" smtClean="0"/>
              <a:t>1~4 </a:t>
            </a:r>
            <a:r>
              <a:rPr lang="zh-CN" altLang="en-US" dirty="0" smtClean="0"/>
              <a:t>项内容</a:t>
            </a:r>
            <a:endParaRPr lang="zh-CN" altLang="en-US" dirty="0" smtClean="0"/>
          </a:p>
        </p:txBody>
      </p:sp>
      <p:sp>
        <p:nvSpPr>
          <p:cNvPr id="18" name="文本框 17"/>
          <p:cNvSpPr txBox="1"/>
          <p:nvPr/>
        </p:nvSpPr>
        <p:spPr>
          <a:xfrm>
            <a:off x="-107751" y="2781414"/>
            <a:ext cx="7128792" cy="1198880"/>
          </a:xfrm>
          <a:prstGeom prst="rect">
            <a:avLst/>
          </a:prstGeom>
          <a:noFill/>
        </p:spPr>
        <p:txBody>
          <a:bodyPr wrap="square" rtlCol="0">
            <a:spAutoFit/>
          </a:bodyPr>
          <a:lstStyle/>
          <a:p>
            <a:r>
              <a:rPr lang="zh-CN" altLang="en-US" dirty="0" smtClean="0">
                <a:latin typeface="黑体" panose="02010609060101010101" pitchFamily="49" charset="-122"/>
                <a:ea typeface="黑体" panose="02010609060101010101" pitchFamily="49" charset="-122"/>
              </a:rPr>
              <a:t>减速器装配图的设计</a:t>
            </a:r>
            <a:endParaRPr lang="en-US" altLang="zh-CN" dirty="0" smtClean="0">
              <a:latin typeface="黑体" panose="02010609060101010101" pitchFamily="49" charset="-122"/>
              <a:ea typeface="黑体" panose="02010609060101010101" pitchFamily="49" charset="-122"/>
            </a:endParaRPr>
          </a:p>
          <a:p>
            <a:r>
              <a:rPr lang="zh-CN" altLang="en-US" dirty="0" smtClean="0"/>
              <a:t>            </a:t>
            </a:r>
            <a:endParaRPr lang="en-US" altLang="zh-CN" dirty="0" smtClean="0"/>
          </a:p>
          <a:p>
            <a:r>
              <a:rPr lang="zh-CN" altLang="en-US" dirty="0" smtClean="0"/>
              <a:t>    </a:t>
            </a:r>
            <a:r>
              <a:rPr lang="zh-CN" altLang="en-US" dirty="0" smtClean="0">
                <a:latin typeface="黑体" panose="02010609060101010101" pitchFamily="49" charset="-122"/>
                <a:ea typeface="黑体" panose="02010609060101010101" pitchFamily="49" charset="-122"/>
              </a:rPr>
              <a:t>减速器装配图草图绘制</a:t>
            </a:r>
            <a:endParaRPr lang="zh-CN" altLang="en-US" dirty="0">
              <a:latin typeface="黑体" panose="02010609060101010101" pitchFamily="49" charset="-122"/>
              <a:ea typeface="黑体" panose="02010609060101010101" pitchFamily="49" charset="-122"/>
            </a:endParaRPr>
          </a:p>
        </p:txBody>
      </p:sp>
      <p:sp>
        <p:nvSpPr>
          <p:cNvPr id="4" name="文本框 3"/>
          <p:cNvSpPr txBox="1"/>
          <p:nvPr/>
        </p:nvSpPr>
        <p:spPr>
          <a:xfrm>
            <a:off x="720264" y="4257263"/>
            <a:ext cx="5040560" cy="460375"/>
          </a:xfrm>
          <a:prstGeom prst="rect">
            <a:avLst/>
          </a:prstGeom>
          <a:noFill/>
        </p:spPr>
        <p:txBody>
          <a:bodyPr wrap="square" rtlCol="0">
            <a:spAutoFit/>
          </a:bodyPr>
          <a:lstStyle/>
          <a:p>
            <a:r>
              <a:rPr lang="zh-CN" altLang="en-US" dirty="0" smtClean="0">
                <a:latin typeface="黑体" panose="02010609060101010101" pitchFamily="49" charset="-122"/>
                <a:ea typeface="黑体" panose="02010609060101010101" pitchFamily="49" charset="-122"/>
              </a:rPr>
              <a:t>从俯视图开始设计</a:t>
            </a:r>
            <a:endParaRPr lang="zh-CN" altLang="en-US" dirty="0">
              <a:latin typeface="黑体" panose="02010609060101010101" pitchFamily="49" charset="-122"/>
              <a:ea typeface="黑体" panose="02010609060101010101" pitchFamily="49" charset="-122"/>
            </a:endParaRPr>
          </a:p>
        </p:txBody>
      </p:sp>
      <p:sp>
        <p:nvSpPr>
          <p:cNvPr id="14" name="文本框 13"/>
          <p:cNvSpPr txBox="1"/>
          <p:nvPr/>
        </p:nvSpPr>
        <p:spPr>
          <a:xfrm>
            <a:off x="986840" y="5265127"/>
            <a:ext cx="7128792" cy="460375"/>
          </a:xfrm>
          <a:prstGeom prst="rect">
            <a:avLst/>
          </a:prstGeom>
          <a:noFill/>
        </p:spPr>
        <p:txBody>
          <a:bodyPr wrap="square" rtlCol="0">
            <a:spAutoFit/>
          </a:bodyPr>
          <a:lstStyle/>
          <a:p>
            <a:pPr algn="l"/>
            <a:r>
              <a:rPr lang="en-US" altLang="zh-CN" b="1" dirty="0" smtClean="0">
                <a:solidFill>
                  <a:srgbClr val="FF0000"/>
                </a:solidFill>
                <a:latin typeface="黑体" panose="02010609060101010101" pitchFamily="49" charset="-122"/>
                <a:ea typeface="黑体" panose="02010609060101010101" pitchFamily="49" charset="-122"/>
                <a:cs typeface="黑体" panose="02010609060101010101" pitchFamily="49" charset="-122"/>
              </a:rPr>
              <a:t>12</a:t>
            </a:r>
            <a:r>
              <a:rPr lang="zh-CN" altLang="en-US" b="1" dirty="0" smtClean="0">
                <a:solidFill>
                  <a:srgbClr val="FF0000"/>
                </a:solidFill>
                <a:latin typeface="黑体" panose="02010609060101010101" pitchFamily="49" charset="-122"/>
                <a:ea typeface="黑体" panose="02010609060101010101" pitchFamily="49" charset="-122"/>
                <a:cs typeface="黑体" panose="02010609060101010101" pitchFamily="49" charset="-122"/>
              </a:rPr>
              <a:t>月</a:t>
            </a:r>
            <a:r>
              <a:rPr lang="en-US" altLang="zh-CN" b="1" dirty="0" smtClean="0">
                <a:solidFill>
                  <a:srgbClr val="FF0000"/>
                </a:solidFill>
                <a:latin typeface="黑体" panose="02010609060101010101" pitchFamily="49" charset="-122"/>
                <a:ea typeface="黑体" panose="02010609060101010101" pitchFamily="49" charset="-122"/>
                <a:cs typeface="黑体" panose="02010609060101010101" pitchFamily="49" charset="-122"/>
              </a:rPr>
              <a:t>28</a:t>
            </a:r>
            <a:r>
              <a:rPr lang="zh-CN" altLang="en-US" b="1" dirty="0" smtClean="0">
                <a:solidFill>
                  <a:srgbClr val="FF0000"/>
                </a:solidFill>
                <a:latin typeface="黑体" panose="02010609060101010101" pitchFamily="49" charset="-122"/>
                <a:ea typeface="黑体" panose="02010609060101010101" pitchFamily="49" charset="-122"/>
                <a:cs typeface="黑体" panose="02010609060101010101" pitchFamily="49" charset="-122"/>
              </a:rPr>
              <a:t>日：</a:t>
            </a:r>
            <a:r>
              <a:rPr lang="zh-CN" altLang="en-US" dirty="0" smtClean="0">
                <a:latin typeface="黑体" panose="02010609060101010101" pitchFamily="49" charset="-122"/>
                <a:ea typeface="黑体" panose="02010609060101010101" pitchFamily="49" charset="-122"/>
                <a:cs typeface="黑体" panose="02010609060101010101" pitchFamily="49" charset="-122"/>
              </a:rPr>
              <a:t>检查进度（完成俯视图绘制）</a:t>
            </a:r>
            <a:endParaRPr lang="zh-CN" altLang="en-US" dirty="0">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250825" y="1190625"/>
            <a:ext cx="3888740" cy="460375"/>
          </a:xfrm>
          <a:prstGeom prst="rect">
            <a:avLst/>
          </a:prstGeom>
          <a:noFill/>
        </p:spPr>
        <p:txBody>
          <a:bodyPr wrap="square" rtlCol="0">
            <a:spAutoFit/>
          </a:bodyPr>
          <a:p>
            <a:pPr algn="l"/>
            <a:r>
              <a:rPr lang="zh-CN" altLang="en-US">
                <a:solidFill>
                  <a:srgbClr val="FF0000"/>
                </a:solidFill>
                <a:latin typeface="黑体" panose="02010609060101010101" pitchFamily="49" charset="-122"/>
                <a:ea typeface="黑体" panose="02010609060101010101" pitchFamily="49" charset="-122"/>
              </a:rPr>
              <a:t>目前应已完成：</a:t>
            </a:r>
            <a:endParaRPr lang="zh-CN" altLang="en-US">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直接连接符 43009"/>
          <p:cNvSpPr/>
          <p:nvPr/>
        </p:nvSpPr>
        <p:spPr>
          <a:xfrm>
            <a:off x="0" y="836712"/>
            <a:ext cx="9144000" cy="0"/>
          </a:xfrm>
          <a:prstGeom prst="line">
            <a:avLst/>
          </a:prstGeom>
          <a:ln w="57150" cap="flat" cmpd="thickThin">
            <a:solidFill>
              <a:srgbClr val="C00000"/>
            </a:solidFill>
            <a:prstDash val="solid"/>
            <a:headEnd type="none" w="med" len="med"/>
            <a:tailEnd type="none" w="med" len="med"/>
          </a:ln>
        </p:spPr>
      </p:sp>
      <p:sp>
        <p:nvSpPr>
          <p:cNvPr id="43011" name="文本框 43010">
            <a:hlinkClick r:id="" action="ppaction://noaction"/>
          </p:cNvPr>
          <p:cNvSpPr txBox="1"/>
          <p:nvPr/>
        </p:nvSpPr>
        <p:spPr>
          <a:xfrm>
            <a:off x="1907704" y="188640"/>
            <a:ext cx="5945188" cy="579438"/>
          </a:xfrm>
          <a:prstGeom prst="rect">
            <a:avLst/>
          </a:prstGeom>
          <a:noFill/>
          <a:ln w="9525">
            <a:noFill/>
          </a:ln>
        </p:spPr>
        <p:txBody>
          <a:bodyPr>
            <a:spAutoFit/>
          </a:bodyPr>
          <a:lstStyle/>
          <a:p>
            <a:pPr algn="l"/>
            <a:r>
              <a:rPr lang="zh-CN" altLang="en-US" sz="3200" dirty="0">
                <a:solidFill>
                  <a:srgbClr val="FF3300"/>
                </a:solidFill>
                <a:latin typeface="黑体" panose="02010609060101010101" pitchFamily="49" charset="-122"/>
                <a:ea typeface="黑体" panose="02010609060101010101" pitchFamily="49" charset="-122"/>
              </a:rPr>
              <a:t>五</a:t>
            </a:r>
            <a:r>
              <a:rPr lang="zh-CN" altLang="en-US" sz="3200" dirty="0" smtClean="0">
                <a:solidFill>
                  <a:srgbClr val="FF3300"/>
                </a:solidFill>
                <a:latin typeface="黑体" panose="02010609060101010101" pitchFamily="49" charset="-122"/>
                <a:ea typeface="黑体" panose="02010609060101010101" pitchFamily="49" charset="-122"/>
              </a:rPr>
              <a:t>、课程设计进度安排</a:t>
            </a:r>
            <a:endParaRPr lang="zh-CN" altLang="en-US" sz="3200" dirty="0">
              <a:solidFill>
                <a:srgbClr val="FF3300"/>
              </a:solidFill>
              <a:latin typeface="黑体" panose="02010609060101010101" pitchFamily="49" charset="-122"/>
              <a:ea typeface="黑体" panose="02010609060101010101" pitchFamily="49" charset="-122"/>
            </a:endParaRPr>
          </a:p>
        </p:txBody>
      </p:sp>
      <p:sp>
        <p:nvSpPr>
          <p:cNvPr id="2" name="文本框 1"/>
          <p:cNvSpPr txBox="1"/>
          <p:nvPr/>
        </p:nvSpPr>
        <p:spPr>
          <a:xfrm>
            <a:off x="395536" y="980728"/>
            <a:ext cx="1656184" cy="52197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a:effectLst>
            <a:outerShdw blurRad="50800" dist="38100" dir="16200000" rotWithShape="0">
              <a:prstClr val="black">
                <a:alpha val="40000"/>
              </a:prstClr>
            </a:outerShdw>
          </a:effectLst>
        </p:spPr>
        <p:txBody>
          <a:bodyPr wrap="square" rtlCol="0">
            <a:spAutoFit/>
          </a:bodyPr>
          <a:lstStyle/>
          <a:p>
            <a:pPr algn="l"/>
            <a:r>
              <a:rPr lang="zh-CN" sz="2800" dirty="0">
                <a:solidFill>
                  <a:schemeClr val="accent6">
                    <a:lumMod val="75000"/>
                  </a:schemeClr>
                </a:solidFill>
                <a:latin typeface="黑体" panose="02010609060101010101" pitchFamily="49" charset="-122"/>
                <a:ea typeface="黑体" panose="02010609060101010101" pitchFamily="49" charset="-122"/>
              </a:rPr>
              <a:t>第二阶段</a:t>
            </a:r>
            <a:endParaRPr lang="zh-CN" sz="2800" dirty="0">
              <a:solidFill>
                <a:schemeClr val="accent6">
                  <a:lumMod val="75000"/>
                </a:schemeClr>
              </a:solidFill>
              <a:latin typeface="黑体" panose="02010609060101010101" pitchFamily="49" charset="-122"/>
              <a:ea typeface="黑体" panose="02010609060101010101" pitchFamily="49" charset="-122"/>
            </a:endParaRPr>
          </a:p>
        </p:txBody>
      </p:sp>
      <p:sp>
        <p:nvSpPr>
          <p:cNvPr id="17" name="文本框 16"/>
          <p:cNvSpPr txBox="1"/>
          <p:nvPr/>
        </p:nvSpPr>
        <p:spPr>
          <a:xfrm>
            <a:off x="611555" y="1916832"/>
            <a:ext cx="7488832" cy="829945"/>
          </a:xfrm>
          <a:prstGeom prst="rect">
            <a:avLst/>
          </a:prstGeom>
          <a:noFill/>
        </p:spPr>
        <p:txBody>
          <a:bodyPr wrap="square" rtlCol="0">
            <a:spAutoFit/>
          </a:bodyPr>
          <a:lstStyle/>
          <a:p>
            <a:r>
              <a:rPr lang="en-US" b="1" dirty="0" smtClean="0">
                <a:solidFill>
                  <a:srgbClr val="FF0000"/>
                </a:solidFill>
              </a:rPr>
              <a:t>1</a:t>
            </a:r>
            <a:r>
              <a:rPr lang="zh-CN" altLang="en-US" b="1" dirty="0">
                <a:solidFill>
                  <a:srgbClr val="FF0000"/>
                </a:solidFill>
              </a:rPr>
              <a:t>：</a:t>
            </a:r>
            <a:r>
              <a:rPr lang="zh-CN" altLang="en-US" dirty="0" smtClean="0">
                <a:latin typeface="黑体" panose="02010609060101010101" pitchFamily="49" charset="-122"/>
                <a:ea typeface="黑体" panose="02010609060101010101" pitchFamily="49" charset="-122"/>
                <a:cs typeface="黑体" panose="02010609060101010101" pitchFamily="49" charset="-122"/>
              </a:rPr>
              <a:t>轴承寿命校核、键的强度校核、轴的强度校核</a:t>
            </a:r>
            <a:endParaRPr lang="en-US" altLang="zh-CN" dirty="0" smtClean="0">
              <a:latin typeface="黑体" panose="02010609060101010101" pitchFamily="49" charset="-122"/>
              <a:ea typeface="黑体" panose="02010609060101010101" pitchFamily="49" charset="-122"/>
              <a:cs typeface="黑体" panose="02010609060101010101" pitchFamily="49" charset="-122"/>
            </a:endParaRPr>
          </a:p>
          <a:p>
            <a:pPr algn="l"/>
            <a:r>
              <a:rPr lang="en-US" dirty="0" smtClean="0">
                <a:latin typeface="黑体" panose="02010609060101010101" pitchFamily="49" charset="-122"/>
                <a:ea typeface="黑体" panose="02010609060101010101" pitchFamily="49" charset="-122"/>
                <a:cs typeface="黑体" panose="02010609060101010101" pitchFamily="49" charset="-122"/>
              </a:rPr>
              <a:t>       12</a:t>
            </a:r>
            <a:r>
              <a:rPr lang="zh-CN" altLang="en-US" dirty="0" smtClean="0">
                <a:latin typeface="黑体" panose="02010609060101010101" pitchFamily="49" charset="-122"/>
                <a:ea typeface="黑体" panose="02010609060101010101" pitchFamily="49" charset="-122"/>
                <a:cs typeface="黑体" panose="02010609060101010101" pitchFamily="49" charset="-122"/>
              </a:rPr>
              <a:t>月</a:t>
            </a:r>
            <a:r>
              <a:rPr lang="en-US" altLang="zh-CN" dirty="0" smtClean="0">
                <a:latin typeface="黑体" panose="02010609060101010101" pitchFamily="49" charset="-122"/>
                <a:ea typeface="黑体" panose="02010609060101010101" pitchFamily="49" charset="-122"/>
                <a:cs typeface="黑体" panose="02010609060101010101" pitchFamily="49" charset="-122"/>
              </a:rPr>
              <a:t>31</a:t>
            </a:r>
            <a:r>
              <a:rPr lang="zh-CN" altLang="en-US" dirty="0" smtClean="0">
                <a:latin typeface="黑体" panose="02010609060101010101" pitchFamily="49" charset="-122"/>
                <a:ea typeface="黑体" panose="02010609060101010101" pitchFamily="49" charset="-122"/>
                <a:cs typeface="黑体" panose="02010609060101010101" pitchFamily="49" charset="-122"/>
              </a:rPr>
              <a:t>日</a:t>
            </a:r>
            <a:r>
              <a:rPr lang="zh-CN" altLang="en-US" b="1" dirty="0">
                <a:solidFill>
                  <a:srgbClr val="FF0000"/>
                </a:solidFill>
                <a:latin typeface="黑体" panose="02010609060101010101" pitchFamily="49" charset="-122"/>
                <a:ea typeface="黑体" panose="02010609060101010101" pitchFamily="49" charset="-122"/>
                <a:cs typeface="黑体" panose="02010609060101010101" pitchFamily="49" charset="-122"/>
              </a:rPr>
              <a:t>：</a:t>
            </a:r>
            <a:r>
              <a:rPr lang="zh-CN" altLang="en-US" dirty="0" smtClean="0">
                <a:latin typeface="黑体" panose="02010609060101010101" pitchFamily="49" charset="-122"/>
                <a:ea typeface="黑体" panose="02010609060101010101" pitchFamily="49" charset="-122"/>
                <a:cs typeface="黑体" panose="02010609060101010101" pitchFamily="49" charset="-122"/>
              </a:rPr>
              <a:t>检查进度</a:t>
            </a:r>
            <a:endParaRPr lang="en-US" altLang="zh-CN" dirty="0" smtClean="0">
              <a:latin typeface="黑体" panose="02010609060101010101" pitchFamily="49" charset="-122"/>
              <a:ea typeface="黑体" panose="02010609060101010101" pitchFamily="49" charset="-122"/>
              <a:cs typeface="黑体" panose="02010609060101010101" pitchFamily="49" charset="-122"/>
            </a:endParaRPr>
          </a:p>
        </p:txBody>
      </p:sp>
      <p:sp>
        <p:nvSpPr>
          <p:cNvPr id="18" name="文本框 17"/>
          <p:cNvSpPr txBox="1"/>
          <p:nvPr/>
        </p:nvSpPr>
        <p:spPr>
          <a:xfrm>
            <a:off x="-252051" y="2924552"/>
            <a:ext cx="7128792" cy="460375"/>
          </a:xfrm>
          <a:prstGeom prst="rect">
            <a:avLst/>
          </a:prstGeom>
          <a:noFill/>
        </p:spPr>
        <p:txBody>
          <a:bodyPr wrap="square" rtlCol="0">
            <a:spAutoFit/>
          </a:bodyPr>
          <a:lstStyle/>
          <a:p>
            <a:r>
              <a:rPr lang="en-US" altLang="zh-CN" b="1" dirty="0">
                <a:solidFill>
                  <a:srgbClr val="FF0000"/>
                </a:solidFill>
              </a:rPr>
              <a:t>2</a:t>
            </a:r>
            <a:r>
              <a:rPr lang="zh-CN" altLang="en-US" b="1" dirty="0">
                <a:solidFill>
                  <a:srgbClr val="FF0000"/>
                </a:solidFill>
              </a:rPr>
              <a:t>：</a:t>
            </a:r>
            <a:r>
              <a:rPr lang="zh-CN" altLang="en-US" dirty="0" smtClean="0">
                <a:latin typeface="黑体" panose="02010609060101010101" pitchFamily="49" charset="-122"/>
                <a:ea typeface="黑体" panose="02010609060101010101" pitchFamily="49" charset="-122"/>
              </a:rPr>
              <a:t>完成减速器装配图草图绘</a:t>
            </a:r>
            <a:r>
              <a:rPr lang="zh-CN" altLang="en-US" dirty="0" smtClean="0"/>
              <a:t>制</a:t>
            </a:r>
            <a:endParaRPr lang="zh-CN" altLang="en-US" dirty="0"/>
          </a:p>
        </p:txBody>
      </p:sp>
      <p:sp>
        <p:nvSpPr>
          <p:cNvPr id="4" name="文本框 3"/>
          <p:cNvSpPr txBox="1"/>
          <p:nvPr/>
        </p:nvSpPr>
        <p:spPr>
          <a:xfrm>
            <a:off x="899716" y="3429243"/>
            <a:ext cx="5040560" cy="1568450"/>
          </a:xfrm>
          <a:prstGeom prst="rect">
            <a:avLst/>
          </a:prstGeom>
          <a:noFill/>
        </p:spPr>
        <p:txBody>
          <a:bodyPr wrap="square" rtlCol="0">
            <a:spAutoFit/>
          </a:bodyPr>
          <a:lstStyle/>
          <a:p>
            <a:r>
              <a:rPr lang="en-US" altLang="zh-CN" dirty="0" smtClean="0"/>
              <a:t>       </a:t>
            </a:r>
            <a:r>
              <a:rPr lang="zh-CN" altLang="en-US" dirty="0" smtClean="0">
                <a:latin typeface="黑体" panose="02010609060101010101" pitchFamily="49" charset="-122"/>
                <a:ea typeface="黑体" panose="02010609060101010101" pitchFamily="49" charset="-122"/>
                <a:cs typeface="黑体" panose="02010609060101010101" pitchFamily="49" charset="-122"/>
              </a:rPr>
              <a:t>主视图、左视图</a:t>
            </a:r>
            <a:endParaRPr lang="en-US" altLang="zh-CN" dirty="0" smtClean="0">
              <a:latin typeface="黑体" panose="02010609060101010101" pitchFamily="49" charset="-122"/>
              <a:ea typeface="黑体" panose="02010609060101010101" pitchFamily="49" charset="-122"/>
              <a:cs typeface="黑体" panose="02010609060101010101" pitchFamily="49" charset="-122"/>
            </a:endParaRPr>
          </a:p>
          <a:p>
            <a:r>
              <a:rPr lang="zh-CN" altLang="en-US" dirty="0" smtClean="0">
                <a:latin typeface="黑体" panose="02010609060101010101" pitchFamily="49" charset="-122"/>
                <a:ea typeface="黑体" panose="02010609060101010101" pitchFamily="49" charset="-122"/>
                <a:cs typeface="黑体" panose="02010609060101010101" pitchFamily="49" charset="-122"/>
              </a:rPr>
              <a:t>尺寸标注</a:t>
            </a:r>
            <a:endParaRPr lang="en-US" altLang="zh-CN" dirty="0" smtClean="0">
              <a:latin typeface="黑体" panose="02010609060101010101" pitchFamily="49" charset="-122"/>
              <a:ea typeface="黑体" panose="02010609060101010101" pitchFamily="49" charset="-122"/>
              <a:cs typeface="黑体" panose="02010609060101010101" pitchFamily="49" charset="-122"/>
            </a:endParaRPr>
          </a:p>
          <a:p>
            <a:r>
              <a:rPr lang="zh-CN" altLang="en-US" dirty="0" smtClean="0">
                <a:latin typeface="黑体" panose="02010609060101010101" pitchFamily="49" charset="-122"/>
                <a:ea typeface="黑体" panose="02010609060101010101" pitchFamily="49" charset="-122"/>
                <a:cs typeface="黑体" panose="02010609060101010101" pitchFamily="49" charset="-122"/>
              </a:rPr>
              <a:t>零件编号</a:t>
            </a:r>
            <a:endParaRPr lang="en-US" altLang="zh-CN" dirty="0" smtClean="0">
              <a:latin typeface="黑体" panose="02010609060101010101" pitchFamily="49" charset="-122"/>
              <a:ea typeface="黑体" panose="02010609060101010101" pitchFamily="49" charset="-122"/>
              <a:cs typeface="黑体" panose="02010609060101010101" pitchFamily="49" charset="-122"/>
            </a:endParaRPr>
          </a:p>
          <a:p>
            <a:r>
              <a:rPr lang="zh-CN" altLang="en-US" dirty="0" smtClean="0">
                <a:latin typeface="黑体" panose="02010609060101010101" pitchFamily="49" charset="-122"/>
                <a:ea typeface="黑体" panose="02010609060101010101" pitchFamily="49" charset="-122"/>
                <a:cs typeface="黑体" panose="02010609060101010101" pitchFamily="49" charset="-122"/>
              </a:rPr>
              <a:t>       明细表、标题栏</a:t>
            </a:r>
            <a:endParaRPr lang="zh-CN" altLang="en-US" dirty="0">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539676" y="5481285"/>
            <a:ext cx="6120680" cy="460375"/>
          </a:xfrm>
          <a:prstGeom prst="rect">
            <a:avLst/>
          </a:prstGeom>
          <a:noFill/>
        </p:spPr>
        <p:txBody>
          <a:bodyPr wrap="square" rtlCol="0">
            <a:spAutoFit/>
          </a:bodyPr>
          <a:lstStyle/>
          <a:p>
            <a:r>
              <a:rPr lang="en-US" altLang="zh-CN" b="1" dirty="0">
                <a:solidFill>
                  <a:srgbClr val="FF0000"/>
                </a:solidFill>
                <a:latin typeface="黑体" panose="02010609060101010101" pitchFamily="49" charset="-122"/>
                <a:ea typeface="黑体" panose="02010609060101010101" pitchFamily="49" charset="-122"/>
                <a:cs typeface="黑体" panose="02010609060101010101" pitchFamily="49" charset="-122"/>
              </a:rPr>
              <a:t>1</a:t>
            </a:r>
            <a:r>
              <a:rPr lang="zh-CN" altLang="en-US" b="1" dirty="0">
                <a:solidFill>
                  <a:srgbClr val="FF0000"/>
                </a:solidFill>
                <a:latin typeface="黑体" panose="02010609060101010101" pitchFamily="49" charset="-122"/>
                <a:ea typeface="黑体" panose="02010609060101010101" pitchFamily="49" charset="-122"/>
                <a:cs typeface="黑体" panose="02010609060101010101" pitchFamily="49" charset="-122"/>
              </a:rPr>
              <a:t>月</a:t>
            </a:r>
            <a:r>
              <a:rPr lang="en-US" altLang="zh-CN" b="1" dirty="0">
                <a:solidFill>
                  <a:srgbClr val="FF0000"/>
                </a:solidFill>
                <a:latin typeface="黑体" panose="02010609060101010101" pitchFamily="49" charset="-122"/>
                <a:ea typeface="黑体" panose="02010609060101010101" pitchFamily="49" charset="-122"/>
                <a:cs typeface="黑体" panose="02010609060101010101" pitchFamily="49" charset="-122"/>
              </a:rPr>
              <a:t>5</a:t>
            </a:r>
            <a:r>
              <a:rPr lang="zh-CN" altLang="en-US" b="1" dirty="0">
                <a:solidFill>
                  <a:srgbClr val="FF0000"/>
                </a:solidFill>
                <a:latin typeface="黑体" panose="02010609060101010101" pitchFamily="49" charset="-122"/>
                <a:ea typeface="黑体" panose="02010609060101010101" pitchFamily="49" charset="-122"/>
                <a:cs typeface="黑体" panose="02010609060101010101" pitchFamily="49" charset="-122"/>
              </a:rPr>
              <a:t>日：</a:t>
            </a:r>
            <a:r>
              <a:rPr lang="zh-CN" altLang="en-US" dirty="0" smtClean="0">
                <a:latin typeface="黑体" panose="02010609060101010101" pitchFamily="49" charset="-122"/>
                <a:ea typeface="黑体" panose="02010609060101010101" pitchFamily="49" charset="-122"/>
                <a:cs typeface="黑体" panose="02010609060101010101" pitchFamily="49" charset="-122"/>
              </a:rPr>
              <a:t>检查进度（减速箱装配图）</a:t>
            </a:r>
            <a:endParaRPr lang="zh-CN" altLang="en-US" dirty="0">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直接连接符 43009"/>
          <p:cNvSpPr/>
          <p:nvPr/>
        </p:nvSpPr>
        <p:spPr>
          <a:xfrm>
            <a:off x="0" y="836712"/>
            <a:ext cx="9144000" cy="0"/>
          </a:xfrm>
          <a:prstGeom prst="line">
            <a:avLst/>
          </a:prstGeom>
          <a:ln w="57150" cap="flat" cmpd="thickThin">
            <a:solidFill>
              <a:srgbClr val="C00000"/>
            </a:solidFill>
            <a:prstDash val="solid"/>
            <a:headEnd type="none" w="med" len="med"/>
            <a:tailEnd type="none" w="med" len="med"/>
          </a:ln>
        </p:spPr>
      </p:sp>
      <p:sp>
        <p:nvSpPr>
          <p:cNvPr id="43011" name="文本框 43010">
            <a:hlinkClick r:id="" action="ppaction://noaction"/>
          </p:cNvPr>
          <p:cNvSpPr txBox="1"/>
          <p:nvPr/>
        </p:nvSpPr>
        <p:spPr>
          <a:xfrm>
            <a:off x="1907704" y="188640"/>
            <a:ext cx="5945188" cy="579438"/>
          </a:xfrm>
          <a:prstGeom prst="rect">
            <a:avLst/>
          </a:prstGeom>
          <a:noFill/>
          <a:ln w="9525">
            <a:noFill/>
          </a:ln>
        </p:spPr>
        <p:txBody>
          <a:bodyPr>
            <a:spAutoFit/>
          </a:bodyPr>
          <a:lstStyle/>
          <a:p>
            <a:pPr algn="l"/>
            <a:r>
              <a:rPr lang="zh-CN" altLang="en-US" sz="3200" dirty="0">
                <a:solidFill>
                  <a:srgbClr val="FF3300"/>
                </a:solidFill>
                <a:latin typeface="黑体" panose="02010609060101010101" pitchFamily="49" charset="-122"/>
                <a:ea typeface="黑体" panose="02010609060101010101" pitchFamily="49" charset="-122"/>
              </a:rPr>
              <a:t>五</a:t>
            </a:r>
            <a:r>
              <a:rPr lang="zh-CN" altLang="en-US" sz="3200" dirty="0" smtClean="0">
                <a:solidFill>
                  <a:srgbClr val="FF3300"/>
                </a:solidFill>
                <a:latin typeface="黑体" panose="02010609060101010101" pitchFamily="49" charset="-122"/>
                <a:ea typeface="黑体" panose="02010609060101010101" pitchFamily="49" charset="-122"/>
              </a:rPr>
              <a:t>、课程设计进度安排</a:t>
            </a:r>
            <a:endParaRPr lang="zh-CN" altLang="en-US" sz="3200" dirty="0">
              <a:solidFill>
                <a:srgbClr val="FF3300"/>
              </a:solidFill>
              <a:latin typeface="黑体" panose="02010609060101010101" pitchFamily="49" charset="-122"/>
              <a:ea typeface="黑体" panose="02010609060101010101" pitchFamily="49" charset="-122"/>
            </a:endParaRPr>
          </a:p>
        </p:txBody>
      </p:sp>
      <p:grpSp>
        <p:nvGrpSpPr>
          <p:cNvPr id="43024" name="组合 43023"/>
          <p:cNvGrpSpPr/>
          <p:nvPr/>
        </p:nvGrpSpPr>
        <p:grpSpPr>
          <a:xfrm>
            <a:off x="8115300" y="6515100"/>
            <a:ext cx="1028700" cy="342900"/>
            <a:chOff x="5112" y="4104"/>
            <a:chExt cx="648" cy="216"/>
          </a:xfrm>
        </p:grpSpPr>
        <p:pic>
          <p:nvPicPr>
            <p:cNvPr id="43025" name="图片 43024"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43026" name="组合 43025"/>
            <p:cNvGrpSpPr/>
            <p:nvPr/>
          </p:nvGrpSpPr>
          <p:grpSpPr>
            <a:xfrm>
              <a:off x="5352" y="4104"/>
              <a:ext cx="408" cy="216"/>
              <a:chOff x="5232" y="4100"/>
              <a:chExt cx="408" cy="216"/>
            </a:xfrm>
          </p:grpSpPr>
          <p:pic>
            <p:nvPicPr>
              <p:cNvPr id="43027" name="图片 43026"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43028" name="图片 43027"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
        <p:nvSpPr>
          <p:cNvPr id="2" name="文本框 1"/>
          <p:cNvSpPr txBox="1"/>
          <p:nvPr/>
        </p:nvSpPr>
        <p:spPr>
          <a:xfrm>
            <a:off x="467360" y="1268730"/>
            <a:ext cx="2085340" cy="52197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a:effectLst>
            <a:outerShdw blurRad="50800" dist="38100" dir="16200000" rotWithShape="0">
              <a:prstClr val="black">
                <a:alpha val="40000"/>
              </a:prstClr>
            </a:outerShdw>
          </a:effectLst>
        </p:spPr>
        <p:txBody>
          <a:bodyPr wrap="square" rtlCol="0">
            <a:spAutoFit/>
          </a:bodyPr>
          <a:lstStyle/>
          <a:p>
            <a:pPr algn="l"/>
            <a:r>
              <a:rPr lang="zh-CN" altLang="en-US" sz="2800" dirty="0" smtClean="0">
                <a:solidFill>
                  <a:schemeClr val="accent6">
                    <a:lumMod val="75000"/>
                  </a:schemeClr>
                </a:solidFill>
                <a:latin typeface="黑体" panose="02010609060101010101" pitchFamily="49" charset="-122"/>
                <a:ea typeface="黑体" panose="02010609060101010101" pitchFamily="49" charset="-122"/>
              </a:rPr>
              <a:t>第三阶段：</a:t>
            </a:r>
            <a:endParaRPr lang="zh-CN" altLang="en-US" sz="2800" dirty="0">
              <a:solidFill>
                <a:schemeClr val="accent6">
                  <a:lumMod val="75000"/>
                </a:schemeClr>
              </a:solidFill>
              <a:latin typeface="黑体" panose="02010609060101010101" pitchFamily="49" charset="-122"/>
              <a:ea typeface="黑体" panose="02010609060101010101" pitchFamily="49" charset="-122"/>
            </a:endParaRPr>
          </a:p>
        </p:txBody>
      </p:sp>
      <p:sp>
        <p:nvSpPr>
          <p:cNvPr id="17" name="文本框 16"/>
          <p:cNvSpPr txBox="1"/>
          <p:nvPr/>
        </p:nvSpPr>
        <p:spPr>
          <a:xfrm>
            <a:off x="755576" y="2276872"/>
            <a:ext cx="8136904" cy="1198880"/>
          </a:xfrm>
          <a:prstGeom prst="rect">
            <a:avLst/>
          </a:prstGeom>
          <a:noFill/>
        </p:spPr>
        <p:txBody>
          <a:bodyPr wrap="square" rtlCol="0">
            <a:spAutoFit/>
          </a:bodyPr>
          <a:lstStyle/>
          <a:p>
            <a:pPr algn="l"/>
            <a:r>
              <a:rPr lang="en-US" altLang="zh-CN" b="1" dirty="0">
                <a:solidFill>
                  <a:srgbClr val="FF0000"/>
                </a:solidFill>
              </a:rPr>
              <a:t>1</a:t>
            </a:r>
            <a:r>
              <a:rPr lang="zh-CN" altLang="en-US" b="1" dirty="0">
                <a:solidFill>
                  <a:srgbClr val="FF0000"/>
                </a:solidFill>
              </a:rPr>
              <a:t>月</a:t>
            </a:r>
            <a:r>
              <a:rPr lang="en-US" altLang="zh-CN" b="1" dirty="0">
                <a:solidFill>
                  <a:srgbClr val="FF0000"/>
                </a:solidFill>
              </a:rPr>
              <a:t>8</a:t>
            </a:r>
            <a:r>
              <a:rPr lang="zh-CN" altLang="en-US" b="1" dirty="0">
                <a:solidFill>
                  <a:srgbClr val="FF0000"/>
                </a:solidFill>
              </a:rPr>
              <a:t>日：</a:t>
            </a:r>
            <a:r>
              <a:rPr lang="zh-CN" altLang="en-US" dirty="0" smtClean="0">
                <a:latin typeface="黑体" panose="02010609060101010101" pitchFamily="49" charset="-122"/>
                <a:ea typeface="黑体" panose="02010609060101010101" pitchFamily="49" charset="-122"/>
                <a:cs typeface="黑体" panose="02010609060101010101" pitchFamily="49" charset="-122"/>
              </a:rPr>
              <a:t>中间轴、低速级大齿轮的零件图  </a:t>
            </a:r>
            <a:endParaRPr lang="en-US" altLang="zh-CN" dirty="0" smtClean="0">
              <a:latin typeface="黑体" panose="02010609060101010101" pitchFamily="49" charset="-122"/>
              <a:ea typeface="黑体" panose="02010609060101010101" pitchFamily="49" charset="-122"/>
              <a:cs typeface="黑体" panose="02010609060101010101" pitchFamily="49" charset="-122"/>
            </a:endParaRPr>
          </a:p>
          <a:p>
            <a:pPr algn="l"/>
            <a:endParaRPr lang="en-US" altLang="zh-CN" dirty="0" smtClean="0"/>
          </a:p>
          <a:p>
            <a:pPr algn="l"/>
            <a:r>
              <a:rPr lang="en-US" altLang="zh-CN" b="1" dirty="0">
                <a:solidFill>
                  <a:srgbClr val="FF0000"/>
                </a:solidFill>
              </a:rPr>
              <a:t>1</a:t>
            </a:r>
            <a:r>
              <a:rPr lang="zh-CN" altLang="en-US" b="1" dirty="0">
                <a:solidFill>
                  <a:srgbClr val="FF0000"/>
                </a:solidFill>
              </a:rPr>
              <a:t>月</a:t>
            </a:r>
            <a:r>
              <a:rPr lang="en-US" altLang="zh-CN" b="1" dirty="0">
                <a:solidFill>
                  <a:srgbClr val="FF0000"/>
                </a:solidFill>
              </a:rPr>
              <a:t>9</a:t>
            </a:r>
            <a:r>
              <a:rPr lang="zh-CN" altLang="en-US" b="1" dirty="0">
                <a:solidFill>
                  <a:srgbClr val="FF0000"/>
                </a:solidFill>
              </a:rPr>
              <a:t>日：</a:t>
            </a:r>
            <a:r>
              <a:rPr lang="zh-CN" altLang="en-US" dirty="0" smtClean="0">
                <a:latin typeface="黑体" panose="02010609060101010101" pitchFamily="49" charset="-122"/>
                <a:ea typeface="黑体" panose="02010609060101010101" pitchFamily="49" charset="-122"/>
              </a:rPr>
              <a:t>检查进度</a:t>
            </a:r>
            <a:endParaRPr lang="en-US" altLang="zh-CN" dirty="0" smtClean="0">
              <a:latin typeface="黑体" panose="02010609060101010101" pitchFamily="49" charset="-122"/>
              <a:ea typeface="黑体" panose="02010609060101010101" pitchFamily="49" charset="-122"/>
            </a:endParaRPr>
          </a:p>
        </p:txBody>
      </p:sp>
      <p:sp>
        <p:nvSpPr>
          <p:cNvPr id="18" name="文本框 17"/>
          <p:cNvSpPr txBox="1"/>
          <p:nvPr/>
        </p:nvSpPr>
        <p:spPr>
          <a:xfrm>
            <a:off x="755650" y="3789045"/>
            <a:ext cx="7372985" cy="829945"/>
          </a:xfrm>
          <a:prstGeom prst="rect">
            <a:avLst/>
          </a:prstGeom>
          <a:noFill/>
        </p:spPr>
        <p:txBody>
          <a:bodyPr wrap="square" rtlCol="0">
            <a:spAutoFit/>
          </a:bodyPr>
          <a:lstStyle/>
          <a:p>
            <a:pPr algn="l"/>
            <a:r>
              <a:rPr lang="en-US" altLang="zh-CN" b="1" dirty="0">
                <a:solidFill>
                  <a:srgbClr val="FF0000"/>
                </a:solidFill>
              </a:rPr>
              <a:t>1</a:t>
            </a:r>
            <a:r>
              <a:rPr lang="zh-CN" altLang="en-US" b="1" dirty="0">
                <a:solidFill>
                  <a:srgbClr val="FF0000"/>
                </a:solidFill>
              </a:rPr>
              <a:t>月</a:t>
            </a:r>
            <a:r>
              <a:rPr lang="en-US" altLang="zh-CN" b="1" dirty="0">
                <a:solidFill>
                  <a:srgbClr val="FF0000"/>
                </a:solidFill>
              </a:rPr>
              <a:t>12</a:t>
            </a:r>
            <a:r>
              <a:rPr lang="zh-CN" altLang="en-US" b="1" dirty="0">
                <a:solidFill>
                  <a:srgbClr val="FF0000"/>
                </a:solidFill>
              </a:rPr>
              <a:t>日：</a:t>
            </a:r>
            <a:r>
              <a:rPr lang="zh-CN" altLang="en-US" dirty="0" smtClean="0">
                <a:latin typeface="黑体" panose="02010609060101010101" pitchFamily="49" charset="-122"/>
                <a:ea typeface="黑体" panose="02010609060101010101" pitchFamily="49" charset="-122"/>
                <a:cs typeface="黑体" panose="02010609060101010101" pitchFamily="49" charset="-122"/>
              </a:rPr>
              <a:t>撰写</a:t>
            </a:r>
            <a:r>
              <a:rPr lang="zh-CN" altLang="en-US" dirty="0" smtClean="0">
                <a:latin typeface="黑体" panose="02010609060101010101" pitchFamily="49" charset="-122"/>
                <a:ea typeface="黑体" panose="02010609060101010101" pitchFamily="49" charset="-122"/>
                <a:cs typeface="黑体" panose="02010609060101010101" pitchFamily="49" charset="-122"/>
                <a:sym typeface="+mn-ea"/>
              </a:rPr>
              <a:t>（第</a:t>
            </a:r>
            <a:r>
              <a:rPr lang="en-US" altLang="zh-CN" dirty="0" smtClean="0">
                <a:latin typeface="黑体" panose="02010609060101010101" pitchFamily="49" charset="-122"/>
                <a:ea typeface="黑体" panose="02010609060101010101" pitchFamily="49" charset="-122"/>
                <a:cs typeface="黑体" panose="02010609060101010101" pitchFamily="49" charset="-122"/>
                <a:sym typeface="+mn-ea"/>
              </a:rPr>
              <a:t>1</a:t>
            </a:r>
            <a:r>
              <a:rPr lang="zh-CN" altLang="en-US" dirty="0" smtClean="0">
                <a:latin typeface="黑体" panose="02010609060101010101" pitchFamily="49" charset="-122"/>
                <a:ea typeface="黑体" panose="02010609060101010101" pitchFamily="49" charset="-122"/>
                <a:cs typeface="黑体" panose="02010609060101010101" pitchFamily="49" charset="-122"/>
                <a:sym typeface="+mn-ea"/>
              </a:rPr>
              <a:t>周就可以进行）</a:t>
            </a:r>
            <a:r>
              <a:rPr lang="zh-CN" altLang="en-US" dirty="0" smtClean="0">
                <a:latin typeface="黑体" panose="02010609060101010101" pitchFamily="49" charset="-122"/>
                <a:ea typeface="黑体" panose="02010609060101010101" pitchFamily="49" charset="-122"/>
                <a:cs typeface="黑体" panose="02010609060101010101" pitchFamily="49" charset="-122"/>
              </a:rPr>
              <a:t>、打印设计说明书，</a:t>
            </a:r>
            <a:r>
              <a:rPr lang="en-US" altLang="zh-CN" dirty="0" smtClean="0">
                <a:latin typeface="黑体" panose="02010609060101010101" pitchFamily="49" charset="-122"/>
                <a:ea typeface="黑体" panose="02010609060101010101" pitchFamily="49" charset="-122"/>
                <a:cs typeface="黑体" panose="02010609060101010101" pitchFamily="49" charset="-122"/>
              </a:rPr>
              <a:t> </a:t>
            </a:r>
            <a:r>
              <a:rPr lang="zh-CN" altLang="en-US" dirty="0" smtClean="0">
                <a:latin typeface="黑体" panose="02010609060101010101" pitchFamily="49" charset="-122"/>
                <a:ea typeface="黑体" panose="02010609060101010101" pitchFamily="49" charset="-122"/>
                <a:cs typeface="黑体" panose="02010609060101010101" pitchFamily="49" charset="-122"/>
              </a:rPr>
              <a:t>打印图纸</a:t>
            </a:r>
            <a:endParaRPr lang="zh-CN" altLang="en-US" dirty="0" smtClean="0">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nvSpPr>
        <p:spPr>
          <a:xfrm>
            <a:off x="755447" y="4932283"/>
            <a:ext cx="5904656" cy="460375"/>
          </a:xfrm>
          <a:prstGeom prst="rect">
            <a:avLst/>
          </a:prstGeom>
          <a:noFill/>
        </p:spPr>
        <p:txBody>
          <a:bodyPr wrap="square" rtlCol="0">
            <a:spAutoFit/>
          </a:bodyPr>
          <a:lstStyle/>
          <a:p>
            <a:pPr algn="l"/>
            <a:r>
              <a:rPr lang="en-US" altLang="zh-CN" b="1" dirty="0">
                <a:solidFill>
                  <a:srgbClr val="FF0000"/>
                </a:solidFill>
              </a:rPr>
              <a:t>1</a:t>
            </a:r>
            <a:r>
              <a:rPr lang="zh-CN" altLang="en-US" b="1" dirty="0">
                <a:solidFill>
                  <a:srgbClr val="FF0000"/>
                </a:solidFill>
              </a:rPr>
              <a:t>月</a:t>
            </a:r>
            <a:r>
              <a:rPr lang="en-US" altLang="zh-CN" b="1" dirty="0">
                <a:solidFill>
                  <a:srgbClr val="FF0000"/>
                </a:solidFill>
              </a:rPr>
              <a:t>16</a:t>
            </a:r>
            <a:r>
              <a:rPr lang="zh-CN" altLang="en-US" b="1" dirty="0">
                <a:solidFill>
                  <a:srgbClr val="FF0000"/>
                </a:solidFill>
              </a:rPr>
              <a:t>日</a:t>
            </a:r>
            <a:r>
              <a:rPr lang="zh-CN" altLang="en-US" dirty="0" smtClean="0"/>
              <a:t>：</a:t>
            </a:r>
            <a:r>
              <a:rPr lang="zh-CN" altLang="en-US" b="1" dirty="0" smtClean="0"/>
              <a:t>答辩</a:t>
            </a:r>
            <a:endParaRPr lang="zh-CN" altLang="en-US" b="1" dirty="0"/>
          </a:p>
        </p:txBody>
      </p:sp>
      <p:sp>
        <p:nvSpPr>
          <p:cNvPr id="3" name="文本框 2"/>
          <p:cNvSpPr txBox="1"/>
          <p:nvPr/>
        </p:nvSpPr>
        <p:spPr>
          <a:xfrm>
            <a:off x="708660" y="5756275"/>
            <a:ext cx="6923405" cy="460375"/>
          </a:xfrm>
          <a:prstGeom prst="rect">
            <a:avLst/>
          </a:prstGeom>
          <a:noFill/>
        </p:spPr>
        <p:txBody>
          <a:bodyPr wrap="square" rtlCol="0">
            <a:spAutoFit/>
          </a:bodyPr>
          <a:p>
            <a:endParaRPr lang="zh-CN" altLang="en-US"/>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直接连接符 43009"/>
          <p:cNvSpPr/>
          <p:nvPr/>
        </p:nvSpPr>
        <p:spPr>
          <a:xfrm>
            <a:off x="0" y="836712"/>
            <a:ext cx="9144000" cy="0"/>
          </a:xfrm>
          <a:prstGeom prst="line">
            <a:avLst/>
          </a:prstGeom>
          <a:ln w="57150" cap="flat" cmpd="thickThin">
            <a:solidFill>
              <a:srgbClr val="C00000"/>
            </a:solidFill>
            <a:prstDash val="solid"/>
            <a:headEnd type="none" w="med" len="med"/>
            <a:tailEnd type="none" w="med" len="med"/>
          </a:ln>
        </p:spPr>
      </p:sp>
      <p:sp>
        <p:nvSpPr>
          <p:cNvPr id="43011" name="文本框 43010">
            <a:hlinkClick r:id="" action="ppaction://noaction"/>
          </p:cNvPr>
          <p:cNvSpPr txBox="1"/>
          <p:nvPr/>
        </p:nvSpPr>
        <p:spPr>
          <a:xfrm>
            <a:off x="1907704" y="188640"/>
            <a:ext cx="5945188" cy="579438"/>
          </a:xfrm>
          <a:prstGeom prst="rect">
            <a:avLst/>
          </a:prstGeom>
          <a:noFill/>
          <a:ln w="9525">
            <a:noFill/>
          </a:ln>
        </p:spPr>
        <p:txBody>
          <a:bodyPr>
            <a:spAutoFit/>
          </a:bodyPr>
          <a:lstStyle/>
          <a:p>
            <a:pPr algn="l"/>
            <a:r>
              <a:rPr lang="zh-CN" altLang="en-US" sz="3200" dirty="0">
                <a:solidFill>
                  <a:srgbClr val="FF3300"/>
                </a:solidFill>
                <a:latin typeface="黑体" panose="02010609060101010101" pitchFamily="49" charset="-122"/>
                <a:ea typeface="黑体" panose="02010609060101010101" pitchFamily="49" charset="-122"/>
              </a:rPr>
              <a:t>六</a:t>
            </a:r>
            <a:r>
              <a:rPr lang="zh-CN" altLang="en-US" sz="3200" dirty="0" smtClean="0">
                <a:solidFill>
                  <a:srgbClr val="FF3300"/>
                </a:solidFill>
                <a:latin typeface="黑体" panose="02010609060101010101" pitchFamily="49" charset="-122"/>
                <a:ea typeface="黑体" panose="02010609060101010101" pitchFamily="49" charset="-122"/>
              </a:rPr>
              <a:t>、</a:t>
            </a:r>
            <a:r>
              <a:rPr lang="zh-CN" altLang="en-US" sz="3200" dirty="0">
                <a:solidFill>
                  <a:srgbClr val="FF3300"/>
                </a:solidFill>
                <a:latin typeface="黑体" panose="02010609060101010101" pitchFamily="49" charset="-122"/>
                <a:ea typeface="黑体" panose="02010609060101010101" pitchFamily="49" charset="-122"/>
              </a:rPr>
              <a:t>设计注意事项及成绩评定</a:t>
            </a:r>
            <a:endParaRPr lang="zh-CN" altLang="en-US" sz="3200" dirty="0">
              <a:solidFill>
                <a:srgbClr val="FF3300"/>
              </a:solidFill>
              <a:latin typeface="黑体" panose="02010609060101010101" pitchFamily="49" charset="-122"/>
              <a:ea typeface="黑体" panose="02010609060101010101" pitchFamily="49" charset="-122"/>
            </a:endParaRPr>
          </a:p>
        </p:txBody>
      </p:sp>
      <p:sp>
        <p:nvSpPr>
          <p:cNvPr id="43018" name="文本框 43017"/>
          <p:cNvSpPr txBox="1"/>
          <p:nvPr/>
        </p:nvSpPr>
        <p:spPr>
          <a:xfrm>
            <a:off x="323528" y="1196752"/>
            <a:ext cx="8915400" cy="460375"/>
          </a:xfrm>
          <a:prstGeom prst="rect">
            <a:avLst/>
          </a:prstGeom>
          <a:noFill/>
          <a:ln w="9525">
            <a:noFill/>
          </a:ln>
        </p:spPr>
        <p:txBody>
          <a:bodyPr>
            <a:spAutoFit/>
          </a:bodyPr>
          <a:lstStyle/>
          <a:p>
            <a:pPr algn="l">
              <a:spcBef>
                <a:spcPct val="50000"/>
              </a:spcBef>
            </a:pPr>
            <a:r>
              <a:rPr lang="zh-CN" altLang="en-US" b="1" dirty="0">
                <a:solidFill>
                  <a:srgbClr val="A02904"/>
                </a:solidFill>
                <a:latin typeface="楷体_GB2312" pitchFamily="49" charset="-122"/>
                <a:ea typeface="楷体_GB2312" pitchFamily="49" charset="-122"/>
              </a:rPr>
              <a:t>设计成绩</a:t>
            </a:r>
            <a:r>
              <a:rPr lang="zh-CN" altLang="en-US" b="1" dirty="0" smtClean="0">
                <a:solidFill>
                  <a:srgbClr val="000000"/>
                </a:solidFill>
                <a:latin typeface="楷体_GB2312" pitchFamily="49" charset="-122"/>
                <a:ea typeface="楷体_GB2312" pitchFamily="49" charset="-122"/>
              </a:rPr>
              <a:t>：</a:t>
            </a:r>
            <a:r>
              <a:rPr lang="en-US" altLang="zh-CN" b="1" dirty="0" smtClean="0">
                <a:solidFill>
                  <a:srgbClr val="000000"/>
                </a:solidFill>
                <a:latin typeface="楷体_GB2312" pitchFamily="49" charset="-122"/>
                <a:ea typeface="楷体_GB2312" pitchFamily="49" charset="-122"/>
              </a:rPr>
              <a:t> </a:t>
            </a:r>
            <a:r>
              <a:rPr lang="zh-CN" altLang="en-US" b="1" dirty="0" smtClean="0">
                <a:solidFill>
                  <a:srgbClr val="000000"/>
                </a:solidFill>
                <a:latin typeface="楷体_GB2312" pitchFamily="49" charset="-122"/>
                <a:ea typeface="楷体_GB2312" pitchFamily="49" charset="-122"/>
              </a:rPr>
              <a:t>百分制</a:t>
            </a:r>
            <a:endParaRPr lang="zh-CN" altLang="en-US" b="1" dirty="0">
              <a:solidFill>
                <a:srgbClr val="000000"/>
              </a:solidFill>
              <a:latin typeface="楷体_GB2312" pitchFamily="49" charset="-122"/>
              <a:ea typeface="楷体_GB2312" pitchFamily="49" charset="-122"/>
            </a:endParaRPr>
          </a:p>
        </p:txBody>
      </p:sp>
      <p:sp>
        <p:nvSpPr>
          <p:cNvPr id="43019" name="文本框 43018"/>
          <p:cNvSpPr txBox="1"/>
          <p:nvPr/>
        </p:nvSpPr>
        <p:spPr>
          <a:xfrm>
            <a:off x="323528" y="1844824"/>
            <a:ext cx="8001000" cy="1014730"/>
          </a:xfrm>
          <a:prstGeom prst="rect">
            <a:avLst/>
          </a:prstGeom>
          <a:noFill/>
          <a:ln w="9525">
            <a:noFill/>
          </a:ln>
        </p:spPr>
        <p:txBody>
          <a:bodyPr>
            <a:spAutoFit/>
          </a:bodyPr>
          <a:lstStyle/>
          <a:p>
            <a:pPr algn="l">
              <a:spcBef>
                <a:spcPct val="50000"/>
              </a:spcBef>
            </a:pPr>
            <a:r>
              <a:rPr lang="zh-CN" altLang="en-US" b="1" dirty="0">
                <a:solidFill>
                  <a:srgbClr val="A02904"/>
                </a:solidFill>
                <a:latin typeface="楷体_GB2312" pitchFamily="49" charset="-122"/>
                <a:ea typeface="楷体_GB2312" pitchFamily="49" charset="-122"/>
              </a:rPr>
              <a:t>成绩评定主要依据</a:t>
            </a:r>
            <a:r>
              <a:rPr lang="zh-CN" altLang="en-US" b="1" dirty="0" smtClean="0">
                <a:solidFill>
                  <a:srgbClr val="000000"/>
                </a:solidFill>
                <a:latin typeface="楷体_GB2312" pitchFamily="49" charset="-122"/>
                <a:ea typeface="楷体_GB2312" pitchFamily="49" charset="-122"/>
              </a:rPr>
              <a:t>：</a:t>
            </a:r>
            <a:endParaRPr lang="en-US" altLang="zh-CN" b="1" dirty="0" smtClean="0">
              <a:solidFill>
                <a:srgbClr val="000000"/>
              </a:solidFill>
              <a:latin typeface="楷体_GB2312" pitchFamily="49" charset="-122"/>
              <a:ea typeface="楷体_GB2312" pitchFamily="49" charset="-122"/>
            </a:endParaRPr>
          </a:p>
          <a:p>
            <a:pPr algn="l">
              <a:spcBef>
                <a:spcPct val="50000"/>
              </a:spcBef>
            </a:pPr>
            <a:r>
              <a:rPr lang="zh-CN" altLang="en-US" b="1" dirty="0" smtClean="0">
                <a:solidFill>
                  <a:srgbClr val="000000"/>
                </a:solidFill>
                <a:latin typeface="楷体_GB2312" pitchFamily="49" charset="-122"/>
                <a:ea typeface="楷体_GB2312" pitchFamily="49" charset="-122"/>
              </a:rPr>
              <a:t>     平时</a:t>
            </a:r>
            <a:r>
              <a:rPr lang="zh-CN" altLang="en-US" b="1" dirty="0">
                <a:solidFill>
                  <a:srgbClr val="000000"/>
                </a:solidFill>
                <a:latin typeface="楷体_GB2312" pitchFamily="49" charset="-122"/>
                <a:ea typeface="楷体_GB2312" pitchFamily="49" charset="-122"/>
              </a:rPr>
              <a:t>（进度分</a:t>
            </a:r>
            <a:r>
              <a:rPr lang="zh-CN" altLang="en-US" b="1" dirty="0" smtClean="0">
                <a:solidFill>
                  <a:srgbClr val="000000"/>
                </a:solidFill>
                <a:latin typeface="楷体_GB2312" pitchFamily="49" charset="-122"/>
                <a:ea typeface="楷体_GB2312" pitchFamily="49" charset="-122"/>
              </a:rPr>
              <a:t>）、图纸、说明书、答辩</a:t>
            </a:r>
            <a:endParaRPr lang="zh-CN" altLang="en-US" b="1" dirty="0">
              <a:solidFill>
                <a:srgbClr val="000000"/>
              </a:solidFill>
              <a:latin typeface="楷体_GB2312" pitchFamily="49" charset="-122"/>
              <a:ea typeface="楷体_GB2312" pitchFamily="49" charset="-122"/>
            </a:endParaRPr>
          </a:p>
        </p:txBody>
      </p:sp>
      <p:sp>
        <p:nvSpPr>
          <p:cNvPr id="43020" name="文本框 43019"/>
          <p:cNvSpPr txBox="1"/>
          <p:nvPr/>
        </p:nvSpPr>
        <p:spPr>
          <a:xfrm>
            <a:off x="323528" y="2924944"/>
            <a:ext cx="8001000" cy="457200"/>
          </a:xfrm>
          <a:prstGeom prst="rect">
            <a:avLst/>
          </a:prstGeom>
          <a:noFill/>
          <a:ln w="9525">
            <a:noFill/>
          </a:ln>
        </p:spPr>
        <p:txBody>
          <a:bodyPr>
            <a:spAutoFit/>
          </a:bodyPr>
          <a:lstStyle/>
          <a:p>
            <a:pPr algn="l">
              <a:spcBef>
                <a:spcPct val="50000"/>
              </a:spcBef>
            </a:pPr>
            <a:r>
              <a:rPr lang="zh-CN" altLang="en-US" b="1" dirty="0">
                <a:solidFill>
                  <a:srgbClr val="FF0000"/>
                </a:solidFill>
                <a:latin typeface="楷体_GB2312" pitchFamily="49" charset="-122"/>
                <a:ea typeface="楷体_GB2312" pitchFamily="49" charset="-122"/>
              </a:rPr>
              <a:t>注意事项：</a:t>
            </a:r>
            <a:r>
              <a:rPr lang="zh-CN" altLang="en-US" dirty="0">
                <a:latin typeface="Times New Roman" panose="02020603050405020304" pitchFamily="18" charset="0"/>
              </a:rPr>
              <a:t>             </a:t>
            </a:r>
            <a:endParaRPr lang="zh-CN" altLang="en-US" b="1" dirty="0">
              <a:solidFill>
                <a:srgbClr val="000000"/>
              </a:solidFill>
              <a:latin typeface="楷体_GB2312" pitchFamily="49" charset="-122"/>
              <a:ea typeface="楷体_GB2312" pitchFamily="49" charset="-122"/>
            </a:endParaRPr>
          </a:p>
        </p:txBody>
      </p:sp>
      <p:sp>
        <p:nvSpPr>
          <p:cNvPr id="43021" name="文本框 43020"/>
          <p:cNvSpPr txBox="1"/>
          <p:nvPr/>
        </p:nvSpPr>
        <p:spPr>
          <a:xfrm>
            <a:off x="323528" y="3573016"/>
            <a:ext cx="8001000" cy="457200"/>
          </a:xfrm>
          <a:prstGeom prst="rect">
            <a:avLst/>
          </a:prstGeom>
          <a:noFill/>
          <a:ln w="9525">
            <a:noFill/>
          </a:ln>
        </p:spPr>
        <p:txBody>
          <a:bodyPr>
            <a:spAutoFit/>
          </a:bodyPr>
          <a:lstStyle/>
          <a:p>
            <a:pPr algn="l">
              <a:spcBef>
                <a:spcPct val="50000"/>
              </a:spcBef>
              <a:buClr>
                <a:srgbClr val="A02904"/>
              </a:buClr>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正确利用现有设计资料，勤于思考，敢于创新</a:t>
            </a:r>
            <a:r>
              <a:rPr lang="zh-CN" altLang="en-US" dirty="0">
                <a:latin typeface="Times New Roman" panose="02020603050405020304" pitchFamily="18" charset="0"/>
              </a:rPr>
              <a:t>             </a:t>
            </a:r>
            <a:endParaRPr lang="zh-CN" altLang="en-US" b="1" dirty="0">
              <a:solidFill>
                <a:srgbClr val="000000"/>
              </a:solidFill>
              <a:latin typeface="楷体_GB2312" pitchFamily="49" charset="-122"/>
              <a:ea typeface="楷体_GB2312" pitchFamily="49" charset="-122"/>
            </a:endParaRPr>
          </a:p>
        </p:txBody>
      </p:sp>
      <p:sp>
        <p:nvSpPr>
          <p:cNvPr id="43022" name="文本框 43021"/>
          <p:cNvSpPr txBox="1"/>
          <p:nvPr/>
        </p:nvSpPr>
        <p:spPr>
          <a:xfrm>
            <a:off x="395536" y="4149080"/>
            <a:ext cx="8001000" cy="457200"/>
          </a:xfrm>
          <a:prstGeom prst="rect">
            <a:avLst/>
          </a:prstGeom>
          <a:noFill/>
          <a:ln w="9525">
            <a:noFill/>
          </a:ln>
        </p:spPr>
        <p:txBody>
          <a:bodyPr>
            <a:spAutoFit/>
          </a:bodyPr>
          <a:lstStyle/>
          <a:p>
            <a:pPr algn="l">
              <a:spcBef>
                <a:spcPct val="50000"/>
              </a:spcBef>
              <a:buClr>
                <a:srgbClr val="A02904"/>
              </a:buClr>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正确使用标准和规范</a:t>
            </a:r>
            <a:r>
              <a:rPr lang="zh-CN" altLang="en-US" dirty="0">
                <a:latin typeface="Times New Roman" panose="02020603050405020304" pitchFamily="18" charset="0"/>
              </a:rPr>
              <a:t>             </a:t>
            </a:r>
            <a:endParaRPr lang="zh-CN" altLang="en-US" b="1" dirty="0">
              <a:solidFill>
                <a:srgbClr val="000000"/>
              </a:solidFill>
              <a:latin typeface="楷体_GB2312" pitchFamily="49" charset="-122"/>
              <a:ea typeface="楷体_GB2312" pitchFamily="49" charset="-122"/>
            </a:endParaRPr>
          </a:p>
        </p:txBody>
      </p:sp>
      <p:sp>
        <p:nvSpPr>
          <p:cNvPr id="43023" name="文本框 43022"/>
          <p:cNvSpPr txBox="1"/>
          <p:nvPr/>
        </p:nvSpPr>
        <p:spPr>
          <a:xfrm>
            <a:off x="323528" y="4797152"/>
            <a:ext cx="8001000" cy="830997"/>
          </a:xfrm>
          <a:prstGeom prst="rect">
            <a:avLst/>
          </a:prstGeom>
          <a:noFill/>
          <a:ln w="9525">
            <a:noFill/>
          </a:ln>
        </p:spPr>
        <p:txBody>
          <a:bodyPr>
            <a:spAutoFit/>
          </a:bodyPr>
          <a:lstStyle/>
          <a:p>
            <a:pPr algn="l">
              <a:spcBef>
                <a:spcPct val="50000"/>
              </a:spcBef>
              <a:buClr>
                <a:srgbClr val="A02904"/>
              </a:buClr>
              <a:buFont typeface="Wingdings" panose="05000000000000000000" pitchFamily="2" charset="2"/>
              <a:buChar char="Ø"/>
            </a:pPr>
            <a:r>
              <a:rPr lang="zh-CN" altLang="en-US" b="1" dirty="0">
                <a:solidFill>
                  <a:srgbClr val="000000"/>
                </a:solidFill>
                <a:latin typeface="楷体_GB2312" pitchFamily="49" charset="-122"/>
                <a:ea typeface="楷体_GB2312" pitchFamily="49" charset="-122"/>
              </a:rPr>
              <a:t>设计是边计算、边画图、边修改的交叉过程，要养成</a:t>
            </a:r>
            <a:r>
              <a:rPr lang="zh-CN" altLang="en-US" b="1" dirty="0" smtClean="0">
                <a:solidFill>
                  <a:srgbClr val="000000"/>
                </a:solidFill>
                <a:latin typeface="楷体_GB2312" pitchFamily="49" charset="-122"/>
                <a:ea typeface="楷体_GB2312" pitchFamily="49" charset="-122"/>
              </a:rPr>
              <a:t>有 错</a:t>
            </a:r>
            <a:r>
              <a:rPr lang="zh-CN" altLang="en-US" b="1" dirty="0">
                <a:solidFill>
                  <a:srgbClr val="000000"/>
                </a:solidFill>
                <a:latin typeface="楷体_GB2312" pitchFamily="49" charset="-122"/>
                <a:ea typeface="楷体_GB2312" pitchFamily="49" charset="-122"/>
              </a:rPr>
              <a:t>必改，精益求精的科学态度。</a:t>
            </a:r>
            <a:r>
              <a:rPr lang="zh-CN" altLang="en-US" dirty="0">
                <a:latin typeface="Times New Roman" panose="02020603050405020304" pitchFamily="18" charset="0"/>
              </a:rPr>
              <a:t>             </a:t>
            </a:r>
            <a:endParaRPr lang="zh-CN" altLang="en-US" b="1" dirty="0">
              <a:solidFill>
                <a:srgbClr val="000000"/>
              </a:solidFill>
              <a:latin typeface="楷体_GB2312" pitchFamily="49" charset="-122"/>
              <a:ea typeface="楷体_GB2312" pitchFamily="49" charset="-122"/>
            </a:endParaRPr>
          </a:p>
        </p:txBody>
      </p:sp>
      <p:grpSp>
        <p:nvGrpSpPr>
          <p:cNvPr id="43024" name="组合 43023"/>
          <p:cNvGrpSpPr/>
          <p:nvPr/>
        </p:nvGrpSpPr>
        <p:grpSpPr>
          <a:xfrm>
            <a:off x="8115300" y="6515100"/>
            <a:ext cx="1028700" cy="342900"/>
            <a:chOff x="5112" y="4104"/>
            <a:chExt cx="648" cy="216"/>
          </a:xfrm>
        </p:grpSpPr>
        <p:pic>
          <p:nvPicPr>
            <p:cNvPr id="43025" name="图片 43024"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43026" name="组合 43025"/>
            <p:cNvGrpSpPr/>
            <p:nvPr/>
          </p:nvGrpSpPr>
          <p:grpSpPr>
            <a:xfrm>
              <a:off x="5352" y="4104"/>
              <a:ext cx="408" cy="216"/>
              <a:chOff x="5232" y="4100"/>
              <a:chExt cx="408" cy="216"/>
            </a:xfrm>
          </p:grpSpPr>
          <p:pic>
            <p:nvPicPr>
              <p:cNvPr id="43027" name="图片 43026"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43028" name="图片 43027"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018"/>
                                        </p:tgtEl>
                                        <p:attrNameLst>
                                          <p:attrName>style.visibility</p:attrName>
                                        </p:attrNameLst>
                                      </p:cBhvr>
                                      <p:to>
                                        <p:strVal val="visible"/>
                                      </p:to>
                                    </p:set>
                                    <p:anim calcmode="lin" valueType="num">
                                      <p:cBhvr additive="base">
                                        <p:cTn id="7" dur="500" fill="hold"/>
                                        <p:tgtEl>
                                          <p:spTgt spid="43018"/>
                                        </p:tgtEl>
                                        <p:attrNameLst>
                                          <p:attrName>ppt_x</p:attrName>
                                        </p:attrNameLst>
                                      </p:cBhvr>
                                      <p:tavLst>
                                        <p:tav tm="0">
                                          <p:val>
                                            <p:strVal val="0-#ppt_w/2"/>
                                          </p:val>
                                        </p:tav>
                                        <p:tav tm="100000">
                                          <p:val>
                                            <p:strVal val="#ppt_x"/>
                                          </p:val>
                                        </p:tav>
                                      </p:tavLst>
                                    </p:anim>
                                    <p:anim calcmode="lin" valueType="num">
                                      <p:cBhvr additive="base">
                                        <p:cTn id="8" dur="500" fill="hold"/>
                                        <p:tgtEl>
                                          <p:spTgt spid="430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3019"/>
                                        </p:tgtEl>
                                        <p:attrNameLst>
                                          <p:attrName>style.visibility</p:attrName>
                                        </p:attrNameLst>
                                      </p:cBhvr>
                                      <p:to>
                                        <p:strVal val="visible"/>
                                      </p:to>
                                    </p:set>
                                    <p:anim calcmode="lin" valueType="num">
                                      <p:cBhvr additive="base">
                                        <p:cTn id="13" dur="500" fill="hold"/>
                                        <p:tgtEl>
                                          <p:spTgt spid="43019"/>
                                        </p:tgtEl>
                                        <p:attrNameLst>
                                          <p:attrName>ppt_x</p:attrName>
                                        </p:attrNameLst>
                                      </p:cBhvr>
                                      <p:tavLst>
                                        <p:tav tm="0">
                                          <p:val>
                                            <p:strVal val="0-#ppt_w/2"/>
                                          </p:val>
                                        </p:tav>
                                        <p:tav tm="100000">
                                          <p:val>
                                            <p:strVal val="#ppt_x"/>
                                          </p:val>
                                        </p:tav>
                                      </p:tavLst>
                                    </p:anim>
                                    <p:anim calcmode="lin" valueType="num">
                                      <p:cBhvr additive="base">
                                        <p:cTn id="14" dur="500" fill="hold"/>
                                        <p:tgtEl>
                                          <p:spTgt spid="430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3020"/>
                                        </p:tgtEl>
                                        <p:attrNameLst>
                                          <p:attrName>style.visibility</p:attrName>
                                        </p:attrNameLst>
                                      </p:cBhvr>
                                      <p:to>
                                        <p:strVal val="visible"/>
                                      </p:to>
                                    </p:set>
                                    <p:anim calcmode="lin" valueType="num">
                                      <p:cBhvr additive="base">
                                        <p:cTn id="19" dur="500" fill="hold"/>
                                        <p:tgtEl>
                                          <p:spTgt spid="43020"/>
                                        </p:tgtEl>
                                        <p:attrNameLst>
                                          <p:attrName>ppt_x</p:attrName>
                                        </p:attrNameLst>
                                      </p:cBhvr>
                                      <p:tavLst>
                                        <p:tav tm="0">
                                          <p:val>
                                            <p:strVal val="0-#ppt_w/2"/>
                                          </p:val>
                                        </p:tav>
                                        <p:tav tm="100000">
                                          <p:val>
                                            <p:strVal val="#ppt_x"/>
                                          </p:val>
                                        </p:tav>
                                      </p:tavLst>
                                    </p:anim>
                                    <p:anim calcmode="lin" valueType="num">
                                      <p:cBhvr additive="base">
                                        <p:cTn id="20" dur="500" fill="hold"/>
                                        <p:tgtEl>
                                          <p:spTgt spid="4302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3021"/>
                                        </p:tgtEl>
                                        <p:attrNameLst>
                                          <p:attrName>style.visibility</p:attrName>
                                        </p:attrNameLst>
                                      </p:cBhvr>
                                      <p:to>
                                        <p:strVal val="visible"/>
                                      </p:to>
                                    </p:set>
                                    <p:anim calcmode="lin" valueType="num">
                                      <p:cBhvr additive="base">
                                        <p:cTn id="25" dur="500" fill="hold"/>
                                        <p:tgtEl>
                                          <p:spTgt spid="43021"/>
                                        </p:tgtEl>
                                        <p:attrNameLst>
                                          <p:attrName>ppt_x</p:attrName>
                                        </p:attrNameLst>
                                      </p:cBhvr>
                                      <p:tavLst>
                                        <p:tav tm="0">
                                          <p:val>
                                            <p:strVal val="0-#ppt_w/2"/>
                                          </p:val>
                                        </p:tav>
                                        <p:tav tm="100000">
                                          <p:val>
                                            <p:strVal val="#ppt_x"/>
                                          </p:val>
                                        </p:tav>
                                      </p:tavLst>
                                    </p:anim>
                                    <p:anim calcmode="lin" valueType="num">
                                      <p:cBhvr additive="base">
                                        <p:cTn id="26" dur="500" fill="hold"/>
                                        <p:tgtEl>
                                          <p:spTgt spid="4302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3022"/>
                                        </p:tgtEl>
                                        <p:attrNameLst>
                                          <p:attrName>style.visibility</p:attrName>
                                        </p:attrNameLst>
                                      </p:cBhvr>
                                      <p:to>
                                        <p:strVal val="visible"/>
                                      </p:to>
                                    </p:set>
                                    <p:anim calcmode="lin" valueType="num">
                                      <p:cBhvr additive="base">
                                        <p:cTn id="31" dur="500" fill="hold"/>
                                        <p:tgtEl>
                                          <p:spTgt spid="43022"/>
                                        </p:tgtEl>
                                        <p:attrNameLst>
                                          <p:attrName>ppt_x</p:attrName>
                                        </p:attrNameLst>
                                      </p:cBhvr>
                                      <p:tavLst>
                                        <p:tav tm="0">
                                          <p:val>
                                            <p:strVal val="0-#ppt_w/2"/>
                                          </p:val>
                                        </p:tav>
                                        <p:tav tm="100000">
                                          <p:val>
                                            <p:strVal val="#ppt_x"/>
                                          </p:val>
                                        </p:tav>
                                      </p:tavLst>
                                    </p:anim>
                                    <p:anim calcmode="lin" valueType="num">
                                      <p:cBhvr additive="base">
                                        <p:cTn id="32" dur="500" fill="hold"/>
                                        <p:tgtEl>
                                          <p:spTgt spid="4302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3023"/>
                                        </p:tgtEl>
                                        <p:attrNameLst>
                                          <p:attrName>style.visibility</p:attrName>
                                        </p:attrNameLst>
                                      </p:cBhvr>
                                      <p:to>
                                        <p:strVal val="visible"/>
                                      </p:to>
                                    </p:set>
                                    <p:anim calcmode="lin" valueType="num">
                                      <p:cBhvr additive="base">
                                        <p:cTn id="37" dur="500" fill="hold"/>
                                        <p:tgtEl>
                                          <p:spTgt spid="43023"/>
                                        </p:tgtEl>
                                        <p:attrNameLst>
                                          <p:attrName>ppt_x</p:attrName>
                                        </p:attrNameLst>
                                      </p:cBhvr>
                                      <p:tavLst>
                                        <p:tav tm="0">
                                          <p:val>
                                            <p:strVal val="0-#ppt_w/2"/>
                                          </p:val>
                                        </p:tav>
                                        <p:tav tm="100000">
                                          <p:val>
                                            <p:strVal val="#ppt_x"/>
                                          </p:val>
                                        </p:tav>
                                      </p:tavLst>
                                    </p:anim>
                                    <p:anim calcmode="lin" valueType="num">
                                      <p:cBhvr additive="base">
                                        <p:cTn id="38" dur="500" fill="hold"/>
                                        <p:tgtEl>
                                          <p:spTgt spid="430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8" grpId="0"/>
      <p:bldP spid="43019" grpId="0"/>
      <p:bldP spid="43020" grpId="0"/>
      <p:bldP spid="43021" grpId="0"/>
      <p:bldP spid="43022" grpId="0"/>
      <p:bldP spid="430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692275" y="1377315"/>
            <a:ext cx="5558790" cy="4810125"/>
          </a:xfrm>
          <a:prstGeom prst="rect">
            <a:avLst/>
          </a:prstGeom>
        </p:spPr>
      </p:pic>
      <p:sp>
        <p:nvSpPr>
          <p:cNvPr id="86018" name="直接连接符 86017"/>
          <p:cNvSpPr/>
          <p:nvPr/>
        </p:nvSpPr>
        <p:spPr>
          <a:xfrm>
            <a:off x="0" y="980728"/>
            <a:ext cx="9144000" cy="0"/>
          </a:xfrm>
          <a:prstGeom prst="line">
            <a:avLst/>
          </a:prstGeom>
          <a:ln w="57150" cap="flat" cmpd="thickThin">
            <a:solidFill>
              <a:srgbClr val="C00000"/>
            </a:solidFill>
            <a:prstDash val="solid"/>
            <a:headEnd type="none" w="med" len="med"/>
            <a:tailEnd type="none" w="med" len="med"/>
          </a:ln>
        </p:spPr>
      </p:sp>
      <p:sp>
        <p:nvSpPr>
          <p:cNvPr id="86027" name="标题 86026"/>
          <p:cNvSpPr>
            <a:spLocks noGrp="1"/>
          </p:cNvSpPr>
          <p:nvPr/>
        </p:nvSpPr>
        <p:spPr>
          <a:xfrm>
            <a:off x="2819400" y="260350"/>
            <a:ext cx="6324600" cy="609600"/>
          </a:xfrm>
          <a:prstGeom prst="rect">
            <a:avLst/>
          </a:prstGeom>
          <a:noFill/>
          <a:ln w="9525">
            <a:noFill/>
          </a:ln>
        </p:spPr>
        <p:txBody>
          <a:bodyPr anchor="ctr"/>
          <a:lst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zh-CN" altLang="en-US" sz="3200" dirty="0">
                <a:solidFill>
                  <a:srgbClr val="0000FF"/>
                </a:solidFill>
                <a:effectLst>
                  <a:outerShdw blurRad="38100" dist="38100" dir="2700000">
                    <a:srgbClr val="C0C0C0"/>
                  </a:outerShdw>
                </a:effectLst>
                <a:latin typeface="黑体" panose="02010609060101010101" pitchFamily="49" charset="-122"/>
                <a:ea typeface="黑体" panose="02010609060101010101" pitchFamily="49" charset="-122"/>
              </a:rPr>
              <a:t>第二部分 减速器的结构</a:t>
            </a:r>
            <a:endParaRPr lang="zh-CN" altLang="en-US" sz="2800" dirty="0">
              <a:solidFill>
                <a:srgbClr val="006600"/>
              </a:solidFill>
              <a:latin typeface="黑体" panose="02010609060101010101" pitchFamily="49" charset="-122"/>
              <a:ea typeface="黑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直接连接符 86017"/>
          <p:cNvSpPr/>
          <p:nvPr/>
        </p:nvSpPr>
        <p:spPr>
          <a:xfrm>
            <a:off x="0" y="980728"/>
            <a:ext cx="9144000" cy="0"/>
          </a:xfrm>
          <a:prstGeom prst="line">
            <a:avLst/>
          </a:prstGeom>
          <a:ln w="57150" cap="flat" cmpd="thickThin">
            <a:solidFill>
              <a:srgbClr val="C00000"/>
            </a:solidFill>
            <a:prstDash val="solid"/>
            <a:headEnd type="none" w="med" len="med"/>
            <a:tailEnd type="none" w="med" len="med"/>
          </a:ln>
        </p:spPr>
      </p:sp>
      <p:graphicFrame>
        <p:nvGraphicFramePr>
          <p:cNvPr id="86025" name="对象 86024"/>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4134" name="" r:id="rId1" imgW="114300" imgH="215265" progId="Equation.3">
                  <p:embed/>
                </p:oleObj>
              </mc:Choice>
              <mc:Fallback>
                <p:oleObj name="" r:id="rId1" imgW="114300" imgH="215265" progId="Equation.3">
                  <p:embed/>
                  <p:pic>
                    <p:nvPicPr>
                      <p:cNvPr id="0" name="图片 3076"/>
                      <p:cNvPicPr/>
                      <p:nvPr/>
                    </p:nvPicPr>
                    <p:blipFill>
                      <a:blip r:embed="rId2"/>
                      <a:stretch>
                        <a:fillRect/>
                      </a:stretch>
                    </p:blipFill>
                    <p:spPr>
                      <a:xfrm>
                        <a:off x="4514850" y="3321050"/>
                        <a:ext cx="114300" cy="215900"/>
                      </a:xfrm>
                      <a:prstGeom prst="rect">
                        <a:avLst/>
                      </a:prstGeom>
                      <a:noFill/>
                      <a:ln w="38100">
                        <a:noFill/>
                        <a:miter/>
                      </a:ln>
                    </p:spPr>
                  </p:pic>
                </p:oleObj>
              </mc:Fallback>
            </mc:AlternateContent>
          </a:graphicData>
        </a:graphic>
      </p:graphicFrame>
      <p:sp>
        <p:nvSpPr>
          <p:cNvPr id="86026" name="文本框 86025"/>
          <p:cNvSpPr txBox="1"/>
          <p:nvPr/>
        </p:nvSpPr>
        <p:spPr>
          <a:xfrm>
            <a:off x="5867400" y="1143000"/>
            <a:ext cx="2743200" cy="460375"/>
          </a:xfrm>
          <a:prstGeom prst="rect">
            <a:avLst/>
          </a:prstGeom>
          <a:noFill/>
          <a:ln w="9525">
            <a:noFill/>
          </a:ln>
        </p:spPr>
        <p:txBody>
          <a:bodyPr>
            <a:spAutoFit/>
          </a:bodyPr>
          <a:lstStyle/>
          <a:p>
            <a:pPr algn="l">
              <a:spcBef>
                <a:spcPct val="50000"/>
              </a:spcBef>
            </a:pPr>
            <a:endParaRPr dirty="0">
              <a:latin typeface="Times New Roman" panose="02020603050405020304" pitchFamily="18" charset="0"/>
            </a:endParaRPr>
          </a:p>
        </p:txBody>
      </p:sp>
      <p:sp>
        <p:nvSpPr>
          <p:cNvPr id="86027" name="标题 86026"/>
          <p:cNvSpPr>
            <a:spLocks noGrp="1"/>
          </p:cNvSpPr>
          <p:nvPr>
            <p:ph type="title" idx="4294967295"/>
          </p:nvPr>
        </p:nvSpPr>
        <p:spPr>
          <a:xfrm>
            <a:off x="2819400" y="260350"/>
            <a:ext cx="6324600" cy="609600"/>
          </a:xfrm>
        </p:spPr>
        <p:txBody>
          <a:bodyPr anchor="ctr"/>
          <a:lstStyle/>
          <a:p>
            <a:r>
              <a:rPr lang="zh-CN" altLang="en-US" sz="3200" dirty="0">
                <a:solidFill>
                  <a:srgbClr val="0000FF"/>
                </a:solidFill>
                <a:effectLst>
                  <a:outerShdw blurRad="38100" dist="38100" dir="2700000">
                    <a:srgbClr val="C0C0C0"/>
                  </a:outerShdw>
                </a:effectLst>
                <a:latin typeface="黑体" panose="02010609060101010101" pitchFamily="49" charset="-122"/>
                <a:ea typeface="黑体" panose="02010609060101010101" pitchFamily="49" charset="-122"/>
              </a:rPr>
              <a:t>第二部分 减速器的结构</a:t>
            </a:r>
            <a:endParaRPr lang="zh-CN" altLang="en-US" sz="2800" dirty="0">
              <a:solidFill>
                <a:srgbClr val="006600"/>
              </a:solidFill>
              <a:latin typeface="黑体" panose="02010609060101010101" pitchFamily="49" charset="-122"/>
              <a:ea typeface="黑体" panose="02010609060101010101" pitchFamily="49" charset="-122"/>
            </a:endParaRPr>
          </a:p>
        </p:txBody>
      </p:sp>
      <p:sp>
        <p:nvSpPr>
          <p:cNvPr id="86028" name="矩形 86027"/>
          <p:cNvSpPr/>
          <p:nvPr/>
        </p:nvSpPr>
        <p:spPr>
          <a:xfrm>
            <a:off x="1838325" y="1209675"/>
            <a:ext cx="9144000" cy="0"/>
          </a:xfrm>
          <a:prstGeom prst="rect">
            <a:avLst/>
          </a:prstGeom>
          <a:noFill/>
          <a:ln w="9525">
            <a:noFill/>
          </a:ln>
        </p:spPr>
        <p:txBody>
          <a:bodyPr/>
          <a:lstStyle/>
          <a:p>
            <a:endParaRPr lang="zh-CN" altLang="en-US"/>
          </a:p>
        </p:txBody>
      </p:sp>
      <p:grpSp>
        <p:nvGrpSpPr>
          <p:cNvPr id="86030" name="组合 86029"/>
          <p:cNvGrpSpPr/>
          <p:nvPr/>
        </p:nvGrpSpPr>
        <p:grpSpPr>
          <a:xfrm>
            <a:off x="8115300" y="6515100"/>
            <a:ext cx="1028700" cy="342900"/>
            <a:chOff x="5112" y="4104"/>
            <a:chExt cx="648" cy="216"/>
          </a:xfrm>
        </p:grpSpPr>
        <p:pic>
          <p:nvPicPr>
            <p:cNvPr id="86031" name="图片 86030" descr="返回">
              <a:hlinkClick r:id="rId3" action="ppaction://hlinksldjump"/>
            </p:cNvPr>
            <p:cNvPicPr>
              <a:picLocks noChangeAspect="1"/>
            </p:cNvPicPr>
            <p:nvPr/>
          </p:nvPicPr>
          <p:blipFill>
            <a:blip r:embed="rId4"/>
            <a:stretch>
              <a:fillRect/>
            </a:stretch>
          </p:blipFill>
          <p:spPr>
            <a:xfrm>
              <a:off x="5112" y="4104"/>
              <a:ext cx="216" cy="216"/>
            </a:xfrm>
            <a:prstGeom prst="rect">
              <a:avLst/>
            </a:prstGeom>
            <a:noFill/>
            <a:ln w="9525">
              <a:noFill/>
            </a:ln>
          </p:spPr>
        </p:pic>
        <p:grpSp>
          <p:nvGrpSpPr>
            <p:cNvPr id="86032" name="组合 86031"/>
            <p:cNvGrpSpPr/>
            <p:nvPr/>
          </p:nvGrpSpPr>
          <p:grpSpPr>
            <a:xfrm>
              <a:off x="5352" y="4104"/>
              <a:ext cx="408" cy="216"/>
              <a:chOff x="5232" y="4100"/>
              <a:chExt cx="408" cy="216"/>
            </a:xfrm>
          </p:grpSpPr>
          <p:pic>
            <p:nvPicPr>
              <p:cNvPr id="86033" name="图片 86032" descr="下一步">
                <a:hlinkClick r:id="" action="ppaction://hlinkshowjump?jump=nextslide"/>
              </p:cNvPr>
              <p:cNvPicPr>
                <a:picLocks noChangeAspect="1"/>
              </p:cNvPicPr>
              <p:nvPr/>
            </p:nvPicPr>
            <p:blipFill>
              <a:blip r:embed="rId5"/>
              <a:stretch>
                <a:fillRect/>
              </a:stretch>
            </p:blipFill>
            <p:spPr>
              <a:xfrm>
                <a:off x="5424" y="4100"/>
                <a:ext cx="216" cy="216"/>
              </a:xfrm>
              <a:prstGeom prst="rect">
                <a:avLst/>
              </a:prstGeom>
              <a:noFill/>
              <a:ln w="9525">
                <a:noFill/>
              </a:ln>
            </p:spPr>
          </p:pic>
          <p:pic>
            <p:nvPicPr>
              <p:cNvPr id="86034" name="图片 86033" descr="上一步">
                <a:hlinkClick r:id="" action="ppaction://hlinkshowjump?jump=previousslide"/>
              </p:cNvPr>
              <p:cNvPicPr>
                <a:picLocks noChangeAspect="1"/>
              </p:cNvPicPr>
              <p:nvPr/>
            </p:nvPicPr>
            <p:blipFill>
              <a:blip r:embed="rId6"/>
              <a:stretch>
                <a:fillRect/>
              </a:stretch>
            </p:blipFill>
            <p:spPr>
              <a:xfrm>
                <a:off x="5232" y="4100"/>
                <a:ext cx="216" cy="216"/>
              </a:xfrm>
              <a:prstGeom prst="rect">
                <a:avLst/>
              </a:prstGeom>
              <a:noFill/>
              <a:ln w="9525">
                <a:noFill/>
              </a:ln>
            </p:spPr>
          </p:pic>
        </p:grpSp>
      </p:grpSp>
      <p:sp>
        <p:nvSpPr>
          <p:cNvPr id="86042" name="矩形 86041"/>
          <p:cNvSpPr/>
          <p:nvPr/>
        </p:nvSpPr>
        <p:spPr>
          <a:xfrm>
            <a:off x="2166938" y="1081088"/>
            <a:ext cx="9144000" cy="0"/>
          </a:xfrm>
          <a:prstGeom prst="rect">
            <a:avLst/>
          </a:prstGeom>
          <a:noFill/>
          <a:ln w="9525">
            <a:noFill/>
          </a:ln>
        </p:spPr>
        <p:txBody>
          <a:bodyPr/>
          <a:lstStyle/>
          <a:p>
            <a:endParaRPr lang="zh-CN" altLang="en-US"/>
          </a:p>
        </p:txBody>
      </p:sp>
      <p:pic>
        <p:nvPicPr>
          <p:cNvPr id="86041" name="图片 86040"/>
          <p:cNvPicPr>
            <a:picLocks noChangeAspect="1"/>
          </p:cNvPicPr>
          <p:nvPr/>
        </p:nvPicPr>
        <p:blipFill>
          <a:blip r:embed="rId7"/>
          <a:srcRect r="6534" b="2637"/>
          <a:stretch>
            <a:fillRect/>
          </a:stretch>
        </p:blipFill>
        <p:spPr>
          <a:xfrm>
            <a:off x="1676400" y="1600200"/>
            <a:ext cx="5021263" cy="5105400"/>
          </a:xfrm>
          <a:prstGeom prst="rect">
            <a:avLst/>
          </a:prstGeom>
          <a:noFill/>
          <a:ln w="9525">
            <a:noFill/>
          </a:ln>
        </p:spPr>
      </p:pic>
      <p:sp>
        <p:nvSpPr>
          <p:cNvPr id="86043" name="椭圆形标注 86042"/>
          <p:cNvSpPr/>
          <p:nvPr/>
        </p:nvSpPr>
        <p:spPr>
          <a:xfrm>
            <a:off x="7086600" y="4343400"/>
            <a:ext cx="1066800" cy="533400"/>
          </a:xfrm>
          <a:prstGeom prst="wedgeEllipseCallout">
            <a:avLst>
              <a:gd name="adj1" fmla="val -88245"/>
              <a:gd name="adj2" fmla="val 44347"/>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油标尺</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44" name="椭圆形标注 86043"/>
          <p:cNvSpPr/>
          <p:nvPr/>
        </p:nvSpPr>
        <p:spPr>
          <a:xfrm>
            <a:off x="457200" y="5105400"/>
            <a:ext cx="838200" cy="838200"/>
          </a:xfrm>
          <a:prstGeom prst="wedgeEllipseCallout">
            <a:avLst>
              <a:gd name="adj1" fmla="val 142801"/>
              <a:gd name="adj2" fmla="val -116667"/>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箱座</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35" name="椭圆形标注 86034"/>
          <p:cNvSpPr/>
          <p:nvPr/>
        </p:nvSpPr>
        <p:spPr>
          <a:xfrm>
            <a:off x="1371600" y="1447800"/>
            <a:ext cx="1143000" cy="685800"/>
          </a:xfrm>
          <a:prstGeom prst="wedgeEllipseCallout">
            <a:avLst>
              <a:gd name="adj1" fmla="val 131944"/>
              <a:gd name="adj2" fmla="val 19676"/>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视孔盖</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38" name="椭圆形标注 86037"/>
          <p:cNvSpPr/>
          <p:nvPr/>
        </p:nvSpPr>
        <p:spPr>
          <a:xfrm>
            <a:off x="4800600" y="1447800"/>
            <a:ext cx="1066800" cy="609600"/>
          </a:xfrm>
          <a:prstGeom prst="wedgeEllipseCallout">
            <a:avLst>
              <a:gd name="adj1" fmla="val -107440"/>
              <a:gd name="adj2" fmla="val 259"/>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通气器</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36" name="椭圆形标注 86035"/>
          <p:cNvSpPr/>
          <p:nvPr/>
        </p:nvSpPr>
        <p:spPr>
          <a:xfrm>
            <a:off x="6248400" y="2514600"/>
            <a:ext cx="838200" cy="762000"/>
          </a:xfrm>
          <a:prstGeom prst="wedgeEllipseCallout">
            <a:avLst>
              <a:gd name="adj1" fmla="val -214773"/>
              <a:gd name="adj2" fmla="val 32917"/>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箱盖</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40" name="椭圆形标注 86039"/>
          <p:cNvSpPr/>
          <p:nvPr/>
        </p:nvSpPr>
        <p:spPr>
          <a:xfrm>
            <a:off x="7010400" y="5638800"/>
            <a:ext cx="1066800" cy="533400"/>
          </a:xfrm>
          <a:prstGeom prst="wedgeEllipseCallout">
            <a:avLst>
              <a:gd name="adj1" fmla="val -104167"/>
              <a:gd name="adj2" fmla="val 43454"/>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放油塞</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45" name="椭圆形标注 86044"/>
          <p:cNvSpPr/>
          <p:nvPr/>
        </p:nvSpPr>
        <p:spPr>
          <a:xfrm>
            <a:off x="2051720" y="6021288"/>
            <a:ext cx="1224136" cy="533400"/>
          </a:xfrm>
          <a:prstGeom prst="wedgeEllipseCallout">
            <a:avLst>
              <a:gd name="adj1" fmla="val 95389"/>
              <a:gd name="adj2" fmla="val -202977"/>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smtClean="0">
                <a:solidFill>
                  <a:srgbClr val="FF3300"/>
                </a:solidFill>
                <a:latin typeface="Times New Roman" panose="02020603050405020304" pitchFamily="18" charset="0"/>
                <a:ea typeface="隶书" panose="02010509060101010101" pitchFamily="49" charset="-122"/>
              </a:rPr>
              <a:t>轴承</a:t>
            </a:r>
            <a:r>
              <a:rPr lang="zh-CN" altLang="en-US" sz="2000" b="1" dirty="0">
                <a:solidFill>
                  <a:srgbClr val="FF3300"/>
                </a:solidFill>
                <a:ea typeface="隶书" panose="02010509060101010101" pitchFamily="49" charset="-122"/>
              </a:rPr>
              <a:t>端</a:t>
            </a:r>
            <a:r>
              <a:rPr lang="zh-CN" altLang="en-US" sz="2000" b="1" dirty="0" smtClean="0">
                <a:solidFill>
                  <a:srgbClr val="FF3300"/>
                </a:solidFill>
                <a:latin typeface="Times New Roman" panose="02020603050405020304" pitchFamily="18" charset="0"/>
                <a:ea typeface="隶书" panose="02010509060101010101" pitchFamily="49" charset="-122"/>
              </a:rPr>
              <a:t>盖</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46" name="直接连接符 86045"/>
          <p:cNvSpPr/>
          <p:nvPr/>
        </p:nvSpPr>
        <p:spPr>
          <a:xfrm flipH="1">
            <a:off x="3124200" y="5257800"/>
            <a:ext cx="1295400" cy="914400"/>
          </a:xfrm>
          <a:prstGeom prst="line">
            <a:avLst/>
          </a:prstGeom>
          <a:ln w="38100" cap="flat" cmpd="sng">
            <a:solidFill>
              <a:srgbClr val="800080"/>
            </a:solidFill>
            <a:prstDash val="solid"/>
            <a:headEnd type="none" w="med" len="med"/>
            <a:tailEnd type="none" w="med" len="med"/>
          </a:ln>
        </p:spPr>
      </p:sp>
      <p:sp>
        <p:nvSpPr>
          <p:cNvPr id="86047" name="直接连接符 86046"/>
          <p:cNvSpPr/>
          <p:nvPr/>
        </p:nvSpPr>
        <p:spPr>
          <a:xfrm flipH="1">
            <a:off x="2743200" y="5029200"/>
            <a:ext cx="152400" cy="914400"/>
          </a:xfrm>
          <a:prstGeom prst="line">
            <a:avLst/>
          </a:prstGeom>
          <a:ln w="38100" cap="flat" cmpd="sng">
            <a:solidFill>
              <a:srgbClr val="008000"/>
            </a:solidFill>
            <a:prstDash val="solid"/>
            <a:headEnd type="none" w="med" len="med"/>
            <a:tailEnd type="none" w="med" len="med"/>
          </a:ln>
        </p:spPr>
      </p:sp>
      <p:sp>
        <p:nvSpPr>
          <p:cNvPr id="86048" name="椭圆形标注 86047"/>
          <p:cNvSpPr/>
          <p:nvPr/>
        </p:nvSpPr>
        <p:spPr>
          <a:xfrm>
            <a:off x="533400" y="3657600"/>
            <a:ext cx="990600" cy="609600"/>
          </a:xfrm>
          <a:prstGeom prst="wedgeEllipseCallout">
            <a:avLst>
              <a:gd name="adj1" fmla="val 132532"/>
              <a:gd name="adj2" fmla="val 16926"/>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定位销</a:t>
            </a:r>
            <a:endParaRPr lang="zh-CN" altLang="en-US" sz="2000" b="1" dirty="0">
              <a:solidFill>
                <a:srgbClr val="FF3300"/>
              </a:solidFill>
              <a:latin typeface="Times New Roman" panose="02020603050405020304" pitchFamily="18" charset="0"/>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86044"/>
                                        </p:tgtEl>
                                        <p:attrNameLst>
                                          <p:attrName>style.visibility</p:attrName>
                                        </p:attrNameLst>
                                      </p:cBhvr>
                                      <p:to>
                                        <p:strVal val="visible"/>
                                      </p:to>
                                    </p:set>
                                    <p:anim calcmode="lin" valueType="num">
                                      <p:cBhvr>
                                        <p:cTn id="7" dur="1000" fill="hold"/>
                                        <p:tgtEl>
                                          <p:spTgt spid="86044"/>
                                        </p:tgtEl>
                                        <p:attrNameLst>
                                          <p:attrName>ppt_w</p:attrName>
                                        </p:attrNameLst>
                                      </p:cBhvr>
                                      <p:tavLst>
                                        <p:tav tm="0">
                                          <p:val>
                                            <p:fltVal val="0"/>
                                          </p:val>
                                        </p:tav>
                                        <p:tav tm="100000">
                                          <p:val>
                                            <p:strVal val="#ppt_w"/>
                                          </p:val>
                                        </p:tav>
                                      </p:tavLst>
                                    </p:anim>
                                    <p:anim calcmode="lin" valueType="num">
                                      <p:cBhvr>
                                        <p:cTn id="8" dur="1000" fill="hold"/>
                                        <p:tgtEl>
                                          <p:spTgt spid="86044"/>
                                        </p:tgtEl>
                                        <p:attrNameLst>
                                          <p:attrName>ppt_h</p:attrName>
                                        </p:attrNameLst>
                                      </p:cBhvr>
                                      <p:tavLst>
                                        <p:tav tm="0">
                                          <p:val>
                                            <p:fltVal val="0"/>
                                          </p:val>
                                        </p:tav>
                                        <p:tav tm="100000">
                                          <p:val>
                                            <p:strVal val="#ppt_h"/>
                                          </p:val>
                                        </p:tav>
                                      </p:tavLst>
                                    </p:anim>
                                    <p:anim calcmode="lin" valueType="num">
                                      <p:cBhvr>
                                        <p:cTn id="9" dur="1000" fill="hold"/>
                                        <p:tgtEl>
                                          <p:spTgt spid="8604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60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86035"/>
                                        </p:tgtEl>
                                        <p:attrNameLst>
                                          <p:attrName>style.visibility</p:attrName>
                                        </p:attrNameLst>
                                      </p:cBhvr>
                                      <p:to>
                                        <p:strVal val="visible"/>
                                      </p:to>
                                    </p:set>
                                    <p:anim calcmode="lin" valueType="num">
                                      <p:cBhvr>
                                        <p:cTn id="15" dur="1000" fill="hold"/>
                                        <p:tgtEl>
                                          <p:spTgt spid="86035"/>
                                        </p:tgtEl>
                                        <p:attrNameLst>
                                          <p:attrName>ppt_w</p:attrName>
                                        </p:attrNameLst>
                                      </p:cBhvr>
                                      <p:tavLst>
                                        <p:tav tm="0">
                                          <p:val>
                                            <p:fltVal val="0"/>
                                          </p:val>
                                        </p:tav>
                                        <p:tav tm="100000">
                                          <p:val>
                                            <p:strVal val="#ppt_w"/>
                                          </p:val>
                                        </p:tav>
                                      </p:tavLst>
                                    </p:anim>
                                    <p:anim calcmode="lin" valueType="num">
                                      <p:cBhvr>
                                        <p:cTn id="16" dur="1000" fill="hold"/>
                                        <p:tgtEl>
                                          <p:spTgt spid="86035"/>
                                        </p:tgtEl>
                                        <p:attrNameLst>
                                          <p:attrName>ppt_h</p:attrName>
                                        </p:attrNameLst>
                                      </p:cBhvr>
                                      <p:tavLst>
                                        <p:tav tm="0">
                                          <p:val>
                                            <p:fltVal val="0"/>
                                          </p:val>
                                        </p:tav>
                                        <p:tav tm="100000">
                                          <p:val>
                                            <p:strVal val="#ppt_h"/>
                                          </p:val>
                                        </p:tav>
                                      </p:tavLst>
                                    </p:anim>
                                    <p:anim calcmode="lin" valueType="num">
                                      <p:cBhvr>
                                        <p:cTn id="17" dur="1000" fill="hold"/>
                                        <p:tgtEl>
                                          <p:spTgt spid="86035"/>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8603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86038"/>
                                        </p:tgtEl>
                                        <p:attrNameLst>
                                          <p:attrName>style.visibility</p:attrName>
                                        </p:attrNameLst>
                                      </p:cBhvr>
                                      <p:to>
                                        <p:strVal val="visible"/>
                                      </p:to>
                                    </p:set>
                                    <p:anim calcmode="lin" valueType="num">
                                      <p:cBhvr>
                                        <p:cTn id="23" dur="1000" fill="hold"/>
                                        <p:tgtEl>
                                          <p:spTgt spid="86038"/>
                                        </p:tgtEl>
                                        <p:attrNameLst>
                                          <p:attrName>ppt_w</p:attrName>
                                        </p:attrNameLst>
                                      </p:cBhvr>
                                      <p:tavLst>
                                        <p:tav tm="0">
                                          <p:val>
                                            <p:fltVal val="0"/>
                                          </p:val>
                                        </p:tav>
                                        <p:tav tm="100000">
                                          <p:val>
                                            <p:strVal val="#ppt_w"/>
                                          </p:val>
                                        </p:tav>
                                      </p:tavLst>
                                    </p:anim>
                                    <p:anim calcmode="lin" valueType="num">
                                      <p:cBhvr>
                                        <p:cTn id="24" dur="1000" fill="hold"/>
                                        <p:tgtEl>
                                          <p:spTgt spid="86038"/>
                                        </p:tgtEl>
                                        <p:attrNameLst>
                                          <p:attrName>ppt_h</p:attrName>
                                        </p:attrNameLst>
                                      </p:cBhvr>
                                      <p:tavLst>
                                        <p:tav tm="0">
                                          <p:val>
                                            <p:fltVal val="0"/>
                                          </p:val>
                                        </p:tav>
                                        <p:tav tm="100000">
                                          <p:val>
                                            <p:strVal val="#ppt_h"/>
                                          </p:val>
                                        </p:tav>
                                      </p:tavLst>
                                    </p:anim>
                                    <p:anim calcmode="lin" valueType="num">
                                      <p:cBhvr>
                                        <p:cTn id="25" dur="1000" fill="hold"/>
                                        <p:tgtEl>
                                          <p:spTgt spid="86038"/>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8603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86043"/>
                                        </p:tgtEl>
                                        <p:attrNameLst>
                                          <p:attrName>style.visibility</p:attrName>
                                        </p:attrNameLst>
                                      </p:cBhvr>
                                      <p:to>
                                        <p:strVal val="visible"/>
                                      </p:to>
                                    </p:set>
                                    <p:anim calcmode="lin" valueType="num">
                                      <p:cBhvr>
                                        <p:cTn id="31" dur="1000" fill="hold"/>
                                        <p:tgtEl>
                                          <p:spTgt spid="86043"/>
                                        </p:tgtEl>
                                        <p:attrNameLst>
                                          <p:attrName>ppt_w</p:attrName>
                                        </p:attrNameLst>
                                      </p:cBhvr>
                                      <p:tavLst>
                                        <p:tav tm="0">
                                          <p:val>
                                            <p:fltVal val="0"/>
                                          </p:val>
                                        </p:tav>
                                        <p:tav tm="100000">
                                          <p:val>
                                            <p:strVal val="#ppt_w"/>
                                          </p:val>
                                        </p:tav>
                                      </p:tavLst>
                                    </p:anim>
                                    <p:anim calcmode="lin" valueType="num">
                                      <p:cBhvr>
                                        <p:cTn id="32" dur="1000" fill="hold"/>
                                        <p:tgtEl>
                                          <p:spTgt spid="86043"/>
                                        </p:tgtEl>
                                        <p:attrNameLst>
                                          <p:attrName>ppt_h</p:attrName>
                                        </p:attrNameLst>
                                      </p:cBhvr>
                                      <p:tavLst>
                                        <p:tav tm="0">
                                          <p:val>
                                            <p:fltVal val="0"/>
                                          </p:val>
                                        </p:tav>
                                        <p:tav tm="100000">
                                          <p:val>
                                            <p:strVal val="#ppt_h"/>
                                          </p:val>
                                        </p:tav>
                                      </p:tavLst>
                                    </p:anim>
                                    <p:anim calcmode="lin" valueType="num">
                                      <p:cBhvr>
                                        <p:cTn id="33" dur="1000" fill="hold"/>
                                        <p:tgtEl>
                                          <p:spTgt spid="86043"/>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8604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86040"/>
                                        </p:tgtEl>
                                        <p:attrNameLst>
                                          <p:attrName>style.visibility</p:attrName>
                                        </p:attrNameLst>
                                      </p:cBhvr>
                                      <p:to>
                                        <p:strVal val="visible"/>
                                      </p:to>
                                    </p:set>
                                    <p:anim calcmode="lin" valueType="num">
                                      <p:cBhvr>
                                        <p:cTn id="39" dur="1000" fill="hold"/>
                                        <p:tgtEl>
                                          <p:spTgt spid="86040"/>
                                        </p:tgtEl>
                                        <p:attrNameLst>
                                          <p:attrName>ppt_w</p:attrName>
                                        </p:attrNameLst>
                                      </p:cBhvr>
                                      <p:tavLst>
                                        <p:tav tm="0">
                                          <p:val>
                                            <p:fltVal val="0"/>
                                          </p:val>
                                        </p:tav>
                                        <p:tav tm="100000">
                                          <p:val>
                                            <p:strVal val="#ppt_w"/>
                                          </p:val>
                                        </p:tav>
                                      </p:tavLst>
                                    </p:anim>
                                    <p:anim calcmode="lin" valueType="num">
                                      <p:cBhvr>
                                        <p:cTn id="40" dur="1000" fill="hold"/>
                                        <p:tgtEl>
                                          <p:spTgt spid="86040"/>
                                        </p:tgtEl>
                                        <p:attrNameLst>
                                          <p:attrName>ppt_h</p:attrName>
                                        </p:attrNameLst>
                                      </p:cBhvr>
                                      <p:tavLst>
                                        <p:tav tm="0">
                                          <p:val>
                                            <p:fltVal val="0"/>
                                          </p:val>
                                        </p:tav>
                                        <p:tav tm="100000">
                                          <p:val>
                                            <p:strVal val="#ppt_h"/>
                                          </p:val>
                                        </p:tav>
                                      </p:tavLst>
                                    </p:anim>
                                    <p:anim calcmode="lin" valueType="num">
                                      <p:cBhvr>
                                        <p:cTn id="41" dur="1000" fill="hold"/>
                                        <p:tgtEl>
                                          <p:spTgt spid="86040"/>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8604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86048"/>
                                        </p:tgtEl>
                                        <p:attrNameLst>
                                          <p:attrName>style.visibility</p:attrName>
                                        </p:attrNameLst>
                                      </p:cBhvr>
                                      <p:to>
                                        <p:strVal val="visible"/>
                                      </p:to>
                                    </p:set>
                                    <p:anim calcmode="lin" valueType="num">
                                      <p:cBhvr>
                                        <p:cTn id="47" dur="1000" fill="hold"/>
                                        <p:tgtEl>
                                          <p:spTgt spid="86048"/>
                                        </p:tgtEl>
                                        <p:attrNameLst>
                                          <p:attrName>ppt_w</p:attrName>
                                        </p:attrNameLst>
                                      </p:cBhvr>
                                      <p:tavLst>
                                        <p:tav tm="0">
                                          <p:val>
                                            <p:fltVal val="0"/>
                                          </p:val>
                                        </p:tav>
                                        <p:tav tm="100000">
                                          <p:val>
                                            <p:strVal val="#ppt_w"/>
                                          </p:val>
                                        </p:tav>
                                      </p:tavLst>
                                    </p:anim>
                                    <p:anim calcmode="lin" valueType="num">
                                      <p:cBhvr>
                                        <p:cTn id="48" dur="1000" fill="hold"/>
                                        <p:tgtEl>
                                          <p:spTgt spid="86048"/>
                                        </p:tgtEl>
                                        <p:attrNameLst>
                                          <p:attrName>ppt_h</p:attrName>
                                        </p:attrNameLst>
                                      </p:cBhvr>
                                      <p:tavLst>
                                        <p:tav tm="0">
                                          <p:val>
                                            <p:fltVal val="0"/>
                                          </p:val>
                                        </p:tav>
                                        <p:tav tm="100000">
                                          <p:val>
                                            <p:strVal val="#ppt_h"/>
                                          </p:val>
                                        </p:tav>
                                      </p:tavLst>
                                    </p:anim>
                                    <p:anim calcmode="lin" valueType="num">
                                      <p:cBhvr>
                                        <p:cTn id="49" dur="1000" fill="hold"/>
                                        <p:tgtEl>
                                          <p:spTgt spid="86048"/>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8604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86046"/>
                                        </p:tgtEl>
                                        <p:attrNameLst>
                                          <p:attrName>style.visibility</p:attrName>
                                        </p:attrNameLst>
                                      </p:cBhvr>
                                      <p:to>
                                        <p:strVal val="visible"/>
                                      </p:to>
                                    </p:set>
                                    <p:anim calcmode="lin" valueType="num">
                                      <p:cBhvr additive="base">
                                        <p:cTn id="55" dur="500" fill="hold"/>
                                        <p:tgtEl>
                                          <p:spTgt spid="86046"/>
                                        </p:tgtEl>
                                        <p:attrNameLst>
                                          <p:attrName>ppt_x</p:attrName>
                                        </p:attrNameLst>
                                      </p:cBhvr>
                                      <p:tavLst>
                                        <p:tav tm="0">
                                          <p:val>
                                            <p:strVal val="0-#ppt_w/2"/>
                                          </p:val>
                                        </p:tav>
                                        <p:tav tm="100000">
                                          <p:val>
                                            <p:strVal val="#ppt_x"/>
                                          </p:val>
                                        </p:tav>
                                      </p:tavLst>
                                    </p:anim>
                                    <p:anim calcmode="lin" valueType="num">
                                      <p:cBhvr additive="base">
                                        <p:cTn id="56" dur="500" fill="hold"/>
                                        <p:tgtEl>
                                          <p:spTgt spid="86046"/>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86047"/>
                                        </p:tgtEl>
                                        <p:attrNameLst>
                                          <p:attrName>style.visibility</p:attrName>
                                        </p:attrNameLst>
                                      </p:cBhvr>
                                      <p:to>
                                        <p:strVal val="visible"/>
                                      </p:to>
                                    </p:set>
                                    <p:anim calcmode="lin" valueType="num">
                                      <p:cBhvr additive="base">
                                        <p:cTn id="61" dur="500" fill="hold"/>
                                        <p:tgtEl>
                                          <p:spTgt spid="86047"/>
                                        </p:tgtEl>
                                        <p:attrNameLst>
                                          <p:attrName>ppt_x</p:attrName>
                                        </p:attrNameLst>
                                      </p:cBhvr>
                                      <p:tavLst>
                                        <p:tav tm="0">
                                          <p:val>
                                            <p:strVal val="0-#ppt_w/2"/>
                                          </p:val>
                                        </p:tav>
                                        <p:tav tm="100000">
                                          <p:val>
                                            <p:strVal val="#ppt_x"/>
                                          </p:val>
                                        </p:tav>
                                      </p:tavLst>
                                    </p:anim>
                                    <p:anim calcmode="lin" valueType="num">
                                      <p:cBhvr additive="base">
                                        <p:cTn id="62" dur="500" fill="hold"/>
                                        <p:tgtEl>
                                          <p:spTgt spid="86047"/>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5" presetClass="entr" presetSubtype="0" fill="hold" grpId="0" nodeType="clickEffect">
                                  <p:stCondLst>
                                    <p:cond delay="0"/>
                                  </p:stCondLst>
                                  <p:childTnLst>
                                    <p:set>
                                      <p:cBhvr>
                                        <p:cTn id="66" dur="1" fill="hold">
                                          <p:stCondLst>
                                            <p:cond delay="0"/>
                                          </p:stCondLst>
                                        </p:cTn>
                                        <p:tgtEl>
                                          <p:spTgt spid="86045"/>
                                        </p:tgtEl>
                                        <p:attrNameLst>
                                          <p:attrName>style.visibility</p:attrName>
                                        </p:attrNameLst>
                                      </p:cBhvr>
                                      <p:to>
                                        <p:strVal val="visible"/>
                                      </p:to>
                                    </p:set>
                                    <p:anim calcmode="lin" valueType="num">
                                      <p:cBhvr>
                                        <p:cTn id="67" dur="1000" fill="hold"/>
                                        <p:tgtEl>
                                          <p:spTgt spid="86045"/>
                                        </p:tgtEl>
                                        <p:attrNameLst>
                                          <p:attrName>ppt_w</p:attrName>
                                        </p:attrNameLst>
                                      </p:cBhvr>
                                      <p:tavLst>
                                        <p:tav tm="0">
                                          <p:val>
                                            <p:fltVal val="0"/>
                                          </p:val>
                                        </p:tav>
                                        <p:tav tm="100000">
                                          <p:val>
                                            <p:strVal val="#ppt_w"/>
                                          </p:val>
                                        </p:tav>
                                      </p:tavLst>
                                    </p:anim>
                                    <p:anim calcmode="lin" valueType="num">
                                      <p:cBhvr>
                                        <p:cTn id="68" dur="1000" fill="hold"/>
                                        <p:tgtEl>
                                          <p:spTgt spid="86045"/>
                                        </p:tgtEl>
                                        <p:attrNameLst>
                                          <p:attrName>ppt_h</p:attrName>
                                        </p:attrNameLst>
                                      </p:cBhvr>
                                      <p:tavLst>
                                        <p:tav tm="0">
                                          <p:val>
                                            <p:fltVal val="0"/>
                                          </p:val>
                                        </p:tav>
                                        <p:tav tm="100000">
                                          <p:val>
                                            <p:strVal val="#ppt_h"/>
                                          </p:val>
                                        </p:tav>
                                      </p:tavLst>
                                    </p:anim>
                                    <p:anim calcmode="lin" valueType="num">
                                      <p:cBhvr>
                                        <p:cTn id="69" dur="1000" fill="hold"/>
                                        <p:tgtEl>
                                          <p:spTgt spid="86045"/>
                                        </p:tgtEl>
                                        <p:attrNameLst>
                                          <p:attrName>ppt_x</p:attrName>
                                        </p:attrNameLst>
                                      </p:cBhvr>
                                      <p:tavLst>
                                        <p:tav tm="0" fmla="#ppt_x+(cos(-2*pi*(1-$))*-#ppt_x-sin(-2*pi*(1-$))*(1-#ppt_y))*(1-$)">
                                          <p:val>
                                            <p:fltVal val="0"/>
                                          </p:val>
                                        </p:tav>
                                        <p:tav tm="100000">
                                          <p:val>
                                            <p:fltVal val="1"/>
                                          </p:val>
                                        </p:tav>
                                      </p:tavLst>
                                    </p:anim>
                                    <p:anim calcmode="lin" valueType="num">
                                      <p:cBhvr>
                                        <p:cTn id="70" dur="1000" fill="hold"/>
                                        <p:tgtEl>
                                          <p:spTgt spid="8604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43" grpId="0" animBg="1"/>
      <p:bldP spid="86044" grpId="0" animBg="1"/>
      <p:bldP spid="86035" grpId="0" animBg="1"/>
      <p:bldP spid="86038" grpId="0" animBg="1"/>
      <p:bldP spid="86040" grpId="0" animBg="1"/>
      <p:bldP spid="86045" grpId="0" animBg="1"/>
      <p:bldP spid="86048"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85013" name="对象 85012"/>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5157" name="" r:id="rId1" imgW="114300" imgH="215265" progId="Equation.3">
                  <p:embed/>
                </p:oleObj>
              </mc:Choice>
              <mc:Fallback>
                <p:oleObj name="" r:id="rId1" imgW="114300" imgH="215265" progId="Equation.3">
                  <p:embed/>
                  <p:pic>
                    <p:nvPicPr>
                      <p:cNvPr id="0" name="图片 3077"/>
                      <p:cNvPicPr/>
                      <p:nvPr/>
                    </p:nvPicPr>
                    <p:blipFill>
                      <a:blip r:embed="rId2"/>
                      <a:stretch>
                        <a:fillRect/>
                      </a:stretch>
                    </p:blipFill>
                    <p:spPr>
                      <a:xfrm>
                        <a:off x="4514850" y="3321050"/>
                        <a:ext cx="114300" cy="215900"/>
                      </a:xfrm>
                      <a:prstGeom prst="rect">
                        <a:avLst/>
                      </a:prstGeom>
                      <a:noFill/>
                      <a:ln w="38100">
                        <a:noFill/>
                        <a:miter/>
                      </a:ln>
                    </p:spPr>
                  </p:pic>
                </p:oleObj>
              </mc:Fallback>
            </mc:AlternateContent>
          </a:graphicData>
        </a:graphic>
      </p:graphicFrame>
      <p:sp>
        <p:nvSpPr>
          <p:cNvPr id="85016" name="文本框 85015"/>
          <p:cNvSpPr txBox="1"/>
          <p:nvPr/>
        </p:nvSpPr>
        <p:spPr>
          <a:xfrm>
            <a:off x="5867400" y="1143000"/>
            <a:ext cx="2743200" cy="457200"/>
          </a:xfrm>
          <a:prstGeom prst="rect">
            <a:avLst/>
          </a:prstGeom>
          <a:noFill/>
          <a:ln w="9525">
            <a:noFill/>
          </a:ln>
        </p:spPr>
        <p:txBody>
          <a:bodyPr>
            <a:spAutoFit/>
          </a:bodyPr>
          <a:lstStyle/>
          <a:p>
            <a:pPr algn="l">
              <a:spcBef>
                <a:spcPct val="50000"/>
              </a:spcBef>
            </a:pPr>
            <a:endParaRPr dirty="0">
              <a:latin typeface="Times New Roman" panose="02020603050405020304" pitchFamily="18" charset="0"/>
            </a:endParaRPr>
          </a:p>
        </p:txBody>
      </p:sp>
      <p:sp>
        <p:nvSpPr>
          <p:cNvPr id="85020" name="矩形 85019"/>
          <p:cNvSpPr/>
          <p:nvPr/>
        </p:nvSpPr>
        <p:spPr>
          <a:xfrm>
            <a:off x="1838325" y="1209675"/>
            <a:ext cx="9144000" cy="0"/>
          </a:xfrm>
          <a:prstGeom prst="rect">
            <a:avLst/>
          </a:prstGeom>
          <a:noFill/>
          <a:ln w="9525">
            <a:noFill/>
          </a:ln>
        </p:spPr>
        <p:txBody>
          <a:bodyPr/>
          <a:lstStyle/>
          <a:p>
            <a:endParaRPr lang="zh-CN" altLang="en-US"/>
          </a:p>
        </p:txBody>
      </p:sp>
      <p:sp>
        <p:nvSpPr>
          <p:cNvPr id="85025" name="矩形 85024"/>
          <p:cNvSpPr/>
          <p:nvPr/>
        </p:nvSpPr>
        <p:spPr>
          <a:xfrm>
            <a:off x="2047875" y="1504950"/>
            <a:ext cx="9144000" cy="0"/>
          </a:xfrm>
          <a:prstGeom prst="rect">
            <a:avLst/>
          </a:prstGeom>
          <a:noFill/>
          <a:ln w="9525">
            <a:noFill/>
          </a:ln>
        </p:spPr>
        <p:txBody>
          <a:bodyPr/>
          <a:lstStyle/>
          <a:p>
            <a:endParaRPr lang="zh-CN" altLang="en-US"/>
          </a:p>
        </p:txBody>
      </p:sp>
      <p:pic>
        <p:nvPicPr>
          <p:cNvPr id="85024" name="图片 85023"/>
          <p:cNvPicPr>
            <a:picLocks noChangeAspect="1"/>
          </p:cNvPicPr>
          <p:nvPr/>
        </p:nvPicPr>
        <p:blipFill>
          <a:blip r:embed="rId3"/>
          <a:stretch>
            <a:fillRect/>
          </a:stretch>
        </p:blipFill>
        <p:spPr>
          <a:xfrm>
            <a:off x="5791200" y="304800"/>
            <a:ext cx="3352800" cy="2555875"/>
          </a:xfrm>
          <a:prstGeom prst="rect">
            <a:avLst/>
          </a:prstGeom>
          <a:noFill/>
          <a:ln w="9525">
            <a:noFill/>
          </a:ln>
        </p:spPr>
      </p:pic>
      <p:sp>
        <p:nvSpPr>
          <p:cNvPr id="85027" name="矩形 85026"/>
          <p:cNvSpPr/>
          <p:nvPr/>
        </p:nvSpPr>
        <p:spPr>
          <a:xfrm>
            <a:off x="2605088" y="1495425"/>
            <a:ext cx="9144000" cy="0"/>
          </a:xfrm>
          <a:prstGeom prst="rect">
            <a:avLst/>
          </a:prstGeom>
          <a:noFill/>
          <a:ln w="9525">
            <a:noFill/>
          </a:ln>
        </p:spPr>
        <p:txBody>
          <a:bodyPr/>
          <a:lstStyle/>
          <a:p>
            <a:endParaRPr lang="zh-CN" altLang="en-US"/>
          </a:p>
        </p:txBody>
      </p:sp>
      <p:grpSp>
        <p:nvGrpSpPr>
          <p:cNvPr id="85030" name="组合 85029"/>
          <p:cNvGrpSpPr/>
          <p:nvPr/>
        </p:nvGrpSpPr>
        <p:grpSpPr>
          <a:xfrm>
            <a:off x="8115300" y="6515100"/>
            <a:ext cx="1028700" cy="342900"/>
            <a:chOff x="5112" y="4104"/>
            <a:chExt cx="648" cy="216"/>
          </a:xfrm>
        </p:grpSpPr>
        <p:pic>
          <p:nvPicPr>
            <p:cNvPr id="85031" name="图片 85030" descr="返回">
              <a:hlinkClick r:id="rId4" action="ppaction://hlinksldjump"/>
            </p:cNvPr>
            <p:cNvPicPr>
              <a:picLocks noChangeAspect="1"/>
            </p:cNvPicPr>
            <p:nvPr/>
          </p:nvPicPr>
          <p:blipFill>
            <a:blip r:embed="rId5"/>
            <a:stretch>
              <a:fillRect/>
            </a:stretch>
          </p:blipFill>
          <p:spPr>
            <a:xfrm>
              <a:off x="5112" y="4104"/>
              <a:ext cx="216" cy="216"/>
            </a:xfrm>
            <a:prstGeom prst="rect">
              <a:avLst/>
            </a:prstGeom>
            <a:noFill/>
            <a:ln w="9525">
              <a:noFill/>
            </a:ln>
          </p:spPr>
        </p:pic>
        <p:grpSp>
          <p:nvGrpSpPr>
            <p:cNvPr id="85032" name="组合 85031"/>
            <p:cNvGrpSpPr/>
            <p:nvPr/>
          </p:nvGrpSpPr>
          <p:grpSpPr>
            <a:xfrm>
              <a:off x="5352" y="4104"/>
              <a:ext cx="408" cy="216"/>
              <a:chOff x="5232" y="4100"/>
              <a:chExt cx="408" cy="216"/>
            </a:xfrm>
          </p:grpSpPr>
          <p:pic>
            <p:nvPicPr>
              <p:cNvPr id="85033" name="图片 85032" descr="下一步">
                <a:hlinkClick r:id="" action="ppaction://hlinkshowjump?jump=nextslide"/>
              </p:cNvPr>
              <p:cNvPicPr>
                <a:picLocks noChangeAspect="1"/>
              </p:cNvPicPr>
              <p:nvPr/>
            </p:nvPicPr>
            <p:blipFill>
              <a:blip r:embed="rId6"/>
              <a:stretch>
                <a:fillRect/>
              </a:stretch>
            </p:blipFill>
            <p:spPr>
              <a:xfrm>
                <a:off x="5424" y="4100"/>
                <a:ext cx="216" cy="216"/>
              </a:xfrm>
              <a:prstGeom prst="rect">
                <a:avLst/>
              </a:prstGeom>
              <a:noFill/>
              <a:ln w="9525">
                <a:noFill/>
              </a:ln>
            </p:spPr>
          </p:pic>
          <p:pic>
            <p:nvPicPr>
              <p:cNvPr id="85034" name="图片 85033" descr="上一步">
                <a:hlinkClick r:id="" action="ppaction://hlinkshowjump?jump=previousslide"/>
              </p:cNvPr>
              <p:cNvPicPr>
                <a:picLocks noChangeAspect="1"/>
              </p:cNvPicPr>
              <p:nvPr/>
            </p:nvPicPr>
            <p:blipFill>
              <a:blip r:embed="rId7"/>
              <a:stretch>
                <a:fillRect/>
              </a:stretch>
            </p:blipFill>
            <p:spPr>
              <a:xfrm>
                <a:off x="5232" y="4100"/>
                <a:ext cx="216" cy="216"/>
              </a:xfrm>
              <a:prstGeom prst="rect">
                <a:avLst/>
              </a:prstGeom>
              <a:noFill/>
              <a:ln w="9525">
                <a:noFill/>
              </a:ln>
            </p:spPr>
          </p:pic>
        </p:grpSp>
      </p:grpSp>
      <p:pic>
        <p:nvPicPr>
          <p:cNvPr id="85028" name="图片 85027"/>
          <p:cNvPicPr>
            <a:picLocks noChangeAspect="1"/>
          </p:cNvPicPr>
          <p:nvPr/>
        </p:nvPicPr>
        <p:blipFill>
          <a:blip r:embed="rId8"/>
          <a:srcRect l="3510" t="8263" b="8095"/>
          <a:stretch>
            <a:fillRect/>
          </a:stretch>
        </p:blipFill>
        <p:spPr>
          <a:xfrm>
            <a:off x="152400" y="4224338"/>
            <a:ext cx="4572000" cy="2576512"/>
          </a:xfrm>
          <a:prstGeom prst="rect">
            <a:avLst/>
          </a:prstGeom>
          <a:noFill/>
          <a:ln w="9525">
            <a:noFill/>
          </a:ln>
        </p:spPr>
      </p:pic>
      <p:sp>
        <p:nvSpPr>
          <p:cNvPr id="85043" name="矩形 85042"/>
          <p:cNvSpPr/>
          <p:nvPr/>
        </p:nvSpPr>
        <p:spPr>
          <a:xfrm>
            <a:off x="2138363" y="1328738"/>
            <a:ext cx="9144000" cy="0"/>
          </a:xfrm>
          <a:prstGeom prst="rect">
            <a:avLst/>
          </a:prstGeom>
          <a:noFill/>
          <a:ln w="9525">
            <a:noFill/>
          </a:ln>
        </p:spPr>
        <p:txBody>
          <a:bodyPr/>
          <a:lstStyle/>
          <a:p>
            <a:endParaRPr lang="zh-CN" altLang="en-US"/>
          </a:p>
        </p:txBody>
      </p:sp>
      <p:pic>
        <p:nvPicPr>
          <p:cNvPr id="85042" name="图片 85041"/>
          <p:cNvPicPr>
            <a:picLocks noChangeAspect="1"/>
          </p:cNvPicPr>
          <p:nvPr/>
        </p:nvPicPr>
        <p:blipFill>
          <a:blip r:embed="rId9"/>
          <a:srcRect l="2571" t="1842" r="1736" b="1489"/>
          <a:stretch>
            <a:fillRect/>
          </a:stretch>
        </p:blipFill>
        <p:spPr>
          <a:xfrm>
            <a:off x="457200" y="0"/>
            <a:ext cx="4867275" cy="4200525"/>
          </a:xfrm>
          <a:prstGeom prst="rect">
            <a:avLst/>
          </a:prstGeom>
          <a:noFill/>
          <a:ln w="9525">
            <a:noFill/>
          </a:ln>
        </p:spPr>
      </p:pic>
      <p:sp>
        <p:nvSpPr>
          <p:cNvPr id="85036" name="直接连接符 85035"/>
          <p:cNvSpPr/>
          <p:nvPr/>
        </p:nvSpPr>
        <p:spPr>
          <a:xfrm flipV="1">
            <a:off x="4191000" y="762000"/>
            <a:ext cx="1828800" cy="914400"/>
          </a:xfrm>
          <a:prstGeom prst="line">
            <a:avLst/>
          </a:prstGeom>
          <a:ln w="38100" cap="flat" cmpd="sng">
            <a:solidFill>
              <a:schemeClr val="accent2"/>
            </a:solidFill>
            <a:prstDash val="solid"/>
            <a:headEnd type="none" w="med" len="med"/>
            <a:tailEnd type="none" w="med" len="med"/>
          </a:ln>
        </p:spPr>
      </p:sp>
      <p:sp>
        <p:nvSpPr>
          <p:cNvPr id="85040" name="椭圆形标注 85039"/>
          <p:cNvSpPr/>
          <p:nvPr/>
        </p:nvSpPr>
        <p:spPr>
          <a:xfrm>
            <a:off x="1066800" y="3657600"/>
            <a:ext cx="1295400" cy="914400"/>
          </a:xfrm>
          <a:prstGeom prst="wedgeEllipseCallout">
            <a:avLst>
              <a:gd name="adj1" fmla="val 25245"/>
              <a:gd name="adj2" fmla="val 79514"/>
            </a:avLst>
          </a:prstGeom>
          <a:solidFill>
            <a:srgbClr val="CCFFCC">
              <a:alpha val="50000"/>
            </a:srgbClr>
          </a:solidFill>
          <a:ln w="38100" cap="flat" cmpd="sng">
            <a:solidFill>
              <a:srgbClr val="0080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楷体_GB2312" pitchFamily="49" charset="-122"/>
              </a:rPr>
              <a:t>低速轴系</a:t>
            </a:r>
            <a:endParaRPr lang="zh-CN" altLang="en-US" sz="2000" b="1" dirty="0">
              <a:solidFill>
                <a:srgbClr val="FF3300"/>
              </a:solidFill>
              <a:latin typeface="Times New Roman" panose="02020603050405020304" pitchFamily="18" charset="0"/>
              <a:ea typeface="楷体_GB2312" pitchFamily="49" charset="-122"/>
            </a:endParaRPr>
          </a:p>
        </p:txBody>
      </p:sp>
      <p:sp>
        <p:nvSpPr>
          <p:cNvPr id="85039" name="直接连接符 85038"/>
          <p:cNvSpPr/>
          <p:nvPr/>
        </p:nvSpPr>
        <p:spPr>
          <a:xfrm>
            <a:off x="2667000" y="1905000"/>
            <a:ext cx="3200400" cy="2667000"/>
          </a:xfrm>
          <a:prstGeom prst="line">
            <a:avLst/>
          </a:prstGeom>
          <a:ln w="38100" cap="flat" cmpd="sng">
            <a:solidFill>
              <a:srgbClr val="FF0000"/>
            </a:solidFill>
            <a:prstDash val="solid"/>
            <a:headEnd type="none" w="med" len="med"/>
            <a:tailEnd type="none" w="med" len="med"/>
          </a:ln>
        </p:spPr>
      </p:sp>
      <p:sp>
        <p:nvSpPr>
          <p:cNvPr id="85037" name="直接连接符 85036"/>
          <p:cNvSpPr/>
          <p:nvPr/>
        </p:nvSpPr>
        <p:spPr>
          <a:xfrm>
            <a:off x="762000" y="2209800"/>
            <a:ext cx="152400" cy="2514600"/>
          </a:xfrm>
          <a:prstGeom prst="line">
            <a:avLst/>
          </a:prstGeom>
          <a:ln w="38100" cap="flat" cmpd="sng">
            <a:solidFill>
              <a:srgbClr val="008000"/>
            </a:solidFill>
            <a:prstDash val="solid"/>
            <a:headEnd type="none" w="med" len="med"/>
            <a:tailEnd type="none" w="med" len="med"/>
          </a:ln>
        </p:spPr>
      </p:sp>
      <p:sp>
        <p:nvSpPr>
          <p:cNvPr id="85035" name="椭圆形标注 85034"/>
          <p:cNvSpPr/>
          <p:nvPr/>
        </p:nvSpPr>
        <p:spPr>
          <a:xfrm>
            <a:off x="7620000" y="152400"/>
            <a:ext cx="1295400" cy="1143000"/>
          </a:xfrm>
          <a:prstGeom prst="wedgeEllipseCallout">
            <a:avLst>
              <a:gd name="adj1" fmla="val -62500"/>
              <a:gd name="adj2" fmla="val 39861"/>
            </a:avLst>
          </a:prstGeom>
          <a:solidFill>
            <a:srgbClr val="CCFFCC">
              <a:alpha val="50000"/>
            </a:srgbClr>
          </a:solidFill>
          <a:ln w="38100" cap="flat" cmpd="sng">
            <a:solidFill>
              <a:schemeClr val="accent2"/>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楷体_GB2312" pitchFamily="49" charset="-122"/>
              </a:rPr>
              <a:t>高速轴系</a:t>
            </a:r>
            <a:endParaRPr lang="zh-CN" altLang="en-US" sz="2000" b="1" dirty="0">
              <a:solidFill>
                <a:srgbClr val="FF3300"/>
              </a:solidFill>
              <a:latin typeface="Times New Roman" panose="02020603050405020304" pitchFamily="18" charset="0"/>
              <a:ea typeface="楷体_GB2312" pitchFamily="49" charset="-122"/>
            </a:endParaRPr>
          </a:p>
        </p:txBody>
      </p:sp>
      <p:pic>
        <p:nvPicPr>
          <p:cNvPr id="85044" name="图片 85043"/>
          <p:cNvPicPr>
            <a:picLocks noChangeAspect="1"/>
          </p:cNvPicPr>
          <p:nvPr/>
        </p:nvPicPr>
        <p:blipFill>
          <a:blip r:embed="rId10"/>
          <a:srcRect l="4114"/>
          <a:stretch>
            <a:fillRect/>
          </a:stretch>
        </p:blipFill>
        <p:spPr>
          <a:xfrm>
            <a:off x="5715000" y="3200400"/>
            <a:ext cx="3429000" cy="3429000"/>
          </a:xfrm>
          <a:prstGeom prst="rect">
            <a:avLst/>
          </a:prstGeom>
          <a:noFill/>
          <a:ln w="9525">
            <a:noFill/>
          </a:ln>
        </p:spPr>
      </p:pic>
      <p:sp>
        <p:nvSpPr>
          <p:cNvPr id="85041" name="椭圆形标注 85040"/>
          <p:cNvSpPr/>
          <p:nvPr/>
        </p:nvSpPr>
        <p:spPr>
          <a:xfrm>
            <a:off x="6019800" y="3276600"/>
            <a:ext cx="1371600" cy="685800"/>
          </a:xfrm>
          <a:prstGeom prst="wedgeEllipseCallout">
            <a:avLst>
              <a:gd name="adj1" fmla="val 2431"/>
              <a:gd name="adj2" fmla="val 104398"/>
            </a:avLst>
          </a:prstGeom>
          <a:solidFill>
            <a:srgbClr val="CCFFCC">
              <a:alpha val="50000"/>
            </a:srgbClr>
          </a:solidFill>
          <a:ln w="38100" cap="flat" cmpd="sng">
            <a:solidFill>
              <a:srgbClr val="FF00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楷体_GB2312" pitchFamily="49" charset="-122"/>
              </a:rPr>
              <a:t>中间轴系</a:t>
            </a:r>
            <a:endParaRPr lang="zh-CN" altLang="en-US" sz="2000" b="1" dirty="0">
              <a:solidFill>
                <a:srgbClr val="FF3300"/>
              </a:solidFill>
              <a:latin typeface="Times New Roman" panose="02020603050405020304" pitchFamily="18" charset="0"/>
              <a:ea typeface="楷体_GB2312" pitchFamily="49" charset="-122"/>
            </a:endParaRP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5036"/>
                                        </p:tgtEl>
                                        <p:attrNameLst>
                                          <p:attrName>style.visibility</p:attrName>
                                        </p:attrNameLst>
                                      </p:cBhvr>
                                      <p:to>
                                        <p:strVal val="visible"/>
                                      </p:to>
                                    </p:set>
                                    <p:anim calcmode="lin" valueType="num">
                                      <p:cBhvr additive="base">
                                        <p:cTn id="7" dur="500" fill="hold"/>
                                        <p:tgtEl>
                                          <p:spTgt spid="85036"/>
                                        </p:tgtEl>
                                        <p:attrNameLst>
                                          <p:attrName>ppt_x</p:attrName>
                                        </p:attrNameLst>
                                      </p:cBhvr>
                                      <p:tavLst>
                                        <p:tav tm="0">
                                          <p:val>
                                            <p:strVal val="0-#ppt_w/2"/>
                                          </p:val>
                                        </p:tav>
                                        <p:tav tm="100000">
                                          <p:val>
                                            <p:strVal val="#ppt_x"/>
                                          </p:val>
                                        </p:tav>
                                      </p:tavLst>
                                    </p:anim>
                                    <p:anim calcmode="lin" valueType="num">
                                      <p:cBhvr additive="base">
                                        <p:cTn id="8" dur="500" fill="hold"/>
                                        <p:tgtEl>
                                          <p:spTgt spid="850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5024"/>
                                        </p:tgtEl>
                                        <p:attrNameLst>
                                          <p:attrName>style.visibility</p:attrName>
                                        </p:attrNameLst>
                                      </p:cBhvr>
                                      <p:to>
                                        <p:strVal val="visible"/>
                                      </p:to>
                                    </p:set>
                                    <p:anim calcmode="lin" valueType="num">
                                      <p:cBhvr additive="base">
                                        <p:cTn id="13" dur="500" fill="hold"/>
                                        <p:tgtEl>
                                          <p:spTgt spid="85024"/>
                                        </p:tgtEl>
                                        <p:attrNameLst>
                                          <p:attrName>ppt_x</p:attrName>
                                        </p:attrNameLst>
                                      </p:cBhvr>
                                      <p:tavLst>
                                        <p:tav tm="0">
                                          <p:val>
                                            <p:strVal val="0-#ppt_w/2"/>
                                          </p:val>
                                        </p:tav>
                                        <p:tav tm="100000">
                                          <p:val>
                                            <p:strVal val="#ppt_x"/>
                                          </p:val>
                                        </p:tav>
                                      </p:tavLst>
                                    </p:anim>
                                    <p:anim calcmode="lin" valueType="num">
                                      <p:cBhvr additive="base">
                                        <p:cTn id="14" dur="500" fill="hold"/>
                                        <p:tgtEl>
                                          <p:spTgt spid="850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5" presetClass="entr" presetSubtype="0" fill="hold" grpId="0" nodeType="clickEffect">
                                  <p:stCondLst>
                                    <p:cond delay="0"/>
                                  </p:stCondLst>
                                  <p:childTnLst>
                                    <p:set>
                                      <p:cBhvr>
                                        <p:cTn id="18" dur="1" fill="hold">
                                          <p:stCondLst>
                                            <p:cond delay="0"/>
                                          </p:stCondLst>
                                        </p:cTn>
                                        <p:tgtEl>
                                          <p:spTgt spid="85035"/>
                                        </p:tgtEl>
                                        <p:attrNameLst>
                                          <p:attrName>style.visibility</p:attrName>
                                        </p:attrNameLst>
                                      </p:cBhvr>
                                      <p:to>
                                        <p:strVal val="visible"/>
                                      </p:to>
                                    </p:set>
                                    <p:anim calcmode="lin" valueType="num">
                                      <p:cBhvr>
                                        <p:cTn id="19" dur="1000" fill="hold"/>
                                        <p:tgtEl>
                                          <p:spTgt spid="85035"/>
                                        </p:tgtEl>
                                        <p:attrNameLst>
                                          <p:attrName>ppt_w</p:attrName>
                                        </p:attrNameLst>
                                      </p:cBhvr>
                                      <p:tavLst>
                                        <p:tav tm="0">
                                          <p:val>
                                            <p:fltVal val="0"/>
                                          </p:val>
                                        </p:tav>
                                        <p:tav tm="100000">
                                          <p:val>
                                            <p:strVal val="#ppt_w"/>
                                          </p:val>
                                        </p:tav>
                                      </p:tavLst>
                                    </p:anim>
                                    <p:anim calcmode="lin" valueType="num">
                                      <p:cBhvr>
                                        <p:cTn id="20" dur="1000" fill="hold"/>
                                        <p:tgtEl>
                                          <p:spTgt spid="85035"/>
                                        </p:tgtEl>
                                        <p:attrNameLst>
                                          <p:attrName>ppt_h</p:attrName>
                                        </p:attrNameLst>
                                      </p:cBhvr>
                                      <p:tavLst>
                                        <p:tav tm="0">
                                          <p:val>
                                            <p:fltVal val="0"/>
                                          </p:val>
                                        </p:tav>
                                        <p:tav tm="100000">
                                          <p:val>
                                            <p:strVal val="#ppt_h"/>
                                          </p:val>
                                        </p:tav>
                                      </p:tavLst>
                                    </p:anim>
                                    <p:anim calcmode="lin" valueType="num">
                                      <p:cBhvr>
                                        <p:cTn id="21" dur="1000" fill="hold"/>
                                        <p:tgtEl>
                                          <p:spTgt spid="85035"/>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8503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85039"/>
                                        </p:tgtEl>
                                        <p:attrNameLst>
                                          <p:attrName>style.visibility</p:attrName>
                                        </p:attrNameLst>
                                      </p:cBhvr>
                                      <p:to>
                                        <p:strVal val="visible"/>
                                      </p:to>
                                    </p:set>
                                    <p:anim calcmode="lin" valueType="num">
                                      <p:cBhvr additive="base">
                                        <p:cTn id="27" dur="500" fill="hold"/>
                                        <p:tgtEl>
                                          <p:spTgt spid="85039"/>
                                        </p:tgtEl>
                                        <p:attrNameLst>
                                          <p:attrName>ppt_x</p:attrName>
                                        </p:attrNameLst>
                                      </p:cBhvr>
                                      <p:tavLst>
                                        <p:tav tm="0">
                                          <p:val>
                                            <p:strVal val="0-#ppt_w/2"/>
                                          </p:val>
                                        </p:tav>
                                        <p:tav tm="100000">
                                          <p:val>
                                            <p:strVal val="#ppt_x"/>
                                          </p:val>
                                        </p:tav>
                                      </p:tavLst>
                                    </p:anim>
                                    <p:anim calcmode="lin" valueType="num">
                                      <p:cBhvr additive="base">
                                        <p:cTn id="28" dur="500" fill="hold"/>
                                        <p:tgtEl>
                                          <p:spTgt spid="8503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85044"/>
                                        </p:tgtEl>
                                        <p:attrNameLst>
                                          <p:attrName>style.visibility</p:attrName>
                                        </p:attrNameLst>
                                      </p:cBhvr>
                                      <p:to>
                                        <p:strVal val="visible"/>
                                      </p:to>
                                    </p:set>
                                    <p:anim calcmode="lin" valueType="num">
                                      <p:cBhvr additive="base">
                                        <p:cTn id="33" dur="500" fill="hold"/>
                                        <p:tgtEl>
                                          <p:spTgt spid="85044"/>
                                        </p:tgtEl>
                                        <p:attrNameLst>
                                          <p:attrName>ppt_x</p:attrName>
                                        </p:attrNameLst>
                                      </p:cBhvr>
                                      <p:tavLst>
                                        <p:tav tm="0">
                                          <p:val>
                                            <p:strVal val="0-#ppt_w/2"/>
                                          </p:val>
                                        </p:tav>
                                        <p:tav tm="100000">
                                          <p:val>
                                            <p:strVal val="#ppt_x"/>
                                          </p:val>
                                        </p:tav>
                                      </p:tavLst>
                                    </p:anim>
                                    <p:anim calcmode="lin" valueType="num">
                                      <p:cBhvr additive="base">
                                        <p:cTn id="34" dur="500" fill="hold"/>
                                        <p:tgtEl>
                                          <p:spTgt spid="8504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85041"/>
                                        </p:tgtEl>
                                        <p:attrNameLst>
                                          <p:attrName>style.visibility</p:attrName>
                                        </p:attrNameLst>
                                      </p:cBhvr>
                                      <p:to>
                                        <p:strVal val="visible"/>
                                      </p:to>
                                    </p:set>
                                    <p:anim calcmode="lin" valueType="num">
                                      <p:cBhvr>
                                        <p:cTn id="39" dur="1000" fill="hold"/>
                                        <p:tgtEl>
                                          <p:spTgt spid="85041"/>
                                        </p:tgtEl>
                                        <p:attrNameLst>
                                          <p:attrName>ppt_w</p:attrName>
                                        </p:attrNameLst>
                                      </p:cBhvr>
                                      <p:tavLst>
                                        <p:tav tm="0">
                                          <p:val>
                                            <p:fltVal val="0"/>
                                          </p:val>
                                        </p:tav>
                                        <p:tav tm="100000">
                                          <p:val>
                                            <p:strVal val="#ppt_w"/>
                                          </p:val>
                                        </p:tav>
                                      </p:tavLst>
                                    </p:anim>
                                    <p:anim calcmode="lin" valueType="num">
                                      <p:cBhvr>
                                        <p:cTn id="40" dur="1000" fill="hold"/>
                                        <p:tgtEl>
                                          <p:spTgt spid="85041"/>
                                        </p:tgtEl>
                                        <p:attrNameLst>
                                          <p:attrName>ppt_h</p:attrName>
                                        </p:attrNameLst>
                                      </p:cBhvr>
                                      <p:tavLst>
                                        <p:tav tm="0">
                                          <p:val>
                                            <p:fltVal val="0"/>
                                          </p:val>
                                        </p:tav>
                                        <p:tav tm="100000">
                                          <p:val>
                                            <p:strVal val="#ppt_h"/>
                                          </p:val>
                                        </p:tav>
                                      </p:tavLst>
                                    </p:anim>
                                    <p:anim calcmode="lin" valueType="num">
                                      <p:cBhvr>
                                        <p:cTn id="41" dur="1000" fill="hold"/>
                                        <p:tgtEl>
                                          <p:spTgt spid="85041"/>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8504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85037"/>
                                        </p:tgtEl>
                                        <p:attrNameLst>
                                          <p:attrName>style.visibility</p:attrName>
                                        </p:attrNameLst>
                                      </p:cBhvr>
                                      <p:to>
                                        <p:strVal val="visible"/>
                                      </p:to>
                                    </p:set>
                                    <p:anim calcmode="lin" valueType="num">
                                      <p:cBhvr additive="base">
                                        <p:cTn id="47" dur="500" fill="hold"/>
                                        <p:tgtEl>
                                          <p:spTgt spid="85037"/>
                                        </p:tgtEl>
                                        <p:attrNameLst>
                                          <p:attrName>ppt_x</p:attrName>
                                        </p:attrNameLst>
                                      </p:cBhvr>
                                      <p:tavLst>
                                        <p:tav tm="0">
                                          <p:val>
                                            <p:strVal val="0-#ppt_w/2"/>
                                          </p:val>
                                        </p:tav>
                                        <p:tav tm="100000">
                                          <p:val>
                                            <p:strVal val="#ppt_x"/>
                                          </p:val>
                                        </p:tav>
                                      </p:tavLst>
                                    </p:anim>
                                    <p:anim calcmode="lin" valueType="num">
                                      <p:cBhvr additive="base">
                                        <p:cTn id="48" dur="500" fill="hold"/>
                                        <p:tgtEl>
                                          <p:spTgt spid="85037"/>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p:cTn id="52" dur="1" fill="hold">
                                          <p:stCondLst>
                                            <p:cond delay="0"/>
                                          </p:stCondLst>
                                        </p:cTn>
                                        <p:tgtEl>
                                          <p:spTgt spid="85028"/>
                                        </p:tgtEl>
                                        <p:attrNameLst>
                                          <p:attrName>style.visibility</p:attrName>
                                        </p:attrNameLst>
                                      </p:cBhvr>
                                      <p:to>
                                        <p:strVal val="visible"/>
                                      </p:to>
                                    </p:set>
                                    <p:anim calcmode="lin" valueType="num">
                                      <p:cBhvr additive="base">
                                        <p:cTn id="53" dur="500" fill="hold"/>
                                        <p:tgtEl>
                                          <p:spTgt spid="85028"/>
                                        </p:tgtEl>
                                        <p:attrNameLst>
                                          <p:attrName>ppt_x</p:attrName>
                                        </p:attrNameLst>
                                      </p:cBhvr>
                                      <p:tavLst>
                                        <p:tav tm="0">
                                          <p:val>
                                            <p:strVal val="0-#ppt_w/2"/>
                                          </p:val>
                                        </p:tav>
                                        <p:tav tm="100000">
                                          <p:val>
                                            <p:strVal val="#ppt_x"/>
                                          </p:val>
                                        </p:tav>
                                      </p:tavLst>
                                    </p:anim>
                                    <p:anim calcmode="lin" valueType="num">
                                      <p:cBhvr additive="base">
                                        <p:cTn id="54" dur="500" fill="hold"/>
                                        <p:tgtEl>
                                          <p:spTgt spid="85028"/>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5" presetClass="entr" presetSubtype="0" fill="hold" grpId="0" nodeType="clickEffect">
                                  <p:stCondLst>
                                    <p:cond delay="0"/>
                                  </p:stCondLst>
                                  <p:childTnLst>
                                    <p:set>
                                      <p:cBhvr>
                                        <p:cTn id="58" dur="1" fill="hold">
                                          <p:stCondLst>
                                            <p:cond delay="0"/>
                                          </p:stCondLst>
                                        </p:cTn>
                                        <p:tgtEl>
                                          <p:spTgt spid="85040"/>
                                        </p:tgtEl>
                                        <p:attrNameLst>
                                          <p:attrName>style.visibility</p:attrName>
                                        </p:attrNameLst>
                                      </p:cBhvr>
                                      <p:to>
                                        <p:strVal val="visible"/>
                                      </p:to>
                                    </p:set>
                                    <p:anim calcmode="lin" valueType="num">
                                      <p:cBhvr>
                                        <p:cTn id="59" dur="1000" fill="hold"/>
                                        <p:tgtEl>
                                          <p:spTgt spid="85040"/>
                                        </p:tgtEl>
                                        <p:attrNameLst>
                                          <p:attrName>ppt_w</p:attrName>
                                        </p:attrNameLst>
                                      </p:cBhvr>
                                      <p:tavLst>
                                        <p:tav tm="0">
                                          <p:val>
                                            <p:fltVal val="0"/>
                                          </p:val>
                                        </p:tav>
                                        <p:tav tm="100000">
                                          <p:val>
                                            <p:strVal val="#ppt_w"/>
                                          </p:val>
                                        </p:tav>
                                      </p:tavLst>
                                    </p:anim>
                                    <p:anim calcmode="lin" valueType="num">
                                      <p:cBhvr>
                                        <p:cTn id="60" dur="1000" fill="hold"/>
                                        <p:tgtEl>
                                          <p:spTgt spid="85040"/>
                                        </p:tgtEl>
                                        <p:attrNameLst>
                                          <p:attrName>ppt_h</p:attrName>
                                        </p:attrNameLst>
                                      </p:cBhvr>
                                      <p:tavLst>
                                        <p:tav tm="0">
                                          <p:val>
                                            <p:fltVal val="0"/>
                                          </p:val>
                                        </p:tav>
                                        <p:tav tm="100000">
                                          <p:val>
                                            <p:strVal val="#ppt_h"/>
                                          </p:val>
                                        </p:tav>
                                      </p:tavLst>
                                    </p:anim>
                                    <p:anim calcmode="lin" valueType="num">
                                      <p:cBhvr>
                                        <p:cTn id="61" dur="1000" fill="hold"/>
                                        <p:tgtEl>
                                          <p:spTgt spid="85040"/>
                                        </p:tgtEl>
                                        <p:attrNameLst>
                                          <p:attrName>ppt_x</p:attrName>
                                        </p:attrNameLst>
                                      </p:cBhvr>
                                      <p:tavLst>
                                        <p:tav tm="0" fmla="#ppt_x+(cos(-2*pi*(1-$))*-#ppt_x-sin(-2*pi*(1-$))*(1-#ppt_y))*(1-$)">
                                          <p:val>
                                            <p:fltVal val="0"/>
                                          </p:val>
                                        </p:tav>
                                        <p:tav tm="100000">
                                          <p:val>
                                            <p:fltVal val="1"/>
                                          </p:val>
                                        </p:tav>
                                      </p:tavLst>
                                    </p:anim>
                                    <p:anim calcmode="lin" valueType="num">
                                      <p:cBhvr>
                                        <p:cTn id="62" dur="1000" fill="hold"/>
                                        <p:tgtEl>
                                          <p:spTgt spid="8504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40" grpId="0" animBg="1"/>
      <p:bldP spid="85035" grpId="0" animBg="1"/>
      <p:bldP spid="8504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83895" y="1557020"/>
            <a:ext cx="5803900" cy="460375"/>
          </a:xfrm>
          <a:prstGeom prst="rect">
            <a:avLst/>
          </a:prstGeom>
          <a:noFill/>
        </p:spPr>
        <p:txBody>
          <a:bodyPr wrap="square" rtlCol="0">
            <a:spAutoFit/>
          </a:bodyPr>
          <a:p>
            <a:pPr algn="l"/>
            <a:r>
              <a:rPr lang="en-US" altLang="zh-CN">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1</a:t>
            </a:r>
            <a:r>
              <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a:t>
            </a:r>
            <a:r>
              <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减速器草图设计第一阶段</a:t>
            </a:r>
            <a:endPar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p:txBody>
      </p:sp>
      <p:sp>
        <p:nvSpPr>
          <p:cNvPr id="4" name="文本框 3"/>
          <p:cNvSpPr txBox="1"/>
          <p:nvPr/>
        </p:nvSpPr>
        <p:spPr>
          <a:xfrm>
            <a:off x="647700" y="2277110"/>
            <a:ext cx="7899400" cy="1753235"/>
          </a:xfrm>
          <a:prstGeom prst="rect">
            <a:avLst/>
          </a:prstGeom>
          <a:noFill/>
        </p:spPr>
        <p:txBody>
          <a:bodyPr wrap="square" rtlCol="0">
            <a:spAutoFit/>
          </a:bodyPr>
          <a:p>
            <a:pPr algn="l">
              <a:lnSpc>
                <a:spcPct val="150000"/>
              </a:lnSpc>
            </a:pPr>
            <a:r>
              <a:rPr lang="zh-CN" altLang="en-US">
                <a:latin typeface="黑体" panose="02010609060101010101" pitchFamily="49" charset="-122"/>
                <a:ea typeface="黑体" panose="02010609060101010101" pitchFamily="49" charset="-122"/>
                <a:cs typeface="黑体" panose="02010609060101010101" pitchFamily="49" charset="-122"/>
              </a:rPr>
              <a:t>（</a:t>
            </a:r>
            <a:r>
              <a:rPr lang="en-US" altLang="zh-CN">
                <a:latin typeface="黑体" panose="02010609060101010101" pitchFamily="49" charset="-122"/>
                <a:ea typeface="黑体" panose="02010609060101010101" pitchFamily="49" charset="-122"/>
                <a:cs typeface="黑体" panose="02010609060101010101" pitchFamily="49" charset="-122"/>
              </a:rPr>
              <a:t>1</a:t>
            </a:r>
            <a:r>
              <a:rPr lang="zh-CN" altLang="en-US">
                <a:latin typeface="黑体" panose="02010609060101010101" pitchFamily="49" charset="-122"/>
                <a:ea typeface="黑体" panose="02010609060101010101" pitchFamily="49" charset="-122"/>
                <a:cs typeface="黑体" panose="02010609060101010101" pitchFamily="49" charset="-122"/>
              </a:rPr>
              <a:t>）先画俯视图</a:t>
            </a:r>
            <a:endParaRPr lang="zh-CN" altLang="en-US">
              <a:latin typeface="黑体" panose="02010609060101010101" pitchFamily="49" charset="-122"/>
              <a:ea typeface="黑体" panose="02010609060101010101" pitchFamily="49" charset="-122"/>
              <a:cs typeface="黑体" panose="02010609060101010101" pitchFamily="49" charset="-122"/>
            </a:endParaRPr>
          </a:p>
          <a:p>
            <a:pPr algn="l">
              <a:lnSpc>
                <a:spcPct val="150000"/>
              </a:lnSpc>
            </a:pPr>
            <a:r>
              <a:rPr lang="zh-CN" altLang="en-US">
                <a:latin typeface="黑体" panose="02010609060101010101" pitchFamily="49" charset="-122"/>
                <a:ea typeface="黑体" panose="02010609060101010101" pitchFamily="49" charset="-122"/>
                <a:cs typeface="黑体" panose="02010609060101010101" pitchFamily="49" charset="-122"/>
              </a:rPr>
              <a:t> </a:t>
            </a:r>
            <a:r>
              <a:rPr lang="en-US" altLang="zh-CN">
                <a:latin typeface="黑体" panose="02010609060101010101" pitchFamily="49" charset="-122"/>
                <a:ea typeface="黑体" panose="02010609060101010101" pitchFamily="49" charset="-122"/>
                <a:cs typeface="黑体" panose="02010609060101010101" pitchFamily="49" charset="-122"/>
              </a:rPr>
              <a:t>     </a:t>
            </a:r>
            <a:r>
              <a:rPr lang="zh-CN" altLang="en-US">
                <a:solidFill>
                  <a:srgbClr val="C00000"/>
                </a:solidFill>
                <a:latin typeface="黑体" panose="02010609060101010101" pitchFamily="49" charset="-122"/>
                <a:ea typeface="黑体" panose="02010609060101010101" pitchFamily="49" charset="-122"/>
                <a:cs typeface="黑体" panose="02010609060101010101" pitchFamily="49" charset="-122"/>
              </a:rPr>
              <a:t>表达方法：俯视图沿箱盖与箱体的结合面剖切</a:t>
            </a:r>
            <a:r>
              <a:rPr lang="zh-CN" altLang="en-US">
                <a:latin typeface="黑体" panose="02010609060101010101" pitchFamily="49" charset="-122"/>
                <a:ea typeface="黑体" panose="02010609060101010101" pitchFamily="49" charset="-122"/>
                <a:cs typeface="黑体" panose="02010609060101010101" pitchFamily="49" charset="-122"/>
              </a:rPr>
              <a:t>，</a:t>
            </a:r>
            <a:endParaRPr lang="zh-CN" altLang="en-US">
              <a:latin typeface="黑体" panose="02010609060101010101" pitchFamily="49" charset="-122"/>
              <a:ea typeface="黑体" panose="02010609060101010101" pitchFamily="49" charset="-122"/>
              <a:cs typeface="黑体" panose="02010609060101010101" pitchFamily="49" charset="-122"/>
            </a:endParaRPr>
          </a:p>
          <a:p>
            <a:pPr algn="l">
              <a:lnSpc>
                <a:spcPct val="150000"/>
              </a:lnSpc>
            </a:pPr>
            <a:r>
              <a:rPr lang="en-US" altLang="zh-CN">
                <a:latin typeface="黑体" panose="02010609060101010101" pitchFamily="49" charset="-122"/>
                <a:ea typeface="黑体" panose="02010609060101010101" pitchFamily="49" charset="-122"/>
                <a:cs typeface="黑体" panose="02010609060101010101" pitchFamily="49" charset="-122"/>
              </a:rPr>
              <a:t>      </a:t>
            </a:r>
            <a:r>
              <a:rPr lang="zh-CN" altLang="en-US">
                <a:latin typeface="黑体" panose="02010609060101010101" pitchFamily="49" charset="-122"/>
                <a:ea typeface="黑体" panose="02010609060101010101" pitchFamily="49" charset="-122"/>
                <a:cs typeface="黑体" panose="02010609060101010101" pitchFamily="49" charset="-122"/>
              </a:rPr>
              <a:t>采用</a:t>
            </a:r>
            <a:r>
              <a:rPr lang="en-US" altLang="zh-CN">
                <a:latin typeface="黑体" panose="02010609060101010101" pitchFamily="49" charset="-122"/>
                <a:ea typeface="黑体" panose="02010609060101010101" pitchFamily="49" charset="-122"/>
                <a:cs typeface="黑体" panose="02010609060101010101" pitchFamily="49" charset="-122"/>
              </a:rPr>
              <a:t>1:1</a:t>
            </a:r>
            <a:r>
              <a:rPr lang="zh-CN" altLang="en-US">
                <a:latin typeface="黑体" panose="02010609060101010101" pitchFamily="49" charset="-122"/>
                <a:ea typeface="黑体" panose="02010609060101010101" pitchFamily="49" charset="-122"/>
                <a:cs typeface="黑体" panose="02010609060101010101" pitchFamily="49" charset="-122"/>
              </a:rPr>
              <a:t>比例，按计算尺寸开始画图。</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nvSpPr>
        <p:spPr>
          <a:xfrm>
            <a:off x="1008380" y="4437380"/>
            <a:ext cx="6924040" cy="1198880"/>
          </a:xfrm>
          <a:prstGeom prst="rect">
            <a:avLst/>
          </a:prstGeom>
          <a:solidFill>
            <a:schemeClr val="accent5">
              <a:lumMod val="20000"/>
              <a:lumOff val="80000"/>
            </a:schemeClr>
          </a:solidFill>
          <a:effectLst>
            <a:outerShdw blurRad="50800" dist="38100" dir="13500000" algn="br" rotWithShape="0">
              <a:prstClr val="black">
                <a:alpha val="40000"/>
              </a:prstClr>
            </a:outerShdw>
          </a:effectLst>
        </p:spPr>
        <p:txBody>
          <a:bodyPr wrap="square" rtlCol="0">
            <a:spAutoFit/>
          </a:bodyPr>
          <a:p>
            <a:pPr algn="l">
              <a:lnSpc>
                <a:spcPct val="150000"/>
              </a:lnSpc>
            </a:pPr>
            <a:r>
              <a:rPr lang="zh-CN" altLang="en-US">
                <a:latin typeface="黑体" panose="02010609060101010101" pitchFamily="49" charset="-122"/>
                <a:ea typeface="黑体" panose="02010609060101010101" pitchFamily="49" charset="-122"/>
                <a:sym typeface="+mn-ea"/>
              </a:rPr>
              <a:t>由里向外，</a:t>
            </a:r>
            <a:r>
              <a:rPr lang="zh-CN" altLang="en-US">
                <a:latin typeface="黑体" panose="02010609060101010101" pitchFamily="49" charset="-122"/>
                <a:ea typeface="黑体" panose="02010609060101010101" pitchFamily="49" charset="-122"/>
              </a:rPr>
              <a:t>先画高速级齿轮的中心线，再画低速级齿轮的中心线，画齿轮的轮廓线及箱体内壁线</a:t>
            </a:r>
            <a:endParaRPr lang="zh-CN" altLang="en-US">
              <a:latin typeface="黑体" panose="02010609060101010101" pitchFamily="49" charset="-122"/>
              <a:ea typeface="黑体" panose="02010609060101010101" pitchFamily="49" charset="-122"/>
            </a:endParaRPr>
          </a:p>
        </p:txBody>
      </p:sp>
      <p:sp>
        <p:nvSpPr>
          <p:cNvPr id="2" name="文本框 1"/>
          <p:cNvSpPr txBox="1"/>
          <p:nvPr/>
        </p:nvSpPr>
        <p:spPr>
          <a:xfrm>
            <a:off x="252095" y="585470"/>
            <a:ext cx="5739130" cy="521970"/>
          </a:xfrm>
          <a:prstGeom prst="rect">
            <a:avLst/>
          </a:prstGeom>
          <a:noFill/>
        </p:spPr>
        <p:txBody>
          <a:bodyPr wrap="square" rtlCol="0">
            <a:spAutoFit/>
          </a:bodyPr>
          <a:p>
            <a:pPr algn="l"/>
            <a:r>
              <a:rPr lang="zh-CN" altLang="en-US" sz="280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一、减速器装配图的绘制</a:t>
            </a:r>
            <a:endParaRPr lang="zh-CN" altLang="en-US" sz="280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rot="5400000">
            <a:off x="1959610" y="-546735"/>
            <a:ext cx="5706110" cy="76092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83568" y="548680"/>
            <a:ext cx="6840760" cy="460375"/>
          </a:xfrm>
          <a:prstGeom prst="rect">
            <a:avLst/>
          </a:prstGeom>
          <a:noFill/>
        </p:spPr>
        <p:txBody>
          <a:bodyPr wrap="square" rtlCol="0">
            <a:spAutoFit/>
          </a:bodyPr>
          <a:lstStyle/>
          <a:p>
            <a:pPr algn="l"/>
            <a:r>
              <a:rPr lang="zh-CN" altLang="en-US" dirty="0" smtClean="0"/>
              <a:t>（</a:t>
            </a:r>
            <a:r>
              <a:rPr lang="en-US" altLang="zh-CN" dirty="0" smtClean="0"/>
              <a:t>1</a:t>
            </a:r>
            <a:r>
              <a:rPr lang="zh-CN" altLang="en-US" dirty="0" smtClean="0"/>
              <a:t>）建图层</a:t>
            </a:r>
            <a:endParaRPr lang="zh-CN" altLang="en-US"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28634" y="1304702"/>
            <a:ext cx="5962956" cy="3295819"/>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bwMode="auto">
          <a:xfrm>
            <a:off x="5734050" y="895350"/>
            <a:ext cx="177165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a:solidFill>
                  <a:schemeClr val="bg1"/>
                </a:solidFill>
                <a:ea typeface="黑体" panose="02010609060101010101" pitchFamily="49" charset="-122"/>
              </a:rPr>
              <a:t>直齿圆柱齿轮强度计算</a:t>
            </a:r>
            <a:r>
              <a:rPr lang="en-US" altLang="zh-CN" sz="800">
                <a:solidFill>
                  <a:schemeClr val="bg1"/>
                </a:solidFill>
                <a:ea typeface="黑体" panose="02010609060101010101" pitchFamily="49" charset="-122"/>
              </a:rPr>
              <a:t>1</a:t>
            </a:r>
            <a:endParaRPr lang="en-US" altLang="zh-CN" sz="800">
              <a:solidFill>
                <a:schemeClr val="bg1"/>
              </a:solidFill>
              <a:ea typeface="黑体" panose="02010609060101010101" pitchFamily="49" charset="-122"/>
            </a:endParaRPr>
          </a:p>
        </p:txBody>
      </p:sp>
      <p:sp>
        <p:nvSpPr>
          <p:cNvPr id="59429" name="Text Box 37"/>
          <p:cNvSpPr txBox="1">
            <a:spLocks noChangeArrowheads="1"/>
          </p:cNvSpPr>
          <p:nvPr/>
        </p:nvSpPr>
        <p:spPr bwMode="auto">
          <a:xfrm>
            <a:off x="6813550" y="6102350"/>
            <a:ext cx="342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solidFill>
                  <a:schemeClr val="tx1"/>
                </a:solidFill>
                <a:latin typeface="Tahoma" panose="020B0604030504040204" pitchFamily="34" charset="0"/>
                <a:ea typeface="宋体" panose="02010600030101010101" pitchFamily="2" charset="-122"/>
              </a:rPr>
              <a:t>  </a:t>
            </a:r>
            <a:endParaRPr lang="en-US" altLang="zh-CN">
              <a:solidFill>
                <a:schemeClr val="tx1"/>
              </a:solidFill>
              <a:latin typeface="Tahoma" panose="020B0604030504040204" pitchFamily="34" charset="0"/>
              <a:ea typeface="宋体" panose="02010600030101010101" pitchFamily="2" charset="-122"/>
            </a:endParaRPr>
          </a:p>
        </p:txBody>
      </p:sp>
      <p:sp>
        <p:nvSpPr>
          <p:cNvPr id="90117"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90118" name="Rectangle 23"/>
          <p:cNvSpPr>
            <a:spLocks noChangeArrowheads="1"/>
          </p:cNvSpPr>
          <p:nvPr/>
        </p:nvSpPr>
        <p:spPr bwMode="auto">
          <a:xfrm>
            <a:off x="0" y="441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sz="1200">
                <a:latin typeface="宋体" panose="02010600030101010101" pitchFamily="2" charset="-122"/>
                <a:cs typeface="Times New Roman" panose="02020603050405020304" pitchFamily="18" charset="0"/>
              </a:rPr>
              <a:t> </a:t>
            </a:r>
            <a:r>
              <a:rPr lang="en-US" altLang="zh-CN" sz="600"/>
              <a:t> </a:t>
            </a:r>
            <a:endParaRPr lang="en-US" altLang="zh-CN"/>
          </a:p>
        </p:txBody>
      </p:sp>
      <p:sp>
        <p:nvSpPr>
          <p:cNvPr id="90119" name="Rectangle 29"/>
          <p:cNvSpPr>
            <a:spLocks noChangeArrowheads="1"/>
          </p:cNvSpPr>
          <p:nvPr/>
        </p:nvSpPr>
        <p:spPr bwMode="auto">
          <a:xfrm>
            <a:off x="5737225" y="7286625"/>
            <a:ext cx="10774363"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90120" name="矩形 5"/>
          <p:cNvSpPr>
            <a:spLocks noChangeArrowheads="1"/>
          </p:cNvSpPr>
          <p:nvPr/>
        </p:nvSpPr>
        <p:spPr bwMode="auto">
          <a:xfrm>
            <a:off x="2222500" y="6184583"/>
            <a:ext cx="548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ea typeface="宋体" panose="02010600030101010101" pitchFamily="2" charset="-122"/>
                <a:cs typeface="Times New Roman" panose="02020603050405020304" pitchFamily="18" charset="0"/>
              </a:rPr>
              <a:t> </a:t>
            </a:r>
            <a:r>
              <a:rPr lang="zh-CN" altLang="zh-CN" sz="1600">
                <a:latin typeface="华文中宋" panose="02010600040101010101" pitchFamily="2" charset="-122"/>
                <a:ea typeface="宋体" panose="02010600030101010101" pitchFamily="2" charset="-122"/>
                <a:cs typeface="Times New Roman" panose="02020603050405020304" pitchFamily="18" charset="0"/>
              </a:rPr>
              <a:t>图</a:t>
            </a:r>
            <a:r>
              <a:rPr lang="en-US" altLang="zh-CN" sz="1600">
                <a:latin typeface="华文中宋" panose="02010600040101010101" pitchFamily="2" charset="-122"/>
                <a:ea typeface="宋体" panose="02010600030101010101" pitchFamily="2" charset="-122"/>
                <a:cs typeface="Times New Roman" panose="02020603050405020304" pitchFamily="18" charset="0"/>
              </a:rPr>
              <a:t>3.4-27 </a:t>
            </a:r>
            <a:r>
              <a:rPr lang="zh-CN" altLang="zh-CN" sz="1600">
                <a:ea typeface="宋体" panose="02010600030101010101" pitchFamily="2" charset="-122"/>
                <a:cs typeface="Times New Roman" panose="02020603050405020304" pitchFamily="18" charset="0"/>
              </a:rPr>
              <a:t>画二级圆柱齿轮减速器装配图的第一步（底图）</a:t>
            </a:r>
            <a:endParaRPr lang="zh-CN" altLang="en-US" sz="1600">
              <a:ea typeface="宋体" panose="02010600030101010101" pitchFamily="2" charset="-122"/>
              <a:cs typeface="Times New Roman" panose="02020603050405020304" pitchFamily="18" charset="0"/>
            </a:endParaRPr>
          </a:p>
        </p:txBody>
      </p:sp>
      <p:pic>
        <p:nvPicPr>
          <p:cNvPr id="90121" name="图片 13"/>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1752600" y="990600"/>
            <a:ext cx="540385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2" name="文本框 2"/>
          <p:cNvSpPr txBox="1">
            <a:spLocks noChangeArrowheads="1"/>
          </p:cNvSpPr>
          <p:nvPr/>
        </p:nvSpPr>
        <p:spPr bwMode="auto">
          <a:xfrm>
            <a:off x="215742" y="469265"/>
            <a:ext cx="838644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solidFill>
                  <a:srgbClr val="002060"/>
                </a:solidFill>
                <a:latin typeface="微软雅黑" panose="020B0503020204020204" charset="-122"/>
                <a:ea typeface="微软雅黑" panose="020B0503020204020204" charset="-122"/>
              </a:rPr>
              <a:t>（</a:t>
            </a:r>
            <a:r>
              <a:rPr lang="en-US" altLang="zh-CN">
                <a:solidFill>
                  <a:srgbClr val="002060"/>
                </a:solidFill>
                <a:latin typeface="微软雅黑" panose="020B0503020204020204" charset="-122"/>
                <a:ea typeface="微软雅黑" panose="020B0503020204020204" charset="-122"/>
                <a:cs typeface="微软雅黑" panose="020B0503020204020204" charset="-122"/>
              </a:rPr>
              <a:t>2</a:t>
            </a:r>
            <a:r>
              <a:rPr lang="zh-CN" altLang="en-US">
                <a:solidFill>
                  <a:srgbClr val="002060"/>
                </a:solidFill>
                <a:latin typeface="微软雅黑" panose="020B0503020204020204" charset="-122"/>
                <a:ea typeface="微软雅黑" panose="020B0503020204020204" charset="-122"/>
                <a:cs typeface="微软雅黑" panose="020B0503020204020204" charset="-122"/>
              </a:rPr>
              <a:t>）按计算尺寸</a:t>
            </a:r>
            <a:r>
              <a:rPr lang="en-US" altLang="zh-CN">
                <a:solidFill>
                  <a:srgbClr val="002060"/>
                </a:solidFill>
                <a:latin typeface="微软雅黑" panose="020B0503020204020204" charset="-122"/>
                <a:ea typeface="微软雅黑" panose="020B0503020204020204" charset="-122"/>
                <a:cs typeface="微软雅黑" panose="020B0503020204020204" charset="-122"/>
              </a:rPr>
              <a:t>1:1 </a:t>
            </a:r>
            <a:r>
              <a:rPr lang="zh-CN" altLang="en-US">
                <a:solidFill>
                  <a:srgbClr val="002060"/>
                </a:solidFill>
                <a:latin typeface="微软雅黑" panose="020B0503020204020204" charset="-122"/>
                <a:ea typeface="微软雅黑" panose="020B0503020204020204" charset="-122"/>
                <a:cs typeface="微软雅黑" panose="020B0503020204020204" charset="-122"/>
              </a:rPr>
              <a:t>画出高速级、低速级齿轮传动的轴线</a:t>
            </a:r>
            <a:r>
              <a:rPr lang="zh-CN" altLang="zh-CN">
                <a:solidFill>
                  <a:srgbClr val="002060"/>
                </a:solidFill>
                <a:latin typeface="微软雅黑" panose="020B0503020204020204" charset="-122"/>
                <a:ea typeface="微软雅黑" panose="020B0503020204020204" charset="-122"/>
                <a:cs typeface="微软雅黑" panose="020B0503020204020204" charset="-122"/>
              </a:rPr>
              <a:t>及齿轮的轮廓线</a:t>
            </a:r>
            <a:endParaRPr lang="zh-CN" altLang="zh-CN">
              <a:solidFill>
                <a:srgbClr val="002060"/>
              </a:solidFill>
              <a:latin typeface="微软雅黑" panose="020B0503020204020204" charset="-122"/>
              <a:ea typeface="微软雅黑" panose="020B0503020204020204" charset="-122"/>
              <a:cs typeface="微软雅黑" panose="020B0503020204020204" charset="-122"/>
            </a:endParaRPr>
          </a:p>
        </p:txBody>
      </p:sp>
      <p:pic>
        <p:nvPicPr>
          <p:cNvPr id="90123" name="Picture 29" descr="back">
            <a:hlinkClick r:id="" action="ppaction://noaction"/>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82038" y="6570663"/>
            <a:ext cx="2889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直接连接符 3"/>
          <p:cNvCxnSpPr/>
          <p:nvPr/>
        </p:nvCxnSpPr>
        <p:spPr>
          <a:xfrm>
            <a:off x="3561715" y="3879215"/>
            <a:ext cx="0" cy="232727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5" name="直接连接符 4"/>
          <p:cNvCxnSpPr/>
          <p:nvPr/>
        </p:nvCxnSpPr>
        <p:spPr>
          <a:xfrm>
            <a:off x="4445000" y="4050030"/>
            <a:ext cx="0" cy="204279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6" name="直接连接符 5"/>
          <p:cNvCxnSpPr/>
          <p:nvPr/>
        </p:nvCxnSpPr>
        <p:spPr>
          <a:xfrm>
            <a:off x="5819140" y="4167505"/>
            <a:ext cx="0" cy="196913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7" name="直接连接符 6"/>
          <p:cNvCxnSpPr/>
          <p:nvPr/>
        </p:nvCxnSpPr>
        <p:spPr>
          <a:xfrm>
            <a:off x="3559175" y="1348105"/>
            <a:ext cx="0" cy="2583180"/>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8" name="直接连接符 7"/>
          <p:cNvCxnSpPr/>
          <p:nvPr/>
        </p:nvCxnSpPr>
        <p:spPr>
          <a:xfrm>
            <a:off x="4449445" y="1377950"/>
            <a:ext cx="0" cy="2583180"/>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11" name="直接连接符 10"/>
          <p:cNvCxnSpPr/>
          <p:nvPr/>
        </p:nvCxnSpPr>
        <p:spPr>
          <a:xfrm>
            <a:off x="5819140" y="1134110"/>
            <a:ext cx="0" cy="3012440"/>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12" name="直接连接符 11"/>
          <p:cNvCxnSpPr/>
          <p:nvPr/>
        </p:nvCxnSpPr>
        <p:spPr>
          <a:xfrm>
            <a:off x="2727325" y="2531745"/>
            <a:ext cx="4832350" cy="0"/>
          </a:xfrm>
          <a:prstGeom prst="line">
            <a:avLst/>
          </a:prstGeom>
          <a:solidFill>
            <a:schemeClr val="accent1"/>
          </a:solidFill>
          <a:ln w="12700" cap="flat" cmpd="sng" algn="ctr">
            <a:solidFill>
              <a:srgbClr val="FF0000"/>
            </a:solidFill>
            <a:prstDash val="lgDashDot"/>
            <a:round/>
            <a:headEnd type="none" w="med" len="med"/>
            <a:tailEnd type="none" w="med" len="med"/>
          </a:ln>
        </p:spPr>
      </p:cxnSp>
      <p:sp>
        <p:nvSpPr>
          <p:cNvPr id="13" name="椭圆 12"/>
          <p:cNvSpPr/>
          <p:nvPr/>
        </p:nvSpPr>
        <p:spPr>
          <a:xfrm>
            <a:off x="3411855" y="2375535"/>
            <a:ext cx="293370" cy="293370"/>
          </a:xfrm>
          <a:prstGeom prst="ellipse">
            <a:avLst/>
          </a:prstGeom>
          <a:noFill/>
          <a:ln w="12700" cap="flat" cmpd="sng" algn="ctr">
            <a:solidFill>
              <a:srgbClr val="FF0000"/>
            </a:solidFill>
            <a:prstDash val="lgDashDot"/>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14" name="椭圆 13"/>
          <p:cNvSpPr/>
          <p:nvPr/>
        </p:nvSpPr>
        <p:spPr>
          <a:xfrm>
            <a:off x="3702685" y="1821180"/>
            <a:ext cx="1456690" cy="1400810"/>
          </a:xfrm>
          <a:prstGeom prst="ellipse">
            <a:avLst/>
          </a:prstGeom>
          <a:noFill/>
          <a:ln w="12700" cap="flat" cmpd="sng" algn="ctr">
            <a:solidFill>
              <a:srgbClr val="FF0000"/>
            </a:solidFill>
            <a:prstDash val="lgDashDot"/>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15" name="椭圆 14"/>
          <p:cNvSpPr/>
          <p:nvPr/>
        </p:nvSpPr>
        <p:spPr>
          <a:xfrm>
            <a:off x="4772660" y="1500505"/>
            <a:ext cx="2092325" cy="2029460"/>
          </a:xfrm>
          <a:prstGeom prst="ellipse">
            <a:avLst/>
          </a:prstGeom>
          <a:noFill/>
          <a:ln w="12700" cap="flat" cmpd="sng" algn="ctr">
            <a:solidFill>
              <a:schemeClr val="tx2">
                <a:lumMod val="60000"/>
                <a:lumOff val="40000"/>
              </a:schemeClr>
            </a:solidFill>
            <a:prstDash val="lgDashDot"/>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16" name="椭圆 15"/>
          <p:cNvSpPr/>
          <p:nvPr/>
        </p:nvSpPr>
        <p:spPr>
          <a:xfrm>
            <a:off x="4119245" y="2209165"/>
            <a:ext cx="646430" cy="646430"/>
          </a:xfrm>
          <a:prstGeom prst="ellipse">
            <a:avLst/>
          </a:prstGeom>
          <a:noFill/>
          <a:ln w="12700" cap="flat" cmpd="sng" algn="ctr">
            <a:solidFill>
              <a:schemeClr val="tx2">
                <a:lumMod val="60000"/>
                <a:lumOff val="40000"/>
              </a:schemeClr>
            </a:solidFill>
            <a:prstDash val="lgDashDot"/>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17" name="直接连接符 16"/>
          <p:cNvCxnSpPr/>
          <p:nvPr/>
        </p:nvCxnSpPr>
        <p:spPr>
          <a:xfrm>
            <a:off x="3683635" y="5432425"/>
            <a:ext cx="0" cy="57721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18" name="直接连接符 17"/>
          <p:cNvCxnSpPr/>
          <p:nvPr/>
        </p:nvCxnSpPr>
        <p:spPr>
          <a:xfrm>
            <a:off x="3427095" y="5481320"/>
            <a:ext cx="0" cy="577215"/>
          </a:xfrm>
          <a:prstGeom prst="line">
            <a:avLst/>
          </a:prstGeom>
          <a:solidFill>
            <a:schemeClr val="accent1"/>
          </a:solidFill>
          <a:ln w="12700" cap="flat" cmpd="sng" algn="ctr">
            <a:solidFill>
              <a:srgbClr val="FF0000"/>
            </a:solidFill>
            <a:prstDash val="lgDashDot"/>
            <a:round/>
            <a:headEnd type="none" w="med" len="med"/>
            <a:tailEnd type="none" w="med" len="med"/>
          </a:ln>
        </p:spPr>
      </p:cxnSp>
      <p:sp>
        <p:nvSpPr>
          <p:cNvPr id="19" name="矩形 18"/>
          <p:cNvSpPr/>
          <p:nvPr/>
        </p:nvSpPr>
        <p:spPr>
          <a:xfrm>
            <a:off x="3375660" y="5539740"/>
            <a:ext cx="358140" cy="337820"/>
          </a:xfrm>
          <a:prstGeom prst="rect">
            <a:avLst/>
          </a:pr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20" name="矩形 19"/>
          <p:cNvSpPr/>
          <p:nvPr/>
        </p:nvSpPr>
        <p:spPr>
          <a:xfrm>
            <a:off x="3639820" y="5567680"/>
            <a:ext cx="1606550" cy="284480"/>
          </a:xfrm>
          <a:prstGeom prst="rect">
            <a:avLst/>
          </a:pr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21" name="直接连接符 20"/>
          <p:cNvCxnSpPr/>
          <p:nvPr/>
        </p:nvCxnSpPr>
        <p:spPr>
          <a:xfrm>
            <a:off x="5207635" y="5483860"/>
            <a:ext cx="0" cy="457200"/>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22" name="直接连接符 21"/>
          <p:cNvCxnSpPr/>
          <p:nvPr/>
        </p:nvCxnSpPr>
        <p:spPr>
          <a:xfrm>
            <a:off x="2420620" y="5929630"/>
            <a:ext cx="4676140" cy="0"/>
          </a:xfrm>
          <a:prstGeom prst="line">
            <a:avLst/>
          </a:prstGeom>
          <a:solidFill>
            <a:schemeClr val="accent1"/>
          </a:solidFill>
          <a:ln w="19050" cap="flat" cmpd="sng" algn="ctr">
            <a:solidFill>
              <a:schemeClr val="bg2">
                <a:lumMod val="10000"/>
              </a:schemeClr>
            </a:solidFill>
            <a:prstDash val="solid"/>
            <a:round/>
            <a:headEnd type="none" w="med" len="med"/>
            <a:tailEnd type="none" w="med" len="med"/>
          </a:ln>
        </p:spPr>
      </p:cxnSp>
      <p:sp>
        <p:nvSpPr>
          <p:cNvPr id="23" name="矩形 22"/>
          <p:cNvSpPr/>
          <p:nvPr/>
        </p:nvSpPr>
        <p:spPr>
          <a:xfrm>
            <a:off x="4091305" y="4820285"/>
            <a:ext cx="735965" cy="671830"/>
          </a:xfrm>
          <a:prstGeom prst="rect">
            <a:avLst/>
          </a:pr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sp>
        <p:nvSpPr>
          <p:cNvPr id="25" name="矩形 24"/>
          <p:cNvSpPr/>
          <p:nvPr/>
        </p:nvSpPr>
        <p:spPr>
          <a:xfrm>
            <a:off x="4701540" y="4855210"/>
            <a:ext cx="2244090" cy="597535"/>
          </a:xfrm>
          <a:prstGeom prst="rect">
            <a:avLst/>
          </a:pr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华文中宋" panose="02010600040101010101" pitchFamily="2" charset="-122"/>
            </a:endParaRPr>
          </a:p>
        </p:txBody>
      </p:sp>
      <p:cxnSp>
        <p:nvCxnSpPr>
          <p:cNvPr id="26" name="直接连接符 25"/>
          <p:cNvCxnSpPr/>
          <p:nvPr/>
        </p:nvCxnSpPr>
        <p:spPr>
          <a:xfrm>
            <a:off x="4152265" y="4753610"/>
            <a:ext cx="1905" cy="79057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27" name="直接连接符 26"/>
          <p:cNvCxnSpPr/>
          <p:nvPr/>
        </p:nvCxnSpPr>
        <p:spPr>
          <a:xfrm>
            <a:off x="4763135" y="4753610"/>
            <a:ext cx="1905" cy="79057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28" name="直接连接符 27"/>
          <p:cNvCxnSpPr/>
          <p:nvPr/>
        </p:nvCxnSpPr>
        <p:spPr>
          <a:xfrm>
            <a:off x="6872605" y="4753610"/>
            <a:ext cx="1905" cy="790575"/>
          </a:xfrm>
          <a:prstGeom prst="line">
            <a:avLst/>
          </a:prstGeom>
          <a:solidFill>
            <a:schemeClr val="accent1"/>
          </a:solidFill>
          <a:ln w="12700" cap="flat" cmpd="sng" algn="ctr">
            <a:solidFill>
              <a:srgbClr val="FF0000"/>
            </a:solidFill>
            <a:prstDash val="lgDashDot"/>
            <a:round/>
            <a:headEnd type="none" w="med" len="med"/>
            <a:tailEnd type="none" w="med" len="med"/>
          </a:ln>
        </p:spPr>
      </p:cxnSp>
      <p:cxnSp>
        <p:nvCxnSpPr>
          <p:cNvPr id="29" name="直接连接符 28"/>
          <p:cNvCxnSpPr/>
          <p:nvPr/>
        </p:nvCxnSpPr>
        <p:spPr>
          <a:xfrm>
            <a:off x="2401570" y="4762500"/>
            <a:ext cx="4705350" cy="0"/>
          </a:xfrm>
          <a:prstGeom prst="line">
            <a:avLst/>
          </a:prstGeom>
          <a:solidFill>
            <a:schemeClr val="accent1"/>
          </a:solidFill>
          <a:ln w="19050" cap="flat" cmpd="sng" algn="ctr">
            <a:solidFill>
              <a:schemeClr val="bg2">
                <a:lumMod val="10000"/>
              </a:schemeClr>
            </a:solidFill>
            <a:prstDash val="solid"/>
            <a:round/>
            <a:headEnd type="none" w="med" len="med"/>
            <a:tailEnd type="none" w="med" len="med"/>
          </a:ln>
        </p:spPr>
      </p:cxnSp>
      <p:sp>
        <p:nvSpPr>
          <p:cNvPr id="30" name="文本框 29"/>
          <p:cNvSpPr txBox="1"/>
          <p:nvPr/>
        </p:nvSpPr>
        <p:spPr>
          <a:xfrm>
            <a:off x="289560" y="5156835"/>
            <a:ext cx="1654175" cy="398780"/>
          </a:xfrm>
          <a:prstGeom prst="rect">
            <a:avLst/>
          </a:prstGeom>
          <a:noFill/>
        </p:spPr>
        <p:txBody>
          <a:bodyPr wrap="square" rtlCol="0">
            <a:spAutoFit/>
          </a:bodyPr>
          <a:p>
            <a:r>
              <a:rPr lang="zh-CN" altLang="en-US" sz="2000" b="1"/>
              <a:t>箱体内壁</a:t>
            </a:r>
            <a:endParaRPr lang="zh-CN" altLang="en-US" sz="2000" b="1"/>
          </a:p>
        </p:txBody>
      </p:sp>
      <p:sp>
        <p:nvSpPr>
          <p:cNvPr id="31" name="文本框 30"/>
          <p:cNvSpPr txBox="1"/>
          <p:nvPr>
            <p:custDataLst>
              <p:tags r:id="rId1"/>
            </p:custDataLst>
          </p:nvPr>
        </p:nvSpPr>
        <p:spPr>
          <a:xfrm>
            <a:off x="215900" y="1159510"/>
            <a:ext cx="1517015" cy="1322070"/>
          </a:xfrm>
          <a:prstGeom prst="rect">
            <a:avLst/>
          </a:prstGeom>
          <a:noFill/>
        </p:spPr>
        <p:txBody>
          <a:bodyPr wrap="square" rtlCol="0">
            <a:spAutoFit/>
          </a:bodyPr>
          <a:p>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初绘减速器装配</a:t>
            </a:r>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草图，参考设计手册</a:t>
            </a:r>
            <a:r>
              <a:rPr lang="en-US" alt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 P216～</a:t>
            </a:r>
            <a:endParaRPr lang="en-US" altLang="zh-CN" sz="200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32" name="文本框 31"/>
          <p:cNvSpPr txBox="1"/>
          <p:nvPr>
            <p:custDataLst>
              <p:tags r:id="rId2"/>
            </p:custDataLst>
          </p:nvPr>
        </p:nvSpPr>
        <p:spPr>
          <a:xfrm>
            <a:off x="-36195" y="2727960"/>
            <a:ext cx="2542540" cy="1322070"/>
          </a:xfrm>
          <a:prstGeom prst="rect">
            <a:avLst/>
          </a:prstGeom>
          <a:noFill/>
        </p:spPr>
        <p:txBody>
          <a:bodyPr wrap="square" rtlCol="0">
            <a:spAutoFit/>
          </a:bodyPr>
          <a:p>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（减速箱箱座壁厚δ，查</a:t>
            </a:r>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设计手册</a:t>
            </a:r>
            <a:r>
              <a:rPr lang="en-US" alt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P164</a:t>
            </a:r>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表</a:t>
            </a:r>
            <a:r>
              <a:rPr lang="en-US" altLang="zh-CN" sz="2000">
                <a:solidFill>
                  <a:srgbClr val="FF0000"/>
                </a:solidFill>
                <a:latin typeface="黑体" panose="02010609060101010101" pitchFamily="49" charset="-122"/>
                <a:ea typeface="黑体" panose="02010609060101010101" pitchFamily="49" charset="-122"/>
                <a:cs typeface="黑体" panose="02010609060101010101" pitchFamily="49" charset="-122"/>
              </a:rPr>
              <a:t>11-1</a:t>
            </a:r>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a:t>
            </a:r>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设计手册</a:t>
            </a:r>
            <a:r>
              <a:rPr lang="en-US" altLang="zh-CN" sz="2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P20</a:t>
            </a:r>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表</a:t>
            </a:r>
            <a:r>
              <a:rPr lang="en-US" altLang="zh-CN" sz="2000">
                <a:solidFill>
                  <a:srgbClr val="FF0000"/>
                </a:solidFill>
                <a:latin typeface="黑体" panose="02010609060101010101" pitchFamily="49" charset="-122"/>
                <a:ea typeface="黑体" panose="02010609060101010101" pitchFamily="49" charset="-122"/>
                <a:cs typeface="黑体" panose="02010609060101010101" pitchFamily="49" charset="-122"/>
                <a:sym typeface="+mn-ea"/>
              </a:rPr>
              <a:t>1-34</a:t>
            </a:r>
            <a:r>
              <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rPr>
              <a:t>）</a:t>
            </a:r>
            <a:endParaRPr lang="zh-CN" altLang="en-US" sz="200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33" name="文本框 32"/>
          <p:cNvSpPr txBox="1"/>
          <p:nvPr/>
        </p:nvSpPr>
        <p:spPr>
          <a:xfrm>
            <a:off x="2943860" y="5858510"/>
            <a:ext cx="508000" cy="368300"/>
          </a:xfrm>
          <a:prstGeom prst="rect">
            <a:avLst/>
          </a:prstGeom>
          <a:noFill/>
        </p:spPr>
        <p:txBody>
          <a:bodyPr wrap="square" rtlCol="0" anchor="t">
            <a:spAutoFit/>
          </a:bodyPr>
          <a:p>
            <a:r>
              <a:rPr lang="en-US" altLang="zh-CN" sz="1800">
                <a:solidFill>
                  <a:srgbClr val="FF0000"/>
                </a:solidFill>
                <a:latin typeface="Arial" panose="020B0604020202020204" pitchFamily="34" charset="0"/>
                <a:ea typeface="黑体" panose="02010609060101010101" pitchFamily="49" charset="-122"/>
                <a:cs typeface="Arial" panose="020B0604020202020204" pitchFamily="34" charset="0"/>
                <a:sym typeface="+mn-ea"/>
              </a:rPr>
              <a:t>Δ</a:t>
            </a:r>
            <a:r>
              <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rPr>
              <a:t>2</a:t>
            </a:r>
            <a:endPar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endParaRPr>
          </a:p>
        </p:txBody>
      </p:sp>
      <p:sp>
        <p:nvSpPr>
          <p:cNvPr id="34" name="文本框 33"/>
          <p:cNvSpPr txBox="1"/>
          <p:nvPr/>
        </p:nvSpPr>
        <p:spPr>
          <a:xfrm>
            <a:off x="4547870" y="4373245"/>
            <a:ext cx="508000" cy="368300"/>
          </a:xfrm>
          <a:prstGeom prst="rect">
            <a:avLst/>
          </a:prstGeom>
          <a:noFill/>
        </p:spPr>
        <p:txBody>
          <a:bodyPr wrap="square" rtlCol="0" anchor="t">
            <a:spAutoFit/>
          </a:bodyPr>
          <a:p>
            <a:r>
              <a:rPr lang="en-US" altLang="zh-CN" sz="1800">
                <a:solidFill>
                  <a:srgbClr val="FF0000"/>
                </a:solidFill>
                <a:latin typeface="Arial" panose="020B0604020202020204" pitchFamily="34" charset="0"/>
                <a:ea typeface="黑体" panose="02010609060101010101" pitchFamily="49" charset="-122"/>
                <a:cs typeface="Arial" panose="020B0604020202020204" pitchFamily="34" charset="0"/>
                <a:sym typeface="+mn-ea"/>
              </a:rPr>
              <a:t>Δ</a:t>
            </a:r>
            <a:r>
              <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rPr>
              <a:t>2</a:t>
            </a:r>
            <a:endPar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endParaRPr>
          </a:p>
        </p:txBody>
      </p:sp>
      <p:cxnSp>
        <p:nvCxnSpPr>
          <p:cNvPr id="35" name="直接连接符 34"/>
          <p:cNvCxnSpPr/>
          <p:nvPr/>
        </p:nvCxnSpPr>
        <p:spPr>
          <a:xfrm>
            <a:off x="7088505" y="4751070"/>
            <a:ext cx="0" cy="1182370"/>
          </a:xfrm>
          <a:prstGeom prst="line">
            <a:avLst/>
          </a:prstGeom>
          <a:solidFill>
            <a:schemeClr val="accent1"/>
          </a:solidFill>
          <a:ln w="19050" cap="flat" cmpd="sng" algn="ctr">
            <a:solidFill>
              <a:schemeClr val="tx2">
                <a:lumMod val="50000"/>
              </a:schemeClr>
            </a:solidFill>
            <a:prstDash val="solid"/>
            <a:round/>
            <a:headEnd type="none" w="med" len="med"/>
            <a:tailEnd type="none" w="med" len="med"/>
          </a:ln>
        </p:spPr>
      </p:cxnSp>
      <p:sp>
        <p:nvSpPr>
          <p:cNvPr id="36" name="文本框 35"/>
          <p:cNvSpPr txBox="1"/>
          <p:nvPr/>
        </p:nvSpPr>
        <p:spPr>
          <a:xfrm>
            <a:off x="7112635" y="4692015"/>
            <a:ext cx="508000" cy="368300"/>
          </a:xfrm>
          <a:prstGeom prst="rect">
            <a:avLst/>
          </a:prstGeom>
          <a:noFill/>
        </p:spPr>
        <p:txBody>
          <a:bodyPr wrap="square" rtlCol="0" anchor="t">
            <a:spAutoFit/>
          </a:bodyPr>
          <a:p>
            <a:r>
              <a:rPr lang="en-US" altLang="zh-CN" sz="1800">
                <a:solidFill>
                  <a:srgbClr val="FF0000"/>
                </a:solidFill>
                <a:latin typeface="Arial" panose="020B0604020202020204" pitchFamily="34" charset="0"/>
                <a:ea typeface="黑体" panose="02010609060101010101" pitchFamily="49" charset="-122"/>
                <a:cs typeface="Arial" panose="020B0604020202020204" pitchFamily="34" charset="0"/>
                <a:sym typeface="+mn-ea"/>
              </a:rPr>
              <a:t>Δ</a:t>
            </a:r>
            <a:r>
              <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rPr>
              <a:t>1</a:t>
            </a:r>
            <a:endParaRPr lang="en-US" altLang="zh-CN" sz="1800" baseline="-25000">
              <a:solidFill>
                <a:srgbClr val="FF0000"/>
              </a:solidFill>
              <a:latin typeface="Arial" panose="020B0604020202020204" pitchFamily="34" charset="0"/>
              <a:ea typeface="黑体" panose="02010609060101010101" pitchFamily="49" charset="-122"/>
              <a:cs typeface="Arial" panose="020B0604020202020204" pitchFamily="34" charset="0"/>
              <a:sym typeface="+mn-ea"/>
            </a:endParaRPr>
          </a:p>
        </p:txBody>
      </p:sp>
      <p:graphicFrame>
        <p:nvGraphicFramePr>
          <p:cNvPr id="37" name="对象 36">
            <a:hlinkClick r:id="" action="ppaction://ole?verb="/>
          </p:cNvPr>
          <p:cNvGraphicFramePr>
            <a:graphicFrameLocks noChangeAspect="1"/>
          </p:cNvGraphicFramePr>
          <p:nvPr/>
        </p:nvGraphicFramePr>
        <p:xfrm>
          <a:off x="7752080" y="4051300"/>
          <a:ext cx="1016635" cy="762635"/>
        </p:xfrm>
        <a:graphic>
          <a:graphicData uri="http://schemas.openxmlformats.org/presentationml/2006/ole">
            <mc:AlternateContent xmlns:mc="http://schemas.openxmlformats.org/markup-compatibility/2006">
              <mc:Choice xmlns:v="urn:schemas-microsoft-com:vml" Requires="v">
                <p:oleObj spid="_x0000_s1025" name="" r:id="rId3" imgW="609600" imgH="457200" progId="Equation.KSEE3">
                  <p:embed/>
                </p:oleObj>
              </mc:Choice>
              <mc:Fallback>
                <p:oleObj name="" r:id="rId3" imgW="609600" imgH="457200" progId="Equation.KSEE3">
                  <p:embed/>
                  <p:pic>
                    <p:nvPicPr>
                      <p:cNvPr id="0" name="图片 1024"/>
                      <p:cNvPicPr/>
                      <p:nvPr/>
                    </p:nvPicPr>
                    <p:blipFill>
                      <a:blip r:embed="rId4"/>
                      <a:stretch>
                        <a:fillRect/>
                      </a:stretch>
                    </p:blipFill>
                    <p:spPr>
                      <a:xfrm>
                        <a:off x="7752080" y="4051300"/>
                        <a:ext cx="1016635" cy="762635"/>
                      </a:xfrm>
                      <a:prstGeom prst="rect">
                        <a:avLst/>
                      </a:prstGeom>
                    </p:spPr>
                  </p:pic>
                </p:oleObj>
              </mc:Fallback>
            </mc:AlternateContent>
          </a:graphicData>
        </a:graphic>
      </p:graphicFrame>
      <p:sp>
        <p:nvSpPr>
          <p:cNvPr id="38" name="文本框 37"/>
          <p:cNvSpPr txBox="1"/>
          <p:nvPr>
            <p:custDataLst>
              <p:tags r:id="rId5"/>
            </p:custDataLst>
          </p:nvPr>
        </p:nvSpPr>
        <p:spPr>
          <a:xfrm>
            <a:off x="2682240" y="1159510"/>
            <a:ext cx="1872615" cy="398780"/>
          </a:xfrm>
          <a:prstGeom prst="rect">
            <a:avLst/>
          </a:prstGeom>
          <a:noFill/>
        </p:spPr>
        <p:txBody>
          <a:bodyPr wrap="square" rtlCol="0">
            <a:spAutoFit/>
          </a:bodyPr>
          <a:p>
            <a:r>
              <a:rPr lang="zh-CN" altLang="en-US" sz="2000">
                <a:solidFill>
                  <a:srgbClr val="0000FF"/>
                </a:solidFill>
              </a:rPr>
              <a:t>高速级齿轮</a:t>
            </a:r>
            <a:endParaRPr lang="zh-CN" altLang="en-US" sz="2000">
              <a:solidFill>
                <a:srgbClr val="0000FF"/>
              </a:solidFill>
            </a:endParaRPr>
          </a:p>
        </p:txBody>
      </p:sp>
      <p:sp>
        <p:nvSpPr>
          <p:cNvPr id="39" name="文本框 38"/>
          <p:cNvSpPr txBox="1"/>
          <p:nvPr>
            <p:custDataLst>
              <p:tags r:id="rId6"/>
            </p:custDataLst>
          </p:nvPr>
        </p:nvSpPr>
        <p:spPr>
          <a:xfrm>
            <a:off x="6054090" y="949960"/>
            <a:ext cx="1872615" cy="398780"/>
          </a:xfrm>
          <a:prstGeom prst="rect">
            <a:avLst/>
          </a:prstGeom>
          <a:noFill/>
        </p:spPr>
        <p:txBody>
          <a:bodyPr wrap="square" rtlCol="0">
            <a:spAutoFit/>
          </a:bodyPr>
          <a:p>
            <a:r>
              <a:rPr lang="zh-CN" altLang="en-US" sz="2000">
                <a:solidFill>
                  <a:srgbClr val="0000FF"/>
                </a:solidFill>
              </a:rPr>
              <a:t>低速级齿轮</a:t>
            </a:r>
            <a:endParaRPr lang="zh-CN" altLang="en-US" sz="2000">
              <a:solidFill>
                <a:srgbClr val="0000FF"/>
              </a:solidFill>
            </a:endParaRPr>
          </a:p>
        </p:txBody>
      </p:sp>
      <p:sp>
        <p:nvSpPr>
          <p:cNvPr id="39945" name="矩形 5"/>
          <p:cNvSpPr/>
          <p:nvPr/>
        </p:nvSpPr>
        <p:spPr>
          <a:xfrm>
            <a:off x="2434590" y="6111558"/>
            <a:ext cx="5481638" cy="400050"/>
          </a:xfrm>
          <a:prstGeom prst="rect">
            <a:avLst/>
          </a:prstGeom>
          <a:noFill/>
          <a:ln w="9525">
            <a:noFill/>
          </a:ln>
        </p:spPr>
        <p:txBody>
          <a:bodyPr wrap="none">
            <a:spAutoFit/>
          </a:bodyPr>
          <a:p>
            <a:r>
              <a:rPr lang="zh-CN" altLang="zh-CN" dirty="0">
                <a:latin typeface="Times New Roman" panose="02020603050405020304" pitchFamily="18" charset="0"/>
                <a:ea typeface="宋体" panose="02010600030101010101" pitchFamily="2" charset="-122"/>
              </a:rPr>
              <a:t> </a:t>
            </a:r>
            <a:r>
              <a:rPr lang="zh-CN" altLang="zh-CN" sz="1600" dirty="0">
                <a:solidFill>
                  <a:schemeClr val="tx1">
                    <a:lumMod val="75000"/>
                  </a:schemeClr>
                </a:solidFill>
                <a:latin typeface="华文中宋" panose="02010600040101010101" pitchFamily="2" charset="-122"/>
                <a:ea typeface="宋体" panose="02010600030101010101" pitchFamily="2" charset="-122"/>
              </a:rPr>
              <a:t>图</a:t>
            </a:r>
            <a:r>
              <a:rPr lang="en-US" altLang="zh-CN" sz="1600" dirty="0">
                <a:solidFill>
                  <a:schemeClr val="tx1">
                    <a:lumMod val="75000"/>
                  </a:schemeClr>
                </a:solidFill>
                <a:latin typeface="华文中宋" panose="02010600040101010101" pitchFamily="2" charset="-122"/>
                <a:ea typeface="宋体" panose="02010600030101010101" pitchFamily="2" charset="-122"/>
              </a:rPr>
              <a:t>3.4-27 </a:t>
            </a:r>
            <a:r>
              <a:rPr lang="zh-CN" altLang="zh-CN" sz="1600" dirty="0">
                <a:solidFill>
                  <a:schemeClr val="tx1">
                    <a:lumMod val="75000"/>
                  </a:schemeClr>
                </a:solidFill>
                <a:latin typeface="Times New Roman" panose="02020603050405020304" pitchFamily="18" charset="0"/>
                <a:ea typeface="宋体" panose="02010600030101010101" pitchFamily="2" charset="-122"/>
              </a:rPr>
              <a:t>画二级圆柱齿轮减速器装配图的第一步（底图）</a:t>
            </a:r>
            <a:endParaRPr lang="zh-CN" altLang="zh-CN" sz="1600" dirty="0">
              <a:solidFill>
                <a:schemeClr val="tx1">
                  <a:lumMod val="75000"/>
                </a:schemeClr>
              </a:solidFill>
              <a:latin typeface="Times New Roman" panose="02020603050405020304" pitchFamily="18" charset="0"/>
              <a:ea typeface="宋体" panose="02010600030101010101" pitchFamily="2" charset="-122"/>
            </a:endParaRPr>
          </a:p>
        </p:txBody>
      </p:sp>
      <p:grpSp>
        <p:nvGrpSpPr>
          <p:cNvPr id="40" name="组合 39"/>
          <p:cNvGrpSpPr/>
          <p:nvPr/>
        </p:nvGrpSpPr>
        <p:grpSpPr>
          <a:xfrm>
            <a:off x="4534535" y="4450080"/>
            <a:ext cx="6350" cy="555625"/>
            <a:chOff x="7141" y="7008"/>
            <a:chExt cx="10" cy="875"/>
          </a:xfrm>
        </p:grpSpPr>
        <p:cxnSp>
          <p:nvCxnSpPr>
            <p:cNvPr id="9" name="直接箭头连接符 8"/>
            <p:cNvCxnSpPr/>
            <p:nvPr/>
          </p:nvCxnSpPr>
          <p:spPr>
            <a:xfrm flipH="1">
              <a:off x="7141" y="7008"/>
              <a:ext cx="9" cy="497"/>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10" name="直接箭头连接符 9"/>
            <p:cNvCxnSpPr/>
            <p:nvPr/>
          </p:nvCxnSpPr>
          <p:spPr>
            <a:xfrm flipV="1">
              <a:off x="7143" y="7593"/>
              <a:ext cx="9" cy="291"/>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24" name="直接连接符 23"/>
            <p:cNvCxnSpPr/>
            <p:nvPr/>
          </p:nvCxnSpPr>
          <p:spPr>
            <a:xfrm>
              <a:off x="7143" y="7481"/>
              <a:ext cx="0" cy="120"/>
            </a:xfrm>
            <a:prstGeom prst="line">
              <a:avLst/>
            </a:prstGeom>
            <a:solidFill>
              <a:schemeClr val="accent1"/>
            </a:solidFill>
            <a:ln w="9525" cap="flat" cmpd="sng" algn="ctr">
              <a:solidFill>
                <a:srgbClr val="FF3300"/>
              </a:solidFill>
              <a:prstDash val="solid"/>
              <a:round/>
              <a:headEnd type="none" w="med" len="med"/>
              <a:tailEnd type="none" w="med" len="med"/>
            </a:ln>
          </p:spPr>
        </p:cxnSp>
      </p:grpSp>
      <p:grpSp>
        <p:nvGrpSpPr>
          <p:cNvPr id="41" name="组合 40"/>
          <p:cNvGrpSpPr/>
          <p:nvPr/>
        </p:nvGrpSpPr>
        <p:grpSpPr>
          <a:xfrm>
            <a:off x="3491865" y="5579110"/>
            <a:ext cx="6350" cy="555625"/>
            <a:chOff x="7141" y="7008"/>
            <a:chExt cx="10" cy="875"/>
          </a:xfrm>
        </p:grpSpPr>
        <p:cxnSp>
          <p:nvCxnSpPr>
            <p:cNvPr id="42" name="直接箭头连接符 41"/>
            <p:cNvCxnSpPr/>
            <p:nvPr>
              <p:custDataLst>
                <p:tags r:id="rId7"/>
              </p:custDataLst>
            </p:nvPr>
          </p:nvCxnSpPr>
          <p:spPr>
            <a:xfrm flipH="1">
              <a:off x="7141" y="7008"/>
              <a:ext cx="9" cy="497"/>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43" name="直接箭头连接符 42"/>
            <p:cNvCxnSpPr/>
            <p:nvPr>
              <p:custDataLst>
                <p:tags r:id="rId8"/>
              </p:custDataLst>
            </p:nvPr>
          </p:nvCxnSpPr>
          <p:spPr>
            <a:xfrm flipV="1">
              <a:off x="7143" y="7593"/>
              <a:ext cx="9" cy="291"/>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44" name="直接连接符 43"/>
            <p:cNvCxnSpPr/>
            <p:nvPr>
              <p:custDataLst>
                <p:tags r:id="rId9"/>
              </p:custDataLst>
            </p:nvPr>
          </p:nvCxnSpPr>
          <p:spPr>
            <a:xfrm>
              <a:off x="7143" y="7481"/>
              <a:ext cx="0" cy="120"/>
            </a:xfrm>
            <a:prstGeom prst="line">
              <a:avLst/>
            </a:prstGeom>
            <a:solidFill>
              <a:schemeClr val="accent1"/>
            </a:solidFill>
            <a:ln w="9525" cap="flat" cmpd="sng" algn="ctr">
              <a:solidFill>
                <a:srgbClr val="FF3300"/>
              </a:solidFill>
              <a:prstDash val="solid"/>
              <a:round/>
              <a:headEnd type="none" w="med" len="med"/>
              <a:tailEnd type="none" w="med" len="med"/>
            </a:ln>
          </p:spPr>
        </p:cxnSp>
      </p:grpSp>
      <p:grpSp>
        <p:nvGrpSpPr>
          <p:cNvPr id="45" name="组合 44"/>
          <p:cNvGrpSpPr/>
          <p:nvPr/>
        </p:nvGrpSpPr>
        <p:grpSpPr>
          <a:xfrm rot="16200000">
            <a:off x="6955790" y="4839335"/>
            <a:ext cx="6985" cy="594360"/>
            <a:chOff x="7141" y="6948"/>
            <a:chExt cx="11" cy="936"/>
          </a:xfrm>
        </p:grpSpPr>
        <p:cxnSp>
          <p:nvCxnSpPr>
            <p:cNvPr id="46" name="直接箭头连接符 45"/>
            <p:cNvCxnSpPr/>
            <p:nvPr/>
          </p:nvCxnSpPr>
          <p:spPr>
            <a:xfrm flipH="1">
              <a:off x="7141" y="6948"/>
              <a:ext cx="9" cy="497"/>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47" name="直接箭头连接符 46"/>
            <p:cNvCxnSpPr/>
            <p:nvPr/>
          </p:nvCxnSpPr>
          <p:spPr>
            <a:xfrm flipV="1">
              <a:off x="7143" y="7593"/>
              <a:ext cx="9" cy="291"/>
            </a:xfrm>
            <a:prstGeom prst="straightConnector1">
              <a:avLst/>
            </a:prstGeom>
            <a:solidFill>
              <a:schemeClr val="accent1"/>
            </a:solidFill>
            <a:ln w="9525" cap="flat" cmpd="sng" algn="ctr">
              <a:solidFill>
                <a:srgbClr val="FF0000"/>
              </a:solidFill>
              <a:prstDash val="solid"/>
              <a:round/>
              <a:headEnd type="none" w="med" len="med"/>
              <a:tailEnd type="triangle" w="sm" len="lg"/>
            </a:ln>
          </p:spPr>
        </p:cxnSp>
        <p:cxnSp>
          <p:nvCxnSpPr>
            <p:cNvPr id="48" name="直接连接符 47"/>
            <p:cNvCxnSpPr/>
            <p:nvPr/>
          </p:nvCxnSpPr>
          <p:spPr>
            <a:xfrm>
              <a:off x="7143" y="7332"/>
              <a:ext cx="0" cy="270"/>
            </a:xfrm>
            <a:prstGeom prst="line">
              <a:avLst/>
            </a:prstGeom>
            <a:solidFill>
              <a:schemeClr val="accent1"/>
            </a:solidFill>
            <a:ln w="9525" cap="flat" cmpd="sng" algn="ctr">
              <a:solidFill>
                <a:srgbClr val="FF3300"/>
              </a:solidFill>
              <a:prstDash val="solid"/>
              <a:round/>
              <a:headEnd type="none" w="med" len="med"/>
              <a:tailEnd type="none" w="med" len="med"/>
            </a:ln>
          </p:spPr>
        </p:cxnSp>
      </p:grpSp>
      <p:sp>
        <p:nvSpPr>
          <p:cNvPr id="90122" name="文本框 2"/>
          <p:cNvSpPr txBox="1">
            <a:spLocks noChangeArrowheads="1"/>
          </p:cNvSpPr>
          <p:nvPr/>
        </p:nvSpPr>
        <p:spPr bwMode="auto">
          <a:xfrm>
            <a:off x="315437" y="368935"/>
            <a:ext cx="838644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solidFill>
                  <a:srgbClr val="002060"/>
                </a:solidFill>
                <a:latin typeface="微软雅黑" panose="020B0503020204020204" charset="-122"/>
                <a:ea typeface="微软雅黑" panose="020B0503020204020204" charset="-122"/>
                <a:cs typeface="微软雅黑" panose="020B0503020204020204" charset="-122"/>
              </a:rPr>
              <a:t>（</a:t>
            </a:r>
            <a:r>
              <a:rPr lang="en-US" altLang="zh-CN">
                <a:solidFill>
                  <a:srgbClr val="002060"/>
                </a:solidFill>
                <a:latin typeface="微软雅黑" panose="020B0503020204020204" charset="-122"/>
                <a:ea typeface="微软雅黑" panose="020B0503020204020204" charset="-122"/>
                <a:cs typeface="微软雅黑" panose="020B0503020204020204" charset="-122"/>
              </a:rPr>
              <a:t>2</a:t>
            </a:r>
            <a:r>
              <a:rPr lang="zh-CN" altLang="en-US">
                <a:solidFill>
                  <a:srgbClr val="002060"/>
                </a:solidFill>
                <a:latin typeface="微软雅黑" panose="020B0503020204020204" charset="-122"/>
                <a:ea typeface="微软雅黑" panose="020B0503020204020204" charset="-122"/>
                <a:cs typeface="微软雅黑" panose="020B0503020204020204" charset="-122"/>
              </a:rPr>
              <a:t>）按计算尺寸</a:t>
            </a:r>
            <a:r>
              <a:rPr lang="en-US" altLang="zh-CN">
                <a:solidFill>
                  <a:srgbClr val="002060"/>
                </a:solidFill>
                <a:latin typeface="微软雅黑" panose="020B0503020204020204" charset="-122"/>
                <a:ea typeface="微软雅黑" panose="020B0503020204020204" charset="-122"/>
                <a:cs typeface="微软雅黑" panose="020B0503020204020204" charset="-122"/>
              </a:rPr>
              <a:t>1:1 </a:t>
            </a:r>
            <a:r>
              <a:rPr lang="zh-CN" altLang="en-US">
                <a:solidFill>
                  <a:srgbClr val="002060"/>
                </a:solidFill>
                <a:latin typeface="微软雅黑" panose="020B0503020204020204" charset="-122"/>
                <a:ea typeface="微软雅黑" panose="020B0503020204020204" charset="-122"/>
                <a:cs typeface="微软雅黑" panose="020B0503020204020204" charset="-122"/>
              </a:rPr>
              <a:t>画出高速级、低速级齿轮传动的轴线</a:t>
            </a:r>
            <a:r>
              <a:rPr lang="zh-CN" altLang="zh-CN">
                <a:solidFill>
                  <a:srgbClr val="002060"/>
                </a:solidFill>
                <a:latin typeface="微软雅黑" panose="020B0503020204020204" charset="-122"/>
                <a:ea typeface="微软雅黑" panose="020B0503020204020204" charset="-122"/>
                <a:cs typeface="微软雅黑" panose="020B0503020204020204" charset="-122"/>
              </a:rPr>
              <a:t>及齿轮的轮廓线</a:t>
            </a:r>
            <a:endParaRPr lang="zh-CN" altLang="zh-CN">
              <a:solidFill>
                <a:srgbClr val="002060"/>
              </a:solidFill>
              <a:latin typeface="微软雅黑" panose="020B0503020204020204" charset="-122"/>
              <a:ea typeface="微软雅黑" panose="020B0503020204020204" charset="-122"/>
              <a:cs typeface="微软雅黑" panose="020B0503020204020204" charset="-122"/>
            </a:endParaRPr>
          </a:p>
        </p:txBody>
      </p:sp>
      <p:cxnSp>
        <p:nvCxnSpPr>
          <p:cNvPr id="2" name="直接连接符 1"/>
          <p:cNvCxnSpPr/>
          <p:nvPr/>
        </p:nvCxnSpPr>
        <p:spPr>
          <a:xfrm>
            <a:off x="1906905" y="5354320"/>
            <a:ext cx="648970" cy="594995"/>
          </a:xfrm>
          <a:prstGeom prst="line">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cxnSp>
        <p:nvCxnSpPr>
          <p:cNvPr id="3" name="直接连接符 2"/>
          <p:cNvCxnSpPr/>
          <p:nvPr/>
        </p:nvCxnSpPr>
        <p:spPr>
          <a:xfrm flipV="1">
            <a:off x="1943735" y="4761230"/>
            <a:ext cx="828040" cy="612140"/>
          </a:xfrm>
          <a:prstGeom prst="line">
            <a:avLst/>
          </a:prstGeom>
          <a:ln>
            <a:headEnd type="none"/>
            <a:tailEnd type="triangle" w="med" len="med"/>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1764030" y="4247515"/>
            <a:ext cx="4572000" cy="368300"/>
          </a:xfrm>
          <a:prstGeom prst="rect">
            <a:avLst/>
          </a:prstGeom>
          <a:noFill/>
        </p:spPr>
        <p:txBody>
          <a:bodyPr wrap="square" rtlCol="0" anchor="t">
            <a:spAutoFit/>
          </a:bodyPr>
          <a:p>
            <a:r>
              <a:rPr lang="en-US" altLang="zh-CN" sz="1800" b="1" dirty="0">
                <a:solidFill>
                  <a:schemeClr val="accent1">
                    <a:lumMod val="75000"/>
                  </a:schemeClr>
                </a:solidFill>
                <a:latin typeface="楷体_GB2312" pitchFamily="49" charset="-122"/>
                <a:ea typeface="楷体_GB2312" pitchFamily="49" charset="-122"/>
                <a:sym typeface="Symbol" panose="05050102010706020507" pitchFamily="18" charset="2"/>
              </a:rPr>
              <a:t>C</a:t>
            </a:r>
            <a:r>
              <a:rPr lang="en-US" altLang="zh-CN" sz="1800" b="1" dirty="0">
                <a:solidFill>
                  <a:schemeClr val="accent2"/>
                </a:solidFill>
                <a:latin typeface="楷体_GB2312" pitchFamily="49" charset="-122"/>
                <a:ea typeface="楷体_GB2312" pitchFamily="49" charset="-122"/>
                <a:sym typeface="Symbol" panose="05050102010706020507" pitchFamily="18" charset="2"/>
              </a:rPr>
              <a:t>&gt;2</a:t>
            </a:r>
            <a:r>
              <a:rPr lang="en-US" altLang="zh-CN" sz="1800" b="1" i="1" dirty="0">
                <a:solidFill>
                  <a:schemeClr val="accent2"/>
                </a:solidFill>
                <a:latin typeface="楷体_GB2312" pitchFamily="49" charset="-122"/>
                <a:ea typeface="楷体_GB2312" pitchFamily="49" charset="-122"/>
                <a:sym typeface="Symbol" panose="05050102010706020507" pitchFamily="18" charset="2"/>
              </a:rPr>
              <a:t>m</a:t>
            </a:r>
            <a:endParaRPr lang="en-US" altLang="zh-CN" sz="1800" b="1" i="1" baseline="-25000" dirty="0">
              <a:solidFill>
                <a:schemeClr val="accent2"/>
              </a:solidFill>
              <a:latin typeface="楷体_GB2312" pitchFamily="49" charset="-122"/>
              <a:ea typeface="楷体_GB2312" pitchFamily="49" charset="-122"/>
              <a:sym typeface="Symbol" panose="05050102010706020507" pitchFamily="18" charset="2"/>
            </a:endParaRPr>
          </a:p>
        </p:txBody>
      </p:sp>
      <p:grpSp>
        <p:nvGrpSpPr>
          <p:cNvPr id="50" name="组合 49"/>
          <p:cNvGrpSpPr/>
          <p:nvPr/>
        </p:nvGrpSpPr>
        <p:grpSpPr>
          <a:xfrm>
            <a:off x="4356100" y="5176520"/>
            <a:ext cx="6350" cy="555625"/>
            <a:chOff x="7141" y="7008"/>
            <a:chExt cx="10" cy="875"/>
          </a:xfrm>
        </p:grpSpPr>
        <p:cxnSp>
          <p:nvCxnSpPr>
            <p:cNvPr id="51" name="直接箭头连接符 50"/>
            <p:cNvCxnSpPr/>
            <p:nvPr/>
          </p:nvCxnSpPr>
          <p:spPr>
            <a:xfrm flipH="1">
              <a:off x="7141" y="7008"/>
              <a:ext cx="9" cy="497"/>
            </a:xfrm>
            <a:prstGeom prst="straightConnector1">
              <a:avLst/>
            </a:prstGeom>
            <a:solidFill>
              <a:schemeClr val="accent1"/>
            </a:solidFill>
            <a:ln w="9525" cap="flat" cmpd="sng" algn="ctr">
              <a:solidFill>
                <a:srgbClr val="00B050"/>
              </a:solidFill>
              <a:prstDash val="solid"/>
              <a:round/>
              <a:headEnd type="none" w="med" len="med"/>
              <a:tailEnd type="triangle" w="sm" len="lg"/>
            </a:ln>
          </p:spPr>
        </p:cxnSp>
        <p:cxnSp>
          <p:nvCxnSpPr>
            <p:cNvPr id="52" name="直接箭头连接符 51"/>
            <p:cNvCxnSpPr/>
            <p:nvPr/>
          </p:nvCxnSpPr>
          <p:spPr>
            <a:xfrm flipV="1">
              <a:off x="7143" y="7593"/>
              <a:ext cx="9" cy="291"/>
            </a:xfrm>
            <a:prstGeom prst="straightConnector1">
              <a:avLst/>
            </a:prstGeom>
            <a:solidFill>
              <a:schemeClr val="accent1"/>
            </a:solidFill>
            <a:ln w="9525" cap="flat" cmpd="sng" algn="ctr">
              <a:solidFill>
                <a:srgbClr val="00B050"/>
              </a:solidFill>
              <a:prstDash val="solid"/>
              <a:round/>
              <a:headEnd type="none" w="med" len="med"/>
              <a:tailEnd type="triangle" w="sm" len="lg"/>
            </a:ln>
          </p:spPr>
        </p:cxnSp>
        <p:cxnSp>
          <p:nvCxnSpPr>
            <p:cNvPr id="53" name="直接连接符 52"/>
            <p:cNvCxnSpPr/>
            <p:nvPr/>
          </p:nvCxnSpPr>
          <p:spPr>
            <a:xfrm>
              <a:off x="7143" y="7481"/>
              <a:ext cx="0" cy="120"/>
            </a:xfrm>
            <a:prstGeom prst="line">
              <a:avLst/>
            </a:prstGeom>
            <a:solidFill>
              <a:schemeClr val="accent1"/>
            </a:solidFill>
            <a:ln w="9525" cap="flat" cmpd="sng" algn="ctr">
              <a:solidFill>
                <a:srgbClr val="00B05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up)">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up)">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wipe(left)">
                                      <p:cBhvr>
                                        <p:cTn id="67" dur="500"/>
                                        <p:tgtEl>
                                          <p:spTgt spid="3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wipe(left)">
                                      <p:cBhvr>
                                        <p:cTn id="72" dur="500"/>
                                        <p:tgtEl>
                                          <p:spTgt spid="3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up)">
                                      <p:cBhvr>
                                        <p:cTn id="77" dur="500"/>
                                        <p:tgtEl>
                                          <p:spTgt spid="18"/>
                                        </p:tgtEl>
                                      </p:cBhvr>
                                    </p:animEffect>
                                  </p:childTnLst>
                                </p:cTn>
                              </p:par>
                              <p:par>
                                <p:cTn id="78" presetID="22" presetClass="entr" presetSubtype="1" fill="hold" nodeType="with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wipe(up)">
                                      <p:cBhvr>
                                        <p:cTn id="80" dur="500"/>
                                        <p:tgtEl>
                                          <p:spTgt spid="1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wipe(left)">
                                      <p:cBhvr>
                                        <p:cTn id="85" dur="500"/>
                                        <p:tgtEl>
                                          <p:spTgt spid="19"/>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wipe(up)">
                                      <p:cBhvr>
                                        <p:cTn id="90" dur="500"/>
                                        <p:tgtEl>
                                          <p:spTgt spid="21"/>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wipe(left)">
                                      <p:cBhvr>
                                        <p:cTn id="95" dur="500"/>
                                        <p:tgtEl>
                                          <p:spTgt spid="20"/>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ipe(left)">
                                      <p:cBhvr>
                                        <p:cTn id="100" dur="500"/>
                                        <p:tgtEl>
                                          <p:spTgt spid="22"/>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nodeType="clickEffect">
                                  <p:stCondLst>
                                    <p:cond delay="0"/>
                                  </p:stCondLst>
                                  <p:childTnLst>
                                    <p:set>
                                      <p:cBhvr>
                                        <p:cTn id="104" dur="1" fill="hold">
                                          <p:stCondLst>
                                            <p:cond delay="0"/>
                                          </p:stCondLst>
                                        </p:cTn>
                                        <p:tgtEl>
                                          <p:spTgt spid="41"/>
                                        </p:tgtEl>
                                        <p:attrNameLst>
                                          <p:attrName>style.visibility</p:attrName>
                                        </p:attrNameLst>
                                      </p:cBhvr>
                                      <p:to>
                                        <p:strVal val="visible"/>
                                      </p:to>
                                    </p:set>
                                    <p:animEffect transition="in" filter="wipe(down)">
                                      <p:cBhvr>
                                        <p:cTn id="105" dur="500"/>
                                        <p:tgtEl>
                                          <p:spTgt spid="41"/>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33"/>
                                        </p:tgtEl>
                                        <p:attrNameLst>
                                          <p:attrName>style.visibility</p:attrName>
                                        </p:attrNameLst>
                                      </p:cBhvr>
                                      <p:to>
                                        <p:strVal val="visible"/>
                                      </p:to>
                                    </p:set>
                                    <p:animEffect transition="in" filter="wipe(down)">
                                      <p:cBhvr>
                                        <p:cTn id="110" dur="500"/>
                                        <p:tgtEl>
                                          <p:spTgt spid="33"/>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wipe(left)">
                                      <p:cBhvr>
                                        <p:cTn id="115" dur="500"/>
                                        <p:tgtEl>
                                          <p:spTgt spid="23"/>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5"/>
                                        </p:tgtEl>
                                        <p:attrNameLst>
                                          <p:attrName>style.visibility</p:attrName>
                                        </p:attrNameLst>
                                      </p:cBhvr>
                                      <p:to>
                                        <p:strVal val="visible"/>
                                      </p:to>
                                    </p:set>
                                    <p:animEffect transition="in" filter="wipe(left)">
                                      <p:cBhvr>
                                        <p:cTn id="120" dur="500"/>
                                        <p:tgtEl>
                                          <p:spTgt spid="25"/>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1" fill="hold" nodeType="clickEffect">
                                  <p:stCondLst>
                                    <p:cond delay="0"/>
                                  </p:stCondLst>
                                  <p:childTnLst>
                                    <p:set>
                                      <p:cBhvr>
                                        <p:cTn id="124" dur="1" fill="hold">
                                          <p:stCondLst>
                                            <p:cond delay="0"/>
                                          </p:stCondLst>
                                        </p:cTn>
                                        <p:tgtEl>
                                          <p:spTgt spid="26"/>
                                        </p:tgtEl>
                                        <p:attrNameLst>
                                          <p:attrName>style.visibility</p:attrName>
                                        </p:attrNameLst>
                                      </p:cBhvr>
                                      <p:to>
                                        <p:strVal val="visible"/>
                                      </p:to>
                                    </p:set>
                                    <p:animEffect transition="in" filter="wipe(up)">
                                      <p:cBhvr>
                                        <p:cTn id="125" dur="500"/>
                                        <p:tgtEl>
                                          <p:spTgt spid="26"/>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1" fill="hold" nodeType="clickEffect">
                                  <p:stCondLst>
                                    <p:cond delay="0"/>
                                  </p:stCondLst>
                                  <p:childTnLst>
                                    <p:set>
                                      <p:cBhvr>
                                        <p:cTn id="129" dur="1" fill="hold">
                                          <p:stCondLst>
                                            <p:cond delay="0"/>
                                          </p:stCondLst>
                                        </p:cTn>
                                        <p:tgtEl>
                                          <p:spTgt spid="27"/>
                                        </p:tgtEl>
                                        <p:attrNameLst>
                                          <p:attrName>style.visibility</p:attrName>
                                        </p:attrNameLst>
                                      </p:cBhvr>
                                      <p:to>
                                        <p:strVal val="visible"/>
                                      </p:to>
                                    </p:set>
                                    <p:animEffect transition="in" filter="wipe(up)">
                                      <p:cBhvr>
                                        <p:cTn id="130" dur="500"/>
                                        <p:tgtEl>
                                          <p:spTgt spid="27"/>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1" fill="hold" nodeType="clickEffect">
                                  <p:stCondLst>
                                    <p:cond delay="0"/>
                                  </p:stCondLst>
                                  <p:childTnLst>
                                    <p:set>
                                      <p:cBhvr>
                                        <p:cTn id="134" dur="1" fill="hold">
                                          <p:stCondLst>
                                            <p:cond delay="0"/>
                                          </p:stCondLst>
                                        </p:cTn>
                                        <p:tgtEl>
                                          <p:spTgt spid="28"/>
                                        </p:tgtEl>
                                        <p:attrNameLst>
                                          <p:attrName>style.visibility</p:attrName>
                                        </p:attrNameLst>
                                      </p:cBhvr>
                                      <p:to>
                                        <p:strVal val="visible"/>
                                      </p:to>
                                    </p:set>
                                    <p:animEffect transition="in" filter="wipe(up)">
                                      <p:cBhvr>
                                        <p:cTn id="135" dur="500"/>
                                        <p:tgtEl>
                                          <p:spTgt spid="28"/>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nodeType="clickEffect">
                                  <p:stCondLst>
                                    <p:cond delay="0"/>
                                  </p:stCondLst>
                                  <p:childTnLst>
                                    <p:set>
                                      <p:cBhvr>
                                        <p:cTn id="139" dur="1" fill="hold">
                                          <p:stCondLst>
                                            <p:cond delay="0"/>
                                          </p:stCondLst>
                                        </p:cTn>
                                        <p:tgtEl>
                                          <p:spTgt spid="40"/>
                                        </p:tgtEl>
                                        <p:attrNameLst>
                                          <p:attrName>style.visibility</p:attrName>
                                        </p:attrNameLst>
                                      </p:cBhvr>
                                      <p:to>
                                        <p:strVal val="visible"/>
                                      </p:to>
                                    </p:set>
                                    <p:animEffect transition="in" filter="wipe(down)">
                                      <p:cBhvr>
                                        <p:cTn id="140" dur="500"/>
                                        <p:tgtEl>
                                          <p:spTgt spid="40"/>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4" fill="hold" grpId="0" nodeType="clickEffect">
                                  <p:stCondLst>
                                    <p:cond delay="0"/>
                                  </p:stCondLst>
                                  <p:childTnLst>
                                    <p:set>
                                      <p:cBhvr>
                                        <p:cTn id="144" dur="1" fill="hold">
                                          <p:stCondLst>
                                            <p:cond delay="0"/>
                                          </p:stCondLst>
                                        </p:cTn>
                                        <p:tgtEl>
                                          <p:spTgt spid="34"/>
                                        </p:tgtEl>
                                        <p:attrNameLst>
                                          <p:attrName>style.visibility</p:attrName>
                                        </p:attrNameLst>
                                      </p:cBhvr>
                                      <p:to>
                                        <p:strVal val="visible"/>
                                      </p:to>
                                    </p:set>
                                    <p:animEffect transition="in" filter="wipe(down)">
                                      <p:cBhvr>
                                        <p:cTn id="145" dur="500"/>
                                        <p:tgtEl>
                                          <p:spTgt spid="34"/>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8" fill="hold" nodeType="clickEffect">
                                  <p:stCondLst>
                                    <p:cond delay="0"/>
                                  </p:stCondLst>
                                  <p:childTnLst>
                                    <p:set>
                                      <p:cBhvr>
                                        <p:cTn id="149" dur="1" fill="hold">
                                          <p:stCondLst>
                                            <p:cond delay="0"/>
                                          </p:stCondLst>
                                        </p:cTn>
                                        <p:tgtEl>
                                          <p:spTgt spid="29"/>
                                        </p:tgtEl>
                                        <p:attrNameLst>
                                          <p:attrName>style.visibility</p:attrName>
                                        </p:attrNameLst>
                                      </p:cBhvr>
                                      <p:to>
                                        <p:strVal val="visible"/>
                                      </p:to>
                                    </p:set>
                                    <p:animEffect transition="in" filter="wipe(left)">
                                      <p:cBhvr>
                                        <p:cTn id="150" dur="500"/>
                                        <p:tgtEl>
                                          <p:spTgt spid="29"/>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2" fill="hold" nodeType="clickEffect">
                                  <p:stCondLst>
                                    <p:cond delay="0"/>
                                  </p:stCondLst>
                                  <p:childTnLst>
                                    <p:set>
                                      <p:cBhvr>
                                        <p:cTn id="154" dur="1" fill="hold">
                                          <p:stCondLst>
                                            <p:cond delay="0"/>
                                          </p:stCondLst>
                                        </p:cTn>
                                        <p:tgtEl>
                                          <p:spTgt spid="3"/>
                                        </p:tgtEl>
                                        <p:attrNameLst>
                                          <p:attrName>style.visibility</p:attrName>
                                        </p:attrNameLst>
                                      </p:cBhvr>
                                      <p:to>
                                        <p:strVal val="visible"/>
                                      </p:to>
                                    </p:set>
                                    <p:animEffect transition="in" filter="wipe(right)">
                                      <p:cBhvr>
                                        <p:cTn id="155" dur="500"/>
                                        <p:tgtEl>
                                          <p:spTgt spid="3"/>
                                        </p:tgtEl>
                                      </p:cBhvr>
                                    </p:animEffect>
                                  </p:childTnLst>
                                </p:cTn>
                              </p:par>
                              <p:par>
                                <p:cTn id="156" presetID="22" presetClass="entr" presetSubtype="2" fill="hold" nodeType="withEffect">
                                  <p:stCondLst>
                                    <p:cond delay="0"/>
                                  </p:stCondLst>
                                  <p:childTnLst>
                                    <p:set>
                                      <p:cBhvr>
                                        <p:cTn id="157" dur="1" fill="hold">
                                          <p:stCondLst>
                                            <p:cond delay="0"/>
                                          </p:stCondLst>
                                        </p:cTn>
                                        <p:tgtEl>
                                          <p:spTgt spid="2"/>
                                        </p:tgtEl>
                                        <p:attrNameLst>
                                          <p:attrName>style.visibility</p:attrName>
                                        </p:attrNameLst>
                                      </p:cBhvr>
                                      <p:to>
                                        <p:strVal val="visible"/>
                                      </p:to>
                                    </p:set>
                                    <p:animEffect transition="in" filter="wipe(right)">
                                      <p:cBhvr>
                                        <p:cTn id="158" dur="500"/>
                                        <p:tgtEl>
                                          <p:spTgt spid="2"/>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30"/>
                                        </p:tgtEl>
                                        <p:attrNameLst>
                                          <p:attrName>style.visibility</p:attrName>
                                        </p:attrNameLst>
                                      </p:cBhvr>
                                      <p:to>
                                        <p:strVal val="visible"/>
                                      </p:to>
                                    </p:set>
                                    <p:animEffect transition="in" filter="wipe(left)">
                                      <p:cBhvr>
                                        <p:cTn id="163" dur="500"/>
                                        <p:tgtEl>
                                          <p:spTgt spid="30"/>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4" fill="hold" nodeType="clickEffect">
                                  <p:stCondLst>
                                    <p:cond delay="0"/>
                                  </p:stCondLst>
                                  <p:childTnLst>
                                    <p:set>
                                      <p:cBhvr>
                                        <p:cTn id="167" dur="1" fill="hold">
                                          <p:stCondLst>
                                            <p:cond delay="0"/>
                                          </p:stCondLst>
                                        </p:cTn>
                                        <p:tgtEl>
                                          <p:spTgt spid="35"/>
                                        </p:tgtEl>
                                        <p:attrNameLst>
                                          <p:attrName>style.visibility</p:attrName>
                                        </p:attrNameLst>
                                      </p:cBhvr>
                                      <p:to>
                                        <p:strVal val="visible"/>
                                      </p:to>
                                    </p:set>
                                    <p:animEffect transition="in" filter="wipe(down)">
                                      <p:cBhvr>
                                        <p:cTn id="168" dur="500"/>
                                        <p:tgtEl>
                                          <p:spTgt spid="35"/>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8" fill="hold" nodeType="clickEffect">
                                  <p:stCondLst>
                                    <p:cond delay="0"/>
                                  </p:stCondLst>
                                  <p:childTnLst>
                                    <p:set>
                                      <p:cBhvr>
                                        <p:cTn id="172" dur="1" fill="hold">
                                          <p:stCondLst>
                                            <p:cond delay="0"/>
                                          </p:stCondLst>
                                        </p:cTn>
                                        <p:tgtEl>
                                          <p:spTgt spid="45"/>
                                        </p:tgtEl>
                                        <p:attrNameLst>
                                          <p:attrName>style.visibility</p:attrName>
                                        </p:attrNameLst>
                                      </p:cBhvr>
                                      <p:to>
                                        <p:strVal val="visible"/>
                                      </p:to>
                                    </p:set>
                                    <p:animEffect transition="in" filter="wipe(left)">
                                      <p:cBhvr>
                                        <p:cTn id="173" dur="500"/>
                                        <p:tgtEl>
                                          <p:spTgt spid="45"/>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4" fill="hold" grpId="0" nodeType="clickEffect">
                                  <p:stCondLst>
                                    <p:cond delay="0"/>
                                  </p:stCondLst>
                                  <p:childTnLst>
                                    <p:set>
                                      <p:cBhvr>
                                        <p:cTn id="177" dur="1" fill="hold">
                                          <p:stCondLst>
                                            <p:cond delay="0"/>
                                          </p:stCondLst>
                                        </p:cTn>
                                        <p:tgtEl>
                                          <p:spTgt spid="36"/>
                                        </p:tgtEl>
                                        <p:attrNameLst>
                                          <p:attrName>style.visibility</p:attrName>
                                        </p:attrNameLst>
                                      </p:cBhvr>
                                      <p:to>
                                        <p:strVal val="visible"/>
                                      </p:to>
                                    </p:set>
                                    <p:animEffect transition="in" filter="wipe(down)">
                                      <p:cBhvr>
                                        <p:cTn id="178" dur="500"/>
                                        <p:tgtEl>
                                          <p:spTgt spid="36"/>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grpId="0" nodeType="clickEffect">
                                  <p:stCondLst>
                                    <p:cond delay="0"/>
                                  </p:stCondLst>
                                  <p:childTnLst>
                                    <p:set>
                                      <p:cBhvr>
                                        <p:cTn id="182" dur="1" fill="hold">
                                          <p:stCondLst>
                                            <p:cond delay="0"/>
                                          </p:stCondLst>
                                        </p:cTn>
                                        <p:tgtEl>
                                          <p:spTgt spid="32"/>
                                        </p:tgtEl>
                                        <p:attrNameLst>
                                          <p:attrName>style.visibility</p:attrName>
                                        </p:attrNameLst>
                                      </p:cBhvr>
                                      <p:to>
                                        <p:strVal val="visible"/>
                                      </p:to>
                                    </p:set>
                                    <p:animEffect transition="in" filter="wipe(left)">
                                      <p:cBhvr>
                                        <p:cTn id="183" dur="500"/>
                                        <p:tgtEl>
                                          <p:spTgt spid="32"/>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nodeType="clickEffect">
                                  <p:stCondLst>
                                    <p:cond delay="0"/>
                                  </p:stCondLst>
                                  <p:childTnLst>
                                    <p:set>
                                      <p:cBhvr>
                                        <p:cTn id="187" dur="1" fill="hold">
                                          <p:stCondLst>
                                            <p:cond delay="0"/>
                                          </p:stCondLst>
                                        </p:cTn>
                                        <p:tgtEl>
                                          <p:spTgt spid="37"/>
                                        </p:tgtEl>
                                        <p:attrNameLst>
                                          <p:attrName>style.visibility</p:attrName>
                                        </p:attrNameLst>
                                      </p:cBhvr>
                                      <p:to>
                                        <p:strVal val="visible"/>
                                      </p:to>
                                    </p:set>
                                    <p:animEffect transition="in" filter="wipe(left)">
                                      <p:cBhvr>
                                        <p:cTn id="188" dur="500"/>
                                        <p:tgtEl>
                                          <p:spTgt spid="37"/>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grpId="0" nodeType="clickEffect">
                                  <p:stCondLst>
                                    <p:cond delay="0"/>
                                  </p:stCondLst>
                                  <p:childTnLst>
                                    <p:set>
                                      <p:cBhvr>
                                        <p:cTn id="192" dur="1" fill="hold">
                                          <p:stCondLst>
                                            <p:cond delay="0"/>
                                          </p:stCondLst>
                                        </p:cTn>
                                        <p:tgtEl>
                                          <p:spTgt spid="39945"/>
                                        </p:tgtEl>
                                        <p:attrNameLst>
                                          <p:attrName>style.visibility</p:attrName>
                                        </p:attrNameLst>
                                      </p:cBhvr>
                                      <p:to>
                                        <p:strVal val="visible"/>
                                      </p:to>
                                    </p:set>
                                    <p:animEffect transition="in" filter="wipe(left)">
                                      <p:cBhvr>
                                        <p:cTn id="193" dur="500"/>
                                        <p:tgtEl>
                                          <p:spTgt spid="39945"/>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4" fill="hold" nodeType="clickEffect">
                                  <p:stCondLst>
                                    <p:cond delay="0"/>
                                  </p:stCondLst>
                                  <p:childTnLst>
                                    <p:set>
                                      <p:cBhvr>
                                        <p:cTn id="197" dur="1" fill="hold">
                                          <p:stCondLst>
                                            <p:cond delay="0"/>
                                          </p:stCondLst>
                                        </p:cTn>
                                        <p:tgtEl>
                                          <p:spTgt spid="50"/>
                                        </p:tgtEl>
                                        <p:attrNameLst>
                                          <p:attrName>style.visibility</p:attrName>
                                        </p:attrNameLst>
                                      </p:cBhvr>
                                      <p:to>
                                        <p:strVal val="visible"/>
                                      </p:to>
                                    </p:set>
                                    <p:animEffect transition="in" filter="wipe(down)">
                                      <p:cBhvr>
                                        <p:cTn id="198" dur="500"/>
                                        <p:tgtEl>
                                          <p:spTgt spid="50"/>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nodeType="clickEffect">
                                  <p:stCondLst>
                                    <p:cond delay="0"/>
                                  </p:stCondLst>
                                  <p:childTnLst>
                                    <p:set>
                                      <p:cBhvr>
                                        <p:cTn id="202" dur="1" fill="hold">
                                          <p:stCondLst>
                                            <p:cond delay="0"/>
                                          </p:stCondLst>
                                        </p:cTn>
                                        <p:tgtEl>
                                          <p:spTgt spid="49">
                                            <p:txEl>
                                              <p:pRg st="0" end="0"/>
                                            </p:txEl>
                                          </p:spTgt>
                                        </p:tgtEl>
                                        <p:attrNameLst>
                                          <p:attrName>style.visibility</p:attrName>
                                        </p:attrNameLst>
                                      </p:cBhvr>
                                      <p:to>
                                        <p:strVal val="visible"/>
                                      </p:to>
                                    </p:set>
                                    <p:animEffect transition="in" filter="wipe(left)">
                                      <p:cBhvr>
                                        <p:cTn id="203" dur="500"/>
                                        <p:tgtEl>
                                          <p:spTgt spid="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P spid="15" grpId="0" bldLvl="0" animBg="1"/>
      <p:bldP spid="16" grpId="0" bldLvl="0" animBg="1"/>
      <p:bldP spid="19" grpId="0" bldLvl="0" animBg="1"/>
      <p:bldP spid="20" grpId="0" bldLvl="0" animBg="1"/>
      <p:bldP spid="23" grpId="0" bldLvl="0" animBg="1"/>
      <p:bldP spid="25" grpId="0" bldLvl="0" animBg="1"/>
      <p:bldP spid="30" grpId="0"/>
      <p:bldP spid="31" grpId="0"/>
      <p:bldP spid="32" grpId="0"/>
      <p:bldP spid="33" grpId="0"/>
      <p:bldP spid="34" grpId="0"/>
      <p:bldP spid="36" grpId="0"/>
      <p:bldP spid="38" grpId="0"/>
      <p:bldP spid="39" grpId="0"/>
      <p:bldP spid="3994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54" name="对象 53253"/>
          <p:cNvGraphicFramePr/>
          <p:nvPr/>
        </p:nvGraphicFramePr>
        <p:xfrm>
          <a:off x="42863" y="1338263"/>
          <a:ext cx="9058275" cy="4181475"/>
        </p:xfrm>
        <a:graphic>
          <a:graphicData uri="http://schemas.openxmlformats.org/presentationml/2006/ole">
            <mc:AlternateContent xmlns:mc="http://schemas.openxmlformats.org/markup-compatibility/2006">
              <mc:Choice xmlns:v="urn:schemas-microsoft-com:vml" Requires="v">
                <p:oleObj spid="_x0000_s15511" name="" r:id="rId1" imgW="9058275" imgH="4181475" progId="AutoCAD.Drawing.16">
                  <p:embed/>
                </p:oleObj>
              </mc:Choice>
              <mc:Fallback>
                <p:oleObj name="" r:id="rId1" imgW="9058275" imgH="4181475" progId="AutoCAD.Drawing.16">
                  <p:embed/>
                  <p:pic>
                    <p:nvPicPr>
                      <p:cNvPr id="0" name="图片 3099"/>
                      <p:cNvPicPr/>
                      <p:nvPr/>
                    </p:nvPicPr>
                    <p:blipFill>
                      <a:blip r:embed="rId2"/>
                      <a:stretch>
                        <a:fillRect/>
                      </a:stretch>
                    </p:blipFill>
                    <p:spPr>
                      <a:xfrm>
                        <a:off x="42863" y="1338263"/>
                        <a:ext cx="9058275" cy="4181475"/>
                      </a:xfrm>
                      <a:prstGeom prst="rect">
                        <a:avLst/>
                      </a:prstGeom>
                      <a:noFill/>
                      <a:ln w="38100">
                        <a:noFill/>
                        <a:miter/>
                      </a:ln>
                    </p:spPr>
                  </p:pic>
                </p:oleObj>
              </mc:Fallback>
            </mc:AlternateContent>
          </a:graphicData>
        </a:graphic>
      </p:graphicFrame>
      <p:graphicFrame>
        <p:nvGraphicFramePr>
          <p:cNvPr id="53256" name="对象 53255"/>
          <p:cNvGraphicFramePr/>
          <p:nvPr/>
        </p:nvGraphicFramePr>
        <p:xfrm>
          <a:off x="42863" y="1338263"/>
          <a:ext cx="9058275" cy="4181475"/>
        </p:xfrm>
        <a:graphic>
          <a:graphicData uri="http://schemas.openxmlformats.org/presentationml/2006/ole">
            <mc:AlternateContent xmlns:mc="http://schemas.openxmlformats.org/markup-compatibility/2006">
              <mc:Choice xmlns:v="urn:schemas-microsoft-com:vml" Requires="v">
                <p:oleObj spid="_x0000_s15512" name="" r:id="rId3" imgW="9058275" imgH="4181475" progId="AutoCAD.Drawing.16">
                  <p:embed/>
                </p:oleObj>
              </mc:Choice>
              <mc:Fallback>
                <p:oleObj name="" r:id="rId3" imgW="9058275" imgH="4181475" progId="AutoCAD.Drawing.16">
                  <p:embed/>
                  <p:pic>
                    <p:nvPicPr>
                      <p:cNvPr id="0" name="图片 3100"/>
                      <p:cNvPicPr/>
                      <p:nvPr/>
                    </p:nvPicPr>
                    <p:blipFill>
                      <a:blip r:embed="rId4"/>
                      <a:stretch>
                        <a:fillRect/>
                      </a:stretch>
                    </p:blipFill>
                    <p:spPr>
                      <a:xfrm>
                        <a:off x="42863" y="1338263"/>
                        <a:ext cx="9058275" cy="4181475"/>
                      </a:xfrm>
                      <a:prstGeom prst="rect">
                        <a:avLst/>
                      </a:prstGeom>
                      <a:noFill/>
                      <a:ln w="38100">
                        <a:noFill/>
                        <a:miter/>
                      </a:ln>
                    </p:spPr>
                  </p:pic>
                </p:oleObj>
              </mc:Fallback>
            </mc:AlternateContent>
          </a:graphicData>
        </a:graphic>
      </p:graphicFrame>
      <p:graphicFrame>
        <p:nvGraphicFramePr>
          <p:cNvPr id="53257" name="对象 53256"/>
          <p:cNvGraphicFramePr/>
          <p:nvPr/>
        </p:nvGraphicFramePr>
        <p:xfrm>
          <a:off x="42863" y="1338263"/>
          <a:ext cx="9058275" cy="4181475"/>
        </p:xfrm>
        <a:graphic>
          <a:graphicData uri="http://schemas.openxmlformats.org/presentationml/2006/ole">
            <mc:AlternateContent xmlns:mc="http://schemas.openxmlformats.org/markup-compatibility/2006">
              <mc:Choice xmlns:v="urn:schemas-microsoft-com:vml" Requires="v">
                <p:oleObj spid="_x0000_s15513" name="" r:id="rId5" imgW="9058275" imgH="4181475" progId="AutoCAD.Drawing.16">
                  <p:embed/>
                </p:oleObj>
              </mc:Choice>
              <mc:Fallback>
                <p:oleObj name="" r:id="rId5" imgW="9058275" imgH="4181475" progId="AutoCAD.Drawing.16">
                  <p:embed/>
                  <p:pic>
                    <p:nvPicPr>
                      <p:cNvPr id="0" name="图片 3101"/>
                      <p:cNvPicPr/>
                      <p:nvPr/>
                    </p:nvPicPr>
                    <p:blipFill>
                      <a:blip r:embed="rId6"/>
                      <a:stretch>
                        <a:fillRect/>
                      </a:stretch>
                    </p:blipFill>
                    <p:spPr>
                      <a:xfrm>
                        <a:off x="42863" y="1338263"/>
                        <a:ext cx="9058275" cy="4181475"/>
                      </a:xfrm>
                      <a:prstGeom prst="rect">
                        <a:avLst/>
                      </a:prstGeom>
                      <a:noFill/>
                      <a:ln w="38100">
                        <a:noFill/>
                        <a:miter/>
                      </a:ln>
                    </p:spPr>
                  </p:pic>
                </p:oleObj>
              </mc:Fallback>
            </mc:AlternateContent>
          </a:graphicData>
        </a:graphic>
      </p:graphicFrame>
      <p:graphicFrame>
        <p:nvGraphicFramePr>
          <p:cNvPr id="53258" name="对象 53257"/>
          <p:cNvGraphicFramePr/>
          <p:nvPr/>
        </p:nvGraphicFramePr>
        <p:xfrm>
          <a:off x="683895" y="1774190"/>
          <a:ext cx="8176260" cy="3326765"/>
        </p:xfrm>
        <a:graphic>
          <a:graphicData uri="http://schemas.openxmlformats.org/presentationml/2006/ole">
            <mc:AlternateContent xmlns:mc="http://schemas.openxmlformats.org/markup-compatibility/2006">
              <mc:Choice xmlns:v="urn:schemas-microsoft-com:vml" Requires="v">
                <p:oleObj spid="_x0000_s15514" name="" r:id="rId7" imgW="9058275" imgH="4181475" progId="AutoCAD.Drawing.16">
                  <p:embed/>
                </p:oleObj>
              </mc:Choice>
              <mc:Fallback>
                <p:oleObj name="" r:id="rId7" imgW="9058275" imgH="4181475" progId="AutoCAD.Drawing.16">
                  <p:embed/>
                  <p:pic>
                    <p:nvPicPr>
                      <p:cNvPr id="0" name="图片 3102"/>
                      <p:cNvPicPr/>
                      <p:nvPr/>
                    </p:nvPicPr>
                    <p:blipFill>
                      <a:blip r:embed="rId8"/>
                      <a:stretch>
                        <a:fillRect/>
                      </a:stretch>
                    </p:blipFill>
                    <p:spPr>
                      <a:xfrm>
                        <a:off x="683895" y="1774190"/>
                        <a:ext cx="8176260" cy="3326765"/>
                      </a:xfrm>
                      <a:prstGeom prst="rect">
                        <a:avLst/>
                      </a:prstGeom>
                      <a:noFill/>
                      <a:ln w="38100">
                        <a:noFill/>
                        <a:miter/>
                      </a:ln>
                    </p:spPr>
                  </p:pic>
                </p:oleObj>
              </mc:Fallback>
            </mc:AlternateContent>
          </a:graphicData>
        </a:graphic>
      </p:graphicFrame>
      <p:sp>
        <p:nvSpPr>
          <p:cNvPr id="53259" name="文本框 53258"/>
          <p:cNvSpPr txBox="1"/>
          <p:nvPr/>
        </p:nvSpPr>
        <p:spPr>
          <a:xfrm>
            <a:off x="215707" y="369228"/>
            <a:ext cx="3276600" cy="368300"/>
          </a:xfrm>
          <a:prstGeom prst="rect">
            <a:avLst/>
          </a:prstGeom>
          <a:noFill/>
          <a:ln w="9525">
            <a:noFill/>
          </a:ln>
        </p:spPr>
        <p:txBody>
          <a:bodyPr>
            <a:spAutoFit/>
          </a:bodyPr>
          <a:lstStyle/>
          <a:p>
            <a:pPr algn="l">
              <a:spcBef>
                <a:spcPct val="50000"/>
              </a:spcBef>
            </a:pPr>
            <a:r>
              <a:rPr lang="en-US" altLang="zh-CN" sz="1800" b="1" dirty="0">
                <a:latin typeface="楷体_GB2312" pitchFamily="49" charset="-122"/>
                <a:ea typeface="楷体_GB2312" pitchFamily="49" charset="-122"/>
              </a:rPr>
              <a:t>1</a:t>
            </a:r>
            <a:r>
              <a:rPr lang="zh-CN" altLang="en-US" sz="1800" b="1" dirty="0">
                <a:latin typeface="楷体_GB2312" pitchFamily="49" charset="-122"/>
                <a:ea typeface="楷体_GB2312" pitchFamily="49" charset="-122"/>
              </a:rPr>
              <a:t>）先画高速级齿轮</a:t>
            </a:r>
            <a:endParaRPr lang="zh-CN" altLang="en-US" sz="1800" b="1">
              <a:latin typeface="楷体_GB2312" pitchFamily="49" charset="-122"/>
              <a:ea typeface="楷体_GB2312" pitchFamily="49" charset="-122"/>
            </a:endParaRPr>
          </a:p>
        </p:txBody>
      </p:sp>
      <p:sp>
        <p:nvSpPr>
          <p:cNvPr id="53260" name="文本框 53259"/>
          <p:cNvSpPr txBox="1"/>
          <p:nvPr/>
        </p:nvSpPr>
        <p:spPr>
          <a:xfrm>
            <a:off x="2555875" y="369570"/>
            <a:ext cx="6477000" cy="368300"/>
          </a:xfrm>
          <a:prstGeom prst="rect">
            <a:avLst/>
          </a:prstGeom>
          <a:noFill/>
          <a:ln w="9525">
            <a:noFill/>
          </a:ln>
        </p:spPr>
        <p:txBody>
          <a:bodyPr wrap="square">
            <a:spAutoFit/>
          </a:bodyPr>
          <a:lstStyle/>
          <a:p>
            <a:pPr algn="l">
              <a:spcBef>
                <a:spcPct val="50000"/>
              </a:spcBef>
            </a:pPr>
            <a:r>
              <a:rPr lang="en-US" altLang="zh-CN" sz="1800" b="1" dirty="0">
                <a:latin typeface="楷体_GB2312" pitchFamily="49" charset="-122"/>
                <a:ea typeface="楷体_GB2312" pitchFamily="49" charset="-122"/>
              </a:rPr>
              <a:t>2</a:t>
            </a:r>
            <a:r>
              <a:rPr lang="zh-CN" altLang="en-US" sz="1800" b="1" dirty="0">
                <a:latin typeface="楷体_GB2312" pitchFamily="49" charset="-122"/>
                <a:ea typeface="楷体_GB2312" pitchFamily="49" charset="-122"/>
              </a:rPr>
              <a:t>）高速级大齿轮与低速级小齿轮端面相距</a:t>
            </a:r>
            <a:r>
              <a:rPr lang="en-US" altLang="zh-CN" sz="1800" b="1" dirty="0">
                <a:latin typeface="楷体_GB2312" pitchFamily="49" charset="-122"/>
                <a:ea typeface="楷体_GB2312" pitchFamily="49" charset="-122"/>
              </a:rPr>
              <a:t> </a:t>
            </a:r>
            <a:r>
              <a:rPr lang="en-US" altLang="zh-CN" sz="1800" b="1" dirty="0">
                <a:solidFill>
                  <a:srgbClr val="FF0000"/>
                </a:solidFill>
                <a:latin typeface="楷体_GB2312" pitchFamily="49" charset="-122"/>
                <a:ea typeface="楷体_GB2312" pitchFamily="49" charset="-122"/>
                <a:sym typeface="Symbol" panose="05050102010706020507" pitchFamily="18" charset="2"/>
              </a:rPr>
              <a:t>C</a:t>
            </a:r>
            <a:r>
              <a:rPr lang="zh-CN" altLang="en-US" sz="1800" b="1" dirty="0">
                <a:solidFill>
                  <a:srgbClr val="FF0000"/>
                </a:solidFill>
                <a:latin typeface="楷体_GB2312" pitchFamily="49" charset="-122"/>
                <a:ea typeface="楷体_GB2312" pitchFamily="49" charset="-122"/>
                <a:sym typeface="Symbol" panose="05050102010706020507" pitchFamily="18" charset="2"/>
              </a:rPr>
              <a:t>，</a:t>
            </a:r>
            <a:r>
              <a:rPr lang="en-US" altLang="zh-CN" sz="1800" b="1" dirty="0">
                <a:solidFill>
                  <a:srgbClr val="FF0000"/>
                </a:solidFill>
                <a:latin typeface="楷体_GB2312" pitchFamily="49" charset="-122"/>
                <a:ea typeface="楷体_GB2312" pitchFamily="49" charset="-122"/>
                <a:sym typeface="Symbol" panose="05050102010706020507" pitchFamily="18" charset="2"/>
              </a:rPr>
              <a:t> </a:t>
            </a:r>
            <a:r>
              <a:rPr lang="zh-CN" altLang="en-US" sz="1800" b="1" dirty="0">
                <a:latin typeface="楷体_GB2312" pitchFamily="49" charset="-122"/>
                <a:ea typeface="楷体_GB2312" pitchFamily="49" charset="-122"/>
              </a:rPr>
              <a:t>画低速级齿轮</a:t>
            </a:r>
            <a:endParaRPr lang="zh-CN" altLang="en-US" sz="1800" b="1">
              <a:latin typeface="楷体_GB2312" pitchFamily="49" charset="-122"/>
              <a:ea typeface="楷体_GB2312" pitchFamily="49" charset="-122"/>
            </a:endParaRPr>
          </a:p>
        </p:txBody>
      </p:sp>
      <p:sp>
        <p:nvSpPr>
          <p:cNvPr id="53261" name="文本框 53260"/>
          <p:cNvSpPr txBox="1"/>
          <p:nvPr/>
        </p:nvSpPr>
        <p:spPr>
          <a:xfrm>
            <a:off x="288290" y="693420"/>
            <a:ext cx="8686800" cy="645160"/>
          </a:xfrm>
          <a:prstGeom prst="rect">
            <a:avLst/>
          </a:prstGeom>
          <a:noFill/>
          <a:ln w="9525">
            <a:noFill/>
          </a:ln>
        </p:spPr>
        <p:txBody>
          <a:bodyPr>
            <a:spAutoFit/>
          </a:bodyPr>
          <a:lstStyle/>
          <a:p>
            <a:pPr algn="l">
              <a:spcBef>
                <a:spcPct val="50000"/>
              </a:spcBef>
            </a:pPr>
            <a:r>
              <a:rPr lang="en-US" altLang="zh-CN" sz="1800" b="1" dirty="0">
                <a:latin typeface="楷体_GB2312" pitchFamily="49" charset="-122"/>
                <a:ea typeface="楷体_GB2312" pitchFamily="49" charset="-122"/>
              </a:rPr>
              <a:t>3</a:t>
            </a:r>
            <a:r>
              <a:rPr lang="zh-CN" altLang="en-US" sz="1800" b="1" dirty="0">
                <a:latin typeface="楷体_GB2312" pitchFamily="49" charset="-122"/>
                <a:ea typeface="楷体_GB2312" pitchFamily="49" charset="-122"/>
              </a:rPr>
              <a:t>）画箱体内壁：小齿轮端面与内壁相距</a:t>
            </a:r>
            <a:r>
              <a:rPr lang="en-US" altLang="zh-CN" sz="1800" b="1" dirty="0">
                <a:solidFill>
                  <a:srgbClr val="FF0000"/>
                </a:solidFill>
                <a:latin typeface="楷体_GB2312" pitchFamily="49" charset="-122"/>
                <a:ea typeface="楷体_GB2312" pitchFamily="49" charset="-122"/>
                <a:sym typeface="Symbol" panose="05050102010706020507" pitchFamily="18" charset="2"/>
              </a:rPr>
              <a:t></a:t>
            </a:r>
            <a:r>
              <a:rPr lang="en-US" altLang="zh-CN" sz="1800" b="1" baseline="-25000">
                <a:solidFill>
                  <a:srgbClr val="FF0000"/>
                </a:solidFill>
                <a:latin typeface="楷体_GB2312" pitchFamily="49" charset="-122"/>
                <a:ea typeface="楷体_GB2312" pitchFamily="49" charset="-122"/>
                <a:sym typeface="Symbol" panose="05050102010706020507" pitchFamily="18" charset="2"/>
              </a:rPr>
              <a:t>2</a:t>
            </a:r>
            <a:r>
              <a:rPr lang="en-US" altLang="zh-CN" sz="1800" b="1" dirty="0">
                <a:latin typeface="楷体_GB2312" pitchFamily="49" charset="-122"/>
                <a:ea typeface="楷体_GB2312" pitchFamily="49" charset="-122"/>
              </a:rPr>
              <a:t> </a:t>
            </a:r>
            <a:r>
              <a:rPr lang="zh-CN" altLang="en-US" sz="1800" b="1" dirty="0">
                <a:latin typeface="楷体_GB2312" pitchFamily="49" charset="-122"/>
                <a:ea typeface="楷体_GB2312" pitchFamily="49" charset="-122"/>
              </a:rPr>
              <a:t>，</a:t>
            </a:r>
            <a:r>
              <a:rPr lang="zh-CN" altLang="en-US" sz="1800" b="1" dirty="0">
                <a:latin typeface="楷体_GB2312" pitchFamily="49" charset="-122"/>
                <a:ea typeface="楷体_GB2312" pitchFamily="49" charset="-122"/>
              </a:rPr>
              <a:t>低速级大齿轮顶圆与内壁相距</a:t>
            </a:r>
            <a:r>
              <a:rPr lang="en-US" altLang="zh-CN" sz="1800" b="1" dirty="0">
                <a:solidFill>
                  <a:srgbClr val="FF0000"/>
                </a:solidFill>
                <a:latin typeface="楷体_GB2312" pitchFamily="49" charset="-122"/>
                <a:ea typeface="楷体_GB2312" pitchFamily="49" charset="-122"/>
                <a:sym typeface="Symbol" panose="05050102010706020507" pitchFamily="18" charset="2"/>
              </a:rPr>
              <a:t></a:t>
            </a:r>
            <a:r>
              <a:rPr lang="en-US" altLang="zh-CN" sz="1800" b="1" baseline="-25000">
                <a:solidFill>
                  <a:srgbClr val="FF0000"/>
                </a:solidFill>
                <a:latin typeface="楷体_GB2312" pitchFamily="49" charset="-122"/>
                <a:ea typeface="楷体_GB2312" pitchFamily="49" charset="-122"/>
                <a:sym typeface="Symbol" panose="05050102010706020507" pitchFamily="18" charset="2"/>
              </a:rPr>
              <a:t>1</a:t>
            </a:r>
            <a:r>
              <a:rPr lang="zh-CN" altLang="en-US" sz="1800" b="1" dirty="0">
                <a:latin typeface="楷体_GB2312" pitchFamily="49" charset="-122"/>
                <a:ea typeface="楷体_GB2312" pitchFamily="49" charset="-122"/>
                <a:sym typeface="Symbol" panose="05050102010706020507" pitchFamily="18" charset="2"/>
              </a:rPr>
              <a:t>，</a:t>
            </a:r>
            <a:r>
              <a:rPr lang="zh-CN" altLang="en-US" sz="1800" b="1" dirty="0">
                <a:latin typeface="楷体_GB2312" pitchFamily="49" charset="-122"/>
                <a:ea typeface="楷体_GB2312" pitchFamily="49" charset="-122"/>
              </a:rPr>
              <a:t>左侧暂不画</a:t>
            </a:r>
            <a:endParaRPr lang="zh-CN" altLang="en-US" sz="1800" b="1">
              <a:latin typeface="楷体_GB2312" pitchFamily="49" charset="-122"/>
              <a:ea typeface="楷体_GB2312" pitchFamily="49" charset="-122"/>
            </a:endParaRPr>
          </a:p>
        </p:txBody>
      </p:sp>
      <p:sp>
        <p:nvSpPr>
          <p:cNvPr id="53262" name="文本框 53261"/>
          <p:cNvSpPr txBox="1"/>
          <p:nvPr/>
        </p:nvSpPr>
        <p:spPr>
          <a:xfrm>
            <a:off x="215900" y="5193030"/>
            <a:ext cx="8686800" cy="645160"/>
          </a:xfrm>
          <a:prstGeom prst="rect">
            <a:avLst/>
          </a:prstGeom>
          <a:noFill/>
          <a:ln w="9525">
            <a:noFill/>
          </a:ln>
        </p:spPr>
        <p:txBody>
          <a:bodyPr>
            <a:spAutoFit/>
          </a:bodyPr>
          <a:lstStyle/>
          <a:p>
            <a:pPr algn="l">
              <a:spcBef>
                <a:spcPts val="0"/>
              </a:spcBef>
            </a:pPr>
            <a:r>
              <a:rPr lang="en-US" altLang="zh-CN" sz="1800" b="1" dirty="0">
                <a:latin typeface="楷体_GB2312" pitchFamily="49" charset="-122"/>
                <a:ea typeface="楷体_GB2312" pitchFamily="49" charset="-122"/>
              </a:rPr>
              <a:t>5</a:t>
            </a:r>
            <a:r>
              <a:rPr lang="zh-CN" altLang="en-US" sz="1800" b="1" dirty="0">
                <a:latin typeface="楷体_GB2312" pitchFamily="49" charset="-122"/>
                <a:ea typeface="楷体_GB2312" pitchFamily="49" charset="-122"/>
              </a:rPr>
              <a:t>）</a:t>
            </a:r>
            <a:r>
              <a:rPr lang="zh-CN" altLang="en-US" sz="1800" b="1" dirty="0">
                <a:latin typeface="楷体_GB2312" pitchFamily="49" charset="-122"/>
                <a:ea typeface="楷体_GB2312" pitchFamily="49" charset="-122"/>
              </a:rPr>
              <a:t>画轴承端面位置：若为脂润滑，轴承端面与箱体内壁的距离为</a:t>
            </a:r>
            <a:r>
              <a:rPr lang="en-US" altLang="zh-CN" sz="1800" b="1">
                <a:latin typeface="楷体_GB2312" pitchFamily="49" charset="-122"/>
                <a:ea typeface="楷体_GB2312" pitchFamily="49" charset="-122"/>
              </a:rPr>
              <a:t>8</a:t>
            </a:r>
            <a:r>
              <a:rPr lang="en-US" altLang="zh-CN" sz="1800" b="1">
                <a:latin typeface="Times New Roman" panose="02020603050405020304" pitchFamily="18" charset="0"/>
                <a:ea typeface="楷体_GB2312" pitchFamily="49" charset="-122"/>
              </a:rPr>
              <a:t>~</a:t>
            </a:r>
            <a:r>
              <a:rPr lang="en-US" altLang="zh-CN" sz="1800" b="1">
                <a:latin typeface="楷体_GB2312" pitchFamily="49" charset="-122"/>
                <a:ea typeface="楷体_GB2312" pitchFamily="49" charset="-122"/>
              </a:rPr>
              <a:t>12mm</a:t>
            </a:r>
            <a:r>
              <a:rPr lang="zh-CN" altLang="en-US" sz="1800" b="1">
                <a:latin typeface="楷体_GB2312" pitchFamily="49" charset="-122"/>
                <a:ea typeface="楷体_GB2312" pitchFamily="49" charset="-122"/>
              </a:rPr>
              <a:t>，</a:t>
            </a:r>
            <a:endParaRPr lang="zh-CN" altLang="en-US" sz="1800" b="1">
              <a:latin typeface="楷体_GB2312" pitchFamily="49" charset="-122"/>
              <a:ea typeface="楷体_GB2312" pitchFamily="49" charset="-122"/>
            </a:endParaRPr>
          </a:p>
          <a:p>
            <a:pPr algn="l">
              <a:spcBef>
                <a:spcPts val="0"/>
              </a:spcBef>
            </a:pPr>
            <a:r>
              <a:rPr lang="en-US" altLang="zh-CN" sz="1800" b="1">
                <a:latin typeface="楷体_GB2312" pitchFamily="49" charset="-122"/>
                <a:ea typeface="楷体_GB2312" pitchFamily="49" charset="-122"/>
              </a:rPr>
              <a:t>                  </a:t>
            </a:r>
            <a:r>
              <a:rPr lang="zh-CN" altLang="en-US" sz="1800" b="1">
                <a:latin typeface="楷体_GB2312" pitchFamily="49" charset="-122"/>
                <a:ea typeface="楷体_GB2312" pitchFamily="49" charset="-122"/>
              </a:rPr>
              <a:t>若为油润滑，</a:t>
            </a:r>
            <a:r>
              <a:rPr lang="zh-CN" altLang="en-US" sz="1800" b="1" dirty="0">
                <a:latin typeface="楷体_GB2312" pitchFamily="49" charset="-122"/>
                <a:ea typeface="楷体_GB2312" pitchFamily="49" charset="-122"/>
                <a:sym typeface="+mn-ea"/>
              </a:rPr>
              <a:t>轴承端面与箱体内壁的距离为</a:t>
            </a:r>
            <a:r>
              <a:rPr lang="en-US" altLang="zh-CN" sz="1800" b="1">
                <a:latin typeface="楷体_GB2312" pitchFamily="49" charset="-122"/>
                <a:ea typeface="楷体_GB2312" pitchFamily="49" charset="-122"/>
                <a:sym typeface="+mn-ea"/>
              </a:rPr>
              <a:t>3</a:t>
            </a:r>
            <a:r>
              <a:rPr lang="en-US" altLang="zh-CN" sz="1800" b="1">
                <a:ea typeface="楷体_GB2312" pitchFamily="49" charset="-122"/>
                <a:sym typeface="+mn-ea"/>
              </a:rPr>
              <a:t>~</a:t>
            </a:r>
            <a:r>
              <a:rPr lang="en-US" altLang="zh-CN" sz="1800" b="1">
                <a:latin typeface="楷体_GB2312" pitchFamily="49" charset="-122"/>
                <a:ea typeface="楷体_GB2312" pitchFamily="49" charset="-122"/>
                <a:sym typeface="+mn-ea"/>
              </a:rPr>
              <a:t>5</a:t>
            </a:r>
            <a:r>
              <a:rPr lang="en-US" altLang="zh-CN" sz="1800" b="1">
                <a:latin typeface="楷体_GB2312" pitchFamily="49" charset="-122"/>
                <a:ea typeface="楷体_GB2312" pitchFamily="49" charset="-122"/>
                <a:sym typeface="+mn-ea"/>
              </a:rPr>
              <a:t>mm</a:t>
            </a:r>
            <a:endParaRPr lang="zh-CN" altLang="en-US" sz="1800" b="1">
              <a:latin typeface="楷体_GB2312" pitchFamily="49" charset="-122"/>
              <a:ea typeface="楷体_GB2312" pitchFamily="49" charset="-122"/>
            </a:endParaRPr>
          </a:p>
        </p:txBody>
      </p:sp>
      <p:sp>
        <p:nvSpPr>
          <p:cNvPr id="53263" name="文本框 53262"/>
          <p:cNvSpPr txBox="1"/>
          <p:nvPr/>
        </p:nvSpPr>
        <p:spPr>
          <a:xfrm>
            <a:off x="252284" y="6056940"/>
            <a:ext cx="8686800" cy="645160"/>
          </a:xfrm>
          <a:prstGeom prst="rect">
            <a:avLst/>
          </a:prstGeom>
          <a:noFill/>
          <a:ln w="9525">
            <a:noFill/>
          </a:ln>
        </p:spPr>
        <p:txBody>
          <a:bodyPr>
            <a:spAutoFit/>
          </a:bodyPr>
          <a:lstStyle/>
          <a:p>
            <a:pPr algn="l">
              <a:spcBef>
                <a:spcPct val="50000"/>
              </a:spcBef>
            </a:pPr>
            <a:r>
              <a:rPr lang="en-US" altLang="zh-CN" sz="1800" b="1" dirty="0">
                <a:latin typeface="楷体_GB2312" pitchFamily="49" charset="-122"/>
                <a:ea typeface="楷体_GB2312" pitchFamily="49" charset="-122"/>
              </a:rPr>
              <a:t>6</a:t>
            </a:r>
            <a:r>
              <a:rPr lang="zh-CN" altLang="en-US" sz="1800" b="1" dirty="0">
                <a:latin typeface="楷体_GB2312" pitchFamily="49" charset="-122"/>
                <a:ea typeface="楷体_GB2312" pitchFamily="49" charset="-122"/>
              </a:rPr>
              <a:t>）明确轴上主要零件的布置及定位方法，依据初估轴径，考虑定位轴肩和非定位轴肩逐一确定各轴段直径</a:t>
            </a:r>
            <a:endParaRPr lang="zh-CN" altLang="en-US" sz="1800" b="1" dirty="0">
              <a:latin typeface="楷体_GB2312" pitchFamily="49" charset="-122"/>
              <a:ea typeface="楷体_GB2312" pitchFamily="49" charset="-122"/>
            </a:endParaRPr>
          </a:p>
        </p:txBody>
      </p:sp>
      <p:sp>
        <p:nvSpPr>
          <p:cNvPr id="53266" name="文本框 53265"/>
          <p:cNvSpPr txBox="1"/>
          <p:nvPr/>
        </p:nvSpPr>
        <p:spPr>
          <a:xfrm>
            <a:off x="72380" y="-208"/>
            <a:ext cx="2228850" cy="398780"/>
          </a:xfrm>
          <a:prstGeom prst="rect">
            <a:avLst/>
          </a:prstGeom>
          <a:noFill/>
          <a:ln w="9525">
            <a:noFill/>
          </a:ln>
        </p:spPr>
        <p:txBody>
          <a:bodyPr>
            <a:spAutoFit/>
          </a:bodyPr>
          <a:lstStyle/>
          <a:p>
            <a:pPr>
              <a:spcBef>
                <a:spcPct val="50000"/>
              </a:spcBef>
            </a:pPr>
            <a:r>
              <a:rPr lang="zh-CN" altLang="en-US" sz="2000" b="1" dirty="0" smtClean="0">
                <a:solidFill>
                  <a:srgbClr val="FF3300"/>
                </a:solidFill>
                <a:latin typeface="Times New Roman" panose="02020603050405020304" pitchFamily="18" charset="0"/>
                <a:ea typeface="华文新魏" panose="02010800040101010101" pitchFamily="2" charset="-122"/>
              </a:rPr>
              <a:t>俯视图画图</a:t>
            </a:r>
            <a:r>
              <a:rPr lang="zh-CN" altLang="en-US" sz="2000" b="1" dirty="0">
                <a:solidFill>
                  <a:srgbClr val="FF3300"/>
                </a:solidFill>
                <a:latin typeface="Times New Roman" panose="02020603050405020304" pitchFamily="18" charset="0"/>
                <a:ea typeface="华文新魏" panose="02010800040101010101" pitchFamily="2" charset="-122"/>
              </a:rPr>
              <a:t>过程</a:t>
            </a:r>
            <a:endParaRPr lang="zh-CN" altLang="en-US" sz="2000" b="1" dirty="0">
              <a:solidFill>
                <a:srgbClr val="FF3300"/>
              </a:solidFill>
              <a:latin typeface="Times New Roman" panose="02020603050405020304" pitchFamily="18" charset="0"/>
              <a:ea typeface="华文新魏" panose="02010800040101010101" pitchFamily="2" charset="-122"/>
            </a:endParaRPr>
          </a:p>
        </p:txBody>
      </p:sp>
      <p:grpSp>
        <p:nvGrpSpPr>
          <p:cNvPr id="53273" name="组合 53272"/>
          <p:cNvGrpSpPr/>
          <p:nvPr/>
        </p:nvGrpSpPr>
        <p:grpSpPr>
          <a:xfrm>
            <a:off x="8115300" y="6515100"/>
            <a:ext cx="1028700" cy="342900"/>
            <a:chOff x="5112" y="4104"/>
            <a:chExt cx="648" cy="216"/>
          </a:xfrm>
        </p:grpSpPr>
        <p:pic>
          <p:nvPicPr>
            <p:cNvPr id="53274" name="图片 53273" descr="返回">
              <a:hlinkClick r:id="rId9" action="ppaction://hlinksldjump"/>
            </p:cNvPr>
            <p:cNvPicPr>
              <a:picLocks noChangeAspect="1"/>
            </p:cNvPicPr>
            <p:nvPr/>
          </p:nvPicPr>
          <p:blipFill>
            <a:blip r:embed="rId10"/>
            <a:stretch>
              <a:fillRect/>
            </a:stretch>
          </p:blipFill>
          <p:spPr>
            <a:xfrm>
              <a:off x="5112" y="4104"/>
              <a:ext cx="216" cy="216"/>
            </a:xfrm>
            <a:prstGeom prst="rect">
              <a:avLst/>
            </a:prstGeom>
            <a:noFill/>
            <a:ln w="9525">
              <a:noFill/>
            </a:ln>
          </p:spPr>
        </p:pic>
        <p:grpSp>
          <p:nvGrpSpPr>
            <p:cNvPr id="53275" name="组合 53274"/>
            <p:cNvGrpSpPr/>
            <p:nvPr/>
          </p:nvGrpSpPr>
          <p:grpSpPr>
            <a:xfrm>
              <a:off x="5352" y="4104"/>
              <a:ext cx="408" cy="216"/>
              <a:chOff x="5232" y="4100"/>
              <a:chExt cx="408" cy="216"/>
            </a:xfrm>
          </p:grpSpPr>
          <p:pic>
            <p:nvPicPr>
              <p:cNvPr id="53276" name="图片 53275" descr="下一步">
                <a:hlinkClick r:id="" action="ppaction://hlinkshowjump?jump=nextslide"/>
              </p:cNvPr>
              <p:cNvPicPr>
                <a:picLocks noChangeAspect="1"/>
              </p:cNvPicPr>
              <p:nvPr/>
            </p:nvPicPr>
            <p:blipFill>
              <a:blip r:embed="rId11"/>
              <a:stretch>
                <a:fillRect/>
              </a:stretch>
            </p:blipFill>
            <p:spPr>
              <a:xfrm>
                <a:off x="5424" y="4100"/>
                <a:ext cx="216" cy="216"/>
              </a:xfrm>
              <a:prstGeom prst="rect">
                <a:avLst/>
              </a:prstGeom>
              <a:noFill/>
              <a:ln w="9525">
                <a:noFill/>
              </a:ln>
            </p:spPr>
          </p:pic>
          <p:pic>
            <p:nvPicPr>
              <p:cNvPr id="53277" name="图片 53276" descr="上一步">
                <a:hlinkClick r:id="" action="ppaction://hlinkshowjump?jump=previousslide"/>
              </p:cNvPr>
              <p:cNvPicPr>
                <a:picLocks noChangeAspect="1"/>
              </p:cNvPicPr>
              <p:nvPr/>
            </p:nvPicPr>
            <p:blipFill>
              <a:blip r:embed="rId12"/>
              <a:stretch>
                <a:fillRect/>
              </a:stretch>
            </p:blipFill>
            <p:spPr>
              <a:xfrm>
                <a:off x="5232" y="4100"/>
                <a:ext cx="216" cy="216"/>
              </a:xfrm>
              <a:prstGeom prst="rect">
                <a:avLst/>
              </a:prstGeom>
              <a:noFill/>
              <a:ln w="9525">
                <a:noFill/>
              </a:ln>
            </p:spPr>
          </p:pic>
        </p:grpSp>
      </p:grpSp>
      <p:sp>
        <p:nvSpPr>
          <p:cNvPr id="8" name="文本框 7"/>
          <p:cNvSpPr txBox="1"/>
          <p:nvPr/>
        </p:nvSpPr>
        <p:spPr>
          <a:xfrm>
            <a:off x="215900" y="1269365"/>
            <a:ext cx="8686800" cy="368300"/>
          </a:xfrm>
          <a:prstGeom prst="rect">
            <a:avLst/>
          </a:prstGeom>
          <a:noFill/>
          <a:ln w="9525">
            <a:noFill/>
          </a:ln>
        </p:spPr>
        <p:txBody>
          <a:bodyPr>
            <a:spAutoFit/>
          </a:bodyPr>
          <a:p>
            <a:pPr algn="l">
              <a:spcBef>
                <a:spcPct val="50000"/>
              </a:spcBef>
            </a:pPr>
            <a:r>
              <a:rPr lang="en-US" altLang="zh-CN" sz="1800" b="1" dirty="0">
                <a:latin typeface="楷体_GB2312" pitchFamily="49" charset="-122"/>
                <a:ea typeface="楷体_GB2312" pitchFamily="49" charset="-122"/>
              </a:rPr>
              <a:t>4</a:t>
            </a:r>
            <a:r>
              <a:rPr lang="zh-CN" altLang="en-US" sz="1800" b="1" dirty="0">
                <a:latin typeface="楷体_GB2312" pitchFamily="49" charset="-122"/>
                <a:ea typeface="楷体_GB2312" pitchFamily="49" charset="-122"/>
              </a:rPr>
              <a:t>）</a:t>
            </a:r>
            <a:r>
              <a:rPr lang="zh-CN" sz="1800" b="1" dirty="0">
                <a:latin typeface="楷体_GB2312" pitchFamily="49" charset="-122"/>
                <a:ea typeface="楷体_GB2312" pitchFamily="49" charset="-122"/>
              </a:rPr>
              <a:t>防止高速级大齿轮与低速级的输出轴相碰。</a:t>
            </a:r>
            <a:endParaRPr lang="zh-CN" sz="1800" b="1">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259"/>
                                        </p:tgtEl>
                                        <p:attrNameLst>
                                          <p:attrName>style.visibility</p:attrName>
                                        </p:attrNameLst>
                                      </p:cBhvr>
                                      <p:to>
                                        <p:strVal val="visible"/>
                                      </p:to>
                                    </p:set>
                                    <p:anim calcmode="lin" valueType="num">
                                      <p:cBhvr additive="base">
                                        <p:cTn id="7" dur="500" fill="hold"/>
                                        <p:tgtEl>
                                          <p:spTgt spid="53259"/>
                                        </p:tgtEl>
                                        <p:attrNameLst>
                                          <p:attrName>ppt_x</p:attrName>
                                        </p:attrNameLst>
                                      </p:cBhvr>
                                      <p:tavLst>
                                        <p:tav tm="0">
                                          <p:val>
                                            <p:strVal val="0-#ppt_w/2"/>
                                          </p:val>
                                        </p:tav>
                                        <p:tav tm="100000">
                                          <p:val>
                                            <p:strVal val="#ppt_x"/>
                                          </p:val>
                                        </p:tav>
                                      </p:tavLst>
                                    </p:anim>
                                    <p:anim calcmode="lin" valueType="num">
                                      <p:cBhvr additive="base">
                                        <p:cTn id="8" dur="500" fill="hold"/>
                                        <p:tgtEl>
                                          <p:spTgt spid="532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3254"/>
                                        </p:tgtEl>
                                        <p:attrNameLst>
                                          <p:attrName>style.visibility</p:attrName>
                                        </p:attrNameLst>
                                      </p:cBhvr>
                                      <p:to>
                                        <p:strVal val="visible"/>
                                      </p:to>
                                    </p:set>
                                    <p:anim calcmode="lin" valueType="num">
                                      <p:cBhvr additive="base">
                                        <p:cTn id="13" dur="500" fill="hold"/>
                                        <p:tgtEl>
                                          <p:spTgt spid="53254"/>
                                        </p:tgtEl>
                                        <p:attrNameLst>
                                          <p:attrName>ppt_x</p:attrName>
                                        </p:attrNameLst>
                                      </p:cBhvr>
                                      <p:tavLst>
                                        <p:tav tm="0">
                                          <p:val>
                                            <p:strVal val="0-#ppt_w/2"/>
                                          </p:val>
                                        </p:tav>
                                        <p:tav tm="100000">
                                          <p:val>
                                            <p:strVal val="#ppt_x"/>
                                          </p:val>
                                        </p:tav>
                                      </p:tavLst>
                                    </p:anim>
                                    <p:anim calcmode="lin" valueType="num">
                                      <p:cBhvr additive="base">
                                        <p:cTn id="14" dur="500" fill="hold"/>
                                        <p:tgtEl>
                                          <p:spTgt spid="5325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3260"/>
                                        </p:tgtEl>
                                        <p:attrNameLst>
                                          <p:attrName>style.visibility</p:attrName>
                                        </p:attrNameLst>
                                      </p:cBhvr>
                                      <p:to>
                                        <p:strVal val="visible"/>
                                      </p:to>
                                    </p:set>
                                    <p:anim calcmode="lin" valueType="num">
                                      <p:cBhvr additive="base">
                                        <p:cTn id="19" dur="500" fill="hold"/>
                                        <p:tgtEl>
                                          <p:spTgt spid="53260"/>
                                        </p:tgtEl>
                                        <p:attrNameLst>
                                          <p:attrName>ppt_x</p:attrName>
                                        </p:attrNameLst>
                                      </p:cBhvr>
                                      <p:tavLst>
                                        <p:tav tm="0">
                                          <p:val>
                                            <p:strVal val="0-#ppt_w/2"/>
                                          </p:val>
                                        </p:tav>
                                        <p:tav tm="100000">
                                          <p:val>
                                            <p:strVal val="#ppt_x"/>
                                          </p:val>
                                        </p:tav>
                                      </p:tavLst>
                                    </p:anim>
                                    <p:anim calcmode="lin" valueType="num">
                                      <p:cBhvr additive="base">
                                        <p:cTn id="20" dur="500" fill="hold"/>
                                        <p:tgtEl>
                                          <p:spTgt spid="5326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3" fill="hold" nodeType="clickEffect">
                                  <p:stCondLst>
                                    <p:cond delay="0"/>
                                  </p:stCondLst>
                                  <p:childTnLst>
                                    <p:set>
                                      <p:cBhvr>
                                        <p:cTn id="24" dur="1" fill="hold">
                                          <p:stCondLst>
                                            <p:cond delay="0"/>
                                          </p:stCondLst>
                                        </p:cTn>
                                        <p:tgtEl>
                                          <p:spTgt spid="53256"/>
                                        </p:tgtEl>
                                        <p:attrNameLst>
                                          <p:attrName>style.visibility</p:attrName>
                                        </p:attrNameLst>
                                      </p:cBhvr>
                                      <p:to>
                                        <p:strVal val="visible"/>
                                      </p:to>
                                    </p:set>
                                    <p:anim calcmode="lin" valueType="num">
                                      <p:cBhvr additive="base">
                                        <p:cTn id="25" dur="500" fill="hold"/>
                                        <p:tgtEl>
                                          <p:spTgt spid="53256"/>
                                        </p:tgtEl>
                                        <p:attrNameLst>
                                          <p:attrName>ppt_x</p:attrName>
                                        </p:attrNameLst>
                                      </p:cBhvr>
                                      <p:tavLst>
                                        <p:tav tm="0">
                                          <p:val>
                                            <p:strVal val="1+#ppt_w/2"/>
                                          </p:val>
                                        </p:tav>
                                        <p:tav tm="100000">
                                          <p:val>
                                            <p:strVal val="#ppt_x"/>
                                          </p:val>
                                        </p:tav>
                                      </p:tavLst>
                                    </p:anim>
                                    <p:anim calcmode="lin" valueType="num">
                                      <p:cBhvr additive="base">
                                        <p:cTn id="26" dur="500" fill="hold"/>
                                        <p:tgtEl>
                                          <p:spTgt spid="53256"/>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3261"/>
                                        </p:tgtEl>
                                        <p:attrNameLst>
                                          <p:attrName>style.visibility</p:attrName>
                                        </p:attrNameLst>
                                      </p:cBhvr>
                                      <p:to>
                                        <p:strVal val="visible"/>
                                      </p:to>
                                    </p:set>
                                    <p:anim calcmode="lin" valueType="num">
                                      <p:cBhvr additive="base">
                                        <p:cTn id="31" dur="500" fill="hold"/>
                                        <p:tgtEl>
                                          <p:spTgt spid="53261"/>
                                        </p:tgtEl>
                                        <p:attrNameLst>
                                          <p:attrName>ppt_x</p:attrName>
                                        </p:attrNameLst>
                                      </p:cBhvr>
                                      <p:tavLst>
                                        <p:tav tm="0">
                                          <p:val>
                                            <p:strVal val="0-#ppt_w/2"/>
                                          </p:val>
                                        </p:tav>
                                        <p:tav tm="100000">
                                          <p:val>
                                            <p:strVal val="#ppt_x"/>
                                          </p:val>
                                        </p:tav>
                                      </p:tavLst>
                                    </p:anim>
                                    <p:anim calcmode="lin" valueType="num">
                                      <p:cBhvr additive="base">
                                        <p:cTn id="32" dur="500" fill="hold"/>
                                        <p:tgtEl>
                                          <p:spTgt spid="5326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3257"/>
                                        </p:tgtEl>
                                        <p:attrNameLst>
                                          <p:attrName>style.visibility</p:attrName>
                                        </p:attrNameLst>
                                      </p:cBhvr>
                                      <p:to>
                                        <p:strVal val="visible"/>
                                      </p:to>
                                    </p:set>
                                    <p:anim calcmode="lin" valueType="num">
                                      <p:cBhvr additive="base">
                                        <p:cTn id="37" dur="500" fill="hold"/>
                                        <p:tgtEl>
                                          <p:spTgt spid="53257"/>
                                        </p:tgtEl>
                                        <p:attrNameLst>
                                          <p:attrName>ppt_x</p:attrName>
                                        </p:attrNameLst>
                                      </p:cBhvr>
                                      <p:tavLst>
                                        <p:tav tm="0">
                                          <p:val>
                                            <p:strVal val="0-#ppt_w/2"/>
                                          </p:val>
                                        </p:tav>
                                        <p:tav tm="100000">
                                          <p:val>
                                            <p:strVal val="#ppt_x"/>
                                          </p:val>
                                        </p:tav>
                                      </p:tavLst>
                                    </p:anim>
                                    <p:anim calcmode="lin" valueType="num">
                                      <p:cBhvr additive="base">
                                        <p:cTn id="38" dur="500" fill="hold"/>
                                        <p:tgtEl>
                                          <p:spTgt spid="5325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3262"/>
                                        </p:tgtEl>
                                        <p:attrNameLst>
                                          <p:attrName>style.visibility</p:attrName>
                                        </p:attrNameLst>
                                      </p:cBhvr>
                                      <p:to>
                                        <p:strVal val="visible"/>
                                      </p:to>
                                    </p:set>
                                    <p:anim calcmode="lin" valueType="num">
                                      <p:cBhvr additive="base">
                                        <p:cTn id="43" dur="500" fill="hold"/>
                                        <p:tgtEl>
                                          <p:spTgt spid="53262"/>
                                        </p:tgtEl>
                                        <p:attrNameLst>
                                          <p:attrName>ppt_x</p:attrName>
                                        </p:attrNameLst>
                                      </p:cBhvr>
                                      <p:tavLst>
                                        <p:tav tm="0">
                                          <p:val>
                                            <p:strVal val="0-#ppt_w/2"/>
                                          </p:val>
                                        </p:tav>
                                        <p:tav tm="100000">
                                          <p:val>
                                            <p:strVal val="#ppt_x"/>
                                          </p:val>
                                        </p:tav>
                                      </p:tavLst>
                                    </p:anim>
                                    <p:anim calcmode="lin" valueType="num">
                                      <p:cBhvr additive="base">
                                        <p:cTn id="44" dur="500" fill="hold"/>
                                        <p:tgtEl>
                                          <p:spTgt spid="5326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53258"/>
                                        </p:tgtEl>
                                        <p:attrNameLst>
                                          <p:attrName>style.visibility</p:attrName>
                                        </p:attrNameLst>
                                      </p:cBhvr>
                                      <p:to>
                                        <p:strVal val="visible"/>
                                      </p:to>
                                    </p:set>
                                    <p:anim calcmode="lin" valueType="num">
                                      <p:cBhvr additive="base">
                                        <p:cTn id="49" dur="500" fill="hold"/>
                                        <p:tgtEl>
                                          <p:spTgt spid="53258"/>
                                        </p:tgtEl>
                                        <p:attrNameLst>
                                          <p:attrName>ppt_x</p:attrName>
                                        </p:attrNameLst>
                                      </p:cBhvr>
                                      <p:tavLst>
                                        <p:tav tm="0">
                                          <p:val>
                                            <p:strVal val="0-#ppt_w/2"/>
                                          </p:val>
                                        </p:tav>
                                        <p:tav tm="100000">
                                          <p:val>
                                            <p:strVal val="#ppt_x"/>
                                          </p:val>
                                        </p:tav>
                                      </p:tavLst>
                                    </p:anim>
                                    <p:anim calcmode="lin" valueType="num">
                                      <p:cBhvr additive="base">
                                        <p:cTn id="50" dur="500" fill="hold"/>
                                        <p:tgtEl>
                                          <p:spTgt spid="5325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3263"/>
                                        </p:tgtEl>
                                        <p:attrNameLst>
                                          <p:attrName>style.visibility</p:attrName>
                                        </p:attrNameLst>
                                      </p:cBhvr>
                                      <p:to>
                                        <p:strVal val="visible"/>
                                      </p:to>
                                    </p:set>
                                    <p:anim calcmode="lin" valueType="num">
                                      <p:cBhvr additive="base">
                                        <p:cTn id="55" dur="500" fill="hold"/>
                                        <p:tgtEl>
                                          <p:spTgt spid="53263"/>
                                        </p:tgtEl>
                                        <p:attrNameLst>
                                          <p:attrName>ppt_x</p:attrName>
                                        </p:attrNameLst>
                                      </p:cBhvr>
                                      <p:tavLst>
                                        <p:tav tm="0">
                                          <p:val>
                                            <p:strVal val="0-#ppt_w/2"/>
                                          </p:val>
                                        </p:tav>
                                        <p:tav tm="100000">
                                          <p:val>
                                            <p:strVal val="#ppt_x"/>
                                          </p:val>
                                        </p:tav>
                                      </p:tavLst>
                                    </p:anim>
                                    <p:anim calcmode="lin" valueType="num">
                                      <p:cBhvr additive="base">
                                        <p:cTn id="56" dur="500" fill="hold"/>
                                        <p:tgtEl>
                                          <p:spTgt spid="5326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 calcmode="lin" valueType="num">
                                      <p:cBhvr additive="base">
                                        <p:cTn id="61" dur="500" fill="hold"/>
                                        <p:tgtEl>
                                          <p:spTgt spid="8"/>
                                        </p:tgtEl>
                                        <p:attrNameLst>
                                          <p:attrName>ppt_x</p:attrName>
                                        </p:attrNameLst>
                                      </p:cBhvr>
                                      <p:tavLst>
                                        <p:tav tm="0">
                                          <p:val>
                                            <p:strVal val="0-#ppt_w/2"/>
                                          </p:val>
                                        </p:tav>
                                        <p:tav tm="100000">
                                          <p:val>
                                            <p:strVal val="#ppt_x"/>
                                          </p:val>
                                        </p:tav>
                                      </p:tavLst>
                                    </p:anim>
                                    <p:anim calcmode="lin" valueType="num">
                                      <p:cBhvr additive="base">
                                        <p:cTn id="6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9" grpId="0"/>
      <p:bldP spid="53260" grpId="0"/>
      <p:bldP spid="53261" grpId="0"/>
      <p:bldP spid="53262" grpId="0"/>
      <p:bldP spid="53263"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直接连接符 49153"/>
          <p:cNvSpPr/>
          <p:nvPr/>
        </p:nvSpPr>
        <p:spPr>
          <a:xfrm>
            <a:off x="0" y="762000"/>
            <a:ext cx="9144000" cy="0"/>
          </a:xfrm>
          <a:prstGeom prst="line">
            <a:avLst/>
          </a:prstGeom>
          <a:ln w="57150" cap="flat" cmpd="thickThin">
            <a:solidFill>
              <a:srgbClr val="C00000"/>
            </a:solidFill>
            <a:prstDash val="solid"/>
            <a:headEnd type="none" w="med" len="med"/>
            <a:tailEnd type="none" w="med" len="med"/>
          </a:ln>
        </p:spPr>
      </p:sp>
      <p:sp>
        <p:nvSpPr>
          <p:cNvPr id="49185" name="文本框 49184"/>
          <p:cNvSpPr txBox="1"/>
          <p:nvPr/>
        </p:nvSpPr>
        <p:spPr>
          <a:xfrm>
            <a:off x="304800" y="1828800"/>
            <a:ext cx="9144000" cy="457200"/>
          </a:xfrm>
          <a:prstGeom prst="rect">
            <a:avLst/>
          </a:prstGeom>
          <a:noFill/>
          <a:ln w="9525">
            <a:noFill/>
          </a:ln>
        </p:spPr>
        <p:txBody>
          <a:bodyPr>
            <a:spAutoFit/>
          </a:bodyPr>
          <a:lstStyle/>
          <a:p>
            <a:pPr algn="l">
              <a:spcBef>
                <a:spcPct val="50000"/>
              </a:spcBef>
            </a:pPr>
            <a:r>
              <a:rPr lang="en-US" altLang="zh-CN" b="1" dirty="0">
                <a:solidFill>
                  <a:srgbClr val="FF3300"/>
                </a:solidFill>
                <a:latin typeface="楷体_GB2312" pitchFamily="49" charset="-122"/>
                <a:ea typeface="楷体_GB2312" pitchFamily="49" charset="-122"/>
              </a:rPr>
              <a:t>1.</a:t>
            </a:r>
            <a:r>
              <a:rPr lang="zh-CN" altLang="en-US" b="1" dirty="0">
                <a:solidFill>
                  <a:srgbClr val="FF3300"/>
                </a:solidFill>
                <a:latin typeface="楷体_GB2312" pitchFamily="49" charset="-122"/>
                <a:ea typeface="楷体_GB2312" pitchFamily="49" charset="-122"/>
              </a:rPr>
              <a:t>确定箱体的结构</a:t>
            </a:r>
            <a:endParaRPr lang="zh-CN" altLang="en-US" b="1">
              <a:solidFill>
                <a:srgbClr val="FF3300"/>
              </a:solidFill>
              <a:latin typeface="楷体_GB2312" pitchFamily="49" charset="-122"/>
              <a:ea typeface="楷体_GB2312" pitchFamily="49" charset="-122"/>
            </a:endParaRPr>
          </a:p>
        </p:txBody>
      </p:sp>
      <p:sp>
        <p:nvSpPr>
          <p:cNvPr id="49186" name="文本框 49185"/>
          <p:cNvSpPr txBox="1"/>
          <p:nvPr/>
        </p:nvSpPr>
        <p:spPr>
          <a:xfrm>
            <a:off x="762000" y="2286000"/>
            <a:ext cx="4038600" cy="457200"/>
          </a:xfrm>
          <a:prstGeom prst="rect">
            <a:avLst/>
          </a:prstGeom>
          <a:noFill/>
          <a:ln w="9525">
            <a:noFill/>
          </a:ln>
        </p:spPr>
        <p:txBody>
          <a:bodyPr>
            <a:spAutoFit/>
          </a:bodyPr>
          <a:lstStyle/>
          <a:p>
            <a:pPr algn="l">
              <a:spcBef>
                <a:spcPct val="50000"/>
              </a:spcBef>
            </a:pPr>
            <a:r>
              <a:rPr lang="zh-CN" altLang="en-US" b="1" dirty="0" smtClean="0">
                <a:solidFill>
                  <a:srgbClr val="000000"/>
                </a:solidFill>
                <a:latin typeface="Times New Roman" panose="02020603050405020304" pitchFamily="18" charset="0"/>
                <a:ea typeface="楷体_GB2312" pitchFamily="49" charset="-122"/>
              </a:rPr>
              <a:t>剖分式</a:t>
            </a:r>
            <a:r>
              <a:rPr lang="zh-CN" altLang="en-US" b="1" dirty="0" smtClean="0">
                <a:solidFill>
                  <a:srgbClr val="000000"/>
                </a:solidFill>
                <a:ea typeface="楷体_GB2312" pitchFamily="49" charset="-122"/>
              </a:rPr>
              <a:t>或整体式</a:t>
            </a:r>
            <a:endParaRPr lang="zh-CN" altLang="en-US" b="1" dirty="0">
              <a:solidFill>
                <a:srgbClr val="000000"/>
              </a:solidFill>
              <a:latin typeface="Times New Roman" panose="02020603050405020304" pitchFamily="18" charset="0"/>
              <a:ea typeface="楷体_GB2312" pitchFamily="49" charset="-122"/>
            </a:endParaRPr>
          </a:p>
        </p:txBody>
      </p:sp>
      <p:sp>
        <p:nvSpPr>
          <p:cNvPr id="49187" name="文本框 49186"/>
          <p:cNvSpPr txBox="1"/>
          <p:nvPr/>
        </p:nvSpPr>
        <p:spPr>
          <a:xfrm>
            <a:off x="3505200" y="2286000"/>
            <a:ext cx="4038600" cy="457200"/>
          </a:xfrm>
          <a:prstGeom prst="rect">
            <a:avLst/>
          </a:prstGeom>
          <a:noFill/>
          <a:ln w="9525">
            <a:noFill/>
          </a:ln>
        </p:spPr>
        <p:txBody>
          <a:bodyPr>
            <a:spAutoFit/>
          </a:bodyPr>
          <a:lstStyle/>
          <a:p>
            <a:pPr algn="l">
              <a:spcBef>
                <a:spcPct val="50000"/>
              </a:spcBef>
            </a:pPr>
            <a:r>
              <a:rPr lang="zh-CN" altLang="en-US" b="1" dirty="0">
                <a:solidFill>
                  <a:srgbClr val="FF0000"/>
                </a:solidFill>
                <a:latin typeface="Times New Roman" panose="02020603050405020304" pitchFamily="18" charset="0"/>
                <a:ea typeface="楷体_GB2312" pitchFamily="49" charset="-122"/>
              </a:rPr>
              <a:t>铸造</a:t>
            </a:r>
            <a:r>
              <a:rPr lang="zh-CN" altLang="en-US" b="1" dirty="0">
                <a:solidFill>
                  <a:srgbClr val="000000"/>
                </a:solidFill>
                <a:latin typeface="Times New Roman" panose="02020603050405020304" pitchFamily="18" charset="0"/>
                <a:ea typeface="楷体_GB2312" pitchFamily="49" charset="-122"/>
              </a:rPr>
              <a:t>或焊接</a:t>
            </a:r>
            <a:endParaRPr lang="zh-CN" altLang="en-US" b="1" dirty="0">
              <a:solidFill>
                <a:srgbClr val="000000"/>
              </a:solidFill>
              <a:latin typeface="Times New Roman" panose="02020603050405020304" pitchFamily="18" charset="0"/>
              <a:ea typeface="楷体_GB2312" pitchFamily="49" charset="-122"/>
            </a:endParaRPr>
          </a:p>
        </p:txBody>
      </p:sp>
      <p:sp>
        <p:nvSpPr>
          <p:cNvPr id="49188" name="文本框 49187"/>
          <p:cNvSpPr txBox="1"/>
          <p:nvPr/>
        </p:nvSpPr>
        <p:spPr>
          <a:xfrm>
            <a:off x="251460" y="2853055"/>
            <a:ext cx="9144000" cy="457200"/>
          </a:xfrm>
          <a:prstGeom prst="rect">
            <a:avLst/>
          </a:prstGeom>
          <a:noFill/>
          <a:ln w="9525">
            <a:noFill/>
          </a:ln>
        </p:spPr>
        <p:txBody>
          <a:bodyPr>
            <a:spAutoFit/>
          </a:bodyPr>
          <a:lstStyle/>
          <a:p>
            <a:pPr algn="l">
              <a:spcBef>
                <a:spcPct val="50000"/>
              </a:spcBef>
            </a:pPr>
            <a:r>
              <a:rPr lang="en-US" altLang="zh-CN" b="1" dirty="0">
                <a:solidFill>
                  <a:srgbClr val="FF3300"/>
                </a:solidFill>
                <a:latin typeface="楷体_GB2312" pitchFamily="49" charset="-122"/>
                <a:ea typeface="楷体_GB2312" pitchFamily="49" charset="-122"/>
              </a:rPr>
              <a:t>2.</a:t>
            </a:r>
            <a:r>
              <a:rPr lang="zh-CN" altLang="en-US" b="1" dirty="0">
                <a:solidFill>
                  <a:srgbClr val="FF3300"/>
                </a:solidFill>
                <a:latin typeface="楷体_GB2312" pitchFamily="49" charset="-122"/>
                <a:ea typeface="楷体_GB2312" pitchFamily="49" charset="-122"/>
              </a:rPr>
              <a:t>确定轴承的润滑方式</a:t>
            </a:r>
            <a:endParaRPr lang="zh-CN" altLang="en-US" b="1">
              <a:solidFill>
                <a:srgbClr val="FF3300"/>
              </a:solidFill>
              <a:latin typeface="楷体_GB2312" pitchFamily="49" charset="-122"/>
              <a:ea typeface="楷体_GB2312" pitchFamily="49" charset="-122"/>
            </a:endParaRPr>
          </a:p>
        </p:txBody>
      </p:sp>
      <p:sp>
        <p:nvSpPr>
          <p:cNvPr id="49189" name="文本框 49188"/>
          <p:cNvSpPr txBox="1"/>
          <p:nvPr/>
        </p:nvSpPr>
        <p:spPr>
          <a:xfrm>
            <a:off x="304800" y="3352800"/>
            <a:ext cx="8610600" cy="822325"/>
          </a:xfrm>
          <a:prstGeom prst="rect">
            <a:avLst/>
          </a:prstGeom>
          <a:noFill/>
          <a:ln w="9525">
            <a:noFill/>
          </a:ln>
        </p:spPr>
        <p:txBody>
          <a:bodyPr>
            <a:spAutoFit/>
          </a:bodyPr>
          <a:lstStyle/>
          <a:p>
            <a:pPr algn="l">
              <a:spcBef>
                <a:spcPct val="50000"/>
              </a:spcBef>
            </a:pPr>
            <a:r>
              <a:rPr lang="en-US" altLang="zh-CN" b="1" dirty="0">
                <a:solidFill>
                  <a:srgbClr val="000000"/>
                </a:solidFill>
                <a:latin typeface="Times New Roman" panose="02020603050405020304" pitchFamily="18" charset="0"/>
                <a:ea typeface="楷体_GB2312" pitchFamily="49" charset="-122"/>
              </a:rPr>
              <a:t>       </a:t>
            </a:r>
            <a:r>
              <a:rPr lang="zh-CN" altLang="en-US" b="1" dirty="0">
                <a:solidFill>
                  <a:srgbClr val="000000"/>
                </a:solidFill>
                <a:latin typeface="Times New Roman" panose="02020603050405020304" pitchFamily="18" charset="0"/>
                <a:ea typeface="楷体_GB2312" pitchFamily="49" charset="-122"/>
              </a:rPr>
              <a:t>当齿轮的圆周速度</a:t>
            </a:r>
            <a:r>
              <a:rPr lang="en-US" altLang="zh-CN" b="1" i="1">
                <a:solidFill>
                  <a:srgbClr val="000000"/>
                </a:solidFill>
                <a:latin typeface="Times New Roman" panose="02020603050405020304" pitchFamily="18" charset="0"/>
                <a:ea typeface="楷体_GB2312" pitchFamily="49" charset="-122"/>
              </a:rPr>
              <a:t>v</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 2m/s</a:t>
            </a:r>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时，轴承采用</a:t>
            </a:r>
            <a:r>
              <a:rPr lang="zh-CN" altLang="en-US" b="1" dirty="0">
                <a:solidFill>
                  <a:srgbClr val="000000"/>
                </a:solidFill>
                <a:latin typeface="Times New Roman" panose="02020603050405020304" pitchFamily="18" charset="0"/>
                <a:ea typeface="楷体_GB2312" pitchFamily="49" charset="-122"/>
              </a:rPr>
              <a:t>脂润滑。轴承端面与箱体内壁的距离为</a:t>
            </a:r>
            <a:r>
              <a:rPr lang="en-US" altLang="zh-CN" b="1" dirty="0">
                <a:solidFill>
                  <a:srgbClr val="000000"/>
                </a:solidFill>
                <a:latin typeface="Times New Roman" panose="02020603050405020304" pitchFamily="18" charset="0"/>
                <a:ea typeface="楷体_GB2312" pitchFamily="49" charset="-122"/>
              </a:rPr>
              <a:t>8~12mm</a:t>
            </a:r>
            <a:r>
              <a:rPr lang="zh-CN" altLang="en-US" b="1" dirty="0">
                <a:solidFill>
                  <a:srgbClr val="000000"/>
                </a:solidFill>
                <a:latin typeface="Times New Roman" panose="02020603050405020304" pitchFamily="18" charset="0"/>
                <a:ea typeface="楷体_GB2312" pitchFamily="49" charset="-122"/>
              </a:rPr>
              <a:t>，此时要设有封油盘。</a:t>
            </a:r>
            <a:endParaRPr lang="zh-CN" altLang="en-US" b="1" dirty="0">
              <a:solidFill>
                <a:srgbClr val="000000"/>
              </a:solidFill>
              <a:latin typeface="Times New Roman" panose="02020603050405020304" pitchFamily="18" charset="0"/>
              <a:ea typeface="楷体_GB2312" pitchFamily="49" charset="-122"/>
            </a:endParaRPr>
          </a:p>
        </p:txBody>
      </p:sp>
      <p:sp>
        <p:nvSpPr>
          <p:cNvPr id="49191" name="文本框 49190"/>
          <p:cNvSpPr txBox="1"/>
          <p:nvPr/>
        </p:nvSpPr>
        <p:spPr>
          <a:xfrm>
            <a:off x="381000" y="4114800"/>
            <a:ext cx="8153400" cy="884238"/>
          </a:xfrm>
          <a:prstGeom prst="rect">
            <a:avLst/>
          </a:prstGeom>
          <a:noFill/>
          <a:ln w="9525">
            <a:noFill/>
          </a:ln>
        </p:spPr>
        <p:txBody>
          <a:bodyPr>
            <a:spAutoFit/>
          </a:bodyPr>
          <a:lstStyle/>
          <a:p>
            <a:pPr algn="l">
              <a:spcBef>
                <a:spcPct val="50000"/>
              </a:spcBef>
            </a:pPr>
            <a:r>
              <a:rPr lang="en-US" altLang="zh-CN" b="1" dirty="0">
                <a:solidFill>
                  <a:srgbClr val="000000"/>
                </a:solidFill>
                <a:latin typeface="Times New Roman" panose="02020603050405020304" pitchFamily="18" charset="0"/>
                <a:ea typeface="楷体_GB2312" pitchFamily="49" charset="-122"/>
              </a:rPr>
              <a:t>      </a:t>
            </a:r>
            <a:r>
              <a:rPr lang="zh-CN" altLang="en-US" b="1" dirty="0">
                <a:solidFill>
                  <a:srgbClr val="000000"/>
                </a:solidFill>
                <a:latin typeface="Times New Roman" panose="02020603050405020304" pitchFamily="18" charset="0"/>
                <a:ea typeface="楷体_GB2312" pitchFamily="49" charset="-122"/>
              </a:rPr>
              <a:t>当齿轮的圆周速度</a:t>
            </a:r>
            <a:r>
              <a:rPr lang="en-US" altLang="zh-CN" b="1" i="1" dirty="0">
                <a:solidFill>
                  <a:srgbClr val="000000"/>
                </a:solidFill>
                <a:latin typeface="Times New Roman" panose="02020603050405020304" pitchFamily="18" charset="0"/>
                <a:ea typeface="楷体_GB2312" pitchFamily="49" charset="-122"/>
              </a:rPr>
              <a:t>v</a:t>
            </a:r>
            <a:r>
              <a:rPr lang="en-US" altLang="zh-CN" sz="2800" b="1" dirty="0">
                <a:solidFill>
                  <a:srgbClr val="000000"/>
                </a:solidFill>
                <a:latin typeface="Times New Roman" panose="02020603050405020304" pitchFamily="18" charset="0"/>
                <a:ea typeface="楷体_GB2312" pitchFamily="49" charset="-122"/>
                <a:sym typeface="Symbol" panose="05050102010706020507" pitchFamily="18" charset="2"/>
              </a:rPr>
              <a:t>&gt;</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 2m /s</a:t>
            </a:r>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时，轴承采用</a:t>
            </a:r>
            <a:r>
              <a:rPr lang="zh-CN" altLang="en-US" b="1" dirty="0">
                <a:solidFill>
                  <a:srgbClr val="000000"/>
                </a:solidFill>
                <a:latin typeface="Times New Roman" panose="02020603050405020304" pitchFamily="18" charset="0"/>
                <a:ea typeface="楷体_GB2312" pitchFamily="49" charset="-122"/>
              </a:rPr>
              <a:t>油润滑。轴承端面与箱体内壁的距离为</a:t>
            </a:r>
            <a:r>
              <a:rPr lang="en-US" altLang="zh-CN" b="1" dirty="0">
                <a:solidFill>
                  <a:srgbClr val="000000"/>
                </a:solidFill>
                <a:latin typeface="Times New Roman" panose="02020603050405020304" pitchFamily="18" charset="0"/>
                <a:ea typeface="楷体_GB2312" pitchFamily="49" charset="-122"/>
              </a:rPr>
              <a:t>2~3mm </a:t>
            </a:r>
            <a:r>
              <a:rPr lang="zh-CN" altLang="en-US" b="1" dirty="0">
                <a:solidFill>
                  <a:srgbClr val="000000"/>
                </a:solidFill>
                <a:latin typeface="Times New Roman" panose="02020603050405020304" pitchFamily="18" charset="0"/>
                <a:ea typeface="楷体_GB2312" pitchFamily="49" charset="-122"/>
              </a:rPr>
              <a:t>。</a:t>
            </a:r>
            <a:endParaRPr lang="zh-CN" altLang="en-US" b="1" dirty="0">
              <a:solidFill>
                <a:srgbClr val="000000"/>
              </a:solidFill>
              <a:latin typeface="Times New Roman" panose="02020603050405020304" pitchFamily="18" charset="0"/>
              <a:ea typeface="楷体_GB2312" pitchFamily="49" charset="-122"/>
            </a:endParaRPr>
          </a:p>
        </p:txBody>
      </p:sp>
      <p:sp>
        <p:nvSpPr>
          <p:cNvPr id="49192" name="文本框 49191"/>
          <p:cNvSpPr txBox="1"/>
          <p:nvPr/>
        </p:nvSpPr>
        <p:spPr>
          <a:xfrm>
            <a:off x="1676400" y="4953000"/>
            <a:ext cx="5638800" cy="457200"/>
          </a:xfrm>
          <a:prstGeom prst="rect">
            <a:avLst/>
          </a:prstGeom>
          <a:noFill/>
          <a:ln w="9525">
            <a:noFill/>
          </a:ln>
        </p:spPr>
        <p:txBody>
          <a:bodyPr>
            <a:spAutoFit/>
          </a:bodyPr>
          <a:lstStyle/>
          <a:p>
            <a:pPr algn="l">
              <a:spcBef>
                <a:spcPct val="50000"/>
              </a:spcBef>
            </a:pPr>
            <a:r>
              <a:rPr lang="en-US" altLang="zh-CN" b="1">
                <a:solidFill>
                  <a:srgbClr val="000000"/>
                </a:solidFill>
                <a:latin typeface="Times New Roman" panose="02020603050405020304" pitchFamily="18" charset="0"/>
                <a:ea typeface="楷体_GB2312" pitchFamily="49" charset="-122"/>
              </a:rPr>
              <a:t>2&lt;</a:t>
            </a:r>
            <a:r>
              <a:rPr lang="en-US" altLang="zh-CN" b="1" i="1">
                <a:solidFill>
                  <a:srgbClr val="000000"/>
                </a:solidFill>
                <a:latin typeface="Times New Roman" panose="02020603050405020304" pitchFamily="18" charset="0"/>
                <a:ea typeface="楷体_GB2312" pitchFamily="49" charset="-122"/>
              </a:rPr>
              <a:t>v</a:t>
            </a:r>
            <a:r>
              <a:rPr lang="en-US" altLang="zh-CN" b="1" i="1">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 3m/s  </a:t>
            </a:r>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时，在结合面上开设油沟</a:t>
            </a:r>
            <a:endParaRPr lang="zh-CN" altLang="en-US" b="1">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49193" name="文本框 49192"/>
          <p:cNvSpPr txBox="1"/>
          <p:nvPr/>
        </p:nvSpPr>
        <p:spPr>
          <a:xfrm>
            <a:off x="1676400" y="5334000"/>
            <a:ext cx="5638800" cy="457200"/>
          </a:xfrm>
          <a:prstGeom prst="rect">
            <a:avLst/>
          </a:prstGeom>
          <a:noFill/>
          <a:ln w="9525">
            <a:noFill/>
          </a:ln>
        </p:spPr>
        <p:txBody>
          <a:bodyPr>
            <a:spAutoFit/>
          </a:bodyPr>
          <a:lstStyle/>
          <a:p>
            <a:pPr algn="l">
              <a:spcBef>
                <a:spcPct val="50000"/>
              </a:spcBef>
            </a:pPr>
            <a:r>
              <a:rPr lang="en-US" altLang="zh-CN" b="1" i="1">
                <a:solidFill>
                  <a:srgbClr val="000000"/>
                </a:solidFill>
                <a:latin typeface="Times New Roman" panose="02020603050405020304" pitchFamily="18" charset="0"/>
                <a:ea typeface="楷体_GB2312" pitchFamily="49" charset="-122"/>
              </a:rPr>
              <a:t>v</a:t>
            </a:r>
            <a:r>
              <a:rPr lang="en-US" altLang="zh-CN" b="1" i="1">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b="1" dirty="0">
                <a:solidFill>
                  <a:srgbClr val="000000"/>
                </a:solidFill>
                <a:latin typeface="Times New Roman" panose="02020603050405020304" pitchFamily="18" charset="0"/>
                <a:ea typeface="楷体_GB2312" pitchFamily="49" charset="-122"/>
                <a:sym typeface="Symbol" panose="05050102010706020507" pitchFamily="18" charset="2"/>
              </a:rPr>
              <a:t>&gt; 3m/s  </a:t>
            </a:r>
            <a:r>
              <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rPr>
              <a:t>时，不必开设油沟</a:t>
            </a:r>
            <a:endParaRPr lang="zh-CN" altLang="en-US" b="1">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49194" name="左大括号 49193"/>
          <p:cNvSpPr/>
          <p:nvPr/>
        </p:nvSpPr>
        <p:spPr>
          <a:xfrm>
            <a:off x="1447800" y="5181600"/>
            <a:ext cx="228600" cy="457200"/>
          </a:xfrm>
          <a:prstGeom prst="leftBrace">
            <a:avLst>
              <a:gd name="adj1" fmla="val 166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49195" name="文本框 49194"/>
          <p:cNvSpPr txBox="1"/>
          <p:nvPr/>
        </p:nvSpPr>
        <p:spPr>
          <a:xfrm>
            <a:off x="323528" y="5949280"/>
            <a:ext cx="9144000" cy="457200"/>
          </a:xfrm>
          <a:prstGeom prst="rect">
            <a:avLst/>
          </a:prstGeom>
          <a:noFill/>
          <a:ln w="9525">
            <a:noFill/>
          </a:ln>
        </p:spPr>
        <p:txBody>
          <a:bodyPr>
            <a:spAutoFit/>
          </a:bodyPr>
          <a:lstStyle/>
          <a:p>
            <a:pPr algn="l">
              <a:spcBef>
                <a:spcPct val="50000"/>
              </a:spcBef>
            </a:pPr>
            <a:r>
              <a:rPr lang="en-US" altLang="zh-CN" b="1" dirty="0">
                <a:solidFill>
                  <a:srgbClr val="FF3300"/>
                </a:solidFill>
                <a:latin typeface="楷体_GB2312" pitchFamily="49" charset="-122"/>
                <a:ea typeface="楷体_GB2312" pitchFamily="49" charset="-122"/>
              </a:rPr>
              <a:t>3.</a:t>
            </a:r>
            <a:r>
              <a:rPr lang="zh-CN" altLang="en-US" b="1" dirty="0">
                <a:solidFill>
                  <a:srgbClr val="FF3300"/>
                </a:solidFill>
                <a:latin typeface="楷体_GB2312" pitchFamily="49" charset="-122"/>
                <a:ea typeface="楷体_GB2312" pitchFamily="49" charset="-122"/>
              </a:rPr>
              <a:t>确定轴承端盖的形式</a:t>
            </a:r>
            <a:endParaRPr lang="zh-CN" altLang="en-US" b="1" dirty="0">
              <a:solidFill>
                <a:srgbClr val="FF3300"/>
              </a:solidFill>
              <a:latin typeface="楷体_GB2312" pitchFamily="49" charset="-122"/>
              <a:ea typeface="楷体_GB2312" pitchFamily="49" charset="-122"/>
            </a:endParaRPr>
          </a:p>
        </p:txBody>
      </p:sp>
      <p:sp>
        <p:nvSpPr>
          <p:cNvPr id="49196" name="文本框 49195"/>
          <p:cNvSpPr txBox="1"/>
          <p:nvPr/>
        </p:nvSpPr>
        <p:spPr>
          <a:xfrm>
            <a:off x="3581400" y="5943600"/>
            <a:ext cx="4038600" cy="457200"/>
          </a:xfrm>
          <a:prstGeom prst="rect">
            <a:avLst/>
          </a:prstGeom>
          <a:noFill/>
          <a:ln w="9525">
            <a:noFill/>
          </a:ln>
        </p:spPr>
        <p:txBody>
          <a:bodyPr>
            <a:spAutoFit/>
          </a:bodyPr>
          <a:lstStyle/>
          <a:p>
            <a:pPr algn="l">
              <a:spcBef>
                <a:spcPct val="50000"/>
              </a:spcBef>
            </a:pPr>
            <a:r>
              <a:rPr lang="zh-CN" altLang="en-US" b="1" dirty="0">
                <a:solidFill>
                  <a:srgbClr val="000000"/>
                </a:solidFill>
                <a:latin typeface="Times New Roman" panose="02020603050405020304" pitchFamily="18" charset="0"/>
                <a:ea typeface="楷体_GB2312" pitchFamily="49" charset="-122"/>
                <a:hlinkClick r:id="rId1" action="ppaction://hlinksldjump"/>
              </a:rPr>
              <a:t>凸缘式或嵌入式</a:t>
            </a:r>
            <a:endParaRPr lang="zh-CN" altLang="en-US" b="1">
              <a:solidFill>
                <a:srgbClr val="000000"/>
              </a:solidFill>
              <a:latin typeface="Times New Roman" panose="02020603050405020304" pitchFamily="18" charset="0"/>
              <a:ea typeface="楷体_GB2312" pitchFamily="49" charset="-122"/>
            </a:endParaRPr>
          </a:p>
        </p:txBody>
      </p:sp>
      <p:sp>
        <p:nvSpPr>
          <p:cNvPr id="49198" name="文本框 49197"/>
          <p:cNvSpPr txBox="1"/>
          <p:nvPr/>
        </p:nvSpPr>
        <p:spPr>
          <a:xfrm>
            <a:off x="0" y="990600"/>
            <a:ext cx="9144000" cy="822325"/>
          </a:xfrm>
          <a:prstGeom prst="rect">
            <a:avLst/>
          </a:prstGeom>
          <a:noFill/>
          <a:ln w="9525">
            <a:noFill/>
          </a:ln>
        </p:spPr>
        <p:txBody>
          <a:bodyPr>
            <a:spAutoFit/>
          </a:bodyPr>
          <a:lstStyle/>
          <a:p>
            <a:pPr algn="l">
              <a:spcBef>
                <a:spcPct val="50000"/>
              </a:spcBef>
            </a:pPr>
            <a:r>
              <a:rPr lang="en-US" altLang="zh-CN" b="1" dirty="0">
                <a:solidFill>
                  <a:srgbClr val="000000"/>
                </a:solidFill>
                <a:latin typeface="Times New Roman" panose="02020603050405020304" pitchFamily="18" charset="0"/>
                <a:ea typeface="楷体_GB2312" pitchFamily="49" charset="-122"/>
              </a:rPr>
              <a:t>     </a:t>
            </a:r>
            <a:r>
              <a:rPr lang="zh-CN" altLang="en-US" b="1" dirty="0">
                <a:solidFill>
                  <a:srgbClr val="000000"/>
                </a:solidFill>
                <a:latin typeface="Times New Roman" panose="02020603050405020304" pitchFamily="18" charset="0"/>
                <a:ea typeface="楷体_GB2312" pitchFamily="49" charset="-122"/>
              </a:rPr>
              <a:t>除了原始数据和上述的计算数据外，轴的结构设计前还必须确定以下内容：</a:t>
            </a:r>
            <a:endParaRPr lang="zh-CN" altLang="en-US" b="1">
              <a:solidFill>
                <a:srgbClr val="000000"/>
              </a:solidFill>
              <a:latin typeface="Times New Roman" panose="02020603050405020304" pitchFamily="18" charset="0"/>
              <a:ea typeface="楷体_GB2312" pitchFamily="49" charset="-122"/>
            </a:endParaRPr>
          </a:p>
        </p:txBody>
      </p:sp>
      <p:sp>
        <p:nvSpPr>
          <p:cNvPr id="49201" name="标题 49200"/>
          <p:cNvSpPr>
            <a:spLocks noGrp="1"/>
          </p:cNvSpPr>
          <p:nvPr>
            <p:ph type="title"/>
          </p:nvPr>
        </p:nvSpPr>
        <p:spPr>
          <a:xfrm>
            <a:off x="35560" y="116840"/>
            <a:ext cx="7772400" cy="533400"/>
          </a:xfrm>
        </p:spPr>
        <p:txBody>
          <a:bodyPr anchor="ctr"/>
          <a:lstStyle/>
          <a:p>
            <a:pPr algn="l"/>
            <a:r>
              <a:rPr lang="zh-CN" altLang="en-US" sz="2400" b="1" dirty="0">
                <a:solidFill>
                  <a:srgbClr val="A02904"/>
                </a:solidFill>
                <a:latin typeface="楷体_GB2312" pitchFamily="49" charset="-122"/>
                <a:ea typeface="楷体_GB2312" pitchFamily="49" charset="-122"/>
              </a:rPr>
              <a:t>三、 轴的结构设计</a:t>
            </a:r>
            <a:endParaRPr lang="zh-CN" altLang="en-US" dirty="0"/>
          </a:p>
        </p:txBody>
      </p:sp>
      <p:sp>
        <p:nvSpPr>
          <p:cNvPr id="49202" name="文本框 49201"/>
          <p:cNvSpPr txBox="1"/>
          <p:nvPr/>
        </p:nvSpPr>
        <p:spPr>
          <a:xfrm>
            <a:off x="7315200" y="5029200"/>
            <a:ext cx="1676400" cy="457200"/>
          </a:xfrm>
          <a:prstGeom prst="rect">
            <a:avLst/>
          </a:prstGeom>
          <a:noFill/>
          <a:ln w="9525">
            <a:noFill/>
          </a:ln>
        </p:spPr>
        <p:txBody>
          <a:bodyPr>
            <a:spAutoFit/>
          </a:bodyPr>
          <a:lstStyle/>
          <a:p>
            <a:pPr algn="l">
              <a:spcBef>
                <a:spcPct val="50000"/>
              </a:spcBef>
            </a:pPr>
            <a:r>
              <a:rPr lang="zh-CN" altLang="en-US" dirty="0">
                <a:latin typeface="Times New Roman" panose="02020603050405020304" pitchFamily="18" charset="0"/>
                <a:hlinkClick r:id="rId1" action="ppaction://hlinksldjump"/>
              </a:rPr>
              <a:t>图例</a:t>
            </a:r>
            <a:endParaRPr lang="zh-CN" altLang="en-US">
              <a:latin typeface="Times New Roman" panose="02020603050405020304" pitchFamily="18" charset="0"/>
            </a:endParaRPr>
          </a:p>
        </p:txBody>
      </p:sp>
      <p:grpSp>
        <p:nvGrpSpPr>
          <p:cNvPr id="49203" name="组合 49202"/>
          <p:cNvGrpSpPr/>
          <p:nvPr/>
        </p:nvGrpSpPr>
        <p:grpSpPr>
          <a:xfrm>
            <a:off x="8115300" y="6515100"/>
            <a:ext cx="1028700" cy="342900"/>
            <a:chOff x="5112" y="4104"/>
            <a:chExt cx="648" cy="216"/>
          </a:xfrm>
        </p:grpSpPr>
        <p:pic>
          <p:nvPicPr>
            <p:cNvPr id="49204" name="图片 49203" descr="返回">
              <a:hlinkClick r:id="rId2" action="ppaction://hlinksldjump"/>
            </p:cNvPr>
            <p:cNvPicPr>
              <a:picLocks noChangeAspect="1"/>
            </p:cNvPicPr>
            <p:nvPr/>
          </p:nvPicPr>
          <p:blipFill>
            <a:blip r:embed="rId3"/>
            <a:stretch>
              <a:fillRect/>
            </a:stretch>
          </p:blipFill>
          <p:spPr>
            <a:xfrm>
              <a:off x="5112" y="4104"/>
              <a:ext cx="216" cy="216"/>
            </a:xfrm>
            <a:prstGeom prst="rect">
              <a:avLst/>
            </a:prstGeom>
            <a:noFill/>
            <a:ln w="9525">
              <a:noFill/>
            </a:ln>
          </p:spPr>
        </p:pic>
        <p:grpSp>
          <p:nvGrpSpPr>
            <p:cNvPr id="49205" name="组合 49204"/>
            <p:cNvGrpSpPr/>
            <p:nvPr/>
          </p:nvGrpSpPr>
          <p:grpSpPr>
            <a:xfrm>
              <a:off x="5352" y="4104"/>
              <a:ext cx="408" cy="216"/>
              <a:chOff x="5232" y="4100"/>
              <a:chExt cx="408" cy="216"/>
            </a:xfrm>
          </p:grpSpPr>
          <p:pic>
            <p:nvPicPr>
              <p:cNvPr id="49206" name="图片 49205" descr="下一步">
                <a:hlinkClick r:id="" action="ppaction://hlinkshowjump?jump=nextslide"/>
              </p:cNvPr>
              <p:cNvPicPr>
                <a:picLocks noChangeAspect="1"/>
              </p:cNvPicPr>
              <p:nvPr/>
            </p:nvPicPr>
            <p:blipFill>
              <a:blip r:embed="rId4"/>
              <a:stretch>
                <a:fillRect/>
              </a:stretch>
            </p:blipFill>
            <p:spPr>
              <a:xfrm>
                <a:off x="5424" y="4100"/>
                <a:ext cx="216" cy="216"/>
              </a:xfrm>
              <a:prstGeom prst="rect">
                <a:avLst/>
              </a:prstGeom>
              <a:noFill/>
              <a:ln w="9525">
                <a:noFill/>
              </a:ln>
            </p:spPr>
          </p:pic>
          <p:pic>
            <p:nvPicPr>
              <p:cNvPr id="49207" name="图片 49206" descr="上一步">
                <a:hlinkClick r:id="" action="ppaction://hlinkshowjump?jump=previousslide"/>
              </p:cNvPr>
              <p:cNvPicPr>
                <a:picLocks noChangeAspect="1"/>
              </p:cNvPicPr>
              <p:nvPr/>
            </p:nvPicPr>
            <p:blipFill>
              <a:blip r:embed="rId5"/>
              <a:stretch>
                <a:fillRect/>
              </a:stretch>
            </p:blipFill>
            <p:spPr>
              <a:xfrm>
                <a:off x="5232" y="4100"/>
                <a:ext cx="216" cy="216"/>
              </a:xfrm>
              <a:prstGeom prst="rect">
                <a:avLst/>
              </a:prstGeom>
              <a:noFill/>
              <a:ln w="9525">
                <a:noFill/>
              </a:ln>
            </p:spPr>
          </p:pic>
        </p:grpSp>
      </p:gr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198"/>
                                        </p:tgtEl>
                                        <p:attrNameLst>
                                          <p:attrName>style.visibility</p:attrName>
                                        </p:attrNameLst>
                                      </p:cBhvr>
                                      <p:to>
                                        <p:strVal val="visible"/>
                                      </p:to>
                                    </p:set>
                                    <p:anim calcmode="lin" valueType="num">
                                      <p:cBhvr additive="base">
                                        <p:cTn id="7" dur="500" fill="hold"/>
                                        <p:tgtEl>
                                          <p:spTgt spid="49198"/>
                                        </p:tgtEl>
                                        <p:attrNameLst>
                                          <p:attrName>ppt_x</p:attrName>
                                        </p:attrNameLst>
                                      </p:cBhvr>
                                      <p:tavLst>
                                        <p:tav tm="0">
                                          <p:val>
                                            <p:strVal val="0-#ppt_w/2"/>
                                          </p:val>
                                        </p:tav>
                                        <p:tav tm="100000">
                                          <p:val>
                                            <p:strVal val="#ppt_x"/>
                                          </p:val>
                                        </p:tav>
                                      </p:tavLst>
                                    </p:anim>
                                    <p:anim calcmode="lin" valueType="num">
                                      <p:cBhvr additive="base">
                                        <p:cTn id="8" dur="500" fill="hold"/>
                                        <p:tgtEl>
                                          <p:spTgt spid="491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9185"/>
                                        </p:tgtEl>
                                        <p:attrNameLst>
                                          <p:attrName>style.visibility</p:attrName>
                                        </p:attrNameLst>
                                      </p:cBhvr>
                                      <p:to>
                                        <p:strVal val="visible"/>
                                      </p:to>
                                    </p:set>
                                    <p:animEffect transition="in" filter="blinds(horizontal)">
                                      <p:cBhvr>
                                        <p:cTn id="13" dur="500"/>
                                        <p:tgtEl>
                                          <p:spTgt spid="4918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9186"/>
                                        </p:tgtEl>
                                        <p:attrNameLst>
                                          <p:attrName>style.visibility</p:attrName>
                                        </p:attrNameLst>
                                      </p:cBhvr>
                                      <p:to>
                                        <p:strVal val="visible"/>
                                      </p:to>
                                    </p:set>
                                    <p:anim calcmode="lin" valueType="num">
                                      <p:cBhvr additive="base">
                                        <p:cTn id="18" dur="500" fill="hold"/>
                                        <p:tgtEl>
                                          <p:spTgt spid="49186"/>
                                        </p:tgtEl>
                                        <p:attrNameLst>
                                          <p:attrName>ppt_x</p:attrName>
                                        </p:attrNameLst>
                                      </p:cBhvr>
                                      <p:tavLst>
                                        <p:tav tm="0">
                                          <p:val>
                                            <p:strVal val="0-#ppt_w/2"/>
                                          </p:val>
                                        </p:tav>
                                        <p:tav tm="100000">
                                          <p:val>
                                            <p:strVal val="#ppt_x"/>
                                          </p:val>
                                        </p:tav>
                                      </p:tavLst>
                                    </p:anim>
                                    <p:anim calcmode="lin" valueType="num">
                                      <p:cBhvr additive="base">
                                        <p:cTn id="19" dur="500" fill="hold"/>
                                        <p:tgtEl>
                                          <p:spTgt spid="4918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49187"/>
                                        </p:tgtEl>
                                        <p:attrNameLst>
                                          <p:attrName>style.visibility</p:attrName>
                                        </p:attrNameLst>
                                      </p:cBhvr>
                                      <p:to>
                                        <p:strVal val="visible"/>
                                      </p:to>
                                    </p:set>
                                    <p:anim calcmode="lin" valueType="num">
                                      <p:cBhvr additive="base">
                                        <p:cTn id="24" dur="500" fill="hold"/>
                                        <p:tgtEl>
                                          <p:spTgt spid="49187"/>
                                        </p:tgtEl>
                                        <p:attrNameLst>
                                          <p:attrName>ppt_x</p:attrName>
                                        </p:attrNameLst>
                                      </p:cBhvr>
                                      <p:tavLst>
                                        <p:tav tm="0">
                                          <p:val>
                                            <p:strVal val="1+#ppt_w/2"/>
                                          </p:val>
                                        </p:tav>
                                        <p:tav tm="100000">
                                          <p:val>
                                            <p:strVal val="#ppt_x"/>
                                          </p:val>
                                        </p:tav>
                                      </p:tavLst>
                                    </p:anim>
                                    <p:anim calcmode="lin" valueType="num">
                                      <p:cBhvr additive="base">
                                        <p:cTn id="25" dur="500" fill="hold"/>
                                        <p:tgtEl>
                                          <p:spTgt spid="49187"/>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9188"/>
                                        </p:tgtEl>
                                        <p:attrNameLst>
                                          <p:attrName>style.visibility</p:attrName>
                                        </p:attrNameLst>
                                      </p:cBhvr>
                                      <p:to>
                                        <p:strVal val="visible"/>
                                      </p:to>
                                    </p:set>
                                    <p:animEffect transition="in" filter="blinds(horizontal)">
                                      <p:cBhvr>
                                        <p:cTn id="30" dur="500"/>
                                        <p:tgtEl>
                                          <p:spTgt spid="49188"/>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49189"/>
                                        </p:tgtEl>
                                        <p:attrNameLst>
                                          <p:attrName>style.visibility</p:attrName>
                                        </p:attrNameLst>
                                      </p:cBhvr>
                                      <p:to>
                                        <p:strVal val="visible"/>
                                      </p:to>
                                    </p:set>
                                    <p:anim calcmode="lin" valueType="num">
                                      <p:cBhvr additive="base">
                                        <p:cTn id="35" dur="500" fill="hold"/>
                                        <p:tgtEl>
                                          <p:spTgt spid="49189"/>
                                        </p:tgtEl>
                                        <p:attrNameLst>
                                          <p:attrName>ppt_x</p:attrName>
                                        </p:attrNameLst>
                                      </p:cBhvr>
                                      <p:tavLst>
                                        <p:tav tm="0">
                                          <p:val>
                                            <p:strVal val="0-#ppt_w/2"/>
                                          </p:val>
                                        </p:tav>
                                        <p:tav tm="100000">
                                          <p:val>
                                            <p:strVal val="#ppt_x"/>
                                          </p:val>
                                        </p:tav>
                                      </p:tavLst>
                                    </p:anim>
                                    <p:anim calcmode="lin" valueType="num">
                                      <p:cBhvr additive="base">
                                        <p:cTn id="36" dur="500" fill="hold"/>
                                        <p:tgtEl>
                                          <p:spTgt spid="49189"/>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49191"/>
                                        </p:tgtEl>
                                        <p:attrNameLst>
                                          <p:attrName>style.visibility</p:attrName>
                                        </p:attrNameLst>
                                      </p:cBhvr>
                                      <p:to>
                                        <p:strVal val="visible"/>
                                      </p:to>
                                    </p:set>
                                    <p:anim calcmode="lin" valueType="num">
                                      <p:cBhvr additive="base">
                                        <p:cTn id="41" dur="500" fill="hold"/>
                                        <p:tgtEl>
                                          <p:spTgt spid="49191"/>
                                        </p:tgtEl>
                                        <p:attrNameLst>
                                          <p:attrName>ppt_x</p:attrName>
                                        </p:attrNameLst>
                                      </p:cBhvr>
                                      <p:tavLst>
                                        <p:tav tm="0">
                                          <p:val>
                                            <p:strVal val="0-#ppt_w/2"/>
                                          </p:val>
                                        </p:tav>
                                        <p:tav tm="100000">
                                          <p:val>
                                            <p:strVal val="#ppt_x"/>
                                          </p:val>
                                        </p:tav>
                                      </p:tavLst>
                                    </p:anim>
                                    <p:anim calcmode="lin" valueType="num">
                                      <p:cBhvr additive="base">
                                        <p:cTn id="42" dur="500" fill="hold"/>
                                        <p:tgtEl>
                                          <p:spTgt spid="49191"/>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49194"/>
                                        </p:tgtEl>
                                        <p:attrNameLst>
                                          <p:attrName>style.visibility</p:attrName>
                                        </p:attrNameLst>
                                      </p:cBhvr>
                                      <p:to>
                                        <p:strVal val="visible"/>
                                      </p:to>
                                    </p:set>
                                    <p:anim calcmode="lin" valueType="num">
                                      <p:cBhvr additive="base">
                                        <p:cTn id="47" dur="500" fill="hold"/>
                                        <p:tgtEl>
                                          <p:spTgt spid="49194"/>
                                        </p:tgtEl>
                                        <p:attrNameLst>
                                          <p:attrName>ppt_x</p:attrName>
                                        </p:attrNameLst>
                                      </p:cBhvr>
                                      <p:tavLst>
                                        <p:tav tm="0">
                                          <p:val>
                                            <p:strVal val="0-#ppt_w/2"/>
                                          </p:val>
                                        </p:tav>
                                        <p:tav tm="100000">
                                          <p:val>
                                            <p:strVal val="#ppt_x"/>
                                          </p:val>
                                        </p:tav>
                                      </p:tavLst>
                                    </p:anim>
                                    <p:anim calcmode="lin" valueType="num">
                                      <p:cBhvr additive="base">
                                        <p:cTn id="48" dur="500" fill="hold"/>
                                        <p:tgtEl>
                                          <p:spTgt spid="49194"/>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49192"/>
                                        </p:tgtEl>
                                        <p:attrNameLst>
                                          <p:attrName>style.visibility</p:attrName>
                                        </p:attrNameLst>
                                      </p:cBhvr>
                                      <p:to>
                                        <p:strVal val="visible"/>
                                      </p:to>
                                    </p:set>
                                    <p:anim calcmode="lin" valueType="num">
                                      <p:cBhvr additive="base">
                                        <p:cTn id="53" dur="500" fill="hold"/>
                                        <p:tgtEl>
                                          <p:spTgt spid="49192"/>
                                        </p:tgtEl>
                                        <p:attrNameLst>
                                          <p:attrName>ppt_x</p:attrName>
                                        </p:attrNameLst>
                                      </p:cBhvr>
                                      <p:tavLst>
                                        <p:tav tm="0">
                                          <p:val>
                                            <p:strVal val="0-#ppt_w/2"/>
                                          </p:val>
                                        </p:tav>
                                        <p:tav tm="100000">
                                          <p:val>
                                            <p:strVal val="#ppt_x"/>
                                          </p:val>
                                        </p:tav>
                                      </p:tavLst>
                                    </p:anim>
                                    <p:anim calcmode="lin" valueType="num">
                                      <p:cBhvr additive="base">
                                        <p:cTn id="54" dur="500" fill="hold"/>
                                        <p:tgtEl>
                                          <p:spTgt spid="49192"/>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49202"/>
                                        </p:tgtEl>
                                        <p:attrNameLst>
                                          <p:attrName>style.visibility</p:attrName>
                                        </p:attrNameLst>
                                      </p:cBhvr>
                                      <p:to>
                                        <p:strVal val="visible"/>
                                      </p:to>
                                    </p:set>
                                    <p:anim calcmode="lin" valueType="num">
                                      <p:cBhvr additive="base">
                                        <p:cTn id="59" dur="500" fill="hold"/>
                                        <p:tgtEl>
                                          <p:spTgt spid="49202"/>
                                        </p:tgtEl>
                                        <p:attrNameLst>
                                          <p:attrName>ppt_x</p:attrName>
                                        </p:attrNameLst>
                                      </p:cBhvr>
                                      <p:tavLst>
                                        <p:tav tm="0">
                                          <p:val>
                                            <p:strVal val="0-#ppt_w/2"/>
                                          </p:val>
                                        </p:tav>
                                        <p:tav tm="100000">
                                          <p:val>
                                            <p:strVal val="#ppt_x"/>
                                          </p:val>
                                        </p:tav>
                                      </p:tavLst>
                                    </p:anim>
                                    <p:anim calcmode="lin" valueType="num">
                                      <p:cBhvr additive="base">
                                        <p:cTn id="60" dur="500" fill="hold"/>
                                        <p:tgtEl>
                                          <p:spTgt spid="49202"/>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49193"/>
                                        </p:tgtEl>
                                        <p:attrNameLst>
                                          <p:attrName>style.visibility</p:attrName>
                                        </p:attrNameLst>
                                      </p:cBhvr>
                                      <p:to>
                                        <p:strVal val="visible"/>
                                      </p:to>
                                    </p:set>
                                    <p:anim calcmode="lin" valueType="num">
                                      <p:cBhvr additive="base">
                                        <p:cTn id="65" dur="500" fill="hold"/>
                                        <p:tgtEl>
                                          <p:spTgt spid="49193"/>
                                        </p:tgtEl>
                                        <p:attrNameLst>
                                          <p:attrName>ppt_x</p:attrName>
                                        </p:attrNameLst>
                                      </p:cBhvr>
                                      <p:tavLst>
                                        <p:tav tm="0">
                                          <p:val>
                                            <p:strVal val="0-#ppt_w/2"/>
                                          </p:val>
                                        </p:tav>
                                        <p:tav tm="100000">
                                          <p:val>
                                            <p:strVal val="#ppt_x"/>
                                          </p:val>
                                        </p:tav>
                                      </p:tavLst>
                                    </p:anim>
                                    <p:anim calcmode="lin" valueType="num">
                                      <p:cBhvr additive="base">
                                        <p:cTn id="66" dur="500" fill="hold"/>
                                        <p:tgtEl>
                                          <p:spTgt spid="49193"/>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49195"/>
                                        </p:tgtEl>
                                        <p:attrNameLst>
                                          <p:attrName>style.visibility</p:attrName>
                                        </p:attrNameLst>
                                      </p:cBhvr>
                                      <p:to>
                                        <p:strVal val="visible"/>
                                      </p:to>
                                    </p:set>
                                    <p:animEffect transition="in" filter="blinds(horizontal)">
                                      <p:cBhvr>
                                        <p:cTn id="71" dur="500"/>
                                        <p:tgtEl>
                                          <p:spTgt spid="49195"/>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49196"/>
                                        </p:tgtEl>
                                        <p:attrNameLst>
                                          <p:attrName>style.visibility</p:attrName>
                                        </p:attrNameLst>
                                      </p:cBhvr>
                                      <p:to>
                                        <p:strVal val="visible"/>
                                      </p:to>
                                    </p:set>
                                    <p:anim calcmode="lin" valueType="num">
                                      <p:cBhvr additive="base">
                                        <p:cTn id="76" dur="500" fill="hold"/>
                                        <p:tgtEl>
                                          <p:spTgt spid="49196"/>
                                        </p:tgtEl>
                                        <p:attrNameLst>
                                          <p:attrName>ppt_x</p:attrName>
                                        </p:attrNameLst>
                                      </p:cBhvr>
                                      <p:tavLst>
                                        <p:tav tm="0">
                                          <p:val>
                                            <p:strVal val="0-#ppt_w/2"/>
                                          </p:val>
                                        </p:tav>
                                        <p:tav tm="100000">
                                          <p:val>
                                            <p:strVal val="#ppt_x"/>
                                          </p:val>
                                        </p:tav>
                                      </p:tavLst>
                                    </p:anim>
                                    <p:anim calcmode="lin" valueType="num">
                                      <p:cBhvr additive="base">
                                        <p:cTn id="77" dur="500" fill="hold"/>
                                        <p:tgtEl>
                                          <p:spTgt spid="491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85" grpId="0"/>
      <p:bldP spid="49186" grpId="0"/>
      <p:bldP spid="49187" grpId="0"/>
      <p:bldP spid="49188" grpId="0"/>
      <p:bldP spid="49189" grpId="0"/>
      <p:bldP spid="49191" grpId="0"/>
      <p:bldP spid="49192" grpId="0"/>
      <p:bldP spid="49193" grpId="0"/>
      <p:bldP spid="49195" grpId="0"/>
      <p:bldP spid="49196" grpId="0"/>
      <p:bldP spid="49198" grpId="0"/>
      <p:bldP spid="49202"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直接连接符 50177"/>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50185" name="文本框 50184"/>
          <p:cNvSpPr txBox="1"/>
          <p:nvPr/>
        </p:nvSpPr>
        <p:spPr>
          <a:xfrm>
            <a:off x="228600" y="762000"/>
            <a:ext cx="8915400" cy="460375"/>
          </a:xfrm>
          <a:prstGeom prst="rect">
            <a:avLst/>
          </a:prstGeom>
          <a:noFill/>
          <a:ln w="9525">
            <a:noFill/>
          </a:ln>
        </p:spPr>
        <p:txBody>
          <a:bodyPr>
            <a:spAutoFit/>
          </a:bodyPr>
          <a:lstStyle/>
          <a:p>
            <a:pPr algn="l">
              <a:spcBef>
                <a:spcPct val="50000"/>
              </a:spcBef>
            </a:pPr>
            <a:r>
              <a:rPr lang="zh-CN" altLang="en-US" b="1" dirty="0">
                <a:solidFill>
                  <a:srgbClr val="A02904"/>
                </a:solidFill>
                <a:latin typeface="楷体_GB2312" pitchFamily="49" charset="-122"/>
                <a:ea typeface="楷体_GB2312" pitchFamily="49" charset="-122"/>
              </a:rPr>
              <a:t>二、最小轴径的估算</a:t>
            </a:r>
            <a:endParaRPr lang="zh-CN" altLang="en-US" b="1" dirty="0">
              <a:solidFill>
                <a:srgbClr val="000000"/>
              </a:solidFill>
              <a:latin typeface="楷体_GB2312" pitchFamily="49" charset="-122"/>
              <a:ea typeface="楷体_GB2312" pitchFamily="49" charset="-122"/>
            </a:endParaRPr>
          </a:p>
        </p:txBody>
      </p:sp>
      <p:graphicFrame>
        <p:nvGraphicFramePr>
          <p:cNvPr id="50187" name="对象 50186"/>
          <p:cNvGraphicFramePr/>
          <p:nvPr/>
        </p:nvGraphicFramePr>
        <p:xfrm>
          <a:off x="323215" y="1268730"/>
          <a:ext cx="1701165" cy="739140"/>
        </p:xfrm>
        <a:graphic>
          <a:graphicData uri="http://schemas.openxmlformats.org/presentationml/2006/ole">
            <mc:AlternateContent xmlns:mc="http://schemas.openxmlformats.org/markup-compatibility/2006">
              <mc:Choice xmlns:v="urn:schemas-microsoft-com:vml" Requires="v">
                <p:oleObj spid="_x0000_s13385" name="" r:id="rId1" imgW="786765" imgH="444500" progId="Equation.3">
                  <p:embed/>
                </p:oleObj>
              </mc:Choice>
              <mc:Fallback>
                <p:oleObj name="" r:id="rId1" imgW="786765" imgH="444500" progId="Equation.3">
                  <p:embed/>
                  <p:pic>
                    <p:nvPicPr>
                      <p:cNvPr id="0" name="图片 3096"/>
                      <p:cNvPicPr/>
                      <p:nvPr/>
                    </p:nvPicPr>
                    <p:blipFill>
                      <a:blip r:embed="rId2"/>
                      <a:stretch>
                        <a:fillRect/>
                      </a:stretch>
                    </p:blipFill>
                    <p:spPr>
                      <a:xfrm>
                        <a:off x="323215" y="1268730"/>
                        <a:ext cx="1701165" cy="739140"/>
                      </a:xfrm>
                      <a:prstGeom prst="rect">
                        <a:avLst/>
                      </a:prstGeom>
                      <a:noFill/>
                      <a:ln w="38100">
                        <a:noFill/>
                        <a:miter/>
                      </a:ln>
                    </p:spPr>
                  </p:pic>
                </p:oleObj>
              </mc:Fallback>
            </mc:AlternateContent>
          </a:graphicData>
        </a:graphic>
      </p:graphicFrame>
      <p:sp>
        <p:nvSpPr>
          <p:cNvPr id="50188" name="文本框 50187"/>
          <p:cNvSpPr txBox="1"/>
          <p:nvPr/>
        </p:nvSpPr>
        <p:spPr>
          <a:xfrm>
            <a:off x="2195354" y="1354103"/>
            <a:ext cx="2434208" cy="768350"/>
          </a:xfrm>
          <a:prstGeom prst="rect">
            <a:avLst/>
          </a:prstGeom>
          <a:noFill/>
          <a:ln w="9525">
            <a:noFill/>
          </a:ln>
        </p:spPr>
        <p:txBody>
          <a:bodyPr wrap="square">
            <a:spAutoFit/>
          </a:bodyPr>
          <a:lstStyle/>
          <a:p>
            <a:pPr algn="l">
              <a:spcBef>
                <a:spcPct val="50000"/>
              </a:spcBef>
            </a:pPr>
            <a:r>
              <a:rPr lang="zh-CN" altLang="en-US" b="1" dirty="0">
                <a:solidFill>
                  <a:srgbClr val="000000"/>
                </a:solidFill>
                <a:latin typeface="Times New Roman" panose="02020603050405020304" pitchFamily="18" charset="0"/>
                <a:ea typeface="楷体_GB2312" pitchFamily="49" charset="-122"/>
              </a:rPr>
              <a:t>，</a:t>
            </a:r>
            <a:r>
              <a:rPr lang="zh-CN" altLang="en-US" sz="2000" dirty="0">
                <a:solidFill>
                  <a:srgbClr val="000000"/>
                </a:solidFill>
                <a:latin typeface="黑体" panose="02010609060101010101" pitchFamily="49" charset="-122"/>
                <a:ea typeface="黑体" panose="02010609060101010101" pitchFamily="49" charset="-122"/>
              </a:rPr>
              <a:t>估计各轴受扭段的最小轴径</a:t>
            </a:r>
            <a:endParaRPr lang="zh-CN" altLang="en-US" sz="2000" dirty="0">
              <a:solidFill>
                <a:srgbClr val="000000"/>
              </a:solidFill>
              <a:latin typeface="黑体" panose="02010609060101010101" pitchFamily="49" charset="-122"/>
              <a:ea typeface="黑体" panose="02010609060101010101" pitchFamily="49" charset="-122"/>
            </a:endParaRPr>
          </a:p>
        </p:txBody>
      </p:sp>
      <p:sp>
        <p:nvSpPr>
          <p:cNvPr id="50189" name="文本框 50188"/>
          <p:cNvSpPr txBox="1"/>
          <p:nvPr/>
        </p:nvSpPr>
        <p:spPr>
          <a:xfrm>
            <a:off x="323215" y="5295900"/>
            <a:ext cx="9144000" cy="398780"/>
          </a:xfrm>
          <a:prstGeom prst="rect">
            <a:avLst/>
          </a:prstGeom>
          <a:noFill/>
          <a:ln w="9525">
            <a:noFill/>
          </a:ln>
        </p:spPr>
        <p:txBody>
          <a:bodyPr>
            <a:spAutoFit/>
          </a:bodyPr>
          <a:lstStyle/>
          <a:p>
            <a:pPr algn="l">
              <a:spcBef>
                <a:spcPct val="50000"/>
              </a:spcBef>
            </a:pPr>
            <a:r>
              <a:rPr lang="en-US" altLang="zh-CN" sz="2000" dirty="0">
                <a:solidFill>
                  <a:srgbClr val="000000"/>
                </a:solidFill>
                <a:latin typeface="黑体" panose="02010609060101010101" pitchFamily="49" charset="-122"/>
                <a:ea typeface="黑体" panose="02010609060101010101" pitchFamily="49" charset="-122"/>
                <a:cs typeface="黑体" panose="02010609060101010101" pitchFamily="49" charset="-122"/>
              </a:rPr>
              <a:t>2</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）当</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此轴段上有键槽时，将</a:t>
            </a:r>
            <a:r>
              <a:rPr lang="en-US" altLang="zh-CN" sz="2000" i="1" dirty="0">
                <a:solidFill>
                  <a:srgbClr val="FF0000"/>
                </a:solidFill>
                <a:latin typeface="黑体" panose="02010609060101010101" pitchFamily="49" charset="-122"/>
                <a:ea typeface="黑体" panose="02010609060101010101" pitchFamily="49" charset="-122"/>
                <a:cs typeface="黑体" panose="02010609060101010101" pitchFamily="49" charset="-122"/>
              </a:rPr>
              <a:t>d </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按单、双键分别加大</a:t>
            </a:r>
            <a:r>
              <a:rPr lang="en-US" altLang="zh-CN" sz="2000" dirty="0">
                <a:solidFill>
                  <a:srgbClr val="FF0000"/>
                </a:solidFill>
                <a:latin typeface="黑体" panose="02010609060101010101" pitchFamily="49" charset="-122"/>
                <a:ea typeface="黑体" panose="02010609060101010101" pitchFamily="49" charset="-122"/>
                <a:cs typeface="黑体" panose="02010609060101010101" pitchFamily="49" charset="-122"/>
              </a:rPr>
              <a:t>4%</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或</a:t>
            </a:r>
            <a:r>
              <a:rPr lang="en-US" altLang="zh-CN" sz="2000" dirty="0">
                <a:solidFill>
                  <a:srgbClr val="FF0000"/>
                </a:solidFill>
                <a:latin typeface="黑体" panose="02010609060101010101" pitchFamily="49" charset="-122"/>
                <a:ea typeface="黑体" panose="02010609060101010101" pitchFamily="49" charset="-122"/>
                <a:cs typeface="黑体" panose="02010609060101010101" pitchFamily="49" charset="-122"/>
              </a:rPr>
              <a:t>7%</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后，取整数。</a:t>
            </a:r>
            <a:endPar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50190" name="文本框 50189"/>
          <p:cNvSpPr txBox="1"/>
          <p:nvPr/>
        </p:nvSpPr>
        <p:spPr>
          <a:xfrm>
            <a:off x="436880" y="4343400"/>
            <a:ext cx="8707120" cy="860425"/>
          </a:xfrm>
          <a:prstGeom prst="rect">
            <a:avLst/>
          </a:prstGeom>
          <a:noFill/>
          <a:ln w="9525">
            <a:noFill/>
          </a:ln>
        </p:spPr>
        <p:txBody>
          <a:bodyPr wrap="square">
            <a:spAutoFit/>
          </a:bodyPr>
          <a:lstStyle/>
          <a:p>
            <a:pPr algn="l">
              <a:spcBef>
                <a:spcPct val="50000"/>
              </a:spcBef>
            </a:pPr>
            <a:r>
              <a:rPr lang="en-US" altLang="zh-CN" sz="2000" dirty="0">
                <a:solidFill>
                  <a:srgbClr val="000000"/>
                </a:solidFill>
                <a:latin typeface="黑体" panose="02010609060101010101" pitchFamily="49" charset="-122"/>
                <a:ea typeface="黑体" panose="02010609060101010101" pitchFamily="49" charset="-122"/>
                <a:cs typeface="黑体" panose="02010609060101010101" pitchFamily="49" charset="-122"/>
              </a:rPr>
              <a:t>1</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a:t>
            </a:r>
            <a:r>
              <a:rPr lang="en-US" altLang="zh-CN" sz="2000" i="1" dirty="0">
                <a:solidFill>
                  <a:srgbClr val="000000"/>
                </a:solidFill>
                <a:latin typeface="黑体" panose="02010609060101010101" pitchFamily="49" charset="-122"/>
                <a:ea typeface="黑体" panose="02010609060101010101" pitchFamily="49" charset="-122"/>
                <a:cs typeface="黑体" panose="02010609060101010101" pitchFamily="49" charset="-122"/>
              </a:rPr>
              <a:t>C</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为由轴的许用扭切应力所确定的系数，与材料有关，查表确定。</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p>
            <a:pPr algn="l">
              <a:spcBef>
                <a:spcPct val="50000"/>
              </a:spcBef>
            </a:pP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注意：若为齿轮轴（上图</a:t>
            </a:r>
            <a:r>
              <a:rPr lang="en-US" altLang="zh-CN" sz="2000" dirty="0">
                <a:solidFill>
                  <a:srgbClr val="000000"/>
                </a:solidFill>
                <a:latin typeface="黑体" panose="02010609060101010101" pitchFamily="49" charset="-122"/>
                <a:ea typeface="黑体" panose="02010609060101010101" pitchFamily="49" charset="-122"/>
                <a:cs typeface="黑体" panose="02010609060101010101" pitchFamily="49" charset="-122"/>
              </a:rPr>
              <a:t>)</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，轴的材料即为齿轮的材料。 </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50191" name="文本框 50190"/>
          <p:cNvSpPr txBox="1"/>
          <p:nvPr/>
        </p:nvSpPr>
        <p:spPr>
          <a:xfrm>
            <a:off x="0" y="3733800"/>
            <a:ext cx="914400" cy="457200"/>
          </a:xfrm>
          <a:prstGeom prst="rect">
            <a:avLst/>
          </a:prstGeom>
          <a:noFill/>
          <a:ln w="9525">
            <a:noFill/>
          </a:ln>
        </p:spPr>
        <p:txBody>
          <a:bodyPr>
            <a:spAutoFit/>
          </a:bodyPr>
          <a:lstStyle/>
          <a:p>
            <a:pPr algn="l">
              <a:spcBef>
                <a:spcPct val="50000"/>
              </a:spcBef>
            </a:pPr>
            <a:r>
              <a:rPr lang="zh-CN" altLang="en-US" dirty="0">
                <a:solidFill>
                  <a:schemeClr val="folHlink"/>
                </a:solidFill>
                <a:latin typeface="Times New Roman" panose="02020603050405020304" pitchFamily="18" charset="0"/>
              </a:rPr>
              <a:t>说明：</a:t>
            </a:r>
            <a:endParaRPr lang="zh-CN" altLang="en-US">
              <a:solidFill>
                <a:schemeClr val="folHlink"/>
              </a:solidFill>
              <a:latin typeface="Times New Roman" panose="02020603050405020304" pitchFamily="18" charset="0"/>
            </a:endParaRPr>
          </a:p>
        </p:txBody>
      </p:sp>
      <p:sp>
        <p:nvSpPr>
          <p:cNvPr id="50194" name="文本框 50193"/>
          <p:cNvSpPr txBox="1"/>
          <p:nvPr/>
        </p:nvSpPr>
        <p:spPr>
          <a:xfrm>
            <a:off x="457200" y="5877560"/>
            <a:ext cx="8001000" cy="398780"/>
          </a:xfrm>
          <a:prstGeom prst="rect">
            <a:avLst/>
          </a:prstGeom>
          <a:noFill/>
          <a:ln w="9525">
            <a:noFill/>
          </a:ln>
        </p:spPr>
        <p:txBody>
          <a:bodyPr>
            <a:spAutoFit/>
          </a:bodyPr>
          <a:lstStyle/>
          <a:p>
            <a:pPr algn="l">
              <a:spcBef>
                <a:spcPct val="50000"/>
              </a:spcBef>
            </a:pPr>
            <a:r>
              <a:rPr lang="zh-CN" altLang="en-US" sz="2000" b="1" dirty="0">
                <a:solidFill>
                  <a:srgbClr val="000000"/>
                </a:solidFill>
                <a:latin typeface="黑体" panose="02010609060101010101" pitchFamily="49" charset="-122"/>
                <a:ea typeface="黑体" panose="02010609060101010101" pitchFamily="49" charset="-122"/>
              </a:rPr>
              <a:t>若最小轴径处装标准件时，最小轴径应与标准件的孔径匹配。</a:t>
            </a:r>
            <a:endParaRPr lang="zh-CN" altLang="en-US" sz="2000" b="1" dirty="0">
              <a:solidFill>
                <a:srgbClr val="000000"/>
              </a:solidFill>
              <a:latin typeface="黑体" panose="02010609060101010101" pitchFamily="49" charset="-122"/>
              <a:ea typeface="黑体" panose="02010609060101010101" pitchFamily="49" charset="-122"/>
            </a:endParaRPr>
          </a:p>
        </p:txBody>
      </p:sp>
      <p:sp>
        <p:nvSpPr>
          <p:cNvPr id="50195" name="文本框 50194"/>
          <p:cNvSpPr txBox="1"/>
          <p:nvPr/>
        </p:nvSpPr>
        <p:spPr>
          <a:xfrm>
            <a:off x="3733800" y="838200"/>
            <a:ext cx="5105400" cy="457200"/>
          </a:xfrm>
          <a:prstGeom prst="rect">
            <a:avLst/>
          </a:prstGeom>
          <a:noFill/>
          <a:ln w="9525">
            <a:noFill/>
          </a:ln>
        </p:spPr>
        <p:txBody>
          <a:bodyPr>
            <a:spAutoFit/>
          </a:bodyPr>
          <a:lstStyle/>
          <a:p>
            <a:pPr algn="l">
              <a:spcBef>
                <a:spcPct val="50000"/>
              </a:spcBef>
            </a:pPr>
            <a:endParaRPr dirty="0">
              <a:latin typeface="Times New Roman" panose="02020603050405020304" pitchFamily="18" charset="0"/>
            </a:endParaRPr>
          </a:p>
        </p:txBody>
      </p:sp>
      <p:grpSp>
        <p:nvGrpSpPr>
          <p:cNvPr id="50197" name="组合 50196"/>
          <p:cNvGrpSpPr/>
          <p:nvPr/>
        </p:nvGrpSpPr>
        <p:grpSpPr>
          <a:xfrm>
            <a:off x="8115300" y="6515100"/>
            <a:ext cx="1028700" cy="342900"/>
            <a:chOff x="5112" y="4104"/>
            <a:chExt cx="648" cy="216"/>
          </a:xfrm>
        </p:grpSpPr>
        <p:pic>
          <p:nvPicPr>
            <p:cNvPr id="50198" name="图片 50197" descr="返回">
              <a:hlinkClick r:id="rId3" action="ppaction://hlinksldjump"/>
            </p:cNvPr>
            <p:cNvPicPr>
              <a:picLocks noChangeAspect="1"/>
            </p:cNvPicPr>
            <p:nvPr/>
          </p:nvPicPr>
          <p:blipFill>
            <a:blip r:embed="rId4"/>
            <a:stretch>
              <a:fillRect/>
            </a:stretch>
          </p:blipFill>
          <p:spPr>
            <a:xfrm>
              <a:off x="5112" y="4104"/>
              <a:ext cx="216" cy="216"/>
            </a:xfrm>
            <a:prstGeom prst="rect">
              <a:avLst/>
            </a:prstGeom>
            <a:noFill/>
            <a:ln w="9525">
              <a:noFill/>
            </a:ln>
          </p:spPr>
        </p:pic>
        <p:grpSp>
          <p:nvGrpSpPr>
            <p:cNvPr id="50199" name="组合 50198"/>
            <p:cNvGrpSpPr/>
            <p:nvPr/>
          </p:nvGrpSpPr>
          <p:grpSpPr>
            <a:xfrm>
              <a:off x="5352" y="4104"/>
              <a:ext cx="408" cy="216"/>
              <a:chOff x="5232" y="4100"/>
              <a:chExt cx="408" cy="216"/>
            </a:xfrm>
          </p:grpSpPr>
          <p:pic>
            <p:nvPicPr>
              <p:cNvPr id="50200" name="图片 50199" descr="下一步">
                <a:hlinkClick r:id="" action="ppaction://hlinkshowjump?jump=nextslide"/>
              </p:cNvPr>
              <p:cNvPicPr>
                <a:picLocks noChangeAspect="1"/>
              </p:cNvPicPr>
              <p:nvPr/>
            </p:nvPicPr>
            <p:blipFill>
              <a:blip r:embed="rId5"/>
              <a:stretch>
                <a:fillRect/>
              </a:stretch>
            </p:blipFill>
            <p:spPr>
              <a:xfrm>
                <a:off x="5424" y="4100"/>
                <a:ext cx="216" cy="216"/>
              </a:xfrm>
              <a:prstGeom prst="rect">
                <a:avLst/>
              </a:prstGeom>
              <a:noFill/>
              <a:ln w="9525">
                <a:noFill/>
              </a:ln>
            </p:spPr>
          </p:pic>
          <p:pic>
            <p:nvPicPr>
              <p:cNvPr id="50201" name="图片 50200" descr="上一步">
                <a:hlinkClick r:id="" action="ppaction://hlinkshowjump?jump=previousslide"/>
              </p:cNvPr>
              <p:cNvPicPr>
                <a:picLocks noChangeAspect="1"/>
              </p:cNvPicPr>
              <p:nvPr/>
            </p:nvPicPr>
            <p:blipFill>
              <a:blip r:embed="rId6"/>
              <a:stretch>
                <a:fillRect/>
              </a:stretch>
            </p:blipFill>
            <p:spPr>
              <a:xfrm>
                <a:off x="5232" y="4100"/>
                <a:ext cx="216" cy="216"/>
              </a:xfrm>
              <a:prstGeom prst="rect">
                <a:avLst/>
              </a:prstGeom>
              <a:noFill/>
              <a:ln w="9525">
                <a:noFill/>
              </a:ln>
            </p:spPr>
          </p:pic>
        </p:grpSp>
      </p:grpSp>
      <p:pic>
        <p:nvPicPr>
          <p:cNvPr id="50202" name="图片 50201" descr="齿轮轴"/>
          <p:cNvPicPr>
            <a:picLocks noChangeAspect="1"/>
          </p:cNvPicPr>
          <p:nvPr/>
        </p:nvPicPr>
        <p:blipFill>
          <a:blip r:embed="rId7"/>
          <a:stretch>
            <a:fillRect/>
          </a:stretch>
        </p:blipFill>
        <p:spPr>
          <a:xfrm>
            <a:off x="4817436" y="836712"/>
            <a:ext cx="4343400" cy="2668588"/>
          </a:xfrm>
          <a:prstGeom prst="rect">
            <a:avLst/>
          </a:prstGeom>
          <a:noFill/>
          <a:ln w="9525">
            <a:noFill/>
          </a:ln>
        </p:spPr>
      </p:pic>
      <p:pic>
        <p:nvPicPr>
          <p:cNvPr id="50203" name="图片 50202" descr="齿轮轴"/>
          <p:cNvPicPr>
            <a:picLocks noChangeAspect="1"/>
          </p:cNvPicPr>
          <p:nvPr/>
        </p:nvPicPr>
        <p:blipFill>
          <a:blip r:embed="rId8"/>
          <a:srcRect r="56007" b="45454"/>
          <a:stretch>
            <a:fillRect/>
          </a:stretch>
        </p:blipFill>
        <p:spPr>
          <a:xfrm>
            <a:off x="1259205" y="2122170"/>
            <a:ext cx="2819400" cy="1524000"/>
          </a:xfrm>
          <a:prstGeom prst="rect">
            <a:avLst/>
          </a:prstGeom>
          <a:noFill/>
          <a:ln w="9525">
            <a:noFill/>
          </a:ln>
        </p:spPr>
      </p:pic>
      <p:graphicFrame>
        <p:nvGraphicFramePr>
          <p:cNvPr id="50204" name="对象 50203"/>
          <p:cNvGraphicFramePr/>
          <p:nvPr/>
        </p:nvGraphicFramePr>
        <p:xfrm>
          <a:off x="1188085" y="3860800"/>
          <a:ext cx="4273550" cy="390525"/>
        </p:xfrm>
        <a:graphic>
          <a:graphicData uri="http://schemas.openxmlformats.org/presentationml/2006/ole">
            <mc:AlternateContent xmlns:mc="http://schemas.openxmlformats.org/markup-compatibility/2006">
              <mc:Choice xmlns:v="urn:schemas-microsoft-com:vml" Requires="v">
                <p:oleObj spid="_x0000_s13386" name="" r:id="rId9" imgW="2220595" imgH="203200" progId="Equation.3">
                  <p:embed/>
                </p:oleObj>
              </mc:Choice>
              <mc:Fallback>
                <p:oleObj name="" r:id="rId9" imgW="2220595" imgH="203200" progId="Equation.3">
                  <p:embed/>
                  <p:pic>
                    <p:nvPicPr>
                      <p:cNvPr id="0" name="图片 3097"/>
                      <p:cNvPicPr/>
                      <p:nvPr/>
                    </p:nvPicPr>
                    <p:blipFill>
                      <a:blip r:embed="rId10"/>
                      <a:stretch>
                        <a:fillRect/>
                      </a:stretch>
                    </p:blipFill>
                    <p:spPr>
                      <a:xfrm>
                        <a:off x="1188085" y="3860800"/>
                        <a:ext cx="4273550" cy="390525"/>
                      </a:xfrm>
                      <a:prstGeom prst="rect">
                        <a:avLst/>
                      </a:prstGeom>
                      <a:noFill/>
                      <a:ln w="38100">
                        <a:noFill/>
                        <a:miter/>
                      </a:ln>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187"/>
                                        </p:tgtEl>
                                        <p:attrNameLst>
                                          <p:attrName>style.visibility</p:attrName>
                                        </p:attrNameLst>
                                      </p:cBhvr>
                                      <p:to>
                                        <p:strVal val="visible"/>
                                      </p:to>
                                    </p:set>
                                    <p:anim calcmode="lin" valueType="num">
                                      <p:cBhvr additive="base">
                                        <p:cTn id="7" dur="500" fill="hold"/>
                                        <p:tgtEl>
                                          <p:spTgt spid="50187"/>
                                        </p:tgtEl>
                                        <p:attrNameLst>
                                          <p:attrName>ppt_x</p:attrName>
                                        </p:attrNameLst>
                                      </p:cBhvr>
                                      <p:tavLst>
                                        <p:tav tm="0">
                                          <p:val>
                                            <p:strVal val="0-#ppt_w/2"/>
                                          </p:val>
                                        </p:tav>
                                        <p:tav tm="100000">
                                          <p:val>
                                            <p:strVal val="#ppt_x"/>
                                          </p:val>
                                        </p:tav>
                                      </p:tavLst>
                                    </p:anim>
                                    <p:anim calcmode="lin" valueType="num">
                                      <p:cBhvr additive="base">
                                        <p:cTn id="8" dur="500" fill="hold"/>
                                        <p:tgtEl>
                                          <p:spTgt spid="501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0188"/>
                                        </p:tgtEl>
                                        <p:attrNameLst>
                                          <p:attrName>style.visibility</p:attrName>
                                        </p:attrNameLst>
                                      </p:cBhvr>
                                      <p:to>
                                        <p:strVal val="visible"/>
                                      </p:to>
                                    </p:set>
                                    <p:anim calcmode="lin" valueType="num">
                                      <p:cBhvr additive="base">
                                        <p:cTn id="13" dur="500" fill="hold"/>
                                        <p:tgtEl>
                                          <p:spTgt spid="50188"/>
                                        </p:tgtEl>
                                        <p:attrNameLst>
                                          <p:attrName>ppt_x</p:attrName>
                                        </p:attrNameLst>
                                      </p:cBhvr>
                                      <p:tavLst>
                                        <p:tav tm="0">
                                          <p:val>
                                            <p:strVal val="0-#ppt_w/2"/>
                                          </p:val>
                                        </p:tav>
                                        <p:tav tm="100000">
                                          <p:val>
                                            <p:strVal val="#ppt_x"/>
                                          </p:val>
                                        </p:tav>
                                      </p:tavLst>
                                    </p:anim>
                                    <p:anim calcmode="lin" valueType="num">
                                      <p:cBhvr additive="base">
                                        <p:cTn id="14" dur="500" fill="hold"/>
                                        <p:tgtEl>
                                          <p:spTgt spid="5018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50191"/>
                                        </p:tgtEl>
                                        <p:attrNameLst>
                                          <p:attrName>style.visibility</p:attrName>
                                        </p:attrNameLst>
                                      </p:cBhvr>
                                      <p:to>
                                        <p:strVal val="visible"/>
                                      </p:to>
                                    </p:set>
                                    <p:animEffect transition="in" filter="blinds(horizontal)">
                                      <p:cBhvr>
                                        <p:cTn id="19" dur="500"/>
                                        <p:tgtEl>
                                          <p:spTgt spid="50191"/>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50190"/>
                                        </p:tgtEl>
                                        <p:attrNameLst>
                                          <p:attrName>style.visibility</p:attrName>
                                        </p:attrNameLst>
                                      </p:cBhvr>
                                      <p:to>
                                        <p:strVal val="visible"/>
                                      </p:to>
                                    </p:set>
                                    <p:anim calcmode="lin" valueType="num">
                                      <p:cBhvr additive="base">
                                        <p:cTn id="24" dur="500" fill="hold"/>
                                        <p:tgtEl>
                                          <p:spTgt spid="50190"/>
                                        </p:tgtEl>
                                        <p:attrNameLst>
                                          <p:attrName>ppt_x</p:attrName>
                                        </p:attrNameLst>
                                      </p:cBhvr>
                                      <p:tavLst>
                                        <p:tav tm="0">
                                          <p:val>
                                            <p:strVal val="0-#ppt_w/2"/>
                                          </p:val>
                                        </p:tav>
                                        <p:tav tm="100000">
                                          <p:val>
                                            <p:strVal val="#ppt_x"/>
                                          </p:val>
                                        </p:tav>
                                      </p:tavLst>
                                    </p:anim>
                                    <p:anim calcmode="lin" valueType="num">
                                      <p:cBhvr additive="base">
                                        <p:cTn id="25" dur="500" fill="hold"/>
                                        <p:tgtEl>
                                          <p:spTgt spid="50190"/>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50202"/>
                                        </p:tgtEl>
                                        <p:attrNameLst>
                                          <p:attrName>style.visibility</p:attrName>
                                        </p:attrNameLst>
                                      </p:cBhvr>
                                      <p:to>
                                        <p:strVal val="visible"/>
                                      </p:to>
                                    </p:set>
                                    <p:anim calcmode="lin" valueType="num">
                                      <p:cBhvr additive="base">
                                        <p:cTn id="30" dur="500" fill="hold"/>
                                        <p:tgtEl>
                                          <p:spTgt spid="50202"/>
                                        </p:tgtEl>
                                        <p:attrNameLst>
                                          <p:attrName>ppt_x</p:attrName>
                                        </p:attrNameLst>
                                      </p:cBhvr>
                                      <p:tavLst>
                                        <p:tav tm="0">
                                          <p:val>
                                            <p:strVal val="0-#ppt_w/2"/>
                                          </p:val>
                                        </p:tav>
                                        <p:tav tm="100000">
                                          <p:val>
                                            <p:strVal val="#ppt_x"/>
                                          </p:val>
                                        </p:tav>
                                      </p:tavLst>
                                    </p:anim>
                                    <p:anim calcmode="lin" valueType="num">
                                      <p:cBhvr additive="base">
                                        <p:cTn id="31" dur="500" fill="hold"/>
                                        <p:tgtEl>
                                          <p:spTgt spid="50202"/>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499"/>
                                          </p:stCondLst>
                                        </p:cTn>
                                        <p:tgtEl>
                                          <p:spTgt spid="5020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50204"/>
                                        </p:tgtEl>
                                        <p:attrNameLst>
                                          <p:attrName>style.visibility</p:attrName>
                                        </p:attrNameLst>
                                      </p:cBhvr>
                                      <p:to>
                                        <p:strVal val="visible"/>
                                      </p:to>
                                    </p:set>
                                    <p:anim calcmode="lin" valueType="num">
                                      <p:cBhvr additive="base">
                                        <p:cTn id="39" dur="500" fill="hold"/>
                                        <p:tgtEl>
                                          <p:spTgt spid="50204"/>
                                        </p:tgtEl>
                                        <p:attrNameLst>
                                          <p:attrName>ppt_x</p:attrName>
                                        </p:attrNameLst>
                                      </p:cBhvr>
                                      <p:tavLst>
                                        <p:tav tm="0">
                                          <p:val>
                                            <p:strVal val="0-#ppt_w/2"/>
                                          </p:val>
                                        </p:tav>
                                        <p:tav tm="100000">
                                          <p:val>
                                            <p:strVal val="#ppt_x"/>
                                          </p:val>
                                        </p:tav>
                                      </p:tavLst>
                                    </p:anim>
                                    <p:anim calcmode="lin" valueType="num">
                                      <p:cBhvr additive="base">
                                        <p:cTn id="40" dur="500" fill="hold"/>
                                        <p:tgtEl>
                                          <p:spTgt spid="5020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50189"/>
                                        </p:tgtEl>
                                        <p:attrNameLst>
                                          <p:attrName>style.visibility</p:attrName>
                                        </p:attrNameLst>
                                      </p:cBhvr>
                                      <p:to>
                                        <p:strVal val="visible"/>
                                      </p:to>
                                    </p:set>
                                    <p:anim calcmode="lin" valueType="num">
                                      <p:cBhvr additive="base">
                                        <p:cTn id="45" dur="500" fill="hold"/>
                                        <p:tgtEl>
                                          <p:spTgt spid="50189"/>
                                        </p:tgtEl>
                                        <p:attrNameLst>
                                          <p:attrName>ppt_x</p:attrName>
                                        </p:attrNameLst>
                                      </p:cBhvr>
                                      <p:tavLst>
                                        <p:tav tm="0">
                                          <p:val>
                                            <p:strVal val="0-#ppt_w/2"/>
                                          </p:val>
                                        </p:tav>
                                        <p:tav tm="100000">
                                          <p:val>
                                            <p:strVal val="#ppt_x"/>
                                          </p:val>
                                        </p:tav>
                                      </p:tavLst>
                                    </p:anim>
                                    <p:anim calcmode="lin" valueType="num">
                                      <p:cBhvr additive="base">
                                        <p:cTn id="46" dur="500" fill="hold"/>
                                        <p:tgtEl>
                                          <p:spTgt spid="50189"/>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50194"/>
                                        </p:tgtEl>
                                        <p:attrNameLst>
                                          <p:attrName>style.visibility</p:attrName>
                                        </p:attrNameLst>
                                      </p:cBhvr>
                                      <p:to>
                                        <p:strVal val="visible"/>
                                      </p:to>
                                    </p:set>
                                    <p:anim calcmode="lin" valueType="num">
                                      <p:cBhvr additive="base">
                                        <p:cTn id="51" dur="500" fill="hold"/>
                                        <p:tgtEl>
                                          <p:spTgt spid="50194"/>
                                        </p:tgtEl>
                                        <p:attrNameLst>
                                          <p:attrName>ppt_x</p:attrName>
                                        </p:attrNameLst>
                                      </p:cBhvr>
                                      <p:tavLst>
                                        <p:tav tm="0">
                                          <p:val>
                                            <p:strVal val="0-#ppt_w/2"/>
                                          </p:val>
                                        </p:tav>
                                        <p:tav tm="100000">
                                          <p:val>
                                            <p:strVal val="#ppt_x"/>
                                          </p:val>
                                        </p:tav>
                                      </p:tavLst>
                                    </p:anim>
                                    <p:anim calcmode="lin" valueType="num">
                                      <p:cBhvr additive="base">
                                        <p:cTn id="52" dur="500" fill="hold"/>
                                        <p:tgtEl>
                                          <p:spTgt spid="501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8" grpId="0"/>
      <p:bldP spid="50189" grpId="0"/>
      <p:bldP spid="50190" grpId="0"/>
      <p:bldP spid="50191" grpId="0"/>
      <p:bldP spid="50194"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a:spLocks noChangeArrowheads="1"/>
          </p:cNvSpPr>
          <p:nvPr/>
        </p:nvSpPr>
        <p:spPr bwMode="auto">
          <a:xfrm>
            <a:off x="611188" y="1124585"/>
            <a:ext cx="647382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gn="l"/>
            <a:r>
              <a:rPr lang="en-US" altLang="zh-CN">
                <a:solidFill>
                  <a:srgbClr val="C00000"/>
                </a:solidFill>
              </a:rPr>
              <a:t>1</a:t>
            </a:r>
            <a:r>
              <a:rPr lang="zh-CN" altLang="en-US">
                <a:solidFill>
                  <a:srgbClr val="C00000"/>
                </a:solidFill>
              </a:rPr>
              <a:t>）</a:t>
            </a:r>
            <a:r>
              <a:rPr lang="en-US" altLang="zh-CN">
                <a:solidFill>
                  <a:srgbClr val="C00000"/>
                </a:solidFill>
              </a:rPr>
              <a:t> </a:t>
            </a:r>
            <a:r>
              <a:rPr lang="zh-CN" altLang="zh-CN">
                <a:solidFill>
                  <a:srgbClr val="C00000"/>
                </a:solidFill>
              </a:rPr>
              <a:t>初步确定轴的最小直径</a:t>
            </a:r>
            <a:endParaRPr lang="zh-CN" altLang="en-US">
              <a:solidFill>
                <a:srgbClr val="C00000"/>
              </a:solidFill>
            </a:endParaRPr>
          </a:p>
        </p:txBody>
      </p:sp>
      <p:sp>
        <p:nvSpPr>
          <p:cNvPr id="10" name="文本框 9"/>
          <p:cNvSpPr txBox="1">
            <a:spLocks noChangeArrowheads="1"/>
          </p:cNvSpPr>
          <p:nvPr/>
        </p:nvSpPr>
        <p:spPr bwMode="auto">
          <a:xfrm>
            <a:off x="320675" y="1555750"/>
            <a:ext cx="87090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由式（</a:t>
            </a:r>
            <a:r>
              <a:rPr lang="en-US" altLang="zh-CN"/>
              <a:t>3.7-2</a:t>
            </a:r>
            <a:r>
              <a:rPr lang="zh-CN" altLang="zh-CN"/>
              <a:t>）初步估算轴的最小直径。选取轴的材料</a:t>
            </a:r>
            <a:r>
              <a:rPr lang="en-US" altLang="zh-CN"/>
              <a:t>45</a:t>
            </a:r>
            <a:r>
              <a:rPr lang="zh-CN" altLang="zh-CN"/>
              <a:t>钢，调制处理。根据表</a:t>
            </a:r>
            <a:r>
              <a:rPr lang="en-US" altLang="zh-CN"/>
              <a:t>3.7-6</a:t>
            </a:r>
            <a:r>
              <a:rPr lang="zh-CN" altLang="zh-CN"/>
              <a:t>，取</a:t>
            </a:r>
            <a:r>
              <a:rPr lang="en-US" altLang="zh-CN"/>
              <a:t>C=112,</a:t>
            </a:r>
            <a:r>
              <a:rPr lang="zh-CN" altLang="zh-CN"/>
              <a:t>于是得</a:t>
            </a:r>
            <a:endParaRPr lang="zh-CN" altLang="zh-CN"/>
          </a:p>
        </p:txBody>
      </p:sp>
      <p:sp>
        <p:nvSpPr>
          <p:cNvPr id="11" name="文本框 10"/>
          <p:cNvSpPr txBox="1">
            <a:spLocks noRot="1" noChangeAspect="1" noMove="1" noResize="1" noEditPoints="1" noAdjustHandles="1" noChangeArrowheads="1" noChangeShapeType="1" noTextEdit="1"/>
          </p:cNvSpPr>
          <p:nvPr/>
        </p:nvSpPr>
        <p:spPr>
          <a:xfrm>
            <a:off x="1995054" y="2736342"/>
            <a:ext cx="4740030" cy="737766"/>
          </a:xfrm>
          <a:prstGeom prst="rect">
            <a:avLst/>
          </a:prstGeom>
          <a:blipFill>
            <a:blip r:embed="rId4"/>
            <a:stretch>
              <a:fillRect/>
            </a:stretch>
          </a:blipFill>
        </p:spPr>
        <p:txBody>
          <a:bodyPr/>
          <a:lstStyle/>
          <a:p>
            <a:pPr>
              <a:defRPr/>
            </a:pPr>
            <a:r>
              <a:rPr lang="zh-CN" altLang="en-US">
                <a:noFill/>
              </a:rPr>
              <a:t> </a:t>
            </a:r>
            <a:endParaRPr lang="zh-CN" altLang="en-US">
              <a:noFill/>
            </a:endParaRPr>
          </a:p>
        </p:txBody>
      </p:sp>
      <p:sp>
        <p:nvSpPr>
          <p:cNvPr id="12" name="文本框 11"/>
          <p:cNvSpPr txBox="1">
            <a:spLocks noRot="1" noChangeAspect="1" noMove="1" noResize="1" noEditPoints="1" noAdjustHandles="1" noChangeArrowheads="1" noChangeShapeType="1" noTextEdit="1"/>
          </p:cNvSpPr>
          <p:nvPr/>
        </p:nvSpPr>
        <p:spPr>
          <a:xfrm>
            <a:off x="1286524" y="4163804"/>
            <a:ext cx="3851563" cy="400110"/>
          </a:xfrm>
          <a:prstGeom prst="rect">
            <a:avLst/>
          </a:prstGeom>
          <a:blipFill>
            <a:blip r:embed="rId5"/>
            <a:stretch>
              <a:fillRect l="-1741" t="-7576" r="-316" b="-25758"/>
            </a:stretch>
          </a:blipFill>
        </p:spPr>
        <p:txBody>
          <a:bodyPr/>
          <a:lstStyle/>
          <a:p>
            <a:pPr>
              <a:defRPr/>
            </a:pPr>
            <a:r>
              <a:rPr lang="zh-CN" altLang="en-US">
                <a:noFill/>
              </a:rPr>
              <a:t> </a:t>
            </a:r>
            <a:endParaRPr lang="zh-CN" altLang="en-US">
              <a:noFill/>
            </a:endParaRPr>
          </a:p>
        </p:txBody>
      </p:sp>
      <p:sp>
        <p:nvSpPr>
          <p:cNvPr id="14" name="文本框 13"/>
          <p:cNvSpPr txBox="1">
            <a:spLocks noChangeArrowheads="1"/>
          </p:cNvSpPr>
          <p:nvPr/>
        </p:nvSpPr>
        <p:spPr bwMode="auto">
          <a:xfrm>
            <a:off x="824230" y="4953000"/>
            <a:ext cx="25939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a:solidFill>
                  <a:srgbClr val="C00000"/>
                </a:solidFill>
              </a:rPr>
              <a:t>2</a:t>
            </a:r>
            <a:r>
              <a:rPr lang="zh-CN" altLang="en-US">
                <a:solidFill>
                  <a:srgbClr val="C00000"/>
                </a:solidFill>
              </a:rPr>
              <a:t>）</a:t>
            </a:r>
            <a:r>
              <a:rPr lang="zh-CN" altLang="zh-CN">
                <a:solidFill>
                  <a:srgbClr val="C00000"/>
                </a:solidFill>
              </a:rPr>
              <a:t>轴的结构设计</a:t>
            </a:r>
            <a:endParaRPr lang="zh-CN" altLang="zh-CN">
              <a:solidFill>
                <a:srgbClr val="C00000"/>
              </a:solidFill>
            </a:endParaRPr>
          </a:p>
        </p:txBody>
      </p:sp>
      <p:sp>
        <p:nvSpPr>
          <p:cNvPr id="18" name="文本框 17"/>
          <p:cNvSpPr txBox="1">
            <a:spLocks noChangeArrowheads="1"/>
          </p:cNvSpPr>
          <p:nvPr/>
        </p:nvSpPr>
        <p:spPr bwMode="auto">
          <a:xfrm>
            <a:off x="823913" y="5402898"/>
            <a:ext cx="6234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a:t>（</a:t>
            </a:r>
            <a:r>
              <a:rPr lang="en-US" altLang="zh-CN"/>
              <a:t>1</a:t>
            </a:r>
            <a:r>
              <a:rPr lang="zh-CN" altLang="en-US"/>
              <a:t>）</a:t>
            </a:r>
            <a:r>
              <a:rPr lang="zh-CN" altLang="zh-CN"/>
              <a:t>根据轴上所需装配的零件进行轴的结构方案设计</a:t>
            </a:r>
            <a:endParaRPr lang="zh-CN" altLang="zh-CN"/>
          </a:p>
        </p:txBody>
      </p:sp>
      <p:sp>
        <p:nvSpPr>
          <p:cNvPr id="22" name="文本框 21"/>
          <p:cNvSpPr txBox="1">
            <a:spLocks noChangeArrowheads="1"/>
          </p:cNvSpPr>
          <p:nvPr/>
        </p:nvSpPr>
        <p:spPr bwMode="auto">
          <a:xfrm>
            <a:off x="887413" y="5853430"/>
            <a:ext cx="4978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t>先拟定轴的结构草图如下，如图</a:t>
            </a:r>
            <a:r>
              <a:rPr lang="en-US" altLang="zh-CN"/>
              <a:t>3.7</a:t>
            </a:r>
            <a:r>
              <a:rPr lang="zh-CN" altLang="zh-CN"/>
              <a:t>—</a:t>
            </a:r>
            <a:r>
              <a:rPr lang="en-US" altLang="zh-CN"/>
              <a:t>21</a:t>
            </a:r>
            <a:r>
              <a:rPr lang="zh-CN" altLang="zh-CN"/>
              <a:t>。</a:t>
            </a:r>
            <a:endParaRPr lang="zh-CN" altLang="zh-CN"/>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文本框 2"/>
          <p:cNvSpPr txBox="1"/>
          <p:nvPr/>
        </p:nvSpPr>
        <p:spPr>
          <a:xfrm>
            <a:off x="1040765" y="3619500"/>
            <a:ext cx="7268210" cy="398780"/>
          </a:xfrm>
          <a:prstGeom prst="rect">
            <a:avLst/>
          </a:prstGeom>
          <a:noFill/>
        </p:spPr>
        <p:txBody>
          <a:bodyPr wrap="square" rtlCol="0">
            <a:spAutoFit/>
          </a:bodyPr>
          <a:p>
            <a:r>
              <a:rPr lang="zh-CN" altLang="en-US"/>
              <a:t>最小直径轴段装配大带轮，因此查表</a:t>
            </a:r>
            <a:r>
              <a:rPr lang="en-US" altLang="zh-CN"/>
              <a:t>3.7-5 </a:t>
            </a:r>
            <a:endParaRPr lang="en-US" altLang="zh-CN"/>
          </a:p>
        </p:txBody>
      </p:sp>
      <p:sp>
        <p:nvSpPr>
          <p:cNvPr id="4" name="文本框 3"/>
          <p:cNvSpPr txBox="1"/>
          <p:nvPr/>
        </p:nvSpPr>
        <p:spPr>
          <a:xfrm>
            <a:off x="2621915" y="193675"/>
            <a:ext cx="4450080" cy="460375"/>
          </a:xfrm>
          <a:prstGeom prst="rect">
            <a:avLst/>
          </a:prstGeom>
          <a:noFill/>
        </p:spPr>
        <p:txBody>
          <a:bodyPr wrap="none" rtlCol="0" anchor="t">
            <a:spAutoFit/>
          </a:bodyPr>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  </a:t>
            </a:r>
            <a:r>
              <a:rPr lang="zh-CN" altLang="zh-CN" sz="2400">
                <a:solidFill>
                  <a:srgbClr val="C00000"/>
                </a:solidFill>
                <a:latin typeface="黑体" panose="02010609060101010101" pitchFamily="49" charset="-122"/>
                <a:ea typeface="黑体" panose="02010609060101010101" pitchFamily="49" charset="-122"/>
                <a:sym typeface="+mn-ea"/>
              </a:rPr>
              <a:t>齿轮减速器输入轴的设计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left)">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wipe(left)">
                                      <p:cBhvr>
                                        <p:cTn id="4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4" grpId="0"/>
      <p:bldP spid="18" grpId="0"/>
      <p:bldP spid="22"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noaction"/>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4150" y="957263"/>
            <a:ext cx="4271963"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ChangeArrowheads="1"/>
          </p:cNvSpPr>
          <p:nvPr/>
        </p:nvSpPr>
        <p:spPr bwMode="auto">
          <a:xfrm>
            <a:off x="2457450" y="3035300"/>
            <a:ext cx="26130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3.7-21 </a:t>
            </a:r>
            <a:r>
              <a:rPr lang="zh-CN" altLang="zh-CN" sz="1600"/>
              <a:t>轴结构方案草图</a:t>
            </a:r>
            <a:r>
              <a:rPr lang="zh-CN" altLang="en-US" sz="1600"/>
              <a:t>一</a:t>
            </a:r>
            <a:endParaRPr lang="zh-CN" altLang="zh-CN" sz="1600"/>
          </a:p>
          <a:p>
            <a:endParaRPr lang="zh-CN" altLang="en-US" sz="1600"/>
          </a:p>
        </p:txBody>
      </p:sp>
      <p:sp>
        <p:nvSpPr>
          <p:cNvPr id="3" name="文本框 2"/>
          <p:cNvSpPr txBox="1">
            <a:spLocks noChangeArrowheads="1"/>
          </p:cNvSpPr>
          <p:nvPr/>
        </p:nvSpPr>
        <p:spPr bwMode="auto">
          <a:xfrm>
            <a:off x="2457450" y="5859463"/>
            <a:ext cx="33337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3.7-22 </a:t>
            </a:r>
            <a:r>
              <a:rPr lang="zh-CN" altLang="zh-CN" sz="1600"/>
              <a:t>轴结构方案草图</a:t>
            </a:r>
            <a:r>
              <a:rPr lang="zh-CN" altLang="en-US" sz="1600"/>
              <a:t>二</a:t>
            </a:r>
            <a:endParaRPr lang="zh-CN" altLang="zh-CN" sz="1600"/>
          </a:p>
        </p:txBody>
      </p:sp>
      <p:pic>
        <p:nvPicPr>
          <p:cNvPr id="5" name="图片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454150" y="3695700"/>
            <a:ext cx="4333875" cy="198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1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974715" y="1357630"/>
            <a:ext cx="2586355" cy="3555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19"/>
          <p:cNvSpPr txBox="1">
            <a:spLocks noChangeArrowheads="1"/>
          </p:cNvSpPr>
          <p:nvPr/>
        </p:nvSpPr>
        <p:spPr bwMode="auto">
          <a:xfrm>
            <a:off x="300038" y="2906713"/>
            <a:ext cx="1450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sz="1600"/>
              <a:t>(</a:t>
            </a:r>
            <a:r>
              <a:rPr lang="zh-CN" altLang="en-US" sz="1600">
                <a:hlinkClick r:id="" action="ppaction://noaction"/>
              </a:rPr>
              <a:t>轴段</a:t>
            </a:r>
            <a:r>
              <a:rPr lang="en-US" altLang="zh-CN" sz="1600">
                <a:hlinkClick r:id="" action="ppaction://noaction"/>
              </a:rPr>
              <a:t>6</a:t>
            </a:r>
            <a:r>
              <a:rPr lang="zh-CN" altLang="en-US" sz="1600">
                <a:hlinkClick r:id="" action="ppaction://noaction"/>
              </a:rPr>
              <a:t>的问题</a:t>
            </a:r>
            <a:r>
              <a:rPr lang="en-US" altLang="zh-CN" sz="1600"/>
              <a:t>)</a:t>
            </a:r>
            <a:endParaRPr lang="zh-CN" altLang="en-US" sz="1600"/>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4" name="文本框 3"/>
          <p:cNvSpPr txBox="1"/>
          <p:nvPr/>
        </p:nvSpPr>
        <p:spPr>
          <a:xfrm>
            <a:off x="3996055" y="188595"/>
            <a:ext cx="44500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  </a:t>
            </a:r>
            <a:r>
              <a:rPr lang="zh-CN" altLang="zh-CN" sz="2400">
                <a:solidFill>
                  <a:srgbClr val="C00000"/>
                </a:solidFill>
                <a:latin typeface="黑体" panose="02010609060101010101" pitchFamily="49" charset="-122"/>
                <a:ea typeface="黑体" panose="02010609060101010101" pitchFamily="49" charset="-122"/>
                <a:sym typeface="+mn-ea"/>
              </a:rPr>
              <a:t>齿轮减速器输入轴的设计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left)">
                                      <p:cBhvr>
                                        <p:cTn id="4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2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直接连接符 3"/>
          <p:cNvCxnSpPr/>
          <p:nvPr/>
        </p:nvCxnSpPr>
        <p:spPr>
          <a:xfrm>
            <a:off x="687070" y="3705860"/>
            <a:ext cx="7769225" cy="0"/>
          </a:xfrm>
          <a:prstGeom prst="line">
            <a:avLst/>
          </a:prstGeom>
          <a:solidFill>
            <a:schemeClr val="accent1"/>
          </a:solidFill>
          <a:ln w="9525" cap="flat" cmpd="sng" algn="ctr">
            <a:solidFill>
              <a:schemeClr val="tx1"/>
            </a:solidFill>
            <a:prstDash val="lgDashDot"/>
            <a:round/>
            <a:headEnd type="none" w="med" len="med"/>
            <a:tailEnd type="none" w="med" len="med"/>
          </a:ln>
        </p:spPr>
      </p:cxnSp>
      <p:sp>
        <p:nvSpPr>
          <p:cNvPr id="6" name="矩形 5"/>
          <p:cNvSpPr/>
          <p:nvPr/>
        </p:nvSpPr>
        <p:spPr>
          <a:xfrm>
            <a:off x="6844030" y="3350260"/>
            <a:ext cx="1612265" cy="711200"/>
          </a:xfrm>
          <a:prstGeom prst="rect">
            <a:avLst/>
          </a:prstGeom>
          <a:gradFill>
            <a:gsLst>
              <a:gs pos="57000">
                <a:srgbClr val="9EE256"/>
              </a:gs>
              <a:gs pos="100000">
                <a:srgbClr val="52762D"/>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0" name="文本框 9"/>
          <p:cNvSpPr txBox="1"/>
          <p:nvPr/>
        </p:nvSpPr>
        <p:spPr>
          <a:xfrm>
            <a:off x="6962551" y="4350918"/>
            <a:ext cx="1493819" cy="398780"/>
          </a:xfrm>
          <a:prstGeom prst="rect">
            <a:avLst/>
          </a:pr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16200000" scaled="1"/>
            <a:tileRect/>
          </a:gradFill>
        </p:spPr>
        <p:txBody>
          <a:bodyPr wrap="square" rtlCol="0">
            <a:spAutoFit/>
          </a:bodyPr>
          <a:p>
            <a:r>
              <a:rPr lang="en-US" altLang="zh-CN" dirty="0" err="1" smtClean="0">
                <a:solidFill>
                  <a:srgbClr val="FF0000"/>
                </a:solidFill>
              </a:rPr>
              <a:t>d</a:t>
            </a:r>
            <a:r>
              <a:rPr lang="en-US" altLang="zh-CN" baseline="-25000" dirty="0" err="1" smtClean="0">
                <a:solidFill>
                  <a:srgbClr val="FF0000"/>
                </a:solidFill>
              </a:rPr>
              <a:t>Ⅰ</a:t>
            </a:r>
            <a:r>
              <a:rPr lang="en-US" altLang="zh-CN" dirty="0" smtClean="0">
                <a:solidFill>
                  <a:srgbClr val="FF0000"/>
                </a:solidFill>
              </a:rPr>
              <a:t>=28mm</a:t>
            </a:r>
            <a:endParaRPr lang="zh-CN" altLang="en-US" dirty="0">
              <a:solidFill>
                <a:srgbClr val="FF0000"/>
              </a:solidFill>
            </a:endParaRPr>
          </a:p>
        </p:txBody>
      </p:sp>
      <p:sp>
        <p:nvSpPr>
          <p:cNvPr id="11" name="文本框 10"/>
          <p:cNvSpPr txBox="1"/>
          <p:nvPr/>
        </p:nvSpPr>
        <p:spPr>
          <a:xfrm>
            <a:off x="7062715" y="4893550"/>
            <a:ext cx="1294646" cy="922020"/>
          </a:xfrm>
          <a:prstGeom prst="rect">
            <a:avLst/>
          </a:prstGeom>
          <a:solidFill>
            <a:schemeClr val="accent5">
              <a:lumMod val="75000"/>
            </a:schemeClr>
          </a:solidFill>
        </p:spPr>
        <p:txBody>
          <a:bodyPr wrap="square" rtlCol="0">
            <a:spAutoFit/>
          </a:bodyPr>
          <a:p>
            <a:r>
              <a:rPr lang="en-US" altLang="zh-CN" sz="1800" i="1" dirty="0" smtClean="0"/>
              <a:t>l</a:t>
            </a:r>
            <a:r>
              <a:rPr lang="en-US" altLang="zh-CN" sz="1800" baseline="-25000" dirty="0" smtClean="0"/>
              <a:t>1</a:t>
            </a:r>
            <a:r>
              <a:rPr lang="en-US" altLang="zh-CN" sz="1800" dirty="0" smtClean="0"/>
              <a:t>=</a:t>
            </a:r>
            <a:r>
              <a:rPr lang="zh-CN" altLang="en-US" sz="1800" dirty="0" smtClean="0"/>
              <a:t>大带轮轮毂宽度</a:t>
            </a:r>
            <a:r>
              <a:rPr lang="en-US" altLang="zh-CN" sz="1800" dirty="0" smtClean="0"/>
              <a:t>-2 mm</a:t>
            </a:r>
            <a:endParaRPr lang="zh-CN" altLang="en-US" sz="1800" dirty="0"/>
          </a:p>
        </p:txBody>
      </p:sp>
      <p:sp>
        <p:nvSpPr>
          <p:cNvPr id="7" name="矩形 6"/>
          <p:cNvSpPr/>
          <p:nvPr/>
        </p:nvSpPr>
        <p:spPr bwMode="auto">
          <a:xfrm>
            <a:off x="5899785" y="3254375"/>
            <a:ext cx="944245" cy="884555"/>
          </a:xfrm>
          <a:prstGeom prst="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2" name="文本框 11"/>
          <p:cNvSpPr txBox="1"/>
          <p:nvPr/>
        </p:nvSpPr>
        <p:spPr>
          <a:xfrm>
            <a:off x="5158740" y="961390"/>
            <a:ext cx="3862070" cy="1318260"/>
          </a:xfrm>
          <a:prstGeom prst="rect">
            <a:avLst/>
          </a:prstGeom>
          <a:solidFill>
            <a:srgbClr val="FFC000"/>
          </a:solidFill>
        </p:spPr>
        <p:txBody>
          <a:bodyPr wrap="square" rtlCol="0">
            <a:noAutofit/>
          </a:bodyPr>
          <a:p>
            <a:r>
              <a:rPr lang="en-US" altLang="zh-CN" dirty="0" err="1" smtClean="0">
                <a:solidFill>
                  <a:srgbClr val="FF0000"/>
                </a:solidFill>
              </a:rPr>
              <a:t>d</a:t>
            </a:r>
            <a:r>
              <a:rPr lang="en-US" altLang="zh-CN" sz="1800" baseline="-25000" dirty="0" err="1" smtClean="0">
                <a:solidFill>
                  <a:srgbClr val="FF0000"/>
                </a:solidFill>
              </a:rPr>
              <a:t>Ⅱ</a:t>
            </a:r>
            <a:r>
              <a:rPr lang="en-US" altLang="zh-CN" sz="1800" dirty="0" smtClean="0">
                <a:solidFill>
                  <a:srgbClr val="FF0000"/>
                </a:solidFill>
              </a:rPr>
              <a:t>=28+2</a:t>
            </a:r>
            <a:r>
              <a:rPr lang="en-US" altLang="zh-CN" sz="1800" dirty="0" smtClean="0">
                <a:solidFill>
                  <a:srgbClr val="FF0000"/>
                </a:solidFill>
                <a:latin typeface="Arial" panose="020B0604020202020204" pitchFamily="34" charset="0"/>
                <a:sym typeface="+mn-ea"/>
              </a:rPr>
              <a:t>×</a:t>
            </a:r>
            <a:r>
              <a:rPr lang="en-US" altLang="zh-CN" sz="1800" dirty="0" smtClean="0">
                <a:solidFill>
                  <a:srgbClr val="FF0000"/>
                </a:solidFill>
              </a:rPr>
              <a:t>28</a:t>
            </a:r>
            <a:r>
              <a:rPr lang="en-US" altLang="zh-CN" sz="1800" dirty="0" smtClean="0">
                <a:solidFill>
                  <a:srgbClr val="FF0000"/>
                </a:solidFill>
                <a:latin typeface="Arial" panose="020B0604020202020204" pitchFamily="34" charset="0"/>
              </a:rPr>
              <a:t>×</a:t>
            </a:r>
            <a:r>
              <a:rPr lang="zh-CN" altLang="en-US" sz="1800" dirty="0" smtClean="0">
                <a:solidFill>
                  <a:srgbClr val="FF0000"/>
                </a:solidFill>
                <a:latin typeface="Arial" panose="020B0604020202020204" pitchFamily="34" charset="0"/>
              </a:rPr>
              <a:t>（</a:t>
            </a:r>
            <a:r>
              <a:rPr lang="en-US" altLang="zh-CN" sz="1800" dirty="0" smtClean="0">
                <a:solidFill>
                  <a:srgbClr val="FF0000"/>
                </a:solidFill>
                <a:latin typeface="Arial" panose="020B0604020202020204" pitchFamily="34" charset="0"/>
              </a:rPr>
              <a:t>0.07~0.1</a:t>
            </a:r>
            <a:r>
              <a:rPr lang="zh-CN" altLang="en-US" sz="1800" dirty="0" smtClean="0">
                <a:solidFill>
                  <a:srgbClr val="FF0000"/>
                </a:solidFill>
                <a:latin typeface="Arial" panose="020B0604020202020204" pitchFamily="34" charset="0"/>
              </a:rPr>
              <a:t>）</a:t>
            </a:r>
            <a:r>
              <a:rPr lang="en-US" altLang="zh-CN" sz="1800" dirty="0" smtClean="0">
                <a:solidFill>
                  <a:srgbClr val="FF0000"/>
                </a:solidFill>
                <a:latin typeface="Arial" panose="020B0604020202020204" pitchFamily="34" charset="0"/>
              </a:rPr>
              <a:t>=31.92~33.6</a:t>
            </a:r>
            <a:r>
              <a:rPr lang="en-US" altLang="zh-CN" sz="1800" dirty="0" smtClean="0">
                <a:solidFill>
                  <a:srgbClr val="FF0000"/>
                </a:solidFill>
              </a:rPr>
              <a:t>35</a:t>
            </a:r>
            <a:r>
              <a:rPr lang="en-US" altLang="zh-CN" sz="1800" dirty="0" smtClean="0">
                <a:solidFill>
                  <a:srgbClr val="FF0000"/>
                </a:solidFill>
              </a:rPr>
              <a:t>mm</a:t>
            </a:r>
            <a:endParaRPr lang="en-US" altLang="zh-CN" sz="1800" dirty="0" smtClean="0">
              <a:solidFill>
                <a:srgbClr val="FF0000"/>
              </a:solidFill>
            </a:endParaRPr>
          </a:p>
          <a:p>
            <a:r>
              <a:rPr lang="zh-CN" altLang="en-US" sz="1800" dirty="0">
                <a:solidFill>
                  <a:srgbClr val="FF0000"/>
                </a:solidFill>
              </a:rPr>
              <a:t>该段装轴承端盖，考虑密封件（查手册</a:t>
            </a:r>
            <a:r>
              <a:rPr lang="en-US" altLang="zh-CN" sz="1800" dirty="0">
                <a:solidFill>
                  <a:srgbClr val="FF0000"/>
                </a:solidFill>
              </a:rPr>
              <a:t>P94~95</a:t>
            </a:r>
            <a:r>
              <a:rPr lang="zh-CN" altLang="en-US" sz="1800" dirty="0">
                <a:solidFill>
                  <a:srgbClr val="FF0000"/>
                </a:solidFill>
              </a:rPr>
              <a:t>，取</a:t>
            </a:r>
            <a:r>
              <a:rPr lang="en-US" altLang="zh-CN" sz="1800" dirty="0" err="1" smtClean="0">
                <a:solidFill>
                  <a:srgbClr val="FF0000"/>
                </a:solidFill>
                <a:sym typeface="+mn-ea"/>
              </a:rPr>
              <a:t>d</a:t>
            </a:r>
            <a:r>
              <a:rPr lang="en-US" altLang="zh-CN" sz="1800" baseline="-25000" dirty="0" err="1" smtClean="0">
                <a:solidFill>
                  <a:srgbClr val="FF0000"/>
                </a:solidFill>
                <a:sym typeface="+mn-ea"/>
              </a:rPr>
              <a:t>Ⅱ</a:t>
            </a:r>
            <a:r>
              <a:rPr lang="en-US" altLang="zh-CN" sz="1800" dirty="0" smtClean="0">
                <a:solidFill>
                  <a:srgbClr val="FF0000"/>
                </a:solidFill>
                <a:sym typeface="+mn-ea"/>
              </a:rPr>
              <a:t>=35mm</a:t>
            </a:r>
            <a:endParaRPr lang="zh-CN" altLang="en-US" sz="1800" dirty="0">
              <a:solidFill>
                <a:srgbClr val="FF0000"/>
              </a:solidFill>
            </a:endParaRPr>
          </a:p>
        </p:txBody>
      </p:sp>
      <p:sp>
        <p:nvSpPr>
          <p:cNvPr id="9" name="矩形 8"/>
          <p:cNvSpPr/>
          <p:nvPr/>
        </p:nvSpPr>
        <p:spPr bwMode="auto">
          <a:xfrm>
            <a:off x="5347335" y="3121025"/>
            <a:ext cx="552450" cy="1123315"/>
          </a:xfrm>
          <a:prstGeom prst="rect">
            <a:avLst/>
          </a:prstGeom>
          <a:gradFill flip="none" rotWithShape="1">
            <a:gsLst>
              <a:gs pos="0">
                <a:schemeClr val="tx1">
                  <a:lumMod val="60000"/>
                  <a:lumOff val="40000"/>
                  <a:shade val="30000"/>
                  <a:satMod val="115000"/>
                </a:schemeClr>
              </a:gs>
              <a:gs pos="31000">
                <a:schemeClr val="tx1">
                  <a:lumMod val="20000"/>
                  <a:lumOff val="80000"/>
                </a:schemeClr>
              </a:gs>
              <a:gs pos="76000">
                <a:schemeClr val="tx1">
                  <a:lumMod val="60000"/>
                  <a:lumOff val="40000"/>
                  <a:shade val="100000"/>
                  <a:satMod val="115000"/>
                </a:schemeClr>
              </a:gs>
            </a:gsLst>
            <a:lin ang="5400000" scaled="1"/>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文本框 13"/>
          <p:cNvSpPr txBox="1"/>
          <p:nvPr/>
        </p:nvSpPr>
        <p:spPr>
          <a:xfrm>
            <a:off x="4778121" y="4445060"/>
            <a:ext cx="1288670" cy="398780"/>
          </a:xfrm>
          <a:prstGeom prst="rect">
            <a:avLst/>
          </a:prstGeom>
          <a:solidFill>
            <a:schemeClr val="tx1">
              <a:lumMod val="60000"/>
              <a:lumOff val="40000"/>
            </a:schemeClr>
          </a:solidFill>
        </p:spPr>
        <p:txBody>
          <a:bodyPr wrap="square" rtlCol="0">
            <a:spAutoFit/>
          </a:bodyPr>
          <a:p>
            <a:r>
              <a:rPr lang="en-US" altLang="zh-CN" dirty="0" err="1" smtClean="0">
                <a:solidFill>
                  <a:schemeClr val="bg1"/>
                </a:solidFill>
              </a:rPr>
              <a:t>d</a:t>
            </a:r>
            <a:r>
              <a:rPr lang="en-US" altLang="zh-CN" baseline="-25000" dirty="0" err="1" smtClean="0">
                <a:solidFill>
                  <a:schemeClr val="bg1"/>
                </a:solidFill>
              </a:rPr>
              <a:t>Ⅲ</a:t>
            </a:r>
            <a:r>
              <a:rPr lang="en-US" altLang="zh-CN" dirty="0" smtClean="0">
                <a:solidFill>
                  <a:schemeClr val="bg1"/>
                </a:solidFill>
              </a:rPr>
              <a:t>=40mm</a:t>
            </a:r>
            <a:endParaRPr lang="en-US" altLang="zh-CN" dirty="0" smtClean="0">
              <a:solidFill>
                <a:schemeClr val="bg1"/>
              </a:solidFill>
            </a:endParaRPr>
          </a:p>
        </p:txBody>
      </p:sp>
      <p:sp>
        <p:nvSpPr>
          <p:cNvPr id="13" name="文本框 12"/>
          <p:cNvSpPr txBox="1"/>
          <p:nvPr/>
        </p:nvSpPr>
        <p:spPr>
          <a:xfrm>
            <a:off x="4816801" y="5013960"/>
            <a:ext cx="1249378" cy="398780"/>
          </a:xfrm>
          <a:prstGeom prst="rect">
            <a:avLst/>
          </a:prstGeom>
          <a:solidFill>
            <a:schemeClr val="tx2">
              <a:lumMod val="85000"/>
            </a:schemeClr>
          </a:solidFill>
        </p:spPr>
        <p:txBody>
          <a:bodyPr wrap="square" rtlCol="0">
            <a:spAutoFit/>
          </a:bodyPr>
          <a:p>
            <a:r>
              <a:rPr lang="en-US" altLang="zh-CN" dirty="0" smtClean="0">
                <a:solidFill>
                  <a:srgbClr val="FF0000"/>
                </a:solidFill>
              </a:rPr>
              <a:t>30308</a:t>
            </a:r>
            <a:endParaRPr lang="zh-CN" altLang="en-US" dirty="0">
              <a:solidFill>
                <a:srgbClr val="FF0000"/>
              </a:solidFill>
            </a:endParaRPr>
          </a:p>
        </p:txBody>
      </p:sp>
      <mc:AlternateContent xmlns:mc="http://schemas.openxmlformats.org/markup-compatibility/2006">
        <mc:Choice xmlns:a14="http://schemas.microsoft.com/office/drawing/2010/main" Requires="a14">
          <p:sp>
            <p:nvSpPr>
              <p:cNvPr id="26" name="文本框 25"/>
              <p:cNvSpPr txBox="1"/>
              <p:nvPr/>
            </p:nvSpPr>
            <p:spPr>
              <a:xfrm>
                <a:off x="4301490" y="5519420"/>
                <a:ext cx="2280920" cy="1014730"/>
              </a:xfrm>
              <a:prstGeom prst="rect">
                <a:avLst/>
              </a:prstGeom>
              <a:solidFill>
                <a:schemeClr val="tx2">
                  <a:lumMod val="85000"/>
                </a:schemeClr>
              </a:solidFill>
            </p:spPr>
            <p:txBody>
              <a:bodyPr wrap="square" rtlCol="0">
                <a:spAutoFit/>
              </a:bodyPr>
              <a:p>
                <a14:m>
                  <m:oMathPara xmlns:m="http://schemas.openxmlformats.org/officeDocument/2006/math">
                    <m:oMathParaPr>
                      <m:jc m:val="centerGroup"/>
                    </m:oMathParaPr>
                    <m:oMath xmlns:m="http://schemas.openxmlformats.org/officeDocument/2006/math">
                      <m:r>
                        <a:rPr lang="en-US" altLang="zh-CN" b="0" i="1" dirty="0" smtClean="0">
                          <a:solidFill>
                            <a:srgbClr val="FF0000"/>
                          </a:solidFill>
                          <a:latin typeface="Cambria Math" panose="02040503050406030204" pitchFamily="18" charset="0"/>
                        </a:rPr>
                        <m:t>𝑑</m:t>
                      </m:r>
                      <m:r>
                        <a:rPr lang="en-US" altLang="zh-CN" b="0" i="1" dirty="0" smtClean="0">
                          <a:solidFill>
                            <a:srgbClr val="FF0000"/>
                          </a:solidFill>
                          <a:latin typeface="Cambria Math" panose="02040503050406030204" pitchFamily="18" charset="0"/>
                        </a:rPr>
                        <m:t>=</m:t>
                      </m:r>
                      <m:r>
                        <a:rPr lang="en-US" altLang="zh-CN" b="0" i="1" dirty="0" smtClean="0">
                          <a:solidFill>
                            <a:srgbClr val="FF0000"/>
                          </a:solidFill>
                          <a:latin typeface="Cambria Math" panose="02040503050406030204" pitchFamily="18" charset="0"/>
                        </a:rPr>
                        <m:t>40</m:t>
                      </m:r>
                      <m:r>
                        <a:rPr lang="en-US" altLang="zh-CN" b="0" i="1" dirty="0" smtClean="0">
                          <a:solidFill>
                            <a:srgbClr val="FF0000"/>
                          </a:solidFill>
                          <a:latin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𝐷</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90</m:t>
                      </m:r>
                      <m:r>
                        <a:rPr lang="en-US" altLang="zh-CN" b="0" i="1" dirty="0" smtClean="0">
                          <a:solidFill>
                            <a:srgbClr val="FF0000"/>
                          </a:solidFill>
                          <a:latin typeface="Cambria Math" panose="02040503050406030204" pitchFamily="18" charset="0"/>
                          <a:ea typeface="Cambria Math" panose="02040503050406030204" pitchFamily="18" charset="0"/>
                        </a:rPr>
                        <m:t>,</m:t>
                      </m:r>
                    </m:oMath>
                  </m:oMathPara>
                </a14:m>
                <a:endParaRPr lang="en-US" altLang="zh-CN" b="0" i="1" dirty="0" smtClean="0">
                  <a:solidFill>
                    <a:srgbClr val="FF0000"/>
                  </a:solidFill>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b="0" i="1" dirty="0" smtClean="0">
                          <a:solidFill>
                            <a:srgbClr val="FF0000"/>
                          </a:solidFill>
                          <a:latin typeface="Cambria Math" panose="02040503050406030204" pitchFamily="18" charset="0"/>
                          <a:ea typeface="Cambria Math" panose="02040503050406030204" pitchFamily="18" charset="0"/>
                        </a:rPr>
                        <m:t>𝑇</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25</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25</m:t>
                      </m:r>
                      <m:r>
                        <a:rPr lang="en-US" altLang="zh-CN" b="0" i="1" dirty="0" smtClean="0">
                          <a:solidFill>
                            <a:srgbClr val="FF0000"/>
                          </a:solidFill>
                          <a:latin typeface="Cambria Math" panose="02040503050406030204" pitchFamily="18" charset="0"/>
                          <a:ea typeface="Cambria Math" panose="02040503050406030204" pitchFamily="18" charset="0"/>
                        </a:rPr>
                        <m:t>,</m:t>
                      </m:r>
                    </m:oMath>
                  </m:oMathPara>
                </a14:m>
                <a:endParaRPr lang="en-US" altLang="zh-CN" b="0" i="1" dirty="0" smtClean="0">
                  <a:solidFill>
                    <a:srgbClr val="FF0000"/>
                  </a:solidFill>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b="0" i="1" dirty="0" smtClean="0">
                          <a:solidFill>
                            <a:srgbClr val="FF0000"/>
                          </a:solidFill>
                          <a:latin typeface="Cambria Math" panose="02040503050406030204" pitchFamily="18" charset="0"/>
                          <a:ea typeface="Cambria Math" panose="02040503050406030204" pitchFamily="18" charset="0"/>
                        </a:rPr>
                        <m:t>𝐵</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23</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𝐶</m:t>
                      </m:r>
                      <m:r>
                        <a:rPr lang="en-US" altLang="zh-CN" b="0" i="1" dirty="0" smtClean="0">
                          <a:solidFill>
                            <a:srgbClr val="FF0000"/>
                          </a:solidFill>
                          <a:latin typeface="Cambria Math" panose="02040503050406030204" pitchFamily="18" charset="0"/>
                          <a:ea typeface="Cambria Math" panose="02040503050406030204" pitchFamily="18" charset="0"/>
                        </a:rPr>
                        <m:t>=</m:t>
                      </m:r>
                      <m:r>
                        <a:rPr lang="en-US" altLang="zh-CN" b="0" i="1" dirty="0" smtClean="0">
                          <a:solidFill>
                            <a:srgbClr val="FF0000"/>
                          </a:solidFill>
                          <a:latin typeface="Cambria Math" panose="02040503050406030204" pitchFamily="18" charset="0"/>
                          <a:ea typeface="Cambria Math" panose="02040503050406030204" pitchFamily="18" charset="0"/>
                        </a:rPr>
                        <m:t>20</m:t>
                      </m:r>
                    </m:oMath>
                  </m:oMathPara>
                </a14:m>
                <a:endParaRPr lang="zh-CN" altLang="en-US" dirty="0">
                  <a:solidFill>
                    <a:srgbClr val="FF0000"/>
                  </a:solidFill>
                </a:endParaRPr>
              </a:p>
            </p:txBody>
          </p:sp>
        </mc:Choice>
        <mc:Fallback>
          <p:sp>
            <p:nvSpPr>
              <p:cNvPr id="26" name="文本框 25"/>
              <p:cNvSpPr txBox="1">
                <a:spLocks noRot="1" noChangeAspect="1" noMove="1" noResize="1" noEditPoints="1" noAdjustHandles="1" noChangeArrowheads="1" noChangeShapeType="1" noTextEdit="1"/>
              </p:cNvSpPr>
              <p:nvPr/>
            </p:nvSpPr>
            <p:spPr>
              <a:xfrm>
                <a:off x="4301490" y="5519420"/>
                <a:ext cx="2280920" cy="1014730"/>
              </a:xfrm>
              <a:prstGeom prst="rect">
                <a:avLst/>
              </a:prstGeom>
              <a:blipFill rotWithShape="1">
                <a:blip r:embed="rId1"/>
                <a:stretch>
                  <a:fillRect b="-12641"/>
                </a:stretch>
              </a:blipFill>
            </p:spPr>
            <p:txBody>
              <a:bodyPr/>
              <a:lstStyle/>
              <a:p>
                <a:r>
                  <a:rPr lang="zh-CN" altLang="en-US">
                    <a:noFill/>
                  </a:rPr>
                  <a:t> </a:t>
                </a:r>
              </a:p>
            </p:txBody>
          </p:sp>
        </mc:Fallback>
      </mc:AlternateContent>
      <p:sp>
        <p:nvSpPr>
          <p:cNvPr id="15" name="矩形 14"/>
          <p:cNvSpPr/>
          <p:nvPr/>
        </p:nvSpPr>
        <p:spPr bwMode="auto">
          <a:xfrm>
            <a:off x="3475355" y="2995930"/>
            <a:ext cx="1871345" cy="1306195"/>
          </a:xfrm>
          <a:prstGeom prst="rect">
            <a:avLst/>
          </a:prstGeom>
          <a:gradFill flip="none" rotWithShape="1">
            <a:gsLst>
              <a:gs pos="0">
                <a:srgbClr val="14CD68"/>
              </a:gs>
              <a:gs pos="100000">
                <a:srgbClr val="0B6E38"/>
              </a:gs>
            </a:gsLst>
            <a:lin ang="16200000" scaled="0"/>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7" name="矩形 16"/>
          <p:cNvSpPr/>
          <p:nvPr/>
        </p:nvSpPr>
        <p:spPr bwMode="auto">
          <a:xfrm>
            <a:off x="1373505" y="2995930"/>
            <a:ext cx="680720" cy="1355090"/>
          </a:xfrm>
          <a:prstGeom prst="rect">
            <a:avLst/>
          </a:prstGeom>
          <a:gradFill flip="none" rotWithShape="1">
            <a:gsLst>
              <a:gs pos="0">
                <a:srgbClr val="14CD68"/>
              </a:gs>
              <a:gs pos="100000">
                <a:srgbClr val="0B6E38"/>
              </a:gs>
            </a:gsLst>
            <a:lin ang="16200000" scaled="0"/>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8" name="矩形 17"/>
          <p:cNvSpPr/>
          <p:nvPr/>
        </p:nvSpPr>
        <p:spPr bwMode="auto">
          <a:xfrm>
            <a:off x="821055" y="3111500"/>
            <a:ext cx="552450" cy="1123315"/>
          </a:xfrm>
          <a:prstGeom prst="rect">
            <a:avLst/>
          </a:prstGeom>
          <a:gradFill flip="none" rotWithShape="1">
            <a:gsLst>
              <a:gs pos="0">
                <a:schemeClr val="tx1">
                  <a:lumMod val="60000"/>
                  <a:lumOff val="40000"/>
                  <a:shade val="30000"/>
                  <a:satMod val="115000"/>
                </a:schemeClr>
              </a:gs>
              <a:gs pos="50000">
                <a:schemeClr val="tx1">
                  <a:lumMod val="20000"/>
                  <a:lumOff val="80000"/>
                </a:schemeClr>
              </a:gs>
              <a:gs pos="100000">
                <a:schemeClr val="tx1">
                  <a:lumMod val="60000"/>
                  <a:lumOff val="40000"/>
                  <a:shade val="100000"/>
                  <a:satMod val="115000"/>
                </a:scheme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20" name="文本框 19"/>
          <p:cNvSpPr txBox="1"/>
          <p:nvPr/>
        </p:nvSpPr>
        <p:spPr>
          <a:xfrm>
            <a:off x="3537585" y="1600200"/>
            <a:ext cx="1543050" cy="398780"/>
          </a:xfrm>
          <a:prstGeom prst="rect">
            <a:avLst/>
          </a:prstGeom>
          <a:solidFill>
            <a:srgbClr val="00B050"/>
          </a:solidFill>
        </p:spPr>
        <p:txBody>
          <a:bodyPr wrap="square" rtlCol="0">
            <a:spAutoFit/>
          </a:bodyPr>
          <a:p>
            <a:r>
              <a:rPr lang="en-US" altLang="zh-CN" dirty="0" err="1" smtClean="0">
                <a:solidFill>
                  <a:schemeClr val="bg1"/>
                </a:solidFill>
              </a:rPr>
              <a:t>d</a:t>
            </a:r>
            <a:r>
              <a:rPr lang="en-US" altLang="zh-CN" baseline="-25000" dirty="0" err="1" smtClean="0">
                <a:solidFill>
                  <a:schemeClr val="bg1"/>
                </a:solidFill>
              </a:rPr>
              <a:t>bmax</a:t>
            </a:r>
            <a:r>
              <a:rPr lang="en-US" altLang="zh-CN" dirty="0" smtClean="0">
                <a:solidFill>
                  <a:schemeClr val="bg1"/>
                </a:solidFill>
              </a:rPr>
              <a:t>=52mm</a:t>
            </a:r>
            <a:endParaRPr lang="en-US" altLang="zh-CN" dirty="0" smtClean="0">
              <a:solidFill>
                <a:schemeClr val="bg1"/>
              </a:solidFill>
            </a:endParaRPr>
          </a:p>
        </p:txBody>
      </p:sp>
      <p:sp>
        <p:nvSpPr>
          <p:cNvPr id="21" name="文本框 20"/>
          <p:cNvSpPr txBox="1"/>
          <p:nvPr/>
        </p:nvSpPr>
        <p:spPr>
          <a:xfrm>
            <a:off x="3721222" y="2119546"/>
            <a:ext cx="1300994" cy="398780"/>
          </a:xfrm>
          <a:prstGeom prst="rect">
            <a:avLst/>
          </a:prstGeom>
          <a:solidFill>
            <a:srgbClr val="00B050"/>
          </a:solidFill>
        </p:spPr>
        <p:txBody>
          <a:bodyPr wrap="square" rtlCol="0">
            <a:spAutoFit/>
          </a:bodyPr>
          <a:p>
            <a:r>
              <a:rPr lang="en-US" altLang="zh-CN" dirty="0" err="1" smtClean="0">
                <a:solidFill>
                  <a:srgbClr val="FF0000"/>
                </a:solidFill>
              </a:rPr>
              <a:t>d</a:t>
            </a:r>
            <a:r>
              <a:rPr lang="en-US" altLang="zh-CN" baseline="-25000" dirty="0" err="1" smtClean="0">
                <a:solidFill>
                  <a:srgbClr val="FF0000"/>
                </a:solidFill>
              </a:rPr>
              <a:t>Ⅳ</a:t>
            </a:r>
            <a:r>
              <a:rPr lang="en-US" altLang="zh-CN" dirty="0" smtClean="0">
                <a:solidFill>
                  <a:srgbClr val="FF0000"/>
                </a:solidFill>
              </a:rPr>
              <a:t>=50mm</a:t>
            </a:r>
            <a:endParaRPr lang="zh-CN" altLang="en-US" dirty="0">
              <a:solidFill>
                <a:srgbClr val="FF0000"/>
              </a:solidFill>
            </a:endParaRPr>
          </a:p>
        </p:txBody>
      </p:sp>
      <p:sp>
        <p:nvSpPr>
          <p:cNvPr id="22" name="文本框 21"/>
          <p:cNvSpPr txBox="1"/>
          <p:nvPr/>
        </p:nvSpPr>
        <p:spPr>
          <a:xfrm>
            <a:off x="1383222" y="1998874"/>
            <a:ext cx="1317905" cy="398780"/>
          </a:xfrm>
          <a:prstGeom prst="rect">
            <a:avLst/>
          </a:prstGeom>
          <a:solidFill>
            <a:srgbClr val="FFFF00"/>
          </a:solidFill>
        </p:spPr>
        <p:txBody>
          <a:bodyPr wrap="square" rtlCol="0">
            <a:spAutoFit/>
          </a:bodyPr>
          <a:p>
            <a:r>
              <a:rPr lang="en-US" altLang="zh-CN" dirty="0" err="1" smtClean="0">
                <a:solidFill>
                  <a:srgbClr val="FF0000"/>
                </a:solidFill>
              </a:rPr>
              <a:t>d</a:t>
            </a:r>
            <a:r>
              <a:rPr lang="en-US" altLang="zh-CN" baseline="-25000" dirty="0" err="1" smtClean="0">
                <a:solidFill>
                  <a:srgbClr val="FF0000"/>
                </a:solidFill>
              </a:rPr>
              <a:t>Ⅵ</a:t>
            </a:r>
            <a:r>
              <a:rPr lang="en-US" altLang="zh-CN" dirty="0" smtClean="0">
                <a:solidFill>
                  <a:srgbClr val="FF0000"/>
                </a:solidFill>
              </a:rPr>
              <a:t>=50mm</a:t>
            </a:r>
            <a:endParaRPr lang="zh-CN" altLang="en-US" dirty="0">
              <a:solidFill>
                <a:srgbClr val="FF0000"/>
              </a:solidFill>
            </a:endParaRPr>
          </a:p>
        </p:txBody>
      </p:sp>
      <p:sp>
        <p:nvSpPr>
          <p:cNvPr id="23" name="文本框 22"/>
          <p:cNvSpPr txBox="1"/>
          <p:nvPr/>
        </p:nvSpPr>
        <p:spPr>
          <a:xfrm>
            <a:off x="2163445" y="5177155"/>
            <a:ext cx="1551940" cy="645160"/>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5400000" scaled="1"/>
            <a:tileRect/>
          </a:gradFill>
        </p:spPr>
        <p:txBody>
          <a:bodyPr wrap="square" rtlCol="0">
            <a:spAutoFit/>
          </a:bodyPr>
          <a:p>
            <a:r>
              <a:rPr lang="en-US" altLang="zh-CN" sz="1800" dirty="0" err="1" smtClean="0">
                <a:solidFill>
                  <a:srgbClr val="FF0000"/>
                </a:solidFill>
              </a:rPr>
              <a:t>d</a:t>
            </a:r>
            <a:r>
              <a:rPr lang="en-US" altLang="zh-CN" sz="1800" baseline="-25000" dirty="0" err="1" smtClean="0">
                <a:solidFill>
                  <a:srgbClr val="FF0000"/>
                </a:solidFill>
              </a:rPr>
              <a:t>Ⅴ</a:t>
            </a:r>
            <a:r>
              <a:rPr lang="en-US" altLang="zh-CN" sz="1800" dirty="0" smtClean="0">
                <a:solidFill>
                  <a:srgbClr val="FF0000"/>
                </a:solidFill>
              </a:rPr>
              <a:t>=</a:t>
            </a:r>
            <a:r>
              <a:rPr lang="zh-CN" altLang="en-US" sz="1800" dirty="0" smtClean="0">
                <a:solidFill>
                  <a:srgbClr val="FF0000"/>
                </a:solidFill>
              </a:rPr>
              <a:t>小齿轮的齿顶圆直径</a:t>
            </a:r>
            <a:r>
              <a:rPr lang="en-US" altLang="zh-CN" sz="1800" dirty="0" smtClean="0">
                <a:solidFill>
                  <a:srgbClr val="FF0000"/>
                </a:solidFill>
              </a:rPr>
              <a:t>m</a:t>
            </a:r>
            <a:endParaRPr lang="zh-CN" altLang="en-US" sz="1800" dirty="0">
              <a:solidFill>
                <a:srgbClr val="FF0000"/>
              </a:solidFill>
            </a:endParaRPr>
          </a:p>
        </p:txBody>
      </p:sp>
      <p:sp>
        <p:nvSpPr>
          <p:cNvPr id="24" name="文本框 23"/>
          <p:cNvSpPr txBox="1"/>
          <p:nvPr/>
        </p:nvSpPr>
        <p:spPr>
          <a:xfrm>
            <a:off x="2145030" y="5815330"/>
            <a:ext cx="1392555" cy="675640"/>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5400000" scaled="1"/>
            <a:tileRect/>
          </a:gradFill>
        </p:spPr>
        <p:txBody>
          <a:bodyPr wrap="square" rtlCol="0">
            <a:spAutoFit/>
          </a:bodyPr>
          <a:p>
            <a:r>
              <a:rPr lang="en-US" altLang="zh-CN" i="1" dirty="0" smtClean="0"/>
              <a:t>l</a:t>
            </a:r>
            <a:r>
              <a:rPr lang="en-US" altLang="zh-CN" sz="1800" baseline="-25000" dirty="0" smtClean="0"/>
              <a:t>5</a:t>
            </a:r>
            <a:r>
              <a:rPr lang="en-US" altLang="zh-CN" sz="1800" dirty="0" smtClean="0"/>
              <a:t>=</a:t>
            </a:r>
            <a:r>
              <a:rPr lang="zh-CN" altLang="en-US" sz="1800" dirty="0" smtClean="0"/>
              <a:t>小齿轮齿宽</a:t>
            </a:r>
            <a:endParaRPr lang="zh-CN" altLang="en-US" sz="1800" dirty="0"/>
          </a:p>
        </p:txBody>
      </p:sp>
      <p:sp>
        <p:nvSpPr>
          <p:cNvPr id="25" name="文本框 24"/>
          <p:cNvSpPr txBox="1"/>
          <p:nvPr/>
        </p:nvSpPr>
        <p:spPr>
          <a:xfrm>
            <a:off x="458383" y="4677485"/>
            <a:ext cx="1384551" cy="398780"/>
          </a:xfrm>
          <a:prstGeom prst="rect">
            <a:avLst/>
          </a:prstGeom>
          <a:gradFill flip="none" rotWithShape="1">
            <a:gsLst>
              <a:gs pos="0">
                <a:schemeClr val="tx1">
                  <a:lumMod val="60000"/>
                  <a:lumOff val="40000"/>
                  <a:tint val="66000"/>
                  <a:satMod val="160000"/>
                </a:schemeClr>
              </a:gs>
              <a:gs pos="50000">
                <a:schemeClr val="tx1">
                  <a:lumMod val="60000"/>
                  <a:lumOff val="40000"/>
                  <a:tint val="44500"/>
                  <a:satMod val="160000"/>
                </a:schemeClr>
              </a:gs>
              <a:gs pos="100000">
                <a:schemeClr val="tx1">
                  <a:lumMod val="60000"/>
                  <a:lumOff val="40000"/>
                  <a:tint val="23500"/>
                  <a:satMod val="160000"/>
                </a:schemeClr>
              </a:gs>
            </a:gsLst>
            <a:lin ang="5400000" scaled="1"/>
            <a:tileRect/>
          </a:gradFill>
        </p:spPr>
        <p:txBody>
          <a:bodyPr wrap="square" rtlCol="0">
            <a:spAutoFit/>
          </a:bodyPr>
          <a:p>
            <a:r>
              <a:rPr lang="en-US" altLang="zh-CN" dirty="0" err="1" smtClean="0">
                <a:solidFill>
                  <a:srgbClr val="FF0000"/>
                </a:solidFill>
              </a:rPr>
              <a:t>d</a:t>
            </a:r>
            <a:r>
              <a:rPr lang="en-US" altLang="zh-CN" baseline="-25000" dirty="0" err="1" smtClean="0">
                <a:solidFill>
                  <a:srgbClr val="FF0000"/>
                </a:solidFill>
              </a:rPr>
              <a:t>Ⅶ</a:t>
            </a:r>
            <a:r>
              <a:rPr lang="en-US" altLang="zh-CN" dirty="0" smtClean="0">
                <a:solidFill>
                  <a:srgbClr val="FF0000"/>
                </a:solidFill>
              </a:rPr>
              <a:t>=40mm</a:t>
            </a:r>
            <a:endParaRPr lang="zh-CN" altLang="en-US" dirty="0">
              <a:solidFill>
                <a:srgbClr val="FF0000"/>
              </a:solidFill>
            </a:endParaRPr>
          </a:p>
        </p:txBody>
      </p:sp>
      <p:grpSp>
        <p:nvGrpSpPr>
          <p:cNvPr id="29" name="组合 28"/>
          <p:cNvGrpSpPr/>
          <p:nvPr/>
        </p:nvGrpSpPr>
        <p:grpSpPr>
          <a:xfrm>
            <a:off x="1875790" y="2532380"/>
            <a:ext cx="1877060" cy="2299970"/>
            <a:chOff x="3470" y="3974"/>
            <a:chExt cx="2956" cy="3622"/>
          </a:xfrm>
        </p:grpSpPr>
        <p:sp>
          <p:nvSpPr>
            <p:cNvPr id="16" name="矩形 15"/>
            <p:cNvSpPr/>
            <p:nvPr/>
          </p:nvSpPr>
          <p:spPr bwMode="auto">
            <a:xfrm>
              <a:off x="3751" y="3974"/>
              <a:ext cx="2250" cy="3622"/>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27" name="直接连接符 26"/>
            <p:cNvCxnSpPr/>
            <p:nvPr/>
          </p:nvCxnSpPr>
          <p:spPr>
            <a:xfrm>
              <a:off x="3470" y="4114"/>
              <a:ext cx="2897" cy="0"/>
            </a:xfrm>
            <a:prstGeom prst="line">
              <a:avLst/>
            </a:prstGeom>
            <a:solidFill>
              <a:schemeClr val="accent1"/>
            </a:solidFill>
            <a:ln w="9525" cap="flat" cmpd="sng" algn="ctr">
              <a:solidFill>
                <a:schemeClr val="tx1"/>
              </a:solidFill>
              <a:prstDash val="lgDashDot"/>
              <a:round/>
              <a:headEnd type="none" w="med" len="med"/>
              <a:tailEnd type="none" w="med" len="med"/>
            </a:ln>
          </p:spPr>
        </p:cxnSp>
        <p:cxnSp>
          <p:nvCxnSpPr>
            <p:cNvPr id="28" name="直接连接符 27"/>
            <p:cNvCxnSpPr/>
            <p:nvPr/>
          </p:nvCxnSpPr>
          <p:spPr>
            <a:xfrm>
              <a:off x="3470" y="7467"/>
              <a:ext cx="2956" cy="0"/>
            </a:xfrm>
            <a:prstGeom prst="line">
              <a:avLst/>
            </a:prstGeom>
            <a:solidFill>
              <a:schemeClr val="accent1"/>
            </a:solidFill>
            <a:ln w="9525" cap="flat" cmpd="sng" algn="ctr">
              <a:solidFill>
                <a:schemeClr val="tx1"/>
              </a:solidFill>
              <a:prstDash val="lgDashDot"/>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6">
                                            <p:txEl>
                                              <p:pRg st="0" end="0"/>
                                            </p:txEl>
                                          </p:spTgt>
                                        </p:tgtEl>
                                        <p:attrNameLst>
                                          <p:attrName>style.visibility</p:attrName>
                                        </p:attrNameLst>
                                      </p:cBhvr>
                                      <p:to>
                                        <p:strVal val="visible"/>
                                      </p:to>
                                    </p:set>
                                    <p:animEffect transition="in" filter="wipe(left)">
                                      <p:cBhvr>
                                        <p:cTn id="51" dur="500"/>
                                        <p:tgtEl>
                                          <p:spTgt spid="26">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6">
                                            <p:txEl>
                                              <p:pRg st="1" end="1"/>
                                            </p:txEl>
                                          </p:spTgt>
                                        </p:tgtEl>
                                        <p:attrNameLst>
                                          <p:attrName>style.visibility</p:attrName>
                                        </p:attrNameLst>
                                      </p:cBhvr>
                                      <p:to>
                                        <p:strVal val="visible"/>
                                      </p:to>
                                    </p:set>
                                    <p:animEffect transition="in" filter="wipe(left)">
                                      <p:cBhvr>
                                        <p:cTn id="56" dur="500"/>
                                        <p:tgtEl>
                                          <p:spTgt spid="26">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6">
                                            <p:txEl>
                                              <p:pRg st="2" end="2"/>
                                            </p:txEl>
                                          </p:spTgt>
                                        </p:tgtEl>
                                        <p:attrNameLst>
                                          <p:attrName>style.visibility</p:attrName>
                                        </p:attrNameLst>
                                      </p:cBhvr>
                                      <p:to>
                                        <p:strVal val="visible"/>
                                      </p:to>
                                    </p:set>
                                    <p:animEffect transition="in" filter="wipe(left)">
                                      <p:cBhvr>
                                        <p:cTn id="61" dur="500"/>
                                        <p:tgtEl>
                                          <p:spTgt spid="26">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wipe(left)">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wipe(left)">
                                      <p:cBhvr>
                                        <p:cTn id="71" dur="500"/>
                                        <p:tgtEl>
                                          <p:spTgt spid="1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wipe(left)">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wipe(left)">
                                      <p:cBhvr>
                                        <p:cTn id="81" dur="500"/>
                                        <p:tgtEl>
                                          <p:spTgt spid="21"/>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2" fill="hold" nodeType="click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wipe(right)">
                                      <p:cBhvr>
                                        <p:cTn id="86" dur="500"/>
                                        <p:tgtEl>
                                          <p:spTgt spid="29"/>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wipe(left)">
                                      <p:cBhvr>
                                        <p:cTn id="91" dur="500"/>
                                        <p:tgtEl>
                                          <p:spTgt spid="23"/>
                                        </p:tgtEl>
                                      </p:cBhvr>
                                    </p:animEffect>
                                  </p:childTnLst>
                                </p:cTn>
                              </p:par>
                            </p:childTnLst>
                          </p:cTn>
                        </p:par>
                        <p:par>
                          <p:cTn id="92" fill="hold">
                            <p:stCondLst>
                              <p:cond delay="500"/>
                            </p:stCondLst>
                            <p:childTnLst>
                              <p:par>
                                <p:cTn id="93" presetID="22" presetClass="entr" presetSubtype="8" fill="hold" grpId="0" nodeType="after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wipe(left)">
                                      <p:cBhvr>
                                        <p:cTn id="95" dur="500"/>
                                        <p:tgtEl>
                                          <p:spTgt spid="24"/>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wipe(left)">
                                      <p:cBhvr>
                                        <p:cTn id="100" dur="500"/>
                                        <p:tgtEl>
                                          <p:spTgt spid="17"/>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22"/>
                                        </p:tgtEl>
                                        <p:attrNameLst>
                                          <p:attrName>style.visibility</p:attrName>
                                        </p:attrNameLst>
                                      </p:cBhvr>
                                      <p:to>
                                        <p:strVal val="visible"/>
                                      </p:to>
                                    </p:set>
                                    <p:animEffect transition="in" filter="wipe(left)">
                                      <p:cBhvr>
                                        <p:cTn id="105" dur="500"/>
                                        <p:tgtEl>
                                          <p:spTgt spid="22"/>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8"/>
                                        </p:tgtEl>
                                        <p:attrNameLst>
                                          <p:attrName>style.visibility</p:attrName>
                                        </p:attrNameLst>
                                      </p:cBhvr>
                                      <p:to>
                                        <p:strVal val="visible"/>
                                      </p:to>
                                    </p:set>
                                    <p:animEffect transition="in" filter="wipe(left)">
                                      <p:cBhvr>
                                        <p:cTn id="110" dur="500"/>
                                        <p:tgtEl>
                                          <p:spTgt spid="18"/>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wipe(left)">
                                      <p:cBhvr>
                                        <p:cTn id="1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0" grpId="0" bldLvl="0" animBg="1"/>
      <p:bldP spid="11" grpId="0" bldLvl="0" animBg="1"/>
      <p:bldP spid="7" grpId="0" bldLvl="0" animBg="1"/>
      <p:bldP spid="12" grpId="0" bldLvl="0" animBg="1"/>
      <p:bldP spid="9" grpId="0" bldLvl="0" animBg="1"/>
      <p:bldP spid="14" grpId="0" bldLvl="0" animBg="1"/>
      <p:bldP spid="13" grpId="0" bldLvl="0" animBg="1"/>
      <p:bldP spid="26" grpId="0" bldLvl="0" animBg="1"/>
      <p:bldP spid="15" grpId="0" bldLvl="0" animBg="1"/>
      <p:bldP spid="17" grpId="0" bldLvl="0" animBg="1"/>
      <p:bldP spid="18" grpId="0" bldLvl="0" animBg="1"/>
      <p:bldP spid="20" grpId="0" bldLvl="0" animBg="1"/>
      <p:bldP spid="21" grpId="0" bldLvl="0" animBg="1"/>
      <p:bldP spid="22" grpId="0" bldLvl="0" animBg="1"/>
      <p:bldP spid="23" grpId="0" bldLvl="0" animBg="1"/>
      <p:bldP spid="24" grpId="0" bldLvl="0" animBg="1"/>
      <p:bldP spid="25"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bwMode="auto">
          <a:xfrm>
            <a:off x="5734050" y="895350"/>
            <a:ext cx="1771650" cy="228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a:solidFill>
                  <a:schemeClr val="bg1"/>
                </a:solidFill>
                <a:ea typeface="黑体" panose="02010609060101010101" pitchFamily="49" charset="-122"/>
              </a:rPr>
              <a:t>直齿圆柱齿轮强度计算</a:t>
            </a:r>
            <a:r>
              <a:rPr lang="en-US" altLang="zh-CN" sz="800">
                <a:solidFill>
                  <a:schemeClr val="bg1"/>
                </a:solidFill>
                <a:ea typeface="黑体" panose="02010609060101010101" pitchFamily="49" charset="-122"/>
              </a:rPr>
              <a:t>1</a:t>
            </a:r>
            <a:endParaRPr lang="en-US" altLang="zh-CN" sz="800">
              <a:solidFill>
                <a:schemeClr val="bg1"/>
              </a:solidFill>
              <a:ea typeface="黑体" panose="02010609060101010101" pitchFamily="49" charset="-122"/>
            </a:endParaRPr>
          </a:p>
        </p:txBody>
      </p:sp>
      <p:sp>
        <p:nvSpPr>
          <p:cNvPr id="59429" name="Text Box 37"/>
          <p:cNvSpPr txBox="1">
            <a:spLocks noChangeArrowheads="1"/>
          </p:cNvSpPr>
          <p:nvPr/>
        </p:nvSpPr>
        <p:spPr bwMode="auto">
          <a:xfrm>
            <a:off x="6813550" y="6102350"/>
            <a:ext cx="342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r>
              <a:rPr lang="en-US" altLang="zh-CN">
                <a:solidFill>
                  <a:schemeClr val="tx1"/>
                </a:solidFill>
                <a:latin typeface="Tahoma" panose="020B0604030504040204" pitchFamily="34" charset="0"/>
                <a:ea typeface="宋体" panose="02010600030101010101" pitchFamily="2" charset="-122"/>
              </a:rPr>
              <a:t>  </a:t>
            </a:r>
            <a:endParaRPr lang="en-US" altLang="zh-CN">
              <a:solidFill>
                <a:schemeClr val="tx1"/>
              </a:solidFill>
              <a:latin typeface="Tahoma" panose="020B0604030504040204" pitchFamily="34" charset="0"/>
              <a:ea typeface="宋体" panose="02010600030101010101" pitchFamily="2" charset="-122"/>
            </a:endParaRPr>
          </a:p>
        </p:txBody>
      </p:sp>
      <p:pic>
        <p:nvPicPr>
          <p:cNvPr id="88069" name="Picture 29"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680450" y="6562725"/>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0"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88071" name="Rectangle 23"/>
          <p:cNvSpPr>
            <a:spLocks noChangeArrowheads="1"/>
          </p:cNvSpPr>
          <p:nvPr/>
        </p:nvSpPr>
        <p:spPr bwMode="auto">
          <a:xfrm>
            <a:off x="0" y="441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sz="1200">
                <a:latin typeface="宋体" panose="02010600030101010101" pitchFamily="2" charset="-122"/>
                <a:cs typeface="Times New Roman" panose="02020603050405020304" pitchFamily="18" charset="0"/>
              </a:rPr>
              <a:t> </a:t>
            </a:r>
            <a:r>
              <a:rPr lang="en-US" altLang="zh-CN" sz="600"/>
              <a:t> </a:t>
            </a:r>
            <a:endParaRPr lang="en-US" altLang="zh-CN"/>
          </a:p>
        </p:txBody>
      </p:sp>
      <p:sp>
        <p:nvSpPr>
          <p:cNvPr id="88072" name="Rectangle 29"/>
          <p:cNvSpPr>
            <a:spLocks noChangeArrowheads="1"/>
          </p:cNvSpPr>
          <p:nvPr/>
        </p:nvSpPr>
        <p:spPr bwMode="auto">
          <a:xfrm>
            <a:off x="5737225" y="7286625"/>
            <a:ext cx="10774363"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88074" name="Rectangle 2"/>
          <p:cNvSpPr>
            <a:spLocks noChangeArrowheads="1"/>
          </p:cNvSpPr>
          <p:nvPr/>
        </p:nvSpPr>
        <p:spPr bwMode="auto">
          <a:xfrm>
            <a:off x="2971800"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endParaRPr lang="zh-CN" altLang="en-US"/>
          </a:p>
        </p:txBody>
      </p:sp>
      <p:sp>
        <p:nvSpPr>
          <p:cNvPr id="88075" name="文本框 2"/>
          <p:cNvSpPr txBox="1">
            <a:spLocks noChangeArrowheads="1"/>
          </p:cNvSpPr>
          <p:nvPr/>
        </p:nvSpPr>
        <p:spPr bwMode="auto">
          <a:xfrm>
            <a:off x="214313" y="1204913"/>
            <a:ext cx="8753475"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en-US"/>
              <a:t>       </a:t>
            </a:r>
            <a:r>
              <a:rPr lang="zh-CN" altLang="zh-CN"/>
              <a:t>齿轮的结构大体分为</a:t>
            </a:r>
            <a:r>
              <a:rPr lang="zh-CN" altLang="zh-CN">
                <a:solidFill>
                  <a:srgbClr val="FF0000"/>
                </a:solidFill>
              </a:rPr>
              <a:t>整体式</a:t>
            </a:r>
            <a:r>
              <a:rPr lang="zh-CN" altLang="zh-CN"/>
              <a:t>、</a:t>
            </a:r>
            <a:r>
              <a:rPr lang="zh-CN" altLang="zh-CN">
                <a:solidFill>
                  <a:srgbClr val="FF0000"/>
                </a:solidFill>
              </a:rPr>
              <a:t>腹板式</a:t>
            </a:r>
            <a:r>
              <a:rPr lang="zh-CN" altLang="zh-CN"/>
              <a:t>和</a:t>
            </a:r>
            <a:r>
              <a:rPr lang="zh-CN" altLang="zh-CN">
                <a:solidFill>
                  <a:srgbClr val="FF0000"/>
                </a:solidFill>
              </a:rPr>
              <a:t>轮辐式</a:t>
            </a:r>
            <a:r>
              <a:rPr lang="zh-CN" altLang="zh-CN"/>
              <a:t>。一般是先根据齿轮的大小选择齿轮的结构形式，然后根据经验公式计算各结构尺寸并随手通过设计将其图形化。</a:t>
            </a:r>
            <a:endParaRPr lang="zh-CN" altLang="zh-CN"/>
          </a:p>
        </p:txBody>
      </p:sp>
      <p:pic>
        <p:nvPicPr>
          <p:cNvPr id="88076" name="图片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563" y="4333875"/>
            <a:ext cx="2959100" cy="156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7" name="图片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5825" y="4449763"/>
            <a:ext cx="3849688"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8" name="矩形 4"/>
          <p:cNvSpPr>
            <a:spLocks noChangeArrowheads="1"/>
          </p:cNvSpPr>
          <p:nvPr/>
        </p:nvSpPr>
        <p:spPr bwMode="auto">
          <a:xfrm>
            <a:off x="1106488" y="5778500"/>
            <a:ext cx="23066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3600">
                <a:ea typeface="宋体" panose="02010600030101010101" pitchFamily="2" charset="-122"/>
                <a:cs typeface="Times New Roman" panose="02020603050405020304" pitchFamily="18" charset="0"/>
              </a:rPr>
              <a:t> </a:t>
            </a:r>
            <a:r>
              <a:rPr lang="zh-CN" altLang="zh-CN" sz="1600">
                <a:ea typeface="宋体" panose="02010600030101010101" pitchFamily="2" charset="-122"/>
                <a:cs typeface="Times New Roman" panose="02020603050405020304" pitchFamily="18" charset="0"/>
              </a:rPr>
              <a:t>图</a:t>
            </a:r>
            <a:r>
              <a:rPr lang="en-US" altLang="zh-CN" sz="1600">
                <a:ea typeface="宋体" panose="02010600030101010101" pitchFamily="2" charset="-122"/>
                <a:cs typeface="Times New Roman" panose="02020603050405020304" pitchFamily="18" charset="0"/>
              </a:rPr>
              <a:t>3.4-19  </a:t>
            </a:r>
            <a:r>
              <a:rPr lang="zh-CN" altLang="zh-CN" sz="1600">
                <a:ea typeface="宋体" panose="02010600030101010101" pitchFamily="2" charset="-122"/>
                <a:cs typeface="Times New Roman" panose="02020603050405020304" pitchFamily="18" charset="0"/>
              </a:rPr>
              <a:t>圆柱齿轮</a:t>
            </a:r>
            <a:r>
              <a:rPr lang="en-US" altLang="zh-CN" sz="1600">
                <a:ea typeface="宋体" panose="02010600030101010101" pitchFamily="2" charset="-122"/>
                <a:cs typeface="Times New Roman" panose="02020603050405020304" pitchFamily="18" charset="0"/>
              </a:rPr>
              <a:t>e</a:t>
            </a:r>
            <a:r>
              <a:rPr lang="zh-CN" altLang="zh-CN" sz="1600">
                <a:ea typeface="宋体" panose="02010600030101010101" pitchFamily="2" charset="-122"/>
                <a:cs typeface="Times New Roman" panose="02020603050405020304" pitchFamily="18" charset="0"/>
              </a:rPr>
              <a:t>值 </a:t>
            </a:r>
            <a:endParaRPr lang="zh-CN" altLang="en-US" sz="1600">
              <a:ea typeface="宋体" panose="02010600030101010101" pitchFamily="2" charset="-122"/>
              <a:cs typeface="Times New Roman" panose="02020603050405020304" pitchFamily="18" charset="0"/>
            </a:endParaRPr>
          </a:p>
        </p:txBody>
      </p:sp>
      <p:sp>
        <p:nvSpPr>
          <p:cNvPr id="88079" name="矩形 5"/>
          <p:cNvSpPr>
            <a:spLocks noChangeArrowheads="1"/>
          </p:cNvSpPr>
          <p:nvPr/>
        </p:nvSpPr>
        <p:spPr bwMode="auto">
          <a:xfrm>
            <a:off x="5589588" y="6013450"/>
            <a:ext cx="2060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ea typeface="宋体" panose="02010600030101010101" pitchFamily="2" charset="-122"/>
                <a:cs typeface="Times New Roman" panose="02020603050405020304" pitchFamily="18" charset="0"/>
              </a:rPr>
              <a:t> </a:t>
            </a:r>
            <a:r>
              <a:rPr lang="zh-CN" altLang="zh-CN" sz="1600">
                <a:ea typeface="宋体" panose="02010600030101010101" pitchFamily="2" charset="-122"/>
                <a:cs typeface="Times New Roman" panose="02020603050405020304" pitchFamily="18" charset="0"/>
              </a:rPr>
              <a:t>图</a:t>
            </a:r>
            <a:r>
              <a:rPr lang="en-US" altLang="zh-CN" sz="1600">
                <a:ea typeface="宋体" panose="02010600030101010101" pitchFamily="2" charset="-122"/>
                <a:cs typeface="Times New Roman" panose="02020603050405020304" pitchFamily="18" charset="0"/>
              </a:rPr>
              <a:t>3.4-20 </a:t>
            </a:r>
            <a:r>
              <a:rPr lang="zh-CN" altLang="zh-CN" sz="1600">
                <a:ea typeface="宋体" panose="02010600030101010101" pitchFamily="2" charset="-122"/>
                <a:cs typeface="Times New Roman" panose="02020603050405020304" pitchFamily="18" charset="0"/>
              </a:rPr>
              <a:t>圆柱齿轮轴</a:t>
            </a:r>
            <a:endParaRPr lang="zh-CN" altLang="en-US" sz="1600">
              <a:ea typeface="宋体" panose="02010600030101010101" pitchFamily="2" charset="-122"/>
              <a:cs typeface="Times New Roman" panose="02020603050405020304" pitchFamily="18" charset="0"/>
            </a:endParaRPr>
          </a:p>
        </p:txBody>
      </p:sp>
      <p:sp>
        <p:nvSpPr>
          <p:cNvPr id="7" name="文本框 6"/>
          <p:cNvSpPr txBox="1">
            <a:spLocks noRot="1" noChangeAspect="1" noMove="1" noResize="1" noEditPoints="1" noAdjustHandles="1" noChangeArrowheads="1" noChangeShapeType="1" noTextEdit="1"/>
          </p:cNvSpPr>
          <p:nvPr/>
        </p:nvSpPr>
        <p:spPr>
          <a:xfrm>
            <a:off x="215106" y="2502338"/>
            <a:ext cx="8681244" cy="1938992"/>
          </a:xfrm>
          <a:prstGeom prst="rect">
            <a:avLst/>
          </a:prstGeom>
          <a:blipFill>
            <a:blip r:embed="rId4"/>
            <a:stretch>
              <a:fillRect l="-702" r="-772" b="-1567"/>
            </a:stretch>
          </a:blipFill>
        </p:spPr>
        <p:txBody>
          <a:bodyPr/>
          <a:lstStyle/>
          <a:p>
            <a:pPr>
              <a:defRPr/>
            </a:pPr>
            <a:r>
              <a:rPr lang="zh-CN" altLang="en-US">
                <a:noFill/>
              </a:rPr>
              <a:t> </a:t>
            </a:r>
            <a:endParaRPr lang="zh-CN" altLang="en-US">
              <a:noFill/>
            </a:endParaRPr>
          </a:p>
        </p:txBody>
      </p:sp>
      <p:sp>
        <p:nvSpPr>
          <p:cNvPr id="9" name="文本框 8"/>
          <p:cNvSpPr txBox="1"/>
          <p:nvPr/>
        </p:nvSpPr>
        <p:spPr>
          <a:xfrm>
            <a:off x="3307715" y="193675"/>
            <a:ext cx="3078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   </a:t>
            </a:r>
            <a:r>
              <a:rPr lang="zh-CN" sz="2400">
                <a:solidFill>
                  <a:srgbClr val="C00000"/>
                </a:solidFill>
                <a:latin typeface="黑体" panose="02010609060101010101" pitchFamily="49" charset="-122"/>
                <a:ea typeface="黑体" panose="02010609060101010101" pitchFamily="49" charset="-122"/>
                <a:sym typeface="+mn-ea"/>
              </a:rPr>
              <a:t>输入</a:t>
            </a:r>
            <a:r>
              <a:rPr lang="zh-CN" altLang="zh-CN" sz="2400">
                <a:solidFill>
                  <a:srgbClr val="C00000"/>
                </a:solidFill>
                <a:latin typeface="黑体" panose="02010609060101010101" pitchFamily="49" charset="-122"/>
                <a:ea typeface="黑体" panose="02010609060101010101" pitchFamily="49" charset="-122"/>
                <a:sym typeface="+mn-ea"/>
              </a:rPr>
              <a:t>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29"/>
                                        </p:tgtEl>
                                        <p:attrNameLst>
                                          <p:attrName>style.visibility</p:attrName>
                                        </p:attrNameLst>
                                      </p:cBhvr>
                                      <p:to>
                                        <p:strVal val="visible"/>
                                      </p:to>
                                    </p:set>
                                    <p:anim calcmode="lin" valueType="num">
                                      <p:cBhvr additive="base">
                                        <p:cTn id="7" dur="500" fill="hold"/>
                                        <p:tgtEl>
                                          <p:spTgt spid="59429"/>
                                        </p:tgtEl>
                                        <p:attrNameLst>
                                          <p:attrName>ppt_x</p:attrName>
                                        </p:attrNameLst>
                                      </p:cBhvr>
                                      <p:tavLst>
                                        <p:tav tm="0">
                                          <p:val>
                                            <p:strVal val="0-#ppt_w/2"/>
                                          </p:val>
                                        </p:tav>
                                        <p:tav tm="100000">
                                          <p:val>
                                            <p:strVal val="#ppt_x"/>
                                          </p:val>
                                        </p:tav>
                                      </p:tavLst>
                                    </p:anim>
                                    <p:anim calcmode="lin" valueType="num">
                                      <p:cBhvr additive="base">
                                        <p:cTn id="8" dur="500" fill="hold"/>
                                        <p:tgtEl>
                                          <p:spTgt spid="594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noaction"/>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a:spLocks noChangeArrowheads="1"/>
          </p:cNvSpPr>
          <p:nvPr/>
        </p:nvSpPr>
        <p:spPr bwMode="auto">
          <a:xfrm>
            <a:off x="692150" y="793750"/>
            <a:ext cx="2622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en-US"/>
              <a:t>（</a:t>
            </a:r>
            <a:r>
              <a:rPr lang="en-US" altLang="zh-CN"/>
              <a:t>2</a:t>
            </a:r>
            <a:r>
              <a:rPr lang="zh-CN" altLang="en-US"/>
              <a:t>）确定各轴段长度</a:t>
            </a:r>
            <a:endParaRPr lang="zh-CN" altLang="en-US"/>
          </a:p>
        </p:txBody>
      </p:sp>
      <p:sp>
        <p:nvSpPr>
          <p:cNvPr id="5" name="文本框 4"/>
          <p:cNvSpPr txBox="1">
            <a:spLocks noChangeArrowheads="1"/>
          </p:cNvSpPr>
          <p:nvPr/>
        </p:nvSpPr>
        <p:spPr bwMode="auto">
          <a:xfrm>
            <a:off x="527050" y="1193800"/>
            <a:ext cx="8215313"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接下来我们根据图</a:t>
            </a:r>
            <a:r>
              <a:rPr lang="en-US" altLang="zh-CN"/>
              <a:t>3.7-22</a:t>
            </a:r>
            <a:r>
              <a:rPr lang="zh-CN" altLang="zh-CN"/>
              <a:t>所定轴的结构方案（还包括另外两个轴的方案），直接到</a:t>
            </a:r>
            <a:r>
              <a:rPr lang="zh-CN" altLang="zh-CN">
                <a:hlinkClick r:id="" action="ppaction://noaction"/>
              </a:rPr>
              <a:t>图</a:t>
            </a:r>
            <a:r>
              <a:rPr lang="en-US" altLang="zh-CN">
                <a:hlinkClick r:id="" action="ppaction://noaction"/>
              </a:rPr>
              <a:t>3.4-27</a:t>
            </a:r>
            <a:r>
              <a:rPr lang="zh-CN" altLang="zh-CN"/>
              <a:t>中去接着画装配图，并通过画图来确定轴及轴上零件的结构及结构尺寸，包括轴向和周向定位。</a:t>
            </a:r>
            <a:endParaRPr lang="zh-CN" altLang="zh-CN"/>
          </a:p>
        </p:txBody>
      </p:sp>
      <p:sp>
        <p:nvSpPr>
          <p:cNvPr id="9" name="文本框 8"/>
          <p:cNvSpPr txBox="1">
            <a:spLocks noChangeArrowheads="1"/>
          </p:cNvSpPr>
          <p:nvPr/>
        </p:nvSpPr>
        <p:spPr bwMode="auto">
          <a:xfrm>
            <a:off x="949325" y="2625725"/>
            <a:ext cx="210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a:t>1</a:t>
            </a:r>
            <a:r>
              <a:rPr lang="zh-CN" altLang="en-US"/>
              <a:t>）</a:t>
            </a:r>
            <a:r>
              <a:rPr lang="zh-CN" altLang="zh-CN"/>
              <a:t>确定轴承位置</a:t>
            </a:r>
            <a:endParaRPr lang="zh-CN" altLang="en-US"/>
          </a:p>
        </p:txBody>
      </p:sp>
      <p:sp>
        <p:nvSpPr>
          <p:cNvPr id="10" name="文本框 9"/>
          <p:cNvSpPr txBox="1">
            <a:spLocks noChangeArrowheads="1"/>
          </p:cNvSpPr>
          <p:nvPr/>
        </p:nvSpPr>
        <p:spPr bwMode="auto">
          <a:xfrm>
            <a:off x="587375" y="2933700"/>
            <a:ext cx="81549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在确定轴承位置之前，我们得先确定给轴承的润滑方式是稀油润滑（图</a:t>
            </a:r>
            <a:r>
              <a:rPr lang="en-US" altLang="zh-CN"/>
              <a:t>3.7-23a</a:t>
            </a:r>
            <a:r>
              <a:rPr lang="zh-CN" altLang="zh-CN"/>
              <a:t>）还是油脂润滑（图</a:t>
            </a:r>
            <a:r>
              <a:rPr lang="en-US" altLang="zh-CN"/>
              <a:t>3.7-23b</a:t>
            </a:r>
            <a:r>
              <a:rPr lang="zh-CN" altLang="zh-CN"/>
              <a:t>）</a:t>
            </a:r>
            <a:r>
              <a:rPr lang="zh-CN" altLang="en-US"/>
              <a:t>，不同润滑方式致结构不同。</a:t>
            </a:r>
            <a:endParaRPr lang="zh-CN" altLang="en-US"/>
          </a:p>
        </p:txBody>
      </p:sp>
      <p:pic>
        <p:nvPicPr>
          <p:cNvPr id="14" name="图片 13"/>
          <p:cNvPicPr>
            <a:picLocks noChangeAspect="1" noChangeArrowheads="1"/>
          </p:cNvPicPr>
          <p:nvPr/>
        </p:nvPicPr>
        <p:blipFill>
          <a:blip r:embed="rId4">
            <a:lum contrast="48000"/>
            <a:extLst>
              <a:ext uri="{28A0092B-C50C-407E-A947-70E740481C1C}">
                <a14:useLocalDpi xmlns:a14="http://schemas.microsoft.com/office/drawing/2010/main" val="0"/>
              </a:ext>
            </a:extLst>
          </a:blip>
          <a:srcRect/>
          <a:stretch>
            <a:fillRect/>
          </a:stretch>
        </p:blipFill>
        <p:spPr bwMode="auto">
          <a:xfrm>
            <a:off x="2003425" y="4010025"/>
            <a:ext cx="1520825"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16"/>
          <p:cNvPicPr>
            <a:picLocks noChangeAspect="1" noChangeArrowheads="1"/>
          </p:cNvPicPr>
          <p:nvPr/>
        </p:nvPicPr>
        <p:blipFill>
          <a:blip r:embed="rId5">
            <a:lum contrast="42000"/>
            <a:extLst>
              <a:ext uri="{28A0092B-C50C-407E-A947-70E740481C1C}">
                <a14:useLocalDpi xmlns:a14="http://schemas.microsoft.com/office/drawing/2010/main" val="0"/>
              </a:ext>
            </a:extLst>
          </a:blip>
          <a:srcRect/>
          <a:stretch>
            <a:fillRect/>
          </a:stretch>
        </p:blipFill>
        <p:spPr bwMode="auto">
          <a:xfrm>
            <a:off x="4633913" y="4021138"/>
            <a:ext cx="2525712"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文本框 18"/>
          <p:cNvSpPr txBox="1">
            <a:spLocks noChangeArrowheads="1"/>
          </p:cNvSpPr>
          <p:nvPr/>
        </p:nvSpPr>
        <p:spPr bwMode="auto">
          <a:xfrm>
            <a:off x="1963738" y="5675313"/>
            <a:ext cx="1565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400"/>
              <a:t>（</a:t>
            </a:r>
            <a:r>
              <a:rPr lang="en-US" altLang="zh-CN" sz="1400"/>
              <a:t>a</a:t>
            </a:r>
            <a:r>
              <a:rPr lang="zh-CN" altLang="zh-CN" sz="1400"/>
              <a:t>）油润滑轴承 </a:t>
            </a:r>
            <a:endParaRPr lang="zh-CN" altLang="en-US" sz="1400"/>
          </a:p>
        </p:txBody>
      </p:sp>
      <p:sp>
        <p:nvSpPr>
          <p:cNvPr id="20" name="文本框 19"/>
          <p:cNvSpPr txBox="1">
            <a:spLocks noChangeArrowheads="1"/>
          </p:cNvSpPr>
          <p:nvPr/>
        </p:nvSpPr>
        <p:spPr bwMode="auto">
          <a:xfrm>
            <a:off x="5060950" y="5591175"/>
            <a:ext cx="2319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a:t> </a:t>
            </a:r>
            <a:r>
              <a:rPr lang="zh-CN" altLang="zh-CN" sz="1400"/>
              <a:t>（</a:t>
            </a:r>
            <a:r>
              <a:rPr lang="en-US" altLang="zh-CN" sz="1400"/>
              <a:t>b</a:t>
            </a:r>
            <a:r>
              <a:rPr lang="zh-CN" altLang="zh-CN" sz="1400"/>
              <a:t>）脂润滑轴承</a:t>
            </a:r>
            <a:endParaRPr lang="zh-CN" altLang="zh-CN" sz="1400"/>
          </a:p>
        </p:txBody>
      </p:sp>
      <p:sp>
        <p:nvSpPr>
          <p:cNvPr id="21" name="文本框 20"/>
          <p:cNvSpPr txBox="1">
            <a:spLocks noChangeArrowheads="1"/>
          </p:cNvSpPr>
          <p:nvPr/>
        </p:nvSpPr>
        <p:spPr bwMode="auto">
          <a:xfrm>
            <a:off x="2979738" y="6086475"/>
            <a:ext cx="36306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3.7-23 </a:t>
            </a:r>
            <a:r>
              <a:rPr lang="zh-CN" altLang="zh-CN" sz="1600"/>
              <a:t>轴承在箱体中的位置</a:t>
            </a:r>
            <a:endParaRPr lang="zh-CN" altLang="zh-CN" sz="1600"/>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 name="文本框 2"/>
          <p:cNvSpPr txBox="1"/>
          <p:nvPr/>
        </p:nvSpPr>
        <p:spPr>
          <a:xfrm>
            <a:off x="2621915" y="193675"/>
            <a:ext cx="44500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  </a:t>
            </a:r>
            <a:r>
              <a:rPr lang="zh-CN" altLang="zh-CN" sz="2400">
                <a:solidFill>
                  <a:srgbClr val="C00000"/>
                </a:solidFill>
                <a:latin typeface="黑体" panose="02010609060101010101" pitchFamily="49" charset="-122"/>
                <a:ea typeface="黑体" panose="02010609060101010101" pitchFamily="49" charset="-122"/>
                <a:sym typeface="+mn-ea"/>
              </a:rPr>
              <a:t>齿轮减速器输入轴的设计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left)">
                                      <p:cBhvr>
                                        <p:cTn id="5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P spid="10" grpId="0"/>
      <p:bldP spid="19" grpId="0"/>
      <p:bldP spid="20" grpId="0"/>
      <p:bldP spid="2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矩形 18"/>
          <p:cNvSpPr/>
          <p:nvPr/>
        </p:nvSpPr>
        <p:spPr>
          <a:xfrm>
            <a:off x="3509645" y="5795010"/>
            <a:ext cx="1922780" cy="501650"/>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2" name="直接连接符 1"/>
          <p:cNvCxnSpPr/>
          <p:nvPr/>
        </p:nvCxnSpPr>
        <p:spPr>
          <a:xfrm>
            <a:off x="4492308" y="96838"/>
            <a:ext cx="0" cy="6523990"/>
          </a:xfrm>
          <a:prstGeom prst="line">
            <a:avLst/>
          </a:prstGeom>
          <a:solidFill>
            <a:schemeClr val="accent1"/>
          </a:solidFill>
          <a:ln w="9525" cap="flat" cmpd="sng" algn="ctr">
            <a:solidFill>
              <a:schemeClr val="tx1"/>
            </a:solidFill>
            <a:prstDash val="lgDashDot"/>
            <a:round/>
            <a:headEnd type="none" w="med" len="med"/>
            <a:tailEnd type="none" w="med" len="med"/>
          </a:ln>
        </p:spPr>
      </p:cxnSp>
      <p:sp>
        <p:nvSpPr>
          <p:cNvPr id="3" name="矩形 2"/>
          <p:cNvSpPr/>
          <p:nvPr/>
        </p:nvSpPr>
        <p:spPr>
          <a:xfrm rot="5400000">
            <a:off x="4234815" y="4498340"/>
            <a:ext cx="480695" cy="1494790"/>
          </a:xfrm>
          <a:prstGeom prst="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4" name="直接连接符 3"/>
          <p:cNvCxnSpPr/>
          <p:nvPr/>
        </p:nvCxnSpPr>
        <p:spPr>
          <a:xfrm flipH="1">
            <a:off x="5145405" y="4817110"/>
            <a:ext cx="3175" cy="765175"/>
          </a:xfrm>
          <a:prstGeom prst="line">
            <a:avLst/>
          </a:prstGeom>
          <a:solidFill>
            <a:schemeClr val="accent1"/>
          </a:solidFill>
          <a:ln w="9525" cap="flat" cmpd="sng" algn="ctr">
            <a:solidFill>
              <a:schemeClr val="tx1"/>
            </a:solidFill>
            <a:prstDash val="lgDashDot"/>
            <a:round/>
            <a:headEnd type="none" w="med" len="med"/>
            <a:tailEnd type="none" w="med" len="med"/>
          </a:ln>
        </p:spPr>
      </p:cxnSp>
      <p:cxnSp>
        <p:nvCxnSpPr>
          <p:cNvPr id="5" name="直接连接符 4"/>
          <p:cNvCxnSpPr/>
          <p:nvPr/>
        </p:nvCxnSpPr>
        <p:spPr>
          <a:xfrm>
            <a:off x="3805873" y="4899978"/>
            <a:ext cx="0" cy="758825"/>
          </a:xfrm>
          <a:prstGeom prst="line">
            <a:avLst/>
          </a:prstGeom>
          <a:solidFill>
            <a:schemeClr val="accent1"/>
          </a:solidFill>
          <a:ln w="9525" cap="flat" cmpd="sng" algn="ctr">
            <a:solidFill>
              <a:schemeClr val="tx1"/>
            </a:solidFill>
            <a:prstDash val="lgDashDot"/>
            <a:round/>
            <a:headEnd type="none" w="med" len="med"/>
            <a:tailEnd type="none" w="med" len="med"/>
          </a:ln>
        </p:spPr>
      </p:cxnSp>
      <p:cxnSp>
        <p:nvCxnSpPr>
          <p:cNvPr id="6" name="直接连接符 5"/>
          <p:cNvCxnSpPr/>
          <p:nvPr/>
        </p:nvCxnSpPr>
        <p:spPr>
          <a:xfrm flipH="1">
            <a:off x="569278" y="5686108"/>
            <a:ext cx="7640320" cy="0"/>
          </a:xfrm>
          <a:prstGeom prst="line">
            <a:avLst/>
          </a:prstGeom>
          <a:solidFill>
            <a:schemeClr val="accent1"/>
          </a:solidFill>
          <a:ln w="19050" cap="flat" cmpd="sng" algn="ctr">
            <a:solidFill>
              <a:schemeClr val="tx1"/>
            </a:solidFill>
            <a:prstDash val="solid"/>
            <a:round/>
            <a:headEnd type="none" w="med" len="med"/>
            <a:tailEnd type="none" w="med" len="med"/>
          </a:ln>
        </p:spPr>
      </p:cxnSp>
      <p:cxnSp>
        <p:nvCxnSpPr>
          <p:cNvPr id="9" name="直接连接符 8"/>
          <p:cNvCxnSpPr/>
          <p:nvPr/>
        </p:nvCxnSpPr>
        <p:spPr>
          <a:xfrm>
            <a:off x="1089660" y="2718435"/>
            <a:ext cx="6776085" cy="0"/>
          </a:xfrm>
          <a:prstGeom prst="line">
            <a:avLst/>
          </a:prstGeom>
          <a:solidFill>
            <a:schemeClr val="accent1"/>
          </a:solidFill>
          <a:ln w="19050" cap="flat" cmpd="sng" algn="ctr">
            <a:solidFill>
              <a:schemeClr val="tx1"/>
            </a:solidFill>
            <a:prstDash val="solid"/>
            <a:round/>
            <a:headEnd type="none" w="med" len="med"/>
            <a:tailEnd type="none" w="med" len="med"/>
          </a:ln>
        </p:spPr>
      </p:cxnSp>
      <p:sp>
        <p:nvSpPr>
          <p:cNvPr id="10" name="矩形 9"/>
          <p:cNvSpPr/>
          <p:nvPr/>
        </p:nvSpPr>
        <p:spPr>
          <a:xfrm>
            <a:off x="3557905" y="2105660"/>
            <a:ext cx="1831340" cy="483235"/>
          </a:xfrm>
          <a:prstGeom prst="rect">
            <a:avLst/>
          </a:prstGeom>
          <a:solidFill>
            <a:schemeClr val="accent1">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1" name="矩形 10"/>
          <p:cNvSpPr/>
          <p:nvPr/>
        </p:nvSpPr>
        <p:spPr>
          <a:xfrm>
            <a:off x="4049395" y="2088515"/>
            <a:ext cx="851535" cy="501650"/>
          </a:xfrm>
          <a:prstGeom prst="rect">
            <a:avLst/>
          </a:prstGeom>
          <a:gradFill>
            <a:gsLst>
              <a:gs pos="50000">
                <a:schemeClr val="accent2"/>
              </a:gs>
              <a:gs pos="0">
                <a:schemeClr val="accent2">
                  <a:lumMod val="25000"/>
                  <a:lumOff val="75000"/>
                </a:schemeClr>
              </a:gs>
              <a:gs pos="100000">
                <a:schemeClr val="accent2">
                  <a:lumMod val="85000"/>
                </a:schemeClr>
              </a:gs>
            </a:gsLst>
            <a:lin ang="10800000" scaled="1"/>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2" name="矩形 11"/>
          <p:cNvSpPr/>
          <p:nvPr/>
        </p:nvSpPr>
        <p:spPr>
          <a:xfrm>
            <a:off x="3987800" y="2600325"/>
            <a:ext cx="1018540" cy="2410460"/>
          </a:xfrm>
          <a:prstGeom prst="rect">
            <a:avLst/>
          </a:prstGeom>
          <a:gradFill>
            <a:gsLst>
              <a:gs pos="0">
                <a:srgbClr val="9EE256"/>
              </a:gs>
              <a:gs pos="100000">
                <a:srgbClr val="52762D"/>
              </a:gs>
            </a:gsLst>
            <a:lin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4" name="矩形 13"/>
          <p:cNvSpPr/>
          <p:nvPr/>
        </p:nvSpPr>
        <p:spPr>
          <a:xfrm>
            <a:off x="3989070" y="5791200"/>
            <a:ext cx="963930" cy="500380"/>
          </a:xfrm>
          <a:prstGeom prst="rect">
            <a:avLst/>
          </a:prstGeom>
          <a:gradFill>
            <a:gsLst>
              <a:gs pos="50000">
                <a:schemeClr val="accent6"/>
              </a:gs>
              <a:gs pos="0">
                <a:schemeClr val="accent6">
                  <a:lumMod val="25000"/>
                  <a:lumOff val="75000"/>
                </a:schemeClr>
              </a:gs>
              <a:gs pos="100000">
                <a:schemeClr val="accent6">
                  <a:lumMod val="85000"/>
                </a:schemeClr>
              </a:gs>
            </a:gsLst>
            <a:lin ang="0" scaled="1"/>
          </a:gradFill>
          <a:ln w="9525" cap="flat" cmpd="sng" algn="ctr">
            <a:gradFill>
              <a:gsLst>
                <a:gs pos="0">
                  <a:srgbClr val="D92763"/>
                </a:gs>
                <a:gs pos="50000">
                  <a:srgbClr val="E3447A"/>
                </a:gs>
                <a:gs pos="100000">
                  <a:srgbClr val="EC6091"/>
                </a:gs>
              </a:gsLst>
              <a:lin ang="5400000" scaled="0"/>
            </a:gra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5" name="矩形 14"/>
          <p:cNvSpPr/>
          <p:nvPr/>
        </p:nvSpPr>
        <p:spPr>
          <a:xfrm>
            <a:off x="3932555" y="5490210"/>
            <a:ext cx="1089660" cy="300990"/>
          </a:xfrm>
          <a:prstGeom prst="rect">
            <a:avLst/>
          </a:prstGeom>
          <a:gradFill>
            <a:gsLst>
              <a:gs pos="0">
                <a:srgbClr val="9EE256"/>
              </a:gs>
              <a:gs pos="100000">
                <a:srgbClr val="52762D"/>
              </a:gs>
            </a:gsLst>
            <a:lin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sp>
        <p:nvSpPr>
          <p:cNvPr id="17" name="矩形 16"/>
          <p:cNvSpPr/>
          <p:nvPr/>
        </p:nvSpPr>
        <p:spPr>
          <a:xfrm rot="16200000">
            <a:off x="4067175" y="285115"/>
            <a:ext cx="812165" cy="569595"/>
          </a:xfrm>
          <a:prstGeom prst="rect">
            <a:avLst/>
          </a:prstGeom>
          <a:gradFill>
            <a:gsLst>
              <a:gs pos="57000">
                <a:srgbClr val="9EE256"/>
              </a:gs>
              <a:gs pos="100000">
                <a:srgbClr val="52762D"/>
              </a:gs>
            </a:gsLst>
            <a:lin ang="5400000" scaled="0"/>
          </a:gra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18" name="直接连接符 17"/>
          <p:cNvCxnSpPr/>
          <p:nvPr/>
        </p:nvCxnSpPr>
        <p:spPr>
          <a:xfrm>
            <a:off x="760095" y="1577340"/>
            <a:ext cx="7259320" cy="0"/>
          </a:xfrm>
          <a:prstGeom prst="line">
            <a:avLst/>
          </a:prstGeom>
          <a:solidFill>
            <a:schemeClr val="accent1"/>
          </a:solidFill>
          <a:ln w="19050" cap="flat" cmpd="sng" algn="ctr">
            <a:solidFill>
              <a:schemeClr val="tx1"/>
            </a:solidFill>
            <a:prstDash val="solid"/>
            <a:round/>
            <a:headEnd type="none" w="med" len="med"/>
            <a:tailEnd type="none" w="med" len="med"/>
          </a:ln>
        </p:spPr>
      </p:cxnSp>
      <p:sp>
        <p:nvSpPr>
          <p:cNvPr id="20" name="文本框 19"/>
          <p:cNvSpPr txBox="1">
            <a:spLocks noRot="1" noChangeAspect="1" noMove="1" noResize="1" noEditPoints="1" noAdjustHandles="1" noChangeArrowheads="1" noChangeShapeType="1" noTextEdit="1"/>
          </p:cNvSpPr>
          <p:nvPr/>
        </p:nvSpPr>
        <p:spPr>
          <a:xfrm>
            <a:off x="575310" y="3090545"/>
            <a:ext cx="3305810" cy="401955"/>
          </a:xfrm>
          <a:prstGeom prst="rect">
            <a:avLst/>
          </a:prstGeom>
          <a:blipFill>
            <a:blip r:embed="rId1"/>
            <a:stretch>
              <a:fillRect l="-1316" t="-5455" b="-23636"/>
            </a:stretch>
          </a:blipFill>
        </p:spPr>
        <p:txBody>
          <a:bodyPr/>
          <a:p>
            <a:pPr>
              <a:defRPr/>
            </a:pPr>
            <a:r>
              <a:rPr lang="zh-CN" altLang="en-US">
                <a:noFill/>
              </a:rPr>
              <a:t> </a:t>
            </a:r>
            <a:endParaRPr lang="zh-CN" altLang="en-US">
              <a:noFill/>
            </a:endParaRPr>
          </a:p>
        </p:txBody>
      </p:sp>
      <p:cxnSp>
        <p:nvCxnSpPr>
          <p:cNvPr id="21" name="直接箭头连接符 20"/>
          <p:cNvCxnSpPr/>
          <p:nvPr/>
        </p:nvCxnSpPr>
        <p:spPr>
          <a:xfrm>
            <a:off x="3287395" y="1577340"/>
            <a:ext cx="0" cy="1156335"/>
          </a:xfrm>
          <a:prstGeom prst="straightConnector1">
            <a:avLst/>
          </a:prstGeom>
          <a:solidFill>
            <a:schemeClr val="accent1"/>
          </a:solidFill>
          <a:ln w="9525" cap="flat" cmpd="sng" algn="ctr">
            <a:solidFill>
              <a:schemeClr val="tx1"/>
            </a:solidFill>
            <a:prstDash val="solid"/>
            <a:round/>
            <a:headEnd type="triangle" w="med" len="med"/>
            <a:tailEnd type="triangle" w="med" len="med"/>
          </a:ln>
        </p:spPr>
      </p:cxnSp>
      <p:sp>
        <p:nvSpPr>
          <p:cNvPr id="22" name="文本框 21"/>
          <p:cNvSpPr txBox="1"/>
          <p:nvPr/>
        </p:nvSpPr>
        <p:spPr>
          <a:xfrm>
            <a:off x="2923540" y="1948180"/>
            <a:ext cx="245745" cy="398780"/>
          </a:xfrm>
          <a:prstGeom prst="rect">
            <a:avLst/>
          </a:prstGeom>
          <a:noFill/>
        </p:spPr>
        <p:txBody>
          <a:bodyPr wrap="square" rtlCol="0">
            <a:spAutoFit/>
          </a:bodyPr>
          <a:p>
            <a:r>
              <a:rPr lang="en-US" altLang="zh-CN" i="1">
                <a:solidFill>
                  <a:schemeClr val="accent2"/>
                </a:solidFill>
              </a:rPr>
              <a:t>L</a:t>
            </a:r>
            <a:endParaRPr lang="en-US" altLang="zh-CN" i="1">
              <a:solidFill>
                <a:schemeClr val="accent2"/>
              </a:solidFill>
            </a:endParaRPr>
          </a:p>
        </p:txBody>
      </p:sp>
      <p:grpSp>
        <p:nvGrpSpPr>
          <p:cNvPr id="30" name="组合 29"/>
          <p:cNvGrpSpPr/>
          <p:nvPr/>
        </p:nvGrpSpPr>
        <p:grpSpPr>
          <a:xfrm>
            <a:off x="3121660" y="1356360"/>
            <a:ext cx="2694305" cy="760730"/>
            <a:chOff x="4916" y="2136"/>
            <a:chExt cx="4243" cy="1198"/>
          </a:xfrm>
        </p:grpSpPr>
        <p:cxnSp>
          <p:nvCxnSpPr>
            <p:cNvPr id="23" name="直接连接符 22"/>
            <p:cNvCxnSpPr/>
            <p:nvPr/>
          </p:nvCxnSpPr>
          <p:spPr>
            <a:xfrm flipV="1">
              <a:off x="5607" y="2466"/>
              <a:ext cx="0" cy="832"/>
            </a:xfrm>
            <a:prstGeom prst="line">
              <a:avLst/>
            </a:prstGeom>
            <a:solidFill>
              <a:schemeClr val="accent1"/>
            </a:solidFill>
            <a:ln w="28575" cap="flat" cmpd="sng" algn="ctr">
              <a:solidFill>
                <a:srgbClr val="FF0000"/>
              </a:solidFill>
              <a:prstDash val="solid"/>
              <a:round/>
              <a:headEnd type="none" w="med" len="med"/>
              <a:tailEnd type="none" w="med" len="med"/>
            </a:ln>
          </p:spPr>
        </p:cxnSp>
        <p:cxnSp>
          <p:nvCxnSpPr>
            <p:cNvPr id="25" name="直接连接符 24"/>
            <p:cNvCxnSpPr/>
            <p:nvPr/>
          </p:nvCxnSpPr>
          <p:spPr>
            <a:xfrm>
              <a:off x="4916" y="2136"/>
              <a:ext cx="4202" cy="0"/>
            </a:xfrm>
            <a:prstGeom prst="line">
              <a:avLst/>
            </a:prstGeom>
            <a:solidFill>
              <a:schemeClr val="accent1"/>
            </a:solidFill>
            <a:ln w="28575" cap="flat" cmpd="sng" algn="ctr">
              <a:solidFill>
                <a:srgbClr val="FF0000"/>
              </a:solidFill>
              <a:prstDash val="solid"/>
              <a:round/>
              <a:headEnd type="none" w="med" len="med"/>
              <a:tailEnd type="none" w="med" len="med"/>
            </a:ln>
          </p:spPr>
        </p:cxnSp>
        <p:cxnSp>
          <p:nvCxnSpPr>
            <p:cNvPr id="26" name="直接连接符 25"/>
            <p:cNvCxnSpPr/>
            <p:nvPr/>
          </p:nvCxnSpPr>
          <p:spPr>
            <a:xfrm flipV="1">
              <a:off x="8487" y="2502"/>
              <a:ext cx="0" cy="832"/>
            </a:xfrm>
            <a:prstGeom prst="line">
              <a:avLst/>
            </a:prstGeom>
            <a:solidFill>
              <a:schemeClr val="accent1"/>
            </a:solidFill>
            <a:ln w="28575" cap="flat" cmpd="sng" algn="ctr">
              <a:solidFill>
                <a:srgbClr val="FF0000"/>
              </a:solidFill>
              <a:prstDash val="solid"/>
              <a:round/>
              <a:headEnd type="none" w="med" len="med"/>
              <a:tailEnd type="none" w="med" len="med"/>
            </a:ln>
          </p:spPr>
        </p:cxnSp>
        <p:cxnSp>
          <p:nvCxnSpPr>
            <p:cNvPr id="27" name="直接连接符 26"/>
            <p:cNvCxnSpPr/>
            <p:nvPr/>
          </p:nvCxnSpPr>
          <p:spPr>
            <a:xfrm flipV="1">
              <a:off x="4918" y="2136"/>
              <a:ext cx="0" cy="330"/>
            </a:xfrm>
            <a:prstGeom prst="line">
              <a:avLst/>
            </a:prstGeom>
            <a:solidFill>
              <a:schemeClr val="accent1"/>
            </a:solidFill>
            <a:ln w="28575" cap="flat" cmpd="sng" algn="ctr">
              <a:solidFill>
                <a:srgbClr val="FF0000"/>
              </a:solidFill>
              <a:prstDash val="solid"/>
              <a:round/>
              <a:headEnd type="none" w="med" len="med"/>
              <a:tailEnd type="none" w="med" len="med"/>
            </a:ln>
          </p:spPr>
        </p:cxnSp>
        <p:cxnSp>
          <p:nvCxnSpPr>
            <p:cNvPr id="28" name="直接连接符 27"/>
            <p:cNvCxnSpPr/>
            <p:nvPr/>
          </p:nvCxnSpPr>
          <p:spPr>
            <a:xfrm flipV="1">
              <a:off x="9159" y="2136"/>
              <a:ext cx="0" cy="330"/>
            </a:xfrm>
            <a:prstGeom prst="line">
              <a:avLst/>
            </a:prstGeom>
            <a:solidFill>
              <a:schemeClr val="accent1"/>
            </a:solidFill>
            <a:ln w="28575" cap="flat" cmpd="sng" algn="ctr">
              <a:solidFill>
                <a:srgbClr val="FF0000"/>
              </a:solidFill>
              <a:prstDash val="solid"/>
              <a:round/>
              <a:headEnd type="none" w="med" len="med"/>
              <a:tailEnd type="none" w="med" len="med"/>
            </a:ln>
          </p:spPr>
        </p:cxnSp>
      </p:grpSp>
      <p:cxnSp>
        <p:nvCxnSpPr>
          <p:cNvPr id="29" name="直接连接符 28"/>
          <p:cNvCxnSpPr/>
          <p:nvPr/>
        </p:nvCxnSpPr>
        <p:spPr>
          <a:xfrm flipH="1">
            <a:off x="2339975" y="974090"/>
            <a:ext cx="1784985" cy="0"/>
          </a:xfrm>
          <a:prstGeom prst="line">
            <a:avLst/>
          </a:prstGeom>
          <a:solidFill>
            <a:schemeClr val="accent1"/>
          </a:solidFill>
          <a:ln w="9525" cap="flat" cmpd="sng" algn="ctr">
            <a:solidFill>
              <a:srgbClr val="00B050"/>
            </a:solidFill>
            <a:prstDash val="solid"/>
            <a:round/>
            <a:headEnd type="none" w="med" len="med"/>
            <a:tailEnd type="none" w="med" len="med"/>
          </a:ln>
        </p:spPr>
      </p:cxnSp>
      <p:sp>
        <p:nvSpPr>
          <p:cNvPr id="16" name="矩形 15"/>
          <p:cNvSpPr/>
          <p:nvPr/>
        </p:nvSpPr>
        <p:spPr bwMode="auto">
          <a:xfrm rot="16200000">
            <a:off x="3895090" y="1165225"/>
            <a:ext cx="1138555" cy="719455"/>
          </a:xfrm>
          <a:prstGeom prst="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endParaRPr>
          </a:p>
        </p:txBody>
      </p:sp>
      <p:cxnSp>
        <p:nvCxnSpPr>
          <p:cNvPr id="31" name="直接连接符 30"/>
          <p:cNvCxnSpPr/>
          <p:nvPr/>
        </p:nvCxnSpPr>
        <p:spPr>
          <a:xfrm flipH="1">
            <a:off x="2440305" y="1347470"/>
            <a:ext cx="701040" cy="0"/>
          </a:xfrm>
          <a:prstGeom prst="line">
            <a:avLst/>
          </a:prstGeom>
          <a:solidFill>
            <a:schemeClr val="accent1"/>
          </a:solidFill>
          <a:ln w="9525" cap="flat" cmpd="sng" algn="ctr">
            <a:solidFill>
              <a:srgbClr val="00B050"/>
            </a:solidFill>
            <a:prstDash val="solid"/>
            <a:round/>
            <a:headEnd type="none" w="med" len="med"/>
            <a:tailEnd type="none" w="med" len="med"/>
          </a:ln>
        </p:spPr>
      </p:cxnSp>
      <p:cxnSp>
        <p:nvCxnSpPr>
          <p:cNvPr id="32" name="直接箭头连接符 31"/>
          <p:cNvCxnSpPr/>
          <p:nvPr/>
        </p:nvCxnSpPr>
        <p:spPr>
          <a:xfrm>
            <a:off x="2704465" y="974090"/>
            <a:ext cx="0" cy="382270"/>
          </a:xfrm>
          <a:prstGeom prst="straightConnector1">
            <a:avLst/>
          </a:prstGeom>
          <a:solidFill>
            <a:schemeClr val="accent1"/>
          </a:solidFill>
          <a:ln w="9525" cap="flat" cmpd="sng" algn="ctr">
            <a:solidFill>
              <a:schemeClr val="tx1"/>
            </a:solidFill>
            <a:prstDash val="solid"/>
            <a:round/>
            <a:headEnd type="triangle" w="med" len="med"/>
            <a:tailEnd type="triangle" w="med" len="med"/>
          </a:ln>
        </p:spPr>
      </p:cxnSp>
      <p:sp>
        <p:nvSpPr>
          <p:cNvPr id="33" name="文本框 32"/>
          <p:cNvSpPr txBox="1"/>
          <p:nvPr/>
        </p:nvSpPr>
        <p:spPr>
          <a:xfrm>
            <a:off x="2258060" y="975995"/>
            <a:ext cx="327660" cy="368300"/>
          </a:xfrm>
          <a:prstGeom prst="rect">
            <a:avLst/>
          </a:prstGeom>
          <a:noFill/>
        </p:spPr>
        <p:txBody>
          <a:bodyPr wrap="square" rtlCol="0">
            <a:spAutoFit/>
          </a:bodyPr>
          <a:p>
            <a:r>
              <a:rPr lang="en-US" altLang="zh-CN" sz="1800" i="1"/>
              <a:t>L’</a:t>
            </a:r>
            <a:endParaRPr lang="en-US" altLang="zh-CN" sz="1800" i="1"/>
          </a:p>
        </p:txBody>
      </p:sp>
      <p:graphicFrame>
        <p:nvGraphicFramePr>
          <p:cNvPr id="36" name="对象 35">
            <a:hlinkClick r:id="" action="ppaction://ole?verb="/>
          </p:cNvPr>
          <p:cNvGraphicFramePr>
            <a:graphicFrameLocks noChangeAspect="1"/>
          </p:cNvGraphicFramePr>
          <p:nvPr/>
        </p:nvGraphicFramePr>
        <p:xfrm>
          <a:off x="748030" y="909320"/>
          <a:ext cx="1256665" cy="302260"/>
        </p:xfrm>
        <a:graphic>
          <a:graphicData uri="http://schemas.openxmlformats.org/presentationml/2006/ole">
            <mc:AlternateContent xmlns:mc="http://schemas.openxmlformats.org/markup-compatibility/2006">
              <mc:Choice xmlns:v="urn:schemas-microsoft-com:vml" Requires="v">
                <p:oleObj spid="_x0000_s1025" name="" r:id="rId2" imgW="736600" imgH="177165" progId="Equation.KSEE3">
                  <p:embed/>
                </p:oleObj>
              </mc:Choice>
              <mc:Fallback>
                <p:oleObj name="" r:id="rId2" imgW="736600" imgH="177165" progId="Equation.KSEE3">
                  <p:embed/>
                  <p:pic>
                    <p:nvPicPr>
                      <p:cNvPr id="0" name="图片 1024"/>
                      <p:cNvPicPr/>
                      <p:nvPr/>
                    </p:nvPicPr>
                    <p:blipFill>
                      <a:blip r:embed="rId3"/>
                      <a:stretch>
                        <a:fillRect/>
                      </a:stretch>
                    </p:blipFill>
                    <p:spPr>
                      <a:xfrm>
                        <a:off x="748030" y="909320"/>
                        <a:ext cx="1256665" cy="302260"/>
                      </a:xfrm>
                      <a:prstGeom prst="rect">
                        <a:avLst/>
                      </a:prstGeom>
                    </p:spPr>
                  </p:pic>
                </p:oleObj>
              </mc:Fallback>
            </mc:AlternateContent>
          </a:graphicData>
        </a:graphic>
      </p:graphicFrame>
      <p:cxnSp>
        <p:nvCxnSpPr>
          <p:cNvPr id="37" name="直接连接符 36"/>
          <p:cNvCxnSpPr/>
          <p:nvPr/>
        </p:nvCxnSpPr>
        <p:spPr>
          <a:xfrm>
            <a:off x="1081405" y="1675130"/>
            <a:ext cx="2030730" cy="0"/>
          </a:xfrm>
          <a:prstGeom prst="line">
            <a:avLst/>
          </a:prstGeom>
          <a:solidFill>
            <a:schemeClr val="accent1"/>
          </a:solidFill>
          <a:ln w="19050" cap="flat" cmpd="sng" algn="ctr">
            <a:solidFill>
              <a:schemeClr val="tx1">
                <a:lumMod val="60000"/>
                <a:lumOff val="40000"/>
              </a:schemeClr>
            </a:solidFill>
            <a:prstDash val="solid"/>
            <a:round/>
            <a:headEnd type="none" w="med" len="med"/>
            <a:tailEnd type="none" w="med" len="med"/>
          </a:ln>
        </p:spPr>
      </p:cxnSp>
      <p:cxnSp>
        <p:nvCxnSpPr>
          <p:cNvPr id="41" name="直接连接符 40"/>
          <p:cNvCxnSpPr/>
          <p:nvPr/>
        </p:nvCxnSpPr>
        <p:spPr>
          <a:xfrm flipH="1">
            <a:off x="3121025" y="1586865"/>
            <a:ext cx="1905" cy="95885"/>
          </a:xfrm>
          <a:prstGeom prst="line">
            <a:avLst/>
          </a:prstGeom>
          <a:solidFill>
            <a:schemeClr val="accent1"/>
          </a:solidFill>
          <a:ln w="19050" cap="flat" cmpd="sng" algn="ctr">
            <a:solidFill>
              <a:schemeClr val="tx1">
                <a:lumMod val="60000"/>
                <a:lumOff val="40000"/>
              </a:schemeClr>
            </a:solidFill>
            <a:prstDash val="solid"/>
            <a:round/>
            <a:headEnd type="none" w="med" len="med"/>
            <a:tailEnd type="none" w="med" len="med"/>
          </a:ln>
        </p:spPr>
      </p:cxnSp>
      <p:graphicFrame>
        <p:nvGraphicFramePr>
          <p:cNvPr id="54298" name="对象 54297"/>
          <p:cNvGraphicFramePr/>
          <p:nvPr/>
        </p:nvGraphicFramePr>
        <p:xfrm>
          <a:off x="6659880" y="1198245"/>
          <a:ext cx="1724025" cy="280988"/>
        </p:xfrm>
        <a:graphic>
          <a:graphicData uri="http://schemas.openxmlformats.org/presentationml/2006/ole">
            <mc:AlternateContent xmlns:mc="http://schemas.openxmlformats.org/markup-compatibility/2006">
              <mc:Choice xmlns:v="urn:schemas-microsoft-com:vml" Requires="v">
                <p:oleObj spid="_x0000_s16768" name="" r:id="rId4" imgW="1243330" imgH="203200" progId="Equation.3">
                  <p:embed/>
                </p:oleObj>
              </mc:Choice>
              <mc:Fallback>
                <p:oleObj name="" r:id="rId4" imgW="1243330" imgH="203200" progId="Equation.3">
                  <p:embed/>
                  <p:pic>
                    <p:nvPicPr>
                      <p:cNvPr id="0" name="图片 3110"/>
                      <p:cNvPicPr/>
                      <p:nvPr/>
                    </p:nvPicPr>
                    <p:blipFill>
                      <a:blip r:embed="rId5"/>
                      <a:stretch>
                        <a:fillRect/>
                      </a:stretch>
                    </p:blipFill>
                    <p:spPr>
                      <a:xfrm>
                        <a:off x="6659880" y="1198245"/>
                        <a:ext cx="1724025" cy="280988"/>
                      </a:xfrm>
                      <a:prstGeom prst="rect">
                        <a:avLst/>
                      </a:prstGeom>
                      <a:noFill/>
                      <a:ln w="38100">
                        <a:noFill/>
                        <a:miter/>
                      </a:ln>
                    </p:spPr>
                  </p:pic>
                </p:oleObj>
              </mc:Fallback>
            </mc:AlternateContent>
          </a:graphicData>
        </a:graphic>
      </p:graphicFrame>
      <p:graphicFrame>
        <p:nvGraphicFramePr>
          <p:cNvPr id="54299" name="对象 54298"/>
          <p:cNvGraphicFramePr/>
          <p:nvPr/>
        </p:nvGraphicFramePr>
        <p:xfrm>
          <a:off x="288290" y="8890"/>
          <a:ext cx="3515360" cy="737235"/>
        </p:xfrm>
        <a:graphic>
          <a:graphicData uri="http://schemas.openxmlformats.org/presentationml/2006/ole">
            <mc:AlternateContent xmlns:mc="http://schemas.openxmlformats.org/markup-compatibility/2006">
              <mc:Choice xmlns:v="urn:schemas-microsoft-com:vml" Requires="v">
                <p:oleObj spid="_x0000_s16769" name="" r:id="rId6" imgW="2260600" imgH="533400" progId="Equation.3">
                  <p:embed/>
                </p:oleObj>
              </mc:Choice>
              <mc:Fallback>
                <p:oleObj name="" r:id="rId6" imgW="2260600" imgH="533400" progId="Equation.3">
                  <p:embed/>
                  <p:pic>
                    <p:nvPicPr>
                      <p:cNvPr id="0" name="图片 3111"/>
                      <p:cNvPicPr/>
                      <p:nvPr/>
                    </p:nvPicPr>
                    <p:blipFill>
                      <a:blip r:embed="rId7"/>
                      <a:stretch>
                        <a:fillRect/>
                      </a:stretch>
                    </p:blipFill>
                    <p:spPr>
                      <a:xfrm>
                        <a:off x="288290" y="8890"/>
                        <a:ext cx="3515360" cy="737235"/>
                      </a:xfrm>
                      <a:prstGeom prst="rect">
                        <a:avLst/>
                      </a:prstGeom>
                      <a:noFill/>
                      <a:ln w="38100">
                        <a:noFill/>
                        <a:miter/>
                      </a:ln>
                    </p:spPr>
                  </p:pic>
                </p:oleObj>
              </mc:Fallback>
            </mc:AlternateContent>
          </a:graphicData>
        </a:graphic>
      </p:graphicFrame>
      <p:graphicFrame>
        <p:nvGraphicFramePr>
          <p:cNvPr id="54300" name="对象 54299"/>
          <p:cNvGraphicFramePr/>
          <p:nvPr/>
        </p:nvGraphicFramePr>
        <p:xfrm>
          <a:off x="360045" y="3859213"/>
          <a:ext cx="2708275" cy="930275"/>
        </p:xfrm>
        <a:graphic>
          <a:graphicData uri="http://schemas.openxmlformats.org/presentationml/2006/ole">
            <mc:AlternateContent xmlns:mc="http://schemas.openxmlformats.org/markup-compatibility/2006">
              <mc:Choice xmlns:v="urn:schemas-microsoft-com:vml" Requires="v">
                <p:oleObj spid="_x0000_s16770" name="公式" r:id="rId8" imgW="46939200" imgH="16154400" progId="Equation.3">
                  <p:embed/>
                </p:oleObj>
              </mc:Choice>
              <mc:Fallback>
                <p:oleObj name="公式" r:id="rId8" imgW="46939200" imgH="16154400" progId="Equation.3">
                  <p:embed/>
                  <p:pic>
                    <p:nvPicPr>
                      <p:cNvPr id="0" name="图片 3112"/>
                      <p:cNvPicPr/>
                      <p:nvPr/>
                    </p:nvPicPr>
                    <p:blipFill>
                      <a:blip r:embed="rId9"/>
                      <a:stretch>
                        <a:fillRect/>
                      </a:stretch>
                    </p:blipFill>
                    <p:spPr>
                      <a:xfrm>
                        <a:off x="360045" y="3859213"/>
                        <a:ext cx="2708275" cy="930275"/>
                      </a:xfrm>
                      <a:prstGeom prst="rect">
                        <a:avLst/>
                      </a:prstGeom>
                      <a:noFill/>
                      <a:ln w="38100">
                        <a:noFill/>
                        <a:miter/>
                      </a:ln>
                    </p:spPr>
                  </p:pic>
                </p:oleObj>
              </mc:Fallback>
            </mc:AlternateContent>
          </a:graphicData>
        </a:graphic>
      </p:graphicFrame>
      <p:sp>
        <p:nvSpPr>
          <p:cNvPr id="7" name="文本框 6"/>
          <p:cNvSpPr txBox="1"/>
          <p:nvPr/>
        </p:nvSpPr>
        <p:spPr>
          <a:xfrm>
            <a:off x="5872090" y="117080"/>
            <a:ext cx="1294646" cy="922020"/>
          </a:xfrm>
          <a:prstGeom prst="rect">
            <a:avLst/>
          </a:prstGeom>
          <a:solidFill>
            <a:schemeClr val="accent5">
              <a:lumMod val="75000"/>
            </a:schemeClr>
          </a:solidFill>
        </p:spPr>
        <p:txBody>
          <a:bodyPr wrap="square" rtlCol="0">
            <a:spAutoFit/>
          </a:bodyPr>
          <a:p>
            <a:r>
              <a:rPr lang="en-US" altLang="zh-CN" sz="1800" i="1" dirty="0" smtClean="0"/>
              <a:t>l</a:t>
            </a:r>
            <a:r>
              <a:rPr lang="en-US" altLang="zh-CN" sz="1800" baseline="-25000" dirty="0" smtClean="0"/>
              <a:t>1</a:t>
            </a:r>
            <a:r>
              <a:rPr lang="en-US" altLang="zh-CN" sz="1800" dirty="0" smtClean="0"/>
              <a:t>=</a:t>
            </a:r>
            <a:r>
              <a:rPr lang="zh-CN" altLang="en-US" sz="1800" dirty="0" smtClean="0"/>
              <a:t>大带轮轮毂宽度</a:t>
            </a:r>
            <a:r>
              <a:rPr lang="en-US" altLang="zh-CN" sz="1800" dirty="0" smtClean="0"/>
              <a:t>-2 mm</a:t>
            </a:r>
            <a:endParaRPr lang="zh-CN" altLang="en-US" sz="1800" dirty="0"/>
          </a:p>
        </p:txBody>
      </p:sp>
      <p:cxnSp>
        <p:nvCxnSpPr>
          <p:cNvPr id="8" name="直接连接符 7"/>
          <p:cNvCxnSpPr/>
          <p:nvPr/>
        </p:nvCxnSpPr>
        <p:spPr>
          <a:xfrm>
            <a:off x="5796915" y="1341755"/>
            <a:ext cx="817880" cy="0"/>
          </a:xfrm>
          <a:prstGeom prst="line">
            <a:avLst/>
          </a:prstGeom>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6431915" y="1350010"/>
            <a:ext cx="13970" cy="243205"/>
          </a:xfrm>
          <a:prstGeom prst="straightConnector1">
            <a:avLst/>
          </a:prstGeom>
          <a:ln>
            <a:headEnd type="triangle" w="med" len="med"/>
            <a:tailEnd type="triangle" w="med" len="med"/>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rot="16200000">
            <a:off x="5980430" y="1314450"/>
            <a:ext cx="302260" cy="368300"/>
          </a:xfrm>
          <a:prstGeom prst="rect">
            <a:avLst/>
          </a:prstGeom>
          <a:noFill/>
        </p:spPr>
        <p:txBody>
          <a:bodyPr wrap="square" rtlCol="0">
            <a:spAutoFit/>
          </a:bodyPr>
          <a:p>
            <a:r>
              <a:rPr lang="en-US" altLang="zh-CN" sz="1800" i="1"/>
              <a:t>e</a:t>
            </a:r>
            <a:endParaRPr lang="en-US" altLang="zh-CN" sz="1800"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22" presetClass="entr" presetSubtype="8"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down)">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down)">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down)">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down)">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wipe(down)">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left)">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down)">
                                      <p:cBhvr>
                                        <p:cTn id="70" dur="5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down)">
                                      <p:cBhvr>
                                        <p:cTn id="75" dur="500"/>
                                        <p:tgtEl>
                                          <p:spTgt spid="22"/>
                                        </p:tgtEl>
                                      </p:cBhvr>
                                    </p:animEffect>
                                  </p:childTnLst>
                                </p:cTn>
                              </p:par>
                              <p:par>
                                <p:cTn id="76" presetID="22" presetClass="entr" presetSubtype="8" fill="hold"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wipe(left)">
                                      <p:cBhvr>
                                        <p:cTn id="78" dur="500"/>
                                        <p:tgtEl>
                                          <p:spTgt spid="20"/>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8" fill="hold" nodeType="clickEffect">
                                  <p:stCondLst>
                                    <p:cond delay="0"/>
                                  </p:stCondLst>
                                  <p:childTnLst>
                                    <p:set>
                                      <p:cBhvr>
                                        <p:cTn id="82" dur="1" fill="hold">
                                          <p:stCondLst>
                                            <p:cond delay="0"/>
                                          </p:stCondLst>
                                        </p:cTn>
                                        <p:tgtEl>
                                          <p:spTgt spid="54300"/>
                                        </p:tgtEl>
                                        <p:attrNameLst>
                                          <p:attrName>style.visibility</p:attrName>
                                        </p:attrNameLst>
                                      </p:cBhvr>
                                      <p:to>
                                        <p:strVal val="visible"/>
                                      </p:to>
                                    </p:set>
                                    <p:anim calcmode="lin" valueType="num">
                                      <p:cBhvr additive="base">
                                        <p:cTn id="83" dur="500" fill="hold"/>
                                        <p:tgtEl>
                                          <p:spTgt spid="54300"/>
                                        </p:tgtEl>
                                        <p:attrNameLst>
                                          <p:attrName>ppt_x</p:attrName>
                                        </p:attrNameLst>
                                      </p:cBhvr>
                                      <p:tavLst>
                                        <p:tav tm="0">
                                          <p:val>
                                            <p:strVal val="0-#ppt_w/2"/>
                                          </p:val>
                                        </p:tav>
                                        <p:tav tm="100000">
                                          <p:val>
                                            <p:strVal val="#ppt_x"/>
                                          </p:val>
                                        </p:tav>
                                      </p:tavLst>
                                    </p:anim>
                                    <p:anim calcmode="lin" valueType="num">
                                      <p:cBhvr additive="base">
                                        <p:cTn id="84" dur="500" fill="hold"/>
                                        <p:tgtEl>
                                          <p:spTgt spid="54300"/>
                                        </p:tgtEl>
                                        <p:attrNameLst>
                                          <p:attrName>ppt_y</p:attrName>
                                        </p:attrNameLst>
                                      </p:cBhvr>
                                      <p:tavLst>
                                        <p:tav tm="0">
                                          <p:val>
                                            <p:strVal val="#ppt_y"/>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grpId="0" nodeType="click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wipe(down)">
                                      <p:cBhvr>
                                        <p:cTn id="89" dur="500"/>
                                        <p:tgtEl>
                                          <p:spTgt spid="16"/>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wipe(down)">
                                      <p:cBhvr>
                                        <p:cTn id="94" dur="500"/>
                                        <p:tgtEl>
                                          <p:spTgt spid="30"/>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8"/>
                                        </p:tgtEl>
                                        <p:attrNameLst>
                                          <p:attrName>style.visibility</p:attrName>
                                        </p:attrNameLst>
                                      </p:cBhvr>
                                      <p:to>
                                        <p:strVal val="visible"/>
                                      </p:to>
                                    </p:set>
                                    <p:animEffect transition="in" filter="wipe(down)">
                                      <p:cBhvr>
                                        <p:cTn id="99" dur="500"/>
                                        <p:tgtEl>
                                          <p:spTgt spid="8"/>
                                        </p:tgtEl>
                                      </p:cBhvr>
                                    </p:animEffect>
                                  </p:childTnLst>
                                </p:cTn>
                              </p:par>
                              <p:par>
                                <p:cTn id="100" presetID="22" presetClass="entr" presetSubtype="4" fill="hold" nodeType="withEffect">
                                  <p:stCondLst>
                                    <p:cond delay="0"/>
                                  </p:stCondLst>
                                  <p:childTnLst>
                                    <p:set>
                                      <p:cBhvr>
                                        <p:cTn id="101" dur="1" fill="hold">
                                          <p:stCondLst>
                                            <p:cond delay="0"/>
                                          </p:stCondLst>
                                        </p:cTn>
                                        <p:tgtEl>
                                          <p:spTgt spid="13"/>
                                        </p:tgtEl>
                                        <p:attrNameLst>
                                          <p:attrName>style.visibility</p:attrName>
                                        </p:attrNameLst>
                                      </p:cBhvr>
                                      <p:to>
                                        <p:strVal val="visible"/>
                                      </p:to>
                                    </p:set>
                                    <p:animEffect transition="in" filter="wipe(down)">
                                      <p:cBhvr>
                                        <p:cTn id="102" dur="500"/>
                                        <p:tgtEl>
                                          <p:spTgt spid="1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wipe(down)">
                                      <p:cBhvr>
                                        <p:cTn id="107" dur="500"/>
                                        <p:tgtEl>
                                          <p:spTgt spid="24"/>
                                        </p:tgtEl>
                                      </p:cBhvr>
                                    </p:animEffect>
                                  </p:childTnLst>
                                </p:cTn>
                              </p:par>
                            </p:childTnLst>
                          </p:cTn>
                        </p:par>
                      </p:childTnLst>
                    </p:cTn>
                  </p:par>
                  <p:par>
                    <p:cTn id="108" fill="hold">
                      <p:stCondLst>
                        <p:cond delay="indefinite"/>
                      </p:stCondLst>
                      <p:childTnLst>
                        <p:par>
                          <p:cTn id="109" fill="hold">
                            <p:stCondLst>
                              <p:cond delay="0"/>
                            </p:stCondLst>
                            <p:childTnLst>
                              <p:par>
                                <p:cTn id="110" presetID="2" presetClass="entr" presetSubtype="8" fill="hold" nodeType="clickEffect">
                                  <p:stCondLst>
                                    <p:cond delay="0"/>
                                  </p:stCondLst>
                                  <p:childTnLst>
                                    <p:set>
                                      <p:cBhvr>
                                        <p:cTn id="111" dur="1" fill="hold">
                                          <p:stCondLst>
                                            <p:cond delay="0"/>
                                          </p:stCondLst>
                                        </p:cTn>
                                        <p:tgtEl>
                                          <p:spTgt spid="54298"/>
                                        </p:tgtEl>
                                        <p:attrNameLst>
                                          <p:attrName>style.visibility</p:attrName>
                                        </p:attrNameLst>
                                      </p:cBhvr>
                                      <p:to>
                                        <p:strVal val="visible"/>
                                      </p:to>
                                    </p:set>
                                    <p:anim calcmode="lin" valueType="num">
                                      <p:cBhvr additive="base">
                                        <p:cTn id="112" dur="500" fill="hold"/>
                                        <p:tgtEl>
                                          <p:spTgt spid="54298"/>
                                        </p:tgtEl>
                                        <p:attrNameLst>
                                          <p:attrName>ppt_x</p:attrName>
                                        </p:attrNameLst>
                                      </p:cBhvr>
                                      <p:tavLst>
                                        <p:tav tm="0">
                                          <p:val>
                                            <p:strVal val="0-#ppt_w/2"/>
                                          </p:val>
                                        </p:tav>
                                        <p:tav tm="100000">
                                          <p:val>
                                            <p:strVal val="#ppt_x"/>
                                          </p:val>
                                        </p:tav>
                                      </p:tavLst>
                                    </p:anim>
                                    <p:anim calcmode="lin" valueType="num">
                                      <p:cBhvr additive="base">
                                        <p:cTn id="113" dur="500" fill="hold"/>
                                        <p:tgtEl>
                                          <p:spTgt spid="54298"/>
                                        </p:tgtEl>
                                        <p:attrNameLst>
                                          <p:attrName>ppt_y</p:attrName>
                                        </p:attrNameLst>
                                      </p:cBhvr>
                                      <p:tavLst>
                                        <p:tav tm="0">
                                          <p:val>
                                            <p:strVal val="#ppt_y"/>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2" presetClass="entr" presetSubtype="2" fill="hold" nodeType="clickEffect">
                                  <p:stCondLst>
                                    <p:cond delay="0"/>
                                  </p:stCondLst>
                                  <p:childTnLst>
                                    <p:set>
                                      <p:cBhvr>
                                        <p:cTn id="117" dur="1" fill="hold">
                                          <p:stCondLst>
                                            <p:cond delay="0"/>
                                          </p:stCondLst>
                                        </p:cTn>
                                        <p:tgtEl>
                                          <p:spTgt spid="29"/>
                                        </p:tgtEl>
                                        <p:attrNameLst>
                                          <p:attrName>style.visibility</p:attrName>
                                        </p:attrNameLst>
                                      </p:cBhvr>
                                      <p:to>
                                        <p:strVal val="visible"/>
                                      </p:to>
                                    </p:set>
                                    <p:animEffect transition="in" filter="wipe(right)">
                                      <p:cBhvr>
                                        <p:cTn id="118" dur="500"/>
                                        <p:tgtEl>
                                          <p:spTgt spid="29"/>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nodeType="clickEffect">
                                  <p:stCondLst>
                                    <p:cond delay="0"/>
                                  </p:stCondLst>
                                  <p:childTnLst>
                                    <p:set>
                                      <p:cBhvr>
                                        <p:cTn id="122" dur="1" fill="hold">
                                          <p:stCondLst>
                                            <p:cond delay="0"/>
                                          </p:stCondLst>
                                        </p:cTn>
                                        <p:tgtEl>
                                          <p:spTgt spid="31"/>
                                        </p:tgtEl>
                                        <p:attrNameLst>
                                          <p:attrName>style.visibility</p:attrName>
                                        </p:attrNameLst>
                                      </p:cBhvr>
                                      <p:to>
                                        <p:strVal val="visible"/>
                                      </p:to>
                                    </p:set>
                                    <p:animEffect transition="in" filter="wipe(up)">
                                      <p:cBhvr>
                                        <p:cTn id="123" dur="500"/>
                                        <p:tgtEl>
                                          <p:spTgt spid="31"/>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32"/>
                                        </p:tgtEl>
                                        <p:attrNameLst>
                                          <p:attrName>style.visibility</p:attrName>
                                        </p:attrNameLst>
                                      </p:cBhvr>
                                      <p:to>
                                        <p:strVal val="visible"/>
                                      </p:to>
                                    </p:set>
                                    <p:animEffect transition="in" filter="wipe(down)">
                                      <p:cBhvr>
                                        <p:cTn id="128" dur="500"/>
                                        <p:tgtEl>
                                          <p:spTgt spid="32"/>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4" fill="hold" grpId="0" nodeType="clickEffect">
                                  <p:stCondLst>
                                    <p:cond delay="0"/>
                                  </p:stCondLst>
                                  <p:childTnLst>
                                    <p:set>
                                      <p:cBhvr>
                                        <p:cTn id="132" dur="1" fill="hold">
                                          <p:stCondLst>
                                            <p:cond delay="0"/>
                                          </p:stCondLst>
                                        </p:cTn>
                                        <p:tgtEl>
                                          <p:spTgt spid="33"/>
                                        </p:tgtEl>
                                        <p:attrNameLst>
                                          <p:attrName>style.visibility</p:attrName>
                                        </p:attrNameLst>
                                      </p:cBhvr>
                                      <p:to>
                                        <p:strVal val="visible"/>
                                      </p:to>
                                    </p:set>
                                    <p:animEffect transition="in" filter="wipe(down)">
                                      <p:cBhvr>
                                        <p:cTn id="133" dur="500"/>
                                        <p:tgtEl>
                                          <p:spTgt spid="33"/>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nodeType="click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wipe(left)">
                                      <p:cBhvr>
                                        <p:cTn id="138" dur="500"/>
                                        <p:tgtEl>
                                          <p:spTgt spid="36"/>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17"/>
                                        </p:tgtEl>
                                        <p:attrNameLst>
                                          <p:attrName>style.visibility</p:attrName>
                                        </p:attrNameLst>
                                      </p:cBhvr>
                                      <p:to>
                                        <p:strVal val="visible"/>
                                      </p:to>
                                    </p:set>
                                    <p:animEffect transition="in" filter="wipe(left)">
                                      <p:cBhvr>
                                        <p:cTn id="143" dur="500"/>
                                        <p:tgtEl>
                                          <p:spTgt spid="17"/>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nodeType="clickEffect">
                                  <p:stCondLst>
                                    <p:cond delay="0"/>
                                  </p:stCondLst>
                                  <p:childTnLst>
                                    <p:set>
                                      <p:cBhvr>
                                        <p:cTn id="147" dur="1" fill="hold">
                                          <p:stCondLst>
                                            <p:cond delay="0"/>
                                          </p:stCondLst>
                                        </p:cTn>
                                        <p:tgtEl>
                                          <p:spTgt spid="37"/>
                                        </p:tgtEl>
                                        <p:attrNameLst>
                                          <p:attrName>style.visibility</p:attrName>
                                        </p:attrNameLst>
                                      </p:cBhvr>
                                      <p:to>
                                        <p:strVal val="visible"/>
                                      </p:to>
                                    </p:set>
                                    <p:animEffect transition="in" filter="wipe(left)">
                                      <p:cBhvr>
                                        <p:cTn id="148" dur="500"/>
                                        <p:tgtEl>
                                          <p:spTgt spid="37"/>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4" fill="hold" nodeType="clickEffect">
                                  <p:stCondLst>
                                    <p:cond delay="0"/>
                                  </p:stCondLst>
                                  <p:childTnLst>
                                    <p:set>
                                      <p:cBhvr>
                                        <p:cTn id="152" dur="1" fill="hold">
                                          <p:stCondLst>
                                            <p:cond delay="0"/>
                                          </p:stCondLst>
                                        </p:cTn>
                                        <p:tgtEl>
                                          <p:spTgt spid="41"/>
                                        </p:tgtEl>
                                        <p:attrNameLst>
                                          <p:attrName>style.visibility</p:attrName>
                                        </p:attrNameLst>
                                      </p:cBhvr>
                                      <p:to>
                                        <p:strVal val="visible"/>
                                      </p:to>
                                    </p:set>
                                    <p:animEffect transition="in" filter="wipe(down)">
                                      <p:cBhvr>
                                        <p:cTn id="153" dur="500"/>
                                        <p:tgtEl>
                                          <p:spTgt spid="41"/>
                                        </p:tgtEl>
                                      </p:cBhvr>
                                    </p:animEffect>
                                  </p:childTnLst>
                                </p:cTn>
                              </p:par>
                            </p:childTnLst>
                          </p:cTn>
                        </p:par>
                      </p:childTnLst>
                    </p:cTn>
                  </p:par>
                  <p:par>
                    <p:cTn id="154" fill="hold">
                      <p:stCondLst>
                        <p:cond delay="indefinite"/>
                      </p:stCondLst>
                      <p:childTnLst>
                        <p:par>
                          <p:cTn id="155" fill="hold">
                            <p:stCondLst>
                              <p:cond delay="0"/>
                            </p:stCondLst>
                            <p:childTnLst>
                              <p:par>
                                <p:cTn id="156" presetID="2" presetClass="entr" presetSubtype="8" fill="hold" nodeType="clickEffect">
                                  <p:stCondLst>
                                    <p:cond delay="0"/>
                                  </p:stCondLst>
                                  <p:childTnLst>
                                    <p:set>
                                      <p:cBhvr>
                                        <p:cTn id="157" dur="1" fill="hold">
                                          <p:stCondLst>
                                            <p:cond delay="0"/>
                                          </p:stCondLst>
                                        </p:cTn>
                                        <p:tgtEl>
                                          <p:spTgt spid="54299"/>
                                        </p:tgtEl>
                                        <p:attrNameLst>
                                          <p:attrName>style.visibility</p:attrName>
                                        </p:attrNameLst>
                                      </p:cBhvr>
                                      <p:to>
                                        <p:strVal val="visible"/>
                                      </p:to>
                                    </p:set>
                                    <p:anim calcmode="lin" valueType="num">
                                      <p:cBhvr additive="base">
                                        <p:cTn id="158" dur="500" fill="hold"/>
                                        <p:tgtEl>
                                          <p:spTgt spid="54299"/>
                                        </p:tgtEl>
                                        <p:attrNameLst>
                                          <p:attrName>ppt_x</p:attrName>
                                        </p:attrNameLst>
                                      </p:cBhvr>
                                      <p:tavLst>
                                        <p:tav tm="0">
                                          <p:val>
                                            <p:strVal val="0-#ppt_w/2"/>
                                          </p:val>
                                        </p:tav>
                                        <p:tav tm="100000">
                                          <p:val>
                                            <p:strVal val="#ppt_x"/>
                                          </p:val>
                                        </p:tav>
                                      </p:tavLst>
                                    </p:anim>
                                    <p:anim calcmode="lin" valueType="num">
                                      <p:cBhvr additive="base">
                                        <p:cTn id="159" dur="500" fill="hold"/>
                                        <p:tgtEl>
                                          <p:spTgt spid="54299"/>
                                        </p:tgtEl>
                                        <p:attrNameLst>
                                          <p:attrName>ppt_y</p:attrName>
                                        </p:attrNameLst>
                                      </p:cBhvr>
                                      <p:tavLst>
                                        <p:tav tm="0">
                                          <p:val>
                                            <p:strVal val="#ppt_y"/>
                                          </p:val>
                                        </p:tav>
                                        <p:tav tm="100000">
                                          <p:val>
                                            <p:strVal val="#ppt_y"/>
                                          </p:val>
                                        </p:tav>
                                      </p:tavLst>
                                    </p:anim>
                                  </p:childTnLst>
                                </p:cTn>
                              </p:par>
                            </p:childTnLst>
                          </p:cTn>
                        </p:par>
                        <p:par>
                          <p:cTn id="160" fill="hold">
                            <p:stCondLst>
                              <p:cond delay="500"/>
                            </p:stCondLst>
                            <p:childTnLst>
                              <p:par>
                                <p:cTn id="161" presetID="22" presetClass="entr" presetSubtype="8" fill="hold" grpId="0" nodeType="afterEffect">
                                  <p:stCondLst>
                                    <p:cond delay="0"/>
                                  </p:stCondLst>
                                  <p:childTnLst>
                                    <p:set>
                                      <p:cBhvr>
                                        <p:cTn id="162" dur="1" fill="hold">
                                          <p:stCondLst>
                                            <p:cond delay="0"/>
                                          </p:stCondLst>
                                        </p:cTn>
                                        <p:tgtEl>
                                          <p:spTgt spid="7"/>
                                        </p:tgtEl>
                                        <p:attrNameLst>
                                          <p:attrName>style.visibility</p:attrName>
                                        </p:attrNameLst>
                                      </p:cBhvr>
                                      <p:to>
                                        <p:strVal val="visible"/>
                                      </p:to>
                                    </p:set>
                                    <p:animEffect transition="in" filter="wipe(left)">
                                      <p:cBhvr>
                                        <p:cTn id="16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0" grpId="0" bldLvl="0" animBg="1"/>
      <p:bldP spid="11" grpId="0" bldLvl="0" animBg="1"/>
      <p:bldP spid="14" grpId="0" bldLvl="0" animBg="1"/>
      <p:bldP spid="12" grpId="0" bldLvl="0" animBg="1"/>
      <p:bldP spid="15" grpId="0" bldLvl="0" animBg="1"/>
      <p:bldP spid="16" grpId="0" bldLvl="0" animBg="1"/>
      <p:bldP spid="17" grpId="0" bldLvl="0" animBg="1"/>
      <p:bldP spid="19" grpId="0" bldLvl="0" animBg="1"/>
      <p:bldP spid="22" grpId="0"/>
      <p:bldP spid="33" grpId="0"/>
      <p:bldP spid="7" grpId="0" bldLvl="0" animBg="1"/>
      <p:bldP spid="2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a:stretch>
            <a:fillRect/>
          </a:stretch>
        </p:blipFill>
        <p:spPr>
          <a:xfrm>
            <a:off x="144145" y="1629410"/>
            <a:ext cx="9017000" cy="3060065"/>
          </a:xfrm>
          <a:prstGeom prst="rect">
            <a:avLst/>
          </a:prstGeom>
        </p:spPr>
      </p:pic>
      <p:sp>
        <p:nvSpPr>
          <p:cNvPr id="3" name="文本框 2"/>
          <p:cNvSpPr txBox="1"/>
          <p:nvPr/>
        </p:nvSpPr>
        <p:spPr>
          <a:xfrm>
            <a:off x="3216275" y="5046980"/>
            <a:ext cx="1751330" cy="460375"/>
          </a:xfrm>
          <a:prstGeom prst="rect">
            <a:avLst/>
          </a:prstGeom>
          <a:noFill/>
        </p:spPr>
        <p:txBody>
          <a:bodyPr wrap="square" rtlCol="0">
            <a:spAutoFit/>
          </a:bodyPr>
          <a:p>
            <a:r>
              <a:rPr lang="zh-CN" altLang="en-US"/>
              <a:t>输入轴</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rcRect/>
          <a:stretch>
            <a:fillRect/>
          </a:stretch>
        </p:blipFill>
        <p:spPr>
          <a:xfrm rot="16200000">
            <a:off x="2948940" y="-1320165"/>
            <a:ext cx="3348990" cy="8023225"/>
          </a:xfrm>
          <a:prstGeom prst="rect">
            <a:avLst/>
          </a:prstGeom>
        </p:spPr>
      </p:pic>
      <p:sp>
        <p:nvSpPr>
          <p:cNvPr id="2" name="文本框 1"/>
          <p:cNvSpPr txBox="1"/>
          <p:nvPr/>
        </p:nvSpPr>
        <p:spPr>
          <a:xfrm>
            <a:off x="2693670" y="4747260"/>
            <a:ext cx="3318510" cy="460375"/>
          </a:xfrm>
          <a:prstGeom prst="rect">
            <a:avLst/>
          </a:prstGeom>
          <a:noFill/>
        </p:spPr>
        <p:txBody>
          <a:bodyPr wrap="square" rtlCol="0">
            <a:spAutoFit/>
          </a:bodyPr>
          <a:p>
            <a:r>
              <a:rPr lang="zh-CN" altLang="en-US"/>
              <a:t>中间轴</a:t>
            </a:r>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1926" t="33426" b="28173"/>
          <a:stretch>
            <a:fillRect/>
          </a:stretch>
        </p:blipFill>
        <p:spPr>
          <a:xfrm>
            <a:off x="421640" y="1737360"/>
            <a:ext cx="8244205" cy="2421255"/>
          </a:xfrm>
          <a:prstGeom prst="rect">
            <a:avLst/>
          </a:prstGeom>
        </p:spPr>
      </p:pic>
      <p:sp>
        <p:nvSpPr>
          <p:cNvPr id="3" name="文本框 2"/>
          <p:cNvSpPr txBox="1"/>
          <p:nvPr/>
        </p:nvSpPr>
        <p:spPr>
          <a:xfrm>
            <a:off x="2903220" y="4885055"/>
            <a:ext cx="2929255" cy="460375"/>
          </a:xfrm>
          <a:prstGeom prst="rect">
            <a:avLst/>
          </a:prstGeom>
          <a:noFill/>
        </p:spPr>
        <p:txBody>
          <a:bodyPr wrap="square" rtlCol="0">
            <a:spAutoFit/>
          </a:bodyPr>
          <a:p>
            <a:r>
              <a:rPr lang="zh-CN" altLang="en-US"/>
              <a:t>输出轴</a:t>
            </a: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ChangeArrowheads="1"/>
          </p:cNvSpPr>
          <p:nvPr/>
        </p:nvSpPr>
        <p:spPr bwMode="auto">
          <a:xfrm>
            <a:off x="577850" y="793750"/>
            <a:ext cx="8164513"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如我们采用稀油润滑方式，以高速轴</a:t>
            </a:r>
            <a:r>
              <a:rPr lang="en-US" altLang="zh-CN"/>
              <a:t>I</a:t>
            </a:r>
            <a:r>
              <a:rPr lang="zh-CN" altLang="zh-CN"/>
              <a:t>及其一对圆锥滚子轴承</a:t>
            </a:r>
            <a:r>
              <a:rPr lang="en-US" altLang="zh-CN"/>
              <a:t>30308</a:t>
            </a:r>
            <a:r>
              <a:rPr lang="zh-CN" altLang="zh-CN"/>
              <a:t>的设计为例，并同步进行另外两根轴及两对轴承（轴结构方案设计时分别选定的是</a:t>
            </a:r>
            <a:r>
              <a:rPr lang="en-US" altLang="zh-CN"/>
              <a:t>30309</a:t>
            </a:r>
            <a:r>
              <a:rPr lang="zh-CN" altLang="zh-CN"/>
              <a:t>和</a:t>
            </a:r>
            <a:r>
              <a:rPr lang="en-US" altLang="zh-CN"/>
              <a:t>6216</a:t>
            </a:r>
            <a:r>
              <a:rPr lang="zh-CN" altLang="zh-CN"/>
              <a:t>）的设计；各对轴承布置和轴承孔的设计结果如图</a:t>
            </a:r>
            <a:r>
              <a:rPr lang="en-US" altLang="zh-CN"/>
              <a:t>3.7-24</a:t>
            </a:r>
            <a:r>
              <a:rPr lang="zh-CN" altLang="zh-CN"/>
              <a:t>。</a:t>
            </a:r>
            <a:endParaRPr lang="zh-CN" altLang="zh-CN"/>
          </a:p>
        </p:txBody>
      </p:sp>
      <p:pic>
        <p:nvPicPr>
          <p:cNvPr id="16" name="图片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5080" y="2678430"/>
            <a:ext cx="6983730" cy="343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ChangeArrowheads="1"/>
          </p:cNvSpPr>
          <p:nvPr/>
        </p:nvSpPr>
        <p:spPr bwMode="auto">
          <a:xfrm>
            <a:off x="3331845" y="6194743"/>
            <a:ext cx="30305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3.7-24 </a:t>
            </a:r>
            <a:r>
              <a:rPr lang="zh-CN" altLang="zh-CN" sz="1600"/>
              <a:t>确定轴承位置</a:t>
            </a:r>
            <a:endParaRPr lang="zh-CN" altLang="zh-CN" sz="1600"/>
          </a:p>
        </p:txBody>
      </p:sp>
      <p:sp>
        <p:nvSpPr>
          <p:cNvPr id="9" name="文本框 8"/>
          <p:cNvSpPr txBox="1"/>
          <p:nvPr/>
        </p:nvSpPr>
        <p:spPr>
          <a:xfrm>
            <a:off x="2926715" y="193675"/>
            <a:ext cx="38404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2 </a:t>
            </a:r>
            <a:r>
              <a:rPr lang="zh-CN" altLang="zh-CN" sz="2400">
                <a:solidFill>
                  <a:srgbClr val="C00000"/>
                </a:solidFill>
                <a:latin typeface="黑体" panose="02010609060101010101" pitchFamily="49" charset="-122"/>
                <a:ea typeface="黑体" panose="02010609060101010101" pitchFamily="49" charset="-122"/>
                <a:sym typeface="+mn-ea"/>
              </a:rPr>
              <a:t>齿轮减速器轴的设计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3278910" y="5935222"/>
            <a:ext cx="3528290" cy="338554"/>
          </a:xfrm>
          <a:prstGeom prst="rect">
            <a:avLst/>
          </a:prstGeom>
          <a:blipFill>
            <a:blip r:embed="rId4"/>
            <a:stretch>
              <a:fillRect l="-1036" t="-5455" b="-23636"/>
            </a:stretch>
          </a:blipFill>
        </p:spPr>
        <p:txBody>
          <a:bodyPr/>
          <a:lstStyle/>
          <a:p>
            <a:pPr>
              <a:defRPr/>
            </a:pPr>
            <a:r>
              <a:rPr lang="zh-CN" altLang="en-US">
                <a:noFill/>
              </a:rPr>
              <a:t> </a:t>
            </a:r>
            <a:endParaRPr lang="zh-CN" altLang="en-US">
              <a:noFill/>
            </a:endParaRPr>
          </a:p>
        </p:txBody>
      </p:sp>
      <p:sp>
        <p:nvSpPr>
          <p:cNvPr id="4" name="文本框 3"/>
          <p:cNvSpPr txBox="1">
            <a:spLocks noRot="1" noChangeAspect="1" noMove="1" noResize="1" noEditPoints="1" noAdjustHandles="1" noChangeArrowheads="1" noChangeShapeType="1" noTextEdit="1"/>
          </p:cNvSpPr>
          <p:nvPr/>
        </p:nvSpPr>
        <p:spPr>
          <a:xfrm>
            <a:off x="356734" y="683491"/>
            <a:ext cx="3494830" cy="499304"/>
          </a:xfrm>
          <a:prstGeom prst="rect">
            <a:avLst/>
          </a:prstGeom>
          <a:blipFill>
            <a:blip r:embed="rId5"/>
            <a:stretch>
              <a:fillRect b="-20732"/>
            </a:stretch>
          </a:blipFill>
        </p:spPr>
        <p:txBody>
          <a:bodyPr/>
          <a:lstStyle/>
          <a:p>
            <a:pPr>
              <a:defRPr/>
            </a:pPr>
            <a:r>
              <a:rPr lang="zh-CN" altLang="en-US">
                <a:noFill/>
              </a:rPr>
              <a:t> </a:t>
            </a:r>
            <a:endParaRPr lang="zh-CN" altLang="en-US">
              <a:noFill/>
            </a:endParaRPr>
          </a:p>
        </p:txBody>
      </p:sp>
      <p:sp>
        <p:nvSpPr>
          <p:cNvPr id="5" name="文本框 4"/>
          <p:cNvSpPr txBox="1">
            <a:spLocks noChangeArrowheads="1"/>
          </p:cNvSpPr>
          <p:nvPr/>
        </p:nvSpPr>
        <p:spPr bwMode="auto">
          <a:xfrm>
            <a:off x="495300" y="1169988"/>
            <a:ext cx="81248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pPr>
              <a:lnSpc>
                <a:spcPct val="150000"/>
              </a:lnSpc>
            </a:pPr>
            <a:r>
              <a:rPr lang="en-US" altLang="zh-CN"/>
              <a:t>      </a:t>
            </a:r>
            <a:r>
              <a:rPr lang="zh-CN" altLang="zh-CN"/>
              <a:t>这里根本不用事先计算轴段长度，直接根据结构约束画出即可，如图</a:t>
            </a:r>
            <a:r>
              <a:rPr lang="en-US" altLang="zh-CN"/>
              <a:t>3.7-25</a:t>
            </a:r>
            <a:r>
              <a:rPr lang="zh-CN" altLang="zh-CN"/>
              <a:t>。</a:t>
            </a:r>
            <a:endParaRPr lang="zh-CN" altLang="zh-CN"/>
          </a:p>
        </p:txBody>
      </p:sp>
      <p:pic>
        <p:nvPicPr>
          <p:cNvPr id="11" name="图片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9963" y="2092325"/>
            <a:ext cx="7242175"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2621915" y="193675"/>
            <a:ext cx="44500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  </a:t>
            </a:r>
            <a:r>
              <a:rPr lang="zh-CN" altLang="zh-CN" sz="2400">
                <a:solidFill>
                  <a:srgbClr val="C00000"/>
                </a:solidFill>
                <a:latin typeface="黑体" panose="02010609060101010101" pitchFamily="49" charset="-122"/>
                <a:ea typeface="黑体" panose="02010609060101010101" pitchFamily="49" charset="-122"/>
                <a:sym typeface="+mn-ea"/>
              </a:rPr>
              <a:t>齿轮减速器输入轴的设计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3029529" y="5928284"/>
            <a:ext cx="4137890" cy="338554"/>
          </a:xfrm>
          <a:prstGeom prst="rect">
            <a:avLst/>
          </a:prstGeom>
          <a:blipFill>
            <a:blip r:embed="rId4"/>
            <a:stretch>
              <a:fillRect l="-884" t="-5357" b="-21429"/>
            </a:stretch>
          </a:blipFill>
        </p:spPr>
        <p:txBody>
          <a:bodyPr/>
          <a:lstStyle/>
          <a:p>
            <a:pPr>
              <a:defRPr/>
            </a:pPr>
            <a:r>
              <a:rPr lang="zh-CN" altLang="en-US">
                <a:noFill/>
              </a:rPr>
              <a:t> </a:t>
            </a:r>
            <a:endParaRPr lang="zh-CN" altLang="en-US">
              <a:noFill/>
            </a:endParaRPr>
          </a:p>
        </p:txBody>
      </p:sp>
      <p:sp>
        <p:nvSpPr>
          <p:cNvPr id="4" name="文本框 3"/>
          <p:cNvSpPr txBox="1">
            <a:spLocks noRot="1" noChangeAspect="1" noMove="1" noResize="1" noEditPoints="1" noAdjustHandles="1" noChangeArrowheads="1" noChangeShapeType="1" noTextEdit="1"/>
          </p:cNvSpPr>
          <p:nvPr/>
        </p:nvSpPr>
        <p:spPr>
          <a:xfrm>
            <a:off x="375206" y="770041"/>
            <a:ext cx="3494830" cy="400110"/>
          </a:xfrm>
          <a:prstGeom prst="rect">
            <a:avLst/>
          </a:prstGeom>
          <a:blipFill>
            <a:blip r:embed="rId5"/>
            <a:stretch>
              <a:fillRect t="-7576" b="-25758"/>
            </a:stretch>
          </a:blipFill>
        </p:spPr>
        <p:txBody>
          <a:bodyPr/>
          <a:lstStyle/>
          <a:p>
            <a:pPr>
              <a:defRPr/>
            </a:pPr>
            <a:r>
              <a:rPr lang="zh-CN" altLang="en-US">
                <a:noFill/>
              </a:rPr>
              <a:t> </a:t>
            </a:r>
            <a:endParaRPr lang="zh-CN" altLang="en-US">
              <a:noFill/>
            </a:endParaRPr>
          </a:p>
        </p:txBody>
      </p:sp>
      <p:pic>
        <p:nvPicPr>
          <p:cNvPr id="10" name="图片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5713" y="1524000"/>
            <a:ext cx="6669087" cy="441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1013460" y="5019675"/>
            <a:ext cx="3305810" cy="401955"/>
          </a:xfrm>
          <a:prstGeom prst="rect">
            <a:avLst/>
          </a:prstGeom>
          <a:blipFill>
            <a:blip r:embed="rId7"/>
            <a:stretch>
              <a:fillRect l="-1316" t="-5455" b="-23636"/>
            </a:stretch>
          </a:blipFill>
        </p:spPr>
        <p:txBody>
          <a:bodyPr/>
          <a:lstStyle/>
          <a:p>
            <a:pPr>
              <a:defRPr/>
            </a:pPr>
            <a:r>
              <a:rPr lang="zh-CN" altLang="en-US">
                <a:noFill/>
              </a:rPr>
              <a:t> </a:t>
            </a:r>
            <a:endParaRPr lang="zh-CN" altLang="en-US">
              <a:noFill/>
            </a:endParaRPr>
          </a:p>
        </p:txBody>
      </p:sp>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5" name="文本框 4"/>
          <p:cNvSpPr txBox="1"/>
          <p:nvPr/>
        </p:nvSpPr>
        <p:spPr>
          <a:xfrm>
            <a:off x="2621915" y="193675"/>
            <a:ext cx="4450080" cy="460375"/>
          </a:xfrm>
          <a:prstGeom prst="rect">
            <a:avLst/>
          </a:prstGeom>
          <a:noFill/>
        </p:spPr>
        <p:txBody>
          <a:bodyPr wrap="none" rtlCol="0" anchor="t">
            <a:spAutoFit/>
          </a:bodyPr>
          <a:lstStyle/>
          <a:p>
            <a:r>
              <a:rPr lang="zh-CN" altLang="zh-CN" sz="2400">
                <a:solidFill>
                  <a:srgbClr val="C00000"/>
                </a:solidFill>
                <a:latin typeface="黑体" panose="02010609060101010101" pitchFamily="49" charset="-122"/>
                <a:ea typeface="黑体" panose="02010609060101010101" pitchFamily="49" charset="-122"/>
                <a:sym typeface="+mn-ea"/>
              </a:rPr>
              <a:t>案例</a:t>
            </a:r>
            <a:r>
              <a:rPr lang="en-US" altLang="zh-CN" sz="2400">
                <a:solidFill>
                  <a:srgbClr val="C00000"/>
                </a:solidFill>
                <a:latin typeface="黑体" panose="02010609060101010101" pitchFamily="49" charset="-122"/>
                <a:ea typeface="黑体" panose="02010609060101010101" pitchFamily="49" charset="-122"/>
                <a:sym typeface="+mn-ea"/>
              </a:rPr>
              <a:t>  </a:t>
            </a:r>
            <a:r>
              <a:rPr lang="zh-CN" altLang="zh-CN" sz="2400">
                <a:solidFill>
                  <a:srgbClr val="C00000"/>
                </a:solidFill>
                <a:latin typeface="黑体" panose="02010609060101010101" pitchFamily="49" charset="-122"/>
                <a:ea typeface="黑体" panose="02010609060101010101" pitchFamily="49" charset="-122"/>
                <a:sym typeface="+mn-ea"/>
              </a:rPr>
              <a:t>齿轮减速器输入轴的设计</a:t>
            </a:r>
            <a:endParaRPr lang="zh-CN" altLang="zh-CN" sz="2400">
              <a:solidFill>
                <a:srgbClr val="C00000"/>
              </a:solidFill>
              <a:latin typeface="黑体" panose="02010609060101010101" pitchFamily="49" charset="-122"/>
              <a:ea typeface="黑体" panose="02010609060101010101" pitchFamily="49" charset="-122"/>
              <a:sym typeface="+mn-ea"/>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8"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par>
                                <p:cTn id="28" presetID="22" presetClass="entr" presetSubtype="8"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31" descr="back">
            <a:hlinkClick r:id="" action="ppaction://hlinkshowjump?jump=previous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2788"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2" descr="NEXT">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42363" y="65325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3" descr="rewind">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65325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3" name="矩形 12"/>
          <p:cNvSpPr>
            <a:spLocks noChangeArrowheads="1"/>
          </p:cNvSpPr>
          <p:nvPr/>
        </p:nvSpPr>
        <p:spPr bwMode="auto">
          <a:xfrm>
            <a:off x="823913" y="50800"/>
            <a:ext cx="38782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2400">
                <a:solidFill>
                  <a:schemeClr val="bg1"/>
                </a:solidFill>
                <a:latin typeface="黑体" panose="02010609060101010101" pitchFamily="49" charset="-122"/>
                <a:ea typeface="黑体" panose="02010609060101010101" pitchFamily="49" charset="-122"/>
              </a:rPr>
              <a:t>案例</a:t>
            </a:r>
            <a:r>
              <a:rPr lang="en-US" altLang="zh-CN" sz="2400">
                <a:solidFill>
                  <a:schemeClr val="bg1"/>
                </a:solidFill>
                <a:latin typeface="黑体" panose="02010609060101010101" pitchFamily="49" charset="-122"/>
                <a:ea typeface="黑体" panose="02010609060101010101" pitchFamily="49" charset="-122"/>
              </a:rPr>
              <a:t>2 </a:t>
            </a:r>
            <a:r>
              <a:rPr lang="zh-CN" altLang="zh-CN" sz="2400">
                <a:solidFill>
                  <a:schemeClr val="bg1"/>
                </a:solidFill>
                <a:latin typeface="黑体" panose="02010609060101010101" pitchFamily="49" charset="-122"/>
                <a:ea typeface="黑体" panose="02010609060101010101" pitchFamily="49" charset="-122"/>
              </a:rPr>
              <a:t>齿轮减速器轴的设计</a:t>
            </a:r>
            <a:endParaRPr lang="zh-CN" altLang="en-US" sz="2400">
              <a:solidFill>
                <a:schemeClr val="bg1"/>
              </a:solidFill>
              <a:latin typeface="黑体" panose="02010609060101010101" pitchFamily="49" charset="-122"/>
              <a:ea typeface="黑体" panose="02010609060101010101" pitchFamily="49" charset="-122"/>
            </a:endParaRPr>
          </a:p>
        </p:txBody>
      </p:sp>
      <p:sp>
        <p:nvSpPr>
          <p:cNvPr id="3" name="文本框 2"/>
          <p:cNvSpPr txBox="1">
            <a:spLocks noChangeArrowheads="1"/>
          </p:cNvSpPr>
          <p:nvPr/>
        </p:nvSpPr>
        <p:spPr bwMode="auto">
          <a:xfrm>
            <a:off x="3024188" y="6194425"/>
            <a:ext cx="41370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zh-CN" altLang="zh-CN" sz="1600"/>
              <a:t>图</a:t>
            </a:r>
            <a:r>
              <a:rPr lang="en-US" altLang="zh-CN" sz="1600"/>
              <a:t>3.7-27 </a:t>
            </a:r>
            <a:r>
              <a:rPr lang="zh-CN" altLang="zh-CN" sz="1600"/>
              <a:t>轴向和周向定位</a:t>
            </a:r>
            <a:endParaRPr lang="zh-CN" altLang="zh-CN" sz="1600"/>
          </a:p>
        </p:txBody>
      </p:sp>
      <p:sp>
        <p:nvSpPr>
          <p:cNvPr id="4" name="文本框 3"/>
          <p:cNvSpPr txBox="1">
            <a:spLocks noChangeArrowheads="1"/>
          </p:cNvSpPr>
          <p:nvPr/>
        </p:nvSpPr>
        <p:spPr bwMode="auto">
          <a:xfrm>
            <a:off x="374650" y="769938"/>
            <a:ext cx="453866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rgbClr val="000099"/>
                </a:solidFill>
                <a:latin typeface="Times New Roman" panose="02020603050405020304" pitchFamily="18" charset="0"/>
                <a:ea typeface="华文中宋" panose="02010600040101010101" pitchFamily="2" charset="-122"/>
              </a:defRPr>
            </a:lvl1pPr>
            <a:lvl2pPr marL="742950" indent="-285750">
              <a:defRPr kumimoji="1" sz="2000">
                <a:solidFill>
                  <a:srgbClr val="000099"/>
                </a:solidFill>
                <a:latin typeface="Times New Roman" panose="02020603050405020304" pitchFamily="18" charset="0"/>
                <a:ea typeface="华文中宋" panose="02010600040101010101" pitchFamily="2" charset="-122"/>
              </a:defRPr>
            </a:lvl2pPr>
            <a:lvl3pPr marL="1143000" indent="-228600">
              <a:defRPr kumimoji="1" sz="2000">
                <a:solidFill>
                  <a:srgbClr val="000099"/>
                </a:solidFill>
                <a:latin typeface="Times New Roman" panose="02020603050405020304" pitchFamily="18" charset="0"/>
                <a:ea typeface="华文中宋" panose="02010600040101010101" pitchFamily="2" charset="-122"/>
              </a:defRPr>
            </a:lvl3pPr>
            <a:lvl4pPr marL="1600200" indent="-228600">
              <a:defRPr kumimoji="1" sz="2000">
                <a:solidFill>
                  <a:srgbClr val="000099"/>
                </a:solidFill>
                <a:latin typeface="Times New Roman" panose="02020603050405020304" pitchFamily="18" charset="0"/>
                <a:ea typeface="华文中宋" panose="02010600040101010101" pitchFamily="2" charset="-122"/>
              </a:defRPr>
            </a:lvl4pPr>
            <a:lvl5pPr marL="2057400" indent="-228600">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rgbClr val="000099"/>
                </a:solidFill>
                <a:latin typeface="Times New Roman" panose="02020603050405020304" pitchFamily="18" charset="0"/>
                <a:ea typeface="华文中宋" panose="02010600040101010101" pitchFamily="2" charset="-122"/>
              </a:defRPr>
            </a:lvl9pPr>
          </a:lstStyle>
          <a:p>
            <a:r>
              <a:rPr lang="en-US" altLang="zh-CN"/>
              <a:t>        (4</a:t>
            </a:r>
            <a:r>
              <a:rPr lang="zh-CN" altLang="en-US"/>
              <a:t>）</a:t>
            </a:r>
            <a:r>
              <a:rPr lang="zh-CN" altLang="zh-CN"/>
              <a:t>各轴上零件的轴向和周向定位</a:t>
            </a:r>
            <a:endParaRPr lang="zh-CN" altLang="zh-CN"/>
          </a:p>
        </p:txBody>
      </p:sp>
      <p:pic>
        <p:nvPicPr>
          <p:cNvPr id="11" name="图片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230" y="1284605"/>
            <a:ext cx="7643495" cy="461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直接连接符 6"/>
          <p:cNvSpPr>
            <a:spLocks noChangeShapeType="1"/>
          </p:cNvSpPr>
          <p:nvPr/>
        </p:nvSpPr>
        <p:spPr bwMode="auto">
          <a:xfrm>
            <a:off x="0" y="765175"/>
            <a:ext cx="9144000" cy="0"/>
          </a:xfrm>
          <a:prstGeom prst="line">
            <a:avLst/>
          </a:prstGeom>
          <a:noFill/>
          <a:ln w="28575">
            <a:solidFill>
              <a:srgbClr val="CC3300"/>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left)">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直接连接符 55297"/>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55305" name="文本框 55304"/>
          <p:cNvSpPr txBox="1"/>
          <p:nvPr/>
        </p:nvSpPr>
        <p:spPr>
          <a:xfrm>
            <a:off x="0" y="762000"/>
            <a:ext cx="8915400" cy="457200"/>
          </a:xfrm>
          <a:prstGeom prst="rect">
            <a:avLst/>
          </a:prstGeom>
          <a:noFill/>
          <a:ln w="9525">
            <a:noFill/>
          </a:ln>
        </p:spPr>
        <p:txBody>
          <a:bodyPr>
            <a:spAutoFit/>
          </a:bodyPr>
          <a:lstStyle/>
          <a:p>
            <a:pPr>
              <a:spcBef>
                <a:spcPct val="50000"/>
              </a:spcBef>
            </a:pPr>
            <a:r>
              <a:rPr lang="zh-CN" altLang="en-US" b="1" dirty="0">
                <a:solidFill>
                  <a:schemeClr val="folHlink"/>
                </a:solidFill>
                <a:latin typeface="楷体_GB2312" pitchFamily="49" charset="-122"/>
                <a:ea typeface="楷体_GB2312" pitchFamily="49" charset="-122"/>
              </a:rPr>
              <a:t>注意事项</a:t>
            </a:r>
            <a:endParaRPr lang="zh-CN" altLang="en-US" b="1" dirty="0">
              <a:solidFill>
                <a:schemeClr val="folHlink"/>
              </a:solidFill>
              <a:latin typeface="楷体_GB2312" pitchFamily="49" charset="-122"/>
              <a:ea typeface="楷体_GB2312" pitchFamily="49" charset="-122"/>
            </a:endParaRPr>
          </a:p>
        </p:txBody>
      </p:sp>
      <p:sp>
        <p:nvSpPr>
          <p:cNvPr id="55306" name="文本框 55305"/>
          <p:cNvSpPr txBox="1"/>
          <p:nvPr/>
        </p:nvSpPr>
        <p:spPr>
          <a:xfrm>
            <a:off x="323215" y="1268730"/>
            <a:ext cx="9144000" cy="1004888"/>
          </a:xfrm>
          <a:prstGeom prst="rect">
            <a:avLst/>
          </a:prstGeom>
          <a:noFill/>
          <a:ln w="9525">
            <a:noFill/>
          </a:ln>
        </p:spPr>
        <p:txBody>
          <a:bodyPr>
            <a:spAutoFit/>
          </a:bodyPr>
          <a:lstStyle/>
          <a:p>
            <a:pPr algn="l">
              <a:spcBef>
                <a:spcPct val="50000"/>
              </a:spcBef>
            </a:pPr>
            <a:r>
              <a:rPr lang="zh-CN" altLang="en-US" b="1" dirty="0">
                <a:solidFill>
                  <a:srgbClr val="FF3300"/>
                </a:solidFill>
                <a:latin typeface="楷体_GB2312" pitchFamily="49" charset="-122"/>
                <a:ea typeface="楷体_GB2312" pitchFamily="49" charset="-122"/>
              </a:rPr>
              <a:t>齿轮轮毂的长度应满足</a:t>
            </a:r>
            <a:r>
              <a:rPr lang="en-US" altLang="zh-CN" b="1" i="1">
                <a:solidFill>
                  <a:srgbClr val="FF3300"/>
                </a:solidFill>
                <a:latin typeface="Times New Roman" panose="02020603050405020304" pitchFamily="18" charset="0"/>
                <a:ea typeface="楷体_GB2312" pitchFamily="49" charset="-122"/>
              </a:rPr>
              <a:t>l=</a:t>
            </a:r>
            <a:r>
              <a:rPr lang="zh-CN" altLang="en-US" b="1">
                <a:solidFill>
                  <a:srgbClr val="FF3300"/>
                </a:solidFill>
                <a:latin typeface="Times New Roman" panose="02020603050405020304" pitchFamily="18" charset="0"/>
                <a:ea typeface="楷体_GB2312" pitchFamily="49" charset="-122"/>
              </a:rPr>
              <a:t>（</a:t>
            </a:r>
            <a:r>
              <a:rPr lang="en-US" altLang="zh-CN" b="1">
                <a:solidFill>
                  <a:srgbClr val="FF3300"/>
                </a:solidFill>
                <a:latin typeface="Times New Roman" panose="02020603050405020304" pitchFamily="18" charset="0"/>
                <a:ea typeface="楷体_GB2312" pitchFamily="49" charset="-122"/>
              </a:rPr>
              <a:t>1.2~1.5)</a:t>
            </a:r>
            <a:r>
              <a:rPr lang="en-US" altLang="zh-CN" b="1" i="1">
                <a:solidFill>
                  <a:srgbClr val="FF3300"/>
                </a:solidFill>
                <a:latin typeface="Times New Roman" panose="02020603050405020304" pitchFamily="18" charset="0"/>
                <a:ea typeface="楷体_GB2312" pitchFamily="49" charset="-122"/>
              </a:rPr>
              <a:t>d</a:t>
            </a:r>
            <a:r>
              <a:rPr lang="zh-CN" altLang="en-US" b="1" dirty="0">
                <a:solidFill>
                  <a:srgbClr val="FF3300"/>
                </a:solidFill>
                <a:latin typeface="Times New Roman" panose="02020603050405020304" pitchFamily="18" charset="0"/>
                <a:ea typeface="楷体_GB2312" pitchFamily="49" charset="-122"/>
              </a:rPr>
              <a:t>，至少</a:t>
            </a:r>
            <a:r>
              <a:rPr lang="en-US" altLang="zh-CN" b="1" i="1">
                <a:solidFill>
                  <a:srgbClr val="FF3300"/>
                </a:solidFill>
                <a:latin typeface="Times New Roman" panose="02020603050405020304" pitchFamily="18" charset="0"/>
                <a:ea typeface="楷体_GB2312" pitchFamily="49" charset="-122"/>
              </a:rPr>
              <a:t>l</a:t>
            </a:r>
            <a:r>
              <a:rPr lang="en-US" altLang="zh-CN" b="1">
                <a:solidFill>
                  <a:srgbClr val="FF3300"/>
                </a:solidFill>
                <a:latin typeface="Times New Roman" panose="02020603050405020304" pitchFamily="18" charset="0"/>
                <a:ea typeface="楷体_GB2312" pitchFamily="49" charset="-122"/>
              </a:rPr>
              <a:t>=</a:t>
            </a:r>
            <a:r>
              <a:rPr lang="en-US" altLang="zh-CN" b="1" i="1">
                <a:solidFill>
                  <a:srgbClr val="FF3300"/>
                </a:solidFill>
                <a:latin typeface="Times New Roman" panose="02020603050405020304" pitchFamily="18" charset="0"/>
                <a:ea typeface="楷体_GB2312" pitchFamily="49" charset="-122"/>
              </a:rPr>
              <a:t>d</a:t>
            </a:r>
            <a:r>
              <a:rPr lang="zh-CN" altLang="en-US" b="1" i="1">
                <a:solidFill>
                  <a:srgbClr val="FF3300"/>
                </a:solidFill>
                <a:latin typeface="Times New Roman" panose="02020603050405020304" pitchFamily="18" charset="0"/>
                <a:ea typeface="楷体_GB2312" pitchFamily="49" charset="-122"/>
              </a:rPr>
              <a:t>， </a:t>
            </a:r>
            <a:endParaRPr lang="zh-CN" altLang="en-US" b="1" i="1">
              <a:solidFill>
                <a:srgbClr val="FF3300"/>
              </a:solidFill>
              <a:latin typeface="Times New Roman" panose="02020603050405020304" pitchFamily="18" charset="0"/>
              <a:ea typeface="楷体_GB2312" pitchFamily="49" charset="-122"/>
            </a:endParaRPr>
          </a:p>
          <a:p>
            <a:pPr algn="l">
              <a:spcBef>
                <a:spcPct val="50000"/>
              </a:spcBef>
            </a:pPr>
            <a:r>
              <a:rPr lang="zh-CN" altLang="en-US" b="1" i="1">
                <a:solidFill>
                  <a:srgbClr val="FF3300"/>
                </a:solidFill>
                <a:latin typeface="Times New Roman" panose="02020603050405020304" pitchFamily="18" charset="0"/>
                <a:ea typeface="楷体_GB2312" pitchFamily="49" charset="-122"/>
              </a:rPr>
              <a:t>                                       </a:t>
            </a:r>
            <a:r>
              <a:rPr lang="en-US" altLang="zh-CN" b="1" i="1">
                <a:solidFill>
                  <a:srgbClr val="FF3300"/>
                </a:solidFill>
                <a:latin typeface="Times New Roman" panose="02020603050405020304" pitchFamily="18" charset="0"/>
                <a:ea typeface="楷体_GB2312" pitchFamily="49" charset="-122"/>
              </a:rPr>
              <a:t>d—</a:t>
            </a:r>
            <a:r>
              <a:rPr lang="zh-CN" altLang="en-US" b="1" dirty="0">
                <a:solidFill>
                  <a:srgbClr val="FF3300"/>
                </a:solidFill>
                <a:latin typeface="Times New Roman" panose="02020603050405020304" pitchFamily="18" charset="0"/>
                <a:ea typeface="楷体_GB2312" pitchFamily="49" charset="-122"/>
              </a:rPr>
              <a:t>装齿轮处轴的直径</a:t>
            </a:r>
            <a:endParaRPr lang="zh-CN" altLang="en-US" b="1" dirty="0">
              <a:solidFill>
                <a:srgbClr val="FF3300"/>
              </a:solidFill>
              <a:latin typeface="Times New Roman" panose="02020603050405020304" pitchFamily="18" charset="0"/>
              <a:ea typeface="楷体_GB2312" pitchFamily="49" charset="-122"/>
            </a:endParaRPr>
          </a:p>
        </p:txBody>
      </p:sp>
      <p:sp>
        <p:nvSpPr>
          <p:cNvPr id="55307" name="文本框 55306"/>
          <p:cNvSpPr txBox="1"/>
          <p:nvPr/>
        </p:nvSpPr>
        <p:spPr>
          <a:xfrm>
            <a:off x="228600" y="2514600"/>
            <a:ext cx="8763000" cy="1476375"/>
          </a:xfrm>
          <a:prstGeom prst="rect">
            <a:avLst/>
          </a:prstGeom>
          <a:noFill/>
          <a:ln w="9525">
            <a:noFill/>
          </a:ln>
        </p:spPr>
        <p:txBody>
          <a:bodyPr>
            <a:spAutoFit/>
          </a:bodyPr>
          <a:lstStyle/>
          <a:p>
            <a:pPr algn="l">
              <a:lnSpc>
                <a:spcPct val="150000"/>
              </a:lnSpc>
              <a:spcBef>
                <a:spcPts val="0"/>
              </a:spcBef>
            </a:pPr>
            <a:r>
              <a:rPr lang="en-US" altLang="zh-CN" sz="2000" b="1" dirty="0">
                <a:solidFill>
                  <a:srgbClr val="000000"/>
                </a:solidFill>
                <a:latin typeface="楷体_GB2312" pitchFamily="49" charset="-122"/>
                <a:ea typeface="楷体_GB2312" pitchFamily="49" charset="-122"/>
              </a:rPr>
              <a:t>    </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当齿宽系数取值较小时，尤其是硬齿面，会导致齿宽</a:t>
            </a:r>
            <a:r>
              <a:rPr lang="en-US" altLang="zh-CN" sz="2000" dirty="0">
                <a:solidFill>
                  <a:srgbClr val="000000"/>
                </a:solidFill>
                <a:latin typeface="黑体" panose="02010609060101010101" pitchFamily="49" charset="-122"/>
                <a:ea typeface="黑体" panose="02010609060101010101" pitchFamily="49" charset="-122"/>
                <a:cs typeface="黑体" panose="02010609060101010101" pitchFamily="49" charset="-122"/>
              </a:rPr>
              <a:t>b</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较小，可能会出现齿轮轮毂长度</a:t>
            </a:r>
            <a:r>
              <a:rPr lang="en-US" altLang="zh-CN" sz="2000" i="1">
                <a:solidFill>
                  <a:srgbClr val="000000"/>
                </a:solidFill>
                <a:latin typeface="黑体" panose="02010609060101010101" pitchFamily="49" charset="-122"/>
                <a:ea typeface="黑体" panose="02010609060101010101" pitchFamily="49" charset="-122"/>
                <a:cs typeface="黑体" panose="02010609060101010101" pitchFamily="49" charset="-122"/>
              </a:rPr>
              <a:t>l</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小于所在轴直径</a:t>
            </a:r>
            <a:r>
              <a:rPr lang="en-US" altLang="zh-CN" sz="2000" dirty="0">
                <a:solidFill>
                  <a:srgbClr val="000000"/>
                </a:solidFill>
                <a:latin typeface="黑体" panose="02010609060101010101" pitchFamily="49" charset="-122"/>
                <a:ea typeface="黑体" panose="02010609060101010101" pitchFamily="49" charset="-122"/>
                <a:cs typeface="黑体" panose="02010609060101010101" pitchFamily="49" charset="-122"/>
              </a:rPr>
              <a:t>d</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，此时应加长轮毂至满足上述要求。</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a:p>
            <a:pPr algn="l">
              <a:lnSpc>
                <a:spcPct val="150000"/>
              </a:lnSpc>
              <a:spcBef>
                <a:spcPts val="0"/>
              </a:spcBef>
            </a:pP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    此时，最初根据齿宽</a:t>
            </a:r>
            <a:r>
              <a:rPr lang="en-US" altLang="zh-CN" sz="2000" dirty="0">
                <a:solidFill>
                  <a:srgbClr val="000000"/>
                </a:solidFill>
                <a:latin typeface="黑体" panose="02010609060101010101" pitchFamily="49" charset="-122"/>
                <a:ea typeface="黑体" panose="02010609060101010101" pitchFamily="49" charset="-122"/>
                <a:cs typeface="黑体" panose="02010609060101010101" pitchFamily="49" charset="-122"/>
              </a:rPr>
              <a:t>b</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确定的箱体内壁位置必须作相应的调整。 </a:t>
            </a:r>
            <a:endParaRPr lang="zh-CN" altLang="en-US" sz="200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grpSp>
        <p:nvGrpSpPr>
          <p:cNvPr id="55319" name="组合 55318"/>
          <p:cNvGrpSpPr/>
          <p:nvPr/>
        </p:nvGrpSpPr>
        <p:grpSpPr>
          <a:xfrm>
            <a:off x="8115300" y="6515100"/>
            <a:ext cx="1028700" cy="342900"/>
            <a:chOff x="5112" y="4104"/>
            <a:chExt cx="648" cy="216"/>
          </a:xfrm>
        </p:grpSpPr>
        <p:pic>
          <p:nvPicPr>
            <p:cNvPr id="55320" name="图片 55319"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55321" name="组合 55320"/>
            <p:cNvGrpSpPr/>
            <p:nvPr/>
          </p:nvGrpSpPr>
          <p:grpSpPr>
            <a:xfrm>
              <a:off x="5352" y="4104"/>
              <a:ext cx="408" cy="216"/>
              <a:chOff x="5232" y="4100"/>
              <a:chExt cx="408" cy="216"/>
            </a:xfrm>
          </p:grpSpPr>
          <p:pic>
            <p:nvPicPr>
              <p:cNvPr id="55322" name="图片 55321"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55323" name="图片 55322"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306"/>
                                        </p:tgtEl>
                                        <p:attrNameLst>
                                          <p:attrName>style.visibility</p:attrName>
                                        </p:attrNameLst>
                                      </p:cBhvr>
                                      <p:to>
                                        <p:strVal val="visible"/>
                                      </p:to>
                                    </p:set>
                                    <p:animEffect transition="in" filter="blinds(horizontal)">
                                      <p:cBhvr>
                                        <p:cTn id="7" dur="500"/>
                                        <p:tgtEl>
                                          <p:spTgt spid="5530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5307"/>
                                        </p:tgtEl>
                                        <p:attrNameLst>
                                          <p:attrName>style.visibility</p:attrName>
                                        </p:attrNameLst>
                                      </p:cBhvr>
                                      <p:to>
                                        <p:strVal val="visible"/>
                                      </p:to>
                                    </p:set>
                                    <p:anim calcmode="lin" valueType="num">
                                      <p:cBhvr additive="base">
                                        <p:cTn id="12" dur="500" fill="hold"/>
                                        <p:tgtEl>
                                          <p:spTgt spid="55307"/>
                                        </p:tgtEl>
                                        <p:attrNameLst>
                                          <p:attrName>ppt_x</p:attrName>
                                        </p:attrNameLst>
                                      </p:cBhvr>
                                      <p:tavLst>
                                        <p:tav tm="0">
                                          <p:val>
                                            <p:strVal val="0-#ppt_w/2"/>
                                          </p:val>
                                        </p:tav>
                                        <p:tav tm="100000">
                                          <p:val>
                                            <p:strVal val="#ppt_x"/>
                                          </p:val>
                                        </p:tav>
                                      </p:tavLst>
                                    </p:anim>
                                    <p:anim calcmode="lin" valueType="num">
                                      <p:cBhvr additive="base">
                                        <p:cTn id="13" dur="500" fill="hold"/>
                                        <p:tgtEl>
                                          <p:spTgt spid="553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6" grpId="0"/>
      <p:bldP spid="5530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对象 2"/>
          <p:cNvGraphicFramePr/>
          <p:nvPr/>
        </p:nvGraphicFramePr>
        <p:xfrm>
          <a:off x="1115695" y="1485265"/>
          <a:ext cx="7132320" cy="4645025"/>
        </p:xfrm>
        <a:graphic>
          <a:graphicData uri="http://schemas.openxmlformats.org/presentationml/2006/ole">
            <mc:AlternateContent xmlns:mc="http://schemas.openxmlformats.org/markup-compatibility/2006">
              <mc:Choice xmlns:v="urn:schemas-microsoft-com:vml" Requires="v">
                <p:oleObj spid="_x0000_s4" name="" r:id="rId1" imgW="4681220" imgH="3000375" progId="Paint.Picture">
                  <p:embed/>
                </p:oleObj>
              </mc:Choice>
              <mc:Fallback>
                <p:oleObj name="" r:id="rId1" imgW="4681220" imgH="3000375" progId="Paint.Picture">
                  <p:embed/>
                  <p:pic>
                    <p:nvPicPr>
                      <p:cNvPr id="0" name="图片 3"/>
                      <p:cNvPicPr/>
                      <p:nvPr/>
                    </p:nvPicPr>
                    <p:blipFill>
                      <a:blip r:embed="rId2"/>
                      <a:stretch>
                        <a:fillRect/>
                      </a:stretch>
                    </p:blipFill>
                    <p:spPr>
                      <a:xfrm>
                        <a:off x="1115695" y="1485265"/>
                        <a:ext cx="7132320" cy="4645025"/>
                      </a:xfrm>
                      <a:prstGeom prst="rect">
                        <a:avLst/>
                      </a:prstGeom>
                    </p:spPr>
                  </p:pic>
                </p:oleObj>
              </mc:Fallback>
            </mc:AlternateContent>
          </a:graphicData>
        </a:graphic>
      </p:graphicFrame>
      <p:sp>
        <p:nvSpPr>
          <p:cNvPr id="2" name="文本框 1"/>
          <p:cNvSpPr txBox="1"/>
          <p:nvPr/>
        </p:nvSpPr>
        <p:spPr>
          <a:xfrm>
            <a:off x="539750" y="728980"/>
            <a:ext cx="7543165" cy="706755"/>
          </a:xfrm>
          <a:prstGeom prst="rect">
            <a:avLst/>
          </a:prstGeom>
          <a:noFill/>
        </p:spPr>
        <p:txBody>
          <a:bodyPr wrap="square" rtlCol="0">
            <a:spAutoFit/>
          </a:bodyPr>
          <a:p>
            <a:r>
              <a:rPr lang="zh-CN" altLang="en-US" sz="2000"/>
              <a:t>（</a:t>
            </a:r>
            <a:r>
              <a:rPr lang="en-US" altLang="zh-CN" sz="2000"/>
              <a:t>5</a:t>
            </a:r>
            <a:r>
              <a:rPr lang="zh-CN" altLang="en-US" sz="2000"/>
              <a:t>）</a:t>
            </a:r>
            <a:r>
              <a:rPr lang="zh-CN" altLang="en-US" sz="2000" b="1"/>
              <a:t>初估轴的外伸直径，通过绘图进行轴和轴承部件结构的初步设计，定出轴的支承距离及轴上零件作用力的位置。</a:t>
            </a:r>
            <a:endParaRPr lang="zh-CN" altLang="en-US" sz="2000" b="1"/>
          </a:p>
        </p:txBody>
      </p:sp>
    </p:spTree>
    <p:custDataLst>
      <p:tags r:id="rId3"/>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直接连接符 57345"/>
          <p:cNvSpPr/>
          <p:nvPr/>
        </p:nvSpPr>
        <p:spPr>
          <a:xfrm>
            <a:off x="0" y="620688"/>
            <a:ext cx="9144000" cy="0"/>
          </a:xfrm>
          <a:prstGeom prst="line">
            <a:avLst/>
          </a:prstGeom>
          <a:ln w="57150" cap="flat" cmpd="thickThin">
            <a:solidFill>
              <a:srgbClr val="C00000"/>
            </a:solidFill>
            <a:prstDash val="solid"/>
            <a:headEnd type="none" w="med" len="med"/>
            <a:tailEnd type="none" w="med" len="med"/>
          </a:ln>
        </p:spPr>
      </p:sp>
      <p:sp>
        <p:nvSpPr>
          <p:cNvPr id="57353" name="文本框 57352"/>
          <p:cNvSpPr txBox="1"/>
          <p:nvPr/>
        </p:nvSpPr>
        <p:spPr>
          <a:xfrm>
            <a:off x="0" y="801147"/>
            <a:ext cx="9144000" cy="457200"/>
          </a:xfrm>
          <a:prstGeom prst="rect">
            <a:avLst/>
          </a:prstGeom>
          <a:noFill/>
          <a:ln w="9525">
            <a:noFill/>
          </a:ln>
        </p:spPr>
        <p:txBody>
          <a:bodyPr>
            <a:spAutoFit/>
          </a:bodyPr>
          <a:lstStyle/>
          <a:p>
            <a:pPr algn="l">
              <a:spcBef>
                <a:spcPct val="50000"/>
              </a:spcBef>
            </a:pPr>
            <a:r>
              <a:rPr lang="en-US" altLang="zh-CN" b="1" dirty="0">
                <a:solidFill>
                  <a:srgbClr val="FF0000"/>
                </a:solidFill>
                <a:latin typeface="楷体_GB2312" pitchFamily="49" charset="-122"/>
                <a:ea typeface="楷体_GB2312" pitchFamily="49" charset="-122"/>
              </a:rPr>
              <a:t>1.</a:t>
            </a:r>
            <a:r>
              <a:rPr lang="zh-CN" altLang="en-US" b="1" dirty="0">
                <a:solidFill>
                  <a:srgbClr val="FF0000"/>
                </a:solidFill>
                <a:latin typeface="楷体_GB2312" pitchFamily="49" charset="-122"/>
                <a:ea typeface="楷体_GB2312" pitchFamily="49" charset="-122"/>
              </a:rPr>
              <a:t>键的选择及校核</a:t>
            </a:r>
            <a:endParaRPr lang="zh-CN" altLang="en-US" b="1" dirty="0">
              <a:solidFill>
                <a:srgbClr val="FF0000"/>
              </a:solidFill>
              <a:latin typeface="楷体_GB2312" pitchFamily="49" charset="-122"/>
              <a:ea typeface="楷体_GB2312" pitchFamily="49" charset="-122"/>
            </a:endParaRPr>
          </a:p>
        </p:txBody>
      </p:sp>
      <p:sp>
        <p:nvSpPr>
          <p:cNvPr id="57354" name="文本框 57353"/>
          <p:cNvSpPr txBox="1"/>
          <p:nvPr/>
        </p:nvSpPr>
        <p:spPr>
          <a:xfrm>
            <a:off x="71755" y="1377315"/>
            <a:ext cx="8763000" cy="706755"/>
          </a:xfrm>
          <a:prstGeom prst="rect">
            <a:avLst/>
          </a:prstGeom>
          <a:noFill/>
          <a:ln w="9525">
            <a:noFill/>
          </a:ln>
        </p:spPr>
        <p:txBody>
          <a:bodyPr>
            <a:spAutoFit/>
          </a:bodyPr>
          <a:lstStyle/>
          <a:p>
            <a:pPr algn="l">
              <a:spcBef>
                <a:spcPct val="50000"/>
              </a:spcBef>
            </a:pPr>
            <a:r>
              <a:rPr lang="en-US" altLang="zh-CN" sz="2000"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轴的结构设计完成后，根据键所在的轴径查标准确定键的截面尺寸</a:t>
            </a:r>
            <a:r>
              <a:rPr lang="en-US" altLang="zh-CN" sz="2000" b="1" i="1">
                <a:solidFill>
                  <a:srgbClr val="000000"/>
                </a:solidFill>
                <a:latin typeface="楷体_GB2312" pitchFamily="49" charset="-122"/>
                <a:ea typeface="楷体_GB2312" pitchFamily="49" charset="-122"/>
              </a:rPr>
              <a:t>b</a:t>
            </a:r>
            <a:r>
              <a:rPr lang="zh-CN" altLang="en-US" sz="2000" b="1">
                <a:solidFill>
                  <a:srgbClr val="000000"/>
                </a:solidFill>
                <a:latin typeface="楷体_GB2312" pitchFamily="49" charset="-122"/>
                <a:ea typeface="楷体_GB2312" pitchFamily="49" charset="-122"/>
              </a:rPr>
              <a:t>、</a:t>
            </a:r>
            <a:r>
              <a:rPr lang="en-US" altLang="zh-CN" sz="2000" b="1" i="1">
                <a:solidFill>
                  <a:srgbClr val="000000"/>
                </a:solidFill>
                <a:latin typeface="楷体_GB2312" pitchFamily="49" charset="-122"/>
                <a:ea typeface="楷体_GB2312" pitchFamily="49" charset="-122"/>
              </a:rPr>
              <a:t>h</a:t>
            </a:r>
            <a:r>
              <a:rPr lang="zh-CN" altLang="en-US" sz="2000" b="1" dirty="0">
                <a:solidFill>
                  <a:srgbClr val="000000"/>
                </a:solidFill>
                <a:latin typeface="楷体_GB2312" pitchFamily="49" charset="-122"/>
                <a:ea typeface="楷体_GB2312" pitchFamily="49" charset="-122"/>
              </a:rPr>
              <a:t>。兼顾轮毂长度确定标准键长</a:t>
            </a:r>
            <a:r>
              <a:rPr lang="en-US" altLang="zh-CN" sz="2000" b="1" i="1">
                <a:solidFill>
                  <a:srgbClr val="000000"/>
                </a:solidFill>
                <a:latin typeface="楷体_GB2312" pitchFamily="49" charset="-122"/>
                <a:ea typeface="楷体_GB2312" pitchFamily="49" charset="-122"/>
              </a:rPr>
              <a:t>L</a:t>
            </a:r>
            <a:r>
              <a:rPr lang="en-US" altLang="zh-CN" sz="2000" b="1">
                <a:solidFill>
                  <a:srgbClr val="000000"/>
                </a:solidFill>
                <a:latin typeface="Times New Roman" panose="02020603050405020304" pitchFamily="18" charset="0"/>
                <a:ea typeface="楷体_GB2312" pitchFamily="49" charset="-122"/>
              </a:rPr>
              <a:t> </a:t>
            </a:r>
            <a:r>
              <a:rPr lang="zh-CN" altLang="en-US" sz="2000" b="1">
                <a:solidFill>
                  <a:srgbClr val="000000"/>
                </a:solidFill>
                <a:latin typeface="Times New Roman" panose="02020603050405020304" pitchFamily="18" charset="0"/>
                <a:ea typeface="楷体_GB2312" pitchFamily="49" charset="-122"/>
              </a:rPr>
              <a:t>。</a:t>
            </a:r>
            <a:endParaRPr lang="zh-CN" altLang="en-US" sz="2000" b="1">
              <a:solidFill>
                <a:srgbClr val="000000"/>
              </a:solidFill>
              <a:latin typeface="Times New Roman" panose="02020603050405020304" pitchFamily="18" charset="0"/>
              <a:ea typeface="楷体_GB2312" pitchFamily="49" charset="-122"/>
            </a:endParaRPr>
          </a:p>
        </p:txBody>
      </p:sp>
      <p:sp>
        <p:nvSpPr>
          <p:cNvPr id="57355" name="文本框 57354"/>
          <p:cNvSpPr txBox="1"/>
          <p:nvPr/>
        </p:nvSpPr>
        <p:spPr>
          <a:xfrm>
            <a:off x="179705" y="2277110"/>
            <a:ext cx="8763000" cy="706755"/>
          </a:xfrm>
          <a:prstGeom prst="rect">
            <a:avLst/>
          </a:prstGeom>
          <a:noFill/>
          <a:ln w="9525">
            <a:noFill/>
          </a:ln>
        </p:spPr>
        <p:txBody>
          <a:bodyPr>
            <a:spAutoFit/>
          </a:bodyPr>
          <a:lstStyle/>
          <a:p>
            <a:pPr algn="l">
              <a:spcBef>
                <a:spcPct val="50000"/>
              </a:spcBef>
            </a:pPr>
            <a:r>
              <a:rPr lang="en-US" altLang="zh-CN" sz="2000"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验算键的挤压强度。若强度不足，可采用相隔</a:t>
            </a:r>
            <a:r>
              <a:rPr lang="en-US" altLang="zh-CN" sz="2000" b="1">
                <a:solidFill>
                  <a:srgbClr val="000000"/>
                </a:solidFill>
                <a:latin typeface="楷体_GB2312" pitchFamily="49" charset="-122"/>
                <a:ea typeface="楷体_GB2312" pitchFamily="49" charset="-122"/>
              </a:rPr>
              <a:t>180</a:t>
            </a:r>
            <a:r>
              <a:rPr lang="en-US" altLang="zh-CN" sz="2000" b="1" dirty="0">
                <a:solidFill>
                  <a:srgbClr val="000000"/>
                </a:solidFill>
                <a:latin typeface="楷体_GB2312" pitchFamily="49" charset="-122"/>
                <a:ea typeface="楷体_GB2312" pitchFamily="49" charset="-122"/>
                <a:sym typeface="Symbol" panose="05050102010706020507" pitchFamily="18" charset="2"/>
              </a:rPr>
              <a:t></a:t>
            </a:r>
            <a:r>
              <a:rPr lang="zh-CN" altLang="en-US" sz="2000" b="1" dirty="0">
                <a:solidFill>
                  <a:srgbClr val="000000"/>
                </a:solidFill>
                <a:latin typeface="楷体_GB2312" pitchFamily="49" charset="-122"/>
                <a:ea typeface="楷体_GB2312" pitchFamily="49" charset="-122"/>
                <a:sym typeface="Symbol" panose="05050102010706020507" pitchFamily="18" charset="2"/>
              </a:rPr>
              <a:t>的</a:t>
            </a:r>
            <a:r>
              <a:rPr lang="zh-CN" altLang="en-US" sz="2000" b="1" dirty="0">
                <a:solidFill>
                  <a:srgbClr val="000000"/>
                </a:solidFill>
                <a:latin typeface="楷体_GB2312" pitchFamily="49" charset="-122"/>
                <a:ea typeface="楷体_GB2312" pitchFamily="49" charset="-122"/>
              </a:rPr>
              <a:t>双键，但按</a:t>
            </a:r>
            <a:r>
              <a:rPr lang="en-US" altLang="zh-CN" sz="2000" b="1">
                <a:solidFill>
                  <a:srgbClr val="000000"/>
                </a:solidFill>
                <a:latin typeface="楷体_GB2312" pitchFamily="49" charset="-122"/>
                <a:ea typeface="楷体_GB2312" pitchFamily="49" charset="-122"/>
              </a:rPr>
              <a:t>1</a:t>
            </a:r>
            <a:r>
              <a:rPr lang="en-US" altLang="zh-CN" sz="2000" b="1">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楷体_GB2312" pitchFamily="49" charset="-122"/>
                <a:ea typeface="楷体_GB2312" pitchFamily="49" charset="-122"/>
              </a:rPr>
              <a:t>5</a:t>
            </a:r>
            <a:r>
              <a:rPr lang="zh-CN" altLang="en-US" sz="2000" b="1" dirty="0">
                <a:solidFill>
                  <a:srgbClr val="000000"/>
                </a:solidFill>
                <a:latin typeface="楷体_GB2312" pitchFamily="49" charset="-122"/>
                <a:ea typeface="楷体_GB2312" pitchFamily="49" charset="-122"/>
              </a:rPr>
              <a:t>个键计算</a:t>
            </a:r>
            <a:r>
              <a:rPr lang="zh-CN" altLang="en-US" sz="2000" b="1">
                <a:solidFill>
                  <a:srgbClr val="000000"/>
                </a:solidFill>
                <a:latin typeface="Times New Roman" panose="02020603050405020304" pitchFamily="18" charset="0"/>
                <a:ea typeface="楷体_GB2312" pitchFamily="49" charset="-122"/>
              </a:rPr>
              <a:t> 。</a:t>
            </a:r>
            <a:endParaRPr lang="zh-CN" altLang="en-US" sz="2000" b="1">
              <a:solidFill>
                <a:srgbClr val="000000"/>
              </a:solidFill>
              <a:latin typeface="Times New Roman" panose="02020603050405020304" pitchFamily="18" charset="0"/>
              <a:ea typeface="楷体_GB2312" pitchFamily="49" charset="-122"/>
            </a:endParaRPr>
          </a:p>
        </p:txBody>
      </p:sp>
      <p:sp>
        <p:nvSpPr>
          <p:cNvPr id="57356" name="文本框 57355"/>
          <p:cNvSpPr txBox="1"/>
          <p:nvPr/>
        </p:nvSpPr>
        <p:spPr>
          <a:xfrm>
            <a:off x="36195" y="3012440"/>
            <a:ext cx="9144000" cy="457200"/>
          </a:xfrm>
          <a:prstGeom prst="rect">
            <a:avLst/>
          </a:prstGeom>
          <a:noFill/>
          <a:ln w="9525">
            <a:noFill/>
          </a:ln>
        </p:spPr>
        <p:txBody>
          <a:bodyPr>
            <a:spAutoFit/>
          </a:bodyPr>
          <a:lstStyle/>
          <a:p>
            <a:pPr algn="l">
              <a:spcBef>
                <a:spcPct val="50000"/>
              </a:spcBef>
            </a:pPr>
            <a:r>
              <a:rPr lang="en-US" altLang="zh-CN" b="1" dirty="0">
                <a:solidFill>
                  <a:srgbClr val="FF0000"/>
                </a:solidFill>
                <a:latin typeface="楷体_GB2312" pitchFamily="49" charset="-122"/>
                <a:ea typeface="楷体_GB2312" pitchFamily="49" charset="-122"/>
              </a:rPr>
              <a:t>2.</a:t>
            </a:r>
            <a:r>
              <a:rPr lang="zh-CN" altLang="en-US" b="1" dirty="0">
                <a:solidFill>
                  <a:srgbClr val="FF0000"/>
                </a:solidFill>
                <a:latin typeface="楷体_GB2312" pitchFamily="49" charset="-122"/>
                <a:ea typeface="楷体_GB2312" pitchFamily="49" charset="-122"/>
              </a:rPr>
              <a:t>轴承的寿命计算</a:t>
            </a:r>
            <a:endParaRPr lang="zh-CN" altLang="en-US" b="1" dirty="0">
              <a:solidFill>
                <a:srgbClr val="FF0000"/>
              </a:solidFill>
              <a:latin typeface="楷体_GB2312" pitchFamily="49" charset="-122"/>
              <a:ea typeface="楷体_GB2312" pitchFamily="49" charset="-122"/>
            </a:endParaRPr>
          </a:p>
        </p:txBody>
      </p:sp>
      <p:sp>
        <p:nvSpPr>
          <p:cNvPr id="57357" name="文本框 57356"/>
          <p:cNvSpPr txBox="1"/>
          <p:nvPr/>
        </p:nvSpPr>
        <p:spPr>
          <a:xfrm>
            <a:off x="0" y="3521710"/>
            <a:ext cx="8763000" cy="706755"/>
          </a:xfrm>
          <a:prstGeom prst="rect">
            <a:avLst/>
          </a:prstGeom>
          <a:noFill/>
          <a:ln w="9525">
            <a:noFill/>
          </a:ln>
        </p:spPr>
        <p:txBody>
          <a:bodyPr>
            <a:spAutoFit/>
          </a:bodyPr>
          <a:lstStyle/>
          <a:p>
            <a:pPr algn="l">
              <a:spcBef>
                <a:spcPct val="50000"/>
              </a:spcBef>
            </a:pPr>
            <a:r>
              <a:rPr lang="en-US" altLang="zh-CN" sz="2000"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类型的选择：若轴上的齿轮为斜齿轮，最好选用</a:t>
            </a:r>
            <a:r>
              <a:rPr lang="en-US" altLang="zh-CN" sz="2000" b="1" dirty="0">
                <a:solidFill>
                  <a:srgbClr val="000000"/>
                </a:solidFill>
                <a:latin typeface="楷体_GB2312" pitchFamily="49" charset="-122"/>
                <a:ea typeface="楷体_GB2312" pitchFamily="49" charset="-122"/>
              </a:rPr>
              <a:t>7</a:t>
            </a:r>
            <a:r>
              <a:rPr lang="zh-CN" altLang="en-US" sz="2000" b="1" dirty="0">
                <a:solidFill>
                  <a:srgbClr val="000000"/>
                </a:solidFill>
                <a:latin typeface="楷体_GB2312" pitchFamily="49" charset="-122"/>
                <a:ea typeface="楷体_GB2312" pitchFamily="49" charset="-122"/>
              </a:rPr>
              <a:t>类或</a:t>
            </a:r>
            <a:r>
              <a:rPr lang="en-US" altLang="zh-CN" sz="2000" b="1" dirty="0">
                <a:solidFill>
                  <a:srgbClr val="000000"/>
                </a:solidFill>
                <a:latin typeface="楷体_GB2312" pitchFamily="49" charset="-122"/>
                <a:ea typeface="楷体_GB2312" pitchFamily="49" charset="-122"/>
              </a:rPr>
              <a:t>3</a:t>
            </a:r>
            <a:r>
              <a:rPr lang="zh-CN" altLang="en-US" sz="2000" b="1" dirty="0">
                <a:solidFill>
                  <a:srgbClr val="000000"/>
                </a:solidFill>
                <a:latin typeface="楷体_GB2312" pitchFamily="49" charset="-122"/>
                <a:ea typeface="楷体_GB2312" pitchFamily="49" charset="-122"/>
              </a:rPr>
              <a:t>类轴承，以便承受较大的轴向载荷；若为直齿轮，优先选用</a:t>
            </a:r>
            <a:r>
              <a:rPr lang="en-US" altLang="zh-CN" sz="2000" b="1" dirty="0">
                <a:solidFill>
                  <a:srgbClr val="000000"/>
                </a:solidFill>
                <a:latin typeface="楷体_GB2312" pitchFamily="49" charset="-122"/>
                <a:ea typeface="楷体_GB2312" pitchFamily="49" charset="-122"/>
              </a:rPr>
              <a:t>6</a:t>
            </a:r>
            <a:r>
              <a:rPr lang="zh-CN" altLang="en-US" sz="2000" b="1" dirty="0">
                <a:solidFill>
                  <a:srgbClr val="000000"/>
                </a:solidFill>
                <a:latin typeface="楷体_GB2312" pitchFamily="49" charset="-122"/>
                <a:ea typeface="楷体_GB2312" pitchFamily="49" charset="-122"/>
              </a:rPr>
              <a:t>类轴承。</a:t>
            </a:r>
            <a:endParaRPr lang="zh-CN" altLang="en-US" sz="2000" b="1">
              <a:solidFill>
                <a:srgbClr val="000000"/>
              </a:solidFill>
              <a:latin typeface="Times New Roman" panose="02020603050405020304" pitchFamily="18" charset="0"/>
              <a:ea typeface="楷体_GB2312" pitchFamily="49" charset="-122"/>
            </a:endParaRPr>
          </a:p>
        </p:txBody>
      </p:sp>
      <p:sp>
        <p:nvSpPr>
          <p:cNvPr id="57358" name="文本框 57357"/>
          <p:cNvSpPr txBox="1"/>
          <p:nvPr/>
        </p:nvSpPr>
        <p:spPr>
          <a:xfrm>
            <a:off x="-35560" y="4257040"/>
            <a:ext cx="8763000" cy="768350"/>
          </a:xfrm>
          <a:prstGeom prst="rect">
            <a:avLst/>
          </a:prstGeom>
          <a:noFill/>
          <a:ln w="9525">
            <a:noFill/>
          </a:ln>
        </p:spPr>
        <p:txBody>
          <a:bodyPr>
            <a:spAutoFit/>
          </a:bodyPr>
          <a:lstStyle/>
          <a:p>
            <a:pPr algn="l">
              <a:spcBef>
                <a:spcPct val="50000"/>
              </a:spcBef>
            </a:pPr>
            <a:r>
              <a:rPr lang="en-US" altLang="zh-CN"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型号的确定：可从中系列初选。如轴颈直径</a:t>
            </a:r>
            <a:r>
              <a:rPr lang="en-US" altLang="zh-CN" sz="2000" b="1" i="1">
                <a:solidFill>
                  <a:srgbClr val="000000"/>
                </a:solidFill>
                <a:latin typeface="楷体_GB2312" pitchFamily="49" charset="-122"/>
                <a:ea typeface="楷体_GB2312" pitchFamily="49" charset="-122"/>
              </a:rPr>
              <a:t>d</a:t>
            </a:r>
            <a:r>
              <a:rPr lang="en-US" altLang="zh-CN" sz="2000" b="1" dirty="0">
                <a:solidFill>
                  <a:srgbClr val="000000"/>
                </a:solidFill>
                <a:latin typeface="楷体_GB2312" pitchFamily="49" charset="-122"/>
                <a:ea typeface="楷体_GB2312" pitchFamily="49" charset="-122"/>
              </a:rPr>
              <a:t>=40mm,</a:t>
            </a:r>
            <a:r>
              <a:rPr lang="zh-CN" altLang="en-US" sz="2000" b="1" dirty="0">
                <a:solidFill>
                  <a:srgbClr val="000000"/>
                </a:solidFill>
                <a:latin typeface="楷体_GB2312" pitchFamily="49" charset="-122"/>
                <a:ea typeface="楷体_GB2312" pitchFamily="49" charset="-122"/>
              </a:rPr>
              <a:t>若选深沟球轴承，则可初选</a:t>
            </a:r>
            <a:r>
              <a:rPr lang="en-US" altLang="zh-CN" sz="2000" b="1" dirty="0">
                <a:solidFill>
                  <a:srgbClr val="000000"/>
                </a:solidFill>
                <a:latin typeface="楷体_GB2312" pitchFamily="49" charset="-122"/>
                <a:ea typeface="楷体_GB2312" pitchFamily="49" charset="-122"/>
              </a:rPr>
              <a:t>6308</a:t>
            </a:r>
            <a:r>
              <a:rPr lang="zh-CN" altLang="en-US" sz="2000" b="1" dirty="0">
                <a:solidFill>
                  <a:srgbClr val="000000"/>
                </a:solidFill>
                <a:latin typeface="楷体_GB2312" pitchFamily="49" charset="-122"/>
                <a:ea typeface="楷体_GB2312" pitchFamily="49" charset="-122"/>
              </a:rPr>
              <a:t>。</a:t>
            </a:r>
            <a:endParaRPr lang="zh-CN" altLang="en-US" sz="2000" b="1" dirty="0">
              <a:solidFill>
                <a:srgbClr val="000000"/>
              </a:solidFill>
              <a:latin typeface="Times New Roman" panose="02020603050405020304" pitchFamily="18" charset="0"/>
              <a:ea typeface="楷体_GB2312" pitchFamily="49" charset="-122"/>
            </a:endParaRPr>
          </a:p>
        </p:txBody>
      </p:sp>
      <p:sp>
        <p:nvSpPr>
          <p:cNvPr id="57359" name="文本框 57358"/>
          <p:cNvSpPr txBox="1"/>
          <p:nvPr/>
        </p:nvSpPr>
        <p:spPr>
          <a:xfrm>
            <a:off x="38100" y="5013325"/>
            <a:ext cx="8763000" cy="457200"/>
          </a:xfrm>
          <a:prstGeom prst="rect">
            <a:avLst/>
          </a:prstGeom>
          <a:noFill/>
          <a:ln w="9525">
            <a:noFill/>
          </a:ln>
        </p:spPr>
        <p:txBody>
          <a:bodyPr>
            <a:spAutoFit/>
          </a:bodyPr>
          <a:lstStyle/>
          <a:p>
            <a:pPr algn="l">
              <a:spcBef>
                <a:spcPct val="50000"/>
              </a:spcBef>
            </a:pPr>
            <a:r>
              <a:rPr lang="en-US" altLang="zh-CN" sz="2000" b="1" dirty="0">
                <a:solidFill>
                  <a:srgbClr val="000000"/>
                </a:solidFill>
                <a:latin typeface="楷体_GB2312" pitchFamily="49" charset="-122"/>
                <a:ea typeface="楷体_GB2312" pitchFamily="49" charset="-122"/>
              </a:rPr>
              <a:t>   </a:t>
            </a:r>
            <a:r>
              <a:rPr lang="zh-CN" altLang="en-US" b="1" dirty="0">
                <a:solidFill>
                  <a:srgbClr val="000000"/>
                </a:solidFill>
                <a:latin typeface="楷体_GB2312" pitchFamily="49" charset="-122"/>
                <a:ea typeface="楷体_GB2312" pitchFamily="49" charset="-122"/>
              </a:rPr>
              <a:t>求得各轴承所受的当量动载荷</a:t>
            </a:r>
            <a:r>
              <a:rPr lang="en-US" altLang="zh-CN" b="1" i="1">
                <a:solidFill>
                  <a:srgbClr val="000000"/>
                </a:solidFill>
                <a:latin typeface="楷体_GB2312" pitchFamily="49" charset="-122"/>
                <a:ea typeface="楷体_GB2312" pitchFamily="49" charset="-122"/>
              </a:rPr>
              <a:t>P</a:t>
            </a:r>
            <a:r>
              <a:rPr lang="zh-CN" altLang="en-US" b="1" dirty="0">
                <a:solidFill>
                  <a:srgbClr val="000000"/>
                </a:solidFill>
                <a:latin typeface="楷体_GB2312" pitchFamily="49" charset="-122"/>
                <a:ea typeface="楷体_GB2312" pitchFamily="49" charset="-122"/>
              </a:rPr>
              <a:t>，从而计算轴承寿命</a:t>
            </a:r>
            <a:r>
              <a:rPr lang="en-US" altLang="zh-CN" b="1" i="1" err="1">
                <a:solidFill>
                  <a:srgbClr val="000000"/>
                </a:solidFill>
                <a:latin typeface="楷体_GB2312" pitchFamily="49" charset="-122"/>
                <a:ea typeface="楷体_GB2312" pitchFamily="49" charset="-122"/>
              </a:rPr>
              <a:t>L</a:t>
            </a:r>
            <a:r>
              <a:rPr lang="en-US" altLang="zh-CN" b="1" baseline="-25000" err="1">
                <a:solidFill>
                  <a:srgbClr val="000000"/>
                </a:solidFill>
                <a:latin typeface="楷体_GB2312" pitchFamily="49" charset="-122"/>
                <a:ea typeface="楷体_GB2312" pitchFamily="49" charset="-122"/>
              </a:rPr>
              <a:t>h</a:t>
            </a:r>
            <a:r>
              <a:rPr lang="en-US" altLang="zh-CN" b="1" dirty="0">
                <a:solidFill>
                  <a:srgbClr val="000000"/>
                </a:solidFill>
                <a:latin typeface="Times New Roman" panose="02020603050405020304" pitchFamily="18" charset="0"/>
                <a:ea typeface="楷体_GB2312" pitchFamily="49" charset="-122"/>
              </a:rPr>
              <a:t> ,</a:t>
            </a:r>
            <a:r>
              <a:rPr lang="zh-CN" altLang="en-US" b="1" dirty="0">
                <a:solidFill>
                  <a:srgbClr val="000000"/>
                </a:solidFill>
                <a:latin typeface="Times New Roman" panose="02020603050405020304" pitchFamily="18" charset="0"/>
                <a:ea typeface="楷体_GB2312" pitchFamily="49" charset="-122"/>
              </a:rPr>
              <a:t>满足</a:t>
            </a:r>
            <a:endParaRPr lang="zh-CN" altLang="en-US" b="1" dirty="0">
              <a:solidFill>
                <a:srgbClr val="000000"/>
              </a:solidFill>
              <a:latin typeface="Times New Roman" panose="02020603050405020304" pitchFamily="18" charset="0"/>
              <a:ea typeface="楷体_GB2312" pitchFamily="49" charset="-122"/>
            </a:endParaRPr>
          </a:p>
        </p:txBody>
      </p:sp>
      <p:sp>
        <p:nvSpPr>
          <p:cNvPr id="57363" name="矩形 57362"/>
          <p:cNvSpPr/>
          <p:nvPr/>
        </p:nvSpPr>
        <p:spPr>
          <a:xfrm>
            <a:off x="3528060" y="116840"/>
            <a:ext cx="1409700" cy="457200"/>
          </a:xfrm>
          <a:prstGeom prst="rect">
            <a:avLst/>
          </a:prstGeom>
          <a:noFill/>
          <a:ln w="9525">
            <a:noFill/>
          </a:ln>
        </p:spPr>
        <p:txBody>
          <a:bodyPr wrap="none" anchor="t">
            <a:spAutoFit/>
          </a:bodyPr>
          <a:lstStyle/>
          <a:p>
            <a:r>
              <a:rPr lang="zh-CN" altLang="en-US" b="1" dirty="0">
                <a:solidFill>
                  <a:srgbClr val="A02904"/>
                </a:solidFill>
                <a:latin typeface="楷体_GB2312" pitchFamily="49" charset="-122"/>
                <a:ea typeface="楷体_GB2312" pitchFamily="49" charset="-122"/>
              </a:rPr>
              <a:t>校核计算</a:t>
            </a:r>
            <a:endParaRPr lang="zh-CN" altLang="en-US" b="1" dirty="0">
              <a:solidFill>
                <a:srgbClr val="A02904"/>
              </a:solidFill>
              <a:latin typeface="楷体_GB2312" pitchFamily="49" charset="-122"/>
              <a:ea typeface="楷体_GB2312" pitchFamily="49" charset="-122"/>
            </a:endParaRPr>
          </a:p>
        </p:txBody>
      </p:sp>
      <p:grpSp>
        <p:nvGrpSpPr>
          <p:cNvPr id="57364" name="组合 57363"/>
          <p:cNvGrpSpPr/>
          <p:nvPr/>
        </p:nvGrpSpPr>
        <p:grpSpPr>
          <a:xfrm>
            <a:off x="8115300" y="6515100"/>
            <a:ext cx="1028700" cy="342900"/>
            <a:chOff x="5112" y="4104"/>
            <a:chExt cx="648" cy="216"/>
          </a:xfrm>
        </p:grpSpPr>
        <p:pic>
          <p:nvPicPr>
            <p:cNvPr id="57365" name="图片 57364"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57366" name="组合 57365"/>
            <p:cNvGrpSpPr/>
            <p:nvPr/>
          </p:nvGrpSpPr>
          <p:grpSpPr>
            <a:xfrm>
              <a:off x="5352" y="4104"/>
              <a:ext cx="408" cy="216"/>
              <a:chOff x="5232" y="4100"/>
              <a:chExt cx="408" cy="216"/>
            </a:xfrm>
          </p:grpSpPr>
          <p:pic>
            <p:nvPicPr>
              <p:cNvPr id="57367" name="图片 57366"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57368" name="图片 57367"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graphicFrame>
        <p:nvGraphicFramePr>
          <p:cNvPr id="57369" name="对象 57368"/>
          <p:cNvGraphicFramePr>
            <a:graphicFrameLocks noGrp="1"/>
          </p:cNvGraphicFramePr>
          <p:nvPr/>
        </p:nvGraphicFramePr>
        <p:xfrm>
          <a:off x="2088515" y="5470525"/>
          <a:ext cx="2363470" cy="984250"/>
        </p:xfrm>
        <a:graphic>
          <a:graphicData uri="http://schemas.openxmlformats.org/presentationml/2006/ole">
            <mc:AlternateContent xmlns:mc="http://schemas.openxmlformats.org/markup-compatibility/2006">
              <mc:Choice xmlns:v="urn:schemas-microsoft-com:vml" Requires="v">
                <p:oleObj spid="_x0000_s17446" name="" r:id="rId5" imgW="1524000" imgH="545465" progId="Equation.3">
                  <p:embed/>
                </p:oleObj>
              </mc:Choice>
              <mc:Fallback>
                <p:oleObj name="" r:id="rId5" imgW="1524000" imgH="545465" progId="Equation.3">
                  <p:embed/>
                  <p:pic>
                    <p:nvPicPr>
                      <p:cNvPr id="0" name="图片 3114"/>
                      <p:cNvPicPr/>
                      <p:nvPr/>
                    </p:nvPicPr>
                    <p:blipFill>
                      <a:blip r:embed="rId6"/>
                      <a:stretch>
                        <a:fillRect/>
                      </a:stretch>
                    </p:blipFill>
                    <p:spPr>
                      <a:xfrm>
                        <a:off x="2088515" y="5470525"/>
                        <a:ext cx="2363470" cy="984250"/>
                      </a:xfrm>
                      <a:prstGeom prst="rect">
                        <a:avLst/>
                      </a:prstGeom>
                      <a:noFill/>
                      <a:ln w="38100">
                        <a:noFill/>
                        <a:miter/>
                      </a:ln>
                    </p:spPr>
                  </p:pic>
                </p:oleObj>
              </mc:Fallback>
            </mc:AlternateContent>
          </a:graphicData>
        </a:graphic>
      </p:graphicFrame>
      <p:grpSp>
        <p:nvGrpSpPr>
          <p:cNvPr id="57371" name="组合 57370"/>
          <p:cNvGrpSpPr/>
          <p:nvPr/>
        </p:nvGrpSpPr>
        <p:grpSpPr>
          <a:xfrm>
            <a:off x="4284345" y="6212523"/>
            <a:ext cx="2438400" cy="366712"/>
            <a:chOff x="1963" y="3792"/>
            <a:chExt cx="1536" cy="231"/>
          </a:xfrm>
        </p:grpSpPr>
        <p:sp>
          <p:nvSpPr>
            <p:cNvPr id="57372" name="矩形 57371"/>
            <p:cNvSpPr/>
            <p:nvPr/>
          </p:nvSpPr>
          <p:spPr>
            <a:xfrm>
              <a:off x="2208" y="3792"/>
              <a:ext cx="1291" cy="231"/>
            </a:xfrm>
            <a:prstGeom prst="rect">
              <a:avLst/>
            </a:prstGeom>
            <a:noFill/>
            <a:ln w="9525">
              <a:noFill/>
            </a:ln>
          </p:spPr>
          <p:txBody>
            <a:bodyPr>
              <a:spAutoFit/>
            </a:bodyPr>
            <a:lstStyle/>
            <a:p>
              <a:pPr algn="l"/>
              <a:r>
                <a:rPr lang="zh-CN" altLang="en-US" sz="1800" dirty="0">
                  <a:solidFill>
                    <a:srgbClr val="003399"/>
                  </a:solidFill>
                  <a:latin typeface="Times New Roman" panose="02020603050405020304" pitchFamily="18" charset="0"/>
                  <a:ea typeface="黑体" panose="02010609060101010101" pitchFamily="49" charset="-122"/>
                </a:rPr>
                <a:t>一般以大修期计算</a:t>
              </a:r>
              <a:endParaRPr lang="zh-CN" altLang="en-US" sz="1800" dirty="0">
                <a:solidFill>
                  <a:srgbClr val="003399"/>
                </a:solidFill>
                <a:latin typeface="Times New Roman" panose="02020603050405020304" pitchFamily="18" charset="0"/>
                <a:ea typeface="黑体" panose="02010609060101010101" pitchFamily="49" charset="-122"/>
              </a:endParaRPr>
            </a:p>
          </p:txBody>
        </p:sp>
        <p:sp>
          <p:nvSpPr>
            <p:cNvPr id="57373" name="直接连接符 57372"/>
            <p:cNvSpPr/>
            <p:nvPr/>
          </p:nvSpPr>
          <p:spPr>
            <a:xfrm>
              <a:off x="1963" y="3792"/>
              <a:ext cx="0" cy="144"/>
            </a:xfrm>
            <a:prstGeom prst="line">
              <a:avLst/>
            </a:prstGeom>
            <a:ln w="19050" cap="flat" cmpd="sng">
              <a:solidFill>
                <a:srgbClr val="003399"/>
              </a:solidFill>
              <a:prstDash val="solid"/>
              <a:headEnd type="none" w="med" len="med"/>
              <a:tailEnd type="none" w="med" len="med"/>
            </a:ln>
          </p:spPr>
        </p:sp>
        <p:sp>
          <p:nvSpPr>
            <p:cNvPr id="57374" name="直接连接符 57373"/>
            <p:cNvSpPr/>
            <p:nvPr/>
          </p:nvSpPr>
          <p:spPr>
            <a:xfrm>
              <a:off x="1963" y="3936"/>
              <a:ext cx="288" cy="0"/>
            </a:xfrm>
            <a:prstGeom prst="line">
              <a:avLst/>
            </a:prstGeom>
            <a:ln w="19050" cap="flat" cmpd="sng">
              <a:solidFill>
                <a:srgbClr val="003399"/>
              </a:solidFill>
              <a:prstDash val="solid"/>
              <a:headEnd type="none" w="med" len="med"/>
              <a:tailEnd type="none" w="med" len="med"/>
            </a:ln>
          </p:spPr>
        </p:sp>
      </p:gr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354"/>
                                        </p:tgtEl>
                                        <p:attrNameLst>
                                          <p:attrName>style.visibility</p:attrName>
                                        </p:attrNameLst>
                                      </p:cBhvr>
                                      <p:to>
                                        <p:strVal val="visible"/>
                                      </p:to>
                                    </p:set>
                                    <p:anim calcmode="lin" valueType="num">
                                      <p:cBhvr additive="base">
                                        <p:cTn id="7" dur="500" fill="hold"/>
                                        <p:tgtEl>
                                          <p:spTgt spid="57354"/>
                                        </p:tgtEl>
                                        <p:attrNameLst>
                                          <p:attrName>ppt_x</p:attrName>
                                        </p:attrNameLst>
                                      </p:cBhvr>
                                      <p:tavLst>
                                        <p:tav tm="0">
                                          <p:val>
                                            <p:strVal val="0-#ppt_w/2"/>
                                          </p:val>
                                        </p:tav>
                                        <p:tav tm="100000">
                                          <p:val>
                                            <p:strVal val="#ppt_x"/>
                                          </p:val>
                                        </p:tav>
                                      </p:tavLst>
                                    </p:anim>
                                    <p:anim calcmode="lin" valueType="num">
                                      <p:cBhvr additive="base">
                                        <p:cTn id="8" dur="500" fill="hold"/>
                                        <p:tgtEl>
                                          <p:spTgt spid="5735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355"/>
                                        </p:tgtEl>
                                        <p:attrNameLst>
                                          <p:attrName>style.visibility</p:attrName>
                                        </p:attrNameLst>
                                      </p:cBhvr>
                                      <p:to>
                                        <p:strVal val="visible"/>
                                      </p:to>
                                    </p:set>
                                    <p:anim calcmode="lin" valueType="num">
                                      <p:cBhvr additive="base">
                                        <p:cTn id="13" dur="500" fill="hold"/>
                                        <p:tgtEl>
                                          <p:spTgt spid="57355"/>
                                        </p:tgtEl>
                                        <p:attrNameLst>
                                          <p:attrName>ppt_x</p:attrName>
                                        </p:attrNameLst>
                                      </p:cBhvr>
                                      <p:tavLst>
                                        <p:tav tm="0">
                                          <p:val>
                                            <p:strVal val="0-#ppt_w/2"/>
                                          </p:val>
                                        </p:tav>
                                        <p:tav tm="100000">
                                          <p:val>
                                            <p:strVal val="#ppt_x"/>
                                          </p:val>
                                        </p:tav>
                                      </p:tavLst>
                                    </p:anim>
                                    <p:anim calcmode="lin" valueType="num">
                                      <p:cBhvr additive="base">
                                        <p:cTn id="14" dur="500" fill="hold"/>
                                        <p:tgtEl>
                                          <p:spTgt spid="5735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7357"/>
                                        </p:tgtEl>
                                        <p:attrNameLst>
                                          <p:attrName>style.visibility</p:attrName>
                                        </p:attrNameLst>
                                      </p:cBhvr>
                                      <p:to>
                                        <p:strVal val="visible"/>
                                      </p:to>
                                    </p:set>
                                    <p:anim calcmode="lin" valueType="num">
                                      <p:cBhvr additive="base">
                                        <p:cTn id="19" dur="500" fill="hold"/>
                                        <p:tgtEl>
                                          <p:spTgt spid="57357"/>
                                        </p:tgtEl>
                                        <p:attrNameLst>
                                          <p:attrName>ppt_x</p:attrName>
                                        </p:attrNameLst>
                                      </p:cBhvr>
                                      <p:tavLst>
                                        <p:tav tm="0">
                                          <p:val>
                                            <p:strVal val="0-#ppt_w/2"/>
                                          </p:val>
                                        </p:tav>
                                        <p:tav tm="100000">
                                          <p:val>
                                            <p:strVal val="#ppt_x"/>
                                          </p:val>
                                        </p:tav>
                                      </p:tavLst>
                                    </p:anim>
                                    <p:anim calcmode="lin" valueType="num">
                                      <p:cBhvr additive="base">
                                        <p:cTn id="20" dur="500" fill="hold"/>
                                        <p:tgtEl>
                                          <p:spTgt spid="5735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7358"/>
                                        </p:tgtEl>
                                        <p:attrNameLst>
                                          <p:attrName>style.visibility</p:attrName>
                                        </p:attrNameLst>
                                      </p:cBhvr>
                                      <p:to>
                                        <p:strVal val="visible"/>
                                      </p:to>
                                    </p:set>
                                    <p:anim calcmode="lin" valueType="num">
                                      <p:cBhvr additive="base">
                                        <p:cTn id="25" dur="500" fill="hold"/>
                                        <p:tgtEl>
                                          <p:spTgt spid="57358"/>
                                        </p:tgtEl>
                                        <p:attrNameLst>
                                          <p:attrName>ppt_x</p:attrName>
                                        </p:attrNameLst>
                                      </p:cBhvr>
                                      <p:tavLst>
                                        <p:tav tm="0">
                                          <p:val>
                                            <p:strVal val="0-#ppt_w/2"/>
                                          </p:val>
                                        </p:tav>
                                        <p:tav tm="100000">
                                          <p:val>
                                            <p:strVal val="#ppt_x"/>
                                          </p:val>
                                        </p:tav>
                                      </p:tavLst>
                                    </p:anim>
                                    <p:anim calcmode="lin" valueType="num">
                                      <p:cBhvr additive="base">
                                        <p:cTn id="26" dur="500" fill="hold"/>
                                        <p:tgtEl>
                                          <p:spTgt spid="5735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7359"/>
                                        </p:tgtEl>
                                        <p:attrNameLst>
                                          <p:attrName>style.visibility</p:attrName>
                                        </p:attrNameLst>
                                      </p:cBhvr>
                                      <p:to>
                                        <p:strVal val="visible"/>
                                      </p:to>
                                    </p:set>
                                    <p:anim calcmode="lin" valueType="num">
                                      <p:cBhvr additive="base">
                                        <p:cTn id="31" dur="500" fill="hold"/>
                                        <p:tgtEl>
                                          <p:spTgt spid="57359"/>
                                        </p:tgtEl>
                                        <p:attrNameLst>
                                          <p:attrName>ppt_x</p:attrName>
                                        </p:attrNameLst>
                                      </p:cBhvr>
                                      <p:tavLst>
                                        <p:tav tm="0">
                                          <p:val>
                                            <p:strVal val="0-#ppt_w/2"/>
                                          </p:val>
                                        </p:tav>
                                        <p:tav tm="100000">
                                          <p:val>
                                            <p:strVal val="#ppt_x"/>
                                          </p:val>
                                        </p:tav>
                                      </p:tavLst>
                                    </p:anim>
                                    <p:anim calcmode="lin" valueType="num">
                                      <p:cBhvr additive="base">
                                        <p:cTn id="32" dur="500" fill="hold"/>
                                        <p:tgtEl>
                                          <p:spTgt spid="5735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57369"/>
                                        </p:tgtEl>
                                        <p:attrNameLst>
                                          <p:attrName>style.visibility</p:attrName>
                                        </p:attrNameLst>
                                      </p:cBhvr>
                                      <p:to>
                                        <p:strVal val="visible"/>
                                      </p:to>
                                    </p:set>
                                    <p:anim calcmode="lin" valueType="num">
                                      <p:cBhvr additive="base">
                                        <p:cTn id="37" dur="500" fill="hold"/>
                                        <p:tgtEl>
                                          <p:spTgt spid="57369"/>
                                        </p:tgtEl>
                                        <p:attrNameLst>
                                          <p:attrName>ppt_x</p:attrName>
                                        </p:attrNameLst>
                                      </p:cBhvr>
                                      <p:tavLst>
                                        <p:tav tm="0">
                                          <p:val>
                                            <p:strVal val="0-#ppt_w/2"/>
                                          </p:val>
                                        </p:tav>
                                        <p:tav tm="100000">
                                          <p:val>
                                            <p:strVal val="#ppt_x"/>
                                          </p:val>
                                        </p:tav>
                                      </p:tavLst>
                                    </p:anim>
                                    <p:anim calcmode="lin" valueType="num">
                                      <p:cBhvr additive="base">
                                        <p:cTn id="38" dur="500" fill="hold"/>
                                        <p:tgtEl>
                                          <p:spTgt spid="57369"/>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57371"/>
                                        </p:tgtEl>
                                        <p:attrNameLst>
                                          <p:attrName>style.visibility</p:attrName>
                                        </p:attrNameLst>
                                      </p:cBhvr>
                                      <p:to>
                                        <p:strVal val="visible"/>
                                      </p:to>
                                    </p:set>
                                    <p:anim calcmode="lin" valueType="num">
                                      <p:cBhvr additive="base">
                                        <p:cTn id="43" dur="500" fill="hold"/>
                                        <p:tgtEl>
                                          <p:spTgt spid="57371"/>
                                        </p:tgtEl>
                                        <p:attrNameLst>
                                          <p:attrName>ppt_x</p:attrName>
                                        </p:attrNameLst>
                                      </p:cBhvr>
                                      <p:tavLst>
                                        <p:tav tm="0">
                                          <p:val>
                                            <p:strVal val="0-#ppt_w/2"/>
                                          </p:val>
                                        </p:tav>
                                        <p:tav tm="100000">
                                          <p:val>
                                            <p:strVal val="#ppt_x"/>
                                          </p:val>
                                        </p:tav>
                                      </p:tavLst>
                                    </p:anim>
                                    <p:anim calcmode="lin" valueType="num">
                                      <p:cBhvr additive="base">
                                        <p:cTn id="44" dur="500" fill="hold"/>
                                        <p:tgtEl>
                                          <p:spTgt spid="573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4" grpId="0"/>
      <p:bldP spid="57355" grpId="0"/>
      <p:bldP spid="57357" grpId="0"/>
      <p:bldP spid="57358" grpId="0"/>
      <p:bldP spid="5735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直接连接符 56321"/>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56331" name="文本框 56330"/>
          <p:cNvSpPr txBox="1"/>
          <p:nvPr/>
        </p:nvSpPr>
        <p:spPr>
          <a:xfrm>
            <a:off x="0" y="2133600"/>
            <a:ext cx="8763000" cy="1168400"/>
          </a:xfrm>
          <a:prstGeom prst="rect">
            <a:avLst/>
          </a:prstGeom>
          <a:noFill/>
          <a:ln w="9525">
            <a:noFill/>
          </a:ln>
        </p:spPr>
        <p:txBody>
          <a:bodyPr>
            <a:spAutoFit/>
          </a:bodyPr>
          <a:lstStyle/>
          <a:p>
            <a:pPr algn="l">
              <a:spcBef>
                <a:spcPct val="50000"/>
              </a:spcBef>
            </a:pPr>
            <a:r>
              <a:rPr lang="en-US" altLang="zh-CN" sz="2000"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轴的结构设计初步完成后，可精确确定：轴的支点位置及轴上所受载荷的大小、方向和作用点。</a:t>
            </a:r>
            <a:endParaRPr lang="zh-CN" altLang="en-US" sz="2000" b="1" dirty="0">
              <a:solidFill>
                <a:srgbClr val="000000"/>
              </a:solidFill>
              <a:latin typeface="楷体_GB2312" pitchFamily="49" charset="-122"/>
              <a:ea typeface="楷体_GB2312" pitchFamily="49" charset="-122"/>
            </a:endParaRPr>
          </a:p>
          <a:p>
            <a:pPr algn="l">
              <a:spcBef>
                <a:spcPct val="50000"/>
              </a:spcBef>
            </a:pPr>
            <a:r>
              <a:rPr lang="en-US" altLang="zh-CN" sz="2000"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轴的强度校核一般遵循下列步骤：</a:t>
            </a:r>
            <a:endParaRPr lang="zh-CN" altLang="en-US" sz="2000" b="1">
              <a:solidFill>
                <a:srgbClr val="000000"/>
              </a:solidFill>
              <a:latin typeface="楷体_GB2312" pitchFamily="49" charset="-122"/>
              <a:ea typeface="楷体_GB2312" pitchFamily="49" charset="-122"/>
            </a:endParaRPr>
          </a:p>
        </p:txBody>
      </p:sp>
      <p:sp>
        <p:nvSpPr>
          <p:cNvPr id="56332" name="文本框 56331"/>
          <p:cNvSpPr txBox="1"/>
          <p:nvPr/>
        </p:nvSpPr>
        <p:spPr>
          <a:xfrm>
            <a:off x="152400" y="2057400"/>
            <a:ext cx="8763000" cy="396875"/>
          </a:xfrm>
          <a:prstGeom prst="rect">
            <a:avLst/>
          </a:prstGeom>
          <a:noFill/>
          <a:ln w="9525">
            <a:noFill/>
          </a:ln>
        </p:spPr>
        <p:txBody>
          <a:bodyPr>
            <a:spAutoFit/>
          </a:bodyPr>
          <a:lstStyle/>
          <a:p>
            <a:pPr algn="l">
              <a:spcBef>
                <a:spcPct val="50000"/>
              </a:spcBef>
            </a:pPr>
            <a:r>
              <a:rPr lang="en-US" altLang="zh-CN" sz="2000" b="1" dirty="0">
                <a:solidFill>
                  <a:srgbClr val="000000"/>
                </a:solidFill>
                <a:latin typeface="楷体_GB2312" pitchFamily="49" charset="-122"/>
                <a:ea typeface="楷体_GB2312" pitchFamily="49" charset="-122"/>
              </a:rPr>
              <a:t>   </a:t>
            </a:r>
            <a:endParaRPr lang="en-US" altLang="zh-CN" b="1">
              <a:solidFill>
                <a:srgbClr val="000000"/>
              </a:solidFill>
              <a:latin typeface="Times New Roman" panose="02020603050405020304" pitchFamily="18" charset="0"/>
              <a:ea typeface="楷体_GB2312" pitchFamily="49" charset="-122"/>
            </a:endParaRPr>
          </a:p>
        </p:txBody>
      </p:sp>
      <p:sp>
        <p:nvSpPr>
          <p:cNvPr id="56340" name="文本框 56339"/>
          <p:cNvSpPr txBox="1"/>
          <p:nvPr/>
        </p:nvSpPr>
        <p:spPr>
          <a:xfrm>
            <a:off x="431800" y="3392805"/>
            <a:ext cx="8763000" cy="39878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buChar char="Ø"/>
            </a:pPr>
            <a:r>
              <a:rPr lang="zh-CN" altLang="en-US" sz="2000" b="1" dirty="0">
                <a:solidFill>
                  <a:srgbClr val="000000"/>
                </a:solidFill>
                <a:latin typeface="楷体_GB2312" pitchFamily="49" charset="-122"/>
                <a:ea typeface="楷体_GB2312" pitchFamily="49" charset="-122"/>
              </a:rPr>
              <a:t>画出轴的空间受力简图</a:t>
            </a:r>
            <a:endParaRPr lang="zh-CN" altLang="en-US" sz="2000" b="1">
              <a:solidFill>
                <a:srgbClr val="000000"/>
              </a:solidFill>
              <a:latin typeface="楷体_GB2312" pitchFamily="49" charset="-122"/>
              <a:ea typeface="楷体_GB2312" pitchFamily="49" charset="-122"/>
            </a:endParaRPr>
          </a:p>
        </p:txBody>
      </p:sp>
      <p:sp>
        <p:nvSpPr>
          <p:cNvPr id="56341" name="文本框 56340"/>
          <p:cNvSpPr txBox="1"/>
          <p:nvPr/>
        </p:nvSpPr>
        <p:spPr>
          <a:xfrm>
            <a:off x="396240" y="3882390"/>
            <a:ext cx="8763000" cy="39878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buChar char="Ø"/>
            </a:pPr>
            <a:r>
              <a:rPr lang="zh-CN" altLang="en-US" sz="2000" b="1" dirty="0">
                <a:solidFill>
                  <a:srgbClr val="000000"/>
                </a:solidFill>
                <a:latin typeface="楷体_GB2312" pitchFamily="49" charset="-122"/>
                <a:ea typeface="楷体_GB2312" pitchFamily="49" charset="-122"/>
              </a:rPr>
              <a:t>作出水平面的受力图和弯矩</a:t>
            </a:r>
            <a:r>
              <a:rPr lang="en-US" altLang="zh-CN" sz="2000" b="1" i="1">
                <a:solidFill>
                  <a:srgbClr val="000000"/>
                </a:solidFill>
                <a:latin typeface="Times New Roman" panose="02020603050405020304" pitchFamily="18" charset="0"/>
                <a:ea typeface="楷体_GB2312" pitchFamily="49" charset="-122"/>
              </a:rPr>
              <a:t>M</a:t>
            </a:r>
            <a:r>
              <a:rPr lang="en-US" altLang="zh-CN" sz="2000" b="1" baseline="-25000">
                <a:solidFill>
                  <a:srgbClr val="000000"/>
                </a:solidFill>
                <a:latin typeface="Times New Roman" panose="02020603050405020304" pitchFamily="18" charset="0"/>
                <a:ea typeface="楷体_GB2312" pitchFamily="49" charset="-122"/>
              </a:rPr>
              <a:t>H</a:t>
            </a:r>
            <a:r>
              <a:rPr lang="zh-CN" altLang="en-US" sz="2000" b="1">
                <a:solidFill>
                  <a:srgbClr val="000000"/>
                </a:solidFill>
                <a:latin typeface="楷体_GB2312" pitchFamily="49" charset="-122"/>
                <a:ea typeface="楷体_GB2312" pitchFamily="49" charset="-122"/>
              </a:rPr>
              <a:t>图</a:t>
            </a:r>
            <a:endParaRPr lang="zh-CN" altLang="en-US" sz="2000" b="1">
              <a:solidFill>
                <a:srgbClr val="000000"/>
              </a:solidFill>
              <a:latin typeface="楷体_GB2312" pitchFamily="49" charset="-122"/>
              <a:ea typeface="楷体_GB2312" pitchFamily="49" charset="-122"/>
            </a:endParaRPr>
          </a:p>
        </p:txBody>
      </p:sp>
      <p:sp>
        <p:nvSpPr>
          <p:cNvPr id="56342" name="文本框 56341"/>
          <p:cNvSpPr txBox="1"/>
          <p:nvPr/>
        </p:nvSpPr>
        <p:spPr>
          <a:xfrm>
            <a:off x="381000" y="4417695"/>
            <a:ext cx="8763000" cy="39878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buChar char="Ø"/>
            </a:pPr>
            <a:r>
              <a:rPr lang="zh-CN" altLang="en-US" sz="2000" b="1" dirty="0">
                <a:solidFill>
                  <a:srgbClr val="000000"/>
                </a:solidFill>
                <a:latin typeface="楷体_GB2312" pitchFamily="49" charset="-122"/>
                <a:ea typeface="楷体_GB2312" pitchFamily="49" charset="-122"/>
              </a:rPr>
              <a:t>作出垂直面的受力图和弯矩</a:t>
            </a:r>
            <a:r>
              <a:rPr lang="en-US" altLang="zh-CN" sz="2000" b="1" i="1">
                <a:solidFill>
                  <a:srgbClr val="000000"/>
                </a:solidFill>
                <a:latin typeface="Times New Roman" panose="02020603050405020304" pitchFamily="18" charset="0"/>
                <a:ea typeface="楷体_GB2312" pitchFamily="49" charset="-122"/>
              </a:rPr>
              <a:t>M</a:t>
            </a:r>
            <a:r>
              <a:rPr lang="en-US" altLang="zh-CN" sz="2000" b="1" baseline="-25000">
                <a:solidFill>
                  <a:srgbClr val="000000"/>
                </a:solidFill>
                <a:latin typeface="Times New Roman" panose="02020603050405020304" pitchFamily="18" charset="0"/>
                <a:ea typeface="楷体_GB2312" pitchFamily="49" charset="-122"/>
              </a:rPr>
              <a:t>V</a:t>
            </a:r>
            <a:r>
              <a:rPr lang="zh-CN" altLang="en-US" sz="2000" b="1">
                <a:solidFill>
                  <a:srgbClr val="000000"/>
                </a:solidFill>
                <a:latin typeface="楷体_GB2312" pitchFamily="49" charset="-122"/>
                <a:ea typeface="楷体_GB2312" pitchFamily="49" charset="-122"/>
              </a:rPr>
              <a:t>图</a:t>
            </a:r>
            <a:endParaRPr lang="zh-CN" altLang="en-US" sz="2000" b="1">
              <a:solidFill>
                <a:srgbClr val="000000"/>
              </a:solidFill>
              <a:latin typeface="楷体_GB2312" pitchFamily="49" charset="-122"/>
              <a:ea typeface="楷体_GB2312" pitchFamily="49" charset="-122"/>
            </a:endParaRPr>
          </a:p>
        </p:txBody>
      </p:sp>
      <p:sp>
        <p:nvSpPr>
          <p:cNvPr id="56344" name="文本框 56343"/>
          <p:cNvSpPr txBox="1"/>
          <p:nvPr/>
        </p:nvSpPr>
        <p:spPr>
          <a:xfrm>
            <a:off x="381000" y="5442585"/>
            <a:ext cx="8763000" cy="39878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buChar char="Ø"/>
            </a:pPr>
            <a:r>
              <a:rPr lang="zh-CN" altLang="en-US" sz="2000" b="1" dirty="0">
                <a:solidFill>
                  <a:srgbClr val="000000"/>
                </a:solidFill>
                <a:latin typeface="楷体_GB2312" pitchFamily="49" charset="-122"/>
                <a:ea typeface="楷体_GB2312" pitchFamily="49" charset="-122"/>
              </a:rPr>
              <a:t>作出转矩</a:t>
            </a:r>
            <a:r>
              <a:rPr lang="en-US" altLang="zh-CN" sz="2000" b="1" i="1">
                <a:solidFill>
                  <a:srgbClr val="000000"/>
                </a:solidFill>
                <a:latin typeface="楷体_GB2312" pitchFamily="49" charset="-122"/>
                <a:ea typeface="楷体_GB2312" pitchFamily="49" charset="-122"/>
              </a:rPr>
              <a:t>T </a:t>
            </a:r>
            <a:r>
              <a:rPr lang="zh-CN" altLang="en-US" sz="2000" b="1" dirty="0">
                <a:solidFill>
                  <a:srgbClr val="000000"/>
                </a:solidFill>
                <a:latin typeface="楷体_GB2312" pitchFamily="49" charset="-122"/>
                <a:ea typeface="楷体_GB2312" pitchFamily="49" charset="-122"/>
              </a:rPr>
              <a:t>图 </a:t>
            </a:r>
            <a:endParaRPr lang="zh-CN" altLang="en-US" sz="2000" b="1">
              <a:solidFill>
                <a:srgbClr val="000000"/>
              </a:solidFill>
              <a:latin typeface="楷体_GB2312" pitchFamily="49" charset="-122"/>
              <a:ea typeface="楷体_GB2312" pitchFamily="49" charset="-122"/>
            </a:endParaRPr>
          </a:p>
        </p:txBody>
      </p:sp>
      <p:sp>
        <p:nvSpPr>
          <p:cNvPr id="56345" name="文本框 56344"/>
          <p:cNvSpPr txBox="1"/>
          <p:nvPr/>
        </p:nvSpPr>
        <p:spPr>
          <a:xfrm>
            <a:off x="323850" y="5948680"/>
            <a:ext cx="8763000" cy="39878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buChar char="Ø"/>
            </a:pPr>
            <a:r>
              <a:rPr lang="zh-CN" altLang="en-US" sz="2000" b="1" dirty="0">
                <a:solidFill>
                  <a:srgbClr val="000000"/>
                </a:solidFill>
                <a:latin typeface="楷体_GB2312" pitchFamily="49" charset="-122"/>
                <a:ea typeface="楷体_GB2312" pitchFamily="49" charset="-122"/>
              </a:rPr>
              <a:t>确定危险截面，进行校核计算</a:t>
            </a:r>
            <a:endParaRPr lang="zh-CN" altLang="en-US" sz="2000" b="1">
              <a:solidFill>
                <a:srgbClr val="000000"/>
              </a:solidFill>
              <a:latin typeface="楷体_GB2312" pitchFamily="49" charset="-122"/>
              <a:ea typeface="楷体_GB2312" pitchFamily="49" charset="-122"/>
            </a:endParaRPr>
          </a:p>
        </p:txBody>
      </p:sp>
      <p:grpSp>
        <p:nvGrpSpPr>
          <p:cNvPr id="56349" name="组合 56348"/>
          <p:cNvGrpSpPr/>
          <p:nvPr/>
        </p:nvGrpSpPr>
        <p:grpSpPr>
          <a:xfrm>
            <a:off x="360363" y="4940300"/>
            <a:ext cx="8763000" cy="460375"/>
            <a:chOff x="227" y="2296"/>
            <a:chExt cx="5520" cy="290"/>
          </a:xfrm>
        </p:grpSpPr>
        <p:sp>
          <p:nvSpPr>
            <p:cNvPr id="56343" name="文本框 56342"/>
            <p:cNvSpPr txBox="1"/>
            <p:nvPr/>
          </p:nvSpPr>
          <p:spPr>
            <a:xfrm>
              <a:off x="227" y="2296"/>
              <a:ext cx="5520" cy="29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buChar char="Ø"/>
              </a:pPr>
              <a:r>
                <a:rPr lang="zh-CN" altLang="en-US" sz="2000" b="1" dirty="0">
                  <a:solidFill>
                    <a:srgbClr val="000000"/>
                  </a:solidFill>
                  <a:latin typeface="楷体_GB2312" pitchFamily="49" charset="-122"/>
                  <a:ea typeface="楷体_GB2312" pitchFamily="49" charset="-122"/>
                </a:rPr>
                <a:t>作出合成弯矩</a:t>
              </a:r>
              <a:r>
                <a:rPr lang="en-US" altLang="zh-CN" sz="2000" b="1" i="1">
                  <a:solidFill>
                    <a:srgbClr val="000000"/>
                  </a:solidFill>
                  <a:latin typeface="Times New Roman" panose="02020603050405020304" pitchFamily="18" charset="0"/>
                  <a:ea typeface="楷体_GB2312" pitchFamily="49" charset="-122"/>
                </a:rPr>
                <a:t>M</a:t>
              </a:r>
              <a:r>
                <a:rPr lang="en-US" altLang="zh-CN" sz="2000" b="1" i="1">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图 </a:t>
              </a:r>
              <a:r>
                <a:rPr lang="zh-CN" altLang="en-US" b="1" dirty="0">
                  <a:solidFill>
                    <a:srgbClr val="000000"/>
                  </a:solidFill>
                  <a:latin typeface="楷体_GB2312" pitchFamily="49" charset="-122"/>
                  <a:ea typeface="楷体_GB2312" pitchFamily="49" charset="-122"/>
                </a:rPr>
                <a:t>（             ）</a:t>
              </a:r>
              <a:endParaRPr lang="zh-CN" altLang="en-US" b="1">
                <a:solidFill>
                  <a:srgbClr val="000000"/>
                </a:solidFill>
                <a:latin typeface="楷体_GB2312" pitchFamily="49" charset="-122"/>
                <a:ea typeface="楷体_GB2312" pitchFamily="49" charset="-122"/>
              </a:endParaRPr>
            </a:p>
          </p:txBody>
        </p:sp>
        <p:graphicFrame>
          <p:nvGraphicFramePr>
            <p:cNvPr id="56348" name="对象 56347"/>
            <p:cNvGraphicFramePr/>
            <p:nvPr/>
          </p:nvGraphicFramePr>
          <p:xfrm>
            <a:off x="2304" y="2364"/>
            <a:ext cx="672" cy="184"/>
          </p:xfrm>
          <a:graphic>
            <a:graphicData uri="http://schemas.openxmlformats.org/presentationml/2006/ole">
              <mc:AlternateContent xmlns:mc="http://schemas.openxmlformats.org/markup-compatibility/2006">
                <mc:Choice xmlns:v="urn:schemas-microsoft-com:vml" Requires="v">
                  <p:oleObj spid="_x0000_s18470" name="" r:id="rId1" imgW="1066800" imgH="292100" progId="Equation.DSMT4">
                    <p:embed/>
                  </p:oleObj>
                </mc:Choice>
                <mc:Fallback>
                  <p:oleObj name="" r:id="rId1" imgW="1066800" imgH="292100" progId="Equation.DSMT4">
                    <p:embed/>
                    <p:pic>
                      <p:nvPicPr>
                        <p:cNvPr id="0" name="图片 3115"/>
                        <p:cNvPicPr/>
                        <p:nvPr/>
                      </p:nvPicPr>
                      <p:blipFill>
                        <a:blip r:embed="rId2"/>
                        <a:stretch>
                          <a:fillRect/>
                        </a:stretch>
                      </p:blipFill>
                      <p:spPr>
                        <a:xfrm>
                          <a:off x="2304" y="2364"/>
                          <a:ext cx="672" cy="184"/>
                        </a:xfrm>
                        <a:prstGeom prst="rect">
                          <a:avLst/>
                        </a:prstGeom>
                        <a:noFill/>
                        <a:ln w="38100">
                          <a:noFill/>
                          <a:miter/>
                        </a:ln>
                      </p:spPr>
                    </p:pic>
                  </p:oleObj>
                </mc:Fallback>
              </mc:AlternateContent>
            </a:graphicData>
          </a:graphic>
        </p:graphicFrame>
      </p:grpSp>
      <p:sp>
        <p:nvSpPr>
          <p:cNvPr id="56350" name="文本框 56349"/>
          <p:cNvSpPr txBox="1"/>
          <p:nvPr/>
        </p:nvSpPr>
        <p:spPr>
          <a:xfrm>
            <a:off x="0" y="762000"/>
            <a:ext cx="9144000" cy="457200"/>
          </a:xfrm>
          <a:prstGeom prst="rect">
            <a:avLst/>
          </a:prstGeom>
          <a:noFill/>
          <a:ln w="9525">
            <a:noFill/>
          </a:ln>
        </p:spPr>
        <p:txBody>
          <a:bodyPr>
            <a:spAutoFit/>
          </a:bodyPr>
          <a:lstStyle/>
          <a:p>
            <a:pPr algn="l">
              <a:spcBef>
                <a:spcPct val="50000"/>
              </a:spcBef>
            </a:pPr>
            <a:r>
              <a:rPr lang="en-US" altLang="zh-CN" b="1" dirty="0">
                <a:solidFill>
                  <a:srgbClr val="FF0000"/>
                </a:solidFill>
                <a:latin typeface="楷体_GB2312" pitchFamily="49" charset="-122"/>
                <a:ea typeface="楷体_GB2312" pitchFamily="49" charset="-122"/>
              </a:rPr>
              <a:t>3.</a:t>
            </a:r>
            <a:r>
              <a:rPr lang="zh-CN" altLang="en-US" b="1" dirty="0">
                <a:solidFill>
                  <a:srgbClr val="FF0000"/>
                </a:solidFill>
                <a:latin typeface="楷体_GB2312" pitchFamily="49" charset="-122"/>
                <a:ea typeface="楷体_GB2312" pitchFamily="49" charset="-122"/>
              </a:rPr>
              <a:t>轴的强度校核</a:t>
            </a:r>
            <a:endParaRPr lang="zh-CN" altLang="en-US" b="1" dirty="0">
              <a:solidFill>
                <a:srgbClr val="FF0000"/>
              </a:solidFill>
              <a:latin typeface="楷体_GB2312" pitchFamily="49" charset="-122"/>
              <a:ea typeface="楷体_GB2312" pitchFamily="49" charset="-122"/>
            </a:endParaRPr>
          </a:p>
        </p:txBody>
      </p:sp>
      <p:sp>
        <p:nvSpPr>
          <p:cNvPr id="56351" name="文本框 56350"/>
          <p:cNvSpPr txBox="1"/>
          <p:nvPr/>
        </p:nvSpPr>
        <p:spPr>
          <a:xfrm>
            <a:off x="0" y="1143000"/>
            <a:ext cx="8763000" cy="768350"/>
          </a:xfrm>
          <a:prstGeom prst="rect">
            <a:avLst/>
          </a:prstGeom>
          <a:noFill/>
          <a:ln w="9525">
            <a:noFill/>
          </a:ln>
        </p:spPr>
        <p:txBody>
          <a:bodyPr>
            <a:spAutoFit/>
          </a:bodyPr>
          <a:lstStyle/>
          <a:p>
            <a:pPr algn="l">
              <a:spcBef>
                <a:spcPct val="50000"/>
              </a:spcBef>
            </a:pPr>
            <a:r>
              <a:rPr lang="en-US" altLang="zh-CN"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一般用途的轴，可按</a:t>
            </a:r>
            <a:r>
              <a:rPr lang="zh-CN" altLang="en-US" sz="2000" b="1" dirty="0">
                <a:solidFill>
                  <a:srgbClr val="A02904"/>
                </a:solidFill>
                <a:latin typeface="楷体_GB2312" pitchFamily="49" charset="-122"/>
                <a:ea typeface="楷体_GB2312" pitchFamily="49" charset="-122"/>
              </a:rPr>
              <a:t>当量弯矩法</a:t>
            </a:r>
            <a:r>
              <a:rPr lang="zh-CN" altLang="en-US" sz="2000" b="1" dirty="0">
                <a:solidFill>
                  <a:srgbClr val="000000"/>
                </a:solidFill>
                <a:latin typeface="楷体_GB2312" pitchFamily="49" charset="-122"/>
                <a:ea typeface="楷体_GB2312" pitchFamily="49" charset="-122"/>
              </a:rPr>
              <a:t>进行强度校核 ；对重要轴，对轴进行</a:t>
            </a:r>
            <a:r>
              <a:rPr lang="zh-CN" altLang="en-US" sz="2000" b="1" dirty="0">
                <a:solidFill>
                  <a:srgbClr val="A02904"/>
                </a:solidFill>
                <a:latin typeface="楷体_GB2312" pitchFamily="49" charset="-122"/>
                <a:ea typeface="楷体_GB2312" pitchFamily="49" charset="-122"/>
              </a:rPr>
              <a:t>疲劳强度安全系数</a:t>
            </a:r>
            <a:r>
              <a:rPr lang="zh-CN" altLang="en-US" sz="2000" b="1" dirty="0">
                <a:solidFill>
                  <a:srgbClr val="000000"/>
                </a:solidFill>
                <a:latin typeface="楷体_GB2312" pitchFamily="49" charset="-122"/>
                <a:ea typeface="楷体_GB2312" pitchFamily="49" charset="-122"/>
              </a:rPr>
              <a:t>校核。</a:t>
            </a:r>
            <a:r>
              <a:rPr lang="zh-CN" altLang="en-US" sz="2000" b="1" dirty="0">
                <a:solidFill>
                  <a:srgbClr val="000000"/>
                </a:solidFill>
                <a:latin typeface="楷体_GB2312" pitchFamily="49" charset="-122"/>
                <a:ea typeface="仿宋_GB2312" pitchFamily="49" charset="-122"/>
              </a:rPr>
              <a:t> </a:t>
            </a:r>
            <a:endParaRPr lang="zh-CN" altLang="en-US" sz="2000" b="1">
              <a:solidFill>
                <a:srgbClr val="000000"/>
              </a:solidFill>
              <a:latin typeface="楷体_GB2312" pitchFamily="49" charset="-122"/>
              <a:ea typeface="仿宋_GB2312" pitchFamily="49" charset="-122"/>
            </a:endParaRPr>
          </a:p>
        </p:txBody>
      </p:sp>
      <p:grpSp>
        <p:nvGrpSpPr>
          <p:cNvPr id="56352" name="组合 56351"/>
          <p:cNvGrpSpPr/>
          <p:nvPr/>
        </p:nvGrpSpPr>
        <p:grpSpPr>
          <a:xfrm>
            <a:off x="8115300" y="6515100"/>
            <a:ext cx="1028700" cy="342900"/>
            <a:chOff x="5112" y="4104"/>
            <a:chExt cx="648" cy="216"/>
          </a:xfrm>
        </p:grpSpPr>
        <p:pic>
          <p:nvPicPr>
            <p:cNvPr id="56353" name="图片 56352" descr="返回">
              <a:hlinkClick r:id="rId3" action="ppaction://hlinksldjump"/>
            </p:cNvPr>
            <p:cNvPicPr>
              <a:picLocks noChangeAspect="1"/>
            </p:cNvPicPr>
            <p:nvPr/>
          </p:nvPicPr>
          <p:blipFill>
            <a:blip r:embed="rId4"/>
            <a:stretch>
              <a:fillRect/>
            </a:stretch>
          </p:blipFill>
          <p:spPr>
            <a:xfrm>
              <a:off x="5112" y="4104"/>
              <a:ext cx="216" cy="216"/>
            </a:xfrm>
            <a:prstGeom prst="rect">
              <a:avLst/>
            </a:prstGeom>
            <a:noFill/>
            <a:ln w="9525">
              <a:noFill/>
            </a:ln>
          </p:spPr>
        </p:pic>
        <p:grpSp>
          <p:nvGrpSpPr>
            <p:cNvPr id="56354" name="组合 56353"/>
            <p:cNvGrpSpPr/>
            <p:nvPr/>
          </p:nvGrpSpPr>
          <p:grpSpPr>
            <a:xfrm>
              <a:off x="5352" y="4104"/>
              <a:ext cx="408" cy="216"/>
              <a:chOff x="5232" y="4100"/>
              <a:chExt cx="408" cy="216"/>
            </a:xfrm>
          </p:grpSpPr>
          <p:pic>
            <p:nvPicPr>
              <p:cNvPr id="56355" name="图片 56354" descr="下一步">
                <a:hlinkClick r:id="" action="ppaction://hlinkshowjump?jump=nextslide"/>
              </p:cNvPr>
              <p:cNvPicPr>
                <a:picLocks noChangeAspect="1"/>
              </p:cNvPicPr>
              <p:nvPr/>
            </p:nvPicPr>
            <p:blipFill>
              <a:blip r:embed="rId5"/>
              <a:stretch>
                <a:fillRect/>
              </a:stretch>
            </p:blipFill>
            <p:spPr>
              <a:xfrm>
                <a:off x="5424" y="4100"/>
                <a:ext cx="216" cy="216"/>
              </a:xfrm>
              <a:prstGeom prst="rect">
                <a:avLst/>
              </a:prstGeom>
              <a:noFill/>
              <a:ln w="9525">
                <a:noFill/>
              </a:ln>
            </p:spPr>
          </p:pic>
          <p:pic>
            <p:nvPicPr>
              <p:cNvPr id="56356" name="图片 56355" descr="上一步">
                <a:hlinkClick r:id="" action="ppaction://hlinkshowjump?jump=previousslide"/>
              </p:cNvPr>
              <p:cNvPicPr>
                <a:picLocks noChangeAspect="1"/>
              </p:cNvPicPr>
              <p:nvPr/>
            </p:nvPicPr>
            <p:blipFill>
              <a:blip r:embed="rId6"/>
              <a:stretch>
                <a:fillRect/>
              </a:stretch>
            </p:blipFill>
            <p:spPr>
              <a:xfrm>
                <a:off x="5232" y="4100"/>
                <a:ext cx="216" cy="216"/>
              </a:xfrm>
              <a:prstGeom prst="rect">
                <a:avLst/>
              </a:prstGeom>
              <a:noFill/>
              <a:ln w="9525">
                <a:noFill/>
              </a:ln>
            </p:spPr>
          </p:pic>
        </p:grpSp>
      </p:gr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51"/>
                                        </p:tgtEl>
                                        <p:attrNameLst>
                                          <p:attrName>style.visibility</p:attrName>
                                        </p:attrNameLst>
                                      </p:cBhvr>
                                      <p:to>
                                        <p:strVal val="visible"/>
                                      </p:to>
                                    </p:set>
                                    <p:anim calcmode="lin" valueType="num">
                                      <p:cBhvr additive="base">
                                        <p:cTn id="7" dur="500" fill="hold"/>
                                        <p:tgtEl>
                                          <p:spTgt spid="56351"/>
                                        </p:tgtEl>
                                        <p:attrNameLst>
                                          <p:attrName>ppt_x</p:attrName>
                                        </p:attrNameLst>
                                      </p:cBhvr>
                                      <p:tavLst>
                                        <p:tav tm="0">
                                          <p:val>
                                            <p:strVal val="0-#ppt_w/2"/>
                                          </p:val>
                                        </p:tav>
                                        <p:tav tm="100000">
                                          <p:val>
                                            <p:strVal val="#ppt_x"/>
                                          </p:val>
                                        </p:tav>
                                      </p:tavLst>
                                    </p:anim>
                                    <p:anim calcmode="lin" valueType="num">
                                      <p:cBhvr additive="base">
                                        <p:cTn id="8" dur="500" fill="hold"/>
                                        <p:tgtEl>
                                          <p:spTgt spid="563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331"/>
                                        </p:tgtEl>
                                        <p:attrNameLst>
                                          <p:attrName>style.visibility</p:attrName>
                                        </p:attrNameLst>
                                      </p:cBhvr>
                                      <p:to>
                                        <p:strVal val="visible"/>
                                      </p:to>
                                    </p:set>
                                    <p:anim calcmode="lin" valueType="num">
                                      <p:cBhvr additive="base">
                                        <p:cTn id="13" dur="500" fill="hold"/>
                                        <p:tgtEl>
                                          <p:spTgt spid="56331"/>
                                        </p:tgtEl>
                                        <p:attrNameLst>
                                          <p:attrName>ppt_x</p:attrName>
                                        </p:attrNameLst>
                                      </p:cBhvr>
                                      <p:tavLst>
                                        <p:tav tm="0">
                                          <p:val>
                                            <p:strVal val="0-#ppt_w/2"/>
                                          </p:val>
                                        </p:tav>
                                        <p:tav tm="100000">
                                          <p:val>
                                            <p:strVal val="#ppt_x"/>
                                          </p:val>
                                        </p:tav>
                                      </p:tavLst>
                                    </p:anim>
                                    <p:anim calcmode="lin" valueType="num">
                                      <p:cBhvr additive="base">
                                        <p:cTn id="14" dur="500" fill="hold"/>
                                        <p:tgtEl>
                                          <p:spTgt spid="5633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6332"/>
                                        </p:tgtEl>
                                        <p:attrNameLst>
                                          <p:attrName>style.visibility</p:attrName>
                                        </p:attrNameLst>
                                      </p:cBhvr>
                                      <p:to>
                                        <p:strVal val="visible"/>
                                      </p:to>
                                    </p:set>
                                    <p:anim calcmode="lin" valueType="num">
                                      <p:cBhvr additive="base">
                                        <p:cTn id="19" dur="500" fill="hold"/>
                                        <p:tgtEl>
                                          <p:spTgt spid="56332"/>
                                        </p:tgtEl>
                                        <p:attrNameLst>
                                          <p:attrName>ppt_x</p:attrName>
                                        </p:attrNameLst>
                                      </p:cBhvr>
                                      <p:tavLst>
                                        <p:tav tm="0">
                                          <p:val>
                                            <p:strVal val="0-#ppt_w/2"/>
                                          </p:val>
                                        </p:tav>
                                        <p:tav tm="100000">
                                          <p:val>
                                            <p:strVal val="#ppt_x"/>
                                          </p:val>
                                        </p:tav>
                                      </p:tavLst>
                                    </p:anim>
                                    <p:anim calcmode="lin" valueType="num">
                                      <p:cBhvr additive="base">
                                        <p:cTn id="20" dur="500" fill="hold"/>
                                        <p:tgtEl>
                                          <p:spTgt spid="5633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6340"/>
                                        </p:tgtEl>
                                        <p:attrNameLst>
                                          <p:attrName>style.visibility</p:attrName>
                                        </p:attrNameLst>
                                      </p:cBhvr>
                                      <p:to>
                                        <p:strVal val="visible"/>
                                      </p:to>
                                    </p:set>
                                    <p:anim calcmode="lin" valueType="num">
                                      <p:cBhvr additive="base">
                                        <p:cTn id="25" dur="500" fill="hold"/>
                                        <p:tgtEl>
                                          <p:spTgt spid="56340"/>
                                        </p:tgtEl>
                                        <p:attrNameLst>
                                          <p:attrName>ppt_x</p:attrName>
                                        </p:attrNameLst>
                                      </p:cBhvr>
                                      <p:tavLst>
                                        <p:tav tm="0">
                                          <p:val>
                                            <p:strVal val="0-#ppt_w/2"/>
                                          </p:val>
                                        </p:tav>
                                        <p:tav tm="100000">
                                          <p:val>
                                            <p:strVal val="#ppt_x"/>
                                          </p:val>
                                        </p:tav>
                                      </p:tavLst>
                                    </p:anim>
                                    <p:anim calcmode="lin" valueType="num">
                                      <p:cBhvr additive="base">
                                        <p:cTn id="26" dur="500" fill="hold"/>
                                        <p:tgtEl>
                                          <p:spTgt spid="5634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6341"/>
                                        </p:tgtEl>
                                        <p:attrNameLst>
                                          <p:attrName>style.visibility</p:attrName>
                                        </p:attrNameLst>
                                      </p:cBhvr>
                                      <p:to>
                                        <p:strVal val="visible"/>
                                      </p:to>
                                    </p:set>
                                    <p:anim calcmode="lin" valueType="num">
                                      <p:cBhvr additive="base">
                                        <p:cTn id="31" dur="500" fill="hold"/>
                                        <p:tgtEl>
                                          <p:spTgt spid="56341"/>
                                        </p:tgtEl>
                                        <p:attrNameLst>
                                          <p:attrName>ppt_x</p:attrName>
                                        </p:attrNameLst>
                                      </p:cBhvr>
                                      <p:tavLst>
                                        <p:tav tm="0">
                                          <p:val>
                                            <p:strVal val="0-#ppt_w/2"/>
                                          </p:val>
                                        </p:tav>
                                        <p:tav tm="100000">
                                          <p:val>
                                            <p:strVal val="#ppt_x"/>
                                          </p:val>
                                        </p:tav>
                                      </p:tavLst>
                                    </p:anim>
                                    <p:anim calcmode="lin" valueType="num">
                                      <p:cBhvr additive="base">
                                        <p:cTn id="32" dur="500" fill="hold"/>
                                        <p:tgtEl>
                                          <p:spTgt spid="5634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6342"/>
                                        </p:tgtEl>
                                        <p:attrNameLst>
                                          <p:attrName>style.visibility</p:attrName>
                                        </p:attrNameLst>
                                      </p:cBhvr>
                                      <p:to>
                                        <p:strVal val="visible"/>
                                      </p:to>
                                    </p:set>
                                    <p:anim calcmode="lin" valueType="num">
                                      <p:cBhvr additive="base">
                                        <p:cTn id="37" dur="500" fill="hold"/>
                                        <p:tgtEl>
                                          <p:spTgt spid="56342"/>
                                        </p:tgtEl>
                                        <p:attrNameLst>
                                          <p:attrName>ppt_x</p:attrName>
                                        </p:attrNameLst>
                                      </p:cBhvr>
                                      <p:tavLst>
                                        <p:tav tm="0">
                                          <p:val>
                                            <p:strVal val="0-#ppt_w/2"/>
                                          </p:val>
                                        </p:tav>
                                        <p:tav tm="100000">
                                          <p:val>
                                            <p:strVal val="#ppt_x"/>
                                          </p:val>
                                        </p:tav>
                                      </p:tavLst>
                                    </p:anim>
                                    <p:anim calcmode="lin" valueType="num">
                                      <p:cBhvr additive="base">
                                        <p:cTn id="38" dur="500" fill="hold"/>
                                        <p:tgtEl>
                                          <p:spTgt spid="5634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56349"/>
                                        </p:tgtEl>
                                        <p:attrNameLst>
                                          <p:attrName>style.visibility</p:attrName>
                                        </p:attrNameLst>
                                      </p:cBhvr>
                                      <p:to>
                                        <p:strVal val="visible"/>
                                      </p:to>
                                    </p:set>
                                    <p:anim calcmode="lin" valueType="num">
                                      <p:cBhvr additive="base">
                                        <p:cTn id="43" dur="500" fill="hold"/>
                                        <p:tgtEl>
                                          <p:spTgt spid="56349"/>
                                        </p:tgtEl>
                                        <p:attrNameLst>
                                          <p:attrName>ppt_x</p:attrName>
                                        </p:attrNameLst>
                                      </p:cBhvr>
                                      <p:tavLst>
                                        <p:tav tm="0">
                                          <p:val>
                                            <p:strVal val="0-#ppt_w/2"/>
                                          </p:val>
                                        </p:tav>
                                        <p:tav tm="100000">
                                          <p:val>
                                            <p:strVal val="#ppt_x"/>
                                          </p:val>
                                        </p:tav>
                                      </p:tavLst>
                                    </p:anim>
                                    <p:anim calcmode="lin" valueType="num">
                                      <p:cBhvr additive="base">
                                        <p:cTn id="44" dur="500" fill="hold"/>
                                        <p:tgtEl>
                                          <p:spTgt spid="56349"/>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6344"/>
                                        </p:tgtEl>
                                        <p:attrNameLst>
                                          <p:attrName>style.visibility</p:attrName>
                                        </p:attrNameLst>
                                      </p:cBhvr>
                                      <p:to>
                                        <p:strVal val="visible"/>
                                      </p:to>
                                    </p:set>
                                    <p:anim calcmode="lin" valueType="num">
                                      <p:cBhvr additive="base">
                                        <p:cTn id="49" dur="500" fill="hold"/>
                                        <p:tgtEl>
                                          <p:spTgt spid="56344"/>
                                        </p:tgtEl>
                                        <p:attrNameLst>
                                          <p:attrName>ppt_x</p:attrName>
                                        </p:attrNameLst>
                                      </p:cBhvr>
                                      <p:tavLst>
                                        <p:tav tm="0">
                                          <p:val>
                                            <p:strVal val="0-#ppt_w/2"/>
                                          </p:val>
                                        </p:tav>
                                        <p:tav tm="100000">
                                          <p:val>
                                            <p:strVal val="#ppt_x"/>
                                          </p:val>
                                        </p:tav>
                                      </p:tavLst>
                                    </p:anim>
                                    <p:anim calcmode="lin" valueType="num">
                                      <p:cBhvr additive="base">
                                        <p:cTn id="50" dur="500" fill="hold"/>
                                        <p:tgtEl>
                                          <p:spTgt spid="5634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6345"/>
                                        </p:tgtEl>
                                        <p:attrNameLst>
                                          <p:attrName>style.visibility</p:attrName>
                                        </p:attrNameLst>
                                      </p:cBhvr>
                                      <p:to>
                                        <p:strVal val="visible"/>
                                      </p:to>
                                    </p:set>
                                    <p:anim calcmode="lin" valueType="num">
                                      <p:cBhvr additive="base">
                                        <p:cTn id="55" dur="500" fill="hold"/>
                                        <p:tgtEl>
                                          <p:spTgt spid="56345"/>
                                        </p:tgtEl>
                                        <p:attrNameLst>
                                          <p:attrName>ppt_x</p:attrName>
                                        </p:attrNameLst>
                                      </p:cBhvr>
                                      <p:tavLst>
                                        <p:tav tm="0">
                                          <p:val>
                                            <p:strVal val="0-#ppt_w/2"/>
                                          </p:val>
                                        </p:tav>
                                        <p:tav tm="100000">
                                          <p:val>
                                            <p:strVal val="#ppt_x"/>
                                          </p:val>
                                        </p:tav>
                                      </p:tavLst>
                                    </p:anim>
                                    <p:anim calcmode="lin" valueType="num">
                                      <p:cBhvr additive="base">
                                        <p:cTn id="56" dur="500" fill="hold"/>
                                        <p:tgtEl>
                                          <p:spTgt spid="563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1" grpId="0"/>
      <p:bldP spid="56332" grpId="0"/>
      <p:bldP spid="56340" grpId="0"/>
      <p:bldP spid="56341" grpId="0"/>
      <p:bldP spid="56342" grpId="0"/>
      <p:bldP spid="56344" grpId="0"/>
      <p:bldP spid="56345" grpId="0"/>
      <p:bldP spid="5635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对象 2"/>
          <p:cNvGraphicFramePr/>
          <p:nvPr/>
        </p:nvGraphicFramePr>
        <p:xfrm>
          <a:off x="252095" y="1628775"/>
          <a:ext cx="7779385" cy="4864735"/>
        </p:xfrm>
        <a:graphic>
          <a:graphicData uri="http://schemas.openxmlformats.org/presentationml/2006/ole">
            <mc:AlternateContent xmlns:mc="http://schemas.openxmlformats.org/markup-compatibility/2006">
              <mc:Choice xmlns:v="urn:schemas-microsoft-com:vml" Requires="v">
                <p:oleObj spid="_x0000_s4" name="" r:id="rId1" imgW="8362950" imgH="4838700" progId="Paint.Picture">
                  <p:embed/>
                </p:oleObj>
              </mc:Choice>
              <mc:Fallback>
                <p:oleObj name="" r:id="rId1" imgW="8362950" imgH="4838700" progId="Paint.Picture">
                  <p:embed/>
                  <p:pic>
                    <p:nvPicPr>
                      <p:cNvPr id="0" name="图片 3"/>
                      <p:cNvPicPr/>
                      <p:nvPr/>
                    </p:nvPicPr>
                    <p:blipFill>
                      <a:blip r:embed="rId2">
                        <a:lum contrast="24000"/>
                      </a:blip>
                      <a:stretch>
                        <a:fillRect/>
                      </a:stretch>
                    </p:blipFill>
                    <p:spPr>
                      <a:xfrm>
                        <a:off x="252095" y="1628775"/>
                        <a:ext cx="7779385" cy="4864735"/>
                      </a:xfrm>
                      <a:prstGeom prst="rect">
                        <a:avLst/>
                      </a:prstGeom>
                    </p:spPr>
                  </p:pic>
                </p:oleObj>
              </mc:Fallback>
            </mc:AlternateContent>
          </a:graphicData>
        </a:graphic>
      </p:graphicFrame>
      <p:sp>
        <p:nvSpPr>
          <p:cNvPr id="5" name="文本框 4"/>
          <p:cNvSpPr txBox="1"/>
          <p:nvPr/>
        </p:nvSpPr>
        <p:spPr>
          <a:xfrm>
            <a:off x="360045" y="441325"/>
            <a:ext cx="6764020" cy="460375"/>
          </a:xfrm>
          <a:prstGeom prst="rect">
            <a:avLst/>
          </a:prstGeom>
          <a:solidFill>
            <a:schemeClr val="accent5">
              <a:lumMod val="40000"/>
              <a:lumOff val="60000"/>
            </a:schemeClr>
          </a:solidFill>
          <a:ln w="28575">
            <a:solidFill>
              <a:srgbClr val="B6BD40"/>
            </a:solidFill>
          </a:ln>
        </p:spPr>
        <p:txBody>
          <a:bodyPr wrap="square" rtlCol="0">
            <a:spAutoFit/>
          </a:bodyPr>
          <a:p>
            <a:pPr algn="l"/>
            <a:r>
              <a:rPr lang="en-US" altLang="zh-CN" b="1"/>
              <a:t>2</a:t>
            </a:r>
            <a:r>
              <a:rPr lang="zh-CN" altLang="en-US" b="1"/>
              <a:t>、减速器草图设计</a:t>
            </a:r>
            <a:r>
              <a:rPr lang="zh-CN" altLang="en-US" b="1"/>
              <a:t>的第二阶段</a:t>
            </a:r>
            <a:endParaRPr lang="zh-CN" altLang="en-US" b="1"/>
          </a:p>
        </p:txBody>
      </p:sp>
      <p:sp>
        <p:nvSpPr>
          <p:cNvPr id="2" name="文本框 1"/>
          <p:cNvSpPr txBox="1"/>
          <p:nvPr/>
        </p:nvSpPr>
        <p:spPr>
          <a:xfrm>
            <a:off x="252095" y="1052830"/>
            <a:ext cx="4937125" cy="460375"/>
          </a:xfrm>
          <a:prstGeom prst="rect">
            <a:avLst/>
          </a:prstGeom>
          <a:noFill/>
        </p:spPr>
        <p:txBody>
          <a:bodyPr wrap="square" rtlCol="0">
            <a:spAutoFit/>
          </a:bodyPr>
          <a:p>
            <a:r>
              <a:rPr lang="zh-CN" altLang="en-US">
                <a:latin typeface="黑体" panose="02010609060101010101" pitchFamily="49" charset="-122"/>
                <a:ea typeface="黑体" panose="02010609060101010101" pitchFamily="49" charset="-122"/>
              </a:rPr>
              <a:t>对各零件的结构进行</a:t>
            </a:r>
            <a:r>
              <a:rPr lang="zh-CN" altLang="en-US">
                <a:latin typeface="黑体" panose="02010609060101010101" pitchFamily="49" charset="-122"/>
                <a:ea typeface="黑体" panose="02010609060101010101" pitchFamily="49" charset="-122"/>
              </a:rPr>
              <a:t>详细设计</a:t>
            </a:r>
            <a:endParaRPr lang="zh-CN" altLang="en-US">
              <a:latin typeface="黑体" panose="02010609060101010101" pitchFamily="49" charset="-122"/>
              <a:ea typeface="黑体" panose="02010609060101010101" pitchFamily="49" charset="-122"/>
            </a:endParaRPr>
          </a:p>
        </p:txBody>
      </p:sp>
    </p:spTree>
    <p:custDataLst>
      <p:tags r:id="rId3"/>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251460" y="621030"/>
            <a:ext cx="7859395" cy="496824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rcRect l="2139" r="3104"/>
          <a:stretch>
            <a:fillRect/>
          </a:stretch>
        </p:blipFill>
        <p:spPr>
          <a:xfrm>
            <a:off x="31750" y="584835"/>
            <a:ext cx="9112250" cy="570738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直接连接符 72705"/>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72728" name="文本框 72727"/>
          <p:cNvSpPr txBox="1"/>
          <p:nvPr/>
        </p:nvSpPr>
        <p:spPr>
          <a:xfrm>
            <a:off x="107950" y="80963"/>
            <a:ext cx="9144000" cy="460375"/>
          </a:xfrm>
          <a:prstGeom prst="rect">
            <a:avLst/>
          </a:prstGeom>
          <a:noFill/>
          <a:ln w="9525">
            <a:noFill/>
          </a:ln>
        </p:spPr>
        <p:txBody>
          <a:bodyPr>
            <a:spAutoFit/>
          </a:bodyPr>
          <a:lstStyle/>
          <a:p>
            <a:pPr algn="l">
              <a:spcBef>
                <a:spcPct val="50000"/>
              </a:spcBef>
            </a:pPr>
            <a:r>
              <a:rPr lang="zh-CN" altLang="en-US" b="1" dirty="0">
                <a:solidFill>
                  <a:srgbClr val="FF3300"/>
                </a:solidFill>
                <a:latin typeface="楷体_GB2312" pitchFamily="49" charset="-122"/>
                <a:ea typeface="楷体_GB2312" pitchFamily="49" charset="-122"/>
              </a:rPr>
              <a:t>减速器结构尺寸的确定</a:t>
            </a:r>
            <a:r>
              <a:rPr lang="zh-CN" altLang="en-US" dirty="0">
                <a:latin typeface="Times New Roman" panose="02020603050405020304" pitchFamily="18" charset="0"/>
              </a:rPr>
              <a:t> </a:t>
            </a:r>
            <a:endParaRPr lang="zh-CN" altLang="en-US">
              <a:latin typeface="Times New Roman" panose="02020603050405020304" pitchFamily="18" charset="0"/>
            </a:endParaRPr>
          </a:p>
        </p:txBody>
      </p:sp>
      <p:sp>
        <p:nvSpPr>
          <p:cNvPr id="72729" name="文本框 72728"/>
          <p:cNvSpPr txBox="1"/>
          <p:nvPr/>
        </p:nvSpPr>
        <p:spPr>
          <a:xfrm>
            <a:off x="179705" y="836930"/>
            <a:ext cx="2553970" cy="3046095"/>
          </a:xfrm>
          <a:prstGeom prst="rect">
            <a:avLst/>
          </a:prstGeom>
          <a:noFill/>
          <a:ln w="9525">
            <a:noFill/>
          </a:ln>
        </p:spPr>
        <p:txBody>
          <a:bodyPr wrap="square">
            <a:spAutoFit/>
          </a:bodyPr>
          <a:lstStyle/>
          <a:p>
            <a:pPr algn="l">
              <a:lnSpc>
                <a:spcPct val="150000"/>
              </a:lnSpc>
              <a:spcBef>
                <a:spcPts val="0"/>
              </a:spcBef>
            </a:pPr>
            <a:r>
              <a:rPr lang="en-US" altLang="zh-CN" b="1" dirty="0">
                <a:solidFill>
                  <a:srgbClr val="000000"/>
                </a:solidFill>
                <a:latin typeface="Times New Roman" panose="02020603050405020304" pitchFamily="18" charset="0"/>
                <a:ea typeface="楷体_GB2312" pitchFamily="49" charset="-122"/>
              </a:rPr>
              <a:t>    </a:t>
            </a:r>
            <a:r>
              <a:rPr lang="zh-CN" altLang="en-US" sz="2000" b="1" dirty="0">
                <a:solidFill>
                  <a:srgbClr val="000000"/>
                </a:solidFill>
                <a:latin typeface="Times New Roman" panose="02020603050405020304" pitchFamily="18" charset="0"/>
                <a:ea typeface="楷体_GB2312" pitchFamily="49" charset="-122"/>
              </a:rPr>
              <a:t>绘制减速器装配图前，必须确定减速器的基本机体结构尺寸，计算</a:t>
            </a:r>
            <a:r>
              <a:rPr lang="zh-CN" altLang="en-US" sz="2000" b="1" dirty="0" smtClean="0">
                <a:solidFill>
                  <a:srgbClr val="000000"/>
                </a:solidFill>
                <a:latin typeface="Times New Roman" panose="02020603050405020304" pitchFamily="18" charset="0"/>
                <a:ea typeface="楷体_GB2312" pitchFamily="49" charset="-122"/>
              </a:rPr>
              <a:t>出</a:t>
            </a:r>
            <a:r>
              <a:rPr lang="zh-CN" altLang="en-US" sz="2000" b="1" dirty="0" smtClean="0">
                <a:solidFill>
                  <a:srgbClr val="FF0000"/>
                </a:solidFill>
                <a:latin typeface="Times New Roman" panose="02020603050405020304" pitchFamily="18" charset="0"/>
                <a:ea typeface="楷体_GB2312" pitchFamily="49" charset="-122"/>
              </a:rPr>
              <a:t>手册</a:t>
            </a:r>
            <a:r>
              <a:rPr lang="zh-CN" altLang="en-US" sz="2000" b="1" dirty="0" smtClean="0">
                <a:solidFill>
                  <a:srgbClr val="A02904"/>
                </a:solidFill>
                <a:latin typeface="Times New Roman" panose="02020603050405020304" pitchFamily="18" charset="0"/>
                <a:ea typeface="楷体_GB2312" pitchFamily="49" charset="-122"/>
              </a:rPr>
              <a:t>表</a:t>
            </a:r>
            <a:r>
              <a:rPr lang="en-US" altLang="zh-CN" sz="2000" b="1" dirty="0" smtClean="0">
                <a:solidFill>
                  <a:srgbClr val="A02904"/>
                </a:solidFill>
                <a:latin typeface="Times New Roman" panose="02020603050405020304" pitchFamily="18" charset="0"/>
                <a:ea typeface="楷体_GB2312" pitchFamily="49" charset="-122"/>
              </a:rPr>
              <a:t>11-1</a:t>
            </a:r>
            <a:r>
              <a:rPr lang="zh-CN" altLang="en-US" sz="2000" b="1" dirty="0">
                <a:solidFill>
                  <a:srgbClr val="000000"/>
                </a:solidFill>
                <a:latin typeface="Times New Roman" panose="02020603050405020304" pitchFamily="18" charset="0"/>
                <a:ea typeface="楷体_GB2312" pitchFamily="49" charset="-122"/>
              </a:rPr>
              <a:t>的所有尺寸，并理解其含义。</a:t>
            </a:r>
            <a:r>
              <a:rPr lang="zh-CN" altLang="en-US" b="1" dirty="0">
                <a:solidFill>
                  <a:srgbClr val="000000"/>
                </a:solidFill>
                <a:latin typeface="Times New Roman" panose="02020603050405020304" pitchFamily="18" charset="0"/>
                <a:ea typeface="楷体_GB2312" pitchFamily="49" charset="-122"/>
              </a:rPr>
              <a:t> </a:t>
            </a:r>
            <a:endParaRPr lang="zh-CN" altLang="en-US" b="1" dirty="0">
              <a:solidFill>
                <a:srgbClr val="000000"/>
              </a:solidFill>
              <a:latin typeface="Times New Roman" panose="02020603050405020304" pitchFamily="18" charset="0"/>
              <a:ea typeface="楷体_GB2312" pitchFamily="49" charset="-122"/>
            </a:endParaRPr>
          </a:p>
        </p:txBody>
      </p:sp>
      <p:grpSp>
        <p:nvGrpSpPr>
          <p:cNvPr id="72732" name="组合 72731"/>
          <p:cNvGrpSpPr/>
          <p:nvPr/>
        </p:nvGrpSpPr>
        <p:grpSpPr>
          <a:xfrm>
            <a:off x="8115300" y="6515100"/>
            <a:ext cx="1028700" cy="342900"/>
            <a:chOff x="5112" y="4104"/>
            <a:chExt cx="648" cy="216"/>
          </a:xfrm>
        </p:grpSpPr>
        <p:pic>
          <p:nvPicPr>
            <p:cNvPr id="72733" name="图片 72732"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72734" name="组合 72733"/>
            <p:cNvGrpSpPr/>
            <p:nvPr/>
          </p:nvGrpSpPr>
          <p:grpSpPr>
            <a:xfrm>
              <a:off x="5352" y="4104"/>
              <a:ext cx="408" cy="216"/>
              <a:chOff x="5232" y="4100"/>
              <a:chExt cx="408" cy="216"/>
            </a:xfrm>
          </p:grpSpPr>
          <p:pic>
            <p:nvPicPr>
              <p:cNvPr id="72735" name="图片 72734"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72736" name="图片 72735"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pic>
        <p:nvPicPr>
          <p:cNvPr id="2" name="图片 1" descr="401"/>
          <p:cNvPicPr>
            <a:picLocks noChangeAspect="1"/>
          </p:cNvPicPr>
          <p:nvPr>
            <p:custDataLst>
              <p:tags r:id="rId5"/>
            </p:custDataLst>
          </p:nvPr>
        </p:nvPicPr>
        <p:blipFill>
          <a:blip r:embed="rId6"/>
          <a:srcRect b="2347"/>
          <a:stretch>
            <a:fillRect/>
          </a:stretch>
        </p:blipFill>
        <p:spPr>
          <a:xfrm>
            <a:off x="2771775" y="1124585"/>
            <a:ext cx="6242050" cy="5275263"/>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729"/>
                                        </p:tgtEl>
                                        <p:attrNameLst>
                                          <p:attrName>style.visibility</p:attrName>
                                        </p:attrNameLst>
                                      </p:cBhvr>
                                      <p:to>
                                        <p:strVal val="visible"/>
                                      </p:to>
                                    </p:set>
                                    <p:anim calcmode="lin" valueType="num">
                                      <p:cBhvr additive="base">
                                        <p:cTn id="7" dur="500" fill="hold"/>
                                        <p:tgtEl>
                                          <p:spTgt spid="72729"/>
                                        </p:tgtEl>
                                        <p:attrNameLst>
                                          <p:attrName>ppt_x</p:attrName>
                                        </p:attrNameLst>
                                      </p:cBhvr>
                                      <p:tavLst>
                                        <p:tav tm="0">
                                          <p:val>
                                            <p:strVal val="0-#ppt_w/2"/>
                                          </p:val>
                                        </p:tav>
                                        <p:tav tm="100000">
                                          <p:val>
                                            <p:strVal val="#ppt_x"/>
                                          </p:val>
                                        </p:tav>
                                      </p:tavLst>
                                    </p:anim>
                                    <p:anim calcmode="lin" valueType="num">
                                      <p:cBhvr additive="base">
                                        <p:cTn id="8" dur="500" fill="hold"/>
                                        <p:tgtEl>
                                          <p:spTgt spid="727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2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直接连接符 5"/>
          <p:cNvSpPr/>
          <p:nvPr/>
        </p:nvSpPr>
        <p:spPr>
          <a:xfrm>
            <a:off x="0" y="1484784"/>
            <a:ext cx="9144000" cy="0"/>
          </a:xfrm>
          <a:prstGeom prst="line">
            <a:avLst/>
          </a:prstGeom>
          <a:ln w="57150" cap="flat" cmpd="thickThin">
            <a:solidFill>
              <a:srgbClr val="C00000"/>
            </a:solidFill>
            <a:prstDash val="solid"/>
            <a:headEnd type="none" w="med" len="med"/>
            <a:tailEnd type="none" w="med" len="med"/>
          </a:ln>
        </p:spPr>
      </p:sp>
      <p:sp>
        <p:nvSpPr>
          <p:cNvPr id="8" name="文本框 7"/>
          <p:cNvSpPr txBox="1"/>
          <p:nvPr/>
        </p:nvSpPr>
        <p:spPr>
          <a:xfrm>
            <a:off x="1007745" y="5445125"/>
            <a:ext cx="6285865" cy="521970"/>
          </a:xfrm>
          <a:prstGeom prst="rect">
            <a:avLst/>
          </a:prstGeom>
          <a:noFill/>
        </p:spPr>
        <p:txBody>
          <a:bodyPr wrap="square" rtlCol="0">
            <a:spAutoFit/>
          </a:bodyPr>
          <a:lstStyle/>
          <a:p>
            <a:r>
              <a:rPr lang="zh-CN" altLang="en-US" sz="2800" dirty="0" smtClean="0">
                <a:solidFill>
                  <a:srgbClr val="C00000"/>
                </a:solidFill>
                <a:latin typeface="黑体" panose="02010609060101010101" pitchFamily="49" charset="-122"/>
                <a:ea typeface="黑体" panose="02010609060101010101" pitchFamily="49" charset="-122"/>
              </a:rPr>
              <a:t>主视图及左视图结构设计问题讲解</a:t>
            </a:r>
            <a:endParaRPr lang="zh-CN" altLang="en-US" sz="2800" dirty="0" smtClean="0">
              <a:solidFill>
                <a:srgbClr val="C00000"/>
              </a:solidFill>
              <a:latin typeface="黑体" panose="02010609060101010101" pitchFamily="49" charset="-122"/>
              <a:ea typeface="黑体" panose="02010609060101010101" pitchFamily="49" charset="-122"/>
            </a:endParaRPr>
          </a:p>
        </p:txBody>
      </p:sp>
      <p:sp>
        <p:nvSpPr>
          <p:cNvPr id="2" name="文本框 1"/>
          <p:cNvSpPr txBox="1"/>
          <p:nvPr/>
        </p:nvSpPr>
        <p:spPr>
          <a:xfrm>
            <a:off x="180340" y="873125"/>
            <a:ext cx="6631305" cy="521970"/>
          </a:xfrm>
          <a:prstGeom prst="rect">
            <a:avLst/>
          </a:prstGeom>
          <a:noFill/>
        </p:spPr>
        <p:txBody>
          <a:bodyPr wrap="square" rtlCol="0">
            <a:spAutoFit/>
          </a:bodyPr>
          <a:p>
            <a:pPr algn="l"/>
            <a:r>
              <a:rPr lang="en-US" altLang="zh-CN" sz="2800">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3</a:t>
            </a:r>
            <a:r>
              <a:rPr lang="zh-CN" altLang="en-US" sz="2800">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、减速器草图</a:t>
            </a:r>
            <a:r>
              <a:rPr lang="zh-CN" altLang="en-US" sz="2800">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设计的第三阶段</a:t>
            </a:r>
            <a:endParaRPr lang="zh-CN" altLang="en-US" sz="2800">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p:txBody>
      </p:sp>
      <p:sp>
        <p:nvSpPr>
          <p:cNvPr id="4" name="文本框 3"/>
          <p:cNvSpPr txBox="1"/>
          <p:nvPr/>
        </p:nvSpPr>
        <p:spPr>
          <a:xfrm>
            <a:off x="755650" y="1845310"/>
            <a:ext cx="7560310" cy="3415030"/>
          </a:xfrm>
          <a:prstGeom prst="rect">
            <a:avLst/>
          </a:prstGeom>
          <a:noFill/>
        </p:spPr>
        <p:txBody>
          <a:bodyPr wrap="square" rtlCol="0">
            <a:spAutoFit/>
          </a:bodyPr>
          <a:p>
            <a:pPr marL="457200" indent="-457200" algn="l">
              <a:lnSpc>
                <a:spcPct val="150000"/>
              </a:lnSpc>
              <a:buFont typeface="+mj-ea"/>
              <a:buAutoNum type="circleNumDbPlain"/>
            </a:pPr>
            <a:r>
              <a:rPr lang="zh-CN" altLang="en-US">
                <a:latin typeface="黑体" panose="02010609060101010101" pitchFamily="49" charset="-122"/>
                <a:ea typeface="黑体" panose="02010609060101010101" pitchFamily="49" charset="-122"/>
              </a:rPr>
              <a:t>机体形状、尺寸确定</a:t>
            </a:r>
            <a:endParaRPr lang="zh-CN" altLang="en-US">
              <a:latin typeface="黑体" panose="02010609060101010101" pitchFamily="49" charset="-122"/>
              <a:ea typeface="黑体" panose="02010609060101010101" pitchFamily="49" charset="-122"/>
            </a:endParaRPr>
          </a:p>
          <a:p>
            <a:pPr marL="457200" indent="-457200" algn="l">
              <a:lnSpc>
                <a:spcPct val="150000"/>
              </a:lnSpc>
              <a:buFont typeface="+mj-ea"/>
              <a:buAutoNum type="circleNumDbPlain"/>
            </a:pPr>
            <a:r>
              <a:rPr lang="zh-CN" altLang="en-US">
                <a:latin typeface="黑体" panose="02010609060101010101" pitchFamily="49" charset="-122"/>
                <a:ea typeface="黑体" panose="02010609060101010101" pitchFamily="49" charset="-122"/>
              </a:rPr>
              <a:t>轴承旁凸台结构尺寸</a:t>
            </a:r>
            <a:endParaRPr lang="zh-CN" altLang="en-US">
              <a:latin typeface="黑体" panose="02010609060101010101" pitchFamily="49" charset="-122"/>
              <a:ea typeface="黑体" panose="02010609060101010101" pitchFamily="49" charset="-122"/>
            </a:endParaRPr>
          </a:p>
          <a:p>
            <a:pPr marL="457200" indent="-457200" algn="l">
              <a:lnSpc>
                <a:spcPct val="150000"/>
              </a:lnSpc>
              <a:buFont typeface="+mj-ea"/>
              <a:buAutoNum type="circleNumDbPlain"/>
            </a:pPr>
            <a:r>
              <a:rPr lang="zh-CN" altLang="en-US">
                <a:latin typeface="黑体" panose="02010609060101010101" pitchFamily="49" charset="-122"/>
                <a:ea typeface="黑体" panose="02010609060101010101" pitchFamily="49" charset="-122"/>
              </a:rPr>
              <a:t>加强筋</a:t>
            </a:r>
            <a:endParaRPr lang="zh-CN" altLang="en-US">
              <a:latin typeface="黑体" panose="02010609060101010101" pitchFamily="49" charset="-122"/>
              <a:ea typeface="黑体" panose="02010609060101010101" pitchFamily="49" charset="-122"/>
            </a:endParaRPr>
          </a:p>
          <a:p>
            <a:pPr marL="457200" indent="-457200" algn="l">
              <a:lnSpc>
                <a:spcPct val="150000"/>
              </a:lnSpc>
              <a:buFont typeface="+mj-ea"/>
              <a:buAutoNum type="circleNumDbPlain"/>
            </a:pPr>
            <a:r>
              <a:rPr lang="zh-CN" altLang="en-US">
                <a:latin typeface="黑体" panose="02010609060101010101" pitchFamily="49" charset="-122"/>
                <a:ea typeface="黑体" panose="02010609060101010101" pitchFamily="49" charset="-122"/>
              </a:rPr>
              <a:t>机体工艺结构（沉头座、凸台、铸造圆角等）</a:t>
            </a:r>
            <a:endParaRPr lang="zh-CN" altLang="en-US">
              <a:latin typeface="黑体" panose="02010609060101010101" pitchFamily="49" charset="-122"/>
              <a:ea typeface="黑体" panose="02010609060101010101" pitchFamily="49" charset="-122"/>
            </a:endParaRPr>
          </a:p>
          <a:p>
            <a:pPr marL="457200" indent="-457200" algn="l">
              <a:lnSpc>
                <a:spcPct val="150000"/>
              </a:lnSpc>
              <a:buFont typeface="+mj-ea"/>
              <a:buAutoNum type="circleNumDbPlain"/>
            </a:pPr>
            <a:r>
              <a:rPr lang="zh-CN" altLang="en-US">
                <a:latin typeface="黑体" panose="02010609060101010101" pitchFamily="49" charset="-122"/>
                <a:ea typeface="黑体" panose="02010609060101010101" pitchFamily="49" charset="-122"/>
              </a:rPr>
              <a:t>连接螺栓、螺钉的尺寸、位置</a:t>
            </a:r>
            <a:endParaRPr lang="zh-CN" altLang="en-US">
              <a:latin typeface="黑体" panose="02010609060101010101" pitchFamily="49" charset="-122"/>
              <a:ea typeface="黑体" panose="02010609060101010101" pitchFamily="49" charset="-122"/>
            </a:endParaRPr>
          </a:p>
          <a:p>
            <a:pPr marL="457200" indent="-457200" algn="l">
              <a:lnSpc>
                <a:spcPct val="150000"/>
              </a:lnSpc>
              <a:buFont typeface="+mj-ea"/>
              <a:buAutoNum type="circleNumDbPlain"/>
            </a:pPr>
            <a:r>
              <a:rPr lang="zh-CN" altLang="en-US">
                <a:latin typeface="黑体" panose="02010609060101010101" pitchFamily="49" charset="-122"/>
                <a:ea typeface="黑体" panose="02010609060101010101" pitchFamily="49" charset="-122"/>
              </a:rPr>
              <a:t>地脚座凸缘、机座、机盖连接凸缘的厚度及宽度</a:t>
            </a:r>
            <a:endParaRPr lang="zh-CN" altLang="en-US">
              <a:latin typeface="黑体" panose="02010609060101010101" pitchFamily="49" charset="-122"/>
              <a:ea typeface="黑体" panose="02010609060101010101" pitchFamily="49" charset="-122"/>
            </a:endParaRPr>
          </a:p>
        </p:txBody>
      </p:sp>
      <p:sp>
        <p:nvSpPr>
          <p:cNvPr id="3" name="文本框 2"/>
          <p:cNvSpPr txBox="1"/>
          <p:nvPr/>
        </p:nvSpPr>
        <p:spPr>
          <a:xfrm>
            <a:off x="5327650" y="1809115"/>
            <a:ext cx="3013075" cy="460375"/>
          </a:xfrm>
          <a:prstGeom prst="rect">
            <a:avLst/>
          </a:prstGeom>
          <a:noFill/>
        </p:spPr>
        <p:txBody>
          <a:bodyPr wrap="square" rtlCol="0">
            <a:spAutoFit/>
          </a:bodyPr>
          <a:p>
            <a:r>
              <a:rPr lang="zh-CN" altLang="en-US">
                <a:solidFill>
                  <a:srgbClr val="C00000"/>
                </a:solidFill>
              </a:rPr>
              <a:t>参见教材</a:t>
            </a:r>
            <a:r>
              <a:rPr lang="en-US" altLang="zh-CN">
                <a:solidFill>
                  <a:srgbClr val="C00000"/>
                </a:solidFill>
              </a:rPr>
              <a:t>P331-340</a:t>
            </a:r>
            <a:endParaRPr lang="en-US" altLang="zh-CN">
              <a:solidFill>
                <a:srgbClr val="C0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17125" b="4410"/>
          <a:stretch>
            <a:fillRect/>
          </a:stretch>
        </p:blipFill>
        <p:spPr>
          <a:xfrm>
            <a:off x="612140" y="1053465"/>
            <a:ext cx="7943215" cy="467487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直接连接符 3"/>
          <p:cNvSpPr/>
          <p:nvPr/>
        </p:nvSpPr>
        <p:spPr>
          <a:xfrm>
            <a:off x="0" y="692696"/>
            <a:ext cx="9144000" cy="0"/>
          </a:xfrm>
          <a:prstGeom prst="line">
            <a:avLst/>
          </a:prstGeom>
          <a:ln w="57150" cap="flat" cmpd="thickThin">
            <a:solidFill>
              <a:srgbClr val="C00000"/>
            </a:solidFill>
            <a:prstDash val="solid"/>
            <a:headEnd type="none" w="med" len="med"/>
            <a:tailEnd type="none" w="med" len="med"/>
          </a:ln>
        </p:spPr>
      </p:sp>
      <p:sp>
        <p:nvSpPr>
          <p:cNvPr id="5" name="文本框 4"/>
          <p:cNvSpPr txBox="1"/>
          <p:nvPr/>
        </p:nvSpPr>
        <p:spPr>
          <a:xfrm>
            <a:off x="72089" y="152817"/>
            <a:ext cx="9144000" cy="460375"/>
          </a:xfrm>
          <a:prstGeom prst="rect">
            <a:avLst/>
          </a:prstGeom>
          <a:noFill/>
          <a:ln w="9525">
            <a:noFill/>
          </a:ln>
        </p:spPr>
        <p:txBody>
          <a:bodyPr>
            <a:spAutoFit/>
          </a:bodyPr>
          <a:lstStyle/>
          <a:p>
            <a:pPr algn="l">
              <a:spcBef>
                <a:spcPct val="50000"/>
              </a:spcBef>
            </a:pPr>
            <a:r>
              <a:rPr lang="en-US" altLang="zh-CN" b="1" dirty="0">
                <a:solidFill>
                  <a:srgbClr val="FF3300"/>
                </a:solidFill>
                <a:latin typeface="楷体_GB2312" pitchFamily="49" charset="-122"/>
                <a:ea typeface="楷体_GB2312" pitchFamily="49" charset="-122"/>
              </a:rPr>
              <a:t>1</a:t>
            </a:r>
            <a:r>
              <a:rPr lang="zh-CN" altLang="en-US" b="1" dirty="0" smtClean="0">
                <a:solidFill>
                  <a:srgbClr val="FF3300"/>
                </a:solidFill>
                <a:latin typeface="楷体_GB2312" pitchFamily="49" charset="-122"/>
                <a:ea typeface="楷体_GB2312" pitchFamily="49" charset="-122"/>
              </a:rPr>
              <a:t>、主视图绘制</a:t>
            </a:r>
            <a:endParaRPr lang="zh-CN" altLang="en-US" b="1" dirty="0">
              <a:solidFill>
                <a:srgbClr val="FF3300"/>
              </a:solidFill>
              <a:latin typeface="楷体_GB2312" pitchFamily="49" charset="-122"/>
              <a:ea typeface="楷体_GB2312" pitchFamily="49" charset="-122"/>
            </a:endParaRPr>
          </a:p>
        </p:txBody>
      </p:sp>
      <p:pic>
        <p:nvPicPr>
          <p:cNvPr id="6" name="图片 5"/>
          <p:cNvPicPr>
            <a:picLocks noChangeAspect="1"/>
          </p:cNvPicPr>
          <p:nvPr>
            <p:custDataLst>
              <p:tags r:id="rId1"/>
            </p:custDataLst>
          </p:nvPr>
        </p:nvPicPr>
        <p:blipFill rotWithShape="1">
          <a:blip r:embed="rId2">
            <a:lum contrast="30000"/>
          </a:blip>
          <a:srcRect l="869" t="15910" r="435" b="5356"/>
          <a:stretch>
            <a:fillRect/>
          </a:stretch>
        </p:blipFill>
        <p:spPr>
          <a:xfrm>
            <a:off x="72390" y="1089025"/>
            <a:ext cx="9024620" cy="5399757"/>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899845" y="3500636"/>
            <a:ext cx="7272808" cy="72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2267997" y="2204492"/>
            <a:ext cx="0" cy="3096344"/>
          </a:xfrm>
          <a:prstGeom prst="line">
            <a:avLst/>
          </a:prstGeom>
          <a:ln w="19050">
            <a:solidFill>
              <a:srgbClr val="FF3300"/>
            </a:solidFill>
            <a:prstDash val="lgDashDot"/>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996189" y="2204492"/>
            <a:ext cx="0" cy="2952328"/>
          </a:xfrm>
          <a:prstGeom prst="line">
            <a:avLst/>
          </a:prstGeom>
          <a:ln w="19050">
            <a:solidFill>
              <a:srgbClr val="FF3300"/>
            </a:solidFill>
            <a:prstDash val="lgDashDot"/>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300445" y="1772444"/>
            <a:ext cx="0" cy="3600400"/>
          </a:xfrm>
          <a:prstGeom prst="line">
            <a:avLst/>
          </a:prstGeom>
          <a:ln w="19050">
            <a:solidFill>
              <a:srgbClr val="FF3300"/>
            </a:solidFill>
            <a:prstDash val="lgDashDot"/>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4860285" y="2132484"/>
            <a:ext cx="2897263" cy="2736304"/>
          </a:xfrm>
          <a:prstGeom prst="ellipse">
            <a:avLst/>
          </a:prstGeom>
          <a:noFill/>
          <a:ln>
            <a:solidFill>
              <a:srgbClr val="0000FF"/>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916069" y="2420516"/>
            <a:ext cx="2304256" cy="2304256"/>
          </a:xfrm>
          <a:prstGeom prst="ellipse">
            <a:avLst/>
          </a:prstGeom>
          <a:noFill/>
          <a:ln>
            <a:solidFill>
              <a:srgbClr val="FF0000"/>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691933" y="2924572"/>
            <a:ext cx="1224136" cy="1224136"/>
          </a:xfrm>
          <a:prstGeom prst="ellipse">
            <a:avLst/>
          </a:prstGeom>
          <a:noFill/>
          <a:ln>
            <a:solidFill>
              <a:srgbClr val="FF0000"/>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276109" y="2708548"/>
            <a:ext cx="1584176" cy="1656184"/>
          </a:xfrm>
          <a:prstGeom prst="ellipse">
            <a:avLst/>
          </a:prstGeom>
          <a:noFill/>
          <a:ln>
            <a:solidFill>
              <a:srgbClr val="0000FF"/>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716269" y="1988468"/>
            <a:ext cx="3168352" cy="3024336"/>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772053" y="2276500"/>
            <a:ext cx="2592288" cy="25922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547917" y="2780556"/>
            <a:ext cx="1512168" cy="151216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95605" y="764540"/>
            <a:ext cx="6509385" cy="460375"/>
          </a:xfrm>
          <a:prstGeom prst="rect">
            <a:avLst/>
          </a:prstGeom>
          <a:noFill/>
        </p:spPr>
        <p:txBody>
          <a:bodyPr wrap="square" rtlCol="0">
            <a:spAutoFit/>
          </a:bodyPr>
          <a:p>
            <a:pPr algn="l"/>
            <a:r>
              <a:rPr lang="en-US" altLang="zh-CN">
                <a:latin typeface="黑体" panose="02010609060101010101" pitchFamily="49" charset="-122"/>
                <a:ea typeface="黑体" panose="02010609060101010101" pitchFamily="49" charset="-122"/>
                <a:cs typeface="黑体" panose="02010609060101010101" pitchFamily="49" charset="-122"/>
              </a:rPr>
              <a:t>1</a:t>
            </a:r>
            <a:r>
              <a:rPr lang="zh-CN" altLang="en-US">
                <a:latin typeface="黑体" panose="02010609060101010101" pitchFamily="49" charset="-122"/>
                <a:ea typeface="黑体" panose="02010609060101010101" pitchFamily="49" charset="-122"/>
                <a:cs typeface="黑体" panose="02010609060101010101" pitchFamily="49" charset="-122"/>
              </a:rPr>
              <a:t>）画出高速级、低速级齿轮的主视图</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899845" y="3500636"/>
            <a:ext cx="7272808" cy="72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2267997" y="2204492"/>
            <a:ext cx="0" cy="3096344"/>
          </a:xfrm>
          <a:prstGeom prst="line">
            <a:avLst/>
          </a:prstGeom>
          <a:ln w="19050">
            <a:solidFill>
              <a:srgbClr val="FF3300"/>
            </a:solidFill>
            <a:prstDash val="lgDashDot"/>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996189" y="2204492"/>
            <a:ext cx="0" cy="2952328"/>
          </a:xfrm>
          <a:prstGeom prst="line">
            <a:avLst/>
          </a:prstGeom>
          <a:ln w="19050">
            <a:solidFill>
              <a:srgbClr val="FF3300"/>
            </a:solidFill>
            <a:prstDash val="lgDashDot"/>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300445" y="1772444"/>
            <a:ext cx="0" cy="3600400"/>
          </a:xfrm>
          <a:prstGeom prst="line">
            <a:avLst/>
          </a:prstGeom>
          <a:ln w="19050">
            <a:solidFill>
              <a:srgbClr val="FF3300"/>
            </a:solidFill>
            <a:prstDash val="lgDashDot"/>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4860285" y="2132484"/>
            <a:ext cx="2897263" cy="2736304"/>
          </a:xfrm>
          <a:prstGeom prst="ellipse">
            <a:avLst/>
          </a:prstGeom>
          <a:noFill/>
          <a:ln>
            <a:solidFill>
              <a:srgbClr val="0000FF"/>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916069" y="2420516"/>
            <a:ext cx="2304256" cy="2304256"/>
          </a:xfrm>
          <a:prstGeom prst="ellipse">
            <a:avLst/>
          </a:prstGeom>
          <a:noFill/>
          <a:ln>
            <a:solidFill>
              <a:srgbClr val="FF0000"/>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691933" y="2924572"/>
            <a:ext cx="1224136" cy="1224136"/>
          </a:xfrm>
          <a:prstGeom prst="ellipse">
            <a:avLst/>
          </a:prstGeom>
          <a:noFill/>
          <a:ln>
            <a:solidFill>
              <a:srgbClr val="FF0000"/>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276109" y="2708548"/>
            <a:ext cx="1584176" cy="1656184"/>
          </a:xfrm>
          <a:prstGeom prst="ellipse">
            <a:avLst/>
          </a:prstGeom>
          <a:noFill/>
          <a:ln>
            <a:solidFill>
              <a:srgbClr val="0000FF"/>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716269" y="1988468"/>
            <a:ext cx="3168352" cy="3024336"/>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772053" y="2276500"/>
            <a:ext cx="2592288" cy="25922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547917" y="2780556"/>
            <a:ext cx="1512168" cy="151216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95605" y="764540"/>
            <a:ext cx="7361555" cy="460375"/>
          </a:xfrm>
          <a:prstGeom prst="rect">
            <a:avLst/>
          </a:prstGeom>
          <a:noFill/>
        </p:spPr>
        <p:txBody>
          <a:bodyPr wrap="square" rtlCol="0">
            <a:spAutoFit/>
          </a:bodyPr>
          <a:p>
            <a:pPr algn="l"/>
            <a:r>
              <a:rPr lang="en-US" altLang="zh-CN">
                <a:latin typeface="黑体" panose="02010609060101010101" pitchFamily="49" charset="-122"/>
                <a:ea typeface="黑体" panose="02010609060101010101" pitchFamily="49" charset="-122"/>
                <a:cs typeface="黑体" panose="02010609060101010101" pitchFamily="49" charset="-122"/>
              </a:rPr>
              <a:t>2</a:t>
            </a:r>
            <a:r>
              <a:rPr lang="zh-CN" altLang="en-US">
                <a:latin typeface="黑体" panose="02010609060101010101" pitchFamily="49" charset="-122"/>
                <a:ea typeface="黑体" panose="02010609060101010101" pitchFamily="49" charset="-122"/>
                <a:cs typeface="黑体" panose="02010609060101010101" pitchFamily="49" charset="-122"/>
              </a:rPr>
              <a:t>）</a:t>
            </a:r>
            <a:r>
              <a:rPr lang="zh-CN" altLang="en-US">
                <a:latin typeface="黑体" panose="02010609060101010101" pitchFamily="49" charset="-122"/>
                <a:ea typeface="黑体" panose="02010609060101010101" pitchFamily="49" charset="-122"/>
                <a:cs typeface="黑体" panose="02010609060101010101" pitchFamily="49" charset="-122"/>
              </a:rPr>
              <a:t>画出减速箱箱体的主视图（右侧及底面的投影）</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cxnSp>
        <p:nvCxnSpPr>
          <p:cNvPr id="6" name="直接连接符 5"/>
          <p:cNvCxnSpPr/>
          <p:nvPr/>
        </p:nvCxnSpPr>
        <p:spPr>
          <a:xfrm flipH="1">
            <a:off x="1283335" y="5732780"/>
            <a:ext cx="67214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8023225" y="3478530"/>
            <a:ext cx="0" cy="22586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6299835" y="5012690"/>
            <a:ext cx="635" cy="720090"/>
          </a:xfrm>
          <a:prstGeom prst="straightConnector1">
            <a:avLst/>
          </a:prstGeom>
          <a:ln w="28575">
            <a:solidFill>
              <a:srgbClr val="FF33CC"/>
            </a:solidFill>
            <a:headEnd type="triangle" w="sm" len="lg"/>
            <a:tailEnd type="triangle" w="sm" len="lg"/>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3406775" y="5203825"/>
            <a:ext cx="2912745" cy="337185"/>
          </a:xfrm>
          <a:prstGeom prst="rect">
            <a:avLst/>
          </a:prstGeom>
          <a:noFill/>
        </p:spPr>
        <p:txBody>
          <a:bodyPr wrap="square" rtlCol="0">
            <a:spAutoFit/>
          </a:bodyPr>
          <a:p>
            <a:r>
              <a:rPr lang="en-US" altLang="zh-CN" sz="1600" b="1"/>
              <a:t>b</a:t>
            </a:r>
            <a:r>
              <a:rPr lang="en-US" altLang="zh-CN" sz="1600" b="1" baseline="-25000"/>
              <a:t>0</a:t>
            </a:r>
            <a:r>
              <a:rPr lang="zh-CN" altLang="en-US" sz="1600" b="1"/>
              <a:t>大于</a:t>
            </a:r>
            <a:r>
              <a:rPr lang="en-US" altLang="zh-CN" sz="1600" b="1"/>
              <a:t>8</a:t>
            </a:r>
            <a:r>
              <a:rPr lang="en-US" altLang="zh-CN" sz="1600" b="1" i="1"/>
              <a:t>m</a:t>
            </a:r>
            <a:r>
              <a:rPr lang="zh-CN" altLang="en-US" sz="1600" b="1"/>
              <a:t>，</a:t>
            </a:r>
            <a:r>
              <a:rPr lang="en-US" altLang="zh-CN" sz="1600" b="1"/>
              <a:t>&gt;30~50mm</a:t>
            </a:r>
            <a:endParaRPr lang="en-US" altLang="zh-CN" sz="16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370205" y="1268730"/>
            <a:ext cx="8404225" cy="5217795"/>
          </a:xfrm>
          <a:prstGeom prst="rect">
            <a:avLst/>
          </a:prstGeom>
        </p:spPr>
      </p:pic>
      <p:sp>
        <p:nvSpPr>
          <p:cNvPr id="4" name="文本框 3"/>
          <p:cNvSpPr txBox="1"/>
          <p:nvPr/>
        </p:nvSpPr>
        <p:spPr>
          <a:xfrm>
            <a:off x="6048375" y="836930"/>
            <a:ext cx="2246630" cy="398780"/>
          </a:xfrm>
          <a:prstGeom prst="rect">
            <a:avLst/>
          </a:prstGeom>
          <a:noFill/>
        </p:spPr>
        <p:txBody>
          <a:bodyPr wrap="square" rtlCol="0">
            <a:spAutoFit/>
          </a:bodyPr>
          <a:p>
            <a:r>
              <a:rPr lang="zh-CN" altLang="en-US" sz="2000">
                <a:latin typeface="黑体" panose="02010609060101010101" pitchFamily="49" charset="-122"/>
                <a:ea typeface="黑体" panose="02010609060101010101" pitchFamily="49" charset="-122"/>
              </a:rPr>
              <a:t>输出轴轴承端盖</a:t>
            </a:r>
            <a:endParaRPr lang="zh-CN" altLang="en-US" sz="2000">
              <a:latin typeface="黑体" panose="02010609060101010101" pitchFamily="49" charset="-122"/>
              <a:ea typeface="黑体" panose="02010609060101010101" pitchFamily="49" charset="-122"/>
            </a:endParaRPr>
          </a:p>
        </p:txBody>
      </p:sp>
      <p:cxnSp>
        <p:nvCxnSpPr>
          <p:cNvPr id="5" name="直接箭头连接符 4"/>
          <p:cNvCxnSpPr/>
          <p:nvPr/>
        </p:nvCxnSpPr>
        <p:spPr>
          <a:xfrm flipV="1">
            <a:off x="6420485" y="1268730"/>
            <a:ext cx="528320" cy="1651000"/>
          </a:xfrm>
          <a:prstGeom prst="straightConnector1">
            <a:avLst/>
          </a:prstGeom>
          <a:ln>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588125" y="2564765"/>
            <a:ext cx="415925" cy="337185"/>
          </a:xfrm>
          <a:prstGeom prst="rect">
            <a:avLst/>
          </a:prstGeom>
          <a:noFill/>
        </p:spPr>
        <p:txBody>
          <a:bodyPr wrap="square" rtlCol="0">
            <a:spAutoFit/>
          </a:bodyPr>
          <a:p>
            <a:r>
              <a:rPr lang="en-US" altLang="zh-CN" sz="1600">
                <a:solidFill>
                  <a:schemeClr val="accent2"/>
                </a:solidFill>
              </a:rPr>
              <a:t>C</a:t>
            </a:r>
            <a:r>
              <a:rPr lang="en-US" altLang="zh-CN" sz="1600" baseline="-25000">
                <a:solidFill>
                  <a:schemeClr val="accent2"/>
                </a:solidFill>
              </a:rPr>
              <a:t>1</a:t>
            </a:r>
            <a:endParaRPr lang="en-US" altLang="zh-CN" sz="1600" baseline="-25000">
              <a:solidFill>
                <a:schemeClr val="accent2"/>
              </a:solidFill>
            </a:endParaRPr>
          </a:p>
        </p:txBody>
      </p:sp>
      <p:cxnSp>
        <p:nvCxnSpPr>
          <p:cNvPr id="7" name="直接箭头连接符 6"/>
          <p:cNvCxnSpPr/>
          <p:nvPr/>
        </p:nvCxnSpPr>
        <p:spPr>
          <a:xfrm>
            <a:off x="6796405" y="2901950"/>
            <a:ext cx="80010" cy="238760"/>
          </a:xfrm>
          <a:prstGeom prst="straightConnector1">
            <a:avLst/>
          </a:prstGeom>
          <a:ln>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092315" y="2564765"/>
            <a:ext cx="415925" cy="337185"/>
          </a:xfrm>
          <a:prstGeom prst="rect">
            <a:avLst/>
          </a:prstGeom>
          <a:noFill/>
        </p:spPr>
        <p:txBody>
          <a:bodyPr wrap="square" rtlCol="0">
            <a:spAutoFit/>
          </a:bodyPr>
          <a:p>
            <a:r>
              <a:rPr lang="en-US" altLang="zh-CN" sz="1600">
                <a:solidFill>
                  <a:schemeClr val="accent2"/>
                </a:solidFill>
              </a:rPr>
              <a:t>C</a:t>
            </a:r>
            <a:r>
              <a:rPr lang="en-US" altLang="zh-CN" sz="1600" baseline="-25000">
                <a:solidFill>
                  <a:schemeClr val="accent2"/>
                </a:solidFill>
              </a:rPr>
              <a:t>2</a:t>
            </a:r>
            <a:endParaRPr lang="en-US" altLang="zh-CN" sz="1600" baseline="-25000">
              <a:solidFill>
                <a:schemeClr val="accent2"/>
              </a:solidFill>
            </a:endParaRPr>
          </a:p>
        </p:txBody>
      </p:sp>
      <p:cxnSp>
        <p:nvCxnSpPr>
          <p:cNvPr id="9" name="直接箭头连接符 8"/>
          <p:cNvCxnSpPr/>
          <p:nvPr/>
        </p:nvCxnSpPr>
        <p:spPr>
          <a:xfrm flipH="1">
            <a:off x="7172325" y="2901950"/>
            <a:ext cx="128270" cy="238760"/>
          </a:xfrm>
          <a:prstGeom prst="straightConnector1">
            <a:avLst/>
          </a:prstGeom>
          <a:ln>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043940" y="2582545"/>
            <a:ext cx="415925" cy="337185"/>
          </a:xfrm>
          <a:prstGeom prst="rect">
            <a:avLst/>
          </a:prstGeom>
          <a:noFill/>
        </p:spPr>
        <p:txBody>
          <a:bodyPr wrap="square" rtlCol="0">
            <a:spAutoFit/>
          </a:bodyPr>
          <a:p>
            <a:r>
              <a:rPr lang="en-US" altLang="zh-CN" sz="1600">
                <a:solidFill>
                  <a:schemeClr val="accent2"/>
                </a:solidFill>
              </a:rPr>
              <a:t>C</a:t>
            </a:r>
            <a:r>
              <a:rPr lang="en-US" altLang="zh-CN" sz="1600" baseline="-25000">
                <a:solidFill>
                  <a:schemeClr val="accent2"/>
                </a:solidFill>
              </a:rPr>
              <a:t>2</a:t>
            </a:r>
            <a:endParaRPr lang="en-US" altLang="zh-CN" sz="1600" baseline="-25000">
              <a:solidFill>
                <a:schemeClr val="accent2"/>
              </a:solidFill>
            </a:endParaRPr>
          </a:p>
        </p:txBody>
      </p:sp>
      <p:cxnSp>
        <p:nvCxnSpPr>
          <p:cNvPr id="11" name="直接箭头连接符 10"/>
          <p:cNvCxnSpPr/>
          <p:nvPr/>
        </p:nvCxnSpPr>
        <p:spPr>
          <a:xfrm>
            <a:off x="1403985" y="2924810"/>
            <a:ext cx="55880" cy="215900"/>
          </a:xfrm>
          <a:prstGeom prst="straightConnector1">
            <a:avLst/>
          </a:prstGeom>
          <a:ln>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7164705" y="1628775"/>
            <a:ext cx="2246630" cy="398780"/>
          </a:xfrm>
          <a:prstGeom prst="rect">
            <a:avLst/>
          </a:prstGeom>
          <a:noFill/>
        </p:spPr>
        <p:txBody>
          <a:bodyPr wrap="square" rtlCol="0">
            <a:spAutoFit/>
          </a:bodyPr>
          <a:p>
            <a:r>
              <a:rPr lang="zh-CN" altLang="en-US" sz="2000">
                <a:latin typeface="黑体" panose="02010609060101010101" pitchFamily="49" charset="-122"/>
                <a:ea typeface="黑体" panose="02010609060101010101" pitchFamily="49" charset="-122"/>
              </a:rPr>
              <a:t>凸台</a:t>
            </a:r>
            <a:endParaRPr lang="zh-CN" altLang="en-US" sz="2000">
              <a:latin typeface="黑体" panose="02010609060101010101" pitchFamily="49" charset="-122"/>
              <a:ea typeface="黑体" panose="02010609060101010101" pitchFamily="49" charset="-122"/>
            </a:endParaRPr>
          </a:p>
        </p:txBody>
      </p:sp>
      <p:sp>
        <p:nvSpPr>
          <p:cNvPr id="13" name="文本框 12"/>
          <p:cNvSpPr txBox="1"/>
          <p:nvPr/>
        </p:nvSpPr>
        <p:spPr>
          <a:xfrm>
            <a:off x="7468870" y="2708910"/>
            <a:ext cx="2246630" cy="398780"/>
          </a:xfrm>
          <a:prstGeom prst="rect">
            <a:avLst/>
          </a:prstGeom>
          <a:noFill/>
        </p:spPr>
        <p:txBody>
          <a:bodyPr wrap="square" rtlCol="0">
            <a:spAutoFit/>
          </a:bodyPr>
          <a:p>
            <a:r>
              <a:rPr lang="zh-CN" altLang="en-US" sz="2000">
                <a:latin typeface="黑体" panose="02010609060101010101" pitchFamily="49" charset="-122"/>
                <a:ea typeface="黑体" panose="02010609060101010101" pitchFamily="49" charset="-122"/>
              </a:rPr>
              <a:t>凸缘</a:t>
            </a:r>
            <a:endParaRPr lang="en-US" altLang="zh-CN" sz="2000">
              <a:latin typeface="黑体" panose="02010609060101010101" pitchFamily="49" charset="-122"/>
              <a:ea typeface="黑体" panose="02010609060101010101" pitchFamily="49" charset="-122"/>
            </a:endParaRPr>
          </a:p>
        </p:txBody>
      </p:sp>
      <p:cxnSp>
        <p:nvCxnSpPr>
          <p:cNvPr id="14" name="直接连接符 13"/>
          <p:cNvCxnSpPr/>
          <p:nvPr/>
        </p:nvCxnSpPr>
        <p:spPr>
          <a:xfrm flipV="1">
            <a:off x="7236460" y="3644900"/>
            <a:ext cx="1296035" cy="25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7236460" y="2025015"/>
            <a:ext cx="899795" cy="133223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3" idx="2"/>
          </p:cNvCxnSpPr>
          <p:nvPr/>
        </p:nvCxnSpPr>
        <p:spPr>
          <a:xfrm flipH="1">
            <a:off x="8388350" y="3107690"/>
            <a:ext cx="203835" cy="537210"/>
          </a:xfrm>
          <a:prstGeom prst="straightConnector1">
            <a:avLst/>
          </a:prstGeom>
          <a:ln>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文本框 16"/>
          <p:cNvSpPr txBox="1"/>
          <p:nvPr>
            <p:custDataLst>
              <p:tags r:id="rId3"/>
            </p:custDataLst>
          </p:nvPr>
        </p:nvSpPr>
        <p:spPr>
          <a:xfrm>
            <a:off x="287655" y="224790"/>
            <a:ext cx="8462645" cy="460375"/>
          </a:xfrm>
          <a:prstGeom prst="rect">
            <a:avLst/>
          </a:prstGeom>
          <a:noFill/>
        </p:spPr>
        <p:txBody>
          <a:bodyPr wrap="square" rtlCol="0">
            <a:spAutoFit/>
          </a:bodyPr>
          <a:p>
            <a:pPr algn="l"/>
            <a:r>
              <a:rPr lang="en-US" altLang="zh-CN">
                <a:latin typeface="黑体" panose="02010609060101010101" pitchFamily="49" charset="-122"/>
                <a:ea typeface="黑体" panose="02010609060101010101" pitchFamily="49" charset="-122"/>
                <a:cs typeface="黑体" panose="02010609060101010101" pitchFamily="49" charset="-122"/>
              </a:rPr>
              <a:t>3</a:t>
            </a:r>
            <a:r>
              <a:rPr lang="zh-CN" altLang="en-US">
                <a:latin typeface="黑体" panose="02010609060101010101" pitchFamily="49" charset="-122"/>
                <a:ea typeface="黑体" panose="02010609060101010101" pitchFamily="49" charset="-122"/>
                <a:cs typeface="黑体" panose="02010609060101010101" pitchFamily="49" charset="-122"/>
              </a:rPr>
              <a:t>）确定轴承端盖的凸台及凸缘的厚度</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p:nvPr/>
        </p:nvSpPr>
        <p:spPr>
          <a:xfrm>
            <a:off x="396240" y="836930"/>
            <a:ext cx="4531360" cy="1014730"/>
          </a:xfrm>
          <a:prstGeom prst="rect">
            <a:avLst/>
          </a:prstGeom>
          <a:noFill/>
        </p:spPr>
        <p:txBody>
          <a:bodyPr wrap="square" rtlCol="0">
            <a:spAutoFit/>
          </a:bodyPr>
          <a:p>
            <a:r>
              <a:rPr lang="zh-CN" altLang="en-US" sz="2000" b="1"/>
              <a:t>轴承旁凸台结构尺寸，由作图确定，考虑联接刚度、保证联接可靠并结合扳手空间（</a:t>
            </a:r>
            <a:r>
              <a:rPr lang="en-US" altLang="zh-CN" sz="2000" b="1"/>
              <a:t>C</a:t>
            </a:r>
            <a:r>
              <a:rPr lang="en-US" altLang="zh-CN" sz="2000" b="1" baseline="-25000"/>
              <a:t>1</a:t>
            </a:r>
            <a:r>
              <a:rPr lang="en-US" altLang="zh-CN" sz="2000" b="1"/>
              <a:t>+C</a:t>
            </a:r>
            <a:r>
              <a:rPr lang="en-US" altLang="zh-CN" sz="2000" b="1" baseline="-25000"/>
              <a:t>2</a:t>
            </a:r>
            <a:r>
              <a:rPr lang="zh-CN" altLang="en-US" sz="2000" b="1"/>
              <a:t>）</a:t>
            </a:r>
            <a:endParaRPr lang="zh-CN" altLang="en-US"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15190" r="6072"/>
          <a:stretch>
            <a:fillRect/>
          </a:stretch>
        </p:blipFill>
        <p:spPr>
          <a:xfrm>
            <a:off x="1511935" y="405130"/>
            <a:ext cx="5132070" cy="617855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rotWithShape="1">
          <a:blip r:embed="rId2"/>
          <a:srcRect l="4235" t="4782" r="6663" b="4058"/>
          <a:stretch>
            <a:fillRect/>
          </a:stretch>
        </p:blipFill>
        <p:spPr>
          <a:xfrm>
            <a:off x="1115616" y="764704"/>
            <a:ext cx="6480720" cy="555364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395605" y="404495"/>
            <a:ext cx="8462645" cy="460375"/>
          </a:xfrm>
          <a:prstGeom prst="rect">
            <a:avLst/>
          </a:prstGeom>
          <a:noFill/>
        </p:spPr>
        <p:txBody>
          <a:bodyPr wrap="square" rtlCol="0">
            <a:spAutoFit/>
          </a:bodyPr>
          <a:p>
            <a:pPr algn="l"/>
            <a:r>
              <a:rPr lang="en-US">
                <a:latin typeface="黑体" panose="02010609060101010101" pitchFamily="49" charset="-122"/>
                <a:ea typeface="黑体" panose="02010609060101010101" pitchFamily="49" charset="-122"/>
                <a:cs typeface="黑体" panose="02010609060101010101" pitchFamily="49" charset="-122"/>
              </a:rPr>
              <a:t>4</a:t>
            </a:r>
            <a:r>
              <a:rPr lang="zh-CN" altLang="en-US">
                <a:latin typeface="黑体" panose="02010609060101010101" pitchFamily="49" charset="-122"/>
                <a:ea typeface="黑体" panose="02010609060101010101" pitchFamily="49" charset="-122"/>
                <a:cs typeface="黑体" panose="02010609060101010101" pitchFamily="49" charset="-122"/>
              </a:rPr>
              <a:t>）确定箱盖主视图的轮廓线</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custDataLst>
              <p:tags r:id="rId2"/>
            </p:custDataLst>
          </p:nvPr>
        </p:nvPicPr>
        <p:blipFill>
          <a:blip r:embed="rId3"/>
          <a:stretch>
            <a:fillRect/>
          </a:stretch>
        </p:blipFill>
        <p:spPr>
          <a:xfrm>
            <a:off x="647700" y="1593215"/>
            <a:ext cx="8075295" cy="2853055"/>
          </a:xfrm>
          <a:prstGeom prst="rect">
            <a:avLst/>
          </a:prstGeom>
        </p:spPr>
      </p:pic>
      <p:sp>
        <p:nvSpPr>
          <p:cNvPr id="8" name="文本框 7"/>
          <p:cNvSpPr txBox="1"/>
          <p:nvPr>
            <p:custDataLst>
              <p:tags r:id="rId4"/>
            </p:custDataLst>
          </p:nvPr>
        </p:nvSpPr>
        <p:spPr>
          <a:xfrm>
            <a:off x="360045" y="5121275"/>
            <a:ext cx="8462645" cy="460375"/>
          </a:xfrm>
          <a:prstGeom prst="rect">
            <a:avLst/>
          </a:prstGeom>
          <a:noFill/>
        </p:spPr>
        <p:txBody>
          <a:bodyPr wrap="square" rtlCol="0">
            <a:spAutoFit/>
          </a:bodyPr>
          <a:p>
            <a:pPr algn="l"/>
            <a:r>
              <a:rPr lang="en-US" altLang="zh-CN">
                <a:latin typeface="黑体" panose="02010609060101010101" pitchFamily="49" charset="-122"/>
                <a:ea typeface="黑体" panose="02010609060101010101" pitchFamily="49" charset="-122"/>
                <a:cs typeface="黑体" panose="02010609060101010101" pitchFamily="49" charset="-122"/>
              </a:rPr>
              <a:t>5</a:t>
            </a:r>
            <a:r>
              <a:rPr lang="zh-CN" altLang="en-US">
                <a:latin typeface="黑体" panose="02010609060101010101" pitchFamily="49" charset="-122"/>
                <a:ea typeface="黑体" panose="02010609060101010101" pitchFamily="49" charset="-122"/>
                <a:cs typeface="黑体" panose="02010609060101010101" pitchFamily="49" charset="-122"/>
              </a:rPr>
              <a:t>）确定视孔盖的位置及大小</a:t>
            </a:r>
            <a:endParaRPr lang="zh-CN" altLang="en-US">
              <a:latin typeface="黑体" panose="02010609060101010101" pitchFamily="49" charset="-122"/>
              <a:ea typeface="黑体" panose="02010609060101010101" pitchFamily="49" charset="-122"/>
              <a:cs typeface="黑体" panose="02010609060101010101" pitchFamily="49" charset="-122"/>
            </a:endParaRPr>
          </a:p>
        </p:txBody>
      </p:sp>
      <p:sp>
        <p:nvSpPr>
          <p:cNvPr id="10" name="文本框 9"/>
          <p:cNvSpPr txBox="1"/>
          <p:nvPr/>
        </p:nvSpPr>
        <p:spPr>
          <a:xfrm>
            <a:off x="2268220" y="5948680"/>
            <a:ext cx="2976245" cy="460375"/>
          </a:xfrm>
          <a:prstGeom prst="rect">
            <a:avLst/>
          </a:prstGeom>
          <a:noFill/>
        </p:spPr>
        <p:txBody>
          <a:bodyPr wrap="square" rtlCol="0">
            <a:spAutoFit/>
          </a:bodyPr>
          <a:p>
            <a:r>
              <a:rPr lang="zh-CN" altLang="en-US"/>
              <a:t>查表</a:t>
            </a:r>
            <a:r>
              <a:rPr lang="en-US" altLang="zh-CN"/>
              <a:t>11-4 </a:t>
            </a:r>
            <a:r>
              <a:rPr lang="zh-CN" altLang="en-US"/>
              <a:t>手册</a:t>
            </a:r>
            <a:r>
              <a:rPr lang="en-US" altLang="zh-CN"/>
              <a:t>P167</a:t>
            </a:r>
            <a:endParaRPr lang="en-US" alt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a:srcRect t="5018" r="6946" b="10837"/>
          <a:stretch>
            <a:fillRect/>
          </a:stretch>
        </p:blipFill>
        <p:spPr>
          <a:xfrm>
            <a:off x="71562" y="1412647"/>
            <a:ext cx="3880521" cy="3836505"/>
          </a:xfrm>
          <a:prstGeom prst="rect">
            <a:avLst/>
          </a:prstGeom>
        </p:spPr>
      </p:pic>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l="2222" t="5853"/>
          <a:stretch>
            <a:fillRect/>
          </a:stretch>
        </p:blipFill>
        <p:spPr>
          <a:xfrm>
            <a:off x="4139661" y="1916574"/>
            <a:ext cx="4963277" cy="3788206"/>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2445" t="27903" r="3273" b="14359"/>
          <a:stretch>
            <a:fillRect/>
          </a:stretch>
        </p:blipFill>
        <p:spPr>
          <a:xfrm>
            <a:off x="539750" y="1736725"/>
            <a:ext cx="8312785" cy="3818255"/>
          </a:xfrm>
          <a:prstGeom prst="rect">
            <a:avLst/>
          </a:prstGeom>
        </p:spPr>
      </p:pic>
      <p:cxnSp>
        <p:nvCxnSpPr>
          <p:cNvPr id="3" name="直接连接符 2"/>
          <p:cNvCxnSpPr/>
          <p:nvPr/>
        </p:nvCxnSpPr>
        <p:spPr>
          <a:xfrm flipV="1">
            <a:off x="2122805" y="1736725"/>
            <a:ext cx="5796915" cy="16510"/>
          </a:xfrm>
          <a:prstGeom prst="line">
            <a:avLst/>
          </a:prstGeom>
          <a:ln w="28575">
            <a:solidFill>
              <a:srgbClr val="0000FF"/>
            </a:solidFill>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flipV="1">
            <a:off x="2051685" y="5481320"/>
            <a:ext cx="5975985" cy="16510"/>
          </a:xfrm>
          <a:prstGeom prst="line">
            <a:avLst/>
          </a:prstGeom>
          <a:ln w="28575">
            <a:solidFill>
              <a:srgbClr val="0000FF"/>
            </a:solidFill>
          </a:ln>
        </p:spPr>
        <p:style>
          <a:lnRef idx="2">
            <a:schemeClr val="accent1"/>
          </a:lnRef>
          <a:fillRef idx="0">
            <a:srgbClr val="FFFFFF"/>
          </a:fillRef>
          <a:effectRef idx="0">
            <a:srgbClr val="FFFFFF"/>
          </a:effectRef>
          <a:fontRef idx="minor">
            <a:schemeClr val="tx1"/>
          </a:fontRef>
        </p:style>
      </p:cxn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25" name="对象 86024"/>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4134" name="" r:id="rId1" imgW="114300" imgH="215265" progId="Equation.3">
                  <p:embed/>
                </p:oleObj>
              </mc:Choice>
              <mc:Fallback>
                <p:oleObj name="" r:id="rId1" imgW="114300" imgH="215265" progId="Equation.3">
                  <p:embed/>
                  <p:pic>
                    <p:nvPicPr>
                      <p:cNvPr id="0" name="图片 3076"/>
                      <p:cNvPicPr/>
                      <p:nvPr/>
                    </p:nvPicPr>
                    <p:blipFill>
                      <a:blip r:embed="rId2"/>
                      <a:stretch>
                        <a:fillRect/>
                      </a:stretch>
                    </p:blipFill>
                    <p:spPr>
                      <a:xfrm>
                        <a:off x="4514850" y="3321050"/>
                        <a:ext cx="114300" cy="215900"/>
                      </a:xfrm>
                      <a:prstGeom prst="rect">
                        <a:avLst/>
                      </a:prstGeom>
                      <a:noFill/>
                      <a:ln w="38100">
                        <a:noFill/>
                        <a:miter/>
                      </a:ln>
                    </p:spPr>
                  </p:pic>
                </p:oleObj>
              </mc:Fallback>
            </mc:AlternateContent>
          </a:graphicData>
        </a:graphic>
      </p:graphicFrame>
      <p:sp>
        <p:nvSpPr>
          <p:cNvPr id="86026" name="文本框 86025"/>
          <p:cNvSpPr txBox="1"/>
          <p:nvPr/>
        </p:nvSpPr>
        <p:spPr>
          <a:xfrm>
            <a:off x="5867400" y="1143000"/>
            <a:ext cx="2743200" cy="457200"/>
          </a:xfrm>
          <a:prstGeom prst="rect">
            <a:avLst/>
          </a:prstGeom>
          <a:noFill/>
          <a:ln w="9525">
            <a:noFill/>
          </a:ln>
        </p:spPr>
        <p:txBody>
          <a:bodyPr>
            <a:spAutoFit/>
          </a:bodyPr>
          <a:lstStyle/>
          <a:p>
            <a:pPr algn="l">
              <a:spcBef>
                <a:spcPct val="50000"/>
              </a:spcBef>
            </a:pPr>
            <a:endParaRPr dirty="0">
              <a:latin typeface="Times New Roman" panose="02020603050405020304" pitchFamily="18" charset="0"/>
            </a:endParaRPr>
          </a:p>
        </p:txBody>
      </p:sp>
      <p:sp>
        <p:nvSpPr>
          <p:cNvPr id="86028" name="矩形 86027"/>
          <p:cNvSpPr/>
          <p:nvPr/>
        </p:nvSpPr>
        <p:spPr>
          <a:xfrm>
            <a:off x="1838325" y="1209675"/>
            <a:ext cx="9144000" cy="0"/>
          </a:xfrm>
          <a:prstGeom prst="rect">
            <a:avLst/>
          </a:prstGeom>
          <a:noFill/>
          <a:ln w="9525">
            <a:noFill/>
          </a:ln>
        </p:spPr>
        <p:txBody>
          <a:bodyPr/>
          <a:lstStyle/>
          <a:p>
            <a:endParaRPr lang="zh-CN" altLang="en-US"/>
          </a:p>
        </p:txBody>
      </p:sp>
      <p:grpSp>
        <p:nvGrpSpPr>
          <p:cNvPr id="86030" name="组合 86029"/>
          <p:cNvGrpSpPr/>
          <p:nvPr/>
        </p:nvGrpSpPr>
        <p:grpSpPr>
          <a:xfrm>
            <a:off x="8115300" y="6515100"/>
            <a:ext cx="1028700" cy="342900"/>
            <a:chOff x="5112" y="4104"/>
            <a:chExt cx="648" cy="216"/>
          </a:xfrm>
        </p:grpSpPr>
        <p:pic>
          <p:nvPicPr>
            <p:cNvPr id="86031" name="图片 86030" descr="返回">
              <a:hlinkClick r:id="rId3" action="ppaction://hlinksldjump"/>
            </p:cNvPr>
            <p:cNvPicPr>
              <a:picLocks noChangeAspect="1"/>
            </p:cNvPicPr>
            <p:nvPr/>
          </p:nvPicPr>
          <p:blipFill>
            <a:blip r:embed="rId4"/>
            <a:stretch>
              <a:fillRect/>
            </a:stretch>
          </p:blipFill>
          <p:spPr>
            <a:xfrm>
              <a:off x="5112" y="4104"/>
              <a:ext cx="216" cy="216"/>
            </a:xfrm>
            <a:prstGeom prst="rect">
              <a:avLst/>
            </a:prstGeom>
            <a:noFill/>
            <a:ln w="9525">
              <a:noFill/>
            </a:ln>
          </p:spPr>
        </p:pic>
        <p:grpSp>
          <p:nvGrpSpPr>
            <p:cNvPr id="86032" name="组合 86031"/>
            <p:cNvGrpSpPr/>
            <p:nvPr/>
          </p:nvGrpSpPr>
          <p:grpSpPr>
            <a:xfrm>
              <a:off x="5352" y="4104"/>
              <a:ext cx="408" cy="216"/>
              <a:chOff x="5232" y="4100"/>
              <a:chExt cx="408" cy="216"/>
            </a:xfrm>
          </p:grpSpPr>
          <p:pic>
            <p:nvPicPr>
              <p:cNvPr id="86033" name="图片 86032" descr="下一步">
                <a:hlinkClick r:id="" action="ppaction://hlinkshowjump?jump=nextslide"/>
              </p:cNvPr>
              <p:cNvPicPr>
                <a:picLocks noChangeAspect="1"/>
              </p:cNvPicPr>
              <p:nvPr/>
            </p:nvPicPr>
            <p:blipFill>
              <a:blip r:embed="rId5"/>
              <a:stretch>
                <a:fillRect/>
              </a:stretch>
            </p:blipFill>
            <p:spPr>
              <a:xfrm>
                <a:off x="5424" y="4100"/>
                <a:ext cx="216" cy="216"/>
              </a:xfrm>
              <a:prstGeom prst="rect">
                <a:avLst/>
              </a:prstGeom>
              <a:noFill/>
              <a:ln w="9525">
                <a:noFill/>
              </a:ln>
            </p:spPr>
          </p:pic>
          <p:pic>
            <p:nvPicPr>
              <p:cNvPr id="86034" name="图片 86033" descr="上一步">
                <a:hlinkClick r:id="" action="ppaction://hlinkshowjump?jump=previousslide"/>
              </p:cNvPr>
              <p:cNvPicPr>
                <a:picLocks noChangeAspect="1"/>
              </p:cNvPicPr>
              <p:nvPr/>
            </p:nvPicPr>
            <p:blipFill>
              <a:blip r:embed="rId6"/>
              <a:stretch>
                <a:fillRect/>
              </a:stretch>
            </p:blipFill>
            <p:spPr>
              <a:xfrm>
                <a:off x="5232" y="4100"/>
                <a:ext cx="216" cy="216"/>
              </a:xfrm>
              <a:prstGeom prst="rect">
                <a:avLst/>
              </a:prstGeom>
              <a:noFill/>
              <a:ln w="9525">
                <a:noFill/>
              </a:ln>
            </p:spPr>
          </p:pic>
        </p:grpSp>
      </p:grpSp>
      <p:sp>
        <p:nvSpPr>
          <p:cNvPr id="86042" name="矩形 86041"/>
          <p:cNvSpPr/>
          <p:nvPr/>
        </p:nvSpPr>
        <p:spPr>
          <a:xfrm>
            <a:off x="2166938" y="1081088"/>
            <a:ext cx="9144000" cy="0"/>
          </a:xfrm>
          <a:prstGeom prst="rect">
            <a:avLst/>
          </a:prstGeom>
          <a:noFill/>
          <a:ln w="9525">
            <a:noFill/>
          </a:ln>
        </p:spPr>
        <p:txBody>
          <a:bodyPr/>
          <a:lstStyle/>
          <a:p>
            <a:endParaRPr lang="zh-CN" altLang="en-US"/>
          </a:p>
        </p:txBody>
      </p:sp>
      <p:pic>
        <p:nvPicPr>
          <p:cNvPr id="86041" name="图片 86040"/>
          <p:cNvPicPr>
            <a:picLocks noChangeAspect="1"/>
          </p:cNvPicPr>
          <p:nvPr/>
        </p:nvPicPr>
        <p:blipFill>
          <a:blip r:embed="rId7">
            <a:lum contrast="24000"/>
          </a:blip>
          <a:srcRect r="6534" b="2637"/>
          <a:stretch>
            <a:fillRect/>
          </a:stretch>
        </p:blipFill>
        <p:spPr>
          <a:xfrm flipH="1">
            <a:off x="1676400" y="1600200"/>
            <a:ext cx="5021263" cy="5105400"/>
          </a:xfrm>
          <a:prstGeom prst="rect">
            <a:avLst/>
          </a:prstGeom>
          <a:noFill/>
          <a:ln w="9525">
            <a:noFill/>
          </a:ln>
        </p:spPr>
      </p:pic>
      <p:sp>
        <p:nvSpPr>
          <p:cNvPr id="86043" name="椭圆形标注 86042"/>
          <p:cNvSpPr/>
          <p:nvPr/>
        </p:nvSpPr>
        <p:spPr>
          <a:xfrm>
            <a:off x="771525" y="3933190"/>
            <a:ext cx="1183640" cy="533400"/>
          </a:xfrm>
          <a:prstGeom prst="wedgeEllipseCallout">
            <a:avLst>
              <a:gd name="adj1" fmla="val 40476"/>
              <a:gd name="adj2" fmla="val 124642"/>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油标</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44" name="椭圆形标注 86043"/>
          <p:cNvSpPr/>
          <p:nvPr/>
        </p:nvSpPr>
        <p:spPr>
          <a:xfrm>
            <a:off x="7164070" y="4940935"/>
            <a:ext cx="838200" cy="838200"/>
          </a:xfrm>
          <a:prstGeom prst="wedgeEllipseCallout">
            <a:avLst>
              <a:gd name="adj1" fmla="val -170000"/>
              <a:gd name="adj2" fmla="val 23787"/>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箱座</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35" name="椭圆形标注 86034"/>
          <p:cNvSpPr/>
          <p:nvPr/>
        </p:nvSpPr>
        <p:spPr>
          <a:xfrm>
            <a:off x="1907540" y="1590675"/>
            <a:ext cx="1143000" cy="685800"/>
          </a:xfrm>
          <a:prstGeom prst="wedgeEllipseCallout">
            <a:avLst>
              <a:gd name="adj1" fmla="val 131944"/>
              <a:gd name="adj2" fmla="val 19676"/>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视孔盖</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38" name="椭圆形标注 86037"/>
          <p:cNvSpPr/>
          <p:nvPr/>
        </p:nvSpPr>
        <p:spPr>
          <a:xfrm>
            <a:off x="5436235" y="1438910"/>
            <a:ext cx="1066800" cy="609600"/>
          </a:xfrm>
          <a:prstGeom prst="wedgeEllipseCallout">
            <a:avLst>
              <a:gd name="adj1" fmla="val -129226"/>
              <a:gd name="adj2" fmla="val 1666"/>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通气器</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36" name="椭圆形标注 86035"/>
          <p:cNvSpPr/>
          <p:nvPr/>
        </p:nvSpPr>
        <p:spPr>
          <a:xfrm>
            <a:off x="7078980" y="2204720"/>
            <a:ext cx="838200" cy="762000"/>
          </a:xfrm>
          <a:prstGeom prst="wedgeEllipseCallout">
            <a:avLst>
              <a:gd name="adj1" fmla="val -214773"/>
              <a:gd name="adj2" fmla="val 32917"/>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箱盖</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40" name="椭圆形标注 86039"/>
          <p:cNvSpPr/>
          <p:nvPr/>
        </p:nvSpPr>
        <p:spPr>
          <a:xfrm>
            <a:off x="755650" y="5300980"/>
            <a:ext cx="1066800" cy="533400"/>
          </a:xfrm>
          <a:prstGeom prst="wedgeEllipseCallout">
            <a:avLst>
              <a:gd name="adj1" fmla="val 63035"/>
              <a:gd name="adj2" fmla="val 103690"/>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放油塞</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45" name="椭圆形标注 86044"/>
          <p:cNvSpPr/>
          <p:nvPr/>
        </p:nvSpPr>
        <p:spPr>
          <a:xfrm>
            <a:off x="4427890" y="6237823"/>
            <a:ext cx="1224136" cy="533400"/>
          </a:xfrm>
          <a:prstGeom prst="wedgeEllipseCallout">
            <a:avLst>
              <a:gd name="adj1" fmla="val 12348"/>
              <a:gd name="adj2" fmla="val -204683"/>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smtClean="0">
                <a:solidFill>
                  <a:srgbClr val="FF3300"/>
                </a:solidFill>
                <a:latin typeface="Times New Roman" panose="02020603050405020304" pitchFamily="18" charset="0"/>
                <a:ea typeface="隶书" panose="02010509060101010101" pitchFamily="49" charset="-122"/>
              </a:rPr>
              <a:t>轴承</a:t>
            </a:r>
            <a:r>
              <a:rPr lang="zh-CN" altLang="en-US" sz="2000" b="1" dirty="0">
                <a:solidFill>
                  <a:srgbClr val="FF3300"/>
                </a:solidFill>
                <a:ea typeface="隶书" panose="02010509060101010101" pitchFamily="49" charset="-122"/>
              </a:rPr>
              <a:t>端</a:t>
            </a:r>
            <a:r>
              <a:rPr lang="zh-CN" altLang="en-US" sz="2000" b="1" dirty="0" smtClean="0">
                <a:solidFill>
                  <a:srgbClr val="FF3300"/>
                </a:solidFill>
                <a:latin typeface="Times New Roman" panose="02020603050405020304" pitchFamily="18" charset="0"/>
                <a:ea typeface="隶书" panose="02010509060101010101" pitchFamily="49" charset="-122"/>
              </a:rPr>
              <a:t>盖</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86046" name="直接连接符 86045"/>
          <p:cNvSpPr/>
          <p:nvPr/>
        </p:nvSpPr>
        <p:spPr>
          <a:xfrm flipV="1">
            <a:off x="5180965" y="5029200"/>
            <a:ext cx="168910" cy="340995"/>
          </a:xfrm>
          <a:prstGeom prst="line">
            <a:avLst/>
          </a:prstGeom>
          <a:ln w="38100" cap="flat" cmpd="sng">
            <a:solidFill>
              <a:srgbClr val="800080"/>
            </a:solidFill>
            <a:prstDash val="solid"/>
            <a:headEnd type="none" w="med" len="med"/>
            <a:tailEnd type="none" w="med" len="med"/>
          </a:ln>
        </p:spPr>
      </p:sp>
      <p:sp>
        <p:nvSpPr>
          <p:cNvPr id="86047" name="直接连接符 86046"/>
          <p:cNvSpPr/>
          <p:nvPr/>
        </p:nvSpPr>
        <p:spPr>
          <a:xfrm flipH="1">
            <a:off x="5949950" y="3997325"/>
            <a:ext cx="854075" cy="127000"/>
          </a:xfrm>
          <a:prstGeom prst="line">
            <a:avLst/>
          </a:prstGeom>
          <a:ln w="38100" cap="flat" cmpd="sng">
            <a:solidFill>
              <a:srgbClr val="008000"/>
            </a:solidFill>
            <a:prstDash val="solid"/>
            <a:headEnd type="none" w="med" len="med"/>
            <a:tailEnd type="none" w="med" len="med"/>
          </a:ln>
        </p:spPr>
      </p:sp>
      <p:sp>
        <p:nvSpPr>
          <p:cNvPr id="86048" name="椭圆形标注 86047"/>
          <p:cNvSpPr/>
          <p:nvPr/>
        </p:nvSpPr>
        <p:spPr>
          <a:xfrm>
            <a:off x="7236460" y="3387725"/>
            <a:ext cx="990600" cy="609600"/>
          </a:xfrm>
          <a:prstGeom prst="wedgeEllipseCallout">
            <a:avLst>
              <a:gd name="adj1" fmla="val -85384"/>
              <a:gd name="adj2" fmla="val 44687"/>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lstStyle/>
          <a:p>
            <a:pPr algn="l"/>
            <a:r>
              <a:rPr lang="zh-CN" altLang="en-US" sz="2000" b="1" dirty="0">
                <a:solidFill>
                  <a:srgbClr val="FF3300"/>
                </a:solidFill>
                <a:latin typeface="Times New Roman" panose="02020603050405020304" pitchFamily="18" charset="0"/>
                <a:ea typeface="隶书" panose="02010509060101010101" pitchFamily="49" charset="-122"/>
              </a:rPr>
              <a:t>定位销</a:t>
            </a:r>
            <a:endParaRPr lang="zh-CN" altLang="en-US" sz="2000" b="1" dirty="0">
              <a:solidFill>
                <a:srgbClr val="FF3300"/>
              </a:solidFill>
              <a:latin typeface="Times New Roman" panose="02020603050405020304" pitchFamily="18" charset="0"/>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86044"/>
                                        </p:tgtEl>
                                        <p:attrNameLst>
                                          <p:attrName>style.visibility</p:attrName>
                                        </p:attrNameLst>
                                      </p:cBhvr>
                                      <p:to>
                                        <p:strVal val="visible"/>
                                      </p:to>
                                    </p:set>
                                    <p:anim calcmode="lin" valueType="num">
                                      <p:cBhvr>
                                        <p:cTn id="7" dur="1000" fill="hold"/>
                                        <p:tgtEl>
                                          <p:spTgt spid="86044"/>
                                        </p:tgtEl>
                                        <p:attrNameLst>
                                          <p:attrName>ppt_w</p:attrName>
                                        </p:attrNameLst>
                                      </p:cBhvr>
                                      <p:tavLst>
                                        <p:tav tm="0">
                                          <p:val>
                                            <p:fltVal val="0"/>
                                          </p:val>
                                        </p:tav>
                                        <p:tav tm="100000">
                                          <p:val>
                                            <p:strVal val="#ppt_w"/>
                                          </p:val>
                                        </p:tav>
                                      </p:tavLst>
                                    </p:anim>
                                    <p:anim calcmode="lin" valueType="num">
                                      <p:cBhvr>
                                        <p:cTn id="8" dur="1000" fill="hold"/>
                                        <p:tgtEl>
                                          <p:spTgt spid="86044"/>
                                        </p:tgtEl>
                                        <p:attrNameLst>
                                          <p:attrName>ppt_h</p:attrName>
                                        </p:attrNameLst>
                                      </p:cBhvr>
                                      <p:tavLst>
                                        <p:tav tm="0">
                                          <p:val>
                                            <p:fltVal val="0"/>
                                          </p:val>
                                        </p:tav>
                                        <p:tav tm="100000">
                                          <p:val>
                                            <p:strVal val="#ppt_h"/>
                                          </p:val>
                                        </p:tav>
                                      </p:tavLst>
                                    </p:anim>
                                    <p:anim calcmode="lin" valueType="num">
                                      <p:cBhvr>
                                        <p:cTn id="9" dur="1000" fill="hold"/>
                                        <p:tgtEl>
                                          <p:spTgt spid="8604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60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86035"/>
                                        </p:tgtEl>
                                        <p:attrNameLst>
                                          <p:attrName>style.visibility</p:attrName>
                                        </p:attrNameLst>
                                      </p:cBhvr>
                                      <p:to>
                                        <p:strVal val="visible"/>
                                      </p:to>
                                    </p:set>
                                    <p:anim calcmode="lin" valueType="num">
                                      <p:cBhvr>
                                        <p:cTn id="15" dur="1000" fill="hold"/>
                                        <p:tgtEl>
                                          <p:spTgt spid="86035"/>
                                        </p:tgtEl>
                                        <p:attrNameLst>
                                          <p:attrName>ppt_w</p:attrName>
                                        </p:attrNameLst>
                                      </p:cBhvr>
                                      <p:tavLst>
                                        <p:tav tm="0">
                                          <p:val>
                                            <p:fltVal val="0"/>
                                          </p:val>
                                        </p:tav>
                                        <p:tav tm="100000">
                                          <p:val>
                                            <p:strVal val="#ppt_w"/>
                                          </p:val>
                                        </p:tav>
                                      </p:tavLst>
                                    </p:anim>
                                    <p:anim calcmode="lin" valueType="num">
                                      <p:cBhvr>
                                        <p:cTn id="16" dur="1000" fill="hold"/>
                                        <p:tgtEl>
                                          <p:spTgt spid="86035"/>
                                        </p:tgtEl>
                                        <p:attrNameLst>
                                          <p:attrName>ppt_h</p:attrName>
                                        </p:attrNameLst>
                                      </p:cBhvr>
                                      <p:tavLst>
                                        <p:tav tm="0">
                                          <p:val>
                                            <p:fltVal val="0"/>
                                          </p:val>
                                        </p:tav>
                                        <p:tav tm="100000">
                                          <p:val>
                                            <p:strVal val="#ppt_h"/>
                                          </p:val>
                                        </p:tav>
                                      </p:tavLst>
                                    </p:anim>
                                    <p:anim calcmode="lin" valueType="num">
                                      <p:cBhvr>
                                        <p:cTn id="17" dur="1000" fill="hold"/>
                                        <p:tgtEl>
                                          <p:spTgt spid="86035"/>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8603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86038"/>
                                        </p:tgtEl>
                                        <p:attrNameLst>
                                          <p:attrName>style.visibility</p:attrName>
                                        </p:attrNameLst>
                                      </p:cBhvr>
                                      <p:to>
                                        <p:strVal val="visible"/>
                                      </p:to>
                                    </p:set>
                                    <p:anim calcmode="lin" valueType="num">
                                      <p:cBhvr>
                                        <p:cTn id="23" dur="1000" fill="hold"/>
                                        <p:tgtEl>
                                          <p:spTgt spid="86038"/>
                                        </p:tgtEl>
                                        <p:attrNameLst>
                                          <p:attrName>ppt_w</p:attrName>
                                        </p:attrNameLst>
                                      </p:cBhvr>
                                      <p:tavLst>
                                        <p:tav tm="0">
                                          <p:val>
                                            <p:fltVal val="0"/>
                                          </p:val>
                                        </p:tav>
                                        <p:tav tm="100000">
                                          <p:val>
                                            <p:strVal val="#ppt_w"/>
                                          </p:val>
                                        </p:tav>
                                      </p:tavLst>
                                    </p:anim>
                                    <p:anim calcmode="lin" valueType="num">
                                      <p:cBhvr>
                                        <p:cTn id="24" dur="1000" fill="hold"/>
                                        <p:tgtEl>
                                          <p:spTgt spid="86038"/>
                                        </p:tgtEl>
                                        <p:attrNameLst>
                                          <p:attrName>ppt_h</p:attrName>
                                        </p:attrNameLst>
                                      </p:cBhvr>
                                      <p:tavLst>
                                        <p:tav tm="0">
                                          <p:val>
                                            <p:fltVal val="0"/>
                                          </p:val>
                                        </p:tav>
                                        <p:tav tm="100000">
                                          <p:val>
                                            <p:strVal val="#ppt_h"/>
                                          </p:val>
                                        </p:tav>
                                      </p:tavLst>
                                    </p:anim>
                                    <p:anim calcmode="lin" valueType="num">
                                      <p:cBhvr>
                                        <p:cTn id="25" dur="1000" fill="hold"/>
                                        <p:tgtEl>
                                          <p:spTgt spid="86038"/>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8603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86043"/>
                                        </p:tgtEl>
                                        <p:attrNameLst>
                                          <p:attrName>style.visibility</p:attrName>
                                        </p:attrNameLst>
                                      </p:cBhvr>
                                      <p:to>
                                        <p:strVal val="visible"/>
                                      </p:to>
                                    </p:set>
                                    <p:anim calcmode="lin" valueType="num">
                                      <p:cBhvr>
                                        <p:cTn id="31" dur="1000" fill="hold"/>
                                        <p:tgtEl>
                                          <p:spTgt spid="86043"/>
                                        </p:tgtEl>
                                        <p:attrNameLst>
                                          <p:attrName>ppt_w</p:attrName>
                                        </p:attrNameLst>
                                      </p:cBhvr>
                                      <p:tavLst>
                                        <p:tav tm="0">
                                          <p:val>
                                            <p:fltVal val="0"/>
                                          </p:val>
                                        </p:tav>
                                        <p:tav tm="100000">
                                          <p:val>
                                            <p:strVal val="#ppt_w"/>
                                          </p:val>
                                        </p:tav>
                                      </p:tavLst>
                                    </p:anim>
                                    <p:anim calcmode="lin" valueType="num">
                                      <p:cBhvr>
                                        <p:cTn id="32" dur="1000" fill="hold"/>
                                        <p:tgtEl>
                                          <p:spTgt spid="86043"/>
                                        </p:tgtEl>
                                        <p:attrNameLst>
                                          <p:attrName>ppt_h</p:attrName>
                                        </p:attrNameLst>
                                      </p:cBhvr>
                                      <p:tavLst>
                                        <p:tav tm="0">
                                          <p:val>
                                            <p:fltVal val="0"/>
                                          </p:val>
                                        </p:tav>
                                        <p:tav tm="100000">
                                          <p:val>
                                            <p:strVal val="#ppt_h"/>
                                          </p:val>
                                        </p:tav>
                                      </p:tavLst>
                                    </p:anim>
                                    <p:anim calcmode="lin" valueType="num">
                                      <p:cBhvr>
                                        <p:cTn id="33" dur="1000" fill="hold"/>
                                        <p:tgtEl>
                                          <p:spTgt spid="86043"/>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8604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86040"/>
                                        </p:tgtEl>
                                        <p:attrNameLst>
                                          <p:attrName>style.visibility</p:attrName>
                                        </p:attrNameLst>
                                      </p:cBhvr>
                                      <p:to>
                                        <p:strVal val="visible"/>
                                      </p:to>
                                    </p:set>
                                    <p:anim calcmode="lin" valueType="num">
                                      <p:cBhvr>
                                        <p:cTn id="39" dur="1000" fill="hold"/>
                                        <p:tgtEl>
                                          <p:spTgt spid="86040"/>
                                        </p:tgtEl>
                                        <p:attrNameLst>
                                          <p:attrName>ppt_w</p:attrName>
                                        </p:attrNameLst>
                                      </p:cBhvr>
                                      <p:tavLst>
                                        <p:tav tm="0">
                                          <p:val>
                                            <p:fltVal val="0"/>
                                          </p:val>
                                        </p:tav>
                                        <p:tav tm="100000">
                                          <p:val>
                                            <p:strVal val="#ppt_w"/>
                                          </p:val>
                                        </p:tav>
                                      </p:tavLst>
                                    </p:anim>
                                    <p:anim calcmode="lin" valueType="num">
                                      <p:cBhvr>
                                        <p:cTn id="40" dur="1000" fill="hold"/>
                                        <p:tgtEl>
                                          <p:spTgt spid="86040"/>
                                        </p:tgtEl>
                                        <p:attrNameLst>
                                          <p:attrName>ppt_h</p:attrName>
                                        </p:attrNameLst>
                                      </p:cBhvr>
                                      <p:tavLst>
                                        <p:tav tm="0">
                                          <p:val>
                                            <p:fltVal val="0"/>
                                          </p:val>
                                        </p:tav>
                                        <p:tav tm="100000">
                                          <p:val>
                                            <p:strVal val="#ppt_h"/>
                                          </p:val>
                                        </p:tav>
                                      </p:tavLst>
                                    </p:anim>
                                    <p:anim calcmode="lin" valueType="num">
                                      <p:cBhvr>
                                        <p:cTn id="41" dur="1000" fill="hold"/>
                                        <p:tgtEl>
                                          <p:spTgt spid="86040"/>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8604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86048"/>
                                        </p:tgtEl>
                                        <p:attrNameLst>
                                          <p:attrName>style.visibility</p:attrName>
                                        </p:attrNameLst>
                                      </p:cBhvr>
                                      <p:to>
                                        <p:strVal val="visible"/>
                                      </p:to>
                                    </p:set>
                                    <p:anim calcmode="lin" valueType="num">
                                      <p:cBhvr>
                                        <p:cTn id="47" dur="1000" fill="hold"/>
                                        <p:tgtEl>
                                          <p:spTgt spid="86048"/>
                                        </p:tgtEl>
                                        <p:attrNameLst>
                                          <p:attrName>ppt_w</p:attrName>
                                        </p:attrNameLst>
                                      </p:cBhvr>
                                      <p:tavLst>
                                        <p:tav tm="0">
                                          <p:val>
                                            <p:fltVal val="0"/>
                                          </p:val>
                                        </p:tav>
                                        <p:tav tm="100000">
                                          <p:val>
                                            <p:strVal val="#ppt_w"/>
                                          </p:val>
                                        </p:tav>
                                      </p:tavLst>
                                    </p:anim>
                                    <p:anim calcmode="lin" valueType="num">
                                      <p:cBhvr>
                                        <p:cTn id="48" dur="1000" fill="hold"/>
                                        <p:tgtEl>
                                          <p:spTgt spid="86048"/>
                                        </p:tgtEl>
                                        <p:attrNameLst>
                                          <p:attrName>ppt_h</p:attrName>
                                        </p:attrNameLst>
                                      </p:cBhvr>
                                      <p:tavLst>
                                        <p:tav tm="0">
                                          <p:val>
                                            <p:fltVal val="0"/>
                                          </p:val>
                                        </p:tav>
                                        <p:tav tm="100000">
                                          <p:val>
                                            <p:strVal val="#ppt_h"/>
                                          </p:val>
                                        </p:tav>
                                      </p:tavLst>
                                    </p:anim>
                                    <p:anim calcmode="lin" valueType="num">
                                      <p:cBhvr>
                                        <p:cTn id="49" dur="1000" fill="hold"/>
                                        <p:tgtEl>
                                          <p:spTgt spid="86048"/>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8604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86046"/>
                                        </p:tgtEl>
                                        <p:attrNameLst>
                                          <p:attrName>style.visibility</p:attrName>
                                        </p:attrNameLst>
                                      </p:cBhvr>
                                      <p:to>
                                        <p:strVal val="visible"/>
                                      </p:to>
                                    </p:set>
                                    <p:anim calcmode="lin" valueType="num">
                                      <p:cBhvr additive="base">
                                        <p:cTn id="55" dur="500" fill="hold"/>
                                        <p:tgtEl>
                                          <p:spTgt spid="86046"/>
                                        </p:tgtEl>
                                        <p:attrNameLst>
                                          <p:attrName>ppt_x</p:attrName>
                                        </p:attrNameLst>
                                      </p:cBhvr>
                                      <p:tavLst>
                                        <p:tav tm="0">
                                          <p:val>
                                            <p:strVal val="0-#ppt_w/2"/>
                                          </p:val>
                                        </p:tav>
                                        <p:tav tm="100000">
                                          <p:val>
                                            <p:strVal val="#ppt_x"/>
                                          </p:val>
                                        </p:tav>
                                      </p:tavLst>
                                    </p:anim>
                                    <p:anim calcmode="lin" valueType="num">
                                      <p:cBhvr additive="base">
                                        <p:cTn id="56" dur="500" fill="hold"/>
                                        <p:tgtEl>
                                          <p:spTgt spid="86046"/>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86047"/>
                                        </p:tgtEl>
                                        <p:attrNameLst>
                                          <p:attrName>style.visibility</p:attrName>
                                        </p:attrNameLst>
                                      </p:cBhvr>
                                      <p:to>
                                        <p:strVal val="visible"/>
                                      </p:to>
                                    </p:set>
                                    <p:anim calcmode="lin" valueType="num">
                                      <p:cBhvr additive="base">
                                        <p:cTn id="61" dur="500" fill="hold"/>
                                        <p:tgtEl>
                                          <p:spTgt spid="86047"/>
                                        </p:tgtEl>
                                        <p:attrNameLst>
                                          <p:attrName>ppt_x</p:attrName>
                                        </p:attrNameLst>
                                      </p:cBhvr>
                                      <p:tavLst>
                                        <p:tav tm="0">
                                          <p:val>
                                            <p:strVal val="0-#ppt_w/2"/>
                                          </p:val>
                                        </p:tav>
                                        <p:tav tm="100000">
                                          <p:val>
                                            <p:strVal val="#ppt_x"/>
                                          </p:val>
                                        </p:tav>
                                      </p:tavLst>
                                    </p:anim>
                                    <p:anim calcmode="lin" valueType="num">
                                      <p:cBhvr additive="base">
                                        <p:cTn id="62" dur="500" fill="hold"/>
                                        <p:tgtEl>
                                          <p:spTgt spid="86047"/>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5" presetClass="entr" presetSubtype="0" fill="hold" grpId="0" nodeType="clickEffect">
                                  <p:stCondLst>
                                    <p:cond delay="0"/>
                                  </p:stCondLst>
                                  <p:childTnLst>
                                    <p:set>
                                      <p:cBhvr>
                                        <p:cTn id="66" dur="1" fill="hold">
                                          <p:stCondLst>
                                            <p:cond delay="0"/>
                                          </p:stCondLst>
                                        </p:cTn>
                                        <p:tgtEl>
                                          <p:spTgt spid="86045"/>
                                        </p:tgtEl>
                                        <p:attrNameLst>
                                          <p:attrName>style.visibility</p:attrName>
                                        </p:attrNameLst>
                                      </p:cBhvr>
                                      <p:to>
                                        <p:strVal val="visible"/>
                                      </p:to>
                                    </p:set>
                                    <p:anim calcmode="lin" valueType="num">
                                      <p:cBhvr>
                                        <p:cTn id="67" dur="1000" fill="hold"/>
                                        <p:tgtEl>
                                          <p:spTgt spid="86045"/>
                                        </p:tgtEl>
                                        <p:attrNameLst>
                                          <p:attrName>ppt_w</p:attrName>
                                        </p:attrNameLst>
                                      </p:cBhvr>
                                      <p:tavLst>
                                        <p:tav tm="0">
                                          <p:val>
                                            <p:fltVal val="0"/>
                                          </p:val>
                                        </p:tav>
                                        <p:tav tm="100000">
                                          <p:val>
                                            <p:strVal val="#ppt_w"/>
                                          </p:val>
                                        </p:tav>
                                      </p:tavLst>
                                    </p:anim>
                                    <p:anim calcmode="lin" valueType="num">
                                      <p:cBhvr>
                                        <p:cTn id="68" dur="1000" fill="hold"/>
                                        <p:tgtEl>
                                          <p:spTgt spid="86045"/>
                                        </p:tgtEl>
                                        <p:attrNameLst>
                                          <p:attrName>ppt_h</p:attrName>
                                        </p:attrNameLst>
                                      </p:cBhvr>
                                      <p:tavLst>
                                        <p:tav tm="0">
                                          <p:val>
                                            <p:fltVal val="0"/>
                                          </p:val>
                                        </p:tav>
                                        <p:tav tm="100000">
                                          <p:val>
                                            <p:strVal val="#ppt_h"/>
                                          </p:val>
                                        </p:tav>
                                      </p:tavLst>
                                    </p:anim>
                                    <p:anim calcmode="lin" valueType="num">
                                      <p:cBhvr>
                                        <p:cTn id="69" dur="1000" fill="hold"/>
                                        <p:tgtEl>
                                          <p:spTgt spid="86045"/>
                                        </p:tgtEl>
                                        <p:attrNameLst>
                                          <p:attrName>ppt_x</p:attrName>
                                        </p:attrNameLst>
                                      </p:cBhvr>
                                      <p:tavLst>
                                        <p:tav tm="0" fmla="#ppt_x+(cos(-2*pi*(1-$))*-#ppt_x-sin(-2*pi*(1-$))*(1-#ppt_y))*(1-$)">
                                          <p:val>
                                            <p:fltVal val="0"/>
                                          </p:val>
                                        </p:tav>
                                        <p:tav tm="100000">
                                          <p:val>
                                            <p:fltVal val="1"/>
                                          </p:val>
                                        </p:tav>
                                      </p:tavLst>
                                    </p:anim>
                                    <p:anim calcmode="lin" valueType="num">
                                      <p:cBhvr>
                                        <p:cTn id="70" dur="1000" fill="hold"/>
                                        <p:tgtEl>
                                          <p:spTgt spid="8604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43" grpId="0" bldLvl="0" animBg="1"/>
      <p:bldP spid="86044" grpId="0" bldLvl="0" animBg="1"/>
      <p:bldP spid="86035" grpId="0" bldLvl="0" animBg="1"/>
      <p:bldP spid="86038" grpId="0" bldLvl="0" animBg="1"/>
      <p:bldP spid="86040" grpId="0" bldLvl="0" animBg="1"/>
      <p:bldP spid="86045" grpId="0" bldLvl="0" animBg="1"/>
      <p:bldP spid="86048"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jy117"/>
          <p:cNvPicPr>
            <a:picLocks noChangeAspect="1"/>
          </p:cNvPicPr>
          <p:nvPr>
            <p:custDataLst>
              <p:tags r:id="rId1"/>
            </p:custDataLst>
          </p:nvPr>
        </p:nvPicPr>
        <p:blipFill rotWithShape="1">
          <a:blip r:embed="rId2"/>
          <a:srcRect l="-540" t="21831" r="51661" b="54212"/>
          <a:stretch>
            <a:fillRect/>
          </a:stretch>
        </p:blipFill>
        <p:spPr>
          <a:xfrm>
            <a:off x="3491865" y="2421255"/>
            <a:ext cx="5600065" cy="4121150"/>
          </a:xfrm>
          <a:prstGeom prst="rect">
            <a:avLst/>
          </a:prstGeom>
          <a:noFill/>
          <a:ln>
            <a:noFill/>
          </a:ln>
        </p:spPr>
      </p:pic>
      <p:sp>
        <p:nvSpPr>
          <p:cNvPr id="3" name="文本框 2"/>
          <p:cNvSpPr txBox="1"/>
          <p:nvPr/>
        </p:nvSpPr>
        <p:spPr>
          <a:xfrm>
            <a:off x="-144145" y="368935"/>
            <a:ext cx="4834255" cy="460375"/>
          </a:xfrm>
          <a:prstGeom prst="rect">
            <a:avLst/>
          </a:prstGeom>
          <a:noFill/>
        </p:spPr>
        <p:txBody>
          <a:bodyPr wrap="square" rtlCol="0">
            <a:spAutoFit/>
          </a:bodyPr>
          <a:p>
            <a:r>
              <a:rPr lang="en-US" altLang="zh-CN" b="1"/>
              <a:t>2</a:t>
            </a:r>
            <a:r>
              <a:rPr lang="zh-CN" altLang="en-US" b="1"/>
              <a:t>、减速器附件的结构设计</a:t>
            </a:r>
            <a:endParaRPr lang="zh-CN" altLang="en-US" b="1"/>
          </a:p>
        </p:txBody>
      </p:sp>
      <p:sp>
        <p:nvSpPr>
          <p:cNvPr id="4" name="文本框 3"/>
          <p:cNvSpPr txBox="1"/>
          <p:nvPr/>
        </p:nvSpPr>
        <p:spPr>
          <a:xfrm>
            <a:off x="432435" y="1089025"/>
            <a:ext cx="3799840" cy="460375"/>
          </a:xfrm>
          <a:prstGeom prst="rect">
            <a:avLst/>
          </a:prstGeom>
          <a:noFill/>
        </p:spPr>
        <p:txBody>
          <a:bodyPr wrap="square" rtlCol="0">
            <a:spAutoFit/>
          </a:bodyPr>
          <a:p>
            <a:r>
              <a:rPr lang="en-US" altLang="zh-CN" b="1"/>
              <a:t>1</a:t>
            </a:r>
            <a:r>
              <a:rPr lang="zh-CN" altLang="en-US" b="1"/>
              <a:t>）</a:t>
            </a:r>
            <a:r>
              <a:rPr lang="zh-CN" altLang="en-US" b="1"/>
              <a:t>检查孔和视孔盖</a:t>
            </a:r>
            <a:endParaRPr lang="zh-CN" altLang="en-US" b="1"/>
          </a:p>
        </p:txBody>
      </p:sp>
      <p:sp>
        <p:nvSpPr>
          <p:cNvPr id="6" name="文本框 5"/>
          <p:cNvSpPr txBox="1"/>
          <p:nvPr/>
        </p:nvSpPr>
        <p:spPr>
          <a:xfrm>
            <a:off x="467995" y="1917065"/>
            <a:ext cx="3799840" cy="460375"/>
          </a:xfrm>
          <a:prstGeom prst="rect">
            <a:avLst/>
          </a:prstGeom>
          <a:noFill/>
        </p:spPr>
        <p:txBody>
          <a:bodyPr wrap="square" rtlCol="0">
            <a:spAutoFit/>
          </a:bodyPr>
          <a:p>
            <a:r>
              <a:rPr lang="zh-CN" altLang="en-US" b="1"/>
              <a:t>作用：检查啮合、注油</a:t>
            </a:r>
            <a:endParaRPr lang="zh-CN" altLang="en-US" b="1"/>
          </a:p>
        </p:txBody>
      </p:sp>
      <p:sp>
        <p:nvSpPr>
          <p:cNvPr id="7" name="文本框 6"/>
          <p:cNvSpPr txBox="1"/>
          <p:nvPr/>
        </p:nvSpPr>
        <p:spPr>
          <a:xfrm>
            <a:off x="539750" y="2745105"/>
            <a:ext cx="2680335" cy="460375"/>
          </a:xfrm>
          <a:prstGeom prst="rect">
            <a:avLst/>
          </a:prstGeom>
          <a:noFill/>
        </p:spPr>
        <p:txBody>
          <a:bodyPr wrap="square" rtlCol="0">
            <a:spAutoFit/>
          </a:bodyPr>
          <a:p>
            <a:r>
              <a:rPr lang="zh-CN" altLang="en-US">
                <a:solidFill>
                  <a:srgbClr val="FF0000"/>
                </a:solidFill>
              </a:rPr>
              <a:t>手册</a:t>
            </a:r>
            <a:r>
              <a:rPr lang="en-US" altLang="zh-CN">
                <a:solidFill>
                  <a:srgbClr val="FF0000"/>
                </a:solidFill>
              </a:rPr>
              <a:t>P167 </a:t>
            </a:r>
            <a:r>
              <a:rPr lang="zh-CN" altLang="en-US">
                <a:solidFill>
                  <a:srgbClr val="FF0000"/>
                </a:solidFill>
              </a:rPr>
              <a:t>表</a:t>
            </a:r>
            <a:r>
              <a:rPr lang="en-US" altLang="zh-CN">
                <a:solidFill>
                  <a:srgbClr val="FF0000"/>
                </a:solidFill>
              </a:rPr>
              <a:t>11-4</a:t>
            </a:r>
            <a:endParaRPr lang="en-US" altLang="zh-CN">
              <a:solidFill>
                <a:srgbClr val="FF0000"/>
              </a:solidFill>
            </a:endParaRPr>
          </a:p>
        </p:txBody>
      </p:sp>
      <p:pic>
        <p:nvPicPr>
          <p:cNvPr id="9" name="图片 8"/>
          <p:cNvPicPr>
            <a:picLocks noChangeAspect="1"/>
          </p:cNvPicPr>
          <p:nvPr/>
        </p:nvPicPr>
        <p:blipFill>
          <a:blip r:embed="rId3"/>
          <a:srcRect b="5711"/>
          <a:stretch>
            <a:fillRect/>
          </a:stretch>
        </p:blipFill>
        <p:spPr>
          <a:xfrm>
            <a:off x="4319905" y="657225"/>
            <a:ext cx="4419600" cy="2159635"/>
          </a:xfrm>
          <a:prstGeom prst="rect">
            <a:avLst/>
          </a:prstGeom>
        </p:spPr>
      </p:pic>
    </p:spTree>
    <p:custDataLst>
      <p:tags r:id="rId4"/>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jy117"/>
          <p:cNvPicPr>
            <a:picLocks noChangeAspect="1"/>
          </p:cNvPicPr>
          <p:nvPr>
            <p:custDataLst>
              <p:tags r:id="rId1"/>
            </p:custDataLst>
          </p:nvPr>
        </p:nvPicPr>
        <p:blipFill rotWithShape="1">
          <a:blip r:embed="rId2"/>
          <a:srcRect l="-540" t="21831" r="51661" b="54212"/>
          <a:stretch>
            <a:fillRect/>
          </a:stretch>
        </p:blipFill>
        <p:spPr>
          <a:xfrm>
            <a:off x="3420110" y="2061210"/>
            <a:ext cx="5600065" cy="4121150"/>
          </a:xfrm>
          <a:prstGeom prst="rect">
            <a:avLst/>
          </a:prstGeom>
          <a:noFill/>
          <a:ln>
            <a:noFill/>
          </a:ln>
        </p:spPr>
      </p:pic>
      <p:sp>
        <p:nvSpPr>
          <p:cNvPr id="3" name="文本框 2"/>
          <p:cNvSpPr txBox="1"/>
          <p:nvPr/>
        </p:nvSpPr>
        <p:spPr>
          <a:xfrm>
            <a:off x="612140" y="765175"/>
            <a:ext cx="4485005" cy="460375"/>
          </a:xfrm>
          <a:prstGeom prst="rect">
            <a:avLst/>
          </a:prstGeom>
          <a:noFill/>
        </p:spPr>
        <p:txBody>
          <a:bodyPr wrap="square" rtlCol="0">
            <a:spAutoFit/>
          </a:bodyPr>
          <a:p>
            <a:r>
              <a:rPr lang="en-US" altLang="zh-CN"/>
              <a:t>2</a:t>
            </a:r>
            <a:r>
              <a:rPr lang="zh-CN" altLang="en-US"/>
              <a:t>）通气器（标准件，查手册）</a:t>
            </a:r>
            <a:endParaRPr lang="zh-CN" altLang="en-US"/>
          </a:p>
        </p:txBody>
      </p:sp>
      <p:sp>
        <p:nvSpPr>
          <p:cNvPr id="6" name="文本框 5"/>
          <p:cNvSpPr txBox="1"/>
          <p:nvPr/>
        </p:nvSpPr>
        <p:spPr>
          <a:xfrm>
            <a:off x="612140" y="1629410"/>
            <a:ext cx="3799840" cy="460375"/>
          </a:xfrm>
          <a:prstGeom prst="rect">
            <a:avLst/>
          </a:prstGeom>
          <a:noFill/>
        </p:spPr>
        <p:txBody>
          <a:bodyPr wrap="square" rtlCol="0">
            <a:spAutoFit/>
          </a:bodyPr>
          <a:p>
            <a:r>
              <a:rPr lang="zh-CN" altLang="en-US"/>
              <a:t>作用：内外气压平衡</a:t>
            </a:r>
            <a:endParaRPr lang="zh-CN" altLang="en-US"/>
          </a:p>
        </p:txBody>
      </p:sp>
      <p:sp>
        <p:nvSpPr>
          <p:cNvPr id="86038" name="椭圆形标注 86037"/>
          <p:cNvSpPr/>
          <p:nvPr/>
        </p:nvSpPr>
        <p:spPr>
          <a:xfrm>
            <a:off x="6480175" y="1377315"/>
            <a:ext cx="1332230" cy="805815"/>
          </a:xfrm>
          <a:prstGeom prst="wedgeEllipseCallout">
            <a:avLst>
              <a:gd name="adj1" fmla="val -79408"/>
              <a:gd name="adj2" fmla="val 120133"/>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p>
            <a:pPr algn="l"/>
            <a:r>
              <a:rPr lang="zh-CN" altLang="en-US" sz="2000" b="1" dirty="0">
                <a:solidFill>
                  <a:srgbClr val="FF3300"/>
                </a:solidFill>
                <a:latin typeface="Times New Roman" panose="02020603050405020304" pitchFamily="18" charset="0"/>
                <a:ea typeface="隶书" panose="02010509060101010101" pitchFamily="49" charset="-122"/>
              </a:rPr>
              <a:t>通气器</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7" name="文本框 6"/>
          <p:cNvSpPr txBox="1"/>
          <p:nvPr/>
        </p:nvSpPr>
        <p:spPr>
          <a:xfrm>
            <a:off x="791845" y="2637155"/>
            <a:ext cx="2680335" cy="460375"/>
          </a:xfrm>
          <a:prstGeom prst="rect">
            <a:avLst/>
          </a:prstGeom>
          <a:noFill/>
        </p:spPr>
        <p:txBody>
          <a:bodyPr wrap="square" rtlCol="0">
            <a:spAutoFit/>
          </a:bodyPr>
          <a:p>
            <a:r>
              <a:rPr lang="zh-CN" altLang="en-US">
                <a:solidFill>
                  <a:srgbClr val="FF0000"/>
                </a:solidFill>
              </a:rPr>
              <a:t>手册</a:t>
            </a:r>
            <a:r>
              <a:rPr lang="en-US" altLang="zh-CN">
                <a:solidFill>
                  <a:srgbClr val="FF0000"/>
                </a:solidFill>
              </a:rPr>
              <a:t>P168 </a:t>
            </a:r>
            <a:r>
              <a:rPr lang="zh-CN" altLang="en-US">
                <a:solidFill>
                  <a:srgbClr val="FF0000"/>
                </a:solidFill>
              </a:rPr>
              <a:t>表</a:t>
            </a:r>
            <a:r>
              <a:rPr lang="en-US" altLang="zh-CN">
                <a:solidFill>
                  <a:srgbClr val="FF0000"/>
                </a:solidFill>
              </a:rPr>
              <a:t>11-5</a:t>
            </a:r>
            <a:endParaRPr lang="en-US" altLang="zh-CN">
              <a:solidFill>
                <a:srgbClr val="FF0000"/>
              </a:solidFill>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86038"/>
                                        </p:tgtEl>
                                        <p:attrNameLst>
                                          <p:attrName>style.visibility</p:attrName>
                                        </p:attrNameLst>
                                      </p:cBhvr>
                                      <p:to>
                                        <p:strVal val="visible"/>
                                      </p:to>
                                    </p:set>
                                    <p:anim calcmode="lin" valueType="num">
                                      <p:cBhvr>
                                        <p:cTn id="7" dur="1000" fill="hold"/>
                                        <p:tgtEl>
                                          <p:spTgt spid="86038"/>
                                        </p:tgtEl>
                                        <p:attrNameLst>
                                          <p:attrName>ppt_w</p:attrName>
                                        </p:attrNameLst>
                                      </p:cBhvr>
                                      <p:tavLst>
                                        <p:tav tm="0">
                                          <p:val>
                                            <p:fltVal val="0"/>
                                          </p:val>
                                        </p:tav>
                                        <p:tav tm="100000">
                                          <p:val>
                                            <p:strVal val="#ppt_w"/>
                                          </p:val>
                                        </p:tav>
                                      </p:tavLst>
                                    </p:anim>
                                    <p:anim calcmode="lin" valueType="num">
                                      <p:cBhvr>
                                        <p:cTn id="8" dur="1000" fill="hold"/>
                                        <p:tgtEl>
                                          <p:spTgt spid="86038"/>
                                        </p:tgtEl>
                                        <p:attrNameLst>
                                          <p:attrName>ppt_h</p:attrName>
                                        </p:attrNameLst>
                                      </p:cBhvr>
                                      <p:tavLst>
                                        <p:tav tm="0">
                                          <p:val>
                                            <p:fltVal val="0"/>
                                          </p:val>
                                        </p:tav>
                                        <p:tav tm="100000">
                                          <p:val>
                                            <p:strVal val="#ppt_h"/>
                                          </p:val>
                                        </p:tav>
                                      </p:tavLst>
                                    </p:anim>
                                    <p:anim calcmode="lin" valueType="num">
                                      <p:cBhvr>
                                        <p:cTn id="9" dur="1000" fill="hold"/>
                                        <p:tgtEl>
                                          <p:spTgt spid="8603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603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38"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7950" y="549275"/>
            <a:ext cx="3710305" cy="460375"/>
          </a:xfrm>
          <a:prstGeom prst="rect">
            <a:avLst/>
          </a:prstGeom>
          <a:noFill/>
        </p:spPr>
        <p:txBody>
          <a:bodyPr wrap="square" rtlCol="0">
            <a:spAutoFit/>
          </a:bodyPr>
          <a:p>
            <a:r>
              <a:rPr lang="en-US" altLang="zh-CN" b="1"/>
              <a:t>3</a:t>
            </a:r>
            <a:r>
              <a:rPr lang="zh-CN" altLang="en-US" b="1"/>
              <a:t>）起盖螺钉</a:t>
            </a:r>
            <a:endParaRPr lang="zh-CN" altLang="en-US" b="1"/>
          </a:p>
        </p:txBody>
      </p:sp>
      <p:sp>
        <p:nvSpPr>
          <p:cNvPr id="7" name="文本框 6"/>
          <p:cNvSpPr txBox="1"/>
          <p:nvPr/>
        </p:nvSpPr>
        <p:spPr>
          <a:xfrm>
            <a:off x="4356100" y="916940"/>
            <a:ext cx="2680335" cy="460375"/>
          </a:xfrm>
          <a:prstGeom prst="rect">
            <a:avLst/>
          </a:prstGeom>
          <a:noFill/>
        </p:spPr>
        <p:txBody>
          <a:bodyPr wrap="square" rtlCol="0">
            <a:spAutoFit/>
          </a:bodyPr>
          <a:p>
            <a:r>
              <a:rPr lang="zh-CN" altLang="en-US">
                <a:solidFill>
                  <a:srgbClr val="FF0000"/>
                </a:solidFill>
              </a:rPr>
              <a:t>手册</a:t>
            </a:r>
            <a:r>
              <a:rPr lang="en-US" altLang="zh-CN">
                <a:solidFill>
                  <a:srgbClr val="FF0000"/>
                </a:solidFill>
              </a:rPr>
              <a:t>P167 </a:t>
            </a:r>
            <a:r>
              <a:rPr lang="zh-CN" altLang="en-US">
                <a:solidFill>
                  <a:srgbClr val="FF0000"/>
                </a:solidFill>
              </a:rPr>
              <a:t>表</a:t>
            </a:r>
            <a:r>
              <a:rPr lang="en-US" altLang="zh-CN">
                <a:solidFill>
                  <a:srgbClr val="FF0000"/>
                </a:solidFill>
              </a:rPr>
              <a:t>11-4</a:t>
            </a:r>
            <a:endParaRPr lang="en-US" altLang="zh-CN">
              <a:solidFill>
                <a:srgbClr val="FF0000"/>
              </a:solidFill>
            </a:endParaRPr>
          </a:p>
        </p:txBody>
      </p:sp>
      <p:sp>
        <p:nvSpPr>
          <p:cNvPr id="6" name="文本框 5"/>
          <p:cNvSpPr txBox="1"/>
          <p:nvPr/>
        </p:nvSpPr>
        <p:spPr>
          <a:xfrm>
            <a:off x="720090" y="1377315"/>
            <a:ext cx="3799840" cy="460375"/>
          </a:xfrm>
          <a:prstGeom prst="rect">
            <a:avLst/>
          </a:prstGeom>
          <a:noFill/>
        </p:spPr>
        <p:txBody>
          <a:bodyPr wrap="square" rtlCol="0">
            <a:spAutoFit/>
          </a:bodyPr>
          <a:p>
            <a:r>
              <a:rPr lang="zh-CN" altLang="en-US" b="1"/>
              <a:t>作用：顶起箱盖</a:t>
            </a:r>
            <a:endParaRPr lang="zh-CN" altLang="en-US" b="1"/>
          </a:p>
        </p:txBody>
      </p:sp>
      <p:graphicFrame>
        <p:nvGraphicFramePr>
          <p:cNvPr id="5" name="对象 4"/>
          <p:cNvGraphicFramePr/>
          <p:nvPr/>
        </p:nvGraphicFramePr>
        <p:xfrm>
          <a:off x="612140" y="2457450"/>
          <a:ext cx="3683635" cy="2943860"/>
        </p:xfrm>
        <a:graphic>
          <a:graphicData uri="http://schemas.openxmlformats.org/presentationml/2006/ole">
            <mc:AlternateContent xmlns:mc="http://schemas.openxmlformats.org/markup-compatibility/2006">
              <mc:Choice xmlns:v="urn:schemas-microsoft-com:vml" Requires="v">
                <p:oleObj spid="_x0000_s8" name="" r:id="rId1" imgW="4371975" imgH="3848100" progId="Paint.Picture">
                  <p:embed/>
                </p:oleObj>
              </mc:Choice>
              <mc:Fallback>
                <p:oleObj name="" r:id="rId1" imgW="4371975" imgH="3848100" progId="Paint.Picture">
                  <p:embed/>
                  <p:pic>
                    <p:nvPicPr>
                      <p:cNvPr id="0" name="图片 7"/>
                      <p:cNvPicPr/>
                      <p:nvPr/>
                    </p:nvPicPr>
                    <p:blipFill>
                      <a:blip r:embed="rId2"/>
                      <a:stretch>
                        <a:fillRect/>
                      </a:stretch>
                    </p:blipFill>
                    <p:spPr>
                      <a:xfrm>
                        <a:off x="612140" y="2457450"/>
                        <a:ext cx="3683635" cy="2943860"/>
                      </a:xfrm>
                      <a:prstGeom prst="rect">
                        <a:avLst/>
                      </a:prstGeom>
                    </p:spPr>
                  </p:pic>
                </p:oleObj>
              </mc:Fallback>
            </mc:AlternateContent>
          </a:graphicData>
        </a:graphic>
      </p:graphicFrame>
      <p:graphicFrame>
        <p:nvGraphicFramePr>
          <p:cNvPr id="9" name="对象 8"/>
          <p:cNvGraphicFramePr/>
          <p:nvPr/>
        </p:nvGraphicFramePr>
        <p:xfrm>
          <a:off x="4140200" y="2313305"/>
          <a:ext cx="4029710" cy="4083050"/>
        </p:xfrm>
        <a:graphic>
          <a:graphicData uri="http://schemas.openxmlformats.org/presentationml/2006/ole">
            <mc:AlternateContent xmlns:mc="http://schemas.openxmlformats.org/markup-compatibility/2006">
              <mc:Choice xmlns:v="urn:schemas-microsoft-com:vml" Requires="v">
                <p:oleObj spid="_x0000_s10" name="" r:id="rId3" imgW="4914900" imgH="5638800" progId="Paint.Picture">
                  <p:embed/>
                </p:oleObj>
              </mc:Choice>
              <mc:Fallback>
                <p:oleObj name="" r:id="rId3" imgW="4914900" imgH="5638800" progId="Paint.Picture">
                  <p:embed/>
                  <p:pic>
                    <p:nvPicPr>
                      <p:cNvPr id="0" name="图片 9"/>
                      <p:cNvPicPr/>
                      <p:nvPr/>
                    </p:nvPicPr>
                    <p:blipFill>
                      <a:blip r:embed="rId4"/>
                      <a:stretch>
                        <a:fillRect/>
                      </a:stretch>
                    </p:blipFill>
                    <p:spPr>
                      <a:xfrm>
                        <a:off x="4140200" y="2313305"/>
                        <a:ext cx="4029710" cy="4083050"/>
                      </a:xfrm>
                      <a:prstGeom prst="rect">
                        <a:avLst/>
                      </a:prstGeom>
                    </p:spPr>
                  </p:pic>
                </p:oleObj>
              </mc:Fallback>
            </mc:AlternateContent>
          </a:graphicData>
        </a:graphic>
      </p:graphicFrame>
      <p:sp>
        <p:nvSpPr>
          <p:cNvPr id="11" name="文本框 10"/>
          <p:cNvSpPr txBox="1"/>
          <p:nvPr/>
        </p:nvSpPr>
        <p:spPr>
          <a:xfrm>
            <a:off x="7164070" y="2421255"/>
            <a:ext cx="1426845" cy="368300"/>
          </a:xfrm>
          <a:prstGeom prst="rect">
            <a:avLst/>
          </a:prstGeom>
          <a:noFill/>
        </p:spPr>
        <p:txBody>
          <a:bodyPr wrap="square" rtlCol="0">
            <a:spAutoFit/>
          </a:bodyPr>
          <a:p>
            <a:r>
              <a:rPr lang="zh-CN" altLang="en-US" sz="1800" b="1">
                <a:solidFill>
                  <a:srgbClr val="FF0000"/>
                </a:solidFill>
              </a:rPr>
              <a:t>起盖螺钉</a:t>
            </a:r>
            <a:endParaRPr lang="zh-CN" altLang="en-US" sz="1800" b="1">
              <a:solidFill>
                <a:srgbClr val="FF0000"/>
              </a:solidFill>
            </a:endParaRPr>
          </a:p>
        </p:txBody>
      </p:sp>
    </p:spTree>
    <p:custDataLst>
      <p:tags r:id="rId5"/>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32435" y="693420"/>
            <a:ext cx="5603875" cy="460375"/>
          </a:xfrm>
          <a:prstGeom prst="rect">
            <a:avLst/>
          </a:prstGeom>
          <a:noFill/>
        </p:spPr>
        <p:txBody>
          <a:bodyPr wrap="square" rtlCol="0">
            <a:spAutoFit/>
          </a:bodyPr>
          <a:p>
            <a:r>
              <a:rPr lang="en-US" altLang="zh-CN" b="1"/>
              <a:t>4</a:t>
            </a:r>
            <a:r>
              <a:rPr lang="zh-CN" altLang="en-US" b="1"/>
              <a:t>）油标（标准件，结构尺寸见指导书）</a:t>
            </a:r>
            <a:endParaRPr lang="zh-CN" altLang="en-US" b="1"/>
          </a:p>
        </p:txBody>
      </p:sp>
      <p:sp>
        <p:nvSpPr>
          <p:cNvPr id="6" name="文本框 5"/>
          <p:cNvSpPr txBox="1"/>
          <p:nvPr/>
        </p:nvSpPr>
        <p:spPr>
          <a:xfrm>
            <a:off x="288290" y="1449070"/>
            <a:ext cx="3799840" cy="460375"/>
          </a:xfrm>
          <a:prstGeom prst="rect">
            <a:avLst/>
          </a:prstGeom>
          <a:noFill/>
        </p:spPr>
        <p:txBody>
          <a:bodyPr wrap="square" rtlCol="0">
            <a:spAutoFit/>
          </a:bodyPr>
          <a:p>
            <a:r>
              <a:rPr lang="zh-CN" altLang="en-US" b="1"/>
              <a:t>作用：测量油面高度</a:t>
            </a:r>
            <a:endParaRPr lang="zh-CN" altLang="en-US" b="1"/>
          </a:p>
        </p:txBody>
      </p:sp>
      <p:pic>
        <p:nvPicPr>
          <p:cNvPr id="4" name="图片 3"/>
          <p:cNvPicPr>
            <a:picLocks noChangeAspect="1"/>
          </p:cNvPicPr>
          <p:nvPr/>
        </p:nvPicPr>
        <p:blipFill>
          <a:blip r:embed="rId1"/>
          <a:stretch>
            <a:fillRect/>
          </a:stretch>
        </p:blipFill>
        <p:spPr>
          <a:xfrm>
            <a:off x="3923665" y="2240915"/>
            <a:ext cx="4010025" cy="3352800"/>
          </a:xfrm>
          <a:prstGeom prst="rect">
            <a:avLst/>
          </a:prstGeom>
        </p:spPr>
      </p:pic>
      <p:sp>
        <p:nvSpPr>
          <p:cNvPr id="5" name="文本框 4"/>
          <p:cNvSpPr txBox="1"/>
          <p:nvPr/>
        </p:nvSpPr>
        <p:spPr>
          <a:xfrm>
            <a:off x="0" y="2853055"/>
            <a:ext cx="4385310" cy="460375"/>
          </a:xfrm>
          <a:prstGeom prst="rect">
            <a:avLst/>
          </a:prstGeom>
          <a:noFill/>
        </p:spPr>
        <p:txBody>
          <a:bodyPr wrap="square" rtlCol="0">
            <a:spAutoFit/>
          </a:bodyPr>
          <a:p>
            <a:r>
              <a:rPr lang="en-US" altLang="zh-CN" b="1"/>
              <a:t>5</a:t>
            </a:r>
            <a:r>
              <a:rPr lang="zh-CN" altLang="en-US" b="1"/>
              <a:t>）放油螺塞（标准件）</a:t>
            </a:r>
            <a:endParaRPr lang="zh-CN" altLang="en-US" b="1"/>
          </a:p>
        </p:txBody>
      </p:sp>
      <p:pic>
        <p:nvPicPr>
          <p:cNvPr id="7" name="图片 6"/>
          <p:cNvPicPr>
            <a:picLocks noChangeAspect="1"/>
          </p:cNvPicPr>
          <p:nvPr/>
        </p:nvPicPr>
        <p:blipFill>
          <a:blip r:embed="rId2"/>
          <a:srcRect t="12107" r="63590"/>
          <a:stretch>
            <a:fillRect/>
          </a:stretch>
        </p:blipFill>
        <p:spPr>
          <a:xfrm>
            <a:off x="1727835" y="3789045"/>
            <a:ext cx="1988185" cy="2883535"/>
          </a:xfrm>
          <a:prstGeom prst="rect">
            <a:avLst/>
          </a:prstGeom>
        </p:spPr>
      </p:pic>
      <p:sp>
        <p:nvSpPr>
          <p:cNvPr id="8" name="文本框 7"/>
          <p:cNvSpPr txBox="1"/>
          <p:nvPr/>
        </p:nvSpPr>
        <p:spPr>
          <a:xfrm>
            <a:off x="-36195" y="3429000"/>
            <a:ext cx="3799840" cy="398780"/>
          </a:xfrm>
          <a:prstGeom prst="rect">
            <a:avLst/>
          </a:prstGeom>
          <a:noFill/>
        </p:spPr>
        <p:txBody>
          <a:bodyPr wrap="square" rtlCol="0">
            <a:spAutoFit/>
          </a:bodyPr>
          <a:p>
            <a:r>
              <a:rPr lang="zh-CN" altLang="en-US" sz="2000" b="1"/>
              <a:t>作用：排出油污</a:t>
            </a:r>
            <a:endParaRPr lang="zh-CN" altLang="en-US" sz="2000" b="1"/>
          </a:p>
        </p:txBody>
      </p:sp>
      <p:sp>
        <p:nvSpPr>
          <p:cNvPr id="9" name="文本框 8"/>
          <p:cNvSpPr txBox="1"/>
          <p:nvPr/>
        </p:nvSpPr>
        <p:spPr>
          <a:xfrm>
            <a:off x="683895" y="2061210"/>
            <a:ext cx="2680335" cy="460375"/>
          </a:xfrm>
          <a:prstGeom prst="rect">
            <a:avLst/>
          </a:prstGeom>
          <a:noFill/>
        </p:spPr>
        <p:txBody>
          <a:bodyPr wrap="square" rtlCol="0">
            <a:spAutoFit/>
          </a:bodyPr>
          <a:p>
            <a:r>
              <a:rPr lang="zh-CN" altLang="en-US">
                <a:solidFill>
                  <a:srgbClr val="FF0000"/>
                </a:solidFill>
              </a:rPr>
              <a:t>手册</a:t>
            </a:r>
            <a:r>
              <a:rPr lang="en-US" altLang="zh-CN">
                <a:solidFill>
                  <a:srgbClr val="FF0000"/>
                </a:solidFill>
              </a:rPr>
              <a:t>P93 </a:t>
            </a:r>
            <a:r>
              <a:rPr lang="zh-CN" altLang="en-US">
                <a:solidFill>
                  <a:srgbClr val="FF0000"/>
                </a:solidFill>
              </a:rPr>
              <a:t>表</a:t>
            </a:r>
            <a:r>
              <a:rPr lang="en-US" altLang="zh-CN">
                <a:solidFill>
                  <a:srgbClr val="FF0000"/>
                </a:solidFill>
              </a:rPr>
              <a:t>7-10</a:t>
            </a:r>
            <a:endParaRPr lang="en-US" altLang="zh-CN">
              <a:solidFill>
                <a:srgbClr val="FF0000"/>
              </a:solidFill>
            </a:endParaRPr>
          </a:p>
        </p:txBody>
      </p:sp>
      <p:sp>
        <p:nvSpPr>
          <p:cNvPr id="10" name="文本框 9"/>
          <p:cNvSpPr txBox="1"/>
          <p:nvPr/>
        </p:nvSpPr>
        <p:spPr>
          <a:xfrm>
            <a:off x="4284345" y="5733415"/>
            <a:ext cx="2680335" cy="460375"/>
          </a:xfrm>
          <a:prstGeom prst="rect">
            <a:avLst/>
          </a:prstGeom>
          <a:noFill/>
        </p:spPr>
        <p:txBody>
          <a:bodyPr wrap="square" rtlCol="0">
            <a:spAutoFit/>
          </a:bodyPr>
          <a:p>
            <a:r>
              <a:rPr lang="zh-CN" altLang="en-US">
                <a:solidFill>
                  <a:srgbClr val="FF0000"/>
                </a:solidFill>
              </a:rPr>
              <a:t>手册</a:t>
            </a:r>
            <a:r>
              <a:rPr lang="en-US" altLang="zh-CN">
                <a:solidFill>
                  <a:srgbClr val="FF0000"/>
                </a:solidFill>
              </a:rPr>
              <a:t>P93 </a:t>
            </a:r>
            <a:r>
              <a:rPr lang="zh-CN" altLang="en-US">
                <a:solidFill>
                  <a:srgbClr val="FF0000"/>
                </a:solidFill>
              </a:rPr>
              <a:t>表</a:t>
            </a:r>
            <a:r>
              <a:rPr lang="en-US" altLang="zh-CN">
                <a:solidFill>
                  <a:srgbClr val="FF0000"/>
                </a:solidFill>
              </a:rPr>
              <a:t>7-11</a:t>
            </a:r>
            <a:endParaRPr lang="en-US" altLang="zh-CN">
              <a:solidFill>
                <a:srgbClr val="FF0000"/>
              </a:solidFill>
            </a:endParaRPr>
          </a:p>
        </p:txBody>
      </p:sp>
    </p:spTree>
    <p:custDataLst>
      <p:tags r:id="rId3"/>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95605" y="441325"/>
            <a:ext cx="5193030" cy="460375"/>
          </a:xfrm>
          <a:prstGeom prst="rect">
            <a:avLst/>
          </a:prstGeom>
          <a:noFill/>
        </p:spPr>
        <p:txBody>
          <a:bodyPr wrap="square" rtlCol="0">
            <a:spAutoFit/>
          </a:bodyPr>
          <a:p>
            <a:r>
              <a:rPr lang="en-US" altLang="zh-CN"/>
              <a:t>6</a:t>
            </a:r>
            <a:r>
              <a:rPr lang="zh-CN" altLang="en-US"/>
              <a:t>）定位销（两个，对角线布置）</a:t>
            </a:r>
            <a:endParaRPr lang="zh-CN" altLang="en-US"/>
          </a:p>
        </p:txBody>
      </p:sp>
      <p:sp>
        <p:nvSpPr>
          <p:cNvPr id="5" name="文本框 4"/>
          <p:cNvSpPr txBox="1"/>
          <p:nvPr/>
        </p:nvSpPr>
        <p:spPr>
          <a:xfrm>
            <a:off x="540385" y="1089025"/>
            <a:ext cx="3619500" cy="829945"/>
          </a:xfrm>
          <a:prstGeom prst="rect">
            <a:avLst/>
          </a:prstGeom>
          <a:noFill/>
        </p:spPr>
        <p:txBody>
          <a:bodyPr wrap="square" rtlCol="0">
            <a:spAutoFit/>
          </a:bodyPr>
          <a:p>
            <a:r>
              <a:rPr lang="zh-CN" altLang="en-US"/>
              <a:t>作用：确定箱盖箱体的相对位置</a:t>
            </a:r>
            <a:endParaRPr lang="zh-CN" altLang="en-US"/>
          </a:p>
        </p:txBody>
      </p:sp>
      <p:sp>
        <p:nvSpPr>
          <p:cNvPr id="6" name="文本框 5"/>
          <p:cNvSpPr txBox="1"/>
          <p:nvPr/>
        </p:nvSpPr>
        <p:spPr>
          <a:xfrm>
            <a:off x="1259840" y="2673350"/>
            <a:ext cx="2315210" cy="460375"/>
          </a:xfrm>
          <a:prstGeom prst="rect">
            <a:avLst/>
          </a:prstGeom>
          <a:noFill/>
        </p:spPr>
        <p:txBody>
          <a:bodyPr wrap="square" rtlCol="0">
            <a:spAutoFit/>
          </a:bodyPr>
          <a:p>
            <a:r>
              <a:rPr lang="zh-CN" altLang="en-US"/>
              <a:t>采用圆锥销</a:t>
            </a:r>
            <a:endParaRPr lang="zh-CN" altLang="en-US"/>
          </a:p>
        </p:txBody>
      </p:sp>
      <p:pic>
        <p:nvPicPr>
          <p:cNvPr id="86041" name="图片 86040"/>
          <p:cNvPicPr>
            <a:picLocks noChangeAspect="1"/>
          </p:cNvPicPr>
          <p:nvPr/>
        </p:nvPicPr>
        <p:blipFill>
          <a:blip r:embed="rId1">
            <a:lum contrast="24000"/>
          </a:blip>
          <a:srcRect r="6534" b="2637"/>
          <a:stretch>
            <a:fillRect/>
          </a:stretch>
        </p:blipFill>
        <p:spPr>
          <a:xfrm flipH="1">
            <a:off x="3707765" y="1629410"/>
            <a:ext cx="5021263" cy="5105400"/>
          </a:xfrm>
          <a:prstGeom prst="rect">
            <a:avLst/>
          </a:prstGeom>
          <a:noFill/>
          <a:ln w="9525">
            <a:noFill/>
          </a:ln>
        </p:spPr>
      </p:pic>
      <p:sp>
        <p:nvSpPr>
          <p:cNvPr id="86048" name="椭圆形标注 86047"/>
          <p:cNvSpPr/>
          <p:nvPr/>
        </p:nvSpPr>
        <p:spPr>
          <a:xfrm>
            <a:off x="2988310" y="3681095"/>
            <a:ext cx="990600" cy="609600"/>
          </a:xfrm>
          <a:prstGeom prst="wedgeEllipseCallout">
            <a:avLst>
              <a:gd name="adj1" fmla="val 126987"/>
              <a:gd name="adj2" fmla="val 178229"/>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p>
            <a:pPr algn="l"/>
            <a:r>
              <a:rPr lang="zh-CN" altLang="en-US" sz="2000" b="1" dirty="0">
                <a:solidFill>
                  <a:srgbClr val="FF3300"/>
                </a:solidFill>
                <a:latin typeface="Times New Roman" panose="02020603050405020304" pitchFamily="18" charset="0"/>
                <a:ea typeface="隶书" panose="02010509060101010101" pitchFamily="49" charset="-122"/>
              </a:rPr>
              <a:t>定位销</a:t>
            </a:r>
            <a:endParaRPr lang="zh-CN" altLang="en-US" sz="2000" b="1" dirty="0">
              <a:solidFill>
                <a:srgbClr val="FF3300"/>
              </a:solidFill>
              <a:latin typeface="Times New Roman" panose="02020603050405020304" pitchFamily="18" charset="0"/>
              <a:ea typeface="隶书" panose="02010509060101010101" pitchFamily="49"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86048"/>
                                        </p:tgtEl>
                                        <p:attrNameLst>
                                          <p:attrName>style.visibility</p:attrName>
                                        </p:attrNameLst>
                                      </p:cBhvr>
                                      <p:to>
                                        <p:strVal val="visible"/>
                                      </p:to>
                                    </p:set>
                                    <p:anim calcmode="lin" valueType="num">
                                      <p:cBhvr>
                                        <p:cTn id="7" dur="1000" fill="hold"/>
                                        <p:tgtEl>
                                          <p:spTgt spid="86048"/>
                                        </p:tgtEl>
                                        <p:attrNameLst>
                                          <p:attrName>ppt_w</p:attrName>
                                        </p:attrNameLst>
                                      </p:cBhvr>
                                      <p:tavLst>
                                        <p:tav tm="0">
                                          <p:val>
                                            <p:fltVal val="0"/>
                                          </p:val>
                                        </p:tav>
                                        <p:tav tm="100000">
                                          <p:val>
                                            <p:strVal val="#ppt_w"/>
                                          </p:val>
                                        </p:tav>
                                      </p:tavLst>
                                    </p:anim>
                                    <p:anim calcmode="lin" valueType="num">
                                      <p:cBhvr>
                                        <p:cTn id="8" dur="1000" fill="hold"/>
                                        <p:tgtEl>
                                          <p:spTgt spid="86048"/>
                                        </p:tgtEl>
                                        <p:attrNameLst>
                                          <p:attrName>ppt_h</p:attrName>
                                        </p:attrNameLst>
                                      </p:cBhvr>
                                      <p:tavLst>
                                        <p:tav tm="0">
                                          <p:val>
                                            <p:fltVal val="0"/>
                                          </p:val>
                                        </p:tav>
                                        <p:tav tm="100000">
                                          <p:val>
                                            <p:strVal val="#ppt_h"/>
                                          </p:val>
                                        </p:tav>
                                      </p:tavLst>
                                    </p:anim>
                                    <p:anim calcmode="lin" valueType="num">
                                      <p:cBhvr>
                                        <p:cTn id="9" dur="1000" fill="hold"/>
                                        <p:tgtEl>
                                          <p:spTgt spid="8604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604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48"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6041" name="图片 86040"/>
          <p:cNvPicPr>
            <a:picLocks noChangeAspect="1"/>
          </p:cNvPicPr>
          <p:nvPr/>
        </p:nvPicPr>
        <p:blipFill>
          <a:blip r:embed="rId1">
            <a:lum contrast="24000"/>
          </a:blip>
          <a:srcRect r="6534" b="2637"/>
          <a:stretch>
            <a:fillRect/>
          </a:stretch>
        </p:blipFill>
        <p:spPr>
          <a:xfrm flipH="1">
            <a:off x="3527425" y="1053465"/>
            <a:ext cx="5021263" cy="5105400"/>
          </a:xfrm>
          <a:prstGeom prst="rect">
            <a:avLst/>
          </a:prstGeom>
          <a:noFill/>
          <a:ln w="9525">
            <a:noFill/>
          </a:ln>
        </p:spPr>
      </p:pic>
      <p:sp>
        <p:nvSpPr>
          <p:cNvPr id="3" name="文本框 2"/>
          <p:cNvSpPr txBox="1"/>
          <p:nvPr/>
        </p:nvSpPr>
        <p:spPr>
          <a:xfrm>
            <a:off x="614045" y="405765"/>
            <a:ext cx="5176520" cy="460375"/>
          </a:xfrm>
          <a:prstGeom prst="rect">
            <a:avLst/>
          </a:prstGeom>
          <a:noFill/>
        </p:spPr>
        <p:txBody>
          <a:bodyPr wrap="square" rtlCol="0">
            <a:spAutoFit/>
          </a:bodyPr>
          <a:p>
            <a:r>
              <a:rPr lang="en-US" altLang="zh-CN" b="1"/>
              <a:t>7</a:t>
            </a:r>
            <a:r>
              <a:rPr lang="zh-CN" altLang="en-US" b="1"/>
              <a:t>）</a:t>
            </a:r>
            <a:r>
              <a:rPr lang="zh-CN" altLang="en-US" b="1"/>
              <a:t>起吊装置（尺寸有要求，见手册）</a:t>
            </a:r>
            <a:endParaRPr lang="zh-CN" altLang="en-US" b="1"/>
          </a:p>
        </p:txBody>
      </p:sp>
      <p:sp>
        <p:nvSpPr>
          <p:cNvPr id="86048" name="椭圆形标注 86047"/>
          <p:cNvSpPr/>
          <p:nvPr/>
        </p:nvSpPr>
        <p:spPr>
          <a:xfrm>
            <a:off x="2807970" y="1125220"/>
            <a:ext cx="990600" cy="609600"/>
          </a:xfrm>
          <a:prstGeom prst="wedgeEllipseCallout">
            <a:avLst>
              <a:gd name="adj1" fmla="val 126987"/>
              <a:gd name="adj2" fmla="val 178229"/>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p>
            <a:pPr algn="l"/>
            <a:r>
              <a:rPr lang="zh-CN" altLang="en-US" sz="2000" b="1" dirty="0">
                <a:solidFill>
                  <a:srgbClr val="FF3300"/>
                </a:solidFill>
                <a:latin typeface="Times New Roman" panose="02020603050405020304" pitchFamily="18" charset="0"/>
                <a:ea typeface="隶书" panose="02010509060101010101" pitchFamily="49" charset="-122"/>
              </a:rPr>
              <a:t>吊耳</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4" name="椭圆形标注 3"/>
          <p:cNvSpPr/>
          <p:nvPr/>
        </p:nvSpPr>
        <p:spPr>
          <a:xfrm>
            <a:off x="2411730" y="3105150"/>
            <a:ext cx="990600" cy="609600"/>
          </a:xfrm>
          <a:prstGeom prst="wedgeEllipseCallout">
            <a:avLst>
              <a:gd name="adj1" fmla="val 126987"/>
              <a:gd name="adj2" fmla="val 178229"/>
            </a:avLst>
          </a:prstGeom>
          <a:solidFill>
            <a:srgbClr val="CCFFCC">
              <a:alpha val="50000"/>
            </a:srgbClr>
          </a:solidFill>
          <a:ln w="28575" cap="flat" cmpd="sng">
            <a:solidFill>
              <a:srgbClr val="FF3300"/>
            </a:solidFill>
            <a:prstDash val="solid"/>
            <a:miter/>
            <a:headEnd type="none" w="med" len="med"/>
            <a:tailEnd type="none" w="med" len="med"/>
          </a:ln>
        </p:spPr>
        <p:txBody>
          <a:bodyPr wrap="none" anchor="ctr"/>
          <a:p>
            <a:pPr algn="l"/>
            <a:r>
              <a:rPr lang="zh-CN" altLang="en-US" sz="2000" b="1" dirty="0">
                <a:solidFill>
                  <a:srgbClr val="FF3300"/>
                </a:solidFill>
                <a:latin typeface="Times New Roman" panose="02020603050405020304" pitchFamily="18" charset="0"/>
                <a:ea typeface="隶书" panose="02010509060101010101" pitchFamily="49" charset="-122"/>
              </a:rPr>
              <a:t>吊钩</a:t>
            </a:r>
            <a:endParaRPr lang="zh-CN" altLang="en-US" sz="2000" b="1" dirty="0">
              <a:solidFill>
                <a:srgbClr val="FF3300"/>
              </a:solidFill>
              <a:latin typeface="Times New Roman" panose="02020603050405020304" pitchFamily="18" charset="0"/>
              <a:ea typeface="隶书" panose="02010509060101010101" pitchFamily="49" charset="-122"/>
            </a:endParaRPr>
          </a:p>
        </p:txBody>
      </p:sp>
      <p:sp>
        <p:nvSpPr>
          <p:cNvPr id="5" name="文本框 4"/>
          <p:cNvSpPr txBox="1"/>
          <p:nvPr/>
        </p:nvSpPr>
        <p:spPr>
          <a:xfrm>
            <a:off x="287655" y="1485265"/>
            <a:ext cx="2386965" cy="706755"/>
          </a:xfrm>
          <a:prstGeom prst="rect">
            <a:avLst/>
          </a:prstGeom>
          <a:noFill/>
        </p:spPr>
        <p:txBody>
          <a:bodyPr wrap="square" rtlCol="0">
            <a:spAutoFit/>
          </a:bodyPr>
          <a:p>
            <a:r>
              <a:rPr lang="zh-CN" altLang="en-US" sz="2000"/>
              <a:t>在箱盖上直接铸造出吊耳来起吊箱盖</a:t>
            </a:r>
            <a:endParaRPr lang="zh-CN" altLang="en-US" sz="2000"/>
          </a:p>
        </p:txBody>
      </p:sp>
      <p:sp>
        <p:nvSpPr>
          <p:cNvPr id="6" name="文本框 5"/>
          <p:cNvSpPr txBox="1"/>
          <p:nvPr/>
        </p:nvSpPr>
        <p:spPr>
          <a:xfrm>
            <a:off x="575945" y="3933190"/>
            <a:ext cx="2386965" cy="1014730"/>
          </a:xfrm>
          <a:prstGeom prst="rect">
            <a:avLst/>
          </a:prstGeom>
          <a:noFill/>
        </p:spPr>
        <p:txBody>
          <a:bodyPr wrap="square" rtlCol="0">
            <a:spAutoFit/>
          </a:bodyPr>
          <a:p>
            <a:r>
              <a:rPr lang="zh-CN" altLang="en-US" sz="2000"/>
              <a:t>在箱体两侧凸缘下铸造出吊钩，来吊运整台减速器。</a:t>
            </a:r>
            <a:endParaRPr lang="zh-CN" altLang="en-US" sz="2000"/>
          </a:p>
        </p:txBody>
      </p:sp>
      <p:sp>
        <p:nvSpPr>
          <p:cNvPr id="7" name="文本框 6"/>
          <p:cNvSpPr txBox="1"/>
          <p:nvPr/>
        </p:nvSpPr>
        <p:spPr>
          <a:xfrm>
            <a:off x="5651500" y="368935"/>
            <a:ext cx="2680335" cy="460375"/>
          </a:xfrm>
          <a:prstGeom prst="rect">
            <a:avLst/>
          </a:prstGeom>
          <a:noFill/>
        </p:spPr>
        <p:txBody>
          <a:bodyPr wrap="square" rtlCol="0">
            <a:spAutoFit/>
          </a:bodyPr>
          <a:p>
            <a:r>
              <a:rPr lang="zh-CN" altLang="en-US">
                <a:solidFill>
                  <a:srgbClr val="FF0000"/>
                </a:solidFill>
              </a:rPr>
              <a:t>手册</a:t>
            </a:r>
            <a:r>
              <a:rPr lang="en-US" altLang="zh-CN">
                <a:solidFill>
                  <a:srgbClr val="FF0000"/>
                </a:solidFill>
              </a:rPr>
              <a:t>P167 </a:t>
            </a:r>
            <a:r>
              <a:rPr lang="zh-CN" altLang="en-US">
                <a:solidFill>
                  <a:srgbClr val="FF0000"/>
                </a:solidFill>
              </a:rPr>
              <a:t>表</a:t>
            </a:r>
            <a:r>
              <a:rPr lang="en-US" altLang="zh-CN">
                <a:solidFill>
                  <a:srgbClr val="FF0000"/>
                </a:solidFill>
              </a:rPr>
              <a:t>11-3</a:t>
            </a:r>
            <a:endParaRPr lang="en-US" altLang="zh-CN">
              <a:solidFill>
                <a:srgbClr val="FF0000"/>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86048"/>
                                        </p:tgtEl>
                                        <p:attrNameLst>
                                          <p:attrName>style.visibility</p:attrName>
                                        </p:attrNameLst>
                                      </p:cBhvr>
                                      <p:to>
                                        <p:strVal val="visible"/>
                                      </p:to>
                                    </p:set>
                                    <p:anim calcmode="lin" valueType="num">
                                      <p:cBhvr>
                                        <p:cTn id="7" dur="1000" fill="hold"/>
                                        <p:tgtEl>
                                          <p:spTgt spid="86048"/>
                                        </p:tgtEl>
                                        <p:attrNameLst>
                                          <p:attrName>ppt_w</p:attrName>
                                        </p:attrNameLst>
                                      </p:cBhvr>
                                      <p:tavLst>
                                        <p:tav tm="0">
                                          <p:val>
                                            <p:fltVal val="0"/>
                                          </p:val>
                                        </p:tav>
                                        <p:tav tm="100000">
                                          <p:val>
                                            <p:strVal val="#ppt_w"/>
                                          </p:val>
                                        </p:tav>
                                      </p:tavLst>
                                    </p:anim>
                                    <p:anim calcmode="lin" valueType="num">
                                      <p:cBhvr>
                                        <p:cTn id="8" dur="1000" fill="hold"/>
                                        <p:tgtEl>
                                          <p:spTgt spid="86048"/>
                                        </p:tgtEl>
                                        <p:attrNameLst>
                                          <p:attrName>ppt_h</p:attrName>
                                        </p:attrNameLst>
                                      </p:cBhvr>
                                      <p:tavLst>
                                        <p:tav tm="0">
                                          <p:val>
                                            <p:fltVal val="0"/>
                                          </p:val>
                                        </p:tav>
                                        <p:tav tm="100000">
                                          <p:val>
                                            <p:strVal val="#ppt_h"/>
                                          </p:val>
                                        </p:tav>
                                      </p:tavLst>
                                    </p:anim>
                                    <p:anim calcmode="lin" valueType="num">
                                      <p:cBhvr>
                                        <p:cTn id="9" dur="1000" fill="hold"/>
                                        <p:tgtEl>
                                          <p:spTgt spid="8604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604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48" grpId="0" bldLvl="0" animBg="1"/>
      <p:bldP spid="4"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对象 2"/>
          <p:cNvGraphicFramePr/>
          <p:nvPr/>
        </p:nvGraphicFramePr>
        <p:xfrm>
          <a:off x="972344" y="1196975"/>
          <a:ext cx="7170896" cy="4332446"/>
        </p:xfrm>
        <a:graphic>
          <a:graphicData uri="http://schemas.openxmlformats.org/presentationml/2006/ole">
            <mc:AlternateContent xmlns:mc="http://schemas.openxmlformats.org/markup-compatibility/2006">
              <mc:Choice xmlns:v="urn:schemas-microsoft-com:vml" Requires="v">
                <p:oleObj spid="_x0000_s4" name="" r:id="rId1" imgW="9553575" imgH="5772150" progId="Paint.Picture">
                  <p:embed/>
                </p:oleObj>
              </mc:Choice>
              <mc:Fallback>
                <p:oleObj name="" r:id="rId1" imgW="9553575" imgH="5772150" progId="Paint.Picture">
                  <p:embed/>
                  <p:pic>
                    <p:nvPicPr>
                      <p:cNvPr id="0" name="图片 3"/>
                      <p:cNvPicPr/>
                      <p:nvPr/>
                    </p:nvPicPr>
                    <p:blipFill>
                      <a:blip r:embed="rId2">
                        <a:lum contrast="18000"/>
                      </a:blip>
                      <a:stretch>
                        <a:fillRect/>
                      </a:stretch>
                    </p:blipFill>
                    <p:spPr>
                      <a:xfrm>
                        <a:off x="972344" y="1196975"/>
                        <a:ext cx="7170896" cy="4332446"/>
                      </a:xfrm>
                      <a:prstGeom prst="rect">
                        <a:avLst/>
                      </a:prstGeom>
                    </p:spPr>
                  </p:pic>
                </p:oleObj>
              </mc:Fallback>
            </mc:AlternateContent>
          </a:graphicData>
        </a:graphic>
      </p:graphicFrame>
    </p:spTree>
    <p:custDataLst>
      <p:tags r:id="rId3"/>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64235" y="1160780"/>
            <a:ext cx="7502525" cy="2861310"/>
          </a:xfrm>
          <a:prstGeom prst="rect">
            <a:avLst/>
          </a:prstGeom>
          <a:solidFill>
            <a:schemeClr val="accent5">
              <a:lumMod val="40000"/>
              <a:lumOff val="60000"/>
            </a:schemeClr>
          </a:solidFill>
        </p:spPr>
        <p:txBody>
          <a:bodyPr wrap="square" rtlCol="0">
            <a:spAutoFit/>
          </a:bodyPr>
          <a:p>
            <a:pPr algn="l">
              <a:lnSpc>
                <a:spcPct val="150000"/>
              </a:lnSpc>
            </a:pPr>
            <a:r>
              <a:rPr lang="zh-CN" altLang="en-US" sz="2000" b="1"/>
              <a:t>装配图的内容：</a:t>
            </a:r>
            <a:endParaRPr lang="zh-CN" altLang="en-US" sz="2000" b="1"/>
          </a:p>
          <a:p>
            <a:pPr algn="l">
              <a:lnSpc>
                <a:spcPct val="150000"/>
              </a:lnSpc>
            </a:pPr>
            <a:r>
              <a:rPr lang="en-US" altLang="zh-CN" sz="2000" b="1"/>
              <a:t>   </a:t>
            </a:r>
            <a:r>
              <a:rPr lang="zh-CN" altLang="en-US" sz="2000" b="1"/>
              <a:t>三个视图（主视图、俯视图、左视图）</a:t>
            </a:r>
            <a:endParaRPr lang="zh-CN" altLang="en-US" sz="2000" b="1"/>
          </a:p>
          <a:p>
            <a:pPr algn="l">
              <a:lnSpc>
                <a:spcPct val="150000"/>
              </a:lnSpc>
            </a:pPr>
            <a:r>
              <a:rPr lang="en-US" altLang="zh-CN" sz="2000" b="1"/>
              <a:t>   </a:t>
            </a:r>
            <a:r>
              <a:rPr lang="zh-CN" altLang="en-US" sz="2000" b="1"/>
              <a:t>尺寸标注</a:t>
            </a:r>
            <a:endParaRPr lang="zh-CN" altLang="en-US" sz="2000" b="1"/>
          </a:p>
          <a:p>
            <a:pPr algn="l">
              <a:lnSpc>
                <a:spcPct val="150000"/>
              </a:lnSpc>
            </a:pPr>
            <a:r>
              <a:rPr lang="en-US" altLang="zh-CN" sz="2000" b="1"/>
              <a:t>   </a:t>
            </a:r>
            <a:r>
              <a:rPr lang="zh-CN" altLang="en-US" sz="2000" b="1"/>
              <a:t>技术要求</a:t>
            </a:r>
            <a:endParaRPr lang="zh-CN" altLang="en-US" sz="2000" b="1"/>
          </a:p>
          <a:p>
            <a:pPr algn="l">
              <a:lnSpc>
                <a:spcPct val="150000"/>
              </a:lnSpc>
            </a:pPr>
            <a:r>
              <a:rPr lang="en-US" altLang="zh-CN" sz="2000" b="1"/>
              <a:t>   </a:t>
            </a:r>
            <a:r>
              <a:rPr lang="zh-CN" altLang="en-US" sz="2000" b="1"/>
              <a:t>零件编号</a:t>
            </a:r>
            <a:endParaRPr lang="zh-CN" altLang="en-US" sz="2000" b="1"/>
          </a:p>
          <a:p>
            <a:pPr algn="l">
              <a:lnSpc>
                <a:spcPct val="150000"/>
              </a:lnSpc>
            </a:pPr>
            <a:r>
              <a:rPr lang="en-US" altLang="zh-CN" sz="2000" b="1"/>
              <a:t>   </a:t>
            </a:r>
            <a:r>
              <a:rPr lang="zh-CN" altLang="en-US" sz="2000" b="1"/>
              <a:t>明细表、标题栏</a:t>
            </a:r>
            <a:endParaRPr lang="zh-CN" altLang="en-US" sz="2000" b="1"/>
          </a:p>
        </p:txBody>
      </p:sp>
      <p:sp>
        <p:nvSpPr>
          <p:cNvPr id="3" name="文本框 2"/>
          <p:cNvSpPr txBox="1"/>
          <p:nvPr/>
        </p:nvSpPr>
        <p:spPr>
          <a:xfrm>
            <a:off x="215900" y="373380"/>
            <a:ext cx="6826250" cy="460375"/>
          </a:xfrm>
          <a:prstGeom prst="rect">
            <a:avLst/>
          </a:prstGeom>
          <a:noFill/>
        </p:spPr>
        <p:txBody>
          <a:bodyPr wrap="square" rtlCol="0">
            <a:spAutoFit/>
          </a:bodyPr>
          <a:p>
            <a:pPr algn="l"/>
            <a:r>
              <a:rPr lang="en-US" altLang="zh-CN">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4</a:t>
            </a:r>
            <a:r>
              <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、减速箱装配图</a:t>
            </a:r>
            <a:r>
              <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sym typeface="+mn-ea"/>
              </a:rPr>
              <a:t>完成阶段的工作</a:t>
            </a:r>
            <a:endParaRPr lang="zh-CN" altLang="en-US">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74762" name="文本框 74761"/>
          <p:cNvSpPr txBox="1"/>
          <p:nvPr/>
        </p:nvSpPr>
        <p:spPr>
          <a:xfrm>
            <a:off x="604520" y="4364990"/>
            <a:ext cx="7934960" cy="1568450"/>
          </a:xfrm>
          <a:prstGeom prst="rect">
            <a:avLst/>
          </a:prstGeom>
          <a:noFill/>
          <a:ln w="9525">
            <a:noFill/>
          </a:ln>
        </p:spPr>
        <p:txBody>
          <a:bodyPr wrap="square">
            <a:spAutoFit/>
          </a:bodyPr>
          <a:p>
            <a:pPr algn="l">
              <a:lnSpc>
                <a:spcPct val="150000"/>
              </a:lnSpc>
              <a:spcBef>
                <a:spcPts val="0"/>
              </a:spcBef>
            </a:pPr>
            <a:r>
              <a:rPr lang="en-US" altLang="zh-CN" b="1" dirty="0">
                <a:latin typeface="Times New Roman" panose="02020603050405020304" pitchFamily="18" charset="0"/>
              </a:rPr>
              <a:t>    </a:t>
            </a:r>
            <a:r>
              <a:rPr lang="en-US" altLang="zh-CN" sz="2000" dirty="0">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装配图底图完成后，应进行尺寸标注，技术要求、减速器特性、零部件编号及零件明细表和标题栏的填写，检查无误后加深，完成装配图。 </a:t>
            </a:r>
            <a:endParaRPr lang="zh-CN" altLang="en-US" sz="200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4762"/>
                                        </p:tgtEl>
                                        <p:attrNameLst>
                                          <p:attrName>style.visibility</p:attrName>
                                        </p:attrNameLst>
                                      </p:cBhvr>
                                      <p:to>
                                        <p:strVal val="visible"/>
                                      </p:to>
                                    </p:set>
                                    <p:anim calcmode="lin" valueType="num">
                                      <p:cBhvr additive="base">
                                        <p:cTn id="7" dur="500" fill="hold"/>
                                        <p:tgtEl>
                                          <p:spTgt spid="74762"/>
                                        </p:tgtEl>
                                        <p:attrNameLst>
                                          <p:attrName>ppt_x</p:attrName>
                                        </p:attrNameLst>
                                      </p:cBhvr>
                                      <p:tavLst>
                                        <p:tav tm="0">
                                          <p:val>
                                            <p:strVal val="0-#ppt_w/2"/>
                                          </p:val>
                                        </p:tav>
                                        <p:tav tm="100000">
                                          <p:val>
                                            <p:strVal val="#ppt_x"/>
                                          </p:val>
                                        </p:tav>
                                      </p:tavLst>
                                    </p:anim>
                                    <p:anim calcmode="lin" valueType="num">
                                      <p:cBhvr additive="base">
                                        <p:cTn id="8" dur="500" fill="hold"/>
                                        <p:tgtEl>
                                          <p:spTgt spid="747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70" name="文本框 74769"/>
          <p:cNvSpPr txBox="1"/>
          <p:nvPr/>
        </p:nvSpPr>
        <p:spPr>
          <a:xfrm>
            <a:off x="35560" y="476885"/>
            <a:ext cx="8569325" cy="39878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pPr>
            <a:r>
              <a:rPr 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4.1</a:t>
            </a:r>
            <a:r>
              <a:rPr lang="en-US" altLang="zh-CN" sz="2000" dirty="0">
                <a:solidFill>
                  <a:srgbClr val="000000"/>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尺寸标注</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sym typeface="Wingdings" panose="05000000000000000000" pitchFamily="2" charset="2"/>
              </a:rPr>
              <a:t>：装配图上只标注以下四类尺寸</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74777" name="文本框 74776"/>
          <p:cNvSpPr txBox="1"/>
          <p:nvPr/>
        </p:nvSpPr>
        <p:spPr>
          <a:xfrm>
            <a:off x="144145" y="1524635"/>
            <a:ext cx="8991600" cy="460375"/>
          </a:xfrm>
          <a:prstGeom prst="rect">
            <a:avLst/>
          </a:prstGeom>
          <a:noFill/>
          <a:ln w="9525">
            <a:noFill/>
          </a:ln>
        </p:spPr>
        <p:txBody>
          <a:bodyPr>
            <a:spAutoFit/>
          </a:bodyPr>
          <a:lstStyle/>
          <a:p>
            <a:pPr algn="l">
              <a:spcBef>
                <a:spcPct val="50000"/>
              </a:spcBef>
            </a:pPr>
            <a:r>
              <a:rPr lang="en-US" altLang="zh-CN" b="1" dirty="0">
                <a:latin typeface="Times New Roman" panose="02020603050405020304" pitchFamily="18" charset="0"/>
              </a:rPr>
              <a:t> </a:t>
            </a:r>
            <a:r>
              <a:rPr lang="zh-CN" altLang="en-US" b="1" dirty="0">
                <a:solidFill>
                  <a:srgbClr val="A02904"/>
                </a:solidFill>
                <a:latin typeface="Times New Roman" panose="02020603050405020304" pitchFamily="18" charset="0"/>
                <a:ea typeface="楷体_GB2312" pitchFamily="49" charset="-122"/>
              </a:rPr>
              <a:t>（</a:t>
            </a:r>
            <a:r>
              <a:rPr lang="en-US" altLang="zh-CN" b="1" dirty="0">
                <a:solidFill>
                  <a:srgbClr val="A02904"/>
                </a:solidFill>
                <a:latin typeface="Times New Roman" panose="02020603050405020304" pitchFamily="18" charset="0"/>
                <a:ea typeface="楷体_GB2312" pitchFamily="49" charset="-122"/>
              </a:rPr>
              <a:t>1</a:t>
            </a:r>
            <a:r>
              <a:rPr lang="zh-CN" altLang="en-US" b="1" dirty="0">
                <a:solidFill>
                  <a:srgbClr val="A02904"/>
                </a:solidFill>
                <a:latin typeface="Times New Roman" panose="02020603050405020304" pitchFamily="18" charset="0"/>
                <a:ea typeface="楷体_GB2312" pitchFamily="49" charset="-122"/>
              </a:rPr>
              <a:t>） </a:t>
            </a:r>
            <a:r>
              <a:rPr lang="zh-CN" altLang="en-US" b="1" dirty="0">
                <a:solidFill>
                  <a:srgbClr val="A02904"/>
                </a:solidFill>
                <a:latin typeface="楷体_GB2312" pitchFamily="49" charset="-122"/>
                <a:ea typeface="楷体_GB2312" pitchFamily="49" charset="-122"/>
              </a:rPr>
              <a:t>特性尺寸</a:t>
            </a:r>
            <a:r>
              <a:rPr lang="zh-CN" altLang="en-US" b="1" dirty="0">
                <a:solidFill>
                  <a:srgbClr val="000000"/>
                </a:solidFill>
                <a:latin typeface="楷体_GB2312" pitchFamily="49" charset="-122"/>
                <a:ea typeface="楷体_GB2312" pitchFamily="49" charset="-122"/>
              </a:rPr>
              <a:t>。</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指减速器的中心距及偏差。</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74778" name="文本框 74777"/>
          <p:cNvSpPr txBox="1"/>
          <p:nvPr/>
        </p:nvSpPr>
        <p:spPr>
          <a:xfrm>
            <a:off x="71755" y="2096770"/>
            <a:ext cx="7877810" cy="768350"/>
          </a:xfrm>
          <a:prstGeom prst="rect">
            <a:avLst/>
          </a:prstGeom>
          <a:noFill/>
          <a:ln w="9525">
            <a:noFill/>
          </a:ln>
        </p:spPr>
        <p:txBody>
          <a:bodyPr wrap="square">
            <a:spAutoFit/>
          </a:bodyPr>
          <a:lstStyle/>
          <a:p>
            <a:pPr algn="l">
              <a:spcBef>
                <a:spcPct val="50000"/>
              </a:spcBef>
            </a:pPr>
            <a:r>
              <a:rPr lang="en-US" altLang="zh-CN" b="1" dirty="0">
                <a:latin typeface="Times New Roman" panose="02020603050405020304" pitchFamily="18" charset="0"/>
              </a:rPr>
              <a:t> </a:t>
            </a:r>
            <a:r>
              <a:rPr lang="zh-CN" altLang="en-US" b="1" dirty="0">
                <a:solidFill>
                  <a:srgbClr val="A02904"/>
                </a:solidFill>
                <a:latin typeface="Times New Roman" panose="02020603050405020304" pitchFamily="18" charset="0"/>
                <a:ea typeface="楷体_GB2312" pitchFamily="49" charset="-122"/>
              </a:rPr>
              <a:t>（</a:t>
            </a:r>
            <a:r>
              <a:rPr lang="en-US" altLang="zh-CN" b="1" dirty="0">
                <a:solidFill>
                  <a:srgbClr val="A02904"/>
                </a:solidFill>
                <a:latin typeface="Times New Roman" panose="02020603050405020304" pitchFamily="18" charset="0"/>
                <a:ea typeface="楷体_GB2312" pitchFamily="49" charset="-122"/>
              </a:rPr>
              <a:t>2</a:t>
            </a:r>
            <a:r>
              <a:rPr lang="zh-CN" altLang="en-US" b="1" dirty="0">
                <a:solidFill>
                  <a:srgbClr val="A02904"/>
                </a:solidFill>
                <a:latin typeface="Times New Roman" panose="02020603050405020304" pitchFamily="18" charset="0"/>
                <a:ea typeface="楷体_GB2312" pitchFamily="49" charset="-122"/>
              </a:rPr>
              <a:t>） 配合尺寸</a:t>
            </a:r>
            <a:r>
              <a:rPr lang="zh-CN" altLang="en-US" b="1" dirty="0">
                <a:solidFill>
                  <a:srgbClr val="000000"/>
                </a:solidFill>
                <a:latin typeface="楷体_GB2312" pitchFamily="49" charset="-122"/>
                <a:ea typeface="楷体_GB2312" pitchFamily="49" charset="-122"/>
              </a:rPr>
              <a:t>。</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如齿轮、带轮、联轴器和轴的配合，轴承和轴、</a:t>
            </a:r>
            <a:r>
              <a:rPr lang="en-US" altLang="zh-CN" sz="2000" dirty="0">
                <a:solidFill>
                  <a:srgbClr val="000000"/>
                </a:solidFill>
                <a:latin typeface="黑体" panose="02010609060101010101" pitchFamily="49" charset="-122"/>
                <a:ea typeface="黑体" panose="02010609060101010101" pitchFamily="49" charset="-122"/>
                <a:cs typeface="黑体" panose="02010609060101010101" pitchFamily="49" charset="-122"/>
              </a:rPr>
              <a:t>		</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轴承座的配合等。</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74780" name="文本框 74779"/>
          <p:cNvSpPr txBox="1"/>
          <p:nvPr/>
        </p:nvSpPr>
        <p:spPr>
          <a:xfrm>
            <a:off x="215900" y="3032760"/>
            <a:ext cx="8991600" cy="460375"/>
          </a:xfrm>
          <a:prstGeom prst="rect">
            <a:avLst/>
          </a:prstGeom>
          <a:noFill/>
          <a:ln w="9525">
            <a:noFill/>
          </a:ln>
        </p:spPr>
        <p:txBody>
          <a:bodyPr>
            <a:spAutoFit/>
          </a:bodyPr>
          <a:lstStyle/>
          <a:p>
            <a:pPr algn="l">
              <a:spcBef>
                <a:spcPct val="50000"/>
              </a:spcBef>
            </a:pPr>
            <a:r>
              <a:rPr lang="en-US" altLang="zh-CN" b="1" dirty="0">
                <a:latin typeface="Times New Roman" panose="02020603050405020304" pitchFamily="18" charset="0"/>
              </a:rPr>
              <a:t> </a:t>
            </a:r>
            <a:r>
              <a:rPr lang="zh-CN" altLang="en-US" b="1" dirty="0">
                <a:solidFill>
                  <a:srgbClr val="A02904"/>
                </a:solidFill>
                <a:latin typeface="Times New Roman" panose="02020603050405020304" pitchFamily="18" charset="0"/>
                <a:ea typeface="楷体_GB2312" pitchFamily="49" charset="-122"/>
              </a:rPr>
              <a:t>（</a:t>
            </a:r>
            <a:r>
              <a:rPr lang="en-US" altLang="zh-CN" b="1" dirty="0">
                <a:solidFill>
                  <a:srgbClr val="A02904"/>
                </a:solidFill>
                <a:latin typeface="Times New Roman" panose="02020603050405020304" pitchFamily="18" charset="0"/>
                <a:ea typeface="楷体_GB2312" pitchFamily="49" charset="-122"/>
              </a:rPr>
              <a:t>3</a:t>
            </a:r>
            <a:r>
              <a:rPr lang="zh-CN" altLang="en-US" b="1" dirty="0">
                <a:solidFill>
                  <a:srgbClr val="A02904"/>
                </a:solidFill>
                <a:latin typeface="Times New Roman" panose="02020603050405020304" pitchFamily="18" charset="0"/>
                <a:ea typeface="楷体_GB2312" pitchFamily="49" charset="-122"/>
              </a:rPr>
              <a:t>） </a:t>
            </a:r>
            <a:r>
              <a:rPr lang="zh-CN" altLang="en-US" b="1" dirty="0">
                <a:solidFill>
                  <a:srgbClr val="A02904"/>
                </a:solidFill>
                <a:latin typeface="楷体_GB2312" pitchFamily="49" charset="-122"/>
                <a:ea typeface="楷体_GB2312" pitchFamily="49" charset="-122"/>
              </a:rPr>
              <a:t>安装尺寸</a:t>
            </a:r>
            <a:r>
              <a:rPr lang="zh-CN" altLang="en-US" b="1" dirty="0">
                <a:solidFill>
                  <a:srgbClr val="000000"/>
                </a:solidFill>
                <a:latin typeface="楷体_GB2312" pitchFamily="49" charset="-122"/>
                <a:ea typeface="楷体_GB2312" pitchFamily="49" charset="-122"/>
              </a:rPr>
              <a:t>。</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如底板尺寸、中心高、地脚螺栓孔及位置等。</a:t>
            </a:r>
            <a:endParaRPr lang="zh-CN" altLang="en-US" b="1">
              <a:solidFill>
                <a:srgbClr val="000000"/>
              </a:solidFill>
              <a:latin typeface="楷体_GB2312" pitchFamily="49" charset="-122"/>
              <a:ea typeface="楷体_GB2312" pitchFamily="49" charset="-122"/>
            </a:endParaRPr>
          </a:p>
        </p:txBody>
      </p:sp>
      <p:sp>
        <p:nvSpPr>
          <p:cNvPr id="74781" name="文本框 74780"/>
          <p:cNvSpPr txBox="1"/>
          <p:nvPr/>
        </p:nvSpPr>
        <p:spPr>
          <a:xfrm>
            <a:off x="144145" y="3730625"/>
            <a:ext cx="8991600" cy="460375"/>
          </a:xfrm>
          <a:prstGeom prst="rect">
            <a:avLst/>
          </a:prstGeom>
          <a:noFill/>
          <a:ln w="9525">
            <a:noFill/>
          </a:ln>
        </p:spPr>
        <p:txBody>
          <a:bodyPr>
            <a:spAutoFit/>
          </a:bodyPr>
          <a:lstStyle/>
          <a:p>
            <a:pPr algn="l">
              <a:spcBef>
                <a:spcPct val="50000"/>
              </a:spcBef>
            </a:pPr>
            <a:r>
              <a:rPr lang="en-US" altLang="zh-CN" b="1" dirty="0">
                <a:latin typeface="Times New Roman" panose="02020603050405020304" pitchFamily="18" charset="0"/>
              </a:rPr>
              <a:t> </a:t>
            </a:r>
            <a:r>
              <a:rPr lang="zh-CN" altLang="en-US" b="1" dirty="0">
                <a:solidFill>
                  <a:srgbClr val="A02904"/>
                </a:solidFill>
                <a:latin typeface="Times New Roman" panose="02020603050405020304" pitchFamily="18" charset="0"/>
                <a:ea typeface="楷体_GB2312" pitchFamily="49" charset="-122"/>
              </a:rPr>
              <a:t>（</a:t>
            </a:r>
            <a:r>
              <a:rPr lang="en-US" altLang="zh-CN" b="1" dirty="0">
                <a:solidFill>
                  <a:srgbClr val="A02904"/>
                </a:solidFill>
                <a:latin typeface="Times New Roman" panose="02020603050405020304" pitchFamily="18" charset="0"/>
                <a:ea typeface="楷体_GB2312" pitchFamily="49" charset="-122"/>
              </a:rPr>
              <a:t>4</a:t>
            </a:r>
            <a:r>
              <a:rPr lang="zh-CN" altLang="en-US" b="1" dirty="0">
                <a:solidFill>
                  <a:srgbClr val="A02904"/>
                </a:solidFill>
                <a:latin typeface="Times New Roman" panose="02020603050405020304" pitchFamily="18" charset="0"/>
                <a:ea typeface="楷体_GB2312" pitchFamily="49" charset="-122"/>
              </a:rPr>
              <a:t>） </a:t>
            </a:r>
            <a:r>
              <a:rPr lang="zh-CN" altLang="en-US" b="1" dirty="0">
                <a:solidFill>
                  <a:srgbClr val="A02904"/>
                </a:solidFill>
                <a:latin typeface="楷体_GB2312" pitchFamily="49" charset="-122"/>
                <a:ea typeface="楷体_GB2312" pitchFamily="49" charset="-122"/>
              </a:rPr>
              <a:t>外形尺寸</a:t>
            </a:r>
            <a:r>
              <a:rPr lang="zh-CN" altLang="en-US" b="1" dirty="0">
                <a:solidFill>
                  <a:srgbClr val="000000"/>
                </a:solidFill>
                <a:latin typeface="楷体_GB2312" pitchFamily="49" charset="-122"/>
                <a:ea typeface="楷体_GB2312" pitchFamily="49" charset="-122"/>
              </a:rPr>
              <a:t>。</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指总长、总宽、总高</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grpSp>
        <p:nvGrpSpPr>
          <p:cNvPr id="74782" name="组合 74781"/>
          <p:cNvGrpSpPr/>
          <p:nvPr/>
        </p:nvGrpSpPr>
        <p:grpSpPr>
          <a:xfrm>
            <a:off x="8115300" y="6515100"/>
            <a:ext cx="1028700" cy="342900"/>
            <a:chOff x="5112" y="4104"/>
            <a:chExt cx="648" cy="216"/>
          </a:xfrm>
        </p:grpSpPr>
        <p:pic>
          <p:nvPicPr>
            <p:cNvPr id="74783" name="图片 74782"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74784" name="组合 74783"/>
            <p:cNvGrpSpPr/>
            <p:nvPr/>
          </p:nvGrpSpPr>
          <p:grpSpPr>
            <a:xfrm>
              <a:off x="5352" y="4104"/>
              <a:ext cx="408" cy="216"/>
              <a:chOff x="5232" y="4100"/>
              <a:chExt cx="408" cy="216"/>
            </a:xfrm>
          </p:grpSpPr>
          <p:pic>
            <p:nvPicPr>
              <p:cNvPr id="74785" name="图片 74784"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74786" name="图片 74785"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4770"/>
                                        </p:tgtEl>
                                        <p:attrNameLst>
                                          <p:attrName>style.visibility</p:attrName>
                                        </p:attrNameLst>
                                      </p:cBhvr>
                                      <p:to>
                                        <p:strVal val="visible"/>
                                      </p:to>
                                    </p:set>
                                    <p:anim calcmode="lin" valueType="num">
                                      <p:cBhvr additive="base">
                                        <p:cTn id="7" dur="500" fill="hold"/>
                                        <p:tgtEl>
                                          <p:spTgt spid="74770"/>
                                        </p:tgtEl>
                                        <p:attrNameLst>
                                          <p:attrName>ppt_x</p:attrName>
                                        </p:attrNameLst>
                                      </p:cBhvr>
                                      <p:tavLst>
                                        <p:tav tm="0">
                                          <p:val>
                                            <p:strVal val="0-#ppt_w/2"/>
                                          </p:val>
                                        </p:tav>
                                        <p:tav tm="100000">
                                          <p:val>
                                            <p:strVal val="#ppt_x"/>
                                          </p:val>
                                        </p:tav>
                                      </p:tavLst>
                                    </p:anim>
                                    <p:anim calcmode="lin" valueType="num">
                                      <p:cBhvr additive="base">
                                        <p:cTn id="8" dur="500" fill="hold"/>
                                        <p:tgtEl>
                                          <p:spTgt spid="747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4777"/>
                                        </p:tgtEl>
                                        <p:attrNameLst>
                                          <p:attrName>style.visibility</p:attrName>
                                        </p:attrNameLst>
                                      </p:cBhvr>
                                      <p:to>
                                        <p:strVal val="visible"/>
                                      </p:to>
                                    </p:set>
                                    <p:anim calcmode="lin" valueType="num">
                                      <p:cBhvr additive="base">
                                        <p:cTn id="13" dur="500" fill="hold"/>
                                        <p:tgtEl>
                                          <p:spTgt spid="74777"/>
                                        </p:tgtEl>
                                        <p:attrNameLst>
                                          <p:attrName>ppt_x</p:attrName>
                                        </p:attrNameLst>
                                      </p:cBhvr>
                                      <p:tavLst>
                                        <p:tav tm="0">
                                          <p:val>
                                            <p:strVal val="0-#ppt_w/2"/>
                                          </p:val>
                                        </p:tav>
                                        <p:tav tm="100000">
                                          <p:val>
                                            <p:strVal val="#ppt_x"/>
                                          </p:val>
                                        </p:tav>
                                      </p:tavLst>
                                    </p:anim>
                                    <p:anim calcmode="lin" valueType="num">
                                      <p:cBhvr additive="base">
                                        <p:cTn id="14" dur="500" fill="hold"/>
                                        <p:tgtEl>
                                          <p:spTgt spid="7477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4778"/>
                                        </p:tgtEl>
                                        <p:attrNameLst>
                                          <p:attrName>style.visibility</p:attrName>
                                        </p:attrNameLst>
                                      </p:cBhvr>
                                      <p:to>
                                        <p:strVal val="visible"/>
                                      </p:to>
                                    </p:set>
                                    <p:anim calcmode="lin" valueType="num">
                                      <p:cBhvr additive="base">
                                        <p:cTn id="19" dur="500" fill="hold"/>
                                        <p:tgtEl>
                                          <p:spTgt spid="74778"/>
                                        </p:tgtEl>
                                        <p:attrNameLst>
                                          <p:attrName>ppt_x</p:attrName>
                                        </p:attrNameLst>
                                      </p:cBhvr>
                                      <p:tavLst>
                                        <p:tav tm="0">
                                          <p:val>
                                            <p:strVal val="0-#ppt_w/2"/>
                                          </p:val>
                                        </p:tav>
                                        <p:tav tm="100000">
                                          <p:val>
                                            <p:strVal val="#ppt_x"/>
                                          </p:val>
                                        </p:tav>
                                      </p:tavLst>
                                    </p:anim>
                                    <p:anim calcmode="lin" valueType="num">
                                      <p:cBhvr additive="base">
                                        <p:cTn id="20" dur="500" fill="hold"/>
                                        <p:tgtEl>
                                          <p:spTgt spid="7477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4780"/>
                                        </p:tgtEl>
                                        <p:attrNameLst>
                                          <p:attrName>style.visibility</p:attrName>
                                        </p:attrNameLst>
                                      </p:cBhvr>
                                      <p:to>
                                        <p:strVal val="visible"/>
                                      </p:to>
                                    </p:set>
                                    <p:anim calcmode="lin" valueType="num">
                                      <p:cBhvr additive="base">
                                        <p:cTn id="25" dur="500" fill="hold"/>
                                        <p:tgtEl>
                                          <p:spTgt spid="74780"/>
                                        </p:tgtEl>
                                        <p:attrNameLst>
                                          <p:attrName>ppt_x</p:attrName>
                                        </p:attrNameLst>
                                      </p:cBhvr>
                                      <p:tavLst>
                                        <p:tav tm="0">
                                          <p:val>
                                            <p:strVal val="0-#ppt_w/2"/>
                                          </p:val>
                                        </p:tav>
                                        <p:tav tm="100000">
                                          <p:val>
                                            <p:strVal val="#ppt_x"/>
                                          </p:val>
                                        </p:tav>
                                      </p:tavLst>
                                    </p:anim>
                                    <p:anim calcmode="lin" valueType="num">
                                      <p:cBhvr additive="base">
                                        <p:cTn id="26" dur="500" fill="hold"/>
                                        <p:tgtEl>
                                          <p:spTgt spid="7478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4781"/>
                                        </p:tgtEl>
                                        <p:attrNameLst>
                                          <p:attrName>style.visibility</p:attrName>
                                        </p:attrNameLst>
                                      </p:cBhvr>
                                      <p:to>
                                        <p:strVal val="visible"/>
                                      </p:to>
                                    </p:set>
                                    <p:anim calcmode="lin" valueType="num">
                                      <p:cBhvr additive="base">
                                        <p:cTn id="31" dur="500" fill="hold"/>
                                        <p:tgtEl>
                                          <p:spTgt spid="74781"/>
                                        </p:tgtEl>
                                        <p:attrNameLst>
                                          <p:attrName>ppt_x</p:attrName>
                                        </p:attrNameLst>
                                      </p:cBhvr>
                                      <p:tavLst>
                                        <p:tav tm="0">
                                          <p:val>
                                            <p:strVal val="0-#ppt_w/2"/>
                                          </p:val>
                                        </p:tav>
                                        <p:tav tm="100000">
                                          <p:val>
                                            <p:strVal val="#ppt_x"/>
                                          </p:val>
                                        </p:tav>
                                      </p:tavLst>
                                    </p:anim>
                                    <p:anim calcmode="lin" valueType="num">
                                      <p:cBhvr additive="base">
                                        <p:cTn id="32" dur="500" fill="hold"/>
                                        <p:tgtEl>
                                          <p:spTgt spid="747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70" grpId="0"/>
      <p:bldP spid="74777" grpId="0"/>
      <p:bldP spid="74778" grpId="0"/>
      <p:bldP spid="74780" grpId="0"/>
      <p:bldP spid="74781"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92760" y="368300"/>
            <a:ext cx="6671310" cy="460375"/>
          </a:xfrm>
          <a:prstGeom prst="rect">
            <a:avLst/>
          </a:prstGeom>
          <a:noFill/>
        </p:spPr>
        <p:txBody>
          <a:bodyPr wrap="square" rtlCol="0">
            <a:spAutoFit/>
          </a:bodyPr>
          <a:p>
            <a:pPr algn="l"/>
            <a:r>
              <a:rPr lang="en-US" b="1"/>
              <a:t>4.2 </a:t>
            </a:r>
            <a:r>
              <a:rPr lang="zh-CN" altLang="en-US" b="1"/>
              <a:t>技术特性的编写</a:t>
            </a:r>
            <a:endParaRPr lang="zh-CN" altLang="en-US" b="1"/>
          </a:p>
        </p:txBody>
      </p:sp>
      <p:sp>
        <p:nvSpPr>
          <p:cNvPr id="5" name="文本框 4"/>
          <p:cNvSpPr txBox="1"/>
          <p:nvPr/>
        </p:nvSpPr>
        <p:spPr>
          <a:xfrm>
            <a:off x="892810" y="992505"/>
            <a:ext cx="7483475" cy="1014730"/>
          </a:xfrm>
          <a:prstGeom prst="rect">
            <a:avLst/>
          </a:prstGeom>
          <a:noFill/>
        </p:spPr>
        <p:txBody>
          <a:bodyPr wrap="square" rtlCol="0">
            <a:spAutoFit/>
          </a:bodyPr>
          <a:p>
            <a:pPr algn="l">
              <a:lnSpc>
                <a:spcPct val="150000"/>
              </a:lnSpc>
            </a:pPr>
            <a:r>
              <a:rPr lang="zh-CN" altLang="en-US" sz="2000" b="1"/>
              <a:t>在装配图明细栏附近适当的位置写出减速器的技术特性，包括输入功率和转速、传动效率、传动特性（总传动比、各级传动比等）</a:t>
            </a:r>
            <a:endParaRPr lang="zh-CN" altLang="en-US" sz="2000" b="1"/>
          </a:p>
        </p:txBody>
      </p:sp>
      <p:pic>
        <p:nvPicPr>
          <p:cNvPr id="6" name="图片 5"/>
          <p:cNvPicPr>
            <a:picLocks noChangeAspect="1"/>
          </p:cNvPicPr>
          <p:nvPr/>
        </p:nvPicPr>
        <p:blipFill>
          <a:blip r:embed="rId1"/>
          <a:stretch>
            <a:fillRect/>
          </a:stretch>
        </p:blipFill>
        <p:spPr>
          <a:xfrm>
            <a:off x="648335" y="2708910"/>
            <a:ext cx="7558405" cy="2214880"/>
          </a:xfrm>
          <a:prstGeom prst="rect">
            <a:avLst/>
          </a:prstGeom>
        </p:spPr>
      </p:pic>
    </p:spTree>
    <p:custDataLst>
      <p:tags r:id="rId2"/>
    </p:custData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95605" y="476885"/>
            <a:ext cx="3942080" cy="460375"/>
          </a:xfrm>
          <a:prstGeom prst="rect">
            <a:avLst/>
          </a:prstGeom>
          <a:noFill/>
        </p:spPr>
        <p:txBody>
          <a:bodyPr wrap="square" rtlCol="0">
            <a:spAutoFit/>
          </a:bodyPr>
          <a:p>
            <a:pPr algn="l"/>
            <a:r>
              <a:rPr lang="en-US" b="1"/>
              <a:t>4.3 </a:t>
            </a:r>
            <a:r>
              <a:rPr lang="zh-CN" altLang="en-US" b="1"/>
              <a:t>技术要求的编写</a:t>
            </a:r>
            <a:endParaRPr lang="zh-CN" altLang="en-US" b="1"/>
          </a:p>
        </p:txBody>
      </p:sp>
      <p:sp>
        <p:nvSpPr>
          <p:cNvPr id="4" name="文本框 3"/>
          <p:cNvSpPr txBox="1"/>
          <p:nvPr/>
        </p:nvSpPr>
        <p:spPr>
          <a:xfrm>
            <a:off x="1404144" y="2073275"/>
            <a:ext cx="3466148" cy="2999740"/>
          </a:xfrm>
          <a:prstGeom prst="rect">
            <a:avLst/>
          </a:prstGeom>
          <a:noFill/>
        </p:spPr>
        <p:txBody>
          <a:bodyPr wrap="square" rtlCol="0">
            <a:spAutoFit/>
          </a:bodyPr>
          <a:p>
            <a:pPr marL="285750" indent="-285750" algn="l" fontAlgn="auto">
              <a:lnSpc>
                <a:spcPct val="150000"/>
              </a:lnSpc>
              <a:buFont typeface="Wingdings" panose="05000000000000000000" charset="0"/>
              <a:buChar char="Ø"/>
            </a:pPr>
            <a:r>
              <a:rPr lang="zh-CN" altLang="en-US" sz="1800"/>
              <a:t>对零件的要求</a:t>
            </a:r>
            <a:endParaRPr lang="zh-CN" altLang="en-US" sz="1800"/>
          </a:p>
          <a:p>
            <a:pPr marL="285750" indent="-285750" algn="l" fontAlgn="auto">
              <a:lnSpc>
                <a:spcPct val="150000"/>
              </a:lnSpc>
              <a:buFont typeface="Wingdings" panose="05000000000000000000" charset="0"/>
              <a:buChar char="Ø"/>
            </a:pPr>
            <a:r>
              <a:rPr lang="zh-CN" altLang="en-US" sz="1800"/>
              <a:t>对润滑剂的要求</a:t>
            </a:r>
            <a:endParaRPr lang="zh-CN" altLang="en-US" sz="1800"/>
          </a:p>
          <a:p>
            <a:pPr marL="285750" indent="-285750" algn="l" fontAlgn="auto">
              <a:lnSpc>
                <a:spcPct val="150000"/>
              </a:lnSpc>
              <a:buFont typeface="Wingdings" panose="05000000000000000000" charset="0"/>
              <a:buChar char="Ø"/>
            </a:pPr>
            <a:r>
              <a:rPr lang="zh-CN" altLang="en-US" sz="1800"/>
              <a:t>滚动轴承轴向间隙的要求</a:t>
            </a:r>
            <a:endParaRPr lang="zh-CN" altLang="en-US" sz="1800"/>
          </a:p>
          <a:p>
            <a:pPr marL="285750" indent="-285750" algn="l" fontAlgn="auto">
              <a:lnSpc>
                <a:spcPct val="150000"/>
              </a:lnSpc>
              <a:buFont typeface="Wingdings" panose="05000000000000000000" charset="0"/>
              <a:buChar char="Ø"/>
            </a:pPr>
            <a:r>
              <a:rPr lang="zh-CN" altLang="en-US" sz="1800"/>
              <a:t>传动侧隙和接触斑点的检查</a:t>
            </a:r>
            <a:endParaRPr lang="zh-CN" altLang="en-US" sz="1800"/>
          </a:p>
          <a:p>
            <a:pPr marL="285750" indent="-285750" algn="l" fontAlgn="auto">
              <a:lnSpc>
                <a:spcPct val="150000"/>
              </a:lnSpc>
              <a:buFont typeface="Wingdings" panose="05000000000000000000" charset="0"/>
              <a:buChar char="Ø"/>
            </a:pPr>
            <a:r>
              <a:rPr lang="zh-CN" altLang="en-US" sz="1800"/>
              <a:t>对密封的要求</a:t>
            </a:r>
            <a:endParaRPr lang="zh-CN" altLang="en-US" sz="1800"/>
          </a:p>
          <a:p>
            <a:pPr marL="285750" indent="-285750" algn="l" fontAlgn="auto">
              <a:lnSpc>
                <a:spcPct val="150000"/>
              </a:lnSpc>
              <a:buFont typeface="Wingdings" panose="05000000000000000000" charset="0"/>
              <a:buChar char="Ø"/>
            </a:pPr>
            <a:r>
              <a:rPr lang="zh-CN" altLang="en-US" sz="1800"/>
              <a:t>对试验的要求</a:t>
            </a:r>
            <a:endParaRPr lang="zh-CN" altLang="en-US" sz="1800"/>
          </a:p>
          <a:p>
            <a:pPr marL="285750" indent="-285750" algn="l" fontAlgn="auto">
              <a:lnSpc>
                <a:spcPct val="150000"/>
              </a:lnSpc>
              <a:buFont typeface="Wingdings" panose="05000000000000000000" charset="0"/>
              <a:buChar char="Ø"/>
            </a:pPr>
            <a:r>
              <a:rPr lang="zh-CN" altLang="en-US" sz="1800"/>
              <a:t>对外观、包装和运输的要求</a:t>
            </a:r>
            <a:endParaRPr lang="zh-CN" altLang="en-US" sz="1800"/>
          </a:p>
        </p:txBody>
      </p:sp>
      <p:sp>
        <p:nvSpPr>
          <p:cNvPr id="74779" name="文本框 74778"/>
          <p:cNvSpPr txBox="1"/>
          <p:nvPr/>
        </p:nvSpPr>
        <p:spPr>
          <a:xfrm>
            <a:off x="561340" y="1304925"/>
            <a:ext cx="8394065" cy="768350"/>
          </a:xfrm>
          <a:prstGeom prst="rect">
            <a:avLst/>
          </a:prstGeom>
          <a:noFill/>
          <a:ln w="9525">
            <a:noFill/>
          </a:ln>
        </p:spPr>
        <p:txBody>
          <a:bodyPr wrap="square">
            <a:spAutoFit/>
          </a:bodyPr>
          <a:p>
            <a:pPr algn="l">
              <a:spcBef>
                <a:spcPct val="50000"/>
              </a:spcBef>
            </a:pPr>
            <a:r>
              <a:rPr lang="en-US" altLang="zh-CN" b="1" dirty="0">
                <a:solidFill>
                  <a:srgbClr val="000000"/>
                </a:solidFill>
                <a:latin typeface="Times New Roman" panose="02020603050405020304" pitchFamily="18" charset="0"/>
                <a:ea typeface="楷体_GB2312" pitchFamily="49" charset="-122"/>
              </a:rPr>
              <a:t>        </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写明在视图上无法表示的关于装配、调整、检验、维护等方面的技术说明。</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1"/>
          <a:stretch>
            <a:fillRect/>
          </a:stretch>
        </p:blipFill>
        <p:spPr>
          <a:xfrm>
            <a:off x="503555" y="1304925"/>
            <a:ext cx="8150860" cy="4839335"/>
          </a:xfrm>
          <a:prstGeom prst="rect">
            <a:avLst/>
          </a:prstGeom>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4779"/>
                                        </p:tgtEl>
                                        <p:attrNameLst>
                                          <p:attrName>style.visibility</p:attrName>
                                        </p:attrNameLst>
                                      </p:cBhvr>
                                      <p:to>
                                        <p:strVal val="visible"/>
                                      </p:to>
                                    </p:set>
                                    <p:anim calcmode="lin" valueType="num">
                                      <p:cBhvr additive="base">
                                        <p:cTn id="7" dur="500" fill="hold"/>
                                        <p:tgtEl>
                                          <p:spTgt spid="74779"/>
                                        </p:tgtEl>
                                        <p:attrNameLst>
                                          <p:attrName>ppt_x</p:attrName>
                                        </p:attrNameLst>
                                      </p:cBhvr>
                                      <p:tavLst>
                                        <p:tav tm="0">
                                          <p:val>
                                            <p:strVal val="0-#ppt_w/2"/>
                                          </p:val>
                                        </p:tav>
                                        <p:tav tm="100000">
                                          <p:val>
                                            <p:strVal val="#ppt_x"/>
                                          </p:val>
                                        </p:tav>
                                      </p:tavLst>
                                    </p:anim>
                                    <p:anim calcmode="lin" valueType="num">
                                      <p:cBhvr additive="base">
                                        <p:cTn id="8" dur="500" fill="hold"/>
                                        <p:tgtEl>
                                          <p:spTgt spid="747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7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直接连接符 75777"/>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75787" name="文本框 75786"/>
          <p:cNvSpPr txBox="1"/>
          <p:nvPr>
            <p:custDataLst>
              <p:tags r:id="rId1"/>
            </p:custDataLst>
          </p:nvPr>
        </p:nvSpPr>
        <p:spPr>
          <a:xfrm>
            <a:off x="396240" y="736600"/>
            <a:ext cx="8569325" cy="460375"/>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pPr>
            <a:r>
              <a:rPr lang="en-US" b="1" dirty="0">
                <a:solidFill>
                  <a:srgbClr val="000000"/>
                </a:solidFill>
                <a:latin typeface="Times New Roman" panose="02020603050405020304" pitchFamily="18" charset="0"/>
                <a:ea typeface="楷体_GB2312" pitchFamily="49" charset="-122"/>
              </a:rPr>
              <a:t>4.4</a:t>
            </a:r>
            <a:r>
              <a:rPr lang="zh-CN" altLang="en-US" b="1" dirty="0">
                <a:solidFill>
                  <a:srgbClr val="000000"/>
                </a:solidFill>
                <a:latin typeface="Times New Roman" panose="02020603050405020304" pitchFamily="18" charset="0"/>
                <a:ea typeface="楷体_GB2312" pitchFamily="49" charset="-122"/>
              </a:rPr>
              <a:t>零部件编号</a:t>
            </a:r>
            <a:r>
              <a:rPr lang="zh-CN" altLang="en-US" b="1" dirty="0">
                <a:solidFill>
                  <a:srgbClr val="000000"/>
                </a:solidFill>
                <a:latin typeface="Times New Roman" panose="02020603050405020304" pitchFamily="18" charset="0"/>
                <a:ea typeface="楷体_GB2312" pitchFamily="49" charset="-122"/>
                <a:sym typeface="Wingdings" panose="05000000000000000000" pitchFamily="2" charset="2"/>
              </a:rPr>
              <a:t>：</a:t>
            </a:r>
            <a:endParaRPr lang="zh-CN" altLang="en-US" b="1" dirty="0">
              <a:solidFill>
                <a:srgbClr val="000000"/>
              </a:solidFill>
              <a:latin typeface="Times New Roman" panose="02020603050405020304" pitchFamily="18" charset="0"/>
              <a:ea typeface="楷体_GB2312" pitchFamily="49" charset="-122"/>
              <a:sym typeface="Wingdings" panose="05000000000000000000" pitchFamily="2" charset="2"/>
            </a:endParaRPr>
          </a:p>
        </p:txBody>
      </p:sp>
      <p:sp>
        <p:nvSpPr>
          <p:cNvPr id="75788" name="文本框 75787"/>
          <p:cNvSpPr txBox="1"/>
          <p:nvPr>
            <p:custDataLst>
              <p:tags r:id="rId2"/>
            </p:custDataLst>
          </p:nvPr>
        </p:nvSpPr>
        <p:spPr>
          <a:xfrm>
            <a:off x="-36195" y="1376363"/>
            <a:ext cx="8569325" cy="1014730"/>
          </a:xfrm>
          <a:prstGeom prst="rect">
            <a:avLst/>
          </a:prstGeom>
          <a:noFill/>
          <a:ln w="9525">
            <a:noFill/>
          </a:ln>
        </p:spPr>
        <p:txBody>
          <a:bodyPr>
            <a:spAutoFit/>
          </a:bodyPr>
          <a:lstStyle/>
          <a:p>
            <a:pPr lvl="3" algn="l">
              <a:lnSpc>
                <a:spcPct val="150000"/>
              </a:lnSpc>
              <a:spcBef>
                <a:spcPts val="0"/>
              </a:spcBef>
              <a:buClr>
                <a:srgbClr val="FF3300"/>
              </a:buClr>
              <a:buFont typeface="Wingdings" panose="05000000000000000000" pitchFamily="2" charset="2"/>
            </a:pP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按要求对各个零件正确编号，既不能重复也不能遗漏。各视图中的编号均按</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顺时针</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或</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逆时针</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方向排列整齐。</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75793" name="文本框 75792"/>
          <p:cNvSpPr txBox="1"/>
          <p:nvPr>
            <p:custDataLst>
              <p:tags r:id="rId3"/>
            </p:custDataLst>
          </p:nvPr>
        </p:nvSpPr>
        <p:spPr>
          <a:xfrm>
            <a:off x="288290" y="3716655"/>
            <a:ext cx="8569325" cy="460375"/>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pPr>
            <a:r>
              <a:rPr lang="en-US" b="1" dirty="0">
                <a:solidFill>
                  <a:srgbClr val="000000"/>
                </a:solidFill>
                <a:latin typeface="Times New Roman" panose="02020603050405020304" pitchFamily="18" charset="0"/>
                <a:ea typeface="楷体_GB2312" pitchFamily="49" charset="-122"/>
              </a:rPr>
              <a:t>4</a:t>
            </a:r>
            <a:r>
              <a:rPr lang="en-US" altLang="zh-CN" b="1" dirty="0">
                <a:solidFill>
                  <a:srgbClr val="000000"/>
                </a:solidFill>
                <a:latin typeface="Times New Roman" panose="02020603050405020304" pitchFamily="18" charset="0"/>
                <a:ea typeface="楷体_GB2312" pitchFamily="49" charset="-122"/>
              </a:rPr>
              <a:t>.</a:t>
            </a:r>
            <a:r>
              <a:rPr lang="en-US" altLang="zh-CN" b="1" dirty="0">
                <a:solidFill>
                  <a:srgbClr val="000000"/>
                </a:solidFill>
                <a:latin typeface="Times New Roman" panose="02020603050405020304" pitchFamily="18" charset="0"/>
                <a:ea typeface="楷体_GB2312" pitchFamily="49" charset="-122"/>
              </a:rPr>
              <a:t>5 </a:t>
            </a:r>
            <a:r>
              <a:rPr lang="zh-CN" altLang="en-US" b="1" dirty="0">
                <a:solidFill>
                  <a:srgbClr val="000000"/>
                </a:solidFill>
                <a:latin typeface="Times New Roman" panose="02020603050405020304" pitchFamily="18" charset="0"/>
                <a:ea typeface="楷体_GB2312" pitchFamily="49" charset="-122"/>
              </a:rPr>
              <a:t>零件明细表和标题栏</a:t>
            </a:r>
            <a:r>
              <a:rPr lang="zh-CN" altLang="en-US" b="1" dirty="0">
                <a:solidFill>
                  <a:srgbClr val="000000"/>
                </a:solidFill>
                <a:latin typeface="Times New Roman" panose="02020603050405020304" pitchFamily="18" charset="0"/>
                <a:ea typeface="楷体_GB2312" pitchFamily="49" charset="-122"/>
                <a:sym typeface="Wingdings" panose="05000000000000000000" pitchFamily="2" charset="2"/>
              </a:rPr>
              <a:t>：</a:t>
            </a:r>
            <a:endParaRPr lang="zh-CN" altLang="en-US" b="1" dirty="0">
              <a:solidFill>
                <a:srgbClr val="000000"/>
              </a:solidFill>
              <a:latin typeface="Times New Roman" panose="02020603050405020304" pitchFamily="18" charset="0"/>
              <a:ea typeface="楷体_GB2312" pitchFamily="49" charset="-122"/>
              <a:sym typeface="Wingdings" panose="05000000000000000000" pitchFamily="2" charset="2"/>
            </a:endParaRPr>
          </a:p>
        </p:txBody>
      </p:sp>
      <p:sp>
        <p:nvSpPr>
          <p:cNvPr id="75794" name="文本框 75793"/>
          <p:cNvSpPr txBox="1"/>
          <p:nvPr>
            <p:custDataLst>
              <p:tags r:id="rId4"/>
            </p:custDataLst>
          </p:nvPr>
        </p:nvSpPr>
        <p:spPr>
          <a:xfrm>
            <a:off x="144145" y="4436745"/>
            <a:ext cx="8310880" cy="706755"/>
          </a:xfrm>
          <a:prstGeom prst="rect">
            <a:avLst/>
          </a:prstGeom>
          <a:noFill/>
          <a:ln w="9525">
            <a:noFill/>
          </a:ln>
        </p:spPr>
        <p:txBody>
          <a:bodyPr wrap="square">
            <a:spAutoFit/>
          </a:bodyPr>
          <a:lstStyle/>
          <a:p>
            <a:pPr lvl="3" algn="l">
              <a:spcBef>
                <a:spcPct val="50000"/>
              </a:spcBef>
              <a:buClr>
                <a:srgbClr val="FF3300"/>
              </a:buClr>
              <a:buFont typeface="Wingdings" panose="05000000000000000000" pitchFamily="2" charset="2"/>
            </a:pP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零件明细表和标题栏必须符合标准 。明细表中的内容应与零部件编号对应，</a:t>
            </a:r>
            <a:r>
              <a:rPr lang="zh-CN" altLang="en-US" sz="2000" dirty="0">
                <a:solidFill>
                  <a:srgbClr val="FF0000"/>
                </a:solidFill>
                <a:latin typeface="黑体" panose="02010609060101010101" pitchFamily="49" charset="-122"/>
                <a:ea typeface="黑体" panose="02010609060101010101" pitchFamily="49" charset="-122"/>
                <a:cs typeface="黑体" panose="02010609060101010101" pitchFamily="49" charset="-122"/>
              </a:rPr>
              <a:t>由下向上</a:t>
            </a: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填写， </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grpSp>
        <p:nvGrpSpPr>
          <p:cNvPr id="75800" name="组合 75799"/>
          <p:cNvGrpSpPr/>
          <p:nvPr/>
        </p:nvGrpSpPr>
        <p:grpSpPr>
          <a:xfrm>
            <a:off x="8115300" y="6515100"/>
            <a:ext cx="1028700" cy="342900"/>
            <a:chOff x="5112" y="4104"/>
            <a:chExt cx="648" cy="216"/>
          </a:xfrm>
        </p:grpSpPr>
        <p:pic>
          <p:nvPicPr>
            <p:cNvPr id="75801" name="图片 75800" descr="返回">
              <a:hlinkClick r:id="rId5" action="ppaction://hlinksldjump"/>
            </p:cNvPr>
            <p:cNvPicPr>
              <a:picLocks noChangeAspect="1"/>
            </p:cNvPicPr>
            <p:nvPr/>
          </p:nvPicPr>
          <p:blipFill>
            <a:blip r:embed="rId6"/>
            <a:stretch>
              <a:fillRect/>
            </a:stretch>
          </p:blipFill>
          <p:spPr>
            <a:xfrm>
              <a:off x="5112" y="4104"/>
              <a:ext cx="216" cy="216"/>
            </a:xfrm>
            <a:prstGeom prst="rect">
              <a:avLst/>
            </a:prstGeom>
            <a:noFill/>
            <a:ln w="9525">
              <a:noFill/>
            </a:ln>
          </p:spPr>
        </p:pic>
        <p:grpSp>
          <p:nvGrpSpPr>
            <p:cNvPr id="75802" name="组合 75801"/>
            <p:cNvGrpSpPr/>
            <p:nvPr/>
          </p:nvGrpSpPr>
          <p:grpSpPr>
            <a:xfrm>
              <a:off x="5352" y="4104"/>
              <a:ext cx="408" cy="216"/>
              <a:chOff x="5232" y="4100"/>
              <a:chExt cx="408" cy="216"/>
            </a:xfrm>
          </p:grpSpPr>
          <p:pic>
            <p:nvPicPr>
              <p:cNvPr id="75803" name="图片 75802" descr="下一步">
                <a:hlinkClick r:id="" action="ppaction://hlinkshowjump?jump=nextslide"/>
              </p:cNvPr>
              <p:cNvPicPr>
                <a:picLocks noChangeAspect="1"/>
              </p:cNvPicPr>
              <p:nvPr/>
            </p:nvPicPr>
            <p:blipFill>
              <a:blip r:embed="rId7"/>
              <a:stretch>
                <a:fillRect/>
              </a:stretch>
            </p:blipFill>
            <p:spPr>
              <a:xfrm>
                <a:off x="5424" y="4100"/>
                <a:ext cx="216" cy="216"/>
              </a:xfrm>
              <a:prstGeom prst="rect">
                <a:avLst/>
              </a:prstGeom>
              <a:noFill/>
              <a:ln w="9525">
                <a:noFill/>
              </a:ln>
            </p:spPr>
          </p:pic>
          <p:pic>
            <p:nvPicPr>
              <p:cNvPr id="75804" name="图片 75803" descr="上一步">
                <a:hlinkClick r:id="" action="ppaction://hlinkshowjump?jump=previousslide"/>
              </p:cNvPr>
              <p:cNvPicPr>
                <a:picLocks noChangeAspect="1"/>
              </p:cNvPicPr>
              <p:nvPr/>
            </p:nvPicPr>
            <p:blipFill>
              <a:blip r:embed="rId8"/>
              <a:stretch>
                <a:fillRect/>
              </a:stretch>
            </p:blipFill>
            <p:spPr>
              <a:xfrm>
                <a:off x="5232" y="4100"/>
                <a:ext cx="216" cy="216"/>
              </a:xfrm>
              <a:prstGeom prst="rect">
                <a:avLst/>
              </a:prstGeom>
              <a:noFill/>
              <a:ln w="9525">
                <a:noFill/>
              </a:ln>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788"/>
                                        </p:tgtEl>
                                        <p:attrNameLst>
                                          <p:attrName>style.visibility</p:attrName>
                                        </p:attrNameLst>
                                      </p:cBhvr>
                                      <p:to>
                                        <p:strVal val="visible"/>
                                      </p:to>
                                    </p:set>
                                    <p:anim calcmode="lin" valueType="num">
                                      <p:cBhvr additive="base">
                                        <p:cTn id="7" dur="500" fill="hold"/>
                                        <p:tgtEl>
                                          <p:spTgt spid="75788"/>
                                        </p:tgtEl>
                                        <p:attrNameLst>
                                          <p:attrName>ppt_x</p:attrName>
                                        </p:attrNameLst>
                                      </p:cBhvr>
                                      <p:tavLst>
                                        <p:tav tm="0">
                                          <p:val>
                                            <p:strVal val="0-#ppt_w/2"/>
                                          </p:val>
                                        </p:tav>
                                        <p:tav tm="100000">
                                          <p:val>
                                            <p:strVal val="#ppt_x"/>
                                          </p:val>
                                        </p:tav>
                                      </p:tavLst>
                                    </p:anim>
                                    <p:anim calcmode="lin" valueType="num">
                                      <p:cBhvr additive="base">
                                        <p:cTn id="8" dur="500" fill="hold"/>
                                        <p:tgtEl>
                                          <p:spTgt spid="757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5793"/>
                                        </p:tgtEl>
                                        <p:attrNameLst>
                                          <p:attrName>style.visibility</p:attrName>
                                        </p:attrNameLst>
                                      </p:cBhvr>
                                      <p:to>
                                        <p:strVal val="visible"/>
                                      </p:to>
                                    </p:set>
                                    <p:anim calcmode="lin" valueType="num">
                                      <p:cBhvr additive="base">
                                        <p:cTn id="13" dur="500" fill="hold"/>
                                        <p:tgtEl>
                                          <p:spTgt spid="75793"/>
                                        </p:tgtEl>
                                        <p:attrNameLst>
                                          <p:attrName>ppt_x</p:attrName>
                                        </p:attrNameLst>
                                      </p:cBhvr>
                                      <p:tavLst>
                                        <p:tav tm="0">
                                          <p:val>
                                            <p:strVal val="0-#ppt_w/2"/>
                                          </p:val>
                                        </p:tav>
                                        <p:tav tm="100000">
                                          <p:val>
                                            <p:strVal val="#ppt_x"/>
                                          </p:val>
                                        </p:tav>
                                      </p:tavLst>
                                    </p:anim>
                                    <p:anim calcmode="lin" valueType="num">
                                      <p:cBhvr additive="base">
                                        <p:cTn id="14" dur="500" fill="hold"/>
                                        <p:tgtEl>
                                          <p:spTgt spid="7579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5794"/>
                                        </p:tgtEl>
                                        <p:attrNameLst>
                                          <p:attrName>style.visibility</p:attrName>
                                        </p:attrNameLst>
                                      </p:cBhvr>
                                      <p:to>
                                        <p:strVal val="visible"/>
                                      </p:to>
                                    </p:set>
                                    <p:anim calcmode="lin" valueType="num">
                                      <p:cBhvr additive="base">
                                        <p:cTn id="19" dur="500" fill="hold"/>
                                        <p:tgtEl>
                                          <p:spTgt spid="75794"/>
                                        </p:tgtEl>
                                        <p:attrNameLst>
                                          <p:attrName>ppt_x</p:attrName>
                                        </p:attrNameLst>
                                      </p:cBhvr>
                                      <p:tavLst>
                                        <p:tav tm="0">
                                          <p:val>
                                            <p:strVal val="0-#ppt_w/2"/>
                                          </p:val>
                                        </p:tav>
                                        <p:tav tm="100000">
                                          <p:val>
                                            <p:strVal val="#ppt_x"/>
                                          </p:val>
                                        </p:tav>
                                      </p:tavLst>
                                    </p:anim>
                                    <p:anim calcmode="lin" valueType="num">
                                      <p:cBhvr additive="base">
                                        <p:cTn id="20" dur="500" fill="hold"/>
                                        <p:tgtEl>
                                          <p:spTgt spid="757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8" grpId="0"/>
      <p:bldP spid="75793" grpId="0"/>
      <p:bldP spid="7579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476885"/>
            <a:ext cx="8933815" cy="570928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16560" y="363855"/>
            <a:ext cx="6171565" cy="460375"/>
          </a:xfrm>
          <a:prstGeom prst="rect">
            <a:avLst/>
          </a:prstGeom>
          <a:noFill/>
        </p:spPr>
        <p:txBody>
          <a:bodyPr wrap="square" rtlCol="0">
            <a:spAutoFit/>
          </a:bodyPr>
          <a:p>
            <a:pPr algn="l"/>
            <a:r>
              <a:rPr lang="en-US">
                <a:latin typeface="黑体" panose="02010609060101010101" pitchFamily="49" charset="-122"/>
                <a:ea typeface="黑体" panose="02010609060101010101" pitchFamily="49" charset="-122"/>
              </a:rPr>
              <a:t>4.6 </a:t>
            </a:r>
            <a:r>
              <a:rPr lang="zh-CN" altLang="en-US">
                <a:latin typeface="黑体" panose="02010609060101010101" pitchFamily="49" charset="-122"/>
                <a:ea typeface="黑体" panose="02010609060101010101" pitchFamily="49" charset="-122"/>
              </a:rPr>
              <a:t>装配图检查</a:t>
            </a:r>
            <a:endParaRPr lang="zh-CN" altLang="en-US">
              <a:latin typeface="黑体" panose="02010609060101010101" pitchFamily="49" charset="-122"/>
              <a:ea typeface="黑体" panose="02010609060101010101" pitchFamily="49" charset="-122"/>
            </a:endParaRPr>
          </a:p>
        </p:txBody>
      </p:sp>
      <p:sp>
        <p:nvSpPr>
          <p:cNvPr id="5" name="文本框 4"/>
          <p:cNvSpPr txBox="1"/>
          <p:nvPr/>
        </p:nvSpPr>
        <p:spPr>
          <a:xfrm>
            <a:off x="972185" y="1125220"/>
            <a:ext cx="7152640" cy="3784600"/>
          </a:xfrm>
          <a:prstGeom prst="rect">
            <a:avLst/>
          </a:prstGeom>
          <a:noFill/>
        </p:spPr>
        <p:txBody>
          <a:bodyPr wrap="square" rtlCol="0">
            <a:spAutoFit/>
          </a:bodyPr>
          <a:p>
            <a:pPr algn="l">
              <a:lnSpc>
                <a:spcPct val="150000"/>
              </a:lnSpc>
              <a:buFont typeface="+mj-ea"/>
            </a:pPr>
            <a:r>
              <a:rPr lang="zh-CN" altLang="en-US" sz="2000" b="1">
                <a:latin typeface="微软雅黑" panose="020B0503020204020204" charset="-122"/>
                <a:ea typeface="微软雅黑" panose="020B0503020204020204" charset="-122"/>
              </a:rPr>
              <a:t>①</a:t>
            </a:r>
            <a:r>
              <a:rPr lang="en-US" altLang="zh-CN" sz="2000" b="1">
                <a:latin typeface="微软雅黑" panose="020B0503020204020204" charset="-122"/>
                <a:ea typeface="微软雅黑" panose="020B0503020204020204" charset="-122"/>
              </a:rPr>
              <a:t> </a:t>
            </a:r>
            <a:r>
              <a:rPr lang="zh-CN" altLang="en-US" sz="2000" b="1"/>
              <a:t>装配图是否与传动方案一致；</a:t>
            </a:r>
            <a:endParaRPr lang="zh-CN" altLang="en-US" sz="2000" b="1"/>
          </a:p>
          <a:p>
            <a:pPr algn="l">
              <a:lnSpc>
                <a:spcPct val="150000"/>
              </a:lnSpc>
              <a:buFont typeface="+mj-ea"/>
            </a:pPr>
            <a:r>
              <a:rPr lang="zh-CN" altLang="en-US" sz="2000" b="1">
                <a:latin typeface="微软雅黑" panose="020B0503020204020204" charset="-122"/>
                <a:ea typeface="微软雅黑" panose="020B0503020204020204" charset="-122"/>
              </a:rPr>
              <a:t>②</a:t>
            </a:r>
            <a:r>
              <a:rPr lang="en-US" altLang="zh-CN" sz="2000" b="1">
                <a:latin typeface="微软雅黑" panose="020B0503020204020204" charset="-122"/>
                <a:ea typeface="微软雅黑" panose="020B0503020204020204" charset="-122"/>
              </a:rPr>
              <a:t> </a:t>
            </a:r>
            <a:r>
              <a:rPr lang="zh-CN" altLang="en-US" sz="2000" b="1"/>
              <a:t>传动件、轴、轴承及轴上零件的结构是否合理；</a:t>
            </a:r>
            <a:endParaRPr lang="zh-CN" altLang="en-US" sz="2000" b="1"/>
          </a:p>
          <a:p>
            <a:pPr indent="457200" algn="l">
              <a:lnSpc>
                <a:spcPct val="150000"/>
              </a:lnSpc>
              <a:buFont typeface="+mj-ea"/>
            </a:pPr>
            <a:r>
              <a:rPr lang="zh-CN" altLang="en-US" sz="2000" b="1"/>
              <a:t>定位、固定是否可靠</a:t>
            </a:r>
            <a:r>
              <a:rPr lang="en-US" altLang="zh-CN" sz="2000" b="1"/>
              <a:t>;</a:t>
            </a:r>
            <a:r>
              <a:rPr lang="zh-CN" altLang="en-US" sz="2000" b="1"/>
              <a:t>加工、拆装是否方便；</a:t>
            </a:r>
            <a:endParaRPr lang="zh-CN" altLang="en-US" sz="2000" b="1"/>
          </a:p>
          <a:p>
            <a:pPr indent="457200" algn="l">
              <a:lnSpc>
                <a:spcPct val="150000"/>
              </a:lnSpc>
              <a:buFont typeface="+mj-ea"/>
            </a:pPr>
            <a:r>
              <a:rPr lang="zh-CN" altLang="en-US" sz="2000" b="1"/>
              <a:t>润滑、密封如何考虑的；</a:t>
            </a:r>
            <a:endParaRPr lang="zh-CN" altLang="en-US" sz="2000" b="1"/>
          </a:p>
          <a:p>
            <a:pPr algn="l">
              <a:lnSpc>
                <a:spcPct val="150000"/>
              </a:lnSpc>
              <a:buFont typeface="+mj-ea"/>
            </a:pPr>
            <a:r>
              <a:rPr lang="zh-CN" altLang="en-US" sz="2000" b="1">
                <a:latin typeface="微软雅黑" panose="020B0503020204020204" charset="-122"/>
                <a:ea typeface="微软雅黑" panose="020B0503020204020204" charset="-122"/>
              </a:rPr>
              <a:t>③</a:t>
            </a:r>
            <a:r>
              <a:rPr lang="en-US" altLang="zh-CN" sz="2000" b="1">
                <a:latin typeface="微软雅黑" panose="020B0503020204020204" charset="-122"/>
                <a:ea typeface="微软雅黑" panose="020B0503020204020204" charset="-122"/>
              </a:rPr>
              <a:t> </a:t>
            </a:r>
            <a:r>
              <a:rPr lang="zh-CN" altLang="en-US" sz="2000" b="1"/>
              <a:t>箱体的结构与工艺性是否合理：</a:t>
            </a:r>
            <a:endParaRPr lang="zh-CN" altLang="en-US" sz="2000" b="1"/>
          </a:p>
          <a:p>
            <a:pPr marL="457200" lvl="1" indent="457200" algn="l">
              <a:lnSpc>
                <a:spcPct val="150000"/>
              </a:lnSpc>
              <a:buFont typeface="+mj-ea"/>
            </a:pPr>
            <a:r>
              <a:rPr lang="zh-CN" altLang="en-US" sz="2000" b="1"/>
              <a:t>加工与非加工面；</a:t>
            </a:r>
            <a:endParaRPr lang="zh-CN" altLang="en-US" sz="2000" b="1"/>
          </a:p>
          <a:p>
            <a:pPr marL="457200" lvl="1" indent="457200" algn="l">
              <a:lnSpc>
                <a:spcPct val="150000"/>
              </a:lnSpc>
              <a:buFont typeface="+mj-ea"/>
            </a:pPr>
            <a:r>
              <a:rPr lang="zh-CN" altLang="en-US" sz="2000" b="1"/>
              <a:t>附件的布置是否恰当、结构是否正确</a:t>
            </a:r>
            <a:endParaRPr lang="zh-CN" altLang="en-US" sz="2000" b="1"/>
          </a:p>
          <a:p>
            <a:pPr algn="l">
              <a:lnSpc>
                <a:spcPct val="150000"/>
              </a:lnSpc>
              <a:buFont typeface="+mj-ea"/>
            </a:pPr>
            <a:r>
              <a:rPr lang="zh-CN" altLang="en-US" sz="2000" b="1">
                <a:latin typeface="微软雅黑" panose="020B0503020204020204" charset="-122"/>
                <a:ea typeface="微软雅黑" panose="020B0503020204020204" charset="-122"/>
              </a:rPr>
              <a:t>④</a:t>
            </a:r>
            <a:r>
              <a:rPr lang="en-US" altLang="zh-CN" sz="2000" b="1">
                <a:latin typeface="微软雅黑" panose="020B0503020204020204" charset="-122"/>
                <a:ea typeface="微软雅黑" panose="020B0503020204020204" charset="-122"/>
              </a:rPr>
              <a:t> </a:t>
            </a:r>
            <a:r>
              <a:rPr lang="zh-CN" altLang="en-US" sz="2000" b="1"/>
              <a:t>设计计算的尺寸与图纸中的尺寸是否一致</a:t>
            </a:r>
            <a:endParaRPr lang="zh-CN" altLang="en-US" sz="2000" b="1"/>
          </a:p>
        </p:txBody>
      </p:sp>
    </p:spTree>
    <p:custDataLst>
      <p:tags r:id="rId1"/>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720090" y="1232535"/>
            <a:ext cx="7152640" cy="3322955"/>
          </a:xfrm>
          <a:prstGeom prst="rect">
            <a:avLst/>
          </a:prstGeom>
          <a:noFill/>
        </p:spPr>
        <p:txBody>
          <a:bodyPr wrap="square" rtlCol="0">
            <a:spAutoFit/>
          </a:bodyPr>
          <a:p>
            <a:pPr algn="l">
              <a:lnSpc>
                <a:spcPct val="150000"/>
              </a:lnSpc>
              <a:buFont typeface="+mj-ea"/>
            </a:pPr>
            <a:r>
              <a:rPr lang="zh-CN" altLang="en-US" sz="2000" b="1">
                <a:latin typeface="微软雅黑" panose="020B0503020204020204" charset="-122"/>
                <a:ea typeface="微软雅黑" panose="020B0503020204020204" charset="-122"/>
              </a:rPr>
              <a:t>⑤</a:t>
            </a:r>
            <a:r>
              <a:rPr lang="en-US" altLang="zh-CN" sz="2000" b="1">
                <a:latin typeface="微软雅黑" panose="020B0503020204020204" charset="-122"/>
                <a:ea typeface="微软雅黑" panose="020B0503020204020204" charset="-122"/>
              </a:rPr>
              <a:t> </a:t>
            </a:r>
            <a:r>
              <a:rPr lang="zh-CN" altLang="en-US" sz="2000" b="1"/>
              <a:t>视图表达是否符合机械制图的国家标注</a:t>
            </a:r>
            <a:r>
              <a:rPr lang="zh-CN" altLang="en-US" sz="2000" b="1"/>
              <a:t>规定：</a:t>
            </a:r>
            <a:endParaRPr lang="zh-CN" altLang="en-US" sz="2000" b="1"/>
          </a:p>
          <a:p>
            <a:pPr algn="l">
              <a:lnSpc>
                <a:spcPct val="150000"/>
              </a:lnSpc>
              <a:buFont typeface="+mj-ea"/>
            </a:pPr>
            <a:r>
              <a:rPr lang="zh-CN" altLang="en-US" sz="2000" b="1"/>
              <a:t> </a:t>
            </a:r>
            <a:r>
              <a:rPr lang="en-US" altLang="zh-CN" sz="2000" b="1"/>
              <a:t>	</a:t>
            </a:r>
            <a:r>
              <a:rPr lang="zh-CN" altLang="en-US" sz="2000" b="1"/>
              <a:t>三个视图的投影关系是否</a:t>
            </a:r>
            <a:r>
              <a:rPr lang="zh-CN" altLang="en-US" sz="2000" b="1"/>
              <a:t>正确；</a:t>
            </a:r>
            <a:endParaRPr lang="zh-CN" altLang="en-US" sz="2000" b="1"/>
          </a:p>
          <a:p>
            <a:pPr indent="457200" algn="l">
              <a:lnSpc>
                <a:spcPct val="150000"/>
              </a:lnSpc>
              <a:buFont typeface="+mj-ea"/>
            </a:pPr>
            <a:r>
              <a:rPr lang="zh-CN" altLang="en-US" sz="2000" b="1"/>
              <a:t>齿轮啮合、螺纹连接、滚动轴承等的画法是否</a:t>
            </a:r>
            <a:r>
              <a:rPr lang="zh-CN" altLang="en-US" sz="2000" b="1"/>
              <a:t>正确。</a:t>
            </a:r>
            <a:endParaRPr lang="zh-CN" altLang="en-US" sz="2000" b="1"/>
          </a:p>
          <a:p>
            <a:pPr algn="l">
              <a:lnSpc>
                <a:spcPct val="150000"/>
              </a:lnSpc>
              <a:buFont typeface="+mj-ea"/>
            </a:pPr>
            <a:r>
              <a:rPr lang="en-US" altLang="zh-CN" sz="2000" b="1">
                <a:latin typeface="微软雅黑" panose="020B0503020204020204" charset="-122"/>
                <a:ea typeface="微软雅黑" panose="020B0503020204020204" charset="-122"/>
              </a:rPr>
              <a:t>⑥ </a:t>
            </a:r>
            <a:r>
              <a:rPr lang="zh-CN" altLang="en-US" sz="2000" b="1"/>
              <a:t>尺寸标注是否正确且不</a:t>
            </a:r>
            <a:r>
              <a:rPr lang="zh-CN" altLang="en-US" sz="2000" b="1"/>
              <a:t>多余；</a:t>
            </a:r>
            <a:endParaRPr lang="zh-CN" altLang="en-US" sz="2000" b="1"/>
          </a:p>
          <a:p>
            <a:pPr indent="457200" algn="l">
              <a:lnSpc>
                <a:spcPct val="150000"/>
              </a:lnSpc>
              <a:buFont typeface="+mj-ea"/>
            </a:pPr>
            <a:r>
              <a:rPr lang="zh-CN" altLang="en-US" sz="2000" b="1"/>
              <a:t>零件序号是否按顺序编写完整，不遗漏不重复，且与明细</a:t>
            </a:r>
            <a:r>
              <a:rPr lang="en-US" altLang="zh-CN" sz="2000" b="1"/>
              <a:t>	</a:t>
            </a:r>
            <a:r>
              <a:rPr lang="zh-CN" altLang="en-US" sz="2000" b="1"/>
              <a:t>表一一对应，注意材料牌号与设计一致</a:t>
            </a:r>
            <a:endParaRPr lang="zh-CN" altLang="en-US" sz="2000" b="1"/>
          </a:p>
          <a:p>
            <a:pPr algn="l">
              <a:lnSpc>
                <a:spcPct val="150000"/>
              </a:lnSpc>
              <a:buFont typeface="+mj-ea"/>
            </a:pPr>
            <a:r>
              <a:rPr lang="zh-CN" altLang="en-US" sz="2000" b="1">
                <a:latin typeface="微软雅黑" panose="020B0503020204020204" charset="-122"/>
                <a:ea typeface="微软雅黑" panose="020B0503020204020204" charset="-122"/>
              </a:rPr>
              <a:t>⑦</a:t>
            </a:r>
            <a:r>
              <a:rPr lang="en-US" altLang="zh-CN" sz="2000" b="1">
                <a:latin typeface="微软雅黑" panose="020B0503020204020204" charset="-122"/>
                <a:ea typeface="微软雅黑" panose="020B0503020204020204" charset="-122"/>
              </a:rPr>
              <a:t> </a:t>
            </a:r>
            <a:r>
              <a:rPr lang="zh-CN" altLang="en-US" sz="2000" b="1"/>
              <a:t>标出技术特性、撰写技术</a:t>
            </a:r>
            <a:r>
              <a:rPr lang="zh-CN" altLang="en-US" sz="2000" b="1"/>
              <a:t>要求</a:t>
            </a:r>
            <a:endParaRPr lang="zh-CN" altLang="en-US" sz="2000" b="1"/>
          </a:p>
        </p:txBody>
      </p:sp>
    </p:spTree>
    <p:custDataLst>
      <p:tags r:id="rId1"/>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1560" y="692696"/>
            <a:ext cx="7920880" cy="5184576"/>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899592" y="836712"/>
            <a:ext cx="7488832" cy="4896544"/>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92014" y="2997289"/>
            <a:ext cx="1656184" cy="461665"/>
          </a:xfrm>
          <a:prstGeom prst="rect">
            <a:avLst/>
          </a:prstGeom>
          <a:noFill/>
        </p:spPr>
        <p:txBody>
          <a:bodyPr wrap="square" rtlCol="0">
            <a:spAutoFit/>
          </a:bodyPr>
          <a:lstStyle/>
          <a:p>
            <a:r>
              <a:rPr lang="en-US" altLang="zh-CN" dirty="0" smtClean="0"/>
              <a:t>1189×841</a:t>
            </a:r>
            <a:endParaRPr lang="zh-CN" altLang="en-US" dirty="0"/>
          </a:p>
        </p:txBody>
      </p:sp>
      <p:sp>
        <p:nvSpPr>
          <p:cNvPr id="5" name="文本框 4"/>
          <p:cNvSpPr txBox="1"/>
          <p:nvPr/>
        </p:nvSpPr>
        <p:spPr>
          <a:xfrm>
            <a:off x="0" y="2348881"/>
            <a:ext cx="616226" cy="461665"/>
          </a:xfrm>
          <a:prstGeom prst="rect">
            <a:avLst/>
          </a:prstGeom>
          <a:noFill/>
        </p:spPr>
        <p:txBody>
          <a:bodyPr wrap="square" rtlCol="0">
            <a:spAutoFit/>
          </a:bodyPr>
          <a:lstStyle/>
          <a:p>
            <a:r>
              <a:rPr lang="en-US" altLang="zh-CN" dirty="0" smtClean="0"/>
              <a:t>25</a:t>
            </a:r>
            <a:endParaRPr lang="zh-CN" altLang="en-US" dirty="0"/>
          </a:p>
        </p:txBody>
      </p:sp>
      <p:sp>
        <p:nvSpPr>
          <p:cNvPr id="6" name="文本框 5"/>
          <p:cNvSpPr txBox="1"/>
          <p:nvPr/>
        </p:nvSpPr>
        <p:spPr>
          <a:xfrm>
            <a:off x="5796136" y="188640"/>
            <a:ext cx="616226" cy="461665"/>
          </a:xfrm>
          <a:prstGeom prst="rect">
            <a:avLst/>
          </a:prstGeom>
          <a:noFill/>
        </p:spPr>
        <p:txBody>
          <a:bodyPr wrap="square" rtlCol="0">
            <a:spAutoFit/>
          </a:bodyPr>
          <a:lstStyle/>
          <a:p>
            <a:r>
              <a:rPr lang="en-US" altLang="zh-CN" dirty="0" smtClean="0"/>
              <a:t>10</a:t>
            </a:r>
            <a:endParaRPr lang="zh-CN" altLang="en-US" dirty="0"/>
          </a:p>
        </p:txBody>
      </p:sp>
      <p:sp>
        <p:nvSpPr>
          <p:cNvPr id="7" name="矩形 6"/>
          <p:cNvSpPr/>
          <p:nvPr/>
        </p:nvSpPr>
        <p:spPr>
          <a:xfrm>
            <a:off x="6012160" y="5229200"/>
            <a:ext cx="2376264" cy="504056"/>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804248" y="5301208"/>
            <a:ext cx="1296144" cy="461665"/>
          </a:xfrm>
          <a:prstGeom prst="rect">
            <a:avLst/>
          </a:prstGeom>
          <a:noFill/>
        </p:spPr>
        <p:txBody>
          <a:bodyPr wrap="square" rtlCol="0">
            <a:spAutoFit/>
          </a:bodyPr>
          <a:lstStyle/>
          <a:p>
            <a:r>
              <a:rPr lang="zh-CN" altLang="en-US" dirty="0" smtClean="0"/>
              <a:t>标题栏</a:t>
            </a:r>
            <a:endParaRPr lang="zh-CN" altLang="en-US" dirty="0"/>
          </a:p>
        </p:txBody>
      </p:sp>
      <p:sp>
        <p:nvSpPr>
          <p:cNvPr id="9" name="文本框 8"/>
          <p:cNvSpPr txBox="1"/>
          <p:nvPr/>
        </p:nvSpPr>
        <p:spPr>
          <a:xfrm>
            <a:off x="467544" y="116632"/>
            <a:ext cx="6840760" cy="460375"/>
          </a:xfrm>
          <a:prstGeom prst="rect">
            <a:avLst/>
          </a:prstGeom>
          <a:noFill/>
        </p:spPr>
        <p:txBody>
          <a:bodyPr wrap="square" rtlCol="0">
            <a:spAutoFit/>
          </a:bodyPr>
          <a:lstStyle/>
          <a:p>
            <a:pPr algn="l"/>
            <a:r>
              <a:rPr lang="zh-CN" altLang="en-US" dirty="0" smtClean="0"/>
              <a:t>（</a:t>
            </a:r>
            <a:r>
              <a:rPr lang="en-US" altLang="zh-CN" dirty="0" smtClean="0"/>
              <a:t>1</a:t>
            </a:r>
            <a:r>
              <a:rPr lang="zh-CN" altLang="en-US" dirty="0" smtClean="0"/>
              <a:t>）绘制图框、标题栏，</a:t>
            </a:r>
            <a:endParaRPr lang="zh-CN" altLang="en-US"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771800" y="5949280"/>
            <a:ext cx="3672408" cy="461665"/>
          </a:xfrm>
          <a:prstGeom prst="rect">
            <a:avLst/>
          </a:prstGeom>
          <a:noFill/>
        </p:spPr>
        <p:txBody>
          <a:bodyPr wrap="square" rtlCol="0">
            <a:spAutoFit/>
          </a:bodyPr>
          <a:lstStyle/>
          <a:p>
            <a:r>
              <a:rPr lang="zh-CN" altLang="en-US" dirty="0" smtClean="0"/>
              <a:t>标题栏及明细栏</a:t>
            </a:r>
            <a:endParaRPr lang="zh-CN" altLang="en-US" dirty="0"/>
          </a:p>
        </p:txBody>
      </p:sp>
      <p:grpSp>
        <p:nvGrpSpPr>
          <p:cNvPr id="8" name="组合 7"/>
          <p:cNvGrpSpPr/>
          <p:nvPr/>
        </p:nvGrpSpPr>
        <p:grpSpPr>
          <a:xfrm>
            <a:off x="618681" y="1484784"/>
            <a:ext cx="8492662" cy="4392488"/>
            <a:chOff x="618681" y="1484784"/>
            <a:chExt cx="8492662" cy="4392488"/>
          </a:xfrm>
        </p:grpSpPr>
        <p:pic>
          <p:nvPicPr>
            <p:cNvPr id="7" name="图片 6"/>
            <p:cNvPicPr>
              <a:picLocks noChangeAspect="1"/>
            </p:cNvPicPr>
            <p:nvPr/>
          </p:nvPicPr>
          <p:blipFill>
            <a:blip r:embed="rId1"/>
            <a:stretch>
              <a:fillRect/>
            </a:stretch>
          </p:blipFill>
          <p:spPr>
            <a:xfrm>
              <a:off x="618681" y="1484784"/>
              <a:ext cx="8492662" cy="4392488"/>
            </a:xfrm>
            <a:prstGeom prst="rect">
              <a:avLst/>
            </a:prstGeom>
          </p:spPr>
        </p:pic>
        <p:sp>
          <p:nvSpPr>
            <p:cNvPr id="4" name="文本框 3"/>
            <p:cNvSpPr txBox="1"/>
            <p:nvPr/>
          </p:nvSpPr>
          <p:spPr>
            <a:xfrm>
              <a:off x="1547686" y="3500909"/>
              <a:ext cx="4895850" cy="460375"/>
            </a:xfrm>
            <a:prstGeom prst="rect">
              <a:avLst/>
            </a:prstGeom>
            <a:noFill/>
          </p:spPr>
          <p:txBody>
            <a:bodyPr wrap="square" rtlCol="0">
              <a:spAutoFit/>
            </a:bodyPr>
            <a:lstStyle/>
            <a:p>
              <a:r>
                <a:rPr lang="zh-CN" altLang="en-US" sz="2000" b="1" dirty="0" smtClean="0">
                  <a:latin typeface="汉仪长仿宋体" panose="02010600000101010101" pitchFamily="2" charset="-122"/>
                  <a:ea typeface="汉仪长仿宋体" panose="02010600000101010101" pitchFamily="2" charset="-122"/>
                </a:rPr>
                <a:t>二 </a:t>
              </a:r>
              <a:r>
                <a:rPr lang="zh-CN" altLang="en-US" b="1" dirty="0" smtClean="0">
                  <a:latin typeface="汉仪长仿宋体" panose="02010600000101010101" pitchFamily="2" charset="-122"/>
                  <a:ea typeface="汉仪长仿宋体" panose="02010600000101010101" pitchFamily="2" charset="-122"/>
                </a:rPr>
                <a:t>级 圆 柱 齿 轮 减 速 器</a:t>
              </a:r>
              <a:endParaRPr lang="zh-CN" altLang="en-US" b="1" dirty="0">
                <a:latin typeface="汉仪长仿宋体" panose="02010600000101010101" pitchFamily="2" charset="-122"/>
                <a:ea typeface="汉仪长仿宋体" panose="02010600000101010101" pitchFamily="2" charset="-122"/>
              </a:endParaRPr>
            </a:p>
          </p:txBody>
        </p:sp>
        <p:sp>
          <p:nvSpPr>
            <p:cNvPr id="5" name="文本框 4"/>
            <p:cNvSpPr txBox="1"/>
            <p:nvPr/>
          </p:nvSpPr>
          <p:spPr>
            <a:xfrm>
              <a:off x="3923928" y="4077072"/>
              <a:ext cx="2448272" cy="369332"/>
            </a:xfrm>
            <a:prstGeom prst="rect">
              <a:avLst/>
            </a:prstGeom>
            <a:noFill/>
          </p:spPr>
          <p:txBody>
            <a:bodyPr wrap="square" rtlCol="0">
              <a:spAutoFit/>
            </a:bodyPr>
            <a:lstStyle/>
            <a:p>
              <a:r>
                <a:rPr lang="zh-CN" altLang="en-US" sz="1800" b="1" dirty="0" smtClean="0">
                  <a:latin typeface="汉仪长仿宋体" panose="02010600000101010101" pitchFamily="2" charset="-122"/>
                  <a:ea typeface="汉仪长仿宋体" panose="02010600000101010101" pitchFamily="2" charset="-122"/>
                </a:rPr>
                <a:t>中国矿业大学（北京）</a:t>
              </a:r>
              <a:endParaRPr lang="zh-CN" altLang="en-US" sz="1800" b="1" dirty="0">
                <a:latin typeface="汉仪长仿宋体" panose="02010600000101010101" pitchFamily="2" charset="-122"/>
                <a:ea typeface="汉仪长仿宋体" panose="02010600000101010101" pitchFamily="2" charset="-122"/>
              </a:endParaRPr>
            </a:p>
          </p:txBody>
        </p:sp>
      </p:gr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直接连接符 73729"/>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73745" name="文本框 73744"/>
          <p:cNvSpPr txBox="1"/>
          <p:nvPr/>
        </p:nvSpPr>
        <p:spPr>
          <a:xfrm>
            <a:off x="179388" y="765175"/>
            <a:ext cx="6480175" cy="460375"/>
          </a:xfrm>
          <a:prstGeom prst="rect">
            <a:avLst/>
          </a:prstGeom>
          <a:noFill/>
          <a:ln w="9525">
            <a:noFill/>
          </a:ln>
        </p:spPr>
        <p:txBody>
          <a:bodyPr>
            <a:spAutoFit/>
          </a:bodyPr>
          <a:lstStyle/>
          <a:p>
            <a:pPr algn="l">
              <a:spcBef>
                <a:spcPct val="50000"/>
              </a:spcBef>
            </a:pPr>
            <a:r>
              <a:rPr lang="zh-CN" altLang="en-US" b="1" dirty="0">
                <a:solidFill>
                  <a:srgbClr val="FF3300"/>
                </a:solidFill>
                <a:latin typeface="楷体_GB2312" pitchFamily="49" charset="-122"/>
                <a:ea typeface="楷体_GB2312" pitchFamily="49" charset="-122"/>
              </a:rPr>
              <a:t>（</a:t>
            </a:r>
            <a:r>
              <a:rPr lang="en-US" altLang="zh-CN" b="1" dirty="0">
                <a:solidFill>
                  <a:srgbClr val="FF3300"/>
                </a:solidFill>
                <a:latin typeface="楷体_GB2312" pitchFamily="49" charset="-122"/>
                <a:ea typeface="楷体_GB2312" pitchFamily="49" charset="-122"/>
              </a:rPr>
              <a:t>2</a:t>
            </a:r>
            <a:r>
              <a:rPr lang="zh-CN" altLang="en-US" b="1" dirty="0">
                <a:solidFill>
                  <a:srgbClr val="FF3300"/>
                </a:solidFill>
                <a:latin typeface="楷体_GB2312" pitchFamily="49" charset="-122"/>
                <a:ea typeface="楷体_GB2312" pitchFamily="49" charset="-122"/>
              </a:rPr>
              <a:t>）图面布置</a:t>
            </a:r>
            <a:r>
              <a:rPr lang="zh-CN" altLang="en-US" b="1" dirty="0">
                <a:solidFill>
                  <a:srgbClr val="000000"/>
                </a:solidFill>
                <a:latin typeface="楷体_GB2312" pitchFamily="49" charset="-122"/>
                <a:ea typeface="楷体_GB2312" pitchFamily="49" charset="-122"/>
              </a:rPr>
              <a:t> </a:t>
            </a:r>
            <a:endParaRPr lang="zh-CN" altLang="en-US" b="1" dirty="0">
              <a:solidFill>
                <a:srgbClr val="000000"/>
              </a:solidFill>
              <a:latin typeface="楷体_GB2312" pitchFamily="49" charset="-122"/>
              <a:ea typeface="楷体_GB2312" pitchFamily="49" charset="-122"/>
            </a:endParaRPr>
          </a:p>
        </p:txBody>
      </p:sp>
      <p:sp>
        <p:nvSpPr>
          <p:cNvPr id="73746" name="文本框 73745"/>
          <p:cNvSpPr txBox="1"/>
          <p:nvPr/>
        </p:nvSpPr>
        <p:spPr>
          <a:xfrm>
            <a:off x="323850" y="1412875"/>
            <a:ext cx="8424863" cy="822325"/>
          </a:xfrm>
          <a:prstGeom prst="rect">
            <a:avLst/>
          </a:prstGeom>
          <a:noFill/>
          <a:ln w="9525">
            <a:noFill/>
          </a:ln>
        </p:spPr>
        <p:txBody>
          <a:bodyPr>
            <a:spAutoFit/>
          </a:bodyPr>
          <a:lstStyle/>
          <a:p>
            <a:pPr algn="l">
              <a:spcBef>
                <a:spcPct val="50000"/>
              </a:spcBef>
            </a:pPr>
            <a:r>
              <a:rPr lang="en-US" altLang="zh-CN" dirty="0">
                <a:latin typeface="Times New Roman" panose="02020603050405020304" pitchFamily="18" charset="0"/>
              </a:rPr>
              <a:t>        </a:t>
            </a:r>
            <a:r>
              <a:rPr lang="zh-CN" altLang="en-US" b="1" dirty="0">
                <a:solidFill>
                  <a:srgbClr val="000000"/>
                </a:solidFill>
                <a:latin typeface="楷体_GB2312" pitchFamily="49" charset="-122"/>
                <a:ea typeface="楷体_GB2312" pitchFamily="49" charset="-122"/>
              </a:rPr>
              <a:t>绘制装配图时，首先必须考虑图面布置问题，其布置形式如下： </a:t>
            </a:r>
            <a:endParaRPr lang="zh-CN" altLang="en-US" b="1" dirty="0">
              <a:solidFill>
                <a:srgbClr val="000000"/>
              </a:solidFill>
              <a:latin typeface="楷体_GB2312" pitchFamily="49" charset="-122"/>
              <a:ea typeface="楷体_GB2312" pitchFamily="49" charset="-122"/>
            </a:endParaRPr>
          </a:p>
        </p:txBody>
      </p:sp>
      <p:pic>
        <p:nvPicPr>
          <p:cNvPr id="73750" name="图片 73749" descr="501"/>
          <p:cNvPicPr>
            <a:picLocks noChangeAspect="1"/>
          </p:cNvPicPr>
          <p:nvPr/>
        </p:nvPicPr>
        <p:blipFill>
          <a:blip r:embed="rId1"/>
          <a:stretch>
            <a:fillRect/>
          </a:stretch>
        </p:blipFill>
        <p:spPr>
          <a:xfrm>
            <a:off x="1219200" y="2286000"/>
            <a:ext cx="6096000" cy="4275138"/>
          </a:xfrm>
          <a:prstGeom prst="rect">
            <a:avLst/>
          </a:prstGeom>
          <a:noFill/>
          <a:ln w="9525">
            <a:noFill/>
          </a:ln>
        </p:spPr>
      </p:pic>
      <p:grpSp>
        <p:nvGrpSpPr>
          <p:cNvPr id="73751" name="组合 73750"/>
          <p:cNvGrpSpPr/>
          <p:nvPr/>
        </p:nvGrpSpPr>
        <p:grpSpPr>
          <a:xfrm>
            <a:off x="8115300" y="6515100"/>
            <a:ext cx="1028700" cy="342900"/>
            <a:chOff x="5112" y="4104"/>
            <a:chExt cx="648" cy="216"/>
          </a:xfrm>
        </p:grpSpPr>
        <p:pic>
          <p:nvPicPr>
            <p:cNvPr id="73752" name="图片 73751" descr="返回">
              <a:hlinkClick r:id="rId2" action="ppaction://hlinksldjump"/>
            </p:cNvPr>
            <p:cNvPicPr>
              <a:picLocks noChangeAspect="1"/>
            </p:cNvPicPr>
            <p:nvPr/>
          </p:nvPicPr>
          <p:blipFill>
            <a:blip r:embed="rId3"/>
            <a:stretch>
              <a:fillRect/>
            </a:stretch>
          </p:blipFill>
          <p:spPr>
            <a:xfrm>
              <a:off x="5112" y="4104"/>
              <a:ext cx="216" cy="216"/>
            </a:xfrm>
            <a:prstGeom prst="rect">
              <a:avLst/>
            </a:prstGeom>
            <a:noFill/>
            <a:ln w="9525">
              <a:noFill/>
            </a:ln>
          </p:spPr>
        </p:pic>
        <p:grpSp>
          <p:nvGrpSpPr>
            <p:cNvPr id="73753" name="组合 73752"/>
            <p:cNvGrpSpPr/>
            <p:nvPr/>
          </p:nvGrpSpPr>
          <p:grpSpPr>
            <a:xfrm>
              <a:off x="5352" y="4104"/>
              <a:ext cx="408" cy="216"/>
              <a:chOff x="5232" y="4100"/>
              <a:chExt cx="408" cy="216"/>
            </a:xfrm>
          </p:grpSpPr>
          <p:pic>
            <p:nvPicPr>
              <p:cNvPr id="73754" name="图片 73753" descr="下一步">
                <a:hlinkClick r:id="" action="ppaction://hlinkshowjump?jump=nextslide"/>
              </p:cNvPr>
              <p:cNvPicPr>
                <a:picLocks noChangeAspect="1"/>
              </p:cNvPicPr>
              <p:nvPr/>
            </p:nvPicPr>
            <p:blipFill>
              <a:blip r:embed="rId4"/>
              <a:stretch>
                <a:fillRect/>
              </a:stretch>
            </p:blipFill>
            <p:spPr>
              <a:xfrm>
                <a:off x="5424" y="4100"/>
                <a:ext cx="216" cy="216"/>
              </a:xfrm>
              <a:prstGeom prst="rect">
                <a:avLst/>
              </a:prstGeom>
              <a:noFill/>
              <a:ln w="9525">
                <a:noFill/>
              </a:ln>
            </p:spPr>
          </p:pic>
          <p:pic>
            <p:nvPicPr>
              <p:cNvPr id="73755" name="图片 73754" descr="上一步">
                <a:hlinkClick r:id="" action="ppaction://hlinkshowjump?jump=previousslide"/>
              </p:cNvPr>
              <p:cNvPicPr>
                <a:picLocks noChangeAspect="1"/>
              </p:cNvPicPr>
              <p:nvPr/>
            </p:nvPicPr>
            <p:blipFill>
              <a:blip r:embed="rId5"/>
              <a:stretch>
                <a:fillRect/>
              </a:stretch>
            </p:blipFill>
            <p:spPr>
              <a:xfrm>
                <a:off x="5232" y="4100"/>
                <a:ext cx="216" cy="216"/>
              </a:xfrm>
              <a:prstGeom prst="rect">
                <a:avLst/>
              </a:prstGeom>
              <a:noFill/>
              <a:ln w="9525">
                <a:noFill/>
              </a:ln>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46"/>
                                        </p:tgtEl>
                                        <p:attrNameLst>
                                          <p:attrName>style.visibility</p:attrName>
                                        </p:attrNameLst>
                                      </p:cBhvr>
                                      <p:to>
                                        <p:strVal val="visible"/>
                                      </p:to>
                                    </p:set>
                                    <p:anim calcmode="lin" valueType="num">
                                      <p:cBhvr additive="base">
                                        <p:cTn id="7" dur="500" fill="hold"/>
                                        <p:tgtEl>
                                          <p:spTgt spid="73746"/>
                                        </p:tgtEl>
                                        <p:attrNameLst>
                                          <p:attrName>ppt_x</p:attrName>
                                        </p:attrNameLst>
                                      </p:cBhvr>
                                      <p:tavLst>
                                        <p:tav tm="0">
                                          <p:val>
                                            <p:strVal val="0-#ppt_w/2"/>
                                          </p:val>
                                        </p:tav>
                                        <p:tav tm="100000">
                                          <p:val>
                                            <p:strVal val="#ppt_x"/>
                                          </p:val>
                                        </p:tav>
                                      </p:tavLst>
                                    </p:anim>
                                    <p:anim calcmode="lin" valueType="num">
                                      <p:cBhvr additive="base">
                                        <p:cTn id="8" dur="500" fill="hold"/>
                                        <p:tgtEl>
                                          <p:spTgt spid="737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3750"/>
                                        </p:tgtEl>
                                        <p:attrNameLst>
                                          <p:attrName>style.visibility</p:attrName>
                                        </p:attrNameLst>
                                      </p:cBhvr>
                                      <p:to>
                                        <p:strVal val="visible"/>
                                      </p:to>
                                    </p:set>
                                    <p:anim calcmode="lin" valueType="num">
                                      <p:cBhvr additive="base">
                                        <p:cTn id="13" dur="500" fill="hold"/>
                                        <p:tgtEl>
                                          <p:spTgt spid="73750"/>
                                        </p:tgtEl>
                                        <p:attrNameLst>
                                          <p:attrName>ppt_x</p:attrName>
                                        </p:attrNameLst>
                                      </p:cBhvr>
                                      <p:tavLst>
                                        <p:tav tm="0">
                                          <p:val>
                                            <p:strVal val="0-#ppt_w/2"/>
                                          </p:val>
                                        </p:tav>
                                        <p:tav tm="100000">
                                          <p:val>
                                            <p:strVal val="#ppt_x"/>
                                          </p:val>
                                        </p:tav>
                                      </p:tavLst>
                                    </p:anim>
                                    <p:anim calcmode="lin" valueType="num">
                                      <p:cBhvr additive="base">
                                        <p:cTn id="14" dur="500" fill="hold"/>
                                        <p:tgtEl>
                                          <p:spTgt spid="737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244475" y="188595"/>
            <a:ext cx="8655050" cy="615315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直接连接符 75777"/>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75795" name="文本框 75794"/>
          <p:cNvSpPr txBox="1"/>
          <p:nvPr>
            <p:custDataLst>
              <p:tags r:id="rId1"/>
            </p:custDataLst>
          </p:nvPr>
        </p:nvSpPr>
        <p:spPr>
          <a:xfrm>
            <a:off x="107950" y="944880"/>
            <a:ext cx="9144000" cy="460375"/>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pPr>
            <a:r>
              <a:rPr lang="en-US" altLang="zh-CN" b="1" dirty="0">
                <a:solidFill>
                  <a:srgbClr val="FF3300"/>
                </a:solidFill>
                <a:latin typeface="Times New Roman" panose="02020603050405020304" pitchFamily="18" charset="0"/>
                <a:ea typeface="楷体_GB2312" pitchFamily="49" charset="-122"/>
              </a:rPr>
              <a:t> 5</a:t>
            </a:r>
            <a:r>
              <a:rPr lang="zh-CN" altLang="en-US" b="1" dirty="0">
                <a:solidFill>
                  <a:srgbClr val="FF3300"/>
                </a:solidFill>
                <a:latin typeface="Times New Roman" panose="02020603050405020304" pitchFamily="18" charset="0"/>
                <a:ea typeface="楷体_GB2312" pitchFamily="49" charset="-122"/>
              </a:rPr>
              <a:t>、</a:t>
            </a:r>
            <a:r>
              <a:rPr lang="en-US" altLang="zh-CN" b="1" dirty="0">
                <a:solidFill>
                  <a:srgbClr val="FF3300"/>
                </a:solidFill>
                <a:latin typeface="Times New Roman" panose="02020603050405020304" pitchFamily="18" charset="0"/>
                <a:ea typeface="楷体_GB2312" pitchFamily="49" charset="-122"/>
              </a:rPr>
              <a:t> </a:t>
            </a:r>
            <a:r>
              <a:rPr lang="zh-CN" altLang="en-US" b="1" dirty="0">
                <a:solidFill>
                  <a:srgbClr val="FF3300"/>
                </a:solidFill>
                <a:latin typeface="Times New Roman" panose="02020603050405020304" pitchFamily="18" charset="0"/>
                <a:ea typeface="楷体_GB2312" pitchFamily="49" charset="-122"/>
              </a:rPr>
              <a:t>绘制零件工作图</a:t>
            </a:r>
            <a:endParaRPr lang="zh-CN" altLang="en-US" b="1" dirty="0">
              <a:solidFill>
                <a:srgbClr val="FF3300"/>
              </a:solidFill>
              <a:latin typeface="Times New Roman" panose="02020603050405020304" pitchFamily="18" charset="0"/>
              <a:ea typeface="楷体_GB2312" pitchFamily="49" charset="-122"/>
            </a:endParaRPr>
          </a:p>
        </p:txBody>
      </p:sp>
      <p:sp>
        <p:nvSpPr>
          <p:cNvPr id="75797" name="文本框 75796"/>
          <p:cNvSpPr txBox="1"/>
          <p:nvPr>
            <p:custDataLst>
              <p:tags r:id="rId2"/>
            </p:custDataLst>
          </p:nvPr>
        </p:nvSpPr>
        <p:spPr>
          <a:xfrm>
            <a:off x="-215900" y="1701165"/>
            <a:ext cx="8915400" cy="1014730"/>
          </a:xfrm>
          <a:prstGeom prst="rect">
            <a:avLst/>
          </a:prstGeom>
          <a:noFill/>
          <a:ln w="9525">
            <a:noFill/>
          </a:ln>
        </p:spPr>
        <p:txBody>
          <a:bodyPr lIns="0" rIns="0">
            <a:spAutoFit/>
          </a:bodyPr>
          <a:lstStyle/>
          <a:p>
            <a:pPr lvl="3" algn="l">
              <a:spcBef>
                <a:spcPct val="50000"/>
              </a:spcBef>
              <a:buClr>
                <a:srgbClr val="FF3300"/>
              </a:buClr>
              <a:buFont typeface="Wingdings" panose="05000000000000000000" pitchFamily="2" charset="2"/>
            </a:pPr>
            <a:r>
              <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rPr>
              <a:t>应包括制造和检验零件所需的全部内容。包括：图形、尺寸及其公差、表面粗糙度、形位公差、材料和热处理说明、技术要求、标题栏等。</a:t>
            </a:r>
            <a:endParaRPr lang="zh-CN" altLang="en-US" sz="2000" dirty="0">
              <a:solidFill>
                <a:srgbClr val="000000"/>
              </a:solidFill>
              <a:latin typeface="黑体" panose="02010609060101010101" pitchFamily="49" charset="-122"/>
              <a:ea typeface="黑体" panose="02010609060101010101" pitchFamily="49" charset="-122"/>
              <a:cs typeface="黑体" panose="02010609060101010101" pitchFamily="49" charset="-122"/>
            </a:endParaRPr>
          </a:p>
        </p:txBody>
      </p:sp>
      <p:grpSp>
        <p:nvGrpSpPr>
          <p:cNvPr id="75800" name="组合 75799"/>
          <p:cNvGrpSpPr/>
          <p:nvPr/>
        </p:nvGrpSpPr>
        <p:grpSpPr>
          <a:xfrm>
            <a:off x="8115300" y="6515100"/>
            <a:ext cx="1028700" cy="342900"/>
            <a:chOff x="5112" y="4104"/>
            <a:chExt cx="648" cy="216"/>
          </a:xfrm>
        </p:grpSpPr>
        <p:pic>
          <p:nvPicPr>
            <p:cNvPr id="75801" name="图片 75800" descr="返回">
              <a:hlinkClick r:id="rId3" action="ppaction://hlinksldjump"/>
            </p:cNvPr>
            <p:cNvPicPr>
              <a:picLocks noChangeAspect="1"/>
            </p:cNvPicPr>
            <p:nvPr/>
          </p:nvPicPr>
          <p:blipFill>
            <a:blip r:embed="rId4"/>
            <a:stretch>
              <a:fillRect/>
            </a:stretch>
          </p:blipFill>
          <p:spPr>
            <a:xfrm>
              <a:off x="5112" y="4104"/>
              <a:ext cx="216" cy="216"/>
            </a:xfrm>
            <a:prstGeom prst="rect">
              <a:avLst/>
            </a:prstGeom>
            <a:noFill/>
            <a:ln w="9525">
              <a:noFill/>
            </a:ln>
          </p:spPr>
        </p:pic>
        <p:grpSp>
          <p:nvGrpSpPr>
            <p:cNvPr id="75802" name="组合 75801"/>
            <p:cNvGrpSpPr/>
            <p:nvPr/>
          </p:nvGrpSpPr>
          <p:grpSpPr>
            <a:xfrm>
              <a:off x="5352" y="4104"/>
              <a:ext cx="408" cy="216"/>
              <a:chOff x="5232" y="4100"/>
              <a:chExt cx="408" cy="216"/>
            </a:xfrm>
          </p:grpSpPr>
          <p:pic>
            <p:nvPicPr>
              <p:cNvPr id="75803" name="图片 75802" descr="下一步">
                <a:hlinkClick r:id="" action="ppaction://hlinkshowjump?jump=nextslide"/>
              </p:cNvPr>
              <p:cNvPicPr>
                <a:picLocks noChangeAspect="1"/>
              </p:cNvPicPr>
              <p:nvPr/>
            </p:nvPicPr>
            <p:blipFill>
              <a:blip r:embed="rId5"/>
              <a:stretch>
                <a:fillRect/>
              </a:stretch>
            </p:blipFill>
            <p:spPr>
              <a:xfrm>
                <a:off x="5424" y="4100"/>
                <a:ext cx="216" cy="216"/>
              </a:xfrm>
              <a:prstGeom prst="rect">
                <a:avLst/>
              </a:prstGeom>
              <a:noFill/>
              <a:ln w="9525">
                <a:noFill/>
              </a:ln>
            </p:spPr>
          </p:pic>
          <p:pic>
            <p:nvPicPr>
              <p:cNvPr id="75804" name="图片 75803" descr="上一步">
                <a:hlinkClick r:id="" action="ppaction://hlinkshowjump?jump=previousslide"/>
              </p:cNvPr>
              <p:cNvPicPr>
                <a:picLocks noChangeAspect="1"/>
              </p:cNvPicPr>
              <p:nvPr/>
            </p:nvPicPr>
            <p:blipFill>
              <a:blip r:embed="rId6"/>
              <a:stretch>
                <a:fillRect/>
              </a:stretch>
            </p:blipFill>
            <p:spPr>
              <a:xfrm>
                <a:off x="5232" y="4100"/>
                <a:ext cx="216" cy="216"/>
              </a:xfrm>
              <a:prstGeom prst="rect">
                <a:avLst/>
              </a:prstGeom>
              <a:noFill/>
              <a:ln w="9525">
                <a:noFill/>
              </a:ln>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795"/>
                                        </p:tgtEl>
                                        <p:attrNameLst>
                                          <p:attrName>style.visibility</p:attrName>
                                        </p:attrNameLst>
                                      </p:cBhvr>
                                      <p:to>
                                        <p:strVal val="visible"/>
                                      </p:to>
                                    </p:set>
                                    <p:anim calcmode="lin" valueType="num">
                                      <p:cBhvr additive="base">
                                        <p:cTn id="7" dur="500" fill="hold"/>
                                        <p:tgtEl>
                                          <p:spTgt spid="75795"/>
                                        </p:tgtEl>
                                        <p:attrNameLst>
                                          <p:attrName>ppt_x</p:attrName>
                                        </p:attrNameLst>
                                      </p:cBhvr>
                                      <p:tavLst>
                                        <p:tav tm="0">
                                          <p:val>
                                            <p:strVal val="0-#ppt_w/2"/>
                                          </p:val>
                                        </p:tav>
                                        <p:tav tm="100000">
                                          <p:val>
                                            <p:strVal val="#ppt_x"/>
                                          </p:val>
                                        </p:tav>
                                      </p:tavLst>
                                    </p:anim>
                                    <p:anim calcmode="lin" valueType="num">
                                      <p:cBhvr additive="base">
                                        <p:cTn id="8" dur="500" fill="hold"/>
                                        <p:tgtEl>
                                          <p:spTgt spid="757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5797"/>
                                        </p:tgtEl>
                                        <p:attrNameLst>
                                          <p:attrName>style.visibility</p:attrName>
                                        </p:attrNameLst>
                                      </p:cBhvr>
                                      <p:to>
                                        <p:strVal val="visible"/>
                                      </p:to>
                                    </p:set>
                                    <p:animEffect transition="in" filter="blinds(horizontal)">
                                      <p:cBhvr>
                                        <p:cTn id="13" dur="500"/>
                                        <p:tgtEl>
                                          <p:spTgt spid="75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95" grpId="0"/>
      <p:bldP spid="75797"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直接连接符 76801"/>
          <p:cNvSpPr/>
          <p:nvPr/>
        </p:nvSpPr>
        <p:spPr>
          <a:xfrm>
            <a:off x="0" y="609600"/>
            <a:ext cx="9144000" cy="0"/>
          </a:xfrm>
          <a:prstGeom prst="line">
            <a:avLst/>
          </a:prstGeom>
          <a:ln w="57150" cap="flat" cmpd="thickThin">
            <a:solidFill>
              <a:srgbClr val="C00000"/>
            </a:solidFill>
            <a:prstDash val="solid"/>
            <a:headEnd type="none" w="med" len="med"/>
            <a:tailEnd type="none" w="med" len="med"/>
          </a:ln>
        </p:spPr>
      </p:sp>
      <p:sp>
        <p:nvSpPr>
          <p:cNvPr id="76810" name="文本框 76809"/>
          <p:cNvSpPr txBox="1"/>
          <p:nvPr/>
        </p:nvSpPr>
        <p:spPr>
          <a:xfrm>
            <a:off x="57785" y="761365"/>
            <a:ext cx="8763000" cy="457200"/>
          </a:xfrm>
          <a:prstGeom prst="rect">
            <a:avLst/>
          </a:prstGeom>
          <a:noFill/>
          <a:ln w="9525">
            <a:noFill/>
          </a:ln>
        </p:spPr>
        <p:txBody>
          <a:bodyPr>
            <a:spAutoFit/>
          </a:bodyPr>
          <a:lstStyle/>
          <a:p>
            <a:pPr algn="l">
              <a:spcBef>
                <a:spcPct val="50000"/>
              </a:spcBef>
            </a:pPr>
            <a:r>
              <a:rPr lang="en-US" altLang="zh-CN" b="1" dirty="0">
                <a:solidFill>
                  <a:srgbClr val="000000"/>
                </a:solidFill>
                <a:latin typeface="Times New Roman" panose="02020603050405020304" pitchFamily="18" charset="0"/>
                <a:ea typeface="楷体_GB2312" pitchFamily="49" charset="-122"/>
              </a:rPr>
              <a:t>(</a:t>
            </a:r>
            <a:r>
              <a:rPr lang="zh-CN" altLang="en-US" b="1" dirty="0">
                <a:solidFill>
                  <a:srgbClr val="000000"/>
                </a:solidFill>
                <a:latin typeface="Times New Roman" panose="02020603050405020304" pitchFamily="18" charset="0"/>
                <a:ea typeface="楷体_GB2312" pitchFamily="49" charset="-122"/>
              </a:rPr>
              <a:t>一</a:t>
            </a:r>
            <a:r>
              <a:rPr lang="en-US" altLang="zh-CN" b="1" dirty="0">
                <a:solidFill>
                  <a:srgbClr val="000000"/>
                </a:solidFill>
                <a:latin typeface="Times New Roman" panose="02020603050405020304" pitchFamily="18" charset="0"/>
                <a:ea typeface="楷体_GB2312" pitchFamily="49" charset="-122"/>
              </a:rPr>
              <a:t>)</a:t>
            </a:r>
            <a:r>
              <a:rPr lang="zh-CN" altLang="en-US" b="1" dirty="0">
                <a:solidFill>
                  <a:srgbClr val="000000"/>
                </a:solidFill>
                <a:latin typeface="Times New Roman" panose="02020603050405020304" pitchFamily="18" charset="0"/>
                <a:ea typeface="楷体_GB2312" pitchFamily="49" charset="-122"/>
              </a:rPr>
              <a:t>、主要内容</a:t>
            </a:r>
            <a:endParaRPr lang="zh-CN" altLang="en-US" b="1">
              <a:solidFill>
                <a:srgbClr val="000000"/>
              </a:solidFill>
              <a:latin typeface="Times New Roman" panose="02020603050405020304" pitchFamily="18" charset="0"/>
              <a:ea typeface="楷体_GB2312" pitchFamily="49" charset="-122"/>
            </a:endParaRPr>
          </a:p>
        </p:txBody>
      </p:sp>
      <p:sp>
        <p:nvSpPr>
          <p:cNvPr id="76811" name="文本框 76810"/>
          <p:cNvSpPr txBox="1"/>
          <p:nvPr/>
        </p:nvSpPr>
        <p:spPr>
          <a:xfrm>
            <a:off x="287655" y="1218565"/>
            <a:ext cx="8569325" cy="460375"/>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pPr>
            <a:r>
              <a:rPr lang="en-US" altLang="zh-CN" b="1" dirty="0">
                <a:latin typeface="楷体_GB2312" pitchFamily="49" charset="-122"/>
                <a:ea typeface="楷体_GB2312" pitchFamily="49" charset="-122"/>
              </a:rPr>
              <a:t>1.</a:t>
            </a:r>
            <a:r>
              <a:rPr lang="zh-CN" altLang="en-US" sz="2000" dirty="0">
                <a:latin typeface="黑体" panose="02010609060101010101" pitchFamily="49" charset="-122"/>
                <a:ea typeface="黑体" panose="02010609060101010101" pitchFamily="49" charset="-122"/>
              </a:rPr>
              <a:t>目录（标题及页次</a:t>
            </a:r>
            <a:r>
              <a:rPr lang="zh-CN" altLang="en-US" b="1" dirty="0">
                <a:latin typeface="楷体_GB2312" pitchFamily="49" charset="-122"/>
                <a:ea typeface="楷体_GB2312" pitchFamily="49" charset="-122"/>
              </a:rPr>
              <a:t>） </a:t>
            </a:r>
            <a:endParaRPr lang="zh-CN" altLang="en-US" b="1" dirty="0">
              <a:latin typeface="楷体_GB2312" pitchFamily="49" charset="-122"/>
              <a:ea typeface="楷体_GB2312" pitchFamily="49" charset="-122"/>
            </a:endParaRPr>
          </a:p>
        </p:txBody>
      </p:sp>
      <p:sp>
        <p:nvSpPr>
          <p:cNvPr id="76817" name="文本框 76816"/>
          <p:cNvSpPr txBox="1"/>
          <p:nvPr/>
        </p:nvSpPr>
        <p:spPr>
          <a:xfrm>
            <a:off x="287655" y="1675765"/>
            <a:ext cx="8569325" cy="39878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pPr>
            <a:r>
              <a:rPr lang="zh-CN" altLang="en-US" sz="2000" dirty="0">
                <a:latin typeface="黑体" panose="02010609060101010101" pitchFamily="49" charset="-122"/>
                <a:ea typeface="黑体" panose="02010609060101010101" pitchFamily="49" charset="-122"/>
              </a:rPr>
              <a:t>2.设计任务  </a:t>
            </a:r>
            <a:endParaRPr lang="zh-CN" altLang="en-US" b="1" dirty="0">
              <a:latin typeface="楷体_GB2312" pitchFamily="49" charset="-122"/>
              <a:ea typeface="楷体_GB2312" pitchFamily="49" charset="-122"/>
            </a:endParaRPr>
          </a:p>
        </p:txBody>
      </p:sp>
      <p:sp>
        <p:nvSpPr>
          <p:cNvPr id="76818" name="文本框 76817"/>
          <p:cNvSpPr txBox="1"/>
          <p:nvPr/>
        </p:nvSpPr>
        <p:spPr>
          <a:xfrm>
            <a:off x="269875" y="2136140"/>
            <a:ext cx="8569325" cy="398780"/>
          </a:xfrm>
          <a:prstGeom prst="rect">
            <a:avLst/>
          </a:prstGeom>
          <a:noFill/>
          <a:ln w="9525">
            <a:noFill/>
          </a:ln>
        </p:spPr>
        <p:txBody>
          <a:bodyPr>
            <a:spAutoFit/>
          </a:bodyPr>
          <a:lstStyle/>
          <a:p>
            <a:pPr algn="l">
              <a:spcBef>
                <a:spcPct val="50000"/>
              </a:spcBef>
              <a:buClr>
                <a:srgbClr val="FF3300"/>
              </a:buClr>
              <a:buSzTx/>
              <a:buFont typeface="Wingdings" panose="05000000000000000000" pitchFamily="2" charset="2"/>
            </a:pPr>
            <a:r>
              <a:rPr lang="zh-CN" altLang="en-US" sz="2000" dirty="0">
                <a:latin typeface="黑体" panose="02010609060101010101" pitchFamily="49" charset="-122"/>
                <a:ea typeface="黑体" panose="02010609060101010101" pitchFamily="49" charset="-122"/>
              </a:rPr>
              <a:t>3.斗式提升机传动方案的选择与确定</a:t>
            </a:r>
            <a:endParaRPr lang="zh-CN" altLang="en-US" sz="2000" dirty="0">
              <a:latin typeface="黑体" panose="02010609060101010101" pitchFamily="49" charset="-122"/>
              <a:ea typeface="黑体" panose="02010609060101010101" pitchFamily="49" charset="-122"/>
            </a:endParaRPr>
          </a:p>
        </p:txBody>
      </p:sp>
      <p:sp>
        <p:nvSpPr>
          <p:cNvPr id="76819" name="文本框 76818"/>
          <p:cNvSpPr txBox="1"/>
          <p:nvPr/>
        </p:nvSpPr>
        <p:spPr>
          <a:xfrm>
            <a:off x="323528" y="2564904"/>
            <a:ext cx="8569325" cy="860425"/>
          </a:xfrm>
          <a:prstGeom prst="rect">
            <a:avLst/>
          </a:prstGeom>
          <a:noFill/>
          <a:ln w="9525">
            <a:noFill/>
          </a:ln>
        </p:spPr>
        <p:txBody>
          <a:bodyPr>
            <a:spAutoFit/>
          </a:bodyPr>
          <a:lstStyle/>
          <a:p>
            <a:pPr algn="l">
              <a:spcBef>
                <a:spcPct val="50000"/>
              </a:spcBef>
              <a:buClr>
                <a:srgbClr val="FF3300"/>
              </a:buClr>
              <a:buSzTx/>
              <a:buFont typeface="Wingdings" panose="05000000000000000000" pitchFamily="2" charset="2"/>
            </a:pPr>
            <a:r>
              <a:rPr lang="zh-CN" altLang="en-US" sz="2000" dirty="0">
                <a:latin typeface="黑体" panose="02010609060101010101" pitchFamily="49" charset="-122"/>
                <a:ea typeface="黑体" panose="02010609060101010101" pitchFamily="49" charset="-122"/>
              </a:rPr>
              <a:t>4.斗式提升机的整体功能性需求计算</a:t>
            </a:r>
            <a:endParaRPr lang="zh-CN" altLang="en-US" sz="2000" dirty="0">
              <a:latin typeface="黑体" panose="02010609060101010101" pitchFamily="49" charset="-122"/>
              <a:ea typeface="黑体" panose="02010609060101010101" pitchFamily="49" charset="-122"/>
            </a:endParaRPr>
          </a:p>
          <a:p>
            <a:pPr algn="l">
              <a:spcBef>
                <a:spcPct val="50000"/>
              </a:spcBef>
              <a:buClr>
                <a:srgbClr val="FF3300"/>
              </a:buClr>
              <a:buSzTx/>
              <a:buFont typeface="Wingdings" panose="05000000000000000000" pitchFamily="2" charset="2"/>
            </a:pPr>
            <a:r>
              <a:rPr lang="zh-CN" altLang="en-US" sz="2000" dirty="0">
                <a:latin typeface="黑体" panose="02010609060101010101" pitchFamily="49" charset="-122"/>
                <a:ea typeface="黑体" panose="02010609060101010101" pitchFamily="49" charset="-122"/>
              </a:rPr>
              <a:t>5.传动系统特性参数计算</a:t>
            </a:r>
            <a:endParaRPr lang="zh-CN" altLang="en-US" sz="2000" dirty="0">
              <a:latin typeface="黑体" panose="02010609060101010101" pitchFamily="49" charset="-122"/>
              <a:ea typeface="黑体" panose="02010609060101010101" pitchFamily="49" charset="-122"/>
            </a:endParaRPr>
          </a:p>
        </p:txBody>
      </p:sp>
      <p:sp>
        <p:nvSpPr>
          <p:cNvPr id="76820" name="文本框 76819"/>
          <p:cNvSpPr txBox="1"/>
          <p:nvPr/>
        </p:nvSpPr>
        <p:spPr>
          <a:xfrm>
            <a:off x="323215" y="3422968"/>
            <a:ext cx="8569325" cy="398780"/>
          </a:xfrm>
          <a:prstGeom prst="rect">
            <a:avLst/>
          </a:prstGeom>
          <a:noFill/>
          <a:ln w="9525">
            <a:noFill/>
          </a:ln>
        </p:spPr>
        <p:txBody>
          <a:bodyPr>
            <a:spAutoFit/>
          </a:bodyPr>
          <a:lstStyle/>
          <a:p>
            <a:pPr algn="l">
              <a:spcBef>
                <a:spcPct val="50000"/>
              </a:spcBef>
              <a:buClr>
                <a:srgbClr val="FF3300"/>
              </a:buClr>
              <a:buSzTx/>
              <a:buFont typeface="Wingdings" panose="05000000000000000000" pitchFamily="2" charset="2"/>
            </a:pPr>
            <a:r>
              <a:rPr lang="zh-CN" altLang="en-US" sz="2000" dirty="0">
                <a:latin typeface="黑体" panose="02010609060101010101" pitchFamily="49" charset="-122"/>
                <a:ea typeface="黑体" panose="02010609060101010101" pitchFamily="49" charset="-122"/>
              </a:rPr>
              <a:t>6.传动件的设计计算 </a:t>
            </a:r>
            <a:endParaRPr lang="zh-CN" altLang="en-US" sz="2000" dirty="0">
              <a:latin typeface="黑体" panose="02010609060101010101" pitchFamily="49" charset="-122"/>
              <a:ea typeface="黑体" panose="02010609060101010101" pitchFamily="49" charset="-122"/>
            </a:endParaRPr>
          </a:p>
        </p:txBody>
      </p:sp>
      <p:sp>
        <p:nvSpPr>
          <p:cNvPr id="76821" name="文本框 76820"/>
          <p:cNvSpPr txBox="1"/>
          <p:nvPr/>
        </p:nvSpPr>
        <p:spPr>
          <a:xfrm>
            <a:off x="323275" y="3877429"/>
            <a:ext cx="8569325" cy="398780"/>
          </a:xfrm>
          <a:prstGeom prst="rect">
            <a:avLst/>
          </a:prstGeom>
          <a:noFill/>
          <a:ln w="9525">
            <a:noFill/>
          </a:ln>
        </p:spPr>
        <p:txBody>
          <a:bodyPr>
            <a:spAutoFit/>
          </a:bodyPr>
          <a:lstStyle/>
          <a:p>
            <a:pPr algn="l">
              <a:spcBef>
                <a:spcPct val="50000"/>
              </a:spcBef>
              <a:buClr>
                <a:srgbClr val="FF3300"/>
              </a:buClr>
              <a:buSzTx/>
              <a:buFont typeface="Wingdings" panose="05000000000000000000" pitchFamily="2" charset="2"/>
            </a:pPr>
            <a:r>
              <a:rPr lang="zh-CN" altLang="en-US" sz="2000" dirty="0">
                <a:latin typeface="黑体" panose="02010609060101010101" pitchFamily="49" charset="-122"/>
                <a:ea typeface="黑体" panose="02010609060101010101" pitchFamily="49" charset="-122"/>
              </a:rPr>
              <a:t>7.轴的设计计算 </a:t>
            </a:r>
            <a:endParaRPr lang="zh-CN" altLang="en-US" sz="2000" dirty="0">
              <a:latin typeface="黑体" panose="02010609060101010101" pitchFamily="49" charset="-122"/>
              <a:ea typeface="黑体" panose="02010609060101010101" pitchFamily="49" charset="-122"/>
            </a:endParaRPr>
          </a:p>
        </p:txBody>
      </p:sp>
      <p:sp>
        <p:nvSpPr>
          <p:cNvPr id="76822" name="文本框 76821"/>
          <p:cNvSpPr txBox="1"/>
          <p:nvPr/>
        </p:nvSpPr>
        <p:spPr>
          <a:xfrm>
            <a:off x="323215" y="4310698"/>
            <a:ext cx="8569325" cy="398780"/>
          </a:xfrm>
          <a:prstGeom prst="rect">
            <a:avLst/>
          </a:prstGeom>
          <a:noFill/>
          <a:ln w="9525">
            <a:noFill/>
          </a:ln>
        </p:spPr>
        <p:txBody>
          <a:bodyPr>
            <a:spAutoFit/>
          </a:bodyPr>
          <a:lstStyle/>
          <a:p>
            <a:pPr algn="l">
              <a:spcBef>
                <a:spcPct val="50000"/>
              </a:spcBef>
              <a:buClr>
                <a:srgbClr val="FF3300"/>
              </a:buClr>
              <a:buSzTx/>
              <a:buFont typeface="Wingdings" panose="05000000000000000000" pitchFamily="2" charset="2"/>
            </a:pPr>
            <a:r>
              <a:rPr lang="zh-CN" altLang="en-US" sz="2000" dirty="0">
                <a:latin typeface="黑体" panose="02010609060101010101" pitchFamily="49" charset="-122"/>
                <a:ea typeface="黑体" panose="02010609060101010101" pitchFamily="49" charset="-122"/>
              </a:rPr>
              <a:t>8.键联接的选择和计算 </a:t>
            </a:r>
            <a:endParaRPr lang="zh-CN" altLang="en-US" sz="2000" dirty="0">
              <a:latin typeface="黑体" panose="02010609060101010101" pitchFamily="49" charset="-122"/>
              <a:ea typeface="黑体" panose="02010609060101010101" pitchFamily="49" charset="-122"/>
            </a:endParaRPr>
          </a:p>
        </p:txBody>
      </p:sp>
      <p:sp>
        <p:nvSpPr>
          <p:cNvPr id="76823" name="文本框 76822"/>
          <p:cNvSpPr txBox="1"/>
          <p:nvPr/>
        </p:nvSpPr>
        <p:spPr>
          <a:xfrm>
            <a:off x="323215" y="4760595"/>
            <a:ext cx="8569325" cy="398780"/>
          </a:xfrm>
          <a:prstGeom prst="rect">
            <a:avLst/>
          </a:prstGeom>
          <a:noFill/>
          <a:ln w="9525">
            <a:noFill/>
          </a:ln>
        </p:spPr>
        <p:txBody>
          <a:bodyPr>
            <a:spAutoFit/>
          </a:bodyPr>
          <a:lstStyle/>
          <a:p>
            <a:pPr algn="l">
              <a:spcBef>
                <a:spcPct val="50000"/>
              </a:spcBef>
              <a:buClr>
                <a:srgbClr val="FF3300"/>
              </a:buClr>
              <a:buSzTx/>
              <a:buFont typeface="Wingdings" panose="05000000000000000000" pitchFamily="2" charset="2"/>
            </a:pPr>
            <a:r>
              <a:rPr lang="zh-CN" altLang="en-US" sz="2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滚动轴承的选择和计算 </a:t>
            </a:r>
            <a:endParaRPr lang="zh-CN" altLang="en-US" sz="2000" dirty="0">
              <a:latin typeface="黑体" panose="02010609060101010101" pitchFamily="49" charset="-122"/>
              <a:ea typeface="黑体" panose="02010609060101010101" pitchFamily="49" charset="-122"/>
            </a:endParaRPr>
          </a:p>
        </p:txBody>
      </p:sp>
      <p:sp>
        <p:nvSpPr>
          <p:cNvPr id="76825" name="文本框 76824"/>
          <p:cNvSpPr txBox="1"/>
          <p:nvPr/>
        </p:nvSpPr>
        <p:spPr>
          <a:xfrm>
            <a:off x="287020" y="6381115"/>
            <a:ext cx="8569325" cy="398780"/>
          </a:xfrm>
          <a:prstGeom prst="rect">
            <a:avLst/>
          </a:prstGeom>
          <a:noFill/>
          <a:ln w="9525">
            <a:noFill/>
          </a:ln>
        </p:spPr>
        <p:txBody>
          <a:bodyPr>
            <a:spAutoFit/>
          </a:bodyPr>
          <a:lstStyle/>
          <a:p>
            <a:pPr algn="l">
              <a:spcBef>
                <a:spcPct val="50000"/>
              </a:spcBef>
              <a:buClr>
                <a:srgbClr val="FF3300"/>
              </a:buClr>
              <a:buSzTx/>
              <a:buFont typeface="Wingdings" panose="05000000000000000000" pitchFamily="2" charset="2"/>
            </a:pPr>
            <a:r>
              <a:rPr lang="zh-CN" altLang="en-US" sz="2000" dirty="0">
                <a:latin typeface="黑体" panose="02010609060101010101" pitchFamily="49" charset="-122"/>
                <a:ea typeface="黑体" panose="02010609060101010101" pitchFamily="49" charset="-122"/>
              </a:rPr>
              <a:t>13.参考文献 </a:t>
            </a:r>
            <a:endParaRPr lang="zh-CN" altLang="en-US" sz="2000" dirty="0">
              <a:latin typeface="黑体" panose="02010609060101010101" pitchFamily="49" charset="-122"/>
              <a:ea typeface="黑体" panose="02010609060101010101" pitchFamily="49" charset="-122"/>
            </a:endParaRPr>
          </a:p>
        </p:txBody>
      </p:sp>
      <p:sp>
        <p:nvSpPr>
          <p:cNvPr id="76826" name="文本框 76825"/>
          <p:cNvSpPr txBox="1"/>
          <p:nvPr/>
        </p:nvSpPr>
        <p:spPr>
          <a:xfrm>
            <a:off x="287655" y="5940425"/>
            <a:ext cx="8569325" cy="398780"/>
          </a:xfrm>
          <a:prstGeom prst="rect">
            <a:avLst/>
          </a:prstGeom>
          <a:noFill/>
          <a:ln w="9525">
            <a:noFill/>
          </a:ln>
        </p:spPr>
        <p:txBody>
          <a:bodyPr>
            <a:spAutoFit/>
          </a:bodyPr>
          <a:lstStyle/>
          <a:p>
            <a:pPr algn="l">
              <a:spcBef>
                <a:spcPct val="50000"/>
              </a:spcBef>
              <a:buClr>
                <a:srgbClr val="FF3300"/>
              </a:buClr>
              <a:buFont typeface="Wingdings" panose="05000000000000000000" pitchFamily="2" charset="2"/>
            </a:pPr>
            <a:r>
              <a:rPr lang="zh-CN" altLang="en-US" sz="2000" dirty="0">
                <a:latin typeface="黑体" panose="02010609060101010101" pitchFamily="49" charset="-122"/>
                <a:ea typeface="黑体" panose="02010609060101010101" pitchFamily="49" charset="-122"/>
              </a:rPr>
              <a:t>12.</a:t>
            </a:r>
            <a:r>
              <a:rPr lang="zh-CN" altLang="en-US" sz="2000" dirty="0">
                <a:latin typeface="黑体" panose="02010609060101010101" pitchFamily="49" charset="-122"/>
                <a:ea typeface="黑体" panose="02010609060101010101" pitchFamily="49" charset="-122"/>
              </a:rPr>
              <a:t>设计小结 </a:t>
            </a:r>
            <a:endParaRPr lang="zh-CN" altLang="en-US" b="1" dirty="0">
              <a:latin typeface="楷体_GB2312" pitchFamily="49" charset="-122"/>
              <a:ea typeface="楷体_GB2312" pitchFamily="49" charset="-122"/>
            </a:endParaRPr>
          </a:p>
        </p:txBody>
      </p:sp>
      <p:sp>
        <p:nvSpPr>
          <p:cNvPr id="76827" name="文本框 76826"/>
          <p:cNvSpPr txBox="1"/>
          <p:nvPr/>
        </p:nvSpPr>
        <p:spPr>
          <a:xfrm>
            <a:off x="251460" y="5098415"/>
            <a:ext cx="8569325" cy="460375"/>
          </a:xfrm>
          <a:prstGeom prst="rect">
            <a:avLst/>
          </a:prstGeom>
          <a:noFill/>
          <a:ln w="9525">
            <a:noFill/>
          </a:ln>
        </p:spPr>
        <p:txBody>
          <a:bodyPr>
            <a:spAutoFit/>
          </a:bodyPr>
          <a:lstStyle/>
          <a:p>
            <a:pPr algn="l">
              <a:spcBef>
                <a:spcPct val="50000"/>
              </a:spcBef>
              <a:buClr>
                <a:srgbClr val="FF3300"/>
              </a:buClr>
              <a:buSzTx/>
              <a:buFont typeface="Wingdings" panose="05000000000000000000" pitchFamily="2" charset="2"/>
            </a:pPr>
            <a:r>
              <a:rPr lang="zh-CN" altLang="en-US" sz="2000" dirty="0">
                <a:latin typeface="黑体" panose="02010609060101010101" pitchFamily="49" charset="-122"/>
                <a:ea typeface="黑体" panose="02010609060101010101" pitchFamily="49" charset="-122"/>
              </a:rPr>
              <a:t>1</a:t>
            </a:r>
            <a:r>
              <a:rPr lang="en-US" altLang="zh-CN" sz="2000" dirty="0">
                <a:latin typeface="黑体" panose="02010609060101010101" pitchFamily="49" charset="-122"/>
                <a:ea typeface="黑体" panose="02010609060101010101" pitchFamily="49" charset="-122"/>
              </a:rPr>
              <a:t>0</a:t>
            </a:r>
            <a:r>
              <a:rPr lang="en-US" altLang="zh-CN" b="1" dirty="0">
                <a:latin typeface="楷体_GB2312" pitchFamily="49" charset="-122"/>
                <a:ea typeface="楷体_GB2312" pitchFamily="49" charset="-122"/>
              </a:rPr>
              <a:t>.</a:t>
            </a:r>
            <a:r>
              <a:rPr lang="zh-CN" altLang="en-US" sz="2000" dirty="0">
                <a:latin typeface="黑体" panose="02010609060101010101" pitchFamily="49" charset="-122"/>
                <a:ea typeface="黑体" panose="02010609060101010101" pitchFamily="49" charset="-122"/>
              </a:rPr>
              <a:t>润滑方法和密封形式，润滑油牌号的选择 </a:t>
            </a:r>
            <a:endParaRPr lang="zh-CN" altLang="en-US" sz="2000" dirty="0">
              <a:latin typeface="黑体" panose="02010609060101010101" pitchFamily="49" charset="-122"/>
              <a:ea typeface="黑体" panose="02010609060101010101" pitchFamily="49" charset="-122"/>
            </a:endParaRPr>
          </a:p>
        </p:txBody>
      </p:sp>
      <p:sp>
        <p:nvSpPr>
          <p:cNvPr id="76828" name="标题 76827"/>
          <p:cNvSpPr>
            <a:spLocks noGrp="1"/>
          </p:cNvSpPr>
          <p:nvPr>
            <p:ph type="title"/>
          </p:nvPr>
        </p:nvSpPr>
        <p:spPr>
          <a:xfrm>
            <a:off x="685800" y="-76835"/>
            <a:ext cx="7772400" cy="762000"/>
          </a:xfrm>
        </p:spPr>
        <p:txBody>
          <a:bodyPr anchor="ctr"/>
          <a:lstStyle/>
          <a:p>
            <a:r>
              <a:rPr lang="en-US" altLang="zh-CN" sz="2400" b="1" dirty="0" smtClean="0">
                <a:solidFill>
                  <a:srgbClr val="FF3300"/>
                </a:solidFill>
                <a:ea typeface="楷体_GB2312" pitchFamily="49" charset="-122"/>
              </a:rPr>
              <a:t>6</a:t>
            </a:r>
            <a:r>
              <a:rPr lang="zh-CN" altLang="en-US" sz="2400" b="1" dirty="0" smtClean="0">
                <a:solidFill>
                  <a:srgbClr val="FF3300"/>
                </a:solidFill>
                <a:ea typeface="楷体_GB2312" pitchFamily="49" charset="-122"/>
              </a:rPr>
              <a:t>、</a:t>
            </a:r>
            <a:r>
              <a:rPr lang="zh-CN" altLang="en-US" sz="2400" b="1" dirty="0">
                <a:solidFill>
                  <a:srgbClr val="FF3300"/>
                </a:solidFill>
                <a:ea typeface="楷体_GB2312" pitchFamily="49" charset="-122"/>
              </a:rPr>
              <a:t>撰写设计计算说明书</a:t>
            </a:r>
            <a:endParaRPr lang="zh-CN" altLang="en-US" sz="2400" b="1" dirty="0">
              <a:solidFill>
                <a:srgbClr val="FF3300"/>
              </a:solidFill>
              <a:ea typeface="楷体_GB2312" pitchFamily="49" charset="-122"/>
            </a:endParaRPr>
          </a:p>
        </p:txBody>
      </p:sp>
      <p:grpSp>
        <p:nvGrpSpPr>
          <p:cNvPr id="76829" name="组合 76828"/>
          <p:cNvGrpSpPr/>
          <p:nvPr/>
        </p:nvGrpSpPr>
        <p:grpSpPr>
          <a:xfrm>
            <a:off x="8115300" y="6515100"/>
            <a:ext cx="1028700" cy="342900"/>
            <a:chOff x="5112" y="4104"/>
            <a:chExt cx="648" cy="216"/>
          </a:xfrm>
        </p:grpSpPr>
        <p:pic>
          <p:nvPicPr>
            <p:cNvPr id="76830" name="图片 76829" descr="返回">
              <a:hlinkClick r:id="rId1" action="ppaction://hlinksldjump"/>
            </p:cNvPr>
            <p:cNvPicPr>
              <a:picLocks noChangeAspect="1"/>
            </p:cNvPicPr>
            <p:nvPr/>
          </p:nvPicPr>
          <p:blipFill>
            <a:blip r:embed="rId2"/>
            <a:stretch>
              <a:fillRect/>
            </a:stretch>
          </p:blipFill>
          <p:spPr>
            <a:xfrm>
              <a:off x="5112" y="4104"/>
              <a:ext cx="216" cy="216"/>
            </a:xfrm>
            <a:prstGeom prst="rect">
              <a:avLst/>
            </a:prstGeom>
            <a:noFill/>
            <a:ln w="9525">
              <a:noFill/>
            </a:ln>
          </p:spPr>
        </p:pic>
        <p:grpSp>
          <p:nvGrpSpPr>
            <p:cNvPr id="76831" name="组合 76830"/>
            <p:cNvGrpSpPr/>
            <p:nvPr/>
          </p:nvGrpSpPr>
          <p:grpSpPr>
            <a:xfrm>
              <a:off x="5352" y="4104"/>
              <a:ext cx="408" cy="216"/>
              <a:chOff x="5232" y="4100"/>
              <a:chExt cx="408" cy="216"/>
            </a:xfrm>
          </p:grpSpPr>
          <p:pic>
            <p:nvPicPr>
              <p:cNvPr id="76832" name="图片 76831" descr="下一步">
                <a:hlinkClick r:id="" action="ppaction://hlinkshowjump?jump=nextslide"/>
              </p:cNvPr>
              <p:cNvPicPr>
                <a:picLocks noChangeAspect="1"/>
              </p:cNvPicPr>
              <p:nvPr/>
            </p:nvPicPr>
            <p:blipFill>
              <a:blip r:embed="rId3"/>
              <a:stretch>
                <a:fillRect/>
              </a:stretch>
            </p:blipFill>
            <p:spPr>
              <a:xfrm>
                <a:off x="5424" y="4100"/>
                <a:ext cx="216" cy="216"/>
              </a:xfrm>
              <a:prstGeom prst="rect">
                <a:avLst/>
              </a:prstGeom>
              <a:noFill/>
              <a:ln w="9525">
                <a:noFill/>
              </a:ln>
            </p:spPr>
          </p:pic>
          <p:pic>
            <p:nvPicPr>
              <p:cNvPr id="76833" name="图片 76832" descr="上一步">
                <a:hlinkClick r:id="" action="ppaction://hlinkshowjump?jump=previousslide"/>
              </p:cNvPr>
              <p:cNvPicPr>
                <a:picLocks noChangeAspect="1"/>
              </p:cNvPicPr>
              <p:nvPr/>
            </p:nvPicPr>
            <p:blipFill>
              <a:blip r:embed="rId4"/>
              <a:stretch>
                <a:fillRect/>
              </a:stretch>
            </p:blipFill>
            <p:spPr>
              <a:xfrm>
                <a:off x="5232" y="4100"/>
                <a:ext cx="216" cy="216"/>
              </a:xfrm>
              <a:prstGeom prst="rect">
                <a:avLst/>
              </a:prstGeom>
              <a:noFill/>
              <a:ln w="9525">
                <a:noFill/>
              </a:ln>
            </p:spPr>
          </p:pic>
        </p:grpSp>
      </p:grpSp>
      <p:sp>
        <p:nvSpPr>
          <p:cNvPr id="2" name="文本框 1"/>
          <p:cNvSpPr txBox="1"/>
          <p:nvPr/>
        </p:nvSpPr>
        <p:spPr>
          <a:xfrm>
            <a:off x="231775" y="5480685"/>
            <a:ext cx="8569325" cy="460375"/>
          </a:xfrm>
          <a:prstGeom prst="rect">
            <a:avLst/>
          </a:prstGeom>
          <a:noFill/>
          <a:ln w="9525">
            <a:noFill/>
          </a:ln>
        </p:spPr>
        <p:txBody>
          <a:bodyPr>
            <a:spAutoFit/>
          </a:bodyPr>
          <a:lstStyle/>
          <a:p>
            <a:pPr algn="l">
              <a:spcBef>
                <a:spcPct val="50000"/>
              </a:spcBef>
              <a:buClr>
                <a:srgbClr val="FF3300"/>
              </a:buClr>
              <a:buSzTx/>
              <a:buFont typeface="Wingdings" panose="05000000000000000000" pitchFamily="2" charset="2"/>
            </a:pPr>
            <a:r>
              <a:rPr lang="zh-CN" altLang="en-US" sz="2000" dirty="0">
                <a:latin typeface="黑体" panose="02010609060101010101" pitchFamily="49" charset="-122"/>
                <a:ea typeface="黑体" panose="02010609060101010101" pitchFamily="49" charset="-122"/>
              </a:rPr>
              <a:t>1</a:t>
            </a:r>
            <a:r>
              <a:rPr lang="en-US" altLang="zh-CN" sz="2000" dirty="0">
                <a:latin typeface="黑体" panose="02010609060101010101" pitchFamily="49" charset="-122"/>
                <a:ea typeface="黑体" panose="02010609060101010101" pitchFamily="49" charset="-122"/>
              </a:rPr>
              <a:t>1</a:t>
            </a:r>
            <a:r>
              <a:rPr lang="en-US" altLang="zh-CN" b="1" dirty="0">
                <a:latin typeface="楷体_GB2312" pitchFamily="49" charset="-122"/>
                <a:ea typeface="楷体_GB2312" pitchFamily="49" charset="-122"/>
              </a:rPr>
              <a:t>.</a:t>
            </a:r>
            <a:r>
              <a:rPr lang="zh-CN" altLang="en-US" sz="2000" dirty="0">
                <a:latin typeface="黑体" panose="02010609060101010101" pitchFamily="49" charset="-122"/>
                <a:ea typeface="黑体" panose="02010609060101010101" pitchFamily="49" charset="-122"/>
              </a:rPr>
              <a:t>减速器主要结构</a:t>
            </a:r>
            <a:r>
              <a:rPr lang="zh-CN" altLang="en-US" sz="2000" dirty="0">
                <a:latin typeface="黑体" panose="02010609060101010101" pitchFamily="49" charset="-122"/>
                <a:ea typeface="黑体" panose="02010609060101010101" pitchFamily="49" charset="-122"/>
              </a:rPr>
              <a:t>尺寸 </a:t>
            </a:r>
            <a:endParaRPr lang="zh-CN" altLang="en-US" sz="2000" dirty="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11"/>
                                        </p:tgtEl>
                                        <p:attrNameLst>
                                          <p:attrName>style.visibility</p:attrName>
                                        </p:attrNameLst>
                                      </p:cBhvr>
                                      <p:to>
                                        <p:strVal val="visible"/>
                                      </p:to>
                                    </p:set>
                                    <p:anim calcmode="lin" valueType="num">
                                      <p:cBhvr additive="base">
                                        <p:cTn id="7" dur="500" fill="hold"/>
                                        <p:tgtEl>
                                          <p:spTgt spid="76811"/>
                                        </p:tgtEl>
                                        <p:attrNameLst>
                                          <p:attrName>ppt_x</p:attrName>
                                        </p:attrNameLst>
                                      </p:cBhvr>
                                      <p:tavLst>
                                        <p:tav tm="0">
                                          <p:val>
                                            <p:strVal val="0-#ppt_w/2"/>
                                          </p:val>
                                        </p:tav>
                                        <p:tav tm="100000">
                                          <p:val>
                                            <p:strVal val="#ppt_x"/>
                                          </p:val>
                                        </p:tav>
                                      </p:tavLst>
                                    </p:anim>
                                    <p:anim calcmode="lin" valueType="num">
                                      <p:cBhvr additive="base">
                                        <p:cTn id="8" dur="500" fill="hold"/>
                                        <p:tgtEl>
                                          <p:spTgt spid="768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6817"/>
                                        </p:tgtEl>
                                        <p:attrNameLst>
                                          <p:attrName>style.visibility</p:attrName>
                                        </p:attrNameLst>
                                      </p:cBhvr>
                                      <p:to>
                                        <p:strVal val="visible"/>
                                      </p:to>
                                    </p:set>
                                    <p:anim calcmode="lin" valueType="num">
                                      <p:cBhvr additive="base">
                                        <p:cTn id="13" dur="500" fill="hold"/>
                                        <p:tgtEl>
                                          <p:spTgt spid="76817"/>
                                        </p:tgtEl>
                                        <p:attrNameLst>
                                          <p:attrName>ppt_x</p:attrName>
                                        </p:attrNameLst>
                                      </p:cBhvr>
                                      <p:tavLst>
                                        <p:tav tm="0">
                                          <p:val>
                                            <p:strVal val="0-#ppt_w/2"/>
                                          </p:val>
                                        </p:tav>
                                        <p:tav tm="100000">
                                          <p:val>
                                            <p:strVal val="#ppt_x"/>
                                          </p:val>
                                        </p:tav>
                                      </p:tavLst>
                                    </p:anim>
                                    <p:anim calcmode="lin" valueType="num">
                                      <p:cBhvr additive="base">
                                        <p:cTn id="14" dur="500" fill="hold"/>
                                        <p:tgtEl>
                                          <p:spTgt spid="768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6818"/>
                                        </p:tgtEl>
                                        <p:attrNameLst>
                                          <p:attrName>style.visibility</p:attrName>
                                        </p:attrNameLst>
                                      </p:cBhvr>
                                      <p:to>
                                        <p:strVal val="visible"/>
                                      </p:to>
                                    </p:set>
                                    <p:anim calcmode="lin" valueType="num">
                                      <p:cBhvr additive="base">
                                        <p:cTn id="19" dur="500" fill="hold"/>
                                        <p:tgtEl>
                                          <p:spTgt spid="76818"/>
                                        </p:tgtEl>
                                        <p:attrNameLst>
                                          <p:attrName>ppt_x</p:attrName>
                                        </p:attrNameLst>
                                      </p:cBhvr>
                                      <p:tavLst>
                                        <p:tav tm="0">
                                          <p:val>
                                            <p:strVal val="0-#ppt_w/2"/>
                                          </p:val>
                                        </p:tav>
                                        <p:tav tm="100000">
                                          <p:val>
                                            <p:strVal val="#ppt_x"/>
                                          </p:val>
                                        </p:tav>
                                      </p:tavLst>
                                    </p:anim>
                                    <p:anim calcmode="lin" valueType="num">
                                      <p:cBhvr additive="base">
                                        <p:cTn id="20" dur="500" fill="hold"/>
                                        <p:tgtEl>
                                          <p:spTgt spid="7681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6819"/>
                                        </p:tgtEl>
                                        <p:attrNameLst>
                                          <p:attrName>style.visibility</p:attrName>
                                        </p:attrNameLst>
                                      </p:cBhvr>
                                      <p:to>
                                        <p:strVal val="visible"/>
                                      </p:to>
                                    </p:set>
                                    <p:anim calcmode="lin" valueType="num">
                                      <p:cBhvr additive="base">
                                        <p:cTn id="25" dur="500" fill="hold"/>
                                        <p:tgtEl>
                                          <p:spTgt spid="76819"/>
                                        </p:tgtEl>
                                        <p:attrNameLst>
                                          <p:attrName>ppt_x</p:attrName>
                                        </p:attrNameLst>
                                      </p:cBhvr>
                                      <p:tavLst>
                                        <p:tav tm="0">
                                          <p:val>
                                            <p:strVal val="0-#ppt_w/2"/>
                                          </p:val>
                                        </p:tav>
                                        <p:tav tm="100000">
                                          <p:val>
                                            <p:strVal val="#ppt_x"/>
                                          </p:val>
                                        </p:tav>
                                      </p:tavLst>
                                    </p:anim>
                                    <p:anim calcmode="lin" valueType="num">
                                      <p:cBhvr additive="base">
                                        <p:cTn id="26" dur="500" fill="hold"/>
                                        <p:tgtEl>
                                          <p:spTgt spid="7681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6820"/>
                                        </p:tgtEl>
                                        <p:attrNameLst>
                                          <p:attrName>style.visibility</p:attrName>
                                        </p:attrNameLst>
                                      </p:cBhvr>
                                      <p:to>
                                        <p:strVal val="visible"/>
                                      </p:to>
                                    </p:set>
                                    <p:anim calcmode="lin" valueType="num">
                                      <p:cBhvr additive="base">
                                        <p:cTn id="31" dur="500" fill="hold"/>
                                        <p:tgtEl>
                                          <p:spTgt spid="76820"/>
                                        </p:tgtEl>
                                        <p:attrNameLst>
                                          <p:attrName>ppt_x</p:attrName>
                                        </p:attrNameLst>
                                      </p:cBhvr>
                                      <p:tavLst>
                                        <p:tav tm="0">
                                          <p:val>
                                            <p:strVal val="0-#ppt_w/2"/>
                                          </p:val>
                                        </p:tav>
                                        <p:tav tm="100000">
                                          <p:val>
                                            <p:strVal val="#ppt_x"/>
                                          </p:val>
                                        </p:tav>
                                      </p:tavLst>
                                    </p:anim>
                                    <p:anim calcmode="lin" valueType="num">
                                      <p:cBhvr additive="base">
                                        <p:cTn id="32" dur="500" fill="hold"/>
                                        <p:tgtEl>
                                          <p:spTgt spid="7682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6821"/>
                                        </p:tgtEl>
                                        <p:attrNameLst>
                                          <p:attrName>style.visibility</p:attrName>
                                        </p:attrNameLst>
                                      </p:cBhvr>
                                      <p:to>
                                        <p:strVal val="visible"/>
                                      </p:to>
                                    </p:set>
                                    <p:anim calcmode="lin" valueType="num">
                                      <p:cBhvr additive="base">
                                        <p:cTn id="37" dur="500" fill="hold"/>
                                        <p:tgtEl>
                                          <p:spTgt spid="76821"/>
                                        </p:tgtEl>
                                        <p:attrNameLst>
                                          <p:attrName>ppt_x</p:attrName>
                                        </p:attrNameLst>
                                      </p:cBhvr>
                                      <p:tavLst>
                                        <p:tav tm="0">
                                          <p:val>
                                            <p:strVal val="0-#ppt_w/2"/>
                                          </p:val>
                                        </p:tav>
                                        <p:tav tm="100000">
                                          <p:val>
                                            <p:strVal val="#ppt_x"/>
                                          </p:val>
                                        </p:tav>
                                      </p:tavLst>
                                    </p:anim>
                                    <p:anim calcmode="lin" valueType="num">
                                      <p:cBhvr additive="base">
                                        <p:cTn id="38" dur="500" fill="hold"/>
                                        <p:tgtEl>
                                          <p:spTgt spid="768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6822"/>
                                        </p:tgtEl>
                                        <p:attrNameLst>
                                          <p:attrName>style.visibility</p:attrName>
                                        </p:attrNameLst>
                                      </p:cBhvr>
                                      <p:to>
                                        <p:strVal val="visible"/>
                                      </p:to>
                                    </p:set>
                                    <p:anim calcmode="lin" valueType="num">
                                      <p:cBhvr additive="base">
                                        <p:cTn id="43" dur="500" fill="hold"/>
                                        <p:tgtEl>
                                          <p:spTgt spid="76822"/>
                                        </p:tgtEl>
                                        <p:attrNameLst>
                                          <p:attrName>ppt_x</p:attrName>
                                        </p:attrNameLst>
                                      </p:cBhvr>
                                      <p:tavLst>
                                        <p:tav tm="0">
                                          <p:val>
                                            <p:strVal val="0-#ppt_w/2"/>
                                          </p:val>
                                        </p:tav>
                                        <p:tav tm="100000">
                                          <p:val>
                                            <p:strVal val="#ppt_x"/>
                                          </p:val>
                                        </p:tav>
                                      </p:tavLst>
                                    </p:anim>
                                    <p:anim calcmode="lin" valueType="num">
                                      <p:cBhvr additive="base">
                                        <p:cTn id="44" dur="500" fill="hold"/>
                                        <p:tgtEl>
                                          <p:spTgt spid="7682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76823"/>
                                        </p:tgtEl>
                                        <p:attrNameLst>
                                          <p:attrName>style.visibility</p:attrName>
                                        </p:attrNameLst>
                                      </p:cBhvr>
                                      <p:to>
                                        <p:strVal val="visible"/>
                                      </p:to>
                                    </p:set>
                                    <p:anim calcmode="lin" valueType="num">
                                      <p:cBhvr additive="base">
                                        <p:cTn id="49" dur="500" fill="hold"/>
                                        <p:tgtEl>
                                          <p:spTgt spid="76823"/>
                                        </p:tgtEl>
                                        <p:attrNameLst>
                                          <p:attrName>ppt_x</p:attrName>
                                        </p:attrNameLst>
                                      </p:cBhvr>
                                      <p:tavLst>
                                        <p:tav tm="0">
                                          <p:val>
                                            <p:strVal val="0-#ppt_w/2"/>
                                          </p:val>
                                        </p:tav>
                                        <p:tav tm="100000">
                                          <p:val>
                                            <p:strVal val="#ppt_x"/>
                                          </p:val>
                                        </p:tav>
                                      </p:tavLst>
                                    </p:anim>
                                    <p:anim calcmode="lin" valueType="num">
                                      <p:cBhvr additive="base">
                                        <p:cTn id="50" dur="500" fill="hold"/>
                                        <p:tgtEl>
                                          <p:spTgt spid="7682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76827"/>
                                        </p:tgtEl>
                                        <p:attrNameLst>
                                          <p:attrName>style.visibility</p:attrName>
                                        </p:attrNameLst>
                                      </p:cBhvr>
                                      <p:to>
                                        <p:strVal val="visible"/>
                                      </p:to>
                                    </p:set>
                                    <p:anim calcmode="lin" valueType="num">
                                      <p:cBhvr additive="base">
                                        <p:cTn id="55" dur="500" fill="hold"/>
                                        <p:tgtEl>
                                          <p:spTgt spid="76827"/>
                                        </p:tgtEl>
                                        <p:attrNameLst>
                                          <p:attrName>ppt_x</p:attrName>
                                        </p:attrNameLst>
                                      </p:cBhvr>
                                      <p:tavLst>
                                        <p:tav tm="0">
                                          <p:val>
                                            <p:strVal val="0-#ppt_w/2"/>
                                          </p:val>
                                        </p:tav>
                                        <p:tav tm="100000">
                                          <p:val>
                                            <p:strVal val="#ppt_x"/>
                                          </p:val>
                                        </p:tav>
                                      </p:tavLst>
                                    </p:anim>
                                    <p:anim calcmode="lin" valueType="num">
                                      <p:cBhvr additive="base">
                                        <p:cTn id="56" dur="500" fill="hold"/>
                                        <p:tgtEl>
                                          <p:spTgt spid="7682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76825"/>
                                        </p:tgtEl>
                                        <p:attrNameLst>
                                          <p:attrName>style.visibility</p:attrName>
                                        </p:attrNameLst>
                                      </p:cBhvr>
                                      <p:to>
                                        <p:strVal val="visible"/>
                                      </p:to>
                                    </p:set>
                                    <p:anim calcmode="lin" valueType="num">
                                      <p:cBhvr additive="base">
                                        <p:cTn id="61" dur="500" fill="hold"/>
                                        <p:tgtEl>
                                          <p:spTgt spid="76825"/>
                                        </p:tgtEl>
                                        <p:attrNameLst>
                                          <p:attrName>ppt_x</p:attrName>
                                        </p:attrNameLst>
                                      </p:cBhvr>
                                      <p:tavLst>
                                        <p:tav tm="0">
                                          <p:val>
                                            <p:strVal val="0-#ppt_w/2"/>
                                          </p:val>
                                        </p:tav>
                                        <p:tav tm="100000">
                                          <p:val>
                                            <p:strVal val="#ppt_x"/>
                                          </p:val>
                                        </p:tav>
                                      </p:tavLst>
                                    </p:anim>
                                    <p:anim calcmode="lin" valueType="num">
                                      <p:cBhvr additive="base">
                                        <p:cTn id="62" dur="500" fill="hold"/>
                                        <p:tgtEl>
                                          <p:spTgt spid="76825"/>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76826"/>
                                        </p:tgtEl>
                                        <p:attrNameLst>
                                          <p:attrName>style.visibility</p:attrName>
                                        </p:attrNameLst>
                                      </p:cBhvr>
                                      <p:to>
                                        <p:strVal val="visible"/>
                                      </p:to>
                                    </p:set>
                                    <p:anim calcmode="lin" valueType="num">
                                      <p:cBhvr additive="base">
                                        <p:cTn id="67" dur="500" fill="hold"/>
                                        <p:tgtEl>
                                          <p:spTgt spid="76826"/>
                                        </p:tgtEl>
                                        <p:attrNameLst>
                                          <p:attrName>ppt_x</p:attrName>
                                        </p:attrNameLst>
                                      </p:cBhvr>
                                      <p:tavLst>
                                        <p:tav tm="0">
                                          <p:val>
                                            <p:strVal val="0-#ppt_w/2"/>
                                          </p:val>
                                        </p:tav>
                                        <p:tav tm="100000">
                                          <p:val>
                                            <p:strVal val="#ppt_x"/>
                                          </p:val>
                                        </p:tav>
                                      </p:tavLst>
                                    </p:anim>
                                    <p:anim calcmode="lin" valueType="num">
                                      <p:cBhvr additive="base">
                                        <p:cTn id="68" dur="500" fill="hold"/>
                                        <p:tgtEl>
                                          <p:spTgt spid="76826"/>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
                                        </p:tgtEl>
                                        <p:attrNameLst>
                                          <p:attrName>style.visibility</p:attrName>
                                        </p:attrNameLst>
                                      </p:cBhvr>
                                      <p:to>
                                        <p:strVal val="visible"/>
                                      </p:to>
                                    </p:set>
                                    <p:anim calcmode="lin" valueType="num">
                                      <p:cBhvr additive="base">
                                        <p:cTn id="73" dur="500" fill="hold"/>
                                        <p:tgtEl>
                                          <p:spTgt spid="2"/>
                                        </p:tgtEl>
                                        <p:attrNameLst>
                                          <p:attrName>ppt_x</p:attrName>
                                        </p:attrNameLst>
                                      </p:cBhvr>
                                      <p:tavLst>
                                        <p:tav tm="0">
                                          <p:val>
                                            <p:strVal val="0-#ppt_w/2"/>
                                          </p:val>
                                        </p:tav>
                                        <p:tav tm="100000">
                                          <p:val>
                                            <p:strVal val="#ppt_x"/>
                                          </p:val>
                                        </p:tav>
                                      </p:tavLst>
                                    </p:anim>
                                    <p:anim calcmode="lin" valueType="num">
                                      <p:cBhvr additive="base">
                                        <p:cTn id="7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11" grpId="0"/>
      <p:bldP spid="76817" grpId="0"/>
      <p:bldP spid="76818" grpId="0"/>
      <p:bldP spid="76819" grpId="0"/>
      <p:bldP spid="76820" grpId="0"/>
      <p:bldP spid="76821" grpId="0"/>
      <p:bldP spid="76822" grpId="0"/>
      <p:bldP spid="76823" grpId="0"/>
      <p:bldP spid="76825" grpId="0"/>
      <p:bldP spid="76826" grpId="0"/>
      <p:bldP spid="76827" grpId="0"/>
      <p:bldP spid="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直接连接符 80897"/>
          <p:cNvSpPr/>
          <p:nvPr/>
        </p:nvSpPr>
        <p:spPr>
          <a:xfrm>
            <a:off x="0" y="609600"/>
            <a:ext cx="9144000" cy="0"/>
          </a:xfrm>
          <a:prstGeom prst="line">
            <a:avLst/>
          </a:prstGeom>
          <a:ln w="57150" cap="flat" cmpd="thickThin">
            <a:solidFill>
              <a:srgbClr val="CCCC00"/>
            </a:solidFill>
            <a:prstDash val="solid"/>
            <a:headEnd type="none" w="med" len="med"/>
            <a:tailEnd type="none" w="med" len="med"/>
          </a:ln>
        </p:spPr>
      </p:sp>
      <p:sp>
        <p:nvSpPr>
          <p:cNvPr id="80905" name="标题 80904"/>
          <p:cNvSpPr>
            <a:spLocks noGrp="1"/>
          </p:cNvSpPr>
          <p:nvPr>
            <p:ph type="title"/>
          </p:nvPr>
        </p:nvSpPr>
        <p:spPr>
          <a:xfrm>
            <a:off x="0" y="685800"/>
            <a:ext cx="5791200" cy="457200"/>
          </a:xfrm>
        </p:spPr>
        <p:txBody>
          <a:bodyPr anchor="ctr"/>
          <a:lstStyle/>
          <a:p>
            <a:pPr algn="l"/>
            <a:r>
              <a:rPr lang="en-US" altLang="zh-CN" sz="2400" b="1" dirty="0">
                <a:solidFill>
                  <a:srgbClr val="000000"/>
                </a:solidFill>
                <a:ea typeface="楷体_GB2312" pitchFamily="49" charset="-122"/>
              </a:rPr>
              <a:t>(</a:t>
            </a:r>
            <a:r>
              <a:rPr lang="zh-CN" altLang="en-US" sz="2400" b="1" dirty="0">
                <a:solidFill>
                  <a:srgbClr val="000000"/>
                </a:solidFill>
                <a:ea typeface="楷体_GB2312" pitchFamily="49" charset="-122"/>
              </a:rPr>
              <a:t>三</a:t>
            </a:r>
            <a:r>
              <a:rPr lang="en-US" altLang="zh-CN" sz="2400" b="1" dirty="0">
                <a:solidFill>
                  <a:srgbClr val="000000"/>
                </a:solidFill>
                <a:ea typeface="楷体_GB2312" pitchFamily="49" charset="-122"/>
              </a:rPr>
              <a:t>)</a:t>
            </a:r>
            <a:r>
              <a:rPr lang="zh-CN" altLang="en-US" sz="2400" b="1" dirty="0">
                <a:solidFill>
                  <a:srgbClr val="000000"/>
                </a:solidFill>
                <a:ea typeface="楷体_GB2312" pitchFamily="49" charset="-122"/>
              </a:rPr>
              <a:t>、计算部分的格式要求</a:t>
            </a:r>
            <a:endParaRPr lang="zh-CN" altLang="en-US" sz="2400" b="1" dirty="0">
              <a:solidFill>
                <a:srgbClr val="000000"/>
              </a:solidFill>
              <a:ea typeface="楷体_GB2312" pitchFamily="49" charset="-122"/>
            </a:endParaRPr>
          </a:p>
        </p:txBody>
      </p:sp>
      <p:pic>
        <p:nvPicPr>
          <p:cNvPr id="80909" name="图片 80908" descr="返回">
            <a:hlinkClick r:id="rId1" action="ppaction://hlinksldjump"/>
          </p:cNvPr>
          <p:cNvPicPr>
            <a:picLocks noChangeAspect="1"/>
          </p:cNvPicPr>
          <p:nvPr/>
        </p:nvPicPr>
        <p:blipFill>
          <a:blip r:embed="rId2"/>
          <a:stretch>
            <a:fillRect/>
          </a:stretch>
        </p:blipFill>
        <p:spPr>
          <a:xfrm>
            <a:off x="8115300" y="6515100"/>
            <a:ext cx="342900" cy="342900"/>
          </a:xfrm>
          <a:prstGeom prst="rect">
            <a:avLst/>
          </a:prstGeom>
          <a:noFill/>
          <a:ln w="9525">
            <a:noFill/>
          </a:ln>
        </p:spPr>
      </p:pic>
      <p:pic>
        <p:nvPicPr>
          <p:cNvPr id="80912" name="图片 80911" descr="上一步">
            <a:hlinkClick r:id="" action="ppaction://hlinkshowjump?jump=previousslide"/>
          </p:cNvPr>
          <p:cNvPicPr>
            <a:picLocks noChangeAspect="1"/>
          </p:cNvPicPr>
          <p:nvPr/>
        </p:nvPicPr>
        <p:blipFill>
          <a:blip r:embed="rId3"/>
          <a:stretch>
            <a:fillRect/>
          </a:stretch>
        </p:blipFill>
        <p:spPr>
          <a:xfrm>
            <a:off x="8496300" y="6515100"/>
            <a:ext cx="342900" cy="342900"/>
          </a:xfrm>
          <a:prstGeom prst="rect">
            <a:avLst/>
          </a:prstGeom>
          <a:noFill/>
          <a:ln w="9525">
            <a:noFill/>
          </a:ln>
        </p:spPr>
      </p:pic>
      <p:pic>
        <p:nvPicPr>
          <p:cNvPr id="10" name="图片 9"/>
          <p:cNvPicPr>
            <a:picLocks noChangeAspect="1"/>
          </p:cNvPicPr>
          <p:nvPr/>
        </p:nvPicPr>
        <p:blipFill>
          <a:blip r:embed="rId4"/>
          <a:stretch>
            <a:fillRect/>
          </a:stretch>
        </p:blipFill>
        <p:spPr>
          <a:xfrm>
            <a:off x="262255" y="1340485"/>
            <a:ext cx="8234045" cy="3465830"/>
          </a:xfrm>
          <a:prstGeom prst="rect">
            <a:avLst/>
          </a:prstGeom>
        </p:spPr>
      </p:pic>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83969"/>
          <p:cNvSpPr>
            <a:spLocks noGrp="1"/>
          </p:cNvSpPr>
          <p:nvPr>
            <p:ph type="title"/>
          </p:nvPr>
        </p:nvSpPr>
        <p:spPr>
          <a:xfrm>
            <a:off x="685800" y="152400"/>
            <a:ext cx="7772400" cy="533400"/>
          </a:xfrm>
        </p:spPr>
        <p:txBody>
          <a:bodyPr anchor="ctr"/>
          <a:lstStyle/>
          <a:p>
            <a:r>
              <a:rPr lang="zh-CN" altLang="en-US" sz="2800" b="1" dirty="0">
                <a:solidFill>
                  <a:srgbClr val="FF3300"/>
                </a:solidFill>
                <a:effectLst>
                  <a:outerShdw blurRad="38100" dist="38100" dir="2700000">
                    <a:srgbClr val="C0C0C0"/>
                  </a:outerShdw>
                </a:effectLst>
              </a:rPr>
              <a:t>油、脂润滑的轴承所处位置</a:t>
            </a:r>
            <a:endParaRPr lang="zh-CN" altLang="en-US" sz="2800" b="1">
              <a:solidFill>
                <a:srgbClr val="FF3300"/>
              </a:solidFill>
              <a:effectLst>
                <a:outerShdw blurRad="38100" dist="38100" dir="2700000">
                  <a:srgbClr val="C0C0C0"/>
                </a:outerShdw>
              </a:effectLst>
            </a:endParaRPr>
          </a:p>
        </p:txBody>
      </p:sp>
      <p:pic>
        <p:nvPicPr>
          <p:cNvPr id="83972" name="图片 83971" descr="503"/>
          <p:cNvPicPr>
            <a:picLocks noChangeAspect="1"/>
          </p:cNvPicPr>
          <p:nvPr/>
        </p:nvPicPr>
        <p:blipFill>
          <a:blip r:embed="rId1"/>
          <a:srcRect l="10852" r="10077"/>
          <a:stretch>
            <a:fillRect/>
          </a:stretch>
        </p:blipFill>
        <p:spPr>
          <a:xfrm>
            <a:off x="457200" y="609600"/>
            <a:ext cx="3886200" cy="5410200"/>
          </a:xfrm>
          <a:prstGeom prst="rect">
            <a:avLst/>
          </a:prstGeom>
          <a:noFill/>
          <a:ln w="9525">
            <a:noFill/>
          </a:ln>
        </p:spPr>
      </p:pic>
      <p:pic>
        <p:nvPicPr>
          <p:cNvPr id="83973" name="图片 83972" descr="504"/>
          <p:cNvPicPr>
            <a:picLocks noChangeAspect="1"/>
          </p:cNvPicPr>
          <p:nvPr/>
        </p:nvPicPr>
        <p:blipFill>
          <a:blip r:embed="rId2"/>
          <a:stretch>
            <a:fillRect/>
          </a:stretch>
        </p:blipFill>
        <p:spPr>
          <a:xfrm>
            <a:off x="5334000" y="914400"/>
            <a:ext cx="3149600" cy="4953000"/>
          </a:xfrm>
          <a:prstGeom prst="rect">
            <a:avLst/>
          </a:prstGeom>
          <a:noFill/>
          <a:ln w="9525">
            <a:noFill/>
          </a:ln>
        </p:spPr>
      </p:pic>
      <p:sp>
        <p:nvSpPr>
          <p:cNvPr id="83974" name="文本框 83973"/>
          <p:cNvSpPr txBox="1"/>
          <p:nvPr/>
        </p:nvSpPr>
        <p:spPr>
          <a:xfrm>
            <a:off x="609600" y="6019800"/>
            <a:ext cx="3048000" cy="366713"/>
          </a:xfrm>
          <a:prstGeom prst="rect">
            <a:avLst/>
          </a:prstGeom>
          <a:noFill/>
          <a:ln w="9525">
            <a:noFill/>
          </a:ln>
        </p:spPr>
        <p:txBody>
          <a:bodyPr>
            <a:spAutoFit/>
          </a:bodyPr>
          <a:lstStyle/>
          <a:p>
            <a:pPr algn="l">
              <a:spcBef>
                <a:spcPct val="50000"/>
              </a:spcBef>
            </a:pPr>
            <a:r>
              <a:rPr lang="zh-CN" altLang="en-US" sz="1800" b="1" dirty="0">
                <a:solidFill>
                  <a:schemeClr val="accent2"/>
                </a:solidFill>
                <a:latin typeface="Times New Roman" panose="02020603050405020304" pitchFamily="18" charset="0"/>
              </a:rPr>
              <a:t>（</a:t>
            </a:r>
            <a:r>
              <a:rPr lang="en-US" altLang="zh-CN" sz="1800" b="1" dirty="0">
                <a:solidFill>
                  <a:schemeClr val="accent2"/>
                </a:solidFill>
                <a:latin typeface="Times New Roman" panose="02020603050405020304" pitchFamily="18" charset="0"/>
              </a:rPr>
              <a:t>A</a:t>
            </a:r>
            <a:r>
              <a:rPr lang="zh-CN" altLang="en-US" sz="1800" b="1" dirty="0">
                <a:solidFill>
                  <a:schemeClr val="accent2"/>
                </a:solidFill>
                <a:latin typeface="Times New Roman" panose="02020603050405020304" pitchFamily="18" charset="0"/>
              </a:rPr>
              <a:t>）轴承为脂润滑</a:t>
            </a:r>
            <a:endParaRPr lang="zh-CN" altLang="en-US" sz="1800" b="1">
              <a:solidFill>
                <a:schemeClr val="accent2"/>
              </a:solidFill>
              <a:latin typeface="Times New Roman" panose="02020603050405020304" pitchFamily="18" charset="0"/>
            </a:endParaRPr>
          </a:p>
        </p:txBody>
      </p:sp>
      <p:sp>
        <p:nvSpPr>
          <p:cNvPr id="83975" name="文本框 83974"/>
          <p:cNvSpPr txBox="1"/>
          <p:nvPr/>
        </p:nvSpPr>
        <p:spPr>
          <a:xfrm>
            <a:off x="5562600" y="6019800"/>
            <a:ext cx="3048000" cy="366713"/>
          </a:xfrm>
          <a:prstGeom prst="rect">
            <a:avLst/>
          </a:prstGeom>
          <a:noFill/>
          <a:ln w="9525">
            <a:noFill/>
          </a:ln>
        </p:spPr>
        <p:txBody>
          <a:bodyPr>
            <a:spAutoFit/>
          </a:bodyPr>
          <a:lstStyle/>
          <a:p>
            <a:pPr algn="l">
              <a:spcBef>
                <a:spcPct val="50000"/>
              </a:spcBef>
            </a:pPr>
            <a:r>
              <a:rPr lang="zh-CN" altLang="en-US" sz="1800" b="1" dirty="0">
                <a:solidFill>
                  <a:schemeClr val="accent2"/>
                </a:solidFill>
                <a:latin typeface="Times New Roman" panose="02020603050405020304" pitchFamily="18" charset="0"/>
              </a:rPr>
              <a:t>（</a:t>
            </a:r>
            <a:r>
              <a:rPr lang="en-US" altLang="zh-CN" sz="1800" b="1" dirty="0">
                <a:solidFill>
                  <a:schemeClr val="accent2"/>
                </a:solidFill>
                <a:latin typeface="Times New Roman" panose="02020603050405020304" pitchFamily="18" charset="0"/>
              </a:rPr>
              <a:t>B</a:t>
            </a:r>
            <a:r>
              <a:rPr lang="zh-CN" altLang="en-US" sz="1800" b="1" dirty="0">
                <a:solidFill>
                  <a:schemeClr val="accent2"/>
                </a:solidFill>
                <a:latin typeface="Times New Roman" panose="02020603050405020304" pitchFamily="18" charset="0"/>
              </a:rPr>
              <a:t>）轴承为油润滑</a:t>
            </a:r>
            <a:endParaRPr lang="zh-CN" altLang="en-US" sz="1800" b="1">
              <a:solidFill>
                <a:schemeClr val="accent2"/>
              </a:solidFill>
              <a:latin typeface="Times New Roman" panose="02020603050405020304" pitchFamily="18" charset="0"/>
            </a:endParaRPr>
          </a:p>
        </p:txBody>
      </p:sp>
      <p:sp>
        <p:nvSpPr>
          <p:cNvPr id="83976" name="文本框 83975"/>
          <p:cNvSpPr txBox="1"/>
          <p:nvPr/>
        </p:nvSpPr>
        <p:spPr>
          <a:xfrm>
            <a:off x="685800" y="6410643"/>
            <a:ext cx="3048000" cy="366712"/>
          </a:xfrm>
          <a:prstGeom prst="rect">
            <a:avLst/>
          </a:prstGeom>
          <a:noFill/>
          <a:ln w="9525">
            <a:noFill/>
          </a:ln>
        </p:spPr>
        <p:txBody>
          <a:bodyPr>
            <a:spAutoFit/>
          </a:bodyPr>
          <a:lstStyle/>
          <a:p>
            <a:pPr algn="l">
              <a:spcBef>
                <a:spcPct val="50000"/>
              </a:spcBef>
            </a:pPr>
            <a:r>
              <a:rPr lang="zh-CN" altLang="en-US" sz="1800" b="1" dirty="0">
                <a:solidFill>
                  <a:srgbClr val="FF3300"/>
                </a:solidFill>
                <a:latin typeface="Times New Roman" panose="02020603050405020304" pitchFamily="18" charset="0"/>
              </a:rPr>
              <a:t>注意：封油盘的位置与画法</a:t>
            </a:r>
            <a:endParaRPr lang="zh-CN" altLang="en-US" sz="1800" b="1">
              <a:solidFill>
                <a:srgbClr val="FF3300"/>
              </a:solidFill>
              <a:latin typeface="Times New Roman" panose="02020603050405020304" pitchFamily="18" charset="0"/>
            </a:endParaRPr>
          </a:p>
        </p:txBody>
      </p:sp>
      <p:sp>
        <p:nvSpPr>
          <p:cNvPr id="83977" name="文本框 83976"/>
          <p:cNvSpPr txBox="1"/>
          <p:nvPr/>
        </p:nvSpPr>
        <p:spPr>
          <a:xfrm>
            <a:off x="5507990" y="6416358"/>
            <a:ext cx="3048000" cy="366712"/>
          </a:xfrm>
          <a:prstGeom prst="rect">
            <a:avLst/>
          </a:prstGeom>
          <a:noFill/>
          <a:ln w="9525">
            <a:noFill/>
          </a:ln>
        </p:spPr>
        <p:txBody>
          <a:bodyPr>
            <a:spAutoFit/>
          </a:bodyPr>
          <a:lstStyle/>
          <a:p>
            <a:pPr algn="l">
              <a:spcBef>
                <a:spcPct val="50000"/>
              </a:spcBef>
            </a:pPr>
            <a:r>
              <a:rPr lang="zh-CN" altLang="en-US" sz="1800" b="1" dirty="0">
                <a:solidFill>
                  <a:srgbClr val="FF3300"/>
                </a:solidFill>
                <a:latin typeface="Times New Roman" panose="02020603050405020304" pitchFamily="18" charset="0"/>
              </a:rPr>
              <a:t>注意：油沟</a:t>
            </a:r>
            <a:endParaRPr lang="zh-CN" altLang="en-US" sz="1800" b="1">
              <a:solidFill>
                <a:srgbClr val="FF3300"/>
              </a:solidFill>
              <a:latin typeface="Times New Roman" panose="02020603050405020304" pitchFamily="18" charset="0"/>
            </a:endParaRPr>
          </a:p>
        </p:txBody>
      </p:sp>
      <p:sp>
        <p:nvSpPr>
          <p:cNvPr id="83978" name="文本框 83977">
            <a:hlinkClick r:id="rId3" action="ppaction://hlinksldjump"/>
          </p:cNvPr>
          <p:cNvSpPr txBox="1"/>
          <p:nvPr/>
        </p:nvSpPr>
        <p:spPr>
          <a:xfrm>
            <a:off x="8077200" y="6096000"/>
            <a:ext cx="838200" cy="466725"/>
          </a:xfrm>
          <a:prstGeom prst="rect">
            <a:avLst/>
          </a:prstGeom>
          <a:solidFill>
            <a:srgbClr val="993366"/>
          </a:solidFill>
          <a:ln w="9525" cap="flat" cmpd="sng">
            <a:solidFill>
              <a:srgbClr val="33CCCC"/>
            </a:solidFill>
            <a:prstDash val="solid"/>
            <a:miter/>
            <a:headEnd type="none" w="med" len="med"/>
            <a:tailEnd type="none" w="med" len="med"/>
          </a:ln>
        </p:spPr>
        <p:txBody>
          <a:bodyPr>
            <a:spAutoFit/>
          </a:bodyPr>
          <a:lstStyle/>
          <a:p>
            <a:pPr algn="l">
              <a:spcBef>
                <a:spcPct val="50000"/>
              </a:spcBef>
            </a:pPr>
            <a:r>
              <a:rPr lang="zh-CN" altLang="en-US" dirty="0">
                <a:latin typeface="Times New Roman" panose="02020603050405020304" pitchFamily="18" charset="0"/>
                <a:hlinkClick r:id="rId4" action="ppaction://hlinksldjump"/>
              </a:rPr>
              <a:t>返回</a:t>
            </a:r>
            <a:endParaRPr lang="zh-CN" altLang="en-US">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9" name="图片 82948" descr="5025"/>
          <p:cNvPicPr>
            <a:picLocks noChangeAspect="1"/>
          </p:cNvPicPr>
          <p:nvPr>
            <p:custDataLst>
              <p:tags r:id="rId1"/>
            </p:custDataLst>
          </p:nvPr>
        </p:nvPicPr>
        <p:blipFill>
          <a:blip r:embed="rId2"/>
          <a:stretch>
            <a:fillRect/>
          </a:stretch>
        </p:blipFill>
        <p:spPr>
          <a:xfrm>
            <a:off x="304800" y="1143000"/>
            <a:ext cx="3887788" cy="4500563"/>
          </a:xfrm>
          <a:prstGeom prst="rect">
            <a:avLst/>
          </a:prstGeom>
          <a:noFill/>
          <a:ln w="9525">
            <a:noFill/>
          </a:ln>
        </p:spPr>
      </p:pic>
      <p:pic>
        <p:nvPicPr>
          <p:cNvPr id="82950" name="图片 82949" descr="5026"/>
          <p:cNvPicPr>
            <a:picLocks noChangeAspect="1"/>
          </p:cNvPicPr>
          <p:nvPr>
            <p:custDataLst>
              <p:tags r:id="rId3"/>
            </p:custDataLst>
          </p:nvPr>
        </p:nvPicPr>
        <p:blipFill>
          <a:blip r:embed="rId4"/>
          <a:stretch>
            <a:fillRect/>
          </a:stretch>
        </p:blipFill>
        <p:spPr>
          <a:xfrm>
            <a:off x="4876800" y="1295400"/>
            <a:ext cx="4032250" cy="4191000"/>
          </a:xfrm>
          <a:prstGeom prst="rect">
            <a:avLst/>
          </a:prstGeom>
          <a:noFill/>
          <a:ln w="9525">
            <a:noFill/>
          </a:ln>
        </p:spPr>
      </p:pic>
      <p:sp>
        <p:nvSpPr>
          <p:cNvPr id="82951" name="标题 82950"/>
          <p:cNvSpPr>
            <a:spLocks noGrp="1"/>
          </p:cNvSpPr>
          <p:nvPr>
            <p:ph type="title"/>
          </p:nvPr>
        </p:nvSpPr>
        <p:spPr>
          <a:xfrm>
            <a:off x="685800" y="609600"/>
            <a:ext cx="7772400" cy="304800"/>
          </a:xfrm>
        </p:spPr>
        <p:txBody>
          <a:bodyPr anchor="ctr"/>
          <a:lstStyle/>
          <a:p>
            <a:r>
              <a:rPr lang="zh-CN" altLang="en-US" sz="2800" b="1" dirty="0">
                <a:solidFill>
                  <a:srgbClr val="FF3300"/>
                </a:solidFill>
                <a:effectLst>
                  <a:outerShdw blurRad="38100" dist="38100" dir="2700000">
                    <a:srgbClr val="C0C0C0"/>
                  </a:outerShdw>
                </a:effectLst>
              </a:rPr>
              <a:t>常见轴承盖的类型</a:t>
            </a:r>
            <a:endParaRPr lang="zh-CN" altLang="en-US" sz="2800" b="1" dirty="0">
              <a:solidFill>
                <a:srgbClr val="FF3300"/>
              </a:solidFill>
              <a:effectLst>
                <a:outerShdw blurRad="38100" dist="38100" dir="2700000">
                  <a:srgbClr val="C0C0C0"/>
                </a:outerShdw>
              </a:effectLst>
            </a:endParaRPr>
          </a:p>
        </p:txBody>
      </p:sp>
      <p:sp>
        <p:nvSpPr>
          <p:cNvPr id="82953" name="文本框 82952"/>
          <p:cNvSpPr txBox="1"/>
          <p:nvPr>
            <p:custDataLst>
              <p:tags r:id="rId5"/>
            </p:custDataLst>
          </p:nvPr>
        </p:nvSpPr>
        <p:spPr>
          <a:xfrm>
            <a:off x="533400" y="5791200"/>
            <a:ext cx="3048000" cy="366713"/>
          </a:xfrm>
          <a:prstGeom prst="rect">
            <a:avLst/>
          </a:prstGeom>
          <a:noFill/>
          <a:ln w="9525">
            <a:noFill/>
          </a:ln>
        </p:spPr>
        <p:txBody>
          <a:bodyPr>
            <a:spAutoFit/>
          </a:bodyPr>
          <a:lstStyle/>
          <a:p>
            <a:pPr algn="l">
              <a:spcBef>
                <a:spcPct val="50000"/>
              </a:spcBef>
            </a:pPr>
            <a:r>
              <a:rPr lang="zh-CN" altLang="en-US" sz="1800" b="1" dirty="0">
                <a:solidFill>
                  <a:schemeClr val="accent2"/>
                </a:solidFill>
                <a:latin typeface="Times New Roman" panose="02020603050405020304" pitchFamily="18" charset="0"/>
              </a:rPr>
              <a:t>（</a:t>
            </a:r>
            <a:r>
              <a:rPr lang="en-US" altLang="zh-CN" sz="1800" b="1" dirty="0">
                <a:solidFill>
                  <a:schemeClr val="accent2"/>
                </a:solidFill>
                <a:latin typeface="Times New Roman" panose="02020603050405020304" pitchFamily="18" charset="0"/>
              </a:rPr>
              <a:t>A</a:t>
            </a:r>
            <a:r>
              <a:rPr lang="zh-CN" altLang="en-US" sz="1800" b="1" dirty="0">
                <a:solidFill>
                  <a:schemeClr val="accent2"/>
                </a:solidFill>
                <a:latin typeface="Times New Roman" panose="02020603050405020304" pitchFamily="18" charset="0"/>
              </a:rPr>
              <a:t>）凸缘式轴承盖</a:t>
            </a:r>
            <a:endParaRPr lang="zh-CN" altLang="en-US" sz="1800" b="1">
              <a:solidFill>
                <a:schemeClr val="accent2"/>
              </a:solidFill>
              <a:latin typeface="Times New Roman" panose="02020603050405020304" pitchFamily="18" charset="0"/>
            </a:endParaRPr>
          </a:p>
        </p:txBody>
      </p:sp>
      <p:sp>
        <p:nvSpPr>
          <p:cNvPr id="82954" name="文本框 82953"/>
          <p:cNvSpPr txBox="1"/>
          <p:nvPr>
            <p:custDataLst>
              <p:tags r:id="rId6"/>
            </p:custDataLst>
          </p:nvPr>
        </p:nvSpPr>
        <p:spPr>
          <a:xfrm>
            <a:off x="5181600" y="5791200"/>
            <a:ext cx="3048000" cy="366713"/>
          </a:xfrm>
          <a:prstGeom prst="rect">
            <a:avLst/>
          </a:prstGeom>
          <a:noFill/>
          <a:ln w="9525">
            <a:noFill/>
          </a:ln>
        </p:spPr>
        <p:txBody>
          <a:bodyPr>
            <a:spAutoFit/>
          </a:bodyPr>
          <a:lstStyle/>
          <a:p>
            <a:pPr algn="l">
              <a:spcBef>
                <a:spcPct val="50000"/>
              </a:spcBef>
            </a:pPr>
            <a:r>
              <a:rPr lang="zh-CN" altLang="en-US" sz="1800" b="1" dirty="0">
                <a:solidFill>
                  <a:schemeClr val="accent2"/>
                </a:solidFill>
                <a:latin typeface="Times New Roman" panose="02020603050405020304" pitchFamily="18" charset="0"/>
              </a:rPr>
              <a:t>（</a:t>
            </a:r>
            <a:r>
              <a:rPr lang="en-US" altLang="zh-CN" sz="1800" b="1" dirty="0">
                <a:solidFill>
                  <a:schemeClr val="accent2"/>
                </a:solidFill>
                <a:latin typeface="Times New Roman" panose="02020603050405020304" pitchFamily="18" charset="0"/>
              </a:rPr>
              <a:t>B</a:t>
            </a:r>
            <a:r>
              <a:rPr lang="zh-CN" altLang="en-US" sz="1800" b="1" dirty="0">
                <a:solidFill>
                  <a:schemeClr val="accent2"/>
                </a:solidFill>
                <a:latin typeface="Times New Roman" panose="02020603050405020304" pitchFamily="18" charset="0"/>
              </a:rPr>
              <a:t>）嵌入式轴承盖</a:t>
            </a:r>
            <a:endParaRPr lang="zh-CN" altLang="en-US" sz="1800" b="1">
              <a:solidFill>
                <a:schemeClr val="accent2"/>
              </a:solidFill>
              <a:latin typeface="Times New Roman" panose="02020603050405020304" pitchFamily="18" charset="0"/>
            </a:endParaRPr>
          </a:p>
        </p:txBody>
      </p:sp>
      <p:sp>
        <p:nvSpPr>
          <p:cNvPr id="82955" name="文本框 82954">
            <a:hlinkClick r:id="rId7" action="ppaction://hlinksldjump"/>
          </p:cNvPr>
          <p:cNvSpPr txBox="1"/>
          <p:nvPr/>
        </p:nvSpPr>
        <p:spPr>
          <a:xfrm>
            <a:off x="8077200" y="6096000"/>
            <a:ext cx="838200" cy="466725"/>
          </a:xfrm>
          <a:prstGeom prst="rect">
            <a:avLst/>
          </a:prstGeom>
          <a:solidFill>
            <a:srgbClr val="993366"/>
          </a:solidFill>
          <a:ln w="9525" cap="flat" cmpd="sng">
            <a:solidFill>
              <a:srgbClr val="33CCCC"/>
            </a:solidFill>
            <a:prstDash val="solid"/>
            <a:miter/>
            <a:headEnd type="none" w="med" len="med"/>
            <a:tailEnd type="none" w="med" len="med"/>
          </a:ln>
        </p:spPr>
        <p:txBody>
          <a:bodyPr>
            <a:spAutoFit/>
          </a:bodyPr>
          <a:lstStyle/>
          <a:p>
            <a:pPr algn="l">
              <a:spcBef>
                <a:spcPct val="50000"/>
              </a:spcBef>
            </a:pPr>
            <a:r>
              <a:rPr lang="zh-CN" altLang="en-US" dirty="0">
                <a:latin typeface="Times New Roman" panose="02020603050405020304" pitchFamily="18" charset="0"/>
                <a:hlinkClick r:id="rId8" action="ppaction://hlinksldjump"/>
              </a:rPr>
              <a:t>返回</a:t>
            </a:r>
            <a:endParaRPr lang="zh-CN" altLang="en-US">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对象 2"/>
          <p:cNvGraphicFramePr/>
          <p:nvPr/>
        </p:nvGraphicFramePr>
        <p:xfrm>
          <a:off x="1038701" y="1518761"/>
          <a:ext cx="6856571" cy="4239578"/>
        </p:xfrm>
        <a:graphic>
          <a:graphicData uri="http://schemas.openxmlformats.org/presentationml/2006/ole">
            <mc:AlternateContent xmlns:mc="http://schemas.openxmlformats.org/markup-compatibility/2006">
              <mc:Choice xmlns:v="urn:schemas-microsoft-com:vml" Requires="v">
                <p:oleObj spid="_x0000_s4" name="" r:id="rId1" imgW="9134475" imgH="5648325" progId="Paint.Picture">
                  <p:embed/>
                </p:oleObj>
              </mc:Choice>
              <mc:Fallback>
                <p:oleObj name="" r:id="rId1" imgW="9134475" imgH="5648325" progId="Paint.Picture">
                  <p:embed/>
                  <p:pic>
                    <p:nvPicPr>
                      <p:cNvPr id="0" name="图片 3"/>
                      <p:cNvPicPr/>
                      <p:nvPr/>
                    </p:nvPicPr>
                    <p:blipFill>
                      <a:blip r:embed="rId2"/>
                      <a:stretch>
                        <a:fillRect/>
                      </a:stretch>
                    </p:blipFill>
                    <p:spPr>
                      <a:xfrm>
                        <a:off x="1038701" y="1518761"/>
                        <a:ext cx="6856571" cy="4239578"/>
                      </a:xfrm>
                      <a:prstGeom prst="rect">
                        <a:avLst/>
                      </a:prstGeom>
                    </p:spPr>
                  </p:pic>
                </p:oleObj>
              </mc:Fallback>
            </mc:AlternateContent>
          </a:graphicData>
        </a:graphic>
      </p:graphicFrame>
    </p:spTree>
    <p:custDataLst>
      <p:tags r:id="rId3"/>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115695" y="1428750"/>
            <a:ext cx="6858000" cy="4000500"/>
          </a:xfrm>
          <a:prstGeom prst="rect">
            <a:avLst/>
          </a:prstGeom>
        </p:spPr>
      </p:pic>
    </p:spTree>
    <p:custDataLst>
      <p:tags r:id="rId2"/>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对象 2"/>
          <p:cNvGraphicFramePr/>
          <p:nvPr/>
        </p:nvGraphicFramePr>
        <p:xfrm>
          <a:off x="1031558" y="1676400"/>
          <a:ext cx="6334125" cy="3596164"/>
        </p:xfrm>
        <a:graphic>
          <a:graphicData uri="http://schemas.openxmlformats.org/presentationml/2006/ole">
            <mc:AlternateContent xmlns:mc="http://schemas.openxmlformats.org/markup-compatibility/2006">
              <mc:Choice xmlns:v="urn:schemas-microsoft-com:vml" Requires="v">
                <p:oleObj spid="_x0000_s4" name="" r:id="rId1" imgW="8439150" imgH="4791075" progId="Paint.Picture">
                  <p:embed/>
                </p:oleObj>
              </mc:Choice>
              <mc:Fallback>
                <p:oleObj name="" r:id="rId1" imgW="8439150" imgH="4791075" progId="Paint.Picture">
                  <p:embed/>
                  <p:pic>
                    <p:nvPicPr>
                      <p:cNvPr id="0" name="图片 3"/>
                      <p:cNvPicPr/>
                      <p:nvPr/>
                    </p:nvPicPr>
                    <p:blipFill>
                      <a:blip r:embed="rId2"/>
                      <a:stretch>
                        <a:fillRect/>
                      </a:stretch>
                    </p:blipFill>
                    <p:spPr>
                      <a:xfrm>
                        <a:off x="1031558" y="1676400"/>
                        <a:ext cx="6334125" cy="3596164"/>
                      </a:xfrm>
                      <a:prstGeom prst="rect">
                        <a:avLst/>
                      </a:prstGeom>
                    </p:spPr>
                  </p:pic>
                </p:oleObj>
              </mc:Fallback>
            </mc:AlternateContent>
          </a:graphicData>
        </a:graphic>
      </p:graphicFrame>
    </p:spTree>
    <p:custDataLst>
      <p:tags r:id="rId3"/>
    </p:custDataLst>
  </p:cSld>
  <p:clrMapOvr>
    <a:masterClrMapping/>
  </p:clrMapOvr>
</p:sld>
</file>

<file path=ppt/tags/tag1.xml><?xml version="1.0" encoding="utf-8"?>
<p:tagLst xmlns:p="http://schemas.openxmlformats.org/presentationml/2006/main">
  <p:tag name="KSO_WM_BEAUTIFY_FLAG" val="#wm#"/>
  <p:tag name="KSO_WM_TEMPLATE_CATEGORY" val="custom"/>
  <p:tag name="KSO_WM_TEMPLATE_INDEX" val="20205081"/>
</p:tagLst>
</file>

<file path=ppt/tags/tag2.xml><?xml version="1.0" encoding="utf-8"?>
<p:tagLst xmlns:p="http://schemas.openxmlformats.org/presentationml/2006/main">
  <p:tag name="KSO_WM_UNIT_PLACING_PICTURE_USER_VIEWPORT" val="{&quot;height&quot;:7997.500787401575,&quot;width&quot;:8510}"/>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wm#"/>
  <p:tag name="KSO_WM_TEMPLATE_CATEGORY" val="custom"/>
  <p:tag name="KSO_WM_TEMPLATE_INDEX" val="20205081"/>
</p:tagLst>
</file>

<file path=ppt/tags/tag11.xml><?xml version="1.0" encoding="utf-8"?>
<p:tagLst xmlns:p="http://schemas.openxmlformats.org/presentationml/2006/main">
  <p:tag name="KSO_WM_BEAUTIFY_FLAG" val="#wm#"/>
  <p:tag name="KSO_WM_TEMPLATE_CATEGORY" val="custom"/>
  <p:tag name="KSO_WM_TEMPLATE_INDEX" val="20205081"/>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UNIT_PLACING_PICTURE_USER_VIEWPORT" val="{&quot;height&quot;:9081.773228346457,&quot;width&quot;:14212.174803149606}"/>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UNIT_PLACING_PICTURE_USER_VIEWPORT" val="{&quot;height&quot;:8745.892913385827,&quot;width&quot;:10205.858267716536}"/>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wm#"/>
  <p:tag name="KSO_WM_TEMPLATE_CATEGORY" val="custom"/>
  <p:tag name="KSO_WM_TEMPLATE_INDEX" val="20205081"/>
</p:tagLst>
</file>

<file path=ppt/tags/tag22.xml><?xml version="1.0" encoding="utf-8"?>
<p:tagLst xmlns:p="http://schemas.openxmlformats.org/presentationml/2006/main">
  <p:tag name="KSO_WM_BEAUTIFY_FLAG" val=""/>
  <p:tag name="KSO_WM_UNIT_PLACING_PICTURE_USER_VIEWPORT" val="{&quot;height&quot;:4876.132283464567,&quot;width&quot;:13555.889763779527}"/>
</p:tagLst>
</file>

<file path=ppt/tags/tag23.xml><?xml version="1.0" encoding="utf-8"?>
<p:tagLst xmlns:p="http://schemas.openxmlformats.org/presentationml/2006/main">
  <p:tag name="KSO_WM_BEAUTIFY_FLAG" val="#wm#"/>
  <p:tag name="KSO_WM_TEMPLATE_CATEGORY" val="custom"/>
  <p:tag name="KSO_WM_TEMPLATE_INDEX" val="20205081"/>
</p:tagLst>
</file>

<file path=ppt/tags/tag24.xml><?xml version="1.0" encoding="utf-8"?>
<p:tagLst xmlns:p="http://schemas.openxmlformats.org/presentationml/2006/main">
  <p:tag name="KSO_WM_BEAUTIFY_FLAG" val=""/>
  <p:tag name="KSO_WM_UNIT_PLACING_PICTURE_USER_VIEWPORT" val="{&quot;height&quot;:4876.132283464567,&quot;width&quot;:13555.889763779527}"/>
</p:tagLst>
</file>

<file path=ppt/tags/tag25.xml><?xml version="1.0" encoding="utf-8"?>
<p:tagLst xmlns:p="http://schemas.openxmlformats.org/presentationml/2006/main">
  <p:tag name="KSO_WM_BEAUTIFY_FLAG" val="#wm#"/>
  <p:tag name="KSO_WM_TEMPLATE_CATEGORY" val="custom"/>
  <p:tag name="KSO_WM_TEMPLATE_INDEX" val="20205081"/>
</p:tagLst>
</file>

<file path=ppt/tags/tag26.xml><?xml version="1.0" encoding="utf-8"?>
<p:tagLst xmlns:p="http://schemas.openxmlformats.org/presentationml/2006/main">
  <p:tag name="KSO_WM_BEAUTIFY_FLAG" val="#wm#"/>
  <p:tag name="KSO_WM_TEMPLATE_CATEGORY" val="custom"/>
  <p:tag name="KSO_WM_TEMPLATE_INDEX" val="20205081"/>
</p:tagLst>
</file>

<file path=ppt/tags/tag27.xml><?xml version="1.0" encoding="utf-8"?>
<p:tagLst xmlns:p="http://schemas.openxmlformats.org/presentationml/2006/main">
  <p:tag name="KSO_WM_BEAUTIFY_FLAG" val="#wm#"/>
  <p:tag name="KSO_WM_TEMPLATE_CATEGORY" val="custom"/>
  <p:tag name="KSO_WM_TEMPLATE_INDEX" val="20205081"/>
</p:tagLst>
</file>

<file path=ppt/tags/tag28.xml><?xml version="1.0" encoding="utf-8"?>
<p:tagLst xmlns:p="http://schemas.openxmlformats.org/presentationml/2006/main">
  <p:tag name="KSO_WM_BEAUTIFY_FLAG" val="#wm#"/>
  <p:tag name="KSO_WM_TEMPLATE_CATEGORY" val="custom"/>
  <p:tag name="KSO_WM_TEMPLATE_INDEX" val="20205081"/>
</p:tagLst>
</file>

<file path=ppt/tags/tag29.xml><?xml version="1.0" encoding="utf-8"?>
<p:tagLst xmlns:p="http://schemas.openxmlformats.org/presentationml/2006/main">
  <p:tag name="KSO_WM_BEAUTIFY_FLAG" val="#wm#"/>
  <p:tag name="KSO_WM_TEMPLATE_CATEGORY" val="custom"/>
  <p:tag name="KSO_WM_TEMPLATE_INDEX" val="20205081"/>
</p:tagLst>
</file>

<file path=ppt/tags/tag30.xml><?xml version="1.0" encoding="utf-8"?>
<p:tagLst xmlns:p="http://schemas.openxmlformats.org/presentationml/2006/main">
  <p:tag name="KSO_WM_BEAUTIFY_FLAG" val="#wm#"/>
  <p:tag name="KSO_WM_TEMPLATE_CATEGORY" val="custom"/>
  <p:tag name="KSO_WM_TEMPLATE_INDEX" val="20205081"/>
</p:tagLst>
</file>

<file path=ppt/tags/tag31.xml><?xml version="1.0" encoding="utf-8"?>
<p:tagLst xmlns:p="http://schemas.openxmlformats.org/presentationml/2006/main">
  <p:tag name="KSO_WM_BEAUTIFY_FLAG" val="#wm#"/>
  <p:tag name="KSO_WM_TEMPLATE_CATEGORY" val="custom"/>
  <p:tag name="KSO_WM_TEMPLATE_INDEX" val="20205081"/>
</p:tagLst>
</file>

<file path=ppt/tags/tag32.xml><?xml version="1.0" encoding="utf-8"?>
<p:tagLst xmlns:p="http://schemas.openxmlformats.org/presentationml/2006/main">
  <p:tag name="KSO_WM_BEAUTIFY_FLAG" val="#wm#"/>
  <p:tag name="KSO_WM_TEMPLATE_CATEGORY" val="custom"/>
  <p:tag name="KSO_WM_TEMPLATE_INDEX" val="20205081"/>
</p:tagLst>
</file>

<file path=ppt/tags/tag33.xml><?xml version="1.0" encoding="utf-8"?>
<p:tagLst xmlns:p="http://schemas.openxmlformats.org/presentationml/2006/main">
  <p:tag name="KSO_WM_BEAUTIFY_FLAG" val="#wm#"/>
  <p:tag name="KSO_WM_TEMPLATE_CATEGORY" val="custom"/>
  <p:tag name="KSO_WM_TEMPLATE_INDEX" val="20205081"/>
</p:tagLst>
</file>

<file path=ppt/tags/tag34.xml><?xml version="1.0" encoding="utf-8"?>
<p:tagLst xmlns:p="http://schemas.openxmlformats.org/presentationml/2006/main">
  <p:tag name="KSO_WM_DIAGRAM_VIRTUALLY_FRAME" val="{&quot;height&quot;:408.7,&quot;left&quot;:-19.9,&quot;top&quot;:60.25,&quot;width&quot;:739.9}"/>
</p:tagLst>
</file>

<file path=ppt/tags/tag35.xml><?xml version="1.0" encoding="utf-8"?>
<p:tagLst xmlns:p="http://schemas.openxmlformats.org/presentationml/2006/main">
  <p:tag name="KSO_WM_DIAGRAM_VIRTUALLY_FRAME" val="{&quot;height&quot;:408.7,&quot;left&quot;:-19.9,&quot;top&quot;:60.25,&quot;width&quot;:739.9}"/>
</p:tagLst>
</file>

<file path=ppt/tags/tag36.xml><?xml version="1.0" encoding="utf-8"?>
<p:tagLst xmlns:p="http://schemas.openxmlformats.org/presentationml/2006/main">
  <p:tag name="KSO_WM_DIAGRAM_VIRTUALLY_FRAME" val="{&quot;height&quot;:408.7,&quot;left&quot;:-19.9,&quot;top&quot;:60.25,&quot;width&quot;:739.9}"/>
</p:tagLst>
</file>

<file path=ppt/tags/tag37.xml><?xml version="1.0" encoding="utf-8"?>
<p:tagLst xmlns:p="http://schemas.openxmlformats.org/presentationml/2006/main">
  <p:tag name="KSO_WM_DIAGRAM_VIRTUALLY_FRAME" val="{&quot;height&quot;:408.7,&quot;left&quot;:-19.9,&quot;top&quot;:60.25,&quot;width&quot;:739.9}"/>
</p:tagLst>
</file>

<file path=ppt/tags/tag38.xml><?xml version="1.0" encoding="utf-8"?>
<p:tagLst xmlns:p="http://schemas.openxmlformats.org/presentationml/2006/main">
  <p:tag name="KSO_WM_BEAUTIFY_FLAG" val="#wm#"/>
  <p:tag name="KSO_WM_TEMPLATE_CATEGORY" val="custom"/>
  <p:tag name="KSO_WM_TEMPLATE_INDEX" val="20205081"/>
</p:tagLst>
</file>

<file path=ppt/tags/tag39.xml><?xml version="1.0" encoding="utf-8"?>
<p:tagLst xmlns:p="http://schemas.openxmlformats.org/presentationml/2006/main">
  <p:tag name="KSO_WM_BEAUTIFY_FLAG" val="#wm#"/>
  <p:tag name="KSO_WM_TEMPLATE_CATEGORY" val="custom"/>
  <p:tag name="KSO_WM_TEMPLATE_INDEX" val="20205081"/>
</p:tagLst>
</file>

<file path=ppt/tags/tag40.xml><?xml version="1.0" encoding="utf-8"?>
<p:tagLst xmlns:p="http://schemas.openxmlformats.org/presentationml/2006/main">
  <p:tag name="KSO_WM_DIAGRAM_VIRTUALLY_FRAME" val="{&quot;height&quot;:408.7,&quot;left&quot;:-19.9,&quot;top&quot;:60.25,&quot;width&quot;:739.9}"/>
</p:tagLst>
</file>

<file path=ppt/tags/tag41.xml><?xml version="1.0" encoding="utf-8"?>
<p:tagLst xmlns:p="http://schemas.openxmlformats.org/presentationml/2006/main">
  <p:tag name="KSO_WM_DIAGRAM_VIRTUALLY_FRAME" val="{&quot;height&quot;:408.7,&quot;left&quot;:-19.9,&quot;top&quot;:60.25,&quot;width&quot;:739.9}"/>
</p:tagLst>
</file>

<file path=ppt/tags/tag42.xml><?xml version="1.0" encoding="utf-8"?>
<p:tagLst xmlns:p="http://schemas.openxmlformats.org/presentationml/2006/main">
  <p:tag name="KSO_WM_DIAGRAM_VIRTUALLY_FRAME" val="{&quot;height&quot;:394.87503937007875,&quot;left&quot;:24,&quot;top&quot;:90,&quot;width&quot;:677.5}"/>
</p:tagLst>
</file>

<file path=ppt/tags/tag43.xml><?xml version="1.0" encoding="utf-8"?>
<p:tagLst xmlns:p="http://schemas.openxmlformats.org/presentationml/2006/main">
  <p:tag name="KSO_WM_DIAGRAM_VIRTUALLY_FRAME" val="{&quot;height&quot;:394.87503937007875,&quot;left&quot;:24,&quot;top&quot;:90,&quot;width&quot;:677.5}"/>
</p:tagLst>
</file>

<file path=ppt/tags/tag44.xml><?xml version="1.0" encoding="utf-8"?>
<p:tagLst xmlns:p="http://schemas.openxmlformats.org/presentationml/2006/main">
  <p:tag name="KSO_WM_DIAGRAM_VIRTUALLY_FRAME" val="{&quot;height&quot;:394.87503937007875,&quot;left&quot;:24,&quot;top&quot;:90,&quot;width&quot;:677.5}"/>
</p:tagLst>
</file>

<file path=ppt/tags/tag45.xml><?xml version="1.0" encoding="utf-8"?>
<p:tagLst xmlns:p="http://schemas.openxmlformats.org/presentationml/2006/main">
  <p:tag name="KSO_WM_DIAGRAM_VIRTUALLY_FRAME" val="{&quot;height&quot;:394.87503937007875,&quot;left&quot;:24,&quot;top&quot;:90,&quot;width&quot;:677.5}"/>
</p:tagLst>
</file>

<file path=ppt/tags/tag46.xml><?xml version="1.0" encoding="utf-8"?>
<p:tagLst xmlns:p="http://schemas.openxmlformats.org/presentationml/2006/main">
  <p:tag name="KSO_WM_BEAUTIFY_FLAG" val="#wm#"/>
  <p:tag name="KSO_WM_TEMPLATE_CATEGORY" val="custom"/>
  <p:tag name="KSO_WM_TEMPLATE_INDEX" val="20205081"/>
</p:tagLst>
</file>

<file path=ppt/tags/tag47.xml><?xml version="1.0" encoding="utf-8"?>
<p:tagLst xmlns:p="http://schemas.openxmlformats.org/presentationml/2006/main">
  <p:tag name="KSO_WM_BEAUTIFY_FLAG" val="#wm#"/>
  <p:tag name="KSO_WM_TEMPLATE_CATEGORY" val="custom"/>
  <p:tag name="KSO_WM_TEMPLATE_INDEX" val="20205081"/>
</p:tagLst>
</file>

<file path=ppt/tags/tag48.xml><?xml version="1.0" encoding="utf-8"?>
<p:tagLst xmlns:p="http://schemas.openxmlformats.org/presentationml/2006/main">
  <p:tag name="KSO_WM_BEAUTIFY_FLAG" val="#wm#"/>
  <p:tag name="KSO_WM_TEMPLATE_CATEGORY" val="custom"/>
  <p:tag name="KSO_WM_TEMPLATE_INDEX" val="20205081"/>
</p:tagLst>
</file>

<file path=ppt/tags/tag49.xml><?xml version="1.0" encoding="utf-8"?>
<p:tagLst xmlns:p="http://schemas.openxmlformats.org/presentationml/2006/main">
  <p:tag name="COMMONDATA" val="eyJoZGlkIjoiZmYwY2UxNzI0ODdjMTkzYTM2NmQ4OTdkNGYwMzJlYmMifQ=="/>
  <p:tag name="KSO_WPP_MARK_KEY" val="53e73b22-caa5-4c7e-96db-b911e0c514f5"/>
  <p:tag name="commondata" val="eyJoZGlkIjoiZTJlNmM0NTk2Mjk3OWEyOWRkMTVhNzNmZGVjNzIwNDgifQ=="/>
  <p:tag name="resource_record_key" val="{&quot;13&quot;:[19951231,20482067]}"/>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5B5249"/>
    </a:dk1>
    <a:lt1>
      <a:srgbClr val="FFFFFF"/>
    </a:lt1>
    <a:dk2>
      <a:srgbClr val="2A3D7A"/>
    </a:dk2>
    <a:lt2>
      <a:srgbClr val="CEC8BA"/>
    </a:lt2>
    <a:accent1>
      <a:srgbClr val="C9DDF1"/>
    </a:accent1>
    <a:accent2>
      <a:srgbClr val="FAC164"/>
    </a:accent2>
    <a:accent3>
      <a:srgbClr val="FFFFFF"/>
    </a:accent3>
    <a:accent4>
      <a:srgbClr val="4D453E"/>
    </a:accent4>
    <a:accent5>
      <a:srgbClr val="E0EBF7"/>
    </a:accent5>
    <a:accent6>
      <a:srgbClr val="E0AD59"/>
    </a:accent6>
    <a:hlink>
      <a:srgbClr val="008000"/>
    </a:hlink>
    <a:folHlink>
      <a:srgbClr val="0000FF"/>
    </a:folHlink>
  </a:clrScheme>
</a:themeOverride>
</file>

<file path=ppt/theme/themeOverride2.xml><?xml version="1.0" encoding="utf-8"?>
<a:themeOverride xmlns:a="http://schemas.openxmlformats.org/drawingml/2006/main">
  <a:clrScheme name="">
    <a:dk1>
      <a:srgbClr val="5B5249"/>
    </a:dk1>
    <a:lt1>
      <a:srgbClr val="FFFFFF"/>
    </a:lt1>
    <a:dk2>
      <a:srgbClr val="2A3D7A"/>
    </a:dk2>
    <a:lt2>
      <a:srgbClr val="CEC8BA"/>
    </a:lt2>
    <a:accent1>
      <a:srgbClr val="C9DDF1"/>
    </a:accent1>
    <a:accent2>
      <a:srgbClr val="FAC164"/>
    </a:accent2>
    <a:accent3>
      <a:srgbClr val="FFFFFF"/>
    </a:accent3>
    <a:accent4>
      <a:srgbClr val="4D453E"/>
    </a:accent4>
    <a:accent5>
      <a:srgbClr val="E0EBF7"/>
    </a:accent5>
    <a:accent6>
      <a:srgbClr val="E0AD59"/>
    </a:accent6>
    <a:hlink>
      <a:srgbClr val="008000"/>
    </a:hlink>
    <a:folHlink>
      <a:srgbClr val="0000FF"/>
    </a:folHlink>
  </a:clrScheme>
</a:themeOverride>
</file>

<file path=ppt/theme/themeOverride3.xml><?xml version="1.0" encoding="utf-8"?>
<a:themeOverride xmlns:a="http://schemas.openxmlformats.org/drawingml/2006/main">
  <a:clrScheme name="">
    <a:dk1>
      <a:srgbClr val="5B5249"/>
    </a:dk1>
    <a:lt1>
      <a:srgbClr val="FFFFFF"/>
    </a:lt1>
    <a:dk2>
      <a:srgbClr val="2A3D7A"/>
    </a:dk2>
    <a:lt2>
      <a:srgbClr val="CEC8BA"/>
    </a:lt2>
    <a:accent1>
      <a:srgbClr val="C9DDF1"/>
    </a:accent1>
    <a:accent2>
      <a:srgbClr val="FAC164"/>
    </a:accent2>
    <a:accent3>
      <a:srgbClr val="FFFFFF"/>
    </a:accent3>
    <a:accent4>
      <a:srgbClr val="4D453E"/>
    </a:accent4>
    <a:accent5>
      <a:srgbClr val="E0EBF7"/>
    </a:accent5>
    <a:accent6>
      <a:srgbClr val="E0AD59"/>
    </a:accent6>
    <a:hlink>
      <a:srgbClr val="008000"/>
    </a:hlink>
    <a:folHlink>
      <a:srgbClr val="0000FF"/>
    </a:folHlink>
  </a:clrScheme>
</a:themeOverride>
</file>

<file path=ppt/theme/themeOverride4.xml><?xml version="1.0" encoding="utf-8"?>
<a:themeOverride xmlns:a="http://schemas.openxmlformats.org/drawingml/2006/main">
  <a:clrScheme name="">
    <a:dk1>
      <a:srgbClr val="5B5249"/>
    </a:dk1>
    <a:lt1>
      <a:srgbClr val="FFFFFF"/>
    </a:lt1>
    <a:dk2>
      <a:srgbClr val="2A3D7A"/>
    </a:dk2>
    <a:lt2>
      <a:srgbClr val="CEC8BA"/>
    </a:lt2>
    <a:accent1>
      <a:srgbClr val="C9DDF1"/>
    </a:accent1>
    <a:accent2>
      <a:srgbClr val="FAC164"/>
    </a:accent2>
    <a:accent3>
      <a:srgbClr val="FFFFFF"/>
    </a:accent3>
    <a:accent4>
      <a:srgbClr val="4D453E"/>
    </a:accent4>
    <a:accent5>
      <a:srgbClr val="E0EBF7"/>
    </a:accent5>
    <a:accent6>
      <a:srgbClr val="E0AD59"/>
    </a:accent6>
    <a:hlink>
      <a:srgbClr val="008000"/>
    </a:hlink>
    <a:folHlink>
      <a:srgbClr val="0000FF"/>
    </a:folHlink>
  </a:clrScheme>
</a:themeOverride>
</file>

<file path=ppt/theme/themeOverride5.xml><?xml version="1.0" encoding="utf-8"?>
<a:themeOverride xmlns:a="http://schemas.openxmlformats.org/drawingml/2006/main">
  <a:clrScheme name="">
    <a:dk1>
      <a:srgbClr val="5B5249"/>
    </a:dk1>
    <a:lt1>
      <a:srgbClr val="FFFFFF"/>
    </a:lt1>
    <a:dk2>
      <a:srgbClr val="2A3D7A"/>
    </a:dk2>
    <a:lt2>
      <a:srgbClr val="CEC8BA"/>
    </a:lt2>
    <a:accent1>
      <a:srgbClr val="C9DDF1"/>
    </a:accent1>
    <a:accent2>
      <a:srgbClr val="FAC164"/>
    </a:accent2>
    <a:accent3>
      <a:srgbClr val="FFFFFF"/>
    </a:accent3>
    <a:accent4>
      <a:srgbClr val="4D453E"/>
    </a:accent4>
    <a:accent5>
      <a:srgbClr val="E0EBF7"/>
    </a:accent5>
    <a:accent6>
      <a:srgbClr val="E0AD59"/>
    </a:accent6>
    <a:hlink>
      <a:srgbClr val="008000"/>
    </a:hlink>
    <a:folHlink>
      <a:srgbClr val="0000FF"/>
    </a:folHlink>
  </a:clrScheme>
</a:themeOverride>
</file>

<file path=ppt/theme/themeOverride6.xml><?xml version="1.0" encoding="utf-8"?>
<a:themeOverride xmlns:a="http://schemas.openxmlformats.org/drawingml/2006/main">
  <a:clrScheme name="">
    <a:dk1>
      <a:srgbClr val="5B5249"/>
    </a:dk1>
    <a:lt1>
      <a:srgbClr val="FFFFFF"/>
    </a:lt1>
    <a:dk2>
      <a:srgbClr val="2A3D7A"/>
    </a:dk2>
    <a:lt2>
      <a:srgbClr val="CEC8BA"/>
    </a:lt2>
    <a:accent1>
      <a:srgbClr val="C9DDF1"/>
    </a:accent1>
    <a:accent2>
      <a:srgbClr val="FAC164"/>
    </a:accent2>
    <a:accent3>
      <a:srgbClr val="FFFFFF"/>
    </a:accent3>
    <a:accent4>
      <a:srgbClr val="4D453E"/>
    </a:accent4>
    <a:accent5>
      <a:srgbClr val="E0EBF7"/>
    </a:accent5>
    <a:accent6>
      <a:srgbClr val="E0AD59"/>
    </a:accent6>
    <a:hlink>
      <a:srgbClr val="008000"/>
    </a:hlink>
    <a:folHlink>
      <a:srgbClr val="0000FF"/>
    </a:folHlink>
  </a:clrScheme>
</a:themeOverride>
</file>

<file path=ppt/theme/themeOverride7.xml><?xml version="1.0" encoding="utf-8"?>
<a:themeOverride xmlns:a="http://schemas.openxmlformats.org/drawingml/2006/main">
  <a:clrScheme name="">
    <a:dk1>
      <a:srgbClr val="5B5249"/>
    </a:dk1>
    <a:lt1>
      <a:srgbClr val="FFFFFF"/>
    </a:lt1>
    <a:dk2>
      <a:srgbClr val="2A3D7A"/>
    </a:dk2>
    <a:lt2>
      <a:srgbClr val="CEC8BA"/>
    </a:lt2>
    <a:accent1>
      <a:srgbClr val="C9DDF1"/>
    </a:accent1>
    <a:accent2>
      <a:srgbClr val="FAC164"/>
    </a:accent2>
    <a:accent3>
      <a:srgbClr val="FFFFFF"/>
    </a:accent3>
    <a:accent4>
      <a:srgbClr val="4D453E"/>
    </a:accent4>
    <a:accent5>
      <a:srgbClr val="E0EBF7"/>
    </a:accent5>
    <a:accent6>
      <a:srgbClr val="E0AD59"/>
    </a:accent6>
    <a:hlink>
      <a:srgbClr val="008000"/>
    </a:hlink>
    <a:folHlink>
      <a:srgbClr val="0000FF"/>
    </a:folHlink>
  </a:clrScheme>
</a:themeOverride>
</file>

<file path=docProps/app.xml><?xml version="1.0" encoding="utf-8"?>
<Properties xmlns="http://schemas.openxmlformats.org/officeDocument/2006/extended-properties" xmlns:vt="http://schemas.openxmlformats.org/officeDocument/2006/docPropsVTypes">
  <TotalTime>0</TotalTime>
  <Words>7952</Words>
  <Application>WPS 演示</Application>
  <PresentationFormat>全屏显示(4:3)</PresentationFormat>
  <Paragraphs>895</Paragraphs>
  <Slides>96</Slides>
  <Notes>12</Notes>
  <HiddenSlides>0</HiddenSlides>
  <MMClips>0</MMClips>
  <ScaleCrop>false</ScaleCrop>
  <HeadingPairs>
    <vt:vector size="10" baseType="variant">
      <vt:variant>
        <vt:lpstr>已用的字体</vt:lpstr>
      </vt:variant>
      <vt:variant>
        <vt:i4>24</vt:i4>
      </vt:variant>
      <vt:variant>
        <vt:lpstr>主题</vt:lpstr>
      </vt:variant>
      <vt:variant>
        <vt:i4>1</vt:i4>
      </vt:variant>
      <vt:variant>
        <vt:lpstr>嵌入 OLE 服务器</vt:lpstr>
      </vt:variant>
      <vt:variant>
        <vt:i4>26</vt:i4>
      </vt:variant>
      <vt:variant>
        <vt:lpstr>幻灯片标题</vt:lpstr>
      </vt:variant>
      <vt:variant>
        <vt:i4>96</vt:i4>
      </vt:variant>
      <vt:variant>
        <vt:lpstr>自定义放映</vt:lpstr>
      </vt:variant>
      <vt:variant>
        <vt:i4>1</vt:i4>
      </vt:variant>
    </vt:vector>
  </HeadingPairs>
  <TitlesOfParts>
    <vt:vector size="148" baseType="lpstr">
      <vt:lpstr>Arial</vt:lpstr>
      <vt:lpstr>宋体</vt:lpstr>
      <vt:lpstr>Wingdings</vt:lpstr>
      <vt:lpstr>Times New Roman</vt:lpstr>
      <vt:lpstr>黑体</vt:lpstr>
      <vt:lpstr>华文中宋</vt:lpstr>
      <vt:lpstr>楷体_GB2312</vt:lpstr>
      <vt:lpstr>新宋体</vt:lpstr>
      <vt:lpstr>微软雅黑</vt:lpstr>
      <vt:lpstr>Arial Unicode MS</vt:lpstr>
      <vt:lpstr>Symbol</vt:lpstr>
      <vt:lpstr>隶书</vt:lpstr>
      <vt:lpstr>Tahoma</vt:lpstr>
      <vt:lpstr>华文新魏</vt:lpstr>
      <vt:lpstr>Cambria Math</vt:lpstr>
      <vt:lpstr>仿宋_GB2312</vt:lpstr>
      <vt:lpstr>Wingdings</vt:lpstr>
      <vt:lpstr>汉仪长仿宋体</vt:lpstr>
      <vt:lpstr>仿宋</vt:lpstr>
      <vt:lpstr>Symbol</vt:lpstr>
      <vt:lpstr>仿宋_GB2312</vt:lpstr>
      <vt:lpstr>楷体_GB2312</vt:lpstr>
      <vt:lpstr>方正楷体_GB2312</vt:lpstr>
      <vt:lpstr>方正仿宋_GB2312</vt:lpstr>
      <vt:lpstr>默认设计模板</vt:lpstr>
      <vt:lpstr>Paint.Picture</vt:lpstr>
      <vt:lpstr>AutoCAD.Drawing.16</vt:lpstr>
      <vt:lpstr>Equation.3</vt:lpstr>
      <vt:lpstr>Equation.3</vt:lpstr>
      <vt:lpstr>Equation.KSEE3</vt:lpstr>
      <vt:lpstr>Equation.3</vt:lpstr>
      <vt:lpstr>Equation.3</vt:lpstr>
      <vt:lpstr>Equation.3</vt:lpstr>
      <vt:lpstr>Paint.Picture</vt:lpstr>
      <vt:lpstr>Equation.3</vt:lpstr>
      <vt:lpstr>Equation.DSMT4</vt:lpstr>
      <vt:lpstr>Equation.3</vt:lpstr>
      <vt:lpstr>Paint.Picture</vt:lpstr>
      <vt:lpstr>Equation.3</vt:lpstr>
      <vt:lpstr>Paint.Picture</vt:lpstr>
      <vt:lpstr>Paint.Picture</vt:lpstr>
      <vt:lpstr>Paint.Picture</vt:lpstr>
      <vt:lpstr>Paint.Picture</vt:lpstr>
      <vt:lpstr>Paint.Picture</vt:lpstr>
      <vt:lpstr>Equation.DSMT4</vt:lpstr>
      <vt:lpstr>Equation.3</vt:lpstr>
      <vt:lpstr>Equation.3</vt:lpstr>
      <vt:lpstr>Equation.KSEE3</vt:lpstr>
      <vt:lpstr>AutoCAD.Drawing.16</vt:lpstr>
      <vt:lpstr>AutoCAD.Drawing.16</vt:lpstr>
      <vt:lpstr>AutoCAD.Drawing.16</vt:lpstr>
      <vt:lpstr>PowerPoint 演示文稿</vt:lpstr>
      <vt:lpstr>PowerPoint 演示文稿</vt:lpstr>
      <vt:lpstr>PowerPoint 演示文稿</vt:lpstr>
      <vt:lpstr>PowerPoint 演示文稿</vt:lpstr>
      <vt:lpstr>引言</vt:lpstr>
      <vt:lpstr>第一节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带传动</vt:lpstr>
      <vt:lpstr>（2） 齿轮传动</vt:lpstr>
      <vt:lpstr>PowerPoint 演示文稿</vt:lpstr>
      <vt:lpstr>（3） 链传动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第二部分 减速器的结构</vt:lpstr>
      <vt:lpstr>PowerPoint 演示文稿</vt:lpstr>
      <vt:lpstr>PowerPoint 演示文稿</vt:lpstr>
      <vt:lpstr>PowerPoint 演示文稿</vt:lpstr>
      <vt:lpstr>PowerPoint 演示文稿</vt:lpstr>
      <vt:lpstr>直齿圆柱齿轮强度计算1</vt:lpstr>
      <vt:lpstr>PowerPoint 演示文稿</vt:lpstr>
      <vt:lpstr>PowerPoint 演示文稿</vt:lpstr>
      <vt:lpstr>三、 轴的结构设计</vt:lpstr>
      <vt:lpstr>PowerPoint 演示文稿</vt:lpstr>
      <vt:lpstr>PowerPoint 演示文稿</vt:lpstr>
      <vt:lpstr>PowerPoint 演示文稿</vt:lpstr>
      <vt:lpstr>PowerPoint 演示文稿</vt:lpstr>
      <vt:lpstr>直齿圆柱齿轮强度计算1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6、撰写设计计算说明书</vt:lpstr>
      <vt:lpstr>(三)、计算部分的格式要求</vt:lpstr>
      <vt:lpstr>油、脂润滑的轴承所处位置</vt:lpstr>
      <vt:lpstr>常见轴承盖的类型</vt:lpstr>
      <vt:lpstr>PowerPoint 演示文稿</vt:lpstr>
      <vt:lpstr>PowerPoint 演示文稿</vt:lpstr>
      <vt:lpstr>PowerPoint 演示文稿</vt:lpstr>
      <vt:lpstr>自定义放映1</vt:lpstr>
    </vt:vector>
  </TitlesOfParts>
  <Company>Microsoft 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洋</cp:lastModifiedBy>
  <cp:revision>188</cp:revision>
  <dcterms:created xsi:type="dcterms:W3CDTF">2006-12-24T13:01:00Z</dcterms:created>
  <dcterms:modified xsi:type="dcterms:W3CDTF">2026-01-10T00:42:44Z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C282F583445543E19676EE1697120158_13</vt:lpwstr>
  </property>
</Properties>
</file>