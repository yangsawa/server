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424" r:id="rId5"/>
    <p:sldId id="622" r:id="rId7"/>
    <p:sldId id="821" r:id="rId8"/>
    <p:sldId id="823" r:id="rId9"/>
    <p:sldId id="824" r:id="rId10"/>
    <p:sldId id="825" r:id="rId11"/>
    <p:sldId id="826" r:id="rId12"/>
    <p:sldId id="827" r:id="rId13"/>
    <p:sldId id="828" r:id="rId14"/>
    <p:sldId id="696" r:id="rId15"/>
    <p:sldId id="697" r:id="rId16"/>
    <p:sldId id="612" r:id="rId17"/>
    <p:sldId id="613" r:id="rId18"/>
    <p:sldId id="614" r:id="rId19"/>
    <p:sldId id="615" r:id="rId20"/>
    <p:sldId id="616" r:id="rId21"/>
    <p:sldId id="617" r:id="rId22"/>
    <p:sldId id="618" r:id="rId23"/>
    <p:sldId id="619" r:id="rId24"/>
    <p:sldId id="620" r:id="rId25"/>
    <p:sldId id="888" r:id="rId26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99"/>
    <a:srgbClr val="E1E5F7"/>
    <a:srgbClr val="CC3300"/>
    <a:srgbClr val="FF9900"/>
    <a:srgbClr val="800000"/>
    <a:srgbClr val="A50021"/>
    <a:srgbClr val="FF3300"/>
    <a:srgbClr val="4049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59" autoAdjust="0"/>
    <p:restoredTop sz="96846" autoAdjust="0"/>
  </p:normalViewPr>
  <p:slideViewPr>
    <p:cSldViewPr snapToGrid="0" showGuides="1">
      <p:cViewPr>
        <p:scale>
          <a:sx n="63" d="100"/>
          <a:sy n="63" d="100"/>
        </p:scale>
        <p:origin x="952" y="100"/>
      </p:cViewPr>
      <p:guideLst>
        <p:guide orient="horz" pos="2146"/>
        <p:guide pos="2908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0" Type="http://schemas.openxmlformats.org/officeDocument/2006/relationships/tags" Target="tags/tag4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D2B18-DB81-4DD3-BF11-891FA5250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07492-7F81-418F-B209-68ACD7B96D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ea typeface="宋体" panose="02010600030101010101" pitchFamily="2" charset="-122"/>
              </a:defRPr>
            </a:lvl1pPr>
          </a:lstStyle>
          <a:p>
            <a:fld id="{C72776A4-A756-4CDC-A3D2-25C7638527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ea typeface="宋体" panose="02010600030101010101" pitchFamily="2" charset="-122"/>
              </a:defRPr>
            </a:lvl1pPr>
          </a:lstStyle>
          <a:p>
            <a:fld id="{C72776A4-A756-4CDC-A3D2-25C7638527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ea typeface="宋体" panose="02010600030101010101" pitchFamily="2" charset="-122"/>
              </a:defRPr>
            </a:lvl1pPr>
          </a:lstStyle>
          <a:p>
            <a:fld id="{C72776A4-A756-4CDC-A3D2-25C7638527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9.xml"/><Relationship Id="rId5" Type="http://schemas.openxmlformats.org/officeDocument/2006/relationships/image" Target="../media/image4.jpeg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5.png"/><Relationship Id="rId2" Type="http://schemas.openxmlformats.org/officeDocument/2006/relationships/oleObject" Target="../embeddings/oleObject2.bin"/><Relationship Id="rId1" Type="http://schemas.openxmlformats.org/officeDocument/2006/relationships/hyperlink" Target="lhb.gif/yaxing.gif" TargetMode="Externa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0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20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2.jpeg"/><Relationship Id="rId6" Type="http://schemas.openxmlformats.org/officeDocument/2006/relationships/image" Target="../media/image2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9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png"/><Relationship Id="rId3" Type="http://schemas.openxmlformats.org/officeDocument/2006/relationships/image" Target="../media/image21.png"/><Relationship Id="rId2" Type="http://schemas.openxmlformats.org/officeDocument/2006/relationships/slide" Target="slide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3.GIF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oleObject" Target="../embeddings/oleObject10.bin"/><Relationship Id="rId7" Type="http://schemas.openxmlformats.org/officeDocument/2006/relationships/image" Target="../media/image42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29.png"/><Relationship Id="rId4" Type="http://schemas.openxmlformats.org/officeDocument/2006/relationships/image" Target="../media/image38.jpe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5" Type="http://schemas.openxmlformats.org/officeDocument/2006/relationships/vmlDrawing" Target="../drawings/vmlDrawing9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9.png"/><Relationship Id="rId12" Type="http://schemas.openxmlformats.org/officeDocument/2006/relationships/tags" Target="../tags/tag3.xml"/><Relationship Id="rId11" Type="http://schemas.openxmlformats.org/officeDocument/2006/relationships/image" Target="../media/image44.wmf"/><Relationship Id="rId10" Type="http://schemas.openxmlformats.org/officeDocument/2006/relationships/oleObject" Target="../embeddings/oleObject11.bin"/><Relationship Id="rId1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Relationship Id="rId3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2.png"/><Relationship Id="rId1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1.wmf"/><Relationship Id="rId6" Type="http://schemas.openxmlformats.org/officeDocument/2006/relationships/oleObject" Target="../embeddings/oleObject12.bin"/><Relationship Id="rId5" Type="http://schemas.openxmlformats.org/officeDocument/2006/relationships/image" Target="../media/image60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" Target="slid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310765" y="400685"/>
            <a:ext cx="601535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</a:t>
            </a:r>
            <a:r>
              <a:rPr lang="zh-CN" altLang="en-US" sz="3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螺纹</a:t>
            </a:r>
            <a:endParaRPr lang="zh-CN" altLang="en-US" sz="3000" dirty="0" smtClean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Text Box 3">
            <a:hlinkClick r:id=""/>
          </p:cNvPr>
          <p:cNvSpPr txBox="1">
            <a:spLocks noChangeArrowheads="1"/>
          </p:cNvSpPr>
          <p:nvPr/>
        </p:nvSpPr>
        <p:spPr bwMode="auto">
          <a:xfrm>
            <a:off x="1800860" y="1802765"/>
            <a:ext cx="409321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§2.2-1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螺纹的类型和应用</a:t>
            </a:r>
            <a:endParaRPr lang="zh-CN" altLang="en-US" sz="240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hlinkClick r:id="" tooltip="螺纹的类型与特点"/>
            </a:endParaRPr>
          </a:p>
        </p:txBody>
      </p:sp>
      <p:sp>
        <p:nvSpPr>
          <p:cNvPr id="16388" name="Text Box 4">
            <a:hlinkClick r:id="" highlightClick="1"/>
          </p:cNvPr>
          <p:cNvSpPr txBox="1">
            <a:spLocks noChangeArrowheads="1"/>
          </p:cNvSpPr>
          <p:nvPr/>
        </p:nvSpPr>
        <p:spPr bwMode="auto">
          <a:xfrm>
            <a:off x="1880870" y="2442210"/>
            <a:ext cx="3332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§2.2-2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螺纹的主要参数</a:t>
            </a:r>
            <a:endParaRPr lang="zh-CN" altLang="en-US" sz="240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389" name="Text Box 5">
            <a:hlinkClick r:id=""/>
          </p:cNvPr>
          <p:cNvSpPr txBox="1">
            <a:spLocks noChangeArrowheads="1"/>
          </p:cNvSpPr>
          <p:nvPr/>
        </p:nvSpPr>
        <p:spPr bwMode="auto">
          <a:xfrm>
            <a:off x="1800860" y="3123565"/>
            <a:ext cx="55422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§2.2-3 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螺纹副中力的关系、自锁和效率</a:t>
            </a:r>
            <a:endParaRPr lang="zh-CN" altLang="en-US" sz="240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1042577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组合 1"/>
          <p:cNvGrpSpPr/>
          <p:nvPr/>
        </p:nvGrpSpPr>
        <p:grpSpPr>
          <a:xfrm>
            <a:off x="6303194" y="5905918"/>
            <a:ext cx="2630487" cy="827087"/>
            <a:chOff x="10088" y="9497"/>
            <a:chExt cx="4141" cy="1302"/>
          </a:xfrm>
        </p:grpSpPr>
        <p:sp>
          <p:nvSpPr>
            <p:cNvPr id="16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  <a:endParaRPr lang="zh-CN" altLang="en-US" sz="1200" dirty="0">
                <a:latin typeface="Times New Roman" panose="02020603050405020304" pitchFamily="18" charset="0"/>
              </a:endParaRP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17" name="图片 1073742872" descr="44303071dc0a1f9688d599dbc999570副本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876800" y="762000"/>
            <a:ext cx="2971800" cy="22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8000" rIns="91440" bIns="45720" numCol="1" anchor="ctr" anchorCtr="1" compatLnSpc="1"/>
          <a:lstStyle/>
          <a:p>
            <a:pPr eaLnBrk="1" hangingPunct="1"/>
            <a:r>
              <a:rPr lang="zh-CN" altLang="en-US" sz="80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螺纹的类型与特点</a:t>
            </a:r>
            <a:r>
              <a:rPr lang="en-US" altLang="zh-CN" sz="80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800" smtClean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4236027" y="2944240"/>
            <a:ext cx="3377255" cy="11079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solidFill>
                  <a:srgbClr val="000099"/>
                </a:solidFill>
              </a:rPr>
              <a:t>主要</a:t>
            </a:r>
            <a:r>
              <a:rPr lang="zh-CN" altLang="en-US" dirty="0">
                <a:solidFill>
                  <a:srgbClr val="000099"/>
                </a:solidFill>
              </a:rPr>
              <a:t>用于连接，螺纹的当量摩擦角较大，有利于实现可靠连接；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4061558" y="4447870"/>
            <a:ext cx="3503595" cy="11079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solidFill>
                  <a:srgbClr val="000099"/>
                </a:solidFill>
              </a:rPr>
              <a:t>主要</a:t>
            </a:r>
            <a:r>
              <a:rPr lang="zh-CN" altLang="en-US" dirty="0">
                <a:solidFill>
                  <a:srgbClr val="000099"/>
                </a:solidFill>
              </a:rPr>
              <a:t>用于传动，螺纹的当量摩擦角较小，有利于提高传动的效率。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17416" name="Text Box 21"/>
          <p:cNvSpPr txBox="1">
            <a:spLocks noChangeArrowheads="1"/>
          </p:cNvSpPr>
          <p:nvPr/>
        </p:nvSpPr>
        <p:spPr bwMode="auto">
          <a:xfrm>
            <a:off x="561975" y="925513"/>
            <a:ext cx="23780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一、螺纹的分类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7156534" y="6003992"/>
            <a:ext cx="2714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1998562" y="4283160"/>
            <a:ext cx="1754989" cy="14465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梯形螺纹</a:t>
            </a:r>
            <a:endParaRPr lang="en-US" altLang="zh-CN" dirty="0" smtClean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矩形螺纹</a:t>
            </a:r>
            <a:endParaRPr lang="en-US" altLang="zh-CN" dirty="0" smtClean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锯齿</a:t>
            </a: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</a:t>
            </a:r>
            <a:endParaRPr lang="zh-CN" altLang="en-US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2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38634" y="3042525"/>
            <a:ext cx="8882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连接螺纹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37729" y="4707913"/>
            <a:ext cx="87952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传动螺纹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45067" y="2974882"/>
            <a:ext cx="1708484" cy="938719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</a:t>
            </a:r>
            <a:r>
              <a:rPr kumimoji="0"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</a:t>
            </a:r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纹</a:t>
            </a:r>
            <a:endParaRPr lang="en-US" altLang="zh-CN" dirty="0" smtClean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管螺纹</a:t>
            </a:r>
            <a:endParaRPr lang="en-US" altLang="zh-CN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左大括号 4"/>
          <p:cNvSpPr/>
          <p:nvPr/>
        </p:nvSpPr>
        <p:spPr bwMode="auto">
          <a:xfrm>
            <a:off x="683093" y="3412957"/>
            <a:ext cx="490888" cy="1915427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3804920" y="212725"/>
            <a:ext cx="500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§2.2-1 </a:t>
            </a:r>
            <a:r>
              <a:rPr lang="zh-CN" altLang="en-US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螺纹的类型和应用</a:t>
            </a:r>
            <a:endParaRPr lang="zh-CN" altLang="en-US" sz="300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8" name="Text Box 5"/>
          <p:cNvSpPr txBox="1"/>
          <p:nvPr/>
        </p:nvSpPr>
        <p:spPr>
          <a:xfrm>
            <a:off x="819150" y="1568450"/>
            <a:ext cx="72009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螺纹有外螺纹与内螺纹之分</a:t>
            </a:r>
            <a:r>
              <a:rPr lang="zh-CN" altLang="en-US" sz="24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，它们共同组成螺旋副。</a:t>
            </a:r>
            <a:endParaRPr lang="zh-CN" altLang="en-US" sz="2400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9150" y="2118995"/>
            <a:ext cx="2926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eaLnBrk="1" hangingPunct="1"/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螺纹按工作性质</a:t>
            </a:r>
            <a:r>
              <a:rPr lang="zh-CN" altLang="en-US" sz="2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</a:t>
            </a:r>
            <a:r>
              <a:rPr lang="zh-CN" altLang="en-US" sz="2400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zh-CN" altLang="en-US" sz="2400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9" grpId="0" bldLvl="0" animBg="1" autoUpdateAnimBg="0"/>
      <p:bldP spid="9230" grpId="0" bldLvl="0" animBg="1" autoUpdateAnimBg="0"/>
      <p:bldP spid="9247" grpId="0" autoUpdateAnimBg="0"/>
      <p:bldP spid="9249" grpId="0" bldLvl="0" animBg="1"/>
      <p:bldP spid="2" grpId="0"/>
      <p:bldP spid="3" grpId="0"/>
      <p:bldP spid="4" grpId="0" bldLvl="0" animBg="1"/>
      <p:bldP spid="5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314309" y="933008"/>
            <a:ext cx="4800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二、常用螺纹的种类、特点和应用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376038" y="1550628"/>
            <a:ext cx="5813006" cy="549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、联接螺纹：要求自锁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三角形螺纹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3804920" y="212725"/>
            <a:ext cx="500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§2.2-1 </a:t>
            </a:r>
            <a:r>
              <a:rPr lang="zh-CN" altLang="en-US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螺纹的类型和应用</a:t>
            </a:r>
            <a:endParaRPr lang="zh-CN" altLang="en-US" sz="300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8758" y="2100580"/>
          <a:ext cx="4392612" cy="252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6324600" imgH="3343275" progId="Paint.Picture">
                  <p:embed/>
                </p:oleObj>
              </mc:Choice>
              <mc:Fallback>
                <p:oleObj name="" r:id="rId2" imgW="6324600" imgH="334327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8758" y="2100580"/>
                        <a:ext cx="4392612" cy="2528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9" name="Picture 5" descr="u=968421611,1271674105&amp;fm=52&amp;gp=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1033" y="4762818"/>
            <a:ext cx="2970212" cy="1811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0" name="Text Box 6"/>
          <p:cNvSpPr txBox="1"/>
          <p:nvPr/>
        </p:nvSpPr>
        <p:spPr>
          <a:xfrm>
            <a:off x="4611053" y="3521710"/>
            <a:ext cx="4481512" cy="2399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特点：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螺纹的牙型角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=2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=60；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marL="0"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当量摩擦因数大；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自锁性能好；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marL="0"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主要用于连接。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11370" y="2279015"/>
            <a:ext cx="31184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）普通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螺纹</a:t>
            </a:r>
            <a:endParaRPr lang="zh-CN" altLang="en-US" sz="240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直接连接符 6"/>
          <p:cNvSpPr>
            <a:spLocks noChangeShapeType="1"/>
          </p:cNvSpPr>
          <p:nvPr/>
        </p:nvSpPr>
        <p:spPr bwMode="auto">
          <a:xfrm>
            <a:off x="0" y="755650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04920" y="203200"/>
            <a:ext cx="500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§2.2-1 </a:t>
            </a:r>
            <a:r>
              <a:rPr lang="zh-CN" altLang="en-US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螺纹的类型和应用</a:t>
            </a:r>
            <a:endParaRPr lang="zh-CN" altLang="en-US" sz="300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3" grpId="0"/>
      <p:bldP spid="10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Rectangle 2"/>
          <p:cNvSpPr/>
          <p:nvPr/>
        </p:nvSpPr>
        <p:spPr>
          <a:xfrm>
            <a:off x="257810" y="1103630"/>
            <a:ext cx="7056438" cy="5530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0" hangingPunct="0">
              <a:lnSpc>
                <a:spcPct val="125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粗牙螺纹与细牙螺纹的比较：</a:t>
            </a:r>
            <a:endParaRPr lang="zh-CN" altLang="en-US" sz="2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052" name="Rectangle 3"/>
          <p:cNvSpPr/>
          <p:nvPr/>
        </p:nvSpPr>
        <p:spPr>
          <a:xfrm>
            <a:off x="668973" y="1738948"/>
            <a:ext cx="55264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 eaLnBrk="0" hangingPunct="0">
              <a:lnSpc>
                <a:spcPct val="125000"/>
              </a:lnSpc>
              <a:buClrTx/>
              <a:buSz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粗牙：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承载能力大，常用于连接。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053" name="Rectangle 4"/>
          <p:cNvSpPr/>
          <p:nvPr/>
        </p:nvSpPr>
        <p:spPr>
          <a:xfrm>
            <a:off x="395288" y="3429000"/>
            <a:ext cx="8153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0" hangingPunct="0">
              <a:lnSpc>
                <a:spcPct val="125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细牙的缺点：牙小，相同载荷下磨损快，易脱扣。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054" name="Rectangle 5"/>
          <p:cNvSpPr/>
          <p:nvPr/>
        </p:nvSpPr>
        <p:spPr>
          <a:xfrm>
            <a:off x="620078" y="2339975"/>
            <a:ext cx="80772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0" hangingPunct="0">
              <a:lnSpc>
                <a:spcPct val="125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细牙：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自锁性能更好。常用于承受冲击、振动及变载荷、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或空心、薄壁零件上及微调装置中。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050" name="Object 6">
            <a:hlinkClick r:id="rId1"/>
          </p:cNvPr>
          <p:cNvGraphicFramePr>
            <a:graphicFrameLocks noChangeAspect="1"/>
          </p:cNvGraphicFramePr>
          <p:nvPr/>
        </p:nvGraphicFramePr>
        <p:xfrm>
          <a:off x="1879600" y="4071938"/>
          <a:ext cx="51816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2" imgW="4010025" imgH="2009775" progId="Paint.Picture">
                  <p:embed/>
                </p:oleObj>
              </mc:Choice>
              <mc:Fallback>
                <p:oleObj name="" r:id="rId2" imgW="4010025" imgH="2009775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79600" y="4071938"/>
                        <a:ext cx="5181600" cy="220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直接连接符 6"/>
          <p:cNvSpPr>
            <a:spLocks noChangeShapeType="1"/>
          </p:cNvSpPr>
          <p:nvPr/>
        </p:nvSpPr>
        <p:spPr bwMode="auto">
          <a:xfrm>
            <a:off x="0" y="755650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04920" y="203200"/>
            <a:ext cx="500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§2.2-1 </a:t>
            </a:r>
            <a:r>
              <a:rPr lang="zh-CN" altLang="en-US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螺纹的类型和应用</a:t>
            </a:r>
            <a:endParaRPr lang="zh-CN" altLang="en-US" sz="300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Text Box 2"/>
          <p:cNvSpPr txBox="1"/>
          <p:nvPr/>
        </p:nvSpPr>
        <p:spPr>
          <a:xfrm>
            <a:off x="4655820" y="1283335"/>
            <a:ext cx="31280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(2)圆柱管螺纹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323850" y="1628775"/>
          <a:ext cx="365760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543425" imgH="3667125" progId="Paint.Picture">
                  <p:embed/>
                </p:oleObj>
              </mc:Choice>
              <mc:Fallback>
                <p:oleObj name="" r:id="rId1" imgW="4543425" imgH="366712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1628775"/>
                        <a:ext cx="3657600" cy="295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8" name="Picture 4" descr="u=1933236636,2112595256&amp;fm=52&amp;gp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83" y="4110355"/>
            <a:ext cx="3627437" cy="1922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9" name="Text Box 5"/>
          <p:cNvSpPr txBox="1"/>
          <p:nvPr/>
        </p:nvSpPr>
        <p:spPr>
          <a:xfrm>
            <a:off x="4655503" y="2146300"/>
            <a:ext cx="4051300" cy="3322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 algn="l" eaLnBrk="0" hangingPunct="0">
              <a:lnSpc>
                <a:spcPct val="125000"/>
              </a:lnSpc>
              <a:buClrTx/>
              <a:buSz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特点：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algn="l" eaLnBrk="0" hangingPunct="0">
              <a:lnSpc>
                <a:spcPct val="125000"/>
              </a:lnSpc>
              <a:buClrTx/>
              <a:buSz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用于管件连接的三角螺纹，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=55；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marL="0" indent="0" algn="l" eaLnBrk="0" hangingPunct="0">
              <a:lnSpc>
                <a:spcPct val="125000"/>
              </a:lnSpc>
              <a:buClrTx/>
              <a:buSz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螺纹面间没有间隙；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marL="0" indent="0" algn="l" eaLnBrk="0" hangingPunct="0">
              <a:lnSpc>
                <a:spcPct val="125000"/>
              </a:lnSpc>
              <a:buClrTx/>
              <a:buSz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密封性好；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marL="0" indent="0" algn="l" eaLnBrk="0" hangingPunct="0">
              <a:lnSpc>
                <a:spcPct val="125000"/>
              </a:lnSpc>
              <a:buClrTx/>
              <a:buSz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用于压强在1.6MPa以下的管件连接。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直接连接符 6"/>
          <p:cNvSpPr>
            <a:spLocks noChangeShapeType="1"/>
          </p:cNvSpPr>
          <p:nvPr/>
        </p:nvSpPr>
        <p:spPr bwMode="auto">
          <a:xfrm>
            <a:off x="0" y="755650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04920" y="203200"/>
            <a:ext cx="500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§2.2-1 </a:t>
            </a:r>
            <a:r>
              <a:rPr lang="zh-CN" altLang="en-US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螺纹的类型和应用</a:t>
            </a:r>
            <a:endParaRPr lang="zh-CN" altLang="en-US" sz="300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Text Box 2"/>
          <p:cNvSpPr txBox="1"/>
          <p:nvPr/>
        </p:nvSpPr>
        <p:spPr>
          <a:xfrm>
            <a:off x="4544695" y="1162685"/>
            <a:ext cx="39846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0" hangingPunct="0">
              <a:lnSpc>
                <a:spcPct val="125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(3)圆锥管螺纹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0" y="1382713"/>
          <a:ext cx="4648200" cy="317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391150" imgH="3533775" progId="Paint.Picture">
                  <p:embed/>
                </p:oleObj>
              </mc:Choice>
              <mc:Fallback>
                <p:oleObj name="" r:id="rId1" imgW="5391150" imgH="353377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382713"/>
                        <a:ext cx="4648200" cy="317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2" name="Picture 4" descr="u=2471865760,2250888595&amp;fm=52&amp;gp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" y="4447223"/>
            <a:ext cx="3971925" cy="1866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3" name="Text Box 5"/>
          <p:cNvSpPr txBox="1"/>
          <p:nvPr/>
        </p:nvSpPr>
        <p:spPr>
          <a:xfrm>
            <a:off x="4532630" y="2353945"/>
            <a:ext cx="478155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特点：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螺纹均布在锥度为1:16的管上；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=55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或60 ；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螺纹面间没有间隙；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不用填料，靠牙变形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密封性好；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用于高温、高压的管件连接。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" name="直接连接符 6"/>
          <p:cNvSpPr>
            <a:spLocks noChangeShapeType="1"/>
          </p:cNvSpPr>
          <p:nvPr/>
        </p:nvSpPr>
        <p:spPr bwMode="auto">
          <a:xfrm>
            <a:off x="0" y="755650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04920" y="203200"/>
            <a:ext cx="500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§2.2-1 </a:t>
            </a:r>
            <a:r>
              <a:rPr lang="zh-CN" altLang="en-US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螺纹的类型和应用</a:t>
            </a:r>
            <a:endParaRPr lang="zh-CN" altLang="en-US" sz="300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53440" y="5788660"/>
                <a:ext cx="2951480" cy="429895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47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" y="5788660"/>
                <a:ext cx="2951480" cy="4298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73" grpId="0"/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Text Box 2"/>
          <p:cNvSpPr txBox="1"/>
          <p:nvPr/>
        </p:nvSpPr>
        <p:spPr>
          <a:xfrm>
            <a:off x="357188" y="1758950"/>
            <a:ext cx="3200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(1)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矩形螺纹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4471988" y="1626235"/>
          <a:ext cx="45720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038725" imgH="3114675" progId="Paint.Picture">
                  <p:embed/>
                </p:oleObj>
              </mc:Choice>
              <mc:Fallback>
                <p:oleObj name="" r:id="rId1" imgW="5038725" imgH="311467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71988" y="1626235"/>
                        <a:ext cx="45720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6" name="Picture 4" descr="u=1791656366,2836859964&amp;fm=0&amp;gp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978" y="4094163"/>
            <a:ext cx="2925762" cy="1576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7" name="Text Box 5"/>
          <p:cNvSpPr txBox="1"/>
          <p:nvPr/>
        </p:nvSpPr>
        <p:spPr>
          <a:xfrm>
            <a:off x="424815" y="2601595"/>
            <a:ext cx="4663440" cy="3192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eaLnBrk="0" hangingPunct="0">
              <a:lnSpc>
                <a:spcPct val="120000"/>
              </a:lnSpc>
              <a:buSzPct val="100000"/>
              <a:buNone/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特点：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indent="0" eaLnBrk="0" hangingPunct="0">
              <a:lnSpc>
                <a:spcPct val="120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牙形为矩形；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indent="0" eaLnBrk="0" hangingPunct="0">
              <a:lnSpc>
                <a:spcPct val="120000"/>
              </a:lnSpc>
              <a:buSzPct val="100000"/>
              <a:buNone/>
            </a:pP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Arial" panose="020B0604020202020204" pitchFamily="34" charset="0"/>
              </a:rPr>
              <a:t>α=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0，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=0；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0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效率高，用于传动；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0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牙根强度弱；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0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同心度差，磨损后不宜补偿；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0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加工困难，常被梯形螺纹代替。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" name="直接连接符 6"/>
          <p:cNvSpPr>
            <a:spLocks noChangeShapeType="1"/>
          </p:cNvSpPr>
          <p:nvPr/>
        </p:nvSpPr>
        <p:spPr bwMode="auto">
          <a:xfrm>
            <a:off x="0" y="755650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04920" y="203200"/>
            <a:ext cx="500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§2.2-1 </a:t>
            </a:r>
            <a:r>
              <a:rPr lang="zh-CN" altLang="en-US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螺纹的类型和应用</a:t>
            </a:r>
            <a:endParaRPr lang="zh-CN" altLang="en-US" sz="300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357806" y="939876"/>
            <a:ext cx="4114800" cy="502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、传动螺纹：要求效率高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  <p:bldP spid="30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9" name="Text Box 2"/>
          <p:cNvSpPr txBox="1"/>
          <p:nvPr/>
        </p:nvSpPr>
        <p:spPr>
          <a:xfrm>
            <a:off x="481013" y="1209040"/>
            <a:ext cx="4343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梯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形螺纹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4437063" y="1659573"/>
          <a:ext cx="3916362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895850" imgH="3228975" progId="Paint.Picture">
                  <p:embed/>
                </p:oleObj>
              </mc:Choice>
              <mc:Fallback>
                <p:oleObj name="" r:id="rId1" imgW="4895850" imgH="322897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37063" y="1659573"/>
                        <a:ext cx="3916362" cy="254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0" name="Picture 4" descr="u=5559828,3751587392&amp;fm=52&amp;gp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0" y="3942080"/>
            <a:ext cx="3357563" cy="148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1" name="Text Box 5"/>
          <p:cNvSpPr txBox="1"/>
          <p:nvPr/>
        </p:nvSpPr>
        <p:spPr>
          <a:xfrm>
            <a:off x="706755" y="2106930"/>
            <a:ext cx="389255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特点： 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= 30 ，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15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比矩形螺纹效率略低；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牙根强度高；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易于对中，易于制造；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剖分螺母可消除间隙；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在螺旋传动中应用广泛。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" name="直接连接符 6"/>
          <p:cNvSpPr>
            <a:spLocks noChangeShapeType="1"/>
          </p:cNvSpPr>
          <p:nvPr/>
        </p:nvSpPr>
        <p:spPr bwMode="auto">
          <a:xfrm>
            <a:off x="0" y="755650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04920" y="203200"/>
            <a:ext cx="500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§2.2-1 </a:t>
            </a:r>
            <a:r>
              <a:rPr lang="zh-CN" altLang="en-US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螺纹的类型和应用</a:t>
            </a:r>
            <a:endParaRPr lang="zh-CN" altLang="en-US" sz="300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Text Box 2"/>
          <p:cNvSpPr txBox="1"/>
          <p:nvPr/>
        </p:nvSpPr>
        <p:spPr>
          <a:xfrm>
            <a:off x="276860" y="1087755"/>
            <a:ext cx="441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 锯齿形螺纹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4429125" y="1412875"/>
          <a:ext cx="4027488" cy="292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4953000" imgH="3590925" progId="Paint.Picture">
                  <p:embed/>
                </p:oleObj>
              </mc:Choice>
              <mc:Fallback>
                <p:oleObj name="" r:id="rId1" imgW="4953000" imgH="3590925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29125" y="1412875"/>
                        <a:ext cx="4027488" cy="292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4" name="Picture 4" descr="件 u=2637141787,3152735643&amp;fm=23&amp;gp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4500563"/>
            <a:ext cx="3333750" cy="1914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Text Box 5"/>
          <p:cNvSpPr txBox="1"/>
          <p:nvPr/>
        </p:nvSpPr>
        <p:spPr>
          <a:xfrm>
            <a:off x="377825" y="1879918"/>
            <a:ext cx="4051300" cy="378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特点：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工作边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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=3；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非工作边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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=30；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便于加工；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能承受较大的载荷；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只能用于单向传动；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indent="0" eaLnBrk="0" hangingPunct="0">
              <a:lnSpc>
                <a:spcPct val="125000"/>
              </a:lnSpc>
              <a:buSzPct val="100000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综合了矩形螺纹效率高和梯形螺纹牙根强度高的优点。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" name="直接连接符 6"/>
          <p:cNvSpPr>
            <a:spLocks noChangeShapeType="1"/>
          </p:cNvSpPr>
          <p:nvPr/>
        </p:nvSpPr>
        <p:spPr bwMode="auto">
          <a:xfrm>
            <a:off x="0" y="755650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04920" y="203200"/>
            <a:ext cx="500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§2.2-1 </a:t>
            </a:r>
            <a:r>
              <a:rPr lang="zh-CN" altLang="en-US" sz="30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螺纹的类型和应用</a:t>
            </a:r>
            <a:endParaRPr lang="zh-CN" altLang="en-US" sz="300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945313" y="720725"/>
            <a:ext cx="1512887" cy="165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80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螺纹的类型与特点</a:t>
            </a:r>
            <a:r>
              <a:rPr lang="en-US" altLang="zh-CN" sz="80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800" smtClean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165100" y="798513"/>
            <a:ext cx="35356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普通螺纹的主要参数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477821" y="1433563"/>
            <a:ext cx="4738370" cy="5169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大径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－即螺纹的公称直径。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小径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－常用于连接的强度计算。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中径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－常用于连接的几何计算。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螺距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－螺纹相邻两个牙型上对应点间的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　          轴向距离。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牙型角</a:t>
            </a:r>
            <a:r>
              <a:rPr lang="en-US" altLang="zh-CN" sz="2000" dirty="0">
                <a:solidFill>
                  <a:srgbClr val="C00000"/>
                </a:solidFill>
                <a:latin typeface="Symbol" panose="05050102010706020507" pitchFamily="18" charset="2"/>
              </a:rPr>
              <a:t>a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－螺纹轴向截面内，螺纹牙型两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                  侧边的夹角。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000" dirty="0" smtClean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线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数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－螺纹的螺旋线数。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导程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i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－螺纹上任一点沿同一条螺旋线转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            一周所移动的轴向距离，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nP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9" name="Text Box 13"/>
          <p:cNvSpPr txBox="1">
            <a:spLocks noChangeArrowheads="1"/>
          </p:cNvSpPr>
          <p:nvPr/>
        </p:nvSpPr>
        <p:spPr bwMode="auto">
          <a:xfrm>
            <a:off x="6797675" y="6302375"/>
            <a:ext cx="2714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034" name="Rectangle 14"/>
          <p:cNvSpPr>
            <a:spLocks noChangeArrowheads="1"/>
          </p:cNvSpPr>
          <p:nvPr/>
        </p:nvSpPr>
        <p:spPr bwMode="auto">
          <a:xfrm>
            <a:off x="4248785" y="79375"/>
            <a:ext cx="448183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§2.2-2 </a:t>
            </a:r>
            <a:r>
              <a:rPr lang="zh-CN" altLang="en-US" sz="30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螺纹的主要参数</a:t>
            </a:r>
            <a:endParaRPr lang="en-US" altLang="zh-CN" sz="30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6" name="直接连接符 6"/>
          <p:cNvSpPr>
            <a:spLocks noChangeShapeType="1"/>
          </p:cNvSpPr>
          <p:nvPr/>
        </p:nvSpPr>
        <p:spPr bwMode="auto">
          <a:xfrm>
            <a:off x="0" y="724079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24"/>
          <p:cNvGrpSpPr/>
          <p:nvPr/>
        </p:nvGrpSpPr>
        <p:grpSpPr bwMode="auto">
          <a:xfrm>
            <a:off x="5702467" y="1000727"/>
            <a:ext cx="3283676" cy="5257791"/>
            <a:chOff x="3651" y="215"/>
            <a:chExt cx="1674" cy="2953"/>
          </a:xfrm>
        </p:grpSpPr>
        <p:pic>
          <p:nvPicPr>
            <p:cNvPr id="12" name="Picture 22" descr="11_副本1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6" t="6554" b="6735"/>
            <a:stretch>
              <a:fillRect/>
            </a:stretch>
          </p:blipFill>
          <p:spPr bwMode="auto">
            <a:xfrm>
              <a:off x="3651" y="215"/>
              <a:ext cx="1633" cy="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3" descr="222_副本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977"/>
            <a:stretch>
              <a:fillRect/>
            </a:stretch>
          </p:blipFill>
          <p:spPr bwMode="auto">
            <a:xfrm>
              <a:off x="3782" y="2124"/>
              <a:ext cx="1543" cy="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文本框 1"/>
          <p:cNvSpPr txBox="1"/>
          <p:nvPr/>
        </p:nvSpPr>
        <p:spPr>
          <a:xfrm rot="16200000">
            <a:off x="7950200" y="1709420"/>
            <a:ext cx="949960" cy="39878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 sz="2000" i="1">
                <a:solidFill>
                  <a:schemeClr val="accent4">
                    <a:lumMod val="50000"/>
                  </a:schemeClr>
                </a:solidFill>
              </a:rPr>
              <a:t>P</a:t>
            </a:r>
            <a:r>
              <a:rPr lang="en-US" altLang="zh-CN" sz="2000" i="1" baseline="-25000">
                <a:solidFill>
                  <a:schemeClr val="accent4">
                    <a:lumMod val="50000"/>
                  </a:schemeClr>
                </a:solidFill>
              </a:rPr>
              <a:t>h</a:t>
            </a:r>
            <a:r>
              <a:rPr lang="en-US" altLang="zh-CN" sz="2000" i="1">
                <a:solidFill>
                  <a:schemeClr val="accent4">
                    <a:lumMod val="50000"/>
                  </a:schemeClr>
                </a:solidFill>
              </a:rPr>
              <a:t>=nP</a:t>
            </a:r>
            <a:endParaRPr lang="en-US" altLang="zh-CN" sz="2000" i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 rot="16200000">
            <a:off x="8657590" y="4660900"/>
            <a:ext cx="483235" cy="33718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r>
              <a:rPr lang="en-US" altLang="zh-CN" sz="1600" b="1" i="1">
                <a:solidFill>
                  <a:schemeClr val="accent4">
                    <a:lumMod val="50000"/>
                  </a:schemeClr>
                </a:solidFill>
              </a:rPr>
              <a:t>P</a:t>
            </a:r>
            <a:r>
              <a:rPr lang="en-US" altLang="zh-CN" sz="1600" b="1" i="1" baseline="-25000">
                <a:solidFill>
                  <a:schemeClr val="accent4">
                    <a:lumMod val="50000"/>
                  </a:schemeClr>
                </a:solidFill>
              </a:rPr>
              <a:t>h</a:t>
            </a:r>
            <a:endParaRPr lang="en-US" altLang="zh-CN" sz="1600" b="1" i="1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03102" y="1001250"/>
            <a:ext cx="3365333" cy="5247108"/>
            <a:chOff x="8981" y="1577"/>
            <a:chExt cx="5300" cy="8263"/>
          </a:xfrm>
        </p:grpSpPr>
        <p:grpSp>
          <p:nvGrpSpPr>
            <p:cNvPr id="4" name="Group 24"/>
            <p:cNvGrpSpPr/>
            <p:nvPr/>
          </p:nvGrpSpPr>
          <p:grpSpPr bwMode="auto">
            <a:xfrm>
              <a:off x="8981" y="1577"/>
              <a:ext cx="5171" cy="8263"/>
              <a:chOff x="3651" y="221"/>
              <a:chExt cx="1674" cy="2947"/>
            </a:xfrm>
          </p:grpSpPr>
          <p:pic>
            <p:nvPicPr>
              <p:cNvPr id="5" name="Picture 22" descr="11_副本1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546" t="6554" b="6735"/>
              <a:stretch>
                <a:fillRect/>
              </a:stretch>
            </p:blipFill>
            <p:spPr bwMode="auto">
              <a:xfrm>
                <a:off x="3651" y="221"/>
                <a:ext cx="1633" cy="1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23" descr="222_副本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977"/>
              <a:stretch>
                <a:fillRect/>
              </a:stretch>
            </p:blipFill>
            <p:spPr bwMode="auto">
              <a:xfrm>
                <a:off x="3782" y="2124"/>
                <a:ext cx="1543" cy="10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" name="文本框 6"/>
            <p:cNvSpPr txBox="1"/>
            <p:nvPr/>
          </p:nvSpPr>
          <p:spPr>
            <a:xfrm rot="16200000">
              <a:off x="12521" y="2676"/>
              <a:ext cx="1496" cy="6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2000" i="1">
                  <a:solidFill>
                    <a:schemeClr val="accent4">
                      <a:lumMod val="50000"/>
                    </a:schemeClr>
                  </a:solidFill>
                </a:rPr>
                <a:t>P</a:t>
              </a:r>
              <a:r>
                <a:rPr lang="en-US" altLang="zh-CN" sz="2000" i="1" baseline="-25000">
                  <a:solidFill>
                    <a:schemeClr val="accent4">
                      <a:lumMod val="50000"/>
                    </a:schemeClr>
                  </a:solidFill>
                </a:rPr>
                <a:t>h</a:t>
              </a:r>
              <a:r>
                <a:rPr lang="en-US" altLang="zh-CN" sz="2000" i="1">
                  <a:solidFill>
                    <a:schemeClr val="accent4">
                      <a:lumMod val="50000"/>
                    </a:schemeClr>
                  </a:solidFill>
                </a:rPr>
                <a:t>=nP</a:t>
              </a:r>
              <a:endParaRPr lang="en-US" altLang="zh-CN" sz="2000" i="1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 rot="16200000">
              <a:off x="13635" y="7324"/>
              <a:ext cx="761" cy="53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p>
              <a:r>
                <a:rPr lang="en-US" altLang="zh-CN" sz="1600" b="1" i="1">
                  <a:solidFill>
                    <a:schemeClr val="accent4">
                      <a:lumMod val="50000"/>
                    </a:schemeClr>
                  </a:solidFill>
                </a:rPr>
                <a:t>P</a:t>
              </a:r>
              <a:r>
                <a:rPr lang="en-US" altLang="zh-CN" sz="1600" b="1" i="1" baseline="-25000">
                  <a:solidFill>
                    <a:schemeClr val="accent4">
                      <a:lumMod val="50000"/>
                    </a:schemeClr>
                  </a:solidFill>
                </a:rPr>
                <a:t>h</a:t>
              </a:r>
              <a:endParaRPr lang="en-US" altLang="zh-CN" sz="1600" b="1" i="1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cxnSp>
        <p:nvCxnSpPr>
          <p:cNvPr id="10" name="直接连接符 9"/>
          <p:cNvCxnSpPr/>
          <p:nvPr/>
        </p:nvCxnSpPr>
        <p:spPr>
          <a:xfrm>
            <a:off x="6556375" y="3833495"/>
            <a:ext cx="85725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直接连接符 13"/>
          <p:cNvCxnSpPr/>
          <p:nvPr/>
        </p:nvCxnSpPr>
        <p:spPr>
          <a:xfrm flipV="1">
            <a:off x="6762750" y="3484245"/>
            <a:ext cx="412750" cy="2381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77688" y="4752386"/>
            <a:ext cx="5113338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牙侧角</a:t>
            </a:r>
            <a:r>
              <a:rPr lang="en-US" altLang="zh-CN" sz="2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：牙型侧边与轴垂面间的夹角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autoUpdateAnimBg="0"/>
      <p:bldP spid="39942" grpId="0" autoUpdateAnimBg="0"/>
      <p:bldP spid="39949" grpId="0" autoUpdateAnimBg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564423" y="2619421"/>
            <a:ext cx="5113338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牙侧角</a:t>
            </a:r>
            <a:r>
              <a:rPr lang="en-US" altLang="zh-CN" sz="2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：牙型侧边与轴垂面间的夹角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3142449" y="1309773"/>
                <a:ext cx="5943600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 smtClean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螺纹升角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𝜓</m:t>
                    </m:r>
                  </m:oMath>
                </a14:m>
                <a:r>
                  <a:rPr lang="zh-CN" altLang="en-US" sz="2400" dirty="0" smtClean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－</a:t>
                </a:r>
                <a:r>
                  <a:rPr lang="zh-CN" altLang="en-US" sz="2400" dirty="0">
                    <a:latin typeface="宋体" panose="02010600030101010101" pitchFamily="2" charset="-122"/>
                  </a:rPr>
                  <a:t>中径圆柱面上螺旋线的切线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            与轴垂面间的</a:t>
                </a:r>
                <a:r>
                  <a:rPr lang="zh-CN" altLang="en-US" sz="2400" dirty="0" smtClean="0">
                    <a:latin typeface="宋体" panose="02010600030101010101" pitchFamily="2" charset="-122"/>
                  </a:rPr>
                  <a:t>夹角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449" y="1309773"/>
                <a:ext cx="5943600" cy="978729"/>
              </a:xfrm>
              <a:prstGeom prst="rect">
                <a:avLst/>
              </a:prstGeom>
              <a:blipFill rotWithShape="1">
                <a:blip r:embed="rId1"/>
                <a:stretch>
                  <a:fillRect l="-8" t="-41" r="8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961866" y="3379873"/>
            <a:ext cx="2635658" cy="46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升角</a:t>
            </a:r>
            <a:r>
              <a:rPr lang="en-US" altLang="zh-CN" dirty="0">
                <a:solidFill>
                  <a:srgbClr val="000099"/>
                </a:solidFill>
                <a:latin typeface="Symbol" panose="05050102010706020507" pitchFamily="18" charset="2"/>
              </a:rPr>
              <a:t>y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的计算式为：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257149" y="4276504"/>
          <a:ext cx="3391535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6" name="Equation" r:id="rId2" imgW="1739900" imgH="431800" progId="Equation.3">
                  <p:embed/>
                </p:oleObj>
              </mc:Choice>
              <mc:Fallback>
                <p:oleObj name="Equation" r:id="rId2" imgW="1739900" imgH="431800" progId="Equation.3">
                  <p:embed/>
                  <p:pic>
                    <p:nvPicPr>
                      <p:cNvPr id="0" name="图片 154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149" y="4276504"/>
                        <a:ext cx="3391535" cy="82677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961765" y="174625"/>
            <a:ext cx="487553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§2.2-2 </a:t>
            </a:r>
            <a:r>
              <a:rPr lang="zh-CN" altLang="en-US" sz="30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螺纹的主要参数</a:t>
            </a:r>
            <a:endParaRPr lang="en-US" altLang="zh-CN" sz="30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直接连接符 6"/>
          <p:cNvSpPr>
            <a:spLocks noChangeShapeType="1"/>
          </p:cNvSpPr>
          <p:nvPr/>
        </p:nvSpPr>
        <p:spPr bwMode="auto">
          <a:xfrm>
            <a:off x="0" y="724079"/>
            <a:ext cx="9144000" cy="0"/>
          </a:xfrm>
          <a:prstGeom prst="line">
            <a:avLst/>
          </a:prstGeom>
          <a:noFill/>
          <a:ln w="28575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-60158" y="871710"/>
            <a:ext cx="3365333" cy="5247108"/>
            <a:chOff x="8981" y="1577"/>
            <a:chExt cx="5300" cy="8263"/>
          </a:xfrm>
        </p:grpSpPr>
        <p:grpSp>
          <p:nvGrpSpPr>
            <p:cNvPr id="3" name="Group 24"/>
            <p:cNvGrpSpPr/>
            <p:nvPr/>
          </p:nvGrpSpPr>
          <p:grpSpPr bwMode="auto">
            <a:xfrm>
              <a:off x="8981" y="1577"/>
              <a:ext cx="5171" cy="8263"/>
              <a:chOff x="3651" y="221"/>
              <a:chExt cx="1674" cy="2947"/>
            </a:xfrm>
          </p:grpSpPr>
          <p:pic>
            <p:nvPicPr>
              <p:cNvPr id="13" name="Picture 22" descr="11_副本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546" t="6554" b="6735"/>
              <a:stretch>
                <a:fillRect/>
              </a:stretch>
            </p:blipFill>
            <p:spPr bwMode="auto">
              <a:xfrm>
                <a:off x="3651" y="221"/>
                <a:ext cx="1633" cy="1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23" descr="222_副本1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977"/>
              <a:stretch>
                <a:fillRect/>
              </a:stretch>
            </p:blipFill>
            <p:spPr bwMode="auto">
              <a:xfrm>
                <a:off x="3782" y="2124"/>
                <a:ext cx="1543" cy="10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文本框 14"/>
            <p:cNvSpPr txBox="1"/>
            <p:nvPr/>
          </p:nvSpPr>
          <p:spPr>
            <a:xfrm rot="16200000">
              <a:off x="12521" y="2676"/>
              <a:ext cx="1496" cy="6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2000" i="1">
                  <a:solidFill>
                    <a:schemeClr val="accent4">
                      <a:lumMod val="50000"/>
                    </a:schemeClr>
                  </a:solidFill>
                </a:rPr>
                <a:t>P</a:t>
              </a:r>
              <a:r>
                <a:rPr lang="en-US" altLang="zh-CN" sz="2000" i="1" baseline="-25000">
                  <a:solidFill>
                    <a:schemeClr val="accent4">
                      <a:lumMod val="50000"/>
                    </a:schemeClr>
                  </a:solidFill>
                </a:rPr>
                <a:t>h</a:t>
              </a:r>
              <a:r>
                <a:rPr lang="en-US" altLang="zh-CN" sz="2000" i="1">
                  <a:solidFill>
                    <a:schemeClr val="accent4">
                      <a:lumMod val="50000"/>
                    </a:schemeClr>
                  </a:solidFill>
                </a:rPr>
                <a:t>=nP</a:t>
              </a:r>
              <a:endParaRPr lang="en-US" altLang="zh-CN" sz="2000" i="1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 rot="16200000">
              <a:off x="13635" y="7324"/>
              <a:ext cx="761" cy="53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p>
              <a:r>
                <a:rPr lang="en-US" altLang="zh-CN" sz="1600" b="1" i="1">
                  <a:solidFill>
                    <a:schemeClr val="accent4">
                      <a:lumMod val="50000"/>
                    </a:schemeClr>
                  </a:solidFill>
                </a:rPr>
                <a:t>P</a:t>
              </a:r>
              <a:r>
                <a:rPr lang="en-US" altLang="zh-CN" sz="1600" b="1" i="1" baseline="-25000">
                  <a:solidFill>
                    <a:schemeClr val="accent4">
                      <a:lumMod val="50000"/>
                    </a:schemeClr>
                  </a:solidFill>
                </a:rPr>
                <a:t>h</a:t>
              </a:r>
              <a:endParaRPr lang="en-US" altLang="zh-CN" sz="1600" b="1" i="1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724400" y="762000"/>
            <a:ext cx="2362200" cy="1524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连接类型与标准件</a:t>
            </a:r>
            <a:r>
              <a:rPr lang="en-US" altLang="zh-CN" sz="800" dirty="0">
                <a:solidFill>
                  <a:schemeClr val="bg1"/>
                </a:solidFill>
              </a:rPr>
              <a:t>1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6147" name="Rectangle 5"/>
          <p:cNvSpPr/>
          <p:nvPr/>
        </p:nvSpPr>
        <p:spPr>
          <a:xfrm>
            <a:off x="1594485" y="212725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379" name="Picture 91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975" y="652303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81" name="Picture 93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0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ext 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39725" y="1002665"/>
            <a:ext cx="3448050" cy="479425"/>
          </a:xfrm>
          <a:prstGeom prst="rect">
            <a:avLst/>
          </a:prstGeom>
          <a:blipFill>
            <a:blip r:embed="rId4"/>
            <a:stretch>
              <a:fillRect l="-2331" t="-9231" r="-1695" b="-27692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4" name="矩形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7330" y="1567180"/>
            <a:ext cx="4883150" cy="2638425"/>
          </a:xfrm>
          <a:prstGeom prst="rect">
            <a:avLst/>
          </a:prstGeom>
          <a:blipFill>
            <a:blip r:embed="rId5"/>
            <a:stretch>
              <a:fillRect l="-1333" r="-267" b="-741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6152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163" y="1430338"/>
            <a:ext cx="3325812" cy="2284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6654800" y="3702050"/>
            <a:ext cx="863600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16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图</a:t>
            </a:r>
            <a:r>
              <a:rPr kumimoji="1" lang="en-US" altLang="zh-CN" sz="16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2.2-2</a:t>
            </a:r>
            <a:endParaRPr kumimoji="1" lang="zh-CN" altLang="en-US" sz="1600" kern="1200" cap="none" spc="0" normalizeH="0" baseline="0" noProof="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7" name="文本框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09736" y="4027873"/>
            <a:ext cx="1567672" cy="797782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8" name="文本框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17384" y="4983362"/>
            <a:ext cx="2352311" cy="462884"/>
          </a:xfrm>
          <a:prstGeom prst="rect">
            <a:avLst/>
          </a:prstGeom>
          <a:blipFill>
            <a:blip r:embed="rId8"/>
            <a:stretch>
              <a:fillRect l="-259" t="-10526" r="-518" b="-17105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9" name="文本框 1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25214" y="5702278"/>
            <a:ext cx="3427670" cy="430887"/>
          </a:xfrm>
          <a:prstGeom prst="rect">
            <a:avLst/>
          </a:prstGeom>
          <a:blipFill>
            <a:blip r:embed="rId9"/>
            <a:stretch>
              <a:fillRect t="-9859" r="-1421" b="-28169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6" grpId="0"/>
      <p:bldP spid="17" grpId="0" animBg="1"/>
      <p:bldP spid="18" grpId="0" bldLvl="0" animBg="1"/>
      <p:bldP spid="19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4648200" y="685800"/>
            <a:ext cx="1524000" cy="2286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900" dirty="0">
                <a:solidFill>
                  <a:schemeClr val="bg1"/>
                </a:solidFill>
              </a:rPr>
              <a:t>连接类型与标准件</a:t>
            </a:r>
            <a:r>
              <a:rPr lang="en-US" altLang="zh-CN" sz="900" dirty="0">
                <a:solidFill>
                  <a:schemeClr val="bg1"/>
                </a:solidFill>
              </a:rPr>
              <a:t>2</a:t>
            </a:r>
            <a:endParaRPr lang="en-US" altLang="zh-CN" sz="900" dirty="0">
              <a:solidFill>
                <a:schemeClr val="bg1"/>
              </a:solidFill>
            </a:endParaRPr>
          </a:p>
        </p:txBody>
      </p:sp>
      <p:pic>
        <p:nvPicPr>
          <p:cNvPr id="13363" name="Picture 51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4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64" name="Picture 52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375" y="651827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4" name="Text Box 56"/>
          <p:cNvSpPr txBox="1"/>
          <p:nvPr/>
        </p:nvSpPr>
        <p:spPr>
          <a:xfrm>
            <a:off x="6757988" y="6343650"/>
            <a:ext cx="271462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ahoma" panose="020B0604030504040204" pitchFamily="34" charset="0"/>
              </a:rPr>
              <a:t> </a:t>
            </a:r>
            <a:endParaRPr lang="en-US" altLang="zh-CN" dirty="0">
              <a:latin typeface="Tahoma" panose="020B0604030504040204" pitchFamily="34" charset="0"/>
            </a:endParaRPr>
          </a:p>
        </p:txBody>
      </p:sp>
      <p:sp>
        <p:nvSpPr>
          <p:cNvPr id="11" name="矩形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8761" y="1031869"/>
            <a:ext cx="5224607" cy="4046044"/>
          </a:xfrm>
          <a:prstGeom prst="rect">
            <a:avLst/>
          </a:prstGeom>
          <a:blipFill>
            <a:blip r:embed="rId4"/>
            <a:stretch>
              <a:fillRect l="-1517" r="-933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7176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0383" y="914400"/>
            <a:ext cx="1489075" cy="2806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7" name="文本框 3"/>
          <p:cNvSpPr txBox="1"/>
          <p:nvPr/>
        </p:nvSpPr>
        <p:spPr>
          <a:xfrm>
            <a:off x="7209155" y="3811905"/>
            <a:ext cx="86360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600" dirty="0">
                <a:latin typeface="Tahoma" panose="020B0604030504040204" pitchFamily="34" charset="0"/>
              </a:rPr>
              <a:t>图</a:t>
            </a:r>
            <a:r>
              <a:rPr lang="en-US" altLang="zh-CN" sz="1600" dirty="0">
                <a:latin typeface="Tahoma" panose="020B0604030504040204" pitchFamily="34" charset="0"/>
              </a:rPr>
              <a:t>2.2-3</a:t>
            </a:r>
            <a:endParaRPr lang="zh-CN" altLang="en-US" sz="1600" dirty="0">
              <a:latin typeface="Tahoma" panose="020B0604030504040204" pitchFamily="34" charset="0"/>
            </a:endParaRPr>
          </a:p>
        </p:txBody>
      </p:sp>
      <p:pic>
        <p:nvPicPr>
          <p:cNvPr id="14" name="Picture 93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6975" y="651827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147" name="Rectangle 5"/>
          <p:cNvSpPr/>
          <p:nvPr/>
        </p:nvSpPr>
        <p:spPr>
          <a:xfrm>
            <a:off x="1594485" y="212725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222" name="Picture 5" descr="u=1801799104,2876167613&amp;fm=52&amp;gp=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9743" y="4425315"/>
            <a:ext cx="2565400" cy="23336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23" name="Group 6"/>
          <p:cNvGrpSpPr/>
          <p:nvPr/>
        </p:nvGrpSpPr>
        <p:grpSpPr>
          <a:xfrm>
            <a:off x="4955540" y="4316095"/>
            <a:ext cx="2352675" cy="2309813"/>
            <a:chOff x="2001" y="2188"/>
            <a:chExt cx="1482" cy="1455"/>
          </a:xfrm>
        </p:grpSpPr>
        <p:sp>
          <p:nvSpPr>
            <p:cNvPr id="9227" name="AutoShape 7"/>
            <p:cNvSpPr/>
            <p:nvPr/>
          </p:nvSpPr>
          <p:spPr>
            <a:xfrm flipH="1">
              <a:off x="2107" y="2956"/>
              <a:ext cx="1104" cy="384"/>
            </a:xfrm>
            <a:prstGeom prst="rtTriangle">
              <a:avLst/>
            </a:prstGeom>
            <a:solidFill>
              <a:srgbClr val="969696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840000" lon="0" rev="0"/>
              </a:camera>
              <a:lightRig rig="legacyFlat2" dir="t"/>
            </a:scene3d>
            <a:sp3d extrusionH="1497000" prstMaterial="legacyMatte">
              <a:bevelT w="13500" h="13500" prst="angle"/>
              <a:bevelB w="13500" h="13500" prst="angle"/>
              <a:extrusionClr>
                <a:srgbClr val="969696"/>
              </a:extrusionClr>
            </a:sp3d>
          </p:spPr>
          <p:txBody>
            <a:bodyPr wrap="none" anchor="ctr">
              <a:flatTx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28" name="Line 8"/>
            <p:cNvSpPr/>
            <p:nvPr/>
          </p:nvSpPr>
          <p:spPr>
            <a:xfrm>
              <a:off x="2875" y="2668"/>
              <a:ext cx="0" cy="91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9229" name="Arc 9"/>
            <p:cNvSpPr/>
            <p:nvPr/>
          </p:nvSpPr>
          <p:spPr>
            <a:xfrm>
              <a:off x="2731" y="3053"/>
              <a:ext cx="366" cy="412"/>
            </a:xfrm>
            <a:custGeom>
              <a:avLst/>
              <a:gdLst>
                <a:gd name="txL" fmla="*/ 0 w 20591"/>
                <a:gd name="txT" fmla="*/ 0 h 16887"/>
                <a:gd name="txR" fmla="*/ 20591 w 20591"/>
                <a:gd name="txB" fmla="*/ 16887 h 16887"/>
              </a:gdLst>
              <a:ahLst/>
              <a:cxnLst>
                <a:cxn ang="0">
                  <a:pos x="239" y="0"/>
                </a:cxn>
                <a:cxn ang="0">
                  <a:pos x="366" y="253"/>
                </a:cxn>
                <a:cxn ang="0">
                  <a:pos x="0" y="412"/>
                </a:cxn>
              </a:cxnLst>
              <a:rect l="txL" t="txT" r="txR" b="txB"/>
              <a:pathLst>
                <a:path w="20591" h="16887" fill="none">
                  <a:moveTo>
                    <a:pt x="13468" y="-1"/>
                  </a:moveTo>
                  <a:cubicBezTo>
                    <a:pt x="16817" y="2671"/>
                    <a:pt x="19296" y="6278"/>
                    <a:pt x="20590" y="10362"/>
                  </a:cubicBezTo>
                </a:path>
                <a:path w="20591" h="16887" stroke="0">
                  <a:moveTo>
                    <a:pt x="13468" y="-1"/>
                  </a:moveTo>
                  <a:cubicBezTo>
                    <a:pt x="16817" y="2671"/>
                    <a:pt x="19296" y="6278"/>
                    <a:pt x="20590" y="10362"/>
                  </a:cubicBezTo>
                  <a:lnTo>
                    <a:pt x="0" y="16887"/>
                  </a:lnTo>
                  <a:close/>
                </a:path>
              </a:pathLst>
            </a:custGeom>
            <a:noFill/>
            <a:ln w="28575" cap="flat" cmpd="sng">
              <a:solidFill>
                <a:srgbClr val="800080"/>
              </a:solidFill>
              <a:prstDash val="solid"/>
              <a:round/>
              <a:headEnd type="arrow" w="med" len="med"/>
              <a:tailEnd type="arrow" w="med" len="med"/>
            </a:ln>
          </p:spPr>
          <p:txBody>
            <a:bodyPr wrap="none" anchor="ctr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898" name="Text Box 10"/>
            <p:cNvSpPr txBox="1">
              <a:spLocks noChangeArrowheads="1"/>
            </p:cNvSpPr>
            <p:nvPr/>
          </p:nvSpPr>
          <p:spPr bwMode="auto">
            <a:xfrm>
              <a:off x="2370" y="3237"/>
              <a:ext cx="302" cy="40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p>
              <a:pPr marR="0" defTabSz="914400" eaLnBrk="0" hangingPunct="0">
                <a:buClrTx/>
                <a:buSzTx/>
                <a:buFontTx/>
                <a:defRPr/>
              </a:pPr>
              <a:r>
                <a:rPr kumimoji="0" lang="en-US" altLang="zh-CN" sz="3600" b="1" i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F </a:t>
              </a:r>
              <a:endParaRPr kumimoji="0" lang="en-US" altLang="zh-CN" sz="3200" b="1" kern="1200" cap="none" spc="0" normalizeH="0" baseline="0" noProof="0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9231" name="Line 11"/>
            <p:cNvSpPr/>
            <p:nvPr/>
          </p:nvSpPr>
          <p:spPr>
            <a:xfrm flipV="1">
              <a:off x="2539" y="2188"/>
              <a:ext cx="528" cy="192"/>
            </a:xfrm>
            <a:prstGeom prst="line">
              <a:avLst/>
            </a:prstGeom>
            <a:ln w="57150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32" name="Line 12"/>
            <p:cNvSpPr/>
            <p:nvPr/>
          </p:nvSpPr>
          <p:spPr>
            <a:xfrm>
              <a:off x="2011" y="2764"/>
              <a:ext cx="624" cy="0"/>
            </a:xfrm>
            <a:prstGeom prst="line">
              <a:avLst/>
            </a:prstGeom>
            <a:ln w="76200" cap="flat" cmpd="sng">
              <a:solidFill>
                <a:srgbClr val="CC0099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01" name="AutoShape 13"/>
            <p:cNvSpPr>
              <a:spLocks noChangeArrowheads="1"/>
            </p:cNvSpPr>
            <p:nvPr/>
          </p:nvSpPr>
          <p:spPr bwMode="auto">
            <a:xfrm rot="-1121508">
              <a:off x="2511" y="2415"/>
              <a:ext cx="647" cy="471"/>
            </a:xfrm>
            <a:prstGeom prst="cube">
              <a:avLst>
                <a:gd name="adj" fmla="val 33894"/>
              </a:avLst>
            </a:prstGeom>
            <a:solidFill>
              <a:srgbClr val="3366FF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tIns="0" bIns="0" anchor="ctr">
              <a:spAutoFit/>
            </a:bodyPr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34" name="Text Box 14"/>
            <p:cNvSpPr txBox="1"/>
            <p:nvPr/>
          </p:nvSpPr>
          <p:spPr>
            <a:xfrm>
              <a:off x="2299" y="2188"/>
              <a:ext cx="23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en-US" altLang="zh-CN" sz="32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endPara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03" name="Text Box 15"/>
            <p:cNvSpPr txBox="1">
              <a:spLocks noChangeArrowheads="1"/>
            </p:cNvSpPr>
            <p:nvPr/>
          </p:nvSpPr>
          <p:spPr bwMode="auto">
            <a:xfrm>
              <a:off x="2001" y="2360"/>
              <a:ext cx="490" cy="40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p>
              <a:pPr marR="0" defTabSz="914400" eaLnBrk="0" hangingPunct="0">
                <a:buClrTx/>
                <a:buSzTx/>
                <a:buFontTx/>
                <a:defRPr/>
              </a:pPr>
              <a:r>
                <a:rPr kumimoji="0" lang="en-US" altLang="zh-CN" sz="3600" b="1" i="1" kern="1200" cap="none" spc="0" normalizeH="0" baseline="0" noProof="0" smtClean="0">
                  <a:solidFill>
                    <a:srgbClr val="CC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F</a:t>
              </a:r>
              <a:r>
                <a:rPr kumimoji="0" lang="en-US" altLang="zh-CN" sz="3600" b="1" i="1" kern="1200" cap="none" spc="0" normalizeH="0" baseline="-25000" noProof="0" smtClean="0">
                  <a:solidFill>
                    <a:srgbClr val="CC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t</a:t>
              </a:r>
              <a:endParaRPr kumimoji="0" lang="en-US" altLang="zh-CN" sz="2400" b="1" i="1" kern="1200" cap="none" spc="0" normalizeH="0" baseline="-25000" noProof="0" smtClean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36" name="Text Box 16"/>
            <p:cNvSpPr txBox="1"/>
            <p:nvPr/>
          </p:nvSpPr>
          <p:spPr>
            <a:xfrm>
              <a:off x="3078" y="2869"/>
              <a:ext cx="405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l-GR" altLang="zh-CN" sz="3600" b="1" i="1" dirty="0">
                  <a:solidFill>
                    <a:srgbClr val="66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endParaRPr lang="el-GR" altLang="zh-CN" sz="3600" b="1" i="1" dirty="0">
                <a:solidFill>
                  <a:srgbClr val="66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3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5029200" y="762000"/>
            <a:ext cx="1981200" cy="228600"/>
          </a:xfrm>
          <a:noFill/>
          <a:ln>
            <a:noFill/>
          </a:ln>
        </p:spPr>
        <p:txBody>
          <a:bodyPr/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lang="zh-CN" altLang="en-US" sz="900" dirty="0">
                <a:solidFill>
                  <a:schemeClr val="bg1"/>
                </a:solidFill>
              </a:rPr>
              <a:t>纹连接的预紧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pic>
        <p:nvPicPr>
          <p:cNvPr id="8196" name="Picture 21" descr="arrow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4688" y="4040188"/>
            <a:ext cx="92075" cy="160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58" name="Picture 22" descr="rewind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6570663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文本框 2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5564" y="994184"/>
            <a:ext cx="4221020" cy="2669320"/>
          </a:xfrm>
          <a:prstGeom prst="rect">
            <a:avLst/>
          </a:prstGeom>
          <a:blipFill>
            <a:blip r:embed="rId4"/>
            <a:stretch>
              <a:fillRect l="-1876" r="-1732" b="-1370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8199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080" y="889000"/>
            <a:ext cx="3638550" cy="2774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00" name="文本框 3"/>
          <p:cNvSpPr txBox="1"/>
          <p:nvPr/>
        </p:nvSpPr>
        <p:spPr>
          <a:xfrm>
            <a:off x="5799138" y="3806825"/>
            <a:ext cx="2781300" cy="3063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Tahoma" panose="020B0604030504040204" pitchFamily="34" charset="0"/>
              </a:rPr>
              <a:t>图</a:t>
            </a:r>
            <a:r>
              <a:rPr lang="en-US" altLang="zh-CN" sz="1400" dirty="0">
                <a:latin typeface="Tahoma" panose="020B0604030504040204" pitchFamily="34" charset="0"/>
              </a:rPr>
              <a:t>2.2-4a  </a:t>
            </a:r>
            <a:r>
              <a:rPr lang="zh-CN" altLang="zh-CN" sz="1400" dirty="0">
                <a:latin typeface="Tahoma" panose="020B0604030504040204" pitchFamily="34" charset="0"/>
              </a:rPr>
              <a:t>矩形螺纹副的受力分析</a:t>
            </a:r>
            <a:endParaRPr lang="zh-CN" altLang="en-US" sz="1400" dirty="0">
              <a:latin typeface="Tahoma" panose="020B0604030504040204" pitchFamily="34" charset="0"/>
            </a:endParaRPr>
          </a:p>
        </p:txBody>
      </p:sp>
      <p:sp>
        <p:nvSpPr>
          <p:cNvPr id="28" name="文本框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434465" y="3806825"/>
            <a:ext cx="3362960" cy="530225"/>
          </a:xfrm>
          <a:prstGeom prst="rect">
            <a:avLst/>
          </a:prstGeom>
          <a:blipFill>
            <a:blip r:embed="rId6"/>
            <a:stretch>
              <a:fillRect b="-18571"/>
            </a:stretch>
          </a:blipFill>
          <a:ln w="9525">
            <a:solidFill>
              <a:srgbClr val="00B050"/>
            </a:solidFill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8202" name="文本框 28"/>
          <p:cNvSpPr txBox="1"/>
          <p:nvPr/>
        </p:nvSpPr>
        <p:spPr>
          <a:xfrm>
            <a:off x="350203" y="4589463"/>
            <a:ext cx="704469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ahoma" panose="020B0604030504040204" pitchFamily="34" charset="0"/>
              </a:rPr>
              <a:t>      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拧紧螺母克服螺纹副中阻力所需拧紧力矩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为：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0" name="文本框 2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34770" y="5281930"/>
            <a:ext cx="5076190" cy="83947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solidFill>
              <a:srgbClr val="00B050"/>
            </a:solidFill>
          </a:ln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31" name="Picture 52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7563" y="6570663"/>
            <a:ext cx="28575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Picture 93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8088" y="6570663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147" name="Rectangle 5"/>
          <p:cNvSpPr/>
          <p:nvPr/>
        </p:nvSpPr>
        <p:spPr>
          <a:xfrm>
            <a:off x="1594485" y="212725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8" grpId="0" bldLvl="0" animBg="1"/>
      <p:bldP spid="8202" grpId="0"/>
      <p:bldP spid="3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5029200" y="762000"/>
            <a:ext cx="1981200" cy="2286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900" dirty="0">
                <a:solidFill>
                  <a:schemeClr val="bg1"/>
                </a:solidFill>
              </a:rPr>
              <a:t>螺纹连接的防松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pic>
        <p:nvPicPr>
          <p:cNvPr id="922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2890" y="845820"/>
            <a:ext cx="3586480" cy="28816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2" name="文本框 3"/>
          <p:cNvSpPr txBox="1"/>
          <p:nvPr/>
        </p:nvSpPr>
        <p:spPr>
          <a:xfrm>
            <a:off x="5942013" y="3727450"/>
            <a:ext cx="2781300" cy="3063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Tahoma" panose="020B0604030504040204" pitchFamily="34" charset="0"/>
              </a:rPr>
              <a:t>图</a:t>
            </a:r>
            <a:r>
              <a:rPr lang="en-US" altLang="zh-CN" sz="1400" dirty="0">
                <a:latin typeface="Tahoma" panose="020B0604030504040204" pitchFamily="34" charset="0"/>
              </a:rPr>
              <a:t>2.2-4b  </a:t>
            </a:r>
            <a:r>
              <a:rPr lang="zh-CN" altLang="zh-CN" sz="1400" dirty="0">
                <a:latin typeface="Tahoma" panose="020B0604030504040204" pitchFamily="34" charset="0"/>
              </a:rPr>
              <a:t>矩形螺纹副的受力分析</a:t>
            </a:r>
            <a:endParaRPr lang="zh-CN" altLang="en-US" sz="1400" dirty="0">
              <a:latin typeface="Tahoma" panose="020B0604030504040204" pitchFamily="34" charset="0"/>
            </a:endParaRPr>
          </a:p>
        </p:txBody>
      </p:sp>
      <p:sp>
        <p:nvSpPr>
          <p:cNvPr id="10" name="文本框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06111" y="3803414"/>
            <a:ext cx="2412905" cy="430887"/>
          </a:xfrm>
          <a:prstGeom prst="rect">
            <a:avLst/>
          </a:prstGeom>
          <a:blipFill>
            <a:blip r:embed="rId2"/>
            <a:stretch>
              <a:fillRect b="-20000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9224" name="文本框 6"/>
          <p:cNvSpPr txBox="1"/>
          <p:nvPr/>
        </p:nvSpPr>
        <p:spPr>
          <a:xfrm>
            <a:off x="3613150" y="3803650"/>
            <a:ext cx="817563" cy="3397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Tahoma" panose="020B0604030504040204" pitchFamily="34" charset="0"/>
              </a:rPr>
              <a:t>(2.2-4)</a:t>
            </a:r>
            <a:endParaRPr lang="zh-CN" altLang="en-US" sz="1600" dirty="0">
              <a:latin typeface="Tahoma" panose="020B0604030504040204" pitchFamily="34" charset="0"/>
            </a:endParaRPr>
          </a:p>
        </p:txBody>
      </p:sp>
      <p:sp>
        <p:nvSpPr>
          <p:cNvPr id="9225" name="文本框 1"/>
          <p:cNvSpPr txBox="1"/>
          <p:nvPr/>
        </p:nvSpPr>
        <p:spPr>
          <a:xfrm>
            <a:off x="88900" y="4666298"/>
            <a:ext cx="525399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ahoma" panose="020B0604030504040204" pitchFamily="34" charset="0"/>
              </a:rPr>
              <a:t>    </a:t>
            </a:r>
            <a:r>
              <a:rPr lang="zh-CN" altLang="zh-CN" sz="2000" dirty="0">
                <a:latin typeface="Tahoma" panose="020B0604030504040204" pitchFamily="34" charset="0"/>
              </a:rPr>
              <a:t>此时，维持滑块等速下滑的维持力矩</a:t>
            </a:r>
            <a:r>
              <a:rPr lang="en-US" altLang="zh-CN" sz="2000" dirty="0">
                <a:latin typeface="Tahoma" panose="020B0604030504040204" pitchFamily="34" charset="0"/>
              </a:rPr>
              <a:t>T</a:t>
            </a:r>
            <a:r>
              <a:rPr lang="zh-CN" altLang="zh-CN" sz="2000" dirty="0">
                <a:latin typeface="Tahoma" panose="020B0604030504040204" pitchFamily="34" charset="0"/>
              </a:rPr>
              <a:t>为：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3" name="文本框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6" y="5324738"/>
            <a:ext cx="4669277" cy="72616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9227" name="文本框 7"/>
          <p:cNvSpPr txBox="1"/>
          <p:nvPr/>
        </p:nvSpPr>
        <p:spPr>
          <a:xfrm>
            <a:off x="4164013" y="5581015"/>
            <a:ext cx="81597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Tahoma" panose="020B0604030504040204" pitchFamily="34" charset="0"/>
              </a:rPr>
              <a:t>(2.2-5)</a:t>
            </a:r>
            <a:endParaRPr lang="zh-CN" altLang="en-US" sz="1600" dirty="0">
              <a:latin typeface="Tahoma" panose="020B0604030504040204" pitchFamily="34" charset="0"/>
            </a:endParaRPr>
          </a:p>
        </p:txBody>
      </p:sp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2905" y="964565"/>
            <a:ext cx="5097780" cy="2531110"/>
          </a:xfrm>
          <a:prstGeom prst="rect">
            <a:avLst/>
          </a:prstGeom>
          <a:blipFill>
            <a:blip r:embed="rId4"/>
            <a:stretch>
              <a:fillRect l="-1148" r="-1033" b="-1496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147" name="Rectangle 5"/>
          <p:cNvSpPr/>
          <p:nvPr/>
        </p:nvSpPr>
        <p:spPr>
          <a:xfrm>
            <a:off x="1594485" y="212725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247" name="Group 6"/>
          <p:cNvGrpSpPr/>
          <p:nvPr/>
        </p:nvGrpSpPr>
        <p:grpSpPr>
          <a:xfrm>
            <a:off x="5942648" y="4117023"/>
            <a:ext cx="2374900" cy="2578100"/>
            <a:chOff x="3809" y="2046"/>
            <a:chExt cx="1496" cy="1624"/>
          </a:xfrm>
        </p:grpSpPr>
        <p:sp>
          <p:nvSpPr>
            <p:cNvPr id="10250" name="Text Box 7"/>
            <p:cNvSpPr txBox="1"/>
            <p:nvPr/>
          </p:nvSpPr>
          <p:spPr>
            <a:xfrm>
              <a:off x="4140" y="2046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en-US" altLang="zh-CN" sz="32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endPara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251" name="AutoShape 8"/>
            <p:cNvSpPr/>
            <p:nvPr/>
          </p:nvSpPr>
          <p:spPr>
            <a:xfrm flipH="1">
              <a:off x="3929" y="2968"/>
              <a:ext cx="1104" cy="384"/>
            </a:xfrm>
            <a:prstGeom prst="rtTriangle">
              <a:avLst/>
            </a:prstGeom>
            <a:solidFill>
              <a:srgbClr val="969696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840000" lon="0" rev="0"/>
              </a:camera>
              <a:lightRig rig="legacyFlat2" dir="t"/>
            </a:scene3d>
            <a:sp3d extrusionH="1497000" prstMaterial="legacyMatte">
              <a:bevelT w="13500" h="13500" prst="angle"/>
              <a:bevelB w="13500" h="13500" prst="angle"/>
              <a:extrusionClr>
                <a:srgbClr val="969696"/>
              </a:extrusionClr>
            </a:sp3d>
          </p:spPr>
          <p:txBody>
            <a:bodyPr wrap="none" anchor="ctr">
              <a:flatTx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52" name="Line 9"/>
            <p:cNvSpPr/>
            <p:nvPr/>
          </p:nvSpPr>
          <p:spPr>
            <a:xfrm>
              <a:off x="4697" y="2680"/>
              <a:ext cx="0" cy="91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0253" name="Arc 10"/>
            <p:cNvSpPr/>
            <p:nvPr/>
          </p:nvSpPr>
          <p:spPr>
            <a:xfrm>
              <a:off x="4553" y="3065"/>
              <a:ext cx="366" cy="412"/>
            </a:xfrm>
            <a:custGeom>
              <a:avLst/>
              <a:gdLst>
                <a:gd name="txL" fmla="*/ 0 w 20591"/>
                <a:gd name="txT" fmla="*/ 0 h 16887"/>
                <a:gd name="txR" fmla="*/ 20591 w 20591"/>
                <a:gd name="txB" fmla="*/ 16887 h 16887"/>
              </a:gdLst>
              <a:ahLst/>
              <a:cxnLst>
                <a:cxn ang="0">
                  <a:pos x="239" y="0"/>
                </a:cxn>
                <a:cxn ang="0">
                  <a:pos x="366" y="253"/>
                </a:cxn>
                <a:cxn ang="0">
                  <a:pos x="0" y="412"/>
                </a:cxn>
              </a:cxnLst>
              <a:rect l="txL" t="txT" r="txR" b="txB"/>
              <a:pathLst>
                <a:path w="20591" h="16887" fill="none">
                  <a:moveTo>
                    <a:pt x="13468" y="-1"/>
                  </a:moveTo>
                  <a:cubicBezTo>
                    <a:pt x="16817" y="2671"/>
                    <a:pt x="19296" y="6278"/>
                    <a:pt x="20590" y="10362"/>
                  </a:cubicBezTo>
                </a:path>
                <a:path w="20591" h="16887" stroke="0">
                  <a:moveTo>
                    <a:pt x="13468" y="-1"/>
                  </a:moveTo>
                  <a:cubicBezTo>
                    <a:pt x="16817" y="2671"/>
                    <a:pt x="19296" y="6278"/>
                    <a:pt x="20590" y="10362"/>
                  </a:cubicBezTo>
                  <a:lnTo>
                    <a:pt x="0" y="16887"/>
                  </a:lnTo>
                  <a:close/>
                </a:path>
              </a:pathLst>
            </a:custGeom>
            <a:noFill/>
            <a:ln w="28575" cap="flat" cmpd="sng">
              <a:solidFill>
                <a:srgbClr val="800080"/>
              </a:solidFill>
              <a:prstDash val="solid"/>
              <a:round/>
              <a:headEnd type="arrow" w="med" len="med"/>
              <a:tailEnd type="arrow" w="med" len="med"/>
            </a:ln>
          </p:spPr>
          <p:txBody>
            <a:bodyPr wrap="none" anchor="ctr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875" name="Text Box 11"/>
            <p:cNvSpPr txBox="1">
              <a:spLocks noChangeArrowheads="1"/>
            </p:cNvSpPr>
            <p:nvPr/>
          </p:nvSpPr>
          <p:spPr bwMode="auto">
            <a:xfrm>
              <a:off x="4184" y="3264"/>
              <a:ext cx="307" cy="40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p>
              <a:pPr marR="0" defTabSz="914400" eaLnBrk="0" hangingPunct="0">
                <a:buClrTx/>
                <a:buSzTx/>
                <a:buFontTx/>
                <a:defRPr/>
              </a:pPr>
              <a:r>
                <a:rPr kumimoji="0" lang="en-US" altLang="zh-CN" sz="3600" b="1" i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F</a:t>
              </a:r>
              <a:endParaRPr kumimoji="0" lang="en-US" altLang="zh-CN" sz="3200" b="1" kern="1200" cap="none" spc="0" normalizeH="0" baseline="0" noProof="0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0255" name="Line 12"/>
            <p:cNvSpPr/>
            <p:nvPr/>
          </p:nvSpPr>
          <p:spPr>
            <a:xfrm flipH="1">
              <a:off x="4265" y="2200"/>
              <a:ext cx="528" cy="192"/>
            </a:xfrm>
            <a:prstGeom prst="line">
              <a:avLst/>
            </a:prstGeom>
            <a:ln w="57150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77" name="AutoShape 13"/>
            <p:cNvSpPr>
              <a:spLocks noChangeArrowheads="1"/>
            </p:cNvSpPr>
            <p:nvPr/>
          </p:nvSpPr>
          <p:spPr bwMode="auto">
            <a:xfrm rot="-1121508">
              <a:off x="4324" y="2428"/>
              <a:ext cx="647" cy="471"/>
            </a:xfrm>
            <a:prstGeom prst="cube">
              <a:avLst>
                <a:gd name="adj" fmla="val 33894"/>
              </a:avLst>
            </a:prstGeom>
            <a:solidFill>
              <a:srgbClr val="3366FF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tIns="0" bIns="0" anchor="ctr">
              <a:spAutoFit/>
            </a:bodyPr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257" name="Line 14"/>
            <p:cNvSpPr/>
            <p:nvPr/>
          </p:nvSpPr>
          <p:spPr>
            <a:xfrm rot="10800000" flipH="1">
              <a:off x="4007" y="2810"/>
              <a:ext cx="374" cy="0"/>
            </a:xfrm>
            <a:prstGeom prst="line">
              <a:avLst/>
            </a:prstGeom>
            <a:ln w="63500" cap="flat" cmpd="sng">
              <a:solidFill>
                <a:srgbClr val="80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6879" name="Text Box 15"/>
            <p:cNvSpPr txBox="1">
              <a:spLocks noChangeArrowheads="1"/>
            </p:cNvSpPr>
            <p:nvPr/>
          </p:nvSpPr>
          <p:spPr bwMode="auto">
            <a:xfrm>
              <a:off x="3809" y="2442"/>
              <a:ext cx="442" cy="36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p>
              <a:pPr eaLnBrk="0" hangingPunct="0"/>
              <a:r>
                <a:rPr lang="en-US" altLang="zh-CN" sz="3200" b="1" i="1" dirty="0">
                  <a:solidFill>
                    <a:srgbClr val="CC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  <a:r>
                <a:rPr lang="en-US" altLang="zh-CN" sz="3200" b="1" i="1" baseline="-25000" dirty="0">
                  <a:solidFill>
                    <a:srgbClr val="CC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t</a:t>
              </a:r>
              <a:endParaRPr lang="en-US" altLang="zh-CN" sz="3200" b="1" i="1" baseline="-25000" dirty="0">
                <a:solidFill>
                  <a:srgbClr val="CC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259" name="Rectangle 16"/>
            <p:cNvSpPr/>
            <p:nvPr/>
          </p:nvSpPr>
          <p:spPr>
            <a:xfrm>
              <a:off x="4900" y="2908"/>
              <a:ext cx="405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l-GR" altLang="zh-CN" sz="3600" b="1" i="1" dirty="0">
                  <a:solidFill>
                    <a:srgbClr val="66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endParaRPr lang="el-GR" altLang="en-US" sz="3600" b="1" i="1" dirty="0">
                <a:solidFill>
                  <a:srgbClr val="6600CC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0" grpId="0" bldLvl="0" animBg="1"/>
      <p:bldP spid="9224" grpId="0"/>
      <p:bldP spid="9225" grpId="0"/>
      <p:bldP spid="9227" grpId="0"/>
      <p:bldP spid="1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6886575" y="762000"/>
            <a:ext cx="1851025" cy="8731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螺纹连接组的设计</a:t>
            </a:r>
            <a:r>
              <a:rPr lang="en-US" altLang="zh-CN" sz="800" dirty="0">
                <a:solidFill>
                  <a:schemeClr val="bg1"/>
                </a:solidFill>
              </a:rPr>
              <a:t>1</a:t>
            </a:r>
            <a:endParaRPr lang="en-US" altLang="zh-CN" sz="800" dirty="0">
              <a:solidFill>
                <a:srgbClr val="0000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5398" name="Picture 3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3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400" name="Picture 4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6663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360" y="1009015"/>
            <a:ext cx="3503295" cy="28155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7" name="文本框 3"/>
          <p:cNvSpPr txBox="1"/>
          <p:nvPr/>
        </p:nvSpPr>
        <p:spPr>
          <a:xfrm>
            <a:off x="5799138" y="3824288"/>
            <a:ext cx="2781300" cy="3063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Tahoma" panose="020B0604030504040204" pitchFamily="34" charset="0"/>
              </a:rPr>
              <a:t>图</a:t>
            </a:r>
            <a:r>
              <a:rPr lang="en-US" altLang="zh-CN" sz="1400" dirty="0">
                <a:latin typeface="Tahoma" panose="020B0604030504040204" pitchFamily="34" charset="0"/>
              </a:rPr>
              <a:t>2.2-4b  </a:t>
            </a:r>
            <a:r>
              <a:rPr lang="zh-CN" altLang="zh-CN" sz="1400" dirty="0">
                <a:latin typeface="Tahoma" panose="020B0604030504040204" pitchFamily="34" charset="0"/>
              </a:rPr>
              <a:t>矩形螺纹副的受力分析</a:t>
            </a:r>
            <a:endParaRPr lang="zh-CN" altLang="en-US" sz="1400" dirty="0">
              <a:latin typeface="Tahoma" panose="020B0604030504040204" pitchFamily="34" charset="0"/>
            </a:endParaRPr>
          </a:p>
        </p:txBody>
      </p:sp>
      <p:sp>
        <p:nvSpPr>
          <p:cNvPr id="10250" name="文本框 9"/>
          <p:cNvSpPr txBox="1"/>
          <p:nvPr/>
        </p:nvSpPr>
        <p:spPr>
          <a:xfrm>
            <a:off x="2323465" y="5904548"/>
            <a:ext cx="3287713" cy="4318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>
            <a:spAutoFit/>
          </a:bodyPr>
          <a:p>
            <a:r>
              <a:rPr lang="zh-CN" altLang="en-US" dirty="0">
                <a:latin typeface="Tahoma" panose="020B0604030504040204" pitchFamily="34" charset="0"/>
              </a:rPr>
              <a:t>即螺旋升角小于摩擦角。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pic>
        <p:nvPicPr>
          <p:cNvPr id="33" name="Picture 52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0" y="652303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147" name="Rectangle 5"/>
          <p:cNvSpPr/>
          <p:nvPr/>
        </p:nvSpPr>
        <p:spPr>
          <a:xfrm>
            <a:off x="1594485" y="212725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64055" y="1767205"/>
          <a:ext cx="1176655" cy="40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584200" imgH="203200" progId="Equation.KSEE3">
                  <p:embed/>
                </p:oleObj>
              </mc:Choice>
              <mc:Fallback>
                <p:oleObj name="" r:id="rId6" imgW="5842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4055" y="1767205"/>
                        <a:ext cx="1176655" cy="408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92430" y="1120775"/>
            <a:ext cx="52190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由式（</a:t>
            </a:r>
            <a:r>
              <a:rPr lang="en-US" altLang="zh-CN"/>
              <a:t>2.2-4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可知，如果</a:t>
            </a:r>
            <a:endParaRPr lang="zh-CN" altLang="en-US"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94168" y="2308225"/>
          <a:ext cx="1738630" cy="4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8" imgW="862965" imgH="228600" progId="Equation.KSEE3">
                  <p:embed/>
                </p:oleObj>
              </mc:Choice>
              <mc:Fallback>
                <p:oleObj name="" r:id="rId8" imgW="8629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94168" y="2308225"/>
                        <a:ext cx="1738630" cy="461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06120" y="5106035"/>
            <a:ext cx="5803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自锁条件是：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98140" y="5021580"/>
          <a:ext cx="133858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0" imgW="405765" imgH="190500" progId="Equation.KSEE3">
                  <p:embed/>
                </p:oleObj>
              </mc:Choice>
              <mc:Fallback>
                <p:oleObj name="" r:id="rId10" imgW="405765" imgH="1905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98140" y="5021580"/>
                        <a:ext cx="1338580" cy="62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43230" y="2901950"/>
            <a:ext cx="459168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即不加维持力</a:t>
            </a:r>
            <a:r>
              <a:rPr lang="en-US" altLang="zh-CN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Ft</a:t>
            </a:r>
            <a:r>
              <a:rPr lang="zh-CN" altLang="en-US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滑块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在</a:t>
            </a:r>
            <a:r>
              <a:rPr lang="en-US" altLang="zh-CN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F 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的作用下也不会自动滑下。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1825" y="3824605"/>
            <a:ext cx="459168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sym typeface="+mn-ea"/>
              </a:rPr>
              <a:t>在这种情况下，则称该螺旋副具有自锁作用，即</a:t>
            </a:r>
            <a:r>
              <a:rPr lang="zh-CN" altLang="en-US" dirty="0">
                <a:solidFill>
                  <a:srgbClr val="FF0066"/>
                </a:solidFill>
                <a:ea typeface="黑体" panose="02010609060101010101" pitchFamily="49" charset="-122"/>
                <a:sym typeface="+mn-ea"/>
              </a:rPr>
              <a:t>螺旋副不会自动松脱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  <a:sym typeface="+mn-ea"/>
              </a:rPr>
              <a:t>。</a:t>
            </a:r>
            <a:endParaRPr lang="zh-CN" altLang="en-US"/>
          </a:p>
        </p:txBody>
      </p:sp>
      <p:sp>
        <p:nvSpPr>
          <p:cNvPr id="6" name="文本框 7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12"/>
            </p:custDataLst>
          </p:nvPr>
        </p:nvSpPr>
        <p:spPr bwMode="auto">
          <a:xfrm>
            <a:off x="2203746" y="1044974"/>
            <a:ext cx="2412905" cy="430887"/>
          </a:xfrm>
          <a:prstGeom prst="rect">
            <a:avLst/>
          </a:prstGeom>
          <a:blipFill>
            <a:blip r:embed="rId13"/>
            <a:stretch>
              <a:fillRect b="-20000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5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" grpId="0" bldLvl="0" animBg="1"/>
      <p:bldP spid="3" grpId="0"/>
      <p:bldP spid="10" grpId="0"/>
      <p:bldP spid="11" grpId="0"/>
      <p:bldP spid="8" grpId="0"/>
      <p:bldP spid="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5334000" y="762000"/>
            <a:ext cx="2286000" cy="3048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螺纹连接组的设计</a:t>
            </a:r>
            <a:r>
              <a:rPr lang="en-US" altLang="zh-CN" sz="800" dirty="0">
                <a:solidFill>
                  <a:schemeClr val="bg1"/>
                </a:solidFill>
              </a:rPr>
              <a:t>2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pic>
        <p:nvPicPr>
          <p:cNvPr id="25046" name="Picture 470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7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047" name="Picture 471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1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Picture 4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5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8475" y="1037035"/>
            <a:ext cx="3133743" cy="400110"/>
          </a:xfrm>
          <a:prstGeom prst="rect">
            <a:avLst/>
          </a:prstGeom>
          <a:blipFill>
            <a:blip r:embed="rId5"/>
            <a:stretch>
              <a:fillRect l="-2140" t="-7576" r="-1556" b="-25758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1272" name="文本框 2"/>
          <p:cNvSpPr txBox="1"/>
          <p:nvPr/>
        </p:nvSpPr>
        <p:spPr>
          <a:xfrm>
            <a:off x="544513" y="1396048"/>
            <a:ext cx="8081962" cy="1060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Tahoma" panose="020B0604030504040204" pitchFamily="34" charset="0"/>
              </a:rPr>
              <a:t>      </a:t>
            </a:r>
            <a:r>
              <a:rPr lang="zh-CN" altLang="zh-CN" sz="2000" dirty="0">
                <a:latin typeface="Tahoma" panose="020B0604030504040204" pitchFamily="34" charset="0"/>
              </a:rPr>
              <a:t>对于梯形螺纹、三角形螺纹等非矩形螺纹来说，它们的运动可以看成是楔形滑块在斜槽内滑动；螺纹受力分析如图</a:t>
            </a:r>
            <a:r>
              <a:rPr lang="en-US" altLang="zh-CN" sz="2000" dirty="0">
                <a:latin typeface="Tahoma" panose="020B0604030504040204" pitchFamily="34" charset="0"/>
              </a:rPr>
              <a:t>2.2-5</a:t>
            </a:r>
            <a:r>
              <a:rPr lang="zh-CN" altLang="zh-CN" sz="2000" dirty="0">
                <a:latin typeface="Tahoma" panose="020B0604030504040204" pitchFamily="34" charset="0"/>
              </a:rPr>
              <a:t>所示。</a:t>
            </a:r>
            <a:endParaRPr lang="zh-CN" altLang="en-US" sz="2000" dirty="0">
              <a:latin typeface="Tahoma" panose="020B0604030504040204" pitchFamily="34" charset="0"/>
            </a:endParaRPr>
          </a:p>
        </p:txBody>
      </p:sp>
      <p:pic>
        <p:nvPicPr>
          <p:cNvPr id="11273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60" y="2786380"/>
            <a:ext cx="6957060" cy="2594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4" name="文本框 3"/>
          <p:cNvSpPr txBox="1"/>
          <p:nvPr/>
        </p:nvSpPr>
        <p:spPr>
          <a:xfrm>
            <a:off x="1388110" y="6000750"/>
            <a:ext cx="594804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zh-CN" sz="1800" dirty="0">
                <a:latin typeface="Tahoma" panose="020B0604030504040204" pitchFamily="34" charset="0"/>
              </a:rPr>
              <a:t>图</a:t>
            </a:r>
            <a:r>
              <a:rPr lang="en-US" altLang="zh-CN" sz="1800" dirty="0">
                <a:latin typeface="Tahoma" panose="020B0604030504040204" pitchFamily="34" charset="0"/>
              </a:rPr>
              <a:t>2.2-5 </a:t>
            </a:r>
            <a:r>
              <a:rPr lang="zh-CN" altLang="en-US" sz="1800" dirty="0">
                <a:latin typeface="Tahoma" panose="020B0604030504040204" pitchFamily="34" charset="0"/>
              </a:rPr>
              <a:t>矩形螺纹副与</a:t>
            </a:r>
            <a:r>
              <a:rPr lang="zh-CN" altLang="zh-CN" sz="1800" dirty="0">
                <a:latin typeface="Tahoma" panose="020B0604030504040204" pitchFamily="34" charset="0"/>
              </a:rPr>
              <a:t>非矩形螺纹副的受力分析</a:t>
            </a:r>
            <a:r>
              <a:rPr lang="zh-CN" altLang="en-US" sz="1800" dirty="0">
                <a:latin typeface="Tahoma" panose="020B0604030504040204" pitchFamily="34" charset="0"/>
              </a:rPr>
              <a:t>对比</a:t>
            </a:r>
            <a:endParaRPr lang="zh-CN" altLang="zh-CN" sz="1800" dirty="0">
              <a:latin typeface="Tahoma" panose="020B0604030504040204" pitchFamily="34" charset="0"/>
            </a:endParaRPr>
          </a:p>
          <a:p>
            <a:endParaRPr lang="zh-CN" altLang="en-US" sz="1800" dirty="0">
              <a:latin typeface="Tahoma" panose="020B0604030504040204" pitchFamily="34" charset="0"/>
            </a:endParaRPr>
          </a:p>
        </p:txBody>
      </p:sp>
      <p:sp>
        <p:nvSpPr>
          <p:cNvPr id="11275" name="文本框 4"/>
          <p:cNvSpPr txBox="1"/>
          <p:nvPr/>
        </p:nvSpPr>
        <p:spPr>
          <a:xfrm>
            <a:off x="1850390" y="5499100"/>
            <a:ext cx="1314450" cy="3063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400" dirty="0">
                <a:latin typeface="Tahoma" panose="020B0604030504040204" pitchFamily="34" charset="0"/>
              </a:rPr>
              <a:t>(a)</a:t>
            </a:r>
            <a:r>
              <a:rPr lang="zh-CN" altLang="en-US" sz="1400" dirty="0">
                <a:latin typeface="Tahoma" panose="020B0604030504040204" pitchFamily="34" charset="0"/>
              </a:rPr>
              <a:t>矩形螺纹副</a:t>
            </a:r>
            <a:endParaRPr lang="zh-CN" altLang="en-US" sz="1400" dirty="0">
              <a:latin typeface="Tahoma" panose="020B0604030504040204" pitchFamily="34" charset="0"/>
            </a:endParaRPr>
          </a:p>
        </p:txBody>
      </p:sp>
      <p:sp>
        <p:nvSpPr>
          <p:cNvPr id="11276" name="矩形 5"/>
          <p:cNvSpPr/>
          <p:nvPr/>
        </p:nvSpPr>
        <p:spPr>
          <a:xfrm>
            <a:off x="5334000" y="5499100"/>
            <a:ext cx="1500188" cy="3063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400" dirty="0">
                <a:latin typeface="Tahoma" panose="020B0604030504040204" pitchFamily="34" charset="0"/>
              </a:rPr>
              <a:t>(b)</a:t>
            </a:r>
            <a:r>
              <a:rPr lang="zh-CN" altLang="en-US" sz="1400" dirty="0">
                <a:latin typeface="Tahoma" panose="020B0604030504040204" pitchFamily="34" charset="0"/>
              </a:rPr>
              <a:t>非矩形螺纹副</a:t>
            </a:r>
            <a:endParaRPr lang="zh-CN" altLang="en-US" sz="1400" dirty="0">
              <a:latin typeface="Tahoma" panose="020B0604030504040204" pitchFamily="34" charset="0"/>
            </a:endParaRPr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147" name="Rectangle 5"/>
          <p:cNvSpPr/>
          <p:nvPr/>
        </p:nvSpPr>
        <p:spPr>
          <a:xfrm>
            <a:off x="1578610" y="228600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  <p:bldP spid="11275" grpId="0"/>
      <p:bldP spid="11276" grpId="0"/>
      <p:bldP spid="112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5334000" y="762000"/>
            <a:ext cx="2286000" cy="3048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螺纹连接组的设计</a:t>
            </a:r>
            <a:r>
              <a:rPr lang="en-US" altLang="zh-CN" sz="800" dirty="0">
                <a:solidFill>
                  <a:schemeClr val="bg1"/>
                </a:solidFill>
              </a:rPr>
              <a:t>3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pic>
        <p:nvPicPr>
          <p:cNvPr id="25623" name="Picture 23" descr="back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813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Picture 470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7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Picture 4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300" y="652303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1818" y="1066800"/>
            <a:ext cx="8238837" cy="1015663"/>
          </a:xfrm>
          <a:prstGeom prst="rect">
            <a:avLst/>
          </a:prstGeom>
          <a:blipFill>
            <a:blip r:embed="rId5"/>
            <a:stretch>
              <a:fillRect l="-814" r="-370" b="-4192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14246" y="1920719"/>
            <a:ext cx="1379095" cy="72039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2297" name="文本框 5"/>
          <p:cNvSpPr txBox="1"/>
          <p:nvPr/>
        </p:nvSpPr>
        <p:spPr>
          <a:xfrm flipH="1">
            <a:off x="941388" y="2687638"/>
            <a:ext cx="454501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000" dirty="0">
                <a:latin typeface="Tahoma" panose="020B0604030504040204" pitchFamily="34" charset="0"/>
              </a:rPr>
              <a:t>这时螺纹的摩擦阻力为</a:t>
            </a:r>
            <a:endParaRPr lang="zh-CN" altLang="zh-CN" sz="2000" dirty="0">
              <a:latin typeface="Tahoma" panose="020B0604030504040204" pitchFamily="34" charset="0"/>
            </a:endParaRP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26542" y="3042673"/>
            <a:ext cx="4090799" cy="729302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42098" y="3772503"/>
            <a:ext cx="6991200" cy="553998"/>
          </a:xfrm>
          <a:prstGeom prst="rect">
            <a:avLst/>
          </a:prstGeom>
          <a:blipFill>
            <a:blip r:embed="rId8"/>
            <a:stretch>
              <a:fillRect l="-960" b="-8791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14231" y="4326345"/>
            <a:ext cx="2790700" cy="672877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" name="文本框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1818" y="5141940"/>
            <a:ext cx="8134026" cy="1015663"/>
          </a:xfrm>
          <a:prstGeom prst="rect">
            <a:avLst/>
          </a:prstGeom>
          <a:blipFill>
            <a:blip r:embed="rId10"/>
            <a:stretch>
              <a:fillRect l="-825" b="-4192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147" name="Rectangle 5"/>
          <p:cNvSpPr/>
          <p:nvPr/>
        </p:nvSpPr>
        <p:spPr>
          <a:xfrm>
            <a:off x="1578610" y="228600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bldLvl="0" animBg="1"/>
      <p:bldP spid="12297" grpId="0"/>
      <p:bldP spid="7" grpId="0" animBg="1"/>
      <p:bldP spid="8" grpId="0" animBg="1"/>
      <p:bldP spid="9" grpId="0" bldLvl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5334000" y="762000"/>
            <a:ext cx="2286000" cy="3048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螺纹连接组的设计</a:t>
            </a:r>
            <a:r>
              <a:rPr lang="en-US" altLang="zh-CN" sz="800" dirty="0">
                <a:solidFill>
                  <a:schemeClr val="bg1"/>
                </a:solidFill>
              </a:rPr>
              <a:t>4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pic>
        <p:nvPicPr>
          <p:cNvPr id="28694" name="Picture 22" descr="back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163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Picture 470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7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Picture 4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300" y="652303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5000" y="997585"/>
            <a:ext cx="8086090" cy="1042670"/>
          </a:xfrm>
          <a:prstGeom prst="rect">
            <a:avLst/>
          </a:prstGeom>
          <a:blipFill>
            <a:blip r:embed="rId5"/>
            <a:stretch>
              <a:fillRect l="-795" b="-4819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kern="1200" cap="none" spc="0" normalizeH="0" baseline="0" noProof="0">
                <a:noFill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5347" y="2142064"/>
            <a:ext cx="7584802" cy="1015663"/>
          </a:xfrm>
          <a:prstGeom prst="rect">
            <a:avLst/>
          </a:prstGeom>
          <a:blipFill>
            <a:blip r:embed="rId6"/>
            <a:stretch>
              <a:fillRect b="-4819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71374" y="2875681"/>
            <a:ext cx="8272541" cy="956609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3322" name="矩形 7"/>
          <p:cNvSpPr/>
          <p:nvPr/>
        </p:nvSpPr>
        <p:spPr>
          <a:xfrm>
            <a:off x="1857375" y="3832225"/>
            <a:ext cx="95408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zh-CN" sz="2000" dirty="0">
                <a:latin typeface="华文中宋" panose="02010600040101010101" pitchFamily="2" charset="-122"/>
                <a:cs typeface="Times New Roman" panose="02020603050405020304" pitchFamily="18" charset="0"/>
              </a:rPr>
              <a:t>下滑时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21755" y="3755702"/>
            <a:ext cx="5585057" cy="553998"/>
          </a:xfrm>
          <a:prstGeom prst="rect">
            <a:avLst/>
          </a:prstGeom>
          <a:blipFill>
            <a:blip r:embed="rId8"/>
            <a:stretch>
              <a:fillRect b="-2198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" name="矩形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84074" y="4232454"/>
            <a:ext cx="6849261" cy="744243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3325" name="矩形 10"/>
          <p:cNvSpPr/>
          <p:nvPr/>
        </p:nvSpPr>
        <p:spPr>
          <a:xfrm>
            <a:off x="1917065" y="5099050"/>
            <a:ext cx="1466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zh-CN" sz="2000" dirty="0">
                <a:latin typeface="华文中宋" panose="02010600040101010101" pitchFamily="2" charset="-122"/>
                <a:cs typeface="Times New Roman" panose="02020603050405020304" pitchFamily="18" charset="0"/>
              </a:rPr>
              <a:t>自锁条件：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12" name="矩形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83834" y="5098767"/>
            <a:ext cx="1125693" cy="430887"/>
          </a:xfrm>
          <a:prstGeom prst="rect">
            <a:avLst/>
          </a:prstGeom>
          <a:blipFill>
            <a:blip r:embed="rId10"/>
            <a:stretch>
              <a:fillRect b="-18310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3327" name="文本框 13"/>
          <p:cNvSpPr txBox="1"/>
          <p:nvPr/>
        </p:nvSpPr>
        <p:spPr>
          <a:xfrm>
            <a:off x="1766570" y="5852795"/>
            <a:ext cx="155733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zh-CN" sz="2000" dirty="0">
                <a:latin typeface="Tahoma" panose="020B0604030504040204" pitchFamily="34" charset="0"/>
              </a:rPr>
              <a:t>当量摩擦角</a:t>
            </a:r>
            <a:r>
              <a:rPr lang="en-US" altLang="zh-CN" sz="2000" dirty="0">
                <a:latin typeface="Tahoma" panose="020B0604030504040204" pitchFamily="34" charset="0"/>
              </a:rPr>
              <a:t>:</a:t>
            </a:r>
            <a:endParaRPr lang="zh-CN" altLang="en-US" sz="2000" dirty="0">
              <a:latin typeface="Tahoma" panose="020B0604030504040204" pitchFamily="34" charset="0"/>
            </a:endParaRPr>
          </a:p>
        </p:txBody>
      </p:sp>
      <p:sp>
        <p:nvSpPr>
          <p:cNvPr id="15" name="矩形 1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24226" y="5621580"/>
            <a:ext cx="3459152" cy="729303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147" name="Rectangle 5"/>
          <p:cNvSpPr/>
          <p:nvPr/>
        </p:nvSpPr>
        <p:spPr>
          <a:xfrm>
            <a:off x="1578610" y="228600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 bldLvl="0" animBg="1"/>
      <p:bldP spid="7" grpId="0" animBg="1"/>
      <p:bldP spid="13322" grpId="0"/>
      <p:bldP spid="9" grpId="0" animBg="1"/>
      <p:bldP spid="10" grpId="0" animBg="1"/>
      <p:bldP spid="13325" grpId="0"/>
      <p:bldP spid="12" grpId="0" animBg="1"/>
      <p:bldP spid="13327" grpId="0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5334000" y="762000"/>
            <a:ext cx="2286000" cy="3048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螺纹连接组的设计</a:t>
            </a:r>
            <a:r>
              <a:rPr lang="en-US" altLang="zh-CN" sz="800" dirty="0">
                <a:solidFill>
                  <a:schemeClr val="bg1"/>
                </a:solidFill>
              </a:rPr>
              <a:t>5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pic>
        <p:nvPicPr>
          <p:cNvPr id="29710" name="Picture 14" descr="back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0" y="652303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470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7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 4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300" y="652303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3" name="矩形 2"/>
          <p:cNvSpPr/>
          <p:nvPr/>
        </p:nvSpPr>
        <p:spPr>
          <a:xfrm>
            <a:off x="398145" y="1066800"/>
            <a:ext cx="31057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三、螺旋副的效率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6165" y="2272665"/>
            <a:ext cx="6759575" cy="83566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4345" name="文本框 5"/>
          <p:cNvSpPr txBox="1"/>
          <p:nvPr/>
        </p:nvSpPr>
        <p:spPr>
          <a:xfrm>
            <a:off x="1048068" y="1706245"/>
            <a:ext cx="553593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dirty="0">
                <a:latin typeface="Tahoma" panose="020B0604030504040204" pitchFamily="34" charset="0"/>
              </a:rPr>
              <a:t> 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拧紧螺母上升时，螺纹传动的效率：</a:t>
            </a:r>
            <a:r>
              <a:rPr lang="zh-CN" altLang="en-US" sz="2000" dirty="0">
                <a:latin typeface="Tahoma" panose="020B0604030504040204" pitchFamily="34" charset="0"/>
              </a:rPr>
              <a:t> </a:t>
            </a:r>
            <a:endParaRPr lang="zh-CN" altLang="en-US" sz="2000" dirty="0">
              <a:latin typeface="Tahoma" panose="020B0604030504040204" pitchFamily="34" charset="0"/>
            </a:endParaRPr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147" name="Rectangle 5"/>
          <p:cNvSpPr/>
          <p:nvPr/>
        </p:nvSpPr>
        <p:spPr>
          <a:xfrm>
            <a:off x="1578610" y="228600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6680" y="3223260"/>
            <a:ext cx="6403340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dirty="0">
                <a:solidFill>
                  <a:srgbClr val="0000FF"/>
                </a:solidFill>
                <a:ea typeface="黑体" panose="02010609060101010101" pitchFamily="49" charset="-122"/>
                <a:sym typeface="+mn-ea"/>
              </a:rPr>
              <a:t>当摩擦角</a:t>
            </a:r>
            <a:r>
              <a:rPr lang="en-US" altLang="zh-CN" b="1" i="1">
                <a:solidFill>
                  <a:srgbClr val="0000FF"/>
                </a:solidFill>
                <a:ea typeface="黑体" panose="02010609060101010101" pitchFamily="49" charset="-122"/>
                <a:sym typeface="+mn-ea"/>
              </a:rPr>
              <a:t>ρ</a:t>
            </a:r>
            <a:r>
              <a:rPr lang="en-US" altLang="zh-CN" b="1" i="1" baseline="-25000">
                <a:solidFill>
                  <a:srgbClr val="0000FF"/>
                </a:solidFill>
                <a:ea typeface="黑体" panose="02010609060101010101" pitchFamily="49" charset="-122"/>
                <a:sym typeface="+mn-ea"/>
              </a:rPr>
              <a:t>v</a:t>
            </a:r>
            <a:r>
              <a:rPr lang="zh-CN" altLang="en-US" b="1" dirty="0">
                <a:solidFill>
                  <a:srgbClr val="0000FF"/>
                </a:solidFill>
                <a:ea typeface="黑体" panose="02010609060101010101" pitchFamily="49" charset="-122"/>
                <a:sym typeface="+mn-ea"/>
              </a:rPr>
              <a:t>不变时，</a:t>
            </a:r>
            <a:r>
              <a:rPr lang="zh-CN" altLang="en-US" b="1" dirty="0">
                <a:solidFill>
                  <a:srgbClr val="FF0066"/>
                </a:solidFill>
                <a:ea typeface="黑体" panose="02010609060101010101" pitchFamily="49" charset="-122"/>
                <a:sym typeface="+mn-ea"/>
              </a:rPr>
              <a:t>螺旋副的效率是升角</a:t>
            </a:r>
            <a:r>
              <a:rPr lang="en-US" altLang="zh-CN" b="1" i="1">
                <a:solidFill>
                  <a:srgbClr val="FF0066"/>
                </a:solidFill>
                <a:ea typeface="黑体" panose="02010609060101010101" pitchFamily="49" charset="-122"/>
                <a:sym typeface="+mn-ea"/>
              </a:rPr>
              <a:t>ψ</a:t>
            </a:r>
            <a:r>
              <a:rPr lang="zh-CN" altLang="en-US" b="1" dirty="0">
                <a:solidFill>
                  <a:srgbClr val="FF0066"/>
                </a:solidFill>
                <a:ea typeface="黑体" panose="02010609060101010101" pitchFamily="49" charset="-122"/>
                <a:sym typeface="+mn-ea"/>
              </a:rPr>
              <a:t>的函数</a:t>
            </a:r>
            <a:r>
              <a:rPr lang="en-US" altLang="zh-CN" b="1">
                <a:solidFill>
                  <a:srgbClr val="0000FF"/>
                </a:solidFill>
                <a:ea typeface="黑体" panose="02010609060101010101" pitchFamily="49" charset="-122"/>
                <a:sym typeface="+mn-ea"/>
              </a:rPr>
              <a:t>.</a:t>
            </a:r>
            <a:r>
              <a:rPr lang="en-US" altLang="zh-CN" b="1">
                <a:solidFill>
                  <a:srgbClr val="000000"/>
                </a:solidFill>
                <a:ea typeface="黑体" panose="02010609060101010101" pitchFamily="49" charset="-122"/>
                <a:sym typeface="+mn-ea"/>
              </a:rPr>
              <a:t> </a:t>
            </a:r>
            <a:endParaRPr lang="zh-CN" altLang="en-US"/>
          </a:p>
        </p:txBody>
      </p:sp>
      <p:sp>
        <p:nvSpPr>
          <p:cNvPr id="852995" name="文本框 852994"/>
          <p:cNvSpPr txBox="1"/>
          <p:nvPr/>
        </p:nvSpPr>
        <p:spPr>
          <a:xfrm>
            <a:off x="199390" y="3821748"/>
            <a:ext cx="8848725" cy="24485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spcAft>
                <a:spcPct val="20000"/>
              </a:spcAft>
            </a:pP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为了求最大螺旋效率时的</a:t>
            </a:r>
            <a:r>
              <a:rPr lang="en-US" altLang="zh-CN" i="1">
                <a:solidFill>
                  <a:srgbClr val="0000FF"/>
                </a:solidFill>
                <a:ea typeface="黑体" panose="02010609060101010101" pitchFamily="49" charset="-122"/>
              </a:rPr>
              <a:t>ψ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角，可令一次导数</a:t>
            </a:r>
            <a:r>
              <a:rPr lang="en-US" altLang="zh-CN" i="1">
                <a:solidFill>
                  <a:srgbClr val="0000FF"/>
                </a:solidFill>
                <a:ea typeface="黑体" panose="02010609060101010101" pitchFamily="49" charset="-122"/>
              </a:rPr>
              <a:t>dη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49" charset="-122"/>
              </a:rPr>
              <a:t> / </a:t>
            </a:r>
            <a:r>
              <a:rPr lang="en-US" altLang="zh-CN" i="1">
                <a:solidFill>
                  <a:srgbClr val="0000FF"/>
                </a:solidFill>
                <a:ea typeface="黑体" panose="02010609060101010101" pitchFamily="49" charset="-122"/>
              </a:rPr>
              <a:t>dψ</a:t>
            </a: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＝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，即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49" charset="-122"/>
              </a:rPr>
              <a:t>:</a:t>
            </a:r>
            <a:endParaRPr lang="en-US" altLang="zh-CN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just" eaLnBrk="1" hangingPunct="1">
              <a:spcAft>
                <a:spcPct val="20000"/>
              </a:spcAft>
            </a:pPr>
            <a:endParaRPr lang="en-US" altLang="zh-CN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just" eaLnBrk="1" hangingPunct="1">
              <a:spcAft>
                <a:spcPct val="20000"/>
              </a:spcAft>
            </a:pPr>
            <a:endParaRPr lang="en-US" altLang="zh-CN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just" eaLnBrk="1" hangingPunct="1">
              <a:spcAft>
                <a:spcPct val="20000"/>
              </a:spcAft>
            </a:pPr>
            <a:endParaRPr lang="en-US" altLang="zh-CN" b="1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just" eaLnBrk="1" hangingPunct="1">
              <a:spcAft>
                <a:spcPct val="20000"/>
              </a:spcAft>
            </a:pP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由此可知：当</a:t>
            </a:r>
            <a:r>
              <a:rPr lang="en-US" altLang="zh-CN" i="1">
                <a:solidFill>
                  <a:srgbClr val="FF0066"/>
                </a:solidFill>
                <a:ea typeface="黑体" panose="02010609060101010101" pitchFamily="49" charset="-122"/>
              </a:rPr>
              <a:t>ψ</a:t>
            </a:r>
            <a:r>
              <a:rPr lang="zh-CN" altLang="en-US">
                <a:solidFill>
                  <a:srgbClr val="FF0066"/>
                </a:solidFill>
                <a:ea typeface="黑体" panose="02010609060101010101" pitchFamily="49" charset="-122"/>
              </a:rPr>
              <a:t>＝</a:t>
            </a:r>
            <a:r>
              <a:rPr lang="en-US" altLang="zh-CN">
                <a:solidFill>
                  <a:srgbClr val="FF0066"/>
                </a:solidFill>
                <a:ea typeface="黑体" panose="02010609060101010101" pitchFamily="49" charset="-122"/>
              </a:rPr>
              <a:t>45</a:t>
            </a:r>
            <a:r>
              <a:rPr lang="en-US" altLang="zh-CN" baseline="30000">
                <a:solidFill>
                  <a:srgbClr val="FF0066"/>
                </a:solidFill>
                <a:ea typeface="黑体" panose="02010609060101010101" pitchFamily="49" charset="-122"/>
              </a:rPr>
              <a:t>o</a:t>
            </a:r>
            <a:r>
              <a:rPr lang="zh-CN" altLang="en-US" dirty="0">
                <a:solidFill>
                  <a:srgbClr val="FF0066"/>
                </a:solidFill>
                <a:ea typeface="黑体" panose="02010609060101010101" pitchFamily="49" charset="-122"/>
              </a:rPr>
              <a:t>－</a:t>
            </a:r>
            <a:r>
              <a:rPr lang="en-US" altLang="zh-CN" i="1">
                <a:solidFill>
                  <a:srgbClr val="FF0066"/>
                </a:solidFill>
                <a:ea typeface="黑体" panose="02010609060101010101" pitchFamily="49" charset="-122"/>
              </a:rPr>
              <a:t>ρ</a:t>
            </a:r>
            <a:r>
              <a:rPr lang="en-US" altLang="zh-CN" i="1" baseline="-25000">
                <a:solidFill>
                  <a:srgbClr val="FF0066"/>
                </a:solidFill>
                <a:ea typeface="黑体" panose="02010609060101010101" pitchFamily="49" charset="-122"/>
              </a:rPr>
              <a:t>v</a:t>
            </a:r>
            <a:r>
              <a:rPr lang="en-US" altLang="zh-CN">
                <a:solidFill>
                  <a:srgbClr val="FF0066"/>
                </a:solidFill>
                <a:ea typeface="黑体" panose="02010609060101010101" pitchFamily="49" charset="-122"/>
              </a:rPr>
              <a:t>/2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时，</a:t>
            </a:r>
            <a:r>
              <a:rPr lang="zh-CN" altLang="en-US" dirty="0">
                <a:solidFill>
                  <a:srgbClr val="FF0066"/>
                </a:solidFill>
                <a:ea typeface="黑体" panose="02010609060101010101" pitchFamily="49" charset="-122"/>
              </a:rPr>
              <a:t>螺旋副的效率最高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。但是过大的升角会引起加工工艺上的困难，故一般取</a:t>
            </a:r>
            <a:r>
              <a:rPr lang="en-US" altLang="zh-CN" i="1">
                <a:solidFill>
                  <a:srgbClr val="FF0066"/>
                </a:solidFill>
                <a:ea typeface="黑体" panose="02010609060101010101" pitchFamily="49" charset="-122"/>
              </a:rPr>
              <a:t>ψ</a:t>
            </a:r>
            <a:r>
              <a:rPr lang="zh-CN" altLang="en-US">
                <a:solidFill>
                  <a:srgbClr val="FF0066"/>
                </a:solidFill>
                <a:ea typeface="黑体" panose="02010609060101010101" pitchFamily="49" charset="-122"/>
              </a:rPr>
              <a:t>＜</a:t>
            </a:r>
            <a:r>
              <a:rPr lang="en-US" altLang="zh-CN">
                <a:solidFill>
                  <a:srgbClr val="FF0066"/>
                </a:solidFill>
                <a:ea typeface="黑体" panose="02010609060101010101" pitchFamily="49" charset="-122"/>
              </a:rPr>
              <a:t>20</a:t>
            </a:r>
            <a:r>
              <a:rPr lang="en-US" altLang="zh-CN" baseline="30000">
                <a:solidFill>
                  <a:srgbClr val="FF0066"/>
                </a:solidFill>
                <a:ea typeface="黑体" panose="02010609060101010101" pitchFamily="49" charset="-122"/>
              </a:rPr>
              <a:t>o</a:t>
            </a:r>
            <a:r>
              <a:rPr lang="zh-CN" altLang="en-US" dirty="0">
                <a:solidFill>
                  <a:srgbClr val="FF0066"/>
                </a:solidFill>
                <a:ea typeface="黑体" panose="02010609060101010101" pitchFamily="49" charset="-122"/>
              </a:rPr>
              <a:t>～ </a:t>
            </a:r>
            <a:r>
              <a:rPr lang="en-US" altLang="zh-CN">
                <a:solidFill>
                  <a:srgbClr val="FF0066"/>
                </a:solidFill>
                <a:ea typeface="黑体" panose="02010609060101010101" pitchFamily="49" charset="-122"/>
              </a:rPr>
              <a:t>25</a:t>
            </a:r>
            <a:r>
              <a:rPr lang="en-US" altLang="zh-CN" baseline="30000">
                <a:solidFill>
                  <a:srgbClr val="FF0066"/>
                </a:solidFill>
                <a:ea typeface="黑体" panose="02010609060101010101" pitchFamily="49" charset="-122"/>
              </a:rPr>
              <a:t>o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endParaRPr lang="en-US" altLang="zh-CN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25993" y="4412298"/>
          <a:ext cx="372618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1765300" imgH="482600" progId="Equation.KSEE3">
                  <p:embed/>
                </p:oleObj>
              </mc:Choice>
              <mc:Fallback>
                <p:oleObj name="" r:id="rId6" imgW="1765300" imgH="482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25993" y="4412298"/>
                        <a:ext cx="3726180" cy="1019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85299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5">
                                            <p:txEl>
                                              <p:charRg st="36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852995">
                                            <p:txEl>
                                              <p:charRg st="36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/>
      <p:bldP spid="4" grpId="0" bldLvl="0" animBg="1"/>
      <p:bldP spid="2" grpId="0"/>
      <p:bldP spid="85299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" y="2141855"/>
            <a:ext cx="7355840" cy="840740"/>
          </a:xfrm>
          <a:prstGeom prst="rect">
            <a:avLst/>
          </a:prstGeom>
          <a:blipFill>
            <a:blip r:embed="rId1"/>
            <a:stretch>
              <a:fillRect/>
            </a:stretch>
          </a:blipFill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4347" name="文本框 7"/>
          <p:cNvSpPr txBox="1"/>
          <p:nvPr/>
        </p:nvSpPr>
        <p:spPr>
          <a:xfrm>
            <a:off x="402908" y="1274445"/>
            <a:ext cx="3535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当螺母下滑时效率如下：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78921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147" name="Rectangle 5"/>
          <p:cNvSpPr/>
          <p:nvPr/>
        </p:nvSpPr>
        <p:spPr>
          <a:xfrm>
            <a:off x="1578610" y="228600"/>
            <a:ext cx="7047865" cy="533400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1" hangingPunct="1"/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§</a:t>
            </a:r>
            <a:r>
              <a:rPr lang="en-US" altLang="zh-CN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2.2-3 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螺纹副中力的关系、自锁和效率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7" grpId="0"/>
      <p:bldP spid="7" grpId="0" bldLvl="0" animBg="1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3982.5007874015746,&quot;width&quot;:6917.4992125984254}"/>
</p:tagLst>
</file>

<file path=ppt/tags/tag2.xml><?xml version="1.0" encoding="utf-8"?>
<p:tagLst xmlns:p="http://schemas.openxmlformats.org/presentationml/2006/main">
  <p:tag name="KSO_WM_UNIT_PLACING_PICTURE_USER_VIEWPORT" val="{&quot;height&quot;:2852.4992125984249,&quot;width&quot;:4677.4992125984254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ZmYwY2UxNzI0ODdjMTkzYTM2NmQ4OTdkNGYwMzJlYmMifQ=="/>
  <p:tag name="KSO_WPP_MARK_KEY" val="2a1b0fa8-df36-4d75-ba46-27dd694d14c4"/>
</p:tagLst>
</file>

<file path=ppt/theme/theme1.xml><?xml version="1.0" encoding="utf-8"?>
<a:theme xmlns:a="http://schemas.openxmlformats.org/drawingml/2006/main" name="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2106</Words>
  <Application>WPS 演示</Application>
  <PresentationFormat>全屏显示(4:3)</PresentationFormat>
  <Paragraphs>342</Paragraphs>
  <Slides>21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21</vt:i4>
      </vt:variant>
    </vt:vector>
  </HeadingPairs>
  <TitlesOfParts>
    <vt:vector size="48" baseType="lpstr">
      <vt:lpstr>Arial</vt:lpstr>
      <vt:lpstr>宋体</vt:lpstr>
      <vt:lpstr>Wingdings</vt:lpstr>
      <vt:lpstr>Tahoma</vt:lpstr>
      <vt:lpstr>华文中宋</vt:lpstr>
      <vt:lpstr>黑体</vt:lpstr>
      <vt:lpstr>Times New Roman</vt:lpstr>
      <vt:lpstr>Symbol</vt:lpstr>
      <vt:lpstr>Cambria Math</vt:lpstr>
      <vt:lpstr>微软雅黑</vt:lpstr>
      <vt:lpstr>Arial Unicode MS</vt:lpstr>
      <vt:lpstr>Calibri</vt:lpstr>
      <vt:lpstr>4_Blueprint</vt:lpstr>
      <vt:lpstr>6_Blueprint</vt:lpstr>
      <vt:lpstr>2_Blueprint</vt:lpstr>
      <vt:lpstr>Paint.Picture</vt:lpstr>
      <vt:lpstr>Equation.KSEE3</vt:lpstr>
      <vt:lpstr>Equation.KSEE3</vt:lpstr>
      <vt:lpstr>Equation.KSEE3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Equation.KSEE3</vt:lpstr>
      <vt:lpstr>第2.2章 螺纹</vt:lpstr>
      <vt:lpstr>螺纹的类型与特点1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螺纹的类型与特点2</vt:lpstr>
      <vt:lpstr>PowerPoint 演示文稿</vt:lpstr>
      <vt:lpstr>连接类型与标准件1</vt:lpstr>
      <vt:lpstr>连接类型与标准件2</vt:lpstr>
      <vt:lpstr>纹连接的预紧</vt:lpstr>
      <vt:lpstr>螺纹连接的防松</vt:lpstr>
      <vt:lpstr>螺纹连接组的设计1</vt:lpstr>
      <vt:lpstr>螺纹连接组的设计2</vt:lpstr>
      <vt:lpstr>螺纹连接组的设计3</vt:lpstr>
      <vt:lpstr>螺纹连接组的设计4</vt:lpstr>
      <vt:lpstr>螺纹连接组的设计5</vt:lpstr>
      <vt:lpstr>PowerPoint 演示文稿</vt:lpstr>
    </vt:vector>
  </TitlesOfParts>
  <Company>nwpu209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wuliyan</dc:creator>
  <cp:lastModifiedBy>DQH</cp:lastModifiedBy>
  <cp:revision>557</cp:revision>
  <dcterms:created xsi:type="dcterms:W3CDTF">2002-03-15T12:39:00Z</dcterms:created>
  <dcterms:modified xsi:type="dcterms:W3CDTF">2024-09-05T13:14:13Z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F3A332E164964FD08021295A81327BAD</vt:lpwstr>
  </property>
  <property fmtid="{D5CDD505-2E9C-101B-9397-08002B2CF9AE}" pid="3" name="KSOProductBuildVer">
    <vt:lpwstr>2052-12.1.0.17140</vt:lpwstr>
  </property>
</Properties>
</file>