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13"/>
  </p:notesMasterIdLst>
  <p:sldIdLst>
    <p:sldId id="425" r:id="rId6"/>
    <p:sldId id="546" r:id="rId7"/>
    <p:sldId id="547" r:id="rId8"/>
    <p:sldId id="420" r:id="rId9"/>
    <p:sldId id="422" r:id="rId10"/>
    <p:sldId id="423" r:id="rId11"/>
    <p:sldId id="543" r:id="rId12"/>
    <p:sldId id="544" r:id="rId14"/>
    <p:sldId id="548" r:id="rId15"/>
    <p:sldId id="549" r:id="rId16"/>
    <p:sldId id="310" r:id="rId17"/>
  </p:sldIdLst>
  <p:sldSz cx="9144000" cy="6858000" type="screen4x3"/>
  <p:notesSz cx="6858000" cy="9144000"/>
  <p:custDataLst>
    <p:tags r:id="rId21"/>
  </p:custDataLst>
  <p:defaultTextStyle>
    <a:defPPr>
      <a:defRPr lang="zh-CN"/>
    </a:defPPr>
    <a:lvl1pPr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1pPr>
    <a:lvl2pPr marL="4572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2pPr>
    <a:lvl3pPr marL="9144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3pPr>
    <a:lvl4pPr marL="13716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4pPr>
    <a:lvl5pPr marL="18288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5pPr>
    <a:lvl6pPr marL="22860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6pPr>
    <a:lvl7pPr marL="27432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7pPr>
    <a:lvl8pPr marL="32004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8pPr>
    <a:lvl9pPr marL="36576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9pPr>
  </p:defaultTextStyle>
  <p:extLst>
    <p:ext uri="{EFAFB233-063F-42B5-8137-9DF3F51BA10A}">
      <p15:sldGuideLst xmlns:p15="http://schemas.microsoft.com/office/powerpoint/2012/main">
        <p15:guide id="1" orient="horz" pos="213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99"/>
    <a:srgbClr val="E1E5F7"/>
    <a:srgbClr val="CC3300"/>
    <a:srgbClr val="FF9900"/>
    <a:srgbClr val="800000"/>
    <a:srgbClr val="A50021"/>
    <a:srgbClr val="FF3300"/>
    <a:srgbClr val="4049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59" autoAdjust="0"/>
    <p:restoredTop sz="96846" autoAdjust="0"/>
  </p:normalViewPr>
  <p:slideViewPr>
    <p:cSldViewPr snapToGrid="0" showGuides="1">
      <p:cViewPr>
        <p:scale>
          <a:sx n="63" d="100"/>
          <a:sy n="63" d="100"/>
        </p:scale>
        <p:origin x="952" y="100"/>
      </p:cViewPr>
      <p:guideLst>
        <p:guide orient="horz" pos="2139"/>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84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1" Type="http://schemas.openxmlformats.org/officeDocument/2006/relationships/tags" Target="tags/tag34.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notesMaster" Target="notesMasters/notesMaster1.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AD2B18-DB81-4DD3-BF11-891FA525082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F07492-7F81-418F-B209-68ACD7B96D6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C72776A4-A756-4CDC-A3D2-25C7638527F0}" type="slidenum">
              <a:rPr lang="en-US" altLang="zh-CN"/>
            </a:fld>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C72776A4-A756-4CDC-A3D2-25C7638527F0}" type="slidenum">
              <a:rPr lang="en-US" altLang="zh-CN"/>
            </a:fld>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C72776A4-A756-4CDC-A3D2-25C7638527F0}" type="slidenum">
              <a:rPr lang="en-US" altLang="zh-CN"/>
            </a:fld>
            <a:endParaRPr lang="en-US" altLang="zh-CN"/>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C72776A4-A756-4CDC-A3D2-25C7638527F0}" type="slidenum">
              <a:rPr lang="en-US" altLang="zh-CN"/>
            </a:fld>
            <a:endParaRPr lang="en-US" altLang="zh-CN"/>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slideLayout" Target="../slideLayouts/slideLayout40.xml"/><Relationship Id="rId18" Type="http://schemas.openxmlformats.org/officeDocument/2006/relationships/tags" Target="../tags/tag17.xml"/><Relationship Id="rId17" Type="http://schemas.openxmlformats.org/officeDocument/2006/relationships/image" Target="../media/image3.png"/><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7" Type="http://schemas.openxmlformats.org/officeDocument/2006/relationships/slideLayout" Target="../slideLayouts/slideLayout40.xml"/><Relationship Id="rId16" Type="http://schemas.openxmlformats.org/officeDocument/2006/relationships/tags" Target="../tags/tag32.xml"/><Relationship Id="rId15" Type="http://schemas.openxmlformats.org/officeDocument/2006/relationships/image" Target="../media/image3.png"/><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6.png"/><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vmlDrawing" Target="../drawings/vmlDrawing1.vml"/><Relationship Id="rId4" Type="http://schemas.openxmlformats.org/officeDocument/2006/relationships/slideLayout" Target="../slideLayouts/slideLayout29.xml"/><Relationship Id="rId3" Type="http://schemas.openxmlformats.org/officeDocument/2006/relationships/image" Target="../media/image2.png"/><Relationship Id="rId2" Type="http://schemas.openxmlformats.org/officeDocument/2006/relationships/image" Target="../media/image7.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9.xml"/><Relationship Id="rId2" Type="http://schemas.openxmlformats.org/officeDocument/2006/relationships/image" Target="../media/image8.png"/><Relationship Id="rId1" Type="http://schemas.openxmlformats.org/officeDocument/2006/relationships/tags" Target="../tags/tag3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40.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bwMode="auto">
          <a:xfrm>
            <a:off x="1739900" y="924560"/>
            <a:ext cx="6015355"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4000" dirty="0" smtClean="0">
                <a:solidFill>
                  <a:srgbClr val="A50021"/>
                </a:solidFill>
                <a:latin typeface="黑体" panose="02010609060101010101" pitchFamily="49" charset="-122"/>
                <a:ea typeface="黑体" panose="02010609060101010101" pitchFamily="49" charset="-122"/>
              </a:rPr>
              <a:t>第</a:t>
            </a:r>
            <a:r>
              <a:rPr lang="en-US" altLang="zh-CN" sz="4000" dirty="0" smtClean="0">
                <a:solidFill>
                  <a:srgbClr val="A50021"/>
                </a:solidFill>
                <a:latin typeface="黑体" panose="02010609060101010101" pitchFamily="49" charset="-122"/>
                <a:ea typeface="黑体" panose="02010609060101010101" pitchFamily="49" charset="-122"/>
              </a:rPr>
              <a:t>2</a:t>
            </a:r>
            <a:r>
              <a:rPr lang="zh-CN" altLang="en-US" sz="4000" dirty="0" smtClean="0">
                <a:solidFill>
                  <a:srgbClr val="A50021"/>
                </a:solidFill>
                <a:latin typeface="黑体" panose="02010609060101010101" pitchFamily="49" charset="-122"/>
                <a:ea typeface="黑体" panose="02010609060101010101" pitchFamily="49" charset="-122"/>
              </a:rPr>
              <a:t>篇</a:t>
            </a:r>
            <a:r>
              <a:rPr lang="en-US" altLang="zh-CN" sz="4000" dirty="0" smtClean="0">
                <a:solidFill>
                  <a:srgbClr val="A50021"/>
                </a:solidFill>
                <a:latin typeface="黑体" panose="02010609060101010101" pitchFamily="49" charset="-122"/>
                <a:ea typeface="黑体" panose="02010609060101010101" pitchFamily="49" charset="-122"/>
              </a:rPr>
              <a:t>  </a:t>
            </a:r>
            <a:r>
              <a:rPr lang="zh-CN" altLang="en-US" sz="4000" dirty="0" smtClean="0">
                <a:solidFill>
                  <a:srgbClr val="A50021"/>
                </a:solidFill>
                <a:latin typeface="黑体" panose="02010609060101010101" pitchFamily="49" charset="-122"/>
                <a:ea typeface="黑体" panose="02010609060101010101" pitchFamily="49" charset="-122"/>
              </a:rPr>
              <a:t>设计一</a:t>
            </a:r>
            <a:endParaRPr lang="zh-CN" altLang="en-US" sz="4000" dirty="0" smtClean="0">
              <a:solidFill>
                <a:srgbClr val="A50021"/>
              </a:solidFill>
              <a:latin typeface="黑体" panose="02010609060101010101" pitchFamily="49" charset="-122"/>
              <a:ea typeface="黑体" panose="02010609060101010101" pitchFamily="49" charset="-122"/>
            </a:endParaRPr>
          </a:p>
        </p:txBody>
      </p:sp>
      <p:sp>
        <p:nvSpPr>
          <p:cNvPr id="16387" name="Text Box 3">
            <a:hlinkClick r:id=""/>
          </p:cNvPr>
          <p:cNvSpPr txBox="1">
            <a:spLocks noChangeArrowheads="1"/>
          </p:cNvSpPr>
          <p:nvPr/>
        </p:nvSpPr>
        <p:spPr bwMode="auto">
          <a:xfrm>
            <a:off x="2510155" y="2506980"/>
            <a:ext cx="39782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pPr>
            <a:r>
              <a:rPr lang="zh-CN" altLang="en-US" sz="2400">
                <a:solidFill>
                  <a:srgbClr val="000099"/>
                </a:solidFill>
                <a:latin typeface="Times New Roman" panose="02020603050405020304" pitchFamily="18" charset="0"/>
                <a:ea typeface="黑体" panose="02010609060101010101" pitchFamily="49" charset="-122"/>
              </a:rPr>
              <a:t>第</a:t>
            </a:r>
            <a:r>
              <a:rPr lang="en-US" altLang="zh-CN" sz="2400">
                <a:solidFill>
                  <a:srgbClr val="000099"/>
                </a:solidFill>
                <a:latin typeface="Times New Roman" panose="02020603050405020304" pitchFamily="18" charset="0"/>
                <a:ea typeface="黑体" panose="02010609060101010101" pitchFamily="49" charset="-122"/>
              </a:rPr>
              <a:t>2.1</a:t>
            </a:r>
            <a:r>
              <a:rPr lang="zh-CN" altLang="en-US" sz="2400">
                <a:solidFill>
                  <a:srgbClr val="000099"/>
                </a:solidFill>
                <a:latin typeface="Times New Roman" panose="02020603050405020304" pitchFamily="18" charset="0"/>
                <a:ea typeface="黑体" panose="02010609060101010101" pitchFamily="49" charset="-122"/>
              </a:rPr>
              <a:t>章</a:t>
            </a:r>
            <a:r>
              <a:rPr lang="en-US" altLang="zh-CN" sz="2400">
                <a:solidFill>
                  <a:srgbClr val="000099"/>
                </a:solidFill>
                <a:latin typeface="Times New Roman" panose="02020603050405020304" pitchFamily="18" charset="0"/>
                <a:ea typeface="黑体" panose="02010609060101010101" pitchFamily="49" charset="-122"/>
              </a:rPr>
              <a:t>  </a:t>
            </a:r>
            <a:r>
              <a:rPr lang="zh-CN" altLang="en-US" sz="2400">
                <a:solidFill>
                  <a:srgbClr val="000099"/>
                </a:solidFill>
                <a:latin typeface="Times New Roman" panose="02020603050405020304" pitchFamily="18" charset="0"/>
                <a:ea typeface="黑体" panose="02010609060101010101" pitchFamily="49" charset="-122"/>
              </a:rPr>
              <a:t>千斤顶设计任务</a:t>
            </a:r>
            <a:endParaRPr lang="zh-CN" altLang="en-US" sz="2400">
              <a:solidFill>
                <a:srgbClr val="000099"/>
              </a:solidFill>
              <a:latin typeface="Times New Roman" panose="02020603050405020304" pitchFamily="18" charset="0"/>
              <a:ea typeface="黑体" panose="02010609060101010101" pitchFamily="49" charset="-122"/>
            </a:endParaRPr>
          </a:p>
        </p:txBody>
      </p:sp>
      <p:sp>
        <p:nvSpPr>
          <p:cNvPr id="16388" name="Text Box 4">
            <a:hlinkClick r:id="" highlightClick="1"/>
          </p:cNvPr>
          <p:cNvSpPr txBox="1">
            <a:spLocks noChangeArrowheads="1"/>
          </p:cNvSpPr>
          <p:nvPr/>
        </p:nvSpPr>
        <p:spPr bwMode="auto">
          <a:xfrm>
            <a:off x="2510155" y="3166745"/>
            <a:ext cx="308864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l" eaLnBrk="1" hangingPunct="1"/>
            <a:r>
              <a:rPr lang="zh-CN" altLang="en-US" sz="2400">
                <a:solidFill>
                  <a:srgbClr val="000099"/>
                </a:solidFill>
                <a:latin typeface="Times New Roman" panose="02020603050405020304" pitchFamily="18" charset="0"/>
                <a:ea typeface="黑体" panose="02010609060101010101" pitchFamily="49" charset="-122"/>
              </a:rPr>
              <a:t>第</a:t>
            </a:r>
            <a:r>
              <a:rPr lang="en-US" altLang="zh-CN" sz="2400">
                <a:solidFill>
                  <a:srgbClr val="000099"/>
                </a:solidFill>
                <a:latin typeface="Times New Roman" panose="02020603050405020304" pitchFamily="18" charset="0"/>
                <a:ea typeface="黑体" panose="02010609060101010101" pitchFamily="49" charset="-122"/>
              </a:rPr>
              <a:t>2.2</a:t>
            </a:r>
            <a:r>
              <a:rPr lang="zh-CN" altLang="en-US" sz="2400">
                <a:solidFill>
                  <a:srgbClr val="000099"/>
                </a:solidFill>
                <a:latin typeface="Times New Roman" panose="02020603050405020304" pitchFamily="18" charset="0"/>
                <a:ea typeface="黑体" panose="02010609060101010101" pitchFamily="49" charset="-122"/>
              </a:rPr>
              <a:t>章</a:t>
            </a:r>
            <a:r>
              <a:rPr lang="en-US" altLang="zh-CN" sz="2400">
                <a:solidFill>
                  <a:srgbClr val="000099"/>
                </a:solidFill>
                <a:latin typeface="Times New Roman" panose="02020603050405020304" pitchFamily="18" charset="0"/>
                <a:ea typeface="黑体" panose="02010609060101010101" pitchFamily="49" charset="-122"/>
              </a:rPr>
              <a:t>   </a:t>
            </a:r>
            <a:r>
              <a:rPr lang="zh-CN" altLang="en-US" sz="2400">
                <a:solidFill>
                  <a:srgbClr val="000099"/>
                </a:solidFill>
                <a:latin typeface="Times New Roman" panose="02020603050405020304" pitchFamily="18" charset="0"/>
                <a:ea typeface="黑体" panose="02010609060101010101" pitchFamily="49" charset="-122"/>
              </a:rPr>
              <a:t>螺纹</a:t>
            </a:r>
            <a:endParaRPr lang="zh-CN" altLang="en-US" sz="2400">
              <a:solidFill>
                <a:srgbClr val="000099"/>
              </a:solidFill>
              <a:latin typeface="Times New Roman" panose="02020603050405020304" pitchFamily="18" charset="0"/>
              <a:ea typeface="黑体" panose="02010609060101010101" pitchFamily="49" charset="-122"/>
            </a:endParaRPr>
          </a:p>
        </p:txBody>
      </p:sp>
      <p:sp>
        <p:nvSpPr>
          <p:cNvPr id="16389" name="Text Box 5">
            <a:hlinkClick r:id=""/>
          </p:cNvPr>
          <p:cNvSpPr txBox="1">
            <a:spLocks noChangeArrowheads="1"/>
          </p:cNvSpPr>
          <p:nvPr/>
        </p:nvSpPr>
        <p:spPr bwMode="auto">
          <a:xfrm>
            <a:off x="2510155" y="4323715"/>
            <a:ext cx="25450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a:solidFill>
                  <a:srgbClr val="000099"/>
                </a:solidFill>
                <a:latin typeface="Times New Roman" panose="02020603050405020304" pitchFamily="18" charset="0"/>
                <a:ea typeface="黑体" panose="02010609060101010101" pitchFamily="49" charset="-122"/>
              </a:rPr>
              <a:t>第</a:t>
            </a:r>
            <a:r>
              <a:rPr lang="en-US" altLang="zh-CN" sz="2400">
                <a:solidFill>
                  <a:srgbClr val="000099"/>
                </a:solidFill>
                <a:latin typeface="Times New Roman" panose="02020603050405020304" pitchFamily="18" charset="0"/>
                <a:ea typeface="黑体" panose="02010609060101010101" pitchFamily="49" charset="-122"/>
              </a:rPr>
              <a:t>2.4</a:t>
            </a:r>
            <a:r>
              <a:rPr lang="zh-CN" altLang="en-US" sz="2400">
                <a:solidFill>
                  <a:srgbClr val="000099"/>
                </a:solidFill>
                <a:latin typeface="Times New Roman" panose="02020603050405020304" pitchFamily="18" charset="0"/>
                <a:ea typeface="黑体" panose="02010609060101010101" pitchFamily="49" charset="-122"/>
              </a:rPr>
              <a:t>章</a:t>
            </a:r>
            <a:r>
              <a:rPr lang="en-US" altLang="zh-CN" sz="2400">
                <a:solidFill>
                  <a:srgbClr val="000099"/>
                </a:solidFill>
                <a:latin typeface="Times New Roman" panose="02020603050405020304" pitchFamily="18" charset="0"/>
                <a:ea typeface="黑体" panose="02010609060101010101" pitchFamily="49" charset="-122"/>
              </a:rPr>
              <a:t>  </a:t>
            </a:r>
            <a:r>
              <a:rPr lang="zh-CN" altLang="en-US" sz="2400">
                <a:solidFill>
                  <a:srgbClr val="000099"/>
                </a:solidFill>
                <a:latin typeface="Times New Roman" panose="02020603050405020304" pitchFamily="18" charset="0"/>
                <a:ea typeface="黑体" panose="02010609060101010101" pitchFamily="49" charset="-122"/>
              </a:rPr>
              <a:t>螺旋传动</a:t>
            </a:r>
            <a:endParaRPr lang="zh-CN" altLang="en-US" sz="2400">
              <a:solidFill>
                <a:srgbClr val="000099"/>
              </a:solidFill>
              <a:latin typeface="Times New Roman" panose="02020603050405020304" pitchFamily="18" charset="0"/>
              <a:ea typeface="黑体" panose="02010609060101010101" pitchFamily="49" charset="-122"/>
            </a:endParaRPr>
          </a:p>
        </p:txBody>
      </p:sp>
      <p:sp>
        <p:nvSpPr>
          <p:cNvPr id="16398" name="直接连接符 6"/>
          <p:cNvSpPr>
            <a:spLocks noChangeShapeType="1"/>
          </p:cNvSpPr>
          <p:nvPr/>
        </p:nvSpPr>
        <p:spPr bwMode="auto">
          <a:xfrm>
            <a:off x="0" y="1944277"/>
            <a:ext cx="9144000" cy="0"/>
          </a:xfrm>
          <a:prstGeom prst="line">
            <a:avLst/>
          </a:prstGeom>
          <a:noFill/>
          <a:ln w="38100">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5" name="组合 1"/>
          <p:cNvGrpSpPr/>
          <p:nvPr/>
        </p:nvGrpSpPr>
        <p:grpSpPr>
          <a:xfrm>
            <a:off x="6313989" y="5927508"/>
            <a:ext cx="2630487" cy="827087"/>
            <a:chOff x="10088" y="9497"/>
            <a:chExt cx="4141" cy="1302"/>
          </a:xfrm>
        </p:grpSpPr>
        <p:sp>
          <p:nvSpPr>
            <p:cNvPr id="16"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7" name="图片 1073742872" descr="44303071dc0a1f9688d599dbc999570副本"/>
            <p:cNvPicPr>
              <a:picLocks noChangeAspect="1"/>
            </p:cNvPicPr>
            <p:nvPr/>
          </p:nvPicPr>
          <p:blipFill>
            <a:blip r:embed="rId1"/>
            <a:stretch>
              <a:fillRect/>
            </a:stretch>
          </p:blipFill>
          <p:spPr>
            <a:xfrm>
              <a:off x="10088" y="9497"/>
              <a:ext cx="1435" cy="1303"/>
            </a:xfrm>
            <a:prstGeom prst="rect">
              <a:avLst/>
            </a:prstGeom>
            <a:noFill/>
            <a:ln w="9525">
              <a:noFill/>
            </a:ln>
          </p:spPr>
        </p:pic>
      </p:grpSp>
      <p:sp>
        <p:nvSpPr>
          <p:cNvPr id="2" name="Text Box 4">
            <a:hlinkClick r:id="" highlightClick="1"/>
          </p:cNvPr>
          <p:cNvSpPr txBox="1">
            <a:spLocks noChangeArrowheads="1"/>
          </p:cNvSpPr>
          <p:nvPr/>
        </p:nvSpPr>
        <p:spPr bwMode="auto">
          <a:xfrm>
            <a:off x="2510155" y="3745230"/>
            <a:ext cx="25450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l" eaLnBrk="1" hangingPunct="1"/>
            <a:r>
              <a:rPr lang="zh-CN" altLang="en-US" sz="2400">
                <a:solidFill>
                  <a:srgbClr val="000099"/>
                </a:solidFill>
                <a:latin typeface="Times New Roman" panose="02020603050405020304" pitchFamily="18" charset="0"/>
                <a:ea typeface="黑体" panose="02010609060101010101" pitchFamily="49" charset="-122"/>
              </a:rPr>
              <a:t>第</a:t>
            </a:r>
            <a:r>
              <a:rPr lang="en-US" altLang="zh-CN" sz="2400">
                <a:solidFill>
                  <a:srgbClr val="000099"/>
                </a:solidFill>
                <a:latin typeface="Times New Roman" panose="02020603050405020304" pitchFamily="18" charset="0"/>
                <a:ea typeface="黑体" panose="02010609060101010101" pitchFamily="49" charset="-122"/>
              </a:rPr>
              <a:t>2.3</a:t>
            </a:r>
            <a:r>
              <a:rPr lang="zh-CN" altLang="en-US" sz="2400">
                <a:solidFill>
                  <a:srgbClr val="000099"/>
                </a:solidFill>
                <a:latin typeface="Times New Roman" panose="02020603050405020304" pitchFamily="18" charset="0"/>
                <a:ea typeface="黑体" panose="02010609060101010101" pitchFamily="49" charset="-122"/>
              </a:rPr>
              <a:t>章</a:t>
            </a:r>
            <a:r>
              <a:rPr lang="en-US" altLang="zh-CN" sz="2400">
                <a:solidFill>
                  <a:srgbClr val="000099"/>
                </a:solidFill>
                <a:latin typeface="Times New Roman" panose="02020603050405020304" pitchFamily="18" charset="0"/>
                <a:ea typeface="黑体" panose="02010609060101010101" pitchFamily="49" charset="-122"/>
              </a:rPr>
              <a:t>  </a:t>
            </a:r>
            <a:r>
              <a:rPr lang="zh-CN" altLang="en-US" sz="2400">
                <a:solidFill>
                  <a:srgbClr val="000099"/>
                </a:solidFill>
                <a:latin typeface="Times New Roman" panose="02020603050405020304" pitchFamily="18" charset="0"/>
                <a:ea typeface="黑体" panose="02010609060101010101" pitchFamily="49" charset="-122"/>
              </a:rPr>
              <a:t>螺纹连接</a:t>
            </a:r>
            <a:endParaRPr lang="en-US" altLang="zh-CN" sz="2400">
              <a:solidFill>
                <a:srgbClr val="000099"/>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662305" y="635000"/>
            <a:ext cx="7567295" cy="2143125"/>
          </a:xfrm>
          <a:prstGeom prst="rect">
            <a:avLst/>
          </a:prstGeom>
          <a:noFill/>
        </p:spPr>
        <p:txBody>
          <a:bodyPr wrap="square" rtlCol="0" anchor="ctr" anchorCtr="0">
            <a:noAutofit/>
          </a:bodyPr>
          <a:p>
            <a:pPr lvl="0" algn="l" eaLnBrk="1" latinLnBrk="0" hangingPunct="1">
              <a:lnSpc>
                <a:spcPct val="120000"/>
              </a:lnSpc>
              <a:buNone/>
            </a:pPr>
            <a:r>
              <a:rPr lang="en-US" altLang="zh-CN" sz="2600">
                <a:solidFill>
                  <a:srgbClr val="000000"/>
                </a:solidFill>
                <a:latin typeface="微软雅黑" panose="020B0503020204020204" charset="-122"/>
                <a:ea typeface="微软雅黑" panose="020B0503020204020204" charset="-122"/>
              </a:rPr>
              <a:t>1</a:t>
            </a:r>
            <a:r>
              <a:rPr lang="zh-CN" altLang="en-US" sz="2600">
                <a:solidFill>
                  <a:srgbClr val="000000"/>
                </a:solidFill>
                <a:latin typeface="微软雅黑" panose="020B0503020204020204" charset="-122"/>
                <a:ea typeface="微软雅黑" panose="020B0503020204020204" charset="-122"/>
              </a:rPr>
              <a:t>、两摩擦表面被一层液体隔开摩擦性质取决于液体内部分子间粘性阻力的摩擦状态称为</a:t>
            </a:r>
            <a:r>
              <a:rPr lang="zh-CN" altLang="en-US" sz="2600" u="sng">
                <a:solidFill>
                  <a:srgbClr val="000000"/>
                </a:solidFill>
                <a:latin typeface="微软雅黑" panose="020B0503020204020204" charset="-122"/>
                <a:ea typeface="微软雅黑" panose="020B0503020204020204" charset="-122"/>
              </a:rPr>
              <a:t>  </a:t>
            </a:r>
            <a:r>
              <a:rPr lang="en-US" altLang="zh-CN" sz="2600" u="sng">
                <a:solidFill>
                  <a:srgbClr val="000000"/>
                </a:solidFill>
                <a:latin typeface="微软雅黑" panose="020B0503020204020204" charset="-122"/>
                <a:ea typeface="微软雅黑" panose="020B0503020204020204" charset="-122"/>
              </a:rPr>
              <a:t>   </a:t>
            </a:r>
            <a:r>
              <a:rPr lang="zh-CN" altLang="en-US" sz="2600" u="sng">
                <a:solidFill>
                  <a:srgbClr val="000000"/>
                </a:solidFill>
                <a:latin typeface="微软雅黑" panose="020B0503020204020204" charset="-122"/>
                <a:ea typeface="微软雅黑" panose="020B0503020204020204" charset="-122"/>
              </a:rPr>
              <a:t> </a:t>
            </a:r>
            <a:r>
              <a:rPr lang="zh-CN" altLang="en-US" sz="2600">
                <a:solidFill>
                  <a:srgbClr val="000000"/>
                </a:solidFill>
                <a:latin typeface="微软雅黑" panose="020B0503020204020204" charset="-122"/>
                <a:ea typeface="微软雅黑" panose="020B0503020204020204" charset="-122"/>
              </a:rPr>
              <a:t> 。</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干摩擦</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液体摩擦</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边界摩擦</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混合摩擦</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grpSp>
        <p:nvGrpSpPr>
          <p:cNvPr id="17" name="组合 16"/>
          <p:cNvGrpSpPr/>
          <p:nvPr>
            <p:custDataLst>
              <p:tags r:id="rId11"/>
            </p:custDataLst>
          </p:nvPr>
        </p:nvGrpSpPr>
        <p:grpSpPr>
          <a:xfrm>
            <a:off x="0" y="0"/>
            <a:ext cx="9144000" cy="635000"/>
            <a:chOff x="0" y="0"/>
            <a:chExt cx="14400" cy="1000"/>
          </a:xfrm>
        </p:grpSpPr>
        <p:sp>
          <p:nvSpPr>
            <p:cNvPr id="13" name="TitleBackground"/>
            <p:cNvSpPr/>
            <p:nvPr>
              <p:custDataLst>
                <p:tags r:id="rId12"/>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3"/>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7944"/>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1114425" y="635000"/>
            <a:ext cx="7115175" cy="2143125"/>
          </a:xfrm>
          <a:prstGeom prst="rect">
            <a:avLst/>
          </a:prstGeom>
          <a:noFill/>
        </p:spPr>
        <p:txBody>
          <a:bodyPr wrap="square" rtlCol="0" anchor="ctr" anchorCtr="0">
            <a:noAutofit/>
          </a:bodyPr>
          <a:p>
            <a:pPr lvl="0" algn="l" eaLnBrk="1" latinLnBrk="0" hangingPunct="1">
              <a:lnSpc>
                <a:spcPct val="150000"/>
              </a:lnSpc>
              <a:buNone/>
            </a:pPr>
            <a:r>
              <a:rPr lang="en-US" altLang="zh-CN" sz="2600">
                <a:solidFill>
                  <a:srgbClr val="000000"/>
                </a:solidFill>
                <a:latin typeface="微软雅黑" panose="020B0503020204020204" charset="-122"/>
                <a:ea typeface="微软雅黑" panose="020B0503020204020204" charset="-122"/>
              </a:rPr>
              <a:t>2</a:t>
            </a:r>
            <a:r>
              <a:rPr lang="zh-CN" altLang="en-US" sz="2600">
                <a:solidFill>
                  <a:srgbClr val="000000"/>
                </a:solidFill>
                <a:latin typeface="微软雅黑" panose="020B0503020204020204" charset="-122"/>
                <a:ea typeface="微软雅黑" panose="020B0503020204020204" charset="-122"/>
              </a:rPr>
              <a:t>、润滑方式的使用与零件的工况有关，低速、重载、温度不太高的场合，选用哪一种润滑剂？</a:t>
            </a:r>
            <a:endParaRPr lang="en-US" altLang="zh-CN"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润滑脂</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润滑油</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固体润滑剂</a:t>
            </a:r>
            <a:endParaRPr lang="zh-CN" altLang="en-US"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5"/>
            </p:custDataLst>
          </p:nvPr>
        </p:nvSpPr>
        <p:spPr>
          <a:xfrm>
            <a:off x="1114425" y="284988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6"/>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7"/>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8"/>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grpSp>
        <p:nvGrpSpPr>
          <p:cNvPr id="17" name="组合 16"/>
          <p:cNvGrpSpPr/>
          <p:nvPr>
            <p:custDataLst>
              <p:tags r:id="rId9"/>
            </p:custDataLst>
          </p:nvPr>
        </p:nvGrpSpPr>
        <p:grpSpPr>
          <a:xfrm>
            <a:off x="0" y="0"/>
            <a:ext cx="9144000" cy="635000"/>
            <a:chOff x="0" y="0"/>
            <a:chExt cx="14400" cy="1000"/>
          </a:xfrm>
        </p:grpSpPr>
        <p:sp>
          <p:nvSpPr>
            <p:cNvPr id="13" name="TitleBackground"/>
            <p:cNvSpPr/>
            <p:nvPr>
              <p:custDataLst>
                <p:tags r:id="rId10"/>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1"/>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2"/>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3"/>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7944"/>
          <p:cNvPicPr>
            <a:picLocks noChangeAspect="1"/>
          </p:cNvPicPr>
          <p:nvPr>
            <p:custDataLst>
              <p:tags r:id="rId14"/>
            </p:custDataLst>
          </p:nvPr>
        </p:nvPicPr>
        <p:blipFill>
          <a:blip r:embed="rId15"/>
          <a:stretch>
            <a:fillRect/>
          </a:stretch>
        </p:blipFill>
        <p:spPr>
          <a:xfrm>
            <a:off x="7594600" y="63500"/>
            <a:ext cx="1422400" cy="508000"/>
          </a:xfrm>
          <a:prstGeom prst="rect">
            <a:avLst/>
          </a:prstGeom>
        </p:spPr>
      </p:pic>
    </p:spTree>
    <p:custDataLst>
      <p:tags r:id="rId16"/>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1"/>
          <p:cNvGrpSpPr/>
          <p:nvPr/>
        </p:nvGrpSpPr>
        <p:grpSpPr>
          <a:xfrm>
            <a:off x="6221928" y="5847348"/>
            <a:ext cx="2630487" cy="827087"/>
            <a:chOff x="10088" y="9497"/>
            <a:chExt cx="4141" cy="1302"/>
          </a:xfrm>
        </p:grpSpPr>
        <p:sp>
          <p:nvSpPr>
            <p:cNvPr id="6"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7" name="图片 1073742872" descr="44303071dc0a1f9688d599dbc999570副本"/>
            <p:cNvPicPr>
              <a:picLocks noChangeAspect="1"/>
            </p:cNvPicPr>
            <p:nvPr/>
          </p:nvPicPr>
          <p:blipFill>
            <a:blip r:embed="rId1"/>
            <a:stretch>
              <a:fillRect/>
            </a:stretch>
          </p:blipFill>
          <p:spPr>
            <a:xfrm>
              <a:off x="10088" y="9497"/>
              <a:ext cx="1435" cy="1303"/>
            </a:xfrm>
            <a:prstGeom prst="rect">
              <a:avLst/>
            </a:prstGeom>
            <a:noFill/>
            <a:ln w="9525">
              <a:noFill/>
            </a:ln>
          </p:spPr>
        </p:pic>
      </p:grpSp>
      <p:sp>
        <p:nvSpPr>
          <p:cNvPr id="9" name="圆角矩形 8"/>
          <p:cNvSpPr/>
          <p:nvPr/>
        </p:nvSpPr>
        <p:spPr bwMode="auto">
          <a:xfrm>
            <a:off x="868111" y="369700"/>
            <a:ext cx="4993240" cy="1047964"/>
          </a:xfrm>
          <a:prstGeom prst="roundRect">
            <a:avLst/>
          </a:prstGeom>
          <a:gradFill flip="none" rotWithShape="1">
            <a:gsLst>
              <a:gs pos="0">
                <a:srgbClr val="0000FF">
                  <a:tint val="66000"/>
                  <a:satMod val="160000"/>
                </a:srgbClr>
              </a:gs>
              <a:gs pos="50000">
                <a:srgbClr val="0000FF">
                  <a:tint val="44500"/>
                  <a:satMod val="160000"/>
                </a:srgbClr>
              </a:gs>
              <a:gs pos="100000">
                <a:srgbClr val="0000FF">
                  <a:tint val="23500"/>
                  <a:satMod val="160000"/>
                </a:srgbClr>
              </a:gs>
            </a:gsLst>
            <a:lin ang="5400000" scaled="1"/>
            <a:tileRect/>
          </a:gradFill>
          <a:ln w="9525" cap="flat" cmpd="sng" algn="ctr">
            <a:solidFill>
              <a:srgbClr val="0000FF"/>
            </a:solidFill>
            <a:prstDash val="solid"/>
            <a:round/>
            <a:headEnd type="none" w="med" len="med"/>
            <a:tailEnd type="none" w="med" len="med"/>
          </a:ln>
          <a:effectLst/>
          <a:scene3d>
            <a:camera prst="orthographicFront"/>
            <a:lightRig rig="threePt" dir="t"/>
          </a:scene3d>
          <a:sp3d>
            <a:bevelT w="152400" h="50800" prst="softRound"/>
          </a:sp3d>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4400" b="0"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rPr>
              <a:t>第二篇</a:t>
            </a:r>
            <a:r>
              <a:rPr kumimoji="1" lang="en-US" altLang="zh-CN" sz="4400" b="0"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rPr>
              <a:t> </a:t>
            </a:r>
            <a:r>
              <a:rPr kumimoji="1" lang="zh-CN" altLang="en-US" sz="4400" b="0"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rPr>
              <a:t>设计一</a:t>
            </a:r>
            <a:endParaRPr kumimoji="1" lang="zh-CN" altLang="en-US" sz="4400" b="0"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endParaRPr>
          </a:p>
        </p:txBody>
      </p:sp>
      <p:sp>
        <p:nvSpPr>
          <p:cNvPr id="15" name="文本框 14"/>
          <p:cNvSpPr txBox="1"/>
          <p:nvPr/>
        </p:nvSpPr>
        <p:spPr>
          <a:xfrm>
            <a:off x="6294755" y="528955"/>
            <a:ext cx="1461135" cy="583565"/>
          </a:xfrm>
          <a:prstGeom prst="rect">
            <a:avLst/>
          </a:prstGeom>
          <a:noFill/>
        </p:spPr>
        <p:txBody>
          <a:bodyPr wrap="square" rtlCol="0">
            <a:spAutoFit/>
          </a:bodyPr>
          <a:p>
            <a:r>
              <a:rPr lang="zh-CN" altLang="en-US" sz="3200">
                <a:solidFill>
                  <a:srgbClr val="C00000"/>
                </a:solidFill>
                <a:latin typeface="黑体" panose="02010609060101010101" pitchFamily="49" charset="-122"/>
                <a:ea typeface="黑体" panose="02010609060101010101" pitchFamily="49" charset="-122"/>
              </a:rPr>
              <a:t>千斤顶</a:t>
            </a:r>
            <a:endParaRPr lang="zh-CN" altLang="en-US" sz="3200">
              <a:solidFill>
                <a:srgbClr val="C00000"/>
              </a:solidFill>
              <a:latin typeface="黑体" panose="02010609060101010101" pitchFamily="49" charset="-122"/>
              <a:ea typeface="黑体" panose="02010609060101010101" pitchFamily="49" charset="-122"/>
            </a:endParaRPr>
          </a:p>
        </p:txBody>
      </p:sp>
      <p:sp>
        <p:nvSpPr>
          <p:cNvPr id="19" name="文本框 18"/>
          <p:cNvSpPr txBox="1"/>
          <p:nvPr/>
        </p:nvSpPr>
        <p:spPr>
          <a:xfrm>
            <a:off x="709295" y="1713230"/>
            <a:ext cx="7725410" cy="429895"/>
          </a:xfrm>
          <a:prstGeom prst="rect">
            <a:avLst/>
          </a:prstGeom>
          <a:noFill/>
        </p:spPr>
        <p:txBody>
          <a:bodyPr wrap="square" rtlCol="0">
            <a:spAutoFit/>
          </a:bodyPr>
          <a:p>
            <a:r>
              <a:rPr lang="zh-CN" altLang="en-US">
                <a:latin typeface="黑体" panose="02010609060101010101" pitchFamily="49" charset="-122"/>
                <a:ea typeface="黑体" panose="02010609060101010101" pitchFamily="49" charset="-122"/>
              </a:rPr>
              <a:t>又称举重器，用较小的力把重物顶升、下降的简单起重机械。</a:t>
            </a:r>
            <a:endParaRPr lang="zh-CN" altLang="en-US">
              <a:latin typeface="黑体" panose="02010609060101010101" pitchFamily="49" charset="-122"/>
              <a:ea typeface="黑体" panose="02010609060101010101" pitchFamily="49" charset="-122"/>
            </a:endParaRPr>
          </a:p>
        </p:txBody>
      </p:sp>
      <p:sp>
        <p:nvSpPr>
          <p:cNvPr id="20" name="文本框 19"/>
          <p:cNvSpPr txBox="1"/>
          <p:nvPr/>
        </p:nvSpPr>
        <p:spPr>
          <a:xfrm>
            <a:off x="623570" y="5078730"/>
            <a:ext cx="4185285" cy="429895"/>
          </a:xfrm>
          <a:prstGeom prst="rect">
            <a:avLst/>
          </a:prstGeom>
          <a:noFill/>
          <a:ln>
            <a:solidFill>
              <a:srgbClr val="002060"/>
            </a:solidFill>
          </a:ln>
        </p:spPr>
        <p:txBody>
          <a:bodyPr wrap="square" rtlCol="0">
            <a:spAutoFit/>
          </a:bodyPr>
          <a:p>
            <a:r>
              <a:rPr lang="zh-CN" altLang="en-US"/>
              <a:t>举起重物后绝对不能自动下降</a:t>
            </a:r>
            <a:r>
              <a:rPr lang="en-US" altLang="zh-CN"/>
              <a:t>     </a:t>
            </a:r>
            <a:endParaRPr lang="zh-CN" altLang="en-US"/>
          </a:p>
        </p:txBody>
      </p:sp>
      <p:sp>
        <p:nvSpPr>
          <p:cNvPr id="23" name="文本框 22"/>
          <p:cNvSpPr txBox="1"/>
          <p:nvPr/>
        </p:nvSpPr>
        <p:spPr>
          <a:xfrm>
            <a:off x="5635625" y="2617470"/>
            <a:ext cx="1910715" cy="429895"/>
          </a:xfrm>
          <a:prstGeom prst="rect">
            <a:avLst/>
          </a:prstGeom>
          <a:noFill/>
          <a:ln>
            <a:solidFill>
              <a:srgbClr val="00B050"/>
            </a:solidFill>
          </a:ln>
        </p:spPr>
        <p:txBody>
          <a:bodyPr wrap="square" rtlCol="0">
            <a:spAutoFit/>
          </a:bodyPr>
          <a:p>
            <a:r>
              <a:rPr lang="zh-CN" altLang="en-US"/>
              <a:t>力的放大机构</a:t>
            </a:r>
            <a:endParaRPr lang="zh-CN" altLang="en-US"/>
          </a:p>
        </p:txBody>
      </p:sp>
      <p:sp>
        <p:nvSpPr>
          <p:cNvPr id="24" name="文本框 23"/>
          <p:cNvSpPr txBox="1"/>
          <p:nvPr/>
        </p:nvSpPr>
        <p:spPr>
          <a:xfrm>
            <a:off x="3275330" y="2661920"/>
            <a:ext cx="1427480" cy="429895"/>
          </a:xfrm>
          <a:prstGeom prst="rect">
            <a:avLst/>
          </a:prstGeom>
          <a:noFill/>
          <a:ln>
            <a:solidFill>
              <a:srgbClr val="0070C0"/>
            </a:solidFill>
          </a:ln>
        </p:spPr>
        <p:txBody>
          <a:bodyPr wrap="square" rtlCol="0">
            <a:spAutoFit/>
          </a:bodyPr>
          <a:p>
            <a:r>
              <a:rPr lang="zh-CN" altLang="en-US"/>
              <a:t>较小的力</a:t>
            </a:r>
            <a:endParaRPr lang="zh-CN" altLang="en-US"/>
          </a:p>
        </p:txBody>
      </p:sp>
      <p:sp>
        <p:nvSpPr>
          <p:cNvPr id="25" name="文本框 24"/>
          <p:cNvSpPr txBox="1"/>
          <p:nvPr/>
        </p:nvSpPr>
        <p:spPr>
          <a:xfrm>
            <a:off x="623570" y="3610610"/>
            <a:ext cx="4434840" cy="429895"/>
          </a:xfrm>
          <a:prstGeom prst="rect">
            <a:avLst/>
          </a:prstGeom>
          <a:noFill/>
          <a:ln>
            <a:solidFill>
              <a:srgbClr val="0070C0"/>
            </a:solidFill>
          </a:ln>
        </p:spPr>
        <p:txBody>
          <a:bodyPr wrap="square" rtlCol="0">
            <a:spAutoFit/>
          </a:bodyPr>
          <a:p>
            <a:r>
              <a:rPr lang="zh-CN" altLang="en-US"/>
              <a:t>执行机构的运动形式是上下运动</a:t>
            </a:r>
            <a:endParaRPr lang="zh-CN" altLang="en-US"/>
          </a:p>
        </p:txBody>
      </p:sp>
      <p:sp>
        <p:nvSpPr>
          <p:cNvPr id="26" name="文本框 25"/>
          <p:cNvSpPr txBox="1"/>
          <p:nvPr/>
        </p:nvSpPr>
        <p:spPr>
          <a:xfrm>
            <a:off x="5783580" y="3173095"/>
            <a:ext cx="1598930" cy="429895"/>
          </a:xfrm>
          <a:prstGeom prst="rect">
            <a:avLst/>
          </a:prstGeom>
          <a:noFill/>
          <a:ln>
            <a:solidFill>
              <a:srgbClr val="00B050"/>
            </a:solidFill>
          </a:ln>
        </p:spPr>
        <p:txBody>
          <a:bodyPr wrap="square" rtlCol="0">
            <a:spAutoFit/>
          </a:bodyPr>
          <a:p>
            <a:r>
              <a:rPr lang="zh-CN" altLang="en-US"/>
              <a:t>螺旋传动</a:t>
            </a:r>
            <a:endParaRPr lang="en-US" altLang="zh-CN"/>
          </a:p>
        </p:txBody>
      </p:sp>
      <p:sp>
        <p:nvSpPr>
          <p:cNvPr id="27" name="文本框 26"/>
          <p:cNvSpPr txBox="1"/>
          <p:nvPr/>
        </p:nvSpPr>
        <p:spPr>
          <a:xfrm>
            <a:off x="5794375" y="4030345"/>
            <a:ext cx="1592580" cy="429895"/>
          </a:xfrm>
          <a:prstGeom prst="rect">
            <a:avLst/>
          </a:prstGeom>
          <a:noFill/>
          <a:ln>
            <a:solidFill>
              <a:srgbClr val="00B050"/>
            </a:solidFill>
          </a:ln>
        </p:spPr>
        <p:txBody>
          <a:bodyPr wrap="square" rtlCol="0">
            <a:spAutoFit/>
          </a:bodyPr>
          <a:p>
            <a:r>
              <a:rPr lang="zh-CN" altLang="en-US"/>
              <a:t>液压</a:t>
            </a:r>
            <a:endParaRPr lang="zh-CN" altLang="en-US"/>
          </a:p>
        </p:txBody>
      </p:sp>
      <p:sp>
        <p:nvSpPr>
          <p:cNvPr id="28" name="文本框 27"/>
          <p:cNvSpPr txBox="1"/>
          <p:nvPr/>
        </p:nvSpPr>
        <p:spPr>
          <a:xfrm>
            <a:off x="5777230" y="3615055"/>
            <a:ext cx="1609090" cy="429895"/>
          </a:xfrm>
          <a:prstGeom prst="rect">
            <a:avLst/>
          </a:prstGeom>
          <a:noFill/>
          <a:ln>
            <a:solidFill>
              <a:srgbClr val="00B050"/>
            </a:solidFill>
          </a:ln>
        </p:spPr>
        <p:txBody>
          <a:bodyPr wrap="square" rtlCol="0">
            <a:spAutoFit/>
          </a:bodyPr>
          <a:p>
            <a:r>
              <a:rPr lang="zh-CN" altLang="en-US"/>
              <a:t>齿轮齿条</a:t>
            </a:r>
            <a:endParaRPr lang="zh-CN" altLang="en-US"/>
          </a:p>
        </p:txBody>
      </p:sp>
      <p:sp>
        <p:nvSpPr>
          <p:cNvPr id="29" name="文本框 28"/>
          <p:cNvSpPr txBox="1"/>
          <p:nvPr/>
        </p:nvSpPr>
        <p:spPr>
          <a:xfrm>
            <a:off x="5778500" y="4463415"/>
            <a:ext cx="1617345" cy="429895"/>
          </a:xfrm>
          <a:prstGeom prst="rect">
            <a:avLst/>
          </a:prstGeom>
          <a:noFill/>
          <a:ln>
            <a:gradFill>
              <a:gsLst>
                <a:gs pos="0">
                  <a:srgbClr val="14CD68"/>
                </a:gs>
                <a:gs pos="100000">
                  <a:srgbClr val="0B6E38"/>
                </a:gs>
              </a:gsLst>
            </a:gradFill>
          </a:ln>
        </p:spPr>
        <p:txBody>
          <a:bodyPr wrap="square" rtlCol="0">
            <a:spAutoFit/>
          </a:bodyPr>
          <a:p>
            <a:r>
              <a:rPr lang="zh-CN" altLang="en-US"/>
              <a:t>气动</a:t>
            </a:r>
            <a:endParaRPr lang="zh-CN" altLang="en-US"/>
          </a:p>
        </p:txBody>
      </p:sp>
      <p:sp>
        <p:nvSpPr>
          <p:cNvPr id="30" name="右箭头 29"/>
          <p:cNvSpPr/>
          <p:nvPr/>
        </p:nvSpPr>
        <p:spPr>
          <a:xfrm>
            <a:off x="5206365" y="3744595"/>
            <a:ext cx="422275" cy="17145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31" name="右箭头 30"/>
          <p:cNvSpPr/>
          <p:nvPr/>
        </p:nvSpPr>
        <p:spPr>
          <a:xfrm>
            <a:off x="5058410" y="2746375"/>
            <a:ext cx="494030" cy="17145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cxnSp>
        <p:nvCxnSpPr>
          <p:cNvPr id="32" name="直接连接符 31"/>
          <p:cNvCxnSpPr/>
          <p:nvPr/>
        </p:nvCxnSpPr>
        <p:spPr>
          <a:xfrm>
            <a:off x="5668010" y="3293745"/>
            <a:ext cx="0" cy="1481455"/>
          </a:xfrm>
          <a:prstGeom prst="line">
            <a:avLst/>
          </a:prstGeom>
          <a:solidFill>
            <a:schemeClr val="accent1"/>
          </a:solidFill>
          <a:ln w="41275" cap="flat" cmpd="sng" algn="ctr">
            <a:solidFill>
              <a:srgbClr val="92D050">
                <a:alpha val="81000"/>
              </a:srgbClr>
            </a:solidFill>
            <a:prstDash val="solid"/>
            <a:round/>
            <a:headEnd type="none" w="med" len="med"/>
            <a:tailEnd type="none" w="med" len="med"/>
          </a:ln>
        </p:spPr>
      </p:cxnSp>
      <p:sp>
        <p:nvSpPr>
          <p:cNvPr id="33" name="右箭头 32"/>
          <p:cNvSpPr/>
          <p:nvPr/>
        </p:nvSpPr>
        <p:spPr>
          <a:xfrm>
            <a:off x="4992370" y="5191760"/>
            <a:ext cx="422275" cy="171450"/>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2" name="文本框 1"/>
          <p:cNvSpPr txBox="1"/>
          <p:nvPr/>
        </p:nvSpPr>
        <p:spPr>
          <a:xfrm>
            <a:off x="5668010" y="5078730"/>
            <a:ext cx="1021080" cy="429895"/>
          </a:xfrm>
          <a:prstGeom prst="rect">
            <a:avLst/>
          </a:prstGeom>
          <a:noFill/>
          <a:ln>
            <a:solidFill>
              <a:srgbClr val="00B050"/>
            </a:solidFill>
          </a:ln>
        </p:spPr>
        <p:txBody>
          <a:bodyPr wrap="none" rtlCol="0" anchor="t">
            <a:spAutoFit/>
          </a:bodyPr>
          <a:p>
            <a:r>
              <a:rPr lang="zh-CN" altLang="en-US">
                <a:sym typeface="+mn-ea"/>
              </a:rPr>
              <a:t>自锁性</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000"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wipe(left)">
                                      <p:cBhvr>
                                        <p:cTn id="37" dur="500"/>
                                        <p:tgtEl>
                                          <p:spTgt spid="30"/>
                                        </p:tgtEl>
                                      </p:cBhvr>
                                    </p:animEffect>
                                  </p:childTnLst>
                                </p:cTn>
                              </p:par>
                            </p:childTnLst>
                          </p:cTn>
                        </p:par>
                        <p:par>
                          <p:cTn id="38" fill="hold">
                            <p:stCondLst>
                              <p:cond delay="500"/>
                            </p:stCondLst>
                            <p:childTnLst>
                              <p:par>
                                <p:cTn id="39" presetID="22" presetClass="entr" presetSubtype="1" fill="hold" nodeType="after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wipe(up)">
                                      <p:cBhvr>
                                        <p:cTn id="41" dur="500"/>
                                        <p:tgtEl>
                                          <p:spTgt spid="3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wipe(down)">
                                      <p:cBhvr>
                                        <p:cTn id="46" dur="500"/>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down)">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down)">
                                      <p:cBhvr>
                                        <p:cTn id="56" dur="500"/>
                                        <p:tgtEl>
                                          <p:spTgt spid="2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wipe(down)">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wipe(left)">
                                      <p:cBhvr>
                                        <p:cTn id="66" dur="500"/>
                                        <p:tgtEl>
                                          <p:spTgt spid="20"/>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0">
                                            <p:txEl>
                                              <p:pRg st="0" end="0"/>
                                            </p:txEl>
                                          </p:spTgt>
                                        </p:tgtEl>
                                        <p:attrNameLst>
                                          <p:attrName>style.visibility</p:attrName>
                                        </p:attrNameLst>
                                      </p:cBhvr>
                                      <p:to>
                                        <p:strVal val="visible"/>
                                      </p:to>
                                    </p:set>
                                    <p:animEffect transition="in" filter="wipe(left)">
                                      <p:cBhvr>
                                        <p:cTn id="69" dur="500"/>
                                        <p:tgtEl>
                                          <p:spTgt spid="20">
                                            <p:txEl>
                                              <p:pRg st="0" end="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wipe(left)">
                                      <p:cBhvr>
                                        <p:cTn id="74" dur="500"/>
                                        <p:tgtEl>
                                          <p:spTgt spid="3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
                                        </p:tgtEl>
                                        <p:attrNameLst>
                                          <p:attrName>style.visibility</p:attrName>
                                        </p:attrNameLst>
                                      </p:cBhvr>
                                      <p:to>
                                        <p:strVal val="visible"/>
                                      </p:to>
                                    </p:set>
                                    <p:animEffect transition="in" filter="wipe(left)">
                                      <p:cBhvr>
                                        <p:cTn id="7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P spid="19" grpId="0"/>
      <p:bldP spid="24" grpId="0" bldLvl="0" animBg="1"/>
      <p:bldP spid="31" grpId="0" bldLvl="0" animBg="1"/>
      <p:bldP spid="23" grpId="0" bldLvl="0" animBg="1"/>
      <p:bldP spid="25" grpId="0" bldLvl="0" animBg="1"/>
      <p:bldP spid="30" grpId="0" bldLvl="0" animBg="1"/>
      <p:bldP spid="26" grpId="0" bldLvl="0" animBg="1"/>
      <p:bldP spid="27" grpId="0" bldLvl="0" animBg="1"/>
      <p:bldP spid="28" grpId="0" bldLvl="0" animBg="1"/>
      <p:bldP spid="29" grpId="0" bldLvl="0" animBg="1"/>
      <p:bldP spid="33" grpId="0" bldLvl="0" animBg="1"/>
      <p:bldP spid="2" grpId="0" animBg="1"/>
      <p:bldP spid="20" grpId="0" bldLvl="0" animBg="1"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tretch>
            <a:fillRect/>
          </a:stretch>
        </p:blipFill>
        <p:spPr>
          <a:xfrm>
            <a:off x="3011170" y="1049655"/>
            <a:ext cx="4495800" cy="3855720"/>
          </a:xfrm>
          <a:prstGeom prst="rect">
            <a:avLst/>
          </a:prstGeom>
        </p:spPr>
      </p:pic>
      <p:pic>
        <p:nvPicPr>
          <p:cNvPr id="4" name="图片 3"/>
          <p:cNvPicPr>
            <a:picLocks noChangeAspect="1"/>
          </p:cNvPicPr>
          <p:nvPr/>
        </p:nvPicPr>
        <p:blipFill>
          <a:blip r:embed="rId2"/>
          <a:stretch>
            <a:fillRect/>
          </a:stretch>
        </p:blipFill>
        <p:spPr>
          <a:xfrm>
            <a:off x="654050" y="1259205"/>
            <a:ext cx="2184400" cy="3131820"/>
          </a:xfrm>
          <a:prstGeom prst="rect">
            <a:avLst/>
          </a:prstGeom>
        </p:spPr>
      </p:pic>
      <p:sp>
        <p:nvSpPr>
          <p:cNvPr id="2" name="文本框 1"/>
          <p:cNvSpPr txBox="1"/>
          <p:nvPr/>
        </p:nvSpPr>
        <p:spPr>
          <a:xfrm>
            <a:off x="664210" y="4582160"/>
            <a:ext cx="2047240" cy="583565"/>
          </a:xfrm>
          <a:prstGeom prst="rect">
            <a:avLst/>
          </a:prstGeom>
          <a:noFill/>
        </p:spPr>
        <p:txBody>
          <a:bodyPr wrap="square" rtlCol="0">
            <a:spAutoFit/>
          </a:bodyPr>
          <a:p>
            <a:pPr algn="ctr"/>
            <a:r>
              <a:rPr lang="zh-CN" altLang="en-US" sz="1600">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rPr>
              <a:t>图</a:t>
            </a:r>
            <a:r>
              <a:rPr lang="en-US" altLang="zh-CN" sz="1600">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rPr>
              <a:t>2.1-1 </a:t>
            </a:r>
            <a:r>
              <a:rPr lang="zh-CN" altLang="en-US" sz="1600">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rPr>
              <a:t>螺旋千斤顶工作原理图</a:t>
            </a:r>
            <a:endParaRPr lang="zh-CN" altLang="en-US" sz="1600">
              <a:solidFill>
                <a:schemeClr val="accent4">
                  <a:lumMod val="75000"/>
                </a:schemeClr>
              </a:solidFill>
              <a:latin typeface="宋体" panose="02010600030101010101" pitchFamily="2" charset="-122"/>
              <a:ea typeface="宋体" panose="02010600030101010101" pitchFamily="2" charset="-122"/>
              <a:cs typeface="宋体" panose="02010600030101010101" pitchFamily="2" charset="-122"/>
            </a:endParaRPr>
          </a:p>
        </p:txBody>
      </p:sp>
      <p:grpSp>
        <p:nvGrpSpPr>
          <p:cNvPr id="5" name="组合 1"/>
          <p:cNvGrpSpPr/>
          <p:nvPr/>
        </p:nvGrpSpPr>
        <p:grpSpPr>
          <a:xfrm>
            <a:off x="6190178" y="5710188"/>
            <a:ext cx="2630487" cy="827087"/>
            <a:chOff x="10088" y="9497"/>
            <a:chExt cx="4141" cy="1302"/>
          </a:xfrm>
        </p:grpSpPr>
        <p:sp>
          <p:nvSpPr>
            <p:cNvPr id="6" name="文本框 1073742869"/>
            <p:cNvSpPr txBox="1">
              <a:spLocks noChangeAspect="1"/>
            </p:cNvSpPr>
            <p:nvPr/>
          </p:nvSpPr>
          <p:spPr>
            <a:xfrm>
              <a:off x="11247" y="9745"/>
              <a:ext cx="2983" cy="479"/>
            </a:xfrm>
            <a:prstGeom prst="rect">
              <a:avLst/>
            </a:prstGeom>
            <a:noFill/>
            <a:ln w="9525">
              <a:noFill/>
            </a:ln>
          </p:spPr>
          <p:txBody>
            <a:bodyPr wrap="square" anchor="t"/>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7" name="图片 1073742872" descr="44303071dc0a1f9688d599dbc999570副本"/>
            <p:cNvPicPr>
              <a:picLocks noChangeAspect="1"/>
            </p:cNvPicPr>
            <p:nvPr/>
          </p:nvPicPr>
          <p:blipFill>
            <a:blip r:embed="rId3"/>
            <a:stretch>
              <a:fillRect/>
            </a:stretch>
          </p:blipFill>
          <p:spPr>
            <a:xfrm>
              <a:off x="10088" y="9497"/>
              <a:ext cx="1435" cy="1303"/>
            </a:xfrm>
            <a:prstGeom prst="rect">
              <a:avLst/>
            </a:prstGeom>
            <a:noFill/>
            <a:ln w="9525">
              <a:noFill/>
            </a:ln>
          </p:spPr>
        </p:pic>
      </p:grpSp>
      <p:sp>
        <p:nvSpPr>
          <p:cNvPr id="16387" name="Text Box 3">
            <a:hlinkClick r:id=""/>
          </p:cNvPr>
          <p:cNvSpPr txBox="1">
            <a:spLocks noChangeArrowheads="1"/>
          </p:cNvSpPr>
          <p:nvPr/>
        </p:nvSpPr>
        <p:spPr bwMode="auto">
          <a:xfrm>
            <a:off x="1447800" y="446405"/>
            <a:ext cx="60921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pPr>
            <a:r>
              <a:rPr lang="en-US" altLang="zh-CN" sz="2400">
                <a:solidFill>
                  <a:srgbClr val="000099"/>
                </a:solidFill>
                <a:latin typeface="Times New Roman" panose="02020603050405020304" pitchFamily="18" charset="0"/>
                <a:ea typeface="黑体" panose="02010609060101010101" pitchFamily="49" charset="-122"/>
              </a:rPr>
              <a:t>§2.1-1 </a:t>
            </a:r>
            <a:r>
              <a:rPr lang="zh-CN" altLang="en-US" sz="2400">
                <a:solidFill>
                  <a:srgbClr val="000099"/>
                </a:solidFill>
                <a:latin typeface="Times New Roman" panose="02020603050405020304" pitchFamily="18" charset="0"/>
                <a:ea typeface="黑体" panose="02010609060101010101" pitchFamily="49" charset="-122"/>
              </a:rPr>
              <a:t>螺旋千斤顶的工作原理和结构组成</a:t>
            </a:r>
            <a:endParaRPr lang="zh-CN" altLang="en-US" sz="2400">
              <a:solidFill>
                <a:srgbClr val="000099"/>
              </a:solidFill>
              <a:latin typeface="Times New Roman" panose="02020603050405020304" pitchFamily="18" charset="0"/>
              <a:ea typeface="黑体" panose="02010609060101010101" pitchFamily="49" charset="-122"/>
            </a:endParaRPr>
          </a:p>
        </p:txBody>
      </p:sp>
      <p:sp>
        <p:nvSpPr>
          <p:cNvPr id="8" name="文本框 7"/>
          <p:cNvSpPr txBox="1"/>
          <p:nvPr/>
        </p:nvSpPr>
        <p:spPr>
          <a:xfrm>
            <a:off x="941705" y="5575300"/>
            <a:ext cx="1492885" cy="429895"/>
          </a:xfrm>
          <a:prstGeom prst="rect">
            <a:avLst/>
          </a:prstGeom>
          <a:solidFill>
            <a:schemeClr val="tx2">
              <a:lumMod val="20000"/>
              <a:lumOff val="80000"/>
            </a:schemeClr>
          </a:solidFill>
          <a:effectLst>
            <a:outerShdw blurRad="50800" dist="38100" algn="l" rotWithShape="0">
              <a:prstClr val="black">
                <a:alpha val="40000"/>
              </a:prstClr>
            </a:outerShdw>
          </a:effectLst>
        </p:spPr>
        <p:txBody>
          <a:bodyPr wrap="square" rtlCol="0">
            <a:spAutoFit/>
          </a:bodyPr>
          <a:p>
            <a:pPr algn="ctr"/>
            <a:r>
              <a:rPr lang="zh-CN" altLang="en-US">
                <a:latin typeface="黑体" panose="02010609060101010101" pitchFamily="49" charset="-122"/>
                <a:ea typeface="黑体" panose="02010609060101010101" pitchFamily="49" charset="-122"/>
              </a:rPr>
              <a:t>方案设计</a:t>
            </a:r>
            <a:endParaRPr lang="zh-CN" altLang="en-US">
              <a:latin typeface="黑体" panose="02010609060101010101" pitchFamily="49" charset="-122"/>
              <a:ea typeface="黑体" panose="02010609060101010101" pitchFamily="49" charset="-122"/>
            </a:endParaRPr>
          </a:p>
        </p:txBody>
      </p:sp>
      <p:sp>
        <p:nvSpPr>
          <p:cNvPr id="9" name="文本框 8"/>
          <p:cNvSpPr txBox="1"/>
          <p:nvPr/>
        </p:nvSpPr>
        <p:spPr>
          <a:xfrm>
            <a:off x="4031615" y="5575300"/>
            <a:ext cx="1718310" cy="429895"/>
          </a:xfrm>
          <a:prstGeom prst="rect">
            <a:avLst/>
          </a:prstGeom>
          <a:solidFill>
            <a:schemeClr val="tx1">
              <a:lumMod val="20000"/>
              <a:lumOff val="80000"/>
            </a:schemeClr>
          </a:solidFill>
          <a:effectLst>
            <a:outerShdw blurRad="50800" dist="38100" dir="18900000" algn="bl" rotWithShape="0">
              <a:prstClr val="black">
                <a:alpha val="40000"/>
              </a:prstClr>
            </a:outerShdw>
          </a:effectLst>
        </p:spPr>
        <p:txBody>
          <a:bodyPr wrap="square" rtlCol="0">
            <a:spAutoFit/>
          </a:bodyPr>
          <a:p>
            <a:pPr algn="ctr"/>
            <a:r>
              <a:rPr lang="zh-CN" altLang="en-US">
                <a:latin typeface="黑体" panose="02010609060101010101" pitchFamily="49" charset="-122"/>
                <a:ea typeface="黑体" panose="02010609060101010101" pitchFamily="49" charset="-122"/>
              </a:rPr>
              <a:t>结构设计</a:t>
            </a:r>
            <a:endParaRPr lang="zh-CN" altLang="en-US">
              <a:latin typeface="黑体" panose="02010609060101010101" pitchFamily="49" charset="-122"/>
              <a:ea typeface="黑体" panose="02010609060101010101" pitchFamily="49" charset="-122"/>
            </a:endParaRPr>
          </a:p>
        </p:txBody>
      </p:sp>
      <p:sp>
        <p:nvSpPr>
          <p:cNvPr id="10" name="右箭头 9"/>
          <p:cNvSpPr/>
          <p:nvPr/>
        </p:nvSpPr>
        <p:spPr>
          <a:xfrm>
            <a:off x="2743835" y="5575300"/>
            <a:ext cx="979170" cy="485775"/>
          </a:xfrm>
          <a:prstGeom prst="rightArrow">
            <a:avLst/>
          </a:prstGeom>
          <a:gradFill>
            <a:gsLst>
              <a:gs pos="0">
                <a:srgbClr val="9EE256"/>
              </a:gs>
              <a:gs pos="100000">
                <a:srgbClr val="52762D"/>
              </a:gs>
            </a:gsLst>
            <a:lin ang="5400000" scaled="0"/>
          </a:gradFill>
          <a:ln w="9525" cap="flat" cmpd="sng" algn="ctr">
            <a:solidFill>
              <a:schemeClr val="tx1"/>
            </a:solidFill>
            <a:prstDash val="solid"/>
            <a:round/>
            <a:headEnd type="none" w="med" len="med"/>
            <a:tailEnd type="none" w="med" len="med"/>
          </a:ln>
          <a:effectLst>
            <a:innerShdw blurRad="63500" dist="50800" dir="13500000">
              <a:prstClr val="black">
                <a:alpha val="50000"/>
              </a:prstClr>
            </a:innerShdw>
          </a:effec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7422" name="直接连接符 6"/>
          <p:cNvSpPr>
            <a:spLocks noChangeShapeType="1"/>
          </p:cNvSpPr>
          <p:nvPr/>
        </p:nvSpPr>
        <p:spPr bwMode="auto">
          <a:xfrm>
            <a:off x="0" y="1098550"/>
            <a:ext cx="9144000" cy="0"/>
          </a:xfrm>
          <a:prstGeom prst="line">
            <a:avLst/>
          </a:prstGeom>
          <a:noFill/>
          <a:ln w="28575">
            <a:solidFill>
              <a:srgbClr val="C00000"/>
            </a:solidFill>
            <a:miter lim="800000"/>
          </a:ln>
          <a:extLst>
            <a:ext uri="{909E8E84-426E-40DD-AFC4-6F175D3DCCD1}">
              <a14:hiddenFill xmlns:a14="http://schemas.microsoft.com/office/drawing/2010/main">
                <a:noFill/>
              </a14:hiddenFill>
            </a:ext>
          </a:extLst>
        </p:spPr>
        <p:txBody>
          <a:bodyPr/>
          <a:p>
            <a:endParaRPr lang="zh-CN" altLang="en-US"/>
          </a:p>
        </p:txBody>
      </p:sp>
      <p:pic>
        <p:nvPicPr>
          <p:cNvPr id="11" name="图片 10"/>
          <p:cNvPicPr>
            <a:picLocks noChangeAspect="1"/>
          </p:cNvPicPr>
          <p:nvPr/>
        </p:nvPicPr>
        <p:blipFill>
          <a:blip r:embed="rId4"/>
          <a:stretch>
            <a:fillRect/>
          </a:stretch>
        </p:blipFill>
        <p:spPr>
          <a:xfrm>
            <a:off x="5839460" y="814705"/>
            <a:ext cx="2599055" cy="50927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animBg="1"/>
      <p:bldP spid="10"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476885" y="1520825"/>
            <a:ext cx="8011795" cy="1614805"/>
          </a:xfrm>
          <a:prstGeom prst="rect">
            <a:avLst/>
          </a:prstGeom>
          <a:noFill/>
        </p:spPr>
        <p:txBody>
          <a:bodyPr wrap="square" rtlCol="0" anchor="t">
            <a:spAutoFit/>
          </a:bodyPr>
          <a:p>
            <a:pPr eaLnBrk="1" latinLnBrk="0" hangingPunct="1">
              <a:lnSpc>
                <a:spcPct val="150000"/>
              </a:lnSpc>
            </a:pPr>
            <a:r>
              <a:rPr lang="en-US" altLang="zh-CN"/>
              <a:t>     </a:t>
            </a:r>
            <a:r>
              <a:rPr lang="zh-CN" altLang="en-US">
                <a:latin typeface="黑体" panose="02010609060101010101" pitchFamily="49" charset="-122"/>
                <a:ea typeface="黑体" panose="02010609060101010101" pitchFamily="49" charset="-122"/>
              </a:rPr>
              <a:t>通过分析螺旋千斤顶的工作原理和机构组成，了解设计螺旋千斤顶所必需掌握的</a:t>
            </a:r>
            <a:r>
              <a:rPr lang="zh-CN" altLang="en-US">
                <a:solidFill>
                  <a:srgbClr val="FF0000"/>
                </a:solidFill>
                <a:latin typeface="黑体" panose="02010609060101010101" pitchFamily="49" charset="-122"/>
                <a:ea typeface="黑体" panose="02010609060101010101" pitchFamily="49" charset="-122"/>
              </a:rPr>
              <a:t>螺纹</a:t>
            </a:r>
            <a:r>
              <a:rPr lang="zh-CN" altLang="en-US">
                <a:latin typeface="黑体" panose="02010609060101010101" pitchFamily="49" charset="-122"/>
                <a:ea typeface="黑体" panose="02010609060101010101" pitchFamily="49" charset="-122"/>
              </a:rPr>
              <a:t>、</a:t>
            </a:r>
            <a:r>
              <a:rPr lang="zh-CN" altLang="en-US">
                <a:solidFill>
                  <a:srgbClr val="FF0000"/>
                </a:solidFill>
                <a:latin typeface="黑体" panose="02010609060101010101" pitchFamily="49" charset="-122"/>
                <a:ea typeface="黑体" panose="02010609060101010101" pitchFamily="49" charset="-122"/>
              </a:rPr>
              <a:t>螺纹连接</a:t>
            </a:r>
            <a:r>
              <a:rPr lang="zh-CN" altLang="en-US">
                <a:latin typeface="黑体" panose="02010609060101010101" pitchFamily="49" charset="-122"/>
                <a:ea typeface="黑体" panose="02010609060101010101" pitchFamily="49" charset="-122"/>
              </a:rPr>
              <a:t>、</a:t>
            </a:r>
            <a:r>
              <a:rPr lang="zh-CN" altLang="en-US">
                <a:solidFill>
                  <a:srgbClr val="FF0000"/>
                </a:solidFill>
                <a:latin typeface="黑体" panose="02010609060101010101" pitchFamily="49" charset="-122"/>
                <a:ea typeface="黑体" panose="02010609060101010101" pitchFamily="49" charset="-122"/>
              </a:rPr>
              <a:t>螺旋传动</a:t>
            </a:r>
            <a:r>
              <a:rPr lang="zh-CN" altLang="en-US">
                <a:latin typeface="黑体" panose="02010609060101010101" pitchFamily="49" charset="-122"/>
                <a:ea typeface="黑体" panose="02010609060101010101" pitchFamily="49" charset="-122"/>
              </a:rPr>
              <a:t>的必备知识。然后依次按章节展开教学，学习相应的设计知识，使学生学有目的</a:t>
            </a:r>
            <a:r>
              <a:rPr lang="zh-CN" altLang="en-US"/>
              <a:t>。</a:t>
            </a:r>
            <a:endParaRPr lang="zh-CN" altLang="en-US"/>
          </a:p>
        </p:txBody>
      </p:sp>
      <p:sp>
        <p:nvSpPr>
          <p:cNvPr id="2" name="文本框 1"/>
          <p:cNvSpPr txBox="1"/>
          <p:nvPr/>
        </p:nvSpPr>
        <p:spPr>
          <a:xfrm>
            <a:off x="401320" y="676910"/>
            <a:ext cx="7684135" cy="583565"/>
          </a:xfrm>
          <a:prstGeom prst="rect">
            <a:avLst/>
          </a:prstGeom>
          <a:noFill/>
        </p:spPr>
        <p:txBody>
          <a:bodyPr wrap="square" rtlCol="0">
            <a:spAutoFit/>
          </a:bodyPr>
          <a:p>
            <a:r>
              <a:rPr lang="zh-CN" altLang="en-US" sz="3200">
                <a:latin typeface="黑体" panose="02010609060101010101" pitchFamily="49" charset="-122"/>
                <a:ea typeface="黑体" panose="02010609060101010101" pitchFamily="49" charset="-122"/>
              </a:rPr>
              <a:t>本篇学习目的</a:t>
            </a:r>
            <a:endParaRPr lang="zh-CN" altLang="en-US" sz="3200">
              <a:latin typeface="黑体" panose="02010609060101010101" pitchFamily="49" charset="-122"/>
              <a:ea typeface="黑体" panose="02010609060101010101" pitchFamily="49" charset="-122"/>
            </a:endParaRPr>
          </a:p>
        </p:txBody>
      </p:sp>
      <p:grpSp>
        <p:nvGrpSpPr>
          <p:cNvPr id="5" name="组合 1"/>
          <p:cNvGrpSpPr/>
          <p:nvPr/>
        </p:nvGrpSpPr>
        <p:grpSpPr>
          <a:xfrm>
            <a:off x="6514028" y="5717808"/>
            <a:ext cx="2630487" cy="827087"/>
            <a:chOff x="10088" y="9497"/>
            <a:chExt cx="4141" cy="1302"/>
          </a:xfrm>
        </p:grpSpPr>
        <p:sp>
          <p:nvSpPr>
            <p:cNvPr id="8" name="文本框 1073742869"/>
            <p:cNvSpPr txBox="1">
              <a:spLocks noChangeAspect="1"/>
            </p:cNvSpPr>
            <p:nvPr/>
          </p:nvSpPr>
          <p:spPr>
            <a:xfrm>
              <a:off x="11247" y="9745"/>
              <a:ext cx="2983" cy="479"/>
            </a:xfrm>
            <a:prstGeom prst="rect">
              <a:avLst/>
            </a:prstGeom>
            <a:noFill/>
            <a:ln w="9525">
              <a:noFill/>
            </a:ln>
          </p:spPr>
          <p:txBody>
            <a:bodyPr wrap="square" anchor="t"/>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9" name="图片 1073742872" descr="44303071dc0a1f9688d599dbc999570副本"/>
            <p:cNvPicPr>
              <a:picLocks noChangeAspect="1"/>
            </p:cNvPicPr>
            <p:nvPr/>
          </p:nvPicPr>
          <p:blipFill>
            <a:blip r:embed="rId1"/>
            <a:stretch>
              <a:fillRect/>
            </a:stretch>
          </p:blipFill>
          <p:spPr>
            <a:xfrm>
              <a:off x="10088" y="9497"/>
              <a:ext cx="1435" cy="1303"/>
            </a:xfrm>
            <a:prstGeom prst="rect">
              <a:avLst/>
            </a:prstGeom>
            <a:noFill/>
            <a:ln w="9525">
              <a:noFill/>
            </a:ln>
          </p:spPr>
        </p:pic>
      </p:grpSp>
      <p:sp>
        <p:nvSpPr>
          <p:cNvPr id="17422" name="直接连接符 6"/>
          <p:cNvSpPr>
            <a:spLocks noChangeShapeType="1"/>
          </p:cNvSpPr>
          <p:nvPr/>
        </p:nvSpPr>
        <p:spPr bwMode="auto">
          <a:xfrm>
            <a:off x="0" y="1260475"/>
            <a:ext cx="9144000" cy="0"/>
          </a:xfrm>
          <a:prstGeom prst="line">
            <a:avLst/>
          </a:prstGeom>
          <a:noFill/>
          <a:ln w="28575">
            <a:solidFill>
              <a:srgbClr val="C00000"/>
            </a:solidFill>
            <a:miter lim="800000"/>
          </a:ln>
          <a:extLst>
            <a:ext uri="{909E8E84-426E-40DD-AFC4-6F175D3DCCD1}">
              <a14:hiddenFill xmlns:a14="http://schemas.microsoft.com/office/drawing/2010/main">
                <a:noFill/>
              </a14:hiddenFill>
            </a:ext>
          </a:extLst>
        </p:spPr>
        <p:txBody>
          <a:bodyPr/>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80770" y="427990"/>
            <a:ext cx="6231255" cy="521970"/>
          </a:xfrm>
          <a:prstGeom prst="rect">
            <a:avLst/>
          </a:prstGeom>
          <a:noFill/>
        </p:spPr>
        <p:txBody>
          <a:bodyPr wrap="square" rtlCol="0">
            <a:spAutoFit/>
          </a:bodyPr>
          <a:p>
            <a:pPr algn="ctr"/>
            <a:r>
              <a:rPr lang="zh-CN" altLang="en-US" sz="2800">
                <a:solidFill>
                  <a:srgbClr val="C00000"/>
                </a:solidFill>
                <a:latin typeface="黑体" panose="02010609060101010101" pitchFamily="49" charset="-122"/>
                <a:ea typeface="黑体" panose="02010609060101010101" pitchFamily="49" charset="-122"/>
              </a:rPr>
              <a:t>设计任务书</a:t>
            </a:r>
            <a:endParaRPr lang="zh-CN" altLang="en-US" sz="2800">
              <a:solidFill>
                <a:srgbClr val="C00000"/>
              </a:solidFill>
              <a:latin typeface="黑体" panose="02010609060101010101" pitchFamily="49" charset="-122"/>
              <a:ea typeface="黑体" panose="02010609060101010101" pitchFamily="49" charset="-122"/>
            </a:endParaRPr>
          </a:p>
        </p:txBody>
      </p:sp>
      <p:sp>
        <p:nvSpPr>
          <p:cNvPr id="3" name="文本框 2"/>
          <p:cNvSpPr txBox="1"/>
          <p:nvPr/>
        </p:nvSpPr>
        <p:spPr>
          <a:xfrm>
            <a:off x="568960" y="1287780"/>
            <a:ext cx="7415530" cy="429895"/>
          </a:xfrm>
          <a:prstGeom prst="rect">
            <a:avLst/>
          </a:prstGeom>
          <a:noFill/>
        </p:spPr>
        <p:txBody>
          <a:bodyPr wrap="square" rtlCol="0">
            <a:spAutoFit/>
          </a:bodyPr>
          <a:p>
            <a:r>
              <a:rPr lang="en-US" altLang="zh-CN">
                <a:solidFill>
                  <a:srgbClr val="FF0000"/>
                </a:solidFill>
              </a:rPr>
              <a:t>1.</a:t>
            </a:r>
            <a:r>
              <a:rPr lang="zh-CN" altLang="en-US">
                <a:solidFill>
                  <a:srgbClr val="FF0000"/>
                </a:solidFill>
              </a:rPr>
              <a:t>设计题目</a:t>
            </a:r>
            <a:r>
              <a:rPr lang="zh-CN" altLang="en-US"/>
              <a:t>：螺旋千斤顶</a:t>
            </a:r>
            <a:endParaRPr lang="zh-CN" altLang="en-US"/>
          </a:p>
        </p:txBody>
      </p:sp>
      <p:sp>
        <p:nvSpPr>
          <p:cNvPr id="4" name="文本框 3"/>
          <p:cNvSpPr txBox="1"/>
          <p:nvPr/>
        </p:nvSpPr>
        <p:spPr>
          <a:xfrm>
            <a:off x="568960" y="1818005"/>
            <a:ext cx="4359275" cy="1198880"/>
          </a:xfrm>
          <a:prstGeom prst="rect">
            <a:avLst/>
          </a:prstGeom>
          <a:noFill/>
        </p:spPr>
        <p:txBody>
          <a:bodyPr wrap="square" rtlCol="0">
            <a:spAutoFit/>
          </a:bodyPr>
          <a:p>
            <a:r>
              <a:rPr lang="en-US" altLang="zh-CN">
                <a:solidFill>
                  <a:srgbClr val="FF0000"/>
                </a:solidFill>
              </a:rPr>
              <a:t>2.</a:t>
            </a:r>
            <a:r>
              <a:rPr lang="zh-CN" altLang="en-US">
                <a:solidFill>
                  <a:srgbClr val="FF0000"/>
                </a:solidFill>
              </a:rPr>
              <a:t>已知条件</a:t>
            </a:r>
            <a:endParaRPr lang="zh-CN" altLang="en-US">
              <a:solidFill>
                <a:srgbClr val="0000FF"/>
              </a:solidFill>
            </a:endParaRPr>
          </a:p>
          <a:p>
            <a:pPr eaLnBrk="1" latinLnBrk="0" hangingPunct="1">
              <a:lnSpc>
                <a:spcPts val="3000"/>
              </a:lnSpc>
            </a:pPr>
            <a:r>
              <a:rPr lang="zh-CN" altLang="en-US"/>
              <a:t>       最大起重载荷</a:t>
            </a:r>
            <a:r>
              <a:rPr lang="en-US" altLang="zh-CN"/>
              <a:t>F=15kN</a:t>
            </a:r>
            <a:endParaRPr lang="en-US" altLang="zh-CN"/>
          </a:p>
          <a:p>
            <a:pPr eaLnBrk="1" latinLnBrk="0" hangingPunct="1">
              <a:lnSpc>
                <a:spcPts val="3000"/>
              </a:lnSpc>
            </a:pPr>
            <a:r>
              <a:rPr lang="en-US" altLang="zh-CN"/>
              <a:t>       </a:t>
            </a:r>
            <a:r>
              <a:rPr lang="zh-CN" altLang="en-US"/>
              <a:t>最大起重升程</a:t>
            </a:r>
            <a:endParaRPr lang="zh-CN" altLang="en-US"/>
          </a:p>
        </p:txBody>
      </p:sp>
      <p:graphicFrame>
        <p:nvGraphicFramePr>
          <p:cNvPr id="5" name="对象 4">
            <a:hlinkClick r:id="" action="ppaction://ole?verb="/>
          </p:cNvPr>
          <p:cNvGraphicFramePr>
            <a:graphicFrameLocks noChangeAspect="1"/>
          </p:cNvGraphicFramePr>
          <p:nvPr/>
        </p:nvGraphicFramePr>
        <p:xfrm>
          <a:off x="3113405" y="2580005"/>
          <a:ext cx="1410970" cy="358140"/>
        </p:xfrm>
        <a:graphic>
          <a:graphicData uri="http://schemas.openxmlformats.org/presentationml/2006/ole">
            <mc:AlternateContent xmlns:mc="http://schemas.openxmlformats.org/markup-compatibility/2006">
              <mc:Choice xmlns:v="urn:schemas-microsoft-com:vml" Requires="v">
                <p:oleObj spid="_x0000_s1025" name="" r:id="rId1" imgW="698500" imgH="177165" progId="Equation.KSEE3">
                  <p:embed/>
                </p:oleObj>
              </mc:Choice>
              <mc:Fallback>
                <p:oleObj name="" r:id="rId1" imgW="698500" imgH="177165" progId="Equation.KSEE3">
                  <p:embed/>
                  <p:pic>
                    <p:nvPicPr>
                      <p:cNvPr id="0" name="图片 1024"/>
                      <p:cNvPicPr/>
                      <p:nvPr/>
                    </p:nvPicPr>
                    <p:blipFill>
                      <a:blip r:embed="rId2"/>
                      <a:stretch>
                        <a:fillRect/>
                      </a:stretch>
                    </p:blipFill>
                    <p:spPr>
                      <a:xfrm>
                        <a:off x="3113405" y="2580005"/>
                        <a:ext cx="1410970" cy="358140"/>
                      </a:xfrm>
                      <a:prstGeom prst="rect">
                        <a:avLst/>
                      </a:prstGeom>
                    </p:spPr>
                  </p:pic>
                </p:oleObj>
              </mc:Fallback>
            </mc:AlternateContent>
          </a:graphicData>
        </a:graphic>
      </p:graphicFrame>
      <p:sp>
        <p:nvSpPr>
          <p:cNvPr id="6" name="文本框 5"/>
          <p:cNvSpPr txBox="1"/>
          <p:nvPr/>
        </p:nvSpPr>
        <p:spPr>
          <a:xfrm>
            <a:off x="274955" y="3056255"/>
            <a:ext cx="8593455" cy="2399665"/>
          </a:xfrm>
          <a:prstGeom prst="rect">
            <a:avLst/>
          </a:prstGeom>
          <a:noFill/>
        </p:spPr>
        <p:txBody>
          <a:bodyPr wrap="square" rtlCol="0">
            <a:spAutoFit/>
          </a:bodyPr>
          <a:p>
            <a:pPr eaLnBrk="1" latinLnBrk="0" hangingPunct="1">
              <a:lnSpc>
                <a:spcPts val="3000"/>
              </a:lnSpc>
            </a:pPr>
            <a:r>
              <a:rPr lang="en-US" altLang="zh-CN">
                <a:solidFill>
                  <a:srgbClr val="FF0000"/>
                </a:solidFill>
              </a:rPr>
              <a:t>3.</a:t>
            </a:r>
            <a:r>
              <a:rPr lang="zh-CN" altLang="en-US">
                <a:solidFill>
                  <a:srgbClr val="FF0000"/>
                </a:solidFill>
              </a:rPr>
              <a:t>设计要求</a:t>
            </a:r>
            <a:endParaRPr lang="zh-CN" altLang="en-US">
              <a:solidFill>
                <a:srgbClr val="FF0000"/>
              </a:solidFill>
            </a:endParaRPr>
          </a:p>
          <a:p>
            <a:pPr eaLnBrk="1" latinLnBrk="0" hangingPunct="1">
              <a:lnSpc>
                <a:spcPts val="3000"/>
              </a:lnSpc>
            </a:pPr>
            <a:r>
              <a:rPr lang="zh-CN" altLang="en-US"/>
              <a:t>（</a:t>
            </a:r>
            <a:r>
              <a:rPr lang="en-US" altLang="zh-CN"/>
              <a:t>1</a:t>
            </a:r>
            <a:r>
              <a:rPr lang="zh-CN" altLang="en-US"/>
              <a:t>）根据强度和结构要求决定千斤顶的各部尺寸；</a:t>
            </a:r>
            <a:endParaRPr lang="zh-CN" altLang="en-US"/>
          </a:p>
          <a:p>
            <a:pPr eaLnBrk="1" latinLnBrk="0" hangingPunct="1">
              <a:lnSpc>
                <a:spcPts val="3000"/>
              </a:lnSpc>
            </a:pPr>
            <a:r>
              <a:rPr lang="zh-CN" altLang="en-US"/>
              <a:t>（</a:t>
            </a:r>
            <a:r>
              <a:rPr lang="en-US" altLang="zh-CN"/>
              <a:t>2</a:t>
            </a:r>
            <a:r>
              <a:rPr lang="zh-CN" altLang="en-US"/>
              <a:t>）绘制千斤顶平面装配图；</a:t>
            </a:r>
            <a:endParaRPr lang="zh-CN" altLang="en-US"/>
          </a:p>
          <a:p>
            <a:pPr eaLnBrk="1" latinLnBrk="0" hangingPunct="1">
              <a:lnSpc>
                <a:spcPts val="3000"/>
              </a:lnSpc>
            </a:pPr>
            <a:r>
              <a:rPr lang="zh-CN" altLang="en-US"/>
              <a:t>（</a:t>
            </a:r>
            <a:r>
              <a:rPr lang="en-US" altLang="zh-CN"/>
              <a:t>3</a:t>
            </a:r>
            <a:r>
              <a:rPr lang="zh-CN" altLang="en-US"/>
              <a:t>）拆零件图；</a:t>
            </a:r>
            <a:endParaRPr lang="zh-CN" altLang="en-US"/>
          </a:p>
          <a:p>
            <a:pPr eaLnBrk="1" latinLnBrk="0" hangingPunct="1">
              <a:lnSpc>
                <a:spcPts val="3000"/>
              </a:lnSpc>
            </a:pPr>
            <a:r>
              <a:rPr lang="zh-CN" altLang="en-US"/>
              <a:t>（</a:t>
            </a:r>
            <a:r>
              <a:rPr lang="en-US" altLang="zh-CN"/>
              <a:t>4</a:t>
            </a:r>
            <a:r>
              <a:rPr lang="zh-CN" altLang="en-US"/>
              <a:t>）整理、编写设计计算说明书一份（包括机构运动简图等）；</a:t>
            </a:r>
            <a:endParaRPr lang="zh-CN" altLang="en-US"/>
          </a:p>
          <a:p>
            <a:pPr eaLnBrk="1" latinLnBrk="0" hangingPunct="1">
              <a:lnSpc>
                <a:spcPts val="3000"/>
              </a:lnSpc>
            </a:pPr>
            <a:r>
              <a:rPr lang="zh-CN" altLang="en-US"/>
              <a:t>（</a:t>
            </a:r>
            <a:r>
              <a:rPr lang="en-US" altLang="zh-CN"/>
              <a:t>5</a:t>
            </a:r>
            <a:r>
              <a:rPr lang="zh-CN" altLang="en-US"/>
              <a:t>）根据平面零件如进行三维建模并进行立体装配（选做，不限时）</a:t>
            </a:r>
            <a:endParaRPr lang="zh-CN" altLang="en-US"/>
          </a:p>
        </p:txBody>
      </p:sp>
      <p:sp>
        <p:nvSpPr>
          <p:cNvPr id="16398" name="直接连接符 6"/>
          <p:cNvSpPr>
            <a:spLocks noChangeShapeType="1"/>
          </p:cNvSpPr>
          <p:nvPr/>
        </p:nvSpPr>
        <p:spPr bwMode="auto">
          <a:xfrm>
            <a:off x="0" y="1078772"/>
            <a:ext cx="9144000" cy="0"/>
          </a:xfrm>
          <a:prstGeom prst="line">
            <a:avLst/>
          </a:prstGeom>
          <a:noFill/>
          <a:ln w="38100">
            <a:solidFill>
              <a:srgbClr val="CC3300"/>
            </a:solidFill>
            <a:miter lim="800000"/>
          </a:ln>
          <a:extLst>
            <a:ext uri="{909E8E84-426E-40DD-AFC4-6F175D3DCCD1}">
              <a14:hiddenFill xmlns:a14="http://schemas.microsoft.com/office/drawing/2010/main">
                <a:noFill/>
              </a14:hiddenFill>
            </a:ext>
          </a:extLst>
        </p:spPr>
        <p:txBody>
          <a:bodyPr/>
          <a:p>
            <a:endParaRPr lang="zh-CN" altLang="en-US"/>
          </a:p>
        </p:txBody>
      </p:sp>
      <p:grpSp>
        <p:nvGrpSpPr>
          <p:cNvPr id="7" name="组合 1"/>
          <p:cNvGrpSpPr/>
          <p:nvPr/>
        </p:nvGrpSpPr>
        <p:grpSpPr>
          <a:xfrm>
            <a:off x="6190178" y="5801628"/>
            <a:ext cx="2630487" cy="827087"/>
            <a:chOff x="10088" y="9497"/>
            <a:chExt cx="4141" cy="1302"/>
          </a:xfrm>
        </p:grpSpPr>
        <p:sp>
          <p:nvSpPr>
            <p:cNvPr id="8" name="文本框 1073742869"/>
            <p:cNvSpPr txBox="1">
              <a:spLocks noChangeAspect="1"/>
            </p:cNvSpPr>
            <p:nvPr/>
          </p:nvSpPr>
          <p:spPr>
            <a:xfrm>
              <a:off x="11247" y="9745"/>
              <a:ext cx="2983" cy="479"/>
            </a:xfrm>
            <a:prstGeom prst="rect">
              <a:avLst/>
            </a:prstGeom>
            <a:noFill/>
            <a:ln w="9525">
              <a:noFill/>
            </a:ln>
          </p:spPr>
          <p:txBody>
            <a:bodyPr wrap="square" anchor="t"/>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9" name="图片 1073742872" descr="44303071dc0a1f9688d599dbc999570副本"/>
            <p:cNvPicPr>
              <a:picLocks noChangeAspect="1"/>
            </p:cNvPicPr>
            <p:nvPr/>
          </p:nvPicPr>
          <p:blipFill>
            <a:blip r:embed="rId3"/>
            <a:stretch>
              <a:fillRect/>
            </a:stretch>
          </p:blipFill>
          <p:spPr>
            <a:xfrm>
              <a:off x="10088" y="9497"/>
              <a:ext cx="1435" cy="1303"/>
            </a:xfrm>
            <a:prstGeom prst="rect">
              <a:avLst/>
            </a:prstGeom>
            <a:noFill/>
            <a:ln w="9525">
              <a:noFill/>
            </a:ln>
          </p:spPr>
        </p:pic>
      </p:gr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9" name="表格 18"/>
          <p:cNvGraphicFramePr>
            <a:graphicFrameLocks noGrp="1"/>
          </p:cNvGraphicFramePr>
          <p:nvPr>
            <p:custDataLst>
              <p:tags r:id="rId1"/>
            </p:custDataLst>
          </p:nvPr>
        </p:nvGraphicFramePr>
        <p:xfrm>
          <a:off x="471241" y="1441739"/>
          <a:ext cx="8201025" cy="4392295"/>
        </p:xfrm>
        <a:graphic>
          <a:graphicData uri="http://schemas.openxmlformats.org/drawingml/2006/table">
            <a:tbl>
              <a:tblPr firstRow="1" firstCol="1" bandRow="1">
                <a:tableStyleId>{5C22544A-7EE6-4342-B048-85BDC9FD1C3A}</a:tableStyleId>
              </a:tblPr>
              <a:tblGrid>
                <a:gridCol w="1891030"/>
                <a:gridCol w="629920"/>
                <a:gridCol w="630555"/>
                <a:gridCol w="630555"/>
                <a:gridCol w="631190"/>
                <a:gridCol w="631825"/>
                <a:gridCol w="630555"/>
                <a:gridCol w="631825"/>
                <a:gridCol w="631190"/>
                <a:gridCol w="630555"/>
                <a:gridCol w="631825"/>
              </a:tblGrid>
              <a:tr h="302895">
                <a:tc rowSpan="2">
                  <a:txBody>
                    <a:bodyPr/>
                    <a:p>
                      <a:pPr algn="ctr">
                        <a:spcAft>
                          <a:spcPts val="0"/>
                        </a:spcAft>
                      </a:pPr>
                      <a:r>
                        <a:rPr lang="zh-CN" sz="1800" kern="100" dirty="0">
                          <a:solidFill>
                            <a:schemeClr val="tx1">
                              <a:lumMod val="50000"/>
                            </a:schemeClr>
                          </a:solidFill>
                          <a:effectLst/>
                        </a:rPr>
                        <a:t>项 目</a:t>
                      </a:r>
                      <a:endParaRPr lang="zh-CN" sz="1800" kern="100" dirty="0">
                        <a:solidFill>
                          <a:schemeClr val="tx1">
                            <a:lumMod val="50000"/>
                          </a:schemeClr>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gridSpan="10">
                  <a:txBody>
                    <a:bodyPr/>
                    <a:p>
                      <a:pPr algn="ctr">
                        <a:spcAft>
                          <a:spcPts val="0"/>
                        </a:spcAft>
                      </a:pPr>
                      <a:r>
                        <a:rPr lang="zh-CN" sz="1600" kern="100" dirty="0">
                          <a:solidFill>
                            <a:schemeClr val="tx1">
                              <a:lumMod val="50000"/>
                            </a:schemeClr>
                          </a:solidFill>
                          <a:effectLst/>
                        </a:rPr>
                        <a:t>分组数据</a:t>
                      </a:r>
                      <a:endParaRPr lang="zh-CN" sz="1600" kern="100" dirty="0">
                        <a:solidFill>
                          <a:schemeClr val="tx1">
                            <a:lumMod val="50000"/>
                          </a:schemeClr>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solidFill>
                      <a:schemeClr val="tx2">
                        <a:lumMod val="20000"/>
                        <a:lumOff val="80000"/>
                      </a:schemeClr>
                    </a:solidFill>
                  </a:tcPr>
                </a:tc>
                <a:tc hMerge="1">
                  <a:tcPr/>
                </a:tc>
                <a:tc hMerge="1">
                  <a:tcPr/>
                </a:tc>
                <a:tc hMerge="1">
                  <a:tcPr/>
                </a:tc>
                <a:tc hMerge="1">
                  <a:tcPr/>
                </a:tc>
                <a:tc hMerge="1">
                  <a:tcPr/>
                </a:tc>
                <a:tc hMerge="1">
                  <a:tcPr/>
                </a:tc>
                <a:tc hMerge="1">
                  <a:tcPr/>
                </a:tc>
                <a:tc hMerge="1">
                  <a:tcPr/>
                </a:tc>
                <a:tc hMerge="1">
                  <a:tcPr/>
                </a:tc>
              </a:tr>
              <a:tr h="437515">
                <a:tc vMerge="1">
                  <a:tcPr/>
                </a:tc>
                <a:tc>
                  <a:txBody>
                    <a:bodyPr/>
                    <a:p>
                      <a:pPr algn="ctr">
                        <a:spcAft>
                          <a:spcPts val="0"/>
                        </a:spcAft>
                      </a:pPr>
                      <a:r>
                        <a:rPr lang="en-US" sz="1600" kern="100" dirty="0">
                          <a:solidFill>
                            <a:srgbClr val="0000FF"/>
                          </a:solidFill>
                          <a:effectLst/>
                        </a:rPr>
                        <a:t>1</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2</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3</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4</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5</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6</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7</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8</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solidFill>
                            <a:srgbClr val="0000FF"/>
                          </a:solidFill>
                          <a:effectLst/>
                        </a:rPr>
                        <a:t>9</a:t>
                      </a:r>
                      <a:endParaRPr lang="en-US" sz="1600" kern="10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solidFill>
                            <a:srgbClr val="0000FF"/>
                          </a:solidFill>
                          <a:effectLst/>
                        </a:rPr>
                        <a:t>10</a:t>
                      </a:r>
                      <a:endParaRPr lang="en-US" sz="1600" kern="10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r>
              <a:tr h="353695">
                <a:tc>
                  <a:txBody>
                    <a:bodyPr/>
                    <a:p>
                      <a:pPr algn="just">
                        <a:spcAft>
                          <a:spcPts val="0"/>
                        </a:spcAft>
                      </a:pPr>
                      <a:r>
                        <a:rPr lang="zh-CN" sz="1600" kern="100" dirty="0">
                          <a:solidFill>
                            <a:schemeClr val="tx1">
                              <a:lumMod val="50000"/>
                            </a:schemeClr>
                          </a:solidFill>
                          <a:effectLst/>
                        </a:rPr>
                        <a:t>最大起重载荷</a:t>
                      </a:r>
                      <a:r>
                        <a:rPr lang="en-US" sz="1600" kern="100" dirty="0">
                          <a:solidFill>
                            <a:schemeClr val="tx1">
                              <a:lumMod val="50000"/>
                            </a:schemeClr>
                          </a:solidFill>
                          <a:effectLst/>
                        </a:rPr>
                        <a:t>F/</a:t>
                      </a:r>
                      <a:r>
                        <a:rPr lang="en-US" sz="1600" kern="100" dirty="0" err="1">
                          <a:solidFill>
                            <a:schemeClr val="tx1">
                              <a:lumMod val="50000"/>
                            </a:schemeClr>
                          </a:solidFill>
                          <a:effectLst/>
                        </a:rPr>
                        <a:t>kN</a:t>
                      </a:r>
                      <a:endParaRPr lang="zh-CN" sz="1600" kern="100" dirty="0">
                        <a:solidFill>
                          <a:schemeClr val="tx1">
                            <a:lumMod val="50000"/>
                          </a:schemeClr>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solidFill>
                      <a:schemeClr val="tx2">
                        <a:lumMod val="20000"/>
                        <a:lumOff val="80000"/>
                      </a:schemeClr>
                    </a:solidFill>
                  </a:tcPr>
                </a:tc>
                <a:tc>
                  <a:txBody>
                    <a:bodyPr/>
                    <a:p>
                      <a:pPr algn="ctr">
                        <a:spcAft>
                          <a:spcPts val="0"/>
                        </a:spcAft>
                      </a:pPr>
                      <a:r>
                        <a:rPr lang="en-US" sz="1600" kern="100" dirty="0">
                          <a:effectLst/>
                        </a:rPr>
                        <a:t>10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12</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14</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16</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18</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20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22</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24</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26</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28</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r>
              <a:tr h="393700">
                <a:tc>
                  <a:txBody>
                    <a:bodyPr/>
                    <a:p>
                      <a:endParaRPr lang="zh-CN" sz="1600"/>
                    </a:p>
                  </a:txBody>
                  <a:tcPr marL="68580" marR="68580" marT="0" marB="0">
                    <a:blipFill>
                      <a:blip r:embed="rId2"/>
                      <a:stretch>
                        <a:fillRect l="-339" t="-290000" r="-334576" b="-696667"/>
                      </a:stretch>
                    </a:blipFill>
                  </a:tcPr>
                </a:tc>
                <a:tc>
                  <a:txBody>
                    <a:bodyPr/>
                    <a:p>
                      <a:pPr algn="ctr">
                        <a:spcAft>
                          <a:spcPts val="0"/>
                        </a:spcAft>
                      </a:pPr>
                      <a:r>
                        <a:rPr lang="en-US" sz="1600" kern="100">
                          <a:effectLst/>
                        </a:rPr>
                        <a:t>130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130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130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140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140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150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150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150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160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160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r>
              <a:tr h="302260">
                <a:tc rowSpan="2">
                  <a:txBody>
                    <a:bodyPr/>
                    <a:p>
                      <a:pPr algn="ctr">
                        <a:spcAft>
                          <a:spcPts val="0"/>
                        </a:spcAft>
                      </a:pPr>
                      <a:r>
                        <a:rPr lang="zh-CN" sz="1600" kern="100" dirty="0">
                          <a:solidFill>
                            <a:schemeClr val="tx1">
                              <a:lumMod val="50000"/>
                            </a:schemeClr>
                          </a:solidFill>
                          <a:effectLst/>
                        </a:rPr>
                        <a:t>项 目</a:t>
                      </a:r>
                      <a:endParaRPr lang="zh-CN" sz="1600" kern="100" dirty="0">
                        <a:solidFill>
                          <a:schemeClr val="tx1">
                            <a:lumMod val="50000"/>
                          </a:schemeClr>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gridSpan="10">
                  <a:txBody>
                    <a:bodyPr/>
                    <a:p>
                      <a:pPr algn="ctr">
                        <a:spcAft>
                          <a:spcPts val="0"/>
                        </a:spcAft>
                      </a:pPr>
                      <a:r>
                        <a:rPr lang="zh-CN" sz="1600" b="1" kern="100" dirty="0">
                          <a:effectLst/>
                        </a:rPr>
                        <a:t>分组数据</a:t>
                      </a:r>
                      <a:endParaRPr lang="zh-CN" sz="1600" b="1"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solidFill>
                      <a:schemeClr val="tx2">
                        <a:lumMod val="20000"/>
                        <a:lumOff val="80000"/>
                      </a:schemeClr>
                    </a:solidFill>
                  </a:tcPr>
                </a:tc>
                <a:tc hMerge="1">
                  <a:tcPr/>
                </a:tc>
                <a:tc hMerge="1">
                  <a:tcPr/>
                </a:tc>
                <a:tc hMerge="1">
                  <a:tcPr/>
                </a:tc>
                <a:tc hMerge="1">
                  <a:tcPr/>
                </a:tc>
                <a:tc hMerge="1">
                  <a:tcPr/>
                </a:tc>
                <a:tc hMerge="1">
                  <a:tcPr/>
                </a:tc>
                <a:tc hMerge="1">
                  <a:tcPr/>
                </a:tc>
                <a:tc hMerge="1">
                  <a:tcPr/>
                </a:tc>
                <a:tc hMerge="1">
                  <a:tcPr/>
                </a:tc>
              </a:tr>
              <a:tr h="353695">
                <a:tc vMerge="1">
                  <a:tcPr/>
                </a:tc>
                <a:tc>
                  <a:txBody>
                    <a:bodyPr/>
                    <a:p>
                      <a:pPr algn="ctr">
                        <a:spcAft>
                          <a:spcPts val="0"/>
                        </a:spcAft>
                      </a:pPr>
                      <a:r>
                        <a:rPr lang="en-US" sz="1600" kern="100">
                          <a:solidFill>
                            <a:srgbClr val="0000FF"/>
                          </a:solidFill>
                          <a:effectLst/>
                        </a:rPr>
                        <a:t>11</a:t>
                      </a:r>
                      <a:endParaRPr lang="en-US" sz="1600" kern="10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solidFill>
                            <a:srgbClr val="0000FF"/>
                          </a:solidFill>
                          <a:effectLst/>
                        </a:rPr>
                        <a:t>12</a:t>
                      </a:r>
                      <a:endParaRPr lang="en-US" sz="1600" kern="10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13</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solidFill>
                            <a:srgbClr val="0000FF"/>
                          </a:solidFill>
                          <a:effectLst/>
                        </a:rPr>
                        <a:t>14</a:t>
                      </a:r>
                      <a:endParaRPr lang="en-US" sz="1600" kern="10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15</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16</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17</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18</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19</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20</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r>
              <a:tr h="525780">
                <a:tc>
                  <a:txBody>
                    <a:bodyPr/>
                    <a:p>
                      <a:pPr algn="just">
                        <a:spcAft>
                          <a:spcPts val="0"/>
                        </a:spcAft>
                      </a:pPr>
                      <a:r>
                        <a:rPr lang="zh-CN" sz="1600" kern="100" dirty="0">
                          <a:solidFill>
                            <a:schemeClr val="tx1">
                              <a:lumMod val="50000"/>
                            </a:schemeClr>
                          </a:solidFill>
                          <a:effectLst/>
                        </a:rPr>
                        <a:t>最大起重载荷</a:t>
                      </a:r>
                      <a:r>
                        <a:rPr lang="en-US" sz="1600" kern="100" dirty="0">
                          <a:solidFill>
                            <a:schemeClr val="tx1">
                              <a:lumMod val="50000"/>
                            </a:schemeClr>
                          </a:solidFill>
                          <a:effectLst/>
                        </a:rPr>
                        <a:t>F/</a:t>
                      </a:r>
                      <a:r>
                        <a:rPr lang="en-US" sz="1600" kern="100" dirty="0" err="1">
                          <a:solidFill>
                            <a:schemeClr val="tx1">
                              <a:lumMod val="50000"/>
                            </a:schemeClr>
                          </a:solidFill>
                          <a:effectLst/>
                        </a:rPr>
                        <a:t>kN</a:t>
                      </a:r>
                      <a:endParaRPr lang="zh-CN" sz="1600" kern="100" dirty="0">
                        <a:solidFill>
                          <a:schemeClr val="tx1">
                            <a:lumMod val="50000"/>
                          </a:schemeClr>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solidFill>
                      <a:schemeClr val="tx2">
                        <a:lumMod val="20000"/>
                        <a:lumOff val="80000"/>
                      </a:schemeClr>
                    </a:solidFill>
                  </a:tcPr>
                </a:tc>
                <a:tc>
                  <a:txBody>
                    <a:bodyPr/>
                    <a:p>
                      <a:pPr algn="ctr">
                        <a:spcAft>
                          <a:spcPts val="0"/>
                        </a:spcAft>
                      </a:pPr>
                      <a:r>
                        <a:rPr lang="en-US" sz="1600" kern="100">
                          <a:effectLst/>
                        </a:rPr>
                        <a:t>30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32</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34</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36</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38</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40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42</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44</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46</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48</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r>
              <a:tr h="394970">
                <a:tc>
                  <a:txBody>
                    <a:bodyPr/>
                    <a:p>
                      <a:endParaRPr lang="zh-CN" sz="1600"/>
                    </a:p>
                  </a:txBody>
                  <a:tcPr marL="68580" marR="68580" marT="0" marB="0">
                    <a:blipFill>
                      <a:blip r:embed="rId2"/>
                      <a:stretch>
                        <a:fillRect l="-339" t="-646667" r="-334576" b="-340000"/>
                      </a:stretch>
                    </a:blipFill>
                  </a:tcPr>
                </a:tc>
                <a:tc>
                  <a:txBody>
                    <a:bodyPr/>
                    <a:p>
                      <a:pPr algn="ctr">
                        <a:spcAft>
                          <a:spcPts val="0"/>
                        </a:spcAft>
                      </a:pPr>
                      <a:r>
                        <a:rPr lang="en-US" sz="1600" kern="100">
                          <a:effectLst/>
                        </a:rPr>
                        <a:t>170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170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170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180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180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200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200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200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210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210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r>
              <a:tr h="302260">
                <a:tc rowSpan="2">
                  <a:txBody>
                    <a:bodyPr/>
                    <a:p>
                      <a:pPr algn="ctr">
                        <a:spcAft>
                          <a:spcPts val="0"/>
                        </a:spcAft>
                      </a:pPr>
                      <a:r>
                        <a:rPr lang="zh-CN" sz="1600" kern="100" dirty="0">
                          <a:solidFill>
                            <a:schemeClr val="tx1">
                              <a:lumMod val="50000"/>
                            </a:schemeClr>
                          </a:solidFill>
                          <a:effectLst/>
                        </a:rPr>
                        <a:t>项 目</a:t>
                      </a:r>
                      <a:endParaRPr lang="zh-CN" sz="1600" kern="100" dirty="0">
                        <a:solidFill>
                          <a:schemeClr val="tx1">
                            <a:lumMod val="50000"/>
                          </a:schemeClr>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gridSpan="10">
                  <a:txBody>
                    <a:bodyPr/>
                    <a:p>
                      <a:pPr algn="ctr">
                        <a:spcAft>
                          <a:spcPts val="0"/>
                        </a:spcAft>
                      </a:pPr>
                      <a:r>
                        <a:rPr lang="zh-CN" sz="1600" b="1" kern="100" dirty="0">
                          <a:effectLst/>
                        </a:rPr>
                        <a:t>分组数据</a:t>
                      </a:r>
                      <a:endParaRPr lang="zh-CN" sz="1600" b="1"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solidFill>
                      <a:schemeClr val="tx2">
                        <a:lumMod val="20000"/>
                        <a:lumOff val="80000"/>
                      </a:schemeClr>
                    </a:solidFill>
                  </a:tcPr>
                </a:tc>
                <a:tc hMerge="1">
                  <a:tcPr/>
                </a:tc>
                <a:tc hMerge="1">
                  <a:tcPr/>
                </a:tc>
                <a:tc hMerge="1">
                  <a:tcPr/>
                </a:tc>
                <a:tc hMerge="1">
                  <a:tcPr/>
                </a:tc>
                <a:tc hMerge="1">
                  <a:tcPr/>
                </a:tc>
                <a:tc hMerge="1">
                  <a:tcPr/>
                </a:tc>
                <a:tc hMerge="1">
                  <a:tcPr/>
                </a:tc>
                <a:tc hMerge="1">
                  <a:tcPr/>
                </a:tc>
                <a:tc hMerge="1">
                  <a:tcPr/>
                </a:tc>
              </a:tr>
              <a:tr h="277495">
                <a:tc vMerge="1">
                  <a:tcPr/>
                </a:tc>
                <a:tc>
                  <a:txBody>
                    <a:bodyPr/>
                    <a:p>
                      <a:pPr algn="ctr">
                        <a:spcAft>
                          <a:spcPts val="0"/>
                        </a:spcAft>
                      </a:pPr>
                      <a:r>
                        <a:rPr lang="en-US" sz="1600" kern="100">
                          <a:solidFill>
                            <a:srgbClr val="0000FF"/>
                          </a:solidFill>
                          <a:effectLst/>
                        </a:rPr>
                        <a:t>21</a:t>
                      </a:r>
                      <a:endParaRPr lang="en-US" sz="1600" kern="10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solidFill>
                            <a:srgbClr val="0000FF"/>
                          </a:solidFill>
                          <a:effectLst/>
                        </a:rPr>
                        <a:t>22</a:t>
                      </a:r>
                      <a:endParaRPr lang="en-US" sz="1600" kern="10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solidFill>
                            <a:srgbClr val="0000FF"/>
                          </a:solidFill>
                          <a:effectLst/>
                        </a:rPr>
                        <a:t>23</a:t>
                      </a:r>
                      <a:endParaRPr lang="en-US" sz="1600" kern="10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solidFill>
                            <a:srgbClr val="0000FF"/>
                          </a:solidFill>
                          <a:effectLst/>
                        </a:rPr>
                        <a:t>24</a:t>
                      </a:r>
                      <a:endParaRPr lang="en-US" sz="1600" kern="10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solidFill>
                            <a:srgbClr val="0000FF"/>
                          </a:solidFill>
                          <a:effectLst/>
                        </a:rPr>
                        <a:t>25</a:t>
                      </a:r>
                      <a:endParaRPr lang="en-US" sz="1600" kern="10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solidFill>
                            <a:srgbClr val="0000FF"/>
                          </a:solidFill>
                          <a:effectLst/>
                        </a:rPr>
                        <a:t>26</a:t>
                      </a:r>
                      <a:endParaRPr lang="en-US" sz="1600" kern="10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27</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28</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29</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solidFill>
                            <a:srgbClr val="0000FF"/>
                          </a:solidFill>
                          <a:effectLst/>
                        </a:rPr>
                        <a:t>30</a:t>
                      </a:r>
                      <a:endParaRPr lang="en-US" sz="1600" kern="100" dirty="0">
                        <a:solidFill>
                          <a:srgbClr val="0000FF"/>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r>
              <a:tr h="353695">
                <a:tc>
                  <a:txBody>
                    <a:bodyPr/>
                    <a:p>
                      <a:pPr algn="just">
                        <a:spcAft>
                          <a:spcPts val="0"/>
                        </a:spcAft>
                      </a:pPr>
                      <a:r>
                        <a:rPr lang="zh-CN" sz="1600" kern="100" dirty="0">
                          <a:solidFill>
                            <a:schemeClr val="tx1">
                              <a:lumMod val="50000"/>
                            </a:schemeClr>
                          </a:solidFill>
                          <a:effectLst/>
                        </a:rPr>
                        <a:t>最大起重载荷</a:t>
                      </a:r>
                      <a:r>
                        <a:rPr lang="en-US" sz="1600" kern="100" dirty="0">
                          <a:solidFill>
                            <a:schemeClr val="tx1">
                              <a:lumMod val="50000"/>
                            </a:schemeClr>
                          </a:solidFill>
                          <a:effectLst/>
                        </a:rPr>
                        <a:t>F/</a:t>
                      </a:r>
                      <a:r>
                        <a:rPr lang="en-US" sz="1600" kern="100" dirty="0" err="1">
                          <a:solidFill>
                            <a:schemeClr val="tx1">
                              <a:lumMod val="50000"/>
                            </a:schemeClr>
                          </a:solidFill>
                          <a:effectLst/>
                        </a:rPr>
                        <a:t>kN</a:t>
                      </a:r>
                      <a:endParaRPr lang="zh-CN" sz="1600" kern="100" dirty="0">
                        <a:solidFill>
                          <a:schemeClr val="tx1">
                            <a:lumMod val="50000"/>
                          </a:schemeClr>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solidFill>
                      <a:schemeClr val="tx2">
                        <a:lumMod val="20000"/>
                        <a:lumOff val="80000"/>
                      </a:schemeClr>
                    </a:solidFill>
                  </a:tcPr>
                </a:tc>
                <a:tc>
                  <a:txBody>
                    <a:bodyPr/>
                    <a:p>
                      <a:pPr algn="ctr">
                        <a:spcAft>
                          <a:spcPts val="0"/>
                        </a:spcAft>
                      </a:pPr>
                      <a:r>
                        <a:rPr lang="en-US" sz="1600" kern="100">
                          <a:effectLst/>
                        </a:rPr>
                        <a:t>50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52</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54</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56</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58</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60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62</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64</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66</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68</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r>
              <a:tr h="394335">
                <a:tc>
                  <a:txBody>
                    <a:bodyPr/>
                    <a:p>
                      <a:endParaRPr lang="zh-CN" sz="1600">
                        <a:solidFill>
                          <a:schemeClr val="accent3"/>
                        </a:solidFill>
                        <a:uFillTx/>
                      </a:endParaRPr>
                    </a:p>
                  </a:txBody>
                  <a:tcPr marL="68580" marR="68580" marT="0" marB="0">
                    <a:blipFill>
                      <a:blip r:embed="rId2"/>
                      <a:stretch>
                        <a:fillRect l="-339" t="-983333" r="-334576" b="-3333"/>
                      </a:stretch>
                    </a:blipFill>
                  </a:tcPr>
                </a:tc>
                <a:tc>
                  <a:txBody>
                    <a:bodyPr/>
                    <a:p>
                      <a:pPr algn="ctr">
                        <a:spcAft>
                          <a:spcPts val="0"/>
                        </a:spcAft>
                      </a:pPr>
                      <a:r>
                        <a:rPr lang="en-US" sz="1600" kern="100">
                          <a:effectLst/>
                        </a:rPr>
                        <a:t>220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220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220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230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230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240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240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a:effectLst/>
                        </a:rPr>
                        <a:t>240</a:t>
                      </a:r>
                      <a:endParaRPr lang="en-US" sz="16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250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c>
                  <a:txBody>
                    <a:bodyPr/>
                    <a:p>
                      <a:pPr algn="ctr">
                        <a:spcAft>
                          <a:spcPts val="0"/>
                        </a:spcAft>
                      </a:pPr>
                      <a:r>
                        <a:rPr lang="en-US" sz="1600" kern="100" dirty="0">
                          <a:effectLst/>
                        </a:rPr>
                        <a:t>250</a:t>
                      </a:r>
                      <a:endParaRPr lang="en-US" sz="16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solidFill>
                      <a:schemeClr val="tx2">
                        <a:lumMod val="20000"/>
                        <a:lumOff val="80000"/>
                      </a:schemeClr>
                    </a:solidFill>
                  </a:tcPr>
                </a:tc>
              </a:tr>
            </a:tbl>
          </a:graphicData>
        </a:graphic>
      </p:graphicFrame>
      <p:sp>
        <p:nvSpPr>
          <p:cNvPr id="2" name="矩形 1"/>
          <p:cNvSpPr/>
          <p:nvPr/>
        </p:nvSpPr>
        <p:spPr>
          <a:xfrm>
            <a:off x="2638743" y="947738"/>
            <a:ext cx="5108575" cy="398780"/>
          </a:xfrm>
          <a:prstGeom prst="rect">
            <a:avLst/>
          </a:prstGeom>
        </p:spPr>
        <p:txBody>
          <a:bodyPr>
            <a:spAutoFit/>
          </a:bodyPr>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dirty="0">
                <a:ln>
                  <a:noFill/>
                </a:ln>
                <a:solidFill>
                  <a:schemeClr val="tx1">
                    <a:lumMod val="50000"/>
                  </a:schemeClr>
                </a:solidFill>
                <a:effectLst/>
                <a:uLnTx/>
                <a:uFillTx/>
                <a:latin typeface="Times New Roman" panose="02020603050405020304" pitchFamily="18" charset="0"/>
                <a:ea typeface="华文中宋" panose="02010600040101010101" pitchFamily="2" charset="-122"/>
                <a:cs typeface="+mn-cs"/>
              </a:rPr>
              <a:t>表</a:t>
            </a:r>
            <a:r>
              <a:rPr kumimoji="1" lang="en-US" altLang="zh-CN" sz="2000" b="0" i="0" u="none" strike="noStrike" kern="1200" cap="none" spc="0" normalizeH="0" baseline="0" noProof="0" dirty="0">
                <a:ln>
                  <a:noFill/>
                </a:ln>
                <a:solidFill>
                  <a:schemeClr val="tx1">
                    <a:lumMod val="50000"/>
                  </a:schemeClr>
                </a:solidFill>
                <a:effectLst/>
                <a:uLnTx/>
                <a:uFillTx/>
                <a:latin typeface="Times New Roman" panose="02020603050405020304" pitchFamily="18" charset="0"/>
                <a:ea typeface="华文中宋" panose="02010600040101010101" pitchFamily="2" charset="-122"/>
                <a:cs typeface="+mn-cs"/>
              </a:rPr>
              <a:t>2.1-1 </a:t>
            </a:r>
            <a:r>
              <a:rPr kumimoji="1" lang="zh-CN" altLang="en-US" sz="2000" b="0" i="0" u="none" strike="noStrike" kern="1200" cap="none" spc="0" normalizeH="0" baseline="0" noProof="0" dirty="0">
                <a:ln>
                  <a:noFill/>
                </a:ln>
                <a:solidFill>
                  <a:schemeClr val="tx1">
                    <a:lumMod val="50000"/>
                  </a:schemeClr>
                </a:solidFill>
                <a:effectLst/>
                <a:uLnTx/>
                <a:uFillTx/>
                <a:latin typeface="Times New Roman" panose="02020603050405020304" pitchFamily="18" charset="0"/>
                <a:ea typeface="华文中宋" panose="02010600040101010101" pitchFamily="2" charset="-122"/>
                <a:cs typeface="+mn-cs"/>
              </a:rPr>
              <a:t>螺旋千斤顶设计分组及原始数据</a:t>
            </a:r>
            <a:endParaRPr kumimoji="1" lang="zh-CN" altLang="en-US" sz="2000" b="0" i="0" u="none" strike="noStrike" kern="1200" cap="none" spc="0" normalizeH="0" baseline="0" noProof="0" dirty="0">
              <a:ln>
                <a:noFill/>
              </a:ln>
              <a:solidFill>
                <a:schemeClr val="tx1">
                  <a:lumMod val="50000"/>
                </a:schemeClr>
              </a:solidFill>
              <a:effectLst/>
              <a:uLnTx/>
              <a:uFillTx/>
              <a:latin typeface="Times New Roman" panose="02020603050405020304" pitchFamily="18" charset="0"/>
              <a:ea typeface="华文中宋" panose="02010600040101010101" pitchFamily="2" charset="-122"/>
              <a:cs typeface="+mn-cs"/>
            </a:endParaRPr>
          </a:p>
        </p:txBody>
      </p:sp>
      <p:sp>
        <p:nvSpPr>
          <p:cNvPr id="6" name="圆角矩形 5"/>
          <p:cNvSpPr/>
          <p:nvPr/>
        </p:nvSpPr>
        <p:spPr>
          <a:xfrm>
            <a:off x="560705" y="848360"/>
            <a:ext cx="1233805" cy="536575"/>
          </a:xfrm>
          <a:prstGeom prst="round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1" lang="zh-CN" altLang="en-US" sz="2200" b="0" i="0" u="none" strike="noStrike" cap="none" normalizeH="0" baseline="0" smtClean="0">
                <a:ln>
                  <a:noFill/>
                </a:ln>
                <a:solidFill>
                  <a:srgbClr val="FF0000"/>
                </a:solidFill>
                <a:effectLst/>
                <a:latin typeface="Tahoma" panose="020B0604030504040204" pitchFamily="34" charset="0"/>
                <a:ea typeface="华文中宋" panose="02010600040101010101" pitchFamily="2" charset="-122"/>
              </a:rPr>
              <a:t>教材</a:t>
            </a:r>
            <a:r>
              <a:rPr kumimoji="1" lang="en-US" altLang="zh-CN" sz="2200" b="0" i="0" u="none" strike="noStrike" cap="none" normalizeH="0" baseline="0" smtClean="0">
                <a:ln>
                  <a:noFill/>
                </a:ln>
                <a:solidFill>
                  <a:srgbClr val="FF0000"/>
                </a:solidFill>
                <a:effectLst/>
                <a:latin typeface="Tahoma" panose="020B0604030504040204" pitchFamily="34" charset="0"/>
                <a:ea typeface="华文中宋" panose="02010600040101010101" pitchFamily="2" charset="-122"/>
              </a:rPr>
              <a:t>P72</a:t>
            </a:r>
            <a:endParaRPr kumimoji="1" lang="en-US" altLang="zh-CN" sz="2200" b="0" i="0" u="none" strike="noStrike" cap="none" normalizeH="0" baseline="0" smtClean="0">
              <a:ln>
                <a:noFill/>
              </a:ln>
              <a:solidFill>
                <a:srgbClr val="FF0000"/>
              </a:solidFill>
              <a:effectLst/>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000" fill="hold">
                                          <p:stCondLst>
                                            <p:cond delay="0"/>
                                          </p:stCondLst>
                                        </p:cTn>
                                        <p:tgtEl>
                                          <p:spTgt spid="6"/>
                                        </p:tgtEl>
                                        <p:attrNameLst>
                                          <p:attrName>style.visibility</p:attrName>
                                        </p:attrNameLst>
                                      </p:cBhvr>
                                      <p:to>
                                        <p:strVal val="visible"/>
                                      </p:to>
                                    </p:set>
                                    <p:animEffect transition="in" filter="box(in)">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846455" y="403225"/>
            <a:ext cx="7654290" cy="6283325"/>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688340" y="807720"/>
            <a:ext cx="1703705" cy="1322070"/>
          </a:xfrm>
          <a:prstGeom prst="rect">
            <a:avLst/>
          </a:prstGeom>
        </p:spPr>
      </p:pic>
      <p:pic>
        <p:nvPicPr>
          <p:cNvPr id="3" name="图片 2"/>
          <p:cNvPicPr>
            <a:picLocks noChangeAspect="1"/>
          </p:cNvPicPr>
          <p:nvPr/>
        </p:nvPicPr>
        <p:blipFill>
          <a:blip r:embed="rId2"/>
          <a:stretch>
            <a:fillRect/>
          </a:stretch>
        </p:blipFill>
        <p:spPr>
          <a:xfrm>
            <a:off x="2704465" y="323215"/>
            <a:ext cx="1908810" cy="4990465"/>
          </a:xfrm>
          <a:prstGeom prst="rect">
            <a:avLst/>
          </a:prstGeom>
        </p:spPr>
      </p:pic>
      <p:pic>
        <p:nvPicPr>
          <p:cNvPr id="4" name="图片 3"/>
          <p:cNvPicPr>
            <a:picLocks noChangeAspect="1"/>
          </p:cNvPicPr>
          <p:nvPr/>
        </p:nvPicPr>
        <p:blipFill>
          <a:blip r:embed="rId3"/>
          <a:stretch>
            <a:fillRect/>
          </a:stretch>
        </p:blipFill>
        <p:spPr>
          <a:xfrm>
            <a:off x="4613275" y="148590"/>
            <a:ext cx="3589020" cy="5494020"/>
          </a:xfrm>
          <a:prstGeom prst="rect">
            <a:avLst/>
          </a:prstGeom>
        </p:spPr>
      </p:pic>
      <p:pic>
        <p:nvPicPr>
          <p:cNvPr id="5" name="图片 4"/>
          <p:cNvPicPr>
            <a:picLocks noChangeAspect="1"/>
          </p:cNvPicPr>
          <p:nvPr/>
        </p:nvPicPr>
        <p:blipFill>
          <a:blip r:embed="rId4"/>
          <a:stretch>
            <a:fillRect/>
          </a:stretch>
        </p:blipFill>
        <p:spPr>
          <a:xfrm>
            <a:off x="104140" y="3953510"/>
            <a:ext cx="2406015" cy="2404110"/>
          </a:xfrm>
          <a:prstGeom prst="rect">
            <a:avLst/>
          </a:prstGeom>
        </p:spPr>
      </p:pic>
      <p:pic>
        <p:nvPicPr>
          <p:cNvPr id="6" name="图片 5"/>
          <p:cNvPicPr>
            <a:picLocks noChangeAspect="1"/>
          </p:cNvPicPr>
          <p:nvPr/>
        </p:nvPicPr>
        <p:blipFill>
          <a:blip r:embed="rId5"/>
          <a:stretch>
            <a:fillRect/>
          </a:stretch>
        </p:blipFill>
        <p:spPr>
          <a:xfrm>
            <a:off x="2646680" y="5576570"/>
            <a:ext cx="6147435" cy="1214120"/>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1"/>
          <p:cNvGrpSpPr/>
          <p:nvPr/>
        </p:nvGrpSpPr>
        <p:grpSpPr>
          <a:xfrm>
            <a:off x="6190178" y="5720983"/>
            <a:ext cx="2630487" cy="827087"/>
            <a:chOff x="10088" y="9497"/>
            <a:chExt cx="4141" cy="1302"/>
          </a:xfrm>
        </p:grpSpPr>
        <p:sp>
          <p:nvSpPr>
            <p:cNvPr id="6"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7" name="图片 1073742872" descr="44303071dc0a1f9688d599dbc999570副本"/>
            <p:cNvPicPr>
              <a:picLocks noChangeAspect="1"/>
            </p:cNvPicPr>
            <p:nvPr/>
          </p:nvPicPr>
          <p:blipFill>
            <a:blip r:embed="rId1"/>
            <a:stretch>
              <a:fillRect/>
            </a:stretch>
          </p:blipFill>
          <p:spPr>
            <a:xfrm>
              <a:off x="10088" y="9497"/>
              <a:ext cx="1435" cy="1303"/>
            </a:xfrm>
            <a:prstGeom prst="rect">
              <a:avLst/>
            </a:prstGeom>
            <a:noFill/>
            <a:ln w="9525">
              <a:noFill/>
            </a:ln>
          </p:spPr>
        </p:pic>
      </p:grpSp>
      <p:sp>
        <p:nvSpPr>
          <p:cNvPr id="9" name="圆角矩形 8"/>
          <p:cNvSpPr/>
          <p:nvPr/>
        </p:nvSpPr>
        <p:spPr bwMode="auto">
          <a:xfrm>
            <a:off x="607695" y="2625090"/>
            <a:ext cx="1859280" cy="736600"/>
          </a:xfrm>
          <a:prstGeom prst="roundRect">
            <a:avLst/>
          </a:prstGeom>
          <a:gradFill flip="none" rotWithShape="1">
            <a:gsLst>
              <a:gs pos="0">
                <a:srgbClr val="0000FF">
                  <a:tint val="66000"/>
                  <a:satMod val="160000"/>
                </a:srgbClr>
              </a:gs>
              <a:gs pos="50000">
                <a:srgbClr val="0000FF">
                  <a:tint val="44500"/>
                  <a:satMod val="160000"/>
                </a:srgbClr>
              </a:gs>
              <a:gs pos="100000">
                <a:srgbClr val="0000FF">
                  <a:tint val="23500"/>
                  <a:satMod val="160000"/>
                </a:srgbClr>
              </a:gs>
            </a:gsLst>
            <a:lin ang="5400000" scaled="1"/>
            <a:tileRect/>
          </a:gradFill>
          <a:ln w="9525" cap="flat" cmpd="sng" algn="ctr">
            <a:solidFill>
              <a:srgbClr val="0000FF"/>
            </a:solidFill>
            <a:prstDash val="solid"/>
            <a:round/>
            <a:headEnd type="none" w="med" len="med"/>
            <a:tailEnd type="none" w="med" len="med"/>
          </a:ln>
          <a:effectLst/>
          <a:scene3d>
            <a:camera prst="orthographicFront"/>
            <a:lightRig rig="threePt" dir="t"/>
          </a:scene3d>
          <a:sp3d>
            <a:bevelT w="152400" h="50800" prst="softRound"/>
          </a:sp3d>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3600" b="0"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rPr>
              <a:t>螺 纹</a:t>
            </a:r>
            <a:endParaRPr kumimoji="1" lang="zh-CN" altLang="en-US" sz="3600" b="0"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endParaRPr>
          </a:p>
        </p:txBody>
      </p:sp>
      <p:sp>
        <p:nvSpPr>
          <p:cNvPr id="2" name="左大括号 1"/>
          <p:cNvSpPr/>
          <p:nvPr/>
        </p:nvSpPr>
        <p:spPr bwMode="auto">
          <a:xfrm>
            <a:off x="2554534" y="2281405"/>
            <a:ext cx="174660" cy="1304818"/>
          </a:xfrm>
          <a:prstGeom prst="leftBrace">
            <a:avLst/>
          </a:prstGeom>
          <a:no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0" name="文本框 9"/>
          <p:cNvSpPr txBox="1"/>
          <p:nvPr/>
        </p:nvSpPr>
        <p:spPr>
          <a:xfrm>
            <a:off x="2816760" y="1971667"/>
            <a:ext cx="1160980" cy="460375"/>
          </a:xfrm>
          <a:prstGeom prst="rect">
            <a:avLst/>
          </a:prstGeom>
          <a:noFill/>
        </p:spPr>
        <p:txBody>
          <a:bodyPr wrap="square" rtlCol="0">
            <a:spAutoFit/>
          </a:bodyPr>
          <a:lstStyle/>
          <a:p>
            <a:r>
              <a:rPr lang="zh-CN" altLang="en-US" sz="2400" dirty="0" smtClean="0">
                <a:solidFill>
                  <a:srgbClr val="C00000"/>
                </a:solidFill>
                <a:latin typeface="黑体" panose="02010609060101010101" pitchFamily="49" charset="-122"/>
                <a:ea typeface="黑体" panose="02010609060101010101" pitchFamily="49" charset="-122"/>
              </a:rPr>
              <a:t>连接</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14" name="文本框 13"/>
          <p:cNvSpPr txBox="1"/>
          <p:nvPr/>
        </p:nvSpPr>
        <p:spPr>
          <a:xfrm>
            <a:off x="2816695" y="3361540"/>
            <a:ext cx="1160980" cy="460375"/>
          </a:xfrm>
          <a:prstGeom prst="rect">
            <a:avLst/>
          </a:prstGeom>
          <a:noFill/>
        </p:spPr>
        <p:txBody>
          <a:bodyPr wrap="square" rtlCol="0">
            <a:spAutoFit/>
          </a:bodyPr>
          <a:lstStyle/>
          <a:p>
            <a:r>
              <a:rPr lang="zh-CN" altLang="en-US" sz="2400" dirty="0">
                <a:solidFill>
                  <a:srgbClr val="C00000"/>
                </a:solidFill>
                <a:latin typeface="黑体" panose="02010609060101010101" pitchFamily="49" charset="-122"/>
                <a:ea typeface="黑体" panose="02010609060101010101" pitchFamily="49" charset="-122"/>
              </a:rPr>
              <a:t>传动</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3" name="文本框 2"/>
          <p:cNvSpPr txBox="1"/>
          <p:nvPr/>
        </p:nvSpPr>
        <p:spPr>
          <a:xfrm>
            <a:off x="3670300" y="3361690"/>
            <a:ext cx="2289175" cy="429895"/>
          </a:xfrm>
          <a:prstGeom prst="rect">
            <a:avLst/>
          </a:prstGeom>
          <a:noFill/>
        </p:spPr>
        <p:txBody>
          <a:bodyPr wrap="square" rtlCol="0">
            <a:spAutoFit/>
          </a:bodyPr>
          <a:p>
            <a:r>
              <a:rPr lang="zh-CN" altLang="en-US"/>
              <a:t>传动效率高</a:t>
            </a:r>
            <a:endParaRPr lang="zh-CN" altLang="en-US"/>
          </a:p>
        </p:txBody>
      </p:sp>
      <p:sp>
        <p:nvSpPr>
          <p:cNvPr id="4" name="文本框 3"/>
          <p:cNvSpPr txBox="1"/>
          <p:nvPr/>
        </p:nvSpPr>
        <p:spPr>
          <a:xfrm>
            <a:off x="3670300" y="1743075"/>
            <a:ext cx="2289175" cy="768350"/>
          </a:xfrm>
          <a:prstGeom prst="rect">
            <a:avLst/>
          </a:prstGeom>
          <a:noFill/>
        </p:spPr>
        <p:txBody>
          <a:bodyPr wrap="square" rtlCol="0">
            <a:spAutoFit/>
          </a:bodyPr>
          <a:p>
            <a:r>
              <a:rPr lang="zh-CN" altLang="en-US"/>
              <a:t>连接可靠</a:t>
            </a:r>
            <a:endParaRPr lang="zh-CN" altLang="en-US"/>
          </a:p>
          <a:p>
            <a:r>
              <a:rPr lang="zh-CN" altLang="en-US"/>
              <a:t>自锁</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wipe(left)">
                                      <p:cBhvr>
                                        <p:cTn id="25"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0" grpId="0"/>
      <p:bldP spid="14" grpId="0"/>
      <p:bldP spid="4" grpId="0"/>
    </p:bldLst>
  </p:timing>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Bullet"/>
  <p:tag name="RAINPROBLEMTYPE" val="MultipleChoice"/>
  <p:tag name="RAINBULLET" val="Wrong"/>
</p:tagLst>
</file>

<file path=ppt/tags/tag7.xml><?xml version="1.0" encoding="utf-8"?>
<p:tagLst xmlns:p="http://schemas.openxmlformats.org/presentationml/2006/main">
  <p:tag name="RAINPROBLEM" val="ProblemBullet"/>
  <p:tag name="RAINPROBLEMTYPE" val="MultipleChoice"/>
  <p:tag name="RAINBULLET" val="Correct"/>
</p:tagLst>
</file>

<file path=ppt/tags/tag8.xml><?xml version="1.0" encoding="utf-8"?>
<p:tagLst xmlns:p="http://schemas.openxmlformats.org/presentationml/2006/main">
  <p:tag name="RAINPROBLEM" val="ProblemBullet"/>
  <p:tag name="RAINPROBLEMTYPE" val="MultipleChoice"/>
  <p:tag name="RAINBULLET" val="Wrong"/>
</p:tagLst>
</file>

<file path=ppt/tags/tag9.xml><?xml version="1.0" encoding="utf-8"?>
<p:tagLst xmlns:p="http://schemas.openxmlformats.org/presentationml/2006/main">
  <p:tag name="RAINPROBLEM" val="ProblemBullet"/>
  <p:tag name="RAINPROBLEMTYPE" val="MultipleChoice"/>
  <p:tag name="RAINBULLET" val="Wrong"/>
</p:tagLst>
</file>

<file path=ppt/tags/tag10.xml><?xml version="1.0" encoding="utf-8"?>
<p:tagLst xmlns:p="http://schemas.openxmlformats.org/presentationml/2006/main">
  <p:tag name="RAINPROBLEM" val="ProblemSubmit"/>
  <p:tag name="RAINPROBLEMTYPE" val="MultipleChoice"/>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 val="ProblemSetting"/>
  <p:tag name="RAINPROBLEMTYPE" val="MultipleChoice"/>
</p:tagLst>
</file>

<file path=ppt/tags/tag17.xml><?xml version="1.0" encoding="utf-8"?>
<p:tagLst xmlns:p="http://schemas.openxmlformats.org/presentationml/2006/main">
  <p:tag name="RAINPROBLEM" val="MultipleChoice"/>
  <p:tag name="PROBLEMSCORE" val="1.0"/>
</p:tagLst>
</file>

<file path=ppt/tags/tag18.xml><?xml version="1.0" encoding="utf-8"?>
<p:tagLst xmlns:p="http://schemas.openxmlformats.org/presentationml/2006/main">
  <p:tag name="RAINPROBLEM" val="ProblemBody"/>
</p:tagLst>
</file>

<file path=ppt/tags/tag19.xml><?xml version="1.0" encoding="utf-8"?>
<p:tagLst xmlns:p="http://schemas.openxmlformats.org/presentationml/2006/main">
  <p:tag name="RAINPROBLEM" val="ProblemItem"/>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Item"/>
</p:tagLst>
</file>

<file path=ppt/tags/tag22.xml><?xml version="1.0" encoding="utf-8"?>
<p:tagLst xmlns:p="http://schemas.openxmlformats.org/presentationml/2006/main">
  <p:tag name="RAINPROBLEM" val="ProblemBullet"/>
  <p:tag name="RAINPROBLEMTYPE" val="MultipleChoice"/>
  <p:tag name="RAINBULLET" val="Correct"/>
</p:tagLst>
</file>

<file path=ppt/tags/tag23.xml><?xml version="1.0" encoding="utf-8"?>
<p:tagLst xmlns:p="http://schemas.openxmlformats.org/presentationml/2006/main">
  <p:tag name="RAINPROBLEM" val="ProblemBullet"/>
  <p:tag name="RAINPROBLEMTYPE" val="MultipleChoice"/>
  <p:tag name="RAINBULLET" val="Wrong"/>
</p:tagLst>
</file>

<file path=ppt/tags/tag24.xml><?xml version="1.0" encoding="utf-8"?>
<p:tagLst xmlns:p="http://schemas.openxmlformats.org/presentationml/2006/main">
  <p:tag name="RAINPROBLEM" val="ProblemBullet"/>
  <p:tag name="RAINPROBLEMTYPE" val="MultipleChoice"/>
  <p:tag name="RAINBULLET" val="Wrong"/>
</p:tagLst>
</file>

<file path=ppt/tags/tag25.xml><?xml version="1.0" encoding="utf-8"?>
<p:tagLst xmlns:p="http://schemas.openxmlformats.org/presentationml/2006/main">
  <p:tag name="RAINPROBLEM" val="ProblemSubmit"/>
  <p:tag name="RAINPROBLEMTYPE" val="MultipleChoice"/>
</p:tagLst>
</file>

<file path=ppt/tags/tag26.xml><?xml version="1.0" encoding="utf-8"?>
<p:tagLst xmlns:p="http://schemas.openxmlformats.org/presentationml/2006/main">
  <p:tag name="RAINPROBLEMTYPE" val="ProblemTypeMarker"/>
</p:tagLst>
</file>

<file path=ppt/tags/tag27.xml><?xml version="1.0" encoding="utf-8"?>
<p:tagLst xmlns:p="http://schemas.openxmlformats.org/presentationml/2006/main">
  <p:tag name="RAINPROBLEMTYPE" val="ProblemTypeMarker"/>
</p:tagLst>
</file>

<file path=ppt/tags/tag28.xml><?xml version="1.0" encoding="utf-8"?>
<p:tagLst xmlns:p="http://schemas.openxmlformats.org/presentationml/2006/main">
  <p:tag name="RAINPROBLEMTYPE" val="ProblemTypeMarker"/>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 val="ProblemSetting"/>
  <p:tag name="RAINPROBLEMTYPE" val="MultipleChoice"/>
</p:tagLst>
</file>

<file path=ppt/tags/tag32.xml><?xml version="1.0" encoding="utf-8"?>
<p:tagLst xmlns:p="http://schemas.openxmlformats.org/presentationml/2006/main">
  <p:tag name="RAINPROBLEM" val="MultipleChoice"/>
  <p:tag name="PROBLEMSCORE" val="1.0"/>
</p:tagLst>
</file>

<file path=ppt/tags/tag33.xml><?xml version="1.0" encoding="utf-8"?>
<p:tagLst xmlns:p="http://schemas.openxmlformats.org/presentationml/2006/main">
  <p:tag name="KSO_WM_UNIT_TABLE_BEAUTIFY" val="smartTable{1fbb2d68-e19e-4140-9a6e-b9e2950aa56f}"/>
  <p:tag name="TABLE_ENDDRAG_ORIGIN_RECT" val="645*345"/>
  <p:tag name="TABLE_ENDDRAG_RECT" val="31*151*645*345"/>
</p:tagLst>
</file>

<file path=ppt/tags/tag34.xml><?xml version="1.0" encoding="utf-8"?>
<p:tagLst xmlns:p="http://schemas.openxmlformats.org/presentationml/2006/main">
  <p:tag name="COMMONDATA" val="eyJoZGlkIjoiZmYwY2UxNzI0ODdjMTkzYTM2NmQ4OTdkNGYwMzJlYmMifQ=="/>
  <p:tag name="KSO_WPP_MARK_KEY" val="420452c5-642e-4cb7-9f1c-0dab9e960c42"/>
</p:tagLst>
</file>

<file path=ppt/theme/theme1.xml><?xml version="1.0" encoding="utf-8"?>
<a:theme xmlns:a="http://schemas.openxmlformats.org/drawingml/2006/main" name="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1286</Words>
  <Application>WPS 演示</Application>
  <PresentationFormat>全屏显示(4:3)</PresentationFormat>
  <Paragraphs>396</Paragraphs>
  <Slides>11</Slides>
  <Notes>3</Notes>
  <HiddenSlides>0</HiddenSlides>
  <MMClips>0</MMClips>
  <ScaleCrop>false</ScaleCrop>
  <HeadingPairs>
    <vt:vector size="8" baseType="variant">
      <vt:variant>
        <vt:lpstr>已用的字体</vt:lpstr>
      </vt:variant>
      <vt:variant>
        <vt:i4>10</vt:i4>
      </vt:variant>
      <vt:variant>
        <vt:lpstr>主题</vt:lpstr>
      </vt:variant>
      <vt:variant>
        <vt:i4>4</vt:i4>
      </vt:variant>
      <vt:variant>
        <vt:lpstr>嵌入 OLE 服务器</vt:lpstr>
      </vt:variant>
      <vt:variant>
        <vt:i4>1</vt:i4>
      </vt:variant>
      <vt:variant>
        <vt:lpstr>幻灯片标题</vt:lpstr>
      </vt:variant>
      <vt:variant>
        <vt:i4>11</vt:i4>
      </vt:variant>
    </vt:vector>
  </HeadingPairs>
  <TitlesOfParts>
    <vt:vector size="26" baseType="lpstr">
      <vt:lpstr>Arial</vt:lpstr>
      <vt:lpstr>宋体</vt:lpstr>
      <vt:lpstr>Wingdings</vt:lpstr>
      <vt:lpstr>Tahoma</vt:lpstr>
      <vt:lpstr>华文中宋</vt:lpstr>
      <vt:lpstr>微软雅黑</vt:lpstr>
      <vt:lpstr>黑体</vt:lpstr>
      <vt:lpstr>Times New Roman</vt:lpstr>
      <vt:lpstr>Calibri</vt:lpstr>
      <vt:lpstr>Arial Unicode MS</vt:lpstr>
      <vt:lpstr>Blueprint</vt:lpstr>
      <vt:lpstr>2_Blueprint</vt:lpstr>
      <vt:lpstr>3_Blueprint</vt:lpstr>
      <vt:lpstr>5_Blueprint</vt:lpstr>
      <vt:lpstr>Equation.KSEE3</vt:lpstr>
      <vt:lpstr>第2篇  设计一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nwpu209</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wuliyan</dc:creator>
  <cp:lastModifiedBy>DQH</cp:lastModifiedBy>
  <cp:revision>549</cp:revision>
  <dcterms:created xsi:type="dcterms:W3CDTF">2002-03-15T12:39:00Z</dcterms:created>
  <dcterms:modified xsi:type="dcterms:W3CDTF">2025-09-11T04:41:12Z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F3A332E164964FD08021295A81327BAD</vt:lpwstr>
  </property>
  <property fmtid="{D5CDD505-2E9C-101B-9397-08002B2CF9AE}" pid="3" name="KSOProductBuildVer">
    <vt:lpwstr>2052-12.1.0.22529</vt:lpwstr>
  </property>
</Properties>
</file>