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12"/>
  </p:notesMasterIdLst>
  <p:sldIdLst>
    <p:sldId id="425" r:id="rId5"/>
    <p:sldId id="556" r:id="rId6"/>
    <p:sldId id="558" r:id="rId7"/>
    <p:sldId id="575" r:id="rId8"/>
    <p:sldId id="559" r:id="rId9"/>
    <p:sldId id="567" r:id="rId10"/>
    <p:sldId id="421" r:id="rId11"/>
    <p:sldId id="543" r:id="rId13"/>
    <p:sldId id="544" r:id="rId14"/>
    <p:sldId id="310" r:id="rId15"/>
    <p:sldId id="560" r:id="rId16"/>
    <p:sldId id="561" r:id="rId17"/>
    <p:sldId id="562" r:id="rId18"/>
  </p:sldIdLst>
  <p:sldSz cx="9144000" cy="6858000" type="screen4x3"/>
  <p:notesSz cx="6858000" cy="9144000"/>
  <p:custDataLst>
    <p:tags r:id="rId2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5pPr>
    <a:lvl6pPr marL="2286000" algn="l" defTabSz="914400" rtl="0" eaLnBrk="1" latinLnBrk="0" hangingPunct="1">
      <a:defRPr kumimoji="1"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6pPr>
    <a:lvl7pPr marL="2743200" algn="l" defTabSz="914400" rtl="0" eaLnBrk="1" latinLnBrk="0" hangingPunct="1">
      <a:defRPr kumimoji="1"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7pPr>
    <a:lvl8pPr marL="3200400" algn="l" defTabSz="914400" rtl="0" eaLnBrk="1" latinLnBrk="0" hangingPunct="1">
      <a:defRPr kumimoji="1"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8pPr>
    <a:lvl9pPr marL="3657600" algn="l" defTabSz="914400" rtl="0" eaLnBrk="1" latinLnBrk="0" hangingPunct="1">
      <a:defRPr kumimoji="1"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0099"/>
    <a:srgbClr val="E1E5F7"/>
    <a:srgbClr val="CC3300"/>
    <a:srgbClr val="FF9900"/>
    <a:srgbClr val="800000"/>
    <a:srgbClr val="A50021"/>
    <a:srgbClr val="FF3300"/>
    <a:srgbClr val="4049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59" autoAdjust="0"/>
    <p:restoredTop sz="96846" autoAdjust="0"/>
  </p:normalViewPr>
  <p:slideViewPr>
    <p:cSldViewPr snapToGrid="0">
      <p:cViewPr>
        <p:scale>
          <a:sx n="63" d="100"/>
          <a:sy n="63" d="100"/>
        </p:scale>
        <p:origin x="952" y="100"/>
      </p:cViewPr>
      <p:guideLst>
        <p:guide orient="horz" pos="2139"/>
        <p:guide pos="288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2" Type="http://schemas.openxmlformats.org/officeDocument/2006/relationships/tags" Target="tags/tag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AD2B18-DB81-4DD3-BF11-891FA5250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F07492-7F81-418F-B209-68ACD7B96D6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ea typeface="宋体" panose="02010600030101010101" pitchFamily="2" charset="-122"/>
              </a:defRPr>
            </a:lvl1pPr>
          </a:lstStyle>
          <a:p>
            <a:fld id="{C72776A4-A756-4CDC-A3D2-25C7638527F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ea typeface="宋体" panose="02010600030101010101" pitchFamily="2" charset="-122"/>
              </a:defRPr>
            </a:lvl1pPr>
          </a:lstStyle>
          <a:p>
            <a:fld id="{C72776A4-A756-4CDC-A3D2-25C7638527F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ea typeface="宋体" panose="02010600030101010101" pitchFamily="2" charset="-122"/>
              </a:defRPr>
            </a:lvl1pPr>
          </a:lstStyle>
          <a:p>
            <a:fld id="{C72776A4-A756-4CDC-A3D2-25C7638527F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2.png"/><Relationship Id="rId2" Type="http://schemas.openxmlformats.org/officeDocument/2006/relationships/image" Target="../media/image10.w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1.png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739900" y="924560"/>
            <a:ext cx="6015355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4000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4000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4000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篇</a:t>
            </a:r>
            <a:r>
              <a:rPr lang="en-US" altLang="zh-CN" sz="4000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4000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设计一</a:t>
            </a:r>
            <a:endParaRPr lang="zh-CN" altLang="en-US" sz="4000" dirty="0" smtClean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87" name="Text Box 3">
            <a:hlinkClick r:id=""/>
          </p:cNvPr>
          <p:cNvSpPr txBox="1">
            <a:spLocks noChangeArrowheads="1"/>
          </p:cNvSpPr>
          <p:nvPr/>
        </p:nvSpPr>
        <p:spPr bwMode="auto">
          <a:xfrm>
            <a:off x="1995805" y="3845560"/>
            <a:ext cx="51530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40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千斤顶设计任务及进度安排</a:t>
            </a:r>
            <a:endParaRPr lang="en-US" altLang="zh-CN" sz="240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6388" name="Text Box 4">
            <a:hlinkClick r:id="" highlightClick="1"/>
          </p:cNvPr>
          <p:cNvSpPr txBox="1">
            <a:spLocks noChangeArrowheads="1"/>
          </p:cNvSpPr>
          <p:nvPr/>
        </p:nvSpPr>
        <p:spPr bwMode="auto">
          <a:xfrm>
            <a:off x="1995805" y="3048000"/>
            <a:ext cx="308864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l" eaLnBrk="1" hangingPunct="1"/>
            <a:r>
              <a:rPr lang="en-US" altLang="zh-CN" sz="240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40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螺纹作业讲评</a:t>
            </a:r>
            <a:endParaRPr lang="zh-CN" altLang="en-US" sz="240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6398" name="直接连接符 6"/>
          <p:cNvSpPr>
            <a:spLocks noChangeShapeType="1"/>
          </p:cNvSpPr>
          <p:nvPr/>
        </p:nvSpPr>
        <p:spPr bwMode="auto">
          <a:xfrm>
            <a:off x="0" y="1944277"/>
            <a:ext cx="9144000" cy="0"/>
          </a:xfrm>
          <a:prstGeom prst="line">
            <a:avLst/>
          </a:prstGeom>
          <a:noFill/>
          <a:ln w="38100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" name="组合 1"/>
          <p:cNvGrpSpPr/>
          <p:nvPr/>
        </p:nvGrpSpPr>
        <p:grpSpPr>
          <a:xfrm>
            <a:off x="6313989" y="5927508"/>
            <a:ext cx="2630487" cy="827087"/>
            <a:chOff x="10088" y="9497"/>
            <a:chExt cx="4141" cy="1302"/>
          </a:xfrm>
        </p:grpSpPr>
        <p:sp>
          <p:nvSpPr>
            <p:cNvPr id="16" name="文本框 1073742869"/>
            <p:cNvSpPr txBox="1">
              <a:spLocks noChangeAspect="1"/>
            </p:cNvSpPr>
            <p:nvPr/>
          </p:nvSpPr>
          <p:spPr>
            <a:xfrm>
              <a:off x="11247" y="9745"/>
              <a:ext cx="2983" cy="4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</a:rPr>
                <a:t>China University of Mining &amp; Technology-Beijing</a:t>
              </a:r>
              <a:endParaRPr lang="zh-CN" altLang="en-US" sz="1200" dirty="0">
                <a:latin typeface="Times New Roman" panose="02020603050405020304" pitchFamily="18" charset="0"/>
              </a:endParaRPr>
            </a:p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pic>
          <p:nvPicPr>
            <p:cNvPr id="17" name="图片 1073742872" descr="44303071dc0a1f9688d599dbc999570副本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088" y="9497"/>
              <a:ext cx="1435" cy="1303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7228" t="3550" r="5318" b="4907"/>
          <a:stretch>
            <a:fillRect/>
          </a:stretch>
        </p:blipFill>
        <p:spPr>
          <a:xfrm>
            <a:off x="2103120" y="126365"/>
            <a:ext cx="4794250" cy="669099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罗嘉俊的作业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0" y="0"/>
            <a:ext cx="5142865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1920" y="71120"/>
            <a:ext cx="4682490" cy="66725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王梓懿的作业"/>
          <p:cNvPicPr>
            <a:picLocks noChangeAspect="1"/>
          </p:cNvPicPr>
          <p:nvPr/>
        </p:nvPicPr>
        <p:blipFill>
          <a:blip r:embed="rId1"/>
          <a:srcRect l="3889" t="1602" r="3013" b="2389"/>
          <a:stretch>
            <a:fillRect/>
          </a:stretch>
        </p:blipFill>
        <p:spPr>
          <a:xfrm>
            <a:off x="1589405" y="191770"/>
            <a:ext cx="4787900" cy="658431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307340"/>
            <a:ext cx="4564380" cy="63703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600700" y="2631440"/>
            <a:ext cx="31597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3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C</a:t>
            </a:r>
            <a:r>
              <a:rPr lang="en-US" altLang="zh-CN" sz="2000" baseline="-25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r>
              <a:rPr lang="zh-CN" altLang="en-US" sz="2000" baseline="-25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C</a:t>
            </a:r>
            <a:r>
              <a:rPr lang="en-US" altLang="zh-CN" sz="2000" baseline="-25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的值，根据选定的螺栓公称直径查设计手册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P167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表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11-2</a:t>
            </a:r>
            <a:endParaRPr lang="en-US" altLang="zh-CN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20715" y="615950"/>
            <a:ext cx="26777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、确定螺纹连接类型；</a:t>
            </a:r>
            <a:endParaRPr lang="zh-CN" altLang="en-US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20715" y="1623695"/>
            <a:ext cx="26777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、确定螺纹连接件的公称直径；</a:t>
            </a:r>
            <a:endParaRPr lang="en-US" altLang="zh-CN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00700" y="3947160"/>
            <a:ext cx="314198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4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、螺栓或螺柱、螺钉的长度根据结构计算值选标准尺寸。</a:t>
            </a:r>
            <a:endParaRPr lang="zh-CN" altLang="en-US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429250" y="5855335"/>
            <a:ext cx="2969260" cy="70675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标题栏及明细栏见</a:t>
            </a:r>
            <a:endParaRPr lang="zh-CN" altLang="en-US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ctr"/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教材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P132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图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2.4-17</a:t>
            </a:r>
            <a:endParaRPr lang="en-US" altLang="zh-CN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"/>
          <p:cNvGrpSpPr/>
          <p:nvPr/>
        </p:nvGrpSpPr>
        <p:grpSpPr>
          <a:xfrm>
            <a:off x="6190178" y="5720983"/>
            <a:ext cx="2630487" cy="827087"/>
            <a:chOff x="10088" y="9497"/>
            <a:chExt cx="4141" cy="1302"/>
          </a:xfrm>
        </p:grpSpPr>
        <p:sp>
          <p:nvSpPr>
            <p:cNvPr id="6" name="文本框 1073742869"/>
            <p:cNvSpPr txBox="1">
              <a:spLocks noChangeAspect="1"/>
            </p:cNvSpPr>
            <p:nvPr/>
          </p:nvSpPr>
          <p:spPr>
            <a:xfrm>
              <a:off x="11247" y="9745"/>
              <a:ext cx="2983" cy="4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</a:rPr>
                <a:t>China University of Mining &amp; Technology-Beijing</a:t>
              </a:r>
              <a:endParaRPr lang="zh-CN" altLang="en-US" sz="1200" dirty="0">
                <a:latin typeface="Times New Roman" panose="02020603050405020304" pitchFamily="18" charset="0"/>
              </a:endParaRPr>
            </a:p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pic>
          <p:nvPicPr>
            <p:cNvPr id="7" name="图片 1073742872" descr="44303071dc0a1f9688d599dbc999570副本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088" y="9497"/>
              <a:ext cx="1435" cy="1303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" y="187325"/>
            <a:ext cx="2988945" cy="585660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820" y="535940"/>
            <a:ext cx="4495800" cy="385572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80770" y="427990"/>
            <a:ext cx="62312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设计任务书</a:t>
            </a:r>
            <a:endParaRPr lang="zh-CN" altLang="en-US" sz="280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8960" y="1287780"/>
            <a:ext cx="741553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00FF"/>
                </a:solidFill>
              </a:rPr>
              <a:t>1.</a:t>
            </a:r>
            <a:r>
              <a:rPr lang="zh-CN" altLang="en-US">
                <a:solidFill>
                  <a:srgbClr val="0000FF"/>
                </a:solidFill>
              </a:rPr>
              <a:t>设计题目</a:t>
            </a:r>
            <a:r>
              <a:rPr lang="zh-CN" altLang="en-US"/>
              <a:t>：螺旋千斤顶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68960" y="1818005"/>
            <a:ext cx="43592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00FF"/>
                </a:solidFill>
              </a:rPr>
              <a:t>2.</a:t>
            </a:r>
            <a:r>
              <a:rPr lang="zh-CN" altLang="en-US">
                <a:solidFill>
                  <a:srgbClr val="0000FF"/>
                </a:solidFill>
              </a:rPr>
              <a:t>已知条件</a:t>
            </a:r>
            <a:endParaRPr lang="zh-CN" altLang="en-US">
              <a:solidFill>
                <a:srgbClr val="0000FF"/>
              </a:solidFill>
            </a:endParaRPr>
          </a:p>
          <a:p>
            <a:pPr eaLnBrk="1" latinLnBrk="0" hangingPunct="1">
              <a:lnSpc>
                <a:spcPts val="3000"/>
              </a:lnSpc>
            </a:pPr>
            <a:r>
              <a:rPr lang="zh-CN" altLang="en-US"/>
              <a:t>       最大起重载荷</a:t>
            </a:r>
            <a:r>
              <a:rPr lang="en-US" altLang="zh-CN"/>
              <a:t>F=15kN</a:t>
            </a:r>
            <a:endParaRPr lang="en-US" altLang="zh-CN"/>
          </a:p>
          <a:p>
            <a:pPr eaLnBrk="1" latinLnBrk="0" hangingPunct="1">
              <a:lnSpc>
                <a:spcPts val="3000"/>
              </a:lnSpc>
            </a:pPr>
            <a:r>
              <a:rPr lang="en-US" altLang="zh-CN"/>
              <a:t>       </a:t>
            </a:r>
            <a:r>
              <a:rPr lang="zh-CN" altLang="en-US"/>
              <a:t>最大起重升程</a:t>
            </a:r>
            <a:endParaRPr lang="zh-CN" altLang="en-US"/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113405" y="2580005"/>
          <a:ext cx="1410970" cy="358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698500" imgH="177165" progId="Equation.KSEE3">
                  <p:embed/>
                </p:oleObj>
              </mc:Choice>
              <mc:Fallback>
                <p:oleObj name="" r:id="rId1" imgW="6985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13405" y="2580005"/>
                        <a:ext cx="1410970" cy="3581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74955" y="3056255"/>
            <a:ext cx="8593455" cy="2784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1" latinLnBrk="0" hangingPunct="1">
              <a:lnSpc>
                <a:spcPts val="3000"/>
              </a:lnSpc>
            </a:pPr>
            <a:r>
              <a:rPr lang="en-US" altLang="zh-CN">
                <a:solidFill>
                  <a:srgbClr val="0000FF"/>
                </a:solidFill>
              </a:rPr>
              <a:t>3.</a:t>
            </a:r>
            <a:r>
              <a:rPr lang="zh-CN" altLang="en-US">
                <a:solidFill>
                  <a:srgbClr val="0000FF"/>
                </a:solidFill>
              </a:rPr>
              <a:t>设计要求</a:t>
            </a:r>
            <a:endParaRPr lang="zh-CN" altLang="en-US">
              <a:solidFill>
                <a:srgbClr val="0000FF"/>
              </a:solidFill>
            </a:endParaRPr>
          </a:p>
          <a:p>
            <a:pPr eaLnBrk="1" latinLnBrk="0" hangingPunct="1">
              <a:lnSpc>
                <a:spcPts val="3000"/>
              </a:lnSpc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）根据强度和结构要求决定千斤顶的各部尺寸；</a:t>
            </a:r>
            <a:endParaRPr lang="zh-CN" altLang="en-US"/>
          </a:p>
          <a:p>
            <a:pPr eaLnBrk="1" latinLnBrk="0" hangingPunct="1">
              <a:lnSpc>
                <a:spcPts val="3000"/>
              </a:lnSpc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）绘制千斤顶平面装配图；</a:t>
            </a:r>
            <a:endParaRPr lang="zh-CN" altLang="en-US"/>
          </a:p>
          <a:p>
            <a:pPr eaLnBrk="1" latinLnBrk="0" hangingPunct="1">
              <a:lnSpc>
                <a:spcPts val="3000"/>
              </a:lnSpc>
            </a:pP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）拆零件图；</a:t>
            </a:r>
            <a:endParaRPr lang="zh-CN" altLang="en-US"/>
          </a:p>
          <a:p>
            <a:pPr eaLnBrk="1" latinLnBrk="0" hangingPunct="1">
              <a:lnSpc>
                <a:spcPts val="3000"/>
              </a:lnSpc>
            </a:pPr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）整理、编写设计计算说明书一份（全部手写，包括机构运动简</a:t>
            </a:r>
            <a:r>
              <a:rPr lang="en-US" altLang="zh-CN"/>
              <a:t>	</a:t>
            </a:r>
            <a:r>
              <a:rPr lang="zh-CN" altLang="en-US"/>
              <a:t>图等）；</a:t>
            </a:r>
            <a:endParaRPr lang="zh-CN" altLang="en-US"/>
          </a:p>
          <a:p>
            <a:pPr eaLnBrk="1" latinLnBrk="0" hangingPunct="1">
              <a:lnSpc>
                <a:spcPts val="3000"/>
              </a:lnSpc>
            </a:pPr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）根据平面零件如进行三维建模并进行立体装配（选做，不限时）</a:t>
            </a:r>
            <a:endParaRPr lang="zh-CN" altLang="en-US"/>
          </a:p>
        </p:txBody>
      </p:sp>
      <p:sp>
        <p:nvSpPr>
          <p:cNvPr id="16398" name="直接连接符 6"/>
          <p:cNvSpPr>
            <a:spLocks noChangeShapeType="1"/>
          </p:cNvSpPr>
          <p:nvPr/>
        </p:nvSpPr>
        <p:spPr bwMode="auto">
          <a:xfrm>
            <a:off x="0" y="1078772"/>
            <a:ext cx="9144000" cy="0"/>
          </a:xfrm>
          <a:prstGeom prst="line">
            <a:avLst/>
          </a:prstGeom>
          <a:noFill/>
          <a:ln w="38100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  <p:grpSp>
        <p:nvGrpSpPr>
          <p:cNvPr id="7" name="组合 1"/>
          <p:cNvGrpSpPr/>
          <p:nvPr/>
        </p:nvGrpSpPr>
        <p:grpSpPr>
          <a:xfrm>
            <a:off x="6217483" y="5880368"/>
            <a:ext cx="2630487" cy="827087"/>
            <a:chOff x="10088" y="9497"/>
            <a:chExt cx="4141" cy="1302"/>
          </a:xfrm>
        </p:grpSpPr>
        <p:sp>
          <p:nvSpPr>
            <p:cNvPr id="8" name="文本框 1073742869"/>
            <p:cNvSpPr txBox="1">
              <a:spLocks noChangeAspect="1"/>
            </p:cNvSpPr>
            <p:nvPr/>
          </p:nvSpPr>
          <p:spPr>
            <a:xfrm>
              <a:off x="11247" y="9745"/>
              <a:ext cx="2983" cy="4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p>
              <a:pPr algn="ctr"/>
              <a:r>
                <a:rPr lang="zh-CN" altLang="en-US" sz="1200" dirty="0">
                  <a:latin typeface="Times New Roman" panose="02020603050405020304" pitchFamily="18" charset="0"/>
                </a:rPr>
                <a:t>China University of Mining &amp; Technology-Beijing</a:t>
              </a:r>
              <a:endParaRPr lang="zh-CN" altLang="en-US" sz="1200" dirty="0">
                <a:latin typeface="Times New Roman" panose="02020603050405020304" pitchFamily="18" charset="0"/>
              </a:endParaRPr>
            </a:p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pic>
          <p:nvPicPr>
            <p:cNvPr id="9" name="图片 1073742872" descr="44303071dc0a1f9688d599dbc999570副本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88" y="9497"/>
              <a:ext cx="1435" cy="1303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0" name="文本框 9"/>
          <p:cNvSpPr txBox="1"/>
          <p:nvPr/>
        </p:nvSpPr>
        <p:spPr>
          <a:xfrm>
            <a:off x="5921375" y="245110"/>
            <a:ext cx="188531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三周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9" name="表格 1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71241" y="1441739"/>
          <a:ext cx="8201025" cy="43922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91030"/>
                <a:gridCol w="629920"/>
                <a:gridCol w="630555"/>
                <a:gridCol w="630555"/>
                <a:gridCol w="631190"/>
                <a:gridCol w="631825"/>
                <a:gridCol w="630555"/>
                <a:gridCol w="631825"/>
                <a:gridCol w="631190"/>
                <a:gridCol w="630555"/>
                <a:gridCol w="631825"/>
              </a:tblGrid>
              <a:tr h="302895">
                <a:tc rowSpan="2"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项 目</a:t>
                      </a:r>
                      <a:endParaRPr lang="zh-CN" sz="18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10"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分组数据</a:t>
                      </a:r>
                      <a:endParaRPr lang="zh-CN" sz="16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37515">
                <a:tc vMerge="1">
                  <a:tcPr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1</a:t>
                      </a:r>
                      <a:endParaRPr lang="en-US" sz="1600" kern="100" dirty="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2</a:t>
                      </a:r>
                      <a:endParaRPr lang="en-US" sz="1600" kern="100" dirty="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3</a:t>
                      </a:r>
                      <a:endParaRPr lang="en-US" sz="1600" kern="100" dirty="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4</a:t>
                      </a:r>
                      <a:endParaRPr lang="en-US" sz="1600" kern="100" dirty="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5</a:t>
                      </a:r>
                      <a:endParaRPr lang="en-US" sz="1600" kern="100" dirty="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6</a:t>
                      </a:r>
                      <a:endParaRPr lang="en-US" sz="1600" kern="100" dirty="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7</a:t>
                      </a:r>
                      <a:endParaRPr lang="en-US" sz="1600" kern="100" dirty="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8</a:t>
                      </a:r>
                      <a:endParaRPr lang="en-US" sz="1600" kern="100" dirty="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FF"/>
                          </a:solidFill>
                          <a:effectLst/>
                        </a:rPr>
                        <a:t>9</a:t>
                      </a:r>
                      <a:endParaRPr lang="en-US" sz="1600" kern="10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FF"/>
                          </a:solidFill>
                          <a:effectLst/>
                        </a:rPr>
                        <a:t>10</a:t>
                      </a:r>
                      <a:endParaRPr lang="en-US" sz="1600" kern="10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53695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最大起重载荷</a:t>
                      </a:r>
                      <a:r>
                        <a:rPr lang="en-US" sz="16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F/</a:t>
                      </a:r>
                      <a:r>
                        <a:rPr lang="en-US" sz="1600" kern="1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kN</a:t>
                      </a:r>
                      <a:endParaRPr lang="zh-CN" sz="16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10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12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14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16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18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20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22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24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26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28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93700">
                <a:tc>
                  <a:txBody>
                    <a:bodyPr/>
                    <a:p>
                      <a:endParaRPr lang="zh-CN" sz="1600"/>
                    </a:p>
                  </a:txBody>
                  <a:tcPr marL="68580" marR="68580" marT="0" marB="0">
                    <a:blipFill>
                      <a:blip r:embed="rId2"/>
                      <a:stretch>
                        <a:fillRect l="-339" t="-290000" r="-334576" b="-696667"/>
                      </a:stretch>
                    </a:blip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130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130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130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140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140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150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150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150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160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160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02260">
                <a:tc rowSpan="2"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项 目</a:t>
                      </a:r>
                      <a:endParaRPr lang="zh-CN" sz="16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10"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</a:rPr>
                        <a:t>分组数据</a:t>
                      </a:r>
                      <a:endParaRPr lang="zh-CN" sz="1600" b="1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53695">
                <a:tc vMerge="1">
                  <a:tcPr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FF"/>
                          </a:solidFill>
                          <a:effectLst/>
                        </a:rPr>
                        <a:t>11</a:t>
                      </a:r>
                      <a:endParaRPr lang="en-US" sz="1600" kern="10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FF"/>
                          </a:solidFill>
                          <a:effectLst/>
                        </a:rPr>
                        <a:t>12</a:t>
                      </a:r>
                      <a:endParaRPr lang="en-US" sz="1600" kern="10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13</a:t>
                      </a:r>
                      <a:endParaRPr lang="en-US" sz="1600" kern="100" dirty="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FF"/>
                          </a:solidFill>
                          <a:effectLst/>
                        </a:rPr>
                        <a:t>14</a:t>
                      </a:r>
                      <a:endParaRPr lang="en-US" sz="1600" kern="10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15</a:t>
                      </a:r>
                      <a:endParaRPr lang="en-US" sz="1600" kern="100" dirty="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16</a:t>
                      </a:r>
                      <a:endParaRPr lang="en-US" sz="1600" kern="100" dirty="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17</a:t>
                      </a:r>
                      <a:endParaRPr lang="en-US" sz="1600" kern="100" dirty="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18</a:t>
                      </a:r>
                      <a:endParaRPr lang="en-US" sz="1600" kern="100" dirty="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19</a:t>
                      </a:r>
                      <a:endParaRPr lang="en-US" sz="1600" kern="100" dirty="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20</a:t>
                      </a:r>
                      <a:endParaRPr lang="en-US" sz="1600" kern="100" dirty="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5257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最大起重载荷</a:t>
                      </a:r>
                      <a:r>
                        <a:rPr lang="en-US" sz="16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F/</a:t>
                      </a:r>
                      <a:r>
                        <a:rPr lang="en-US" sz="1600" kern="1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kN</a:t>
                      </a:r>
                      <a:endParaRPr lang="zh-CN" sz="16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30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32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34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36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38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40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42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44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46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48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p>
                      <a:endParaRPr lang="zh-CN" sz="1600"/>
                    </a:p>
                  </a:txBody>
                  <a:tcPr marL="68580" marR="68580" marT="0" marB="0">
                    <a:blipFill>
                      <a:blip r:embed="rId2"/>
                      <a:stretch>
                        <a:fillRect l="-339" t="-646667" r="-334576" b="-340000"/>
                      </a:stretch>
                    </a:blip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170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170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170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180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180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200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200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200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210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210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02260">
                <a:tc rowSpan="2"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项 目</a:t>
                      </a:r>
                      <a:endParaRPr lang="zh-CN" sz="16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10"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</a:rPr>
                        <a:t>分组数据</a:t>
                      </a:r>
                      <a:endParaRPr lang="zh-CN" sz="1600" b="1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77495">
                <a:tc vMerge="1">
                  <a:tcPr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FF"/>
                          </a:solidFill>
                          <a:effectLst/>
                        </a:rPr>
                        <a:t>21</a:t>
                      </a:r>
                      <a:endParaRPr lang="en-US" sz="1600" kern="10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FF"/>
                          </a:solidFill>
                          <a:effectLst/>
                        </a:rPr>
                        <a:t>22</a:t>
                      </a:r>
                      <a:endParaRPr lang="en-US" sz="1600" kern="10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FF"/>
                          </a:solidFill>
                          <a:effectLst/>
                        </a:rPr>
                        <a:t>23</a:t>
                      </a:r>
                      <a:endParaRPr lang="en-US" sz="1600" kern="10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FF"/>
                          </a:solidFill>
                          <a:effectLst/>
                        </a:rPr>
                        <a:t>24</a:t>
                      </a:r>
                      <a:endParaRPr lang="en-US" sz="1600" kern="10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FF"/>
                          </a:solidFill>
                          <a:effectLst/>
                        </a:rPr>
                        <a:t>25</a:t>
                      </a:r>
                      <a:endParaRPr lang="en-US" sz="1600" kern="10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FF"/>
                          </a:solidFill>
                          <a:effectLst/>
                        </a:rPr>
                        <a:t>26</a:t>
                      </a:r>
                      <a:endParaRPr lang="en-US" sz="1600" kern="10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27</a:t>
                      </a:r>
                      <a:endParaRPr lang="en-US" sz="1600" kern="100" dirty="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28</a:t>
                      </a:r>
                      <a:endParaRPr lang="en-US" sz="1600" kern="100" dirty="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29</a:t>
                      </a:r>
                      <a:endParaRPr lang="en-US" sz="1600" kern="100" dirty="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30</a:t>
                      </a:r>
                      <a:endParaRPr lang="en-US" sz="1600" kern="100" dirty="0">
                        <a:solidFill>
                          <a:srgbClr val="0000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53695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最大起重载荷</a:t>
                      </a:r>
                      <a:r>
                        <a:rPr lang="en-US" sz="16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F/</a:t>
                      </a:r>
                      <a:r>
                        <a:rPr lang="en-US" sz="1600" kern="1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kN</a:t>
                      </a:r>
                      <a:endParaRPr lang="zh-CN" sz="16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50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52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54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56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58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60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62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64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66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68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94335">
                <a:tc>
                  <a:txBody>
                    <a:bodyPr/>
                    <a:p>
                      <a:endParaRPr lang="zh-CN" sz="1600">
                        <a:solidFill>
                          <a:schemeClr val="accent3"/>
                        </a:solidFill>
                        <a:uFillTx/>
                      </a:endParaRPr>
                    </a:p>
                  </a:txBody>
                  <a:tcPr marL="68580" marR="68580" marT="0" marB="0">
                    <a:blipFill>
                      <a:blip r:embed="rId2"/>
                      <a:stretch>
                        <a:fillRect l="-339" t="-983333" r="-334576" b="-3333"/>
                      </a:stretch>
                    </a:blip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220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220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220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230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230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240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240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240</a:t>
                      </a:r>
                      <a:endParaRPr lang="en-US" sz="16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250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250</a:t>
                      </a:r>
                      <a:endParaRPr lang="en-US" sz="16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2638743" y="947738"/>
            <a:ext cx="5108575" cy="398780"/>
          </a:xfrm>
          <a:prstGeom prst="rect">
            <a:avLst/>
          </a:prstGeom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表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2.1-1 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螺旋千斤顶设计分组及原始数据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60705" y="810260"/>
            <a:ext cx="1233805" cy="53657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2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rPr>
              <a:t>教材</a:t>
            </a:r>
            <a:r>
              <a:rPr kumimoji="1" lang="en-US" altLang="zh-CN" sz="22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rPr>
              <a:t>P72</a:t>
            </a:r>
            <a:endParaRPr kumimoji="1" lang="en-US" altLang="zh-CN" sz="2200" b="0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"/>
          <p:cNvGrpSpPr/>
          <p:nvPr/>
        </p:nvGrpSpPr>
        <p:grpSpPr>
          <a:xfrm>
            <a:off x="6190178" y="5720983"/>
            <a:ext cx="2630487" cy="827087"/>
            <a:chOff x="10088" y="9497"/>
            <a:chExt cx="4141" cy="1302"/>
          </a:xfrm>
        </p:grpSpPr>
        <p:sp>
          <p:nvSpPr>
            <p:cNvPr id="6" name="文本框 1073742869"/>
            <p:cNvSpPr txBox="1">
              <a:spLocks noChangeAspect="1"/>
            </p:cNvSpPr>
            <p:nvPr/>
          </p:nvSpPr>
          <p:spPr>
            <a:xfrm>
              <a:off x="11247" y="9745"/>
              <a:ext cx="2983" cy="4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</a:rPr>
                <a:t>China University of Mining &amp; Technology-Beijing</a:t>
              </a:r>
              <a:endParaRPr lang="zh-CN" altLang="en-US" sz="1200" dirty="0">
                <a:latin typeface="Times New Roman" panose="02020603050405020304" pitchFamily="18" charset="0"/>
              </a:endParaRPr>
            </a:p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pic>
          <p:nvPicPr>
            <p:cNvPr id="7" name="图片 1073742872" descr="44303071dc0a1f9688d599dbc999570副本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088" y="9497"/>
              <a:ext cx="1435" cy="1303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00" name="文本框 99"/>
          <p:cNvSpPr txBox="1"/>
          <p:nvPr/>
        </p:nvSpPr>
        <p:spPr>
          <a:xfrm>
            <a:off x="821055" y="1226820"/>
            <a:ext cx="7935595" cy="4246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l" eaLnBrk="1" latinLnBrk="0" hangingPunct="1">
              <a:lnSpc>
                <a:spcPct val="150000"/>
              </a:lnSpc>
            </a:pPr>
            <a:r>
              <a:rPr lang="zh-CN" sz="2000" b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第一阶段：9月21日-23日  完成教材P120-123的1~8设计计算：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 1. 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螺纹类型的确定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 2. 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材料选择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 3. 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耐磨性计算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 4. 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螺旋副自锁校核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 5. 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螺母螺纹牙的强度计算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 6. 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螺杆的强度计算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 7. 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螺杆的刚度计算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 8. 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螺母外部尺寸设计计算</a:t>
            </a:r>
            <a:endParaRPr lang="zh-CN" altLang="en-US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29995" y="648970"/>
            <a:ext cx="4572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zh-CN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螺旋千斤顶设计进度安排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383540" y="619760"/>
            <a:ext cx="8376285" cy="51181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eaLnBrk="1" latinLnBrk="0" hangingPunct="1">
              <a:lnSpc>
                <a:spcPts val="2800"/>
              </a:lnSpc>
            </a:pPr>
            <a:r>
              <a:rPr lang="zh-CN" sz="2000" b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第二阶段：9月24日-30日  螺旋千斤顶装配图草图绘制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    </a:t>
            </a:r>
            <a:r>
              <a:rPr lang="en-US" sz="2000" b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1.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选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A2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图幅 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1:1 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绘制：先对绘图环境进行设置：创建图层，画图幅、图框、标题栏（教材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P132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图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2.4-17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），设置文字样式、尺寸标注样式，保存为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A2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模板，存盘备用。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    </a:t>
            </a:r>
            <a:r>
              <a:rPr lang="en-US" sz="2000" b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2.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布图，参考教材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P123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图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2.4-9 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，从螺母开始画图；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   </a:t>
            </a:r>
            <a:r>
              <a:rPr lang="en-US" sz="2000" b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3.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螺杆上端部与托杯结构设计，边计算边画图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   </a:t>
            </a:r>
            <a:r>
              <a:rPr lang="en-US" sz="2000" b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4.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手柄设计计算，画图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    </a:t>
            </a:r>
            <a:r>
              <a:rPr lang="en-US" sz="2000" b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5. 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螺杆尺寸计算、画图，稳定性校核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   </a:t>
            </a:r>
            <a:r>
              <a:rPr lang="en-US" sz="2000" b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6. 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托杯的设计校核</a:t>
            </a:r>
            <a:endParaRPr lang="en-US" sz="2000" b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 eaLnBrk="1" latinLnBrk="0" hangingPunct="1">
              <a:lnSpc>
                <a:spcPts val="2800"/>
              </a:lnSpc>
            </a:pPr>
            <a:r>
              <a:rPr lang="en-US" sz="2000" b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  7.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机架的设计、画图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  </a:t>
            </a:r>
            <a:r>
              <a:rPr lang="en-US" sz="2000" b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8.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挡圈、螺栓、螺钉的设计与选用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  </a:t>
            </a:r>
            <a:r>
              <a:rPr lang="en-US" sz="2000" b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9.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千斤顶的效率计算</a:t>
            </a:r>
            <a:endParaRPr lang="en-US" sz="2000" b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 eaLnBrk="1" latinLnBrk="0" hangingPunct="1">
              <a:lnSpc>
                <a:spcPts val="2800"/>
              </a:lnSpc>
            </a:pPr>
            <a:r>
              <a:rPr lang="en-US" sz="2000" b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  10.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检查装配关系，标注尺寸、零件编号、填写明细栏，写技术要求及技术特性，如图</a:t>
            </a:r>
            <a:r>
              <a:rPr lang="en-US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2.4-16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所示，最后填写标题栏，姓名、日期手签。</a:t>
            </a:r>
            <a:endParaRPr lang="zh-CN" altLang="en-US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811530" y="1299845"/>
            <a:ext cx="7428865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457200" indent="-457200" eaLnBrk="1" latinLnBrk="0" hangingPunct="1">
              <a:lnSpc>
                <a:spcPct val="150000"/>
              </a:lnSpc>
            </a:pPr>
            <a:r>
              <a:rPr lang="zh-CN" sz="2000" b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第三阶段：10月2日-7日 拆画零件图</a:t>
            </a:r>
            <a:endParaRPr lang="zh-CN" sz="2000" b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indent="-457200" eaLnBrk="1" latinLnBrk="0" hangingPunct="1">
              <a:lnSpc>
                <a:spcPct val="150000"/>
              </a:lnSpc>
            </a:pP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根据装配图拆画托杯、手柄、螺杆、机架、螺母，共5张零件图，参考教材P134-137的图例。         标准件不需画零件图。</a:t>
            </a:r>
            <a:endParaRPr lang="zh-CN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866775" y="657860"/>
            <a:ext cx="8049260" cy="37846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457200" indent="-457200" eaLnBrk="1" latinLnBrk="0" hangingPunct="1">
              <a:lnSpc>
                <a:spcPct val="150000"/>
              </a:lnSpc>
            </a:pPr>
            <a:r>
              <a:rPr lang="zh-CN" sz="2000" b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第四阶段：10月8日-13日 ，撰写螺旋千斤顶设计计算说明书</a:t>
            </a:r>
            <a:endParaRPr lang="zh-CN" sz="2000" b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indent="-457200" eaLnBrk="1" latinLnBrk="0" hangingPunct="1">
              <a:lnSpc>
                <a:spcPct val="150000"/>
              </a:lnSpc>
            </a:pPr>
            <a:r>
              <a:rPr lang="en-US" sz="105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sz="1050" b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sz="2000" b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1.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撰写设计计算说明书，用A4纸</a:t>
            </a:r>
            <a:r>
              <a:rPr lang="zh-CN" sz="2000" b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手写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，格式见教材P120-139，每页页码写在页脚处。</a:t>
            </a:r>
            <a:endParaRPr lang="zh-CN" sz="2000" b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indent="-457200" eaLnBrk="1" latinLnBrk="0" hangingPunct="1">
              <a:lnSpc>
                <a:spcPct val="150000"/>
              </a:lnSpc>
            </a:pPr>
            <a:r>
              <a:rPr lang="zh-CN" sz="2000" b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2.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编写目录</a:t>
            </a:r>
            <a:endParaRPr lang="zh-CN" sz="2000" b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indent="-457200" eaLnBrk="1" latinLnBrk="0" hangingPunct="1">
              <a:lnSpc>
                <a:spcPct val="150000"/>
              </a:lnSpc>
            </a:pPr>
            <a:r>
              <a:rPr lang="zh-CN" sz="2000" b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3.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封面格式如图2.4-24，打印</a:t>
            </a:r>
            <a:endParaRPr lang="zh-CN" sz="2000" b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indent="-457200" eaLnBrk="1" latinLnBrk="0" hangingPunct="1">
              <a:lnSpc>
                <a:spcPct val="150000"/>
              </a:lnSpc>
            </a:pPr>
            <a:r>
              <a:rPr lang="zh-CN" sz="2000" b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4.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装订成册。</a:t>
            </a:r>
            <a:endParaRPr lang="zh-CN" sz="2000" b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indent="-457200" eaLnBrk="1" latinLnBrk="0" hangingPunct="1">
              <a:lnSpc>
                <a:spcPct val="150000"/>
              </a:lnSpc>
            </a:pPr>
            <a:r>
              <a:rPr lang="zh-CN" sz="2000" b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5.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图纸检查没错后打印，A2图纸折叠成A4大小，共6张图。</a:t>
            </a:r>
            <a:endParaRPr lang="zh-CN" sz="2000" b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indent="-457200" eaLnBrk="1" latinLnBrk="0" hangingPunct="1">
              <a:lnSpc>
                <a:spcPct val="150000"/>
              </a:lnSpc>
            </a:pPr>
            <a:r>
              <a:rPr lang="zh-CN" sz="2000" b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6.</a:t>
            </a:r>
            <a:r>
              <a:rPr lang="zh-CN" sz="2000" b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所有文档装入文件袋。</a:t>
            </a:r>
            <a:endParaRPr lang="zh-CN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TABLE_BEAUTIFY" val="smartTable{1fbb2d68-e19e-4140-9a6e-b9e2950aa56f}"/>
  <p:tag name="TABLE_ENDDRAG_ORIGIN_RECT" val="645*345"/>
  <p:tag name="TABLE_ENDDRAG_RECT" val="31*151*645*345"/>
</p:tagLst>
</file>

<file path=ppt/tags/tag2.xml><?xml version="1.0" encoding="utf-8"?>
<p:tagLst xmlns:p="http://schemas.openxmlformats.org/presentationml/2006/main">
  <p:tag name="COMMONDATA" val="eyJoZGlkIjoiZmYwY2UxNzI0ODdjMTkzYTM2NmQ4OTdkNGYwMzJlYmMifQ=="/>
  <p:tag name="KSO_WPP_MARK_KEY" val="9f2dcee9-2e49-451d-8b69-7249716de1f0"/>
</p:tagLst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1622</Words>
  <Application>WPS 演示</Application>
  <PresentationFormat>全屏显示(4:3)</PresentationFormat>
  <Paragraphs>344</Paragraphs>
  <Slides>13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宋体</vt:lpstr>
      <vt:lpstr>Wingdings</vt:lpstr>
      <vt:lpstr>Tahoma</vt:lpstr>
      <vt:lpstr>华文中宋</vt:lpstr>
      <vt:lpstr>黑体</vt:lpstr>
      <vt:lpstr>Times New Roman</vt:lpstr>
      <vt:lpstr>Calibri</vt:lpstr>
      <vt:lpstr>微软雅黑</vt:lpstr>
      <vt:lpstr>Arial Unicode MS</vt:lpstr>
      <vt:lpstr>Blueprint</vt:lpstr>
      <vt:lpstr>3_Blueprint</vt:lpstr>
      <vt:lpstr>5_Blueprint</vt:lpstr>
      <vt:lpstr>Equation.KSEE3</vt:lpstr>
      <vt:lpstr>第2篇  设计一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nwpu209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wuliyan</dc:creator>
  <cp:lastModifiedBy>21092</cp:lastModifiedBy>
  <cp:revision>549</cp:revision>
  <dcterms:created xsi:type="dcterms:W3CDTF">2002-03-15T12:39:00Z</dcterms:created>
  <dcterms:modified xsi:type="dcterms:W3CDTF">2023-09-05T12:25:53Z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E30A594CD2A649708C360FFBC827B8EA</vt:lpwstr>
  </property>
  <property fmtid="{D5CDD505-2E9C-101B-9397-08002B2CF9AE}" pid="3" name="KSOProductBuildVer">
    <vt:lpwstr>2052-11.1.0.14309</vt:lpwstr>
  </property>
</Properties>
</file>