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98" r:id="rId3"/>
    <p:sldId id="499" r:id="rId4"/>
    <p:sldId id="501" r:id="rId6"/>
    <p:sldId id="320" r:id="rId7"/>
    <p:sldId id="266" r:id="rId8"/>
    <p:sldId id="321" r:id="rId9"/>
    <p:sldId id="361" r:id="rId10"/>
    <p:sldId id="269" r:id="rId11"/>
    <p:sldId id="317" r:id="rId12"/>
    <p:sldId id="316" r:id="rId13"/>
    <p:sldId id="318" r:id="rId14"/>
    <p:sldId id="270" r:id="rId15"/>
    <p:sldId id="289" r:id="rId16"/>
    <p:sldId id="290" r:id="rId17"/>
    <p:sldId id="288" r:id="rId18"/>
    <p:sldId id="504" r:id="rId19"/>
    <p:sldId id="502" r:id="rId20"/>
    <p:sldId id="307" r:id="rId21"/>
    <p:sldId id="364" r:id="rId22"/>
    <p:sldId id="365" r:id="rId23"/>
    <p:sldId id="366" r:id="rId24"/>
    <p:sldId id="451" r:id="rId25"/>
    <p:sldId id="453" r:id="rId26"/>
    <p:sldId id="454" r:id="rId27"/>
    <p:sldId id="363" r:id="rId28"/>
    <p:sldId id="291" r:id="rId29"/>
    <p:sldId id="325" r:id="rId30"/>
    <p:sldId id="293" r:id="rId31"/>
    <p:sldId id="323" r:id="rId32"/>
    <p:sldId id="324" r:id="rId33"/>
    <p:sldId id="414" r:id="rId34"/>
    <p:sldId id="415" r:id="rId35"/>
    <p:sldId id="416" r:id="rId36"/>
    <p:sldId id="292" r:id="rId37"/>
    <p:sldId id="285" r:id="rId38"/>
    <p:sldId id="286" r:id="rId39"/>
    <p:sldId id="417" r:id="rId40"/>
    <p:sldId id="440" r:id="rId41"/>
    <p:sldId id="441" r:id="rId42"/>
    <p:sldId id="505" r:id="rId43"/>
    <p:sldId id="442" r:id="rId44"/>
    <p:sldId id="272" r:id="rId45"/>
    <p:sldId id="278" r:id="rId46"/>
    <p:sldId id="279" r:id="rId47"/>
    <p:sldId id="301" r:id="rId48"/>
    <p:sldId id="497" r:id="rId49"/>
    <p:sldId id="367" r:id="rId50"/>
    <p:sldId id="277" r:id="rId51"/>
    <p:sldId id="300" r:id="rId52"/>
    <p:sldId id="315" r:id="rId53"/>
  </p:sldIdLst>
  <p:sldSz cx="9144000" cy="6858000" type="screen4x3"/>
  <p:notesSz cx="6858000" cy="9144000"/>
  <p:custDataLst>
    <p:tags r:id="rId5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85" userDrawn="1">
          <p15:clr>
            <a:srgbClr val="A4A3A4"/>
          </p15:clr>
        </p15:guide>
        <p15:guide id="2" pos="2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9B33F19-227E-48D0-95D6-38950A133B6B}" styleName="表样式 1 17">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TxStyle b="on">
        <a:fontRef idx="none">
          <a:schemeClr val="accent1"/>
        </a:fontRef>
      </a:tcTxStyle>
      <a:tcStyle>
        <a:tcBdr>
          <a:left>
            <a:ln>
              <a:noFill/>
            </a:ln>
          </a:left>
          <a:right>
            <a:ln w="9525" cmpd="sng">
              <a:solidFill>
                <a:schemeClr val="accent1"/>
              </a:solidFill>
              <a:prstDash val="solid"/>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lumMod val="40000"/>
                  <a:lumOff val="60000"/>
                </a:schemeClr>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w="9525" cmpd="sng">
              <a:solidFill>
                <a:schemeClr val="accent1">
                  <a:lumMod val="40000"/>
                  <a:lumOff val="60000"/>
                </a:schemeClr>
              </a:solidFill>
              <a:prstDash val="solid"/>
            </a:ln>
          </a:insideV>
        </a:tcBdr>
        <a:fill>
          <a:solidFill>
            <a:srgbClr val="FFFFFF"/>
          </a:solidFill>
        </a:fill>
      </a:tcStyle>
    </a:firstRow>
    <a:neCell>
      <a:tcTxStyle b="on">
        <a:fontRef idx="none">
          <a:schemeClr val="accent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fill>
          <a:solidFill>
            <a:srgbClr val="FFFFFF"/>
          </a:solidFill>
        </a:fill>
      </a:tcStyle>
    </a:neCell>
    <a:n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fill>
          <a:solidFill>
            <a:srgbClr val="FFFFF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7" autoAdjust="0"/>
    <p:restoredTop sz="94669" autoAdjust="0"/>
  </p:normalViewPr>
  <p:slideViewPr>
    <p:cSldViewPr snapToGrid="0" showGuides="1">
      <p:cViewPr varScale="1">
        <p:scale>
          <a:sx n="66" d="100"/>
          <a:sy n="66" d="100"/>
        </p:scale>
        <p:origin x="728" y="40"/>
      </p:cViewPr>
      <p:guideLst>
        <p:guide orient="horz" pos="2085"/>
        <p:guide pos="2861"/>
      </p:guideLst>
    </p:cSldViewPr>
  </p:slideViewPr>
  <p:outlineViewPr>
    <p:cViewPr>
      <p:scale>
        <a:sx n="33" d="100"/>
        <a:sy n="33" d="100"/>
      </p:scale>
      <p:origin x="0" y="0"/>
    </p:cViewPr>
  </p:outlineViewPr>
  <p:notesTextViewPr>
    <p:cViewPr>
      <p:scale>
        <a:sx n="100" d="100"/>
        <a:sy n="100" d="100"/>
      </p:scale>
      <p:origin x="0" y="0"/>
    </p:cViewPr>
  </p:notesTextViewPr>
  <p:gridSpacing cx="45000" cy="45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37.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36.emf"/><Relationship Id="rId4" Type="http://schemas.openxmlformats.org/officeDocument/2006/relationships/image" Target="../media/image35.e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45.wmf"/><Relationship Id="rId8" Type="http://schemas.openxmlformats.org/officeDocument/2006/relationships/image" Target="../media/image44.wmf"/><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3" Type="http://schemas.openxmlformats.org/officeDocument/2006/relationships/image" Target="../media/image49.wmf"/><Relationship Id="rId12" Type="http://schemas.openxmlformats.org/officeDocument/2006/relationships/image" Target="../media/image48.wmf"/><Relationship Id="rId11" Type="http://schemas.openxmlformats.org/officeDocument/2006/relationships/image" Target="../media/image47.wmf"/><Relationship Id="rId10" Type="http://schemas.openxmlformats.org/officeDocument/2006/relationships/image" Target="../media/image46.wmf"/><Relationship Id="rId1"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57.wmf"/><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77.wmf"/><Relationship Id="rId7" Type="http://schemas.openxmlformats.org/officeDocument/2006/relationships/image" Target="../media/image76.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9D064-F7DD-4011-810F-EF3EAA02CDB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E9FE00-1A04-4461-9872-77D0B903819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E9FE00-1A04-4461-9872-77D0B903819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E9FE00-1A04-4461-9872-77D0B903819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6" descr="5929397.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5525" y="714375"/>
            <a:ext cx="2689225"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857224" y="1857364"/>
            <a:ext cx="3480440" cy="584775"/>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fontAlgn="auto">
              <a:spcBef>
                <a:spcPts val="0"/>
              </a:spcBef>
              <a:spcAft>
                <a:spcPts val="0"/>
              </a:spcAft>
              <a:defRPr/>
            </a:pPr>
            <a:r>
              <a:rPr lang="en-US" altLang="zh-CN"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黑体" panose="02010609060101010101" pitchFamily="2" charset="-122"/>
                <a:ea typeface="黑体" panose="02010609060101010101" pitchFamily="2" charset="-122"/>
              </a:rPr>
              <a:t>《</a:t>
            </a:r>
            <a:r>
              <a:rPr lang="zh-CN" alt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黑体" panose="02010609060101010101" pitchFamily="2" charset="-122"/>
                <a:ea typeface="黑体" panose="02010609060101010101" pitchFamily="2" charset="-122"/>
              </a:rPr>
              <a:t>机械设计</a:t>
            </a:r>
            <a:r>
              <a:rPr lang="en-US" altLang="zh-CN"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黑体" panose="02010609060101010101" pitchFamily="2" charset="-122"/>
                <a:ea typeface="黑体" panose="02010609060101010101" pitchFamily="2" charset="-122"/>
              </a:rPr>
              <a:t>》</a:t>
            </a:r>
            <a:r>
              <a:rPr lang="zh-CN" alt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黑体" panose="02010609060101010101" pitchFamily="2" charset="-122"/>
                <a:ea typeface="黑体" panose="02010609060101010101" pitchFamily="2" charset="-122"/>
              </a:rPr>
              <a:t>课程</a:t>
            </a:r>
            <a:endParaRPr lang="zh-CN" altLang="en-US"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mn-lt"/>
              <a:ea typeface="+mn-ea"/>
            </a:endParaRPr>
          </a:p>
        </p:txBody>
      </p:sp>
      <p:sp>
        <p:nvSpPr>
          <p:cNvPr id="2" name="标题 1"/>
          <p:cNvSpPr>
            <a:spLocks noGrp="1"/>
          </p:cNvSpPr>
          <p:nvPr>
            <p:ph type="ctrTitle"/>
          </p:nvPr>
        </p:nvSpPr>
        <p:spPr>
          <a:xfrm>
            <a:off x="1071538" y="2857496"/>
            <a:ext cx="6715172" cy="1357322"/>
          </a:xfrm>
          <a:noFill/>
        </p:spPr>
        <p:txBody>
          <a:bodyPr>
            <a:normAutofit/>
          </a:bodyPr>
          <a:lstStyle>
            <a:lvl1pPr algn="ctr">
              <a:defRPr sz="4800" b="1">
                <a:solidFill>
                  <a:srgbClr val="0000FF"/>
                </a:solidFill>
                <a:latin typeface="黑体" panose="02010609060101010101" pitchFamily="2" charset="-122"/>
                <a:ea typeface="黑体" panose="02010609060101010101" pitchFamily="2" charset="-122"/>
              </a:defRPr>
            </a:lvl1p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4572000" y="4714884"/>
            <a:ext cx="3214710" cy="642942"/>
          </a:xfrm>
        </p:spPr>
        <p:txBody>
          <a:bodyPr>
            <a:normAutofit/>
          </a:bodyPr>
          <a:lstStyle>
            <a:lvl1pPr marL="0" indent="0" algn="ctr">
              <a:buNone/>
              <a:defRPr sz="2800">
                <a:solidFill>
                  <a:srgbClr val="0000FF"/>
                </a:solidFill>
                <a:latin typeface="楷体_GB2312" pitchFamily="49" charset="-122"/>
                <a:ea typeface="楷体_GB2312"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6" name="页脚占位符 4"/>
          <p:cNvSpPr>
            <a:spLocks noGrp="1"/>
          </p:cNvSpPr>
          <p:nvPr>
            <p:ph type="ftr" sz="quarter" idx="10"/>
          </p:nvPr>
        </p:nvSpPr>
        <p:spPr>
          <a:xfrm>
            <a:off x="3929063" y="6492875"/>
            <a:ext cx="2895600" cy="365125"/>
          </a:xfrm>
        </p:spPr>
        <p:txBody>
          <a:bodyPr/>
          <a:lstStyle>
            <a:lvl1pPr>
              <a:defRPr sz="2000">
                <a:latin typeface="黑体" panose="02010609060101010101" pitchFamily="2" charset="-122"/>
                <a:ea typeface="黑体" panose="02010609060101010101" pitchFamily="2" charset="-122"/>
              </a:defRPr>
            </a:lvl1pPr>
          </a:lstStyle>
          <a:p>
            <a:pPr>
              <a:defRPr/>
            </a:pPr>
            <a:endParaRPr lang="zh-CN" altLang="en-US"/>
          </a:p>
        </p:txBody>
      </p:sp>
      <p:sp>
        <p:nvSpPr>
          <p:cNvPr id="7" name="灯片编号占位符 5"/>
          <p:cNvSpPr>
            <a:spLocks noGrp="1"/>
          </p:cNvSpPr>
          <p:nvPr>
            <p:ph type="sldNum" sz="quarter" idx="11"/>
          </p:nvPr>
        </p:nvSpPr>
        <p:spPr>
          <a:xfrm>
            <a:off x="8429625" y="6492875"/>
            <a:ext cx="714375" cy="365125"/>
          </a:xfrm>
        </p:spPr>
        <p:txBody>
          <a:bodyPr/>
          <a:lstStyle>
            <a:lvl1pPr>
              <a:defRPr/>
            </a:lvl1pPr>
          </a:lstStyle>
          <a:p>
            <a:fld id="{197D70A8-6406-4C9E-8AA5-8FE034CD13E8}"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5" name="直接连接符 4"/>
          <p:cNvCxnSpPr/>
          <p:nvPr userDrawn="1"/>
        </p:nvCxnSpPr>
        <p:spPr>
          <a:xfrm>
            <a:off x="428625" y="857250"/>
            <a:ext cx="8286750" cy="1588"/>
          </a:xfrm>
          <a:prstGeom prst="line">
            <a:avLst/>
          </a:prstGeom>
          <a:ln w="63500" cmpd="thickThi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457200" y="142852"/>
            <a:ext cx="8229600" cy="725470"/>
          </a:xfrm>
        </p:spPr>
        <p:txBody>
          <a:bodyPr/>
          <a:lstStyle>
            <a:lvl1pPr>
              <a:defRPr b="1">
                <a:solidFill>
                  <a:srgbClr val="FF0000"/>
                </a:solidFill>
                <a:latin typeface="黑体" panose="02010609060101010101" pitchFamily="2" charset="-122"/>
                <a:ea typeface="黑体" panose="02010609060101010101" pitchFamily="2" charset="-122"/>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928670"/>
            <a:ext cx="8229600" cy="5357850"/>
          </a:xfrm>
        </p:spPr>
        <p:txBody>
          <a:bodyPr/>
          <a:lstStyle>
            <a:lvl1pPr>
              <a:defRPr b="1">
                <a:solidFill>
                  <a:srgbClr val="0000FF"/>
                </a:solidFill>
                <a:latin typeface="黑体" panose="02010609060101010101" pitchFamily="2" charset="-122"/>
                <a:ea typeface="黑体" panose="02010609060101010101" pitchFamily="2" charset="-122"/>
              </a:defRPr>
            </a:lvl1pPr>
            <a:lvl2pPr>
              <a:defRPr>
                <a:latin typeface="楷体_GB2312" pitchFamily="49" charset="-122"/>
                <a:ea typeface="楷体_GB2312" pitchFamily="49" charset="-122"/>
              </a:defRPr>
            </a:lvl2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7" name="日期占位符 3"/>
          <p:cNvSpPr>
            <a:spLocks noGrp="1"/>
          </p:cNvSpPr>
          <p:nvPr>
            <p:ph type="dt" sz="half" idx="10"/>
          </p:nvPr>
        </p:nvSpPr>
        <p:spPr/>
        <p:txBody>
          <a:bodyPr/>
          <a:lstStyle>
            <a:lvl1pPr>
              <a:defRPr/>
            </a:lvl1pPr>
          </a:lstStyle>
          <a:p>
            <a:pPr>
              <a:defRPr/>
            </a:pPr>
            <a:fld id="{1C0E3E18-61A7-4D3E-BABA-245E9570F2FE}"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E20A404C-43D3-47CA-BE9F-0703AE89740C}"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D1CE7770-2D2C-4136-AABD-B915D49CA32F}" type="datetimeFigureOut">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E8F2BBA7-C1A8-4A5B-A91F-2AC55BB30124}"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9629FADE-A0D0-4835-A884-77C1730CAE65}" type="datetimeFigureOut">
              <a:rPr lang="zh-CN" altLang="en-US"/>
            </a:fld>
            <a:endParaRPr lang="zh-CN" altLang="en-US" dirty="0"/>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C464CBBF-9755-4D5C-BBBE-8BD3DA796B0A}"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60FBB0CE-6788-4225-896D-1808E43DCD14}" type="datetimeFigureOut">
              <a:rPr lang="zh-CN" altLang="en-US"/>
            </a:fld>
            <a:endParaRPr lang="zh-CN" altLang="en-US" dirty="0"/>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7F59C083-7819-48ED-9D5E-91F3425E36DF}"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AB2F9FF-581B-465B-BEEB-FB5A8171AC19}" type="datetimeFigureOut">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20AD9AD0-4104-48D3-989D-93AB724902E8}"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normAutofit/>
          </a:bodyPr>
          <a:lstStyle>
            <a:lvl1pPr algn="ctr">
              <a:defRPr sz="2400" b="1"/>
            </a:lvl1pPr>
          </a:lstStyle>
          <a:p>
            <a:r>
              <a:rPr lang="zh-CN" altLang="en-US" dirty="0" smtClean="0"/>
              <a:t>单击此处编辑母版标题样式</a:t>
            </a:r>
            <a:endParaRPr lang="zh-CN" altLang="en-US" dirty="0"/>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normAutofit/>
          </a:bodyPr>
          <a:lstStyle>
            <a:lvl1pPr marL="0" indent="0" algn="ctr">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smtClean="0"/>
              <a:t>单击此处编辑母版文本样式</a:t>
            </a:r>
            <a:endParaRPr lang="zh-CN" altLang="en-US" dirty="0" smtClean="0"/>
          </a:p>
        </p:txBody>
      </p:sp>
      <p:sp>
        <p:nvSpPr>
          <p:cNvPr id="5" name="日期占位符 3"/>
          <p:cNvSpPr>
            <a:spLocks noGrp="1"/>
          </p:cNvSpPr>
          <p:nvPr>
            <p:ph type="dt" sz="half" idx="10"/>
          </p:nvPr>
        </p:nvSpPr>
        <p:spPr/>
        <p:txBody>
          <a:bodyPr/>
          <a:lstStyle>
            <a:lvl1pPr>
              <a:defRPr/>
            </a:lvl1pPr>
          </a:lstStyle>
          <a:p>
            <a:pPr>
              <a:defRPr/>
            </a:pPr>
            <a:fld id="{2AF52B79-DBD7-47DF-B502-447AD2756089}" type="datetimeFigureOut">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9E1AD980-9C43-4E89-A3F1-78C445D54DA9}"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42" name="标题占位符 1"/>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43" name="文本占位符 2"/>
          <p:cNvSpPr>
            <a:spLocks noGrp="1"/>
          </p:cNvSpPr>
          <p:nvPr>
            <p:ph type="body" idx="1"/>
          </p:nvPr>
        </p:nvSpPr>
        <p:spPr bwMode="auto">
          <a:xfrm>
            <a:off x="457200" y="1143000"/>
            <a:ext cx="82296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E727B59B-31FF-46FE-BD6C-838E4371DA40}" type="datetimeFigureOut">
              <a:rPr lang="zh-CN" altLang="en-US"/>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fld id="{1E4E70CD-FFFD-4394-97D5-0D0C92C931DD}"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rtl="0" eaLnBrk="0" fontAlgn="base" hangingPunct="0">
        <a:spcBef>
          <a:spcPct val="0"/>
        </a:spcBef>
        <a:spcAft>
          <a:spcPct val="0"/>
        </a:spcAft>
        <a:defRPr sz="3600"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黑体" panose="02010609060101010101" pitchFamily="2" charset="-122"/>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黑体" panose="02010609060101010101" pitchFamily="2" charset="-122"/>
          <a:ea typeface="黑体" panose="0201060906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黑体" panose="02010609060101010101" pitchFamily="2" charset="-122"/>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slide" Target="slide43.xml"/><Relationship Id="rId5" Type="http://schemas.openxmlformats.org/officeDocument/2006/relationships/slide" Target="slide11.xml"/><Relationship Id="rId4" Type="http://schemas.openxmlformats.org/officeDocument/2006/relationships/slide" Target="slide10.xml"/><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8.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slideLayout" Target="../slideLayouts/slideLayout2.xml"/><Relationship Id="rId10" Type="http://schemas.openxmlformats.org/officeDocument/2006/relationships/image" Target="../media/image2.png"/><Relationship Id="rId1" Type="http://schemas.openxmlformats.org/officeDocument/2006/relationships/slide" Target="slide4.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2.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8.jpe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notesSlide" Target="../notesSlides/notesSlide4.xml"/><Relationship Id="rId1" Type="http://schemas.openxmlformats.org/officeDocument/2006/relationships/slide" Target="slide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9" Type="http://schemas.openxmlformats.org/officeDocument/2006/relationships/slideLayout" Target="../slideLayouts/slideLayout6.xml"/><Relationship Id="rId18" Type="http://schemas.openxmlformats.org/officeDocument/2006/relationships/tags" Target="../tags/tag18.xml"/><Relationship Id="rId17" Type="http://schemas.openxmlformats.org/officeDocument/2006/relationships/image" Target="../media/image27.png"/><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slideLayout" Target="../slideLayouts/slideLayout6.xml"/><Relationship Id="rId18" Type="http://schemas.openxmlformats.org/officeDocument/2006/relationships/tags" Target="../tags/tag35.xml"/><Relationship Id="rId17" Type="http://schemas.openxmlformats.org/officeDocument/2006/relationships/image" Target="../media/image27.png"/><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29.png"/><Relationship Id="rId2" Type="http://schemas.openxmlformats.org/officeDocument/2006/relationships/image" Target="../media/image28.wmf"/><Relationship Id="rId1"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0.png"/></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29.png"/><Relationship Id="rId7" Type="http://schemas.openxmlformats.org/officeDocument/2006/relationships/image" Target="../media/image34.wmf"/><Relationship Id="rId6" Type="http://schemas.openxmlformats.org/officeDocument/2006/relationships/oleObject" Target="../embeddings/oleObject4.bin"/><Relationship Id="rId5" Type="http://schemas.openxmlformats.org/officeDocument/2006/relationships/image" Target="../media/image33.wmf"/><Relationship Id="rId4" Type="http://schemas.openxmlformats.org/officeDocument/2006/relationships/oleObject" Target="../embeddings/oleObject3.bin"/><Relationship Id="rId3" Type="http://schemas.openxmlformats.org/officeDocument/2006/relationships/image" Target="../media/image32.wmf"/><Relationship Id="rId2" Type="http://schemas.openxmlformats.org/officeDocument/2006/relationships/oleObject" Target="../embeddings/oleObject2.bin"/><Relationship Id="rId15" Type="http://schemas.openxmlformats.org/officeDocument/2006/relationships/vmlDrawing" Target="../drawings/vmlDrawing2.vml"/><Relationship Id="rId14" Type="http://schemas.openxmlformats.org/officeDocument/2006/relationships/slideLayout" Target="../slideLayouts/slideLayout2.xml"/><Relationship Id="rId13" Type="http://schemas.openxmlformats.org/officeDocument/2006/relationships/image" Target="../media/image2.png"/><Relationship Id="rId12" Type="http://schemas.openxmlformats.org/officeDocument/2006/relationships/image" Target="../media/image36.emf"/><Relationship Id="rId11" Type="http://schemas.openxmlformats.org/officeDocument/2006/relationships/oleObject" Target="../embeddings/oleObject6.bin"/><Relationship Id="rId10" Type="http://schemas.openxmlformats.org/officeDocument/2006/relationships/image" Target="../media/image35.emf"/><Relationship Id="rId1" Type="http://schemas.openxmlformats.org/officeDocument/2006/relationships/image" Target="../media/image31.jpeg"/></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40.wmf"/><Relationship Id="rId7" Type="http://schemas.openxmlformats.org/officeDocument/2006/relationships/oleObject" Target="../embeddings/oleObject10.bin"/><Relationship Id="rId6" Type="http://schemas.openxmlformats.org/officeDocument/2006/relationships/image" Target="../media/image39.wmf"/><Relationship Id="rId5" Type="http://schemas.openxmlformats.org/officeDocument/2006/relationships/oleObject" Target="../embeddings/oleObject9.bin"/><Relationship Id="rId4" Type="http://schemas.openxmlformats.org/officeDocument/2006/relationships/image" Target="../media/image38.wmf"/><Relationship Id="rId3" Type="http://schemas.openxmlformats.org/officeDocument/2006/relationships/oleObject" Target="../embeddings/oleObject8.bin"/><Relationship Id="rId29" Type="http://schemas.openxmlformats.org/officeDocument/2006/relationships/vmlDrawing" Target="../drawings/vmlDrawing3.vml"/><Relationship Id="rId28" Type="http://schemas.openxmlformats.org/officeDocument/2006/relationships/slideLayout" Target="../slideLayouts/slideLayout6.xml"/><Relationship Id="rId27" Type="http://schemas.openxmlformats.org/officeDocument/2006/relationships/image" Target="../media/image2.png"/><Relationship Id="rId26" Type="http://schemas.openxmlformats.org/officeDocument/2006/relationships/image" Target="../media/image49.wmf"/><Relationship Id="rId25" Type="http://schemas.openxmlformats.org/officeDocument/2006/relationships/oleObject" Target="../embeddings/oleObject19.bin"/><Relationship Id="rId24" Type="http://schemas.openxmlformats.org/officeDocument/2006/relationships/image" Target="../media/image48.wmf"/><Relationship Id="rId23" Type="http://schemas.openxmlformats.org/officeDocument/2006/relationships/oleObject" Target="../embeddings/oleObject18.bin"/><Relationship Id="rId22" Type="http://schemas.openxmlformats.org/officeDocument/2006/relationships/image" Target="../media/image47.wmf"/><Relationship Id="rId21" Type="http://schemas.openxmlformats.org/officeDocument/2006/relationships/oleObject" Target="../embeddings/oleObject17.bin"/><Relationship Id="rId20" Type="http://schemas.openxmlformats.org/officeDocument/2006/relationships/image" Target="../media/image46.wmf"/><Relationship Id="rId2" Type="http://schemas.openxmlformats.org/officeDocument/2006/relationships/image" Target="../media/image37.wmf"/><Relationship Id="rId19" Type="http://schemas.openxmlformats.org/officeDocument/2006/relationships/oleObject" Target="../embeddings/oleObject16.bin"/><Relationship Id="rId18" Type="http://schemas.openxmlformats.org/officeDocument/2006/relationships/image" Target="../media/image45.wmf"/><Relationship Id="rId17" Type="http://schemas.openxmlformats.org/officeDocument/2006/relationships/oleObject" Target="../embeddings/oleObject15.bin"/><Relationship Id="rId16" Type="http://schemas.openxmlformats.org/officeDocument/2006/relationships/image" Target="../media/image44.wmf"/><Relationship Id="rId15" Type="http://schemas.openxmlformats.org/officeDocument/2006/relationships/oleObject" Target="../embeddings/oleObject14.bin"/><Relationship Id="rId14" Type="http://schemas.openxmlformats.org/officeDocument/2006/relationships/image" Target="../media/image43.wmf"/><Relationship Id="rId13" Type="http://schemas.openxmlformats.org/officeDocument/2006/relationships/oleObject" Target="../embeddings/oleObject13.bin"/><Relationship Id="rId12" Type="http://schemas.openxmlformats.org/officeDocument/2006/relationships/image" Target="../media/image42.wmf"/><Relationship Id="rId11" Type="http://schemas.openxmlformats.org/officeDocument/2006/relationships/oleObject" Target="../embeddings/oleObject12.bin"/><Relationship Id="rId10" Type="http://schemas.openxmlformats.org/officeDocument/2006/relationships/image" Target="../media/image41.wmf"/><Relationship Id="rId1"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53.wmf"/><Relationship Id="rId7" Type="http://schemas.openxmlformats.org/officeDocument/2006/relationships/oleObject" Target="../embeddings/oleObject23.bin"/><Relationship Id="rId6" Type="http://schemas.openxmlformats.org/officeDocument/2006/relationships/image" Target="../media/image52.wmf"/><Relationship Id="rId5" Type="http://schemas.openxmlformats.org/officeDocument/2006/relationships/oleObject" Target="../embeddings/oleObject22.bin"/><Relationship Id="rId4" Type="http://schemas.openxmlformats.org/officeDocument/2006/relationships/image" Target="../media/image51.wmf"/><Relationship Id="rId3" Type="http://schemas.openxmlformats.org/officeDocument/2006/relationships/oleObject" Target="../embeddings/oleObject21.bin"/><Relationship Id="rId20" Type="http://schemas.openxmlformats.org/officeDocument/2006/relationships/vmlDrawing" Target="../drawings/vmlDrawing4.vml"/><Relationship Id="rId2" Type="http://schemas.openxmlformats.org/officeDocument/2006/relationships/image" Target="../media/image50.wmf"/><Relationship Id="rId19" Type="http://schemas.openxmlformats.org/officeDocument/2006/relationships/slideLayout" Target="../slideLayouts/slideLayout6.xml"/><Relationship Id="rId18" Type="http://schemas.openxmlformats.org/officeDocument/2006/relationships/image" Target="../media/image2.png"/><Relationship Id="rId17" Type="http://schemas.openxmlformats.org/officeDocument/2006/relationships/image" Target="../media/image58.png"/><Relationship Id="rId16" Type="http://schemas.openxmlformats.org/officeDocument/2006/relationships/image" Target="../media/image57.wmf"/><Relationship Id="rId15" Type="http://schemas.openxmlformats.org/officeDocument/2006/relationships/oleObject" Target="../embeddings/oleObject27.bin"/><Relationship Id="rId14" Type="http://schemas.openxmlformats.org/officeDocument/2006/relationships/image" Target="../media/image56.wmf"/><Relationship Id="rId13" Type="http://schemas.openxmlformats.org/officeDocument/2006/relationships/oleObject" Target="../embeddings/oleObject26.bin"/><Relationship Id="rId12" Type="http://schemas.openxmlformats.org/officeDocument/2006/relationships/image" Target="../media/image55.wmf"/><Relationship Id="rId11" Type="http://schemas.openxmlformats.org/officeDocument/2006/relationships/oleObject" Target="../embeddings/oleObject25.bin"/><Relationship Id="rId10" Type="http://schemas.openxmlformats.org/officeDocument/2006/relationships/image" Target="../media/image54.wmf"/><Relationship Id="rId1" Type="http://schemas.openxmlformats.org/officeDocument/2006/relationships/oleObject" Target="../embeddings/oleObject20.bin"/></Relationships>
</file>

<file path=ppt/slides/_rels/slide31.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28.bin"/><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2" Type="http://schemas.openxmlformats.org/officeDocument/2006/relationships/vmlDrawing" Target="../drawings/vmlDrawing5.vml"/><Relationship Id="rId11" Type="http://schemas.openxmlformats.org/officeDocument/2006/relationships/slideLayout" Target="../slideLayouts/slideLayout2.xml"/><Relationship Id="rId10" Type="http://schemas.openxmlformats.org/officeDocument/2006/relationships/image" Target="../media/image2.png"/><Relationship Id="rId1" Type="http://schemas.openxmlformats.org/officeDocument/2006/relationships/slide" Target="slide4.xml"/></Relationships>
</file>

<file path=ppt/slides/_rels/slide32.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png"/><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1" Type="http://schemas.openxmlformats.org/officeDocument/2006/relationships/slideLayout" Target="../slideLayouts/slideLayout2.xml"/><Relationship Id="rId10" Type="http://schemas.openxmlformats.org/officeDocument/2006/relationships/image" Target="../media/image2.png"/><Relationship Id="rId1" Type="http://schemas.openxmlformats.org/officeDocument/2006/relationships/slide" Target="slide4.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 Target="slide4.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image" Target="../media/image73.wmf"/><Relationship Id="rId7" Type="http://schemas.openxmlformats.org/officeDocument/2006/relationships/oleObject" Target="../embeddings/oleObject32.bin"/><Relationship Id="rId6" Type="http://schemas.openxmlformats.org/officeDocument/2006/relationships/image" Target="../media/image72.wmf"/><Relationship Id="rId5" Type="http://schemas.openxmlformats.org/officeDocument/2006/relationships/oleObject" Target="../embeddings/oleObject31.bin"/><Relationship Id="rId4" Type="http://schemas.openxmlformats.org/officeDocument/2006/relationships/image" Target="../media/image71.wmf"/><Relationship Id="rId3" Type="http://schemas.openxmlformats.org/officeDocument/2006/relationships/oleObject" Target="../embeddings/oleObject30.bin"/><Relationship Id="rId20" Type="http://schemas.openxmlformats.org/officeDocument/2006/relationships/notesSlide" Target="../notesSlides/notesSlide5.xml"/><Relationship Id="rId2" Type="http://schemas.openxmlformats.org/officeDocument/2006/relationships/image" Target="../media/image70.wmf"/><Relationship Id="rId19" Type="http://schemas.openxmlformats.org/officeDocument/2006/relationships/vmlDrawing" Target="../drawings/vmlDrawing6.vml"/><Relationship Id="rId18" Type="http://schemas.openxmlformats.org/officeDocument/2006/relationships/slideLayout" Target="../slideLayouts/slideLayout2.xml"/><Relationship Id="rId17" Type="http://schemas.openxmlformats.org/officeDocument/2006/relationships/image" Target="../media/image2.png"/><Relationship Id="rId16" Type="http://schemas.openxmlformats.org/officeDocument/2006/relationships/image" Target="../media/image77.wmf"/><Relationship Id="rId15" Type="http://schemas.openxmlformats.org/officeDocument/2006/relationships/oleObject" Target="../embeddings/oleObject36.bin"/><Relationship Id="rId14" Type="http://schemas.openxmlformats.org/officeDocument/2006/relationships/image" Target="../media/image76.wmf"/><Relationship Id="rId13" Type="http://schemas.openxmlformats.org/officeDocument/2006/relationships/oleObject" Target="../embeddings/oleObject35.bin"/><Relationship Id="rId12" Type="http://schemas.openxmlformats.org/officeDocument/2006/relationships/image" Target="../media/image75.wmf"/><Relationship Id="rId11" Type="http://schemas.openxmlformats.org/officeDocument/2006/relationships/oleObject" Target="../embeddings/oleObject34.bin"/><Relationship Id="rId10" Type="http://schemas.openxmlformats.org/officeDocument/2006/relationships/image" Target="../media/image74.wmf"/><Relationship Id="rId1" Type="http://schemas.openxmlformats.org/officeDocument/2006/relationships/oleObject" Target="../embeddings/oleObject29.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78.png"/></Relationships>
</file>

<file path=ppt/slides/_rels/slide36.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2.png"/><Relationship Id="rId6" Type="http://schemas.openxmlformats.org/officeDocument/2006/relationships/image" Target="../media/image81.wmf"/><Relationship Id="rId5" Type="http://schemas.openxmlformats.org/officeDocument/2006/relationships/oleObject" Target="../embeddings/oleObject39.bin"/><Relationship Id="rId4" Type="http://schemas.openxmlformats.org/officeDocument/2006/relationships/image" Target="../media/image80.wmf"/><Relationship Id="rId3" Type="http://schemas.openxmlformats.org/officeDocument/2006/relationships/oleObject" Target="../embeddings/oleObject38.bin"/><Relationship Id="rId2" Type="http://schemas.openxmlformats.org/officeDocument/2006/relationships/image" Target="../media/image79.wmf"/><Relationship Id="rId1" Type="http://schemas.openxmlformats.org/officeDocument/2006/relationships/oleObject" Target="../embeddings/oleObject37.bin"/></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 Target="slide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8.GI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7.jpeg"/><Relationship Id="rId1" Type="http://schemas.openxmlformats.org/officeDocument/2006/relationships/image" Target="../media/image9.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88.jpeg"/><Relationship Id="rId1"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9.png"/><Relationship Id="rId1" Type="http://schemas.openxmlformats.org/officeDocument/2006/relationships/tags" Target="../tags/tag36.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6.png"/><Relationship Id="rId3" Type="http://schemas.openxmlformats.org/officeDocument/2006/relationships/slide" Target="slide1.xml"/><Relationship Id="rId2" Type="http://schemas.openxmlformats.org/officeDocument/2006/relationships/image" Target="../media/image15.png"/><Relationship Id="rId1" Type="http://schemas.openxmlformats.org/officeDocument/2006/relationships/slide" Target="slide4.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90.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92.png"/><Relationship Id="rId1" Type="http://schemas.openxmlformats.org/officeDocument/2006/relationships/image" Target="../media/image9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97205" y="1285240"/>
            <a:ext cx="8301990" cy="706755"/>
          </a:xfrm>
          <a:prstGeom prst="rect">
            <a:avLst/>
          </a:prstGeom>
          <a:noFill/>
        </p:spPr>
        <p:txBody>
          <a:bodyPr wrap="square" rtlCol="0" anchor="t">
            <a:spAutoFit/>
          </a:bodyPr>
          <a:p>
            <a:pPr>
              <a:spcBef>
                <a:spcPct val="50000"/>
              </a:spcBef>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rPr>
              <a:t>1</a:t>
            </a:r>
            <a:r>
              <a:rPr lang="zh-CN" altLang="en-US" sz="200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rPr>
              <a:t>．当两个被联接件之一太厚，不宜制成通孔，且联接不需要经常拆卸时，往往采用什么螺纹联接？</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
        <p:nvSpPr>
          <p:cNvPr id="23556" name="Rectangle 6"/>
          <p:cNvSpPr/>
          <p:nvPr/>
        </p:nvSpPr>
        <p:spPr>
          <a:xfrm>
            <a:off x="466090" y="2245995"/>
            <a:ext cx="7848600" cy="389890"/>
          </a:xfrm>
          <a:prstGeom prst="rect">
            <a:avLst/>
          </a:prstGeom>
          <a:noFill/>
          <a:ln w="9525">
            <a:noFill/>
          </a:ln>
        </p:spPr>
        <p:txBody>
          <a:bodyPr wrap="square" lIns="83284" tIns="41641" rIns="83284" bIns="41641">
            <a:spAutoFit/>
          </a:bodyPr>
          <a:p>
            <a:pPr algn="l">
              <a:lnSpc>
                <a:spcPct val="100000"/>
              </a:lnSpc>
              <a:spcBef>
                <a:spcPct val="50000"/>
              </a:spcBef>
              <a:buClrTx/>
              <a:buSzTx/>
              <a:buFontTx/>
              <a:buNone/>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rPr>
              <a:t>2.两被联接件之一较厚，盲孔且经常拆卸时，易采用什么螺纹联接？</a:t>
            </a:r>
            <a:endPar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文本框 2"/>
          <p:cNvSpPr txBox="1"/>
          <p:nvPr/>
        </p:nvSpPr>
        <p:spPr>
          <a:xfrm>
            <a:off x="365760" y="2921000"/>
            <a:ext cx="7421880" cy="398780"/>
          </a:xfrm>
          <a:prstGeom prst="rect">
            <a:avLst/>
          </a:prstGeom>
          <a:noFill/>
        </p:spPr>
        <p:txBody>
          <a:bodyPr wrap="none" rtlCol="0" anchor="t">
            <a:spAutoFit/>
          </a:bodyPr>
          <a:p>
            <a:pPr algn="l" eaLnBrk="1" latinLnBrk="0" hangingPunct="1">
              <a:lnSpc>
                <a:spcPct val="100000"/>
              </a:lnSpc>
              <a:spcBef>
                <a:spcPct val="50000"/>
              </a:spcBef>
              <a:buClrTx/>
              <a:buSzTx/>
              <a:buFontTx/>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rPr>
              <a:t>3．承受横向载荷的紧螺栓联接，联接中的螺栓受什么应力作用？</a:t>
            </a:r>
            <a:endPar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endParaRPr>
          </a:p>
        </p:txBody>
      </p:sp>
      <p:sp>
        <p:nvSpPr>
          <p:cNvPr id="4" name="文本框 3"/>
          <p:cNvSpPr txBox="1"/>
          <p:nvPr/>
        </p:nvSpPr>
        <p:spPr>
          <a:xfrm>
            <a:off x="3016568" y="304800"/>
            <a:ext cx="2621280" cy="460375"/>
          </a:xfrm>
          <a:prstGeom prst="rect">
            <a:avLst/>
          </a:prstGeom>
          <a:noFill/>
        </p:spPr>
        <p:txBody>
          <a:bodyPr wrap="none" rtlCol="0" anchor="t">
            <a:spAutoFit/>
          </a:bodyPr>
          <a:p>
            <a:pPr marL="0" indent="0" algn="ctr" eaLnBrk="1" hangingPunct="1">
              <a:buFontTx/>
              <a:buNone/>
            </a:pPr>
            <a:r>
              <a:rPr lang="zh-CN" altLang="en-US" sz="2400" dirty="0" smtClean="0">
                <a:solidFill>
                  <a:srgbClr val="0000FF"/>
                </a:solidFill>
                <a:latin typeface="黑体" panose="02010609060101010101" pitchFamily="2" charset="-122"/>
                <a:ea typeface="黑体" panose="02010609060101010101" pitchFamily="2" charset="-122"/>
                <a:cs typeface="黑体" panose="02010609060101010101" pitchFamily="2" charset="-122"/>
                <a:sym typeface="+mn-ea"/>
              </a:rPr>
              <a:t>第</a:t>
            </a:r>
            <a:r>
              <a:rPr lang="en-US" altLang="zh-CN" sz="2400" dirty="0" smtClean="0">
                <a:solidFill>
                  <a:srgbClr val="0000FF"/>
                </a:solidFill>
                <a:latin typeface="黑体" panose="02010609060101010101" pitchFamily="2" charset="-122"/>
                <a:ea typeface="黑体" panose="02010609060101010101" pitchFamily="2" charset="-122"/>
                <a:cs typeface="黑体" panose="02010609060101010101" pitchFamily="2" charset="-122"/>
                <a:sym typeface="+mn-ea"/>
              </a:rPr>
              <a:t>2.3</a:t>
            </a:r>
            <a:r>
              <a:rPr lang="zh-CN" altLang="en-US" sz="2400" dirty="0" smtClean="0">
                <a:solidFill>
                  <a:srgbClr val="0000FF"/>
                </a:solidFill>
                <a:latin typeface="黑体" panose="02010609060101010101" pitchFamily="2" charset="-122"/>
                <a:ea typeface="黑体" panose="02010609060101010101" pitchFamily="2" charset="-122"/>
                <a:cs typeface="黑体" panose="02010609060101010101" pitchFamily="2" charset="-122"/>
                <a:sym typeface="+mn-ea"/>
              </a:rPr>
              <a:t>章 </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sym typeface="+mn-ea"/>
              </a:rPr>
              <a:t>螺纹连接</a:t>
            </a:r>
            <a:endParaRPr lang="zh-CN" altLang="en-US" sz="2400">
              <a:latin typeface="黑体" panose="02010609060101010101" pitchFamily="2" charset="-122"/>
              <a:ea typeface="黑体" panose="02010609060101010101" pitchFamily="2" charset="-122"/>
              <a:cs typeface="黑体" panose="02010609060101010101" pitchFamily="2" charset="-122"/>
            </a:endParaRPr>
          </a:p>
        </p:txBody>
      </p:sp>
      <p:sp>
        <p:nvSpPr>
          <p:cNvPr id="5" name="文本框 4"/>
          <p:cNvSpPr txBox="1"/>
          <p:nvPr/>
        </p:nvSpPr>
        <p:spPr>
          <a:xfrm>
            <a:off x="241935" y="885190"/>
            <a:ext cx="3372485" cy="460375"/>
          </a:xfrm>
          <a:prstGeom prst="rect">
            <a:avLst/>
          </a:prstGeom>
          <a:noFill/>
        </p:spPr>
        <p:txBody>
          <a:bodyPr wrap="square" rtlCol="0">
            <a:spAutoFit/>
          </a:bodyPr>
          <a:p>
            <a:r>
              <a:rPr lang="zh-CN" altLang="en-US" sz="2400">
                <a:solidFill>
                  <a:srgbClr val="C00000"/>
                </a:solidFill>
                <a:latin typeface="黑体" panose="02010609060101010101" pitchFamily="2" charset="-122"/>
                <a:ea typeface="黑体" panose="02010609060101010101" pitchFamily="2" charset="-122"/>
              </a:rPr>
              <a:t>一、思考题</a:t>
            </a:r>
            <a:endParaRPr lang="zh-CN" altLang="en-US" sz="2400">
              <a:solidFill>
                <a:srgbClr val="C00000"/>
              </a:solidFill>
              <a:latin typeface="黑体" panose="02010609060101010101" pitchFamily="2" charset="-122"/>
              <a:ea typeface="黑体" panose="02010609060101010101" pitchFamily="2" charset="-122"/>
            </a:endParaRPr>
          </a:p>
        </p:txBody>
      </p:sp>
      <p:sp>
        <p:nvSpPr>
          <p:cNvPr id="24578" name="Rectangle 20"/>
          <p:cNvSpPr/>
          <p:nvPr/>
        </p:nvSpPr>
        <p:spPr>
          <a:xfrm>
            <a:off x="465773" y="3729831"/>
            <a:ext cx="7561262" cy="389890"/>
          </a:xfrm>
          <a:prstGeom prst="rect">
            <a:avLst/>
          </a:prstGeom>
          <a:noFill/>
          <a:ln w="9525">
            <a:noFill/>
          </a:ln>
        </p:spPr>
        <p:txBody>
          <a:bodyPr lIns="83284" tIns="41641" rIns="83284" bIns="41641" anchor="ctr">
            <a:spAutoFit/>
          </a:bodyPr>
          <a:p>
            <a:pPr algn="l">
              <a:spcBef>
                <a:spcPct val="50000"/>
              </a:spcBef>
              <a:buClrTx/>
              <a:buSzTx/>
              <a:buFontTx/>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rPr>
              <a:t>4．采用凸台或沉头座作为螺栓头或螺母的支撑面的目的是什么？</a:t>
            </a:r>
            <a:endParaRPr lang="en-US" altLang="zh-CN" sz="2000" dirty="0">
              <a:solidFill>
                <a:srgbClr val="002060"/>
              </a:solidFill>
              <a:latin typeface="华文中宋" panose="02010600040101010101" pitchFamily="2" charset="-122"/>
              <a:ea typeface="华文中宋" panose="02010600040101010101" pitchFamily="2" charset="-122"/>
            </a:endParaRPr>
          </a:p>
        </p:txBody>
      </p:sp>
      <p:sp>
        <p:nvSpPr>
          <p:cNvPr id="6" name="文本框 5"/>
          <p:cNvSpPr txBox="1"/>
          <p:nvPr/>
        </p:nvSpPr>
        <p:spPr>
          <a:xfrm>
            <a:off x="427355" y="4288790"/>
            <a:ext cx="8571865" cy="398780"/>
          </a:xfrm>
          <a:prstGeom prst="rect">
            <a:avLst/>
          </a:prstGeom>
          <a:noFill/>
        </p:spPr>
        <p:txBody>
          <a:bodyPr wrap="square" rtlCol="0" anchor="t">
            <a:spAutoFit/>
          </a:bodyPr>
          <a:p>
            <a:pPr algn="l">
              <a:spcBef>
                <a:spcPct val="50000"/>
              </a:spcBef>
              <a:buClrTx/>
              <a:buSzTx/>
              <a:buFontTx/>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rPr>
              <a:t>5.在确定紧螺栓联接的强度计算时，将预紧力F0增大30%是考虑什么问题？</a:t>
            </a:r>
            <a:endParaRPr lang="zh-CN" altLang="en-US" sz="2000"/>
          </a:p>
        </p:txBody>
      </p:sp>
      <p:sp>
        <p:nvSpPr>
          <p:cNvPr id="24580" name="矩形 5"/>
          <p:cNvSpPr/>
          <p:nvPr/>
        </p:nvSpPr>
        <p:spPr>
          <a:xfrm>
            <a:off x="299403" y="4989195"/>
            <a:ext cx="7848600" cy="398780"/>
          </a:xfrm>
          <a:prstGeom prst="rect">
            <a:avLst/>
          </a:prstGeom>
          <a:noFill/>
          <a:ln w="9525">
            <a:noFill/>
          </a:ln>
        </p:spPr>
        <p:txBody>
          <a:bodyPr>
            <a:spAutoFit/>
          </a:bodyPr>
          <a:p>
            <a:pPr algn="l">
              <a:spcBef>
                <a:spcPct val="50000"/>
              </a:spcBef>
              <a:buClrTx/>
              <a:buSzTx/>
              <a:buFontTx/>
            </a:pPr>
            <a:r>
              <a:rPr lang="en-US" altLang="zh-CN" sz="2000" dirty="0">
                <a:solidFill>
                  <a:srgbClr val="002060"/>
                </a:solidFill>
                <a:latin typeface="华文中宋" panose="02010600040101010101" pitchFamily="2" charset="-122"/>
                <a:ea typeface="华文中宋" panose="02010600040101010101" pitchFamily="2" charset="-122"/>
              </a:rPr>
              <a:t> </a:t>
            </a: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rPr>
              <a:t>6.受轴向工作载荷的紧螺栓连接，其螺栓所受总的载荷如何计算？</a:t>
            </a:r>
            <a:endPar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endParaRPr>
          </a:p>
        </p:txBody>
      </p:sp>
      <p:sp>
        <p:nvSpPr>
          <p:cNvPr id="25602" name="Rectangle 4"/>
          <p:cNvSpPr/>
          <p:nvPr/>
        </p:nvSpPr>
        <p:spPr>
          <a:xfrm>
            <a:off x="365443" y="5656581"/>
            <a:ext cx="7785100" cy="389890"/>
          </a:xfrm>
          <a:prstGeom prst="rect">
            <a:avLst/>
          </a:prstGeom>
          <a:noFill/>
          <a:ln w="9525">
            <a:noFill/>
          </a:ln>
        </p:spPr>
        <p:txBody>
          <a:bodyPr lIns="83284" tIns="41641" rIns="83284" bIns="41641" anchor="ctr">
            <a:spAutoFit/>
          </a:bodyPr>
          <a:p>
            <a:pPr algn="l">
              <a:lnSpc>
                <a:spcPct val="100000"/>
              </a:lnSpc>
              <a:spcBef>
                <a:spcPct val="50000"/>
              </a:spcBef>
              <a:buClrTx/>
              <a:buSzTx/>
              <a:buFontTx/>
            </a:pPr>
            <a:r>
              <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rPr>
              <a:t>7.简述提高螺纹联接强度的四种措施。</a:t>
            </a:r>
            <a:endParaRPr lang="en-US" altLang="zh-CN" sz="2000" dirty="0">
              <a:solidFill>
                <a:srgbClr val="002060"/>
              </a:solidFill>
              <a:latin typeface="黑体" panose="02010609060101010101" pitchFamily="2" charset="-122"/>
              <a:ea typeface="黑体" panose="02010609060101010101" pitchFamily="2" charset="-122"/>
              <a:cs typeface="黑体" panose="02010609060101010101" pitchFamily="2" charset="-122"/>
            </a:endParaRPr>
          </a:p>
        </p:txBody>
      </p:sp>
      <p:sp>
        <p:nvSpPr>
          <p:cNvPr id="31752" name="直接连接符 6"/>
          <p:cNvSpPr>
            <a:spLocks noChangeShapeType="1"/>
          </p:cNvSpPr>
          <p:nvPr/>
        </p:nvSpPr>
        <p:spPr bwMode="auto">
          <a:xfrm>
            <a:off x="-18415" y="765175"/>
            <a:ext cx="9144000" cy="0"/>
          </a:xfrm>
          <a:prstGeom prst="line">
            <a:avLst/>
          </a:prstGeom>
          <a:noFill/>
          <a:ln w="28575">
            <a:solidFill>
              <a:schemeClr val="accent1"/>
            </a:solidFill>
            <a:miter lim="800000"/>
          </a:ln>
          <a:extLst>
            <a:ext uri="{909E8E84-426E-40DD-AFC4-6F175D3DCCD1}">
              <a14:hiddenFill xmlns:a14="http://schemas.microsoft.com/office/drawing/2010/main">
                <a:noFill/>
              </a14:hiddenFill>
            </a:ext>
          </a:extLst>
        </p:spPr>
        <p:txBody>
          <a:bodyPr/>
          <a:p>
            <a:endParaRPr lang="zh-CN" altLang="en-US"/>
          </a:p>
        </p:txBody>
      </p:sp>
      <p:pic>
        <p:nvPicPr>
          <p:cNvPr id="13323" name="图片 1073742872" descr="44303071dc0a1f9688d599dbc999570副本"/>
          <p:cNvPicPr>
            <a:picLocks noChangeAspect="1"/>
          </p:cNvPicPr>
          <p:nvPr/>
        </p:nvPicPr>
        <p:blipFill>
          <a:blip r:embed="rId1"/>
          <a:stretch>
            <a:fillRect/>
          </a:stretch>
        </p:blipFill>
        <p:spPr>
          <a:xfrm>
            <a:off x="8422005" y="76835"/>
            <a:ext cx="703580" cy="694690"/>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5"/>
          <p:cNvSpPr>
            <a:spLocks noGrp="1" noChangeArrowheads="1"/>
          </p:cNvSpPr>
          <p:nvPr>
            <p:ph type="body" idx="4294967295"/>
          </p:nvPr>
        </p:nvSpPr>
        <p:spPr>
          <a:xfrm>
            <a:off x="619760" y="775970"/>
            <a:ext cx="7772400" cy="5523230"/>
          </a:xfrm>
          <a:prstGeom prst="rect">
            <a:avLst/>
          </a:prstGeom>
        </p:spPr>
        <p:txBody>
          <a:bodyPr/>
          <a:lstStyle/>
          <a:p>
            <a:pPr marL="0" indent="0" algn="just" eaLnBrk="1" hangingPunct="1">
              <a:buFontTx/>
              <a:buNone/>
            </a:pPr>
            <a:endParaRPr lang="zh-CN" altLang="en-US" sz="1000" b="1" dirty="0"/>
          </a:p>
          <a:p>
            <a:pPr marL="0" indent="0" algn="just" eaLnBrk="1" hangingPunct="1">
              <a:lnSpc>
                <a:spcPct val="140000"/>
              </a:lnSpc>
              <a:buFontTx/>
              <a:buNone/>
            </a:pPr>
            <a:r>
              <a:rPr lang="en-US" sz="2000" dirty="0" smtClean="0">
                <a:solidFill>
                  <a:schemeClr val="tx1"/>
                </a:solidFill>
                <a:sym typeface="+mn-ea"/>
              </a:rPr>
              <a:t>1</a:t>
            </a:r>
            <a:r>
              <a:rPr lang="zh-CN" altLang="en-US" sz="2000" dirty="0" smtClean="0">
                <a:solidFill>
                  <a:schemeClr val="tx1"/>
                </a:solidFill>
                <a:sym typeface="+mn-ea"/>
              </a:rPr>
              <a:t>、</a:t>
            </a:r>
            <a:r>
              <a:rPr lang="zh-CN" altLang="en-US" sz="2000" dirty="0">
                <a:solidFill>
                  <a:schemeClr val="tx1"/>
                </a:solidFill>
                <a:sym typeface="+mn-ea"/>
              </a:rPr>
              <a:t>被联接件受横向载荷作用时，若采用一组普通螺栓联接，则载荷靠</a:t>
            </a:r>
            <a:r>
              <a:rPr lang="zh-CN" altLang="en-US" sz="2000" u="sng" dirty="0">
                <a:solidFill>
                  <a:schemeClr val="tx1"/>
                </a:solidFill>
                <a:sym typeface="+mn-ea"/>
              </a:rPr>
              <a:t>          </a:t>
            </a:r>
            <a:r>
              <a:rPr lang="zh-CN" altLang="en-US" sz="2000" dirty="0">
                <a:solidFill>
                  <a:schemeClr val="tx1"/>
                </a:solidFill>
                <a:sym typeface="+mn-ea"/>
              </a:rPr>
              <a:t>来传递。</a:t>
            </a:r>
            <a:endParaRPr lang="zh-CN" altLang="en-US" sz="2000" dirty="0">
              <a:solidFill>
                <a:schemeClr val="tx1"/>
              </a:solidFill>
            </a:endParaRPr>
          </a:p>
          <a:p>
            <a:pPr marL="0" indent="0" algn="just" eaLnBrk="1" hangingPunct="1">
              <a:lnSpc>
                <a:spcPct val="130000"/>
              </a:lnSpc>
              <a:buFontTx/>
              <a:buNone/>
            </a:pPr>
            <a:r>
              <a:rPr lang="zh-CN" altLang="en-US" sz="2000" dirty="0">
                <a:solidFill>
                  <a:schemeClr val="tx1"/>
                </a:solidFill>
                <a:sym typeface="+mn-ea"/>
              </a:rPr>
              <a:t>（</a:t>
            </a:r>
            <a:r>
              <a:rPr lang="en-US" sz="2000" dirty="0">
                <a:solidFill>
                  <a:schemeClr val="tx1"/>
                </a:solidFill>
                <a:sym typeface="+mn-ea"/>
              </a:rPr>
              <a:t>1</a:t>
            </a:r>
            <a:r>
              <a:rPr lang="zh-CN" altLang="en-US" sz="2000" dirty="0">
                <a:solidFill>
                  <a:schemeClr val="tx1"/>
                </a:solidFill>
                <a:sym typeface="+mn-ea"/>
              </a:rPr>
              <a:t>）结合面之间的摩擦力；（</a:t>
            </a:r>
            <a:r>
              <a:rPr lang="en-US" sz="2000" dirty="0">
                <a:solidFill>
                  <a:schemeClr val="tx1"/>
                </a:solidFill>
                <a:sym typeface="+mn-ea"/>
              </a:rPr>
              <a:t>2</a:t>
            </a:r>
            <a:r>
              <a:rPr lang="zh-CN" altLang="en-US" sz="2000" dirty="0">
                <a:solidFill>
                  <a:schemeClr val="tx1"/>
                </a:solidFill>
                <a:sym typeface="+mn-ea"/>
              </a:rPr>
              <a:t>）螺栓的剪切和挤压；（</a:t>
            </a:r>
            <a:r>
              <a:rPr lang="en-US" sz="2000" dirty="0">
                <a:solidFill>
                  <a:schemeClr val="tx1"/>
                </a:solidFill>
                <a:sym typeface="+mn-ea"/>
              </a:rPr>
              <a:t>3</a:t>
            </a:r>
            <a:r>
              <a:rPr lang="zh-CN" altLang="en-US" sz="2000" dirty="0">
                <a:solidFill>
                  <a:schemeClr val="tx1"/>
                </a:solidFill>
                <a:sym typeface="+mn-ea"/>
              </a:rPr>
              <a:t>）螺栓的剪切和被联接件的挤压；</a:t>
            </a:r>
            <a:endParaRPr lang="zh-CN" altLang="en-US" sz="2000" dirty="0">
              <a:solidFill>
                <a:schemeClr val="tx1"/>
              </a:solidFill>
            </a:endParaRPr>
          </a:p>
          <a:p>
            <a:pPr marL="0" indent="0" algn="just" eaLnBrk="1" hangingPunct="1">
              <a:lnSpc>
                <a:spcPct val="150000"/>
              </a:lnSpc>
              <a:buFontTx/>
              <a:buNone/>
            </a:pPr>
            <a:r>
              <a:rPr lang="en-US" sz="2000" dirty="0" smtClean="0">
                <a:solidFill>
                  <a:schemeClr val="tx1"/>
                </a:solidFill>
                <a:sym typeface="+mn-ea"/>
              </a:rPr>
              <a:t>2</a:t>
            </a:r>
            <a:r>
              <a:rPr lang="zh-CN" altLang="en-US" sz="2000" dirty="0" smtClean="0">
                <a:solidFill>
                  <a:schemeClr val="tx1"/>
                </a:solidFill>
                <a:sym typeface="+mn-ea"/>
              </a:rPr>
              <a:t>、</a:t>
            </a:r>
            <a:r>
              <a:rPr lang="zh-CN" altLang="en-US" sz="2000" dirty="0">
                <a:solidFill>
                  <a:schemeClr val="tx1"/>
                </a:solidFill>
                <a:sym typeface="+mn-ea"/>
              </a:rPr>
              <a:t>现有一单个螺栓联接，要求被联接件的结合面不分离，假定螺栓的刚度</a:t>
            </a:r>
            <a:r>
              <a:rPr lang="en-US" sz="2000" dirty="0" err="1">
                <a:solidFill>
                  <a:schemeClr val="tx1"/>
                </a:solidFill>
                <a:sym typeface="+mn-ea"/>
              </a:rPr>
              <a:t>C</a:t>
            </a:r>
            <a:r>
              <a:rPr lang="en-US" sz="2000" baseline="-25000" dirty="0" err="1">
                <a:solidFill>
                  <a:schemeClr val="tx1"/>
                </a:solidFill>
                <a:sym typeface="+mn-ea"/>
              </a:rPr>
              <a:t>1</a:t>
            </a:r>
            <a:r>
              <a:rPr lang="zh-CN" altLang="en-US" sz="2000" dirty="0">
                <a:solidFill>
                  <a:schemeClr val="tx1"/>
                </a:solidFill>
                <a:sym typeface="+mn-ea"/>
              </a:rPr>
              <a:t>与被联接的刚度</a:t>
            </a:r>
            <a:r>
              <a:rPr lang="en-US" sz="2000" dirty="0">
                <a:solidFill>
                  <a:schemeClr val="tx1"/>
                </a:solidFill>
                <a:sym typeface="+mn-ea"/>
              </a:rPr>
              <a:t>C</a:t>
            </a:r>
            <a:r>
              <a:rPr lang="en-US" sz="2000" baseline="-25000" dirty="0">
                <a:solidFill>
                  <a:schemeClr val="tx1"/>
                </a:solidFill>
                <a:sym typeface="+mn-ea"/>
              </a:rPr>
              <a:t>2</a:t>
            </a:r>
            <a:r>
              <a:rPr lang="zh-CN" altLang="en-US" sz="2000" dirty="0">
                <a:solidFill>
                  <a:schemeClr val="tx1"/>
                </a:solidFill>
                <a:sym typeface="+mn-ea"/>
              </a:rPr>
              <a:t>相等，联接的预紧力为</a:t>
            </a:r>
            <a:r>
              <a:rPr lang="en-US" sz="2000" dirty="0">
                <a:solidFill>
                  <a:schemeClr val="tx1"/>
                </a:solidFill>
                <a:sym typeface="+mn-ea"/>
              </a:rPr>
              <a:t>F</a:t>
            </a:r>
            <a:r>
              <a:rPr lang="en-US" sz="2000" baseline="-25000" dirty="0">
                <a:solidFill>
                  <a:schemeClr val="tx1"/>
                </a:solidFill>
                <a:sym typeface="Symbol" panose="05050102010706020507" pitchFamily="18" charset="2"/>
              </a:rPr>
              <a:t>0</a:t>
            </a:r>
            <a:r>
              <a:rPr lang="zh-CN" altLang="en-US" sz="2000" dirty="0">
                <a:solidFill>
                  <a:schemeClr val="tx1"/>
                </a:solidFill>
                <a:sym typeface="+mn-ea"/>
              </a:rPr>
              <a:t>，现开始对联接施加轴向载荷，当外载荷达到与预紧力</a:t>
            </a:r>
            <a:r>
              <a:rPr lang="en-US" sz="2000" dirty="0">
                <a:solidFill>
                  <a:schemeClr val="tx1"/>
                </a:solidFill>
                <a:sym typeface="+mn-ea"/>
              </a:rPr>
              <a:t>F</a:t>
            </a:r>
            <a:r>
              <a:rPr lang="en-US" sz="2000" baseline="-25000" dirty="0">
                <a:solidFill>
                  <a:schemeClr val="tx1"/>
                </a:solidFill>
                <a:sym typeface="Symbol" panose="05050102010706020507" pitchFamily="18" charset="2"/>
              </a:rPr>
              <a:t>0</a:t>
            </a:r>
            <a:r>
              <a:rPr lang="zh-CN" altLang="en-US" sz="2000" dirty="0">
                <a:solidFill>
                  <a:schemeClr val="tx1"/>
                </a:solidFill>
                <a:sym typeface="+mn-ea"/>
              </a:rPr>
              <a:t>的大小相等时，则</a:t>
            </a:r>
            <a:r>
              <a:rPr lang="zh-CN" altLang="en-US" sz="2000" u="sng" dirty="0">
                <a:solidFill>
                  <a:schemeClr val="tx1"/>
                </a:solidFill>
                <a:sym typeface="+mn-ea"/>
              </a:rPr>
              <a:t>    </a:t>
            </a:r>
            <a:r>
              <a:rPr lang="zh-CN" altLang="en-US" sz="2000" dirty="0">
                <a:solidFill>
                  <a:schemeClr val="tx1"/>
                </a:solidFill>
                <a:sym typeface="+mn-ea"/>
              </a:rPr>
              <a:t>。</a:t>
            </a:r>
            <a:endParaRPr lang="zh-CN" altLang="en-US" sz="2000" dirty="0">
              <a:solidFill>
                <a:schemeClr val="tx1"/>
              </a:solidFill>
            </a:endParaRPr>
          </a:p>
          <a:p>
            <a:pPr marL="0" indent="0" algn="just" eaLnBrk="1" hangingPunct="1">
              <a:lnSpc>
                <a:spcPct val="130000"/>
              </a:lnSpc>
              <a:buFontTx/>
              <a:buNone/>
            </a:pPr>
            <a:r>
              <a:rPr lang="zh-CN" altLang="en-US" sz="2000" dirty="0">
                <a:solidFill>
                  <a:schemeClr val="tx1"/>
                </a:solidFill>
                <a:sym typeface="+mn-ea"/>
              </a:rPr>
              <a:t>（</a:t>
            </a:r>
            <a:r>
              <a:rPr lang="en-US" sz="2000" dirty="0">
                <a:solidFill>
                  <a:schemeClr val="tx1"/>
                </a:solidFill>
                <a:sym typeface="+mn-ea"/>
              </a:rPr>
              <a:t>1</a:t>
            </a:r>
            <a:r>
              <a:rPr lang="zh-CN" altLang="en-US" sz="2000" dirty="0">
                <a:solidFill>
                  <a:schemeClr val="tx1"/>
                </a:solidFill>
                <a:sym typeface="+mn-ea"/>
              </a:rPr>
              <a:t>）被联接件发生分离，联结失效；</a:t>
            </a:r>
            <a:endParaRPr lang="zh-CN" altLang="en-US" sz="2000" dirty="0">
              <a:solidFill>
                <a:schemeClr val="tx1"/>
              </a:solidFill>
            </a:endParaRPr>
          </a:p>
          <a:p>
            <a:pPr marL="0" indent="0" algn="just" eaLnBrk="1" hangingPunct="1">
              <a:lnSpc>
                <a:spcPct val="130000"/>
              </a:lnSpc>
              <a:buFontTx/>
              <a:buNone/>
            </a:pPr>
            <a:r>
              <a:rPr lang="zh-CN" altLang="en-US" sz="2000" dirty="0">
                <a:solidFill>
                  <a:schemeClr val="tx1"/>
                </a:solidFill>
                <a:sym typeface="+mn-ea"/>
              </a:rPr>
              <a:t>（</a:t>
            </a:r>
            <a:r>
              <a:rPr lang="en-US" sz="2000" dirty="0">
                <a:solidFill>
                  <a:schemeClr val="tx1"/>
                </a:solidFill>
                <a:sym typeface="+mn-ea"/>
              </a:rPr>
              <a:t>2</a:t>
            </a:r>
            <a:r>
              <a:rPr lang="zh-CN" altLang="en-US" sz="2000" dirty="0">
                <a:solidFill>
                  <a:schemeClr val="tx1"/>
                </a:solidFill>
                <a:sym typeface="+mn-ea"/>
              </a:rPr>
              <a:t>）被联接件即将发生分离，联接不可靠；</a:t>
            </a:r>
            <a:endParaRPr lang="zh-CN" altLang="en-US" sz="2000" dirty="0">
              <a:solidFill>
                <a:schemeClr val="tx1"/>
              </a:solidFill>
            </a:endParaRPr>
          </a:p>
          <a:p>
            <a:pPr marL="0" indent="0" algn="just" eaLnBrk="1" hangingPunct="1">
              <a:lnSpc>
                <a:spcPct val="130000"/>
              </a:lnSpc>
              <a:buFontTx/>
              <a:buNone/>
            </a:pPr>
            <a:r>
              <a:rPr lang="zh-CN" altLang="en-US" sz="2000" dirty="0">
                <a:solidFill>
                  <a:schemeClr val="tx1"/>
                </a:solidFill>
                <a:sym typeface="+mn-ea"/>
              </a:rPr>
              <a:t>（</a:t>
            </a:r>
            <a:r>
              <a:rPr lang="en-US" sz="2000" dirty="0">
                <a:solidFill>
                  <a:schemeClr val="tx1"/>
                </a:solidFill>
                <a:sym typeface="+mn-ea"/>
              </a:rPr>
              <a:t>3</a:t>
            </a:r>
            <a:r>
              <a:rPr lang="zh-CN" altLang="en-US" sz="2000" dirty="0">
                <a:solidFill>
                  <a:schemeClr val="tx1"/>
                </a:solidFill>
                <a:sym typeface="+mn-ea"/>
              </a:rPr>
              <a:t>）联接可靠，但不能再继续加载；</a:t>
            </a:r>
            <a:endParaRPr lang="zh-CN" altLang="en-US" sz="2000" dirty="0">
              <a:solidFill>
                <a:schemeClr val="tx1"/>
              </a:solidFill>
            </a:endParaRPr>
          </a:p>
          <a:p>
            <a:pPr marL="0" indent="0" algn="just" eaLnBrk="1" hangingPunct="1">
              <a:lnSpc>
                <a:spcPct val="130000"/>
              </a:lnSpc>
              <a:buFontTx/>
              <a:buNone/>
            </a:pPr>
            <a:r>
              <a:rPr lang="zh-CN" altLang="en-US" sz="2000" dirty="0">
                <a:solidFill>
                  <a:schemeClr val="tx1"/>
                </a:solidFill>
                <a:sym typeface="+mn-ea"/>
              </a:rPr>
              <a:t>（</a:t>
            </a:r>
            <a:r>
              <a:rPr lang="en-US" sz="2000" dirty="0">
                <a:solidFill>
                  <a:schemeClr val="tx1"/>
                </a:solidFill>
                <a:sym typeface="+mn-ea"/>
              </a:rPr>
              <a:t>4</a:t>
            </a:r>
            <a:r>
              <a:rPr lang="zh-CN" altLang="en-US" sz="2000" dirty="0">
                <a:solidFill>
                  <a:schemeClr val="tx1"/>
                </a:solidFill>
                <a:sym typeface="+mn-ea"/>
              </a:rPr>
              <a:t>）联接可靠，只要螺栓强度足够，外载荷</a:t>
            </a:r>
            <a:r>
              <a:rPr lang="en-US" sz="2000" dirty="0">
                <a:solidFill>
                  <a:schemeClr val="tx1"/>
                </a:solidFill>
                <a:sym typeface="+mn-ea"/>
              </a:rPr>
              <a:t>F</a:t>
            </a:r>
            <a:r>
              <a:rPr lang="zh-CN" altLang="en-US" sz="2000" dirty="0">
                <a:solidFill>
                  <a:schemeClr val="tx1"/>
                </a:solidFill>
                <a:sym typeface="+mn-ea"/>
              </a:rPr>
              <a:t>还可继续增加到接近预紧力</a:t>
            </a:r>
            <a:r>
              <a:rPr lang="en-US" sz="2000" dirty="0">
                <a:solidFill>
                  <a:schemeClr val="tx1"/>
                </a:solidFill>
                <a:sym typeface="+mn-ea"/>
              </a:rPr>
              <a:t>F</a:t>
            </a:r>
            <a:r>
              <a:rPr lang="en-US" sz="2000" baseline="-25000" dirty="0">
                <a:solidFill>
                  <a:schemeClr val="tx1"/>
                </a:solidFill>
                <a:sym typeface="Symbol" panose="05050102010706020507" pitchFamily="18" charset="2"/>
              </a:rPr>
              <a:t>0</a:t>
            </a:r>
            <a:r>
              <a:rPr lang="zh-CN" altLang="en-US" sz="2000" dirty="0">
                <a:solidFill>
                  <a:schemeClr val="tx1"/>
                </a:solidFill>
                <a:sym typeface="+mn-ea"/>
              </a:rPr>
              <a:t>的两倍；</a:t>
            </a:r>
            <a:endParaRPr lang="zh-CN" altLang="en-US" sz="2000" dirty="0">
              <a:solidFill>
                <a:schemeClr val="tx1"/>
              </a:solidFill>
            </a:endParaRPr>
          </a:p>
          <a:p>
            <a:pPr marL="0" indent="0" eaLnBrk="1" hangingPunct="1">
              <a:buFontTx/>
              <a:buNone/>
            </a:pPr>
            <a:endParaRPr lang="en-US" sz="2000" b="1" dirty="0"/>
          </a:p>
        </p:txBody>
      </p:sp>
      <p:sp>
        <p:nvSpPr>
          <p:cNvPr id="140293" name="Text Box 10"/>
          <p:cNvSpPr txBox="1">
            <a:spLocks noChangeArrowheads="1"/>
          </p:cNvSpPr>
          <p:nvPr/>
        </p:nvSpPr>
        <p:spPr bwMode="auto">
          <a:xfrm>
            <a:off x="1408529" y="1368475"/>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1</a:t>
            </a:r>
            <a:endParaRPr lang="en-US" dirty="0">
              <a:solidFill>
                <a:srgbClr val="FF3300"/>
              </a:solidFill>
            </a:endParaRPr>
          </a:p>
        </p:txBody>
      </p:sp>
      <p:pic>
        <p:nvPicPr>
          <p:cNvPr id="13323" name="图片 1073742872" descr="44303071dc0a1f9688d599dbc999570副本"/>
          <p:cNvPicPr>
            <a:picLocks noChangeAspect="1"/>
          </p:cNvPicPr>
          <p:nvPr/>
        </p:nvPicPr>
        <p:blipFill>
          <a:blip r:embed="rId1"/>
          <a:stretch>
            <a:fillRect/>
          </a:stretch>
        </p:blipFill>
        <p:spPr>
          <a:xfrm>
            <a:off x="8392160" y="81280"/>
            <a:ext cx="703580" cy="694690"/>
          </a:xfrm>
          <a:prstGeom prst="rect">
            <a:avLst/>
          </a:prstGeom>
          <a:noFill/>
          <a:ln w="9525">
            <a:noFill/>
          </a:ln>
        </p:spPr>
      </p:pic>
      <p:sp>
        <p:nvSpPr>
          <p:cNvPr id="31752" name="直接连接符 6"/>
          <p:cNvSpPr>
            <a:spLocks noChangeShapeType="1"/>
          </p:cNvSpPr>
          <p:nvPr/>
        </p:nvSpPr>
        <p:spPr bwMode="auto">
          <a:xfrm>
            <a:off x="-18415" y="765175"/>
            <a:ext cx="9144000" cy="0"/>
          </a:xfrm>
          <a:prstGeom prst="line">
            <a:avLst/>
          </a:prstGeom>
          <a:noFill/>
          <a:ln w="28575">
            <a:solidFill>
              <a:schemeClr val="accent1"/>
            </a:solidFill>
            <a:miter lim="800000"/>
          </a:ln>
          <a:extLst>
            <a:ext uri="{909E8E84-426E-40DD-AFC4-6F175D3DCCD1}">
              <a14:hiddenFill xmlns:a14="http://schemas.microsoft.com/office/drawing/2010/main">
                <a:noFill/>
              </a14:hiddenFill>
            </a:ext>
          </a:extLst>
        </p:spPr>
        <p:txBody>
          <a:bodyPr/>
          <a:p>
            <a:endParaRPr lang="zh-CN" altLang="en-US"/>
          </a:p>
        </p:txBody>
      </p:sp>
      <p:sp>
        <p:nvSpPr>
          <p:cNvPr id="140291" name="Text Box 8"/>
          <p:cNvSpPr txBox="1">
            <a:spLocks noChangeArrowheads="1"/>
          </p:cNvSpPr>
          <p:nvPr/>
        </p:nvSpPr>
        <p:spPr bwMode="auto">
          <a:xfrm>
            <a:off x="7333849" y="3695299"/>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2" name="文本框 1"/>
          <p:cNvSpPr txBox="1"/>
          <p:nvPr/>
        </p:nvSpPr>
        <p:spPr>
          <a:xfrm>
            <a:off x="1007745" y="193675"/>
            <a:ext cx="4572000" cy="460375"/>
          </a:xfrm>
          <a:prstGeom prst="rect">
            <a:avLst/>
          </a:prstGeom>
          <a:noFill/>
        </p:spPr>
        <p:txBody>
          <a:bodyPr wrap="square" rtlCol="0" anchor="t">
            <a:spAutoFit/>
          </a:bodyPr>
          <a:p>
            <a:r>
              <a:rPr lang="zh-CN" altLang="en-US" sz="2400" dirty="0">
                <a:solidFill>
                  <a:srgbClr val="C00000"/>
                </a:solidFill>
                <a:latin typeface="黑体" panose="02010609060101010101" pitchFamily="2" charset="-122"/>
                <a:ea typeface="黑体" panose="02010609060101010101" pitchFamily="2" charset="-122"/>
                <a:sym typeface="+mn-ea"/>
              </a:rPr>
              <a:t>二、选择题（单选）</a:t>
            </a:r>
            <a:endParaRPr lang="zh-CN" altLang="en-US" sz="2400" dirty="0">
              <a:solidFill>
                <a:srgbClr val="C00000"/>
              </a:solidFill>
              <a:latin typeface="黑体" panose="02010609060101010101" pitchFamily="2" charset="-122"/>
              <a:ea typeface="黑体" panose="02010609060101010101" pitchFamily="2"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9266">
                                            <p:txEl>
                                              <p:pRg st="1" end="1"/>
                                            </p:txEl>
                                          </p:spTgt>
                                        </p:tgtEl>
                                        <p:attrNameLst>
                                          <p:attrName>style.visibility</p:attrName>
                                        </p:attrNameLst>
                                      </p:cBhvr>
                                      <p:to>
                                        <p:strVal val="visible"/>
                                      </p:to>
                                    </p:set>
                                    <p:animEffect transition="in" filter="wipe(left)">
                                      <p:cBhvr>
                                        <p:cTn id="7" dur="500"/>
                                        <p:tgtEl>
                                          <p:spTgt spid="13926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39266">
                                            <p:txEl>
                                              <p:pRg st="2" end="2"/>
                                            </p:txEl>
                                          </p:spTgt>
                                        </p:tgtEl>
                                        <p:attrNameLst>
                                          <p:attrName>style.visibility</p:attrName>
                                        </p:attrNameLst>
                                      </p:cBhvr>
                                      <p:to>
                                        <p:strVal val="visible"/>
                                      </p:to>
                                    </p:set>
                                    <p:animEffect transition="in" filter="wipe(left)">
                                      <p:cBhvr>
                                        <p:cTn id="10" dur="500"/>
                                        <p:tgtEl>
                                          <p:spTgt spid="13926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00" fill="hold">
                                          <p:stCondLst>
                                            <p:cond delay="0"/>
                                          </p:stCondLst>
                                        </p:cTn>
                                        <p:tgtEl>
                                          <p:spTgt spid="140293">
                                            <p:txEl>
                                              <p:pRg st="0" end="0"/>
                                            </p:txEl>
                                          </p:spTgt>
                                        </p:tgtEl>
                                        <p:attrNameLst>
                                          <p:attrName>style.visibility</p:attrName>
                                        </p:attrNameLst>
                                      </p:cBhvr>
                                      <p:to>
                                        <p:strVal val="visible"/>
                                      </p:to>
                                    </p:set>
                                    <p:anim calcmode="lin" valueType="num">
                                      <p:cBhvr additive="base">
                                        <p:cTn id="15" dur="100" fill="hold"/>
                                        <p:tgtEl>
                                          <p:spTgt spid="140293">
                                            <p:txEl>
                                              <p:pRg st="0" end="0"/>
                                            </p:txEl>
                                          </p:spTgt>
                                        </p:tgtEl>
                                        <p:attrNameLst>
                                          <p:attrName>ppt_x</p:attrName>
                                        </p:attrNameLst>
                                      </p:cBhvr>
                                      <p:tavLst>
                                        <p:tav tm="0">
                                          <p:val>
                                            <p:strVal val="1+#ppt_w/2"/>
                                          </p:val>
                                        </p:tav>
                                        <p:tav tm="100000">
                                          <p:val>
                                            <p:strVal val="#ppt_x"/>
                                          </p:val>
                                        </p:tav>
                                      </p:tavLst>
                                    </p:anim>
                                    <p:anim calcmode="lin" valueType="num">
                                      <p:cBhvr additive="base">
                                        <p:cTn id="16" dur="100" fill="hold"/>
                                        <p:tgtEl>
                                          <p:spTgt spid="14029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39266">
                                            <p:txEl>
                                              <p:pRg st="3" end="3"/>
                                            </p:txEl>
                                          </p:spTgt>
                                        </p:tgtEl>
                                        <p:attrNameLst>
                                          <p:attrName>style.visibility</p:attrName>
                                        </p:attrNameLst>
                                      </p:cBhvr>
                                      <p:to>
                                        <p:strVal val="visible"/>
                                      </p:to>
                                    </p:set>
                                    <p:animEffect transition="in" filter="wipe(up)">
                                      <p:cBhvr>
                                        <p:cTn id="21" dur="500"/>
                                        <p:tgtEl>
                                          <p:spTgt spid="139266">
                                            <p:txEl>
                                              <p:pRg st="3" end="3"/>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139266">
                                            <p:txEl>
                                              <p:pRg st="4" end="4"/>
                                            </p:txEl>
                                          </p:spTgt>
                                        </p:tgtEl>
                                        <p:attrNameLst>
                                          <p:attrName>style.visibility</p:attrName>
                                        </p:attrNameLst>
                                      </p:cBhvr>
                                      <p:to>
                                        <p:strVal val="visible"/>
                                      </p:to>
                                    </p:set>
                                    <p:animEffect transition="in" filter="wipe(up)">
                                      <p:cBhvr>
                                        <p:cTn id="24" dur="500"/>
                                        <p:tgtEl>
                                          <p:spTgt spid="139266">
                                            <p:txEl>
                                              <p:pRg st="4" end="4"/>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139266">
                                            <p:txEl>
                                              <p:pRg st="5" end="5"/>
                                            </p:txEl>
                                          </p:spTgt>
                                        </p:tgtEl>
                                        <p:attrNameLst>
                                          <p:attrName>style.visibility</p:attrName>
                                        </p:attrNameLst>
                                      </p:cBhvr>
                                      <p:to>
                                        <p:strVal val="visible"/>
                                      </p:to>
                                    </p:set>
                                    <p:animEffect transition="in" filter="wipe(up)">
                                      <p:cBhvr>
                                        <p:cTn id="27" dur="500"/>
                                        <p:tgtEl>
                                          <p:spTgt spid="139266">
                                            <p:txEl>
                                              <p:pRg st="5" end="5"/>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139266">
                                            <p:txEl>
                                              <p:pRg st="6" end="6"/>
                                            </p:txEl>
                                          </p:spTgt>
                                        </p:tgtEl>
                                        <p:attrNameLst>
                                          <p:attrName>style.visibility</p:attrName>
                                        </p:attrNameLst>
                                      </p:cBhvr>
                                      <p:to>
                                        <p:strVal val="visible"/>
                                      </p:to>
                                    </p:set>
                                    <p:animEffect transition="in" filter="wipe(up)">
                                      <p:cBhvr>
                                        <p:cTn id="30" dur="500"/>
                                        <p:tgtEl>
                                          <p:spTgt spid="139266">
                                            <p:txEl>
                                              <p:pRg st="6" end="6"/>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139266">
                                            <p:txEl>
                                              <p:pRg st="7" end="7"/>
                                            </p:txEl>
                                          </p:spTgt>
                                        </p:tgtEl>
                                        <p:attrNameLst>
                                          <p:attrName>style.visibility</p:attrName>
                                        </p:attrNameLst>
                                      </p:cBhvr>
                                      <p:to>
                                        <p:strVal val="visible"/>
                                      </p:to>
                                    </p:set>
                                    <p:animEffect transition="in" filter="wipe(up)">
                                      <p:cBhvr>
                                        <p:cTn id="33" dur="500"/>
                                        <p:tgtEl>
                                          <p:spTgt spid="139266">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3" fill="hold" grpId="0" nodeType="clickEffect">
                                  <p:stCondLst>
                                    <p:cond delay="0"/>
                                  </p:stCondLst>
                                  <p:iterate type="lt">
                                    <p:tmPct val="100000"/>
                                  </p:iterate>
                                  <p:childTnLst>
                                    <p:set>
                                      <p:cBhvr>
                                        <p:cTn id="37" dur="100" fill="hold">
                                          <p:stCondLst>
                                            <p:cond delay="0"/>
                                          </p:stCondLst>
                                        </p:cTn>
                                        <p:tgtEl>
                                          <p:spTgt spid="140291">
                                            <p:txEl>
                                              <p:pRg st="0" end="0"/>
                                            </p:txEl>
                                          </p:spTgt>
                                        </p:tgtEl>
                                        <p:attrNameLst>
                                          <p:attrName>style.visibility</p:attrName>
                                        </p:attrNameLst>
                                      </p:cBhvr>
                                      <p:to>
                                        <p:strVal val="visible"/>
                                      </p:to>
                                    </p:set>
                                    <p:anim calcmode="lin" valueType="num">
                                      <p:cBhvr additive="base">
                                        <p:cTn id="38" dur="100" fill="hold"/>
                                        <p:tgtEl>
                                          <p:spTgt spid="140291">
                                            <p:txEl>
                                              <p:pRg st="0" end="0"/>
                                            </p:txEl>
                                          </p:spTgt>
                                        </p:tgtEl>
                                        <p:attrNameLst>
                                          <p:attrName>ppt_x</p:attrName>
                                        </p:attrNameLst>
                                      </p:cBhvr>
                                      <p:tavLst>
                                        <p:tav tm="0">
                                          <p:val>
                                            <p:strVal val="1+#ppt_w/2"/>
                                          </p:val>
                                        </p:tav>
                                        <p:tav tm="100000">
                                          <p:val>
                                            <p:strVal val="#ppt_x"/>
                                          </p:val>
                                        </p:tav>
                                      </p:tavLst>
                                    </p:anim>
                                    <p:anim calcmode="lin" valueType="num">
                                      <p:cBhvr additive="base">
                                        <p:cTn id="39" dur="100" fill="hold"/>
                                        <p:tgtEl>
                                          <p:spTgt spid="140291">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3" grpId="0" autoUpdateAnimBg="0" build="p"/>
      <p:bldP spid="140291" grpId="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4294967295"/>
          </p:nvPr>
        </p:nvSpPr>
        <p:spPr>
          <a:xfrm>
            <a:off x="699770" y="1169035"/>
            <a:ext cx="8008620" cy="5393690"/>
          </a:xfrm>
          <a:prstGeom prst="rect">
            <a:avLst/>
          </a:prstGeom>
        </p:spPr>
        <p:txBody>
          <a:bodyPr/>
          <a:lstStyle/>
          <a:p>
            <a:pPr marL="0" indent="0" algn="just" eaLnBrk="1" hangingPunct="1">
              <a:lnSpc>
                <a:spcPct val="150000"/>
              </a:lnSpc>
              <a:buFontTx/>
              <a:buNone/>
            </a:pPr>
            <a:r>
              <a:rPr lang="en-US" sz="2000" dirty="0" smtClean="0">
                <a:solidFill>
                  <a:schemeClr val="tx1"/>
                </a:solidFill>
              </a:rPr>
              <a:t>3</a:t>
            </a:r>
            <a:r>
              <a:rPr lang="zh-CN" altLang="en-US" sz="2000" dirty="0" smtClean="0">
                <a:solidFill>
                  <a:schemeClr val="tx1"/>
                </a:solidFill>
              </a:rPr>
              <a:t>、</a:t>
            </a:r>
            <a:r>
              <a:rPr lang="zh-CN" altLang="en-US" sz="2000" dirty="0">
                <a:solidFill>
                  <a:schemeClr val="tx1"/>
                </a:solidFill>
              </a:rPr>
              <a:t>确定紧螺栓联接中拉伸和扭转复合载荷作用下的当量应力时，通常是按</a:t>
            </a:r>
            <a:r>
              <a:rPr lang="zh-CN" altLang="en-US" sz="2000" u="sng" dirty="0">
                <a:solidFill>
                  <a:schemeClr val="tx1"/>
                </a:solidFill>
              </a:rPr>
              <a:t>            </a:t>
            </a:r>
            <a:r>
              <a:rPr lang="zh-CN" altLang="en-US" sz="2000" dirty="0">
                <a:solidFill>
                  <a:schemeClr val="tx1"/>
                </a:solidFill>
              </a:rPr>
              <a:t>来进行计算的。</a:t>
            </a:r>
            <a:endParaRPr lang="zh-CN" altLang="en-US" sz="2000" dirty="0">
              <a:solidFill>
                <a:schemeClr val="tx1"/>
              </a:solidFill>
            </a:endParaRPr>
          </a:p>
          <a:p>
            <a:pPr marL="0" indent="0" algn="just" eaLnBrk="1" hangingPunct="1">
              <a:lnSpc>
                <a:spcPct val="150000"/>
              </a:lnSpc>
              <a:buFontTx/>
              <a:buNone/>
            </a:pPr>
            <a:r>
              <a:rPr lang="zh-CN" altLang="en-US" sz="2000" dirty="0">
                <a:solidFill>
                  <a:schemeClr val="tx1"/>
                </a:solidFill>
              </a:rPr>
              <a:t>（</a:t>
            </a:r>
            <a:r>
              <a:rPr lang="en-US" sz="2000" dirty="0">
                <a:solidFill>
                  <a:schemeClr val="tx1"/>
                </a:solidFill>
              </a:rPr>
              <a:t>1</a:t>
            </a:r>
            <a:r>
              <a:rPr lang="zh-CN" altLang="en-US" sz="2000" dirty="0">
                <a:solidFill>
                  <a:schemeClr val="tx1"/>
                </a:solidFill>
              </a:rPr>
              <a:t>）第一强度理论；（</a:t>
            </a:r>
            <a:r>
              <a:rPr lang="en-US" sz="2000" dirty="0">
                <a:solidFill>
                  <a:schemeClr val="tx1"/>
                </a:solidFill>
              </a:rPr>
              <a:t>2</a:t>
            </a:r>
            <a:r>
              <a:rPr lang="zh-CN" altLang="en-US" sz="2000" dirty="0">
                <a:solidFill>
                  <a:schemeClr val="tx1"/>
                </a:solidFill>
              </a:rPr>
              <a:t>）第二强度理论；（</a:t>
            </a:r>
            <a:r>
              <a:rPr lang="en-US" sz="2000" dirty="0">
                <a:solidFill>
                  <a:schemeClr val="tx1"/>
                </a:solidFill>
              </a:rPr>
              <a:t>3</a:t>
            </a:r>
            <a:r>
              <a:rPr lang="zh-CN" altLang="en-US" sz="2000" dirty="0">
                <a:solidFill>
                  <a:schemeClr val="tx1"/>
                </a:solidFill>
              </a:rPr>
              <a:t>）第三强度理论；（</a:t>
            </a:r>
            <a:r>
              <a:rPr lang="en-US" sz="2000" dirty="0">
                <a:solidFill>
                  <a:schemeClr val="tx1"/>
                </a:solidFill>
              </a:rPr>
              <a:t>4</a:t>
            </a:r>
            <a:r>
              <a:rPr lang="zh-CN" altLang="en-US" sz="2000" dirty="0">
                <a:solidFill>
                  <a:schemeClr val="tx1"/>
                </a:solidFill>
              </a:rPr>
              <a:t>）第四强度理论；</a:t>
            </a:r>
            <a:endParaRPr lang="zh-CN" altLang="en-US" dirty="0">
              <a:solidFill>
                <a:schemeClr val="tx1"/>
              </a:solidFill>
            </a:endParaRPr>
          </a:p>
          <a:p>
            <a:pPr marL="0" indent="0" algn="just" eaLnBrk="1" hangingPunct="1">
              <a:lnSpc>
                <a:spcPct val="150000"/>
              </a:lnSpc>
              <a:buFontTx/>
              <a:buNone/>
            </a:pPr>
            <a:r>
              <a:rPr lang="en-US" sz="2000" dirty="0" smtClean="0">
                <a:solidFill>
                  <a:schemeClr val="tx1"/>
                </a:solidFill>
              </a:rPr>
              <a:t>4</a:t>
            </a:r>
            <a:r>
              <a:rPr lang="zh-CN" altLang="en-US" sz="2000" dirty="0" smtClean="0">
                <a:solidFill>
                  <a:schemeClr val="tx1"/>
                </a:solidFill>
              </a:rPr>
              <a:t>、</a:t>
            </a:r>
            <a:r>
              <a:rPr lang="zh-CN" altLang="en-US" sz="2000" dirty="0">
                <a:solidFill>
                  <a:schemeClr val="tx1"/>
                </a:solidFill>
              </a:rPr>
              <a:t>当采用铰制孔用螺栓联接承受横向载荷时，螺栓杆受到</a:t>
            </a:r>
            <a:r>
              <a:rPr lang="zh-CN" altLang="en-US" sz="2000" u="sng" dirty="0">
                <a:solidFill>
                  <a:schemeClr val="tx1"/>
                </a:solidFill>
              </a:rPr>
              <a:t>        </a:t>
            </a:r>
            <a:r>
              <a:rPr lang="zh-CN" altLang="en-US" sz="2000" dirty="0">
                <a:solidFill>
                  <a:schemeClr val="tx1"/>
                </a:solidFill>
              </a:rPr>
              <a:t>作用。</a:t>
            </a:r>
            <a:endParaRPr lang="zh-CN" altLang="en-US" dirty="0">
              <a:solidFill>
                <a:schemeClr val="tx1"/>
              </a:solidFill>
            </a:endParaRPr>
          </a:p>
          <a:p>
            <a:pPr marL="0" indent="0" algn="just" eaLnBrk="1" hangingPunct="1">
              <a:lnSpc>
                <a:spcPct val="150000"/>
              </a:lnSpc>
              <a:buFontTx/>
              <a:buNone/>
            </a:pPr>
            <a:r>
              <a:rPr lang="zh-CN" altLang="en-US" sz="2000" dirty="0">
                <a:solidFill>
                  <a:schemeClr val="tx1"/>
                </a:solidFill>
              </a:rPr>
              <a:t>（</a:t>
            </a:r>
            <a:r>
              <a:rPr lang="en-US" sz="2000" dirty="0">
                <a:solidFill>
                  <a:schemeClr val="tx1"/>
                </a:solidFill>
              </a:rPr>
              <a:t>1</a:t>
            </a:r>
            <a:r>
              <a:rPr lang="zh-CN" altLang="en-US" sz="2000" dirty="0">
                <a:solidFill>
                  <a:schemeClr val="tx1"/>
                </a:solidFill>
              </a:rPr>
              <a:t>）弯曲和挤压；（</a:t>
            </a:r>
            <a:r>
              <a:rPr lang="en-US" sz="2000" dirty="0">
                <a:solidFill>
                  <a:schemeClr val="tx1"/>
                </a:solidFill>
              </a:rPr>
              <a:t>2</a:t>
            </a:r>
            <a:r>
              <a:rPr lang="zh-CN" altLang="en-US" sz="2000" dirty="0">
                <a:solidFill>
                  <a:schemeClr val="tx1"/>
                </a:solidFill>
              </a:rPr>
              <a:t>）拉伸和剪切；（</a:t>
            </a:r>
            <a:r>
              <a:rPr lang="en-US" sz="2000" dirty="0">
                <a:solidFill>
                  <a:schemeClr val="tx1"/>
                </a:solidFill>
              </a:rPr>
              <a:t>3</a:t>
            </a:r>
            <a:r>
              <a:rPr lang="zh-CN" altLang="en-US" sz="2000" dirty="0">
                <a:solidFill>
                  <a:schemeClr val="tx1"/>
                </a:solidFill>
              </a:rPr>
              <a:t>）剪切和挤压；（</a:t>
            </a:r>
            <a:r>
              <a:rPr lang="en-US" sz="2000" dirty="0">
                <a:solidFill>
                  <a:schemeClr val="tx1"/>
                </a:solidFill>
              </a:rPr>
              <a:t>4</a:t>
            </a:r>
            <a:r>
              <a:rPr lang="zh-CN" altLang="en-US" sz="2000" dirty="0">
                <a:solidFill>
                  <a:schemeClr val="tx1"/>
                </a:solidFill>
              </a:rPr>
              <a:t>）扭转和弯曲；</a:t>
            </a:r>
            <a:endParaRPr lang="zh-CN" altLang="en-US" sz="2000" dirty="0">
              <a:solidFill>
                <a:schemeClr val="tx1"/>
              </a:solidFill>
            </a:endParaRPr>
          </a:p>
        </p:txBody>
      </p:sp>
      <p:sp>
        <p:nvSpPr>
          <p:cNvPr id="141316" name="Text Box 5"/>
          <p:cNvSpPr txBox="1">
            <a:spLocks noChangeArrowheads="1"/>
          </p:cNvSpPr>
          <p:nvPr/>
        </p:nvSpPr>
        <p:spPr bwMode="auto">
          <a:xfrm>
            <a:off x="1760220" y="169164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4</a:t>
            </a:r>
            <a:endParaRPr lang="en-US" dirty="0">
              <a:solidFill>
                <a:srgbClr val="FF3300"/>
              </a:solidFill>
            </a:endParaRPr>
          </a:p>
        </p:txBody>
      </p:sp>
      <p:sp>
        <p:nvSpPr>
          <p:cNvPr id="141317" name="Text Box 6"/>
          <p:cNvSpPr txBox="1">
            <a:spLocks noChangeArrowheads="1"/>
          </p:cNvSpPr>
          <p:nvPr/>
        </p:nvSpPr>
        <p:spPr bwMode="auto">
          <a:xfrm>
            <a:off x="7555230" y="3134360"/>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3300"/>
                </a:solidFill>
              </a:rPr>
              <a:t>3</a:t>
            </a:r>
            <a:endParaRPr lang="en-US" dirty="0">
              <a:solidFill>
                <a:srgbClr val="FF3300"/>
              </a:solidFill>
            </a:endParaRPr>
          </a:p>
        </p:txBody>
      </p:sp>
      <p:pic>
        <p:nvPicPr>
          <p:cNvPr id="13323" name="图片 1073742872" descr="44303071dc0a1f9688d599dbc999570副本"/>
          <p:cNvPicPr>
            <a:picLocks noChangeAspect="1"/>
          </p:cNvPicPr>
          <p:nvPr/>
        </p:nvPicPr>
        <p:blipFill>
          <a:blip r:embed="rId1"/>
          <a:stretch>
            <a:fillRect/>
          </a:stretch>
        </p:blipFill>
        <p:spPr>
          <a:xfrm>
            <a:off x="8440420" y="0"/>
            <a:ext cx="703580" cy="694690"/>
          </a:xfrm>
          <a:prstGeom prst="rect">
            <a:avLst/>
          </a:prstGeom>
          <a:noFill/>
          <a:ln w="9525">
            <a:noFill/>
          </a:ln>
        </p:spPr>
      </p:pic>
      <p:sp>
        <p:nvSpPr>
          <p:cNvPr id="31752" name="直接连接符 6"/>
          <p:cNvSpPr>
            <a:spLocks noChangeShapeType="1"/>
          </p:cNvSpPr>
          <p:nvPr/>
        </p:nvSpPr>
        <p:spPr bwMode="auto">
          <a:xfrm>
            <a:off x="-18415" y="765175"/>
            <a:ext cx="9144000" cy="0"/>
          </a:xfrm>
          <a:prstGeom prst="line">
            <a:avLst/>
          </a:prstGeom>
          <a:noFill/>
          <a:ln w="28575">
            <a:solidFill>
              <a:schemeClr val="accent1"/>
            </a:solidFill>
            <a:miter lim="800000"/>
          </a:ln>
          <a:extLst>
            <a:ext uri="{909E8E84-426E-40DD-AFC4-6F175D3DCCD1}">
              <a14:hiddenFill xmlns:a14="http://schemas.microsoft.com/office/drawing/2010/main">
                <a:noFill/>
              </a14:hiddenFill>
            </a:ext>
          </a:extLst>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Effect transition="in" filter="wipe(left)">
                                      <p:cBhvr>
                                        <p:cTn id="7" dur="500"/>
                                        <p:tgtEl>
                                          <p:spTgt spid="14131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41314">
                                            <p:txEl>
                                              <p:pRg st="1" end="1"/>
                                            </p:txEl>
                                          </p:spTgt>
                                        </p:tgtEl>
                                        <p:attrNameLst>
                                          <p:attrName>style.visibility</p:attrName>
                                        </p:attrNameLst>
                                      </p:cBhvr>
                                      <p:to>
                                        <p:strVal val="visible"/>
                                      </p:to>
                                    </p:set>
                                    <p:animEffect transition="in" filter="wipe(left)">
                                      <p:cBhvr>
                                        <p:cTn id="10" dur="500"/>
                                        <p:tgtEl>
                                          <p:spTgt spid="14131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00" fill="hold">
                                          <p:stCondLst>
                                            <p:cond delay="0"/>
                                          </p:stCondLst>
                                        </p:cTn>
                                        <p:tgtEl>
                                          <p:spTgt spid="141316">
                                            <p:txEl>
                                              <p:pRg st="0" end="0"/>
                                            </p:txEl>
                                          </p:spTgt>
                                        </p:tgtEl>
                                        <p:attrNameLst>
                                          <p:attrName>style.visibility</p:attrName>
                                        </p:attrNameLst>
                                      </p:cBhvr>
                                      <p:to>
                                        <p:strVal val="visible"/>
                                      </p:to>
                                    </p:set>
                                    <p:anim calcmode="lin" valueType="num">
                                      <p:cBhvr additive="base">
                                        <p:cTn id="15" dur="100" fill="hold"/>
                                        <p:tgtEl>
                                          <p:spTgt spid="141316">
                                            <p:txEl>
                                              <p:pRg st="0" end="0"/>
                                            </p:txEl>
                                          </p:spTgt>
                                        </p:tgtEl>
                                        <p:attrNameLst>
                                          <p:attrName>ppt_x</p:attrName>
                                        </p:attrNameLst>
                                      </p:cBhvr>
                                      <p:tavLst>
                                        <p:tav tm="0">
                                          <p:val>
                                            <p:strVal val="1+#ppt_w/2"/>
                                          </p:val>
                                        </p:tav>
                                        <p:tav tm="100000">
                                          <p:val>
                                            <p:strVal val="#ppt_x"/>
                                          </p:val>
                                        </p:tav>
                                      </p:tavLst>
                                    </p:anim>
                                    <p:anim calcmode="lin" valueType="num">
                                      <p:cBhvr additive="base">
                                        <p:cTn id="16" dur="100" fill="hold"/>
                                        <p:tgtEl>
                                          <p:spTgt spid="14131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1314">
                                            <p:txEl>
                                              <p:pRg st="2" end="2"/>
                                            </p:txEl>
                                          </p:spTgt>
                                        </p:tgtEl>
                                        <p:attrNameLst>
                                          <p:attrName>style.visibility</p:attrName>
                                        </p:attrNameLst>
                                      </p:cBhvr>
                                      <p:to>
                                        <p:strVal val="visible"/>
                                      </p:to>
                                    </p:set>
                                    <p:animEffect transition="in" filter="wipe(left)">
                                      <p:cBhvr>
                                        <p:cTn id="21" dur="500"/>
                                        <p:tgtEl>
                                          <p:spTgt spid="141314">
                                            <p:txEl>
                                              <p:pRg st="2" end="2"/>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141314">
                                            <p:txEl>
                                              <p:pRg st="3" end="3"/>
                                            </p:txEl>
                                          </p:spTgt>
                                        </p:tgtEl>
                                        <p:attrNameLst>
                                          <p:attrName>style.visibility</p:attrName>
                                        </p:attrNameLst>
                                      </p:cBhvr>
                                      <p:to>
                                        <p:strVal val="visible"/>
                                      </p:to>
                                    </p:set>
                                    <p:animEffect transition="in" filter="wipe(left)">
                                      <p:cBhvr>
                                        <p:cTn id="24" dur="500"/>
                                        <p:tgtEl>
                                          <p:spTgt spid="14131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00" fill="hold">
                                          <p:stCondLst>
                                            <p:cond delay="0"/>
                                          </p:stCondLst>
                                        </p:cTn>
                                        <p:tgtEl>
                                          <p:spTgt spid="141317">
                                            <p:txEl>
                                              <p:pRg st="0" end="0"/>
                                            </p:txEl>
                                          </p:spTgt>
                                        </p:tgtEl>
                                        <p:attrNameLst>
                                          <p:attrName>style.visibility</p:attrName>
                                        </p:attrNameLst>
                                      </p:cBhvr>
                                      <p:to>
                                        <p:strVal val="visible"/>
                                      </p:to>
                                    </p:set>
                                    <p:anim calcmode="lin" valueType="num">
                                      <p:cBhvr additive="base">
                                        <p:cTn id="29" dur="100" fill="hold"/>
                                        <p:tgtEl>
                                          <p:spTgt spid="141317">
                                            <p:txEl>
                                              <p:pRg st="0" end="0"/>
                                            </p:txEl>
                                          </p:spTgt>
                                        </p:tgtEl>
                                        <p:attrNameLst>
                                          <p:attrName>ppt_x</p:attrName>
                                        </p:attrNameLst>
                                      </p:cBhvr>
                                      <p:tavLst>
                                        <p:tav tm="0">
                                          <p:val>
                                            <p:strVal val="1+#ppt_w/2"/>
                                          </p:val>
                                        </p:tav>
                                        <p:tav tm="100000">
                                          <p:val>
                                            <p:strVal val="#ppt_x"/>
                                          </p:val>
                                        </p:tav>
                                      </p:tavLst>
                                    </p:anim>
                                    <p:anim calcmode="lin" valueType="num">
                                      <p:cBhvr additive="base">
                                        <p:cTn id="30" dur="100" fill="hold"/>
                                        <p:tgtEl>
                                          <p:spTgt spid="141317">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autoUpdateAnimBg="0" build="p"/>
      <p:bldP spid="141317" grpId="0" autoUpdateAnimBg="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bwMode="auto">
          <a:xfrm>
            <a:off x="2123440" y="816610"/>
            <a:ext cx="578866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000" dirty="0" smtClean="0">
                <a:solidFill>
                  <a:srgbClr val="A50021"/>
                </a:solidFill>
                <a:latin typeface="黑体" panose="02010609060101010101" pitchFamily="2" charset="-122"/>
                <a:ea typeface="黑体" panose="02010609060101010101" pitchFamily="2" charset="-122"/>
              </a:rPr>
              <a:t>第</a:t>
            </a:r>
            <a:r>
              <a:rPr lang="en-US" altLang="zh-CN" sz="3000" dirty="0" smtClean="0">
                <a:solidFill>
                  <a:srgbClr val="A50021"/>
                </a:solidFill>
                <a:latin typeface="黑体" panose="02010609060101010101" pitchFamily="2" charset="-122"/>
                <a:ea typeface="黑体" panose="02010609060101010101" pitchFamily="2" charset="-122"/>
              </a:rPr>
              <a:t>2.4</a:t>
            </a:r>
            <a:r>
              <a:rPr lang="zh-CN" altLang="en-US" sz="3000" dirty="0" smtClean="0">
                <a:solidFill>
                  <a:srgbClr val="A50021"/>
                </a:solidFill>
                <a:latin typeface="黑体" panose="02010609060101010101" pitchFamily="2" charset="-122"/>
                <a:ea typeface="黑体" panose="02010609060101010101" pitchFamily="2" charset="-122"/>
              </a:rPr>
              <a:t>章  螺旋传动</a:t>
            </a:r>
            <a:endParaRPr lang="zh-CN" altLang="en-US" sz="3000" dirty="0" smtClean="0">
              <a:solidFill>
                <a:srgbClr val="A50021"/>
              </a:solidFill>
              <a:latin typeface="黑体" panose="02010609060101010101" pitchFamily="2" charset="-122"/>
              <a:ea typeface="黑体" panose="02010609060101010101" pitchFamily="2" charset="-122"/>
            </a:endParaRPr>
          </a:p>
        </p:txBody>
      </p:sp>
      <p:sp>
        <p:nvSpPr>
          <p:cNvPr id="16398" name="直接连接符 6"/>
          <p:cNvSpPr>
            <a:spLocks noChangeShapeType="1"/>
          </p:cNvSpPr>
          <p:nvPr/>
        </p:nvSpPr>
        <p:spPr bwMode="auto">
          <a:xfrm>
            <a:off x="0" y="1700808"/>
            <a:ext cx="9144000" cy="0"/>
          </a:xfrm>
          <a:prstGeom prst="line">
            <a:avLst/>
          </a:prstGeom>
          <a:noFill/>
          <a:ln w="38100">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5" name="组合 1"/>
          <p:cNvGrpSpPr/>
          <p:nvPr/>
        </p:nvGrpSpPr>
        <p:grpSpPr>
          <a:xfrm>
            <a:off x="6303194" y="5905918"/>
            <a:ext cx="2630487" cy="827087"/>
            <a:chOff x="10088" y="9497"/>
            <a:chExt cx="4141" cy="1302"/>
          </a:xfrm>
        </p:grpSpPr>
        <p:sp>
          <p:nvSpPr>
            <p:cNvPr id="16" name="文本框 1073742869"/>
            <p:cNvSpPr txBox="1">
              <a:spLocks noChangeAspect="1"/>
            </p:cNvSpPr>
            <p:nvPr/>
          </p:nvSpPr>
          <p:spPr>
            <a:xfrm>
              <a:off x="11247" y="9745"/>
              <a:ext cx="2983" cy="479"/>
            </a:xfrm>
            <a:prstGeom prst="rect">
              <a:avLst/>
            </a:prstGeom>
            <a:noFill/>
            <a:ln w="9525">
              <a:noFill/>
            </a:ln>
          </p:spPr>
          <p:txBody>
            <a:bodyPr wrap="square" anchor="t"/>
            <a:lstStyle/>
            <a:p>
              <a:pPr algn="ct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17" name="图片 1073742872" descr="44303071dc0a1f9688d599dbc999570副本"/>
            <p:cNvPicPr>
              <a:picLocks noChangeAspect="1"/>
            </p:cNvPicPr>
            <p:nvPr/>
          </p:nvPicPr>
          <p:blipFill>
            <a:blip r:embed="rId1"/>
            <a:stretch>
              <a:fillRect/>
            </a:stretch>
          </p:blipFill>
          <p:spPr>
            <a:xfrm>
              <a:off x="10088" y="9497"/>
              <a:ext cx="1435" cy="1303"/>
            </a:xfrm>
            <a:prstGeom prst="rect">
              <a:avLst/>
            </a:prstGeom>
            <a:noFill/>
            <a:ln w="9525">
              <a:noFill/>
            </a:ln>
          </p:spPr>
        </p:pic>
      </p:grpSp>
      <p:sp>
        <p:nvSpPr>
          <p:cNvPr id="3075" name="Text Box 3">
            <a:hlinkClick r:id="rId2" action="ppaction://hlinksldjump"/>
          </p:cNvPr>
          <p:cNvSpPr txBox="1">
            <a:spLocks noChangeArrowheads="1"/>
          </p:cNvSpPr>
          <p:nvPr/>
        </p:nvSpPr>
        <p:spPr bwMode="auto">
          <a:xfrm>
            <a:off x="1834833" y="1929765"/>
            <a:ext cx="6083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spcBef>
                <a:spcPct val="50000"/>
              </a:spcBef>
            </a:pPr>
            <a:r>
              <a:rPr lang="en-US" altLang="zh-CN" sz="2400">
                <a:solidFill>
                  <a:srgbClr val="000099"/>
                </a:solidFill>
                <a:latin typeface="Times New Roman" panose="02020603050405020304" pitchFamily="18" charset="0"/>
                <a:ea typeface="黑体" panose="02010609060101010101" pitchFamily="2" charset="-122"/>
              </a:rPr>
              <a:t>§2.4-1  </a:t>
            </a:r>
            <a:r>
              <a:rPr lang="zh-CN" altLang="en-US" sz="2400">
                <a:solidFill>
                  <a:srgbClr val="000099"/>
                </a:solidFill>
                <a:latin typeface="Times New Roman" panose="02020603050405020304" pitchFamily="18" charset="0"/>
                <a:ea typeface="黑体" panose="02010609060101010101" pitchFamily="2" charset="-122"/>
                <a:hlinkClick r:id="rId2" action="ppaction://hlinksldjump"/>
              </a:rPr>
              <a:t>螺旋传动的形式、类型及设计步骤</a:t>
            </a:r>
            <a:endParaRPr lang="zh-CN" altLang="en-US" sz="2400">
              <a:solidFill>
                <a:srgbClr val="000099"/>
              </a:solidFill>
              <a:latin typeface="Times New Roman" panose="02020603050405020304" pitchFamily="18" charset="0"/>
              <a:ea typeface="黑体" panose="02010609060101010101" pitchFamily="2" charset="-122"/>
            </a:endParaRPr>
          </a:p>
        </p:txBody>
      </p:sp>
      <p:sp>
        <p:nvSpPr>
          <p:cNvPr id="3076" name="Text Box 4">
            <a:hlinkClick r:id="rId3" action="ppaction://hlinksldjump" highlightClick="1"/>
          </p:cNvPr>
          <p:cNvSpPr txBox="1">
            <a:spLocks noChangeArrowheads="1"/>
          </p:cNvSpPr>
          <p:nvPr/>
        </p:nvSpPr>
        <p:spPr bwMode="auto">
          <a:xfrm>
            <a:off x="1834833" y="2693353"/>
            <a:ext cx="4056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2" charset="-122"/>
              </a:rPr>
              <a:t>§2.4-2  </a:t>
            </a:r>
            <a:r>
              <a:rPr lang="zh-CN" altLang="en-US" sz="2400">
                <a:solidFill>
                  <a:srgbClr val="000099"/>
                </a:solidFill>
                <a:latin typeface="Times New Roman" panose="02020603050405020304" pitchFamily="18" charset="0"/>
                <a:ea typeface="黑体" panose="02010609060101010101" pitchFamily="2" charset="-122"/>
                <a:hlinkClick r:id="rId3" action="ppaction://hlinksldjump"/>
              </a:rPr>
              <a:t>螺旋传动的运动关系</a:t>
            </a:r>
            <a:endParaRPr lang="zh-CN" altLang="en-US" sz="2400">
              <a:solidFill>
                <a:srgbClr val="000099"/>
              </a:solidFill>
              <a:latin typeface="Times New Roman" panose="02020603050405020304" pitchFamily="18" charset="0"/>
              <a:ea typeface="黑体" panose="02010609060101010101" pitchFamily="2" charset="-122"/>
            </a:endParaRPr>
          </a:p>
        </p:txBody>
      </p:sp>
      <p:sp>
        <p:nvSpPr>
          <p:cNvPr id="3077" name="Text Box 5">
            <a:hlinkClick r:id="rId4" action="ppaction://hlinksldjump"/>
          </p:cNvPr>
          <p:cNvSpPr txBox="1">
            <a:spLocks noChangeArrowheads="1"/>
          </p:cNvSpPr>
          <p:nvPr/>
        </p:nvSpPr>
        <p:spPr bwMode="auto">
          <a:xfrm>
            <a:off x="1834833" y="3455353"/>
            <a:ext cx="5287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200">
                <a:solidFill>
                  <a:schemeClr val="tx1"/>
                </a:solidFill>
                <a:latin typeface="Tahoma" panose="020B0604030504040204" pitchFamily="34" charset="0"/>
                <a:ea typeface="华文中宋" panose="02010600040101010101" pitchFamily="2" charset="-122"/>
              </a:defRPr>
            </a:lvl1pPr>
            <a:lvl2pPr marL="742950" indent="-285750">
              <a:defRPr kumimoji="1" sz="2200">
                <a:solidFill>
                  <a:schemeClr val="tx1"/>
                </a:solidFill>
                <a:latin typeface="Tahoma" panose="020B0604030504040204" pitchFamily="34" charset="0"/>
                <a:ea typeface="华文中宋" panose="02010600040101010101" pitchFamily="2" charset="-122"/>
              </a:defRPr>
            </a:lvl2pPr>
            <a:lvl3pPr marL="1143000" indent="-228600">
              <a:defRPr kumimoji="1" sz="2200">
                <a:solidFill>
                  <a:schemeClr val="tx1"/>
                </a:solidFill>
                <a:latin typeface="Tahoma" panose="020B0604030504040204" pitchFamily="34" charset="0"/>
                <a:ea typeface="华文中宋" panose="02010600040101010101" pitchFamily="2" charset="-122"/>
              </a:defRPr>
            </a:lvl3pPr>
            <a:lvl4pPr marL="1600200" indent="-228600">
              <a:defRPr kumimoji="1" sz="2200">
                <a:solidFill>
                  <a:schemeClr val="tx1"/>
                </a:solidFill>
                <a:latin typeface="Tahoma" panose="020B0604030504040204" pitchFamily="34" charset="0"/>
                <a:ea typeface="华文中宋" panose="02010600040101010101" pitchFamily="2" charset="-122"/>
              </a:defRPr>
            </a:lvl4pPr>
            <a:lvl5pPr marL="2057400" indent="-228600">
              <a:defRPr kumimoji="1" sz="2200">
                <a:solidFill>
                  <a:schemeClr val="tx1"/>
                </a:solidFill>
                <a:latin typeface="Tahoma" panose="020B0604030504040204" pitchFamily="34" charset="0"/>
                <a:ea typeface="华文中宋" panose="02010600040101010101" pitchFamily="2" charset="-122"/>
              </a:defRPr>
            </a:lvl5pPr>
            <a:lvl6pPr marL="25146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6pPr>
            <a:lvl7pPr marL="29718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7pPr>
            <a:lvl8pPr marL="34290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8pPr>
            <a:lvl9pPr marL="3886200" indent="-228600" eaLnBrk="0" fontAlgn="base" hangingPunct="0">
              <a:spcBef>
                <a:spcPct val="0"/>
              </a:spcBef>
              <a:spcAft>
                <a:spcPct val="0"/>
              </a:spcAft>
              <a:defRPr kumimoji="1" sz="2200">
                <a:solidFill>
                  <a:schemeClr val="tx1"/>
                </a:solidFill>
                <a:latin typeface="Tahoma" panose="020B0604030504040204" pitchFamily="34" charset="0"/>
                <a:ea typeface="华文中宋" panose="02010600040101010101" pitchFamily="2" charset="-122"/>
              </a:defRPr>
            </a:lvl9pPr>
          </a:lstStyle>
          <a:p>
            <a:pPr eaLnBrk="1" hangingPunct="1"/>
            <a:r>
              <a:rPr lang="en-US" altLang="zh-CN" sz="2400">
                <a:solidFill>
                  <a:srgbClr val="000099"/>
                </a:solidFill>
                <a:latin typeface="Times New Roman" panose="02020603050405020304" pitchFamily="18" charset="0"/>
                <a:ea typeface="黑体" panose="02010609060101010101" pitchFamily="2" charset="-122"/>
              </a:rPr>
              <a:t>§2.4-3  </a:t>
            </a:r>
            <a:r>
              <a:rPr lang="zh-CN" altLang="en-US" sz="2400">
                <a:solidFill>
                  <a:srgbClr val="000099"/>
                </a:solidFill>
                <a:latin typeface="Times New Roman" panose="02020603050405020304" pitchFamily="18" charset="0"/>
                <a:ea typeface="黑体" panose="02010609060101010101" pitchFamily="2" charset="-122"/>
                <a:hlinkClick r:id="rId5" action="ppaction://hlinksldjump"/>
              </a:rPr>
              <a:t>滑动螺旋传动的设计计算分析</a:t>
            </a:r>
            <a:endParaRPr lang="zh-CN" altLang="en-US" sz="2400">
              <a:solidFill>
                <a:srgbClr val="000099"/>
              </a:solidFill>
              <a:latin typeface="Times New Roman" panose="02020603050405020304" pitchFamily="18" charset="0"/>
              <a:ea typeface="黑体" panose="02010609060101010101" pitchFamily="2" charset="-122"/>
            </a:endParaRPr>
          </a:p>
        </p:txBody>
      </p:sp>
      <p:sp>
        <p:nvSpPr>
          <p:cNvPr id="3082" name="矩形 1"/>
          <p:cNvSpPr/>
          <p:nvPr/>
        </p:nvSpPr>
        <p:spPr>
          <a:xfrm>
            <a:off x="1834833" y="4167505"/>
            <a:ext cx="2979737" cy="461963"/>
          </a:xfrm>
          <a:prstGeom prst="rect">
            <a:avLst/>
          </a:prstGeom>
          <a:noFill/>
          <a:ln w="9525">
            <a:noFill/>
          </a:ln>
        </p:spPr>
        <p:txBody>
          <a:bodyPr wrap="none">
            <a:spAutoFit/>
          </a:bodyPr>
          <a:p>
            <a:pPr eaLnBrk="1" hangingPunct="1"/>
            <a:r>
              <a:rPr lang="en-US" altLang="zh-CN" sz="2400" dirty="0">
                <a:solidFill>
                  <a:srgbClr val="000099"/>
                </a:solidFill>
                <a:latin typeface="Times New Roman" panose="02020603050405020304" pitchFamily="18" charset="0"/>
                <a:ea typeface="黑体" panose="02010609060101010101" pitchFamily="2" charset="-122"/>
              </a:rPr>
              <a:t>§2.4-4  </a:t>
            </a:r>
            <a:r>
              <a:rPr lang="zh-CN" altLang="en-US" sz="2400" dirty="0">
                <a:solidFill>
                  <a:srgbClr val="000099"/>
                </a:solidFill>
                <a:latin typeface="Times New Roman" panose="02020603050405020304" pitchFamily="18" charset="0"/>
                <a:ea typeface="黑体" panose="02010609060101010101" pitchFamily="2" charset="-122"/>
              </a:rPr>
              <a:t>案列</a:t>
            </a:r>
            <a:r>
              <a:rPr lang="en-US" altLang="zh-CN" sz="2400" dirty="0">
                <a:solidFill>
                  <a:srgbClr val="000099"/>
                </a:solidFill>
                <a:latin typeface="Times New Roman" panose="02020603050405020304" pitchFamily="18" charset="0"/>
                <a:ea typeface="黑体" panose="02010609060101010101" pitchFamily="2" charset="-122"/>
              </a:rPr>
              <a:t>1</a:t>
            </a:r>
            <a:r>
              <a:rPr lang="zh-CN" altLang="en-US" sz="2400" dirty="0">
                <a:solidFill>
                  <a:srgbClr val="000099"/>
                </a:solidFill>
                <a:latin typeface="Times New Roman" panose="02020603050405020304" pitchFamily="18" charset="0"/>
                <a:ea typeface="黑体" panose="02010609060101010101" pitchFamily="2" charset="-122"/>
              </a:rPr>
              <a:t>的设计</a:t>
            </a:r>
            <a:endParaRPr lang="zh-CN" altLang="en-US" sz="2400" dirty="0">
              <a:solidFill>
                <a:srgbClr val="000099"/>
              </a:solidFill>
              <a:latin typeface="Times New Roman" panose="02020603050405020304" pitchFamily="18" charset="0"/>
              <a:ea typeface="黑体" panose="02010609060101010101" pitchFamily="2" charset="-122"/>
            </a:endParaRPr>
          </a:p>
        </p:txBody>
      </p:sp>
      <p:sp>
        <p:nvSpPr>
          <p:cNvPr id="3083" name="矩形 2"/>
          <p:cNvSpPr/>
          <p:nvPr/>
        </p:nvSpPr>
        <p:spPr>
          <a:xfrm>
            <a:off x="1834833" y="4873308"/>
            <a:ext cx="3749675" cy="461962"/>
          </a:xfrm>
          <a:prstGeom prst="rect">
            <a:avLst/>
          </a:prstGeom>
          <a:noFill/>
          <a:ln w="9525">
            <a:noFill/>
          </a:ln>
        </p:spPr>
        <p:txBody>
          <a:bodyPr wrap="none">
            <a:spAutoFit/>
          </a:bodyPr>
          <a:p>
            <a:pPr eaLnBrk="1" hangingPunct="1"/>
            <a:r>
              <a:rPr lang="en-US" altLang="zh-CN" sz="2400" dirty="0">
                <a:solidFill>
                  <a:srgbClr val="000099"/>
                </a:solidFill>
                <a:latin typeface="Times New Roman" panose="02020603050405020304" pitchFamily="18" charset="0"/>
                <a:ea typeface="黑体" panose="02010609060101010101" pitchFamily="2" charset="-122"/>
              </a:rPr>
              <a:t>§2.4-5 </a:t>
            </a:r>
            <a:r>
              <a:rPr lang="en-US" altLang="zh-CN" sz="2400" dirty="0">
                <a:solidFill>
                  <a:srgbClr val="000099"/>
                </a:solidFill>
                <a:latin typeface="Times New Roman" panose="02020603050405020304" pitchFamily="18" charset="0"/>
                <a:ea typeface="黑体" panose="02010609060101010101" pitchFamily="2" charset="-122"/>
                <a:hlinkClick r:id="rId6" action="ppaction://hlinksldjump"/>
              </a:rPr>
              <a:t> </a:t>
            </a:r>
            <a:r>
              <a:rPr lang="zh-CN" altLang="en-US" sz="2400" dirty="0">
                <a:solidFill>
                  <a:srgbClr val="000099"/>
                </a:solidFill>
                <a:latin typeface="Times New Roman" panose="02020603050405020304" pitchFamily="18" charset="0"/>
                <a:ea typeface="黑体" panose="02010609060101010101" pitchFamily="2" charset="-122"/>
                <a:hlinkClick r:id="rId6" action="ppaction://hlinksldjump"/>
              </a:rPr>
              <a:t>滚动螺旋传动简介</a:t>
            </a:r>
            <a:endParaRPr lang="zh-CN" altLang="en-US" sz="2400" dirty="0">
              <a:solidFill>
                <a:srgbClr val="000099"/>
              </a:solidFill>
              <a:latin typeface="Times New Roman" panose="02020603050405020304" pitchFamily="18" charset="0"/>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57200" y="106045"/>
            <a:ext cx="8229600" cy="725488"/>
          </a:xfrm>
        </p:spPr>
        <p:txBody>
          <a:bodyPr/>
          <a:lstStyle/>
          <a:p>
            <a:pPr eaLnBrk="1" hangingPunct="1"/>
            <a:r>
              <a:rPr lang="zh-CN" altLang="en-US" sz="2800" b="0" dirty="0" smtClean="0">
                <a:solidFill>
                  <a:srgbClr val="0000FF"/>
                </a:solidFill>
                <a:latin typeface="黑体" panose="02010609060101010101" pitchFamily="2" charset="-122"/>
                <a:ea typeface="黑体" panose="02010609060101010101" pitchFamily="2" charset="-122"/>
              </a:rPr>
              <a:t>一、螺旋传动的类型和应用</a:t>
            </a:r>
            <a:endParaRPr lang="zh-CN" altLang="en-US" sz="2800" b="0" dirty="0" smtClean="0">
              <a:solidFill>
                <a:srgbClr val="0000FF"/>
              </a:solidFill>
              <a:latin typeface="黑体" panose="02010609060101010101" pitchFamily="2" charset="-122"/>
              <a:ea typeface="黑体" panose="02010609060101010101" pitchFamily="2" charset="-122"/>
            </a:endParaRPr>
          </a:p>
        </p:txBody>
      </p:sp>
      <p:sp>
        <p:nvSpPr>
          <p:cNvPr id="16387" name="内容占位符 2"/>
          <p:cNvSpPr>
            <a:spLocks noGrp="1"/>
          </p:cNvSpPr>
          <p:nvPr>
            <p:ph idx="1"/>
          </p:nvPr>
        </p:nvSpPr>
        <p:spPr>
          <a:xfrm>
            <a:off x="457131" y="1259235"/>
            <a:ext cx="8229600" cy="5357813"/>
          </a:xfrm>
        </p:spPr>
        <p:txBody>
          <a:bodyPr/>
          <a:lstStyle/>
          <a:p>
            <a:pPr marL="0" indent="0" eaLnBrk="1" latinLnBrk="0" hangingPunct="1">
              <a:lnSpc>
                <a:spcPct val="130000"/>
              </a:lnSpc>
              <a:spcBef>
                <a:spcPts val="0"/>
              </a:spcBef>
              <a:buNone/>
            </a:pPr>
            <a:r>
              <a:rPr lang="zh-CN" altLang="en-US" sz="2400" b="0" dirty="0" smtClean="0">
                <a:solidFill>
                  <a:srgbClr val="C00000"/>
                </a:solidFill>
                <a:latin typeface="黑体" panose="02010609060101010101" pitchFamily="2" charset="-122"/>
                <a:ea typeface="黑体" panose="02010609060101010101" pitchFamily="2" charset="-122"/>
              </a:rPr>
              <a:t>定义：</a:t>
            </a:r>
            <a:r>
              <a:rPr lang="zh-CN" altLang="zh-CN" sz="2000" b="0" dirty="0">
                <a:solidFill>
                  <a:srgbClr val="000099"/>
                </a:solidFill>
                <a:sym typeface="+mn-ea"/>
              </a:rPr>
              <a:t>螺旋传动是</a:t>
            </a:r>
            <a:r>
              <a:rPr lang="zh-CN" altLang="en-US" sz="2000" b="0" dirty="0" smtClean="0">
                <a:solidFill>
                  <a:srgbClr val="C00000"/>
                </a:solidFill>
              </a:rPr>
              <a:t>由螺杆和螺母组成的螺旋副</a:t>
            </a:r>
            <a:r>
              <a:rPr lang="zh-CN" altLang="en-US" sz="2000" b="0" dirty="0" smtClean="0">
                <a:solidFill>
                  <a:srgbClr val="002060"/>
                </a:solidFill>
              </a:rPr>
              <a:t>，</a:t>
            </a:r>
            <a:r>
              <a:rPr lang="zh-CN" altLang="zh-CN" sz="2000" b="0" dirty="0">
                <a:solidFill>
                  <a:srgbClr val="000099"/>
                </a:solidFill>
                <a:sym typeface="+mn-ea"/>
              </a:rPr>
              <a:t>是利用螺杆（丝杠）和螺母的相对运动将</a:t>
            </a:r>
            <a:r>
              <a:rPr lang="zh-CN" altLang="zh-CN" sz="2000" b="0" dirty="0">
                <a:solidFill>
                  <a:srgbClr val="C00000"/>
                </a:solidFill>
                <a:sym typeface="+mn-ea"/>
              </a:rPr>
              <a:t>旋转运动变为直线运动</a:t>
            </a:r>
            <a:r>
              <a:rPr lang="zh-CN" altLang="zh-CN" sz="2000" b="0" dirty="0">
                <a:solidFill>
                  <a:srgbClr val="000099"/>
                </a:solidFill>
                <a:sym typeface="+mn-ea"/>
              </a:rPr>
              <a:t>，或反过来将直线运动变为旋转运动，并同时传递运动和动力。</a:t>
            </a:r>
            <a:endParaRPr lang="zh-CN" altLang="zh-CN" sz="2000" b="0" dirty="0">
              <a:solidFill>
                <a:srgbClr val="000099"/>
              </a:solidFill>
            </a:endParaRPr>
          </a:p>
          <a:p>
            <a:pPr marL="0" indent="0" eaLnBrk="1" hangingPunct="1">
              <a:buNone/>
            </a:pPr>
            <a:endParaRPr lang="zh-CN" altLang="en-US" sz="2400" dirty="0" smtClean="0">
              <a:solidFill>
                <a:srgbClr val="FF0000"/>
              </a:solidFill>
              <a:latin typeface="黑体" panose="02010609060101010101" pitchFamily="2" charset="-122"/>
              <a:ea typeface="黑体" panose="02010609060101010101" pitchFamily="2" charset="-122"/>
            </a:endParaRPr>
          </a:p>
          <a:p>
            <a:pPr marL="0" indent="0" eaLnBrk="1" latinLnBrk="0" hangingPunct="1">
              <a:lnSpc>
                <a:spcPct val="120000"/>
              </a:lnSpc>
              <a:spcBef>
                <a:spcPts val="0"/>
              </a:spcBef>
              <a:buNone/>
            </a:pPr>
            <a:r>
              <a:rPr lang="zh-CN" altLang="en-US" sz="2400" b="0" dirty="0" smtClean="0">
                <a:solidFill>
                  <a:srgbClr val="FF0000"/>
                </a:solidFill>
                <a:latin typeface="黑体" panose="02010609060101010101" pitchFamily="2" charset="-122"/>
                <a:ea typeface="黑体" panose="02010609060101010101" pitchFamily="2" charset="-122"/>
              </a:rPr>
              <a:t>主要功能：</a:t>
            </a:r>
            <a:endParaRPr lang="zh-CN" altLang="en-US" sz="2400" b="0" dirty="0" smtClean="0">
              <a:solidFill>
                <a:srgbClr val="FF0000"/>
              </a:solidFill>
              <a:latin typeface="黑体" panose="02010609060101010101" pitchFamily="2" charset="-122"/>
              <a:ea typeface="黑体" panose="02010609060101010101" pitchFamily="2" charset="-122"/>
            </a:endParaRPr>
          </a:p>
          <a:p>
            <a:pPr marL="0" indent="0" eaLnBrk="1" latinLnBrk="0" hangingPunct="1">
              <a:lnSpc>
                <a:spcPct val="150000"/>
              </a:lnSpc>
              <a:spcBef>
                <a:spcPts val="0"/>
              </a:spcBef>
              <a:buNone/>
            </a:pPr>
            <a:r>
              <a:rPr lang="zh-CN" altLang="en-US" sz="2400" dirty="0" smtClean="0">
                <a:solidFill>
                  <a:srgbClr val="FF0000"/>
                </a:solidFill>
                <a:latin typeface="黑体" panose="02010609060101010101" pitchFamily="2" charset="-122"/>
                <a:ea typeface="黑体" panose="02010609060101010101" pitchFamily="2" charset="-122"/>
              </a:rPr>
              <a:t>    </a:t>
            </a:r>
            <a:r>
              <a:rPr lang="en-US" altLang="zh-CN" sz="2000" dirty="0" smtClean="0">
                <a:solidFill>
                  <a:schemeClr val="tx1"/>
                </a:solidFill>
                <a:latin typeface="黑体" panose="02010609060101010101" pitchFamily="2" charset="-122"/>
                <a:ea typeface="黑体" panose="02010609060101010101" pitchFamily="2" charset="-122"/>
              </a:rPr>
              <a:t>1</a:t>
            </a:r>
            <a:r>
              <a:rPr lang="zh-CN" altLang="en-US" sz="2000" dirty="0" smtClean="0">
                <a:solidFill>
                  <a:schemeClr val="tx1"/>
                </a:solidFill>
                <a:latin typeface="黑体" panose="02010609060101010101" pitchFamily="2" charset="-122"/>
                <a:ea typeface="黑体" panose="02010609060101010101" pitchFamily="2" charset="-122"/>
              </a:rPr>
              <a:t>、</a:t>
            </a:r>
            <a:r>
              <a:rPr lang="zh-CN" altLang="en-US" sz="2000" b="0" dirty="0" smtClean="0">
                <a:solidFill>
                  <a:srgbClr val="002060"/>
                </a:solidFill>
                <a:latin typeface="黑体" panose="02010609060101010101" pitchFamily="2" charset="-122"/>
                <a:ea typeface="黑体" panose="02010609060101010101" pitchFamily="2" charset="-122"/>
              </a:rPr>
              <a:t>旋转运动和直线运动的相互转换；</a:t>
            </a:r>
            <a:endParaRPr lang="en-US" altLang="zh-CN" sz="2000" b="0" dirty="0" smtClean="0">
              <a:solidFill>
                <a:srgbClr val="002060"/>
              </a:solidFill>
              <a:latin typeface="黑体" panose="02010609060101010101" pitchFamily="2" charset="-122"/>
              <a:ea typeface="黑体" panose="02010609060101010101" pitchFamily="2" charset="-122"/>
            </a:endParaRPr>
          </a:p>
          <a:p>
            <a:pPr marL="0" lvl="1" indent="0" eaLnBrk="1" latinLnBrk="0" hangingPunct="1">
              <a:lnSpc>
                <a:spcPct val="150000"/>
              </a:lnSpc>
              <a:spcBef>
                <a:spcPts val="0"/>
              </a:spcBef>
              <a:buNone/>
            </a:pPr>
            <a:r>
              <a:rPr lang="zh-CN" altLang="en-US" sz="2000" dirty="0" smtClean="0">
                <a:solidFill>
                  <a:srgbClr val="002060"/>
                </a:solidFill>
                <a:latin typeface="黑体" panose="02010609060101010101" pitchFamily="2" charset="-122"/>
                <a:ea typeface="黑体" panose="02010609060101010101" pitchFamily="2" charset="-122"/>
              </a:rPr>
              <a:t>     </a:t>
            </a:r>
            <a:r>
              <a:rPr lang="en-US" altLang="zh-CN" sz="2000" dirty="0" smtClean="0">
                <a:solidFill>
                  <a:srgbClr val="002060"/>
                </a:solidFill>
                <a:latin typeface="黑体" panose="02010609060101010101" pitchFamily="2" charset="-122"/>
                <a:ea typeface="黑体" panose="02010609060101010101" pitchFamily="2" charset="-122"/>
              </a:rPr>
              <a:t>2</a:t>
            </a:r>
            <a:r>
              <a:rPr lang="zh-CN" altLang="en-US" sz="2000" dirty="0" smtClean="0">
                <a:solidFill>
                  <a:srgbClr val="002060"/>
                </a:solidFill>
                <a:latin typeface="黑体" panose="02010609060101010101" pitchFamily="2" charset="-122"/>
                <a:ea typeface="黑体" panose="02010609060101010101" pitchFamily="2" charset="-122"/>
              </a:rPr>
              <a:t>、作为调整元件，以调整零件的相互位置；</a:t>
            </a:r>
            <a:endParaRPr lang="en-US" altLang="zh-CN" sz="2000" dirty="0" smtClean="0">
              <a:solidFill>
                <a:srgbClr val="002060"/>
              </a:solidFill>
              <a:latin typeface="黑体" panose="02010609060101010101" pitchFamily="2" charset="-122"/>
              <a:ea typeface="黑体" panose="02010609060101010101" pitchFamily="2" charset="-122"/>
            </a:endParaRPr>
          </a:p>
          <a:p>
            <a:pPr marL="0" lvl="1" indent="0" eaLnBrk="1" latinLnBrk="0" hangingPunct="1">
              <a:lnSpc>
                <a:spcPct val="150000"/>
              </a:lnSpc>
              <a:spcBef>
                <a:spcPts val="0"/>
              </a:spcBef>
              <a:buNone/>
            </a:pPr>
            <a:r>
              <a:rPr lang="zh-CN" altLang="en-US" sz="2000" dirty="0" smtClean="0">
                <a:solidFill>
                  <a:srgbClr val="002060"/>
                </a:solidFill>
                <a:latin typeface="黑体" panose="02010609060101010101" pitchFamily="2" charset="-122"/>
                <a:ea typeface="黑体" panose="02010609060101010101" pitchFamily="2" charset="-122"/>
              </a:rPr>
              <a:t>     </a:t>
            </a:r>
            <a:r>
              <a:rPr lang="en-US" altLang="zh-CN" sz="2000" dirty="0" smtClean="0">
                <a:solidFill>
                  <a:srgbClr val="002060"/>
                </a:solidFill>
                <a:latin typeface="黑体" panose="02010609060101010101" pitchFamily="2" charset="-122"/>
                <a:ea typeface="黑体" panose="02010609060101010101" pitchFamily="2" charset="-122"/>
              </a:rPr>
              <a:t>3</a:t>
            </a:r>
            <a:r>
              <a:rPr lang="zh-CN" altLang="en-US" sz="2000" dirty="0" smtClean="0">
                <a:solidFill>
                  <a:srgbClr val="002060"/>
                </a:solidFill>
                <a:latin typeface="黑体" panose="02010609060101010101" pitchFamily="2" charset="-122"/>
                <a:ea typeface="黑体" panose="02010609060101010101" pitchFamily="2" charset="-122"/>
              </a:rPr>
              <a:t>、作为测量元件，可获得很高的测量精度。</a:t>
            </a:r>
            <a:endParaRPr lang="en-US" altLang="zh-CN" sz="2000" dirty="0" smtClean="0">
              <a:solidFill>
                <a:srgbClr val="002060"/>
              </a:solidFill>
              <a:latin typeface="黑体" panose="02010609060101010101" pitchFamily="2" charset="-122"/>
              <a:ea typeface="黑体" panose="02010609060101010101" pitchFamily="2" charset="-122"/>
            </a:endParaRPr>
          </a:p>
          <a:p>
            <a:pPr marL="0" lvl="1" indent="0" eaLnBrk="1" latinLnBrk="0" hangingPunct="1">
              <a:lnSpc>
                <a:spcPct val="150000"/>
              </a:lnSpc>
              <a:buNone/>
            </a:pPr>
            <a:r>
              <a:rPr lang="zh-CN" altLang="en-US" sz="2000" dirty="0" smtClean="0">
                <a:solidFill>
                  <a:srgbClr val="002060"/>
                </a:solidFill>
                <a:latin typeface="黑体" panose="02010609060101010101" pitchFamily="2" charset="-122"/>
                <a:ea typeface="黑体" panose="02010609060101010101" pitchFamily="2" charset="-122"/>
              </a:rPr>
              <a:t>   螺旋传动常用于机床、起重机械、锻压设备、测量仪器、多维平移台及其他机械设备中</a:t>
            </a:r>
            <a:r>
              <a:rPr lang="zh-CN" altLang="en-US" sz="2400" dirty="0" smtClean="0">
                <a:solidFill>
                  <a:srgbClr val="002060"/>
                </a:solidFill>
                <a:latin typeface="黑体" panose="02010609060101010101" pitchFamily="2" charset="-122"/>
                <a:ea typeface="黑体" panose="02010609060101010101" pitchFamily="2" charset="-122"/>
              </a:rPr>
              <a:t>。</a:t>
            </a:r>
            <a:endParaRPr lang="zh-CN" altLang="en-US" sz="2400" dirty="0" smtClean="0">
              <a:solidFill>
                <a:srgbClr val="002060"/>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wipe(left)">
                                      <p:cBhvr>
                                        <p:cTn id="12" dur="500"/>
                                        <p:tgtEl>
                                          <p:spTgt spid="163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Effect transition="in" filter="wipe(left)">
                                      <p:cBhvr>
                                        <p:cTn id="17" dur="500"/>
                                        <p:tgtEl>
                                          <p:spTgt spid="1638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87">
                                            <p:txEl>
                                              <p:pRg st="4" end="4"/>
                                            </p:txEl>
                                          </p:spTgt>
                                        </p:tgtEl>
                                        <p:attrNameLst>
                                          <p:attrName>style.visibility</p:attrName>
                                        </p:attrNameLst>
                                      </p:cBhvr>
                                      <p:to>
                                        <p:strVal val="visible"/>
                                      </p:to>
                                    </p:set>
                                    <p:animEffect transition="in" filter="wipe(left)">
                                      <p:cBhvr>
                                        <p:cTn id="22" dur="500"/>
                                        <p:tgtEl>
                                          <p:spTgt spid="1638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animEffect transition="in" filter="wipe(left)">
                                      <p:cBhvr>
                                        <p:cTn id="27" dur="500"/>
                                        <p:tgtEl>
                                          <p:spTgt spid="1638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387">
                                            <p:txEl>
                                              <p:pRg st="6" end="6"/>
                                            </p:txEl>
                                          </p:spTgt>
                                        </p:tgtEl>
                                        <p:attrNameLst>
                                          <p:attrName>style.visibility</p:attrName>
                                        </p:attrNameLst>
                                      </p:cBhvr>
                                      <p:to>
                                        <p:strVal val="visible"/>
                                      </p:to>
                                    </p:set>
                                    <p:animEffect transition="in" filter="wipe(left)">
                                      <p:cBhvr>
                                        <p:cTn id="32" dur="500"/>
                                        <p:tgtEl>
                                          <p:spTgt spid="163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0" name="Text Box 6"/>
          <p:cNvSpPr txBox="1">
            <a:spLocks noChangeArrowheads="1"/>
          </p:cNvSpPr>
          <p:nvPr/>
        </p:nvSpPr>
        <p:spPr bwMode="auto">
          <a:xfrm>
            <a:off x="327080" y="1653937"/>
            <a:ext cx="1728192" cy="429895"/>
          </a:xfrm>
          <a:prstGeom prst="rect">
            <a:avLst/>
          </a:prstGeom>
          <a:noFill/>
          <a:ln w="76200" cmpd="tri">
            <a:noFill/>
            <a:miter lim="800000"/>
          </a:ln>
          <a:effectLst/>
        </p:spPr>
        <p:txBody>
          <a:bodyPr wrap="square" anchor="ctr">
            <a:spAutoFit/>
          </a:bodyPr>
          <a:lstStyle/>
          <a:p>
            <a:pPr>
              <a:spcBef>
                <a:spcPct val="50000"/>
              </a:spcBef>
              <a:defRPr/>
            </a:pPr>
            <a:r>
              <a:rPr lang="en-US" altLang="zh-CN" sz="2200" dirty="0">
                <a:solidFill>
                  <a:srgbClr val="003399"/>
                </a:solidFill>
                <a:latin typeface="黑体" panose="02010609060101010101" pitchFamily="2" charset="-122"/>
                <a:ea typeface="黑体" panose="02010609060101010101" pitchFamily="2" charset="-122"/>
              </a:rPr>
              <a:t>1</a:t>
            </a:r>
            <a:r>
              <a:rPr lang="zh-CN" altLang="en-US" sz="2200" dirty="0">
                <a:solidFill>
                  <a:srgbClr val="003399"/>
                </a:solidFill>
                <a:latin typeface="黑体" panose="02010609060101010101" pitchFamily="2" charset="-122"/>
                <a:ea typeface="黑体" panose="02010609060101010101" pitchFamily="2" charset="-122"/>
              </a:rPr>
              <a:t>、</a:t>
            </a:r>
            <a:r>
              <a:rPr lang="zh-CN" altLang="en-US" sz="2200" dirty="0">
                <a:solidFill>
                  <a:srgbClr val="003399"/>
                </a:solidFill>
                <a:latin typeface="黑体" panose="02010609060101010101" pitchFamily="2" charset="-122"/>
                <a:ea typeface="黑体" panose="02010609060101010101" pitchFamily="2" charset="-122"/>
              </a:rPr>
              <a:t>运动形式</a:t>
            </a:r>
            <a:endParaRPr lang="zh-CN" altLang="en-US" sz="2200" dirty="0">
              <a:solidFill>
                <a:srgbClr val="003399"/>
              </a:solidFill>
              <a:latin typeface="黑体" panose="02010609060101010101" pitchFamily="2" charset="-122"/>
              <a:ea typeface="黑体" panose="02010609060101010101" pitchFamily="2" charset="-122"/>
            </a:endParaRPr>
          </a:p>
        </p:txBody>
      </p:sp>
      <p:grpSp>
        <p:nvGrpSpPr>
          <p:cNvPr id="2" name="Group 118"/>
          <p:cNvGrpSpPr/>
          <p:nvPr/>
        </p:nvGrpSpPr>
        <p:grpSpPr bwMode="auto">
          <a:xfrm>
            <a:off x="180975" y="3005138"/>
            <a:ext cx="1906588" cy="3631530"/>
            <a:chOff x="0" y="1920"/>
            <a:chExt cx="1248" cy="2439"/>
          </a:xfrm>
        </p:grpSpPr>
        <p:sp>
          <p:nvSpPr>
            <p:cNvPr id="16473" name="AutoShape 8"/>
            <p:cNvSpPr>
              <a:spLocks noChangeArrowheads="1"/>
            </p:cNvSpPr>
            <p:nvPr/>
          </p:nvSpPr>
          <p:spPr bwMode="auto">
            <a:xfrm>
              <a:off x="179" y="2352"/>
              <a:ext cx="912" cy="1584"/>
            </a:xfrm>
            <a:prstGeom prst="roundRect">
              <a:avLst>
                <a:gd name="adj" fmla="val 16667"/>
              </a:avLst>
            </a:prstGeom>
            <a:solidFill>
              <a:srgbClr val="99FF33"/>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74" name="AutoShape 9"/>
            <p:cNvSpPr>
              <a:spLocks noChangeArrowheads="1"/>
            </p:cNvSpPr>
            <p:nvPr/>
          </p:nvSpPr>
          <p:spPr bwMode="auto">
            <a:xfrm>
              <a:off x="349" y="2522"/>
              <a:ext cx="576" cy="1440"/>
            </a:xfrm>
            <a:prstGeom prst="roundRect">
              <a:avLst>
                <a:gd name="adj" fmla="val 16667"/>
              </a:avLst>
            </a:prstGeom>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75" name="Rectangle 10"/>
            <p:cNvSpPr>
              <a:spLocks noChangeArrowheads="1"/>
            </p:cNvSpPr>
            <p:nvPr/>
          </p:nvSpPr>
          <p:spPr bwMode="auto">
            <a:xfrm>
              <a:off x="0" y="3792"/>
              <a:ext cx="1248" cy="38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76" name="Line 11"/>
            <p:cNvSpPr>
              <a:spLocks noChangeShapeType="1"/>
            </p:cNvSpPr>
            <p:nvPr/>
          </p:nvSpPr>
          <p:spPr bwMode="auto">
            <a:xfrm>
              <a:off x="170" y="3792"/>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77" name="Line 12"/>
            <p:cNvSpPr>
              <a:spLocks noChangeShapeType="1"/>
            </p:cNvSpPr>
            <p:nvPr/>
          </p:nvSpPr>
          <p:spPr bwMode="auto">
            <a:xfrm>
              <a:off x="912" y="3792"/>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78" name="Rectangle 13"/>
            <p:cNvSpPr>
              <a:spLocks noChangeArrowheads="1"/>
            </p:cNvSpPr>
            <p:nvPr/>
          </p:nvSpPr>
          <p:spPr bwMode="auto">
            <a:xfrm>
              <a:off x="484" y="2518"/>
              <a:ext cx="288" cy="74"/>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79" name="Rectangle 14"/>
            <p:cNvSpPr>
              <a:spLocks noChangeArrowheads="1"/>
            </p:cNvSpPr>
            <p:nvPr/>
          </p:nvSpPr>
          <p:spPr bwMode="auto">
            <a:xfrm>
              <a:off x="480" y="2304"/>
              <a:ext cx="288" cy="48"/>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80" name="Rectangle 15"/>
            <p:cNvSpPr>
              <a:spLocks noChangeArrowheads="1"/>
            </p:cNvSpPr>
            <p:nvPr/>
          </p:nvSpPr>
          <p:spPr bwMode="auto">
            <a:xfrm>
              <a:off x="301" y="3072"/>
              <a:ext cx="672" cy="192"/>
            </a:xfrm>
            <a:prstGeom prst="rect">
              <a:avLst/>
            </a:prstGeom>
            <a:solidFill>
              <a:srgbClr val="FF9933"/>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81" name="Rectangle 16"/>
            <p:cNvSpPr>
              <a:spLocks noChangeArrowheads="1"/>
            </p:cNvSpPr>
            <p:nvPr/>
          </p:nvSpPr>
          <p:spPr bwMode="auto">
            <a:xfrm>
              <a:off x="533" y="2592"/>
              <a:ext cx="200" cy="1104"/>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82" name="Rectangle 17"/>
            <p:cNvSpPr>
              <a:spLocks noChangeArrowheads="1"/>
            </p:cNvSpPr>
            <p:nvPr/>
          </p:nvSpPr>
          <p:spPr bwMode="auto">
            <a:xfrm>
              <a:off x="536" y="2112"/>
              <a:ext cx="192" cy="192"/>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83" name="Line 18"/>
            <p:cNvSpPr>
              <a:spLocks noChangeShapeType="1"/>
            </p:cNvSpPr>
            <p:nvPr/>
          </p:nvSpPr>
          <p:spPr bwMode="auto">
            <a:xfrm>
              <a:off x="554" y="2592"/>
              <a:ext cx="0" cy="1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84" name="Line 19"/>
            <p:cNvSpPr>
              <a:spLocks noChangeShapeType="1"/>
            </p:cNvSpPr>
            <p:nvPr/>
          </p:nvSpPr>
          <p:spPr bwMode="auto">
            <a:xfrm>
              <a:off x="711" y="2592"/>
              <a:ext cx="0" cy="110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85" name="Rectangle 20"/>
            <p:cNvSpPr>
              <a:spLocks noChangeArrowheads="1"/>
            </p:cNvSpPr>
            <p:nvPr/>
          </p:nvSpPr>
          <p:spPr bwMode="auto">
            <a:xfrm>
              <a:off x="519" y="2365"/>
              <a:ext cx="201" cy="144"/>
            </a:xfrm>
            <a:prstGeom prst="rect">
              <a:avLst/>
            </a:prstGeom>
            <a:solidFill>
              <a:schemeClr val="accent1"/>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86" name="Line 21"/>
            <p:cNvSpPr>
              <a:spLocks noChangeShapeType="1"/>
            </p:cNvSpPr>
            <p:nvPr/>
          </p:nvSpPr>
          <p:spPr bwMode="auto">
            <a:xfrm>
              <a:off x="432" y="2928"/>
              <a:ext cx="0" cy="528"/>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487" name="Arc 22"/>
            <p:cNvSpPr/>
            <p:nvPr/>
          </p:nvSpPr>
          <p:spPr bwMode="auto">
            <a:xfrm rot="5626079">
              <a:off x="504" y="1945"/>
              <a:ext cx="203" cy="443"/>
            </a:xfrm>
            <a:custGeom>
              <a:avLst/>
              <a:gdLst>
                <a:gd name="T0" fmla="*/ 0 w 37262"/>
                <a:gd name="T1" fmla="*/ 0 h 43200"/>
                <a:gd name="T2" fmla="*/ 0 w 37262"/>
                <a:gd name="T3" fmla="*/ 0 h 43200"/>
                <a:gd name="T4" fmla="*/ 0 w 37262"/>
                <a:gd name="T5" fmla="*/ 0 h 43200"/>
                <a:gd name="T6" fmla="*/ 0 60000 65536"/>
                <a:gd name="T7" fmla="*/ 0 60000 65536"/>
                <a:gd name="T8" fmla="*/ 0 60000 65536"/>
                <a:gd name="T9" fmla="*/ 0 w 37262"/>
                <a:gd name="T10" fmla="*/ 0 h 43200"/>
                <a:gd name="T11" fmla="*/ 37262 w 37262"/>
                <a:gd name="T12" fmla="*/ 43200 h 43200"/>
              </a:gdLst>
              <a:ahLst/>
              <a:cxnLst>
                <a:cxn ang="T6">
                  <a:pos x="T0" y="T1"/>
                </a:cxn>
                <a:cxn ang="T7">
                  <a:pos x="T2" y="T3"/>
                </a:cxn>
                <a:cxn ang="T8">
                  <a:pos x="T4" y="T5"/>
                </a:cxn>
              </a:cxnLst>
              <a:rect l="T9" t="T10" r="T11" b="T12"/>
              <a:pathLst>
                <a:path w="37262" h="43200" fill="none" extrusionOk="0">
                  <a:moveTo>
                    <a:pt x="0" y="6725"/>
                  </a:moveTo>
                  <a:cubicBezTo>
                    <a:pt x="4078" y="2431"/>
                    <a:pt x="9740" y="-1"/>
                    <a:pt x="15662" y="0"/>
                  </a:cubicBezTo>
                  <a:cubicBezTo>
                    <a:pt x="27591" y="0"/>
                    <a:pt x="37262" y="9670"/>
                    <a:pt x="37262" y="21600"/>
                  </a:cubicBezTo>
                  <a:cubicBezTo>
                    <a:pt x="37262" y="33529"/>
                    <a:pt x="27591" y="43200"/>
                    <a:pt x="15662" y="43200"/>
                  </a:cubicBezTo>
                  <a:cubicBezTo>
                    <a:pt x="14096" y="43200"/>
                    <a:pt x="12536" y="43029"/>
                    <a:pt x="11008" y="42692"/>
                  </a:cubicBezTo>
                </a:path>
                <a:path w="37262" h="43200" stroke="0" extrusionOk="0">
                  <a:moveTo>
                    <a:pt x="0" y="6725"/>
                  </a:moveTo>
                  <a:cubicBezTo>
                    <a:pt x="4078" y="2431"/>
                    <a:pt x="9740" y="-1"/>
                    <a:pt x="15662" y="0"/>
                  </a:cubicBezTo>
                  <a:cubicBezTo>
                    <a:pt x="27591" y="0"/>
                    <a:pt x="37262" y="9670"/>
                    <a:pt x="37262" y="21600"/>
                  </a:cubicBezTo>
                  <a:cubicBezTo>
                    <a:pt x="37262" y="33529"/>
                    <a:pt x="27591" y="43200"/>
                    <a:pt x="15662" y="43200"/>
                  </a:cubicBezTo>
                  <a:cubicBezTo>
                    <a:pt x="14096" y="43200"/>
                    <a:pt x="12536" y="43029"/>
                    <a:pt x="11008" y="42692"/>
                  </a:cubicBezTo>
                  <a:lnTo>
                    <a:pt x="15662" y="21600"/>
                  </a:lnTo>
                  <a:lnTo>
                    <a:pt x="0" y="6725"/>
                  </a:lnTo>
                  <a:close/>
                </a:path>
              </a:pathLst>
            </a:custGeom>
            <a:noFill/>
            <a:ln w="381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4407" name="AutoShape 23"/>
            <p:cNvSpPr>
              <a:spLocks noChangeArrowheads="1"/>
            </p:cNvSpPr>
            <p:nvPr/>
          </p:nvSpPr>
          <p:spPr bwMode="auto">
            <a:xfrm>
              <a:off x="0" y="3936"/>
              <a:ext cx="528" cy="384"/>
            </a:xfrm>
            <a:prstGeom prst="wedgeRectCallout">
              <a:avLst>
                <a:gd name="adj1" fmla="val 60368"/>
                <a:gd name="adj2" fmla="val -173345"/>
              </a:avLst>
            </a:prstGeom>
            <a:noFill/>
            <a:ln w="9525">
              <a:solidFill>
                <a:schemeClr val="tx1"/>
              </a:solidFill>
              <a:miter lim="800000"/>
            </a:ln>
            <a:effectLst/>
          </p:spPr>
          <p:txBody>
            <a:bodyPr anchor="ctr"/>
            <a:lstStyle/>
            <a:p>
              <a:pPr>
                <a:defRPr/>
              </a:pPr>
              <a:r>
                <a:rPr lang="zh-CN" altLang="en-US" sz="2000" b="1" dirty="0">
                  <a:solidFill>
                    <a:srgbClr val="003399"/>
                  </a:solidFill>
                  <a:latin typeface="+mn-ea"/>
                  <a:ea typeface="+mn-ea"/>
                </a:rPr>
                <a:t>螺杆转动</a:t>
              </a:r>
              <a:endParaRPr lang="zh-CN" altLang="en-US" sz="2000" b="1" dirty="0">
                <a:solidFill>
                  <a:srgbClr val="003399"/>
                </a:solidFill>
                <a:latin typeface="+mn-ea"/>
                <a:ea typeface="+mn-ea"/>
              </a:endParaRPr>
            </a:p>
          </p:txBody>
        </p:sp>
        <p:sp>
          <p:nvSpPr>
            <p:cNvPr id="144408" name="AutoShape 24"/>
            <p:cNvSpPr>
              <a:spLocks noChangeArrowheads="1"/>
            </p:cNvSpPr>
            <p:nvPr/>
          </p:nvSpPr>
          <p:spPr bwMode="auto">
            <a:xfrm>
              <a:off x="720" y="3962"/>
              <a:ext cx="528" cy="397"/>
            </a:xfrm>
            <a:prstGeom prst="wedgeRectCallout">
              <a:avLst>
                <a:gd name="adj1" fmla="val -23880"/>
                <a:gd name="adj2" fmla="val -257028"/>
              </a:avLst>
            </a:prstGeom>
            <a:noFill/>
            <a:ln w="9525">
              <a:solidFill>
                <a:schemeClr val="tx1"/>
              </a:solidFill>
              <a:miter lim="800000"/>
            </a:ln>
            <a:effectLst/>
          </p:spPr>
          <p:txBody>
            <a:bodyPr anchor="ctr"/>
            <a:lstStyle/>
            <a:p>
              <a:pPr>
                <a:defRPr/>
              </a:pPr>
              <a:r>
                <a:rPr lang="zh-CN" altLang="en-US" sz="2000" b="1" dirty="0">
                  <a:solidFill>
                    <a:srgbClr val="003399"/>
                  </a:solidFill>
                  <a:latin typeface="+mn-ea"/>
                  <a:ea typeface="+mn-ea"/>
                </a:rPr>
                <a:t>螺母移动</a:t>
              </a:r>
              <a:endParaRPr lang="zh-CN" altLang="en-US" sz="2000" b="1" dirty="0">
                <a:solidFill>
                  <a:srgbClr val="003399"/>
                </a:solidFill>
                <a:latin typeface="+mn-ea"/>
                <a:ea typeface="+mn-ea"/>
              </a:endParaRPr>
            </a:p>
          </p:txBody>
        </p:sp>
        <p:sp>
          <p:nvSpPr>
            <p:cNvPr id="16490" name="Line 25"/>
            <p:cNvSpPr>
              <a:spLocks noChangeShapeType="1"/>
            </p:cNvSpPr>
            <p:nvPr/>
          </p:nvSpPr>
          <p:spPr bwMode="auto">
            <a:xfrm>
              <a:off x="637" y="1920"/>
              <a:ext cx="0" cy="2016"/>
            </a:xfrm>
            <a:prstGeom prst="line">
              <a:avLst/>
            </a:prstGeom>
            <a:noFill/>
            <a:ln w="9525">
              <a:solidFill>
                <a:schemeClr val="tx1"/>
              </a:solidFill>
              <a:prstDash val="lgDashDot"/>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119"/>
          <p:cNvGrpSpPr/>
          <p:nvPr/>
        </p:nvGrpSpPr>
        <p:grpSpPr bwMode="auto">
          <a:xfrm>
            <a:off x="2303463" y="2996248"/>
            <a:ext cx="2736344" cy="3500437"/>
            <a:chOff x="1292" y="1872"/>
            <a:chExt cx="1877" cy="2448"/>
          </a:xfrm>
        </p:grpSpPr>
        <p:grpSp>
          <p:nvGrpSpPr>
            <p:cNvPr id="16442" name="Group 27"/>
            <p:cNvGrpSpPr/>
            <p:nvPr/>
          </p:nvGrpSpPr>
          <p:grpSpPr bwMode="auto">
            <a:xfrm>
              <a:off x="1292" y="1872"/>
              <a:ext cx="1877" cy="2207"/>
              <a:chOff x="1488" y="1728"/>
              <a:chExt cx="1841" cy="2042"/>
            </a:xfrm>
          </p:grpSpPr>
          <p:sp>
            <p:nvSpPr>
              <p:cNvPr id="16444" name="AutoShape 28"/>
              <p:cNvSpPr>
                <a:spLocks noChangeArrowheads="1"/>
              </p:cNvSpPr>
              <p:nvPr/>
            </p:nvSpPr>
            <p:spPr bwMode="auto">
              <a:xfrm>
                <a:off x="1798" y="2160"/>
                <a:ext cx="912" cy="1584"/>
              </a:xfrm>
              <a:prstGeom prst="roundRect">
                <a:avLst>
                  <a:gd name="adj" fmla="val 16667"/>
                </a:avLst>
              </a:prstGeom>
              <a:solidFill>
                <a:srgbClr val="99FF33"/>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45" name="AutoShape 29"/>
              <p:cNvSpPr>
                <a:spLocks noChangeArrowheads="1"/>
              </p:cNvSpPr>
              <p:nvPr/>
            </p:nvSpPr>
            <p:spPr bwMode="auto">
              <a:xfrm>
                <a:off x="1968" y="2330"/>
                <a:ext cx="576" cy="1440"/>
              </a:xfrm>
              <a:prstGeom prst="roundRect">
                <a:avLst>
                  <a:gd name="adj" fmla="val 16667"/>
                </a:avLst>
              </a:prstGeom>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46" name="Rectangle 30"/>
              <p:cNvSpPr>
                <a:spLocks noChangeArrowheads="1"/>
              </p:cNvSpPr>
              <p:nvPr/>
            </p:nvSpPr>
            <p:spPr bwMode="auto">
              <a:xfrm>
                <a:off x="2064" y="2064"/>
                <a:ext cx="384" cy="96"/>
              </a:xfrm>
              <a:prstGeom prst="rect">
                <a:avLst/>
              </a:prstGeom>
              <a:solidFill>
                <a:srgbClr val="FF9933"/>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47" name="Rectangle 31"/>
              <p:cNvSpPr>
                <a:spLocks noChangeArrowheads="1"/>
              </p:cNvSpPr>
              <p:nvPr/>
            </p:nvSpPr>
            <p:spPr bwMode="auto">
              <a:xfrm>
                <a:off x="2064" y="2326"/>
                <a:ext cx="384" cy="96"/>
              </a:xfrm>
              <a:prstGeom prst="rect">
                <a:avLst/>
              </a:prstGeom>
              <a:solidFill>
                <a:srgbClr val="FF9933"/>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48" name="Rectangle 32"/>
              <p:cNvSpPr>
                <a:spLocks noChangeArrowheads="1"/>
              </p:cNvSpPr>
              <p:nvPr/>
            </p:nvSpPr>
            <p:spPr bwMode="auto">
              <a:xfrm>
                <a:off x="2112" y="2160"/>
                <a:ext cx="288" cy="192"/>
              </a:xfrm>
              <a:prstGeom prst="rect">
                <a:avLst/>
              </a:prstGeom>
              <a:solidFill>
                <a:srgbClr val="FF9933"/>
              </a:solidFill>
              <a:ln w="9525">
                <a:solidFill>
                  <a:srgbClr val="FF9933"/>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49" name="Line 33"/>
              <p:cNvSpPr>
                <a:spLocks noChangeShapeType="1"/>
              </p:cNvSpPr>
              <p:nvPr/>
            </p:nvSpPr>
            <p:spPr bwMode="auto">
              <a:xfrm>
                <a:off x="2112" y="2160"/>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50" name="Line 34"/>
              <p:cNvSpPr>
                <a:spLocks noChangeShapeType="1"/>
              </p:cNvSpPr>
              <p:nvPr/>
            </p:nvSpPr>
            <p:spPr bwMode="auto">
              <a:xfrm>
                <a:off x="2413" y="2160"/>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16451" name="Group 35"/>
              <p:cNvGrpSpPr/>
              <p:nvPr/>
            </p:nvGrpSpPr>
            <p:grpSpPr bwMode="auto">
              <a:xfrm>
                <a:off x="1728" y="1896"/>
                <a:ext cx="432" cy="288"/>
                <a:chOff x="3504" y="2976"/>
                <a:chExt cx="432" cy="288"/>
              </a:xfrm>
            </p:grpSpPr>
            <p:sp>
              <p:nvSpPr>
                <p:cNvPr id="16470" name="Oval 36"/>
                <p:cNvSpPr>
                  <a:spLocks noChangeArrowheads="1"/>
                </p:cNvSpPr>
                <p:nvPr/>
              </p:nvSpPr>
              <p:spPr bwMode="auto">
                <a:xfrm>
                  <a:off x="3504" y="2976"/>
                  <a:ext cx="96" cy="96"/>
                </a:xfrm>
                <a:prstGeom prst="ellipse">
                  <a:avLst/>
                </a:prstGeom>
                <a:solidFill>
                  <a:schemeClr val="accent1"/>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71" name="Line 37"/>
                <p:cNvSpPr>
                  <a:spLocks noChangeShapeType="1"/>
                </p:cNvSpPr>
                <p:nvPr/>
              </p:nvSpPr>
              <p:spPr bwMode="auto">
                <a:xfrm>
                  <a:off x="3552" y="2976"/>
                  <a:ext cx="384"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72" name="Line 38"/>
                <p:cNvSpPr>
                  <a:spLocks noChangeShapeType="1"/>
                </p:cNvSpPr>
                <p:nvPr/>
              </p:nvSpPr>
              <p:spPr bwMode="auto">
                <a:xfrm>
                  <a:off x="3517" y="3072"/>
                  <a:ext cx="384"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6452" name="Oval 39"/>
              <p:cNvSpPr>
                <a:spLocks noChangeArrowheads="1"/>
              </p:cNvSpPr>
              <p:nvPr/>
            </p:nvSpPr>
            <p:spPr bwMode="auto">
              <a:xfrm rot="7699532">
                <a:off x="2723" y="1893"/>
                <a:ext cx="96" cy="96"/>
              </a:xfrm>
              <a:prstGeom prst="ellipse">
                <a:avLst/>
              </a:prstGeom>
              <a:solidFill>
                <a:schemeClr val="accent1"/>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53" name="Line 40"/>
              <p:cNvSpPr>
                <a:spLocks noChangeShapeType="1"/>
              </p:cNvSpPr>
              <p:nvPr/>
            </p:nvSpPr>
            <p:spPr bwMode="auto">
              <a:xfrm rot="7699532">
                <a:off x="2422" y="1979"/>
                <a:ext cx="384"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54" name="Line 41"/>
              <p:cNvSpPr>
                <a:spLocks noChangeShapeType="1"/>
              </p:cNvSpPr>
              <p:nvPr/>
            </p:nvSpPr>
            <p:spPr bwMode="auto">
              <a:xfrm rot="7699532">
                <a:off x="2369" y="1892"/>
                <a:ext cx="384" cy="19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55" name="Line 42"/>
              <p:cNvSpPr>
                <a:spLocks noChangeShapeType="1"/>
              </p:cNvSpPr>
              <p:nvPr/>
            </p:nvSpPr>
            <p:spPr bwMode="auto">
              <a:xfrm>
                <a:off x="1776" y="189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4427" name="AutoShape 43"/>
              <p:cNvSpPr>
                <a:spLocks noChangeArrowheads="1"/>
              </p:cNvSpPr>
              <p:nvPr/>
            </p:nvSpPr>
            <p:spPr bwMode="auto">
              <a:xfrm>
                <a:off x="2879" y="2670"/>
                <a:ext cx="450" cy="486"/>
              </a:xfrm>
              <a:prstGeom prst="wedgeRectCallout">
                <a:avLst>
                  <a:gd name="adj1" fmla="val -191781"/>
                  <a:gd name="adj2" fmla="val 8830"/>
                </a:avLst>
              </a:prstGeom>
              <a:noFill/>
              <a:ln w="9525">
                <a:solidFill>
                  <a:schemeClr val="tx1"/>
                </a:solidFill>
                <a:miter lim="800000"/>
              </a:ln>
              <a:effectLst/>
            </p:spPr>
            <p:txBody>
              <a:bodyPr vert="eaVert" anchor="ctr"/>
              <a:lstStyle/>
              <a:p>
                <a:pPr>
                  <a:defRPr/>
                </a:pPr>
                <a:r>
                  <a:rPr lang="zh-CN" altLang="en-US" sz="2000" b="1" dirty="0">
                    <a:solidFill>
                      <a:srgbClr val="003399"/>
                    </a:solidFill>
                    <a:latin typeface="+mn-ea"/>
                    <a:ea typeface="+mn-ea"/>
                  </a:rPr>
                  <a:t>螺杆移动</a:t>
                </a:r>
                <a:endParaRPr lang="zh-CN" altLang="en-US" sz="2000" b="1" dirty="0">
                  <a:solidFill>
                    <a:srgbClr val="003399"/>
                  </a:solidFill>
                  <a:latin typeface="+mn-ea"/>
                  <a:ea typeface="+mn-ea"/>
                </a:endParaRPr>
              </a:p>
            </p:txBody>
          </p:sp>
          <p:sp>
            <p:nvSpPr>
              <p:cNvPr id="144428" name="AutoShape 44"/>
              <p:cNvSpPr>
                <a:spLocks noChangeArrowheads="1"/>
              </p:cNvSpPr>
              <p:nvPr/>
            </p:nvSpPr>
            <p:spPr bwMode="auto">
              <a:xfrm>
                <a:off x="1488" y="2448"/>
                <a:ext cx="240" cy="771"/>
              </a:xfrm>
              <a:prstGeom prst="wedgeRectCallout">
                <a:avLst>
                  <a:gd name="adj1" fmla="val 206667"/>
                  <a:gd name="adj2" fmla="val -59273"/>
                </a:avLst>
              </a:prstGeom>
              <a:noFill/>
              <a:ln w="9525">
                <a:solidFill>
                  <a:schemeClr val="tx1"/>
                </a:solidFill>
                <a:miter lim="800000"/>
              </a:ln>
              <a:effectLst/>
            </p:spPr>
            <p:txBody>
              <a:bodyPr vert="eaVert" anchor="ctr"/>
              <a:lstStyle/>
              <a:p>
                <a:pPr>
                  <a:defRPr/>
                </a:pPr>
                <a:r>
                  <a:rPr lang="zh-CN" altLang="en-US" sz="2000" b="1" dirty="0">
                    <a:solidFill>
                      <a:srgbClr val="003399"/>
                    </a:solidFill>
                    <a:latin typeface="+mn-ea"/>
                    <a:ea typeface="+mn-ea"/>
                  </a:rPr>
                  <a:t>螺母旋转</a:t>
                </a:r>
                <a:endParaRPr lang="zh-CN" altLang="en-US" sz="2000" b="1" dirty="0">
                  <a:solidFill>
                    <a:srgbClr val="003399"/>
                  </a:solidFill>
                  <a:latin typeface="+mn-ea"/>
                  <a:ea typeface="+mn-ea"/>
                </a:endParaRPr>
              </a:p>
            </p:txBody>
          </p:sp>
          <p:sp>
            <p:nvSpPr>
              <p:cNvPr id="16458" name="Line 45"/>
              <p:cNvSpPr>
                <a:spLocks noChangeShapeType="1"/>
              </p:cNvSpPr>
              <p:nvPr/>
            </p:nvSpPr>
            <p:spPr bwMode="auto">
              <a:xfrm>
                <a:off x="1802" y="3600"/>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59" name="Line 46"/>
              <p:cNvSpPr>
                <a:spLocks noChangeShapeType="1"/>
              </p:cNvSpPr>
              <p:nvPr/>
            </p:nvSpPr>
            <p:spPr bwMode="auto">
              <a:xfrm>
                <a:off x="2531" y="3600"/>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60" name="Rectangle 47"/>
              <p:cNvSpPr>
                <a:spLocks noChangeArrowheads="1"/>
              </p:cNvSpPr>
              <p:nvPr/>
            </p:nvSpPr>
            <p:spPr bwMode="auto">
              <a:xfrm>
                <a:off x="1920" y="3312"/>
                <a:ext cx="672" cy="144"/>
              </a:xfrm>
              <a:prstGeom prst="rect">
                <a:avLst/>
              </a:prstGeom>
              <a:solidFill>
                <a:schemeClr val="accent1"/>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61" name="Rectangle 48"/>
              <p:cNvSpPr>
                <a:spLocks noChangeArrowheads="1"/>
              </p:cNvSpPr>
              <p:nvPr/>
            </p:nvSpPr>
            <p:spPr bwMode="auto">
              <a:xfrm>
                <a:off x="2112" y="3264"/>
                <a:ext cx="288" cy="48"/>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62" name="Rectangle 49"/>
              <p:cNvSpPr>
                <a:spLocks noChangeArrowheads="1"/>
              </p:cNvSpPr>
              <p:nvPr/>
            </p:nvSpPr>
            <p:spPr bwMode="auto">
              <a:xfrm>
                <a:off x="2112" y="3456"/>
                <a:ext cx="288" cy="48"/>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63" name="Rectangle 50"/>
              <p:cNvSpPr>
                <a:spLocks noChangeArrowheads="1"/>
              </p:cNvSpPr>
              <p:nvPr/>
            </p:nvSpPr>
            <p:spPr bwMode="auto">
              <a:xfrm>
                <a:off x="2160" y="3312"/>
                <a:ext cx="192" cy="144"/>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64" name="Rectangle 51"/>
              <p:cNvSpPr>
                <a:spLocks noChangeArrowheads="1"/>
              </p:cNvSpPr>
              <p:nvPr/>
            </p:nvSpPr>
            <p:spPr bwMode="auto">
              <a:xfrm>
                <a:off x="2160" y="1872"/>
                <a:ext cx="170" cy="1392"/>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65" name="Line 52"/>
              <p:cNvSpPr>
                <a:spLocks noChangeShapeType="1"/>
              </p:cNvSpPr>
              <p:nvPr/>
            </p:nvSpPr>
            <p:spPr bwMode="auto">
              <a:xfrm>
                <a:off x="2186" y="1872"/>
                <a:ext cx="0" cy="13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66" name="Line 53"/>
              <p:cNvSpPr>
                <a:spLocks noChangeShapeType="1"/>
              </p:cNvSpPr>
              <p:nvPr/>
            </p:nvSpPr>
            <p:spPr bwMode="auto">
              <a:xfrm>
                <a:off x="2308" y="1872"/>
                <a:ext cx="0" cy="13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67" name="Line 54"/>
              <p:cNvSpPr>
                <a:spLocks noChangeShapeType="1"/>
              </p:cNvSpPr>
              <p:nvPr/>
            </p:nvSpPr>
            <p:spPr bwMode="auto">
              <a:xfrm>
                <a:off x="2256" y="1728"/>
                <a:ext cx="0" cy="2016"/>
              </a:xfrm>
              <a:prstGeom prst="line">
                <a:avLst/>
              </a:prstGeom>
              <a:noFill/>
              <a:ln w="9525">
                <a:solidFill>
                  <a:schemeClr val="tx1"/>
                </a:solidFill>
                <a:prstDash val="lgDashDot"/>
                <a:round/>
              </a:ln>
              <a:extLst>
                <a:ext uri="{909E8E84-426E-40DD-AFC4-6F175D3DCCD1}">
                  <a14:hiddenFill xmlns:a14="http://schemas.microsoft.com/office/drawing/2010/main">
                    <a:noFill/>
                  </a14:hiddenFill>
                </a:ext>
              </a:extLst>
            </p:spPr>
            <p:txBody>
              <a:bodyPr wrap="none"/>
              <a:lstStyle/>
              <a:p>
                <a:endParaRPr lang="zh-CN" altLang="en-US"/>
              </a:p>
            </p:txBody>
          </p:sp>
          <p:sp>
            <p:nvSpPr>
              <p:cNvPr id="16468" name="Arc 55"/>
              <p:cNvSpPr/>
              <p:nvPr/>
            </p:nvSpPr>
            <p:spPr bwMode="auto">
              <a:xfrm rot="5626079">
                <a:off x="2125" y="1981"/>
                <a:ext cx="203" cy="443"/>
              </a:xfrm>
              <a:custGeom>
                <a:avLst/>
                <a:gdLst>
                  <a:gd name="T0" fmla="*/ 0 w 37262"/>
                  <a:gd name="T1" fmla="*/ 0 h 43200"/>
                  <a:gd name="T2" fmla="*/ 0 w 37262"/>
                  <a:gd name="T3" fmla="*/ 0 h 43200"/>
                  <a:gd name="T4" fmla="*/ 0 w 37262"/>
                  <a:gd name="T5" fmla="*/ 0 h 43200"/>
                  <a:gd name="T6" fmla="*/ 0 60000 65536"/>
                  <a:gd name="T7" fmla="*/ 0 60000 65536"/>
                  <a:gd name="T8" fmla="*/ 0 60000 65536"/>
                  <a:gd name="T9" fmla="*/ 0 w 37262"/>
                  <a:gd name="T10" fmla="*/ 0 h 43200"/>
                  <a:gd name="T11" fmla="*/ 37262 w 37262"/>
                  <a:gd name="T12" fmla="*/ 43200 h 43200"/>
                </a:gdLst>
                <a:ahLst/>
                <a:cxnLst>
                  <a:cxn ang="T6">
                    <a:pos x="T0" y="T1"/>
                  </a:cxn>
                  <a:cxn ang="T7">
                    <a:pos x="T2" y="T3"/>
                  </a:cxn>
                  <a:cxn ang="T8">
                    <a:pos x="T4" y="T5"/>
                  </a:cxn>
                </a:cxnLst>
                <a:rect l="T9" t="T10" r="T11" b="T12"/>
                <a:pathLst>
                  <a:path w="37262" h="43200" fill="none" extrusionOk="0">
                    <a:moveTo>
                      <a:pt x="0" y="6725"/>
                    </a:moveTo>
                    <a:cubicBezTo>
                      <a:pt x="4078" y="2431"/>
                      <a:pt x="9740" y="-1"/>
                      <a:pt x="15662" y="0"/>
                    </a:cubicBezTo>
                    <a:cubicBezTo>
                      <a:pt x="27591" y="0"/>
                      <a:pt x="37262" y="9670"/>
                      <a:pt x="37262" y="21600"/>
                    </a:cubicBezTo>
                    <a:cubicBezTo>
                      <a:pt x="37262" y="33529"/>
                      <a:pt x="27591" y="43200"/>
                      <a:pt x="15662" y="43200"/>
                    </a:cubicBezTo>
                    <a:cubicBezTo>
                      <a:pt x="14096" y="43200"/>
                      <a:pt x="12536" y="43029"/>
                      <a:pt x="11008" y="42692"/>
                    </a:cubicBezTo>
                  </a:path>
                  <a:path w="37262" h="43200" stroke="0" extrusionOk="0">
                    <a:moveTo>
                      <a:pt x="0" y="6725"/>
                    </a:moveTo>
                    <a:cubicBezTo>
                      <a:pt x="4078" y="2431"/>
                      <a:pt x="9740" y="-1"/>
                      <a:pt x="15662" y="0"/>
                    </a:cubicBezTo>
                    <a:cubicBezTo>
                      <a:pt x="27591" y="0"/>
                      <a:pt x="37262" y="9670"/>
                      <a:pt x="37262" y="21600"/>
                    </a:cubicBezTo>
                    <a:cubicBezTo>
                      <a:pt x="37262" y="33529"/>
                      <a:pt x="27591" y="43200"/>
                      <a:pt x="15662" y="43200"/>
                    </a:cubicBezTo>
                    <a:cubicBezTo>
                      <a:pt x="14096" y="43200"/>
                      <a:pt x="12536" y="43029"/>
                      <a:pt x="11008" y="42692"/>
                    </a:cubicBezTo>
                    <a:lnTo>
                      <a:pt x="15662" y="21600"/>
                    </a:lnTo>
                    <a:lnTo>
                      <a:pt x="0" y="6725"/>
                    </a:lnTo>
                    <a:close/>
                  </a:path>
                </a:pathLst>
              </a:custGeom>
              <a:noFill/>
              <a:ln w="381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69" name="Line 56"/>
              <p:cNvSpPr>
                <a:spLocks noChangeShapeType="1"/>
              </p:cNvSpPr>
              <p:nvPr/>
            </p:nvSpPr>
            <p:spPr bwMode="auto">
              <a:xfrm>
                <a:off x="2064" y="3072"/>
                <a:ext cx="0" cy="528"/>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useBgFill="1">
          <p:nvSpPr>
            <p:cNvPr id="16443" name="Rectangle 57"/>
            <p:cNvSpPr>
              <a:spLocks noChangeArrowheads="1"/>
            </p:cNvSpPr>
            <p:nvPr/>
          </p:nvSpPr>
          <p:spPr bwMode="auto">
            <a:xfrm>
              <a:off x="1439" y="3905"/>
              <a:ext cx="1272" cy="41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grpSp>
      <p:grpSp>
        <p:nvGrpSpPr>
          <p:cNvPr id="6" name="Group 120"/>
          <p:cNvGrpSpPr/>
          <p:nvPr/>
        </p:nvGrpSpPr>
        <p:grpSpPr bwMode="auto">
          <a:xfrm>
            <a:off x="4752975" y="3005947"/>
            <a:ext cx="2159000" cy="3446288"/>
            <a:chOff x="2699" y="1746"/>
            <a:chExt cx="1723" cy="2455"/>
          </a:xfrm>
        </p:grpSpPr>
        <p:sp>
          <p:nvSpPr>
            <p:cNvPr id="16420" name="Line 59"/>
            <p:cNvSpPr>
              <a:spLocks noChangeShapeType="1"/>
            </p:cNvSpPr>
            <p:nvPr/>
          </p:nvSpPr>
          <p:spPr bwMode="auto">
            <a:xfrm>
              <a:off x="3503" y="3169"/>
              <a:ext cx="0" cy="541"/>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421" name="AutoShape 60"/>
            <p:cNvSpPr>
              <a:spLocks noChangeArrowheads="1"/>
            </p:cNvSpPr>
            <p:nvPr/>
          </p:nvSpPr>
          <p:spPr bwMode="auto">
            <a:xfrm>
              <a:off x="3127" y="2235"/>
              <a:ext cx="1092" cy="1622"/>
            </a:xfrm>
            <a:prstGeom prst="roundRect">
              <a:avLst>
                <a:gd name="adj" fmla="val 16667"/>
              </a:avLst>
            </a:prstGeom>
            <a:solidFill>
              <a:srgbClr val="99FF33"/>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22" name="AutoShape 61"/>
            <p:cNvSpPr>
              <a:spLocks noChangeArrowheads="1"/>
            </p:cNvSpPr>
            <p:nvPr/>
          </p:nvSpPr>
          <p:spPr bwMode="auto">
            <a:xfrm>
              <a:off x="3331" y="2409"/>
              <a:ext cx="689" cy="1475"/>
            </a:xfrm>
            <a:prstGeom prst="roundRect">
              <a:avLst>
                <a:gd name="adj" fmla="val 16667"/>
              </a:avLst>
            </a:prstGeom>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23" name="Line 62"/>
            <p:cNvSpPr>
              <a:spLocks noChangeShapeType="1"/>
            </p:cNvSpPr>
            <p:nvPr/>
          </p:nvSpPr>
          <p:spPr bwMode="auto">
            <a:xfrm>
              <a:off x="3132" y="3710"/>
              <a:ext cx="23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4" name="Line 63"/>
            <p:cNvSpPr>
              <a:spLocks noChangeShapeType="1"/>
            </p:cNvSpPr>
            <p:nvPr/>
          </p:nvSpPr>
          <p:spPr bwMode="auto">
            <a:xfrm>
              <a:off x="4004" y="3710"/>
              <a:ext cx="23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5" name="Rectangle 64"/>
            <p:cNvSpPr>
              <a:spLocks noChangeArrowheads="1"/>
            </p:cNvSpPr>
            <p:nvPr/>
          </p:nvSpPr>
          <p:spPr bwMode="auto">
            <a:xfrm>
              <a:off x="3273" y="3415"/>
              <a:ext cx="804" cy="147"/>
            </a:xfrm>
            <a:prstGeom prst="rect">
              <a:avLst/>
            </a:prstGeom>
            <a:solidFill>
              <a:schemeClr val="accent1"/>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26" name="Rectangle 65"/>
            <p:cNvSpPr>
              <a:spLocks noChangeArrowheads="1"/>
            </p:cNvSpPr>
            <p:nvPr/>
          </p:nvSpPr>
          <p:spPr bwMode="auto">
            <a:xfrm>
              <a:off x="3488" y="3366"/>
              <a:ext cx="344" cy="49"/>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27" name="Rectangle 66"/>
            <p:cNvSpPr>
              <a:spLocks noChangeArrowheads="1"/>
            </p:cNvSpPr>
            <p:nvPr/>
          </p:nvSpPr>
          <p:spPr bwMode="auto">
            <a:xfrm>
              <a:off x="3488" y="3562"/>
              <a:ext cx="344" cy="49"/>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28" name="Rectangle 67"/>
            <p:cNvSpPr>
              <a:spLocks noChangeArrowheads="1"/>
            </p:cNvSpPr>
            <p:nvPr/>
          </p:nvSpPr>
          <p:spPr bwMode="auto">
            <a:xfrm>
              <a:off x="3545" y="3415"/>
              <a:ext cx="230" cy="147"/>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29" name="Rectangle 68"/>
            <p:cNvSpPr>
              <a:spLocks noChangeArrowheads="1"/>
            </p:cNvSpPr>
            <p:nvPr/>
          </p:nvSpPr>
          <p:spPr bwMode="auto">
            <a:xfrm>
              <a:off x="2929" y="3723"/>
              <a:ext cx="1493" cy="393"/>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0" name="Rectangle 69"/>
            <p:cNvSpPr>
              <a:spLocks noChangeArrowheads="1"/>
            </p:cNvSpPr>
            <p:nvPr/>
          </p:nvSpPr>
          <p:spPr bwMode="auto">
            <a:xfrm>
              <a:off x="3446" y="2137"/>
              <a:ext cx="402" cy="98"/>
            </a:xfrm>
            <a:prstGeom prst="rect">
              <a:avLst/>
            </a:prstGeom>
            <a:solidFill>
              <a:srgbClr val="FF9933"/>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1" name="Rectangle 70"/>
            <p:cNvSpPr>
              <a:spLocks noChangeArrowheads="1"/>
            </p:cNvSpPr>
            <p:nvPr/>
          </p:nvSpPr>
          <p:spPr bwMode="auto">
            <a:xfrm>
              <a:off x="3477" y="2235"/>
              <a:ext cx="344" cy="197"/>
            </a:xfrm>
            <a:prstGeom prst="rect">
              <a:avLst/>
            </a:prstGeom>
            <a:solidFill>
              <a:schemeClr val="accent1"/>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2" name="Rectangle 71"/>
            <p:cNvSpPr>
              <a:spLocks noChangeArrowheads="1"/>
            </p:cNvSpPr>
            <p:nvPr/>
          </p:nvSpPr>
          <p:spPr bwMode="auto">
            <a:xfrm>
              <a:off x="3446" y="2392"/>
              <a:ext cx="402" cy="98"/>
            </a:xfrm>
            <a:prstGeom prst="rect">
              <a:avLst/>
            </a:prstGeom>
            <a:solidFill>
              <a:srgbClr val="FF9933"/>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3" name="Rectangle 72"/>
            <p:cNvSpPr>
              <a:spLocks noChangeArrowheads="1"/>
            </p:cNvSpPr>
            <p:nvPr/>
          </p:nvSpPr>
          <p:spPr bwMode="auto">
            <a:xfrm>
              <a:off x="3503" y="2235"/>
              <a:ext cx="287" cy="197"/>
            </a:xfrm>
            <a:prstGeom prst="rect">
              <a:avLst/>
            </a:prstGeom>
            <a:solidFill>
              <a:srgbClr val="FF9933"/>
            </a:solidFill>
            <a:ln w="9525">
              <a:solidFill>
                <a:srgbClr val="FF9933"/>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4" name="Rectangle 73"/>
            <p:cNvSpPr>
              <a:spLocks noChangeArrowheads="1"/>
            </p:cNvSpPr>
            <p:nvPr/>
          </p:nvSpPr>
          <p:spPr bwMode="auto">
            <a:xfrm>
              <a:off x="3561" y="1940"/>
              <a:ext cx="203" cy="1426"/>
            </a:xfrm>
            <a:prstGeom prst="rect">
              <a:avLst/>
            </a:prstGeom>
            <a:solidFill>
              <a:schemeClr val="bg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35" name="Line 74"/>
            <p:cNvSpPr>
              <a:spLocks noChangeShapeType="1"/>
            </p:cNvSpPr>
            <p:nvPr/>
          </p:nvSpPr>
          <p:spPr bwMode="auto">
            <a:xfrm>
              <a:off x="3592" y="1940"/>
              <a:ext cx="0" cy="14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36" name="Line 75"/>
            <p:cNvSpPr>
              <a:spLocks noChangeShapeType="1"/>
            </p:cNvSpPr>
            <p:nvPr/>
          </p:nvSpPr>
          <p:spPr bwMode="auto">
            <a:xfrm>
              <a:off x="3733" y="1940"/>
              <a:ext cx="0" cy="14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6437" name="Line 76"/>
            <p:cNvSpPr>
              <a:spLocks noChangeShapeType="1"/>
            </p:cNvSpPr>
            <p:nvPr/>
          </p:nvSpPr>
          <p:spPr bwMode="auto">
            <a:xfrm>
              <a:off x="3659" y="1842"/>
              <a:ext cx="0" cy="1966"/>
            </a:xfrm>
            <a:prstGeom prst="line">
              <a:avLst/>
            </a:prstGeom>
            <a:noFill/>
            <a:ln w="9525">
              <a:solidFill>
                <a:schemeClr val="tx1"/>
              </a:solidFill>
              <a:prstDash val="lgDashDot"/>
              <a:round/>
            </a:ln>
            <a:extLst>
              <a:ext uri="{909E8E84-426E-40DD-AFC4-6F175D3DCCD1}">
                <a14:hiddenFill xmlns:a14="http://schemas.microsoft.com/office/drawing/2010/main">
                  <a:noFill/>
                </a14:hiddenFill>
              </a:ext>
            </a:extLst>
          </p:spPr>
          <p:txBody>
            <a:bodyPr wrap="none"/>
            <a:lstStyle/>
            <a:p>
              <a:endParaRPr lang="zh-CN" altLang="en-US"/>
            </a:p>
          </p:txBody>
        </p:sp>
        <p:sp>
          <p:nvSpPr>
            <p:cNvPr id="16438" name="Arc 77"/>
            <p:cNvSpPr/>
            <p:nvPr/>
          </p:nvSpPr>
          <p:spPr bwMode="auto">
            <a:xfrm rot="5626079">
              <a:off x="3549" y="1791"/>
              <a:ext cx="195" cy="402"/>
            </a:xfrm>
            <a:custGeom>
              <a:avLst/>
              <a:gdLst>
                <a:gd name="T0" fmla="*/ 0 w 31877"/>
                <a:gd name="T1" fmla="*/ 0 h 43200"/>
                <a:gd name="T2" fmla="*/ 0 w 31877"/>
                <a:gd name="T3" fmla="*/ 0 h 43200"/>
                <a:gd name="T4" fmla="*/ 0 w 31877"/>
                <a:gd name="T5" fmla="*/ 0 h 43200"/>
                <a:gd name="T6" fmla="*/ 0 60000 65536"/>
                <a:gd name="T7" fmla="*/ 0 60000 65536"/>
                <a:gd name="T8" fmla="*/ 0 60000 65536"/>
                <a:gd name="T9" fmla="*/ 0 w 31877"/>
                <a:gd name="T10" fmla="*/ 0 h 43200"/>
                <a:gd name="T11" fmla="*/ 31877 w 31877"/>
                <a:gd name="T12" fmla="*/ 43200 h 43200"/>
              </a:gdLst>
              <a:ahLst/>
              <a:cxnLst>
                <a:cxn ang="T6">
                  <a:pos x="T0" y="T1"/>
                </a:cxn>
                <a:cxn ang="T7">
                  <a:pos x="T2" y="T3"/>
                </a:cxn>
                <a:cxn ang="T8">
                  <a:pos x="T4" y="T5"/>
                </a:cxn>
              </a:cxnLst>
              <a:rect l="T9" t="T10" r="T11" b="T12"/>
              <a:pathLst>
                <a:path w="31877" h="43200" fill="none" extrusionOk="0">
                  <a:moveTo>
                    <a:pt x="-1" y="2601"/>
                  </a:moveTo>
                  <a:cubicBezTo>
                    <a:pt x="3156" y="894"/>
                    <a:pt x="6688" y="-1"/>
                    <a:pt x="10277" y="0"/>
                  </a:cubicBezTo>
                  <a:cubicBezTo>
                    <a:pt x="22206" y="0"/>
                    <a:pt x="31877" y="9670"/>
                    <a:pt x="31877" y="21600"/>
                  </a:cubicBezTo>
                  <a:cubicBezTo>
                    <a:pt x="31877" y="33529"/>
                    <a:pt x="22206" y="43200"/>
                    <a:pt x="10277" y="43200"/>
                  </a:cubicBezTo>
                  <a:cubicBezTo>
                    <a:pt x="8711" y="43200"/>
                    <a:pt x="7151" y="43029"/>
                    <a:pt x="5623" y="42692"/>
                  </a:cubicBezTo>
                </a:path>
                <a:path w="31877" h="43200" stroke="0" extrusionOk="0">
                  <a:moveTo>
                    <a:pt x="-1" y="2601"/>
                  </a:moveTo>
                  <a:cubicBezTo>
                    <a:pt x="3156" y="894"/>
                    <a:pt x="6688" y="-1"/>
                    <a:pt x="10277" y="0"/>
                  </a:cubicBezTo>
                  <a:cubicBezTo>
                    <a:pt x="22206" y="0"/>
                    <a:pt x="31877" y="9670"/>
                    <a:pt x="31877" y="21600"/>
                  </a:cubicBezTo>
                  <a:cubicBezTo>
                    <a:pt x="31877" y="33529"/>
                    <a:pt x="22206" y="43200"/>
                    <a:pt x="10277" y="43200"/>
                  </a:cubicBezTo>
                  <a:cubicBezTo>
                    <a:pt x="8711" y="43200"/>
                    <a:pt x="7151" y="43029"/>
                    <a:pt x="5623" y="42692"/>
                  </a:cubicBezTo>
                  <a:lnTo>
                    <a:pt x="10277" y="21600"/>
                  </a:lnTo>
                  <a:lnTo>
                    <a:pt x="-1" y="2601"/>
                  </a:lnTo>
                  <a:close/>
                </a:path>
              </a:pathLst>
            </a:custGeom>
            <a:noFill/>
            <a:ln w="381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4462" name="AutoShape 78"/>
            <p:cNvSpPr>
              <a:spLocks noChangeArrowheads="1"/>
            </p:cNvSpPr>
            <p:nvPr/>
          </p:nvSpPr>
          <p:spPr bwMode="auto">
            <a:xfrm>
              <a:off x="2756" y="3759"/>
              <a:ext cx="977" cy="442"/>
            </a:xfrm>
            <a:prstGeom prst="wedgeRectCallout">
              <a:avLst>
                <a:gd name="adj1" fmla="val 55833"/>
                <a:gd name="adj2" fmla="val -92130"/>
              </a:avLst>
            </a:prstGeom>
            <a:noFill/>
            <a:ln w="19050">
              <a:solidFill>
                <a:schemeClr val="tx1"/>
              </a:solidFill>
              <a:miter lim="800000"/>
            </a:ln>
            <a:effectLst/>
          </p:spPr>
          <p:txBody>
            <a:bodyPr/>
            <a:lstStyle/>
            <a:p>
              <a:pPr>
                <a:defRPr/>
              </a:pPr>
              <a:r>
                <a:rPr lang="zh-CN" altLang="en-US" sz="1800" b="1" dirty="0">
                  <a:solidFill>
                    <a:srgbClr val="003399"/>
                  </a:solidFill>
                  <a:latin typeface="+mn-ea"/>
                  <a:ea typeface="+mn-ea"/>
                </a:rPr>
                <a:t>螺杆转动</a:t>
              </a:r>
              <a:r>
                <a:rPr lang="en-US" altLang="zh-CN" sz="1800" b="1" dirty="0">
                  <a:solidFill>
                    <a:srgbClr val="003399"/>
                  </a:solidFill>
                  <a:latin typeface="+mn-ea"/>
                  <a:ea typeface="+mn-ea"/>
                </a:rPr>
                <a:t>+</a:t>
              </a:r>
              <a:r>
                <a:rPr lang="zh-CN" altLang="en-US" sz="1800" b="1" dirty="0">
                  <a:solidFill>
                    <a:srgbClr val="003399"/>
                  </a:solidFill>
                  <a:latin typeface="+mn-ea"/>
                  <a:ea typeface="+mn-ea"/>
                </a:rPr>
                <a:t>移动</a:t>
              </a:r>
              <a:endParaRPr lang="zh-CN" altLang="en-US" sz="1800" b="1" dirty="0">
                <a:solidFill>
                  <a:srgbClr val="003399"/>
                </a:solidFill>
                <a:latin typeface="+mn-ea"/>
                <a:ea typeface="+mn-ea"/>
              </a:endParaRPr>
            </a:p>
          </p:txBody>
        </p:sp>
        <p:sp>
          <p:nvSpPr>
            <p:cNvPr id="144463" name="AutoShape 79"/>
            <p:cNvSpPr>
              <a:spLocks noChangeArrowheads="1"/>
            </p:cNvSpPr>
            <p:nvPr/>
          </p:nvSpPr>
          <p:spPr bwMode="auto">
            <a:xfrm>
              <a:off x="2699" y="1746"/>
              <a:ext cx="574" cy="440"/>
            </a:xfrm>
            <a:prstGeom prst="wedgeRectCallout">
              <a:avLst>
                <a:gd name="adj1" fmla="val 88542"/>
                <a:gd name="adj2" fmla="val 54514"/>
              </a:avLst>
            </a:prstGeom>
            <a:noFill/>
            <a:ln w="9525">
              <a:solidFill>
                <a:schemeClr val="tx1"/>
              </a:solidFill>
              <a:miter lim="800000"/>
            </a:ln>
            <a:effectLst/>
          </p:spPr>
          <p:txBody>
            <a:bodyPr/>
            <a:lstStyle/>
            <a:p>
              <a:pPr>
                <a:defRPr/>
              </a:pPr>
              <a:r>
                <a:rPr lang="zh-CN" altLang="en-US" sz="2000" b="1" dirty="0">
                  <a:solidFill>
                    <a:srgbClr val="003399"/>
                  </a:solidFill>
                  <a:latin typeface="+mn-ea"/>
                  <a:ea typeface="+mn-ea"/>
                </a:rPr>
                <a:t>螺母固定</a:t>
              </a:r>
              <a:endParaRPr lang="zh-CN" altLang="en-US" sz="2000" b="1" dirty="0">
                <a:solidFill>
                  <a:srgbClr val="003399"/>
                </a:solidFill>
                <a:latin typeface="+mn-ea"/>
                <a:ea typeface="+mn-ea"/>
              </a:endParaRPr>
            </a:p>
          </p:txBody>
        </p:sp>
        <p:sp>
          <p:nvSpPr>
            <p:cNvPr id="16441" name="Line 80"/>
            <p:cNvSpPr>
              <a:spLocks noChangeShapeType="1"/>
            </p:cNvSpPr>
            <p:nvPr/>
          </p:nvSpPr>
          <p:spPr bwMode="auto">
            <a:xfrm>
              <a:off x="3660" y="1883"/>
              <a:ext cx="0" cy="491"/>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121"/>
          <p:cNvGrpSpPr/>
          <p:nvPr/>
        </p:nvGrpSpPr>
        <p:grpSpPr bwMode="auto">
          <a:xfrm>
            <a:off x="7056438" y="3501073"/>
            <a:ext cx="1898215" cy="2951155"/>
            <a:chOff x="4230" y="2160"/>
            <a:chExt cx="1877" cy="2045"/>
          </a:xfrm>
        </p:grpSpPr>
        <p:sp>
          <p:nvSpPr>
            <p:cNvPr id="16401" name="AutoShape 82"/>
            <p:cNvSpPr>
              <a:spLocks noChangeArrowheads="1"/>
            </p:cNvSpPr>
            <p:nvPr/>
          </p:nvSpPr>
          <p:spPr bwMode="auto">
            <a:xfrm>
              <a:off x="4356" y="2208"/>
              <a:ext cx="881" cy="1473"/>
            </a:xfrm>
            <a:prstGeom prst="roundRect">
              <a:avLst>
                <a:gd name="adj" fmla="val 16667"/>
              </a:avLst>
            </a:prstGeom>
            <a:solidFill>
              <a:srgbClr val="CCFF33"/>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02" name="AutoShape 83"/>
            <p:cNvSpPr>
              <a:spLocks noChangeArrowheads="1"/>
            </p:cNvSpPr>
            <p:nvPr/>
          </p:nvSpPr>
          <p:spPr bwMode="auto">
            <a:xfrm>
              <a:off x="4591" y="2350"/>
              <a:ext cx="764" cy="1188"/>
            </a:xfrm>
            <a:prstGeom prst="roundRect">
              <a:avLst>
                <a:gd name="adj" fmla="val 16667"/>
              </a:avLst>
            </a:prstGeom>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useBgFill="1">
          <p:nvSpPr>
            <p:cNvPr id="16403" name="Rectangle 84"/>
            <p:cNvSpPr>
              <a:spLocks noChangeArrowheads="1"/>
            </p:cNvSpPr>
            <p:nvPr/>
          </p:nvSpPr>
          <p:spPr bwMode="auto">
            <a:xfrm>
              <a:off x="5120" y="2160"/>
              <a:ext cx="411" cy="156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04" name="Line 85"/>
            <p:cNvSpPr>
              <a:spLocks noChangeShapeType="1"/>
            </p:cNvSpPr>
            <p:nvPr/>
          </p:nvSpPr>
          <p:spPr bwMode="auto">
            <a:xfrm>
              <a:off x="5120" y="2208"/>
              <a:ext cx="0" cy="1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Line 86"/>
            <p:cNvSpPr>
              <a:spLocks noChangeShapeType="1"/>
            </p:cNvSpPr>
            <p:nvPr/>
          </p:nvSpPr>
          <p:spPr bwMode="auto">
            <a:xfrm>
              <a:off x="5120" y="3538"/>
              <a:ext cx="0" cy="14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Rectangle 87"/>
            <p:cNvSpPr>
              <a:spLocks noChangeArrowheads="1"/>
            </p:cNvSpPr>
            <p:nvPr/>
          </p:nvSpPr>
          <p:spPr bwMode="auto">
            <a:xfrm>
              <a:off x="4693" y="2873"/>
              <a:ext cx="528" cy="237"/>
            </a:xfrm>
            <a:prstGeom prst="rect">
              <a:avLst/>
            </a:prstGeom>
            <a:solidFill>
              <a:srgbClr val="FF6600"/>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07" name="Rectangle 88"/>
            <p:cNvSpPr>
              <a:spLocks noChangeArrowheads="1"/>
            </p:cNvSpPr>
            <p:nvPr/>
          </p:nvSpPr>
          <p:spPr bwMode="auto">
            <a:xfrm>
              <a:off x="4826" y="2350"/>
              <a:ext cx="235" cy="1188"/>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08" name="Rectangle 89"/>
            <p:cNvSpPr>
              <a:spLocks noChangeArrowheads="1"/>
            </p:cNvSpPr>
            <p:nvPr/>
          </p:nvSpPr>
          <p:spPr bwMode="auto">
            <a:xfrm>
              <a:off x="4869" y="2208"/>
              <a:ext cx="144" cy="1473"/>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09" name="Line 90"/>
            <p:cNvSpPr>
              <a:spLocks noChangeShapeType="1"/>
            </p:cNvSpPr>
            <p:nvPr/>
          </p:nvSpPr>
          <p:spPr bwMode="auto">
            <a:xfrm>
              <a:off x="4944" y="2160"/>
              <a:ext cx="0" cy="1616"/>
            </a:xfrm>
            <a:prstGeom prst="line">
              <a:avLst/>
            </a:prstGeom>
            <a:noFill/>
            <a:ln w="1270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0" name="Line 91"/>
            <p:cNvSpPr>
              <a:spLocks noChangeShapeType="1"/>
            </p:cNvSpPr>
            <p:nvPr/>
          </p:nvSpPr>
          <p:spPr bwMode="auto">
            <a:xfrm>
              <a:off x="4826" y="2350"/>
              <a:ext cx="29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1" name="Line 92"/>
            <p:cNvSpPr>
              <a:spLocks noChangeShapeType="1"/>
            </p:cNvSpPr>
            <p:nvPr/>
          </p:nvSpPr>
          <p:spPr bwMode="auto">
            <a:xfrm>
              <a:off x="4826" y="3538"/>
              <a:ext cx="29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2" name="Rectangle 93"/>
            <p:cNvSpPr>
              <a:spLocks noChangeArrowheads="1"/>
            </p:cNvSpPr>
            <p:nvPr/>
          </p:nvSpPr>
          <p:spPr bwMode="auto">
            <a:xfrm>
              <a:off x="4532" y="2942"/>
              <a:ext cx="235" cy="95"/>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13" name="Rectangle 94"/>
            <p:cNvSpPr>
              <a:spLocks noChangeArrowheads="1"/>
            </p:cNvSpPr>
            <p:nvPr/>
          </p:nvSpPr>
          <p:spPr bwMode="auto">
            <a:xfrm>
              <a:off x="5120" y="2946"/>
              <a:ext cx="235" cy="95"/>
            </a:xfrm>
            <a:prstGeom prst="rect">
              <a:avLst/>
            </a:prstGeom>
            <a:solidFill>
              <a:srgbClr val="B2B2B2"/>
            </a:solidFill>
            <a:ln w="9525">
              <a:solidFill>
                <a:schemeClr val="tx1"/>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14" name="Oval 95"/>
            <p:cNvSpPr>
              <a:spLocks noChangeArrowheads="1"/>
            </p:cNvSpPr>
            <p:nvPr/>
          </p:nvSpPr>
          <p:spPr bwMode="auto">
            <a:xfrm>
              <a:off x="4917" y="2255"/>
              <a:ext cx="58" cy="48"/>
            </a:xfrm>
            <a:prstGeom prst="ellipse">
              <a:avLst/>
            </a:prstGeom>
            <a:solidFill>
              <a:schemeClr val="bg1"/>
            </a:solidFill>
            <a:ln w="9525">
              <a:solidFill>
                <a:schemeClr val="tx1"/>
              </a:solidFill>
              <a:rou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6415" name="Line 96"/>
            <p:cNvSpPr>
              <a:spLocks noChangeShapeType="1"/>
            </p:cNvSpPr>
            <p:nvPr/>
          </p:nvSpPr>
          <p:spPr bwMode="auto">
            <a:xfrm>
              <a:off x="4869" y="3646"/>
              <a:ext cx="1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6" name="Line 97"/>
            <p:cNvSpPr>
              <a:spLocks noChangeShapeType="1"/>
            </p:cNvSpPr>
            <p:nvPr/>
          </p:nvSpPr>
          <p:spPr bwMode="auto">
            <a:xfrm>
              <a:off x="4767" y="2730"/>
              <a:ext cx="0" cy="523"/>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7" name="Arc 98"/>
            <p:cNvSpPr/>
            <p:nvPr/>
          </p:nvSpPr>
          <p:spPr bwMode="auto">
            <a:xfrm rot="10718557">
              <a:off x="4590" y="2784"/>
              <a:ext cx="706" cy="278"/>
            </a:xfrm>
            <a:custGeom>
              <a:avLst/>
              <a:gdLst>
                <a:gd name="T0" fmla="*/ 0 w 43200"/>
                <a:gd name="T1" fmla="*/ 0 h 38911"/>
                <a:gd name="T2" fmla="*/ 0 w 43200"/>
                <a:gd name="T3" fmla="*/ 0 h 38911"/>
                <a:gd name="T4" fmla="*/ 0 w 43200"/>
                <a:gd name="T5" fmla="*/ 0 h 38911"/>
                <a:gd name="T6" fmla="*/ 0 60000 65536"/>
                <a:gd name="T7" fmla="*/ 0 60000 65536"/>
                <a:gd name="T8" fmla="*/ 0 60000 65536"/>
                <a:gd name="T9" fmla="*/ 0 w 43200"/>
                <a:gd name="T10" fmla="*/ 0 h 38911"/>
                <a:gd name="T11" fmla="*/ 43200 w 43200"/>
                <a:gd name="T12" fmla="*/ 38911 h 38911"/>
              </a:gdLst>
              <a:ahLst/>
              <a:cxnLst>
                <a:cxn ang="T6">
                  <a:pos x="T0" y="T1"/>
                </a:cxn>
                <a:cxn ang="T7">
                  <a:pos x="T2" y="T3"/>
                </a:cxn>
                <a:cxn ang="T8">
                  <a:pos x="T4" y="T5"/>
                </a:cxn>
              </a:cxnLst>
              <a:rect l="T9" t="T10" r="T11" b="T12"/>
              <a:pathLst>
                <a:path w="43200" h="38911" fill="none" extrusionOk="0">
                  <a:moveTo>
                    <a:pt x="8681" y="38910"/>
                  </a:moveTo>
                  <a:cubicBezTo>
                    <a:pt x="3217" y="34833"/>
                    <a:pt x="0" y="28416"/>
                    <a:pt x="0" y="21600"/>
                  </a:cubicBezTo>
                  <a:cubicBezTo>
                    <a:pt x="0" y="9670"/>
                    <a:pt x="9670" y="0"/>
                    <a:pt x="21600" y="0"/>
                  </a:cubicBezTo>
                  <a:cubicBezTo>
                    <a:pt x="33529" y="0"/>
                    <a:pt x="43200" y="9670"/>
                    <a:pt x="43200" y="21600"/>
                  </a:cubicBezTo>
                  <a:cubicBezTo>
                    <a:pt x="43200" y="26098"/>
                    <a:pt x="41795" y="30485"/>
                    <a:pt x="39182" y="34147"/>
                  </a:cubicBezTo>
                </a:path>
                <a:path w="43200" h="38911" stroke="0" extrusionOk="0">
                  <a:moveTo>
                    <a:pt x="8681" y="38910"/>
                  </a:moveTo>
                  <a:cubicBezTo>
                    <a:pt x="3217" y="34833"/>
                    <a:pt x="0" y="28416"/>
                    <a:pt x="0" y="21600"/>
                  </a:cubicBezTo>
                  <a:cubicBezTo>
                    <a:pt x="0" y="9670"/>
                    <a:pt x="9670" y="0"/>
                    <a:pt x="21600" y="0"/>
                  </a:cubicBezTo>
                  <a:cubicBezTo>
                    <a:pt x="33529" y="0"/>
                    <a:pt x="43200" y="9670"/>
                    <a:pt x="43200" y="21600"/>
                  </a:cubicBezTo>
                  <a:cubicBezTo>
                    <a:pt x="43200" y="26098"/>
                    <a:pt x="41795" y="30485"/>
                    <a:pt x="39182" y="34147"/>
                  </a:cubicBezTo>
                  <a:lnTo>
                    <a:pt x="21600" y="21600"/>
                  </a:lnTo>
                  <a:lnTo>
                    <a:pt x="8681" y="38910"/>
                  </a:lnTo>
                  <a:close/>
                </a:path>
              </a:pathLst>
            </a:custGeom>
            <a:noFill/>
            <a:ln w="3810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4483" name="AutoShape 99"/>
            <p:cNvSpPr>
              <a:spLocks noChangeArrowheads="1"/>
            </p:cNvSpPr>
            <p:nvPr/>
          </p:nvSpPr>
          <p:spPr bwMode="auto">
            <a:xfrm>
              <a:off x="4230" y="3807"/>
              <a:ext cx="783" cy="398"/>
            </a:xfrm>
            <a:prstGeom prst="wedgeRectCallout">
              <a:avLst>
                <a:gd name="adj1" fmla="val 45399"/>
                <a:gd name="adj2" fmla="val -262907"/>
              </a:avLst>
            </a:prstGeom>
            <a:noFill/>
            <a:ln w="12700">
              <a:solidFill>
                <a:schemeClr val="tx1"/>
              </a:solidFill>
              <a:miter lim="800000"/>
            </a:ln>
            <a:effectLst/>
          </p:spPr>
          <p:txBody>
            <a:bodyPr anchor="ctr"/>
            <a:lstStyle/>
            <a:p>
              <a:pPr>
                <a:defRPr/>
              </a:pPr>
              <a:r>
                <a:rPr lang="zh-CN" altLang="en-US" sz="2000" b="1" dirty="0">
                  <a:solidFill>
                    <a:srgbClr val="003399"/>
                  </a:solidFill>
                  <a:latin typeface="+mn-ea"/>
                  <a:ea typeface="+mn-ea"/>
                </a:rPr>
                <a:t>螺杆固定</a:t>
              </a:r>
              <a:endParaRPr lang="zh-CN" altLang="en-US" sz="2000" b="1" dirty="0">
                <a:solidFill>
                  <a:srgbClr val="003399"/>
                </a:solidFill>
                <a:latin typeface="+mn-ea"/>
                <a:ea typeface="+mn-ea"/>
              </a:endParaRPr>
            </a:p>
          </p:txBody>
        </p:sp>
        <p:sp>
          <p:nvSpPr>
            <p:cNvPr id="144484" name="AutoShape 100"/>
            <p:cNvSpPr>
              <a:spLocks noChangeArrowheads="1"/>
            </p:cNvSpPr>
            <p:nvPr/>
          </p:nvSpPr>
          <p:spPr bwMode="auto">
            <a:xfrm>
              <a:off x="5401" y="3008"/>
              <a:ext cx="706" cy="1045"/>
            </a:xfrm>
            <a:prstGeom prst="wedgeRectCallout">
              <a:avLst>
                <a:gd name="adj1" fmla="val -83401"/>
                <a:gd name="adj2" fmla="val -50708"/>
              </a:avLst>
            </a:prstGeom>
            <a:noFill/>
            <a:ln w="9525">
              <a:solidFill>
                <a:schemeClr val="tx1"/>
              </a:solidFill>
              <a:miter lim="800000"/>
            </a:ln>
            <a:effectLst/>
          </p:spPr>
          <p:txBody>
            <a:bodyPr anchor="ctr"/>
            <a:lstStyle/>
            <a:p>
              <a:pPr>
                <a:defRPr/>
              </a:pPr>
              <a:r>
                <a:rPr lang="zh-CN" altLang="en-US" sz="1800" b="1" dirty="0">
                  <a:solidFill>
                    <a:srgbClr val="003399"/>
                  </a:solidFill>
                  <a:latin typeface="+mn-ea"/>
                  <a:ea typeface="+mn-ea"/>
                </a:rPr>
                <a:t>螺母转动</a:t>
              </a:r>
              <a:r>
                <a:rPr lang="en-US" altLang="zh-CN" sz="1800" b="1" dirty="0">
                  <a:solidFill>
                    <a:srgbClr val="003399"/>
                  </a:solidFill>
                  <a:latin typeface="+mn-ea"/>
                  <a:ea typeface="+mn-ea"/>
                </a:rPr>
                <a:t>+</a:t>
              </a:r>
              <a:r>
                <a:rPr lang="zh-CN" altLang="en-US" sz="1800" b="1" dirty="0">
                  <a:solidFill>
                    <a:srgbClr val="003399"/>
                  </a:solidFill>
                  <a:latin typeface="+mn-ea"/>
                  <a:ea typeface="+mn-ea"/>
                </a:rPr>
                <a:t>移动</a:t>
              </a:r>
              <a:endParaRPr lang="zh-CN" altLang="en-US" sz="1800" b="1" dirty="0">
                <a:solidFill>
                  <a:srgbClr val="003399"/>
                </a:solidFill>
                <a:latin typeface="+mn-ea"/>
                <a:ea typeface="+mn-ea"/>
              </a:endParaRPr>
            </a:p>
          </p:txBody>
        </p:sp>
      </p:grpSp>
      <p:sp>
        <p:nvSpPr>
          <p:cNvPr id="144486" name="Text Box 102"/>
          <p:cNvSpPr txBox="1">
            <a:spLocks noChangeArrowheads="1"/>
          </p:cNvSpPr>
          <p:nvPr/>
        </p:nvSpPr>
        <p:spPr bwMode="auto">
          <a:xfrm>
            <a:off x="2448590" y="1006554"/>
            <a:ext cx="2808288" cy="400050"/>
          </a:xfrm>
          <a:prstGeom prst="rect">
            <a:avLst/>
          </a:prstGeom>
          <a:noFill/>
          <a:ln w="76200" cmpd="tri">
            <a:noFill/>
            <a:miter lim="800000"/>
          </a:ln>
          <a:effectLst/>
        </p:spPr>
        <p:txBody>
          <a:bodyPr>
            <a:spAutoFit/>
          </a:bodyPr>
          <a:lstStyle/>
          <a:p>
            <a:pPr>
              <a:spcBef>
                <a:spcPct val="50000"/>
              </a:spcBef>
              <a:defRPr/>
            </a:pPr>
            <a:r>
              <a:rPr lang="zh-CN" altLang="en-US" sz="2000" b="1" dirty="0">
                <a:solidFill>
                  <a:srgbClr val="003399"/>
                </a:solidFill>
                <a:latin typeface="+mn-ea"/>
                <a:ea typeface="+mn-ea"/>
              </a:rPr>
              <a:t>螺杆转动 </a:t>
            </a:r>
            <a:r>
              <a:rPr lang="en-US" altLang="zh-CN" sz="2000" b="1" dirty="0">
                <a:solidFill>
                  <a:srgbClr val="003399"/>
                </a:solidFill>
                <a:latin typeface="+mn-ea"/>
                <a:ea typeface="+mn-ea"/>
              </a:rPr>
              <a:t>+ </a:t>
            </a:r>
            <a:r>
              <a:rPr lang="zh-CN" altLang="en-US" sz="2000" b="1" dirty="0">
                <a:solidFill>
                  <a:srgbClr val="003399"/>
                </a:solidFill>
                <a:latin typeface="+mn-ea"/>
                <a:ea typeface="+mn-ea"/>
              </a:rPr>
              <a:t>螺母移动</a:t>
            </a:r>
            <a:endParaRPr lang="zh-CN" altLang="en-US" sz="2000" b="1" dirty="0">
              <a:solidFill>
                <a:srgbClr val="003399"/>
              </a:solidFill>
              <a:latin typeface="+mn-ea"/>
              <a:ea typeface="+mn-ea"/>
            </a:endParaRPr>
          </a:p>
        </p:txBody>
      </p:sp>
      <p:sp>
        <p:nvSpPr>
          <p:cNvPr id="144489" name="Text Box 105"/>
          <p:cNvSpPr txBox="1">
            <a:spLocks noChangeArrowheads="1"/>
          </p:cNvSpPr>
          <p:nvPr/>
        </p:nvSpPr>
        <p:spPr bwMode="auto">
          <a:xfrm>
            <a:off x="2448590" y="2446417"/>
            <a:ext cx="3384550" cy="400050"/>
          </a:xfrm>
          <a:prstGeom prst="rect">
            <a:avLst/>
          </a:prstGeom>
          <a:noFill/>
          <a:ln w="76200" cmpd="tri">
            <a:noFill/>
            <a:miter lim="800000"/>
          </a:ln>
          <a:effectLst/>
        </p:spPr>
        <p:txBody>
          <a:bodyPr>
            <a:spAutoFit/>
          </a:bodyPr>
          <a:lstStyle/>
          <a:p>
            <a:pPr>
              <a:spcBef>
                <a:spcPct val="50000"/>
              </a:spcBef>
              <a:defRPr/>
            </a:pPr>
            <a:r>
              <a:rPr lang="zh-CN" altLang="en-US" sz="2000" b="1" dirty="0">
                <a:solidFill>
                  <a:srgbClr val="003399"/>
                </a:solidFill>
                <a:latin typeface="+mn-ea"/>
                <a:ea typeface="+mn-ea"/>
              </a:rPr>
              <a:t>螺杆固定 </a:t>
            </a:r>
            <a:r>
              <a:rPr lang="en-US" altLang="zh-CN" sz="2000" b="1" dirty="0">
                <a:solidFill>
                  <a:srgbClr val="003399"/>
                </a:solidFill>
                <a:latin typeface="+mn-ea"/>
                <a:ea typeface="+mn-ea"/>
              </a:rPr>
              <a:t>+ </a:t>
            </a:r>
            <a:r>
              <a:rPr lang="zh-CN" altLang="en-US" sz="2000" b="1" dirty="0">
                <a:solidFill>
                  <a:srgbClr val="003399"/>
                </a:solidFill>
                <a:latin typeface="+mn-ea"/>
                <a:ea typeface="+mn-ea"/>
              </a:rPr>
              <a:t>螺母转动和移动</a:t>
            </a:r>
            <a:endParaRPr lang="zh-CN" altLang="en-US" sz="2000" b="1" dirty="0">
              <a:solidFill>
                <a:srgbClr val="003399"/>
              </a:solidFill>
              <a:latin typeface="+mn-ea"/>
              <a:ea typeface="+mn-ea"/>
            </a:endParaRPr>
          </a:p>
        </p:txBody>
      </p:sp>
      <p:sp>
        <p:nvSpPr>
          <p:cNvPr id="144492" name="Text Box 108"/>
          <p:cNvSpPr txBox="1">
            <a:spLocks noChangeArrowheads="1"/>
          </p:cNvSpPr>
          <p:nvPr/>
        </p:nvSpPr>
        <p:spPr bwMode="auto">
          <a:xfrm>
            <a:off x="2448590" y="1941592"/>
            <a:ext cx="3384550" cy="401637"/>
          </a:xfrm>
          <a:prstGeom prst="rect">
            <a:avLst/>
          </a:prstGeom>
          <a:noFill/>
          <a:ln w="76200" cmpd="tri">
            <a:noFill/>
            <a:miter lim="800000"/>
          </a:ln>
          <a:effectLst/>
        </p:spPr>
        <p:txBody>
          <a:bodyPr>
            <a:spAutoFit/>
          </a:bodyPr>
          <a:lstStyle/>
          <a:p>
            <a:pPr>
              <a:spcBef>
                <a:spcPct val="50000"/>
              </a:spcBef>
              <a:defRPr/>
            </a:pPr>
            <a:r>
              <a:rPr lang="zh-CN" altLang="en-US" sz="2000" b="1" dirty="0">
                <a:solidFill>
                  <a:srgbClr val="003399"/>
                </a:solidFill>
                <a:latin typeface="+mn-ea"/>
                <a:ea typeface="+mn-ea"/>
              </a:rPr>
              <a:t>螺母固定 </a:t>
            </a:r>
            <a:r>
              <a:rPr lang="en-US" altLang="zh-CN" sz="2000" b="1" dirty="0">
                <a:solidFill>
                  <a:srgbClr val="003399"/>
                </a:solidFill>
                <a:latin typeface="+mn-ea"/>
                <a:ea typeface="+mn-ea"/>
              </a:rPr>
              <a:t>+ </a:t>
            </a:r>
            <a:r>
              <a:rPr lang="zh-CN" altLang="en-US" sz="2000" b="1" dirty="0">
                <a:solidFill>
                  <a:srgbClr val="003399"/>
                </a:solidFill>
                <a:latin typeface="+mn-ea"/>
                <a:ea typeface="+mn-ea"/>
              </a:rPr>
              <a:t>螺杆转动和移动</a:t>
            </a:r>
            <a:endParaRPr lang="zh-CN" altLang="en-US" sz="2000" b="1" dirty="0">
              <a:solidFill>
                <a:srgbClr val="003399"/>
              </a:solidFill>
              <a:latin typeface="+mn-ea"/>
              <a:ea typeface="+mn-ea"/>
            </a:endParaRPr>
          </a:p>
        </p:txBody>
      </p:sp>
      <p:sp>
        <p:nvSpPr>
          <p:cNvPr id="144495" name="Text Box 111"/>
          <p:cNvSpPr txBox="1">
            <a:spLocks noChangeArrowheads="1"/>
          </p:cNvSpPr>
          <p:nvPr/>
        </p:nvSpPr>
        <p:spPr bwMode="auto">
          <a:xfrm>
            <a:off x="2448590" y="1509792"/>
            <a:ext cx="2951163" cy="400050"/>
          </a:xfrm>
          <a:prstGeom prst="rect">
            <a:avLst/>
          </a:prstGeom>
          <a:noFill/>
          <a:ln w="76200" cmpd="tri">
            <a:noFill/>
            <a:miter lim="800000"/>
          </a:ln>
          <a:effectLst/>
        </p:spPr>
        <p:txBody>
          <a:bodyPr>
            <a:spAutoFit/>
          </a:bodyPr>
          <a:lstStyle/>
          <a:p>
            <a:pPr>
              <a:spcBef>
                <a:spcPct val="50000"/>
              </a:spcBef>
              <a:defRPr/>
            </a:pPr>
            <a:r>
              <a:rPr lang="zh-CN" altLang="en-US" sz="2000" b="1" dirty="0">
                <a:solidFill>
                  <a:srgbClr val="003399"/>
                </a:solidFill>
                <a:latin typeface="+mn-ea"/>
                <a:ea typeface="+mn-ea"/>
              </a:rPr>
              <a:t>螺母转动 </a:t>
            </a:r>
            <a:r>
              <a:rPr lang="en-US" altLang="zh-CN" sz="2000" b="1" dirty="0">
                <a:solidFill>
                  <a:srgbClr val="003399"/>
                </a:solidFill>
                <a:latin typeface="+mn-ea"/>
                <a:ea typeface="+mn-ea"/>
              </a:rPr>
              <a:t>+ </a:t>
            </a:r>
            <a:r>
              <a:rPr lang="zh-CN" altLang="en-US" sz="2000" b="1" dirty="0">
                <a:solidFill>
                  <a:srgbClr val="003399"/>
                </a:solidFill>
                <a:latin typeface="+mn-ea"/>
                <a:ea typeface="+mn-ea"/>
              </a:rPr>
              <a:t>螺杆移动</a:t>
            </a:r>
            <a:endParaRPr lang="zh-CN" altLang="en-US" sz="2000" b="1" dirty="0">
              <a:solidFill>
                <a:srgbClr val="003399"/>
              </a:solidFill>
              <a:latin typeface="+mn-ea"/>
              <a:ea typeface="+mn-ea"/>
            </a:endParaRPr>
          </a:p>
        </p:txBody>
      </p:sp>
      <p:sp>
        <p:nvSpPr>
          <p:cNvPr id="162" name="AutoShape 4"/>
          <p:cNvSpPr/>
          <p:nvPr/>
        </p:nvSpPr>
        <p:spPr bwMode="auto">
          <a:xfrm>
            <a:off x="2159665" y="1222454"/>
            <a:ext cx="215900" cy="1293813"/>
          </a:xfrm>
          <a:prstGeom prst="leftBrace">
            <a:avLst>
              <a:gd name="adj1" fmla="val 38703"/>
              <a:gd name="adj2" fmla="val 50000"/>
            </a:avLst>
          </a:prstGeom>
          <a:noFill/>
          <a:ln w="9525">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107" name="标题 1"/>
          <p:cNvSpPr txBox="1"/>
          <p:nvPr/>
        </p:nvSpPr>
        <p:spPr>
          <a:xfrm>
            <a:off x="440690" y="215164"/>
            <a:ext cx="8229600" cy="725488"/>
          </a:xfrm>
          <a:prstGeom prst="rect">
            <a:avLst/>
          </a:prstGeom>
        </p:spPr>
        <p:txBody>
          <a:bodyPr/>
          <a:lstStyle>
            <a:lvl1pPr algn="l" rtl="0" eaLnBrk="0" fontAlgn="base" hangingPunct="0">
              <a:spcBef>
                <a:spcPct val="0"/>
              </a:spcBef>
              <a:spcAft>
                <a:spcPct val="0"/>
              </a:spcAft>
              <a:defRPr sz="3600"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a:lstStyle>
          <a:p>
            <a:pPr eaLnBrk="1" hangingPunct="1"/>
            <a:r>
              <a:rPr lang="zh-CN" altLang="en-US" sz="2800" smtClean="0">
                <a:solidFill>
                  <a:srgbClr val="0000FF"/>
                </a:solidFill>
                <a:latin typeface="黑体" panose="02010609060101010101" pitchFamily="2" charset="-122"/>
                <a:ea typeface="黑体" panose="02010609060101010101" pitchFamily="2" charset="-122"/>
              </a:rPr>
              <a:t>一、螺旋传动的类型和应用</a:t>
            </a:r>
            <a:endParaRPr lang="zh-CN" altLang="en-US" sz="2800" dirty="0" smtClean="0">
              <a:solidFill>
                <a:srgbClr val="0000FF"/>
              </a:solidFill>
              <a:latin typeface="黑体" panose="02010609060101010101" pitchFamily="2" charset="-122"/>
              <a:ea typeface="黑体" panose="02010609060101010101" pitchFamily="2" charset="-122"/>
            </a:endParaRPr>
          </a:p>
        </p:txBody>
      </p:sp>
      <p:cxnSp>
        <p:nvCxnSpPr>
          <p:cNvPr id="4" name="直接连接符 3"/>
          <p:cNvCxnSpPr/>
          <p:nvPr/>
        </p:nvCxnSpPr>
        <p:spPr>
          <a:xfrm>
            <a:off x="111125" y="753110"/>
            <a:ext cx="8761095" cy="0"/>
          </a:xfrm>
          <a:prstGeom prst="line">
            <a:avLst/>
          </a:prstGeom>
          <a:ln w="57150" cmpd="thickThin"/>
        </p:spPr>
        <p:style>
          <a:lnRef idx="1">
            <a:schemeClr val="accent1"/>
          </a:lnRef>
          <a:fillRef idx="0">
            <a:schemeClr val="accent1"/>
          </a:fillRef>
          <a:effectRef idx="0">
            <a:schemeClr val="accent1"/>
          </a:effectRef>
          <a:fontRef idx="minor">
            <a:schemeClr val="tx1"/>
          </a:fontRef>
        </p:style>
      </p:cxn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390"/>
                                        </p:tgtEl>
                                        <p:attrNameLst>
                                          <p:attrName>style.visibility</p:attrName>
                                        </p:attrNameLst>
                                      </p:cBhvr>
                                      <p:to>
                                        <p:strVal val="visible"/>
                                      </p:to>
                                    </p:set>
                                    <p:anim calcmode="lin" valueType="num">
                                      <p:cBhvr additive="base">
                                        <p:cTn id="7" dur="500" fill="hold"/>
                                        <p:tgtEl>
                                          <p:spTgt spid="144390"/>
                                        </p:tgtEl>
                                        <p:attrNameLst>
                                          <p:attrName>ppt_x</p:attrName>
                                        </p:attrNameLst>
                                      </p:cBhvr>
                                      <p:tavLst>
                                        <p:tav tm="0">
                                          <p:val>
                                            <p:strVal val="0-#ppt_w/2"/>
                                          </p:val>
                                        </p:tav>
                                        <p:tav tm="100000">
                                          <p:val>
                                            <p:strVal val="#ppt_x"/>
                                          </p:val>
                                        </p:tav>
                                      </p:tavLst>
                                    </p:anim>
                                    <p:anim calcmode="lin" valueType="num">
                                      <p:cBhvr additive="base">
                                        <p:cTn id="8" dur="500" fill="hold"/>
                                        <p:tgtEl>
                                          <p:spTgt spid="1443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62"/>
                                        </p:tgtEl>
                                        <p:attrNameLst>
                                          <p:attrName>style.visibility</p:attrName>
                                        </p:attrNameLst>
                                      </p:cBhvr>
                                      <p:to>
                                        <p:strVal val="visible"/>
                                      </p:to>
                                    </p:set>
                                    <p:anim calcmode="lin" valueType="num">
                                      <p:cBhvr additive="base">
                                        <p:cTn id="12" dur="500" fill="hold"/>
                                        <p:tgtEl>
                                          <p:spTgt spid="162"/>
                                        </p:tgtEl>
                                        <p:attrNameLst>
                                          <p:attrName>ppt_x</p:attrName>
                                        </p:attrNameLst>
                                      </p:cBhvr>
                                      <p:tavLst>
                                        <p:tav tm="0">
                                          <p:val>
                                            <p:strVal val="#ppt_x"/>
                                          </p:val>
                                        </p:tav>
                                        <p:tav tm="100000">
                                          <p:val>
                                            <p:strVal val="#ppt_x"/>
                                          </p:val>
                                        </p:tav>
                                      </p:tavLst>
                                    </p:anim>
                                    <p:anim calcmode="lin" valueType="num">
                                      <p:cBhvr additive="base">
                                        <p:cTn id="13" dur="500" fill="hold"/>
                                        <p:tgtEl>
                                          <p:spTgt spid="16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4486"/>
                                        </p:tgtEl>
                                        <p:attrNameLst>
                                          <p:attrName>style.visibility</p:attrName>
                                        </p:attrNameLst>
                                      </p:cBhvr>
                                      <p:to>
                                        <p:strVal val="visible"/>
                                      </p:to>
                                    </p:set>
                                    <p:anim calcmode="lin" valueType="num">
                                      <p:cBhvr additive="base">
                                        <p:cTn id="18" dur="500" fill="hold"/>
                                        <p:tgtEl>
                                          <p:spTgt spid="144486"/>
                                        </p:tgtEl>
                                        <p:attrNameLst>
                                          <p:attrName>ppt_x</p:attrName>
                                        </p:attrNameLst>
                                      </p:cBhvr>
                                      <p:tavLst>
                                        <p:tav tm="0">
                                          <p:val>
                                            <p:strVal val="#ppt_x"/>
                                          </p:val>
                                        </p:tav>
                                        <p:tav tm="100000">
                                          <p:val>
                                            <p:strVal val="#ppt_x"/>
                                          </p:val>
                                        </p:tav>
                                      </p:tavLst>
                                    </p:anim>
                                    <p:anim calcmode="lin" valueType="num">
                                      <p:cBhvr additive="base">
                                        <p:cTn id="19" dur="500" fill="hold"/>
                                        <p:tgtEl>
                                          <p:spTgt spid="14448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49" presetClass="entr" presetSubtype="0" decel="10000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 calcmode="lin" valueType="num">
                                      <p:cBhvr>
                                        <p:cTn id="25" dur="500" fill="hold"/>
                                        <p:tgtEl>
                                          <p:spTgt spid="2"/>
                                        </p:tgtEl>
                                        <p:attrNameLst>
                                          <p:attrName>style.rotation</p:attrName>
                                        </p:attrNameLst>
                                      </p:cBhvr>
                                      <p:tavLst>
                                        <p:tav tm="0">
                                          <p:val>
                                            <p:fltVal val="360"/>
                                          </p:val>
                                        </p:tav>
                                        <p:tav tm="100000">
                                          <p:val>
                                            <p:fltVal val="0"/>
                                          </p:val>
                                        </p:tav>
                                      </p:tavLst>
                                    </p:anim>
                                    <p:animEffect transition="in" filter="fade">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4495"/>
                                        </p:tgtEl>
                                        <p:attrNameLst>
                                          <p:attrName>style.visibility</p:attrName>
                                        </p:attrNameLst>
                                      </p:cBhvr>
                                      <p:to>
                                        <p:strVal val="visible"/>
                                      </p:to>
                                    </p:set>
                                    <p:anim calcmode="lin" valueType="num">
                                      <p:cBhvr additive="base">
                                        <p:cTn id="31" dur="500" fill="hold"/>
                                        <p:tgtEl>
                                          <p:spTgt spid="144495"/>
                                        </p:tgtEl>
                                        <p:attrNameLst>
                                          <p:attrName>ppt_x</p:attrName>
                                        </p:attrNameLst>
                                      </p:cBhvr>
                                      <p:tavLst>
                                        <p:tav tm="0">
                                          <p:val>
                                            <p:strVal val="#ppt_x"/>
                                          </p:val>
                                        </p:tav>
                                        <p:tav tm="100000">
                                          <p:val>
                                            <p:strVal val="#ppt_x"/>
                                          </p:val>
                                        </p:tav>
                                      </p:tavLst>
                                    </p:anim>
                                    <p:anim calcmode="lin" valueType="num">
                                      <p:cBhvr additive="base">
                                        <p:cTn id="32" dur="500" fill="hold"/>
                                        <p:tgtEl>
                                          <p:spTgt spid="144495"/>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8" presetClass="entr" presetSubtype="16"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diamond(in)">
                                      <p:cBhvr>
                                        <p:cTn id="36" dur="20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4492"/>
                                        </p:tgtEl>
                                        <p:attrNameLst>
                                          <p:attrName>style.visibility</p:attrName>
                                        </p:attrNameLst>
                                      </p:cBhvr>
                                      <p:to>
                                        <p:strVal val="visible"/>
                                      </p:to>
                                    </p:set>
                                    <p:anim calcmode="lin" valueType="num">
                                      <p:cBhvr additive="base">
                                        <p:cTn id="41" dur="500" fill="hold"/>
                                        <p:tgtEl>
                                          <p:spTgt spid="144492"/>
                                        </p:tgtEl>
                                        <p:attrNameLst>
                                          <p:attrName>ppt_x</p:attrName>
                                        </p:attrNameLst>
                                      </p:cBhvr>
                                      <p:tavLst>
                                        <p:tav tm="0">
                                          <p:val>
                                            <p:strVal val="#ppt_x"/>
                                          </p:val>
                                        </p:tav>
                                        <p:tav tm="100000">
                                          <p:val>
                                            <p:strVal val="#ppt_x"/>
                                          </p:val>
                                        </p:tav>
                                      </p:tavLst>
                                    </p:anim>
                                    <p:anim calcmode="lin" valueType="num">
                                      <p:cBhvr additive="base">
                                        <p:cTn id="42" dur="500" fill="hold"/>
                                        <p:tgtEl>
                                          <p:spTgt spid="144492"/>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5" presetClass="entr" presetSubtype="10" fill="hold"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checkerboard(across)">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44489"/>
                                        </p:tgtEl>
                                        <p:attrNameLst>
                                          <p:attrName>style.visibility</p:attrName>
                                        </p:attrNameLst>
                                      </p:cBhvr>
                                      <p:to>
                                        <p:strVal val="visible"/>
                                      </p:to>
                                    </p:set>
                                    <p:anim calcmode="lin" valueType="num">
                                      <p:cBhvr additive="base">
                                        <p:cTn id="51" dur="500" fill="hold"/>
                                        <p:tgtEl>
                                          <p:spTgt spid="144489"/>
                                        </p:tgtEl>
                                        <p:attrNameLst>
                                          <p:attrName>ppt_x</p:attrName>
                                        </p:attrNameLst>
                                      </p:cBhvr>
                                      <p:tavLst>
                                        <p:tav tm="0">
                                          <p:val>
                                            <p:strVal val="#ppt_x"/>
                                          </p:val>
                                        </p:tav>
                                        <p:tav tm="100000">
                                          <p:val>
                                            <p:strVal val="#ppt_x"/>
                                          </p:val>
                                        </p:tav>
                                      </p:tavLst>
                                    </p:anim>
                                    <p:anim calcmode="lin" valueType="num">
                                      <p:cBhvr additive="base">
                                        <p:cTn id="52" dur="500" fill="hold"/>
                                        <p:tgtEl>
                                          <p:spTgt spid="144489"/>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43" presetClass="entr" presetSubtype="0" fill="hold"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100"/>
                                        <p:tgtEl>
                                          <p:spTgt spid="7"/>
                                        </p:tgtEl>
                                      </p:cBhvr>
                                    </p:animEffect>
                                    <p:anim calcmode="lin" valueType="num">
                                      <p:cBhvr>
                                        <p:cTn id="57" dur="400" fill="hold"/>
                                        <p:tgtEl>
                                          <p:spTgt spid="7"/>
                                        </p:tgtEl>
                                        <p:attrNameLst>
                                          <p:attrName>ppt_x</p:attrName>
                                        </p:attrNameLst>
                                      </p:cBhvr>
                                      <p:tavLst>
                                        <p:tav tm="0">
                                          <p:val>
                                            <p:strVal val="#ppt_x"/>
                                          </p:val>
                                        </p:tav>
                                        <p:tav tm="100000">
                                          <p:val>
                                            <p:strVal val="#ppt_x"/>
                                          </p:val>
                                        </p:tav>
                                      </p:tavLst>
                                    </p:anim>
                                    <p:anim calcmode="lin" valueType="num">
                                      <p:cBhvr>
                                        <p:cTn id="58" dur="400" fill="hold"/>
                                        <p:tgtEl>
                                          <p:spTgt spid="7"/>
                                        </p:tgtEl>
                                        <p:attrNameLst>
                                          <p:attrName>ppt_y</p:attrName>
                                        </p:attrNameLst>
                                      </p:cBhvr>
                                      <p:tavLst>
                                        <p:tav tm="0">
                                          <p:val>
                                            <p:strVal val="#ppt_y+0.31"/>
                                          </p:val>
                                        </p:tav>
                                        <p:tav tm="100000">
                                          <p:val>
                                            <p:strVal val="#ppt_y+0.31"/>
                                          </p:val>
                                        </p:tav>
                                      </p:tavLst>
                                    </p:anim>
                                    <p:anim calcmode="lin" valueType="num">
                                      <p:cBhvr>
                                        <p:cTn id="59" dur="600" decel="50000" fill="hold">
                                          <p:stCondLst>
                                            <p:cond delay="400"/>
                                          </p:stCondLst>
                                        </p:cTn>
                                        <p:tgtEl>
                                          <p:spTgt spid="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0" dur="600" decel="50000" fill="hold">
                                          <p:stCondLst>
                                            <p:cond delay="400"/>
                                          </p:stCondLst>
                                        </p:cTn>
                                        <p:tgtEl>
                                          <p:spTgt spid="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0" grpId="0" bldLvl="0" animBg="1"/>
      <p:bldP spid="144486" grpId="0" bldLvl="0" animBg="1"/>
      <p:bldP spid="144489" grpId="0" bldLvl="0" animBg="1"/>
      <p:bldP spid="144492" grpId="0" bldLvl="0" animBg="1"/>
      <p:bldP spid="144495" grpId="0" bldLvl="0" animBg="1"/>
      <p:bldP spid="16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5" name="图片 21"/>
          <p:cNvPicPr>
            <a:picLocks noChangeAspect="1"/>
          </p:cNvPicPr>
          <p:nvPr/>
        </p:nvPicPr>
        <p:blipFill>
          <a:blip r:embed="rId1"/>
          <a:stretch>
            <a:fillRect/>
          </a:stretch>
        </p:blipFill>
        <p:spPr>
          <a:xfrm>
            <a:off x="1700530" y="1794510"/>
            <a:ext cx="6092190" cy="2364105"/>
          </a:xfrm>
          <a:prstGeom prst="rect">
            <a:avLst/>
          </a:prstGeom>
          <a:noFill/>
          <a:ln w="9525">
            <a:noFill/>
          </a:ln>
        </p:spPr>
      </p:pic>
      <p:sp>
        <p:nvSpPr>
          <p:cNvPr id="5127" name="文本框 1"/>
          <p:cNvSpPr txBox="1"/>
          <p:nvPr/>
        </p:nvSpPr>
        <p:spPr>
          <a:xfrm>
            <a:off x="2106295" y="4676775"/>
            <a:ext cx="4686300" cy="398780"/>
          </a:xfrm>
          <a:prstGeom prst="rect">
            <a:avLst/>
          </a:prstGeom>
          <a:noFill/>
          <a:ln w="9525">
            <a:noFill/>
          </a:ln>
        </p:spPr>
        <p:txBody>
          <a:bodyPr wrap="square">
            <a:spAutoFit/>
          </a:bodyPr>
          <a:p>
            <a:r>
              <a:rPr lang="zh-CN" altLang="zh-CN" sz="2000" dirty="0">
                <a:latin typeface="Tahoma" panose="020B0604030504040204" pitchFamily="34" charset="0"/>
              </a:rPr>
              <a:t>图</a:t>
            </a:r>
            <a:r>
              <a:rPr lang="en-US" altLang="zh-CN" sz="2000" dirty="0">
                <a:latin typeface="Tahoma" panose="020B0604030504040204" pitchFamily="34" charset="0"/>
              </a:rPr>
              <a:t>2.4-1 </a:t>
            </a:r>
            <a:r>
              <a:rPr lang="zh-CN" altLang="zh-CN" sz="2000" dirty="0">
                <a:latin typeface="Tahoma" panose="020B0604030504040204" pitchFamily="34" charset="0"/>
              </a:rPr>
              <a:t>螺旋传动运动形式机构运动简图</a:t>
            </a:r>
            <a:endParaRPr lang="zh-CN" altLang="zh-CN" sz="2000" dirty="0">
              <a:latin typeface="Tahoma" panose="020B0604030504040204" pitchFamily="34" charset="0"/>
            </a:endParaRPr>
          </a:p>
        </p:txBody>
      </p:sp>
      <p:sp>
        <p:nvSpPr>
          <p:cNvPr id="107" name="标题 1"/>
          <p:cNvSpPr txBox="1"/>
          <p:nvPr/>
        </p:nvSpPr>
        <p:spPr>
          <a:xfrm>
            <a:off x="440690" y="215164"/>
            <a:ext cx="8229600" cy="725488"/>
          </a:xfrm>
          <a:prstGeom prst="rect">
            <a:avLst/>
          </a:prstGeom>
        </p:spPr>
        <p:txBody>
          <a:bodyPr/>
          <a:lstStyle>
            <a:lvl1pPr algn="l" rtl="0" eaLnBrk="0" fontAlgn="base" hangingPunct="0">
              <a:spcBef>
                <a:spcPct val="0"/>
              </a:spcBef>
              <a:spcAft>
                <a:spcPct val="0"/>
              </a:spcAft>
              <a:defRPr sz="3600"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a:lstStyle>
          <a:p>
            <a:pPr eaLnBrk="1" hangingPunct="1"/>
            <a:r>
              <a:rPr lang="zh-CN" altLang="en-US" sz="2800" smtClean="0">
                <a:solidFill>
                  <a:srgbClr val="0000FF"/>
                </a:solidFill>
                <a:latin typeface="黑体" panose="02010609060101010101" pitchFamily="2" charset="-122"/>
                <a:ea typeface="黑体" panose="02010609060101010101" pitchFamily="2" charset="-122"/>
              </a:rPr>
              <a:t>一、螺旋传动的类型和应用</a:t>
            </a:r>
            <a:endParaRPr lang="zh-CN" altLang="en-US" sz="2800" dirty="0" smtClean="0">
              <a:solidFill>
                <a:srgbClr val="0000FF"/>
              </a:solidFill>
              <a:latin typeface="黑体" panose="02010609060101010101" pitchFamily="2" charset="-122"/>
              <a:ea typeface="黑体" panose="02010609060101010101" pitchFamily="2" charset="-122"/>
            </a:endParaRPr>
          </a:p>
        </p:txBody>
      </p:sp>
      <p:cxnSp>
        <p:nvCxnSpPr>
          <p:cNvPr id="4" name="直接连接符 3"/>
          <p:cNvCxnSpPr/>
          <p:nvPr/>
        </p:nvCxnSpPr>
        <p:spPr>
          <a:xfrm>
            <a:off x="111125" y="753110"/>
            <a:ext cx="8761095" cy="0"/>
          </a:xfrm>
          <a:prstGeom prst="line">
            <a:avLst/>
          </a:prstGeom>
          <a:ln w="57150" cmpd="thickThin"/>
        </p:spPr>
        <p:style>
          <a:lnRef idx="1">
            <a:schemeClr val="accent1"/>
          </a:lnRef>
          <a:fillRef idx="0">
            <a:schemeClr val="accent1"/>
          </a:fillRef>
          <a:effectRef idx="0">
            <a:schemeClr val="accent1"/>
          </a:effectRef>
          <a:fontRef idx="minor">
            <a:schemeClr val="tx1"/>
          </a:fontRef>
        </p:style>
      </p:cxn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 Box 9"/>
          <p:cNvSpPr txBox="1">
            <a:spLocks noChangeArrowheads="1"/>
          </p:cNvSpPr>
          <p:nvPr/>
        </p:nvSpPr>
        <p:spPr bwMode="auto">
          <a:xfrm>
            <a:off x="457384" y="1167418"/>
            <a:ext cx="4041204"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solidFill>
                  <a:srgbClr val="3333FF"/>
                </a:solidFill>
                <a:latin typeface="黑体" panose="02010609060101010101" pitchFamily="2" charset="-122"/>
                <a:ea typeface="黑体" panose="02010609060101010101" pitchFamily="2" charset="-122"/>
              </a:rPr>
              <a:t>2</a:t>
            </a:r>
            <a:r>
              <a:rPr kumimoji="1" lang="zh-CN" altLang="en-US" sz="2400" dirty="0">
                <a:solidFill>
                  <a:srgbClr val="3333FF"/>
                </a:solidFill>
                <a:latin typeface="黑体" panose="02010609060101010101" pitchFamily="2" charset="-122"/>
                <a:ea typeface="黑体" panose="02010609060101010101" pitchFamily="2" charset="-122"/>
              </a:rPr>
              <a:t>、</a:t>
            </a:r>
            <a:r>
              <a:rPr kumimoji="1" lang="zh-CN" altLang="en-US" sz="2400" dirty="0">
                <a:solidFill>
                  <a:srgbClr val="3333FF"/>
                </a:solidFill>
                <a:latin typeface="黑体" panose="02010609060101010101" pitchFamily="2" charset="-122"/>
                <a:ea typeface="黑体" panose="02010609060101010101" pitchFamily="2" charset="-122"/>
              </a:rPr>
              <a:t>螺旋传动的类型：</a:t>
            </a:r>
            <a:endParaRPr kumimoji="1" lang="zh-CN" altLang="en-US" sz="2400" dirty="0">
              <a:solidFill>
                <a:srgbClr val="3333FF"/>
              </a:solidFill>
              <a:latin typeface="黑体" panose="02010609060101010101" pitchFamily="2" charset="-122"/>
              <a:ea typeface="黑体" panose="02010609060101010101" pitchFamily="2" charset="-122"/>
            </a:endParaRPr>
          </a:p>
          <a:p>
            <a:pPr eaLnBrk="1" hangingPunct="1">
              <a:spcBef>
                <a:spcPct val="50000"/>
              </a:spcBef>
            </a:pPr>
            <a:r>
              <a:rPr kumimoji="1" lang="en-US" altLang="zh-CN" sz="2400" dirty="0">
                <a:latin typeface="黑体" panose="02010609060101010101" pitchFamily="2" charset="-122"/>
                <a:ea typeface="黑体" panose="02010609060101010101" pitchFamily="2" charset="-122"/>
                <a:cs typeface="黑体" panose="02010609060101010101" pitchFamily="2" charset="-122"/>
              </a:rPr>
              <a:t>1</a:t>
            </a:r>
            <a:r>
              <a:rPr kumimoji="1" lang="zh-CN" altLang="en-US" sz="2400" dirty="0">
                <a:latin typeface="黑体" panose="02010609060101010101" pitchFamily="2" charset="-122"/>
                <a:ea typeface="黑体" panose="02010609060101010101" pitchFamily="2" charset="-122"/>
                <a:cs typeface="黑体" panose="02010609060101010101" pitchFamily="2" charset="-122"/>
              </a:rPr>
              <a:t>）按用途分类</a:t>
            </a:r>
            <a:endParaRPr kumimoji="1" lang="zh-CN" altLang="en-US" sz="2400" dirty="0">
              <a:latin typeface="黑体" panose="02010609060101010101" pitchFamily="2" charset="-122"/>
              <a:ea typeface="黑体" panose="02010609060101010101" pitchFamily="2" charset="-122"/>
              <a:cs typeface="黑体" panose="02010609060101010101" pitchFamily="2" charset="-122"/>
            </a:endParaRPr>
          </a:p>
          <a:p>
            <a:pPr eaLnBrk="1" hangingPunct="1">
              <a:spcBef>
                <a:spcPct val="50000"/>
              </a:spcBef>
            </a:pPr>
            <a:r>
              <a:rPr kumimoji="1" lang="zh-CN" altLang="en-US" sz="2400" dirty="0">
                <a:solidFill>
                  <a:srgbClr val="FF0000"/>
                </a:solidFill>
                <a:latin typeface="黑体" panose="02010609060101010101" pitchFamily="2" charset="-122"/>
                <a:ea typeface="黑体" panose="02010609060101010101" pitchFamily="2" charset="-122"/>
              </a:rPr>
              <a:t>调整螺旋：</a:t>
            </a:r>
            <a:endParaRPr kumimoji="1" lang="zh-CN" altLang="en-US" sz="2400" dirty="0">
              <a:solidFill>
                <a:srgbClr val="002060"/>
              </a:solidFill>
              <a:latin typeface="黑体" panose="02010609060101010101" pitchFamily="2" charset="-122"/>
              <a:ea typeface="黑体" panose="02010609060101010101" pitchFamily="2" charset="-122"/>
            </a:endParaRPr>
          </a:p>
          <a:p>
            <a:pPr eaLnBrk="1" hangingPunct="1">
              <a:spcBef>
                <a:spcPct val="50000"/>
              </a:spcBef>
            </a:pPr>
            <a:endParaRPr kumimoji="1" lang="zh-CN" altLang="en-US" sz="2400" dirty="0">
              <a:solidFill>
                <a:srgbClr val="002060"/>
              </a:solidFill>
              <a:latin typeface="黑体" panose="02010609060101010101" pitchFamily="2" charset="-122"/>
              <a:ea typeface="黑体" panose="02010609060101010101" pitchFamily="2" charset="-122"/>
            </a:endParaRPr>
          </a:p>
          <a:p>
            <a:pPr eaLnBrk="1" hangingPunct="1">
              <a:spcBef>
                <a:spcPct val="50000"/>
              </a:spcBef>
            </a:pPr>
            <a:r>
              <a:rPr kumimoji="1" lang="zh-CN" altLang="en-US" sz="2400" dirty="0">
                <a:solidFill>
                  <a:srgbClr val="FF0000"/>
                </a:solidFill>
                <a:latin typeface="黑体" panose="02010609060101010101" pitchFamily="2" charset="-122"/>
                <a:ea typeface="黑体" panose="02010609060101010101" pitchFamily="2" charset="-122"/>
              </a:rPr>
              <a:t>传力螺旋：</a:t>
            </a:r>
            <a:endParaRPr kumimoji="1" lang="zh-CN" altLang="en-US" sz="2400" dirty="0">
              <a:solidFill>
                <a:srgbClr val="FF0000"/>
              </a:solidFill>
              <a:latin typeface="黑体" panose="02010609060101010101" pitchFamily="2" charset="-122"/>
              <a:ea typeface="黑体" panose="02010609060101010101" pitchFamily="2" charset="-122"/>
            </a:endParaRPr>
          </a:p>
          <a:p>
            <a:pPr eaLnBrk="1" hangingPunct="1">
              <a:spcBef>
                <a:spcPct val="50000"/>
              </a:spcBef>
            </a:pPr>
            <a:endParaRPr kumimoji="1" lang="en-US" altLang="zh-CN" sz="2400" dirty="0">
              <a:solidFill>
                <a:srgbClr val="FF0000"/>
              </a:solidFill>
              <a:latin typeface="黑体" panose="02010609060101010101" pitchFamily="2" charset="-122"/>
              <a:ea typeface="黑体" panose="02010609060101010101" pitchFamily="2" charset="-122"/>
            </a:endParaRPr>
          </a:p>
          <a:p>
            <a:pPr eaLnBrk="1" hangingPunct="1">
              <a:spcBef>
                <a:spcPct val="50000"/>
              </a:spcBef>
            </a:pPr>
            <a:endParaRPr kumimoji="1" lang="zh-CN" altLang="en-US" sz="2400" dirty="0">
              <a:solidFill>
                <a:srgbClr val="FF0000"/>
              </a:solidFill>
              <a:latin typeface="黑体" panose="02010609060101010101" pitchFamily="2" charset="-122"/>
              <a:ea typeface="黑体" panose="02010609060101010101" pitchFamily="2" charset="-122"/>
            </a:endParaRPr>
          </a:p>
          <a:p>
            <a:pPr eaLnBrk="1" hangingPunct="1">
              <a:spcBef>
                <a:spcPts val="2400"/>
              </a:spcBef>
            </a:pPr>
            <a:r>
              <a:rPr kumimoji="1" lang="zh-CN" altLang="en-US" sz="2400" dirty="0">
                <a:solidFill>
                  <a:srgbClr val="FF0000"/>
                </a:solidFill>
                <a:latin typeface="黑体" panose="02010609060101010101" pitchFamily="2" charset="-122"/>
                <a:ea typeface="黑体" panose="02010609060101010101" pitchFamily="2" charset="-122"/>
              </a:rPr>
              <a:t>传导螺旋</a:t>
            </a:r>
            <a:r>
              <a:rPr kumimoji="1" lang="zh-CN" altLang="en-US" sz="2800" b="1" dirty="0">
                <a:solidFill>
                  <a:srgbClr val="FF0000"/>
                </a:solidFill>
                <a:latin typeface="黑体" panose="02010609060101010101" pitchFamily="2" charset="-122"/>
                <a:ea typeface="黑体" panose="02010609060101010101" pitchFamily="2" charset="-122"/>
              </a:rPr>
              <a:t>：</a:t>
            </a:r>
            <a:endParaRPr kumimoji="1" lang="zh-CN" altLang="en-US" sz="2400" dirty="0">
              <a:solidFill>
                <a:srgbClr val="002060"/>
              </a:solidFill>
              <a:latin typeface="黑体" panose="02010609060101010101" pitchFamily="2" charset="-122"/>
              <a:ea typeface="黑体" panose="02010609060101010101" pitchFamily="2" charset="-122"/>
            </a:endParaRPr>
          </a:p>
        </p:txBody>
      </p:sp>
      <p:sp>
        <p:nvSpPr>
          <p:cNvPr id="21508" name="Text Box 3"/>
          <p:cNvSpPr txBox="1">
            <a:spLocks noChangeArrowheads="1"/>
          </p:cNvSpPr>
          <p:nvPr/>
        </p:nvSpPr>
        <p:spPr bwMode="auto">
          <a:xfrm>
            <a:off x="2063656" y="2124477"/>
            <a:ext cx="6408742" cy="4208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ts val="600"/>
              </a:spcBef>
            </a:pPr>
            <a:r>
              <a:rPr kumimoji="1" lang="zh-CN" altLang="en-US" sz="2200" dirty="0">
                <a:solidFill>
                  <a:srgbClr val="002060"/>
                </a:solidFill>
                <a:latin typeface="黑体" panose="02010609060101010101" pitchFamily="2" charset="-122"/>
                <a:ea typeface="黑体" panose="02010609060101010101" pitchFamily="2" charset="-122"/>
              </a:rPr>
              <a:t>调整或固定</a:t>
            </a:r>
            <a:r>
              <a:rPr kumimoji="1" lang="zh-CN" altLang="en-US" sz="2200" dirty="0" smtClean="0">
                <a:solidFill>
                  <a:srgbClr val="002060"/>
                </a:solidFill>
                <a:latin typeface="黑体" panose="02010609060101010101" pitchFamily="2" charset="-122"/>
                <a:ea typeface="黑体" panose="02010609060101010101" pitchFamily="2" charset="-122"/>
              </a:rPr>
              <a:t>零件的相对位置，一般不在工作载荷下作用下转动，要求能自锁；</a:t>
            </a:r>
            <a:r>
              <a:rPr kumimoji="1" lang="zh-CN" altLang="en-US" sz="2200" dirty="0">
                <a:solidFill>
                  <a:srgbClr val="FF0000"/>
                </a:solidFill>
                <a:latin typeface="黑体" panose="02010609060101010101" pitchFamily="2" charset="-122"/>
                <a:ea typeface="黑体" panose="02010609060101010101" pitchFamily="2" charset="-122"/>
              </a:rPr>
              <a:t>如机床进给的微调</a:t>
            </a:r>
            <a:r>
              <a:rPr kumimoji="1" lang="zh-CN" altLang="en-US" sz="2200" dirty="0" smtClean="0">
                <a:solidFill>
                  <a:srgbClr val="FF0000"/>
                </a:solidFill>
                <a:latin typeface="黑体" panose="02010609060101010101" pitchFamily="2" charset="-122"/>
                <a:ea typeface="黑体" panose="02010609060101010101" pitchFamily="2" charset="-122"/>
              </a:rPr>
              <a:t>螺旋</a:t>
            </a:r>
            <a:endParaRPr kumimoji="1" lang="en-US" altLang="zh-CN" sz="2200" dirty="0" smtClean="0">
              <a:solidFill>
                <a:srgbClr val="002060"/>
              </a:solidFill>
              <a:latin typeface="黑体" panose="02010609060101010101" pitchFamily="2" charset="-122"/>
              <a:ea typeface="黑体" panose="02010609060101010101" pitchFamily="2" charset="-122"/>
            </a:endParaRPr>
          </a:p>
          <a:p>
            <a:pPr eaLnBrk="1" hangingPunct="1">
              <a:lnSpc>
                <a:spcPct val="125000"/>
              </a:lnSpc>
              <a:spcBef>
                <a:spcPts val="1200"/>
              </a:spcBef>
            </a:pPr>
            <a:r>
              <a:rPr kumimoji="1" lang="zh-CN" altLang="en-US" sz="2200" dirty="0" smtClean="0">
                <a:solidFill>
                  <a:srgbClr val="002060"/>
                </a:solidFill>
                <a:latin typeface="黑体" panose="02010609060101010101" pitchFamily="2" charset="-122"/>
                <a:ea typeface="黑体" panose="02010609060101010101" pitchFamily="2" charset="-122"/>
              </a:rPr>
              <a:t>举起</a:t>
            </a:r>
            <a:r>
              <a:rPr kumimoji="1" lang="zh-CN" altLang="en-US" sz="2200" dirty="0">
                <a:solidFill>
                  <a:srgbClr val="002060"/>
                </a:solidFill>
                <a:latin typeface="黑体" panose="02010609060101010101" pitchFamily="2" charset="-122"/>
                <a:ea typeface="黑体" panose="02010609060101010101" pitchFamily="2" charset="-122"/>
              </a:rPr>
              <a:t>重物或克服大的轴向载荷，一般为间歇性工作，每次工作时间较短，速度较低，但轴向力较大，通常需要自锁，效率较低；</a:t>
            </a:r>
            <a:r>
              <a:rPr kumimoji="1" lang="zh-CN" altLang="en-US" sz="2200" dirty="0">
                <a:solidFill>
                  <a:srgbClr val="FF0000"/>
                </a:solidFill>
                <a:latin typeface="黑体" panose="02010609060101010101" pitchFamily="2" charset="-122"/>
                <a:ea typeface="黑体" panose="02010609060101010101" pitchFamily="2" charset="-122"/>
              </a:rPr>
              <a:t>如千斤顶，低速</a:t>
            </a:r>
            <a:r>
              <a:rPr kumimoji="1" lang="en-US" altLang="zh-CN" sz="2200" dirty="0">
                <a:solidFill>
                  <a:srgbClr val="FF0000"/>
                </a:solidFill>
                <a:latin typeface="黑体" panose="02010609060101010101" pitchFamily="2" charset="-122"/>
                <a:ea typeface="黑体" panose="02010609060101010101" pitchFamily="2" charset="-122"/>
              </a:rPr>
              <a:t>/</a:t>
            </a:r>
            <a:r>
              <a:rPr kumimoji="1" lang="zh-CN" altLang="en-US" sz="2200" dirty="0">
                <a:solidFill>
                  <a:srgbClr val="FF0000"/>
                </a:solidFill>
                <a:latin typeface="黑体" panose="02010609060101010101" pitchFamily="2" charset="-122"/>
                <a:ea typeface="黑体" panose="02010609060101010101" pitchFamily="2" charset="-122"/>
              </a:rPr>
              <a:t>低效</a:t>
            </a:r>
            <a:r>
              <a:rPr kumimoji="1" lang="en-US" altLang="zh-CN" sz="2200" dirty="0">
                <a:solidFill>
                  <a:srgbClr val="FF0000"/>
                </a:solidFill>
                <a:latin typeface="黑体" panose="02010609060101010101" pitchFamily="2" charset="-122"/>
                <a:ea typeface="黑体" panose="02010609060101010101" pitchFamily="2" charset="-122"/>
              </a:rPr>
              <a:t>/</a:t>
            </a:r>
            <a:r>
              <a:rPr kumimoji="1" lang="zh-CN" altLang="en-US" sz="2200" dirty="0">
                <a:solidFill>
                  <a:srgbClr val="FF0000"/>
                </a:solidFill>
                <a:latin typeface="黑体" panose="02010609060101010101" pitchFamily="2" charset="-122"/>
                <a:ea typeface="黑体" panose="02010609060101010101" pitchFamily="2" charset="-122"/>
              </a:rPr>
              <a:t>自锁</a:t>
            </a:r>
            <a:endParaRPr kumimoji="1" lang="zh-CN" altLang="en-US" sz="22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ts val="1200"/>
              </a:spcBef>
            </a:pPr>
            <a:r>
              <a:rPr kumimoji="1" lang="zh-CN" altLang="en-US" sz="2200" dirty="0">
                <a:solidFill>
                  <a:srgbClr val="002060"/>
                </a:solidFill>
                <a:latin typeface="黑体" panose="02010609060101010101" pitchFamily="2" charset="-122"/>
                <a:ea typeface="黑体" panose="02010609060101010101" pitchFamily="2" charset="-122"/>
              </a:rPr>
              <a:t>传递运动和动力</a:t>
            </a:r>
            <a:r>
              <a:rPr kumimoji="1" lang="zh-CN" altLang="en-US" sz="2200" dirty="0" smtClean="0">
                <a:solidFill>
                  <a:srgbClr val="002060"/>
                </a:solidFill>
                <a:latin typeface="黑体" panose="02010609060101010101" pitchFamily="2" charset="-122"/>
                <a:ea typeface="黑体" panose="02010609060101010101" pitchFamily="2" charset="-122"/>
              </a:rPr>
              <a:t>，要求具有较高的运动精度，一般</a:t>
            </a:r>
            <a:r>
              <a:rPr kumimoji="1" lang="zh-CN" altLang="en-US" sz="2200" dirty="0">
                <a:solidFill>
                  <a:srgbClr val="002060"/>
                </a:solidFill>
                <a:latin typeface="黑体" panose="02010609060101010101" pitchFamily="2" charset="-122"/>
                <a:ea typeface="黑体" panose="02010609060101010101" pitchFamily="2" charset="-122"/>
              </a:rPr>
              <a:t>要在较长时间内连续工作，速度较高，效率</a:t>
            </a:r>
            <a:r>
              <a:rPr kumimoji="1" lang="zh-CN" altLang="en-US" sz="2200" dirty="0" smtClean="0">
                <a:solidFill>
                  <a:srgbClr val="002060"/>
                </a:solidFill>
                <a:latin typeface="黑体" panose="02010609060101010101" pitchFamily="2" charset="-122"/>
                <a:ea typeface="黑体" panose="02010609060101010101" pitchFamily="2" charset="-122"/>
              </a:rPr>
              <a:t>较高；</a:t>
            </a:r>
            <a:r>
              <a:rPr kumimoji="1" lang="zh-CN" altLang="en-US" sz="2200" dirty="0">
                <a:solidFill>
                  <a:srgbClr val="FF0000"/>
                </a:solidFill>
                <a:latin typeface="黑体" panose="02010609060101010101" pitchFamily="2" charset="-122"/>
                <a:ea typeface="黑体" panose="02010609060101010101" pitchFamily="2" charset="-122"/>
              </a:rPr>
              <a:t>如机床丝杠，高速</a:t>
            </a:r>
            <a:r>
              <a:rPr kumimoji="1" lang="en-US" altLang="zh-CN" sz="2200" dirty="0">
                <a:solidFill>
                  <a:srgbClr val="FF0000"/>
                </a:solidFill>
                <a:latin typeface="黑体" panose="02010609060101010101" pitchFamily="2" charset="-122"/>
                <a:ea typeface="黑体" panose="02010609060101010101" pitchFamily="2" charset="-122"/>
              </a:rPr>
              <a:t>/</a:t>
            </a:r>
            <a:r>
              <a:rPr kumimoji="1" lang="zh-CN" altLang="en-US" sz="2200" dirty="0">
                <a:solidFill>
                  <a:srgbClr val="FF0000"/>
                </a:solidFill>
                <a:latin typeface="黑体" panose="02010609060101010101" pitchFamily="2" charset="-122"/>
                <a:ea typeface="黑体" panose="02010609060101010101" pitchFamily="2" charset="-122"/>
              </a:rPr>
              <a:t>高效</a:t>
            </a:r>
            <a:r>
              <a:rPr kumimoji="1" lang="en-US" altLang="zh-CN" sz="2200" dirty="0">
                <a:solidFill>
                  <a:srgbClr val="FF0000"/>
                </a:solidFill>
                <a:latin typeface="黑体" panose="02010609060101010101" pitchFamily="2" charset="-122"/>
                <a:ea typeface="黑体" panose="02010609060101010101" pitchFamily="2" charset="-122"/>
              </a:rPr>
              <a:t>/</a:t>
            </a:r>
            <a:r>
              <a:rPr kumimoji="1" lang="zh-CN" altLang="en-US" sz="2200" dirty="0">
                <a:solidFill>
                  <a:srgbClr val="FF0000"/>
                </a:solidFill>
                <a:latin typeface="黑体" panose="02010609060101010101" pitchFamily="2" charset="-122"/>
                <a:ea typeface="黑体" panose="02010609060101010101" pitchFamily="2" charset="-122"/>
              </a:rPr>
              <a:t>高精</a:t>
            </a:r>
            <a:endParaRPr kumimoji="1" lang="zh-CN" altLang="en-US" sz="2200" dirty="0">
              <a:solidFill>
                <a:srgbClr val="FF0000"/>
              </a:solidFill>
              <a:latin typeface="黑体" panose="02010609060101010101" pitchFamily="2" charset="-122"/>
              <a:ea typeface="黑体" panose="02010609060101010101" pitchFamily="2" charset="-122"/>
            </a:endParaRPr>
          </a:p>
        </p:txBody>
      </p:sp>
      <p:sp>
        <p:nvSpPr>
          <p:cNvPr id="7" name="标题 1"/>
          <p:cNvSpPr>
            <a:spLocks noGrp="1"/>
          </p:cNvSpPr>
          <p:nvPr>
            <p:ph type="title"/>
          </p:nvPr>
        </p:nvSpPr>
        <p:spPr/>
        <p:txBody>
          <a:bodyPr/>
          <a:lstStyle/>
          <a:p>
            <a:pPr eaLnBrk="1" hangingPunct="1"/>
            <a:r>
              <a:rPr lang="zh-CN" altLang="en-US" sz="2800" b="0" dirty="0" smtClean="0">
                <a:solidFill>
                  <a:srgbClr val="0000FF"/>
                </a:solidFill>
                <a:latin typeface="黑体" panose="02010609060101010101" pitchFamily="2" charset="-122"/>
                <a:ea typeface="黑体" panose="02010609060101010101" pitchFamily="2" charset="-122"/>
              </a:rPr>
              <a:t>一、螺旋传动的类型和应用</a:t>
            </a:r>
            <a:endParaRPr lang="zh-CN" altLang="en-US" sz="2800" b="0" dirty="0" smtClean="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animEffect transition="in" filter="wipe(left)">
                                      <p:cBhvr>
                                        <p:cTn id="7" dur="500"/>
                                        <p:tgtEl>
                                          <p:spTgt spid="215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09">
                                            <p:txEl>
                                              <p:pRg st="1" end="1"/>
                                            </p:txEl>
                                          </p:spTgt>
                                        </p:tgtEl>
                                        <p:attrNameLst>
                                          <p:attrName>style.visibility</p:attrName>
                                        </p:attrNameLst>
                                      </p:cBhvr>
                                      <p:to>
                                        <p:strVal val="visible"/>
                                      </p:to>
                                    </p:set>
                                    <p:animEffect transition="in" filter="wipe(left)">
                                      <p:cBhvr>
                                        <p:cTn id="12" dur="500"/>
                                        <p:tgtEl>
                                          <p:spTgt spid="21509">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1509">
                                            <p:txEl>
                                              <p:pRg st="2" end="2"/>
                                            </p:txEl>
                                          </p:spTgt>
                                        </p:tgtEl>
                                        <p:attrNameLst>
                                          <p:attrName>style.visibility</p:attrName>
                                        </p:attrNameLst>
                                      </p:cBhvr>
                                      <p:to>
                                        <p:strVal val="visible"/>
                                      </p:to>
                                    </p:set>
                                    <p:animEffect transition="in" filter="wipe(left)">
                                      <p:cBhvr>
                                        <p:cTn id="15" dur="500"/>
                                        <p:tgtEl>
                                          <p:spTgt spid="21509">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1509">
                                            <p:txEl>
                                              <p:pRg st="4" end="4"/>
                                            </p:txEl>
                                          </p:spTgt>
                                        </p:tgtEl>
                                        <p:attrNameLst>
                                          <p:attrName>style.visibility</p:attrName>
                                        </p:attrNameLst>
                                      </p:cBhvr>
                                      <p:to>
                                        <p:strVal val="visible"/>
                                      </p:to>
                                    </p:set>
                                    <p:animEffect transition="in" filter="wipe(left)">
                                      <p:cBhvr>
                                        <p:cTn id="18" dur="500"/>
                                        <p:tgtEl>
                                          <p:spTgt spid="21509">
                                            <p:txEl>
                                              <p:pRg st="4" end="4"/>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1509">
                                            <p:txEl>
                                              <p:pRg st="7" end="7"/>
                                            </p:txEl>
                                          </p:spTgt>
                                        </p:tgtEl>
                                        <p:attrNameLst>
                                          <p:attrName>style.visibility</p:attrName>
                                        </p:attrNameLst>
                                      </p:cBhvr>
                                      <p:to>
                                        <p:strVal val="visible"/>
                                      </p:to>
                                    </p:set>
                                    <p:animEffect transition="in" filter="wipe(left)">
                                      <p:cBhvr>
                                        <p:cTn id="21" dur="500"/>
                                        <p:tgtEl>
                                          <p:spTgt spid="21509">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1508">
                                            <p:txEl>
                                              <p:pRg st="0" end="0"/>
                                            </p:txEl>
                                          </p:spTgt>
                                        </p:tgtEl>
                                        <p:attrNameLst>
                                          <p:attrName>style.visibility</p:attrName>
                                        </p:attrNameLst>
                                      </p:cBhvr>
                                      <p:to>
                                        <p:strVal val="visible"/>
                                      </p:to>
                                    </p:set>
                                    <p:animEffect transition="in" filter="wipe(left)">
                                      <p:cBhvr>
                                        <p:cTn id="26" dur="500"/>
                                        <p:tgtEl>
                                          <p:spTgt spid="2150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1508">
                                            <p:txEl>
                                              <p:pRg st="1" end="1"/>
                                            </p:txEl>
                                          </p:spTgt>
                                        </p:tgtEl>
                                        <p:attrNameLst>
                                          <p:attrName>style.visibility</p:attrName>
                                        </p:attrNameLst>
                                      </p:cBhvr>
                                      <p:to>
                                        <p:strVal val="visible"/>
                                      </p:to>
                                    </p:set>
                                    <p:animEffect transition="in" filter="wipe(left)">
                                      <p:cBhvr>
                                        <p:cTn id="31" dur="500"/>
                                        <p:tgtEl>
                                          <p:spTgt spid="2150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1508">
                                            <p:txEl>
                                              <p:pRg st="2" end="2"/>
                                            </p:txEl>
                                          </p:spTgt>
                                        </p:tgtEl>
                                        <p:attrNameLst>
                                          <p:attrName>style.visibility</p:attrName>
                                        </p:attrNameLst>
                                      </p:cBhvr>
                                      <p:to>
                                        <p:strVal val="visible"/>
                                      </p:to>
                                    </p:set>
                                    <p:animEffect transition="in" filter="wipe(left)">
                                      <p:cBhvr>
                                        <p:cTn id="36" dur="500"/>
                                        <p:tgtEl>
                                          <p:spTgt spid="2150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8" descr="6%B8%B1%B1%BE"/>
          <p:cNvPicPr>
            <a:picLocks noChangeAspect="1" noChangeArrowheads="1"/>
          </p:cNvPicPr>
          <p:nvPr/>
        </p:nvPicPr>
        <p:blipFill>
          <a:blip r:embed="rId1">
            <a:extLst>
              <a:ext uri="{28A0092B-C50C-407E-A947-70E740481C1C}">
                <a14:useLocalDpi xmlns:a14="http://schemas.microsoft.com/office/drawing/2010/main" val="0"/>
              </a:ext>
            </a:extLst>
          </a:blip>
          <a:srcRect l="61" t="7657" b="424"/>
          <a:stretch>
            <a:fillRect/>
          </a:stretch>
        </p:blipFill>
        <p:spPr bwMode="auto">
          <a:xfrm>
            <a:off x="377121" y="1132488"/>
            <a:ext cx="4659976"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054402" y="1050955"/>
            <a:ext cx="3780928" cy="2677656"/>
          </a:xfrm>
          <a:prstGeom prst="rect">
            <a:avLst/>
          </a:prstGeom>
          <a:noFill/>
        </p:spPr>
        <p:txBody>
          <a:bodyPr wrap="square" rtlCol="0">
            <a:spAutoFit/>
          </a:bodyPr>
          <a:lstStyle/>
          <a:p>
            <a:pPr>
              <a:lnSpc>
                <a:spcPct val="120000"/>
              </a:lnSpc>
            </a:pPr>
            <a:r>
              <a:rPr lang="zh-CN" altLang="en-US" sz="2000" dirty="0" smtClean="0">
                <a:latin typeface="黑体" panose="02010609060101010101" pitchFamily="2" charset="-122"/>
                <a:ea typeface="黑体" panose="02010609060101010101" pitchFamily="2" charset="-122"/>
              </a:rPr>
              <a:t>    测微螺杆与固定刻度之间的精密螺纹的螺距为</a:t>
            </a:r>
            <a:r>
              <a:rPr lang="en-US" altLang="zh-CN" sz="2000" dirty="0" smtClean="0">
                <a:latin typeface="黑体" panose="02010609060101010101" pitchFamily="2" charset="-122"/>
                <a:ea typeface="黑体" panose="02010609060101010101" pitchFamily="2" charset="-122"/>
              </a:rPr>
              <a:t>0.5mm</a:t>
            </a:r>
            <a:r>
              <a:rPr lang="zh-CN" altLang="en-US" sz="2000" dirty="0" smtClean="0">
                <a:latin typeface="黑体" panose="02010609060101010101" pitchFamily="2" charset="-122"/>
                <a:ea typeface="黑体" panose="02010609060101010101" pitchFamily="2" charset="-122"/>
              </a:rPr>
              <a:t>，即旋钮每旋转一周前进或后退</a:t>
            </a:r>
            <a:r>
              <a:rPr lang="en-US" altLang="zh-CN" sz="2000" dirty="0" smtClean="0">
                <a:latin typeface="黑体" panose="02010609060101010101" pitchFamily="2" charset="-122"/>
                <a:ea typeface="黑体" panose="02010609060101010101" pitchFamily="2" charset="-122"/>
              </a:rPr>
              <a:t>0.5mm;</a:t>
            </a:r>
            <a:endParaRPr lang="en-US" altLang="zh-CN" sz="2000" dirty="0" smtClean="0">
              <a:latin typeface="黑体" panose="02010609060101010101" pitchFamily="2" charset="-122"/>
              <a:ea typeface="黑体" panose="02010609060101010101" pitchFamily="2" charset="-122"/>
            </a:endParaRPr>
          </a:p>
          <a:p>
            <a:pPr>
              <a:lnSpc>
                <a:spcPct val="120000"/>
              </a:lnSpc>
            </a:pPr>
            <a:r>
              <a:rPr lang="zh-CN" altLang="en-US" sz="2000" dirty="0" smtClean="0">
                <a:latin typeface="黑体" panose="02010609060101010101" pitchFamily="2" charset="-122"/>
                <a:ea typeface="黑体" panose="02010609060101010101" pitchFamily="2" charset="-122"/>
              </a:rPr>
              <a:t>   可动刻度这一周</a:t>
            </a:r>
            <a:r>
              <a:rPr lang="en-US" altLang="zh-CN" sz="2000" dirty="0" smtClean="0">
                <a:latin typeface="黑体" panose="02010609060101010101" pitchFamily="2" charset="-122"/>
                <a:ea typeface="黑体" panose="02010609060101010101" pitchFamily="2" charset="-122"/>
              </a:rPr>
              <a:t>50</a:t>
            </a:r>
            <a:r>
              <a:rPr lang="zh-CN" altLang="en-US" sz="2000" dirty="0" smtClean="0">
                <a:latin typeface="黑体" panose="02010609060101010101" pitchFamily="2" charset="-122"/>
                <a:ea typeface="黑体" panose="02010609060101010101" pitchFamily="2" charset="-122"/>
              </a:rPr>
              <a:t>等份，每转动一小格，前进或后退）</a:t>
            </a:r>
            <a:r>
              <a:rPr lang="en-US" altLang="zh-CN" sz="2000" dirty="0" smtClean="0">
                <a:latin typeface="黑体" panose="02010609060101010101" pitchFamily="2" charset="-122"/>
                <a:ea typeface="黑体" panose="02010609060101010101" pitchFamily="2" charset="-122"/>
              </a:rPr>
              <a:t>0.01mm</a:t>
            </a:r>
            <a:r>
              <a:rPr lang="zh-CN" altLang="en-US" sz="2000" dirty="0" smtClean="0">
                <a:latin typeface="黑体" panose="02010609060101010101" pitchFamily="2" charset="-122"/>
                <a:ea typeface="黑体" panose="02010609060101010101" pitchFamily="2" charset="-122"/>
              </a:rPr>
              <a:t>，即螺旋测微器的精确度为</a:t>
            </a:r>
            <a:r>
              <a:rPr lang="en-US" altLang="zh-CN" sz="2000" dirty="0" smtClean="0">
                <a:latin typeface="黑体" panose="02010609060101010101" pitchFamily="2" charset="-122"/>
                <a:ea typeface="黑体" panose="02010609060101010101" pitchFamily="2" charset="-122"/>
              </a:rPr>
              <a:t>0.01mm</a:t>
            </a:r>
            <a:endParaRPr lang="zh-CN" altLang="en-US" sz="2000" dirty="0">
              <a:latin typeface="黑体" panose="02010609060101010101" pitchFamily="2" charset="-122"/>
              <a:ea typeface="黑体" panose="02010609060101010101" pitchFamily="2" charset="-122"/>
            </a:endParaRPr>
          </a:p>
        </p:txBody>
      </p:sp>
      <p:sp>
        <p:nvSpPr>
          <p:cNvPr id="6" name="文本框 5"/>
          <p:cNvSpPr txBox="1"/>
          <p:nvPr/>
        </p:nvSpPr>
        <p:spPr>
          <a:xfrm>
            <a:off x="680538" y="260648"/>
            <a:ext cx="2304256" cy="460375"/>
          </a:xfrm>
          <a:prstGeom prst="rect">
            <a:avLst/>
          </a:prstGeom>
          <a:noFill/>
        </p:spPr>
        <p:txBody>
          <a:bodyPr wrap="square" rtlCol="0">
            <a:spAutoFit/>
          </a:bodyPr>
          <a:lstStyle/>
          <a:p>
            <a:r>
              <a:rPr lang="zh-CN" altLang="en-US" sz="2400" dirty="0" smtClean="0">
                <a:solidFill>
                  <a:srgbClr val="FF0000"/>
                </a:solidFill>
                <a:latin typeface="黑体" panose="02010609060101010101" pitchFamily="2" charset="-122"/>
                <a:ea typeface="黑体" panose="02010609060101010101" pitchFamily="2" charset="-122"/>
              </a:rPr>
              <a:t>调整螺旋</a:t>
            </a:r>
            <a:endParaRPr lang="zh-CN" altLang="en-US" sz="2400" dirty="0">
              <a:solidFill>
                <a:srgbClr val="FF0000"/>
              </a:solidFill>
              <a:latin typeface="黑体" panose="02010609060101010101" pitchFamily="2" charset="-122"/>
              <a:ea typeface="黑体" panose="02010609060101010101" pitchFamily="2" charset="-122"/>
            </a:endParaRPr>
          </a:p>
        </p:txBody>
      </p:sp>
      <p:sp>
        <p:nvSpPr>
          <p:cNvPr id="8" name="Rectangle 16"/>
          <p:cNvSpPr>
            <a:spLocks noChangeArrowheads="1"/>
          </p:cNvSpPr>
          <p:nvPr/>
        </p:nvSpPr>
        <p:spPr bwMode="auto">
          <a:xfrm>
            <a:off x="5815186" y="6296238"/>
            <a:ext cx="1356591" cy="38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FF3300"/>
                </a:solidFill>
                <a:ea typeface="宋体" panose="02010600030101010101" pitchFamily="2" charset="-122"/>
              </a:rPr>
              <a:t>微调镗刀杆</a:t>
            </a:r>
            <a:endParaRPr lang="zh-CN" altLang="en-US" sz="2000" b="1" dirty="0">
              <a:solidFill>
                <a:srgbClr val="FF3300"/>
              </a:solidFill>
              <a:ea typeface="宋体" panose="02010600030101010101" pitchFamily="2" charset="-122"/>
            </a:endParaRPr>
          </a:p>
        </p:txBody>
      </p:sp>
      <p:grpSp>
        <p:nvGrpSpPr>
          <p:cNvPr id="34" name="组合 33"/>
          <p:cNvGrpSpPr/>
          <p:nvPr/>
        </p:nvGrpSpPr>
        <p:grpSpPr>
          <a:xfrm>
            <a:off x="5004048" y="4293096"/>
            <a:ext cx="3389272" cy="2016224"/>
            <a:chOff x="5004048" y="4293096"/>
            <a:chExt cx="3389272" cy="2016224"/>
          </a:xfrm>
        </p:grpSpPr>
        <p:pic>
          <p:nvPicPr>
            <p:cNvPr id="7" name="Picture 9" descr="t32-2"/>
            <p:cNvPicPr>
              <a:picLocks noChangeAspect="1" noChangeArrowheads="1"/>
            </p:cNvPicPr>
            <p:nvPr/>
          </p:nvPicPr>
          <p:blipFill>
            <a:blip r:embed="rId2">
              <a:lum contrast="72000"/>
              <a:extLst>
                <a:ext uri="{28A0092B-C50C-407E-A947-70E740481C1C}">
                  <a14:useLocalDpi xmlns:a14="http://schemas.microsoft.com/office/drawing/2010/main" val="0"/>
                </a:ext>
              </a:extLst>
            </a:blip>
            <a:srcRect/>
            <a:stretch>
              <a:fillRect/>
            </a:stretch>
          </p:blipFill>
          <p:spPr bwMode="auto">
            <a:xfrm>
              <a:off x="5004048" y="4293096"/>
              <a:ext cx="3389272"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nvCxnSpPr>
          <p:spPr>
            <a:xfrm>
              <a:off x="5930730" y="5136817"/>
              <a:ext cx="648072" cy="0"/>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5939459" y="5484553"/>
              <a:ext cx="648072" cy="0"/>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551381" y="5095761"/>
              <a:ext cx="511900" cy="1774"/>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560111" y="5534411"/>
              <a:ext cx="500988" cy="6140"/>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925871" y="5368743"/>
              <a:ext cx="500988" cy="6140"/>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32325" y="5263318"/>
              <a:ext cx="500988" cy="6140"/>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422776" y="5236823"/>
              <a:ext cx="182659" cy="2514"/>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403413" y="5406793"/>
              <a:ext cx="204175" cy="2514"/>
            </a:xfrm>
            <a:prstGeom prst="line">
              <a:avLst/>
            </a:prstGeom>
            <a:ln w="9525" cmpd="thickThi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文本框 34"/>
          <p:cNvSpPr txBox="1"/>
          <p:nvPr/>
        </p:nvSpPr>
        <p:spPr>
          <a:xfrm>
            <a:off x="2852794" y="4143935"/>
            <a:ext cx="1981199" cy="430887"/>
          </a:xfrm>
          <a:prstGeom prst="rect">
            <a:avLst/>
          </a:prstGeom>
          <a:noFill/>
        </p:spPr>
        <p:txBody>
          <a:bodyPr wrap="square" rtlCol="0">
            <a:spAutoFit/>
          </a:bodyPr>
          <a:lstStyle/>
          <a:p>
            <a:r>
              <a:rPr lang="zh-CN" altLang="en-US" sz="2200" dirty="0" smtClean="0">
                <a:latin typeface="黑体" panose="02010609060101010101" pitchFamily="2" charset="-122"/>
                <a:ea typeface="黑体" panose="02010609060101010101" pitchFamily="2" charset="-122"/>
              </a:rPr>
              <a:t>双螺旋传动</a:t>
            </a:r>
            <a:endParaRPr lang="zh-CN" altLang="en-US" sz="2200" dirty="0">
              <a:latin typeface="黑体" panose="02010609060101010101" pitchFamily="2" charset="-122"/>
              <a:ea typeface="黑体" panose="02010609060101010101" pitchFamily="2" charset="-122"/>
            </a:endParaRPr>
          </a:p>
        </p:txBody>
      </p:sp>
      <p:sp>
        <p:nvSpPr>
          <p:cNvPr id="10" name="文本框 9"/>
          <p:cNvSpPr txBox="1"/>
          <p:nvPr/>
        </p:nvSpPr>
        <p:spPr>
          <a:xfrm>
            <a:off x="404495" y="4591050"/>
            <a:ext cx="4685030" cy="1753235"/>
          </a:xfrm>
          <a:prstGeom prst="rect">
            <a:avLst/>
          </a:prstGeom>
          <a:noFill/>
          <a:ln>
            <a:solidFill>
              <a:srgbClr val="0070C0"/>
            </a:solidFill>
          </a:ln>
        </p:spPr>
        <p:txBody>
          <a:bodyPr wrap="square" rtlCol="0">
            <a:spAutoFit/>
          </a:bodyPr>
          <a:p>
            <a:r>
              <a:rPr lang="zh-CN" altLang="en-US"/>
              <a:t>螺母</a:t>
            </a:r>
            <a:r>
              <a:rPr lang="en-US" altLang="zh-CN"/>
              <a:t>3</a:t>
            </a:r>
            <a:r>
              <a:rPr lang="zh-CN" altLang="en-US"/>
              <a:t>固定于镗杆</a:t>
            </a:r>
            <a:r>
              <a:rPr lang="en-US" altLang="zh-CN"/>
              <a:t>4</a:t>
            </a:r>
            <a:r>
              <a:rPr lang="zh-CN" altLang="en-US"/>
              <a:t>，螺杆</a:t>
            </a:r>
            <a:r>
              <a:rPr lang="en-US" altLang="zh-CN"/>
              <a:t>1</a:t>
            </a:r>
            <a:r>
              <a:rPr lang="zh-CN" altLang="en-US"/>
              <a:t>与</a:t>
            </a:r>
            <a:r>
              <a:rPr lang="zh-CN" altLang="en-US">
                <a:solidFill>
                  <a:srgbClr val="FF0000"/>
                </a:solidFill>
              </a:rPr>
              <a:t>螺母</a:t>
            </a:r>
            <a:r>
              <a:rPr lang="en-US" altLang="zh-CN">
                <a:solidFill>
                  <a:srgbClr val="FF0000"/>
                </a:solidFill>
              </a:rPr>
              <a:t>3</a:t>
            </a:r>
            <a:r>
              <a:rPr lang="zh-CN" altLang="en-US"/>
              <a:t>组成螺旋副</a:t>
            </a:r>
            <a:r>
              <a:rPr lang="en-US" altLang="zh-CN"/>
              <a:t>A</a:t>
            </a:r>
            <a:r>
              <a:rPr lang="zh-CN" altLang="en-US"/>
              <a:t>，同时与</a:t>
            </a:r>
            <a:r>
              <a:rPr lang="zh-CN" altLang="en-US">
                <a:solidFill>
                  <a:srgbClr val="FF0000"/>
                </a:solidFill>
              </a:rPr>
              <a:t>螺母</a:t>
            </a:r>
            <a:r>
              <a:rPr lang="en-US" altLang="zh-CN">
                <a:solidFill>
                  <a:srgbClr val="FF0000"/>
                </a:solidFill>
              </a:rPr>
              <a:t>2</a:t>
            </a:r>
            <a:r>
              <a:rPr lang="zh-CN" altLang="en-US"/>
              <a:t>组成螺旋副</a:t>
            </a:r>
            <a:r>
              <a:rPr lang="en-US" altLang="zh-CN"/>
              <a:t>B</a:t>
            </a:r>
            <a:r>
              <a:rPr lang="zh-CN" altLang="en-US"/>
              <a:t>。螺母</a:t>
            </a:r>
            <a:r>
              <a:rPr lang="en-US" altLang="zh-CN"/>
              <a:t>2</a:t>
            </a:r>
            <a:r>
              <a:rPr lang="zh-CN" altLang="en-US"/>
              <a:t>的末端是镗刀，与</a:t>
            </a:r>
            <a:r>
              <a:rPr lang="en-US" altLang="zh-CN"/>
              <a:t>3</a:t>
            </a:r>
            <a:r>
              <a:rPr lang="zh-CN" altLang="en-US"/>
              <a:t>组成移动副。螺旋副</a:t>
            </a:r>
            <a:r>
              <a:rPr lang="en-US" altLang="zh-CN"/>
              <a:t>A</a:t>
            </a:r>
            <a:r>
              <a:rPr lang="zh-CN" altLang="en-US"/>
              <a:t>与</a:t>
            </a:r>
            <a:r>
              <a:rPr lang="en-US" altLang="zh-CN"/>
              <a:t>B</a:t>
            </a:r>
            <a:r>
              <a:rPr lang="zh-CN" altLang="en-US"/>
              <a:t>旋向相同而导程不同，组成一个</a:t>
            </a:r>
            <a:r>
              <a:rPr lang="zh-CN" altLang="en-US">
                <a:solidFill>
                  <a:srgbClr val="FF0000"/>
                </a:solidFill>
              </a:rPr>
              <a:t>差动螺旋</a:t>
            </a:r>
            <a:r>
              <a:rPr lang="zh-CN" altLang="en-US"/>
              <a:t>，转动</a:t>
            </a:r>
            <a:r>
              <a:rPr lang="en-US" altLang="zh-CN"/>
              <a:t>1</a:t>
            </a:r>
            <a:r>
              <a:rPr lang="zh-CN" altLang="en-US"/>
              <a:t>时，镗刀相对于镗杆微量移动，以调整镗孔的进刀量。</a:t>
            </a:r>
            <a:endParaRPr lang="zh-CN" altLang="en-US"/>
          </a:p>
        </p:txBody>
      </p:sp>
      <p:grpSp>
        <p:nvGrpSpPr>
          <p:cNvPr id="18" name="组合 17"/>
          <p:cNvGrpSpPr/>
          <p:nvPr/>
        </p:nvGrpSpPr>
        <p:grpSpPr>
          <a:xfrm>
            <a:off x="5738495" y="5085715"/>
            <a:ext cx="1694180" cy="426720"/>
            <a:chOff x="9037" y="8009"/>
            <a:chExt cx="2668" cy="672"/>
          </a:xfrm>
        </p:grpSpPr>
        <p:sp>
          <p:nvSpPr>
            <p:cNvPr id="2" name="矩形 1"/>
            <p:cNvSpPr/>
            <p:nvPr/>
          </p:nvSpPr>
          <p:spPr>
            <a:xfrm>
              <a:off x="9368" y="8009"/>
              <a:ext cx="933" cy="672"/>
            </a:xfrm>
            <a:prstGeom prst="rect">
              <a:avLst/>
            </a:prstGeom>
            <a:solidFill>
              <a:srgbClr val="92D050">
                <a:alpha val="43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9037" y="8125"/>
              <a:ext cx="256" cy="433"/>
            </a:xfrm>
            <a:prstGeom prst="rect">
              <a:avLst/>
            </a:prstGeom>
            <a:solidFill>
              <a:srgbClr val="92D050">
                <a:alpha val="43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10376" y="8220"/>
              <a:ext cx="432" cy="302"/>
            </a:xfrm>
            <a:prstGeom prst="rect">
              <a:avLst/>
            </a:prstGeom>
            <a:solidFill>
              <a:srgbClr val="92D050">
                <a:alpha val="43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10907" y="8251"/>
              <a:ext cx="798" cy="264"/>
            </a:xfrm>
            <a:prstGeom prst="rect">
              <a:avLst/>
            </a:prstGeom>
            <a:solidFill>
              <a:srgbClr val="92D050">
                <a:alpha val="43000"/>
              </a:srgbClr>
            </a:solidFill>
            <a:ln w="12700"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斜纹 14"/>
            <p:cNvSpPr/>
            <p:nvPr/>
          </p:nvSpPr>
          <p:spPr>
            <a:xfrm rot="18900000">
              <a:off x="9131" y="8128"/>
              <a:ext cx="475" cy="463"/>
            </a:xfrm>
            <a:prstGeom prst="diagStripe">
              <a:avLst>
                <a:gd name="adj" fmla="val 83030"/>
              </a:avLst>
            </a:prstGeom>
            <a:solidFill>
              <a:srgbClr val="92D050">
                <a:alpha val="32000"/>
              </a:srgbClr>
            </a:solidFill>
            <a:ln w="12700">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6" name="斜纹 15"/>
            <p:cNvSpPr/>
            <p:nvPr/>
          </p:nvSpPr>
          <p:spPr>
            <a:xfrm rot="2700000" flipH="1">
              <a:off x="10087" y="8118"/>
              <a:ext cx="475" cy="463"/>
            </a:xfrm>
            <a:prstGeom prst="diagStripe">
              <a:avLst>
                <a:gd name="adj" fmla="val 83030"/>
              </a:avLst>
            </a:prstGeom>
            <a:solidFill>
              <a:srgbClr val="92D050">
                <a:alpha val="32000"/>
              </a:srgbClr>
            </a:solidFill>
            <a:ln w="12700">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grpSp>
      <p:pic>
        <p:nvPicPr>
          <p:cNvPr id="13323" name="图片 1073742872" descr="44303071dc0a1f9688d599dbc999570副本"/>
          <p:cNvPicPr>
            <a:picLocks noChangeAspect="1"/>
          </p:cNvPicPr>
          <p:nvPr/>
        </p:nvPicPr>
        <p:blipFill>
          <a:blip r:embed="rId3"/>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left)">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5" grpId="0"/>
      <p:bldP spid="1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6" descr="p2-1jichuangleixing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725" y="1303338"/>
            <a:ext cx="8751888"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2555776" y="5805264"/>
            <a:ext cx="3240360" cy="646331"/>
          </a:xfrm>
          <a:prstGeom prst="rect">
            <a:avLst/>
          </a:prstGeom>
          <a:noFill/>
        </p:spPr>
        <p:txBody>
          <a:bodyPr wrap="square" rtlCol="0">
            <a:spAutoFit/>
          </a:bodyPr>
          <a:lstStyle/>
          <a:p>
            <a:pPr>
              <a:lnSpc>
                <a:spcPct val="150000"/>
              </a:lnSpc>
            </a:pPr>
            <a:r>
              <a:rPr lang="zh-CN" altLang="en-US" sz="2400" dirty="0" smtClean="0">
                <a:solidFill>
                  <a:srgbClr val="002060"/>
                </a:solidFill>
                <a:latin typeface="黑体" panose="02010609060101010101" pitchFamily="2" charset="-122"/>
                <a:ea typeface="黑体" panose="02010609060101010101" pitchFamily="2" charset="-122"/>
              </a:rPr>
              <a:t>螺杆转动，螺母移动</a:t>
            </a:r>
            <a:endParaRPr lang="en-US" altLang="zh-CN" sz="2400" dirty="0" smtClean="0">
              <a:solidFill>
                <a:srgbClr val="002060"/>
              </a:solidFill>
              <a:latin typeface="黑体" panose="02010609060101010101" pitchFamily="2" charset="-122"/>
              <a:ea typeface="黑体" panose="02010609060101010101" pitchFamily="2" charset="-122"/>
            </a:endParaRPr>
          </a:p>
        </p:txBody>
      </p:sp>
      <p:sp>
        <p:nvSpPr>
          <p:cNvPr id="6" name="文本框 5"/>
          <p:cNvSpPr txBox="1"/>
          <p:nvPr/>
        </p:nvSpPr>
        <p:spPr>
          <a:xfrm>
            <a:off x="650693" y="311448"/>
            <a:ext cx="2304256" cy="460375"/>
          </a:xfrm>
          <a:prstGeom prst="rect">
            <a:avLst/>
          </a:prstGeom>
          <a:noFill/>
        </p:spPr>
        <p:txBody>
          <a:bodyPr wrap="square" rtlCol="0">
            <a:spAutoFit/>
          </a:bodyPr>
          <a:lstStyle/>
          <a:p>
            <a:r>
              <a:rPr lang="zh-CN" altLang="en-US" sz="2400" dirty="0" smtClean="0">
                <a:solidFill>
                  <a:srgbClr val="FF0000"/>
                </a:solidFill>
                <a:latin typeface="黑体" panose="02010609060101010101" pitchFamily="2" charset="-122"/>
                <a:ea typeface="黑体" panose="02010609060101010101" pitchFamily="2" charset="-122"/>
              </a:rPr>
              <a:t>传导螺旋</a:t>
            </a:r>
            <a:endParaRPr lang="zh-CN" altLang="en-US" sz="2400" dirty="0">
              <a:solidFill>
                <a:srgbClr val="FF0000"/>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Picture 4" descr="千斤顶"/>
          <p:cNvPicPr>
            <a:picLocks noChangeAspect="1" noChangeArrowheads="1" noCrop="1"/>
          </p:cNvPicPr>
          <p:nvPr/>
        </p:nvPicPr>
        <p:blipFill>
          <a:blip r:embed="rId1"/>
          <a:srcRect/>
          <a:stretch>
            <a:fillRect/>
          </a:stretch>
        </p:blipFill>
        <p:spPr bwMode="auto">
          <a:xfrm>
            <a:off x="1619672" y="1124744"/>
            <a:ext cx="7215188"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07504" y="1988840"/>
            <a:ext cx="1512168" cy="1536511"/>
          </a:xfrm>
          <a:prstGeom prst="rect">
            <a:avLst/>
          </a:prstGeom>
          <a:noFill/>
        </p:spPr>
        <p:txBody>
          <a:bodyPr wrap="square" rtlCol="0">
            <a:spAutoFit/>
          </a:bodyPr>
          <a:lstStyle/>
          <a:p>
            <a:pPr>
              <a:lnSpc>
                <a:spcPct val="150000"/>
              </a:lnSpc>
            </a:pPr>
            <a:r>
              <a:rPr lang="zh-CN" altLang="en-US" sz="2200" dirty="0" smtClean="0">
                <a:solidFill>
                  <a:srgbClr val="002060"/>
                </a:solidFill>
                <a:latin typeface="黑体" panose="02010609060101010101" pitchFamily="2" charset="-122"/>
                <a:ea typeface="黑体" panose="02010609060101010101" pitchFamily="2" charset="-122"/>
              </a:rPr>
              <a:t>螺母固定，</a:t>
            </a:r>
            <a:endParaRPr lang="en-US" altLang="zh-CN" sz="2200" dirty="0" smtClean="0">
              <a:solidFill>
                <a:srgbClr val="002060"/>
              </a:solidFill>
              <a:latin typeface="黑体" panose="02010609060101010101" pitchFamily="2" charset="-122"/>
              <a:ea typeface="黑体" panose="02010609060101010101" pitchFamily="2" charset="-122"/>
            </a:endParaRPr>
          </a:p>
          <a:p>
            <a:pPr>
              <a:lnSpc>
                <a:spcPct val="150000"/>
              </a:lnSpc>
            </a:pPr>
            <a:r>
              <a:rPr lang="zh-CN" altLang="en-US" sz="2200" dirty="0" smtClean="0">
                <a:solidFill>
                  <a:srgbClr val="002060"/>
                </a:solidFill>
                <a:latin typeface="黑体" panose="02010609060101010101" pitchFamily="2" charset="-122"/>
                <a:ea typeface="黑体" panose="02010609060101010101" pitchFamily="2" charset="-122"/>
              </a:rPr>
              <a:t>螺杆转动并移动</a:t>
            </a:r>
            <a:endParaRPr lang="zh-CN" altLang="en-US" sz="2200" dirty="0">
              <a:solidFill>
                <a:srgbClr val="002060"/>
              </a:solidFill>
              <a:latin typeface="黑体" panose="02010609060101010101" pitchFamily="2" charset="-122"/>
              <a:ea typeface="黑体" panose="02010609060101010101" pitchFamily="2" charset="-122"/>
            </a:endParaRPr>
          </a:p>
        </p:txBody>
      </p:sp>
      <p:sp>
        <p:nvSpPr>
          <p:cNvPr id="2" name="文本框 1"/>
          <p:cNvSpPr txBox="1"/>
          <p:nvPr/>
        </p:nvSpPr>
        <p:spPr>
          <a:xfrm>
            <a:off x="6855278" y="260648"/>
            <a:ext cx="2304256" cy="460375"/>
          </a:xfrm>
          <a:prstGeom prst="rect">
            <a:avLst/>
          </a:prstGeom>
          <a:noFill/>
        </p:spPr>
        <p:txBody>
          <a:bodyPr wrap="square" rtlCol="0">
            <a:spAutoFit/>
          </a:bodyPr>
          <a:lstStyle/>
          <a:p>
            <a:r>
              <a:rPr lang="zh-CN" altLang="en-US" sz="2400" dirty="0" smtClean="0">
                <a:solidFill>
                  <a:srgbClr val="FF0000"/>
                </a:solidFill>
                <a:latin typeface="黑体" panose="02010609060101010101" pitchFamily="2" charset="-122"/>
                <a:ea typeface="黑体" panose="02010609060101010101" pitchFamily="2" charset="-122"/>
              </a:rPr>
              <a:t>传力螺旋</a:t>
            </a:r>
            <a:endParaRPr lang="zh-CN" altLang="en-US" sz="2400" dirty="0">
              <a:solidFill>
                <a:srgbClr val="FF0000"/>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8"/>
          <p:cNvSpPr>
            <a:spLocks noChangeArrowheads="1"/>
          </p:cNvSpPr>
          <p:nvPr/>
        </p:nvSpPr>
        <p:spPr bwMode="auto">
          <a:xfrm>
            <a:off x="440373" y="1076960"/>
            <a:ext cx="8104187"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en-US" altLang="zh-CN" sz="2400" dirty="0">
                <a:solidFill>
                  <a:srgbClr val="002060"/>
                </a:solidFill>
                <a:latin typeface="黑体" panose="02010609060101010101" pitchFamily="2" charset="-122"/>
                <a:ea typeface="黑体" panose="02010609060101010101" pitchFamily="2" charset="-122"/>
              </a:rPr>
              <a:t>2</a:t>
            </a:r>
            <a:r>
              <a:rPr kumimoji="1" lang="zh-CN" altLang="en-US" sz="2400" dirty="0">
                <a:solidFill>
                  <a:srgbClr val="002060"/>
                </a:solidFill>
                <a:latin typeface="黑体" panose="02010609060101010101" pitchFamily="2" charset="-122"/>
                <a:ea typeface="黑体" panose="02010609060101010101" pitchFamily="2" charset="-122"/>
              </a:rPr>
              <a:t>）</a:t>
            </a:r>
            <a:r>
              <a:rPr kumimoji="1" lang="zh-CN" altLang="en-US" sz="2400" dirty="0">
                <a:solidFill>
                  <a:srgbClr val="002060"/>
                </a:solidFill>
                <a:latin typeface="黑体" panose="02010609060101010101" pitchFamily="2" charset="-122"/>
                <a:ea typeface="黑体" panose="02010609060101010101" pitchFamily="2" charset="-122"/>
              </a:rPr>
              <a:t>按螺纹间摩擦性质可分为</a:t>
            </a:r>
            <a:r>
              <a:rPr kumimoji="1" lang="en-US" altLang="zh-CN" sz="2400" dirty="0">
                <a:solidFill>
                  <a:srgbClr val="002060"/>
                </a:solidFill>
                <a:latin typeface="黑体" panose="02010609060101010101" pitchFamily="2" charset="-122"/>
                <a:ea typeface="黑体" panose="02010609060101010101" pitchFamily="2" charset="-122"/>
              </a:rPr>
              <a:t>:</a:t>
            </a:r>
            <a:endParaRPr kumimoji="1" lang="en-US" altLang="zh-CN" sz="2400" dirty="0">
              <a:solidFill>
                <a:srgbClr val="00206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en-US" altLang="zh-CN" sz="2400" dirty="0">
                <a:solidFill>
                  <a:srgbClr val="002060"/>
                </a:solidFill>
                <a:latin typeface="黑体" panose="02010609060101010101" pitchFamily="2" charset="-122"/>
                <a:ea typeface="黑体" panose="02010609060101010101" pitchFamily="2" charset="-122"/>
              </a:rPr>
              <a:t>   </a:t>
            </a:r>
            <a:r>
              <a:rPr kumimoji="1" lang="zh-CN" altLang="en-US" sz="2400" dirty="0">
                <a:solidFill>
                  <a:srgbClr val="002060"/>
                </a:solidFill>
                <a:latin typeface="黑体" panose="02010609060101010101" pitchFamily="2" charset="-122"/>
                <a:ea typeface="黑体" panose="02010609060101010101" pitchFamily="2" charset="-122"/>
              </a:rPr>
              <a:t>滑动螺旋、滚动螺旋、静压螺旋。</a:t>
            </a:r>
            <a:endParaRPr kumimoji="1" lang="en-US" altLang="zh-CN" sz="2400" dirty="0">
              <a:solidFill>
                <a:srgbClr val="002060"/>
              </a:solidFill>
              <a:latin typeface="黑体" panose="02010609060101010101" pitchFamily="2" charset="-122"/>
              <a:ea typeface="黑体" panose="02010609060101010101" pitchFamily="2" charset="-122"/>
            </a:endParaRPr>
          </a:p>
        </p:txBody>
      </p:sp>
      <p:sp>
        <p:nvSpPr>
          <p:cNvPr id="22532" name="Rectangle 4"/>
          <p:cNvSpPr>
            <a:spLocks noChangeArrowheads="1"/>
          </p:cNvSpPr>
          <p:nvPr/>
        </p:nvSpPr>
        <p:spPr bwMode="auto">
          <a:xfrm>
            <a:off x="468888" y="2275909"/>
            <a:ext cx="5545137"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800" dirty="0">
                <a:solidFill>
                  <a:srgbClr val="FF0000"/>
                </a:solidFill>
                <a:latin typeface="黑体" panose="02010609060101010101" pitchFamily="2" charset="-122"/>
                <a:ea typeface="黑体" panose="02010609060101010101" pitchFamily="2" charset="-122"/>
              </a:rPr>
              <a:t>滑动螺旋：</a:t>
            </a:r>
            <a:r>
              <a:rPr kumimoji="1" lang="zh-CN" altLang="en-US" sz="2400" dirty="0">
                <a:solidFill>
                  <a:srgbClr val="002060"/>
                </a:solidFill>
                <a:latin typeface="黑体" panose="02010609060101010101" pitchFamily="2" charset="-122"/>
                <a:ea typeface="黑体" panose="02010609060101010101" pitchFamily="2" charset="-122"/>
              </a:rPr>
              <a:t>滑动摩擦，应用最广</a:t>
            </a:r>
            <a:endParaRPr kumimoji="1" lang="zh-CN" altLang="en-US" sz="2400" dirty="0">
              <a:solidFill>
                <a:srgbClr val="002060"/>
              </a:solidFill>
              <a:latin typeface="黑体" panose="02010609060101010101" pitchFamily="2" charset="-122"/>
              <a:ea typeface="黑体" panose="02010609060101010101" pitchFamily="2" charset="-122"/>
            </a:endParaRPr>
          </a:p>
        </p:txBody>
      </p:sp>
      <p:grpSp>
        <p:nvGrpSpPr>
          <p:cNvPr id="22533" name="组合 51"/>
          <p:cNvGrpSpPr/>
          <p:nvPr/>
        </p:nvGrpSpPr>
        <p:grpSpPr bwMode="auto">
          <a:xfrm>
            <a:off x="5940425" y="1744569"/>
            <a:ext cx="2774950" cy="771525"/>
            <a:chOff x="5694363" y="2358485"/>
            <a:chExt cx="2774950" cy="771525"/>
          </a:xfrm>
        </p:grpSpPr>
        <p:sp>
          <p:nvSpPr>
            <p:cNvPr id="22536" name="Rectangle 11"/>
            <p:cNvSpPr>
              <a:spLocks noChangeArrowheads="1"/>
            </p:cNvSpPr>
            <p:nvPr/>
          </p:nvSpPr>
          <p:spPr bwMode="auto">
            <a:xfrm>
              <a:off x="6229350" y="2358485"/>
              <a:ext cx="1655763" cy="360362"/>
            </a:xfrm>
            <a:prstGeom prst="rect">
              <a:avLst/>
            </a:prstGeom>
            <a:noFill/>
            <a:ln w="57150" algn="ctr">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2537" name="Rectangle 12"/>
            <p:cNvSpPr>
              <a:spLocks noChangeArrowheads="1"/>
            </p:cNvSpPr>
            <p:nvPr/>
          </p:nvSpPr>
          <p:spPr bwMode="auto">
            <a:xfrm>
              <a:off x="6229350" y="2769647"/>
              <a:ext cx="1655763" cy="360363"/>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2538" name="Line 13"/>
            <p:cNvSpPr>
              <a:spLocks noChangeShapeType="1"/>
            </p:cNvSpPr>
            <p:nvPr/>
          </p:nvSpPr>
          <p:spPr bwMode="auto">
            <a:xfrm>
              <a:off x="7029450" y="2536285"/>
              <a:ext cx="1439863" cy="0"/>
            </a:xfrm>
            <a:prstGeom prst="line">
              <a:avLst/>
            </a:prstGeom>
            <a:noFill/>
            <a:ln w="57150">
              <a:solidFill>
                <a:srgbClr val="0000FF"/>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2539" name="Line 14"/>
            <p:cNvSpPr>
              <a:spLocks noChangeShapeType="1"/>
            </p:cNvSpPr>
            <p:nvPr/>
          </p:nvSpPr>
          <p:spPr bwMode="auto">
            <a:xfrm flipH="1">
              <a:off x="5694363" y="2985547"/>
              <a:ext cx="1368425" cy="0"/>
            </a:xfrm>
            <a:prstGeom prst="line">
              <a:avLst/>
            </a:prstGeom>
            <a:noFill/>
            <a:ln w="57150">
              <a:solidFill>
                <a:srgbClr val="FF0000"/>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grpSp>
      <p:sp>
        <p:nvSpPr>
          <p:cNvPr id="22534" name="Rectangle 4"/>
          <p:cNvSpPr>
            <a:spLocks noChangeArrowheads="1"/>
          </p:cNvSpPr>
          <p:nvPr/>
        </p:nvSpPr>
        <p:spPr bwMode="auto">
          <a:xfrm>
            <a:off x="528234" y="3106532"/>
            <a:ext cx="8215312"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dirty="0">
                <a:solidFill>
                  <a:srgbClr val="FF0000"/>
                </a:solidFill>
                <a:latin typeface="黑体" panose="02010609060101010101" pitchFamily="2" charset="-122"/>
                <a:ea typeface="黑体" panose="02010609060101010101" pitchFamily="2" charset="-122"/>
              </a:rPr>
              <a:t>特点：</a:t>
            </a:r>
            <a:endParaRPr kumimoji="1" lang="en-US" altLang="zh-CN" sz="22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200" dirty="0">
                <a:solidFill>
                  <a:srgbClr val="002060"/>
                </a:solidFill>
                <a:latin typeface="黑体" panose="02010609060101010101" pitchFamily="2" charset="-122"/>
                <a:ea typeface="黑体" panose="02010609060101010101" pitchFamily="2" charset="-122"/>
              </a:rPr>
              <a:t>  结构</a:t>
            </a:r>
            <a:r>
              <a:rPr kumimoji="1" lang="zh-CN" altLang="en-US" sz="2200" dirty="0" smtClean="0">
                <a:solidFill>
                  <a:srgbClr val="002060"/>
                </a:solidFill>
                <a:latin typeface="黑体" panose="02010609060101010101" pitchFamily="2" charset="-122"/>
                <a:ea typeface="黑体" panose="02010609060101010101" pitchFamily="2" charset="-122"/>
              </a:rPr>
              <a:t>简单紧凑</a:t>
            </a:r>
            <a:r>
              <a:rPr kumimoji="1" lang="zh-CN" altLang="en-US" sz="2200" dirty="0">
                <a:solidFill>
                  <a:srgbClr val="002060"/>
                </a:solidFill>
                <a:latin typeface="黑体" panose="02010609060101010101" pitchFamily="2" charset="-122"/>
                <a:ea typeface="黑体" panose="02010609060101010101" pitchFamily="2" charset="-122"/>
              </a:rPr>
              <a:t>，传动均匀、准确、平稳，</a:t>
            </a:r>
            <a:r>
              <a:rPr kumimoji="1" lang="zh-CN" altLang="en-US" sz="2200" dirty="0" smtClean="0">
                <a:solidFill>
                  <a:srgbClr val="002060"/>
                </a:solidFill>
                <a:latin typeface="黑体" panose="02010609060101010101" pitchFamily="2" charset="-122"/>
                <a:ea typeface="黑体" panose="02010609060101010101" pitchFamily="2" charset="-122"/>
              </a:rPr>
              <a:t>易于自锁，</a:t>
            </a:r>
            <a:r>
              <a:rPr kumimoji="1" lang="zh-CN" altLang="en-US" sz="2200" dirty="0">
                <a:solidFill>
                  <a:srgbClr val="002060"/>
                </a:solidFill>
                <a:latin typeface="黑体" panose="02010609060101010101" pitchFamily="2" charset="-122"/>
                <a:ea typeface="黑体" panose="02010609060101010101" pitchFamily="2" charset="-122"/>
              </a:rPr>
              <a:t>加工方便。</a:t>
            </a:r>
            <a:endParaRPr kumimoji="1" lang="zh-CN" altLang="en-US" sz="2200" dirty="0">
              <a:solidFill>
                <a:srgbClr val="002060"/>
              </a:solidFill>
              <a:latin typeface="黑体" panose="02010609060101010101" pitchFamily="2" charset="-122"/>
              <a:ea typeface="黑体" panose="02010609060101010101" pitchFamily="2" charset="-122"/>
            </a:endParaRPr>
          </a:p>
        </p:txBody>
      </p:sp>
      <p:sp>
        <p:nvSpPr>
          <p:cNvPr id="22535" name="Rectangle 4"/>
          <p:cNvSpPr>
            <a:spLocks noChangeArrowheads="1"/>
          </p:cNvSpPr>
          <p:nvPr/>
        </p:nvSpPr>
        <p:spPr bwMode="auto">
          <a:xfrm>
            <a:off x="622587" y="4728078"/>
            <a:ext cx="8215312"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dirty="0">
                <a:solidFill>
                  <a:srgbClr val="FF0000"/>
                </a:solidFill>
                <a:latin typeface="黑体" panose="02010609060101010101" pitchFamily="2" charset="-122"/>
                <a:ea typeface="黑体" panose="02010609060101010101" pitchFamily="2" charset="-122"/>
              </a:rPr>
              <a:t>应用场合：</a:t>
            </a:r>
            <a:endParaRPr kumimoji="1" lang="en-US" altLang="zh-CN" sz="22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200" dirty="0">
                <a:solidFill>
                  <a:srgbClr val="002060"/>
                </a:solidFill>
                <a:latin typeface="黑体" panose="02010609060101010101" pitchFamily="2" charset="-122"/>
                <a:ea typeface="黑体" panose="02010609060101010101" pitchFamily="2" charset="-122"/>
              </a:rPr>
              <a:t>   机床进给、分度机构、摩擦压力机和千斤顶等，不适用于高速、大功率传动。。</a:t>
            </a:r>
            <a:endParaRPr kumimoji="1" lang="zh-CN" altLang="en-US" sz="2200" dirty="0">
              <a:solidFill>
                <a:srgbClr val="002060"/>
              </a:solidFill>
              <a:latin typeface="黑体" panose="02010609060101010101" pitchFamily="2" charset="-122"/>
              <a:ea typeface="黑体" panose="02010609060101010101" pitchFamily="2" charset="-122"/>
            </a:endParaRPr>
          </a:p>
        </p:txBody>
      </p:sp>
      <p:sp>
        <p:nvSpPr>
          <p:cNvPr id="2" name="矩形 1"/>
          <p:cNvSpPr/>
          <p:nvPr/>
        </p:nvSpPr>
        <p:spPr>
          <a:xfrm>
            <a:off x="556092" y="4128467"/>
            <a:ext cx="8158909" cy="514350"/>
          </a:xfrm>
          <a:prstGeom prst="rect">
            <a:avLst/>
          </a:prstGeom>
        </p:spPr>
        <p:txBody>
          <a:bodyPr wrap="square">
            <a:spAutoFit/>
          </a:bodyPr>
          <a:lstStyle/>
          <a:p>
            <a:pPr eaLnBrk="1" hangingPunct="1">
              <a:lnSpc>
                <a:spcPct val="125000"/>
              </a:lnSpc>
              <a:spcBef>
                <a:spcPct val="50000"/>
              </a:spcBef>
            </a:pPr>
            <a:r>
              <a:rPr kumimoji="1" lang="en-US" altLang="zh-CN" sz="2200" dirty="0">
                <a:solidFill>
                  <a:srgbClr val="002060"/>
                </a:solidFill>
                <a:latin typeface="黑体" panose="02010609060101010101" pitchFamily="2" charset="-122"/>
                <a:ea typeface="黑体" panose="02010609060101010101" pitchFamily="2" charset="-122"/>
              </a:rPr>
              <a:t>  </a:t>
            </a:r>
            <a:r>
              <a:rPr kumimoji="1" lang="zh-CN" altLang="en-US" sz="2200" dirty="0">
                <a:solidFill>
                  <a:srgbClr val="002060"/>
                </a:solidFill>
                <a:latin typeface="黑体" panose="02010609060101010101" pitchFamily="2" charset="-122"/>
                <a:ea typeface="黑体" panose="02010609060101010101" pitchFamily="2" charset="-122"/>
              </a:rPr>
              <a:t>摩擦阻力大，传动效率低（</a:t>
            </a:r>
            <a:r>
              <a:rPr kumimoji="1" lang="en-US" altLang="zh-CN" sz="2200" dirty="0">
                <a:solidFill>
                  <a:srgbClr val="002060"/>
                </a:solidFill>
                <a:latin typeface="黑体" panose="02010609060101010101" pitchFamily="2" charset="-122"/>
                <a:ea typeface="黑体" panose="02010609060101010101" pitchFamily="2" charset="-122"/>
              </a:rPr>
              <a:t>30%-40%</a:t>
            </a:r>
            <a:r>
              <a:rPr kumimoji="1" lang="zh-CN" altLang="en-US" sz="2200" dirty="0">
                <a:solidFill>
                  <a:srgbClr val="002060"/>
                </a:solidFill>
                <a:latin typeface="黑体" panose="02010609060101010101" pitchFamily="2" charset="-122"/>
                <a:ea typeface="黑体" panose="02010609060101010101" pitchFamily="2" charset="-122"/>
              </a:rPr>
              <a:t>），磨损快，传动精度</a:t>
            </a:r>
            <a:r>
              <a:rPr kumimoji="1" lang="zh-CN" altLang="en-US" sz="2200" dirty="0" smtClean="0">
                <a:solidFill>
                  <a:srgbClr val="002060"/>
                </a:solidFill>
                <a:latin typeface="黑体" panose="02010609060101010101" pitchFamily="2" charset="-122"/>
                <a:ea typeface="黑体" panose="02010609060101010101" pitchFamily="2" charset="-122"/>
              </a:rPr>
              <a:t>低。</a:t>
            </a:r>
            <a:endParaRPr kumimoji="1" lang="zh-CN" altLang="en-US" sz="2200" dirty="0">
              <a:solidFill>
                <a:srgbClr val="002060"/>
              </a:solidFill>
              <a:latin typeface="黑体" panose="02010609060101010101" pitchFamily="2" charset="-122"/>
              <a:ea typeface="黑体" panose="02010609060101010101" pitchFamily="2" charset="-122"/>
            </a:endParaRPr>
          </a:p>
        </p:txBody>
      </p:sp>
      <p:sp>
        <p:nvSpPr>
          <p:cNvPr id="107" name="标题 1"/>
          <p:cNvSpPr txBox="1"/>
          <p:nvPr/>
        </p:nvSpPr>
        <p:spPr>
          <a:xfrm>
            <a:off x="440690" y="215164"/>
            <a:ext cx="8229600" cy="725488"/>
          </a:xfrm>
          <a:prstGeom prst="rect">
            <a:avLst/>
          </a:prstGeom>
        </p:spPr>
        <p:txBody>
          <a:bodyPr/>
          <a:lstStyle>
            <a:lvl1pPr algn="l" rtl="0" eaLnBrk="0" fontAlgn="base" hangingPunct="0">
              <a:spcBef>
                <a:spcPct val="0"/>
              </a:spcBef>
              <a:spcAft>
                <a:spcPct val="0"/>
              </a:spcAft>
              <a:defRPr sz="3600"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a:lstStyle>
          <a:p>
            <a:pPr eaLnBrk="1" hangingPunct="1"/>
            <a:r>
              <a:rPr lang="zh-CN" altLang="en-US" sz="2800" smtClean="0">
                <a:solidFill>
                  <a:srgbClr val="0000FF"/>
                </a:solidFill>
                <a:latin typeface="黑体" panose="02010609060101010101" pitchFamily="2" charset="-122"/>
                <a:ea typeface="黑体" panose="02010609060101010101" pitchFamily="2" charset="-122"/>
              </a:rPr>
              <a:t>一、螺旋传动的类型和应用</a:t>
            </a:r>
            <a:endParaRPr lang="zh-CN" altLang="en-US" sz="2800" dirty="0" smtClean="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9"/>
          <p:cNvSpPr>
            <a:spLocks noChangeArrowheads="1"/>
          </p:cNvSpPr>
          <p:nvPr/>
        </p:nvSpPr>
        <p:spPr bwMode="auto">
          <a:xfrm>
            <a:off x="355600" y="1227138"/>
            <a:ext cx="5545138"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800" dirty="0">
                <a:solidFill>
                  <a:srgbClr val="FF0000"/>
                </a:solidFill>
                <a:latin typeface="黑体" panose="02010609060101010101" pitchFamily="2" charset="-122"/>
                <a:ea typeface="黑体" panose="02010609060101010101" pitchFamily="2" charset="-122"/>
              </a:rPr>
              <a:t>滚动螺旋：</a:t>
            </a:r>
            <a:r>
              <a:rPr kumimoji="1" lang="zh-CN" altLang="en-US" sz="2400" dirty="0">
                <a:solidFill>
                  <a:srgbClr val="002060"/>
                </a:solidFill>
                <a:latin typeface="黑体" panose="02010609060101010101" pitchFamily="2" charset="-122"/>
                <a:ea typeface="黑体" panose="02010609060101010101" pitchFamily="2" charset="-122"/>
              </a:rPr>
              <a:t>滚动摩擦，工业应用， </a:t>
            </a:r>
            <a:endParaRPr kumimoji="1" lang="zh-CN" altLang="en-US" sz="2400" dirty="0">
              <a:solidFill>
                <a:srgbClr val="00206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400" dirty="0">
                <a:solidFill>
                  <a:srgbClr val="002060"/>
                </a:solidFill>
                <a:latin typeface="黑体" panose="02010609060101010101" pitchFamily="2" charset="-122"/>
                <a:ea typeface="黑体" panose="02010609060101010101" pitchFamily="2" charset="-122"/>
              </a:rPr>
              <a:t>          一般或较高的精度要求</a:t>
            </a:r>
            <a:endParaRPr kumimoji="1" lang="zh-CN" altLang="en-US" sz="2400" dirty="0">
              <a:solidFill>
                <a:srgbClr val="002060"/>
              </a:solidFill>
              <a:latin typeface="黑体" panose="02010609060101010101" pitchFamily="2" charset="-122"/>
              <a:ea typeface="黑体" panose="02010609060101010101" pitchFamily="2" charset="-122"/>
            </a:endParaRPr>
          </a:p>
        </p:txBody>
      </p:sp>
      <p:grpSp>
        <p:nvGrpSpPr>
          <p:cNvPr id="23556" name="组合 4"/>
          <p:cNvGrpSpPr/>
          <p:nvPr/>
        </p:nvGrpSpPr>
        <p:grpSpPr bwMode="auto">
          <a:xfrm>
            <a:off x="5842000" y="1370013"/>
            <a:ext cx="2730500" cy="1050925"/>
            <a:chOff x="5737137" y="3790740"/>
            <a:chExt cx="2730500" cy="1050925"/>
          </a:xfrm>
        </p:grpSpPr>
        <p:sp>
          <p:nvSpPr>
            <p:cNvPr id="23559" name="Rectangle 15"/>
            <p:cNvSpPr>
              <a:spLocks noChangeArrowheads="1"/>
            </p:cNvSpPr>
            <p:nvPr/>
          </p:nvSpPr>
          <p:spPr bwMode="auto">
            <a:xfrm>
              <a:off x="6227675" y="3790740"/>
              <a:ext cx="1655762" cy="360362"/>
            </a:xfrm>
            <a:prstGeom prst="rect">
              <a:avLst/>
            </a:prstGeom>
            <a:noFill/>
            <a:ln w="57150" algn="ctr">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0" name="Rectangle 16"/>
            <p:cNvSpPr>
              <a:spLocks noChangeArrowheads="1"/>
            </p:cNvSpPr>
            <p:nvPr/>
          </p:nvSpPr>
          <p:spPr bwMode="auto">
            <a:xfrm>
              <a:off x="6227675" y="4481302"/>
              <a:ext cx="1655762" cy="360363"/>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1" name="Line 17"/>
            <p:cNvSpPr>
              <a:spLocks noChangeShapeType="1"/>
            </p:cNvSpPr>
            <p:nvPr/>
          </p:nvSpPr>
          <p:spPr bwMode="auto">
            <a:xfrm>
              <a:off x="7027775" y="3968540"/>
              <a:ext cx="1439862" cy="0"/>
            </a:xfrm>
            <a:prstGeom prst="line">
              <a:avLst/>
            </a:prstGeom>
            <a:noFill/>
            <a:ln w="57150">
              <a:solidFill>
                <a:srgbClr val="0000FF"/>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3562" name="Line 18"/>
            <p:cNvSpPr>
              <a:spLocks noChangeShapeType="1"/>
            </p:cNvSpPr>
            <p:nvPr/>
          </p:nvSpPr>
          <p:spPr bwMode="auto">
            <a:xfrm flipH="1">
              <a:off x="5737137" y="4651165"/>
              <a:ext cx="1368425" cy="0"/>
            </a:xfrm>
            <a:prstGeom prst="line">
              <a:avLst/>
            </a:prstGeom>
            <a:noFill/>
            <a:ln w="57150">
              <a:solidFill>
                <a:srgbClr val="FF0000"/>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3563" name="Oval 19"/>
            <p:cNvSpPr>
              <a:spLocks noChangeArrowheads="1"/>
            </p:cNvSpPr>
            <p:nvPr/>
          </p:nvSpPr>
          <p:spPr bwMode="auto">
            <a:xfrm>
              <a:off x="6326100" y="4168565"/>
              <a:ext cx="287337" cy="287337"/>
            </a:xfrm>
            <a:prstGeom prst="ellipse">
              <a:avLst/>
            </a:prstGeom>
            <a:solidFill>
              <a:srgbClr val="00FF00"/>
            </a:solidFill>
            <a:ln w="9525" algn="ctr">
              <a:solidFill>
                <a:srgbClr val="FF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4" name="Oval 20"/>
            <p:cNvSpPr>
              <a:spLocks noChangeArrowheads="1"/>
            </p:cNvSpPr>
            <p:nvPr/>
          </p:nvSpPr>
          <p:spPr bwMode="auto">
            <a:xfrm>
              <a:off x="6618200" y="4165390"/>
              <a:ext cx="287337" cy="287337"/>
            </a:xfrm>
            <a:prstGeom prst="ellipse">
              <a:avLst/>
            </a:prstGeom>
            <a:solidFill>
              <a:srgbClr val="00FF00"/>
            </a:solidFill>
            <a:ln w="9525" algn="ctr">
              <a:solidFill>
                <a:srgbClr val="FF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5" name="Oval 21"/>
            <p:cNvSpPr>
              <a:spLocks noChangeArrowheads="1"/>
            </p:cNvSpPr>
            <p:nvPr/>
          </p:nvSpPr>
          <p:spPr bwMode="auto">
            <a:xfrm>
              <a:off x="6910300" y="4165390"/>
              <a:ext cx="287337" cy="287337"/>
            </a:xfrm>
            <a:prstGeom prst="ellipse">
              <a:avLst/>
            </a:prstGeom>
            <a:solidFill>
              <a:srgbClr val="00FF00"/>
            </a:solidFill>
            <a:ln w="9525" algn="ctr">
              <a:solidFill>
                <a:srgbClr val="FF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6" name="Oval 22"/>
            <p:cNvSpPr>
              <a:spLocks noChangeArrowheads="1"/>
            </p:cNvSpPr>
            <p:nvPr/>
          </p:nvSpPr>
          <p:spPr bwMode="auto">
            <a:xfrm>
              <a:off x="7202400" y="4155865"/>
              <a:ext cx="287337" cy="287337"/>
            </a:xfrm>
            <a:prstGeom prst="ellipse">
              <a:avLst/>
            </a:prstGeom>
            <a:solidFill>
              <a:srgbClr val="00FF00"/>
            </a:solidFill>
            <a:ln w="9525" algn="ctr">
              <a:solidFill>
                <a:srgbClr val="FF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3567" name="Oval 23"/>
            <p:cNvSpPr>
              <a:spLocks noChangeArrowheads="1"/>
            </p:cNvSpPr>
            <p:nvPr/>
          </p:nvSpPr>
          <p:spPr bwMode="auto">
            <a:xfrm>
              <a:off x="7494500" y="4163802"/>
              <a:ext cx="287337" cy="287338"/>
            </a:xfrm>
            <a:prstGeom prst="ellipse">
              <a:avLst/>
            </a:prstGeom>
            <a:solidFill>
              <a:srgbClr val="00FF00"/>
            </a:solidFill>
            <a:ln w="9525" algn="ctr">
              <a:solidFill>
                <a:srgbClr val="FF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23557" name="Rectangle 4"/>
          <p:cNvSpPr>
            <a:spLocks noChangeArrowheads="1"/>
          </p:cNvSpPr>
          <p:nvPr/>
        </p:nvSpPr>
        <p:spPr bwMode="auto">
          <a:xfrm>
            <a:off x="355600" y="2628265"/>
            <a:ext cx="4658360" cy="20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FF0000"/>
                </a:solidFill>
                <a:latin typeface="黑体" panose="02010609060101010101" pitchFamily="2" charset="-122"/>
                <a:ea typeface="黑体" panose="02010609060101010101" pitchFamily="2" charset="-122"/>
              </a:rPr>
              <a:t>特点：</a:t>
            </a:r>
            <a:endParaRPr kumimoji="1" lang="en-US" altLang="zh-CN" sz="28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ts val="600"/>
              </a:spcBef>
            </a:pPr>
            <a:r>
              <a:rPr kumimoji="1" lang="zh-CN" altLang="en-US" sz="2400" dirty="0">
                <a:solidFill>
                  <a:srgbClr val="002060"/>
                </a:solidFill>
                <a:latin typeface="黑体" panose="02010609060101010101" pitchFamily="2" charset="-122"/>
                <a:ea typeface="黑体" panose="02010609060101010101" pitchFamily="2" charset="-122"/>
              </a:rPr>
              <a:t>摩擦阻力小，低速不爬行</a:t>
            </a:r>
            <a:r>
              <a:rPr kumimoji="1" lang="zh-CN" altLang="en-US" sz="2400" dirty="0" smtClean="0">
                <a:solidFill>
                  <a:srgbClr val="002060"/>
                </a:solidFill>
                <a:latin typeface="黑体" panose="02010609060101010101" pitchFamily="2" charset="-122"/>
                <a:ea typeface="黑体" panose="02010609060101010101" pitchFamily="2" charset="-122"/>
              </a:rPr>
              <a:t>，传动效率高（</a:t>
            </a:r>
            <a:r>
              <a:rPr kumimoji="1" lang="en-US" altLang="zh-CN" sz="2400" dirty="0" smtClean="0">
                <a:solidFill>
                  <a:srgbClr val="002060"/>
                </a:solidFill>
                <a:latin typeface="黑体" panose="02010609060101010101" pitchFamily="2" charset="-122"/>
                <a:ea typeface="黑体" panose="02010609060101010101" pitchFamily="2" charset="-122"/>
              </a:rPr>
              <a:t>90%</a:t>
            </a:r>
            <a:r>
              <a:rPr kumimoji="1" lang="zh-CN" altLang="en-US" sz="2400" dirty="0" smtClean="0">
                <a:solidFill>
                  <a:srgbClr val="002060"/>
                </a:solidFill>
                <a:latin typeface="黑体" panose="02010609060101010101" pitchFamily="2" charset="-122"/>
                <a:ea typeface="黑体" panose="02010609060101010101" pitchFamily="2" charset="-122"/>
              </a:rPr>
              <a:t>以上），抗</a:t>
            </a:r>
            <a:r>
              <a:rPr kumimoji="1" lang="zh-CN" altLang="en-US" sz="2400" dirty="0">
                <a:solidFill>
                  <a:srgbClr val="002060"/>
                </a:solidFill>
                <a:latin typeface="黑体" panose="02010609060101010101" pitchFamily="2" charset="-122"/>
                <a:ea typeface="黑体" panose="02010609060101010101" pitchFamily="2" charset="-122"/>
              </a:rPr>
              <a:t>冲击性能较差，结构复杂，制造困难</a:t>
            </a:r>
            <a:r>
              <a:rPr kumimoji="1" lang="zh-CN" altLang="en-US" sz="2800" b="1" dirty="0">
                <a:solidFill>
                  <a:srgbClr val="0000FF"/>
                </a:solidFill>
                <a:latin typeface="黑体" panose="02010609060101010101" pitchFamily="2" charset="-122"/>
                <a:ea typeface="黑体" panose="02010609060101010101" pitchFamily="2" charset="-122"/>
              </a:rPr>
              <a:t>。</a:t>
            </a:r>
            <a:endParaRPr kumimoji="1" lang="zh-CN" altLang="en-US" sz="2800" b="1" dirty="0">
              <a:solidFill>
                <a:srgbClr val="0000FF"/>
              </a:solidFill>
              <a:latin typeface="黑体" panose="02010609060101010101" pitchFamily="2" charset="-122"/>
              <a:ea typeface="黑体" panose="02010609060101010101" pitchFamily="2" charset="-122"/>
            </a:endParaRPr>
          </a:p>
        </p:txBody>
      </p:sp>
      <p:sp>
        <p:nvSpPr>
          <p:cNvPr id="23558" name="Rectangle 4"/>
          <p:cNvSpPr>
            <a:spLocks noChangeArrowheads="1"/>
          </p:cNvSpPr>
          <p:nvPr/>
        </p:nvSpPr>
        <p:spPr bwMode="auto">
          <a:xfrm>
            <a:off x="355507" y="4991623"/>
            <a:ext cx="821531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FF0000"/>
                </a:solidFill>
                <a:latin typeface="黑体" panose="02010609060101010101" pitchFamily="2" charset="-122"/>
                <a:ea typeface="黑体" panose="02010609060101010101" pitchFamily="2" charset="-122"/>
              </a:rPr>
              <a:t>应用场合：</a:t>
            </a:r>
            <a:endParaRPr kumimoji="1" lang="en-US" altLang="zh-CN" sz="28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400" dirty="0">
                <a:solidFill>
                  <a:srgbClr val="002060"/>
                </a:solidFill>
                <a:latin typeface="黑体" panose="02010609060101010101" pitchFamily="2" charset="-122"/>
                <a:ea typeface="黑体" panose="02010609060101010101" pitchFamily="2" charset="-122"/>
              </a:rPr>
              <a:t>机床、测试机械、仪器的传动和调整机构、转向机构等。</a:t>
            </a:r>
            <a:endParaRPr kumimoji="1" lang="zh-CN" altLang="en-US" sz="2400" dirty="0">
              <a:solidFill>
                <a:srgbClr val="002060"/>
              </a:solidFill>
              <a:latin typeface="黑体" panose="02010609060101010101" pitchFamily="2" charset="-122"/>
              <a:ea typeface="黑体" panose="02010609060101010101" pitchFamily="2" charset="-122"/>
            </a:endParaRPr>
          </a:p>
        </p:txBody>
      </p:sp>
      <p:pic>
        <p:nvPicPr>
          <p:cNvPr id="38916" name="Picture 2"/>
          <p:cNvPicPr>
            <a:picLocks noChangeAspect="1" noChangeArrowheads="1"/>
          </p:cNvPicPr>
          <p:nvPr/>
        </p:nvPicPr>
        <p:blipFill>
          <a:blip r:embed="rId1">
            <a:extLst>
              <a:ext uri="{28A0092B-C50C-407E-A947-70E740481C1C}">
                <a14:useLocalDpi xmlns:a14="http://schemas.microsoft.com/office/drawing/2010/main" val="0"/>
              </a:ext>
            </a:extLst>
          </a:blip>
          <a:srcRect r="55457"/>
          <a:stretch>
            <a:fillRect/>
          </a:stretch>
        </p:blipFill>
        <p:spPr bwMode="auto">
          <a:xfrm>
            <a:off x="5384800" y="2547938"/>
            <a:ext cx="37592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9" name="组合 3"/>
          <p:cNvGrpSpPr/>
          <p:nvPr/>
        </p:nvGrpSpPr>
        <p:grpSpPr bwMode="auto">
          <a:xfrm>
            <a:off x="233998" y="978536"/>
            <a:ext cx="8491537" cy="1268413"/>
            <a:chOff x="-31750" y="5143533"/>
            <a:chExt cx="8491538" cy="1268093"/>
          </a:xfrm>
        </p:grpSpPr>
        <p:sp>
          <p:nvSpPr>
            <p:cNvPr id="24582" name="Rectangle 10"/>
            <p:cNvSpPr>
              <a:spLocks noChangeArrowheads="1"/>
            </p:cNvSpPr>
            <p:nvPr/>
          </p:nvSpPr>
          <p:spPr bwMode="auto">
            <a:xfrm>
              <a:off x="-31750" y="5143533"/>
              <a:ext cx="5761038" cy="1072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800" dirty="0">
                  <a:solidFill>
                    <a:srgbClr val="FF0000"/>
                  </a:solidFill>
                  <a:latin typeface="黑体" panose="02010609060101010101" pitchFamily="2" charset="-122"/>
                  <a:ea typeface="黑体" panose="02010609060101010101" pitchFamily="2" charset="-122"/>
                </a:rPr>
                <a:t>静压螺旋：</a:t>
              </a:r>
              <a:r>
                <a:rPr kumimoji="1" lang="zh-CN" altLang="en-US" sz="2400" dirty="0">
                  <a:solidFill>
                    <a:srgbClr val="002060"/>
                  </a:solidFill>
                  <a:latin typeface="黑体" panose="02010609060101010101" pitchFamily="2" charset="-122"/>
                  <a:ea typeface="黑体" panose="02010609060101010101" pitchFamily="2" charset="-122"/>
                </a:rPr>
                <a:t>液体摩擦，适用于高精</a:t>
              </a:r>
              <a:endParaRPr kumimoji="1" lang="zh-CN" altLang="en-US" sz="2400" dirty="0">
                <a:solidFill>
                  <a:srgbClr val="002060"/>
                </a:solidFill>
                <a:latin typeface="黑体" panose="02010609060101010101" pitchFamily="2" charset="-122"/>
                <a:ea typeface="黑体" panose="02010609060101010101" pitchFamily="2" charset="-122"/>
              </a:endParaRPr>
            </a:p>
            <a:p>
              <a:pPr marL="0" indent="0" eaLnBrk="1" latinLnBrk="0" hangingPunct="1">
                <a:lnSpc>
                  <a:spcPct val="120000"/>
                </a:lnSpc>
                <a:spcBef>
                  <a:spcPts val="0"/>
                </a:spcBef>
              </a:pPr>
              <a:r>
                <a:rPr kumimoji="1" lang="zh-CN" altLang="en-US" sz="2400" dirty="0">
                  <a:solidFill>
                    <a:srgbClr val="002060"/>
                  </a:solidFill>
                  <a:latin typeface="黑体" panose="02010609060101010101" pitchFamily="2" charset="-122"/>
                  <a:ea typeface="黑体" panose="02010609060101010101" pitchFamily="2" charset="-122"/>
                </a:rPr>
                <a:t>          度、高速场合。</a:t>
              </a:r>
              <a:endParaRPr kumimoji="1" lang="zh-CN" altLang="en-US" sz="2400" dirty="0">
                <a:solidFill>
                  <a:srgbClr val="002060"/>
                </a:solidFill>
                <a:latin typeface="黑体" panose="02010609060101010101" pitchFamily="2" charset="-122"/>
                <a:ea typeface="黑体" panose="02010609060101010101" pitchFamily="2" charset="-122"/>
              </a:endParaRPr>
            </a:p>
          </p:txBody>
        </p:sp>
        <p:sp>
          <p:nvSpPr>
            <p:cNvPr id="24583" name="Rectangle 24"/>
            <p:cNvSpPr>
              <a:spLocks noChangeArrowheads="1"/>
            </p:cNvSpPr>
            <p:nvPr/>
          </p:nvSpPr>
          <p:spPr bwMode="auto">
            <a:xfrm>
              <a:off x="6219825" y="5360701"/>
              <a:ext cx="1655763" cy="360362"/>
            </a:xfrm>
            <a:prstGeom prst="rect">
              <a:avLst/>
            </a:prstGeom>
            <a:noFill/>
            <a:ln w="57150" algn="ctr">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4584" name="Rectangle 25"/>
            <p:cNvSpPr>
              <a:spLocks noChangeArrowheads="1"/>
            </p:cNvSpPr>
            <p:nvPr/>
          </p:nvSpPr>
          <p:spPr bwMode="auto">
            <a:xfrm>
              <a:off x="6219825" y="6051263"/>
              <a:ext cx="1655763" cy="360363"/>
            </a:xfrm>
            <a:prstGeom prst="rect">
              <a:avLst/>
            </a:prstGeom>
            <a:noFill/>
            <a:ln w="571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4585" name="Line 26"/>
            <p:cNvSpPr>
              <a:spLocks noChangeShapeType="1"/>
            </p:cNvSpPr>
            <p:nvPr/>
          </p:nvSpPr>
          <p:spPr bwMode="auto">
            <a:xfrm>
              <a:off x="7019925" y="5538501"/>
              <a:ext cx="1439863" cy="0"/>
            </a:xfrm>
            <a:prstGeom prst="line">
              <a:avLst/>
            </a:prstGeom>
            <a:noFill/>
            <a:ln w="57150">
              <a:solidFill>
                <a:srgbClr val="0000FF"/>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4586" name="Line 27"/>
            <p:cNvSpPr>
              <a:spLocks noChangeShapeType="1"/>
            </p:cNvSpPr>
            <p:nvPr/>
          </p:nvSpPr>
          <p:spPr bwMode="auto">
            <a:xfrm flipH="1">
              <a:off x="5729288" y="6221126"/>
              <a:ext cx="1368425" cy="0"/>
            </a:xfrm>
            <a:prstGeom prst="line">
              <a:avLst/>
            </a:prstGeom>
            <a:noFill/>
            <a:ln w="57150">
              <a:solidFill>
                <a:srgbClr val="FF0000"/>
              </a:solidFill>
              <a:round/>
              <a:tailEnd type="triangle" w="med" len="lg"/>
            </a:ln>
            <a:extLst>
              <a:ext uri="{909E8E84-426E-40DD-AFC4-6F175D3DCCD1}">
                <a14:hiddenFill xmlns:a14="http://schemas.microsoft.com/office/drawing/2010/main">
                  <a:noFill/>
                </a14:hiddenFill>
              </a:ext>
            </a:extLst>
          </p:spPr>
          <p:txBody>
            <a:bodyPr anchor="ctr"/>
            <a:lstStyle/>
            <a:p>
              <a:endParaRPr lang="zh-CN" altLang="en-US"/>
            </a:p>
          </p:txBody>
        </p:sp>
        <p:sp>
          <p:nvSpPr>
            <p:cNvPr id="24587" name="Line 29"/>
            <p:cNvSpPr>
              <a:spLocks noChangeShapeType="1"/>
            </p:cNvSpPr>
            <p:nvPr/>
          </p:nvSpPr>
          <p:spPr bwMode="auto">
            <a:xfrm>
              <a:off x="6372225" y="5835363"/>
              <a:ext cx="1439863" cy="0"/>
            </a:xfrm>
            <a:prstGeom prst="line">
              <a:avLst/>
            </a:prstGeom>
            <a:noFill/>
            <a:ln w="38100">
              <a:solidFill>
                <a:srgbClr val="FF0000"/>
              </a:solidFill>
              <a:prstDash val="lgDash"/>
              <a:round/>
            </a:ln>
            <a:extLst>
              <a:ext uri="{909E8E84-426E-40DD-AFC4-6F175D3DCCD1}">
                <a14:hiddenFill xmlns:a14="http://schemas.microsoft.com/office/drawing/2010/main">
                  <a:noFill/>
                </a14:hiddenFill>
              </a:ext>
            </a:extLst>
          </p:spPr>
          <p:txBody>
            <a:bodyPr anchor="ctr"/>
            <a:lstStyle/>
            <a:p>
              <a:endParaRPr lang="zh-CN" altLang="en-US"/>
            </a:p>
          </p:txBody>
        </p:sp>
        <p:sp>
          <p:nvSpPr>
            <p:cNvPr id="24588" name="Line 30"/>
            <p:cNvSpPr>
              <a:spLocks noChangeShapeType="1"/>
            </p:cNvSpPr>
            <p:nvPr/>
          </p:nvSpPr>
          <p:spPr bwMode="auto">
            <a:xfrm>
              <a:off x="6300788" y="5929026"/>
              <a:ext cx="1439862" cy="0"/>
            </a:xfrm>
            <a:prstGeom prst="line">
              <a:avLst/>
            </a:prstGeom>
            <a:noFill/>
            <a:ln w="38100">
              <a:solidFill>
                <a:srgbClr val="FF0000"/>
              </a:solidFill>
              <a:prstDash val="lgDash"/>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24580" name="Rectangle 4"/>
          <p:cNvSpPr>
            <a:spLocks noChangeArrowheads="1"/>
          </p:cNvSpPr>
          <p:nvPr/>
        </p:nvSpPr>
        <p:spPr bwMode="auto">
          <a:xfrm>
            <a:off x="516890" y="2084705"/>
            <a:ext cx="8215313" cy="376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ts val="600"/>
              </a:spcBef>
            </a:pPr>
            <a:r>
              <a:rPr kumimoji="1" lang="zh-CN" altLang="en-US" sz="2800" dirty="0">
                <a:solidFill>
                  <a:srgbClr val="FF0000"/>
                </a:solidFill>
                <a:latin typeface="黑体" panose="02010609060101010101" pitchFamily="2" charset="-122"/>
                <a:ea typeface="黑体" panose="02010609060101010101" pitchFamily="2" charset="-122"/>
              </a:rPr>
              <a:t>特点：</a:t>
            </a:r>
            <a:endParaRPr kumimoji="1" lang="en-US" altLang="zh-CN" sz="28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400" dirty="0">
                <a:solidFill>
                  <a:srgbClr val="002060"/>
                </a:solidFill>
                <a:latin typeface="黑体" panose="02010609060101010101" pitchFamily="2" charset="-122"/>
                <a:ea typeface="黑体" panose="02010609060101010101" pitchFamily="2" charset="-122"/>
              </a:rPr>
              <a:t>   摩擦阻力小，</a:t>
            </a:r>
            <a:r>
              <a:rPr lang="zh-CN" altLang="en-US"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传动效率可达</a:t>
            </a:r>
            <a:r>
              <a:rPr lang="en-US" altLang="zh-CN"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99%</a:t>
            </a:r>
            <a:r>
              <a:rPr lang="zh-CN" altLang="en-US"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a:t>
            </a:r>
            <a:r>
              <a:rPr kumimoji="1" lang="zh-CN" altLang="en-US" sz="2400" dirty="0">
                <a:solidFill>
                  <a:srgbClr val="002060"/>
                </a:solidFill>
                <a:latin typeface="黑体" panose="02010609060101010101" pitchFamily="2" charset="-122"/>
                <a:ea typeface="黑体" panose="02010609060101010101" pitchFamily="2" charset="-122"/>
              </a:rPr>
              <a:t>工作平稳无爬行，不自锁，寿命长。</a:t>
            </a:r>
            <a:r>
              <a:rPr lang="zh-CN" altLang="en-US"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这种螺旋采用牙较高的梯形螺纹。 在螺母每圈螺纹中径处开有</a:t>
            </a:r>
            <a:r>
              <a:rPr lang="en-US" altLang="zh-CN"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3</a:t>
            </a:r>
            <a:r>
              <a:rPr lang="zh-CN" altLang="en-US"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6</a:t>
            </a:r>
            <a:r>
              <a:rPr lang="zh-CN" altLang="en-US" sz="2400">
                <a:solidFill>
                  <a:srgbClr val="111111"/>
                </a:solidFill>
                <a:latin typeface="黑体" panose="02010609060101010101" pitchFamily="2" charset="-122"/>
                <a:ea typeface="黑体" panose="02010609060101010101" pitchFamily="2" charset="-122"/>
                <a:cs typeface="黑体" panose="02010609060101010101" pitchFamily="2" charset="-122"/>
                <a:sym typeface="+mn-ea"/>
              </a:rPr>
              <a:t>个间隔均匀的油腔。 同一母线上同一侧的油腔连通，用一个节流阀控制。</a:t>
            </a:r>
            <a:r>
              <a:rPr kumimoji="1" lang="zh-CN" altLang="en-US" sz="2400" dirty="0">
                <a:solidFill>
                  <a:srgbClr val="002060"/>
                </a:solidFill>
                <a:latin typeface="黑体" panose="02010609060101010101" pitchFamily="2" charset="-122"/>
                <a:ea typeface="黑体" panose="02010609060101010101" pitchFamily="2" charset="-122"/>
                <a:sym typeface="+mn-ea"/>
              </a:rPr>
              <a:t>螺母结构复杂且需要精密供油系统。</a:t>
            </a:r>
            <a:endParaRPr kumimoji="1" lang="zh-CN" altLang="en-US" sz="2400" b="0" i="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endParaRPr>
          </a:p>
          <a:p>
            <a:pPr eaLnBrk="1" hangingPunct="1">
              <a:lnSpc>
                <a:spcPct val="125000"/>
              </a:lnSpc>
              <a:spcBef>
                <a:spcPct val="50000"/>
              </a:spcBef>
            </a:pPr>
            <a:endParaRPr kumimoji="1" lang="zh-CN" altLang="en-US" sz="2400" b="0" i="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24581" name="Rectangle 4"/>
          <p:cNvSpPr>
            <a:spLocks noChangeArrowheads="1"/>
          </p:cNvSpPr>
          <p:nvPr/>
        </p:nvSpPr>
        <p:spPr bwMode="auto">
          <a:xfrm>
            <a:off x="516890" y="5224780"/>
            <a:ext cx="8215313"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ts val="600"/>
              </a:spcBef>
            </a:pPr>
            <a:r>
              <a:rPr kumimoji="1" lang="zh-CN" altLang="en-US" sz="2800" dirty="0">
                <a:solidFill>
                  <a:srgbClr val="FF0000"/>
                </a:solidFill>
                <a:latin typeface="黑体" panose="02010609060101010101" pitchFamily="2" charset="-122"/>
                <a:ea typeface="黑体" panose="02010609060101010101" pitchFamily="2" charset="-122"/>
              </a:rPr>
              <a:t>应用场合：</a:t>
            </a:r>
            <a:endParaRPr kumimoji="1" lang="en-US" altLang="zh-CN" sz="2800" dirty="0">
              <a:solidFill>
                <a:srgbClr val="FF0000"/>
              </a:solidFill>
              <a:latin typeface="黑体" panose="02010609060101010101" pitchFamily="2" charset="-122"/>
              <a:ea typeface="黑体" panose="02010609060101010101" pitchFamily="2" charset="-122"/>
            </a:endParaRPr>
          </a:p>
          <a:p>
            <a:pPr eaLnBrk="1" hangingPunct="1">
              <a:lnSpc>
                <a:spcPct val="125000"/>
              </a:lnSpc>
              <a:spcBef>
                <a:spcPct val="50000"/>
              </a:spcBef>
            </a:pPr>
            <a:r>
              <a:rPr kumimoji="1" lang="zh-CN" altLang="en-US" sz="2400" dirty="0">
                <a:solidFill>
                  <a:srgbClr val="002060"/>
                </a:solidFill>
                <a:latin typeface="黑体" panose="02010609060101010101" pitchFamily="2" charset="-122"/>
                <a:ea typeface="黑体" panose="02010609060101010101" pitchFamily="2" charset="-122"/>
              </a:rPr>
              <a:t>   精密机床进给、分度机构等。</a:t>
            </a:r>
            <a:endParaRPr kumimoji="1" lang="zh-CN" altLang="en-US" sz="2400" dirty="0">
              <a:solidFill>
                <a:srgbClr val="002060"/>
              </a:solidFill>
              <a:latin typeface="黑体" panose="02010609060101010101" pitchFamily="2" charset="-122"/>
              <a:ea typeface="黑体" panose="02010609060101010101" pitchFamily="2" charset="-122"/>
            </a:endParaRPr>
          </a:p>
        </p:txBody>
      </p:sp>
      <p:sp>
        <p:nvSpPr>
          <p:cNvPr id="2" name="文本框 1"/>
          <p:cNvSpPr txBox="1"/>
          <p:nvPr/>
        </p:nvSpPr>
        <p:spPr>
          <a:xfrm>
            <a:off x="516890" y="3851275"/>
            <a:ext cx="8303260" cy="337185"/>
          </a:xfrm>
          <a:prstGeom prst="rect">
            <a:avLst/>
          </a:prstGeom>
        </p:spPr>
        <p:txBody>
          <a:bodyPr wrap="square">
            <a:spAutoFit/>
          </a:bodyPr>
          <a:p>
            <a:pPr marL="0" indent="0" algn="l"/>
            <a:r>
              <a:rPr lang="zh-CN" altLang="en-US" sz="1600" b="0" i="0">
                <a:solidFill>
                  <a:srgbClr val="111111"/>
                </a:solidFill>
                <a:latin typeface="Arial" panose="020B0604020202020204"/>
                <a:ea typeface="Arial" panose="020B0604020202020204"/>
              </a:rPr>
              <a:t> </a:t>
            </a:r>
            <a:endParaRPr kumimoji="1" lang="zh-CN" altLang="en-US" sz="2400" b="0" i="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
          <p:cNvSpPr>
            <a:spLocks noGrp="1"/>
          </p:cNvSpPr>
          <p:nvPr>
            <p:ph idx="1"/>
          </p:nvPr>
        </p:nvSpPr>
        <p:spPr>
          <a:xfrm>
            <a:off x="323528" y="1052736"/>
            <a:ext cx="8229600" cy="5357813"/>
          </a:xfrm>
        </p:spPr>
        <p:txBody>
          <a:bodyPr/>
          <a:lstStyle/>
          <a:p>
            <a:pPr eaLnBrk="1" hangingPunct="1">
              <a:buFont typeface="Arial" panose="020B0604020202020204" pitchFamily="34" charset="0"/>
              <a:buNone/>
            </a:pPr>
            <a:r>
              <a:rPr lang="en-US" altLang="zh-CN" sz="2400" b="0" dirty="0" smtClean="0">
                <a:solidFill>
                  <a:srgbClr val="C00000"/>
                </a:solidFill>
                <a:latin typeface="黑体" panose="02010609060101010101" pitchFamily="2" charset="-122"/>
                <a:ea typeface="黑体" panose="02010609060101010101" pitchFamily="2" charset="-122"/>
              </a:rPr>
              <a:t>1</a:t>
            </a:r>
            <a:r>
              <a:rPr lang="zh-CN" altLang="en-US" sz="2400" b="0" dirty="0" smtClean="0">
                <a:solidFill>
                  <a:srgbClr val="C00000"/>
                </a:solidFill>
                <a:latin typeface="黑体" panose="02010609060101010101" pitchFamily="2" charset="-122"/>
                <a:ea typeface="黑体" panose="02010609060101010101" pitchFamily="2" charset="-122"/>
              </a:rPr>
              <a:t>、可用于滑动螺旋的螺纹牙型：</a:t>
            </a:r>
            <a:endParaRPr lang="zh-CN" altLang="en-US" sz="2400" b="0" dirty="0" smtClean="0">
              <a:solidFill>
                <a:srgbClr val="C00000"/>
              </a:solidFill>
              <a:latin typeface="黑体" panose="02010609060101010101" pitchFamily="2" charset="-122"/>
              <a:ea typeface="黑体" panose="02010609060101010101" pitchFamily="2" charset="-122"/>
            </a:endParaRPr>
          </a:p>
        </p:txBody>
      </p:sp>
      <p:sp>
        <p:nvSpPr>
          <p:cNvPr id="25604" name="Rectangle 20"/>
          <p:cNvSpPr>
            <a:spLocks noChangeArrowheads="1"/>
          </p:cNvSpPr>
          <p:nvPr/>
        </p:nvSpPr>
        <p:spPr bwMode="auto">
          <a:xfrm>
            <a:off x="323850" y="1571625"/>
            <a:ext cx="2232025"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endParaRPr kumimoji="1" lang="en-US" altLang="zh-CN" sz="2800" b="1" dirty="0">
              <a:solidFill>
                <a:srgbClr val="0000FF"/>
              </a:solidFill>
              <a:latin typeface="黑体" panose="02010609060101010101" pitchFamily="2" charset="-122"/>
              <a:ea typeface="黑体" panose="02010609060101010101" pitchFamily="2" charset="-122"/>
            </a:endParaRPr>
          </a:p>
          <a:p>
            <a:pPr algn="ctr" eaLnBrk="1" hangingPunct="1">
              <a:lnSpc>
                <a:spcPct val="120000"/>
              </a:lnSpc>
            </a:pPr>
            <a:r>
              <a:rPr kumimoji="1" lang="zh-CN" altLang="en-US" sz="2400" dirty="0">
                <a:solidFill>
                  <a:srgbClr val="002060"/>
                </a:solidFill>
                <a:latin typeface="黑体" panose="02010609060101010101" pitchFamily="2" charset="-122"/>
                <a:ea typeface="黑体" panose="02010609060101010101" pitchFamily="2" charset="-122"/>
              </a:rPr>
              <a:t>矩形螺纹</a:t>
            </a:r>
            <a:endParaRPr kumimoji="1" lang="zh-CN" altLang="en-US" sz="2400" dirty="0">
              <a:solidFill>
                <a:srgbClr val="002060"/>
              </a:solidFill>
              <a:latin typeface="黑体" panose="02010609060101010101" pitchFamily="2" charset="-122"/>
              <a:ea typeface="黑体" panose="02010609060101010101" pitchFamily="2" charset="-122"/>
            </a:endParaRPr>
          </a:p>
          <a:p>
            <a:pPr algn="ctr" eaLnBrk="1" hangingPunct="1">
              <a:lnSpc>
                <a:spcPct val="120000"/>
              </a:lnSpc>
            </a:pPr>
            <a:endParaRPr kumimoji="1" lang="en-US" altLang="zh-CN" sz="2400" dirty="0">
              <a:solidFill>
                <a:srgbClr val="0000FF"/>
              </a:solidFill>
              <a:latin typeface="黑体" panose="02010609060101010101" pitchFamily="2" charset="-122"/>
              <a:ea typeface="黑体" panose="02010609060101010101" pitchFamily="2" charset="-122"/>
            </a:endParaRPr>
          </a:p>
          <a:p>
            <a:pPr algn="ctr" eaLnBrk="1" hangingPunct="1">
              <a:lnSpc>
                <a:spcPct val="120000"/>
              </a:lnSpc>
            </a:pPr>
            <a:endParaRPr kumimoji="1" lang="en-US" altLang="zh-CN" sz="2400" dirty="0">
              <a:solidFill>
                <a:srgbClr val="0000FF"/>
              </a:solidFill>
              <a:latin typeface="黑体" panose="02010609060101010101" pitchFamily="2" charset="-122"/>
              <a:ea typeface="黑体" panose="02010609060101010101" pitchFamily="2" charset="-122"/>
            </a:endParaRPr>
          </a:p>
          <a:p>
            <a:pPr algn="ctr" eaLnBrk="1" hangingPunct="1">
              <a:lnSpc>
                <a:spcPct val="120000"/>
              </a:lnSpc>
            </a:pPr>
            <a:r>
              <a:rPr kumimoji="1" lang="zh-CN" altLang="en-US" sz="2400" dirty="0">
                <a:solidFill>
                  <a:srgbClr val="FF0000"/>
                </a:solidFill>
                <a:latin typeface="黑体" panose="02010609060101010101" pitchFamily="2" charset="-122"/>
                <a:ea typeface="黑体" panose="02010609060101010101" pitchFamily="2" charset="-122"/>
              </a:rPr>
              <a:t>梯形螺纹</a:t>
            </a:r>
            <a:endParaRPr kumimoji="1" lang="zh-CN" altLang="en-US" sz="2400" dirty="0">
              <a:solidFill>
                <a:srgbClr val="FF0000"/>
              </a:solidFill>
              <a:latin typeface="黑体" panose="02010609060101010101" pitchFamily="2" charset="-122"/>
              <a:ea typeface="黑体" panose="02010609060101010101" pitchFamily="2" charset="-122"/>
            </a:endParaRPr>
          </a:p>
          <a:p>
            <a:pPr algn="ctr" eaLnBrk="1" hangingPunct="1">
              <a:lnSpc>
                <a:spcPct val="120000"/>
              </a:lnSpc>
            </a:pPr>
            <a:endParaRPr kumimoji="1" lang="en-US" altLang="zh-CN" sz="2400" dirty="0">
              <a:solidFill>
                <a:srgbClr val="0000FF"/>
              </a:solidFill>
              <a:latin typeface="黑体" panose="02010609060101010101" pitchFamily="2" charset="-122"/>
              <a:ea typeface="黑体" panose="02010609060101010101" pitchFamily="2" charset="-122"/>
            </a:endParaRPr>
          </a:p>
          <a:p>
            <a:pPr algn="ctr" eaLnBrk="1" hangingPunct="1">
              <a:lnSpc>
                <a:spcPct val="120000"/>
              </a:lnSpc>
            </a:pPr>
            <a:endParaRPr kumimoji="1" lang="en-US" altLang="zh-CN" sz="2400" dirty="0">
              <a:solidFill>
                <a:srgbClr val="0000FF"/>
              </a:solidFill>
              <a:latin typeface="黑体" panose="02010609060101010101" pitchFamily="2" charset="-122"/>
              <a:ea typeface="黑体" panose="02010609060101010101" pitchFamily="2" charset="-122"/>
            </a:endParaRPr>
          </a:p>
          <a:p>
            <a:pPr algn="ctr" eaLnBrk="1" hangingPunct="1">
              <a:lnSpc>
                <a:spcPct val="120000"/>
              </a:lnSpc>
            </a:pPr>
            <a:r>
              <a:rPr kumimoji="1" lang="zh-CN" altLang="en-US" sz="2400" dirty="0">
                <a:solidFill>
                  <a:srgbClr val="0000FF"/>
                </a:solidFill>
                <a:latin typeface="黑体" panose="02010609060101010101" pitchFamily="2" charset="-122"/>
                <a:ea typeface="黑体" panose="02010609060101010101" pitchFamily="2" charset="-122"/>
              </a:rPr>
              <a:t>锯齿形螺纹</a:t>
            </a:r>
            <a:endParaRPr kumimoji="1" lang="zh-CN" altLang="en-US" sz="2400" dirty="0">
              <a:solidFill>
                <a:srgbClr val="0000FF"/>
              </a:solidFill>
              <a:latin typeface="黑体" panose="02010609060101010101" pitchFamily="2" charset="-122"/>
              <a:ea typeface="黑体" panose="02010609060101010101" pitchFamily="2" charset="-122"/>
            </a:endParaRPr>
          </a:p>
        </p:txBody>
      </p:sp>
      <p:sp>
        <p:nvSpPr>
          <p:cNvPr id="25605" name="Rectangle 21"/>
          <p:cNvSpPr>
            <a:spLocks noChangeArrowheads="1"/>
          </p:cNvSpPr>
          <p:nvPr/>
        </p:nvSpPr>
        <p:spPr bwMode="auto">
          <a:xfrm>
            <a:off x="2483768" y="1916832"/>
            <a:ext cx="5903912" cy="40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endParaRPr kumimoji="1" lang="zh-CN" altLang="en-US" sz="800" b="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lnSpc>
                <a:spcPct val="120000"/>
              </a:lnSpc>
            </a:pPr>
            <a:r>
              <a:rPr kumimoji="1" lang="zh-CN" altLang="en-US"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牙型角</a:t>
            </a:r>
            <a:r>
              <a:rPr kumimoji="1" lang="en-US" altLang="zh-CN"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α=2β=0°</a:t>
            </a:r>
            <a:r>
              <a:rPr kumimoji="1" lang="zh-CN" altLang="en-US"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，牙型角为</a:t>
            </a:r>
            <a:r>
              <a:rPr kumimoji="1" lang="en-US" altLang="zh-CN"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0</a:t>
            </a:r>
            <a:r>
              <a:rPr kumimoji="1" lang="zh-CN" altLang="en-US"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，效率高，主要用于传动，同心度差，牙根强度弱；</a:t>
            </a:r>
            <a:endParaRPr kumimoji="1" lang="en-US" altLang="zh-CN" sz="24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lnSpc>
                <a:spcPct val="120000"/>
              </a:lnSpc>
            </a:pPr>
            <a:endParaRPr kumimoji="1" lang="zh-CN" altLang="en-US" sz="800" b="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lnSpc>
                <a:spcPct val="120000"/>
              </a:lnSpc>
            </a:pPr>
            <a:r>
              <a:rPr kumimoji="1" lang="zh-CN" altLang="en-US" sz="2400"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牙型角</a:t>
            </a:r>
            <a:r>
              <a:rPr kumimoji="1" lang="en-US" altLang="zh-CN" sz="2400"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α=2β=30°</a:t>
            </a:r>
            <a:r>
              <a:rPr kumimoji="1" lang="zh-CN" altLang="en-US" sz="2400"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，效率较高，牙根强度高，易于制造，易于对中，在螺旋传动中应用最普遍；</a:t>
            </a:r>
            <a:endParaRPr kumimoji="1" lang="en-US" altLang="zh-CN" sz="2400" dirty="0">
              <a:solidFill>
                <a:srgbClr val="FF0000"/>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lnSpc>
                <a:spcPct val="120000"/>
              </a:lnSpc>
            </a:pPr>
            <a:endParaRPr kumimoji="1" lang="zh-CN" altLang="en-US" sz="800" b="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lnSpc>
                <a:spcPct val="120000"/>
              </a:lnSpc>
            </a:pPr>
            <a:r>
              <a:rPr kumimoji="1" lang="en-US" altLang="zh-CN" sz="24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rPr>
              <a:t>β=3°</a:t>
            </a:r>
            <a:r>
              <a:rPr kumimoji="1" lang="zh-CN" altLang="en-US" sz="24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rPr>
              <a:t>，</a:t>
            </a:r>
            <a:r>
              <a:rPr kumimoji="1" lang="en-US" altLang="zh-CN" sz="24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rPr>
              <a:t>β=30°</a:t>
            </a:r>
            <a:r>
              <a:rPr kumimoji="1" lang="zh-CN" altLang="en-US" sz="24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rPr>
              <a:t>，工作边牙型斜角小，传动效率低，非工作边牙型斜角大，齿根强度大，易于对中，单向传动；</a:t>
            </a:r>
            <a:endParaRPr kumimoji="1" lang="zh-CN" altLang="en-US" sz="24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endParaRPr>
          </a:p>
        </p:txBody>
      </p:sp>
      <p:sp>
        <p:nvSpPr>
          <p:cNvPr id="26626" name="标题 1"/>
          <p:cNvSpPr>
            <a:spLocks noGrp="1"/>
          </p:cNvSpPr>
          <p:nvPr/>
        </p:nvSpPr>
        <p:spPr>
          <a:xfrm>
            <a:off x="323215" y="151130"/>
            <a:ext cx="8229600" cy="725488"/>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a:lstStyle>
          <a:p>
            <a:pPr eaLnBrk="1" hangingPunct="1"/>
            <a:r>
              <a:rPr lang="zh-CN" altLang="en-US" sz="2800" b="0" dirty="0">
                <a:solidFill>
                  <a:srgbClr val="0000FF"/>
                </a:solidFill>
                <a:latin typeface="黑体" panose="02010609060101010101" pitchFamily="2" charset="-122"/>
                <a:ea typeface="黑体" panose="02010609060101010101" pitchFamily="2" charset="-122"/>
              </a:rPr>
              <a:t>二、滑动螺旋的牙型、材料及许用应力</a:t>
            </a:r>
            <a:endParaRPr lang="zh-CN" altLang="en-US"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rcRect l="35373" t="1272" r="23269"/>
          <a:stretch>
            <a:fillRect/>
          </a:stretch>
        </p:blipFill>
        <p:spPr>
          <a:xfrm rot="16200000">
            <a:off x="2501900" y="-48895"/>
            <a:ext cx="4373245" cy="8436610"/>
          </a:xfrm>
          <a:prstGeom prst="rect">
            <a:avLst/>
          </a:prstGeom>
        </p:spPr>
      </p:pic>
      <p:sp>
        <p:nvSpPr>
          <p:cNvPr id="7" name="标题 1"/>
          <p:cNvSpPr>
            <a:spLocks noGrp="1"/>
          </p:cNvSpPr>
          <p:nvPr>
            <p:ph type="title"/>
          </p:nvPr>
        </p:nvSpPr>
        <p:spPr>
          <a:xfrm>
            <a:off x="405130" y="142875"/>
            <a:ext cx="8229600" cy="725488"/>
          </a:xfrm>
        </p:spPr>
        <p:txBody>
          <a:bodyPr/>
          <a:p>
            <a:pPr eaLnBrk="1" hangingPunct="1"/>
            <a:r>
              <a:rPr lang="zh-CN" altLang="en-US" sz="2800" b="0" dirty="0">
                <a:solidFill>
                  <a:srgbClr val="0000FF"/>
                </a:solidFill>
                <a:latin typeface="黑体" panose="02010609060101010101" pitchFamily="2" charset="-122"/>
                <a:ea typeface="黑体" panose="02010609060101010101" pitchFamily="2" charset="-122"/>
              </a:rPr>
              <a:t>二、滑动螺旋的牙型、材料及许用应力</a:t>
            </a:r>
            <a:endParaRPr lang="zh-CN" altLang="en-US"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
        <p:nvSpPr>
          <p:cNvPr id="8" name="文本框 7"/>
          <p:cNvSpPr txBox="1"/>
          <p:nvPr/>
        </p:nvSpPr>
        <p:spPr>
          <a:xfrm>
            <a:off x="470535" y="916305"/>
            <a:ext cx="4572000" cy="460375"/>
          </a:xfrm>
          <a:prstGeom prst="rect">
            <a:avLst/>
          </a:prstGeom>
          <a:noFill/>
        </p:spPr>
        <p:txBody>
          <a:bodyPr wrap="square" rtlCol="0" anchor="t">
            <a:spAutoFit/>
          </a:bodyPr>
          <a:p>
            <a:r>
              <a:rPr kumimoji="1" lang="en-US" altLang="zh-CN" sz="2400" dirty="0">
                <a:solidFill>
                  <a:srgbClr val="C00000"/>
                </a:solidFill>
                <a:latin typeface="黑体" panose="02010609060101010101" pitchFamily="2" charset="-122"/>
                <a:ea typeface="黑体" panose="02010609060101010101" pitchFamily="2" charset="-122"/>
                <a:sym typeface="+mn-ea"/>
              </a:rPr>
              <a:t>2</a:t>
            </a:r>
            <a:r>
              <a:rPr kumimoji="1" lang="zh-CN" altLang="en-US" sz="2400" dirty="0">
                <a:solidFill>
                  <a:srgbClr val="C00000"/>
                </a:solidFill>
                <a:latin typeface="黑体" panose="02010609060101010101" pitchFamily="2" charset="-122"/>
                <a:ea typeface="黑体" panose="02010609060101010101" pitchFamily="2" charset="-122"/>
                <a:sym typeface="+mn-ea"/>
              </a:rPr>
              <a:t>、螺杆</a:t>
            </a:r>
            <a:r>
              <a:rPr kumimoji="1" lang="zh-CN" altLang="en-US" sz="2400" dirty="0">
                <a:solidFill>
                  <a:srgbClr val="C00000"/>
                </a:solidFill>
                <a:latin typeface="黑体" panose="02010609060101010101" pitchFamily="2" charset="-122"/>
                <a:ea typeface="黑体" panose="02010609060101010101" pitchFamily="2" charset="-122"/>
                <a:sym typeface="+mn-ea"/>
              </a:rPr>
              <a:t>螺母材料的要求：</a:t>
            </a:r>
            <a:endParaRPr kumimoji="1" lang="zh-CN" altLang="en-US" sz="2400" dirty="0">
              <a:solidFill>
                <a:srgbClr val="C00000"/>
              </a:solidFill>
              <a:latin typeface="黑体" panose="02010609060101010101" pitchFamily="2" charset="-122"/>
              <a:ea typeface="黑体" panose="02010609060101010101" pitchFamily="2" charset="-122"/>
              <a:sym typeface="+mn-ea"/>
            </a:endParaRPr>
          </a:p>
        </p:txBody>
      </p:sp>
      <p:sp>
        <p:nvSpPr>
          <p:cNvPr id="9" name="文本框 8"/>
          <p:cNvSpPr txBox="1"/>
          <p:nvPr/>
        </p:nvSpPr>
        <p:spPr>
          <a:xfrm>
            <a:off x="3900170" y="968375"/>
            <a:ext cx="4953000" cy="1014730"/>
          </a:xfrm>
          <a:prstGeom prst="rect">
            <a:avLst/>
          </a:prstGeom>
          <a:noFill/>
        </p:spPr>
        <p:txBody>
          <a:bodyPr wrap="square" rtlCol="0" anchor="t">
            <a:spAutoFit/>
          </a:bodyPr>
          <a:p>
            <a:pPr marL="0" indent="0" eaLnBrk="1" latinLnBrk="0" hangingPunct="1">
              <a:lnSpc>
                <a:spcPct val="100000"/>
              </a:lnSpc>
              <a:spcBef>
                <a:spcPts val="0"/>
              </a:spcBef>
            </a:pPr>
            <a:r>
              <a:rPr kumimoji="1" lang="zh-CN" altLang="en-US" sz="2000" dirty="0">
                <a:solidFill>
                  <a:srgbClr val="002060"/>
                </a:solidFill>
                <a:latin typeface="黑体" panose="02010609060101010101" pitchFamily="2" charset="-122"/>
                <a:ea typeface="黑体" panose="02010609060101010101" pitchFamily="2" charset="-122"/>
                <a:sym typeface="+mn-ea"/>
              </a:rPr>
              <a:t>良好的耐磨性和易于加工；</a:t>
            </a:r>
            <a:endParaRPr kumimoji="1" lang="en-US" altLang="zh-CN" sz="2000" b="0" dirty="0">
              <a:solidFill>
                <a:srgbClr val="002060"/>
              </a:solidFill>
              <a:latin typeface="黑体" panose="02010609060101010101" pitchFamily="2" charset="-122"/>
              <a:ea typeface="黑体" panose="02010609060101010101" pitchFamily="2" charset="-122"/>
            </a:endParaRPr>
          </a:p>
          <a:p>
            <a:pPr marL="0" indent="0" eaLnBrk="1" latinLnBrk="0" hangingPunct="1">
              <a:lnSpc>
                <a:spcPct val="100000"/>
              </a:lnSpc>
              <a:spcBef>
                <a:spcPts val="0"/>
              </a:spcBef>
            </a:pPr>
            <a:r>
              <a:rPr kumimoji="1" lang="zh-CN" altLang="en-US" sz="2000" dirty="0">
                <a:solidFill>
                  <a:srgbClr val="002060"/>
                </a:solidFill>
                <a:latin typeface="黑体" panose="02010609060101010101" pitchFamily="2" charset="-122"/>
                <a:ea typeface="黑体" panose="02010609060101010101" pitchFamily="2" charset="-122"/>
                <a:sym typeface="+mn-ea"/>
              </a:rPr>
              <a:t>摩擦副之间的摩擦系数小；</a:t>
            </a:r>
            <a:endParaRPr kumimoji="1" lang="en-US" altLang="zh-CN" sz="2000" b="0" dirty="0">
              <a:solidFill>
                <a:srgbClr val="002060"/>
              </a:solidFill>
              <a:latin typeface="黑体" panose="02010609060101010101" pitchFamily="2" charset="-122"/>
              <a:ea typeface="黑体" panose="02010609060101010101" pitchFamily="2" charset="-122"/>
            </a:endParaRPr>
          </a:p>
          <a:p>
            <a:pPr marL="0" indent="0" eaLnBrk="1" latinLnBrk="0" hangingPunct="1">
              <a:lnSpc>
                <a:spcPct val="100000"/>
              </a:lnSpc>
              <a:spcBef>
                <a:spcPts val="0"/>
              </a:spcBef>
            </a:pPr>
            <a:r>
              <a:rPr kumimoji="1" lang="zh-CN" altLang="en-US" sz="2000" dirty="0">
                <a:solidFill>
                  <a:srgbClr val="002060"/>
                </a:solidFill>
                <a:latin typeface="黑体" panose="02010609060101010101" pitchFamily="2" charset="-122"/>
                <a:ea typeface="黑体" panose="02010609060101010101" pitchFamily="2" charset="-122"/>
                <a:sym typeface="+mn-ea"/>
              </a:rPr>
              <a:t>足够的强度，螺杆硬度应高于螺母的</a:t>
            </a:r>
            <a:r>
              <a:rPr kumimoji="1" lang="zh-CN" altLang="en-US" sz="2000" dirty="0">
                <a:solidFill>
                  <a:srgbClr val="002060"/>
                </a:solidFill>
                <a:latin typeface="黑体" panose="02010609060101010101" pitchFamily="2" charset="-122"/>
                <a:ea typeface="黑体" panose="02010609060101010101" pitchFamily="2" charset="-122"/>
                <a:sym typeface="+mn-ea"/>
              </a:rPr>
              <a:t>硬度；</a:t>
            </a:r>
            <a:endParaRPr kumimoji="1" lang="zh-CN" altLang="en-US" sz="2000" b="0" dirty="0">
              <a:solidFill>
                <a:srgbClr val="002060"/>
              </a:solidFill>
              <a:latin typeface="黑体" panose="02010609060101010101" pitchFamily="2" charset="-122"/>
              <a:ea typeface="黑体" panose="02010609060101010101" pitchFamily="2"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991870" y="1910715"/>
          <a:ext cx="7150735" cy="3261360"/>
        </p:xfrm>
        <a:graphic>
          <a:graphicData uri="http://schemas.openxmlformats.org/drawingml/2006/table">
            <a:tbl>
              <a:tblPr firstRow="1">
                <a:tableStyleId>{B9B33F19-227E-48D0-95D6-38950A133B6B}</a:tableStyleId>
              </a:tblPr>
              <a:tblGrid>
                <a:gridCol w="1875155"/>
                <a:gridCol w="1904365"/>
                <a:gridCol w="1598930"/>
                <a:gridCol w="1772285"/>
              </a:tblGrid>
              <a:tr h="335280">
                <a:tc>
                  <a:txBody>
                    <a:bodyPr/>
                    <a:p>
                      <a:pPr algn="ctr">
                        <a:buNone/>
                      </a:pPr>
                      <a:r>
                        <a:rPr lang="zh-CN" altLang="en-US" sz="1600">
                          <a:solidFill>
                            <a:schemeClr val="accent1">
                              <a:lumMod val="50000"/>
                            </a:schemeClr>
                          </a:solidFill>
                        </a:rPr>
                        <a:t>螺杆</a:t>
                      </a:r>
                      <a:r>
                        <a:rPr lang="en-US" altLang="zh-CN" sz="1600">
                          <a:solidFill>
                            <a:schemeClr val="accent1">
                              <a:lumMod val="50000"/>
                            </a:schemeClr>
                          </a:solidFill>
                        </a:rPr>
                        <a:t>-</a:t>
                      </a:r>
                      <a:r>
                        <a:rPr lang="zh-CN" altLang="en-US" sz="1600">
                          <a:solidFill>
                            <a:schemeClr val="accent1">
                              <a:lumMod val="50000"/>
                            </a:schemeClr>
                          </a:solidFill>
                        </a:rPr>
                        <a:t>螺母的材料</a:t>
                      </a:r>
                      <a:endParaRPr lang="zh-CN" altLang="en-US" sz="1600">
                        <a:solidFill>
                          <a:schemeClr val="accent1">
                            <a:lumMod val="50000"/>
                          </a:schemeClr>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1600">
                          <a:solidFill>
                            <a:schemeClr val="accent1">
                              <a:lumMod val="50000"/>
                            </a:schemeClr>
                          </a:solidFill>
                        </a:rPr>
                        <a:t>滑动速度（</a:t>
                      </a:r>
                      <a:r>
                        <a:rPr lang="en-US" altLang="zh-CN" sz="1600">
                          <a:solidFill>
                            <a:schemeClr val="accent1">
                              <a:lumMod val="50000"/>
                            </a:schemeClr>
                          </a:solidFill>
                        </a:rPr>
                        <a:t>m/min</a:t>
                      </a:r>
                      <a:r>
                        <a:rPr lang="zh-CN" altLang="en-US" sz="1600">
                          <a:solidFill>
                            <a:schemeClr val="accent1">
                              <a:lumMod val="50000"/>
                            </a:schemeClr>
                          </a:solidFill>
                        </a:rPr>
                        <a:t>）</a:t>
                      </a:r>
                      <a:endParaRPr lang="zh-CN" altLang="en-US" sz="1600">
                        <a:solidFill>
                          <a:schemeClr val="accent1">
                            <a:lumMod val="50000"/>
                          </a:schemeClr>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1600">
                          <a:solidFill>
                            <a:schemeClr val="accent1">
                              <a:lumMod val="50000"/>
                            </a:schemeClr>
                          </a:solidFill>
                        </a:rPr>
                        <a:t>许用压力</a:t>
                      </a:r>
                      <a:r>
                        <a:rPr lang="en-US" altLang="zh-CN" sz="1600">
                          <a:solidFill>
                            <a:schemeClr val="accent1">
                              <a:lumMod val="50000"/>
                            </a:schemeClr>
                          </a:solidFill>
                        </a:rPr>
                        <a:t>/MPa</a:t>
                      </a:r>
                      <a:endParaRPr lang="en-US" altLang="zh-CN" sz="1600">
                        <a:solidFill>
                          <a:schemeClr val="accent1">
                            <a:lumMod val="50000"/>
                          </a:schemeClr>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c>
                  <a:txBody>
                    <a:bodyPr/>
                    <a:p>
                      <a:pPr algn="ctr">
                        <a:buNone/>
                      </a:pPr>
                      <a:r>
                        <a:rPr lang="zh-CN" altLang="en-US" sz="1600">
                          <a:solidFill>
                            <a:schemeClr val="accent1">
                              <a:lumMod val="50000"/>
                            </a:schemeClr>
                          </a:solidFill>
                        </a:rPr>
                        <a:t>摩擦因数</a:t>
                      </a:r>
                      <a:r>
                        <a:rPr lang="en-US" altLang="zh-CN" sz="1600">
                          <a:solidFill>
                            <a:schemeClr val="accent1">
                              <a:lumMod val="50000"/>
                            </a:schemeClr>
                          </a:solidFill>
                        </a:rPr>
                        <a:t>f</a:t>
                      </a:r>
                      <a:endParaRPr lang="en-US" altLang="zh-CN" sz="1600">
                        <a:solidFill>
                          <a:schemeClr val="accent1">
                            <a:lumMod val="50000"/>
                          </a:schemeClr>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tx2">
                        <a:lumMod val="20000"/>
                        <a:lumOff val="80000"/>
                      </a:schemeClr>
                    </a:solidFill>
                  </a:tcPr>
                </a:tc>
              </a:tr>
              <a:tr h="365760">
                <a:tc rowSpan="4">
                  <a:txBody>
                    <a:bodyPr/>
                    <a:p>
                      <a:pPr algn="ctr">
                        <a:buNone/>
                      </a:pPr>
                      <a:endParaRPr lang="zh-CN" altLang="en-US" sz="1600"/>
                    </a:p>
                    <a:p>
                      <a:pPr algn="ctr">
                        <a:buNone/>
                      </a:pPr>
                      <a:endParaRPr lang="zh-CN" altLang="en-US" sz="1600"/>
                    </a:p>
                    <a:p>
                      <a:pPr algn="ctr">
                        <a:buNone/>
                      </a:pPr>
                      <a:r>
                        <a:rPr lang="zh-CN" altLang="en-US" sz="1600" b="1"/>
                        <a:t>钢</a:t>
                      </a:r>
                      <a:r>
                        <a:rPr lang="en-US" altLang="zh-CN" sz="1600" b="1"/>
                        <a:t>-</a:t>
                      </a:r>
                      <a:r>
                        <a:rPr lang="zh-CN" altLang="en-US" sz="1600" b="1"/>
                        <a:t>青铜</a:t>
                      </a:r>
                      <a:endParaRPr lang="zh-CN" altLang="en-US" sz="1600" b="1"/>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a:txBody>
                    <a:bodyPr/>
                    <a:p>
                      <a:pPr algn="ctr">
                        <a:buNone/>
                      </a:pPr>
                      <a:r>
                        <a:rPr lang="zh-CN" altLang="en-US" sz="1600"/>
                        <a:t>低速</a:t>
                      </a:r>
                      <a:endParaRPr lang="zh-CN" altLang="en-US"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a:txBody>
                    <a:bodyPr/>
                    <a:p>
                      <a:pPr algn="ctr">
                        <a:buNone/>
                      </a:pPr>
                      <a:r>
                        <a:rPr lang="en-US" altLang="zh-CN" sz="1600"/>
                        <a:t>8~25</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rowSpan="4">
                  <a:txBody>
                    <a:bodyPr/>
                    <a:p>
                      <a:pPr indent="0" algn="ctr" fontAlgn="auto">
                        <a:buNone/>
                      </a:pPr>
                      <a:endParaRPr lang="en-US" altLang="zh-CN" sz="1600"/>
                    </a:p>
                    <a:p>
                      <a:pPr indent="0" algn="ctr" fontAlgn="auto">
                        <a:buNone/>
                      </a:pPr>
                      <a:endParaRPr lang="en-US" altLang="zh-CN" sz="1600"/>
                    </a:p>
                    <a:p>
                      <a:pPr indent="0" algn="ctr" fontAlgn="auto">
                        <a:buNone/>
                      </a:pPr>
                      <a:r>
                        <a:rPr lang="en-US" altLang="zh-CN" sz="1600"/>
                        <a:t>0.08~0.10</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r>
              <a:tr h="365760">
                <a:tc vMerge="1">
                  <a:tcPr>
                    <a:lnL w="12700" cmpd="sng">
                      <a:solidFill>
                        <a:schemeClr val="tx1"/>
                      </a:solidFill>
                      <a:prstDash val="solid"/>
                    </a:lnL>
                    <a:lnR w="12700" cmpd="sng">
                      <a:solidFill>
                        <a:schemeClr val="tx1"/>
                      </a:solidFill>
                      <a:prstDash val="solid"/>
                    </a:lnR>
                  </a:tcPr>
                </a:tc>
                <a:tc>
                  <a:txBody>
                    <a:bodyPr/>
                    <a:p>
                      <a:pPr algn="ctr">
                        <a:buNone/>
                      </a:pPr>
                      <a:r>
                        <a:rPr lang="en-US" altLang="zh-CN" sz="1600"/>
                        <a:t>3.0</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a:txBody>
                    <a:bodyPr/>
                    <a:p>
                      <a:pPr algn="ctr">
                        <a:buNone/>
                      </a:pPr>
                      <a:r>
                        <a:rPr lang="en-US" altLang="zh-CN" sz="1600"/>
                        <a:t> 11-18</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r>
              <a:tr h="365760">
                <a:tc vMerge="1">
                  <a:tcPr>
                    <a:lnL w="12700" cmpd="sng">
                      <a:solidFill>
                        <a:schemeClr val="tx1"/>
                      </a:solidFill>
                      <a:prstDash val="solid"/>
                    </a:lnL>
                    <a:lnR w="12700" cmpd="sng">
                      <a:solidFill>
                        <a:schemeClr val="tx1"/>
                      </a:solidFill>
                      <a:prstDash val="solid"/>
                    </a:lnR>
                  </a:tcPr>
                </a:tc>
                <a:tc>
                  <a:txBody>
                    <a:bodyPr/>
                    <a:p>
                      <a:pPr algn="ctr">
                        <a:buNone/>
                      </a:pPr>
                      <a:r>
                        <a:rPr lang="en-US" altLang="zh-CN" sz="1600"/>
                        <a:t>6~12</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a:txBody>
                    <a:bodyPr/>
                    <a:p>
                      <a:pPr algn="ctr">
                        <a:buNone/>
                      </a:pPr>
                      <a:r>
                        <a:rPr lang="en-US" altLang="zh-CN" sz="1600"/>
                        <a:t>7~10</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r>
              <a:tr h="36576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p>
                      <a:pPr algn="ctr">
                        <a:buNone/>
                      </a:pPr>
                      <a:r>
                        <a:rPr lang="en-US" altLang="zh-CN" sz="1600"/>
                        <a:t>15</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a:txBody>
                    <a:bodyPr/>
                    <a:p>
                      <a:pPr algn="ctr">
                        <a:buNone/>
                      </a:pPr>
                      <a:r>
                        <a:rPr lang="en-US" altLang="zh-CN" sz="1600"/>
                        <a:t>1~2</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FF00">
                        <a:alpha val="21000"/>
                      </a:srgbClr>
                    </a:solidFill>
                  </a:tcPr>
                </a:tc>
              </a:tr>
              <a:tr h="365760">
                <a:tc>
                  <a:txBody>
                    <a:bodyPr/>
                    <a:p>
                      <a:pPr algn="ctr">
                        <a:buNone/>
                      </a:pPr>
                      <a:r>
                        <a:rPr lang="zh-CN" altLang="en-US" sz="1600" b="1"/>
                        <a:t>淬火钢</a:t>
                      </a:r>
                      <a:r>
                        <a:rPr lang="en-US" altLang="zh-CN" sz="1600" b="1"/>
                        <a:t>-</a:t>
                      </a:r>
                      <a:r>
                        <a:rPr lang="zh-CN" altLang="en-US" sz="1600" b="1"/>
                        <a:t>青铜</a:t>
                      </a:r>
                      <a:endParaRPr lang="zh-CN" altLang="en-US" sz="1600" b="1"/>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6">
                        <a:lumMod val="20000"/>
                        <a:lumOff val="80000"/>
                      </a:schemeClr>
                    </a:solidFill>
                  </a:tcPr>
                </a:tc>
                <a:tc>
                  <a:txBody>
                    <a:bodyPr/>
                    <a:p>
                      <a:pPr algn="ctr">
                        <a:buNone/>
                      </a:pPr>
                      <a:r>
                        <a:rPr lang="en-US" altLang="zh-CN" sz="1600"/>
                        <a:t>15</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6">
                        <a:lumMod val="20000"/>
                        <a:lumOff val="80000"/>
                      </a:schemeClr>
                    </a:solidFill>
                  </a:tcPr>
                </a:tc>
                <a:tc>
                  <a:txBody>
                    <a:bodyPr/>
                    <a:p>
                      <a:pPr algn="ctr">
                        <a:buNone/>
                      </a:pPr>
                      <a:r>
                        <a:rPr lang="en-US" altLang="zh-CN" sz="1600"/>
                        <a:t>10~13</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6">
                        <a:lumMod val="20000"/>
                        <a:lumOff val="80000"/>
                      </a:schemeClr>
                    </a:solidFill>
                  </a:tcPr>
                </a:tc>
                <a:tc>
                  <a:txBody>
                    <a:bodyPr/>
                    <a:p>
                      <a:pPr algn="ctr">
                        <a:buNone/>
                      </a:pPr>
                      <a:r>
                        <a:rPr lang="en-US" altLang="zh-CN" sz="1600"/>
                        <a:t>0.06~0.08</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6">
                        <a:lumMod val="20000"/>
                        <a:lumOff val="80000"/>
                      </a:schemeClr>
                    </a:solidFill>
                  </a:tcPr>
                </a:tc>
              </a:tr>
              <a:tr h="365760">
                <a:tc rowSpan="2">
                  <a:txBody>
                    <a:bodyPr/>
                    <a:p>
                      <a:pPr algn="ctr">
                        <a:buNone/>
                      </a:pPr>
                      <a:r>
                        <a:rPr lang="zh-CN" altLang="en-US" sz="1600" b="1"/>
                        <a:t>钢</a:t>
                      </a:r>
                      <a:r>
                        <a:rPr lang="en-US" altLang="zh-CN" sz="1600" b="1"/>
                        <a:t>-</a:t>
                      </a:r>
                      <a:r>
                        <a:rPr lang="zh-CN" altLang="en-US" sz="1600" b="1"/>
                        <a:t>铸铁</a:t>
                      </a:r>
                      <a:endParaRPr lang="zh-CN" altLang="en-US" sz="1600" b="1"/>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c>
                  <a:txBody>
                    <a:bodyPr/>
                    <a:p>
                      <a:pPr algn="ctr">
                        <a:buNone/>
                      </a:pPr>
                      <a:r>
                        <a:rPr lang="en-US" altLang="zh-CN" sz="1600"/>
                        <a:t>2.4</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c>
                  <a:txBody>
                    <a:bodyPr/>
                    <a:p>
                      <a:pPr algn="ctr">
                        <a:buNone/>
                      </a:pPr>
                      <a:r>
                        <a:rPr lang="en-US" altLang="zh-CN" sz="1600"/>
                        <a:t>13~18</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c rowSpan="2">
                  <a:txBody>
                    <a:bodyPr/>
                    <a:p>
                      <a:pPr algn="ctr">
                        <a:buNone/>
                      </a:pPr>
                      <a:r>
                        <a:rPr lang="en-US" altLang="zh-CN" sz="1600"/>
                        <a:t>0.12~0.15</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r>
              <a:tr h="365760">
                <a:tc vMerge="1">
                  <a:tcPr>
                    <a:lnL w="12700" cmpd="sng">
                      <a:solidFill>
                        <a:schemeClr val="tx1"/>
                      </a:solidFill>
                      <a:prstDash val="solid"/>
                    </a:lnL>
                    <a:lnR w="12700" cmpd="sng">
                      <a:solidFill>
                        <a:schemeClr val="tx1"/>
                      </a:solidFill>
                      <a:prstDash val="solid"/>
                    </a:lnR>
                    <a:lnB w="12700" cmpd="sng">
                      <a:solidFill>
                        <a:schemeClr val="tx1"/>
                      </a:solidFill>
                      <a:prstDash val="solid"/>
                    </a:lnB>
                  </a:tcPr>
                </a:tc>
                <a:tc>
                  <a:txBody>
                    <a:bodyPr/>
                    <a:p>
                      <a:pPr algn="ctr">
                        <a:buNone/>
                      </a:pPr>
                      <a:r>
                        <a:rPr lang="en-US" altLang="zh-CN" sz="1600"/>
                        <a:t>6~12</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c>
                  <a:txBody>
                    <a:bodyPr/>
                    <a:p>
                      <a:pPr algn="ctr">
                        <a:buNone/>
                      </a:pPr>
                      <a:r>
                        <a:rPr lang="en-US" altLang="zh-CN" sz="1600"/>
                        <a:t>4~7</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c vMerge="1">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3">
                        <a:lumMod val="40000"/>
                        <a:lumOff val="60000"/>
                      </a:schemeClr>
                    </a:solidFill>
                  </a:tcPr>
                </a:tc>
              </a:tr>
              <a:tr h="365760">
                <a:tc>
                  <a:txBody>
                    <a:bodyPr/>
                    <a:p>
                      <a:pPr algn="ctr">
                        <a:buNone/>
                      </a:pPr>
                      <a:r>
                        <a:rPr lang="zh-CN" altLang="en-US" sz="1600" b="1"/>
                        <a:t>钢</a:t>
                      </a:r>
                      <a:r>
                        <a:rPr lang="en-US" altLang="zh-CN" sz="1600" b="1"/>
                        <a:t>-</a:t>
                      </a:r>
                      <a:r>
                        <a:rPr lang="zh-CN" altLang="en-US" sz="1600" b="1"/>
                        <a:t>钢</a:t>
                      </a:r>
                      <a:endParaRPr lang="zh-CN" altLang="en-US" sz="1600" b="1"/>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lgn="ctr">
                        <a:buNone/>
                      </a:pPr>
                      <a:r>
                        <a:rPr lang="zh-CN" altLang="en-US" sz="1600"/>
                        <a:t>低速</a:t>
                      </a:r>
                      <a:endParaRPr lang="zh-CN" altLang="en-US"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lgn="ctr">
                        <a:buNone/>
                      </a:pPr>
                      <a:r>
                        <a:rPr lang="en-US" altLang="zh-CN" sz="1600"/>
                        <a:t>7.5~13</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p>
                      <a:pPr algn="ctr">
                        <a:buNone/>
                      </a:pPr>
                      <a:r>
                        <a:rPr lang="en-US" altLang="zh-CN" sz="1600"/>
                        <a:t>0.11-0.17</a:t>
                      </a:r>
                      <a:endParaRPr lang="en-US" altLang="zh-CN" sz="160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bl>
          </a:graphicData>
        </a:graphic>
      </p:graphicFrame>
      <p:sp>
        <p:nvSpPr>
          <p:cNvPr id="6" name="文本框 5"/>
          <p:cNvSpPr txBox="1"/>
          <p:nvPr/>
        </p:nvSpPr>
        <p:spPr>
          <a:xfrm>
            <a:off x="737870" y="5240655"/>
            <a:ext cx="7964170" cy="737235"/>
          </a:xfrm>
          <a:prstGeom prst="rect">
            <a:avLst/>
          </a:prstGeom>
          <a:noFill/>
        </p:spPr>
        <p:txBody>
          <a:bodyPr wrap="square" rtlCol="0" anchor="t">
            <a:spAutoFit/>
          </a:bodyPr>
          <a:p>
            <a:r>
              <a:rPr lang="zh-CN" altLang="en-US" sz="1400" b="1">
                <a:sym typeface="+mn-ea"/>
              </a:rPr>
              <a:t>注：</a:t>
            </a:r>
            <a:r>
              <a:rPr lang="en-US" altLang="en-US" sz="1400" b="1">
                <a:sym typeface="+mn-ea"/>
              </a:rPr>
              <a:t>①</a:t>
            </a:r>
            <a:r>
              <a:rPr lang="zh-CN" altLang="en-US" sz="1400" b="1">
                <a:sym typeface="+mn-ea"/>
              </a:rPr>
              <a:t>表中许用压力值适用于</a:t>
            </a:r>
            <a:r>
              <a:rPr lang="zh-CN" altLang="en-US" sz="1400" b="1">
                <a:latin typeface="黑体" panose="02010609060101010101" pitchFamily="2" charset="-122"/>
                <a:ea typeface="黑体" panose="02010609060101010101" pitchFamily="2" charset="-122"/>
                <a:sym typeface="+mn-ea"/>
              </a:rPr>
              <a:t>Φ</a:t>
            </a:r>
            <a:r>
              <a:rPr lang="en-US" altLang="zh-CN" sz="1400" b="1">
                <a:sym typeface="+mn-ea"/>
              </a:rPr>
              <a:t>=2.54</a:t>
            </a:r>
            <a:r>
              <a:rPr lang="zh-CN" altLang="en-US" sz="1400" b="1">
                <a:sym typeface="+mn-ea"/>
              </a:rPr>
              <a:t>的情况。当</a:t>
            </a:r>
            <a:r>
              <a:rPr lang="zh-CN" altLang="en-US" sz="1400" b="1">
                <a:latin typeface="黑体" panose="02010609060101010101" pitchFamily="2" charset="-122"/>
                <a:ea typeface="黑体" panose="02010609060101010101" pitchFamily="2" charset="-122"/>
                <a:sym typeface="+mn-ea"/>
              </a:rPr>
              <a:t>Φ</a:t>
            </a:r>
            <a:r>
              <a:rPr lang="en-US" altLang="zh-CN" sz="1400" b="1">
                <a:sym typeface="+mn-ea"/>
              </a:rPr>
              <a:t>&lt;2.5</a:t>
            </a:r>
            <a:r>
              <a:rPr lang="zh-CN" altLang="en-US" sz="1400" b="1">
                <a:sym typeface="+mn-ea"/>
              </a:rPr>
              <a:t>时可提高</a:t>
            </a:r>
            <a:r>
              <a:rPr lang="en-US" altLang="zh-CN" sz="1400" b="1">
                <a:sym typeface="+mn-ea"/>
              </a:rPr>
              <a:t>20%</a:t>
            </a:r>
            <a:r>
              <a:rPr lang="zh-CN" altLang="en-US" sz="1400" b="1">
                <a:sym typeface="+mn-ea"/>
              </a:rPr>
              <a:t>；当为剖分螺母时应降低</a:t>
            </a:r>
            <a:r>
              <a:rPr lang="en-US" altLang="zh-CN" sz="1400" b="1">
                <a:sym typeface="+mn-ea"/>
              </a:rPr>
              <a:t>15%-20%</a:t>
            </a:r>
            <a:endParaRPr lang="en-US" altLang="zh-CN" sz="1400" b="1"/>
          </a:p>
          <a:p>
            <a:r>
              <a:rPr lang="en-US" altLang="en-US" sz="1400" b="1">
                <a:sym typeface="+mn-ea"/>
              </a:rPr>
              <a:t>②</a:t>
            </a:r>
            <a:r>
              <a:rPr lang="zh-CN" altLang="en-US" sz="1400" b="1">
                <a:sym typeface="+mn-ea"/>
              </a:rPr>
              <a:t>表中摩擦因数启动时取大值，运转中取小值</a:t>
            </a:r>
            <a:endParaRPr lang="zh-CN" altLang="en-US" sz="1400" b="1">
              <a:sym typeface="+mn-ea"/>
            </a:endParaRPr>
          </a:p>
        </p:txBody>
      </p:sp>
      <p:sp>
        <p:nvSpPr>
          <p:cNvPr id="7" name="文本框 6"/>
          <p:cNvSpPr txBox="1"/>
          <p:nvPr/>
        </p:nvSpPr>
        <p:spPr>
          <a:xfrm>
            <a:off x="1785620" y="1410335"/>
            <a:ext cx="5868670" cy="398780"/>
          </a:xfrm>
          <a:prstGeom prst="rect">
            <a:avLst/>
          </a:prstGeom>
          <a:noFill/>
        </p:spPr>
        <p:txBody>
          <a:bodyPr wrap="square" rtlCol="0">
            <a:spAutoFit/>
          </a:bodyPr>
          <a:p>
            <a:r>
              <a:rPr lang="zh-CN" altLang="en-US" sz="2000"/>
              <a:t>表</a:t>
            </a:r>
            <a:r>
              <a:rPr lang="en-US" altLang="zh-CN" sz="2000"/>
              <a:t>2.4-2 </a:t>
            </a:r>
            <a:r>
              <a:rPr lang="zh-CN" altLang="en-US" sz="2000"/>
              <a:t>滑动螺旋副材料的滑动速度和许用压力</a:t>
            </a:r>
            <a:r>
              <a:rPr lang="en-US" altLang="zh-CN" sz="2000"/>
              <a:t>[</a:t>
            </a:r>
            <a:r>
              <a:rPr lang="en-US" altLang="zh-CN" sz="2000" i="1"/>
              <a:t>p</a:t>
            </a:r>
            <a:r>
              <a:rPr lang="en-US" altLang="zh-CN" sz="2000"/>
              <a:t>]</a:t>
            </a:r>
            <a:endParaRPr lang="en-US" altLang="zh-CN" sz="2000"/>
          </a:p>
        </p:txBody>
      </p:sp>
      <p:sp>
        <p:nvSpPr>
          <p:cNvPr id="28674" name="标题 1"/>
          <p:cNvSpPr>
            <a:spLocks noGrp="1"/>
          </p:cNvSpPr>
          <p:nvPr/>
        </p:nvSpPr>
        <p:spPr>
          <a:xfrm>
            <a:off x="271145" y="87630"/>
            <a:ext cx="8229600" cy="725488"/>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kern="1200">
                <a:solidFill>
                  <a:srgbClr val="FF0000"/>
                </a:solidFill>
                <a:latin typeface="黑体" panose="02010609060101010101" pitchFamily="2" charset="-122"/>
                <a:ea typeface="黑体" panose="02010609060101010101" pitchFamily="2" charset="-122"/>
                <a:cs typeface="+mj-cs"/>
              </a:defRPr>
            </a:lvl1pPr>
            <a:lvl2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2pPr>
            <a:lvl3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3pPr>
            <a:lvl4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4pPr>
            <a:lvl5pPr algn="l" rtl="0" eaLnBrk="0" fontAlgn="base" hangingPunct="0">
              <a:spcBef>
                <a:spcPct val="0"/>
              </a:spcBef>
              <a:spcAft>
                <a:spcPct val="0"/>
              </a:spcAft>
              <a:defRPr sz="3600">
                <a:solidFill>
                  <a:srgbClr val="FF0000"/>
                </a:solidFill>
                <a:latin typeface="黑体" panose="02010609060101010101" pitchFamily="2" charset="-122"/>
                <a:ea typeface="黑体" panose="02010609060101010101" pitchFamily="2" charset="-122"/>
              </a:defRPr>
            </a:lvl5pPr>
            <a:lvl6pPr marL="4572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6pPr>
            <a:lvl7pPr marL="9144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7pPr>
            <a:lvl8pPr marL="13716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8pPr>
            <a:lvl9pPr marL="1828800" algn="l" rtl="0" fontAlgn="base">
              <a:spcBef>
                <a:spcPct val="0"/>
              </a:spcBef>
              <a:spcAft>
                <a:spcPct val="0"/>
              </a:spcAft>
              <a:defRPr sz="3600">
                <a:solidFill>
                  <a:srgbClr val="FF0000"/>
                </a:solidFill>
                <a:latin typeface="黑体" panose="02010609060101010101" pitchFamily="2" charset="-122"/>
                <a:ea typeface="黑体" panose="02010609060101010101" pitchFamily="2" charset="-122"/>
              </a:defRPr>
            </a:lvl9pPr>
          </a:lstStyle>
          <a:p>
            <a:pPr eaLnBrk="1" hangingPunct="1"/>
            <a:r>
              <a:rPr lang="zh-CN" altLang="en-US" sz="2800" b="0" dirty="0" smtClean="0">
                <a:solidFill>
                  <a:srgbClr val="0000FF"/>
                </a:solidFill>
                <a:latin typeface="黑体" panose="02010609060101010101" pitchFamily="2" charset="-122"/>
                <a:ea typeface="黑体" panose="02010609060101010101" pitchFamily="2" charset="-122"/>
              </a:rPr>
              <a:t>二、</a:t>
            </a:r>
            <a:r>
              <a:rPr lang="en-US" altLang="zh-CN" dirty="0" smtClean="0">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滑动螺旋的材料及许用应力</a:t>
            </a:r>
            <a:endParaRPr lang="zh-CN" altLang="en-US"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
        <p:nvSpPr>
          <p:cNvPr id="31752" name="直接连接符 6"/>
          <p:cNvSpPr>
            <a:spLocks noChangeShapeType="1"/>
          </p:cNvSpPr>
          <p:nvPr/>
        </p:nvSpPr>
        <p:spPr bwMode="auto">
          <a:xfrm>
            <a:off x="-18415" y="765175"/>
            <a:ext cx="9144000" cy="0"/>
          </a:xfrm>
          <a:prstGeom prst="line">
            <a:avLst/>
          </a:prstGeom>
          <a:noFill/>
          <a:ln w="38100">
            <a:solidFill>
              <a:schemeClr val="accent1"/>
            </a:solidFill>
            <a:miter lim="800000"/>
          </a:ln>
          <a:extLst>
            <a:ext uri="{909E8E84-426E-40DD-AFC4-6F175D3DCCD1}">
              <a14:hiddenFill xmlns:a14="http://schemas.microsoft.com/office/drawing/2010/main">
                <a:noFill/>
              </a14:hiddenFill>
            </a:ext>
          </a:extLst>
        </p:spPr>
        <p:txBody>
          <a:bodyPr/>
          <a:p>
            <a:endParaRPr lang="zh-CN" altLang="en-US"/>
          </a:p>
        </p:txBody>
      </p:sp>
      <p:sp>
        <p:nvSpPr>
          <p:cNvPr id="28675" name="内容占位符 2"/>
          <p:cNvSpPr>
            <a:spLocks noGrp="1"/>
          </p:cNvSpPr>
          <p:nvPr/>
        </p:nvSpPr>
        <p:spPr>
          <a:xfrm>
            <a:off x="363220" y="926783"/>
            <a:ext cx="8229600" cy="642937"/>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b="1" kern="1200">
                <a:solidFill>
                  <a:srgbClr val="0000FF"/>
                </a:solidFill>
                <a:latin typeface="黑体" panose="02010609060101010101" pitchFamily="2" charset="-122"/>
                <a:ea typeface="黑体" panose="0201060906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楷体_GB2312" pitchFamily="49" charset="-122"/>
                <a:ea typeface="楷体_GB2312"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黑体" panose="02010609060101010101" pitchFamily="2" charset="-122"/>
                <a:ea typeface="黑体" panose="0201060906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Font typeface="Arial" panose="020B0604020202020204" pitchFamily="34" charset="0"/>
              <a:buNone/>
            </a:pPr>
            <a:r>
              <a:rPr lang="en-US" altLang="zh-CN" sz="2400" b="0" dirty="0" smtClean="0">
                <a:solidFill>
                  <a:srgbClr val="C00000"/>
                </a:solidFill>
                <a:latin typeface="黑体" panose="02010609060101010101" pitchFamily="2" charset="-122"/>
                <a:ea typeface="黑体" panose="02010609060101010101" pitchFamily="2" charset="-122"/>
              </a:rPr>
              <a:t>3</a:t>
            </a:r>
            <a:r>
              <a:rPr lang="zh-CN" altLang="en-US" sz="2400" b="0" dirty="0" smtClean="0">
                <a:solidFill>
                  <a:srgbClr val="C00000"/>
                </a:solidFill>
                <a:latin typeface="黑体" panose="02010609060101010101" pitchFamily="2" charset="-122"/>
                <a:ea typeface="黑体" panose="02010609060101010101" pitchFamily="2" charset="-122"/>
              </a:rPr>
              <a:t>、滑动螺旋副材料的许用压强</a:t>
            </a:r>
            <a:endParaRPr lang="zh-CN" altLang="en-US" sz="2400" b="0" dirty="0" smtClean="0">
              <a:solidFill>
                <a:srgbClr val="C00000"/>
              </a:solidFill>
              <a:latin typeface="黑体" panose="02010609060101010101" pitchFamily="2" charset="-122"/>
              <a:ea typeface="黑体" panose="02010609060101010101" pitchFamily="2" charset="-122"/>
            </a:endParaRPr>
          </a:p>
        </p:txBody>
      </p:sp>
      <p:sp>
        <p:nvSpPr>
          <p:cNvPr id="28677" name="内容占位符 2"/>
          <p:cNvSpPr txBox="1"/>
          <p:nvPr/>
        </p:nvSpPr>
        <p:spPr bwMode="auto">
          <a:xfrm>
            <a:off x="605155" y="6046470"/>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Arial" panose="020B0604020202020204" pitchFamily="34" charset="0"/>
              <a:buNone/>
            </a:pPr>
            <a:r>
              <a:rPr lang="zh-CN" altLang="en-US" sz="2400" dirty="0">
                <a:solidFill>
                  <a:srgbClr val="FF0000"/>
                </a:solidFill>
                <a:latin typeface="黑体" panose="02010609060101010101" pitchFamily="2" charset="-122"/>
                <a:ea typeface="黑体" panose="02010609060101010101" pitchFamily="2" charset="-122"/>
              </a:rPr>
              <a:t>为什么校核或计算压强？</a:t>
            </a:r>
            <a:endParaRPr lang="zh-CN" altLang="en-US" sz="2400" dirty="0">
              <a:solidFill>
                <a:srgbClr val="FF0000"/>
              </a:solidFill>
              <a:latin typeface="黑体" panose="02010609060101010101" pitchFamily="2" charset="-122"/>
              <a:ea typeface="黑体" panose="0201060906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457200" y="142875"/>
            <a:ext cx="8229600" cy="725488"/>
          </a:xfrm>
        </p:spPr>
        <p:txBody>
          <a:bodyPr/>
          <a:lstStyle/>
          <a:p>
            <a:pPr eaLnBrk="1" hangingPunct="1"/>
            <a:r>
              <a:rPr lang="zh-CN" altLang="en-US" sz="2800" b="0" dirty="0" smtClean="0">
                <a:solidFill>
                  <a:srgbClr val="0000FF"/>
                </a:solidFill>
                <a:latin typeface="黑体" panose="02010609060101010101" pitchFamily="2" charset="-122"/>
                <a:ea typeface="黑体" panose="02010609060101010101" pitchFamily="2" charset="-122"/>
              </a:rPr>
              <a:t>二、滑动</a:t>
            </a:r>
            <a:r>
              <a:rPr lang="zh-CN" altLang="en-US" sz="2800" b="0" dirty="0">
                <a:solidFill>
                  <a:srgbClr val="0000FF"/>
                </a:solidFill>
                <a:latin typeface="黑体" panose="02010609060101010101" pitchFamily="2" charset="-122"/>
                <a:ea typeface="黑体" panose="02010609060101010101" pitchFamily="2" charset="-122"/>
              </a:rPr>
              <a:t>螺旋的材料及许用应力</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29699" name="内容占位符 2"/>
          <p:cNvSpPr>
            <a:spLocks noGrp="1"/>
          </p:cNvSpPr>
          <p:nvPr>
            <p:ph idx="1"/>
          </p:nvPr>
        </p:nvSpPr>
        <p:spPr>
          <a:xfrm>
            <a:off x="611560" y="1124744"/>
            <a:ext cx="8229600" cy="642937"/>
          </a:xfrm>
        </p:spPr>
        <p:txBody>
          <a:bodyPr/>
          <a:lstStyle/>
          <a:p>
            <a:pPr eaLnBrk="1" hangingPunct="1">
              <a:buFont typeface="Arial" panose="020B0604020202020204" pitchFamily="34" charset="0"/>
              <a:buNone/>
            </a:pPr>
            <a:r>
              <a:rPr lang="en-US" altLang="zh-CN" sz="2400" b="0" dirty="0" smtClean="0">
                <a:solidFill>
                  <a:srgbClr val="C00000"/>
                </a:solidFill>
                <a:latin typeface="黑体" panose="02010609060101010101" pitchFamily="2" charset="-122"/>
                <a:ea typeface="黑体" panose="02010609060101010101" pitchFamily="2" charset="-122"/>
              </a:rPr>
              <a:t>4</a:t>
            </a:r>
            <a:r>
              <a:rPr lang="zh-CN" altLang="en-US" sz="2400" b="0" dirty="0" smtClean="0">
                <a:solidFill>
                  <a:srgbClr val="C00000"/>
                </a:solidFill>
                <a:latin typeface="黑体" panose="02010609060101010101" pitchFamily="2" charset="-122"/>
                <a:ea typeface="黑体" panose="02010609060101010101" pitchFamily="2" charset="-122"/>
              </a:rPr>
              <a:t>、滑动螺旋副材料的许用应力</a:t>
            </a:r>
            <a:endParaRPr lang="zh-CN" altLang="en-US" sz="2400" b="0" dirty="0" smtClean="0">
              <a:solidFill>
                <a:srgbClr val="C00000"/>
              </a:solidFill>
              <a:latin typeface="黑体" panose="02010609060101010101" pitchFamily="2" charset="-122"/>
              <a:ea typeface="黑体" panose="02010609060101010101" pitchFamily="2" charset="-122"/>
            </a:endParaRPr>
          </a:p>
          <a:p>
            <a:pPr eaLnBrk="1" hangingPunct="1">
              <a:buFont typeface="Arial" panose="020B0604020202020204" pitchFamily="34" charset="0"/>
              <a:buNone/>
            </a:pPr>
            <a:endParaRPr lang="zh-CN" altLang="en-US" sz="2400" b="0" dirty="0" smtClean="0">
              <a:solidFill>
                <a:srgbClr val="C00000"/>
              </a:solidFill>
              <a:latin typeface="黑体" panose="02010609060101010101" pitchFamily="2" charset="-122"/>
              <a:ea typeface="黑体" panose="02010609060101010101" pitchFamily="2" charset="-122"/>
            </a:endParaRPr>
          </a:p>
        </p:txBody>
      </p:sp>
      <p:grpSp>
        <p:nvGrpSpPr>
          <p:cNvPr id="3" name="组合 2"/>
          <p:cNvGrpSpPr/>
          <p:nvPr/>
        </p:nvGrpSpPr>
        <p:grpSpPr>
          <a:xfrm>
            <a:off x="312420" y="2004695"/>
            <a:ext cx="8620760" cy="2711450"/>
            <a:chOff x="492" y="3157"/>
            <a:chExt cx="13576" cy="4270"/>
          </a:xfrm>
        </p:grpSpPr>
        <p:pic>
          <p:nvPicPr>
            <p:cNvPr id="2970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2" y="3157"/>
              <a:ext cx="13577" cy="4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707" y="3298"/>
              <a:ext cx="1872" cy="5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n>
                    <a:solidFill>
                      <a:sysClr val="windowText" lastClr="000000"/>
                    </a:solidFill>
                  </a:ln>
                  <a:latin typeface="+mn-ea"/>
                </a:rPr>
                <a:t>表</a:t>
              </a:r>
              <a:r>
                <a:rPr lang="en-US" altLang="zh-CN" sz="1600" dirty="0" smtClean="0">
                  <a:ln>
                    <a:solidFill>
                      <a:sysClr val="windowText" lastClr="000000"/>
                    </a:solidFill>
                  </a:ln>
                  <a:latin typeface="+mn-ea"/>
                </a:rPr>
                <a:t>2.4-3</a:t>
              </a:r>
              <a:endParaRPr lang="zh-CN" altLang="en-US" sz="1600" dirty="0">
                <a:ln>
                  <a:solidFill>
                    <a:sysClr val="windowText" lastClr="000000"/>
                  </a:solidFill>
                </a:ln>
                <a:latin typeface="+mn-ea"/>
              </a:endParaRPr>
            </a:p>
          </p:txBody>
        </p:sp>
      </p:gr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414655" y="131445"/>
            <a:ext cx="8229600" cy="725488"/>
          </a:xfrm>
        </p:spPr>
        <p:txBody>
          <a:bodyPr/>
          <a:lstStyle/>
          <a:p>
            <a:pPr eaLnBrk="1" hangingPunct="1"/>
            <a:r>
              <a:rPr lang="zh-CN" sz="2800" b="0" dirty="0" smtClean="0">
                <a:solidFill>
                  <a:srgbClr val="0000FF"/>
                </a:solidFill>
                <a:latin typeface="黑体" panose="02010609060101010101" pitchFamily="2" charset="-122"/>
                <a:ea typeface="黑体" panose="02010609060101010101" pitchFamily="2" charset="-122"/>
              </a:rPr>
              <a:t>三、螺旋传动的运动关系</a:t>
            </a:r>
            <a:endParaRPr lang="zh-CN" sz="2800" b="0" dirty="0">
              <a:solidFill>
                <a:srgbClr val="0000FF"/>
              </a:solidFill>
              <a:latin typeface="黑体" panose="02010609060101010101" pitchFamily="2" charset="-122"/>
              <a:ea typeface="黑体" panose="02010609060101010101" pitchFamily="2" charset="-122"/>
            </a:endParaRPr>
          </a:p>
        </p:txBody>
      </p:sp>
      <p:sp>
        <p:nvSpPr>
          <p:cNvPr id="7172" name="Rectangle 5"/>
          <p:cNvSpPr/>
          <p:nvPr/>
        </p:nvSpPr>
        <p:spPr>
          <a:xfrm>
            <a:off x="540703" y="1089660"/>
            <a:ext cx="2926080" cy="460375"/>
          </a:xfrm>
          <a:prstGeom prst="rect">
            <a:avLst/>
          </a:prstGeom>
          <a:noFill/>
          <a:ln w="9525">
            <a:noFill/>
          </a:ln>
        </p:spPr>
        <p:txBody>
          <a:bodyPr wrap="none">
            <a:spAutoFit/>
          </a:bodyPr>
          <a:p>
            <a:r>
              <a:rPr lang="zh-CN" altLang="en-US" sz="2400" dirty="0">
                <a:latin typeface="黑体" panose="02010609060101010101" pitchFamily="2" charset="-122"/>
                <a:ea typeface="黑体" panose="02010609060101010101" pitchFamily="2" charset="-122"/>
              </a:rPr>
              <a:t>（一）</a:t>
            </a:r>
            <a:r>
              <a:rPr lang="zh-CN" altLang="zh-CN" sz="2400" dirty="0">
                <a:latin typeface="黑体" panose="02010609060101010101" pitchFamily="2" charset="-122"/>
                <a:ea typeface="黑体" panose="02010609060101010101" pitchFamily="2" charset="-122"/>
              </a:rPr>
              <a:t>一般螺旋传动</a:t>
            </a:r>
            <a:endParaRPr lang="zh-CN" altLang="zh-CN" sz="2400" dirty="0">
              <a:latin typeface="黑体" panose="02010609060101010101" pitchFamily="2" charset="-122"/>
              <a:ea typeface="黑体" panose="02010609060101010101" pitchFamily="2" charset="-122"/>
            </a:endParaRPr>
          </a:p>
        </p:txBody>
      </p:sp>
      <p:sp>
        <p:nvSpPr>
          <p:cNvPr id="7175" name="文本框 2"/>
          <p:cNvSpPr txBox="1"/>
          <p:nvPr/>
        </p:nvSpPr>
        <p:spPr>
          <a:xfrm>
            <a:off x="908050" y="1664970"/>
            <a:ext cx="4800600" cy="460375"/>
          </a:xfrm>
          <a:prstGeom prst="rect">
            <a:avLst/>
          </a:prstGeom>
          <a:noFill/>
          <a:ln w="9525">
            <a:noFill/>
          </a:ln>
        </p:spPr>
        <p:txBody>
          <a:bodyPr wrap="square">
            <a:spAutoFit/>
          </a:bodyPr>
          <a:p>
            <a:r>
              <a:rPr lang="zh-CN" altLang="zh-CN" sz="2400" dirty="0">
                <a:latin typeface="Tahoma" panose="020B0604030504040204" pitchFamily="34" charset="0"/>
              </a:rPr>
              <a:t>一般螺旋传动的运动关系为：</a:t>
            </a:r>
            <a:endParaRPr lang="zh-CN" altLang="zh-CN" sz="2400" dirty="0">
              <a:latin typeface="Tahoma" panose="020B0604030504040204" pitchFamily="34" charset="0"/>
            </a:endParaRPr>
          </a:p>
        </p:txBody>
      </p:sp>
      <p:sp>
        <p:nvSpPr>
          <p:cNvPr id="2" name="文本框 1"/>
          <p:cNvSpPr txBox="1">
            <a:spLocks noRot="1" noChangeAspect="1" noMove="1" noResize="1" noEditPoints="1" noAdjustHandles="1" noChangeArrowheads="1" noChangeShapeType="1" noTextEdit="1"/>
          </p:cNvSpPr>
          <p:nvPr/>
        </p:nvSpPr>
        <p:spPr>
          <a:xfrm>
            <a:off x="2398395" y="2224405"/>
            <a:ext cx="5767070" cy="726440"/>
          </a:xfrm>
          <a:prstGeom prst="rect">
            <a:avLst/>
          </a:prstGeom>
          <a:blipFill>
            <a:blip r:embed="rId1"/>
            <a:stretch>
              <a:fillRect b="-4255"/>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7" name="文本框 6"/>
          <p:cNvSpPr txBox="1">
            <a:spLocks noRot="1" noChangeAspect="1" noMove="1" noResize="1" noEditPoints="1" noAdjustHandles="1" noChangeArrowheads="1" noChangeShapeType="1" noTextEdit="1"/>
          </p:cNvSpPr>
          <p:nvPr/>
        </p:nvSpPr>
        <p:spPr>
          <a:xfrm>
            <a:off x="1360170" y="3046095"/>
            <a:ext cx="5132070" cy="1665605"/>
          </a:xfrm>
          <a:prstGeom prst="rect">
            <a:avLst/>
          </a:prstGeom>
          <a:blipFill>
            <a:blip r:embed="rId2"/>
            <a:stretch>
              <a:fillRect l="-1475" r="-938" b="-2893"/>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7178" name="文本框 6"/>
          <p:cNvSpPr txBox="1"/>
          <p:nvPr/>
        </p:nvSpPr>
        <p:spPr>
          <a:xfrm>
            <a:off x="541020" y="4711700"/>
            <a:ext cx="8698865" cy="460375"/>
          </a:xfrm>
          <a:prstGeom prst="rect">
            <a:avLst/>
          </a:prstGeom>
          <a:noFill/>
          <a:ln w="9525">
            <a:noFill/>
          </a:ln>
        </p:spPr>
        <p:txBody>
          <a:bodyPr wrap="square">
            <a:spAutoFit/>
          </a:bodyPr>
          <a:p>
            <a:r>
              <a:rPr lang="zh-CN" altLang="zh-CN" sz="2400" dirty="0">
                <a:latin typeface="Tahoma" panose="020B0604030504040204" pitchFamily="34" charset="0"/>
              </a:rPr>
              <a:t>如螺杆转速为</a:t>
            </a:r>
            <a:r>
              <a:rPr lang="en-US" altLang="zh-CN" sz="2400" dirty="0">
                <a:latin typeface="Tahoma" panose="020B0604030504040204" pitchFamily="34" charset="0"/>
              </a:rPr>
              <a:t>n(r/min)</a:t>
            </a:r>
            <a:r>
              <a:rPr lang="zh-CN" altLang="en-US" sz="2400" dirty="0">
                <a:latin typeface="Tahoma" panose="020B0604030504040204" pitchFamily="34" charset="0"/>
              </a:rPr>
              <a:t>，</a:t>
            </a:r>
            <a:r>
              <a:rPr lang="zh-CN" altLang="zh-CN" sz="2400" dirty="0">
                <a:latin typeface="Tahoma" panose="020B0604030504040204" pitchFamily="34" charset="0"/>
              </a:rPr>
              <a:t>则螺母轴向移动的速度</a:t>
            </a:r>
            <a:r>
              <a:rPr lang="en-US" altLang="zh-CN" sz="2400" dirty="0">
                <a:latin typeface="Tahoma" panose="020B0604030504040204" pitchFamily="34" charset="0"/>
              </a:rPr>
              <a:t>v(mm/s)</a:t>
            </a:r>
            <a:r>
              <a:rPr lang="zh-CN" altLang="zh-CN" sz="2400" dirty="0">
                <a:latin typeface="Tahoma" panose="020B0604030504040204" pitchFamily="34" charset="0"/>
              </a:rPr>
              <a:t>为：</a:t>
            </a:r>
            <a:endParaRPr lang="zh-CN" altLang="zh-CN" sz="2400" dirty="0">
              <a:latin typeface="Tahoma" panose="020B0604030504040204" pitchFamily="34" charset="0"/>
            </a:endParaRPr>
          </a:p>
        </p:txBody>
      </p:sp>
      <p:sp>
        <p:nvSpPr>
          <p:cNvPr id="10" name="文本框 9"/>
          <p:cNvSpPr txBox="1">
            <a:spLocks noRot="1" noChangeAspect="1" noMove="1" noResize="1" noEditPoints="1" noAdjustHandles="1" noChangeArrowheads="1" noChangeShapeType="1" noTextEdit="1"/>
          </p:cNvSpPr>
          <p:nvPr/>
        </p:nvSpPr>
        <p:spPr>
          <a:xfrm>
            <a:off x="1797050" y="5375910"/>
            <a:ext cx="6186805" cy="735330"/>
          </a:xfrm>
          <a:prstGeom prst="rect">
            <a:avLst/>
          </a:prstGeom>
          <a:blipFill>
            <a:blip r:embed="rId3"/>
            <a:stretch>
              <a:fillRect b="-3371"/>
            </a:stretch>
          </a:blipFill>
        </p:spPr>
        <p:txBody>
          <a:bodyPr/>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pic>
        <p:nvPicPr>
          <p:cNvPr id="13323" name="图片 1073742872" descr="44303071dc0a1f9688d599dbc999570副本"/>
          <p:cNvPicPr>
            <a:picLocks noChangeAspect="1"/>
          </p:cNvPicPr>
          <p:nvPr/>
        </p:nvPicPr>
        <p:blipFill>
          <a:blip r:embed="rId4"/>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Rectangle 5"/>
          <p:cNvSpPr/>
          <p:nvPr/>
        </p:nvSpPr>
        <p:spPr>
          <a:xfrm>
            <a:off x="627063" y="1057275"/>
            <a:ext cx="2926080" cy="460375"/>
          </a:xfrm>
          <a:prstGeom prst="rect">
            <a:avLst/>
          </a:prstGeom>
          <a:noFill/>
          <a:ln w="9525">
            <a:noFill/>
          </a:ln>
        </p:spPr>
        <p:txBody>
          <a:bodyPr wrap="none">
            <a:spAutoFit/>
          </a:bodyPr>
          <a:p>
            <a:r>
              <a:rPr lang="zh-CN" altLang="en-US" sz="2400" dirty="0">
                <a:latin typeface="黑体" panose="02010609060101010101" pitchFamily="2" charset="-122"/>
                <a:ea typeface="黑体" panose="02010609060101010101" pitchFamily="2" charset="-122"/>
              </a:rPr>
              <a:t>（二）</a:t>
            </a:r>
            <a:r>
              <a:rPr lang="zh-CN" altLang="zh-CN" sz="2400" dirty="0">
                <a:latin typeface="黑体" panose="02010609060101010101" pitchFamily="2" charset="-122"/>
                <a:ea typeface="黑体" panose="02010609060101010101" pitchFamily="2" charset="-122"/>
              </a:rPr>
              <a:t>差动螺旋传动</a:t>
            </a:r>
            <a:endParaRPr lang="zh-CN" altLang="zh-CN" sz="2400" dirty="0">
              <a:latin typeface="黑体" panose="02010609060101010101" pitchFamily="2" charset="-122"/>
              <a:ea typeface="黑体" panose="02010609060101010101" pitchFamily="2" charset="-122"/>
            </a:endParaRPr>
          </a:p>
        </p:txBody>
      </p:sp>
      <p:pic>
        <p:nvPicPr>
          <p:cNvPr id="33820" name="Picture 28" descr="rewind1">
            <a:hlinkClick r:id="rId1" action="ppaction://hlinksldjump"/>
          </p:cNvPr>
          <p:cNvPicPr>
            <a:picLocks noChangeAspect="1"/>
          </p:cNvPicPr>
          <p:nvPr/>
        </p:nvPicPr>
        <p:blipFill>
          <a:blip r:embed="rId2"/>
          <a:stretch>
            <a:fillRect/>
          </a:stretch>
        </p:blipFill>
        <p:spPr>
          <a:xfrm>
            <a:off x="8039100" y="6523038"/>
            <a:ext cx="287338" cy="287337"/>
          </a:xfrm>
          <a:prstGeom prst="rect">
            <a:avLst/>
          </a:prstGeom>
          <a:noFill/>
          <a:ln w="9525">
            <a:noFill/>
          </a:ln>
        </p:spPr>
      </p:pic>
      <p:pic>
        <p:nvPicPr>
          <p:cNvPr id="33821" name="Picture 29" descr="back1">
            <a:hlinkClick r:id="" action="ppaction://hlinkshowjump?jump=previousslide"/>
          </p:cNvPr>
          <p:cNvPicPr>
            <a:picLocks noChangeAspect="1"/>
          </p:cNvPicPr>
          <p:nvPr/>
        </p:nvPicPr>
        <p:blipFill>
          <a:blip r:embed="rId3"/>
          <a:stretch>
            <a:fillRect/>
          </a:stretch>
        </p:blipFill>
        <p:spPr>
          <a:xfrm>
            <a:off x="8447088" y="6523038"/>
            <a:ext cx="287337" cy="287337"/>
          </a:xfrm>
          <a:prstGeom prst="rect">
            <a:avLst/>
          </a:prstGeom>
          <a:noFill/>
          <a:ln w="9525">
            <a:noFill/>
          </a:ln>
        </p:spPr>
      </p:pic>
      <p:pic>
        <p:nvPicPr>
          <p:cNvPr id="33822" name="Picture 30" descr="NEXT1">
            <a:hlinkClick r:id="" action="ppaction://hlinkshowjump?jump=nextslide"/>
          </p:cNvPr>
          <p:cNvPicPr>
            <a:picLocks noChangeAspect="1"/>
          </p:cNvPicPr>
          <p:nvPr/>
        </p:nvPicPr>
        <p:blipFill>
          <a:blip r:embed="rId4"/>
          <a:stretch>
            <a:fillRect/>
          </a:stretch>
        </p:blipFill>
        <p:spPr>
          <a:xfrm>
            <a:off x="8856663" y="6523038"/>
            <a:ext cx="287337" cy="287337"/>
          </a:xfrm>
          <a:prstGeom prst="rect">
            <a:avLst/>
          </a:prstGeom>
          <a:noFill/>
          <a:ln w="9525">
            <a:noFill/>
          </a:ln>
        </p:spPr>
      </p:pic>
      <p:sp>
        <p:nvSpPr>
          <p:cNvPr id="3" name="文本框 2"/>
          <p:cNvSpPr txBox="1"/>
          <p:nvPr/>
        </p:nvSpPr>
        <p:spPr>
          <a:xfrm>
            <a:off x="668338" y="1517650"/>
            <a:ext cx="5628005" cy="460375"/>
          </a:xfrm>
          <a:prstGeom prst="rect">
            <a:avLst/>
          </a:prstGeom>
          <a:noFill/>
          <a:ln w="9525">
            <a:noFill/>
          </a:ln>
        </p:spPr>
        <p:txBody>
          <a:bodyPr wrap="none">
            <a:spAutoFit/>
          </a:bodyPr>
          <a:p>
            <a:r>
              <a:rPr lang="en-US" altLang="zh-CN" sz="2000" dirty="0">
                <a:latin typeface="Tahoma" panose="020B0604030504040204" pitchFamily="34" charset="0"/>
              </a:rPr>
              <a:t>      </a:t>
            </a:r>
            <a:r>
              <a:rPr lang="zh-CN" altLang="zh-CN" sz="2400" dirty="0">
                <a:latin typeface="Tahoma" panose="020B0604030504040204" pitchFamily="34" charset="0"/>
              </a:rPr>
              <a:t>差动螺旋传动的原理如图</a:t>
            </a:r>
            <a:r>
              <a:rPr lang="en-US" altLang="zh-CN" sz="2400" dirty="0">
                <a:latin typeface="Tahoma" panose="020B0604030504040204" pitchFamily="34" charset="0"/>
              </a:rPr>
              <a:t>2.4-4</a:t>
            </a:r>
            <a:r>
              <a:rPr lang="zh-CN" altLang="zh-CN" sz="2400" dirty="0">
                <a:latin typeface="Tahoma" panose="020B0604030504040204" pitchFamily="34" charset="0"/>
              </a:rPr>
              <a:t>所示。</a:t>
            </a:r>
            <a:endParaRPr lang="zh-CN" altLang="zh-CN" sz="2400" dirty="0">
              <a:latin typeface="Tahoma" panose="020B0604030504040204" pitchFamily="34" charset="0"/>
            </a:endParaRPr>
          </a:p>
        </p:txBody>
      </p:sp>
      <p:pic>
        <p:nvPicPr>
          <p:cNvPr id="2" name="图片 1"/>
          <p:cNvPicPr>
            <a:picLocks noChangeAspect="1"/>
          </p:cNvPicPr>
          <p:nvPr/>
        </p:nvPicPr>
        <p:blipFill>
          <a:blip r:embed="rId5"/>
          <a:stretch>
            <a:fillRect/>
          </a:stretch>
        </p:blipFill>
        <p:spPr>
          <a:xfrm>
            <a:off x="4926013" y="2735263"/>
            <a:ext cx="3921125" cy="1755775"/>
          </a:xfrm>
          <a:prstGeom prst="rect">
            <a:avLst/>
          </a:prstGeom>
          <a:noFill/>
          <a:ln w="9525">
            <a:noFill/>
          </a:ln>
        </p:spPr>
      </p:pic>
      <p:sp>
        <p:nvSpPr>
          <p:cNvPr id="6" name="文本框 5"/>
          <p:cNvSpPr txBox="1"/>
          <p:nvPr/>
        </p:nvSpPr>
        <p:spPr>
          <a:xfrm>
            <a:off x="5911850" y="4573588"/>
            <a:ext cx="2271713" cy="307975"/>
          </a:xfrm>
          <a:prstGeom prst="rect">
            <a:avLst/>
          </a:prstGeom>
          <a:noFill/>
          <a:ln w="9525">
            <a:noFill/>
          </a:ln>
        </p:spPr>
        <p:txBody>
          <a:bodyPr wrap="none">
            <a:spAutoFit/>
          </a:bodyPr>
          <a:p>
            <a:r>
              <a:rPr lang="zh-CN" altLang="zh-CN" sz="1400" dirty="0">
                <a:latin typeface="Tahoma" panose="020B0604030504040204" pitchFamily="34" charset="0"/>
              </a:rPr>
              <a:t>图</a:t>
            </a:r>
            <a:r>
              <a:rPr lang="en-US" altLang="zh-CN" sz="1400" dirty="0">
                <a:latin typeface="Tahoma" panose="020B0604030504040204" pitchFamily="34" charset="0"/>
              </a:rPr>
              <a:t>2.4-4 </a:t>
            </a:r>
            <a:r>
              <a:rPr lang="zh-CN" altLang="zh-CN" sz="1400" dirty="0">
                <a:latin typeface="Tahoma" panose="020B0604030504040204" pitchFamily="34" charset="0"/>
              </a:rPr>
              <a:t>差动螺旋传动原理</a:t>
            </a:r>
            <a:endParaRPr lang="zh-CN" altLang="en-US" sz="1400" dirty="0">
              <a:latin typeface="Tahoma" panose="020B0604030504040204" pitchFamily="34" charset="0"/>
            </a:endParaRPr>
          </a:p>
        </p:txBody>
      </p:sp>
      <p:sp>
        <p:nvSpPr>
          <p:cNvPr id="8" name="文本框 7"/>
          <p:cNvSpPr txBox="1">
            <a:spLocks noRot="1" noChangeAspect="1" noMove="1" noResize="1" noEditPoints="1" noAdjustHandles="1" noChangeArrowheads="1" noChangeShapeType="1" noTextEdit="1"/>
          </p:cNvSpPr>
          <p:nvPr/>
        </p:nvSpPr>
        <p:spPr>
          <a:xfrm>
            <a:off x="618848" y="1941424"/>
            <a:ext cx="7819985" cy="1015663"/>
          </a:xfrm>
          <a:prstGeom prst="rect">
            <a:avLst/>
          </a:prstGeom>
          <a:blipFill>
            <a:blip r:embed="rId6"/>
            <a:stretch>
              <a:fillRect l="-857" b="-4192"/>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0" name="矩形 9"/>
          <p:cNvSpPr>
            <a:spLocks noRot="1" noChangeAspect="1" noMove="1" noResize="1" noEditPoints="1" noAdjustHandles="1" noChangeArrowheads="1" noChangeShapeType="1" noTextEdit="1"/>
          </p:cNvSpPr>
          <p:nvPr/>
        </p:nvSpPr>
        <p:spPr>
          <a:xfrm>
            <a:off x="-195609" y="3035310"/>
            <a:ext cx="4572000" cy="658897"/>
          </a:xfrm>
          <a:prstGeom prst="rect">
            <a:avLst/>
          </a:prstGeom>
          <a:blipFill>
            <a:blip r:embed="rId7"/>
            <a:stretch>
              <a:fillRect b="-6481"/>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12" name="文本框 11"/>
          <p:cNvSpPr txBox="1"/>
          <p:nvPr/>
        </p:nvSpPr>
        <p:spPr>
          <a:xfrm>
            <a:off x="1195388" y="3773488"/>
            <a:ext cx="3609975" cy="400050"/>
          </a:xfrm>
          <a:prstGeom prst="rect">
            <a:avLst/>
          </a:prstGeom>
          <a:noFill/>
          <a:ln w="9525">
            <a:noFill/>
          </a:ln>
        </p:spPr>
        <p:txBody>
          <a:bodyPr>
            <a:spAutoFit/>
          </a:bodyPr>
          <a:p>
            <a:r>
              <a:rPr lang="zh-CN" altLang="zh-CN" sz="2000" dirty="0">
                <a:latin typeface="Tahoma" panose="020B0604030504040204" pitchFamily="34" charset="0"/>
              </a:rPr>
              <a:t>螺母</a:t>
            </a:r>
            <a:r>
              <a:rPr lang="en-US" altLang="zh-CN" sz="2000" dirty="0">
                <a:latin typeface="Tahoma" panose="020B0604030504040204" pitchFamily="34" charset="0"/>
              </a:rPr>
              <a:t>2</a:t>
            </a:r>
            <a:r>
              <a:rPr lang="zh-CN" altLang="zh-CN" sz="2000" dirty="0">
                <a:latin typeface="Tahoma" panose="020B0604030504040204" pitchFamily="34" charset="0"/>
              </a:rPr>
              <a:t>轴向移动的速度为</a:t>
            </a:r>
            <a:endParaRPr lang="zh-CN" altLang="zh-CN" sz="2000" dirty="0">
              <a:latin typeface="Tahoma" panose="020B0604030504040204" pitchFamily="34" charset="0"/>
            </a:endParaRPr>
          </a:p>
        </p:txBody>
      </p:sp>
      <p:sp>
        <p:nvSpPr>
          <p:cNvPr id="16" name="矩形 15"/>
          <p:cNvSpPr>
            <a:spLocks noRot="1" noChangeAspect="1" noMove="1" noResize="1" noEditPoints="1" noAdjustHandles="1" noChangeArrowheads="1" noChangeShapeType="1" noTextEdit="1"/>
          </p:cNvSpPr>
          <p:nvPr/>
        </p:nvSpPr>
        <p:spPr>
          <a:xfrm>
            <a:off x="-515234" y="4173708"/>
            <a:ext cx="5211611" cy="772391"/>
          </a:xfrm>
          <a:prstGeom prst="rect">
            <a:avLst/>
          </a:prstGeom>
          <a:blipFill>
            <a:blip r:embed="rId8"/>
            <a:stretch>
              <a:fillRect b="-7087"/>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17" name="文本框 16"/>
          <p:cNvSpPr txBox="1">
            <a:spLocks noRot="1" noChangeAspect="1" noMove="1" noResize="1" noEditPoints="1" noAdjustHandles="1" noChangeArrowheads="1" noChangeShapeType="1" noTextEdit="1"/>
          </p:cNvSpPr>
          <p:nvPr/>
        </p:nvSpPr>
        <p:spPr>
          <a:xfrm>
            <a:off x="829293" y="5028079"/>
            <a:ext cx="8018162" cy="959559"/>
          </a:xfrm>
          <a:prstGeom prst="rect">
            <a:avLst/>
          </a:prstGeom>
          <a:blipFill>
            <a:blip r:embed="rId9"/>
            <a:stretch>
              <a:fillRect l="-760" b="-10828"/>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027" name="标题 1"/>
          <p:cNvSpPr>
            <a:spLocks noGrp="1"/>
          </p:cNvSpPr>
          <p:nvPr>
            <p:ph type="title"/>
          </p:nvPr>
        </p:nvSpPr>
        <p:spPr>
          <a:xfrm>
            <a:off x="414655" y="131445"/>
            <a:ext cx="8229600" cy="725488"/>
          </a:xfrm>
        </p:spPr>
        <p:txBody>
          <a:bodyPr/>
          <a:p>
            <a:pPr eaLnBrk="1" hangingPunct="1"/>
            <a:r>
              <a:rPr lang="zh-CN" sz="2800" b="0" dirty="0" smtClean="0">
                <a:solidFill>
                  <a:srgbClr val="0000FF"/>
                </a:solidFill>
                <a:latin typeface="黑体" panose="02010609060101010101" pitchFamily="2" charset="-122"/>
                <a:ea typeface="黑体" panose="02010609060101010101" pitchFamily="2" charset="-122"/>
              </a:rPr>
              <a:t>三、螺旋传动的运动关系</a:t>
            </a:r>
            <a:endParaRPr lang="zh-CN"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0"/>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382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33822"/>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33820"/>
                                        </p:tgtEl>
                                        <p:attrNameLst>
                                          <p:attrName>style.visibility</p:attrName>
                                        </p:attrNameLst>
                                      </p:cBhvr>
                                      <p:to>
                                        <p:strVal val="visible"/>
                                      </p:to>
                                    </p:set>
                                    <p:anim calcmode="lin" valueType="num">
                                      <p:cBhvr additive="base">
                                        <p:cTn id="13" dur="500" fill="hold"/>
                                        <p:tgtEl>
                                          <p:spTgt spid="33820"/>
                                        </p:tgtEl>
                                        <p:attrNameLst>
                                          <p:attrName>ppt_x</p:attrName>
                                        </p:attrNameLst>
                                      </p:cBhvr>
                                      <p:tavLst>
                                        <p:tav tm="0">
                                          <p:val>
                                            <p:strVal val="0-#ppt_w/2"/>
                                          </p:val>
                                        </p:tav>
                                        <p:tav tm="100000">
                                          <p:val>
                                            <p:strVal val="#ppt_x"/>
                                          </p:val>
                                        </p:tav>
                                      </p:tavLst>
                                    </p:anim>
                                    <p:anim calcmode="lin" valueType="num">
                                      <p:cBhvr additive="base">
                                        <p:cTn id="14" dur="500" fill="hold"/>
                                        <p:tgtEl>
                                          <p:spTgt spid="338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124"/>
                                        </p:tgtEl>
                                        <p:attrNameLst>
                                          <p:attrName>style.visibility</p:attrName>
                                        </p:attrNameLst>
                                      </p:cBhvr>
                                      <p:to>
                                        <p:strVal val="visible"/>
                                      </p:to>
                                    </p:set>
                                    <p:animEffect transition="in" filter="wipe(left)">
                                      <p:cBhvr>
                                        <p:cTn id="19" dur="500"/>
                                        <p:tgtEl>
                                          <p:spTgt spid="512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par>
                                <p:cTn id="25" presetID="22" presetClass="entr" presetSubtype="8"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3" grpId="0"/>
      <p:bldP spid="6"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3"/>
          <p:cNvSpPr/>
          <p:nvPr/>
        </p:nvSpPr>
        <p:spPr>
          <a:xfrm>
            <a:off x="715963" y="88900"/>
            <a:ext cx="3956050" cy="533400"/>
          </a:xfrm>
          <a:prstGeom prst="rect">
            <a:avLst/>
          </a:prstGeom>
          <a:noFill/>
          <a:ln w="9525">
            <a:noFill/>
          </a:ln>
        </p:spPr>
        <p:txBody>
          <a:bodyPr tIns="18000" anchor="ctr" anchorCtr="1"/>
          <a:p>
            <a:pPr eaLnBrk="1" hangingPunct="1"/>
            <a:r>
              <a:rPr lang="zh-CN" altLang="en-US" sz="2800" dirty="0">
                <a:solidFill>
                  <a:schemeClr val="bg1"/>
                </a:solidFill>
                <a:latin typeface="Times New Roman" panose="02020603050405020304" pitchFamily="18" charset="0"/>
                <a:ea typeface="黑体" panose="02010609060101010101" pitchFamily="2" charset="-122"/>
              </a:rPr>
              <a:t>螺旋传动的运动关系</a:t>
            </a:r>
            <a:endParaRPr lang="zh-CN" altLang="en-US" sz="2800" dirty="0">
              <a:solidFill>
                <a:schemeClr val="bg1"/>
              </a:solidFill>
              <a:latin typeface="Times New Roman" panose="02020603050405020304" pitchFamily="18" charset="0"/>
              <a:ea typeface="黑体" panose="02010609060101010101" pitchFamily="2" charset="-122"/>
            </a:endParaRPr>
          </a:p>
        </p:txBody>
      </p:sp>
      <p:pic>
        <p:nvPicPr>
          <p:cNvPr id="33820" name="Picture 28" descr="rewind1">
            <a:hlinkClick r:id="rId1" action="ppaction://hlinksldjump"/>
          </p:cNvPr>
          <p:cNvPicPr>
            <a:picLocks noChangeAspect="1"/>
          </p:cNvPicPr>
          <p:nvPr/>
        </p:nvPicPr>
        <p:blipFill>
          <a:blip r:embed="rId2"/>
          <a:stretch>
            <a:fillRect/>
          </a:stretch>
        </p:blipFill>
        <p:spPr>
          <a:xfrm>
            <a:off x="8304213" y="6523038"/>
            <a:ext cx="287337" cy="287337"/>
          </a:xfrm>
          <a:prstGeom prst="rect">
            <a:avLst/>
          </a:prstGeom>
          <a:noFill/>
          <a:ln w="9525">
            <a:noFill/>
          </a:ln>
        </p:spPr>
      </p:pic>
      <p:pic>
        <p:nvPicPr>
          <p:cNvPr id="33821" name="Picture 29" descr="back1">
            <a:hlinkClick r:id="" action="ppaction://hlinkshowjump?jump=previousslide"/>
          </p:cNvPr>
          <p:cNvPicPr>
            <a:picLocks noChangeAspect="1"/>
          </p:cNvPicPr>
          <p:nvPr/>
        </p:nvPicPr>
        <p:blipFill>
          <a:blip r:embed="rId3"/>
          <a:stretch>
            <a:fillRect/>
          </a:stretch>
        </p:blipFill>
        <p:spPr>
          <a:xfrm>
            <a:off x="8713788" y="6523038"/>
            <a:ext cx="285750" cy="287337"/>
          </a:xfrm>
          <a:prstGeom prst="rect">
            <a:avLst/>
          </a:prstGeom>
          <a:noFill/>
          <a:ln w="9525">
            <a:noFill/>
          </a:ln>
        </p:spPr>
      </p:pic>
      <p:pic>
        <p:nvPicPr>
          <p:cNvPr id="2" name="图片 1"/>
          <p:cNvPicPr>
            <a:picLocks noChangeAspect="1"/>
          </p:cNvPicPr>
          <p:nvPr/>
        </p:nvPicPr>
        <p:blipFill>
          <a:blip r:embed="rId4"/>
          <a:stretch>
            <a:fillRect/>
          </a:stretch>
        </p:blipFill>
        <p:spPr>
          <a:xfrm>
            <a:off x="4829175" y="2470150"/>
            <a:ext cx="3921125" cy="1755775"/>
          </a:xfrm>
          <a:prstGeom prst="rect">
            <a:avLst/>
          </a:prstGeom>
          <a:noFill/>
          <a:ln w="9525">
            <a:noFill/>
          </a:ln>
        </p:spPr>
      </p:pic>
      <p:sp>
        <p:nvSpPr>
          <p:cNvPr id="6" name="文本框 5"/>
          <p:cNvSpPr txBox="1"/>
          <p:nvPr/>
        </p:nvSpPr>
        <p:spPr>
          <a:xfrm>
            <a:off x="5838825" y="4273550"/>
            <a:ext cx="2249170" cy="306705"/>
          </a:xfrm>
          <a:prstGeom prst="rect">
            <a:avLst/>
          </a:prstGeom>
          <a:noFill/>
          <a:ln w="9525">
            <a:noFill/>
          </a:ln>
        </p:spPr>
        <p:txBody>
          <a:bodyPr wrap="none">
            <a:spAutoFit/>
          </a:bodyPr>
          <a:p>
            <a:r>
              <a:rPr lang="zh-CN" altLang="zh-CN" sz="1400" dirty="0">
                <a:latin typeface="Tahoma" panose="020B0604030504040204" pitchFamily="34" charset="0"/>
              </a:rPr>
              <a:t>图</a:t>
            </a:r>
            <a:r>
              <a:rPr lang="en-US" altLang="zh-CN" sz="1400" dirty="0">
                <a:latin typeface="Tahoma" panose="020B0604030504040204" pitchFamily="34" charset="0"/>
              </a:rPr>
              <a:t>2.4-4 </a:t>
            </a:r>
            <a:r>
              <a:rPr lang="zh-CN" altLang="zh-CN" sz="1400" dirty="0">
                <a:latin typeface="Tahoma" panose="020B0604030504040204" pitchFamily="34" charset="0"/>
              </a:rPr>
              <a:t>差动螺旋传动原理</a:t>
            </a:r>
            <a:endParaRPr lang="zh-CN" altLang="en-US" sz="1400" dirty="0">
              <a:latin typeface="Tahoma" panose="020B0604030504040204" pitchFamily="34" charset="0"/>
            </a:endParaRPr>
          </a:p>
        </p:txBody>
      </p:sp>
      <p:sp>
        <p:nvSpPr>
          <p:cNvPr id="8" name="文本框 7"/>
          <p:cNvSpPr txBox="1">
            <a:spLocks noRot="1" noChangeAspect="1" noMove="1" noResize="1" noEditPoints="1" noAdjustHandles="1" noChangeArrowheads="1" noChangeShapeType="1" noTextEdit="1"/>
          </p:cNvSpPr>
          <p:nvPr/>
        </p:nvSpPr>
        <p:spPr>
          <a:xfrm>
            <a:off x="627103" y="1386220"/>
            <a:ext cx="7819985" cy="1046312"/>
          </a:xfrm>
          <a:prstGeom prst="rect">
            <a:avLst/>
          </a:prstGeom>
          <a:blipFill>
            <a:blip r:embed="rId5"/>
            <a:stretch>
              <a:fillRect l="-1013" b="-11047"/>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0" name="矩形 9"/>
          <p:cNvSpPr>
            <a:spLocks noRot="1" noChangeAspect="1" noMove="1" noResize="1" noEditPoints="1" noAdjustHandles="1" noChangeArrowheads="1" noChangeShapeType="1" noTextEdit="1"/>
          </p:cNvSpPr>
          <p:nvPr/>
        </p:nvSpPr>
        <p:spPr>
          <a:xfrm>
            <a:off x="-160049" y="2620194"/>
            <a:ext cx="4572000" cy="658899"/>
          </a:xfrm>
          <a:prstGeom prst="rect">
            <a:avLst/>
          </a:prstGeom>
          <a:blipFill>
            <a:blip r:embed="rId6"/>
            <a:stretch>
              <a:fillRect b="-6481"/>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12" name="文本框 11"/>
          <p:cNvSpPr txBox="1"/>
          <p:nvPr/>
        </p:nvSpPr>
        <p:spPr>
          <a:xfrm>
            <a:off x="1316038" y="3425825"/>
            <a:ext cx="3609975" cy="398780"/>
          </a:xfrm>
          <a:prstGeom prst="rect">
            <a:avLst/>
          </a:prstGeom>
          <a:noFill/>
          <a:ln w="9525">
            <a:noFill/>
          </a:ln>
        </p:spPr>
        <p:txBody>
          <a:bodyPr>
            <a:spAutoFit/>
          </a:bodyPr>
          <a:p>
            <a:r>
              <a:rPr lang="zh-CN" altLang="zh-CN" sz="2000" dirty="0">
                <a:latin typeface="Tahoma" panose="020B0604030504040204" pitchFamily="34" charset="0"/>
              </a:rPr>
              <a:t>螺母</a:t>
            </a:r>
            <a:r>
              <a:rPr lang="en-US" altLang="zh-CN" sz="2000" dirty="0">
                <a:latin typeface="Tahoma" panose="020B0604030504040204" pitchFamily="34" charset="0"/>
              </a:rPr>
              <a:t>2</a:t>
            </a:r>
            <a:r>
              <a:rPr lang="zh-CN" altLang="zh-CN" sz="2000" dirty="0">
                <a:latin typeface="Tahoma" panose="020B0604030504040204" pitchFamily="34" charset="0"/>
              </a:rPr>
              <a:t>轴向移动的速度为</a:t>
            </a:r>
            <a:endParaRPr lang="zh-CN" altLang="zh-CN" sz="2000" dirty="0">
              <a:latin typeface="Tahoma" panose="020B0604030504040204" pitchFamily="34" charset="0"/>
            </a:endParaRPr>
          </a:p>
        </p:txBody>
      </p:sp>
      <p:sp>
        <p:nvSpPr>
          <p:cNvPr id="16" name="矩形 15"/>
          <p:cNvSpPr>
            <a:spLocks noRot="1" noChangeAspect="1" noMove="1" noResize="1" noEditPoints="1" noAdjustHandles="1" noChangeArrowheads="1" noChangeShapeType="1" noTextEdit="1"/>
          </p:cNvSpPr>
          <p:nvPr/>
        </p:nvSpPr>
        <p:spPr>
          <a:xfrm>
            <a:off x="-285999" y="3798542"/>
            <a:ext cx="5211611" cy="659090"/>
          </a:xfrm>
          <a:prstGeom prst="rect">
            <a:avLst/>
          </a:prstGeom>
          <a:blipFill>
            <a:blip r:embed="rId7"/>
            <a:stretch>
              <a:fillRect b="-6481"/>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17" name="文本框 16"/>
          <p:cNvSpPr txBox="1"/>
          <p:nvPr/>
        </p:nvSpPr>
        <p:spPr>
          <a:xfrm>
            <a:off x="715963" y="4730750"/>
            <a:ext cx="8140700" cy="1014730"/>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zh-CN" altLang="zh-CN" sz="2000" dirty="0">
                <a:latin typeface="Tahoma" panose="020B0604030504040204" pitchFamily="34" charset="0"/>
              </a:rPr>
              <a:t>可见，此时差动螺旋变成了快速移动螺旋，即螺母</a:t>
            </a:r>
            <a:r>
              <a:rPr lang="en-US" altLang="zh-CN" sz="2000" dirty="0">
                <a:latin typeface="Tahoma" panose="020B0604030504040204" pitchFamily="34" charset="0"/>
              </a:rPr>
              <a:t>2</a:t>
            </a:r>
            <a:r>
              <a:rPr lang="zh-CN" altLang="zh-CN" sz="2000" dirty="0">
                <a:latin typeface="Tahoma" panose="020B0604030504040204" pitchFamily="34" charset="0"/>
              </a:rPr>
              <a:t>相对螺母</a:t>
            </a:r>
            <a:r>
              <a:rPr lang="en-US" altLang="zh-CN" sz="2000" dirty="0">
                <a:latin typeface="Tahoma" panose="020B0604030504040204" pitchFamily="34" charset="0"/>
              </a:rPr>
              <a:t>1</a:t>
            </a:r>
            <a:r>
              <a:rPr lang="zh-CN" altLang="zh-CN" sz="2000" dirty="0">
                <a:latin typeface="Tahoma" panose="020B0604030504040204" pitchFamily="34" charset="0"/>
              </a:rPr>
              <a:t>快速趋近或离开；这种螺旋装置用于要求快速夹紧的夹具或锁紧装置中。</a:t>
            </a:r>
            <a:endParaRPr lang="zh-CN" altLang="zh-CN" sz="2000" dirty="0">
              <a:latin typeface="Tahoma" panose="020B0604030504040204" pitchFamily="34" charset="0"/>
            </a:endParaRPr>
          </a:p>
        </p:txBody>
      </p:sp>
      <p:sp>
        <p:nvSpPr>
          <p:cNvPr id="1027" name="标题 1"/>
          <p:cNvSpPr>
            <a:spLocks noGrp="1"/>
          </p:cNvSpPr>
          <p:nvPr>
            <p:ph type="title" idx="4294967295"/>
          </p:nvPr>
        </p:nvSpPr>
        <p:spPr>
          <a:xfrm>
            <a:off x="0" y="131445"/>
            <a:ext cx="8229600" cy="725805"/>
          </a:xfrm>
        </p:spPr>
        <p:txBody>
          <a:bodyPr/>
          <a:p>
            <a:pPr eaLnBrk="1" hangingPunct="1"/>
            <a:r>
              <a:rPr lang="zh-CN" sz="2800" b="0" dirty="0" smtClean="0">
                <a:solidFill>
                  <a:srgbClr val="0000FF"/>
                </a:solidFill>
                <a:latin typeface="黑体" panose="02010609060101010101" pitchFamily="2" charset="-122"/>
                <a:ea typeface="黑体" panose="02010609060101010101" pitchFamily="2" charset="-122"/>
              </a:rPr>
              <a:t>三、螺旋传动的运动关系</a:t>
            </a:r>
            <a:endParaRPr lang="zh-CN"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8"/>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3821"/>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33820"/>
                                        </p:tgtEl>
                                        <p:attrNameLst>
                                          <p:attrName>style.visibility</p:attrName>
                                        </p:attrNameLst>
                                      </p:cBhvr>
                                      <p:to>
                                        <p:strVal val="visible"/>
                                      </p:to>
                                    </p:set>
                                    <p:anim calcmode="lin" valueType="num">
                                      <p:cBhvr additive="base">
                                        <p:cTn id="10" dur="500" fill="hold"/>
                                        <p:tgtEl>
                                          <p:spTgt spid="33820"/>
                                        </p:tgtEl>
                                        <p:attrNameLst>
                                          <p:attrName>ppt_x</p:attrName>
                                        </p:attrNameLst>
                                      </p:cBhvr>
                                      <p:tavLst>
                                        <p:tav tm="0">
                                          <p:val>
                                            <p:strVal val="0-#ppt_w/2"/>
                                          </p:val>
                                        </p:tav>
                                        <p:tav tm="100000">
                                          <p:val>
                                            <p:strVal val="#ppt_x"/>
                                          </p:val>
                                        </p:tav>
                                      </p:tavLst>
                                    </p:anim>
                                    <p:anim calcmode="lin" valueType="num">
                                      <p:cBhvr additive="base">
                                        <p:cTn id="11" dur="500" fill="hold"/>
                                        <p:tgtEl>
                                          <p:spTgt spid="33820"/>
                                        </p:tgtEl>
                                        <p:attrNameLst>
                                          <p:attrName>ppt_y</p:attrName>
                                        </p:attrNameLst>
                                      </p:cBhvr>
                                      <p:tavLst>
                                        <p:tav tm="0">
                                          <p:val>
                                            <p:strVal val="#ppt_y"/>
                                          </p:val>
                                        </p:tav>
                                        <p:tav tm="100000">
                                          <p:val>
                                            <p:strVal val="#ppt_y"/>
                                          </p:val>
                                        </p:tav>
                                      </p:tavLst>
                                    </p:anim>
                                  </p:childTnLst>
                                </p:cTn>
                              </p:par>
                              <p:par>
                                <p:cTn id="12" presetID="22" presetClass="entr" presetSubtype="8"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rot="16200000">
            <a:off x="2755900" y="-969010"/>
            <a:ext cx="3762375" cy="7826375"/>
          </a:xfrm>
          <a:prstGeom prst="rect">
            <a:avLst/>
          </a:prstGeom>
        </p:spPr>
      </p:pic>
      <p:sp>
        <p:nvSpPr>
          <p:cNvPr id="3" name="文本框 2"/>
          <p:cNvSpPr txBox="1"/>
          <p:nvPr/>
        </p:nvSpPr>
        <p:spPr>
          <a:xfrm>
            <a:off x="622300" y="213360"/>
            <a:ext cx="4916170" cy="398780"/>
          </a:xfrm>
          <a:prstGeom prst="rect">
            <a:avLst/>
          </a:prstGeom>
          <a:noFill/>
        </p:spPr>
        <p:txBody>
          <a:bodyPr wrap="square" rtlCol="0">
            <a:spAutoFit/>
          </a:bodyPr>
          <a:p>
            <a:r>
              <a:rPr lang="en-US" altLang="zh-CN" sz="2000">
                <a:solidFill>
                  <a:srgbClr val="FF0000"/>
                </a:solidFill>
              </a:rPr>
              <a:t>P142</a:t>
            </a:r>
            <a:r>
              <a:rPr lang="en-US" altLang="zh-CN" sz="2000"/>
              <a:t>   2.4-3</a:t>
            </a:r>
            <a:endParaRPr lang="en-US" altLang="zh-CN" sz="2000"/>
          </a:p>
        </p:txBody>
      </p:sp>
      <p:sp>
        <p:nvSpPr>
          <p:cNvPr id="4" name="右箭头 3"/>
          <p:cNvSpPr/>
          <p:nvPr/>
        </p:nvSpPr>
        <p:spPr>
          <a:xfrm>
            <a:off x="5069205" y="1232535"/>
            <a:ext cx="356870" cy="188595"/>
          </a:xfrm>
          <a:prstGeom prst="rightArrow">
            <a:avLst/>
          </a:prstGeom>
          <a:solidFill>
            <a:schemeClr val="accent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左箭头 4"/>
          <p:cNvSpPr/>
          <p:nvPr/>
        </p:nvSpPr>
        <p:spPr>
          <a:xfrm>
            <a:off x="6628130" y="1232535"/>
            <a:ext cx="370840" cy="167640"/>
          </a:xfrm>
          <a:prstGeom prst="leftArrow">
            <a:avLst/>
          </a:prstGeom>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右箭头 5"/>
          <p:cNvSpPr/>
          <p:nvPr/>
        </p:nvSpPr>
        <p:spPr>
          <a:xfrm flipH="1">
            <a:off x="4053205" y="2597785"/>
            <a:ext cx="356870" cy="188595"/>
          </a:xfrm>
          <a:prstGeom prst="rightArrow">
            <a:avLst/>
          </a:prstGeom>
          <a:solidFill>
            <a:schemeClr val="accent3"/>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左箭头 6"/>
          <p:cNvSpPr/>
          <p:nvPr/>
        </p:nvSpPr>
        <p:spPr>
          <a:xfrm>
            <a:off x="6061075" y="2618740"/>
            <a:ext cx="370840" cy="167640"/>
          </a:xfrm>
          <a:prstGeom prst="leftArrow">
            <a:avLst/>
          </a:prstGeom>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829310" y="5511800"/>
            <a:ext cx="7253605" cy="491490"/>
          </a:xfrm>
          <a:prstGeom prst="rect">
            <a:avLst/>
          </a:prstGeom>
          <a:noFill/>
        </p:spPr>
        <p:txBody>
          <a:bodyPr wrap="square" rtlCol="0" anchor="t">
            <a:spAutoFit/>
          </a:bodyPr>
          <a:p>
            <a:r>
              <a:rPr lang="zh-CN" altLang="en-US" sz="2600">
                <a:solidFill>
                  <a:srgbClr val="000000"/>
                </a:solidFill>
                <a:latin typeface="微软雅黑" panose="020B0503020204020204" charset="-122"/>
                <a:ea typeface="微软雅黑" panose="020B0503020204020204" charset="-122"/>
                <a:sym typeface="+mn-ea"/>
              </a:rPr>
              <a:t>（</a:t>
            </a:r>
            <a:r>
              <a:rPr lang="en-US" altLang="zh-CN" sz="2600">
                <a:solidFill>
                  <a:srgbClr val="000000"/>
                </a:solidFill>
                <a:latin typeface="微软雅黑" panose="020B0503020204020204" charset="-122"/>
                <a:ea typeface="微软雅黑" panose="020B0503020204020204" charset="-122"/>
                <a:sym typeface="+mn-ea"/>
              </a:rPr>
              <a:t>2</a:t>
            </a:r>
            <a:r>
              <a:rPr lang="zh-CN" altLang="en-US" sz="2600">
                <a:solidFill>
                  <a:srgbClr val="000000"/>
                </a:solidFill>
                <a:latin typeface="微软雅黑" panose="020B0503020204020204" charset="-122"/>
                <a:ea typeface="微软雅黑" panose="020B0503020204020204" charset="-122"/>
                <a:sym typeface="+mn-ea"/>
              </a:rPr>
              <a:t>）</a:t>
            </a:r>
            <a:r>
              <a:rPr lang="en-US" altLang="zh-CN" sz="2600">
                <a:solidFill>
                  <a:srgbClr val="000000"/>
                </a:solidFill>
                <a:latin typeface="微软雅黑" panose="020B0503020204020204" charset="-122"/>
                <a:ea typeface="微软雅黑" panose="020B0503020204020204" charset="-122"/>
                <a:sym typeface="+mn-ea"/>
              </a:rPr>
              <a:t>M16</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1.5螺纹为左旋，M12</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1螺纹为右旋，</a:t>
            </a:r>
            <a:endParaRPr lang="en-US" altLang="zh-CN" sz="2600">
              <a:solidFill>
                <a:srgbClr val="000000"/>
              </a:solidFill>
              <a:latin typeface="微软雅黑" panose="020B0503020204020204" charset="-122"/>
              <a:ea typeface="微软雅黑" panose="020B0503020204020204" charset="-122"/>
              <a:sym typeface="+mn-ea"/>
            </a:endParaRPr>
          </a:p>
        </p:txBody>
      </p:sp>
      <p:sp>
        <p:nvSpPr>
          <p:cNvPr id="9" name="文本框 8"/>
          <p:cNvSpPr txBox="1"/>
          <p:nvPr/>
        </p:nvSpPr>
        <p:spPr>
          <a:xfrm>
            <a:off x="829310" y="4825365"/>
            <a:ext cx="7253605" cy="491490"/>
          </a:xfrm>
          <a:prstGeom prst="rect">
            <a:avLst/>
          </a:prstGeom>
          <a:noFill/>
        </p:spPr>
        <p:txBody>
          <a:bodyPr wrap="square" rtlCol="0" anchor="t">
            <a:spAutoFit/>
          </a:bodyPr>
          <a:p>
            <a:r>
              <a:rPr lang="zh-CN" altLang="en-US" sz="2600">
                <a:solidFill>
                  <a:srgbClr val="000000"/>
                </a:solidFill>
                <a:latin typeface="微软雅黑" panose="020B0503020204020204" charset="-122"/>
                <a:ea typeface="微软雅黑" panose="020B0503020204020204" charset="-122"/>
                <a:sym typeface="+mn-ea"/>
              </a:rPr>
              <a:t>（</a:t>
            </a:r>
            <a:r>
              <a:rPr lang="en-US" altLang="zh-CN" sz="2600">
                <a:solidFill>
                  <a:srgbClr val="000000"/>
                </a:solidFill>
                <a:latin typeface="微软雅黑" panose="020B0503020204020204" charset="-122"/>
                <a:ea typeface="微软雅黑" panose="020B0503020204020204" charset="-122"/>
                <a:sym typeface="+mn-ea"/>
              </a:rPr>
              <a:t>1</a:t>
            </a:r>
            <a:r>
              <a:rPr lang="zh-CN" altLang="en-US" sz="2600">
                <a:solidFill>
                  <a:srgbClr val="000000"/>
                </a:solidFill>
                <a:latin typeface="微软雅黑" panose="020B0503020204020204" charset="-122"/>
                <a:ea typeface="微软雅黑" panose="020B0503020204020204" charset="-122"/>
                <a:sym typeface="+mn-ea"/>
              </a:rPr>
              <a:t>）</a:t>
            </a:r>
            <a:r>
              <a:rPr lang="en-US" altLang="zh-CN" sz="2600">
                <a:solidFill>
                  <a:srgbClr val="000000"/>
                </a:solidFill>
                <a:latin typeface="微软雅黑" panose="020B0503020204020204" charset="-122"/>
                <a:ea typeface="微软雅黑" panose="020B0503020204020204" charset="-122"/>
                <a:sym typeface="+mn-ea"/>
              </a:rPr>
              <a:t>M16</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1.5螺纹为</a:t>
            </a:r>
            <a:r>
              <a:rPr lang="zh-CN" altLang="en-US" sz="2600">
                <a:solidFill>
                  <a:srgbClr val="000000"/>
                </a:solidFill>
                <a:latin typeface="微软雅黑" panose="020B0503020204020204" charset="-122"/>
                <a:ea typeface="微软雅黑" panose="020B0503020204020204" charset="-122"/>
                <a:sym typeface="+mn-ea"/>
              </a:rPr>
              <a:t>右</a:t>
            </a:r>
            <a:r>
              <a:rPr lang="en-US" altLang="zh-CN" sz="2600">
                <a:solidFill>
                  <a:srgbClr val="000000"/>
                </a:solidFill>
                <a:latin typeface="微软雅黑" panose="020B0503020204020204" charset="-122"/>
                <a:ea typeface="微软雅黑" panose="020B0503020204020204" charset="-122"/>
                <a:sym typeface="+mn-ea"/>
              </a:rPr>
              <a:t>旋，M12</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1螺纹为右旋，</a:t>
            </a:r>
            <a:endParaRPr lang="en-US" altLang="zh-CN" sz="2600">
              <a:solidFill>
                <a:srgbClr val="000000"/>
              </a:solidFill>
              <a:latin typeface="微软雅黑" panose="020B0503020204020204" charset="-122"/>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righ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5" grpId="0" animBg="1"/>
      <p:bldP spid="8" grpId="0"/>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65150" y="706755"/>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sym typeface="+mn-ea"/>
              </a:rPr>
              <a:t>1、若两部分的螺旋均为右旋，当螺旋按图示的转向转动一周时，滑板在导轨上向</a:t>
            </a:r>
            <a:r>
              <a:rPr lang="en-US" altLang="zh-CN" sz="2600" u="sng">
                <a:solidFill>
                  <a:srgbClr val="000000"/>
                </a:solidFill>
                <a:latin typeface="微软雅黑" panose="020B0503020204020204" charset="-122"/>
                <a:ea typeface="微软雅黑" panose="020B0503020204020204" charset="-122"/>
                <a:sym typeface="+mn-ea"/>
              </a:rPr>
              <a:t>      </a:t>
            </a:r>
            <a:r>
              <a:rPr lang="en-US" altLang="zh-CN" sz="2600">
                <a:solidFill>
                  <a:srgbClr val="000000"/>
                </a:solidFill>
                <a:latin typeface="微软雅黑" panose="020B0503020204020204" charset="-122"/>
                <a:ea typeface="微软雅黑" panose="020B0503020204020204" charset="-122"/>
                <a:sym typeface="+mn-ea"/>
              </a:rPr>
              <a:t>移动的距离为</a:t>
            </a:r>
            <a:r>
              <a:rPr lang="en-US" altLang="zh-CN" sz="2600" u="sng">
                <a:solidFill>
                  <a:srgbClr val="000000"/>
                </a:solidFill>
                <a:latin typeface="微软雅黑" panose="020B0503020204020204" charset="-122"/>
                <a:ea typeface="微软雅黑" panose="020B0503020204020204" charset="-122"/>
                <a:sym typeface="+mn-ea"/>
              </a:rPr>
              <a:t>     </a:t>
            </a:r>
            <a:r>
              <a:rPr lang="en-US" altLang="zh-CN" sz="2600">
                <a:solidFill>
                  <a:srgbClr val="000000"/>
                </a:solidFill>
                <a:latin typeface="微软雅黑" panose="020B0503020204020204" charset="-122"/>
                <a:ea typeface="微软雅黑" panose="020B0503020204020204" charset="-122"/>
                <a:sym typeface="+mn-ea"/>
              </a:rPr>
              <a:t>mm。</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78635" y="357886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左，</a:t>
            </a:r>
            <a:r>
              <a:rPr lang="en-US" altLang="zh-CN" sz="2600">
                <a:solidFill>
                  <a:srgbClr val="000000"/>
                </a:solidFill>
                <a:latin typeface="微软雅黑" panose="020B0503020204020204" charset="-122"/>
                <a:ea typeface="微软雅黑" panose="020B0503020204020204" charset="-122"/>
              </a:rPr>
              <a:t>2.5</a:t>
            </a:r>
            <a:endParaRPr lang="en-US" altLang="zh-CN"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778635" y="529336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左，</a:t>
            </a:r>
            <a:r>
              <a:rPr lang="en-US" altLang="zh-CN" sz="2600">
                <a:solidFill>
                  <a:srgbClr val="000000"/>
                </a:solidFill>
                <a:latin typeface="微软雅黑" panose="020B0503020204020204" charset="-122"/>
                <a:ea typeface="微软雅黑" panose="020B0503020204020204" charset="-122"/>
              </a:rPr>
              <a:t>0.5</a:t>
            </a:r>
            <a:endParaRPr lang="en-US" altLang="zh-CN"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右，</a:t>
            </a:r>
            <a:r>
              <a:rPr lang="en-US" altLang="zh-CN" sz="2600">
                <a:solidFill>
                  <a:srgbClr val="000000"/>
                </a:solidFill>
                <a:latin typeface="微软雅黑" panose="020B0503020204020204" charset="-122"/>
                <a:ea typeface="微软雅黑" panose="020B0503020204020204" charset="-122"/>
              </a:rPr>
              <a:t>2.5</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438023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右，</a:t>
            </a:r>
            <a:r>
              <a:rPr lang="en-US" altLang="zh-CN" sz="2600">
                <a:solidFill>
                  <a:srgbClr val="000000"/>
                </a:solidFill>
                <a:latin typeface="微软雅黑" panose="020B0503020204020204" charset="-122"/>
                <a:ea typeface="微软雅黑" panose="020B0503020204020204" charset="-122"/>
              </a:rPr>
              <a:t>0.5</a:t>
            </a:r>
            <a:endParaRPr lang="en-US" altLang="zh-CN"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2CED"/>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
        <p:nvSpPr>
          <p:cNvPr id="18" name="矩形 17"/>
          <p:cNvSpPr/>
          <p:nvPr/>
        </p:nvSpPr>
        <p:spPr>
          <a:xfrm>
            <a:off x="863600" y="2690495"/>
            <a:ext cx="836930" cy="34220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9630" y="791845"/>
            <a:ext cx="7315200" cy="2143125"/>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sym typeface="+mn-ea"/>
              </a:rPr>
              <a:t>2、若M16</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1.5螺纹为左旋，M12</a:t>
            </a:r>
            <a:r>
              <a:rPr lang="en-US" altLang="zh-CN" sz="2600">
                <a:solidFill>
                  <a:srgbClr val="000000"/>
                </a:solidFill>
                <a:latin typeface="微软雅黑" panose="020B0503020204020204" charset="-122"/>
                <a:ea typeface="微软雅黑" panose="020B0503020204020204" charset="-122"/>
                <a:sym typeface="Symbol" panose="05050102010706020507" charset="0"/>
              </a:rPr>
              <a:t></a:t>
            </a:r>
            <a:r>
              <a:rPr lang="en-US" altLang="zh-CN" sz="2600">
                <a:solidFill>
                  <a:srgbClr val="000000"/>
                </a:solidFill>
                <a:latin typeface="微软雅黑" panose="020B0503020204020204" charset="-122"/>
                <a:ea typeface="微软雅黑" panose="020B0503020204020204" charset="-122"/>
                <a:sym typeface="+mn-ea"/>
              </a:rPr>
              <a:t>1螺纹为右旋，其他条件不变，此时滑板在导轨上向</a:t>
            </a:r>
            <a:r>
              <a:rPr lang="en-US" altLang="zh-CN" sz="2600" u="sng">
                <a:solidFill>
                  <a:srgbClr val="000000"/>
                </a:solidFill>
                <a:latin typeface="微软雅黑" panose="020B0503020204020204" charset="-122"/>
                <a:ea typeface="微软雅黑" panose="020B0503020204020204" charset="-122"/>
                <a:sym typeface="+mn-ea"/>
              </a:rPr>
              <a:t>      </a:t>
            </a:r>
            <a:r>
              <a:rPr lang="en-US" altLang="zh-CN" sz="2600">
                <a:solidFill>
                  <a:srgbClr val="000000"/>
                </a:solidFill>
                <a:latin typeface="微软雅黑" panose="020B0503020204020204" charset="-122"/>
                <a:ea typeface="微软雅黑" panose="020B0503020204020204" charset="-122"/>
                <a:sym typeface="+mn-ea"/>
              </a:rPr>
              <a:t>移动的距离为</a:t>
            </a:r>
            <a:r>
              <a:rPr lang="en-US" altLang="zh-CN" sz="2600" u="sng">
                <a:solidFill>
                  <a:srgbClr val="000000"/>
                </a:solidFill>
                <a:latin typeface="微软雅黑" panose="020B0503020204020204" charset="-122"/>
                <a:ea typeface="微软雅黑" panose="020B0503020204020204" charset="-122"/>
                <a:sym typeface="+mn-ea"/>
              </a:rPr>
              <a:t>     </a:t>
            </a:r>
            <a:r>
              <a:rPr lang="en-US" altLang="zh-CN" sz="2600">
                <a:solidFill>
                  <a:srgbClr val="000000"/>
                </a:solidFill>
                <a:latin typeface="微软雅黑" panose="020B0503020204020204" charset="-122"/>
                <a:ea typeface="微软雅黑" panose="020B0503020204020204" charset="-122"/>
                <a:sym typeface="+mn-ea"/>
              </a:rPr>
              <a:t>mm</a:t>
            </a:r>
            <a:r>
              <a:rPr lang="zh-CN" altLang="en-US" sz="2600">
                <a:solidFill>
                  <a:srgbClr val="000000"/>
                </a:solidFill>
                <a:latin typeface="微软雅黑" panose="020B0503020204020204" charset="-122"/>
                <a:ea typeface="微软雅黑" panose="020B0503020204020204"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6403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右，</a:t>
            </a:r>
            <a:r>
              <a:rPr lang="en-US" altLang="zh-CN" sz="2600">
                <a:solidFill>
                  <a:srgbClr val="000000"/>
                </a:solidFill>
                <a:latin typeface="微软雅黑" panose="020B0503020204020204" charset="-122"/>
                <a:ea typeface="微软雅黑" panose="020B0503020204020204" charset="-122"/>
              </a:rPr>
              <a:t>2.5</a:t>
            </a:r>
            <a:endParaRPr lang="en-US" altLang="zh-CN"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1828800" y="456438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右，</a:t>
            </a:r>
            <a:r>
              <a:rPr lang="en-US" altLang="zh-CN" sz="2600">
                <a:solidFill>
                  <a:srgbClr val="000000"/>
                </a:solidFill>
                <a:latin typeface="微软雅黑" panose="020B0503020204020204" charset="-122"/>
                <a:ea typeface="微软雅黑" panose="020B0503020204020204" charset="-122"/>
              </a:rPr>
              <a:t>0.5</a:t>
            </a:r>
            <a:endParaRPr lang="en-US" altLang="zh-CN"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1828800" y="3707130"/>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左，</a:t>
            </a:r>
            <a:r>
              <a:rPr lang="en-US" altLang="zh-CN" sz="2600">
                <a:solidFill>
                  <a:srgbClr val="000000"/>
                </a:solidFill>
                <a:latin typeface="微软雅黑" panose="020B0503020204020204" charset="-122"/>
                <a:ea typeface="微软雅黑" panose="020B0503020204020204" charset="-122"/>
              </a:rPr>
              <a:t>2.5</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左，</a:t>
            </a:r>
            <a:r>
              <a:rPr lang="en-US" altLang="zh-CN" sz="2600">
                <a:solidFill>
                  <a:srgbClr val="000000"/>
                </a:solidFill>
                <a:latin typeface="微软雅黑" panose="020B0503020204020204" charset="-122"/>
                <a:ea typeface="微软雅黑" panose="020B0503020204020204" charset="-122"/>
              </a:rPr>
              <a:t>0.5</a:t>
            </a:r>
            <a:endParaRPr lang="en-US" altLang="zh-CN" sz="2600">
              <a:solidFill>
                <a:srgbClr val="000000"/>
              </a:solidFill>
              <a:latin typeface="微软雅黑" panose="020B0503020204020204" charset="-122"/>
              <a:ea typeface="微软雅黑" panose="020B0503020204020204" charset="-122"/>
            </a:endParaRPr>
          </a:p>
        </p:txBody>
      </p:sp>
      <p:sp>
        <p:nvSpPr>
          <p:cNvPr id="8" name="椭圆 7"/>
          <p:cNvSpPr>
            <a:spLocks noChangeAspect="1"/>
          </p:cNvSpPr>
          <p:nvPr>
            <p:custDataLst>
              <p:tags r:id="rId6"/>
            </p:custDataLst>
          </p:nvPr>
        </p:nvSpPr>
        <p:spPr>
          <a:xfrm>
            <a:off x="1114425" y="284988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椭圆 8"/>
          <p:cNvSpPr>
            <a:spLocks noChangeAspect="1"/>
          </p:cNvSpPr>
          <p:nvPr>
            <p:custDataLst>
              <p:tags r:id="rId7"/>
            </p:custDataLst>
          </p:nvPr>
        </p:nvSpPr>
        <p:spPr>
          <a:xfrm>
            <a:off x="1114425" y="37071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椭圆 9"/>
          <p:cNvSpPr>
            <a:spLocks noChangeAspect="1"/>
          </p:cNvSpPr>
          <p:nvPr>
            <p:custDataLst>
              <p:tags r:id="rId8"/>
            </p:custDataLst>
          </p:nvPr>
        </p:nvSpPr>
        <p:spPr>
          <a:xfrm>
            <a:off x="1114425" y="456438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9"/>
            </p:custDataLst>
          </p:nvPr>
        </p:nvSpPr>
        <p:spPr>
          <a:xfrm>
            <a:off x="1114425" y="542163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17" name="组合 16"/>
          <p:cNvGrpSpPr/>
          <p:nvPr>
            <p:custDataLst>
              <p:tags r:id="rId11"/>
            </p:custDataLst>
          </p:nvPr>
        </p:nvGrpSpPr>
        <p:grpSpPr>
          <a:xfrm>
            <a:off x="0" y="0"/>
            <a:ext cx="9144000" cy="635000"/>
            <a:chOff x="0" y="0"/>
            <a:chExt cx="14400" cy="1000"/>
          </a:xfrm>
        </p:grpSpPr>
        <p:sp>
          <p:nvSpPr>
            <p:cNvPr id="13" name="TitleBackground"/>
            <p:cNvSpPr/>
            <p:nvPr>
              <p:custDataLst>
                <p:tags r:id="rId12"/>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6"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2CED"/>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
        <p:nvSpPr>
          <p:cNvPr id="18" name="矩形 17"/>
          <p:cNvSpPr/>
          <p:nvPr/>
        </p:nvSpPr>
        <p:spPr>
          <a:xfrm>
            <a:off x="863600" y="2636520"/>
            <a:ext cx="836930" cy="34220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a:xfrm>
            <a:off x="414655" y="131445"/>
            <a:ext cx="8229600" cy="725488"/>
          </a:xfrm>
        </p:spPr>
        <p:txBody>
          <a:bodyPr/>
          <a:lstStyle/>
          <a:p>
            <a:pPr eaLnBrk="1" hangingPunct="1"/>
            <a:r>
              <a:rPr lang="zh-CN" altLang="en-US" sz="2800" b="0" dirty="0" smtClean="0">
                <a:solidFill>
                  <a:srgbClr val="0000FF"/>
                </a:solidFill>
                <a:latin typeface="黑体" panose="02010609060101010101" pitchFamily="2" charset="-122"/>
                <a:ea typeface="黑体" panose="02010609060101010101" pitchFamily="2" charset="-122"/>
              </a:rPr>
              <a:t>三、</a:t>
            </a:r>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滑动螺旋传动的设计和计算</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6" name="文本框 5"/>
          <p:cNvSpPr txBox="1"/>
          <p:nvPr/>
        </p:nvSpPr>
        <p:spPr>
          <a:xfrm>
            <a:off x="1160145" y="1703070"/>
            <a:ext cx="2700655" cy="460375"/>
          </a:xfrm>
          <a:prstGeom prst="rect">
            <a:avLst/>
          </a:prstGeom>
          <a:noFill/>
          <a:ln w="9525">
            <a:noFill/>
          </a:ln>
        </p:spPr>
        <p:txBody>
          <a:bodyPr wrap="none">
            <a:spAutoFit/>
          </a:bodyPr>
          <a:p>
            <a:r>
              <a:rPr lang="en-US" altLang="zh-CN" sz="2000" dirty="0">
                <a:solidFill>
                  <a:srgbClr val="000099"/>
                </a:solidFill>
                <a:latin typeface="Tahoma" panose="020B0604030504040204" pitchFamily="34" charset="0"/>
              </a:rPr>
              <a:t> </a:t>
            </a: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1.传动形式的选择</a:t>
            </a:r>
            <a:endParaRPr lang="zh-CN" altLang="en-US"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4" name="矩形 3"/>
          <p:cNvSpPr/>
          <p:nvPr/>
        </p:nvSpPr>
        <p:spPr>
          <a:xfrm>
            <a:off x="1261745" y="2370138"/>
            <a:ext cx="2176145" cy="398780"/>
          </a:xfrm>
          <a:prstGeom prst="rect">
            <a:avLst/>
          </a:prstGeom>
          <a:noFill/>
          <a:ln w="9525">
            <a:noFill/>
          </a:ln>
        </p:spPr>
        <p:txBody>
          <a:bodyPr wrap="none">
            <a:spAutoFit/>
          </a:bodyPr>
          <a:p>
            <a:pPr algn="l">
              <a:buClrTx/>
              <a:buSzTx/>
              <a:buFontTx/>
            </a:pP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2.螺纹类型的确定</a:t>
            </a:r>
            <a:endPar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5" name="文本框 4"/>
          <p:cNvSpPr txBox="1"/>
          <p:nvPr/>
        </p:nvSpPr>
        <p:spPr>
          <a:xfrm>
            <a:off x="1261745" y="3024188"/>
            <a:ext cx="3216910" cy="460375"/>
          </a:xfrm>
          <a:prstGeom prst="rect">
            <a:avLst/>
          </a:prstGeom>
          <a:noFill/>
          <a:ln w="9525">
            <a:noFill/>
          </a:ln>
        </p:spPr>
        <p:txBody>
          <a:bodyPr wrap="none">
            <a:spAutoFit/>
          </a:bodyPr>
          <a:p>
            <a:pPr algn="l">
              <a:buClrTx/>
              <a:buSzTx/>
              <a:buFontTx/>
            </a:pP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3.螺杆螺母材料的确定</a:t>
            </a:r>
            <a:endPar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8" name="文本框 7"/>
          <p:cNvSpPr txBox="1"/>
          <p:nvPr/>
        </p:nvSpPr>
        <p:spPr>
          <a:xfrm>
            <a:off x="1261745" y="3693795"/>
            <a:ext cx="2732405" cy="460375"/>
          </a:xfrm>
          <a:prstGeom prst="rect">
            <a:avLst/>
          </a:prstGeom>
          <a:noFill/>
          <a:ln w="9525">
            <a:noFill/>
          </a:ln>
        </p:spPr>
        <p:txBody>
          <a:bodyPr wrap="square">
            <a:spAutoFit/>
          </a:bodyPr>
          <a:p>
            <a:pPr algn="l">
              <a:buClrTx/>
              <a:buSzTx/>
              <a:buFontTx/>
            </a:pP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4.主要参数的确定</a:t>
            </a:r>
            <a:endPar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9" name="文本框 8"/>
          <p:cNvSpPr txBox="1"/>
          <p:nvPr/>
        </p:nvSpPr>
        <p:spPr>
          <a:xfrm>
            <a:off x="1261745" y="4363085"/>
            <a:ext cx="2861310" cy="460375"/>
          </a:xfrm>
          <a:prstGeom prst="rect">
            <a:avLst/>
          </a:prstGeom>
          <a:noFill/>
          <a:ln w="9525">
            <a:noFill/>
          </a:ln>
        </p:spPr>
        <p:txBody>
          <a:bodyPr wrap="square">
            <a:spAutoFit/>
          </a:bodyPr>
          <a:p>
            <a:pPr algn="l">
              <a:buClrTx/>
              <a:buSzTx/>
              <a:buFontTx/>
            </a:pP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5.完成结构设计</a:t>
            </a:r>
            <a:endPar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文本框 2"/>
          <p:cNvSpPr txBox="1"/>
          <p:nvPr/>
        </p:nvSpPr>
        <p:spPr>
          <a:xfrm>
            <a:off x="582295" y="1050290"/>
            <a:ext cx="3535680" cy="460375"/>
          </a:xfrm>
          <a:prstGeom prst="rect">
            <a:avLst/>
          </a:prstGeom>
          <a:noFill/>
        </p:spPr>
        <p:txBody>
          <a:bodyPr wrap="none" rtlCol="0" anchor="t">
            <a:spAutoFit/>
          </a:bodyPr>
          <a:p>
            <a:r>
              <a:rPr lang="zh-CN" altLang="zh-CN" sz="2400" dirty="0">
                <a:solidFill>
                  <a:srgbClr val="C00000"/>
                </a:solidFill>
                <a:latin typeface="黑体" panose="02010609060101010101" pitchFamily="2" charset="-122"/>
                <a:ea typeface="黑体" panose="02010609060101010101" pitchFamily="2" charset="-122"/>
                <a:sym typeface="+mn-ea"/>
              </a:rPr>
              <a:t>滑动螺旋传动的设计步骤</a:t>
            </a:r>
            <a:endParaRPr lang="zh-CN" altLang="zh-CN" sz="2400" dirty="0">
              <a:solidFill>
                <a:srgbClr val="C00000"/>
              </a:solidFill>
              <a:latin typeface="黑体" panose="02010609060101010101" pitchFamily="2" charset="-122"/>
              <a:ea typeface="黑体" panose="02010609060101010101" pitchFamily="2" charset="-122"/>
              <a:sym typeface="+mn-ea"/>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4991735" y="1931035"/>
          <a:ext cx="2643505" cy="4251325"/>
        </p:xfrm>
        <a:graphic>
          <a:graphicData uri="http://schemas.openxmlformats.org/presentationml/2006/ole">
            <mc:AlternateContent xmlns:mc="http://schemas.openxmlformats.org/markup-compatibility/2006">
              <mc:Choice xmlns:v="urn:schemas-microsoft-com:vml" Requires="v">
                <p:oleObj spid="_x0000_s3" name="" r:id="rId1" imgW="2641600" imgH="4248150" progId="Paint.Picture">
                  <p:embed/>
                </p:oleObj>
              </mc:Choice>
              <mc:Fallback>
                <p:oleObj name="" r:id="rId1" imgW="2641600" imgH="4248150" progId="Paint.Picture">
                  <p:embed/>
                  <p:pic>
                    <p:nvPicPr>
                      <p:cNvPr id="0" name="图片 2"/>
                      <p:cNvPicPr/>
                      <p:nvPr/>
                    </p:nvPicPr>
                    <p:blipFill>
                      <a:blip r:embed="rId2"/>
                      <a:stretch>
                        <a:fillRect/>
                      </a:stretch>
                    </p:blipFill>
                    <p:spPr>
                      <a:xfrm>
                        <a:off x="4991735" y="1931035"/>
                        <a:ext cx="2643505" cy="4251325"/>
                      </a:xfrm>
                      <a:prstGeom prst="rect">
                        <a:avLst/>
                      </a:prstGeom>
                    </p:spPr>
                  </p:pic>
                </p:oleObj>
              </mc:Fallback>
            </mc:AlternateContent>
          </a:graphicData>
        </a:graphic>
      </p:graphicFrame>
      <p:sp>
        <p:nvSpPr>
          <p:cNvPr id="1027" name="标题 1"/>
          <p:cNvSpPr>
            <a:spLocks noGrp="1"/>
          </p:cNvSpPr>
          <p:nvPr>
            <p:ph type="title"/>
          </p:nvPr>
        </p:nvSpPr>
        <p:spPr>
          <a:xfrm>
            <a:off x="414655" y="131445"/>
            <a:ext cx="8229600" cy="725488"/>
          </a:xfrm>
        </p:spPr>
        <p:txBody>
          <a:bodyPr/>
          <a:lstStyle/>
          <a:p>
            <a:pPr eaLnBrk="1" hangingPunct="1"/>
            <a:r>
              <a:rPr lang="zh-CN" altLang="en-US" sz="2800" b="0" dirty="0">
                <a:solidFill>
                  <a:srgbClr val="0000FF"/>
                </a:solidFill>
                <a:latin typeface="黑体" panose="02010609060101010101" pitchFamily="2" charset="-122"/>
                <a:ea typeface="黑体" panose="02010609060101010101" pitchFamily="2" charset="-122"/>
              </a:rPr>
              <a:t>四、</a:t>
            </a:r>
            <a:r>
              <a:rPr lang="en-US" altLang="zh-CN" sz="2800" b="0" dirty="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滑动螺旋传动的设计计算</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1028" name="内容占位符 2"/>
          <p:cNvSpPr>
            <a:spLocks noGrp="1"/>
          </p:cNvSpPr>
          <p:nvPr>
            <p:ph idx="1"/>
          </p:nvPr>
        </p:nvSpPr>
        <p:spPr>
          <a:xfrm>
            <a:off x="457200" y="928688"/>
            <a:ext cx="8229600" cy="5357812"/>
          </a:xfrm>
        </p:spPr>
        <p:txBody>
          <a:bodyPr/>
          <a:lstStyle/>
          <a:p>
            <a:pPr eaLnBrk="1" hangingPunct="1">
              <a:buFont typeface="Arial" panose="020B0604020202020204" pitchFamily="34" charset="0"/>
              <a:buNone/>
            </a:pPr>
            <a:r>
              <a:rPr lang="zh-CN" altLang="en-US" sz="2400" dirty="0" smtClean="0">
                <a:latin typeface="黑体" panose="02010609060101010101" pitchFamily="2" charset="-122"/>
                <a:ea typeface="黑体" panose="02010609060101010101" pitchFamily="2" charset="-122"/>
              </a:rPr>
              <a:t>受力分析：</a:t>
            </a:r>
            <a:endParaRPr lang="zh-CN" altLang="en-US" sz="2400" dirty="0" smtClean="0">
              <a:latin typeface="黑体" panose="02010609060101010101" pitchFamily="2" charset="-122"/>
              <a:ea typeface="黑体" panose="02010609060101010101" pitchFamily="2" charset="-122"/>
            </a:endParaRPr>
          </a:p>
        </p:txBody>
      </p:sp>
      <p:sp>
        <p:nvSpPr>
          <p:cNvPr id="1033" name="Rectangle 25"/>
          <p:cNvSpPr>
            <a:spLocks noChangeArrowheads="1"/>
          </p:cNvSpPr>
          <p:nvPr/>
        </p:nvSpPr>
        <p:spPr bwMode="auto">
          <a:xfrm>
            <a:off x="6685915" y="1593850"/>
            <a:ext cx="31559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rgbClr val="0000CC"/>
                </a:solidFill>
                <a:latin typeface="Times New Roman" panose="02020603050405020304" pitchFamily="18" charset="0"/>
              </a:rPr>
              <a:t>F</a:t>
            </a:r>
            <a:endParaRPr kumimoji="1" lang="en-US" altLang="zh-CN" b="1" i="1">
              <a:solidFill>
                <a:srgbClr val="0000CC"/>
              </a:solidFill>
              <a:latin typeface="Times New Roman" panose="02020603050405020304" pitchFamily="18" charset="0"/>
            </a:endParaRPr>
          </a:p>
        </p:txBody>
      </p:sp>
      <p:sp>
        <p:nvSpPr>
          <p:cNvPr id="1034" name="Line 24"/>
          <p:cNvSpPr>
            <a:spLocks noChangeShapeType="1"/>
          </p:cNvSpPr>
          <p:nvPr/>
        </p:nvSpPr>
        <p:spPr bwMode="auto">
          <a:xfrm>
            <a:off x="6550660" y="1519555"/>
            <a:ext cx="0" cy="530225"/>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1035" name="AutoShape 27"/>
          <p:cNvSpPr>
            <a:spLocks noChangeArrowheads="1"/>
          </p:cNvSpPr>
          <p:nvPr/>
        </p:nvSpPr>
        <p:spPr bwMode="auto">
          <a:xfrm>
            <a:off x="6078855" y="3373120"/>
            <a:ext cx="945515" cy="265430"/>
          </a:xfrm>
          <a:prstGeom prst="curvedUpArrow">
            <a:avLst>
              <a:gd name="adj1" fmla="val 43403"/>
              <a:gd name="adj2" fmla="val 113183"/>
              <a:gd name="adj3" fmla="val 33333"/>
            </a:avLst>
          </a:prstGeom>
          <a:solidFill>
            <a:srgbClr val="0000FF"/>
          </a:solidFill>
          <a:ln w="9525">
            <a:solidFill>
              <a:srgbClr val="FF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036" name="Rectangle 28"/>
          <p:cNvSpPr>
            <a:spLocks noChangeArrowheads="1"/>
          </p:cNvSpPr>
          <p:nvPr/>
        </p:nvSpPr>
        <p:spPr bwMode="auto">
          <a:xfrm>
            <a:off x="5842000" y="2976245"/>
            <a:ext cx="30353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rgbClr val="0000CC"/>
                </a:solidFill>
                <a:latin typeface="Times New Roman" panose="02020603050405020304" pitchFamily="18" charset="0"/>
              </a:rPr>
              <a:t>T</a:t>
            </a:r>
            <a:endParaRPr kumimoji="1" lang="en-US" altLang="zh-CN" b="1" i="1">
              <a:solidFill>
                <a:srgbClr val="0000CC"/>
              </a:solidFill>
              <a:latin typeface="Times New Roman" panose="02020603050405020304" pitchFamily="18" charset="0"/>
            </a:endParaRPr>
          </a:p>
        </p:txBody>
      </p:sp>
      <p:pic>
        <p:nvPicPr>
          <p:cNvPr id="1030" name="Picture 33"/>
          <p:cNvPicPr>
            <a:picLocks noChangeAspect="1" noChangeArrowheads="1"/>
          </p:cNvPicPr>
          <p:nvPr/>
        </p:nvPicPr>
        <p:blipFill>
          <a:blip r:embed="rId3">
            <a:extLst>
              <a:ext uri="{28A0092B-C50C-407E-A947-70E740481C1C}">
                <a14:useLocalDpi xmlns:a14="http://schemas.microsoft.com/office/drawing/2010/main" val="0"/>
              </a:ext>
            </a:extLst>
          </a:blip>
          <a:srcRect r="5034"/>
          <a:stretch>
            <a:fillRect/>
          </a:stretch>
        </p:blipFill>
        <p:spPr bwMode="auto">
          <a:xfrm>
            <a:off x="414338" y="2273618"/>
            <a:ext cx="4000500"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矩形 10"/>
          <p:cNvSpPr>
            <a:spLocks noChangeArrowheads="1"/>
          </p:cNvSpPr>
          <p:nvPr/>
        </p:nvSpPr>
        <p:spPr bwMode="auto">
          <a:xfrm>
            <a:off x="1913890" y="1764983"/>
            <a:ext cx="1008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2" charset="-122"/>
                <a:ea typeface="黑体" panose="02010609060101010101" pitchFamily="2" charset="-122"/>
              </a:rPr>
              <a:t>螺母</a:t>
            </a:r>
            <a:endParaRPr lang="zh-CN" altLang="en-US" sz="3200" b="1">
              <a:solidFill>
                <a:srgbClr val="FF0000"/>
              </a:solidFill>
              <a:latin typeface="黑体" panose="02010609060101010101" pitchFamily="2" charset="-122"/>
              <a:ea typeface="黑体" panose="02010609060101010101" pitchFamily="2" charset="-122"/>
            </a:endParaRPr>
          </a:p>
        </p:txBody>
      </p:sp>
      <p:sp>
        <p:nvSpPr>
          <p:cNvPr id="1032" name="矩形 12"/>
          <p:cNvSpPr>
            <a:spLocks noChangeArrowheads="1"/>
          </p:cNvSpPr>
          <p:nvPr/>
        </p:nvSpPr>
        <p:spPr bwMode="auto">
          <a:xfrm>
            <a:off x="6067425" y="85725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0000"/>
                </a:solidFill>
                <a:latin typeface="黑体" panose="02010609060101010101" pitchFamily="2" charset="-122"/>
                <a:ea typeface="黑体" panose="02010609060101010101" pitchFamily="2" charset="-122"/>
              </a:rPr>
              <a:t>螺杆</a:t>
            </a:r>
            <a:endParaRPr lang="zh-CN" altLang="en-US" sz="3200" b="1">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4"/>
          <a:stretch>
            <a:fillRect/>
          </a:stretch>
        </p:blipFill>
        <p:spPr>
          <a:xfrm>
            <a:off x="8350885" y="76835"/>
            <a:ext cx="703580" cy="694690"/>
          </a:xfrm>
          <a:prstGeom prst="rect">
            <a:avLst/>
          </a:prstGeom>
          <a:noFill/>
          <a:ln w="9525">
            <a:noFill/>
          </a:ln>
        </p:spPr>
      </p:pic>
      <p:sp>
        <p:nvSpPr>
          <p:cNvPr id="4" name="文本框 3"/>
          <p:cNvSpPr txBox="1"/>
          <p:nvPr/>
        </p:nvSpPr>
        <p:spPr>
          <a:xfrm>
            <a:off x="1757045" y="5771515"/>
            <a:ext cx="3077210" cy="368300"/>
          </a:xfrm>
          <a:prstGeom prst="rect">
            <a:avLst/>
          </a:prstGeom>
          <a:noFill/>
        </p:spPr>
        <p:txBody>
          <a:bodyPr wrap="square" rtlCol="0">
            <a:spAutoFit/>
          </a:bodyPr>
          <a:p>
            <a:r>
              <a:rPr lang="en-US" altLang="zh-CN"/>
              <a:t>Z——</a:t>
            </a:r>
            <a:r>
              <a:rPr lang="zh-CN" altLang="en-US"/>
              <a:t>相旋合螺纹工作</a:t>
            </a:r>
            <a:r>
              <a:rPr lang="zh-CN" altLang="en-US"/>
              <a:t>圈数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357188" y="142875"/>
            <a:ext cx="8229600" cy="725488"/>
          </a:xfrm>
        </p:spPr>
        <p:txBody>
          <a:bodyPr/>
          <a:lstStyle/>
          <a:p>
            <a:pPr eaLnBrk="1" hangingPunct="1"/>
            <a:r>
              <a:rPr lang="zh-CN" sz="2800" dirty="0" smtClean="0">
                <a:solidFill>
                  <a:srgbClr val="0000FF"/>
                </a:solidFill>
                <a:latin typeface="黑体" panose="02010609060101010101" pitchFamily="2" charset="-122"/>
                <a:ea typeface="黑体" panose="02010609060101010101" pitchFamily="2" charset="-122"/>
              </a:rPr>
              <a:t>四</a:t>
            </a:r>
            <a:r>
              <a:rPr lang="zh-CN" altLang="en-US" sz="2800" dirty="0" smtClean="0">
                <a:solidFill>
                  <a:srgbClr val="0000FF"/>
                </a:solidFill>
                <a:latin typeface="黑体" panose="02010609060101010101" pitchFamily="2" charset="-122"/>
                <a:ea typeface="黑体" panose="02010609060101010101" pitchFamily="2" charset="-122"/>
              </a:rPr>
              <a:t>、</a:t>
            </a:r>
            <a:r>
              <a:rPr lang="zh-CN" altLang="en-US" sz="2800" b="0" dirty="0">
                <a:solidFill>
                  <a:srgbClr val="0000FF"/>
                </a:solidFill>
                <a:latin typeface="黑体" panose="02010609060101010101" pitchFamily="2" charset="-122"/>
                <a:ea typeface="黑体" panose="02010609060101010101" pitchFamily="2" charset="-122"/>
              </a:rPr>
              <a:t>滑动螺旋传动的设计计算</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38" name="Rectangle 3"/>
          <p:cNvSpPr>
            <a:spLocks noChangeArrowheads="1"/>
          </p:cNvSpPr>
          <p:nvPr/>
        </p:nvSpPr>
        <p:spPr bwMode="auto">
          <a:xfrm>
            <a:off x="399863" y="987669"/>
            <a:ext cx="828548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algn="l" eaLnBrk="1" hangingPunct="1"/>
            <a:r>
              <a:rPr lang="zh-CN" altLang="en-US" sz="2200" dirty="0">
                <a:solidFill>
                  <a:srgbClr val="FF0000"/>
                </a:solidFill>
                <a:latin typeface="黑体" panose="02010609060101010101" pitchFamily="2" charset="-122"/>
              </a:rPr>
              <a:t>主要</a:t>
            </a:r>
            <a:r>
              <a:rPr lang="zh-CN" altLang="en-US" sz="2200" dirty="0">
                <a:solidFill>
                  <a:srgbClr val="C00000"/>
                </a:solidFill>
                <a:latin typeface="黑体" panose="02010609060101010101" pitchFamily="2" charset="-122"/>
              </a:rPr>
              <a:t>失效形式</a:t>
            </a:r>
            <a:r>
              <a:rPr lang="en-US" altLang="zh-CN" sz="2200" dirty="0">
                <a:solidFill>
                  <a:srgbClr val="003399"/>
                </a:solidFill>
                <a:latin typeface="黑体" panose="02010609060101010101" pitchFamily="2" charset="-122"/>
              </a:rPr>
              <a:t>——  </a:t>
            </a:r>
            <a:r>
              <a:rPr lang="zh-CN" altLang="en-US" sz="2200" dirty="0">
                <a:solidFill>
                  <a:srgbClr val="000099"/>
                </a:solidFill>
                <a:latin typeface="黑体" panose="02010609060101010101" pitchFamily="2" charset="-122"/>
                <a:sym typeface="+mn-ea"/>
              </a:rPr>
              <a:t>螺纹磨损、螺杆变形、螺杆或螺纹牙的断裂。</a:t>
            </a:r>
            <a:endParaRPr lang="zh-CN" altLang="en-US" sz="2200" dirty="0">
              <a:solidFill>
                <a:srgbClr val="003399"/>
              </a:solidFill>
              <a:latin typeface="黑体" panose="02010609060101010101" pitchFamily="2" charset="-122"/>
            </a:endParaRPr>
          </a:p>
        </p:txBody>
      </p:sp>
      <p:sp>
        <p:nvSpPr>
          <p:cNvPr id="40" name="Rectangle 4"/>
          <p:cNvSpPr>
            <a:spLocks noChangeArrowheads="1"/>
          </p:cNvSpPr>
          <p:nvPr/>
        </p:nvSpPr>
        <p:spPr bwMode="auto">
          <a:xfrm>
            <a:off x="623272" y="1873326"/>
            <a:ext cx="23503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2060"/>
                </a:solidFill>
                <a:ea typeface="宋体" panose="02010600030101010101" pitchFamily="2" charset="-122"/>
              </a:rPr>
              <a:t>耐磨性计算确定</a:t>
            </a:r>
            <a:endParaRPr lang="zh-CN" altLang="en-US" b="1" dirty="0">
              <a:solidFill>
                <a:srgbClr val="002060"/>
              </a:solidFill>
              <a:ea typeface="宋体" panose="02010600030101010101" pitchFamily="2" charset="-122"/>
            </a:endParaRPr>
          </a:p>
        </p:txBody>
      </p:sp>
      <p:sp>
        <p:nvSpPr>
          <p:cNvPr id="41" name="Rectangle 5"/>
          <p:cNvSpPr>
            <a:spLocks noChangeArrowheads="1"/>
          </p:cNvSpPr>
          <p:nvPr/>
        </p:nvSpPr>
        <p:spPr bwMode="auto">
          <a:xfrm>
            <a:off x="3227368" y="1536290"/>
            <a:ext cx="28821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螺杆直径   </a:t>
            </a:r>
            <a:r>
              <a:rPr lang="en-US" altLang="zh-CN" b="1" dirty="0">
                <a:solidFill>
                  <a:srgbClr val="003399"/>
                </a:solidFill>
                <a:ea typeface="宋体" panose="02010600030101010101" pitchFamily="2" charset="-122"/>
              </a:rPr>
              <a:t>d</a:t>
            </a:r>
            <a:r>
              <a:rPr lang="en-US" altLang="zh-CN" b="1" baseline="-25000" dirty="0">
                <a:solidFill>
                  <a:srgbClr val="003399"/>
                </a:solidFill>
                <a:ea typeface="宋体" panose="02010600030101010101" pitchFamily="2" charset="-122"/>
              </a:rPr>
              <a:t>2</a:t>
            </a:r>
            <a:endParaRPr lang="en-US" altLang="zh-CN" b="1" baseline="-25000" dirty="0">
              <a:solidFill>
                <a:srgbClr val="003399"/>
              </a:solidFill>
              <a:ea typeface="宋体" panose="02010600030101010101" pitchFamily="2" charset="-122"/>
            </a:endParaRPr>
          </a:p>
        </p:txBody>
      </p:sp>
      <p:sp>
        <p:nvSpPr>
          <p:cNvPr id="42" name="Rectangle 6"/>
          <p:cNvSpPr>
            <a:spLocks noChangeArrowheads="1"/>
          </p:cNvSpPr>
          <p:nvPr/>
        </p:nvSpPr>
        <p:spPr bwMode="auto">
          <a:xfrm>
            <a:off x="3254449" y="2091317"/>
            <a:ext cx="25773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螺母高度  </a:t>
            </a:r>
            <a:r>
              <a:rPr lang="en-US" altLang="zh-CN" b="1" dirty="0">
                <a:solidFill>
                  <a:srgbClr val="003399"/>
                </a:solidFill>
                <a:ea typeface="宋体" panose="02010600030101010101" pitchFamily="2" charset="-122"/>
              </a:rPr>
              <a:t>H</a:t>
            </a:r>
            <a:endParaRPr lang="en-US" altLang="zh-CN" b="1" dirty="0">
              <a:solidFill>
                <a:srgbClr val="003399"/>
              </a:solidFill>
              <a:ea typeface="宋体" panose="02010600030101010101" pitchFamily="2" charset="-122"/>
            </a:endParaRPr>
          </a:p>
        </p:txBody>
      </p:sp>
      <p:sp>
        <p:nvSpPr>
          <p:cNvPr id="43" name="AutoShape 7"/>
          <p:cNvSpPr/>
          <p:nvPr/>
        </p:nvSpPr>
        <p:spPr bwMode="auto">
          <a:xfrm>
            <a:off x="2972585" y="1902386"/>
            <a:ext cx="152400" cy="533400"/>
          </a:xfrm>
          <a:prstGeom prst="leftBrace">
            <a:avLst>
              <a:gd name="adj1" fmla="val 29167"/>
              <a:gd name="adj2" fmla="val 50000"/>
            </a:avLst>
          </a:prstGeom>
          <a:noFill/>
          <a:ln w="1905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endParaRPr lang="zh-CN" altLang="en-US"/>
          </a:p>
        </p:txBody>
      </p:sp>
      <p:sp>
        <p:nvSpPr>
          <p:cNvPr id="44" name="Rectangle 8"/>
          <p:cNvSpPr>
            <a:spLocks noChangeArrowheads="1"/>
          </p:cNvSpPr>
          <p:nvPr/>
        </p:nvSpPr>
        <p:spPr bwMode="auto">
          <a:xfrm>
            <a:off x="851031" y="3280878"/>
            <a:ext cx="17315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传力较大时</a:t>
            </a:r>
            <a:endParaRPr lang="zh-CN" altLang="en-US" b="1" dirty="0">
              <a:solidFill>
                <a:srgbClr val="003399"/>
              </a:solidFill>
              <a:ea typeface="宋体" panose="02010600030101010101" pitchFamily="2" charset="-122"/>
            </a:endParaRPr>
          </a:p>
        </p:txBody>
      </p:sp>
      <p:sp>
        <p:nvSpPr>
          <p:cNvPr id="45" name="Rectangle 9"/>
          <p:cNvSpPr>
            <a:spLocks noChangeArrowheads="1"/>
          </p:cNvSpPr>
          <p:nvPr/>
        </p:nvSpPr>
        <p:spPr bwMode="auto">
          <a:xfrm>
            <a:off x="2702057" y="2870929"/>
            <a:ext cx="20409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螺杆强度校核</a:t>
            </a:r>
            <a:endParaRPr lang="zh-CN" altLang="en-US" b="1" dirty="0">
              <a:solidFill>
                <a:srgbClr val="003399"/>
              </a:solidFill>
              <a:ea typeface="宋体" panose="02010600030101010101" pitchFamily="2" charset="-122"/>
            </a:endParaRPr>
          </a:p>
        </p:txBody>
      </p:sp>
      <p:sp>
        <p:nvSpPr>
          <p:cNvPr id="46" name="Rectangle 10"/>
          <p:cNvSpPr>
            <a:spLocks noChangeArrowheads="1"/>
          </p:cNvSpPr>
          <p:nvPr/>
        </p:nvSpPr>
        <p:spPr bwMode="auto">
          <a:xfrm>
            <a:off x="874283" y="4084432"/>
            <a:ext cx="18341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要求自锁</a:t>
            </a:r>
            <a:r>
              <a:rPr lang="zh-CN" altLang="en-US" b="1" dirty="0" smtClean="0">
                <a:solidFill>
                  <a:srgbClr val="003399"/>
                </a:solidFill>
                <a:ea typeface="宋体" panose="02010600030101010101" pitchFamily="2" charset="-122"/>
              </a:rPr>
              <a:t>时</a:t>
            </a:r>
            <a:r>
              <a:rPr lang="en-US" altLang="zh-CN" b="1" dirty="0" smtClean="0">
                <a:solidFill>
                  <a:srgbClr val="003399"/>
                </a:solidFill>
                <a:ea typeface="宋体" panose="02010600030101010101" pitchFamily="2" charset="-122"/>
              </a:rPr>
              <a:t>:</a:t>
            </a:r>
            <a:endParaRPr lang="zh-CN" altLang="en-US" b="1" dirty="0">
              <a:solidFill>
                <a:srgbClr val="003399"/>
              </a:solidFill>
              <a:ea typeface="宋体" panose="02010600030101010101" pitchFamily="2" charset="-122"/>
            </a:endParaRPr>
          </a:p>
        </p:txBody>
      </p:sp>
      <p:sp>
        <p:nvSpPr>
          <p:cNvPr id="47" name="Rectangle 11"/>
          <p:cNvSpPr>
            <a:spLocks noChangeArrowheads="1"/>
          </p:cNvSpPr>
          <p:nvPr/>
        </p:nvSpPr>
        <p:spPr bwMode="auto">
          <a:xfrm>
            <a:off x="2737915" y="3440188"/>
            <a:ext cx="23503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螺纹牙强度校核</a:t>
            </a:r>
            <a:endParaRPr lang="zh-CN" altLang="en-US" b="1" dirty="0">
              <a:solidFill>
                <a:srgbClr val="003399"/>
              </a:solidFill>
              <a:ea typeface="宋体" panose="02010600030101010101" pitchFamily="2" charset="-122"/>
            </a:endParaRPr>
          </a:p>
        </p:txBody>
      </p:sp>
      <p:sp>
        <p:nvSpPr>
          <p:cNvPr id="48" name="AutoShape 12"/>
          <p:cNvSpPr/>
          <p:nvPr/>
        </p:nvSpPr>
        <p:spPr bwMode="auto">
          <a:xfrm>
            <a:off x="2522762" y="3310201"/>
            <a:ext cx="152400" cy="533400"/>
          </a:xfrm>
          <a:prstGeom prst="leftBrace">
            <a:avLst>
              <a:gd name="adj1" fmla="val 29167"/>
              <a:gd name="adj2" fmla="val 50000"/>
            </a:avLst>
          </a:prstGeom>
          <a:noFill/>
          <a:ln w="1905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endParaRPr lang="zh-CN" altLang="en-US"/>
          </a:p>
        </p:txBody>
      </p:sp>
      <p:sp>
        <p:nvSpPr>
          <p:cNvPr id="49" name="Rectangle 13"/>
          <p:cNvSpPr>
            <a:spLocks noChangeArrowheads="1"/>
          </p:cNvSpPr>
          <p:nvPr/>
        </p:nvSpPr>
        <p:spPr bwMode="auto">
          <a:xfrm>
            <a:off x="2675068" y="4110729"/>
            <a:ext cx="204094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校核自锁条件</a:t>
            </a:r>
            <a:endParaRPr lang="zh-CN" altLang="en-US" b="1" dirty="0">
              <a:solidFill>
                <a:srgbClr val="003399"/>
              </a:solidFill>
              <a:ea typeface="宋体" panose="02010600030101010101" pitchFamily="2" charset="-122"/>
            </a:endParaRPr>
          </a:p>
        </p:txBody>
      </p:sp>
      <p:sp>
        <p:nvSpPr>
          <p:cNvPr id="50" name="Rectangle 14"/>
          <p:cNvSpPr>
            <a:spLocks noChangeArrowheads="1"/>
          </p:cNvSpPr>
          <p:nvPr/>
        </p:nvSpPr>
        <p:spPr bwMode="auto">
          <a:xfrm>
            <a:off x="856354" y="4785454"/>
            <a:ext cx="214353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受压细长</a:t>
            </a:r>
            <a:r>
              <a:rPr lang="zh-CN" altLang="en-US" b="1" dirty="0" smtClean="0">
                <a:solidFill>
                  <a:srgbClr val="003399"/>
                </a:solidFill>
                <a:ea typeface="宋体" panose="02010600030101010101" pitchFamily="2" charset="-122"/>
              </a:rPr>
              <a:t>螺杆</a:t>
            </a:r>
            <a:r>
              <a:rPr lang="en-US" altLang="zh-CN" b="1" dirty="0" smtClean="0">
                <a:solidFill>
                  <a:srgbClr val="003399"/>
                </a:solidFill>
                <a:ea typeface="宋体" panose="02010600030101010101" pitchFamily="2" charset="-122"/>
              </a:rPr>
              <a:t>:</a:t>
            </a:r>
            <a:endParaRPr lang="zh-CN" altLang="en-US" b="1" dirty="0">
              <a:solidFill>
                <a:srgbClr val="003399"/>
              </a:solidFill>
              <a:ea typeface="宋体" panose="02010600030101010101" pitchFamily="2" charset="-122"/>
            </a:endParaRPr>
          </a:p>
        </p:txBody>
      </p:sp>
      <p:sp>
        <p:nvSpPr>
          <p:cNvPr id="51" name="Rectangle 15"/>
          <p:cNvSpPr>
            <a:spLocks noChangeArrowheads="1"/>
          </p:cNvSpPr>
          <p:nvPr/>
        </p:nvSpPr>
        <p:spPr bwMode="auto">
          <a:xfrm>
            <a:off x="2921785" y="4781252"/>
            <a:ext cx="17315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lnSpc>
                <a:spcPct val="150000"/>
              </a:lnSpc>
            </a:pPr>
            <a:r>
              <a:rPr lang="zh-CN" altLang="en-US" b="1" dirty="0">
                <a:solidFill>
                  <a:srgbClr val="003399"/>
                </a:solidFill>
                <a:ea typeface="宋体" panose="02010600030101010101" pitchFamily="2" charset="-122"/>
              </a:rPr>
              <a:t>校核稳定性</a:t>
            </a:r>
            <a:endParaRPr lang="zh-CN" altLang="en-US" b="1" dirty="0">
              <a:solidFill>
                <a:srgbClr val="003399"/>
              </a:solidFill>
              <a:ea typeface="宋体" panose="02010600030101010101" pitchFamily="2" charset="-122"/>
            </a:endParaRPr>
          </a:p>
        </p:txBody>
      </p:sp>
      <p:pic>
        <p:nvPicPr>
          <p:cNvPr id="37" name="图片 36"/>
          <p:cNvPicPr>
            <a:picLocks noChangeAspect="1"/>
          </p:cNvPicPr>
          <p:nvPr/>
        </p:nvPicPr>
        <p:blipFill>
          <a:blip r:embed="rId1"/>
          <a:stretch>
            <a:fillRect/>
          </a:stretch>
        </p:blipFill>
        <p:spPr>
          <a:xfrm>
            <a:off x="5591810" y="1734185"/>
            <a:ext cx="2877820" cy="4115435"/>
          </a:xfrm>
          <a:prstGeom prst="rect">
            <a:avLst/>
          </a:prstGeom>
          <a:noFill/>
          <a:ln w="9525">
            <a:noFill/>
          </a:ln>
        </p:spPr>
      </p:pic>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cxnSp>
        <p:nvCxnSpPr>
          <p:cNvPr id="2" name="直接连接符 1"/>
          <p:cNvCxnSpPr/>
          <p:nvPr/>
        </p:nvCxnSpPr>
        <p:spPr>
          <a:xfrm>
            <a:off x="6557010" y="2701290"/>
            <a:ext cx="0" cy="346710"/>
          </a:xfrm>
          <a:prstGeom prst="line">
            <a:avLst/>
          </a:prstGeom>
          <a:ln w="25400" cmpd="sng">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6557010" y="3038475"/>
            <a:ext cx="516890" cy="189865"/>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a:off x="7073900" y="3228340"/>
            <a:ext cx="0" cy="389890"/>
          </a:xfrm>
          <a:prstGeom prst="line">
            <a:avLst/>
          </a:prstGeom>
          <a:ln w="25400" cmpd="sng">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557010" y="4137660"/>
            <a:ext cx="516890" cy="189865"/>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a:off x="6557010" y="3807460"/>
            <a:ext cx="0" cy="320040"/>
          </a:xfrm>
          <a:prstGeom prst="line">
            <a:avLst/>
          </a:prstGeom>
          <a:ln w="25400" cmpd="sng">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073900" y="4327525"/>
            <a:ext cx="0" cy="400685"/>
          </a:xfrm>
          <a:prstGeom prst="line">
            <a:avLst/>
          </a:prstGeom>
          <a:ln w="25400" cmpd="sng">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557010" y="4944110"/>
            <a:ext cx="0" cy="320040"/>
          </a:xfrm>
          <a:prstGeom prst="line">
            <a:avLst/>
          </a:prstGeom>
          <a:ln w="25400" cmpd="sng">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6568440" y="3625215"/>
            <a:ext cx="498475" cy="186690"/>
          </a:xfrm>
          <a:prstGeom prst="line">
            <a:avLst/>
          </a:prstGeom>
          <a:ln w="28575" cmpd="thickThi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6557010" y="4730750"/>
            <a:ext cx="498475" cy="186690"/>
          </a:xfrm>
          <a:prstGeom prst="line">
            <a:avLst/>
          </a:prstGeom>
          <a:ln w="28575" cmpd="thickThin">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dissolve">
                                      <p:cBhvr>
                                        <p:cTn id="21" dur="500"/>
                                        <p:tgtEl>
                                          <p:spTgt spid="41"/>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dissolve">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dissolve">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dissolve">
                                      <p:cBhvr>
                                        <p:cTn id="35" dur="500"/>
                                        <p:tgtEl>
                                          <p:spTgt spid="48"/>
                                        </p:tgtEl>
                                      </p:cBhvr>
                                    </p:animEffec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dissolve">
                                      <p:cBhvr>
                                        <p:cTn id="39" dur="500"/>
                                        <p:tgtEl>
                                          <p:spTgt spid="4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dissolve">
                                      <p:cBhvr>
                                        <p:cTn id="48" dur="500"/>
                                        <p:tgtEl>
                                          <p:spTgt spid="46"/>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dissolve">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dissolve">
                                      <p:cBhvr>
                                        <p:cTn id="57" dur="500"/>
                                        <p:tgtEl>
                                          <p:spTgt spid="50"/>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dissolve">
                                      <p:cBhvr>
                                        <p:cTn id="61" dur="500"/>
                                        <p:tgtEl>
                                          <p:spTgt spid="51"/>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1000"/>
                                        <p:tgtEl>
                                          <p:spTgt spid="37"/>
                                        </p:tgtEl>
                                      </p:cBhvr>
                                    </p:animEffect>
                                    <p:anim calcmode="lin" valueType="num">
                                      <p:cBhvr>
                                        <p:cTn id="67" dur="1000" fill="hold"/>
                                        <p:tgtEl>
                                          <p:spTgt spid="37"/>
                                        </p:tgtEl>
                                        <p:attrNameLst>
                                          <p:attrName>ppt_x</p:attrName>
                                        </p:attrNameLst>
                                      </p:cBhvr>
                                      <p:tavLst>
                                        <p:tav tm="0">
                                          <p:val>
                                            <p:strVal val="#ppt_x"/>
                                          </p:val>
                                        </p:tav>
                                        <p:tav tm="100000">
                                          <p:val>
                                            <p:strVal val="#ppt_x"/>
                                          </p:val>
                                        </p:tav>
                                      </p:tavLst>
                                    </p:anim>
                                    <p:anim calcmode="lin" valueType="num">
                                      <p:cBhvr>
                                        <p:cTn id="6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wipe(up)">
                                      <p:cBhvr>
                                        <p:cTn id="73" dur="500"/>
                                        <p:tgtEl>
                                          <p:spTgt spid="2"/>
                                        </p:tgtEl>
                                      </p:cBhvr>
                                    </p:animEffect>
                                  </p:childTnLst>
                                </p:cTn>
                              </p:par>
                            </p:childTnLst>
                          </p:cTn>
                        </p:par>
                        <p:par>
                          <p:cTn id="74" fill="hold">
                            <p:stCondLst>
                              <p:cond delay="500"/>
                            </p:stCondLst>
                            <p:childTnLst>
                              <p:par>
                                <p:cTn id="75" presetID="22" presetClass="entr" presetSubtype="1" fill="hold" nodeType="after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up)">
                                      <p:cBhvr>
                                        <p:cTn id="77" dur="500"/>
                                        <p:tgtEl>
                                          <p:spTgt spid="3"/>
                                        </p:tgtEl>
                                      </p:cBhvr>
                                    </p:animEffect>
                                  </p:childTnLst>
                                </p:cTn>
                              </p:par>
                            </p:childTnLst>
                          </p:cTn>
                        </p:par>
                        <p:par>
                          <p:cTn id="78" fill="hold">
                            <p:stCondLst>
                              <p:cond delay="1000"/>
                            </p:stCondLst>
                            <p:childTnLst>
                              <p:par>
                                <p:cTn id="79" presetID="22" presetClass="entr" presetSubtype="1" fill="hold" nodeType="after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wipe(up)">
                                      <p:cBhvr>
                                        <p:cTn id="81" dur="500"/>
                                        <p:tgtEl>
                                          <p:spTgt spid="5"/>
                                        </p:tgtEl>
                                      </p:cBhvr>
                                    </p:animEffect>
                                  </p:childTnLst>
                                </p:cTn>
                              </p:par>
                            </p:childTnLst>
                          </p:cTn>
                        </p:par>
                        <p:par>
                          <p:cTn id="82" fill="hold">
                            <p:stCondLst>
                              <p:cond delay="1500"/>
                            </p:stCondLst>
                            <p:childTnLst>
                              <p:par>
                                <p:cTn id="83" presetID="22" presetClass="entr" presetSubtype="1" fill="hold" nodeType="after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wipe(up)">
                                      <p:cBhvr>
                                        <p:cTn id="85" dur="500"/>
                                        <p:tgtEl>
                                          <p:spTgt spid="10"/>
                                        </p:tgtEl>
                                      </p:cBhvr>
                                    </p:animEffect>
                                  </p:childTnLst>
                                </p:cTn>
                              </p:par>
                            </p:childTnLst>
                          </p:cTn>
                        </p:par>
                        <p:par>
                          <p:cTn id="86" fill="hold">
                            <p:stCondLst>
                              <p:cond delay="2000"/>
                            </p:stCondLst>
                            <p:childTnLst>
                              <p:par>
                                <p:cTn id="87" presetID="22" presetClass="entr" presetSubtype="1" fill="hold" nodeType="after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wipe(up)">
                                      <p:cBhvr>
                                        <p:cTn id="89" dur="500"/>
                                        <p:tgtEl>
                                          <p:spTgt spid="7"/>
                                        </p:tgtEl>
                                      </p:cBhvr>
                                    </p:animEffect>
                                  </p:childTnLst>
                                </p:cTn>
                              </p:par>
                            </p:childTnLst>
                          </p:cTn>
                        </p:par>
                        <p:par>
                          <p:cTn id="90" fill="hold">
                            <p:stCondLst>
                              <p:cond delay="2500"/>
                            </p:stCondLst>
                            <p:childTnLst>
                              <p:par>
                                <p:cTn id="91" presetID="22" presetClass="entr" presetSubtype="1" fill="hold" nodeType="afterEffect">
                                  <p:stCondLst>
                                    <p:cond delay="0"/>
                                  </p:stCondLst>
                                  <p:childTnLst>
                                    <p:set>
                                      <p:cBhvr>
                                        <p:cTn id="92" dur="1" fill="hold">
                                          <p:stCondLst>
                                            <p:cond delay="0"/>
                                          </p:stCondLst>
                                        </p:cTn>
                                        <p:tgtEl>
                                          <p:spTgt spid="6"/>
                                        </p:tgtEl>
                                        <p:attrNameLst>
                                          <p:attrName>style.visibility</p:attrName>
                                        </p:attrNameLst>
                                      </p:cBhvr>
                                      <p:to>
                                        <p:strVal val="visible"/>
                                      </p:to>
                                    </p:set>
                                    <p:animEffect transition="in" filter="wipe(up)">
                                      <p:cBhvr>
                                        <p:cTn id="93" dur="500"/>
                                        <p:tgtEl>
                                          <p:spTgt spid="6"/>
                                        </p:tgtEl>
                                      </p:cBhvr>
                                    </p:animEffect>
                                  </p:childTnLst>
                                </p:cTn>
                              </p:par>
                            </p:childTnLst>
                          </p:cTn>
                        </p:par>
                        <p:par>
                          <p:cTn id="94" fill="hold">
                            <p:stCondLst>
                              <p:cond delay="3000"/>
                            </p:stCondLst>
                            <p:childTnLst>
                              <p:par>
                                <p:cTn id="95" presetID="22" presetClass="entr" presetSubtype="1" fill="hold" nodeType="after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up)">
                                      <p:cBhvr>
                                        <p:cTn id="97" dur="500"/>
                                        <p:tgtEl>
                                          <p:spTgt spid="8"/>
                                        </p:tgtEl>
                                      </p:cBhvr>
                                    </p:animEffect>
                                  </p:childTnLst>
                                </p:cTn>
                              </p:par>
                            </p:childTnLst>
                          </p:cTn>
                        </p:par>
                        <p:par>
                          <p:cTn id="98" fill="hold">
                            <p:stCondLst>
                              <p:cond delay="3500"/>
                            </p:stCondLst>
                            <p:childTnLst>
                              <p:par>
                                <p:cTn id="99" presetID="22" presetClass="entr" presetSubtype="1" fill="hold" nodeType="afterEffect">
                                  <p:stCondLst>
                                    <p:cond delay="0"/>
                                  </p:stCondLst>
                                  <p:childTnLst>
                                    <p:set>
                                      <p:cBhvr>
                                        <p:cTn id="100" dur="1" fill="hold">
                                          <p:stCondLst>
                                            <p:cond delay="0"/>
                                          </p:stCondLst>
                                        </p:cTn>
                                        <p:tgtEl>
                                          <p:spTgt spid="11"/>
                                        </p:tgtEl>
                                        <p:attrNameLst>
                                          <p:attrName>style.visibility</p:attrName>
                                        </p:attrNameLst>
                                      </p:cBhvr>
                                      <p:to>
                                        <p:strVal val="visible"/>
                                      </p:to>
                                    </p:set>
                                    <p:animEffect transition="in" filter="wipe(up)">
                                      <p:cBhvr>
                                        <p:cTn id="101" dur="500"/>
                                        <p:tgtEl>
                                          <p:spTgt spid="11"/>
                                        </p:tgtEl>
                                      </p:cBhvr>
                                    </p:animEffect>
                                  </p:childTnLst>
                                </p:cTn>
                              </p:par>
                            </p:childTnLst>
                          </p:cTn>
                        </p:par>
                        <p:par>
                          <p:cTn id="102" fill="hold">
                            <p:stCondLst>
                              <p:cond delay="4000"/>
                            </p:stCondLst>
                            <p:childTnLst>
                              <p:par>
                                <p:cTn id="103" presetID="22" presetClass="entr" presetSubtype="1" fill="hold" nodeType="afterEffect">
                                  <p:stCondLst>
                                    <p:cond delay="0"/>
                                  </p:stCondLst>
                                  <p:childTnLst>
                                    <p:set>
                                      <p:cBhvr>
                                        <p:cTn id="104" dur="1" fill="hold">
                                          <p:stCondLst>
                                            <p:cond delay="0"/>
                                          </p:stCondLst>
                                        </p:cTn>
                                        <p:tgtEl>
                                          <p:spTgt spid="9"/>
                                        </p:tgtEl>
                                        <p:attrNameLst>
                                          <p:attrName>style.visibility</p:attrName>
                                        </p:attrNameLst>
                                      </p:cBhvr>
                                      <p:to>
                                        <p:strVal val="visible"/>
                                      </p:to>
                                    </p:set>
                                    <p:animEffect transition="in" filter="wipe(up)">
                                      <p:cBhvr>
                                        <p:cTn id="10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40" grpId="0" autoUpdateAnimBg="0"/>
      <p:bldP spid="41" grpId="0" autoUpdateAnimBg="0"/>
      <p:bldP spid="42" grpId="0" autoUpdateAnimBg="0"/>
      <p:bldP spid="43" grpId="0" bldLvl="0" animBg="1"/>
      <p:bldP spid="44" grpId="0" autoUpdateAnimBg="0"/>
      <p:bldP spid="45" grpId="0" autoUpdateAnimBg="0"/>
      <p:bldP spid="46" grpId="0" autoUpdateAnimBg="0"/>
      <p:bldP spid="47" grpId="0" autoUpdateAnimBg="0"/>
      <p:bldP spid="48" grpId="0" bldLvl="0" animBg="1"/>
      <p:bldP spid="49" grpId="0" autoUpdateAnimBg="0"/>
      <p:bldP spid="50" grpId="0" autoUpdateAnimBg="0"/>
      <p:bldP spid="5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p:cNvSpPr>
          <p:nvPr>
            <p:ph idx="1"/>
          </p:nvPr>
        </p:nvSpPr>
        <p:spPr>
          <a:xfrm>
            <a:off x="575310" y="270828"/>
            <a:ext cx="8229600" cy="642937"/>
          </a:xfrm>
        </p:spPr>
        <p:txBody>
          <a:bodyPr/>
          <a:lstStyle/>
          <a:p>
            <a:pPr eaLnBrk="1" hangingPunct="1">
              <a:buFont typeface="Arial" panose="020B0604020202020204" pitchFamily="34" charset="0"/>
              <a:buNone/>
            </a:pPr>
            <a:r>
              <a:rPr lang="en-US" altLang="zh-CN" sz="2400" b="0" dirty="0" smtClean="0">
                <a:latin typeface="黑体" panose="02010609060101010101" pitchFamily="2" charset="-122"/>
                <a:ea typeface="黑体" panose="02010609060101010101" pitchFamily="2" charset="-122"/>
              </a:rPr>
              <a:t>1 </a:t>
            </a:r>
            <a:r>
              <a:rPr lang="zh-CN" altLang="en-US" sz="2400" b="0" dirty="0" smtClean="0">
                <a:latin typeface="黑体" panose="02010609060101010101" pitchFamily="2" charset="-122"/>
                <a:ea typeface="黑体" panose="02010609060101010101" pitchFamily="2" charset="-122"/>
              </a:rPr>
              <a:t>耐磨性计算</a:t>
            </a:r>
            <a:r>
              <a:rPr lang="en-US" altLang="zh-CN" sz="2400" b="0" dirty="0" smtClean="0">
                <a:latin typeface="黑体" panose="02010609060101010101" pitchFamily="2" charset="-122"/>
                <a:ea typeface="黑体" panose="02010609060101010101" pitchFamily="2" charset="-122"/>
              </a:rPr>
              <a:t> </a:t>
            </a:r>
            <a:endParaRPr lang="zh-CN" altLang="en-US" sz="2400" b="0" dirty="0" smtClean="0">
              <a:latin typeface="黑体" panose="02010609060101010101" pitchFamily="2" charset="-122"/>
              <a:ea typeface="黑体" panose="02010609060101010101" pitchFamily="2" charset="-122"/>
            </a:endParaRPr>
          </a:p>
        </p:txBody>
      </p:sp>
      <p:sp>
        <p:nvSpPr>
          <p:cNvPr id="32772" name="Rectangle 5"/>
          <p:cNvSpPr>
            <a:spLocks noChangeArrowheads="1"/>
          </p:cNvSpPr>
          <p:nvPr/>
        </p:nvSpPr>
        <p:spPr bwMode="auto">
          <a:xfrm>
            <a:off x="446405" y="1082040"/>
            <a:ext cx="6602730" cy="937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0"/>
              </a:spcBef>
            </a:pPr>
            <a:r>
              <a:rPr kumimoji="1" lang="zh-CN" altLang="en-US" sz="2200" dirty="0">
                <a:solidFill>
                  <a:srgbClr val="FF0000"/>
                </a:solidFill>
                <a:latin typeface="黑体" panose="02010609060101010101" pitchFamily="2" charset="-122"/>
                <a:ea typeface="黑体" panose="02010609060101010101" pitchFamily="2" charset="-122"/>
              </a:rPr>
              <a:t>螺纹的磨损，</a:t>
            </a:r>
            <a:r>
              <a:rPr kumimoji="1" lang="zh-CN" altLang="en-US" sz="2200" dirty="0">
                <a:solidFill>
                  <a:srgbClr val="002060"/>
                </a:solidFill>
                <a:latin typeface="黑体" panose="02010609060101010101" pitchFamily="2" charset="-122"/>
                <a:ea typeface="黑体" panose="02010609060101010101" pitchFamily="2" charset="-122"/>
              </a:rPr>
              <a:t>多发生在螺母上；</a:t>
            </a:r>
            <a:r>
              <a:rPr kumimoji="1" lang="zh-CN" altLang="en-US" sz="2200" dirty="0" smtClean="0">
                <a:latin typeface="黑体" panose="02010609060101010101" pitchFamily="2" charset="-122"/>
                <a:ea typeface="黑体" panose="02010609060101010101" pitchFamily="2" charset="-122"/>
              </a:rPr>
              <a:t>故</a:t>
            </a:r>
            <a:r>
              <a:rPr kumimoji="1" lang="zh-CN" altLang="en-US" sz="2200" dirty="0">
                <a:latin typeface="黑体" panose="02010609060101010101" pitchFamily="2" charset="-122"/>
                <a:ea typeface="黑体" panose="02010609060101010101" pitchFamily="2" charset="-122"/>
              </a:rPr>
              <a:t>耐磨性计算主要是限制螺纹工作表面的压强，以免过度磨损。</a:t>
            </a:r>
            <a:endParaRPr kumimoji="1" lang="zh-CN" altLang="en-US" sz="2200" dirty="0">
              <a:latin typeface="黑体" panose="02010609060101010101" pitchFamily="2" charset="-122"/>
              <a:ea typeface="黑体" panose="02010609060101010101" pitchFamily="2" charset="-122"/>
            </a:endParaRPr>
          </a:p>
        </p:txBody>
      </p:sp>
      <p:pic>
        <p:nvPicPr>
          <p:cNvPr id="5" name="Picture 2051" descr="t38"/>
          <p:cNvPicPr>
            <a:picLocks noChangeAspect="1" noChangeArrowheads="1"/>
          </p:cNvPicPr>
          <p:nvPr/>
        </p:nvPicPr>
        <p:blipFill>
          <a:blip r:embed="rId1">
            <a:lum contrast="24000"/>
            <a:extLst>
              <a:ext uri="{28A0092B-C50C-407E-A947-70E740481C1C}">
                <a14:useLocalDpi xmlns:a14="http://schemas.microsoft.com/office/drawing/2010/main" val="0"/>
              </a:ext>
            </a:extLst>
          </a:blip>
          <a:srcRect/>
          <a:stretch>
            <a:fillRect/>
          </a:stretch>
        </p:blipFill>
        <p:spPr bwMode="auto">
          <a:xfrm>
            <a:off x="7166144" y="3522924"/>
            <a:ext cx="17208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052"/>
          <p:cNvSpPr>
            <a:spLocks noChangeArrowheads="1"/>
          </p:cNvSpPr>
          <p:nvPr/>
        </p:nvSpPr>
        <p:spPr bwMode="auto">
          <a:xfrm>
            <a:off x="363165" y="2529728"/>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螺纹接触处比压：</a:t>
            </a:r>
            <a:endParaRPr lang="zh-CN" altLang="en-US" sz="2000" b="1" dirty="0">
              <a:solidFill>
                <a:srgbClr val="003399"/>
              </a:solidFill>
              <a:ea typeface="宋体" panose="02010600030101010101" pitchFamily="2" charset="-122"/>
            </a:endParaRPr>
          </a:p>
        </p:txBody>
      </p:sp>
      <p:graphicFrame>
        <p:nvGraphicFramePr>
          <p:cNvPr id="7" name="Object 2054"/>
          <p:cNvGraphicFramePr>
            <a:graphicFrameLocks noChangeAspect="1"/>
          </p:cNvGraphicFramePr>
          <p:nvPr/>
        </p:nvGraphicFramePr>
        <p:xfrm>
          <a:off x="2519998" y="2406650"/>
          <a:ext cx="3896995" cy="798195"/>
        </p:xfrm>
        <a:graphic>
          <a:graphicData uri="http://schemas.openxmlformats.org/presentationml/2006/ole">
            <mc:AlternateContent xmlns:mc="http://schemas.openxmlformats.org/markup-compatibility/2006">
              <mc:Choice xmlns:v="urn:schemas-microsoft-com:vml" Requires="v">
                <p:oleObj spid="_x0000_s13359" name="公式" r:id="rId2" imgW="2234565" imgH="431800" progId="Equation.3">
                  <p:embed/>
                </p:oleObj>
              </mc:Choice>
              <mc:Fallback>
                <p:oleObj name="公式" r:id="rId2" imgW="2234565" imgH="431800" progId="Equation.3">
                  <p:embed/>
                  <p:pic>
                    <p:nvPicPr>
                      <p:cNvPr id="0" name="图片 13358"/>
                      <p:cNvPicPr>
                        <a:picLocks noChangeAspect="1" noChangeArrowheads="1"/>
                      </p:cNvPicPr>
                      <p:nvPr/>
                    </p:nvPicPr>
                    <p:blipFill>
                      <a:blip r:embed="rId3"/>
                      <a:srcRect/>
                      <a:stretch>
                        <a:fillRect/>
                      </a:stretch>
                    </p:blipFill>
                    <p:spPr bwMode="auto">
                      <a:xfrm>
                        <a:off x="2519998" y="2406650"/>
                        <a:ext cx="3896995" cy="798195"/>
                      </a:xfrm>
                      <a:prstGeom prst="rect">
                        <a:avLst/>
                      </a:prstGeom>
                      <a:noFill/>
                      <a:ln>
                        <a:noFill/>
                      </a:ln>
                    </p:spPr>
                  </p:pic>
                </p:oleObj>
              </mc:Fallback>
            </mc:AlternateContent>
          </a:graphicData>
        </a:graphic>
      </p:graphicFrame>
      <p:grpSp>
        <p:nvGrpSpPr>
          <p:cNvPr id="8" name="Group 2075"/>
          <p:cNvGrpSpPr/>
          <p:nvPr/>
        </p:nvGrpSpPr>
        <p:grpSpPr bwMode="auto">
          <a:xfrm>
            <a:off x="3623255" y="3128533"/>
            <a:ext cx="2366962" cy="625475"/>
            <a:chOff x="3792" y="960"/>
            <a:chExt cx="1491" cy="394"/>
          </a:xfrm>
        </p:grpSpPr>
        <p:sp>
          <p:nvSpPr>
            <p:cNvPr id="9" name="Rectangle 2061"/>
            <p:cNvSpPr>
              <a:spLocks noChangeArrowheads="1"/>
            </p:cNvSpPr>
            <p:nvPr/>
          </p:nvSpPr>
          <p:spPr bwMode="auto">
            <a:xfrm>
              <a:off x="4040" y="1104"/>
              <a:ext cx="1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承载螺纹的圈数</a:t>
              </a:r>
              <a:endParaRPr lang="zh-CN" altLang="en-US" sz="2000" b="1">
                <a:solidFill>
                  <a:srgbClr val="003399"/>
                </a:solidFill>
                <a:ea typeface="宋体" panose="02010600030101010101" pitchFamily="2" charset="-122"/>
              </a:endParaRPr>
            </a:p>
          </p:txBody>
        </p:sp>
        <p:sp>
          <p:nvSpPr>
            <p:cNvPr id="10" name="Line 2063"/>
            <p:cNvSpPr>
              <a:spLocks noChangeShapeType="1"/>
            </p:cNvSpPr>
            <p:nvPr/>
          </p:nvSpPr>
          <p:spPr bwMode="auto">
            <a:xfrm>
              <a:off x="3792" y="960"/>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2064"/>
            <p:cNvSpPr>
              <a:spLocks noChangeShapeType="1"/>
            </p:cNvSpPr>
            <p:nvPr/>
          </p:nvSpPr>
          <p:spPr bwMode="auto">
            <a:xfrm>
              <a:off x="3792" y="1248"/>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 name="Group 2074"/>
          <p:cNvGrpSpPr/>
          <p:nvPr/>
        </p:nvGrpSpPr>
        <p:grpSpPr bwMode="auto">
          <a:xfrm>
            <a:off x="3089855" y="3204733"/>
            <a:ext cx="3509962" cy="930275"/>
            <a:chOff x="3456" y="1008"/>
            <a:chExt cx="2211" cy="586"/>
          </a:xfrm>
        </p:grpSpPr>
        <p:sp>
          <p:nvSpPr>
            <p:cNvPr id="13" name="Rectangle 2062"/>
            <p:cNvSpPr>
              <a:spLocks noChangeArrowheads="1"/>
            </p:cNvSpPr>
            <p:nvPr/>
          </p:nvSpPr>
          <p:spPr bwMode="auto">
            <a:xfrm>
              <a:off x="4102" y="1344"/>
              <a:ext cx="1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一圈螺纹的承载面积</a:t>
              </a:r>
              <a:endParaRPr lang="zh-CN" altLang="en-US" sz="2000" b="1" dirty="0">
                <a:solidFill>
                  <a:srgbClr val="003399"/>
                </a:solidFill>
                <a:ea typeface="宋体" panose="02010600030101010101" pitchFamily="2" charset="-122"/>
              </a:endParaRPr>
            </a:p>
          </p:txBody>
        </p:sp>
        <p:sp>
          <p:nvSpPr>
            <p:cNvPr id="14" name="Line 2065"/>
            <p:cNvSpPr>
              <a:spLocks noChangeShapeType="1"/>
            </p:cNvSpPr>
            <p:nvPr/>
          </p:nvSpPr>
          <p:spPr bwMode="auto">
            <a:xfrm>
              <a:off x="3456" y="100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066"/>
            <p:cNvSpPr>
              <a:spLocks noChangeShapeType="1"/>
            </p:cNvSpPr>
            <p:nvPr/>
          </p:nvSpPr>
          <p:spPr bwMode="auto">
            <a:xfrm>
              <a:off x="3696" y="100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067"/>
            <p:cNvSpPr>
              <a:spLocks noChangeShapeType="1"/>
            </p:cNvSpPr>
            <p:nvPr/>
          </p:nvSpPr>
          <p:spPr bwMode="auto">
            <a:xfrm flipH="1">
              <a:off x="3456" y="110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068"/>
            <p:cNvSpPr>
              <a:spLocks noChangeShapeType="1"/>
            </p:cNvSpPr>
            <p:nvPr/>
          </p:nvSpPr>
          <p:spPr bwMode="auto">
            <a:xfrm>
              <a:off x="3552" y="1104"/>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069"/>
            <p:cNvSpPr>
              <a:spLocks noChangeShapeType="1"/>
            </p:cNvSpPr>
            <p:nvPr/>
          </p:nvSpPr>
          <p:spPr bwMode="auto">
            <a:xfrm>
              <a:off x="3552" y="1440"/>
              <a:ext cx="43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9" name="Group 2112"/>
          <p:cNvGrpSpPr/>
          <p:nvPr/>
        </p:nvGrpSpPr>
        <p:grpSpPr bwMode="auto">
          <a:xfrm>
            <a:off x="4747674" y="3079227"/>
            <a:ext cx="1484313" cy="396875"/>
            <a:chOff x="4489" y="912"/>
            <a:chExt cx="935" cy="250"/>
          </a:xfrm>
        </p:grpSpPr>
        <p:sp>
          <p:nvSpPr>
            <p:cNvPr id="20" name="Rectangle 2060"/>
            <p:cNvSpPr>
              <a:spLocks noChangeArrowheads="1"/>
            </p:cNvSpPr>
            <p:nvPr/>
          </p:nvSpPr>
          <p:spPr bwMode="auto">
            <a:xfrm>
              <a:off x="4608" y="912"/>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螺母高度</a:t>
              </a:r>
              <a:endParaRPr lang="zh-CN" altLang="en-US" sz="2000" b="1" dirty="0">
                <a:solidFill>
                  <a:srgbClr val="003399"/>
                </a:solidFill>
                <a:ea typeface="宋体" panose="02010600030101010101" pitchFamily="2" charset="-122"/>
              </a:endParaRPr>
            </a:p>
          </p:txBody>
        </p:sp>
        <p:sp>
          <p:nvSpPr>
            <p:cNvPr id="21" name="Line 2070"/>
            <p:cNvSpPr>
              <a:spLocks noChangeShapeType="1"/>
            </p:cNvSpPr>
            <p:nvPr/>
          </p:nvSpPr>
          <p:spPr bwMode="auto">
            <a:xfrm>
              <a:off x="4489" y="932"/>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071"/>
            <p:cNvSpPr>
              <a:spLocks noChangeShapeType="1"/>
            </p:cNvSpPr>
            <p:nvPr/>
          </p:nvSpPr>
          <p:spPr bwMode="auto">
            <a:xfrm>
              <a:off x="4489" y="1045"/>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3" name="Group 2111"/>
          <p:cNvGrpSpPr/>
          <p:nvPr/>
        </p:nvGrpSpPr>
        <p:grpSpPr bwMode="auto">
          <a:xfrm>
            <a:off x="4595328" y="2051050"/>
            <a:ext cx="1076325" cy="396875"/>
            <a:chOff x="4320" y="384"/>
            <a:chExt cx="678" cy="250"/>
          </a:xfrm>
        </p:grpSpPr>
        <p:sp>
          <p:nvSpPr>
            <p:cNvPr id="24" name="Rectangle 2059"/>
            <p:cNvSpPr>
              <a:spLocks noChangeArrowheads="1"/>
            </p:cNvSpPr>
            <p:nvPr/>
          </p:nvSpPr>
          <p:spPr bwMode="auto">
            <a:xfrm>
              <a:off x="4560" y="384"/>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螺距</a:t>
              </a:r>
              <a:endParaRPr lang="zh-CN" altLang="en-US" sz="2000" b="1">
                <a:solidFill>
                  <a:srgbClr val="003399"/>
                </a:solidFill>
                <a:ea typeface="宋体" panose="02010600030101010101" pitchFamily="2" charset="-122"/>
              </a:endParaRPr>
            </a:p>
          </p:txBody>
        </p:sp>
        <p:sp>
          <p:nvSpPr>
            <p:cNvPr id="25" name="Line 2072"/>
            <p:cNvSpPr>
              <a:spLocks noChangeShapeType="1"/>
            </p:cNvSpPr>
            <p:nvPr/>
          </p:nvSpPr>
          <p:spPr bwMode="auto">
            <a:xfrm flipV="1">
              <a:off x="4320" y="480"/>
              <a:ext cx="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073"/>
            <p:cNvSpPr>
              <a:spLocks noChangeShapeType="1"/>
            </p:cNvSpPr>
            <p:nvPr/>
          </p:nvSpPr>
          <p:spPr bwMode="auto">
            <a:xfrm>
              <a:off x="4320" y="480"/>
              <a:ext cx="2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7" name="Rectangle 2076"/>
          <p:cNvSpPr>
            <a:spLocks noChangeArrowheads="1"/>
          </p:cNvSpPr>
          <p:nvPr/>
        </p:nvSpPr>
        <p:spPr bwMode="auto">
          <a:xfrm>
            <a:off x="499055" y="3433333"/>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令</a:t>
            </a:r>
            <a:endParaRPr lang="zh-CN" altLang="en-US" sz="2000" b="1">
              <a:solidFill>
                <a:srgbClr val="003399"/>
              </a:solidFill>
              <a:ea typeface="宋体" panose="02010600030101010101" pitchFamily="2" charset="-122"/>
            </a:endParaRPr>
          </a:p>
        </p:txBody>
      </p:sp>
      <p:graphicFrame>
        <p:nvGraphicFramePr>
          <p:cNvPr id="28" name="Object 2077"/>
          <p:cNvGraphicFramePr>
            <a:graphicFrameLocks noChangeAspect="1"/>
          </p:cNvGraphicFramePr>
          <p:nvPr/>
        </p:nvGraphicFramePr>
        <p:xfrm>
          <a:off x="1007110" y="3204845"/>
          <a:ext cx="774065" cy="844550"/>
        </p:xfrm>
        <a:graphic>
          <a:graphicData uri="http://schemas.openxmlformats.org/presentationml/2006/ole">
            <mc:AlternateContent xmlns:mc="http://schemas.openxmlformats.org/markup-compatibility/2006">
              <mc:Choice xmlns:v="urn:schemas-microsoft-com:vml" Requires="v">
                <p:oleObj spid="_x0000_s13360" name="公式" r:id="rId4" imgW="457200" imgH="431800" progId="Equation.3">
                  <p:embed/>
                </p:oleObj>
              </mc:Choice>
              <mc:Fallback>
                <p:oleObj name="公式" r:id="rId4" imgW="457200" imgH="431800" progId="Equation.3">
                  <p:embed/>
                  <p:pic>
                    <p:nvPicPr>
                      <p:cNvPr id="0" name="图片 13359"/>
                      <p:cNvPicPr>
                        <a:picLocks noChangeAspect="1" noChangeArrowheads="1"/>
                      </p:cNvPicPr>
                      <p:nvPr/>
                    </p:nvPicPr>
                    <p:blipFill>
                      <a:blip r:embed="rId5"/>
                      <a:srcRect/>
                      <a:stretch>
                        <a:fillRect/>
                      </a:stretch>
                    </p:blipFill>
                    <p:spPr bwMode="auto">
                      <a:xfrm>
                        <a:off x="1007110" y="3204845"/>
                        <a:ext cx="774065"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2078"/>
          <p:cNvSpPr>
            <a:spLocks noChangeArrowheads="1"/>
          </p:cNvSpPr>
          <p:nvPr/>
        </p:nvSpPr>
        <p:spPr bwMode="auto">
          <a:xfrm>
            <a:off x="575255" y="4255658"/>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设计式：</a:t>
            </a:r>
            <a:endParaRPr lang="zh-CN" altLang="en-US" sz="2000" b="1">
              <a:solidFill>
                <a:srgbClr val="003399"/>
              </a:solidFill>
              <a:ea typeface="宋体" panose="02010600030101010101" pitchFamily="2" charset="-122"/>
            </a:endParaRPr>
          </a:p>
        </p:txBody>
      </p:sp>
      <p:graphicFrame>
        <p:nvGraphicFramePr>
          <p:cNvPr id="30" name="Object 2079"/>
          <p:cNvGraphicFramePr>
            <a:graphicFrameLocks noChangeAspect="1"/>
          </p:cNvGraphicFramePr>
          <p:nvPr/>
        </p:nvGraphicFramePr>
        <p:xfrm>
          <a:off x="1699895" y="4652645"/>
          <a:ext cx="2780030" cy="927100"/>
        </p:xfrm>
        <a:graphic>
          <a:graphicData uri="http://schemas.openxmlformats.org/presentationml/2006/ole">
            <mc:AlternateContent xmlns:mc="http://schemas.openxmlformats.org/markup-compatibility/2006">
              <mc:Choice xmlns:v="urn:schemas-microsoft-com:vml" Requires="v">
                <p:oleObj spid="_x0000_s13361" name="公式" r:id="rId6" imgW="1422400" imgH="469900" progId="Equation.3">
                  <p:embed/>
                </p:oleObj>
              </mc:Choice>
              <mc:Fallback>
                <p:oleObj name="公式" r:id="rId6" imgW="1422400" imgH="469900" progId="Equation.3">
                  <p:embed/>
                  <p:pic>
                    <p:nvPicPr>
                      <p:cNvPr id="0" name="图片 13360"/>
                      <p:cNvPicPr>
                        <a:picLocks noChangeAspect="1" noChangeArrowheads="1"/>
                      </p:cNvPicPr>
                      <p:nvPr/>
                    </p:nvPicPr>
                    <p:blipFill>
                      <a:blip r:embed="rId7"/>
                      <a:srcRect/>
                      <a:stretch>
                        <a:fillRect/>
                      </a:stretch>
                    </p:blipFill>
                    <p:spPr bwMode="auto">
                      <a:xfrm>
                        <a:off x="1699895" y="4652645"/>
                        <a:ext cx="278003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1" name="Picture 18"/>
          <p:cNvPicPr>
            <a:picLocks noChangeAspect="1" noChangeArrowheads="1"/>
          </p:cNvPicPr>
          <p:nvPr/>
        </p:nvPicPr>
        <p:blipFill>
          <a:blip r:embed="rId8">
            <a:extLst>
              <a:ext uri="{28A0092B-C50C-407E-A947-70E740481C1C}">
                <a14:useLocalDpi xmlns:a14="http://schemas.microsoft.com/office/drawing/2010/main" val="0"/>
              </a:ext>
            </a:extLst>
          </a:blip>
          <a:srcRect r="5034"/>
          <a:stretch>
            <a:fillRect/>
          </a:stretch>
        </p:blipFill>
        <p:spPr bwMode="auto">
          <a:xfrm>
            <a:off x="6442367" y="1467953"/>
            <a:ext cx="2444741" cy="198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57"/>
          <p:cNvGrpSpPr/>
          <p:nvPr/>
        </p:nvGrpSpPr>
        <p:grpSpPr>
          <a:xfrm>
            <a:off x="295593" y="5853430"/>
            <a:ext cx="7426325" cy="412750"/>
            <a:chOff x="285" y="3656"/>
            <a:chExt cx="4678" cy="260"/>
          </a:xfrm>
        </p:grpSpPr>
        <p:grpSp>
          <p:nvGrpSpPr>
            <p:cNvPr id="10263" name="Group 53"/>
            <p:cNvGrpSpPr/>
            <p:nvPr/>
          </p:nvGrpSpPr>
          <p:grpSpPr>
            <a:xfrm>
              <a:off x="285" y="3656"/>
              <a:ext cx="4678" cy="260"/>
              <a:chOff x="278" y="3666"/>
              <a:chExt cx="4678" cy="260"/>
            </a:xfrm>
          </p:grpSpPr>
          <p:graphicFrame>
            <p:nvGraphicFramePr>
              <p:cNvPr id="10265" name="Object 41"/>
              <p:cNvGraphicFramePr>
                <a:graphicFrameLocks noChangeAspect="1"/>
              </p:cNvGraphicFramePr>
              <p:nvPr/>
            </p:nvGraphicFramePr>
            <p:xfrm>
              <a:off x="763" y="3690"/>
              <a:ext cx="929" cy="236"/>
            </p:xfrm>
            <a:graphic>
              <a:graphicData uri="http://schemas.openxmlformats.org/presentationml/2006/ole">
                <mc:AlternateContent xmlns:mc="http://schemas.openxmlformats.org/markup-compatibility/2006">
                  <mc:Choice xmlns:v="urn:schemas-microsoft-com:vml" Requires="v">
                    <p:oleObj spid="_x0000_s3081" name="" r:id="rId9" imgW="592455" imgH="83820" progId="Equation.3">
                      <p:embed/>
                    </p:oleObj>
                  </mc:Choice>
                  <mc:Fallback>
                    <p:oleObj name="" r:id="rId9" imgW="592455" imgH="83820" progId="Equation.3">
                      <p:embed/>
                      <p:pic>
                        <p:nvPicPr>
                          <p:cNvPr id="0" name="图片 3080"/>
                          <p:cNvPicPr/>
                          <p:nvPr/>
                        </p:nvPicPr>
                        <p:blipFill>
                          <a:blip r:embed="rId10">
                            <a:clrChange>
                              <a:clrFrom>
                                <a:srgbClr val="000000"/>
                              </a:clrFrom>
                              <a:clrTo>
                                <a:srgbClr val="000099"/>
                              </a:clrTo>
                            </a:clrChange>
                          </a:blip>
                          <a:stretch>
                            <a:fillRect/>
                          </a:stretch>
                        </p:blipFill>
                        <p:spPr>
                          <a:xfrm>
                            <a:off x="763" y="3690"/>
                            <a:ext cx="929" cy="236"/>
                          </a:xfrm>
                          <a:prstGeom prst="rect">
                            <a:avLst/>
                          </a:prstGeom>
                          <a:noFill/>
                          <a:ln w="38100">
                            <a:noFill/>
                            <a:miter/>
                          </a:ln>
                        </p:spPr>
                      </p:pic>
                    </p:oleObj>
                  </mc:Fallback>
                </mc:AlternateContent>
              </a:graphicData>
            </a:graphic>
          </p:graphicFrame>
          <p:sp>
            <p:nvSpPr>
              <p:cNvPr id="10266" name="Text Box 47"/>
              <p:cNvSpPr txBox="1"/>
              <p:nvPr/>
            </p:nvSpPr>
            <p:spPr>
              <a:xfrm>
                <a:off x="278" y="3667"/>
                <a:ext cx="436" cy="250"/>
              </a:xfrm>
              <a:prstGeom prst="rect">
                <a:avLst/>
              </a:prstGeom>
              <a:noFill/>
              <a:ln w="9525">
                <a:noFill/>
              </a:ln>
            </p:spPr>
            <p:txBody>
              <a:bodyPr wrap="none">
                <a:spAutoFit/>
              </a:bodyPr>
              <a:p>
                <a:pPr eaLnBrk="1" hangingPunct="1"/>
                <a:r>
                  <a:rPr lang="zh-CN" altLang="en-US" sz="2000" dirty="0">
                    <a:solidFill>
                      <a:srgbClr val="000099"/>
                    </a:solidFill>
                    <a:latin typeface="Tahoma" panose="020B0604030504040204" pitchFamily="34" charset="0"/>
                  </a:rPr>
                  <a:t>一般</a:t>
                </a:r>
                <a:endParaRPr lang="zh-CN" altLang="en-US" sz="2000" dirty="0">
                  <a:solidFill>
                    <a:srgbClr val="000099"/>
                  </a:solidFill>
                  <a:latin typeface="Tahoma" panose="020B0604030504040204" pitchFamily="34" charset="0"/>
                </a:endParaRPr>
              </a:p>
            </p:txBody>
          </p:sp>
          <p:grpSp>
            <p:nvGrpSpPr>
              <p:cNvPr id="10267" name="Group 51"/>
              <p:cNvGrpSpPr/>
              <p:nvPr/>
            </p:nvGrpSpPr>
            <p:grpSpPr>
              <a:xfrm>
                <a:off x="1844" y="3666"/>
                <a:ext cx="3112" cy="251"/>
                <a:chOff x="2428" y="3753"/>
                <a:chExt cx="3112" cy="251"/>
              </a:xfrm>
            </p:grpSpPr>
            <p:graphicFrame>
              <p:nvGraphicFramePr>
                <p:cNvPr id="10268" name="Object 49"/>
                <p:cNvGraphicFramePr>
                  <a:graphicFrameLocks noChangeAspect="1"/>
                </p:cNvGraphicFramePr>
                <p:nvPr/>
              </p:nvGraphicFramePr>
              <p:xfrm>
                <a:off x="2428" y="3768"/>
                <a:ext cx="147" cy="236"/>
              </p:xfrm>
              <a:graphic>
                <a:graphicData uri="http://schemas.openxmlformats.org/presentationml/2006/ole">
                  <mc:AlternateContent xmlns:mc="http://schemas.openxmlformats.org/markup-compatibility/2006">
                    <mc:Choice xmlns:v="urn:schemas-microsoft-com:vml" Requires="v">
                      <p:oleObj spid="_x0000_s3080" name="" r:id="rId11" imgW="19050" imgH="83820" progId="Equation.3">
                        <p:embed/>
                      </p:oleObj>
                    </mc:Choice>
                    <mc:Fallback>
                      <p:oleObj name="" r:id="rId11" imgW="19050" imgH="83820" progId="Equation.3">
                        <p:embed/>
                        <p:pic>
                          <p:nvPicPr>
                            <p:cNvPr id="0" name="图片 3079"/>
                            <p:cNvPicPr/>
                            <p:nvPr/>
                          </p:nvPicPr>
                          <p:blipFill>
                            <a:blip r:embed="rId12">
                              <a:clrChange>
                                <a:clrFrom>
                                  <a:srgbClr val="000000"/>
                                </a:clrFrom>
                                <a:clrTo>
                                  <a:srgbClr val="000099"/>
                                </a:clrTo>
                              </a:clrChange>
                            </a:blip>
                            <a:stretch>
                              <a:fillRect/>
                            </a:stretch>
                          </p:blipFill>
                          <p:spPr>
                            <a:xfrm>
                              <a:off x="2428" y="3768"/>
                              <a:ext cx="147" cy="236"/>
                            </a:xfrm>
                            <a:prstGeom prst="rect">
                              <a:avLst/>
                            </a:prstGeom>
                            <a:noFill/>
                            <a:ln w="38100">
                              <a:noFill/>
                              <a:miter/>
                            </a:ln>
                          </p:spPr>
                        </p:pic>
                      </p:oleObj>
                    </mc:Fallback>
                  </mc:AlternateContent>
                </a:graphicData>
              </a:graphic>
            </p:graphicFrame>
            <p:sp>
              <p:nvSpPr>
                <p:cNvPr id="10269" name="Text Box 50"/>
                <p:cNvSpPr txBox="1"/>
                <p:nvPr/>
              </p:nvSpPr>
              <p:spPr>
                <a:xfrm>
                  <a:off x="2544" y="3753"/>
                  <a:ext cx="2996" cy="250"/>
                </a:xfrm>
                <a:prstGeom prst="rect">
                  <a:avLst/>
                </a:prstGeom>
                <a:noFill/>
                <a:ln w="9525">
                  <a:noFill/>
                </a:ln>
              </p:spPr>
              <p:txBody>
                <a:bodyPr wrap="none">
                  <a:spAutoFit/>
                </a:bodyPr>
                <a:p>
                  <a:pPr eaLnBrk="1" hangingPunct="1"/>
                  <a:r>
                    <a:rPr lang="zh-CN" altLang="en-US" sz="2000" dirty="0">
                      <a:solidFill>
                        <a:srgbClr val="000099"/>
                      </a:solidFill>
                      <a:latin typeface="Tahoma" panose="020B0604030504040204" pitchFamily="34" charset="0"/>
                    </a:rPr>
                    <a:t>值越大，螺母越厚，螺纹工作圈数越多。</a:t>
                  </a:r>
                  <a:endParaRPr lang="zh-CN" altLang="en-US" sz="2000" dirty="0">
                    <a:solidFill>
                      <a:srgbClr val="000099"/>
                    </a:solidFill>
                    <a:latin typeface="Tahoma" panose="020B0604030504040204" pitchFamily="34" charset="0"/>
                  </a:endParaRPr>
                </a:p>
              </p:txBody>
            </p:sp>
          </p:grpSp>
        </p:grpSp>
        <p:sp>
          <p:nvSpPr>
            <p:cNvPr id="10264" name="Text Box 52"/>
            <p:cNvSpPr txBox="1"/>
            <p:nvPr/>
          </p:nvSpPr>
          <p:spPr>
            <a:xfrm>
              <a:off x="1651" y="3657"/>
              <a:ext cx="276" cy="250"/>
            </a:xfrm>
            <a:prstGeom prst="rect">
              <a:avLst/>
            </a:prstGeom>
            <a:noFill/>
            <a:ln w="9525">
              <a:noFill/>
            </a:ln>
          </p:spPr>
          <p:txBody>
            <a:bodyPr wrap="none">
              <a:spAutoFit/>
            </a:bodyPr>
            <a:p>
              <a:pPr eaLnBrk="1" hangingPunct="1"/>
              <a:r>
                <a:rPr lang="zh-CN" altLang="en-US" sz="2000" dirty="0">
                  <a:solidFill>
                    <a:srgbClr val="000099"/>
                  </a:solidFill>
                  <a:latin typeface="Tahoma" panose="020B0604030504040204" pitchFamily="34" charset="0"/>
                </a:rPr>
                <a:t>。</a:t>
              </a:r>
              <a:endParaRPr lang="zh-CN" altLang="en-US" sz="2000" dirty="0">
                <a:solidFill>
                  <a:srgbClr val="000099"/>
                </a:solidFill>
                <a:latin typeface="Tahoma" panose="020B0604030504040204" pitchFamily="34" charset="0"/>
              </a:endParaRPr>
            </a:p>
          </p:txBody>
        </p:sp>
      </p:grpSp>
      <p:pic>
        <p:nvPicPr>
          <p:cNvPr id="13323" name="图片 1073742872" descr="44303071dc0a1f9688d599dbc999570副本"/>
          <p:cNvPicPr>
            <a:picLocks noChangeAspect="1"/>
          </p:cNvPicPr>
          <p:nvPr/>
        </p:nvPicPr>
        <p:blipFill>
          <a:blip r:embed="rId13"/>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dissolv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dissolv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par>
                          <p:cTn id="42" fill="hold">
                            <p:stCondLst>
                              <p:cond delay="500"/>
                            </p:stCondLst>
                            <p:childTnLst>
                              <p:par>
                                <p:cTn id="43" presetID="9" presetClass="entr" presetSubtype="0" fill="hold"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dissolv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dissolve">
                                      <p:cBhvr>
                                        <p:cTn id="50" dur="500"/>
                                        <p:tgtEl>
                                          <p:spTgt spid="29"/>
                                        </p:tgtEl>
                                      </p:cBhvr>
                                    </p:animEffect>
                                  </p:childTnLst>
                                </p:cTn>
                              </p:par>
                            </p:childTnLst>
                          </p:cTn>
                        </p:par>
                        <p:par>
                          <p:cTn id="51" fill="hold">
                            <p:stCondLst>
                              <p:cond delay="500"/>
                            </p:stCondLst>
                            <p:childTnLst>
                              <p:par>
                                <p:cTn id="52" presetID="9" presetClass="entr" presetSubtype="0" fill="hold" nodeType="after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dissolve">
                                      <p:cBhvr>
                                        <p:cTn id="54" dur="5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left)">
                                      <p:cBhvr>
                                        <p:cTn id="5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7" grpId="0" autoUpdateAnimBg="0"/>
      <p:bldP spid="2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88" name="Rectangle 2080"/>
          <p:cNvSpPr>
            <a:spLocks noChangeArrowheads="1"/>
          </p:cNvSpPr>
          <p:nvPr/>
        </p:nvSpPr>
        <p:spPr bwMode="auto">
          <a:xfrm>
            <a:off x="245409" y="956517"/>
            <a:ext cx="6992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b="1" dirty="0">
                <a:solidFill>
                  <a:srgbClr val="FF0000"/>
                </a:solidFill>
                <a:ea typeface="宋体" panose="02010600030101010101" pitchFamily="2" charset="-122"/>
              </a:rPr>
              <a:t>[</a:t>
            </a:r>
            <a:r>
              <a:rPr lang="zh-CN" altLang="en-US" b="1" dirty="0">
                <a:solidFill>
                  <a:srgbClr val="FF0000"/>
                </a:solidFill>
                <a:ea typeface="宋体" panose="02010600030101010101" pitchFamily="2" charset="-122"/>
              </a:rPr>
              <a:t>注</a:t>
            </a:r>
            <a:r>
              <a:rPr lang="en-US" altLang="zh-CN" b="1" dirty="0">
                <a:solidFill>
                  <a:srgbClr val="FF0000"/>
                </a:solidFill>
                <a:ea typeface="宋体" panose="02010600030101010101" pitchFamily="2" charset="-122"/>
              </a:rPr>
              <a:t>]</a:t>
            </a:r>
            <a:endParaRPr lang="en-US" altLang="zh-CN" b="1" dirty="0">
              <a:solidFill>
                <a:srgbClr val="FF0000"/>
              </a:solidFill>
              <a:ea typeface="宋体" panose="02010600030101010101" pitchFamily="2" charset="-122"/>
            </a:endParaRPr>
          </a:p>
        </p:txBody>
      </p:sp>
      <p:grpSp>
        <p:nvGrpSpPr>
          <p:cNvPr id="2" name="Group 2089"/>
          <p:cNvGrpSpPr/>
          <p:nvPr/>
        </p:nvGrpSpPr>
        <p:grpSpPr bwMode="auto">
          <a:xfrm>
            <a:off x="1066631" y="851799"/>
            <a:ext cx="6284913" cy="877888"/>
            <a:chOff x="1175" y="2396"/>
            <a:chExt cx="3959" cy="553"/>
          </a:xfrm>
        </p:grpSpPr>
        <p:sp>
          <p:nvSpPr>
            <p:cNvPr id="21542" name="Rectangle 2081"/>
            <p:cNvSpPr>
              <a:spLocks noChangeArrowheads="1"/>
            </p:cNvSpPr>
            <p:nvPr/>
          </p:nvSpPr>
          <p:spPr bwMode="auto">
            <a:xfrm>
              <a:off x="1175" y="2555"/>
              <a:ext cx="3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sz="2000" b="1">
                  <a:solidFill>
                    <a:srgbClr val="003399"/>
                  </a:solidFill>
                  <a:ea typeface="宋体" panose="02010600030101010101" pitchFamily="2" charset="-122"/>
                </a:rPr>
                <a:t>(1) </a:t>
              </a:r>
              <a:endParaRPr lang="en-US" altLang="zh-CN" sz="2000" b="1">
                <a:solidFill>
                  <a:srgbClr val="003399"/>
                </a:solidFill>
                <a:ea typeface="宋体" panose="02010600030101010101" pitchFamily="2" charset="-122"/>
              </a:endParaRPr>
            </a:p>
          </p:txBody>
        </p:sp>
        <p:graphicFrame>
          <p:nvGraphicFramePr>
            <p:cNvPr id="21543" name="Object 2082"/>
            <p:cNvGraphicFramePr>
              <a:graphicFrameLocks noChangeAspect="1"/>
            </p:cNvGraphicFramePr>
            <p:nvPr/>
          </p:nvGraphicFramePr>
          <p:xfrm>
            <a:off x="1517" y="2535"/>
            <a:ext cx="178" cy="297"/>
          </p:xfrm>
          <a:graphic>
            <a:graphicData uri="http://schemas.openxmlformats.org/presentationml/2006/ole">
              <mc:AlternateContent xmlns:mc="http://schemas.openxmlformats.org/markup-compatibility/2006">
                <mc:Choice xmlns:v="urn:schemas-microsoft-com:vml" Requires="v">
                  <p:oleObj spid="_x0000_s11514" name="公式" r:id="rId1" imgW="127000" imgH="203200" progId="Equation.3">
                    <p:embed/>
                  </p:oleObj>
                </mc:Choice>
                <mc:Fallback>
                  <p:oleObj name="公式" r:id="rId1" imgW="127000" imgH="203200" progId="Equation.3">
                    <p:embed/>
                    <p:pic>
                      <p:nvPicPr>
                        <p:cNvPr id="0" name="图片 11513"/>
                        <p:cNvPicPr>
                          <a:picLocks noChangeAspect="1" noChangeArrowheads="1"/>
                        </p:cNvPicPr>
                        <p:nvPr/>
                      </p:nvPicPr>
                      <p:blipFill>
                        <a:blip r:embed="rId2"/>
                        <a:srcRect/>
                        <a:stretch>
                          <a:fillRect/>
                        </a:stretch>
                      </p:blipFill>
                      <p:spPr bwMode="auto">
                        <a:xfrm>
                          <a:off x="1517" y="2535"/>
                          <a:ext cx="17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44" name="Rectangle 2083"/>
            <p:cNvSpPr>
              <a:spLocks noChangeArrowheads="1"/>
            </p:cNvSpPr>
            <p:nvPr/>
          </p:nvSpPr>
          <p:spPr bwMode="auto">
            <a:xfrm>
              <a:off x="1612" y="2582"/>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的选择</a:t>
              </a:r>
              <a:endParaRPr lang="zh-CN" altLang="en-US" sz="2000" b="1">
                <a:solidFill>
                  <a:srgbClr val="003399"/>
                </a:solidFill>
                <a:ea typeface="宋体" panose="02010600030101010101" pitchFamily="2" charset="-122"/>
              </a:endParaRPr>
            </a:p>
          </p:txBody>
        </p:sp>
        <p:sp>
          <p:nvSpPr>
            <p:cNvPr id="21545" name="AutoShape 2084"/>
            <p:cNvSpPr/>
            <p:nvPr/>
          </p:nvSpPr>
          <p:spPr bwMode="auto">
            <a:xfrm>
              <a:off x="2256" y="2496"/>
              <a:ext cx="48" cy="384"/>
            </a:xfrm>
            <a:prstGeom prst="leftBrace">
              <a:avLst>
                <a:gd name="adj1" fmla="val 66667"/>
                <a:gd name="adj2" fmla="val 50000"/>
              </a:avLst>
            </a:prstGeom>
            <a:noFill/>
            <a:ln w="1905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21546" name="Rectangle 2085"/>
            <p:cNvSpPr>
              <a:spLocks noChangeArrowheads="1"/>
            </p:cNvSpPr>
            <p:nvPr/>
          </p:nvSpPr>
          <p:spPr bwMode="auto">
            <a:xfrm>
              <a:off x="2400" y="2428"/>
              <a:ext cx="9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整体</a:t>
              </a:r>
              <a:r>
                <a:rPr lang="zh-CN" altLang="en-US" sz="2000" b="1" dirty="0" smtClean="0">
                  <a:solidFill>
                    <a:srgbClr val="003399"/>
                  </a:solidFill>
                  <a:ea typeface="宋体" panose="02010600030101010101" pitchFamily="2" charset="-122"/>
                </a:rPr>
                <a:t>螺母：</a:t>
              </a:r>
              <a:endParaRPr lang="zh-CN" altLang="en-US" sz="2000" b="1" dirty="0">
                <a:solidFill>
                  <a:srgbClr val="003399"/>
                </a:solidFill>
                <a:ea typeface="宋体" panose="02010600030101010101" pitchFamily="2" charset="-122"/>
              </a:endParaRPr>
            </a:p>
          </p:txBody>
        </p:sp>
        <p:sp>
          <p:nvSpPr>
            <p:cNvPr id="21547" name="Rectangle 2086"/>
            <p:cNvSpPr>
              <a:spLocks noChangeArrowheads="1"/>
            </p:cNvSpPr>
            <p:nvPr/>
          </p:nvSpPr>
          <p:spPr bwMode="auto">
            <a:xfrm>
              <a:off x="2400" y="2678"/>
              <a:ext cx="20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剖分</a:t>
              </a:r>
              <a:r>
                <a:rPr lang="zh-CN" altLang="en-US" sz="2000" b="1" dirty="0" smtClean="0">
                  <a:solidFill>
                    <a:srgbClr val="003399"/>
                  </a:solidFill>
                  <a:ea typeface="宋体" panose="02010600030101010101" pitchFamily="2" charset="-122"/>
                </a:rPr>
                <a:t>螺母和兼作支承的螺母</a:t>
              </a:r>
              <a:endParaRPr lang="zh-CN" altLang="en-US" sz="2000" b="1" dirty="0">
                <a:solidFill>
                  <a:srgbClr val="003399"/>
                </a:solidFill>
                <a:ea typeface="宋体" panose="02010600030101010101" pitchFamily="2" charset="-122"/>
              </a:endParaRPr>
            </a:p>
          </p:txBody>
        </p:sp>
        <p:graphicFrame>
          <p:nvGraphicFramePr>
            <p:cNvPr id="21548" name="Object 2087"/>
            <p:cNvGraphicFramePr>
              <a:graphicFrameLocks noChangeAspect="1"/>
            </p:cNvGraphicFramePr>
            <p:nvPr/>
          </p:nvGraphicFramePr>
          <p:xfrm>
            <a:off x="3389" y="2396"/>
            <a:ext cx="815" cy="245"/>
          </p:xfrm>
          <a:graphic>
            <a:graphicData uri="http://schemas.openxmlformats.org/presentationml/2006/ole">
              <mc:AlternateContent xmlns:mc="http://schemas.openxmlformats.org/markup-compatibility/2006">
                <mc:Choice xmlns:v="urn:schemas-microsoft-com:vml" Requires="v">
                  <p:oleObj spid="_x0000_s11515" name="公式" r:id="rId3" imgW="774065" imgH="203200" progId="Equation.3">
                    <p:embed/>
                  </p:oleObj>
                </mc:Choice>
                <mc:Fallback>
                  <p:oleObj name="公式" r:id="rId3" imgW="774065" imgH="203200" progId="Equation.3">
                    <p:embed/>
                    <p:pic>
                      <p:nvPicPr>
                        <p:cNvPr id="0" name="图片 11514"/>
                        <p:cNvPicPr>
                          <a:picLocks noChangeAspect="1" noChangeArrowheads="1"/>
                        </p:cNvPicPr>
                        <p:nvPr/>
                      </p:nvPicPr>
                      <p:blipFill>
                        <a:blip r:embed="rId4"/>
                        <a:srcRect/>
                        <a:stretch>
                          <a:fillRect/>
                        </a:stretch>
                      </p:blipFill>
                      <p:spPr bwMode="auto">
                        <a:xfrm>
                          <a:off x="3389" y="2396"/>
                          <a:ext cx="81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49" name="Object 2088"/>
            <p:cNvGraphicFramePr>
              <a:graphicFrameLocks noChangeAspect="1"/>
            </p:cNvGraphicFramePr>
            <p:nvPr/>
          </p:nvGraphicFramePr>
          <p:xfrm>
            <a:off x="4384" y="2728"/>
            <a:ext cx="750" cy="221"/>
          </p:xfrm>
          <a:graphic>
            <a:graphicData uri="http://schemas.openxmlformats.org/presentationml/2006/ole">
              <mc:AlternateContent xmlns:mc="http://schemas.openxmlformats.org/markup-compatibility/2006">
                <mc:Choice xmlns:v="urn:schemas-microsoft-com:vml" Requires="v">
                  <p:oleObj spid="_x0000_s11516" name="公式" r:id="rId5" imgW="812800" imgH="203200" progId="Equation.3">
                    <p:embed/>
                  </p:oleObj>
                </mc:Choice>
                <mc:Fallback>
                  <p:oleObj name="公式" r:id="rId5" imgW="812800" imgH="203200" progId="Equation.3">
                    <p:embed/>
                    <p:pic>
                      <p:nvPicPr>
                        <p:cNvPr id="0" name="图片 11515"/>
                        <p:cNvPicPr>
                          <a:picLocks noChangeAspect="1" noChangeArrowheads="1"/>
                        </p:cNvPicPr>
                        <p:nvPr/>
                      </p:nvPicPr>
                      <p:blipFill>
                        <a:blip r:embed="rId6"/>
                        <a:srcRect/>
                        <a:stretch>
                          <a:fillRect/>
                        </a:stretch>
                      </p:blipFill>
                      <p:spPr bwMode="auto">
                        <a:xfrm>
                          <a:off x="4384" y="2728"/>
                          <a:ext cx="75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2098"/>
          <p:cNvGrpSpPr/>
          <p:nvPr/>
        </p:nvGrpSpPr>
        <p:grpSpPr bwMode="auto">
          <a:xfrm>
            <a:off x="777230" y="2080511"/>
            <a:ext cx="5943600" cy="1336675"/>
            <a:chOff x="1152" y="2976"/>
            <a:chExt cx="3744" cy="842"/>
          </a:xfrm>
        </p:grpSpPr>
        <p:sp>
          <p:nvSpPr>
            <p:cNvPr id="21535" name="Rectangle 2090"/>
            <p:cNvSpPr>
              <a:spLocks noChangeArrowheads="1"/>
            </p:cNvSpPr>
            <p:nvPr/>
          </p:nvSpPr>
          <p:spPr bwMode="auto">
            <a:xfrm>
              <a:off x="1152" y="3158"/>
              <a:ext cx="15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sz="2000" b="1" dirty="0">
                  <a:solidFill>
                    <a:srgbClr val="003399"/>
                  </a:solidFill>
                  <a:ea typeface="宋体" panose="02010600030101010101" pitchFamily="2" charset="-122"/>
                </a:rPr>
                <a:t>(2) </a:t>
              </a:r>
              <a:r>
                <a:rPr lang="zh-CN" altLang="en-US" sz="2000" b="1" dirty="0">
                  <a:solidFill>
                    <a:srgbClr val="003399"/>
                  </a:solidFill>
                  <a:ea typeface="宋体" panose="02010600030101010101" pitchFamily="2" charset="-122"/>
                </a:rPr>
                <a:t>螺纹牙接触高度 </a:t>
              </a:r>
              <a:endParaRPr lang="zh-CN" altLang="en-US" sz="2000" b="1" dirty="0">
                <a:solidFill>
                  <a:srgbClr val="003399"/>
                </a:solidFill>
                <a:ea typeface="宋体" panose="02010600030101010101" pitchFamily="2" charset="-122"/>
              </a:endParaRPr>
            </a:p>
          </p:txBody>
        </p:sp>
        <p:graphicFrame>
          <p:nvGraphicFramePr>
            <p:cNvPr id="21536" name="Object 2092"/>
            <p:cNvGraphicFramePr>
              <a:graphicFrameLocks noChangeAspect="1"/>
            </p:cNvGraphicFramePr>
            <p:nvPr/>
          </p:nvGraphicFramePr>
          <p:xfrm>
            <a:off x="4324" y="3005"/>
            <a:ext cx="572" cy="205"/>
          </p:xfrm>
          <a:graphic>
            <a:graphicData uri="http://schemas.openxmlformats.org/presentationml/2006/ole">
              <mc:AlternateContent xmlns:mc="http://schemas.openxmlformats.org/markup-compatibility/2006">
                <mc:Choice xmlns:v="urn:schemas-microsoft-com:vml" Requires="v">
                  <p:oleObj spid="_x0000_s11517" name="Equation" r:id="rId7" imgW="570865" imgH="177800" progId="Equation.3">
                    <p:embed/>
                  </p:oleObj>
                </mc:Choice>
                <mc:Fallback>
                  <p:oleObj name="Equation" r:id="rId7" imgW="570865" imgH="177800" progId="Equation.3">
                    <p:embed/>
                    <p:pic>
                      <p:nvPicPr>
                        <p:cNvPr id="0" name="图片 115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4" y="3005"/>
                          <a:ext cx="57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7" name="Object 2093"/>
            <p:cNvGraphicFramePr>
              <a:graphicFrameLocks noChangeAspect="1"/>
            </p:cNvGraphicFramePr>
            <p:nvPr/>
          </p:nvGraphicFramePr>
          <p:xfrm>
            <a:off x="2617" y="3192"/>
            <a:ext cx="128" cy="206"/>
          </p:xfrm>
          <a:graphic>
            <a:graphicData uri="http://schemas.openxmlformats.org/presentationml/2006/ole">
              <mc:AlternateContent xmlns:mc="http://schemas.openxmlformats.org/markup-compatibility/2006">
                <mc:Choice xmlns:v="urn:schemas-microsoft-com:vml" Requires="v">
                  <p:oleObj spid="_x0000_s11518" name="Equation" r:id="rId9" imgW="127000" imgH="177165" progId="Equation.3">
                    <p:embed/>
                  </p:oleObj>
                </mc:Choice>
                <mc:Fallback>
                  <p:oleObj name="Equation" r:id="rId9" imgW="127000" imgH="177165" progId="Equation.3">
                    <p:embed/>
                    <p:pic>
                      <p:nvPicPr>
                        <p:cNvPr id="0" name="图片 115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7" y="3192"/>
                          <a:ext cx="128"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38" name="AutoShape 2094"/>
            <p:cNvSpPr/>
            <p:nvPr/>
          </p:nvSpPr>
          <p:spPr bwMode="auto">
            <a:xfrm>
              <a:off x="2832" y="3067"/>
              <a:ext cx="94" cy="620"/>
            </a:xfrm>
            <a:prstGeom prst="leftBrace">
              <a:avLst>
                <a:gd name="adj1" fmla="val 75000"/>
                <a:gd name="adj2" fmla="val 50000"/>
              </a:avLst>
            </a:prstGeom>
            <a:noFill/>
            <a:ln w="1905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sp>
          <p:nvSpPr>
            <p:cNvPr id="21539" name="Rectangle 2095"/>
            <p:cNvSpPr>
              <a:spLocks noChangeArrowheads="1"/>
            </p:cNvSpPr>
            <p:nvPr/>
          </p:nvSpPr>
          <p:spPr bwMode="auto">
            <a:xfrm>
              <a:off x="2928" y="297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对梯形和矩形螺纹</a:t>
              </a:r>
              <a:endParaRPr lang="zh-CN" altLang="en-US" sz="2000" b="1" dirty="0">
                <a:solidFill>
                  <a:srgbClr val="003399"/>
                </a:solidFill>
                <a:ea typeface="宋体" panose="02010600030101010101" pitchFamily="2" charset="-122"/>
              </a:endParaRPr>
            </a:p>
          </p:txBody>
        </p:sp>
        <p:sp>
          <p:nvSpPr>
            <p:cNvPr id="21540" name="Rectangle 2096"/>
            <p:cNvSpPr>
              <a:spLocks noChangeArrowheads="1"/>
            </p:cNvSpPr>
            <p:nvPr/>
          </p:nvSpPr>
          <p:spPr bwMode="auto">
            <a:xfrm>
              <a:off x="2926" y="3568"/>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对锯齿形螺纹</a:t>
              </a:r>
              <a:endParaRPr lang="zh-CN" altLang="en-US" sz="2000" b="1" dirty="0">
                <a:solidFill>
                  <a:srgbClr val="003399"/>
                </a:solidFill>
                <a:ea typeface="宋体" panose="02010600030101010101" pitchFamily="2" charset="-122"/>
              </a:endParaRPr>
            </a:p>
          </p:txBody>
        </p:sp>
        <p:graphicFrame>
          <p:nvGraphicFramePr>
            <p:cNvPr id="21541" name="Object 2097"/>
            <p:cNvGraphicFramePr>
              <a:graphicFrameLocks noChangeAspect="1"/>
            </p:cNvGraphicFramePr>
            <p:nvPr/>
          </p:nvGraphicFramePr>
          <p:xfrm>
            <a:off x="4008" y="3590"/>
            <a:ext cx="648" cy="205"/>
          </p:xfrm>
          <a:graphic>
            <a:graphicData uri="http://schemas.openxmlformats.org/presentationml/2006/ole">
              <mc:AlternateContent xmlns:mc="http://schemas.openxmlformats.org/markup-compatibility/2006">
                <mc:Choice xmlns:v="urn:schemas-microsoft-com:vml" Requires="v">
                  <p:oleObj spid="_x0000_s11519" name="Equation" r:id="rId11" imgW="647700" imgH="177800" progId="Equation.3">
                    <p:embed/>
                  </p:oleObj>
                </mc:Choice>
                <mc:Fallback>
                  <p:oleObj name="Equation" r:id="rId11" imgW="647700" imgH="177800" progId="Equation.3">
                    <p:embed/>
                    <p:pic>
                      <p:nvPicPr>
                        <p:cNvPr id="0" name="图片 115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08" y="3590"/>
                          <a:ext cx="64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6307" name="Rectangle 2099"/>
          <p:cNvSpPr>
            <a:spLocks noChangeArrowheads="1"/>
          </p:cNvSpPr>
          <p:nvPr/>
        </p:nvSpPr>
        <p:spPr bwMode="auto">
          <a:xfrm>
            <a:off x="944034" y="3682800"/>
            <a:ext cx="1565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sz="2000" b="1" dirty="0">
                <a:solidFill>
                  <a:srgbClr val="003399"/>
                </a:solidFill>
                <a:ea typeface="宋体" panose="02010600030101010101" pitchFamily="2" charset="-122"/>
              </a:rPr>
              <a:t>(3) </a:t>
            </a:r>
            <a:r>
              <a:rPr lang="zh-CN" altLang="en-US" sz="2000" b="1" dirty="0">
                <a:solidFill>
                  <a:srgbClr val="003399"/>
                </a:solidFill>
                <a:ea typeface="宋体" panose="02010600030101010101" pitchFamily="2" charset="-122"/>
              </a:rPr>
              <a:t>设计步骤</a:t>
            </a:r>
            <a:endParaRPr lang="zh-CN" altLang="en-US" sz="2000" b="1" dirty="0">
              <a:solidFill>
                <a:srgbClr val="003399"/>
              </a:solidFill>
              <a:ea typeface="宋体" panose="02010600030101010101" pitchFamily="2" charset="-122"/>
            </a:endParaRPr>
          </a:p>
        </p:txBody>
      </p:sp>
      <p:sp>
        <p:nvSpPr>
          <p:cNvPr id="96308" name="Line 2100"/>
          <p:cNvSpPr>
            <a:spLocks noChangeShapeType="1"/>
          </p:cNvSpPr>
          <p:nvPr/>
        </p:nvSpPr>
        <p:spPr bwMode="auto">
          <a:xfrm>
            <a:off x="2060030" y="4562743"/>
            <a:ext cx="457200" cy="0"/>
          </a:xfrm>
          <a:prstGeom prst="line">
            <a:avLst/>
          </a:prstGeom>
          <a:noFill/>
          <a:ln w="19050">
            <a:solidFill>
              <a:srgbClr val="003399"/>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316" name="Line 2108"/>
          <p:cNvSpPr>
            <a:spLocks noChangeShapeType="1"/>
          </p:cNvSpPr>
          <p:nvPr/>
        </p:nvSpPr>
        <p:spPr bwMode="auto">
          <a:xfrm>
            <a:off x="5187439" y="4620494"/>
            <a:ext cx="457200" cy="0"/>
          </a:xfrm>
          <a:prstGeom prst="line">
            <a:avLst/>
          </a:prstGeom>
          <a:noFill/>
          <a:ln w="19050">
            <a:solidFill>
              <a:srgbClr val="003399"/>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2110"/>
          <p:cNvGrpSpPr/>
          <p:nvPr/>
        </p:nvGrpSpPr>
        <p:grpSpPr bwMode="auto">
          <a:xfrm>
            <a:off x="5661000" y="4401627"/>
            <a:ext cx="2000250" cy="396875"/>
            <a:chOff x="1325" y="3920"/>
            <a:chExt cx="1260" cy="250"/>
          </a:xfrm>
        </p:grpSpPr>
        <p:graphicFrame>
          <p:nvGraphicFramePr>
            <p:cNvPr id="21533" name="Object 2103"/>
            <p:cNvGraphicFramePr>
              <a:graphicFrameLocks noChangeAspect="1"/>
            </p:cNvGraphicFramePr>
            <p:nvPr/>
          </p:nvGraphicFramePr>
          <p:xfrm>
            <a:off x="2407" y="3930"/>
            <a:ext cx="178" cy="191"/>
          </p:xfrm>
          <a:graphic>
            <a:graphicData uri="http://schemas.openxmlformats.org/presentationml/2006/ole">
              <mc:AlternateContent xmlns:mc="http://schemas.openxmlformats.org/markup-compatibility/2006">
                <mc:Choice xmlns:v="urn:schemas-microsoft-com:vml" Requires="v">
                  <p:oleObj spid="_x0000_s11520" name="Equation" r:id="rId13" imgW="177800" imgH="165100" progId="Equation.3">
                    <p:embed/>
                  </p:oleObj>
                </mc:Choice>
                <mc:Fallback>
                  <p:oleObj name="Equation" r:id="rId13" imgW="177800" imgH="165100" progId="Equation.3">
                    <p:embed/>
                    <p:pic>
                      <p:nvPicPr>
                        <p:cNvPr id="0" name="图片 115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7" y="3930"/>
                          <a:ext cx="17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34" name="Rectangle 2109"/>
            <p:cNvSpPr>
              <a:spLocks noChangeArrowheads="1"/>
            </p:cNvSpPr>
            <p:nvPr/>
          </p:nvSpPr>
          <p:spPr bwMode="auto">
            <a:xfrm>
              <a:off x="1325" y="3920"/>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FF0000"/>
                  </a:solidFill>
                  <a:ea typeface="宋体" panose="02010600030101010101" pitchFamily="2" charset="-122"/>
                </a:rPr>
                <a:t>确定螺母高度</a:t>
              </a:r>
              <a:endParaRPr lang="zh-CN" altLang="en-US" sz="2000" b="1" dirty="0">
                <a:solidFill>
                  <a:srgbClr val="FF0000"/>
                </a:solidFill>
                <a:ea typeface="宋体" panose="02010600030101010101" pitchFamily="2" charset="-122"/>
              </a:endParaRPr>
            </a:p>
          </p:txBody>
        </p:sp>
      </p:grpSp>
      <p:grpSp>
        <p:nvGrpSpPr>
          <p:cNvPr id="5" name="Group 2118"/>
          <p:cNvGrpSpPr/>
          <p:nvPr/>
        </p:nvGrpSpPr>
        <p:grpSpPr bwMode="auto">
          <a:xfrm>
            <a:off x="1256516" y="5278733"/>
            <a:ext cx="2901951" cy="634999"/>
            <a:chOff x="1344" y="3847"/>
            <a:chExt cx="1828" cy="400"/>
          </a:xfrm>
        </p:grpSpPr>
        <p:graphicFrame>
          <p:nvGraphicFramePr>
            <p:cNvPr id="21531" name="Object 2057"/>
            <p:cNvGraphicFramePr>
              <a:graphicFrameLocks noChangeAspect="1"/>
            </p:cNvGraphicFramePr>
            <p:nvPr/>
          </p:nvGraphicFramePr>
          <p:xfrm>
            <a:off x="2476" y="3847"/>
            <a:ext cx="696" cy="400"/>
          </p:xfrm>
          <a:graphic>
            <a:graphicData uri="http://schemas.openxmlformats.org/presentationml/2006/ole">
              <mc:AlternateContent xmlns:mc="http://schemas.openxmlformats.org/markup-compatibility/2006">
                <mc:Choice xmlns:v="urn:schemas-microsoft-com:vml" Requires="v">
                  <p:oleObj spid="_x0000_s11521" name="公式" r:id="rId15" imgW="736600" imgH="393700" progId="Equation.3">
                    <p:embed/>
                  </p:oleObj>
                </mc:Choice>
                <mc:Fallback>
                  <p:oleObj name="公式" r:id="rId15" imgW="736600" imgH="393700" progId="Equation.3">
                    <p:embed/>
                    <p:pic>
                      <p:nvPicPr>
                        <p:cNvPr id="0" name="图片 11520"/>
                        <p:cNvPicPr>
                          <a:picLocks noChangeAspect="1" noChangeArrowheads="1"/>
                        </p:cNvPicPr>
                        <p:nvPr/>
                      </p:nvPicPr>
                      <p:blipFill>
                        <a:blip r:embed="rId16"/>
                        <a:srcRect/>
                        <a:stretch>
                          <a:fillRect/>
                        </a:stretch>
                      </p:blipFill>
                      <p:spPr bwMode="auto">
                        <a:xfrm>
                          <a:off x="2476" y="3847"/>
                          <a:ext cx="696"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32" name="Rectangle 2113"/>
            <p:cNvSpPr>
              <a:spLocks noChangeArrowheads="1"/>
            </p:cNvSpPr>
            <p:nvPr/>
          </p:nvSpPr>
          <p:spPr bwMode="auto">
            <a:xfrm>
              <a:off x="1344" y="3922"/>
              <a:ext cx="10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要求螺纹圈数</a:t>
              </a:r>
              <a:endParaRPr lang="zh-CN" altLang="en-US" sz="2000" b="1">
                <a:solidFill>
                  <a:srgbClr val="003399"/>
                </a:solidFill>
                <a:ea typeface="宋体" panose="02010600030101010101" pitchFamily="2" charset="-122"/>
              </a:endParaRPr>
            </a:p>
          </p:txBody>
        </p:sp>
      </p:grpSp>
      <p:grpSp>
        <p:nvGrpSpPr>
          <p:cNvPr id="6" name="Group 2115"/>
          <p:cNvGrpSpPr/>
          <p:nvPr/>
        </p:nvGrpSpPr>
        <p:grpSpPr bwMode="auto">
          <a:xfrm>
            <a:off x="953928" y="4363019"/>
            <a:ext cx="914400" cy="396875"/>
            <a:chOff x="1344" y="3600"/>
            <a:chExt cx="576" cy="250"/>
          </a:xfrm>
        </p:grpSpPr>
        <p:graphicFrame>
          <p:nvGraphicFramePr>
            <p:cNvPr id="21529" name="Object 2091"/>
            <p:cNvGraphicFramePr>
              <a:graphicFrameLocks noChangeAspect="1"/>
            </p:cNvGraphicFramePr>
            <p:nvPr/>
          </p:nvGraphicFramePr>
          <p:xfrm>
            <a:off x="1742" y="3600"/>
            <a:ext cx="178" cy="250"/>
          </p:xfrm>
          <a:graphic>
            <a:graphicData uri="http://schemas.openxmlformats.org/presentationml/2006/ole">
              <mc:AlternateContent xmlns:mc="http://schemas.openxmlformats.org/markup-compatibility/2006">
                <mc:Choice xmlns:v="urn:schemas-microsoft-com:vml" Requires="v">
                  <p:oleObj spid="_x0000_s11522" name="Equation" r:id="rId17" imgW="177800" imgH="215900" progId="Equation.3">
                    <p:embed/>
                  </p:oleObj>
                </mc:Choice>
                <mc:Fallback>
                  <p:oleObj name="Equation" r:id="rId17" imgW="177800" imgH="215900" progId="Equation.3">
                    <p:embed/>
                    <p:pic>
                      <p:nvPicPr>
                        <p:cNvPr id="0" name="图片 115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42" y="3600"/>
                          <a:ext cx="1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30" name="Rectangle 2114"/>
            <p:cNvSpPr>
              <a:spLocks noChangeArrowheads="1"/>
            </p:cNvSpPr>
            <p:nvPr/>
          </p:nvSpPr>
          <p:spPr bwMode="auto">
            <a:xfrm>
              <a:off x="1344" y="3600"/>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FF0000"/>
                  </a:solidFill>
                  <a:ea typeface="宋体" panose="02010600030101010101" pitchFamily="2" charset="-122"/>
                </a:rPr>
                <a:t>计算</a:t>
              </a:r>
              <a:endParaRPr lang="zh-CN" altLang="en-US" sz="2000" b="1" dirty="0">
                <a:solidFill>
                  <a:srgbClr val="FF0000"/>
                </a:solidFill>
                <a:ea typeface="宋体" panose="02010600030101010101" pitchFamily="2" charset="-122"/>
              </a:endParaRPr>
            </a:p>
          </p:txBody>
        </p:sp>
      </p:grpSp>
      <p:grpSp>
        <p:nvGrpSpPr>
          <p:cNvPr id="7" name="Group 2117"/>
          <p:cNvGrpSpPr/>
          <p:nvPr/>
        </p:nvGrpSpPr>
        <p:grpSpPr bwMode="auto">
          <a:xfrm>
            <a:off x="2739197" y="4080043"/>
            <a:ext cx="2265362" cy="793750"/>
            <a:chOff x="2256" y="3446"/>
            <a:chExt cx="1427" cy="500"/>
          </a:xfrm>
        </p:grpSpPr>
        <p:sp>
          <p:nvSpPr>
            <p:cNvPr id="21524" name="Rectangle 2102"/>
            <p:cNvSpPr>
              <a:spLocks noChangeArrowheads="1"/>
            </p:cNvSpPr>
            <p:nvPr/>
          </p:nvSpPr>
          <p:spPr bwMode="auto">
            <a:xfrm>
              <a:off x="2256" y="3600"/>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FF0000"/>
                  </a:solidFill>
                  <a:ea typeface="宋体" panose="02010600030101010101" pitchFamily="2" charset="-122"/>
                </a:rPr>
                <a:t>查标准：</a:t>
              </a:r>
              <a:endParaRPr lang="zh-CN" altLang="en-US" sz="2000" b="1" dirty="0">
                <a:solidFill>
                  <a:srgbClr val="FF0000"/>
                </a:solidFill>
                <a:ea typeface="宋体" panose="02010600030101010101" pitchFamily="2" charset="-122"/>
              </a:endParaRPr>
            </a:p>
          </p:txBody>
        </p:sp>
        <p:graphicFrame>
          <p:nvGraphicFramePr>
            <p:cNvPr id="21525" name="Object 2104"/>
            <p:cNvGraphicFramePr>
              <a:graphicFrameLocks noChangeAspect="1"/>
            </p:cNvGraphicFramePr>
            <p:nvPr/>
          </p:nvGraphicFramePr>
          <p:xfrm>
            <a:off x="3264" y="3698"/>
            <a:ext cx="153" cy="190"/>
          </p:xfrm>
          <a:graphic>
            <a:graphicData uri="http://schemas.openxmlformats.org/presentationml/2006/ole">
              <mc:AlternateContent xmlns:mc="http://schemas.openxmlformats.org/markup-compatibility/2006">
                <mc:Choice xmlns:v="urn:schemas-microsoft-com:vml" Requires="v">
                  <p:oleObj spid="_x0000_s11523" name="Equation" r:id="rId19" imgW="152400" imgH="165100" progId="Equation.3">
                    <p:embed/>
                  </p:oleObj>
                </mc:Choice>
                <mc:Fallback>
                  <p:oleObj name="Equation" r:id="rId19" imgW="152400" imgH="165100" progId="Equation.3">
                    <p:embed/>
                    <p:pic>
                      <p:nvPicPr>
                        <p:cNvPr id="0" name="图片 115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64" y="3698"/>
                          <a:ext cx="15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26" name="Object 2105"/>
            <p:cNvGraphicFramePr>
              <a:graphicFrameLocks noChangeAspect="1"/>
            </p:cNvGraphicFramePr>
            <p:nvPr/>
          </p:nvGraphicFramePr>
          <p:xfrm>
            <a:off x="3552" y="3494"/>
            <a:ext cx="131" cy="192"/>
          </p:xfrm>
          <a:graphic>
            <a:graphicData uri="http://schemas.openxmlformats.org/presentationml/2006/ole">
              <mc:AlternateContent xmlns:mc="http://schemas.openxmlformats.org/markup-compatibility/2006">
                <mc:Choice xmlns:v="urn:schemas-microsoft-com:vml" Requires="v">
                  <p:oleObj spid="_x0000_s11524" name="Equation" r:id="rId21" imgW="139700" imgH="177800" progId="Equation.3">
                    <p:embed/>
                  </p:oleObj>
                </mc:Choice>
                <mc:Fallback>
                  <p:oleObj name="Equation" r:id="rId21" imgW="139700" imgH="177800" progId="Equation.3">
                    <p:embed/>
                    <p:pic>
                      <p:nvPicPr>
                        <p:cNvPr id="0" name="图片 115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52" y="3494"/>
                          <a:ext cx="13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7" name="Rectangle 2106"/>
            <p:cNvSpPr>
              <a:spLocks noChangeArrowheads="1"/>
            </p:cNvSpPr>
            <p:nvPr/>
          </p:nvSpPr>
          <p:spPr bwMode="auto">
            <a:xfrm>
              <a:off x="2874" y="3696"/>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螺距</a:t>
              </a:r>
              <a:endParaRPr lang="zh-CN" altLang="en-US" sz="2000" b="1">
                <a:solidFill>
                  <a:srgbClr val="003399"/>
                </a:solidFill>
                <a:ea typeface="宋体" panose="02010600030101010101" pitchFamily="2" charset="-122"/>
              </a:endParaRPr>
            </a:p>
          </p:txBody>
        </p:sp>
        <p:sp>
          <p:nvSpPr>
            <p:cNvPr id="21528" name="Rectangle 2116"/>
            <p:cNvSpPr>
              <a:spLocks noChangeArrowheads="1"/>
            </p:cNvSpPr>
            <p:nvPr/>
          </p:nvSpPr>
          <p:spPr bwMode="auto">
            <a:xfrm>
              <a:off x="2832" y="3446"/>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公称直径</a:t>
              </a:r>
              <a:endParaRPr lang="zh-CN" altLang="en-US" sz="2000" b="1">
                <a:solidFill>
                  <a:srgbClr val="003399"/>
                </a:solidFill>
                <a:ea typeface="宋体" panose="02010600030101010101" pitchFamily="2" charset="-122"/>
              </a:endParaRPr>
            </a:p>
          </p:txBody>
        </p:sp>
      </p:grpSp>
      <p:cxnSp>
        <p:nvCxnSpPr>
          <p:cNvPr id="11" name="直接连接符 10"/>
          <p:cNvCxnSpPr/>
          <p:nvPr/>
        </p:nvCxnSpPr>
        <p:spPr>
          <a:xfrm>
            <a:off x="546847" y="681318"/>
            <a:ext cx="8041341" cy="0"/>
          </a:xfrm>
          <a:prstGeom prst="line">
            <a:avLst/>
          </a:prstGeom>
          <a:ln w="50800" cmpd="thickThin"/>
        </p:spPr>
        <p:style>
          <a:lnRef idx="1">
            <a:schemeClr val="accent1"/>
          </a:lnRef>
          <a:fillRef idx="0">
            <a:schemeClr val="accent1"/>
          </a:fillRef>
          <a:effectRef idx="0">
            <a:schemeClr val="accent1"/>
          </a:effectRef>
          <a:fontRef idx="minor">
            <a:schemeClr val="tx1"/>
          </a:fontRef>
        </p:style>
      </p:cxnSp>
      <p:graphicFrame>
        <p:nvGraphicFramePr>
          <p:cNvPr id="48" name="Object 2079"/>
          <p:cNvGraphicFramePr>
            <a:graphicFrameLocks noChangeAspect="1"/>
          </p:cNvGraphicFramePr>
          <p:nvPr/>
        </p:nvGraphicFramePr>
        <p:xfrm>
          <a:off x="6897370" y="1890395"/>
          <a:ext cx="1691005" cy="775970"/>
        </p:xfrm>
        <a:graphic>
          <a:graphicData uri="http://schemas.openxmlformats.org/presentationml/2006/ole">
            <mc:AlternateContent xmlns:mc="http://schemas.openxmlformats.org/markup-compatibility/2006">
              <mc:Choice xmlns:v="urn:schemas-microsoft-com:vml" Requires="v">
                <p:oleObj spid="_x0000_s11528" name="公式" r:id="rId23" imgW="1270000" imgH="469900" progId="Equation.3">
                  <p:embed/>
                </p:oleObj>
              </mc:Choice>
              <mc:Fallback>
                <p:oleObj name="公式" r:id="rId23" imgW="1270000" imgH="469900" progId="Equation.3">
                  <p:embed/>
                  <p:pic>
                    <p:nvPicPr>
                      <p:cNvPr id="0" name="图片 11527"/>
                      <p:cNvPicPr>
                        <a:picLocks noChangeAspect="1" noChangeArrowheads="1"/>
                      </p:cNvPicPr>
                      <p:nvPr/>
                    </p:nvPicPr>
                    <p:blipFill>
                      <a:blip r:embed="rId24"/>
                      <a:srcRect/>
                      <a:stretch>
                        <a:fillRect/>
                      </a:stretch>
                    </p:blipFill>
                    <p:spPr bwMode="auto">
                      <a:xfrm>
                        <a:off x="6897370" y="1890395"/>
                        <a:ext cx="1691005" cy="775970"/>
                      </a:xfrm>
                      <a:prstGeom prst="rect">
                        <a:avLst/>
                      </a:prstGeom>
                      <a:noFill/>
                      <a:ln>
                        <a:noFill/>
                      </a:ln>
                    </p:spPr>
                  </p:pic>
                </p:oleObj>
              </mc:Fallback>
            </mc:AlternateContent>
          </a:graphicData>
        </a:graphic>
      </p:graphicFrame>
      <p:graphicFrame>
        <p:nvGraphicFramePr>
          <p:cNvPr id="49" name="Object 2079"/>
          <p:cNvGraphicFramePr>
            <a:graphicFrameLocks noChangeAspect="1"/>
          </p:cNvGraphicFramePr>
          <p:nvPr/>
        </p:nvGraphicFramePr>
        <p:xfrm>
          <a:off x="6543675" y="2840990"/>
          <a:ext cx="1952625" cy="842010"/>
        </p:xfrm>
        <a:graphic>
          <a:graphicData uri="http://schemas.openxmlformats.org/presentationml/2006/ole">
            <mc:AlternateContent xmlns:mc="http://schemas.openxmlformats.org/markup-compatibility/2006">
              <mc:Choice xmlns:v="urn:schemas-microsoft-com:vml" Requires="v">
                <p:oleObj spid="_x0000_s11529" name="公式" r:id="rId25" imgW="1346200" imgH="469900" progId="Equation.3">
                  <p:embed/>
                </p:oleObj>
              </mc:Choice>
              <mc:Fallback>
                <p:oleObj name="公式" r:id="rId25" imgW="1346200" imgH="469900" progId="Equation.3">
                  <p:embed/>
                  <p:pic>
                    <p:nvPicPr>
                      <p:cNvPr id="0" name="图片 11528"/>
                      <p:cNvPicPr>
                        <a:picLocks noChangeAspect="1" noChangeArrowheads="1"/>
                      </p:cNvPicPr>
                      <p:nvPr/>
                    </p:nvPicPr>
                    <p:blipFill>
                      <a:blip r:embed="rId26"/>
                      <a:srcRect/>
                      <a:stretch>
                        <a:fillRect/>
                      </a:stretch>
                    </p:blipFill>
                    <p:spPr bwMode="auto">
                      <a:xfrm>
                        <a:off x="6543675" y="2840990"/>
                        <a:ext cx="1952625" cy="842010"/>
                      </a:xfrm>
                      <a:prstGeom prst="rect">
                        <a:avLst/>
                      </a:prstGeom>
                      <a:noFill/>
                      <a:ln>
                        <a:noFill/>
                      </a:ln>
                    </p:spPr>
                  </p:pic>
                </p:oleObj>
              </mc:Fallback>
            </mc:AlternateContent>
          </a:graphicData>
        </a:graphic>
      </p:graphicFrame>
      <p:pic>
        <p:nvPicPr>
          <p:cNvPr id="13323" name="图片 1073742872" descr="44303071dc0a1f9688d599dbc999570副本"/>
          <p:cNvPicPr>
            <a:picLocks noChangeAspect="1"/>
          </p:cNvPicPr>
          <p:nvPr/>
        </p:nvPicPr>
        <p:blipFill>
          <a:blip r:embed="rId27"/>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288"/>
                                        </p:tgtEl>
                                        <p:attrNameLst>
                                          <p:attrName>style.visibility</p:attrName>
                                        </p:attrNameLst>
                                      </p:cBhvr>
                                      <p:to>
                                        <p:strVal val="visible"/>
                                      </p:to>
                                    </p:set>
                                    <p:animEffect transition="in" filter="dissolve">
                                      <p:cBhvr>
                                        <p:cTn id="7" dur="500"/>
                                        <p:tgtEl>
                                          <p:spTgt spid="962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dissolve">
                                      <p:cBhvr>
                                        <p:cTn id="26" dur="500"/>
                                        <p:tgtEl>
                                          <p:spTgt spid="4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6307"/>
                                        </p:tgtEl>
                                        <p:attrNameLst>
                                          <p:attrName>style.visibility</p:attrName>
                                        </p:attrNameLst>
                                      </p:cBhvr>
                                      <p:to>
                                        <p:strVal val="visible"/>
                                      </p:to>
                                    </p:set>
                                    <p:animEffect transition="in" filter="dissolve">
                                      <p:cBhvr>
                                        <p:cTn id="31" dur="500"/>
                                        <p:tgtEl>
                                          <p:spTgt spid="9630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dissolv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96308"/>
                                        </p:tgtEl>
                                        <p:attrNameLst>
                                          <p:attrName>style.visibility</p:attrName>
                                        </p:attrNameLst>
                                      </p:cBhvr>
                                      <p:to>
                                        <p:strVal val="visible"/>
                                      </p:to>
                                    </p:set>
                                    <p:anim calcmode="lin" valueType="num">
                                      <p:cBhvr>
                                        <p:cTn id="41" dur="500" fill="hold"/>
                                        <p:tgtEl>
                                          <p:spTgt spid="96308"/>
                                        </p:tgtEl>
                                        <p:attrNameLst>
                                          <p:attrName>ppt_x</p:attrName>
                                        </p:attrNameLst>
                                      </p:cBhvr>
                                      <p:tavLst>
                                        <p:tav tm="0">
                                          <p:val>
                                            <p:strVal val="#ppt_x-#ppt_w/2"/>
                                          </p:val>
                                        </p:tav>
                                        <p:tav tm="100000">
                                          <p:val>
                                            <p:strVal val="#ppt_x"/>
                                          </p:val>
                                        </p:tav>
                                      </p:tavLst>
                                    </p:anim>
                                    <p:anim calcmode="lin" valueType="num">
                                      <p:cBhvr>
                                        <p:cTn id="42" dur="500" fill="hold"/>
                                        <p:tgtEl>
                                          <p:spTgt spid="96308"/>
                                        </p:tgtEl>
                                        <p:attrNameLst>
                                          <p:attrName>ppt_y</p:attrName>
                                        </p:attrNameLst>
                                      </p:cBhvr>
                                      <p:tavLst>
                                        <p:tav tm="0">
                                          <p:val>
                                            <p:strVal val="#ppt_y"/>
                                          </p:val>
                                        </p:tav>
                                        <p:tav tm="100000">
                                          <p:val>
                                            <p:strVal val="#ppt_y"/>
                                          </p:val>
                                        </p:tav>
                                      </p:tavLst>
                                    </p:anim>
                                    <p:anim calcmode="lin" valueType="num">
                                      <p:cBhvr>
                                        <p:cTn id="43" dur="500" fill="hold"/>
                                        <p:tgtEl>
                                          <p:spTgt spid="96308"/>
                                        </p:tgtEl>
                                        <p:attrNameLst>
                                          <p:attrName>ppt_w</p:attrName>
                                        </p:attrNameLst>
                                      </p:cBhvr>
                                      <p:tavLst>
                                        <p:tav tm="0">
                                          <p:val>
                                            <p:fltVal val="0"/>
                                          </p:val>
                                        </p:tav>
                                        <p:tav tm="100000">
                                          <p:val>
                                            <p:strVal val="#ppt_w"/>
                                          </p:val>
                                        </p:tav>
                                      </p:tavLst>
                                    </p:anim>
                                    <p:anim calcmode="lin" valueType="num">
                                      <p:cBhvr>
                                        <p:cTn id="44" dur="500" fill="hold"/>
                                        <p:tgtEl>
                                          <p:spTgt spid="96308"/>
                                        </p:tgtEl>
                                        <p:attrNameLst>
                                          <p:attrName>ppt_h</p:attrName>
                                        </p:attrNameLst>
                                      </p:cBhvr>
                                      <p:tavLst>
                                        <p:tav tm="0">
                                          <p:val>
                                            <p:strVal val="#ppt_h"/>
                                          </p:val>
                                        </p:tav>
                                        <p:tav tm="100000">
                                          <p:val>
                                            <p:strVal val="#ppt_h"/>
                                          </p:val>
                                        </p:tav>
                                      </p:tavLst>
                                    </p:anim>
                                  </p:childTnLst>
                                </p:cTn>
                              </p:par>
                            </p:childTnLst>
                          </p:cTn>
                        </p:par>
                        <p:par>
                          <p:cTn id="45" fill="hold">
                            <p:stCondLst>
                              <p:cond delay="500"/>
                            </p:stCondLst>
                            <p:childTnLst>
                              <p:par>
                                <p:cTn id="46" presetID="9" presetClass="entr" presetSubtype="0"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dissolve">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96316"/>
                                        </p:tgtEl>
                                        <p:attrNameLst>
                                          <p:attrName>style.visibility</p:attrName>
                                        </p:attrNameLst>
                                      </p:cBhvr>
                                      <p:to>
                                        <p:strVal val="visible"/>
                                      </p:to>
                                    </p:set>
                                    <p:anim calcmode="lin" valueType="num">
                                      <p:cBhvr>
                                        <p:cTn id="53" dur="500" fill="hold"/>
                                        <p:tgtEl>
                                          <p:spTgt spid="96316"/>
                                        </p:tgtEl>
                                        <p:attrNameLst>
                                          <p:attrName>ppt_x</p:attrName>
                                        </p:attrNameLst>
                                      </p:cBhvr>
                                      <p:tavLst>
                                        <p:tav tm="0">
                                          <p:val>
                                            <p:strVal val="#ppt_x-#ppt_w/2"/>
                                          </p:val>
                                        </p:tav>
                                        <p:tav tm="100000">
                                          <p:val>
                                            <p:strVal val="#ppt_x"/>
                                          </p:val>
                                        </p:tav>
                                      </p:tavLst>
                                    </p:anim>
                                    <p:anim calcmode="lin" valueType="num">
                                      <p:cBhvr>
                                        <p:cTn id="54" dur="500" fill="hold"/>
                                        <p:tgtEl>
                                          <p:spTgt spid="96316"/>
                                        </p:tgtEl>
                                        <p:attrNameLst>
                                          <p:attrName>ppt_y</p:attrName>
                                        </p:attrNameLst>
                                      </p:cBhvr>
                                      <p:tavLst>
                                        <p:tav tm="0">
                                          <p:val>
                                            <p:strVal val="#ppt_y"/>
                                          </p:val>
                                        </p:tav>
                                        <p:tav tm="100000">
                                          <p:val>
                                            <p:strVal val="#ppt_y"/>
                                          </p:val>
                                        </p:tav>
                                      </p:tavLst>
                                    </p:anim>
                                    <p:anim calcmode="lin" valueType="num">
                                      <p:cBhvr>
                                        <p:cTn id="55" dur="500" fill="hold"/>
                                        <p:tgtEl>
                                          <p:spTgt spid="96316"/>
                                        </p:tgtEl>
                                        <p:attrNameLst>
                                          <p:attrName>ppt_w</p:attrName>
                                        </p:attrNameLst>
                                      </p:cBhvr>
                                      <p:tavLst>
                                        <p:tav tm="0">
                                          <p:val>
                                            <p:fltVal val="0"/>
                                          </p:val>
                                        </p:tav>
                                        <p:tav tm="100000">
                                          <p:val>
                                            <p:strVal val="#ppt_w"/>
                                          </p:val>
                                        </p:tav>
                                      </p:tavLst>
                                    </p:anim>
                                    <p:anim calcmode="lin" valueType="num">
                                      <p:cBhvr>
                                        <p:cTn id="56" dur="500" fill="hold"/>
                                        <p:tgtEl>
                                          <p:spTgt spid="96316"/>
                                        </p:tgtEl>
                                        <p:attrNameLst>
                                          <p:attrName>ppt_h</p:attrName>
                                        </p:attrNameLst>
                                      </p:cBhvr>
                                      <p:tavLst>
                                        <p:tav tm="0">
                                          <p:val>
                                            <p:strVal val="#ppt_h"/>
                                          </p:val>
                                        </p:tav>
                                        <p:tav tm="100000">
                                          <p:val>
                                            <p:strVal val="#ppt_h"/>
                                          </p:val>
                                        </p:tav>
                                      </p:tavLst>
                                    </p:anim>
                                  </p:childTnLst>
                                </p:cTn>
                              </p:par>
                            </p:childTnLst>
                          </p:cTn>
                        </p:par>
                        <p:par>
                          <p:cTn id="57" fill="hold">
                            <p:stCondLst>
                              <p:cond delay="500"/>
                            </p:stCondLst>
                            <p:childTnLst>
                              <p:par>
                                <p:cTn id="58" presetID="9" presetClass="entr" presetSubtype="0" fill="hold"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dissolve">
                                      <p:cBhvr>
                                        <p:cTn id="60" dur="500"/>
                                        <p:tgtEl>
                                          <p:spTgt spid="4"/>
                                        </p:tgtEl>
                                      </p:cBhvr>
                                    </p:animEffect>
                                  </p:childTnLst>
                                </p:cTn>
                              </p:par>
                            </p:childTnLst>
                          </p:cTn>
                        </p:par>
                        <p:par>
                          <p:cTn id="61" fill="hold">
                            <p:stCondLst>
                              <p:cond delay="1000"/>
                            </p:stCondLst>
                            <p:childTnLst>
                              <p:par>
                                <p:cTn id="62" presetID="9" presetClass="entr" presetSubtype="0" fill="hold" nodeType="after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dissolve">
                                      <p:cBhvr>
                                        <p:cTn id="6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88" grpId="0" autoUpdateAnimBg="0"/>
      <p:bldP spid="96307" grpId="0" autoUpdateAnimBg="0"/>
      <p:bldP spid="96308" grpId="0" bldLvl="0" animBg="1"/>
      <p:bldP spid="96316"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7" name="Rectangle 7"/>
          <p:cNvSpPr>
            <a:spLocks noChangeArrowheads="1"/>
          </p:cNvSpPr>
          <p:nvPr/>
        </p:nvSpPr>
        <p:spPr bwMode="auto">
          <a:xfrm>
            <a:off x="815340" y="980440"/>
            <a:ext cx="672401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b="1" dirty="0">
                <a:solidFill>
                  <a:srgbClr val="003399"/>
                </a:solidFill>
                <a:ea typeface="宋体" panose="02010600030101010101" pitchFamily="2" charset="-122"/>
              </a:rPr>
              <a:t>螺母材料的强度低于螺杆、校核螺母的螺纹</a:t>
            </a:r>
            <a:endParaRPr lang="zh-CN" altLang="en-US" b="1" dirty="0">
              <a:solidFill>
                <a:srgbClr val="003399"/>
              </a:solidFill>
              <a:ea typeface="宋体" panose="02010600030101010101" pitchFamily="2" charset="-122"/>
            </a:endParaRPr>
          </a:p>
        </p:txBody>
      </p:sp>
      <p:graphicFrame>
        <p:nvGraphicFramePr>
          <p:cNvPr id="113665" name="Object 1"/>
          <p:cNvGraphicFramePr>
            <a:graphicFrameLocks noChangeAspect="1"/>
          </p:cNvGraphicFramePr>
          <p:nvPr/>
        </p:nvGraphicFramePr>
        <p:xfrm>
          <a:off x="1002030" y="2434273"/>
          <a:ext cx="4095750" cy="735965"/>
        </p:xfrm>
        <a:graphic>
          <a:graphicData uri="http://schemas.openxmlformats.org/presentationml/2006/ole">
            <mc:AlternateContent xmlns:mc="http://schemas.openxmlformats.org/markup-compatibility/2006">
              <mc:Choice xmlns:v="urn:schemas-microsoft-com:vml" Requires="v">
                <p:oleObj spid="_x0000_s12407" name="公式" r:id="rId1" imgW="2501900" imgH="431800" progId="Equation.3">
                  <p:embed/>
                </p:oleObj>
              </mc:Choice>
              <mc:Fallback>
                <p:oleObj name="公式" r:id="rId1" imgW="2501900" imgH="431800" progId="Equation.3">
                  <p:embed/>
                  <p:pic>
                    <p:nvPicPr>
                      <p:cNvPr id="0" name="图片 12406"/>
                      <p:cNvPicPr>
                        <a:picLocks noChangeAspect="1" noChangeArrowheads="1"/>
                      </p:cNvPicPr>
                      <p:nvPr/>
                    </p:nvPicPr>
                    <p:blipFill>
                      <a:blip r:embed="rId2"/>
                      <a:srcRect/>
                      <a:stretch>
                        <a:fillRect/>
                      </a:stretch>
                    </p:blipFill>
                    <p:spPr bwMode="auto">
                      <a:xfrm>
                        <a:off x="1002030" y="2434273"/>
                        <a:ext cx="4095750" cy="73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32" name="Rectangle 12"/>
          <p:cNvSpPr>
            <a:spLocks noChangeArrowheads="1"/>
          </p:cNvSpPr>
          <p:nvPr/>
        </p:nvSpPr>
        <p:spPr bwMode="auto">
          <a:xfrm>
            <a:off x="619760" y="339408"/>
            <a:ext cx="36880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dirty="0" smtClean="0">
                <a:solidFill>
                  <a:srgbClr val="0000FF"/>
                </a:solidFill>
                <a:latin typeface="黑体" panose="02010609060101010101" pitchFamily="2" charset="-122"/>
              </a:rPr>
              <a:t>2</a:t>
            </a:r>
            <a:r>
              <a:rPr lang="zh-CN" altLang="en-US" dirty="0" smtClean="0">
                <a:solidFill>
                  <a:srgbClr val="0000FF"/>
                </a:solidFill>
                <a:latin typeface="黑体" panose="02010609060101010101" pitchFamily="2" charset="-122"/>
              </a:rPr>
              <a:t>、螺母</a:t>
            </a:r>
            <a:r>
              <a:rPr lang="zh-CN" altLang="en-US" dirty="0" smtClean="0">
                <a:solidFill>
                  <a:srgbClr val="0000FF"/>
                </a:solidFill>
                <a:latin typeface="黑体" panose="02010609060101010101" pitchFamily="2" charset="-122"/>
              </a:rPr>
              <a:t>螺纹</a:t>
            </a:r>
            <a:r>
              <a:rPr lang="zh-CN" altLang="en-US" dirty="0">
                <a:solidFill>
                  <a:srgbClr val="0000FF"/>
                </a:solidFill>
                <a:latin typeface="黑体" panose="02010609060101010101" pitchFamily="2" charset="-122"/>
              </a:rPr>
              <a:t>牙的强度校核</a:t>
            </a:r>
            <a:endParaRPr lang="zh-CN" altLang="en-US" dirty="0">
              <a:solidFill>
                <a:srgbClr val="0000FF"/>
              </a:solidFill>
              <a:latin typeface="黑体" panose="02010609060101010101" pitchFamily="2" charset="-122"/>
            </a:endParaRPr>
          </a:p>
        </p:txBody>
      </p:sp>
      <p:sp>
        <p:nvSpPr>
          <p:cNvPr id="107534" name="Rectangle 14"/>
          <p:cNvSpPr>
            <a:spLocks noChangeArrowheads="1"/>
          </p:cNvSpPr>
          <p:nvPr/>
        </p:nvSpPr>
        <p:spPr bwMode="auto">
          <a:xfrm>
            <a:off x="741493" y="1440535"/>
            <a:ext cx="554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力学模型：将螺母的一圈螺纹牙展开</a:t>
            </a:r>
            <a:r>
              <a:rPr lang="en-US" altLang="zh-CN" sz="2000" b="1" dirty="0">
                <a:solidFill>
                  <a:srgbClr val="003399"/>
                </a:solidFill>
                <a:ea typeface="宋体" panose="02010600030101010101" pitchFamily="2" charset="-122"/>
              </a:rPr>
              <a:t>——</a:t>
            </a:r>
            <a:r>
              <a:rPr lang="zh-CN" altLang="en-US" sz="2000" b="1" dirty="0">
                <a:solidFill>
                  <a:srgbClr val="003399"/>
                </a:solidFill>
                <a:ea typeface="宋体" panose="02010600030101010101" pitchFamily="2" charset="-122"/>
              </a:rPr>
              <a:t>悬臂梁</a:t>
            </a:r>
            <a:endParaRPr lang="zh-CN" altLang="en-US" sz="2000" b="1" dirty="0">
              <a:solidFill>
                <a:srgbClr val="003399"/>
              </a:solidFill>
              <a:ea typeface="宋体" panose="02010600030101010101" pitchFamily="2" charset="-122"/>
            </a:endParaRPr>
          </a:p>
        </p:txBody>
      </p:sp>
      <p:sp>
        <p:nvSpPr>
          <p:cNvPr id="107535" name="Rectangle 15"/>
          <p:cNvSpPr>
            <a:spLocks noChangeArrowheads="1"/>
          </p:cNvSpPr>
          <p:nvPr/>
        </p:nvSpPr>
        <p:spPr bwMode="auto">
          <a:xfrm>
            <a:off x="619797" y="1974645"/>
            <a:ext cx="37566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螺纹牙弯曲疲劳强度校核公式：</a:t>
            </a:r>
            <a:endParaRPr lang="zh-CN" altLang="en-US" sz="2000" b="1">
              <a:solidFill>
                <a:srgbClr val="003399"/>
              </a:solidFill>
              <a:ea typeface="宋体" panose="02010600030101010101" pitchFamily="2" charset="-122"/>
            </a:endParaRPr>
          </a:p>
        </p:txBody>
      </p:sp>
      <p:sp>
        <p:nvSpPr>
          <p:cNvPr id="107536" name="Rectangle 16"/>
          <p:cNvSpPr>
            <a:spLocks noChangeArrowheads="1"/>
          </p:cNvSpPr>
          <p:nvPr/>
        </p:nvSpPr>
        <p:spPr bwMode="auto">
          <a:xfrm>
            <a:off x="566906" y="3230936"/>
            <a:ext cx="35013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螺纹牙剪切强度校核公式为：</a:t>
            </a:r>
            <a:endParaRPr lang="zh-CN" altLang="en-US" sz="2000" b="1" dirty="0">
              <a:solidFill>
                <a:srgbClr val="003399"/>
              </a:solidFill>
              <a:ea typeface="宋体" panose="02010600030101010101" pitchFamily="2" charset="-122"/>
            </a:endParaRPr>
          </a:p>
        </p:txBody>
      </p:sp>
      <p:graphicFrame>
        <p:nvGraphicFramePr>
          <p:cNvPr id="113666" name="Object 2"/>
          <p:cNvGraphicFramePr>
            <a:graphicFrameLocks noChangeAspect="1"/>
          </p:cNvGraphicFramePr>
          <p:nvPr/>
        </p:nvGraphicFramePr>
        <p:xfrm>
          <a:off x="1485900" y="3629660"/>
          <a:ext cx="2818765" cy="654050"/>
        </p:xfrm>
        <a:graphic>
          <a:graphicData uri="http://schemas.openxmlformats.org/presentationml/2006/ole">
            <mc:AlternateContent xmlns:mc="http://schemas.openxmlformats.org/markup-compatibility/2006">
              <mc:Choice xmlns:v="urn:schemas-microsoft-com:vml" Requires="v">
                <p:oleObj spid="_x0000_s12408" name="公式" r:id="rId3" imgW="2032000" imgH="431800" progId="Equation.3">
                  <p:embed/>
                </p:oleObj>
              </mc:Choice>
              <mc:Fallback>
                <p:oleObj name="公式" r:id="rId3" imgW="2032000" imgH="431800" progId="Equation.3">
                  <p:embed/>
                  <p:pic>
                    <p:nvPicPr>
                      <p:cNvPr id="0" name="图片 12407"/>
                      <p:cNvPicPr>
                        <a:picLocks noChangeAspect="1" noChangeArrowheads="1"/>
                      </p:cNvPicPr>
                      <p:nvPr/>
                    </p:nvPicPr>
                    <p:blipFill>
                      <a:blip r:embed="rId4"/>
                      <a:srcRect/>
                      <a:stretch>
                        <a:fillRect/>
                      </a:stretch>
                    </p:blipFill>
                    <p:spPr bwMode="auto">
                      <a:xfrm>
                        <a:off x="1485900" y="3629660"/>
                        <a:ext cx="281876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6"/>
          <p:cNvGrpSpPr/>
          <p:nvPr/>
        </p:nvGrpSpPr>
        <p:grpSpPr bwMode="auto">
          <a:xfrm>
            <a:off x="619647" y="4349264"/>
            <a:ext cx="4603750" cy="1158875"/>
            <a:chOff x="881" y="3062"/>
            <a:chExt cx="2900" cy="730"/>
          </a:xfrm>
        </p:grpSpPr>
        <p:sp>
          <p:nvSpPr>
            <p:cNvPr id="22554" name="Rectangle 4"/>
            <p:cNvSpPr>
              <a:spLocks noChangeArrowheads="1"/>
            </p:cNvSpPr>
            <p:nvPr/>
          </p:nvSpPr>
          <p:spPr bwMode="auto">
            <a:xfrm>
              <a:off x="966" y="3274"/>
              <a:ext cx="12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为螺纹根部宽度</a:t>
              </a:r>
              <a:endParaRPr lang="zh-CN" altLang="en-US" sz="2000" b="1" dirty="0">
                <a:solidFill>
                  <a:srgbClr val="003399"/>
                </a:solidFill>
                <a:ea typeface="宋体" panose="02010600030101010101" pitchFamily="2" charset="-122"/>
              </a:endParaRPr>
            </a:p>
          </p:txBody>
        </p:sp>
        <p:graphicFrame>
          <p:nvGraphicFramePr>
            <p:cNvPr id="22555" name="Object 3"/>
            <p:cNvGraphicFramePr>
              <a:graphicFrameLocks noChangeAspect="1"/>
            </p:cNvGraphicFramePr>
            <p:nvPr/>
          </p:nvGraphicFramePr>
          <p:xfrm>
            <a:off x="881" y="3312"/>
            <a:ext cx="127" cy="207"/>
          </p:xfrm>
          <a:graphic>
            <a:graphicData uri="http://schemas.openxmlformats.org/presentationml/2006/ole">
              <mc:AlternateContent xmlns:mc="http://schemas.openxmlformats.org/markup-compatibility/2006">
                <mc:Choice xmlns:v="urn:schemas-microsoft-com:vml" Requires="v">
                  <p:oleObj spid="_x0000_s12409" name="Equation" r:id="rId5" imgW="127000" imgH="177165" progId="Equation.3">
                    <p:embed/>
                  </p:oleObj>
                </mc:Choice>
                <mc:Fallback>
                  <p:oleObj name="Equation" r:id="rId5" imgW="127000" imgH="177165" progId="Equation.3">
                    <p:embed/>
                    <p:pic>
                      <p:nvPicPr>
                        <p:cNvPr id="0" name="图片 1240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1" y="3312"/>
                          <a:ext cx="12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56" name="Object 4"/>
            <p:cNvGraphicFramePr>
              <a:graphicFrameLocks noChangeAspect="1"/>
            </p:cNvGraphicFramePr>
            <p:nvPr/>
          </p:nvGraphicFramePr>
          <p:xfrm>
            <a:off x="3040" y="3095"/>
            <a:ext cx="560" cy="207"/>
          </p:xfrm>
          <a:graphic>
            <a:graphicData uri="http://schemas.openxmlformats.org/presentationml/2006/ole">
              <mc:AlternateContent xmlns:mc="http://schemas.openxmlformats.org/markup-compatibility/2006">
                <mc:Choice xmlns:v="urn:schemas-microsoft-com:vml" Requires="v">
                  <p:oleObj spid="_x0000_s12410" name="Equation" r:id="rId7" imgW="558800" imgH="177800" progId="Equation.3">
                    <p:embed/>
                  </p:oleObj>
                </mc:Choice>
                <mc:Fallback>
                  <p:oleObj name="Equation" r:id="rId7" imgW="558800" imgH="177800" progId="Equation.3">
                    <p:embed/>
                    <p:pic>
                      <p:nvPicPr>
                        <p:cNvPr id="0" name="图片 1240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0" y="3095"/>
                          <a:ext cx="56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57" name="Rectangle 27"/>
            <p:cNvSpPr>
              <a:spLocks noChangeArrowheads="1"/>
            </p:cNvSpPr>
            <p:nvPr/>
          </p:nvSpPr>
          <p:spPr bwMode="auto">
            <a:xfrm>
              <a:off x="2304" y="3062"/>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矩形螺纹</a:t>
              </a:r>
              <a:endParaRPr lang="zh-CN" altLang="en-US" sz="2000" b="1" dirty="0">
                <a:solidFill>
                  <a:srgbClr val="003399"/>
                </a:solidFill>
                <a:ea typeface="宋体" panose="02010600030101010101" pitchFamily="2" charset="-122"/>
              </a:endParaRPr>
            </a:p>
          </p:txBody>
        </p:sp>
        <p:graphicFrame>
          <p:nvGraphicFramePr>
            <p:cNvPr id="22558" name="Object 5"/>
            <p:cNvGraphicFramePr>
              <a:graphicFrameLocks noChangeAspect="1"/>
            </p:cNvGraphicFramePr>
            <p:nvPr/>
          </p:nvGraphicFramePr>
          <p:xfrm>
            <a:off x="3060" y="3310"/>
            <a:ext cx="636" cy="206"/>
          </p:xfrm>
          <a:graphic>
            <a:graphicData uri="http://schemas.openxmlformats.org/presentationml/2006/ole">
              <mc:AlternateContent xmlns:mc="http://schemas.openxmlformats.org/markup-compatibility/2006">
                <mc:Choice xmlns:v="urn:schemas-microsoft-com:vml" Requires="v">
                  <p:oleObj spid="_x0000_s12411" name="Equation" r:id="rId9" imgW="634365" imgH="177800" progId="Equation.3">
                    <p:embed/>
                  </p:oleObj>
                </mc:Choice>
                <mc:Fallback>
                  <p:oleObj name="Equation" r:id="rId9" imgW="634365" imgH="177800" progId="Equation.3">
                    <p:embed/>
                    <p:pic>
                      <p:nvPicPr>
                        <p:cNvPr id="0" name="图片 124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 y="3310"/>
                          <a:ext cx="63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59" name="Rectangle 28"/>
            <p:cNvSpPr>
              <a:spLocks noChangeArrowheads="1"/>
            </p:cNvSpPr>
            <p:nvPr/>
          </p:nvSpPr>
          <p:spPr bwMode="auto">
            <a:xfrm>
              <a:off x="2304" y="3310"/>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梯形螺纹</a:t>
              </a:r>
              <a:endParaRPr lang="zh-CN" altLang="en-US" sz="2000" b="1" dirty="0">
                <a:solidFill>
                  <a:srgbClr val="003399"/>
                </a:solidFill>
                <a:ea typeface="宋体" panose="02010600030101010101" pitchFamily="2" charset="-122"/>
              </a:endParaRPr>
            </a:p>
          </p:txBody>
        </p:sp>
        <p:graphicFrame>
          <p:nvGraphicFramePr>
            <p:cNvPr id="22560" name="Object 6"/>
            <p:cNvGraphicFramePr>
              <a:graphicFrameLocks noChangeAspect="1"/>
            </p:cNvGraphicFramePr>
            <p:nvPr/>
          </p:nvGraphicFramePr>
          <p:xfrm>
            <a:off x="3145" y="3542"/>
            <a:ext cx="636" cy="206"/>
          </p:xfrm>
          <a:graphic>
            <a:graphicData uri="http://schemas.openxmlformats.org/presentationml/2006/ole">
              <mc:AlternateContent xmlns:mc="http://schemas.openxmlformats.org/markup-compatibility/2006">
                <mc:Choice xmlns:v="urn:schemas-microsoft-com:vml" Requires="v">
                  <p:oleObj spid="_x0000_s12412" name="Equation" r:id="rId11" imgW="634365" imgH="177800" progId="Equation.3">
                    <p:embed/>
                  </p:oleObj>
                </mc:Choice>
                <mc:Fallback>
                  <p:oleObj name="Equation" r:id="rId11" imgW="634365" imgH="177800" progId="Equation.3">
                    <p:embed/>
                    <p:pic>
                      <p:nvPicPr>
                        <p:cNvPr id="0" name="图片 124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45" y="3542"/>
                          <a:ext cx="63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61" name="Rectangle 29"/>
            <p:cNvSpPr>
              <a:spLocks noChangeArrowheads="1"/>
            </p:cNvSpPr>
            <p:nvPr/>
          </p:nvSpPr>
          <p:spPr bwMode="auto">
            <a:xfrm>
              <a:off x="2293" y="3542"/>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锯齿形螺纹</a:t>
              </a:r>
              <a:endParaRPr lang="zh-CN" altLang="en-US" sz="2000" b="1" dirty="0">
                <a:solidFill>
                  <a:srgbClr val="003399"/>
                </a:solidFill>
                <a:ea typeface="宋体" panose="02010600030101010101" pitchFamily="2" charset="-122"/>
              </a:endParaRPr>
            </a:p>
          </p:txBody>
        </p:sp>
        <p:sp>
          <p:nvSpPr>
            <p:cNvPr id="22562" name="AutoShape 34"/>
            <p:cNvSpPr/>
            <p:nvPr/>
          </p:nvSpPr>
          <p:spPr bwMode="auto">
            <a:xfrm>
              <a:off x="2208" y="3158"/>
              <a:ext cx="38" cy="501"/>
            </a:xfrm>
            <a:prstGeom prst="leftBrace">
              <a:avLst>
                <a:gd name="adj1" fmla="val 75000"/>
                <a:gd name="adj2" fmla="val 50000"/>
              </a:avLst>
            </a:prstGeom>
            <a:noFill/>
            <a:ln w="19050">
              <a:solidFill>
                <a:srgbClr val="003399"/>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endParaRPr lang="zh-CN" altLang="en-US"/>
            </a:p>
          </p:txBody>
        </p:sp>
      </p:grpSp>
      <p:grpSp>
        <p:nvGrpSpPr>
          <p:cNvPr id="3" name="Group 35"/>
          <p:cNvGrpSpPr/>
          <p:nvPr/>
        </p:nvGrpSpPr>
        <p:grpSpPr bwMode="auto">
          <a:xfrm>
            <a:off x="787979" y="5724507"/>
            <a:ext cx="3351213" cy="398462"/>
            <a:chOff x="863" y="3802"/>
            <a:chExt cx="2111" cy="251"/>
          </a:xfrm>
        </p:grpSpPr>
        <p:graphicFrame>
          <p:nvGraphicFramePr>
            <p:cNvPr id="22551" name="Object 7"/>
            <p:cNvGraphicFramePr>
              <a:graphicFrameLocks noChangeAspect="1"/>
            </p:cNvGraphicFramePr>
            <p:nvPr/>
          </p:nvGraphicFramePr>
          <p:xfrm>
            <a:off x="1916" y="3802"/>
            <a:ext cx="1058" cy="251"/>
          </p:xfrm>
          <a:graphic>
            <a:graphicData uri="http://schemas.openxmlformats.org/presentationml/2006/ole">
              <mc:AlternateContent xmlns:mc="http://schemas.openxmlformats.org/markup-compatibility/2006">
                <mc:Choice xmlns:v="urn:schemas-microsoft-com:vml" Requires="v">
                  <p:oleObj spid="_x0000_s12413" name="Equation" r:id="rId13" imgW="1054100" imgH="215900" progId="Equation.3">
                    <p:embed/>
                  </p:oleObj>
                </mc:Choice>
                <mc:Fallback>
                  <p:oleObj name="Equation" r:id="rId13" imgW="1054100" imgH="215900" progId="Equation.3">
                    <p:embed/>
                    <p:pic>
                      <p:nvPicPr>
                        <p:cNvPr id="0" name="图片 12412"/>
                        <p:cNvPicPr>
                          <a:picLocks noChangeAspect="1" noChangeArrowheads="1"/>
                        </p:cNvPicPr>
                        <p:nvPr/>
                      </p:nvPicPr>
                      <p:blipFill>
                        <a:blip r:embed="rId14"/>
                        <a:srcRect/>
                        <a:stretch>
                          <a:fillRect/>
                        </a:stretch>
                      </p:blipFill>
                      <p:spPr bwMode="auto">
                        <a:xfrm>
                          <a:off x="1916" y="3802"/>
                          <a:ext cx="105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52" name="Object 8"/>
            <p:cNvGraphicFramePr>
              <a:graphicFrameLocks noChangeAspect="1"/>
            </p:cNvGraphicFramePr>
            <p:nvPr/>
          </p:nvGraphicFramePr>
          <p:xfrm>
            <a:off x="863" y="3857"/>
            <a:ext cx="127" cy="163"/>
          </p:xfrm>
          <a:graphic>
            <a:graphicData uri="http://schemas.openxmlformats.org/presentationml/2006/ole">
              <mc:AlternateContent xmlns:mc="http://schemas.openxmlformats.org/markup-compatibility/2006">
                <mc:Choice xmlns:v="urn:schemas-microsoft-com:vml" Requires="v">
                  <p:oleObj spid="_x0000_s12414" name="Equation" r:id="rId15" imgW="127000" imgH="139700" progId="Equation.3">
                    <p:embed/>
                  </p:oleObj>
                </mc:Choice>
                <mc:Fallback>
                  <p:oleObj name="Equation" r:id="rId15" imgW="127000" imgH="139700" progId="Equation.3">
                    <p:embed/>
                    <p:pic>
                      <p:nvPicPr>
                        <p:cNvPr id="0" name="图片 12413"/>
                        <p:cNvPicPr>
                          <a:picLocks noChangeAspect="1" noChangeArrowheads="1"/>
                        </p:cNvPicPr>
                        <p:nvPr/>
                      </p:nvPicPr>
                      <p:blipFill>
                        <a:blip r:embed="rId16"/>
                        <a:srcRect/>
                        <a:stretch>
                          <a:fillRect/>
                        </a:stretch>
                      </p:blipFill>
                      <p:spPr bwMode="auto">
                        <a:xfrm>
                          <a:off x="863" y="3857"/>
                          <a:ext cx="12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53" name="Rectangle 33"/>
            <p:cNvSpPr>
              <a:spLocks noChangeArrowheads="1"/>
            </p:cNvSpPr>
            <p:nvPr/>
          </p:nvSpPr>
          <p:spPr bwMode="auto">
            <a:xfrm>
              <a:off x="990" y="3802"/>
              <a:ext cx="9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a:solidFill>
                    <a:srgbClr val="003399"/>
                  </a:solidFill>
                  <a:ea typeface="宋体" panose="02010600030101010101" pitchFamily="2" charset="-122"/>
                </a:rPr>
                <a:t>为弯曲力臂</a:t>
              </a:r>
              <a:endParaRPr lang="zh-CN" altLang="en-US" sz="2000" b="1">
                <a:solidFill>
                  <a:srgbClr val="003399"/>
                </a:solidFill>
                <a:ea typeface="宋体" panose="02010600030101010101" pitchFamily="2" charset="-122"/>
              </a:endParaRPr>
            </a:p>
          </p:txBody>
        </p:sp>
      </p:grpSp>
      <p:cxnSp>
        <p:nvCxnSpPr>
          <p:cNvPr id="5" name="直接连接符 4"/>
          <p:cNvCxnSpPr/>
          <p:nvPr/>
        </p:nvCxnSpPr>
        <p:spPr>
          <a:xfrm>
            <a:off x="271780" y="819150"/>
            <a:ext cx="8638540" cy="0"/>
          </a:xfrm>
          <a:prstGeom prst="line">
            <a:avLst/>
          </a:prstGeom>
          <a:ln w="50800" cmpd="thickThi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a:blip r:embed="rId17"/>
          <a:stretch>
            <a:fillRect/>
          </a:stretch>
        </p:blipFill>
        <p:spPr>
          <a:xfrm>
            <a:off x="5624195" y="1995170"/>
            <a:ext cx="3286125" cy="2870200"/>
          </a:xfrm>
          <a:prstGeom prst="rect">
            <a:avLst/>
          </a:prstGeom>
          <a:noFill/>
          <a:ln w="9525">
            <a:noFill/>
          </a:ln>
        </p:spPr>
      </p:pic>
      <p:pic>
        <p:nvPicPr>
          <p:cNvPr id="13323" name="图片 1073742872" descr="44303071dc0a1f9688d599dbc999570副本"/>
          <p:cNvPicPr>
            <a:picLocks noChangeAspect="1"/>
          </p:cNvPicPr>
          <p:nvPr/>
        </p:nvPicPr>
        <p:blipFill>
          <a:blip r:embed="rId18"/>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32"/>
                                        </p:tgtEl>
                                        <p:attrNameLst>
                                          <p:attrName>style.visibility</p:attrName>
                                        </p:attrNameLst>
                                      </p:cBhvr>
                                      <p:to>
                                        <p:strVal val="visible"/>
                                      </p:to>
                                    </p:set>
                                    <p:animEffect transition="in" filter="dissolve">
                                      <p:cBhvr>
                                        <p:cTn id="7" dur="500"/>
                                        <p:tgtEl>
                                          <p:spTgt spid="1075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7527"/>
                                        </p:tgtEl>
                                        <p:attrNameLst>
                                          <p:attrName>style.visibility</p:attrName>
                                        </p:attrNameLst>
                                      </p:cBhvr>
                                      <p:to>
                                        <p:strVal val="visible"/>
                                      </p:to>
                                    </p:set>
                                    <p:animEffect transition="in" filter="dissolve">
                                      <p:cBhvr>
                                        <p:cTn id="12" dur="500"/>
                                        <p:tgtEl>
                                          <p:spTgt spid="1075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7534"/>
                                        </p:tgtEl>
                                        <p:attrNameLst>
                                          <p:attrName>style.visibility</p:attrName>
                                        </p:attrNameLst>
                                      </p:cBhvr>
                                      <p:to>
                                        <p:strVal val="visible"/>
                                      </p:to>
                                    </p:set>
                                    <p:animEffect transition="in" filter="dissolve">
                                      <p:cBhvr>
                                        <p:cTn id="17" dur="500"/>
                                        <p:tgtEl>
                                          <p:spTgt spid="1075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7535"/>
                                        </p:tgtEl>
                                        <p:attrNameLst>
                                          <p:attrName>style.visibility</p:attrName>
                                        </p:attrNameLst>
                                      </p:cBhvr>
                                      <p:to>
                                        <p:strVal val="visible"/>
                                      </p:to>
                                    </p:set>
                                    <p:animEffect transition="in" filter="dissolve">
                                      <p:cBhvr>
                                        <p:cTn id="22" dur="500"/>
                                        <p:tgtEl>
                                          <p:spTgt spid="107535"/>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113665"/>
                                        </p:tgtEl>
                                        <p:attrNameLst>
                                          <p:attrName>style.visibility</p:attrName>
                                        </p:attrNameLst>
                                      </p:cBhvr>
                                      <p:to>
                                        <p:strVal val="visible"/>
                                      </p:to>
                                    </p:set>
                                    <p:animEffect transition="in" filter="dissolve">
                                      <p:cBhvr>
                                        <p:cTn id="26" dur="500"/>
                                        <p:tgtEl>
                                          <p:spTgt spid="11366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7536"/>
                                        </p:tgtEl>
                                        <p:attrNameLst>
                                          <p:attrName>style.visibility</p:attrName>
                                        </p:attrNameLst>
                                      </p:cBhvr>
                                      <p:to>
                                        <p:strVal val="visible"/>
                                      </p:to>
                                    </p:set>
                                    <p:animEffect transition="in" filter="dissolve">
                                      <p:cBhvr>
                                        <p:cTn id="31" dur="500"/>
                                        <p:tgtEl>
                                          <p:spTgt spid="107536"/>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113666"/>
                                        </p:tgtEl>
                                        <p:attrNameLst>
                                          <p:attrName>style.visibility</p:attrName>
                                        </p:attrNameLst>
                                      </p:cBhvr>
                                      <p:to>
                                        <p:strVal val="visible"/>
                                      </p:to>
                                    </p:set>
                                    <p:animEffect transition="in" filter="dissolve">
                                      <p:cBhvr>
                                        <p:cTn id="35" dur="500"/>
                                        <p:tgtEl>
                                          <p:spTgt spid="11366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dissolve">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dissolve">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1000"/>
                                        <p:tgtEl>
                                          <p:spTgt spid="24"/>
                                        </p:tgtEl>
                                      </p:cBhvr>
                                    </p:animEffect>
                                    <p:anim calcmode="lin" valueType="num">
                                      <p:cBhvr>
                                        <p:cTn id="51" dur="1000" fill="hold"/>
                                        <p:tgtEl>
                                          <p:spTgt spid="24"/>
                                        </p:tgtEl>
                                        <p:attrNameLst>
                                          <p:attrName>ppt_x</p:attrName>
                                        </p:attrNameLst>
                                      </p:cBhvr>
                                      <p:tavLst>
                                        <p:tav tm="0">
                                          <p:val>
                                            <p:strVal val="#ppt_x"/>
                                          </p:val>
                                        </p:tav>
                                        <p:tav tm="100000">
                                          <p:val>
                                            <p:strVal val="#ppt_x"/>
                                          </p:val>
                                        </p:tav>
                                      </p:tavLst>
                                    </p:anim>
                                    <p:anim calcmode="lin" valueType="num">
                                      <p:cBhvr>
                                        <p:cTn id="5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7" grpId="0" autoUpdateAnimBg="0"/>
      <p:bldP spid="107532" grpId="0" autoUpdateAnimBg="0"/>
      <p:bldP spid="107534" grpId="0" autoUpdateAnimBg="0"/>
      <p:bldP spid="107535" grpId="0" autoUpdateAnimBg="0"/>
      <p:bldP spid="10753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Rectangle 3"/>
          <p:cNvSpPr/>
          <p:nvPr/>
        </p:nvSpPr>
        <p:spPr>
          <a:xfrm>
            <a:off x="890588" y="36513"/>
            <a:ext cx="4900612" cy="533400"/>
          </a:xfrm>
          <a:prstGeom prst="rect">
            <a:avLst/>
          </a:prstGeom>
          <a:noFill/>
          <a:ln w="9525">
            <a:noFill/>
          </a:ln>
        </p:spPr>
        <p:txBody>
          <a:bodyPr tIns="18000" anchor="ctr" anchorCtr="1"/>
          <a:p>
            <a:pPr eaLnBrk="1" hangingPunct="1"/>
            <a:r>
              <a:rPr lang="zh-CN" altLang="en-US" sz="2800" dirty="0">
                <a:solidFill>
                  <a:schemeClr val="bg1"/>
                </a:solidFill>
                <a:latin typeface="Times New Roman" panose="02020603050405020304" pitchFamily="18" charset="0"/>
                <a:ea typeface="黑体" panose="02010609060101010101" pitchFamily="2" charset="-122"/>
              </a:rPr>
              <a:t>滑动螺旋传动的设计计算分析</a:t>
            </a:r>
            <a:endParaRPr lang="zh-CN" altLang="en-US" sz="2800" dirty="0">
              <a:solidFill>
                <a:schemeClr val="bg1"/>
              </a:solidFill>
              <a:latin typeface="黑体" panose="02010609060101010101" pitchFamily="2" charset="-122"/>
              <a:ea typeface="黑体" panose="02010609060101010101" pitchFamily="2" charset="-122"/>
            </a:endParaRPr>
          </a:p>
        </p:txBody>
      </p:sp>
      <p:pic>
        <p:nvPicPr>
          <p:cNvPr id="35853" name="Picture 13" descr="rewind1">
            <a:hlinkClick r:id="rId1" action="ppaction://hlinksldjump"/>
          </p:cNvPr>
          <p:cNvPicPr>
            <a:picLocks noChangeAspect="1"/>
          </p:cNvPicPr>
          <p:nvPr/>
        </p:nvPicPr>
        <p:blipFill>
          <a:blip r:embed="rId2"/>
          <a:stretch>
            <a:fillRect/>
          </a:stretch>
        </p:blipFill>
        <p:spPr>
          <a:xfrm>
            <a:off x="8039100" y="6523038"/>
            <a:ext cx="287338" cy="287337"/>
          </a:xfrm>
          <a:prstGeom prst="rect">
            <a:avLst/>
          </a:prstGeom>
          <a:noFill/>
          <a:ln w="9525">
            <a:noFill/>
          </a:ln>
        </p:spPr>
      </p:pic>
      <p:pic>
        <p:nvPicPr>
          <p:cNvPr id="35854" name="Picture 14" descr="back1">
            <a:hlinkClick r:id="" action="ppaction://hlinkshowjump?jump=previousslide"/>
          </p:cNvPr>
          <p:cNvPicPr>
            <a:picLocks noChangeAspect="1"/>
          </p:cNvPicPr>
          <p:nvPr/>
        </p:nvPicPr>
        <p:blipFill>
          <a:blip r:embed="rId3"/>
          <a:stretch>
            <a:fillRect/>
          </a:stretch>
        </p:blipFill>
        <p:spPr>
          <a:xfrm>
            <a:off x="8447088" y="6523038"/>
            <a:ext cx="287337" cy="287337"/>
          </a:xfrm>
          <a:prstGeom prst="rect">
            <a:avLst/>
          </a:prstGeom>
          <a:noFill/>
          <a:ln w="9525">
            <a:noFill/>
          </a:ln>
        </p:spPr>
      </p:pic>
      <p:pic>
        <p:nvPicPr>
          <p:cNvPr id="35855" name="Picture 15" descr="NEXT1">
            <a:hlinkClick r:id="" action="ppaction://hlinkshowjump?jump=nextslide"/>
          </p:cNvPr>
          <p:cNvPicPr>
            <a:picLocks noChangeAspect="1"/>
          </p:cNvPicPr>
          <p:nvPr/>
        </p:nvPicPr>
        <p:blipFill>
          <a:blip r:embed="rId4"/>
          <a:stretch>
            <a:fillRect/>
          </a:stretch>
        </p:blipFill>
        <p:spPr>
          <a:xfrm>
            <a:off x="8856663" y="6523038"/>
            <a:ext cx="287337" cy="287337"/>
          </a:xfrm>
          <a:prstGeom prst="rect">
            <a:avLst/>
          </a:prstGeom>
          <a:noFill/>
          <a:ln w="9525">
            <a:noFill/>
          </a:ln>
        </p:spPr>
      </p:pic>
      <p:sp>
        <p:nvSpPr>
          <p:cNvPr id="35862" name="Text Box 22"/>
          <p:cNvSpPr txBox="1"/>
          <p:nvPr/>
        </p:nvSpPr>
        <p:spPr>
          <a:xfrm>
            <a:off x="514985" y="286385"/>
            <a:ext cx="2773680" cy="460375"/>
          </a:xfrm>
          <a:prstGeom prst="rect">
            <a:avLst/>
          </a:prstGeom>
          <a:noFill/>
          <a:ln w="9525">
            <a:noFill/>
          </a:ln>
        </p:spPr>
        <p:txBody>
          <a:bodyPr wrap="none">
            <a:spAutoFit/>
          </a:bodyPr>
          <a:p>
            <a:pPr eaLnBrk="1" hangingPunct="1"/>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3</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rPr>
              <a:t>、螺杆的强度计算</a:t>
            </a:r>
            <a:endPar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5863" name="Text Box 23"/>
          <p:cNvSpPr txBox="1"/>
          <p:nvPr/>
        </p:nvSpPr>
        <p:spPr>
          <a:xfrm>
            <a:off x="305118" y="1223645"/>
            <a:ext cx="8172450" cy="977265"/>
          </a:xfrm>
          <a:prstGeom prst="rect">
            <a:avLst/>
          </a:prstGeom>
          <a:noFill/>
          <a:ln w="9525">
            <a:noFill/>
          </a:ln>
        </p:spPr>
        <p:txBody>
          <a:bodyPr>
            <a:spAutoFit/>
          </a:bodyPr>
          <a:p>
            <a:pPr>
              <a:lnSpc>
                <a:spcPct val="120000"/>
              </a:lnSpc>
              <a:spcBef>
                <a:spcPts val="0"/>
              </a:spcBef>
              <a:spcAft>
                <a:spcPts val="0"/>
              </a:spcAft>
            </a:pPr>
            <a:r>
              <a:rPr lang="en-US" altLang="zh-CN" sz="2000" dirty="0">
                <a:latin typeface="Tahoma" panose="020B0604030504040204" pitchFamily="34" charset="0"/>
              </a:rPr>
              <a:t>      </a:t>
            </a: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螺杆工作时受有</a:t>
            </a:r>
            <a:r>
              <a:rPr lang="zh-CN" altLang="zh-CN" sz="2400" dirty="0">
                <a:solidFill>
                  <a:srgbClr val="C00000"/>
                </a:solidFill>
                <a:latin typeface="黑体" panose="02010609060101010101" pitchFamily="2" charset="-122"/>
                <a:ea typeface="黑体" panose="02010609060101010101" pitchFamily="2" charset="-122"/>
                <a:cs typeface="黑体" panose="02010609060101010101" pitchFamily="2" charset="-122"/>
              </a:rPr>
              <a:t>轴向力</a:t>
            </a:r>
            <a:r>
              <a:rPr lang="en-US" altLang="zh-CN" sz="2400" dirty="0">
                <a:solidFill>
                  <a:srgbClr val="C00000"/>
                </a:solidFill>
                <a:latin typeface="黑体" panose="02010609060101010101" pitchFamily="2" charset="-122"/>
                <a:ea typeface="黑体" panose="02010609060101010101" pitchFamily="2" charset="-122"/>
                <a:cs typeface="黑体" panose="02010609060101010101" pitchFamily="2" charset="-122"/>
              </a:rPr>
              <a:t>F</a:t>
            </a: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和</a:t>
            </a:r>
            <a:r>
              <a:rPr lang="zh-CN" altLang="zh-CN" sz="2400" dirty="0">
                <a:solidFill>
                  <a:srgbClr val="C00000"/>
                </a:solidFill>
                <a:latin typeface="黑体" panose="02010609060101010101" pitchFamily="2" charset="-122"/>
                <a:ea typeface="黑体" panose="02010609060101010101" pitchFamily="2" charset="-122"/>
                <a:cs typeface="黑体" panose="02010609060101010101" pitchFamily="2" charset="-122"/>
              </a:rPr>
              <a:t>扭矩</a:t>
            </a:r>
            <a:r>
              <a:rPr lang="en-US" altLang="zh-CN" sz="2400" dirty="0">
                <a:solidFill>
                  <a:srgbClr val="C00000"/>
                </a:solidFill>
                <a:latin typeface="黑体" panose="02010609060101010101" pitchFamily="2" charset="-122"/>
                <a:ea typeface="黑体" panose="02010609060101010101" pitchFamily="2" charset="-122"/>
                <a:cs typeface="黑体" panose="02010609060101010101" pitchFamily="2" charset="-122"/>
              </a:rPr>
              <a:t>T</a:t>
            </a:r>
            <a:r>
              <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rPr>
              <a:t>。根据第四强度理论，螺杆危险断面螺纹根部的强度校核公式为：</a:t>
            </a:r>
            <a:endParaRPr lang="zh-CN" altLang="zh-CN" sz="24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35864" name="Text Box 24"/>
          <p:cNvSpPr txBox="1">
            <a:spLocks noRot="1" noChangeAspect="1" noMove="1" noResize="1" noEditPoints="1" noAdjustHandles="1" noChangeArrowheads="1" noChangeShapeType="1" noTextEdit="1"/>
          </p:cNvSpPr>
          <p:nvPr/>
        </p:nvSpPr>
        <p:spPr bwMode="auto">
          <a:xfrm>
            <a:off x="666992" y="4613662"/>
            <a:ext cx="7811210" cy="553998"/>
          </a:xfrm>
          <a:prstGeom prst="rect">
            <a:avLst/>
          </a:prstGeom>
          <a:blipFill>
            <a:blip r:embed="rId5"/>
            <a:stretch>
              <a:fillRect l="-859" b="-879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35866" name="Text Box 26"/>
          <p:cNvSpPr txBox="1"/>
          <p:nvPr/>
        </p:nvSpPr>
        <p:spPr>
          <a:xfrm>
            <a:off x="485458" y="3576003"/>
            <a:ext cx="7593012" cy="396875"/>
          </a:xfrm>
          <a:prstGeom prst="rect">
            <a:avLst/>
          </a:prstGeom>
          <a:noFill/>
          <a:ln w="9525">
            <a:noFill/>
          </a:ln>
        </p:spPr>
        <p:txBody>
          <a:bodyPr wrap="none">
            <a:spAutoFit/>
          </a:bodyPr>
          <a:p>
            <a:pPr eaLnBrk="1" hangingPunct="1"/>
            <a:r>
              <a:rPr lang="zh-CN" altLang="en-US" sz="2000" dirty="0">
                <a:solidFill>
                  <a:srgbClr val="000099"/>
                </a:solidFill>
                <a:latin typeface="Tahoma" panose="020B0604030504040204" pitchFamily="34" charset="0"/>
              </a:rPr>
              <a:t>式中，</a:t>
            </a:r>
            <a:r>
              <a:rPr lang="en-US" altLang="zh-CN" sz="2000" i="1" dirty="0">
                <a:solidFill>
                  <a:srgbClr val="000099"/>
                </a:solidFill>
                <a:latin typeface="Times New Roman" panose="02020603050405020304" pitchFamily="18" charset="0"/>
              </a:rPr>
              <a:t>F</a:t>
            </a:r>
            <a:r>
              <a:rPr lang="zh-CN" altLang="en-US" sz="2000" dirty="0">
                <a:solidFill>
                  <a:srgbClr val="000099"/>
                </a:solidFill>
                <a:latin typeface="Times New Roman" panose="02020603050405020304" pitchFamily="18" charset="0"/>
              </a:rPr>
              <a:t>为螺杆所受的轴向压力（或拉力），</a:t>
            </a:r>
            <a:r>
              <a:rPr lang="en-US" altLang="zh-CN" sz="2000" i="1" dirty="0">
                <a:solidFill>
                  <a:srgbClr val="000099"/>
                </a:solidFill>
                <a:latin typeface="Times New Roman" panose="02020603050405020304" pitchFamily="18" charset="0"/>
              </a:rPr>
              <a:t>T</a:t>
            </a:r>
            <a:r>
              <a:rPr lang="zh-CN" altLang="en-US" sz="2000" dirty="0">
                <a:solidFill>
                  <a:srgbClr val="000099"/>
                </a:solidFill>
                <a:latin typeface="Tahoma" panose="020B0604030504040204" pitchFamily="34" charset="0"/>
              </a:rPr>
              <a:t>为螺杆所受的扭矩，</a:t>
            </a:r>
            <a:endParaRPr lang="zh-CN" altLang="en-US" sz="2000" dirty="0">
              <a:solidFill>
                <a:srgbClr val="000099"/>
              </a:solidFill>
              <a:latin typeface="Tahoma" panose="020B0604030504040204" pitchFamily="34" charset="0"/>
            </a:endParaRPr>
          </a:p>
        </p:txBody>
      </p:sp>
      <p:sp>
        <p:nvSpPr>
          <p:cNvPr id="2" name="文本框 1"/>
          <p:cNvSpPr txBox="1">
            <a:spLocks noRot="1" noChangeAspect="1" noMove="1" noResize="1" noEditPoints="1" noAdjustHandles="1" noChangeArrowheads="1" noChangeShapeType="1" noTextEdit="1"/>
          </p:cNvSpPr>
          <p:nvPr/>
        </p:nvSpPr>
        <p:spPr>
          <a:xfrm>
            <a:off x="1227992" y="2527300"/>
            <a:ext cx="5630424" cy="909352"/>
          </a:xfrm>
          <a:prstGeom prst="rect">
            <a:avLst/>
          </a:prstGeom>
          <a:blipFill>
            <a:blip r:embed="rId6"/>
            <a:stretch>
              <a:fillRect/>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3" name="文本框 2"/>
          <p:cNvSpPr txBox="1">
            <a:spLocks noRot="1" noChangeAspect="1" noMove="1" noResize="1" noEditPoints="1" noAdjustHandles="1" noChangeArrowheads="1" noChangeShapeType="1" noTextEdit="1"/>
          </p:cNvSpPr>
          <p:nvPr/>
        </p:nvSpPr>
        <p:spPr>
          <a:xfrm>
            <a:off x="2156144" y="3973297"/>
            <a:ext cx="3248976" cy="640559"/>
          </a:xfrm>
          <a:prstGeom prst="rect">
            <a:avLst/>
          </a:prstGeom>
          <a:blipFill>
            <a:blip r:embed="rId7"/>
            <a:stretch>
              <a:fillRect/>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graphicFrame>
        <p:nvGraphicFramePr>
          <p:cNvPr id="77" name="Object 0"/>
          <p:cNvGraphicFramePr>
            <a:graphicFrameLocks noChangeAspect="1"/>
          </p:cNvGraphicFramePr>
          <p:nvPr/>
        </p:nvGraphicFramePr>
        <p:xfrm>
          <a:off x="1228052" y="5355068"/>
          <a:ext cx="5764213" cy="804863"/>
        </p:xfrm>
        <a:graphic>
          <a:graphicData uri="http://schemas.openxmlformats.org/presentationml/2006/ole">
            <mc:AlternateContent xmlns:mc="http://schemas.openxmlformats.org/markup-compatibility/2006">
              <mc:Choice xmlns:v="urn:schemas-microsoft-com:vml" Requires="v">
                <p:oleObj spid="_x0000_s11526" name="Equation" r:id="rId8" imgW="3632200" imgH="482600" progId="Equation.3">
                  <p:embed/>
                </p:oleObj>
              </mc:Choice>
              <mc:Fallback>
                <p:oleObj name="Equation" r:id="rId8" imgW="3632200" imgH="482600" progId="Equation.3">
                  <p:embed/>
                  <p:pic>
                    <p:nvPicPr>
                      <p:cNvPr id="0" name="图片 115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8052" y="5355068"/>
                        <a:ext cx="57642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323" name="图片 1073742872" descr="44303071dc0a1f9688d599dbc999570副本"/>
          <p:cNvPicPr>
            <a:picLocks noChangeAspect="1"/>
          </p:cNvPicPr>
          <p:nvPr/>
        </p:nvPicPr>
        <p:blipFill>
          <a:blip r:embed="rId10"/>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5853"/>
                                        </p:tgtEl>
                                        <p:attrNameLst>
                                          <p:attrName>style.visibility</p:attrName>
                                        </p:attrNameLst>
                                      </p:cBhvr>
                                      <p:to>
                                        <p:strVal val="visible"/>
                                      </p:to>
                                    </p:set>
                                    <p:anim calcmode="lin" valueType="num">
                                      <p:cBhvr additive="base">
                                        <p:cTn id="7" dur="500" fill="hold"/>
                                        <p:tgtEl>
                                          <p:spTgt spid="35853"/>
                                        </p:tgtEl>
                                        <p:attrNameLst>
                                          <p:attrName>ppt_x</p:attrName>
                                        </p:attrNameLst>
                                      </p:cBhvr>
                                      <p:tavLst>
                                        <p:tav tm="0">
                                          <p:val>
                                            <p:strVal val="0-#ppt_w/2"/>
                                          </p:val>
                                        </p:tav>
                                        <p:tav tm="100000">
                                          <p:val>
                                            <p:strVal val="#ppt_x"/>
                                          </p:val>
                                        </p:tav>
                                      </p:tavLst>
                                    </p:anim>
                                    <p:anim calcmode="lin" valueType="num">
                                      <p:cBhvr additive="base">
                                        <p:cTn id="8" dur="500" fill="hold"/>
                                        <p:tgtEl>
                                          <p:spTgt spid="358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35854"/>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358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5862"/>
                                        </p:tgtEl>
                                        <p:attrNameLst>
                                          <p:attrName>style.visibility</p:attrName>
                                        </p:attrNameLst>
                                      </p:cBhvr>
                                      <p:to>
                                        <p:strVal val="visible"/>
                                      </p:to>
                                    </p:set>
                                    <p:animEffect transition="in" filter="wipe(left)">
                                      <p:cBhvr>
                                        <p:cTn id="19" dur="500"/>
                                        <p:tgtEl>
                                          <p:spTgt spid="3586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63"/>
                                        </p:tgtEl>
                                        <p:attrNameLst>
                                          <p:attrName>style.visibility</p:attrName>
                                        </p:attrNameLst>
                                      </p:cBhvr>
                                      <p:to>
                                        <p:strVal val="visible"/>
                                      </p:to>
                                    </p:set>
                                    <p:animEffect transition="in" filter="wipe(left)">
                                      <p:cBhvr>
                                        <p:cTn id="24" dur="500"/>
                                        <p:tgtEl>
                                          <p:spTgt spid="3586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5866"/>
                                        </p:tgtEl>
                                        <p:attrNameLst>
                                          <p:attrName>style.visibility</p:attrName>
                                        </p:attrNameLst>
                                      </p:cBhvr>
                                      <p:to>
                                        <p:strVal val="visible"/>
                                      </p:to>
                                    </p:set>
                                    <p:animEffect transition="in" filter="wipe(left)">
                                      <p:cBhvr>
                                        <p:cTn id="34" dur="500"/>
                                        <p:tgtEl>
                                          <p:spTgt spid="3586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5864"/>
                                        </p:tgtEl>
                                        <p:attrNameLst>
                                          <p:attrName>style.visibility</p:attrName>
                                        </p:attrNameLst>
                                      </p:cBhvr>
                                      <p:to>
                                        <p:strVal val="visible"/>
                                      </p:to>
                                    </p:set>
                                    <p:animEffect transition="in" filter="wipe(left)">
                                      <p:cBhvr>
                                        <p:cTn id="44" dur="500"/>
                                        <p:tgtEl>
                                          <p:spTgt spid="35864"/>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dissolve">
                                      <p:cBhvr>
                                        <p:cTn id="4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P spid="35863" grpId="0"/>
      <p:bldP spid="3586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53" name="Picture 13" descr="rewind1">
            <a:hlinkClick r:id="rId1" action="ppaction://hlinksldjump"/>
          </p:cNvPr>
          <p:cNvPicPr>
            <a:picLocks noChangeAspect="1"/>
          </p:cNvPicPr>
          <p:nvPr/>
        </p:nvPicPr>
        <p:blipFill>
          <a:blip r:embed="rId2"/>
          <a:stretch>
            <a:fillRect/>
          </a:stretch>
        </p:blipFill>
        <p:spPr>
          <a:xfrm>
            <a:off x="8039100" y="6523038"/>
            <a:ext cx="287338" cy="287337"/>
          </a:xfrm>
          <a:prstGeom prst="rect">
            <a:avLst/>
          </a:prstGeom>
          <a:noFill/>
          <a:ln w="9525">
            <a:noFill/>
          </a:ln>
        </p:spPr>
      </p:pic>
      <p:pic>
        <p:nvPicPr>
          <p:cNvPr id="35854" name="Picture 14" descr="back1">
            <a:hlinkClick r:id="" action="ppaction://hlinkshowjump?jump=previousslide"/>
          </p:cNvPr>
          <p:cNvPicPr>
            <a:picLocks noChangeAspect="1"/>
          </p:cNvPicPr>
          <p:nvPr/>
        </p:nvPicPr>
        <p:blipFill>
          <a:blip r:embed="rId3"/>
          <a:stretch>
            <a:fillRect/>
          </a:stretch>
        </p:blipFill>
        <p:spPr>
          <a:xfrm>
            <a:off x="8447088" y="6523038"/>
            <a:ext cx="287337" cy="287337"/>
          </a:xfrm>
          <a:prstGeom prst="rect">
            <a:avLst/>
          </a:prstGeom>
          <a:noFill/>
          <a:ln w="9525">
            <a:noFill/>
          </a:ln>
        </p:spPr>
      </p:pic>
      <p:pic>
        <p:nvPicPr>
          <p:cNvPr id="35855" name="Picture 15" descr="NEXT1">
            <a:hlinkClick r:id="" action="ppaction://hlinkshowjump?jump=nextslide"/>
          </p:cNvPr>
          <p:cNvPicPr>
            <a:picLocks noChangeAspect="1"/>
          </p:cNvPicPr>
          <p:nvPr/>
        </p:nvPicPr>
        <p:blipFill>
          <a:blip r:embed="rId4"/>
          <a:stretch>
            <a:fillRect/>
          </a:stretch>
        </p:blipFill>
        <p:spPr>
          <a:xfrm>
            <a:off x="8856663" y="6523038"/>
            <a:ext cx="287337" cy="287337"/>
          </a:xfrm>
          <a:prstGeom prst="rect">
            <a:avLst/>
          </a:prstGeom>
          <a:noFill/>
          <a:ln w="9525">
            <a:noFill/>
          </a:ln>
        </p:spPr>
      </p:pic>
      <p:sp>
        <p:nvSpPr>
          <p:cNvPr id="35862" name="Text Box 22"/>
          <p:cNvSpPr txBox="1"/>
          <p:nvPr/>
        </p:nvSpPr>
        <p:spPr>
          <a:xfrm>
            <a:off x="676275" y="321628"/>
            <a:ext cx="2773680" cy="460375"/>
          </a:xfrm>
          <a:prstGeom prst="rect">
            <a:avLst/>
          </a:prstGeom>
          <a:noFill/>
          <a:ln w="9525">
            <a:noFill/>
          </a:ln>
        </p:spPr>
        <p:txBody>
          <a:bodyPr wrap="none">
            <a:spAutoFit/>
          </a:bodyPr>
          <a:p>
            <a:pPr eaLnBrk="1" hangingPunct="1"/>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4</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rPr>
              <a:t>、螺杆的刚度计算</a:t>
            </a:r>
            <a:endPar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5863" name="Text Box 23"/>
          <p:cNvSpPr txBox="1"/>
          <p:nvPr/>
        </p:nvSpPr>
        <p:spPr>
          <a:xfrm>
            <a:off x="417195" y="1038543"/>
            <a:ext cx="8172450" cy="1014730"/>
          </a:xfrm>
          <a:prstGeom prst="rect">
            <a:avLst/>
          </a:prstGeom>
          <a:noFill/>
          <a:ln w="9525">
            <a:noFill/>
          </a:ln>
        </p:spPr>
        <p:txBody>
          <a:bodyPr>
            <a:spAutoFit/>
          </a:bodyPr>
          <a:p>
            <a:pPr>
              <a:lnSpc>
                <a:spcPct val="150000"/>
              </a:lnSpc>
            </a:pPr>
            <a:r>
              <a:rPr lang="en-US" altLang="zh-CN" sz="2000" dirty="0">
                <a:solidFill>
                  <a:srgbClr val="000099"/>
                </a:solidFill>
                <a:latin typeface="Tahoma" panose="020B0604030504040204" pitchFamily="34" charset="0"/>
              </a:rPr>
              <a:t>      </a:t>
            </a:r>
            <a:r>
              <a:rPr lang="zh-CN" altLang="zh-CN" sz="2000" b="1" dirty="0">
                <a:solidFill>
                  <a:srgbClr val="000099"/>
                </a:solidFill>
                <a:latin typeface="Tahoma" panose="020B0604030504040204" pitchFamily="34" charset="0"/>
              </a:rPr>
              <a:t>螺杆在轴向载荷</a:t>
            </a:r>
            <a:r>
              <a:rPr lang="en-US" altLang="zh-CN" sz="2000" b="1" dirty="0">
                <a:solidFill>
                  <a:srgbClr val="000099"/>
                </a:solidFill>
                <a:latin typeface="Tahoma" panose="020B0604030504040204" pitchFamily="34" charset="0"/>
              </a:rPr>
              <a:t>F</a:t>
            </a:r>
            <a:r>
              <a:rPr lang="zh-CN" altLang="zh-CN" sz="2000" b="1" dirty="0">
                <a:solidFill>
                  <a:srgbClr val="000099"/>
                </a:solidFill>
                <a:latin typeface="Tahoma" panose="020B0604030504040204" pitchFamily="34" charset="0"/>
              </a:rPr>
              <a:t>的作用下螺距会增大或减小，一个螺距因此而产生的弹性变形量为</a:t>
            </a:r>
            <a:r>
              <a:rPr lang="en-US" altLang="zh-CN" sz="2000" b="1" dirty="0">
                <a:solidFill>
                  <a:srgbClr val="000099"/>
                </a:solidFill>
                <a:latin typeface="Tahoma" panose="020B0604030504040204" pitchFamily="34" charset="0"/>
              </a:rPr>
              <a:t>:</a:t>
            </a:r>
            <a:endParaRPr lang="en-US" altLang="zh-CN" sz="2000" b="1" dirty="0">
              <a:solidFill>
                <a:srgbClr val="000099"/>
              </a:solidFill>
              <a:latin typeface="Tahoma" panose="020B0604030504040204" pitchFamily="34" charset="0"/>
            </a:endParaRPr>
          </a:p>
        </p:txBody>
      </p:sp>
      <p:sp>
        <p:nvSpPr>
          <p:cNvPr id="35866" name="Text Box 26"/>
          <p:cNvSpPr txBox="1">
            <a:spLocks noRot="1" noChangeAspect="1" noMove="1" noResize="1" noEditPoints="1" noAdjustHandles="1" noChangeArrowheads="1" noChangeShapeType="1" noTextEdit="1"/>
          </p:cNvSpPr>
          <p:nvPr/>
        </p:nvSpPr>
        <p:spPr bwMode="auto">
          <a:xfrm>
            <a:off x="417195" y="2310130"/>
            <a:ext cx="8172450" cy="1322070"/>
          </a:xfrm>
          <a:prstGeom prst="rect">
            <a:avLst/>
          </a:prstGeom>
          <a:blipFill>
            <a:blip r:embed="rId5"/>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3" name="矩形 2"/>
          <p:cNvSpPr>
            <a:spLocks noRot="1" noChangeAspect="1" noMove="1" noResize="1" noEditPoints="1" noAdjustHandles="1" noChangeArrowheads="1" noChangeShapeType="1" noTextEdit="1"/>
          </p:cNvSpPr>
          <p:nvPr/>
        </p:nvSpPr>
        <p:spPr>
          <a:xfrm>
            <a:off x="2907558" y="1643342"/>
            <a:ext cx="1486561" cy="666529"/>
          </a:xfrm>
          <a:prstGeom prst="rect">
            <a:avLst/>
          </a:prstGeom>
          <a:blipFill>
            <a:blip r:embed="rId6"/>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4" name="矩形 3"/>
          <p:cNvSpPr>
            <a:spLocks noRot="1" noChangeAspect="1" noMove="1" noResize="1" noEditPoints="1" noAdjustHandles="1" noChangeArrowheads="1" noChangeShapeType="1" noTextEdit="1"/>
          </p:cNvSpPr>
          <p:nvPr/>
        </p:nvSpPr>
        <p:spPr>
          <a:xfrm>
            <a:off x="3004856" y="3632003"/>
            <a:ext cx="2997424" cy="760208"/>
          </a:xfrm>
          <a:prstGeom prst="rect">
            <a:avLst/>
          </a:prstGeom>
          <a:blipFill>
            <a:blip r:embed="rId7"/>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5" name="矩形 4"/>
          <p:cNvSpPr/>
          <p:nvPr/>
        </p:nvSpPr>
        <p:spPr>
          <a:xfrm>
            <a:off x="450850" y="4200525"/>
            <a:ext cx="8105775" cy="1016000"/>
          </a:xfrm>
          <a:prstGeom prst="rect">
            <a:avLst/>
          </a:prstGeom>
        </p:spPr>
        <p:txBody>
          <a:bodyPr>
            <a:spAutoFit/>
          </a:bodyPr>
          <a:lstStyle/>
          <a:p>
            <a:pPr marL="0" marR="0" lvl="0" indent="304800" algn="just" defTabSz="914400" rtl="0" eaLnBrk="0" fontAlgn="base" latinLnBrk="0" hangingPunct="0">
              <a:lnSpc>
                <a:spcPct val="150000"/>
              </a:lnSpc>
              <a:spcBef>
                <a:spcPct val="0"/>
              </a:spcBef>
              <a:spcAft>
                <a:spcPts val="0"/>
              </a:spcAft>
              <a:buClrTx/>
              <a:buSzTx/>
              <a:buFontTx/>
              <a:buNone/>
              <a:defRPr/>
            </a:pPr>
            <a:r>
              <a:rPr kumimoji="1" lang="en-US"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  </a:t>
            </a: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在</a:t>
            </a:r>
            <a:r>
              <a:rPr kumimoji="1" lang="en-US"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F</a:t>
            </a: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和</a:t>
            </a:r>
            <a:r>
              <a:rPr kumimoji="1" lang="en-US"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T</a:t>
            </a:r>
            <a:r>
              <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rPr>
              <a:t>的共同作用下，考虑到最不利的情况，引起一个螺距的总弹性变形量为</a:t>
            </a:r>
            <a:endParaRPr kumimoji="1" lang="zh-CN" altLang="zh-CN" sz="2000" b="0" i="0" u="none" strike="noStrike" kern="100" cap="none" spc="0" normalizeH="0" baseline="0" noProof="0" dirty="0">
              <a:ln>
                <a:noFill/>
              </a:ln>
              <a:solidFill>
                <a:srgbClr val="000099"/>
              </a:solidFill>
              <a:effectLst/>
              <a:uLnTx/>
              <a:uFillTx/>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矩形 5"/>
          <p:cNvSpPr>
            <a:spLocks noRot="1" noChangeAspect="1" noMove="1" noResize="1" noEditPoints="1" noAdjustHandles="1" noChangeArrowheads="1" noChangeShapeType="1" noTextEdit="1"/>
          </p:cNvSpPr>
          <p:nvPr/>
        </p:nvSpPr>
        <p:spPr>
          <a:xfrm>
            <a:off x="2102228" y="4854337"/>
            <a:ext cx="6345103" cy="640944"/>
          </a:xfrm>
          <a:prstGeom prst="rect">
            <a:avLst/>
          </a:prstGeom>
          <a:blipFill>
            <a:blip r:embed="rId8"/>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8" name="矩形 7"/>
          <p:cNvSpPr>
            <a:spLocks noRot="1" noChangeAspect="1" noMove="1" noResize="1" noEditPoints="1" noAdjustHandles="1" noChangeArrowheads="1" noChangeShapeType="1" noTextEdit="1"/>
          </p:cNvSpPr>
          <p:nvPr/>
        </p:nvSpPr>
        <p:spPr>
          <a:xfrm>
            <a:off x="3174481" y="5561650"/>
            <a:ext cx="1333417" cy="523220"/>
          </a:xfrm>
          <a:prstGeom prst="rect">
            <a:avLst/>
          </a:prstGeom>
          <a:blipFill>
            <a:blip r:embed="rId9"/>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9" name="文本框 8"/>
          <p:cNvSpPr txBox="1"/>
          <p:nvPr/>
        </p:nvSpPr>
        <p:spPr>
          <a:xfrm>
            <a:off x="971550" y="5684838"/>
            <a:ext cx="1724025" cy="400050"/>
          </a:xfrm>
          <a:prstGeom prst="rect">
            <a:avLst/>
          </a:prstGeom>
          <a:noFill/>
          <a:ln w="9525">
            <a:noFill/>
          </a:ln>
        </p:spPr>
        <p:txBody>
          <a:bodyPr wrap="none">
            <a:spAutoFit/>
          </a:bodyPr>
          <a:p>
            <a:r>
              <a:rPr lang="zh-CN" altLang="en-US" sz="2000" dirty="0">
                <a:solidFill>
                  <a:srgbClr val="000099"/>
                </a:solidFill>
                <a:latin typeface="Tahoma" panose="020B0604030504040204" pitchFamily="34" charset="0"/>
              </a:rPr>
              <a:t>刚度校核公式</a:t>
            </a:r>
            <a:endParaRPr lang="zh-CN" altLang="en-US" sz="2000" dirty="0">
              <a:solidFill>
                <a:srgbClr val="000099"/>
              </a:solidFill>
              <a:latin typeface="Tahoma" panose="020B0604030504040204" pitchFamily="34" charset="0"/>
            </a:endParaRPr>
          </a:p>
        </p:txBody>
      </p:sp>
      <p:sp>
        <p:nvSpPr>
          <p:cNvPr id="2" name="文本框 1"/>
          <p:cNvSpPr txBox="1"/>
          <p:nvPr/>
        </p:nvSpPr>
        <p:spPr>
          <a:xfrm>
            <a:off x="1081405" y="6155055"/>
            <a:ext cx="7653020" cy="398780"/>
          </a:xfrm>
          <a:prstGeom prst="rect">
            <a:avLst/>
          </a:prstGeom>
          <a:noFill/>
        </p:spPr>
        <p:txBody>
          <a:bodyPr wrap="square" rtlCol="0">
            <a:spAutoFit/>
          </a:bodyPr>
          <a:p>
            <a:r>
              <a:rPr lang="en-US" altLang="zh-CN" sz="2000"/>
              <a:t>[</a:t>
            </a:r>
            <a:r>
              <a:rPr lang="en-US" altLang="zh-CN" sz="2000">
                <a:sym typeface="Symbol" panose="05050102010706020507" charset="0"/>
              </a:rPr>
              <a:t></a:t>
            </a:r>
            <a:r>
              <a:rPr lang="en-US" altLang="zh-CN" sz="2000" baseline="-25000">
                <a:sym typeface="Symbol" panose="05050102010706020507" charset="0"/>
              </a:rPr>
              <a:t>p</a:t>
            </a:r>
            <a:r>
              <a:rPr lang="en-US" altLang="zh-CN" sz="2000">
                <a:sym typeface="Symbol" panose="05050102010706020507" charset="0"/>
              </a:rPr>
              <a:t>]</a:t>
            </a:r>
            <a:r>
              <a:rPr lang="zh-CN" altLang="en-US" sz="2000" b="1">
                <a:sym typeface="Symbol" panose="05050102010706020507" charset="0"/>
              </a:rPr>
              <a:t>是根据螺旋传动的精度或不同类型机器的性能要求来决定</a:t>
            </a:r>
            <a:endParaRPr lang="zh-CN" altLang="en-US" sz="2000" b="1">
              <a:sym typeface="Symbol" panose="05050102010706020507" charset="0"/>
            </a:endParaRPr>
          </a:p>
        </p:txBody>
      </p:sp>
      <p:pic>
        <p:nvPicPr>
          <p:cNvPr id="13323" name="图片 1073742872" descr="44303071dc0a1f9688d599dbc999570副本"/>
          <p:cNvPicPr>
            <a:picLocks noChangeAspect="1"/>
          </p:cNvPicPr>
          <p:nvPr/>
        </p:nvPicPr>
        <p:blipFill>
          <a:blip r:embed="rId10"/>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5853"/>
                                        </p:tgtEl>
                                        <p:attrNameLst>
                                          <p:attrName>style.visibility</p:attrName>
                                        </p:attrNameLst>
                                      </p:cBhvr>
                                      <p:to>
                                        <p:strVal val="visible"/>
                                      </p:to>
                                    </p:set>
                                    <p:anim calcmode="lin" valueType="num">
                                      <p:cBhvr additive="base">
                                        <p:cTn id="7" dur="500" fill="hold"/>
                                        <p:tgtEl>
                                          <p:spTgt spid="35853"/>
                                        </p:tgtEl>
                                        <p:attrNameLst>
                                          <p:attrName>ppt_x</p:attrName>
                                        </p:attrNameLst>
                                      </p:cBhvr>
                                      <p:tavLst>
                                        <p:tav tm="0">
                                          <p:val>
                                            <p:strVal val="0-#ppt_w/2"/>
                                          </p:val>
                                        </p:tav>
                                        <p:tav tm="100000">
                                          <p:val>
                                            <p:strVal val="#ppt_x"/>
                                          </p:val>
                                        </p:tav>
                                      </p:tavLst>
                                    </p:anim>
                                    <p:anim calcmode="lin" valueType="num">
                                      <p:cBhvr additive="base">
                                        <p:cTn id="8" dur="500" fill="hold"/>
                                        <p:tgtEl>
                                          <p:spTgt spid="358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35854"/>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358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5862"/>
                                        </p:tgtEl>
                                        <p:attrNameLst>
                                          <p:attrName>style.visibility</p:attrName>
                                        </p:attrNameLst>
                                      </p:cBhvr>
                                      <p:to>
                                        <p:strVal val="visible"/>
                                      </p:to>
                                    </p:set>
                                    <p:animEffect transition="in" filter="wipe(left)">
                                      <p:cBhvr>
                                        <p:cTn id="19" dur="500"/>
                                        <p:tgtEl>
                                          <p:spTgt spid="3586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63"/>
                                        </p:tgtEl>
                                        <p:attrNameLst>
                                          <p:attrName>style.visibility</p:attrName>
                                        </p:attrNameLst>
                                      </p:cBhvr>
                                      <p:to>
                                        <p:strVal val="visible"/>
                                      </p:to>
                                    </p:set>
                                    <p:animEffect transition="in" filter="wipe(left)">
                                      <p:cBhvr>
                                        <p:cTn id="24" dur="500"/>
                                        <p:tgtEl>
                                          <p:spTgt spid="3586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5866"/>
                                        </p:tgtEl>
                                        <p:attrNameLst>
                                          <p:attrName>style.visibility</p:attrName>
                                        </p:attrNameLst>
                                      </p:cBhvr>
                                      <p:to>
                                        <p:strVal val="visible"/>
                                      </p:to>
                                    </p:set>
                                    <p:animEffect transition="in" filter="wipe(left)">
                                      <p:cBhvr>
                                        <p:cTn id="34" dur="500"/>
                                        <p:tgtEl>
                                          <p:spTgt spid="3586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left)">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left)">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P spid="35863" grpId="0"/>
      <p:bldP spid="5" grpId="0"/>
      <p:bldP spid="9"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3"/>
          <p:cNvSpPr/>
          <p:nvPr/>
        </p:nvSpPr>
        <p:spPr>
          <a:xfrm>
            <a:off x="904875" y="65088"/>
            <a:ext cx="4900613" cy="533400"/>
          </a:xfrm>
          <a:prstGeom prst="rect">
            <a:avLst/>
          </a:prstGeom>
          <a:noFill/>
          <a:ln w="9525">
            <a:noFill/>
          </a:ln>
        </p:spPr>
        <p:txBody>
          <a:bodyPr tIns="18000" anchor="ctr" anchorCtr="1"/>
          <a:p>
            <a:pPr eaLnBrk="1" hangingPunct="1"/>
            <a:r>
              <a:rPr lang="zh-CN" altLang="en-US" sz="2800" dirty="0">
                <a:solidFill>
                  <a:schemeClr val="bg1"/>
                </a:solidFill>
                <a:latin typeface="Times New Roman" panose="02020603050405020304" pitchFamily="18" charset="0"/>
                <a:ea typeface="黑体" panose="02010609060101010101" pitchFamily="2" charset="-122"/>
              </a:rPr>
              <a:t>滑动螺旋传动的设计计算分析</a:t>
            </a:r>
            <a:endParaRPr lang="zh-CN" altLang="en-US" sz="2800" dirty="0">
              <a:solidFill>
                <a:schemeClr val="bg1"/>
              </a:solidFill>
              <a:latin typeface="黑体" panose="02010609060101010101" pitchFamily="2" charset="-122"/>
              <a:ea typeface="黑体" panose="02010609060101010101" pitchFamily="2" charset="-122"/>
            </a:endParaRPr>
          </a:p>
        </p:txBody>
      </p:sp>
      <p:pic>
        <p:nvPicPr>
          <p:cNvPr id="35853" name="Picture 13" descr="rewind1">
            <a:hlinkClick r:id="rId1" action="ppaction://hlinksldjump"/>
          </p:cNvPr>
          <p:cNvPicPr>
            <a:picLocks noChangeAspect="1"/>
          </p:cNvPicPr>
          <p:nvPr/>
        </p:nvPicPr>
        <p:blipFill>
          <a:blip r:embed="rId2"/>
          <a:stretch>
            <a:fillRect/>
          </a:stretch>
        </p:blipFill>
        <p:spPr>
          <a:xfrm>
            <a:off x="8039100" y="6523038"/>
            <a:ext cx="287338" cy="287337"/>
          </a:xfrm>
          <a:prstGeom prst="rect">
            <a:avLst/>
          </a:prstGeom>
          <a:noFill/>
          <a:ln w="9525">
            <a:noFill/>
          </a:ln>
        </p:spPr>
      </p:pic>
      <p:pic>
        <p:nvPicPr>
          <p:cNvPr id="35854" name="Picture 14" descr="back1">
            <a:hlinkClick r:id="" action="ppaction://hlinkshowjump?jump=previousslide"/>
          </p:cNvPr>
          <p:cNvPicPr>
            <a:picLocks noChangeAspect="1"/>
          </p:cNvPicPr>
          <p:nvPr/>
        </p:nvPicPr>
        <p:blipFill>
          <a:blip r:embed="rId3"/>
          <a:stretch>
            <a:fillRect/>
          </a:stretch>
        </p:blipFill>
        <p:spPr>
          <a:xfrm>
            <a:off x="8447088" y="6523038"/>
            <a:ext cx="287337" cy="287337"/>
          </a:xfrm>
          <a:prstGeom prst="rect">
            <a:avLst/>
          </a:prstGeom>
          <a:noFill/>
          <a:ln w="9525">
            <a:noFill/>
          </a:ln>
        </p:spPr>
      </p:pic>
      <p:pic>
        <p:nvPicPr>
          <p:cNvPr id="35855" name="Picture 15" descr="NEXT1">
            <a:hlinkClick r:id="" action="ppaction://hlinkshowjump?jump=nextslide"/>
          </p:cNvPr>
          <p:cNvPicPr>
            <a:picLocks noChangeAspect="1"/>
          </p:cNvPicPr>
          <p:nvPr/>
        </p:nvPicPr>
        <p:blipFill>
          <a:blip r:embed="rId4"/>
          <a:stretch>
            <a:fillRect/>
          </a:stretch>
        </p:blipFill>
        <p:spPr>
          <a:xfrm>
            <a:off x="8856663" y="6523038"/>
            <a:ext cx="287337" cy="287337"/>
          </a:xfrm>
          <a:prstGeom prst="rect">
            <a:avLst/>
          </a:prstGeom>
          <a:noFill/>
          <a:ln w="9525">
            <a:noFill/>
          </a:ln>
        </p:spPr>
      </p:pic>
      <p:sp>
        <p:nvSpPr>
          <p:cNvPr id="35862" name="Text Box 22"/>
          <p:cNvSpPr txBox="1"/>
          <p:nvPr/>
        </p:nvSpPr>
        <p:spPr>
          <a:xfrm>
            <a:off x="515620" y="349568"/>
            <a:ext cx="3078480" cy="460375"/>
          </a:xfrm>
          <a:prstGeom prst="rect">
            <a:avLst/>
          </a:prstGeom>
          <a:noFill/>
          <a:ln w="9525">
            <a:noFill/>
          </a:ln>
        </p:spPr>
        <p:txBody>
          <a:bodyPr wrap="none">
            <a:spAutoFit/>
          </a:bodyPr>
          <a:p>
            <a:pPr eaLnBrk="1" hangingPunct="1"/>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5</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rPr>
              <a:t>、螺杆的稳定性计算</a:t>
            </a:r>
            <a:endPar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5863" name="Text Box 23"/>
          <p:cNvSpPr txBox="1"/>
          <p:nvPr/>
        </p:nvSpPr>
        <p:spPr>
          <a:xfrm>
            <a:off x="383540" y="918528"/>
            <a:ext cx="8172450" cy="1753235"/>
          </a:xfrm>
          <a:prstGeom prst="rect">
            <a:avLst/>
          </a:prstGeom>
          <a:noFill/>
          <a:ln w="9525">
            <a:noFill/>
          </a:ln>
        </p:spPr>
        <p:txBody>
          <a:bodyPr>
            <a:spAutoFit/>
          </a:bodyPr>
          <a:p>
            <a:pPr eaLnBrk="1" hangingPunct="1">
              <a:lnSpc>
                <a:spcPct val="150000"/>
              </a:lnSpc>
            </a:pPr>
            <a:r>
              <a:rPr lang="zh-CN" altLang="en-US" sz="2000" dirty="0">
                <a:solidFill>
                  <a:srgbClr val="000099"/>
                </a:solidFill>
                <a:latin typeface="Tahoma" panose="020B0604030504040204" pitchFamily="34" charset="0"/>
              </a:rPr>
              <a:t>      </a:t>
            </a:r>
            <a:r>
              <a:rPr lang="zh-CN" altLang="en-US" sz="2400" dirty="0">
                <a:solidFill>
                  <a:srgbClr val="000099"/>
                </a:solidFill>
                <a:latin typeface="黑体" panose="02010609060101010101" pitchFamily="2" charset="-122"/>
                <a:ea typeface="黑体" panose="02010609060101010101" pitchFamily="2" charset="-122"/>
                <a:cs typeface="黑体" panose="02010609060101010101" pitchFamily="2" charset="-122"/>
              </a:rPr>
              <a:t>对于长径比较大的受压螺杆，</a:t>
            </a:r>
            <a:r>
              <a:rPr lang="zh-CN" altLang="en-US" sz="2400" dirty="0">
                <a:solidFill>
                  <a:srgbClr val="002060"/>
                </a:solidFill>
                <a:latin typeface="黑体" panose="02010609060101010101" pitchFamily="2" charset="-122"/>
                <a:ea typeface="黑体" panose="02010609060101010101" pitchFamily="2" charset="-122"/>
                <a:cs typeface="黑体" panose="02010609060101010101" pitchFamily="2" charset="-122"/>
                <a:sym typeface="+mn-ea"/>
              </a:rPr>
              <a:t>在轴向压力大于某一临界值时会发生横向弯曲而出现失稳现象，</a:t>
            </a:r>
            <a:r>
              <a:rPr lang="zh-CN" altLang="en-US" sz="2400" dirty="0">
                <a:solidFill>
                  <a:srgbClr val="000099"/>
                </a:solidFill>
                <a:latin typeface="黑体" panose="02010609060101010101" pitchFamily="2" charset="-122"/>
                <a:ea typeface="黑体" panose="02010609060101010101" pitchFamily="2" charset="-122"/>
                <a:cs typeface="黑体" panose="02010609060101010101" pitchFamily="2" charset="-122"/>
              </a:rPr>
              <a:t>需要校核压杆的稳定性，要求螺杆的工作压力</a:t>
            </a:r>
            <a:r>
              <a:rPr lang="en-US" altLang="zh-CN" sz="2400" i="1" dirty="0">
                <a:solidFill>
                  <a:srgbClr val="000099"/>
                </a:solidFill>
                <a:latin typeface="黑体" panose="02010609060101010101" pitchFamily="2" charset="-122"/>
                <a:ea typeface="黑体" panose="02010609060101010101" pitchFamily="2" charset="-122"/>
                <a:cs typeface="黑体" panose="02010609060101010101" pitchFamily="2" charset="-122"/>
              </a:rPr>
              <a:t>F </a:t>
            </a:r>
            <a:r>
              <a:rPr lang="zh-CN" altLang="en-US" sz="2400" dirty="0">
                <a:solidFill>
                  <a:srgbClr val="000099"/>
                </a:solidFill>
                <a:latin typeface="黑体" panose="02010609060101010101" pitchFamily="2" charset="-122"/>
                <a:ea typeface="黑体" panose="02010609060101010101" pitchFamily="2" charset="-122"/>
                <a:cs typeface="黑体" panose="02010609060101010101" pitchFamily="2" charset="-122"/>
              </a:rPr>
              <a:t>要小于临界载荷</a:t>
            </a:r>
            <a:r>
              <a:rPr lang="en-US" altLang="zh-CN" sz="2400" i="1" dirty="0">
                <a:solidFill>
                  <a:srgbClr val="000099"/>
                </a:solidFill>
                <a:latin typeface="黑体" panose="02010609060101010101" pitchFamily="2" charset="-122"/>
                <a:ea typeface="黑体" panose="02010609060101010101" pitchFamily="2" charset="-122"/>
                <a:cs typeface="黑体" panose="02010609060101010101" pitchFamily="2" charset="-122"/>
              </a:rPr>
              <a:t>F</a:t>
            </a:r>
            <a:r>
              <a:rPr lang="en-US" altLang="zh-CN" sz="2400" baseline="-8000" dirty="0">
                <a:solidFill>
                  <a:srgbClr val="000099"/>
                </a:solidFill>
                <a:latin typeface="黑体" panose="02010609060101010101" pitchFamily="2" charset="-122"/>
                <a:ea typeface="黑体" panose="02010609060101010101" pitchFamily="2" charset="-122"/>
                <a:cs typeface="黑体" panose="02010609060101010101" pitchFamily="2" charset="-122"/>
              </a:rPr>
              <a:t>c</a:t>
            </a:r>
            <a:r>
              <a:rPr lang="zh-CN" altLang="en-US" sz="2400" dirty="0">
                <a:latin typeface="黑体" panose="02010609060101010101" pitchFamily="2" charset="-122"/>
                <a:ea typeface="黑体" panose="02010609060101010101" pitchFamily="2" charset="-122"/>
                <a:cs typeface="黑体" panose="02010609060101010101" pitchFamily="2" charset="-122"/>
              </a:rPr>
              <a:t> 。</a:t>
            </a:r>
            <a:endParaRPr lang="en-US" altLang="zh-CN" sz="2400" baseline="-8000" dirty="0">
              <a:solidFill>
                <a:srgbClr val="000099"/>
              </a:solidFill>
              <a:latin typeface="黑体" panose="02010609060101010101" pitchFamily="2" charset="-122"/>
              <a:ea typeface="黑体" panose="02010609060101010101" pitchFamily="2" charset="-122"/>
              <a:cs typeface="黑体" panose="02010609060101010101" pitchFamily="2" charset="-122"/>
            </a:endParaRPr>
          </a:p>
        </p:txBody>
      </p:sp>
      <p:sp>
        <p:nvSpPr>
          <p:cNvPr id="2" name="矩形 1"/>
          <p:cNvSpPr>
            <a:spLocks noRot="1" noChangeAspect="1" noMove="1" noResize="1" noEditPoints="1" noAdjustHandles="1" noChangeArrowheads="1" noChangeShapeType="1" noTextEdit="1"/>
          </p:cNvSpPr>
          <p:nvPr/>
        </p:nvSpPr>
        <p:spPr>
          <a:xfrm>
            <a:off x="2685478" y="2844636"/>
            <a:ext cx="1138645" cy="666530"/>
          </a:xfrm>
          <a:prstGeom prst="rect">
            <a:avLst/>
          </a:prstGeom>
          <a:blipFill>
            <a:blip r:embed="rId5"/>
            <a:stretch>
              <a:fillRect/>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10" name="文本框 9"/>
          <p:cNvSpPr txBox="1">
            <a:spLocks noRot="1" noChangeAspect="1" noMove="1" noResize="1" noEditPoints="1" noAdjustHandles="1" noChangeArrowheads="1" noChangeShapeType="1" noTextEdit="1"/>
          </p:cNvSpPr>
          <p:nvPr/>
        </p:nvSpPr>
        <p:spPr>
          <a:xfrm>
            <a:off x="564305" y="3683718"/>
            <a:ext cx="7883026" cy="1477327"/>
          </a:xfrm>
          <a:prstGeom prst="rect">
            <a:avLst/>
          </a:prstGeom>
          <a:blipFill>
            <a:blip r:embed="rId6"/>
            <a:stretch>
              <a:fillRect l="-773" r="-386" b="-2893"/>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pic>
        <p:nvPicPr>
          <p:cNvPr id="13323" name="图片 1073742872" descr="44303071dc0a1f9688d599dbc999570副本"/>
          <p:cNvPicPr>
            <a:picLocks noChangeAspect="1"/>
          </p:cNvPicPr>
          <p:nvPr/>
        </p:nvPicPr>
        <p:blipFill>
          <a:blip r:embed="rId7"/>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585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35853"/>
                                        </p:tgtEl>
                                        <p:attrNameLst>
                                          <p:attrName>style.visibility</p:attrName>
                                        </p:attrNameLst>
                                      </p:cBhvr>
                                      <p:to>
                                        <p:strVal val="visible"/>
                                      </p:to>
                                    </p:set>
                                    <p:anim calcmode="lin" valueType="num">
                                      <p:cBhvr additive="base">
                                        <p:cTn id="10" dur="500" fill="hold"/>
                                        <p:tgtEl>
                                          <p:spTgt spid="35853"/>
                                        </p:tgtEl>
                                        <p:attrNameLst>
                                          <p:attrName>ppt_x</p:attrName>
                                        </p:attrNameLst>
                                      </p:cBhvr>
                                      <p:tavLst>
                                        <p:tav tm="0">
                                          <p:val>
                                            <p:strVal val="0-#ppt_w/2"/>
                                          </p:val>
                                        </p:tav>
                                        <p:tav tm="100000">
                                          <p:val>
                                            <p:strVal val="#ppt_x"/>
                                          </p:val>
                                        </p:tav>
                                      </p:tavLst>
                                    </p:anim>
                                    <p:anim calcmode="lin" valueType="num">
                                      <p:cBhvr additive="base">
                                        <p:cTn id="11" dur="500" fill="hold"/>
                                        <p:tgtEl>
                                          <p:spTgt spid="35853"/>
                                        </p:tgtEl>
                                        <p:attrNameLst>
                                          <p:attrName>ppt_y</p:attrName>
                                        </p:attrNameLst>
                                      </p:cBhvr>
                                      <p:tavLst>
                                        <p:tav tm="0">
                                          <p:val>
                                            <p:strVal val="#ppt_y"/>
                                          </p:val>
                                        </p:tav>
                                        <p:tav tm="100000">
                                          <p:val>
                                            <p:strVal val="#ppt_y"/>
                                          </p:val>
                                        </p:tav>
                                      </p:tavLst>
                                    </p:anim>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499"/>
                                          </p:stCondLst>
                                        </p:cTn>
                                        <p:tgtEl>
                                          <p:spTgt spid="358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5862"/>
                                        </p:tgtEl>
                                        <p:attrNameLst>
                                          <p:attrName>style.visibility</p:attrName>
                                        </p:attrNameLst>
                                      </p:cBhvr>
                                      <p:to>
                                        <p:strVal val="visible"/>
                                      </p:to>
                                    </p:set>
                                    <p:animEffect transition="in" filter="wipe(left)">
                                      <p:cBhvr>
                                        <p:cTn id="19" dur="500"/>
                                        <p:tgtEl>
                                          <p:spTgt spid="3586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5863"/>
                                        </p:tgtEl>
                                        <p:attrNameLst>
                                          <p:attrName>style.visibility</p:attrName>
                                        </p:attrNameLst>
                                      </p:cBhvr>
                                      <p:to>
                                        <p:strVal val="visible"/>
                                      </p:to>
                                    </p:set>
                                    <p:animEffect transition="in" filter="wipe(left)">
                                      <p:cBhvr>
                                        <p:cTn id="24" dur="500"/>
                                        <p:tgtEl>
                                          <p:spTgt spid="3586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P spid="3586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2"/>
          <p:cNvSpPr>
            <a:spLocks noChangeArrowheads="1"/>
          </p:cNvSpPr>
          <p:nvPr/>
        </p:nvSpPr>
        <p:spPr bwMode="auto">
          <a:xfrm>
            <a:off x="546454" y="269446"/>
            <a:ext cx="307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dirty="0" smtClean="0">
                <a:solidFill>
                  <a:srgbClr val="0000FF"/>
                </a:solidFill>
                <a:latin typeface="黑体" panose="02010609060101010101" pitchFamily="2" charset="-122"/>
              </a:rPr>
              <a:t>5</a:t>
            </a:r>
            <a:r>
              <a:rPr lang="zh-CN" altLang="en-US" dirty="0" smtClean="0">
                <a:solidFill>
                  <a:srgbClr val="0000FF"/>
                </a:solidFill>
                <a:latin typeface="黑体" panose="02010609060101010101" pitchFamily="2" charset="-122"/>
              </a:rPr>
              <a:t>、</a:t>
            </a:r>
            <a:r>
              <a:rPr lang="zh-CN" altLang="en-US" dirty="0" smtClean="0">
                <a:solidFill>
                  <a:srgbClr val="0000FF"/>
                </a:solidFill>
                <a:latin typeface="黑体" panose="02010609060101010101" pitchFamily="2" charset="-122"/>
              </a:rPr>
              <a:t>螺杆</a:t>
            </a:r>
            <a:r>
              <a:rPr lang="zh-CN" altLang="en-US" dirty="0">
                <a:solidFill>
                  <a:srgbClr val="0000FF"/>
                </a:solidFill>
                <a:latin typeface="黑体" panose="02010609060101010101" pitchFamily="2" charset="-122"/>
              </a:rPr>
              <a:t>的稳定性校核</a:t>
            </a:r>
            <a:endParaRPr lang="zh-CN" altLang="en-US" dirty="0">
              <a:solidFill>
                <a:srgbClr val="0000FF"/>
              </a:solidFill>
              <a:latin typeface="黑体" panose="02010609060101010101" pitchFamily="2" charset="-122"/>
            </a:endParaRPr>
          </a:p>
        </p:txBody>
      </p:sp>
      <p:sp>
        <p:nvSpPr>
          <p:cNvPr id="7" name="文本框 6"/>
          <p:cNvSpPr txBox="1"/>
          <p:nvPr/>
        </p:nvSpPr>
        <p:spPr>
          <a:xfrm>
            <a:off x="716280" y="1003935"/>
            <a:ext cx="3427730" cy="429895"/>
          </a:xfrm>
          <a:prstGeom prst="rect">
            <a:avLst/>
          </a:prstGeom>
          <a:noFill/>
        </p:spPr>
        <p:txBody>
          <a:bodyPr wrap="square" rtlCol="0">
            <a:spAutoFit/>
          </a:bodyPr>
          <a:lstStyle/>
          <a:p>
            <a:r>
              <a:rPr lang="zh-CN" altLang="en-US" sz="2200" dirty="0" smtClean="0">
                <a:latin typeface="黑体" panose="02010609060101010101" pitchFamily="2" charset="-122"/>
                <a:ea typeface="黑体" panose="02010609060101010101" pitchFamily="2" charset="-122"/>
              </a:rPr>
              <a:t>螺杆的长径比（柔度）</a:t>
            </a:r>
            <a:endParaRPr lang="zh-CN" altLang="en-US" sz="2200" dirty="0">
              <a:latin typeface="黑体" panose="02010609060101010101" pitchFamily="2" charset="-122"/>
              <a:ea typeface="黑体" panose="02010609060101010101" pitchFamily="2" charset="-122"/>
            </a:endParaRPr>
          </a:p>
        </p:txBody>
      </p:sp>
      <p:sp>
        <p:nvSpPr>
          <p:cNvPr id="31" name="矩形 12"/>
          <p:cNvSpPr>
            <a:spLocks noChangeArrowheads="1"/>
          </p:cNvSpPr>
          <p:nvPr/>
        </p:nvSpPr>
        <p:spPr bwMode="auto">
          <a:xfrm>
            <a:off x="4176845" y="947196"/>
            <a:ext cx="4523813"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600"/>
              </a:spcBef>
            </a:pP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rPr>
              <a:t>式中</a:t>
            </a:r>
            <a:r>
              <a:rPr kumimoji="1" lang="en-US" altLang="zh-CN" sz="2000" dirty="0">
                <a:solidFill>
                  <a:srgbClr val="FF0000"/>
                </a:solidFill>
                <a:latin typeface="黑体" panose="02010609060101010101" pitchFamily="2" charset="-122"/>
                <a:ea typeface="黑体" panose="02010609060101010101" pitchFamily="2" charset="-122"/>
                <a:cs typeface="Times New Roman" panose="02020603050405020304" pitchFamily="18" charset="0"/>
              </a:rPr>
              <a:t>:  </a:t>
            </a:r>
            <a:r>
              <a:rPr kumimoji="1" lang="en-US" altLang="zh-CN" sz="2000"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L</a:t>
            </a:r>
            <a:r>
              <a:rPr kumimoji="1" lang="en-US" altLang="zh-CN" sz="2000" dirty="0">
                <a:solidFill>
                  <a:srgbClr val="FF0000"/>
                </a:solidFill>
                <a:latin typeface="黑体" panose="02010609060101010101" pitchFamily="2" charset="-122"/>
                <a:ea typeface="黑体" panose="02010609060101010101" pitchFamily="2" charset="-122"/>
                <a:cs typeface="Times New Roman" panose="02020603050405020304" pitchFamily="18" charset="0"/>
              </a:rPr>
              <a:t>--</a:t>
            </a: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rPr>
              <a:t>螺杆的最大工作长度</a:t>
            </a:r>
            <a:endPar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a:p>
            <a:pPr eaLnBrk="1" hangingPunct="1">
              <a:spcBef>
                <a:spcPts val="600"/>
              </a:spcBef>
            </a:pP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       </a:t>
            </a:r>
            <a:r>
              <a:rPr kumimoji="1" lang="zh-CN" altLang="zh-CN" sz="2000"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a:t>
            </a:r>
            <a:r>
              <a:rPr kumimoji="1" lang="zh-CN" altLang="zh-CN"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a:t>
            </a: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螺杆长度折算系数</a:t>
            </a:r>
            <a:endPar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endParaRPr>
          </a:p>
          <a:p>
            <a:pPr eaLnBrk="1" hangingPunct="1">
              <a:spcBef>
                <a:spcPts val="600"/>
              </a:spcBef>
            </a:pP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       </a:t>
            </a:r>
            <a:r>
              <a:rPr kumimoji="1" lang="en-US" altLang="zh-CN"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d</a:t>
            </a:r>
            <a:r>
              <a:rPr kumimoji="1" lang="en-US" altLang="zh-CN" sz="2000" i="1" baseline="-25000" dirty="0" err="1">
                <a:solidFill>
                  <a:srgbClr val="FF0000"/>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1</a:t>
            </a:r>
            <a:r>
              <a:rPr kumimoji="1" lang="en-US" altLang="zh-CN"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a:t>
            </a:r>
            <a:r>
              <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rPr>
              <a:t>螺杆螺纹内径</a:t>
            </a:r>
            <a:endParaRPr kumimoji="1" lang="zh-CN" altLang="en-US" sz="2000" dirty="0">
              <a:solidFill>
                <a:srgbClr val="FF0000"/>
              </a:solidFill>
              <a:latin typeface="黑体" panose="02010609060101010101" pitchFamily="2" charset="-122"/>
              <a:ea typeface="黑体" panose="02010609060101010101" pitchFamily="2" charset="-122"/>
              <a:cs typeface="Times New Roman" panose="02020603050405020304" pitchFamily="18" charset="0"/>
              <a:sym typeface="Symbol" panose="05050102010706020507" pitchFamily="18" charset="2"/>
            </a:endParaRPr>
          </a:p>
        </p:txBody>
      </p:sp>
      <p:sp>
        <p:nvSpPr>
          <p:cNvPr id="8" name="圆角矩形 7"/>
          <p:cNvSpPr/>
          <p:nvPr/>
        </p:nvSpPr>
        <p:spPr>
          <a:xfrm>
            <a:off x="650240" y="5563870"/>
            <a:ext cx="6938645" cy="95059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spcBef>
                <a:spcPts val="0"/>
              </a:spcBef>
              <a:spcAft>
                <a:spcPts val="0"/>
              </a:spcAft>
              <a:defRPr/>
            </a:pPr>
            <a:r>
              <a:rPr lang="zh-CN" altLang="en-US" sz="2800" dirty="0">
                <a:solidFill>
                  <a:srgbClr val="0000FF"/>
                </a:solidFill>
                <a:latin typeface="黑体" panose="02010609060101010101" pitchFamily="2" charset="-122"/>
                <a:ea typeface="黑体" panose="02010609060101010101" pitchFamily="2" charset="-122"/>
              </a:rPr>
              <a:t>对于</a:t>
            </a:r>
            <a:r>
              <a:rPr lang="zh-CN" altLang="en-US" sz="2800" i="1" dirty="0">
                <a:solidFill>
                  <a:srgbClr val="0000FF"/>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a:t>
            </a:r>
            <a:r>
              <a:rPr lang="en-US" altLang="zh-CN" sz="2800" i="1" dirty="0">
                <a:solidFill>
                  <a:srgbClr val="0000FF"/>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&lt;</a:t>
            </a:r>
            <a:r>
              <a:rPr lang="en-US" altLang="zh-CN" sz="2800" dirty="0">
                <a:solidFill>
                  <a:srgbClr val="0000FF"/>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40</a:t>
            </a:r>
            <a:r>
              <a:rPr lang="zh-CN" altLang="en-US" sz="2800" dirty="0" smtClean="0">
                <a:solidFill>
                  <a:srgbClr val="0000FF"/>
                </a:solidFill>
                <a:latin typeface="黑体" panose="02010609060101010101" pitchFamily="2" charset="-122"/>
                <a:ea typeface="黑体" panose="02010609060101010101" pitchFamily="2" charset="-122"/>
                <a:sym typeface="Symbol" panose="05050102010706020507" pitchFamily="18" charset="2"/>
              </a:rPr>
              <a:t>的螺杆不必进行稳定性校核</a:t>
            </a:r>
            <a:r>
              <a:rPr lang="en-US" altLang="zh-CN" sz="2800" dirty="0">
                <a:solidFill>
                  <a:srgbClr val="0000FF"/>
                </a:solidFill>
                <a:latin typeface="黑体" panose="02010609060101010101" pitchFamily="2" charset="-122"/>
                <a:ea typeface="黑体" panose="02010609060101010101" pitchFamily="2" charset="-122"/>
                <a:sym typeface="Symbol" panose="05050102010706020507" pitchFamily="18" charset="2"/>
              </a:rPr>
              <a:t>!</a:t>
            </a:r>
            <a:endParaRPr lang="en-US" altLang="zh-CN" sz="2800" dirty="0">
              <a:solidFill>
                <a:srgbClr val="0000FF"/>
              </a:solidFill>
              <a:latin typeface="黑体" panose="02010609060101010101" pitchFamily="2" charset="-122"/>
              <a:ea typeface="黑体" panose="02010609060101010101" pitchFamily="2" charset="-122"/>
            </a:endParaRPr>
          </a:p>
        </p:txBody>
      </p:sp>
      <p:graphicFrame>
        <p:nvGraphicFramePr>
          <p:cNvPr id="2" name="对象 1">
            <a:hlinkClick r:id="" action="ppaction://ole?verb="/>
          </p:cNvPr>
          <p:cNvGraphicFramePr>
            <a:graphicFrameLocks noChangeAspect="1"/>
          </p:cNvGraphicFramePr>
          <p:nvPr/>
        </p:nvGraphicFramePr>
        <p:xfrm>
          <a:off x="2419350" y="1365885"/>
          <a:ext cx="1130300" cy="854075"/>
        </p:xfrm>
        <a:graphic>
          <a:graphicData uri="http://schemas.openxmlformats.org/presentationml/2006/ole">
            <mc:AlternateContent xmlns:mc="http://schemas.openxmlformats.org/markup-compatibility/2006">
              <mc:Choice xmlns:v="urn:schemas-microsoft-com:vml" Requires="v">
                <p:oleObj spid="_x0000_s2049" name="" r:id="rId1" imgW="571500" imgH="431800" progId="Equation.KSEE3">
                  <p:embed/>
                </p:oleObj>
              </mc:Choice>
              <mc:Fallback>
                <p:oleObj name="" r:id="rId1" imgW="571500" imgH="431800" progId="Equation.KSEE3">
                  <p:embed/>
                  <p:pic>
                    <p:nvPicPr>
                      <p:cNvPr id="0" name="图片 2048"/>
                      <p:cNvPicPr/>
                      <p:nvPr/>
                    </p:nvPicPr>
                    <p:blipFill>
                      <a:blip r:embed="rId2"/>
                      <a:stretch>
                        <a:fillRect/>
                      </a:stretch>
                    </p:blipFill>
                    <p:spPr>
                      <a:xfrm>
                        <a:off x="2419350" y="1365885"/>
                        <a:ext cx="1130300" cy="854075"/>
                      </a:xfrm>
                      <a:prstGeom prst="rect">
                        <a:avLst/>
                      </a:prstGeom>
                    </p:spPr>
                  </p:pic>
                </p:oleObj>
              </mc:Fallback>
            </mc:AlternateContent>
          </a:graphicData>
        </a:graphic>
      </p:graphicFrame>
      <p:sp>
        <p:nvSpPr>
          <p:cNvPr id="3" name="文本框 2"/>
          <p:cNvSpPr txBox="1"/>
          <p:nvPr/>
        </p:nvSpPr>
        <p:spPr>
          <a:xfrm>
            <a:off x="429895" y="2306955"/>
            <a:ext cx="2364105"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对于淬火钢螺杆</a:t>
            </a:r>
            <a:r>
              <a:rPr lang="en-US" altLang="zh-CN" sz="2400">
                <a:latin typeface="黑体" panose="02010609060101010101" pitchFamily="2" charset="-122"/>
                <a:ea typeface="黑体" panose="02010609060101010101" pitchFamily="2" charset="-122"/>
              </a:rPr>
              <a:t>:</a:t>
            </a:r>
            <a:endParaRPr lang="en-US" altLang="zh-CN" sz="2400">
              <a:latin typeface="黑体" panose="02010609060101010101" pitchFamily="2" charset="-122"/>
              <a:ea typeface="黑体" panose="02010609060101010101" pitchFamily="2" charset="-122"/>
            </a:endParaRPr>
          </a:p>
        </p:txBody>
      </p:sp>
      <p:graphicFrame>
        <p:nvGraphicFramePr>
          <p:cNvPr id="4" name="对象 3">
            <a:hlinkClick r:id="" action="ppaction://ole?verb="/>
          </p:cNvPr>
          <p:cNvGraphicFramePr>
            <a:graphicFrameLocks noChangeAspect="1"/>
          </p:cNvGraphicFramePr>
          <p:nvPr/>
        </p:nvGraphicFramePr>
        <p:xfrm>
          <a:off x="716280" y="3033395"/>
          <a:ext cx="1386205" cy="389255"/>
        </p:xfrm>
        <a:graphic>
          <a:graphicData uri="http://schemas.openxmlformats.org/presentationml/2006/ole">
            <mc:AlternateContent xmlns:mc="http://schemas.openxmlformats.org/markup-compatibility/2006">
              <mc:Choice xmlns:v="urn:schemas-microsoft-com:vml" Requires="v">
                <p:oleObj spid="_x0000_s2050" name="" r:id="rId3" imgW="723900" imgH="203200" progId="Equation.KSEE3">
                  <p:embed/>
                </p:oleObj>
              </mc:Choice>
              <mc:Fallback>
                <p:oleObj name="" r:id="rId3" imgW="723900" imgH="203200" progId="Equation.KSEE3">
                  <p:embed/>
                  <p:pic>
                    <p:nvPicPr>
                      <p:cNvPr id="0" name="图片 2049"/>
                      <p:cNvPicPr/>
                      <p:nvPr/>
                    </p:nvPicPr>
                    <p:blipFill>
                      <a:blip r:embed="rId4"/>
                      <a:stretch>
                        <a:fillRect/>
                      </a:stretch>
                    </p:blipFill>
                    <p:spPr>
                      <a:xfrm>
                        <a:off x="716280" y="3033395"/>
                        <a:ext cx="1386205" cy="38925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701925" y="2928620"/>
          <a:ext cx="1442085" cy="885825"/>
        </p:xfrm>
        <a:graphic>
          <a:graphicData uri="http://schemas.openxmlformats.org/presentationml/2006/ole">
            <mc:AlternateContent xmlns:mc="http://schemas.openxmlformats.org/markup-compatibility/2006">
              <mc:Choice xmlns:v="urn:schemas-microsoft-com:vml" Requires="v">
                <p:oleObj spid="_x0000_s2051" name="" r:id="rId5" imgW="723900" imgH="444500" progId="Equation.KSEE3">
                  <p:embed/>
                </p:oleObj>
              </mc:Choice>
              <mc:Fallback>
                <p:oleObj name="" r:id="rId5" imgW="723900" imgH="444500" progId="Equation.KSEE3">
                  <p:embed/>
                  <p:pic>
                    <p:nvPicPr>
                      <p:cNvPr id="0" name="图片 2050"/>
                      <p:cNvPicPr/>
                      <p:nvPr/>
                    </p:nvPicPr>
                    <p:blipFill>
                      <a:blip r:embed="rId6"/>
                      <a:stretch>
                        <a:fillRect/>
                      </a:stretch>
                    </p:blipFill>
                    <p:spPr>
                      <a:xfrm>
                        <a:off x="2701925" y="2928620"/>
                        <a:ext cx="1442085" cy="885825"/>
                      </a:xfrm>
                      <a:prstGeom prst="rect">
                        <a:avLst/>
                      </a:prstGeom>
                    </p:spPr>
                  </p:pic>
                </p:oleObj>
              </mc:Fallback>
            </mc:AlternateContent>
          </a:graphicData>
        </a:graphic>
      </p:graphicFrame>
      <p:grpSp>
        <p:nvGrpSpPr>
          <p:cNvPr id="19" name="组合 18"/>
          <p:cNvGrpSpPr/>
          <p:nvPr/>
        </p:nvGrpSpPr>
        <p:grpSpPr>
          <a:xfrm>
            <a:off x="4919980" y="2324100"/>
            <a:ext cx="3987800" cy="1834515"/>
            <a:chOff x="7748" y="3660"/>
            <a:chExt cx="6280" cy="2889"/>
          </a:xfrm>
        </p:grpSpPr>
        <p:grpSp>
          <p:nvGrpSpPr>
            <p:cNvPr id="13" name="组合 42"/>
            <p:cNvGrpSpPr/>
            <p:nvPr/>
          </p:nvGrpSpPr>
          <p:grpSpPr bwMode="auto">
            <a:xfrm>
              <a:off x="7748" y="3765"/>
              <a:ext cx="6280" cy="2784"/>
              <a:chOff x="5175537" y="5159860"/>
              <a:chExt cx="3987591" cy="1542983"/>
            </a:xfrm>
          </p:grpSpPr>
          <p:graphicFrame>
            <p:nvGraphicFramePr>
              <p:cNvPr id="14" name="Object 7"/>
              <p:cNvGraphicFramePr>
                <a:graphicFrameLocks noChangeAspect="1"/>
              </p:cNvGraphicFramePr>
              <p:nvPr/>
            </p:nvGraphicFramePr>
            <p:xfrm>
              <a:off x="5471378" y="5668542"/>
              <a:ext cx="266250" cy="308670"/>
            </p:xfrm>
            <a:graphic>
              <a:graphicData uri="http://schemas.openxmlformats.org/presentationml/2006/ole">
                <mc:AlternateContent xmlns:mc="http://schemas.openxmlformats.org/markup-compatibility/2006">
                  <mc:Choice xmlns:v="urn:schemas-microsoft-com:vml" Requires="v">
                    <p:oleObj spid="_x0000_s14387" name="Equation" r:id="rId7" imgW="152400" imgH="165100" progId="Equation.DSMT4">
                      <p:embed/>
                    </p:oleObj>
                  </mc:Choice>
                  <mc:Fallback>
                    <p:oleObj name="Equation" r:id="rId7" imgW="152400" imgH="165100" progId="Equation.DSMT4">
                      <p:embed/>
                      <p:pic>
                        <p:nvPicPr>
                          <p:cNvPr id="0" name="图片 143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1378" y="5668542"/>
                            <a:ext cx="266250" cy="308670"/>
                          </a:xfrm>
                          <a:prstGeom prst="rect">
                            <a:avLst/>
                          </a:prstGeom>
                          <a:noFill/>
                          <a:ln>
                            <a:noFill/>
                          </a:ln>
                        </p:spPr>
                      </p:pic>
                    </p:oleObj>
                  </mc:Fallback>
                </mc:AlternateContent>
              </a:graphicData>
            </a:graphic>
          </p:graphicFrame>
          <p:sp>
            <p:nvSpPr>
              <p:cNvPr id="16" name="Rectangle 33"/>
              <p:cNvSpPr>
                <a:spLocks noChangeArrowheads="1"/>
              </p:cNvSpPr>
              <p:nvPr/>
            </p:nvSpPr>
            <p:spPr bwMode="auto">
              <a:xfrm>
                <a:off x="6038271" y="5159860"/>
                <a:ext cx="3124857" cy="34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为螺杆稳定的临界载荷</a:t>
                </a:r>
                <a:endParaRPr lang="zh-CN" altLang="en-US" sz="2000" b="1" dirty="0">
                  <a:solidFill>
                    <a:srgbClr val="003399"/>
                  </a:solidFill>
                  <a:ea typeface="宋体" panose="02010600030101010101" pitchFamily="2" charset="-122"/>
                </a:endParaRPr>
              </a:p>
            </p:txBody>
          </p:sp>
          <p:sp>
            <p:nvSpPr>
              <p:cNvPr id="17" name="Rectangle 7"/>
              <p:cNvSpPr>
                <a:spLocks noChangeArrowheads="1"/>
              </p:cNvSpPr>
              <p:nvPr/>
            </p:nvSpPr>
            <p:spPr bwMode="auto">
              <a:xfrm>
                <a:off x="6199555" y="5629425"/>
                <a:ext cx="2560153" cy="34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螺杆弹性模量</a:t>
                </a:r>
                <a:endParaRPr lang="zh-CN" altLang="en-US" sz="2000" b="1" dirty="0">
                  <a:solidFill>
                    <a:srgbClr val="003399"/>
                  </a:solidFill>
                  <a:ea typeface="宋体" panose="02010600030101010101" pitchFamily="2" charset="-122"/>
                </a:endParaRPr>
              </a:p>
            </p:txBody>
          </p:sp>
          <p:sp>
            <p:nvSpPr>
              <p:cNvPr id="20" name="Rectangle 7"/>
              <p:cNvSpPr>
                <a:spLocks noChangeArrowheads="1"/>
              </p:cNvSpPr>
              <p:nvPr/>
            </p:nvSpPr>
            <p:spPr bwMode="auto">
              <a:xfrm>
                <a:off x="6255078" y="6216334"/>
                <a:ext cx="2719788" cy="34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zh-CN" altLang="en-US" sz="2000" b="1" dirty="0">
                    <a:solidFill>
                      <a:srgbClr val="003399"/>
                    </a:solidFill>
                    <a:ea typeface="宋体" panose="02010600030101010101" pitchFamily="2" charset="-122"/>
                  </a:rPr>
                  <a:t>螺杆危险面的惯性矩</a:t>
                </a:r>
                <a:endParaRPr lang="zh-CN" altLang="en-US" sz="2000" b="1" dirty="0">
                  <a:solidFill>
                    <a:srgbClr val="003399"/>
                  </a:solidFill>
                  <a:ea typeface="宋体" panose="02010600030101010101" pitchFamily="2" charset="-122"/>
                </a:endParaRPr>
              </a:p>
            </p:txBody>
          </p:sp>
          <p:graphicFrame>
            <p:nvGraphicFramePr>
              <p:cNvPr id="21" name="Object 7"/>
              <p:cNvGraphicFramePr>
                <a:graphicFrameLocks noChangeAspect="1"/>
              </p:cNvGraphicFramePr>
              <p:nvPr/>
            </p:nvGraphicFramePr>
            <p:xfrm>
              <a:off x="5175537" y="5992482"/>
              <a:ext cx="864096" cy="710361"/>
            </p:xfrm>
            <a:graphic>
              <a:graphicData uri="http://schemas.openxmlformats.org/presentationml/2006/ole">
                <mc:AlternateContent xmlns:mc="http://schemas.openxmlformats.org/markup-compatibility/2006">
                  <mc:Choice xmlns:v="urn:schemas-microsoft-com:vml" Requires="v">
                    <p:oleObj spid="_x0000_s14389" name="Equation" r:id="rId9" imgW="546100" imgH="419100" progId="Equation.DSMT4">
                      <p:embed/>
                    </p:oleObj>
                  </mc:Choice>
                  <mc:Fallback>
                    <p:oleObj name="Equation" r:id="rId9" imgW="546100" imgH="419100" progId="Equation.DSMT4">
                      <p:embed/>
                      <p:pic>
                        <p:nvPicPr>
                          <p:cNvPr id="0" name="图片 1438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75537" y="5992482"/>
                            <a:ext cx="864096" cy="71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 name="对象 9">
              <a:hlinkClick r:id="" action="ppaction://ole?verb="/>
            </p:cNvPr>
            <p:cNvGraphicFramePr>
              <a:graphicFrameLocks noChangeAspect="1"/>
            </p:cNvGraphicFramePr>
            <p:nvPr/>
          </p:nvGraphicFramePr>
          <p:xfrm>
            <a:off x="8214" y="3660"/>
            <a:ext cx="651" cy="840"/>
          </p:xfrm>
          <a:graphic>
            <a:graphicData uri="http://schemas.openxmlformats.org/presentationml/2006/ole">
              <mc:AlternateContent xmlns:mc="http://schemas.openxmlformats.org/markup-compatibility/2006">
                <mc:Choice xmlns:v="urn:schemas-microsoft-com:vml" Requires="v">
                  <p:oleObj spid="_x0000_s2052" name="" r:id="rId11" imgW="177165" imgH="228600" progId="Equation.KSEE3">
                    <p:embed/>
                  </p:oleObj>
                </mc:Choice>
                <mc:Fallback>
                  <p:oleObj name="" r:id="rId11" imgW="177165" imgH="228600" progId="Equation.KSEE3">
                    <p:embed/>
                    <p:pic>
                      <p:nvPicPr>
                        <p:cNvPr id="0" name="图片 2051"/>
                        <p:cNvPicPr/>
                        <p:nvPr/>
                      </p:nvPicPr>
                      <p:blipFill>
                        <a:blip r:embed="rId12"/>
                        <a:stretch>
                          <a:fillRect/>
                        </a:stretch>
                      </p:blipFill>
                      <p:spPr>
                        <a:xfrm>
                          <a:off x="8214" y="3660"/>
                          <a:ext cx="651" cy="840"/>
                        </a:xfrm>
                        <a:prstGeom prst="rect">
                          <a:avLst/>
                        </a:prstGeom>
                      </p:spPr>
                    </p:pic>
                  </p:oleObj>
                </mc:Fallback>
              </mc:AlternateContent>
            </a:graphicData>
          </a:graphic>
        </p:graphicFrame>
      </p:grpSp>
      <p:graphicFrame>
        <p:nvGraphicFramePr>
          <p:cNvPr id="22" name="对象 21">
            <a:hlinkClick r:id="" action="ppaction://ole?verb="/>
          </p:cNvPr>
          <p:cNvGraphicFramePr>
            <a:graphicFrameLocks noChangeAspect="1"/>
          </p:cNvGraphicFramePr>
          <p:nvPr/>
        </p:nvGraphicFramePr>
        <p:xfrm>
          <a:off x="753110" y="4001135"/>
          <a:ext cx="1386205" cy="389255"/>
        </p:xfrm>
        <a:graphic>
          <a:graphicData uri="http://schemas.openxmlformats.org/presentationml/2006/ole">
            <mc:AlternateContent xmlns:mc="http://schemas.openxmlformats.org/markup-compatibility/2006">
              <mc:Choice xmlns:v="urn:schemas-microsoft-com:vml" Requires="v">
                <p:oleObj spid="_x0000_s6" name="" r:id="rId13" imgW="723900" imgH="203200" progId="Equation.KSEE3">
                  <p:embed/>
                </p:oleObj>
              </mc:Choice>
              <mc:Fallback>
                <p:oleObj name="" r:id="rId13" imgW="723900" imgH="203200" progId="Equation.KSEE3">
                  <p:embed/>
                  <p:pic>
                    <p:nvPicPr>
                      <p:cNvPr id="0" name="图片 2049"/>
                      <p:cNvPicPr/>
                      <p:nvPr/>
                    </p:nvPicPr>
                    <p:blipFill>
                      <a:blip r:embed="rId14"/>
                      <a:stretch>
                        <a:fillRect/>
                      </a:stretch>
                    </p:blipFill>
                    <p:spPr>
                      <a:xfrm>
                        <a:off x="753110" y="4001135"/>
                        <a:ext cx="1386205" cy="389255"/>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2139315" y="4390390"/>
          <a:ext cx="2780030" cy="852170"/>
        </p:xfrm>
        <a:graphic>
          <a:graphicData uri="http://schemas.openxmlformats.org/presentationml/2006/ole">
            <mc:AlternateContent xmlns:mc="http://schemas.openxmlformats.org/markup-compatibility/2006">
              <mc:Choice xmlns:v="urn:schemas-microsoft-com:vml" Requires="v">
                <p:oleObj spid="_x0000_s9" name="" r:id="rId15" imgW="1409700" imgH="431800" progId="Equation.KSEE3">
                  <p:embed/>
                </p:oleObj>
              </mc:Choice>
              <mc:Fallback>
                <p:oleObj name="" r:id="rId15" imgW="1409700" imgH="431800" progId="Equation.KSEE3">
                  <p:embed/>
                  <p:pic>
                    <p:nvPicPr>
                      <p:cNvPr id="0" name="图片 2050"/>
                      <p:cNvPicPr/>
                      <p:nvPr/>
                    </p:nvPicPr>
                    <p:blipFill>
                      <a:blip r:embed="rId16"/>
                      <a:stretch>
                        <a:fillRect/>
                      </a:stretch>
                    </p:blipFill>
                    <p:spPr>
                      <a:xfrm>
                        <a:off x="2139315" y="4390390"/>
                        <a:ext cx="2780030" cy="852170"/>
                      </a:xfrm>
                      <a:prstGeom prst="rect">
                        <a:avLst/>
                      </a:prstGeom>
                    </p:spPr>
                  </p:pic>
                </p:oleObj>
              </mc:Fallback>
            </mc:AlternateContent>
          </a:graphicData>
        </a:graphic>
      </p:graphicFrame>
      <p:pic>
        <p:nvPicPr>
          <p:cNvPr id="13323" name="图片 1073742872" descr="44303071dc0a1f9688d599dbc999570副本"/>
          <p:cNvPicPr>
            <a:picLocks noChangeAspect="1"/>
          </p:cNvPicPr>
          <p:nvPr/>
        </p:nvPicPr>
        <p:blipFill>
          <a:blip r:embed="rId17"/>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 grpId="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2"/>
          <p:cNvSpPr>
            <a:spLocks noGrp="1"/>
          </p:cNvSpPr>
          <p:nvPr>
            <p:ph idx="1"/>
          </p:nvPr>
        </p:nvSpPr>
        <p:spPr>
          <a:xfrm>
            <a:off x="457200" y="928688"/>
            <a:ext cx="8229600" cy="5357812"/>
          </a:xfrm>
        </p:spPr>
        <p:txBody>
          <a:bodyPr/>
          <a:lstStyle/>
          <a:p>
            <a:pPr marL="0" indent="0" eaLnBrk="1" hangingPunct="1">
              <a:buNone/>
            </a:pPr>
            <a:r>
              <a:rPr lang="zh-CN" altLang="en-US" sz="2400" b="0" dirty="0" smtClean="0">
                <a:solidFill>
                  <a:srgbClr val="FF0000"/>
                </a:solidFill>
                <a:latin typeface="黑体" panose="02010609060101010101" pitchFamily="2" charset="-122"/>
                <a:ea typeface="黑体" panose="02010609060101010101" pitchFamily="2" charset="-122"/>
              </a:rPr>
              <a:t>教材</a:t>
            </a:r>
            <a:r>
              <a:rPr lang="en-US" altLang="zh-CN" sz="2400" b="0" dirty="0" smtClean="0">
                <a:solidFill>
                  <a:srgbClr val="FF0000"/>
                </a:solidFill>
                <a:latin typeface="黑体" panose="02010609060101010101" pitchFamily="2" charset="-122"/>
                <a:ea typeface="黑体" panose="02010609060101010101" pitchFamily="2" charset="-122"/>
              </a:rPr>
              <a:t>P117 </a:t>
            </a:r>
            <a:r>
              <a:rPr lang="zh-CN" altLang="en-US" sz="2400" b="0" dirty="0" smtClean="0">
                <a:solidFill>
                  <a:srgbClr val="FF0000"/>
                </a:solidFill>
                <a:latin typeface="黑体" panose="02010609060101010101" pitchFamily="2" charset="-122"/>
                <a:ea typeface="黑体" panose="02010609060101010101" pitchFamily="2" charset="-122"/>
              </a:rPr>
              <a:t>表</a:t>
            </a:r>
            <a:r>
              <a:rPr lang="en-US" altLang="zh-CN" sz="2400" b="0" dirty="0" smtClean="0">
                <a:solidFill>
                  <a:srgbClr val="FF0000"/>
                </a:solidFill>
                <a:latin typeface="黑体" panose="02010609060101010101" pitchFamily="2" charset="-122"/>
                <a:ea typeface="黑体" panose="02010609060101010101" pitchFamily="2" charset="-122"/>
              </a:rPr>
              <a:t>2.4-</a:t>
            </a:r>
            <a:r>
              <a:rPr lang="en-US" sz="2400" b="0" dirty="0" smtClean="0">
                <a:solidFill>
                  <a:srgbClr val="FF0000"/>
                </a:solidFill>
                <a:latin typeface="黑体" panose="02010609060101010101" pitchFamily="2" charset="-122"/>
                <a:ea typeface="黑体" panose="02010609060101010101" pitchFamily="2" charset="-122"/>
              </a:rPr>
              <a:t>5</a:t>
            </a:r>
            <a:endParaRPr lang="en-US" sz="2400" b="0" dirty="0" smtClean="0">
              <a:solidFill>
                <a:srgbClr val="FF0000"/>
              </a:solidFill>
              <a:latin typeface="黑体" panose="02010609060101010101" pitchFamily="2" charset="-122"/>
              <a:ea typeface="黑体" panose="02010609060101010101" pitchFamily="2" charset="-122"/>
            </a:endParaRPr>
          </a:p>
        </p:txBody>
      </p:sp>
      <p:pic>
        <p:nvPicPr>
          <p:cNvPr id="36868" name="Picture 4" descr="Image1"/>
          <p:cNvPicPr>
            <a:picLocks noChangeAspect="1" noChangeArrowheads="1"/>
          </p:cNvPicPr>
          <p:nvPr/>
        </p:nvPicPr>
        <p:blipFill>
          <a:blip r:embed="rId1">
            <a:extLst>
              <a:ext uri="{28A0092B-C50C-407E-A947-70E740481C1C}">
                <a14:useLocalDpi xmlns:a14="http://schemas.microsoft.com/office/drawing/2010/main" val="0"/>
              </a:ext>
            </a:extLst>
          </a:blip>
          <a:srcRect t="7916"/>
          <a:stretch>
            <a:fillRect/>
          </a:stretch>
        </p:blipFill>
        <p:spPr bwMode="auto">
          <a:xfrm>
            <a:off x="0" y="2231390"/>
            <a:ext cx="9144000" cy="405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607310" y="1713865"/>
            <a:ext cx="3834130" cy="398780"/>
          </a:xfrm>
          <a:prstGeom prst="rect">
            <a:avLst/>
          </a:prstGeom>
          <a:noFill/>
        </p:spPr>
        <p:txBody>
          <a:bodyPr wrap="square" rtlCol="0">
            <a:spAutoFit/>
          </a:bodyPr>
          <a:p>
            <a:r>
              <a:rPr lang="zh-CN" altLang="en-US" sz="2000" b="1"/>
              <a:t>表</a:t>
            </a:r>
            <a:r>
              <a:rPr lang="en-US" altLang="zh-CN" sz="2000" b="1"/>
              <a:t>2.4-5  </a:t>
            </a:r>
            <a:r>
              <a:rPr lang="zh-CN" altLang="en-US" sz="2000" b="1"/>
              <a:t>螺杆长度折算系数</a:t>
            </a:r>
            <a:r>
              <a:rPr lang="zh-CN" altLang="en-US" sz="2000" b="1">
                <a:sym typeface="Symbol" panose="05050102010706020507" charset="0"/>
              </a:rPr>
              <a:t></a:t>
            </a:r>
            <a:endParaRPr lang="zh-CN" altLang="en-US" sz="2000" b="1">
              <a:sym typeface="Symbol" panose="05050102010706020507" charset="0"/>
            </a:endParaRPr>
          </a:p>
        </p:txBody>
      </p:sp>
      <p:sp>
        <p:nvSpPr>
          <p:cNvPr id="11" name="Rectangle 12"/>
          <p:cNvSpPr>
            <a:spLocks noChangeArrowheads="1"/>
          </p:cNvSpPr>
          <p:nvPr/>
        </p:nvSpPr>
        <p:spPr bwMode="auto">
          <a:xfrm>
            <a:off x="546454" y="269446"/>
            <a:ext cx="3078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2"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2"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2"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2"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2" charset="-122"/>
              </a:defRPr>
            </a:lvl9pPr>
          </a:lstStyle>
          <a:p>
            <a:pPr eaLnBrk="1" hangingPunct="1"/>
            <a:r>
              <a:rPr lang="en-US" altLang="zh-CN" dirty="0" smtClean="0">
                <a:solidFill>
                  <a:srgbClr val="0000FF"/>
                </a:solidFill>
                <a:latin typeface="黑体" panose="02010609060101010101" pitchFamily="2" charset="-122"/>
              </a:rPr>
              <a:t>5</a:t>
            </a:r>
            <a:r>
              <a:rPr lang="zh-CN" altLang="en-US" dirty="0" smtClean="0">
                <a:solidFill>
                  <a:srgbClr val="0000FF"/>
                </a:solidFill>
                <a:latin typeface="黑体" panose="02010609060101010101" pitchFamily="2" charset="-122"/>
              </a:rPr>
              <a:t>、</a:t>
            </a:r>
            <a:r>
              <a:rPr lang="zh-CN" altLang="en-US" dirty="0" smtClean="0">
                <a:solidFill>
                  <a:srgbClr val="0000FF"/>
                </a:solidFill>
                <a:latin typeface="黑体" panose="02010609060101010101" pitchFamily="2" charset="-122"/>
              </a:rPr>
              <a:t>螺杆</a:t>
            </a:r>
            <a:r>
              <a:rPr lang="zh-CN" altLang="en-US" dirty="0">
                <a:solidFill>
                  <a:srgbClr val="0000FF"/>
                </a:solidFill>
                <a:latin typeface="黑体" panose="02010609060101010101" pitchFamily="2" charset="-122"/>
              </a:rPr>
              <a:t>的稳定性校核</a:t>
            </a:r>
            <a:endParaRPr lang="zh-CN" altLang="en-US" dirty="0">
              <a:solidFill>
                <a:srgbClr val="0000FF"/>
              </a:solidFill>
              <a:latin typeface="黑体" panose="02010609060101010101" pitchFamily="2" charset="-122"/>
            </a:endParaRPr>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Text Box 5"/>
          <p:cNvSpPr txBox="1">
            <a:spLocks noChangeArrowheads="1"/>
          </p:cNvSpPr>
          <p:nvPr/>
        </p:nvSpPr>
        <p:spPr bwMode="auto">
          <a:xfrm>
            <a:off x="917575" y="1107758"/>
            <a:ext cx="2270125" cy="4766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dirty="0">
                <a:solidFill>
                  <a:srgbClr val="002060"/>
                </a:solidFill>
                <a:latin typeface="黑体" panose="02010609060101010101" pitchFamily="2" charset="-122"/>
                <a:ea typeface="黑体" panose="02010609060101010101" pitchFamily="2" charset="-122"/>
              </a:rPr>
              <a:t>自锁条件：</a:t>
            </a:r>
            <a:endParaRPr lang="zh-CN" altLang="en-US" sz="2400" dirty="0">
              <a:solidFill>
                <a:srgbClr val="002060"/>
              </a:solidFill>
              <a:latin typeface="黑体" panose="02010609060101010101" pitchFamily="2" charset="-122"/>
              <a:ea typeface="黑体" panose="02010609060101010101" pitchFamily="2" charset="-122"/>
            </a:endParaRPr>
          </a:p>
        </p:txBody>
      </p:sp>
      <p:sp>
        <p:nvSpPr>
          <p:cNvPr id="7176" name="Text Box 7"/>
          <p:cNvSpPr txBox="1">
            <a:spLocks noChangeArrowheads="1"/>
          </p:cNvSpPr>
          <p:nvPr/>
        </p:nvSpPr>
        <p:spPr bwMode="auto">
          <a:xfrm>
            <a:off x="735648" y="1900238"/>
            <a:ext cx="43926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solidFill>
                  <a:srgbClr val="FF0000"/>
                </a:solidFill>
                <a:latin typeface="黑体" panose="02010609060101010101" pitchFamily="2" charset="-122"/>
                <a:ea typeface="黑体" panose="02010609060101010101" pitchFamily="2" charset="-122"/>
              </a:rPr>
              <a:t>式中</a:t>
            </a:r>
            <a:r>
              <a:rPr kumimoji="1" lang="en-US" altLang="zh-CN" sz="2400" dirty="0">
                <a:solidFill>
                  <a:srgbClr val="FF0000"/>
                </a:solidFill>
                <a:latin typeface="黑体" panose="02010609060101010101" pitchFamily="2" charset="-122"/>
                <a:ea typeface="黑体" panose="02010609060101010101" pitchFamily="2" charset="-122"/>
              </a:rPr>
              <a:t>:  </a:t>
            </a:r>
            <a:r>
              <a:rPr kumimoji="1" lang="en-US" altLang="zh-CN" sz="2400"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a:t>
            </a:r>
            <a:r>
              <a:rPr kumimoji="1" lang="en-US" altLang="zh-CN" sz="2400" i="1" baseline="-25000" dirty="0">
                <a:solidFill>
                  <a:srgbClr val="FF0000"/>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v</a:t>
            </a:r>
            <a:r>
              <a:rPr kumimoji="1" lang="zh-CN" altLang="en-US" sz="2400" dirty="0">
                <a:solidFill>
                  <a:srgbClr val="FF0000"/>
                </a:solidFill>
                <a:latin typeface="黑体" panose="02010609060101010101" pitchFamily="2" charset="-122"/>
                <a:ea typeface="黑体" panose="02010609060101010101" pitchFamily="2" charset="-122"/>
                <a:sym typeface="Symbol" panose="05050102010706020507" pitchFamily="18" charset="2"/>
              </a:rPr>
              <a:t>－当量摩擦角</a:t>
            </a:r>
            <a:r>
              <a:rPr kumimoji="1" lang="zh-CN" altLang="en-US" sz="2400" dirty="0">
                <a:solidFill>
                  <a:srgbClr val="FF0000"/>
                </a:solidFill>
                <a:latin typeface="黑体" panose="02010609060101010101" pitchFamily="2" charset="-122"/>
                <a:ea typeface="黑体" panose="02010609060101010101" pitchFamily="2" charset="-122"/>
              </a:rPr>
              <a:t> </a:t>
            </a:r>
            <a:endParaRPr kumimoji="1" lang="zh-CN" altLang="en-US" sz="2400" dirty="0">
              <a:solidFill>
                <a:srgbClr val="FF0000"/>
              </a:solidFill>
              <a:latin typeface="黑体" panose="02010609060101010101" pitchFamily="2" charset="-122"/>
              <a:ea typeface="黑体" panose="02010609060101010101" pitchFamily="2" charset="-122"/>
            </a:endParaRPr>
          </a:p>
        </p:txBody>
      </p:sp>
      <p:graphicFrame>
        <p:nvGraphicFramePr>
          <p:cNvPr id="7" name="Object 8"/>
          <p:cNvGraphicFramePr>
            <a:graphicFrameLocks noChangeAspect="1"/>
          </p:cNvGraphicFramePr>
          <p:nvPr/>
        </p:nvGraphicFramePr>
        <p:xfrm>
          <a:off x="5487035" y="1814513"/>
          <a:ext cx="2551113" cy="577850"/>
        </p:xfrm>
        <a:graphic>
          <a:graphicData uri="http://schemas.openxmlformats.org/presentationml/2006/ole">
            <mc:AlternateContent xmlns:mc="http://schemas.openxmlformats.org/markup-compatibility/2006">
              <mc:Choice xmlns:v="urn:schemas-microsoft-com:vml" Requires="v">
                <p:oleObj spid="_x0000_s7271" name="公式" r:id="rId1" imgW="888365" imgH="203200" progId="Equation.3">
                  <p:embed/>
                </p:oleObj>
              </mc:Choice>
              <mc:Fallback>
                <p:oleObj name="公式" r:id="rId1" imgW="888365" imgH="203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7035" y="1814513"/>
                        <a:ext cx="2551113"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Text Box 9"/>
          <p:cNvSpPr txBox="1">
            <a:spLocks noChangeArrowheads="1"/>
          </p:cNvSpPr>
          <p:nvPr/>
        </p:nvSpPr>
        <p:spPr bwMode="auto">
          <a:xfrm>
            <a:off x="1888173" y="2541588"/>
            <a:ext cx="3521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 </a:t>
            </a:r>
            <a:r>
              <a:rPr kumimoji="1" lang="en-US" altLang="zh-CN" sz="2400"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 f</a:t>
            </a:r>
            <a:r>
              <a:rPr kumimoji="1" lang="en-US" altLang="zh-CN" sz="2400"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sym typeface="Symbol" panose="05050102010706020507" pitchFamily="18" charset="2"/>
              </a:rPr>
              <a:t>′</a:t>
            </a:r>
            <a:r>
              <a:rPr kumimoji="1" lang="zh-CN" altLang="zh-CN" sz="2400" dirty="0">
                <a:solidFill>
                  <a:srgbClr val="FF0000"/>
                </a:solidFill>
                <a:latin typeface="黑体" panose="02010609060101010101" pitchFamily="2" charset="-122"/>
                <a:ea typeface="黑体" panose="02010609060101010101" pitchFamily="2" charset="-122"/>
                <a:cs typeface="Times New Roman" panose="02020603050405020304" pitchFamily="18" charset="0"/>
              </a:rPr>
              <a:t>－</a:t>
            </a:r>
            <a:r>
              <a:rPr kumimoji="1" lang="zh-CN" altLang="en-US" sz="2400" dirty="0">
                <a:solidFill>
                  <a:srgbClr val="FF0000"/>
                </a:solidFill>
                <a:latin typeface="黑体" panose="02010609060101010101" pitchFamily="2" charset="-122"/>
                <a:ea typeface="黑体" panose="02010609060101010101" pitchFamily="2" charset="-122"/>
                <a:cs typeface="Times New Roman" panose="02020603050405020304" pitchFamily="18" charset="0"/>
              </a:rPr>
              <a:t>当量摩擦系数</a:t>
            </a:r>
            <a:endParaRPr kumimoji="1" lang="zh-CN" altLang="en-US" sz="2400"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p:txBody>
      </p:sp>
      <p:sp>
        <p:nvSpPr>
          <p:cNvPr id="7178" name="Rectangle 10"/>
          <p:cNvSpPr>
            <a:spLocks noChangeArrowheads="1"/>
          </p:cNvSpPr>
          <p:nvPr/>
        </p:nvSpPr>
        <p:spPr bwMode="auto">
          <a:xfrm>
            <a:off x="1936077" y="3091143"/>
            <a:ext cx="33623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 </a:t>
            </a:r>
            <a:r>
              <a:rPr kumimoji="1" lang="en-US" altLang="zh-CN" sz="2400" b="1" i="1" dirty="0">
                <a:solidFill>
                  <a:srgbClr val="FF0000"/>
                </a:solidFill>
                <a:latin typeface="Times New Roman" panose="02020603050405020304" pitchFamily="18" charset="0"/>
                <a:ea typeface="黑体" panose="02010609060101010101" pitchFamily="2" charset="-122"/>
                <a:cs typeface="Times New Roman" panose="02020603050405020304" pitchFamily="18" charset="0"/>
              </a:rPr>
              <a:t>f</a:t>
            </a:r>
            <a:r>
              <a:rPr kumimoji="1" lang="zh-CN" altLang="en-US" sz="2400" dirty="0">
                <a:solidFill>
                  <a:srgbClr val="FF0000"/>
                </a:solidFill>
                <a:latin typeface="黑体" panose="02010609060101010101" pitchFamily="2" charset="-122"/>
                <a:ea typeface="黑体" panose="02010609060101010101" pitchFamily="2" charset="-122"/>
                <a:cs typeface="Times New Roman" panose="02020603050405020304" pitchFamily="18" charset="0"/>
              </a:rPr>
              <a:t>－摩擦系数</a:t>
            </a:r>
            <a:endParaRPr kumimoji="1" lang="zh-CN" altLang="en-US" sz="2400" dirty="0">
              <a:solidFill>
                <a:srgbClr val="FF0000"/>
              </a:solidFill>
              <a:latin typeface="黑体" panose="02010609060101010101" pitchFamily="2" charset="-122"/>
              <a:ea typeface="黑体" panose="02010609060101010101" pitchFamily="2" charset="-122"/>
              <a:cs typeface="Times New Roman" panose="02020603050405020304" pitchFamily="18" charset="0"/>
            </a:endParaRPr>
          </a:p>
        </p:txBody>
      </p:sp>
      <p:graphicFrame>
        <p:nvGraphicFramePr>
          <p:cNvPr id="10" name="Object 11"/>
          <p:cNvGraphicFramePr>
            <a:graphicFrameLocks noChangeAspect="1"/>
          </p:cNvGraphicFramePr>
          <p:nvPr/>
        </p:nvGraphicFramePr>
        <p:xfrm>
          <a:off x="5415598" y="2246313"/>
          <a:ext cx="1871662" cy="1114425"/>
        </p:xfrm>
        <a:graphic>
          <a:graphicData uri="http://schemas.openxmlformats.org/presentationml/2006/ole">
            <mc:AlternateContent xmlns:mc="http://schemas.openxmlformats.org/markup-compatibility/2006">
              <mc:Choice xmlns:v="urn:schemas-microsoft-com:vml" Requires="v">
                <p:oleObj spid="_x0000_s7272" name="公式" r:id="rId3" imgW="596900" imgH="355600" progId="Equation.3">
                  <p:embed/>
                </p:oleObj>
              </mc:Choice>
              <mc:Fallback>
                <p:oleObj name="公式" r:id="rId3" imgW="596900" imgH="355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5598" y="2246313"/>
                        <a:ext cx="1871662"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文本框 2"/>
          <p:cNvSpPr txBox="1"/>
          <p:nvPr/>
        </p:nvSpPr>
        <p:spPr>
          <a:xfrm>
            <a:off x="671195" y="361950"/>
            <a:ext cx="3535680" cy="460375"/>
          </a:xfrm>
          <a:prstGeom prst="rect">
            <a:avLst/>
          </a:prstGeom>
          <a:noFill/>
        </p:spPr>
        <p:txBody>
          <a:bodyPr wrap="none" rtlCol="0" anchor="t">
            <a:spAutoFit/>
          </a:bodyPr>
          <a:p>
            <a:pPr eaLnBrk="1" hangingPunct="1">
              <a:spcBef>
                <a:spcPct val="0"/>
              </a:spcBef>
              <a:buFont typeface="Arial" panose="020B0604020202020204" pitchFamily="34" charset="0"/>
              <a:buNone/>
            </a:pPr>
            <a:r>
              <a:rPr lang="en-US" altLang="zh-CN" sz="2400" dirty="0" smtClean="0">
                <a:solidFill>
                  <a:srgbClr val="0000FF"/>
                </a:solidFill>
                <a:latin typeface="黑体" panose="02010609060101010101" pitchFamily="2" charset="-122"/>
                <a:ea typeface="黑体" panose="02010609060101010101" pitchFamily="2" charset="-122"/>
                <a:cs typeface="+mj-cs"/>
                <a:sym typeface="+mn-ea"/>
              </a:rPr>
              <a:t>6</a:t>
            </a:r>
            <a:r>
              <a:rPr lang="zh-CN" altLang="en-US" sz="2400" dirty="0" smtClean="0">
                <a:solidFill>
                  <a:srgbClr val="0000FF"/>
                </a:solidFill>
                <a:latin typeface="黑体" panose="02010609060101010101" pitchFamily="2" charset="-122"/>
                <a:ea typeface="黑体" panose="02010609060101010101" pitchFamily="2" charset="-122"/>
                <a:cs typeface="+mj-cs"/>
                <a:sym typeface="+mn-ea"/>
              </a:rPr>
              <a:t>、</a:t>
            </a:r>
            <a:r>
              <a:rPr lang="en-US" altLang="zh-CN" sz="2400" dirty="0" smtClean="0">
                <a:solidFill>
                  <a:srgbClr val="0000FF"/>
                </a:solidFill>
                <a:latin typeface="黑体" panose="02010609060101010101" pitchFamily="2" charset="-122"/>
                <a:ea typeface="黑体" panose="02010609060101010101" pitchFamily="2" charset="-122"/>
                <a:cs typeface="+mj-cs"/>
                <a:sym typeface="+mn-ea"/>
              </a:rPr>
              <a:t> </a:t>
            </a:r>
            <a:r>
              <a:rPr lang="zh-CN" altLang="en-US" sz="2400" dirty="0">
                <a:solidFill>
                  <a:srgbClr val="0000FF"/>
                </a:solidFill>
                <a:latin typeface="黑体" panose="02010609060101010101" pitchFamily="2" charset="-122"/>
                <a:ea typeface="黑体" panose="02010609060101010101" pitchFamily="2" charset="-122"/>
                <a:cs typeface="+mj-cs"/>
                <a:sym typeface="+mn-ea"/>
              </a:rPr>
              <a:t>螺纹副自锁条件校核</a:t>
            </a:r>
            <a:endParaRPr lang="zh-CN" altLang="en-US" sz="2400" dirty="0">
              <a:solidFill>
                <a:srgbClr val="0000FF"/>
              </a:solidFill>
              <a:latin typeface="黑体" panose="02010609060101010101" pitchFamily="2" charset="-122"/>
              <a:ea typeface="黑体" panose="02010609060101010101" pitchFamily="2" charset="-122"/>
              <a:cs typeface="+mj-cs"/>
              <a:sym typeface="+mn-ea"/>
            </a:endParaRPr>
          </a:p>
        </p:txBody>
      </p:sp>
      <p:graphicFrame>
        <p:nvGraphicFramePr>
          <p:cNvPr id="4" name="对象 3">
            <a:hlinkClick r:id="" action="ppaction://ole?verb="/>
          </p:cNvPr>
          <p:cNvGraphicFramePr>
            <a:graphicFrameLocks noChangeAspect="1"/>
          </p:cNvGraphicFramePr>
          <p:nvPr/>
        </p:nvGraphicFramePr>
        <p:xfrm>
          <a:off x="2792095" y="1043305"/>
          <a:ext cx="1179195" cy="606425"/>
        </p:xfrm>
        <a:graphic>
          <a:graphicData uri="http://schemas.openxmlformats.org/presentationml/2006/ole">
            <mc:AlternateContent xmlns:mc="http://schemas.openxmlformats.org/markup-compatibility/2006">
              <mc:Choice xmlns:v="urn:schemas-microsoft-com:vml" Requires="v">
                <p:oleObj spid="_x0000_s1025" name="" r:id="rId5" imgW="444500" imgH="228600" progId="Equation.KSEE3">
                  <p:embed/>
                </p:oleObj>
              </mc:Choice>
              <mc:Fallback>
                <p:oleObj name="" r:id="rId5" imgW="444500" imgH="228600" progId="Equation.KSEE3">
                  <p:embed/>
                  <p:pic>
                    <p:nvPicPr>
                      <p:cNvPr id="0" name="图片 1024"/>
                      <p:cNvPicPr/>
                      <p:nvPr/>
                    </p:nvPicPr>
                    <p:blipFill>
                      <a:blip r:embed="rId6"/>
                      <a:stretch>
                        <a:fillRect/>
                      </a:stretch>
                    </p:blipFill>
                    <p:spPr>
                      <a:xfrm>
                        <a:off x="2792095" y="1043305"/>
                        <a:ext cx="1179195" cy="606425"/>
                      </a:xfrm>
                      <a:prstGeom prst="rect">
                        <a:avLst/>
                      </a:prstGeom>
                    </p:spPr>
                  </p:pic>
                </p:oleObj>
              </mc:Fallback>
            </mc:AlternateContent>
          </a:graphicData>
        </a:graphic>
      </p:graphicFrame>
      <p:sp>
        <p:nvSpPr>
          <p:cNvPr id="2" name="文本框 1"/>
          <p:cNvSpPr txBox="1"/>
          <p:nvPr/>
        </p:nvSpPr>
        <p:spPr>
          <a:xfrm>
            <a:off x="735965" y="3965575"/>
            <a:ext cx="7291705"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cs typeface="黑体" panose="02010609060101010101" pitchFamily="2" charset="-122"/>
              </a:rPr>
              <a:t>螺旋传动螺纹副的摩擦因数见教材</a:t>
            </a:r>
            <a:r>
              <a:rPr lang="en-US" altLang="zh-CN" sz="2400">
                <a:latin typeface="黑体" panose="02010609060101010101" pitchFamily="2" charset="-122"/>
                <a:ea typeface="黑体" panose="02010609060101010101" pitchFamily="2" charset="-122"/>
                <a:cs typeface="黑体" panose="02010609060101010101" pitchFamily="2" charset="-122"/>
              </a:rPr>
              <a:t>P117 </a:t>
            </a:r>
            <a:r>
              <a:rPr lang="zh-CN" altLang="en-US" sz="2400">
                <a:latin typeface="黑体" panose="02010609060101010101" pitchFamily="2" charset="-122"/>
                <a:ea typeface="黑体" panose="02010609060101010101" pitchFamily="2" charset="-122"/>
                <a:cs typeface="黑体" panose="02010609060101010101" pitchFamily="2" charset="-122"/>
              </a:rPr>
              <a:t>表</a:t>
            </a:r>
            <a:r>
              <a:rPr lang="en-US" altLang="zh-CN" sz="2400">
                <a:latin typeface="黑体" panose="02010609060101010101" pitchFamily="2" charset="-122"/>
                <a:ea typeface="黑体" panose="02010609060101010101" pitchFamily="2" charset="-122"/>
                <a:cs typeface="黑体" panose="02010609060101010101" pitchFamily="2" charset="-122"/>
              </a:rPr>
              <a:t>2.4-6</a:t>
            </a:r>
            <a:endParaRPr lang="en-US" altLang="zh-CN" sz="2400">
              <a:latin typeface="黑体" panose="02010609060101010101" pitchFamily="2" charset="-122"/>
              <a:ea typeface="黑体" panose="02010609060101010101" pitchFamily="2" charset="-122"/>
              <a:cs typeface="黑体" panose="02010609060101010101" pitchFamily="2" charset="-122"/>
            </a:endParaRPr>
          </a:p>
        </p:txBody>
      </p:sp>
      <p:pic>
        <p:nvPicPr>
          <p:cNvPr id="13323" name="图片 1073742872" descr="44303071dc0a1f9688d599dbc999570副本"/>
          <p:cNvPicPr>
            <a:picLocks noChangeAspect="1"/>
          </p:cNvPicPr>
          <p:nvPr/>
        </p:nvPicPr>
        <p:blipFill>
          <a:blip r:embed="rId7"/>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53" name="Picture 13" descr="rewind1">
            <a:hlinkClick r:id="rId1" action="ppaction://hlinksldjump"/>
          </p:cNvPr>
          <p:cNvPicPr>
            <a:picLocks noChangeAspect="1"/>
          </p:cNvPicPr>
          <p:nvPr/>
        </p:nvPicPr>
        <p:blipFill>
          <a:blip r:embed="rId2"/>
          <a:stretch>
            <a:fillRect/>
          </a:stretch>
        </p:blipFill>
        <p:spPr>
          <a:xfrm>
            <a:off x="8183563" y="6523038"/>
            <a:ext cx="287337" cy="287337"/>
          </a:xfrm>
          <a:prstGeom prst="rect">
            <a:avLst/>
          </a:prstGeom>
          <a:noFill/>
          <a:ln w="9525">
            <a:noFill/>
          </a:ln>
        </p:spPr>
      </p:pic>
      <p:pic>
        <p:nvPicPr>
          <p:cNvPr id="35854" name="Picture 14" descr="back1">
            <a:hlinkClick r:id="" action="ppaction://hlinkshowjump?jump=previousslide"/>
          </p:cNvPr>
          <p:cNvPicPr>
            <a:picLocks noChangeAspect="1"/>
          </p:cNvPicPr>
          <p:nvPr/>
        </p:nvPicPr>
        <p:blipFill>
          <a:blip r:embed="rId3"/>
          <a:stretch>
            <a:fillRect/>
          </a:stretch>
        </p:blipFill>
        <p:spPr>
          <a:xfrm>
            <a:off x="8585200" y="6523038"/>
            <a:ext cx="287338" cy="287337"/>
          </a:xfrm>
          <a:prstGeom prst="rect">
            <a:avLst/>
          </a:prstGeom>
          <a:noFill/>
          <a:ln w="9525">
            <a:noFill/>
          </a:ln>
        </p:spPr>
      </p:pic>
      <p:sp>
        <p:nvSpPr>
          <p:cNvPr id="35862" name="Text Box 22"/>
          <p:cNvSpPr txBox="1"/>
          <p:nvPr/>
        </p:nvSpPr>
        <p:spPr>
          <a:xfrm>
            <a:off x="420688" y="361950"/>
            <a:ext cx="3078480" cy="460375"/>
          </a:xfrm>
          <a:prstGeom prst="rect">
            <a:avLst/>
          </a:prstGeom>
          <a:noFill/>
          <a:ln w="9525">
            <a:noFill/>
          </a:ln>
        </p:spPr>
        <p:txBody>
          <a:bodyPr wrap="none">
            <a:spAutoFit/>
          </a:bodyPr>
          <a:p>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7</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rPr>
              <a:t>、</a:t>
            </a:r>
            <a:r>
              <a:rPr lang="zh-CN"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螺旋传动效率计算</a:t>
            </a:r>
            <a:endParaRPr lang="zh-CN"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5863" name="Text Box 23"/>
          <p:cNvSpPr txBox="1"/>
          <p:nvPr/>
        </p:nvSpPr>
        <p:spPr>
          <a:xfrm>
            <a:off x="851535" y="1130935"/>
            <a:ext cx="8172450" cy="500063"/>
          </a:xfrm>
          <a:prstGeom prst="rect">
            <a:avLst/>
          </a:prstGeom>
          <a:noFill/>
          <a:ln w="9525">
            <a:noFill/>
          </a:ln>
        </p:spPr>
        <p:txBody>
          <a:bodyPr>
            <a:spAutoFit/>
          </a:bodyPr>
          <a:p>
            <a:pPr eaLnBrk="1" hangingPunct="1">
              <a:lnSpc>
                <a:spcPct val="150000"/>
              </a:lnSpc>
            </a:pPr>
            <a:r>
              <a:rPr lang="zh-CN" altLang="zh-CN" sz="2000" dirty="0">
                <a:latin typeface="Tahoma" panose="020B0604030504040204" pitchFamily="34" charset="0"/>
              </a:rPr>
              <a:t>螺母旋转上升时</a:t>
            </a:r>
            <a:endParaRPr lang="en-US" altLang="zh-CN" sz="2000" baseline="-8000" dirty="0">
              <a:solidFill>
                <a:srgbClr val="000099"/>
              </a:solidFill>
              <a:latin typeface="Times New Roman" panose="02020603050405020304" pitchFamily="18" charset="0"/>
            </a:endParaRPr>
          </a:p>
        </p:txBody>
      </p:sp>
      <p:sp>
        <p:nvSpPr>
          <p:cNvPr id="4" name="矩形 3"/>
          <p:cNvSpPr/>
          <p:nvPr/>
        </p:nvSpPr>
        <p:spPr>
          <a:xfrm>
            <a:off x="851535" y="2193608"/>
            <a:ext cx="1981200" cy="400050"/>
          </a:xfrm>
          <a:prstGeom prst="rect">
            <a:avLst/>
          </a:prstGeom>
          <a:noFill/>
          <a:ln w="9525">
            <a:noFill/>
          </a:ln>
        </p:spPr>
        <p:txBody>
          <a:bodyPr wrap="none">
            <a:spAutoFit/>
          </a:bodyPr>
          <a:p>
            <a:r>
              <a:rPr lang="zh-CN" altLang="en-US" sz="2000" dirty="0">
                <a:latin typeface="华文中宋" panose="02010600040101010101" pitchFamily="2" charset="-122"/>
                <a:cs typeface="Times New Roman" panose="02020603050405020304" pitchFamily="18" charset="0"/>
              </a:rPr>
              <a:t>螺母旋转</a:t>
            </a:r>
            <a:r>
              <a:rPr lang="zh-CN" altLang="zh-CN" sz="2000" dirty="0">
                <a:latin typeface="华文中宋" panose="02010600040101010101" pitchFamily="2" charset="-122"/>
                <a:cs typeface="Times New Roman" panose="02020603050405020304" pitchFamily="18" charset="0"/>
              </a:rPr>
              <a:t>下滑时</a:t>
            </a:r>
            <a:endParaRPr lang="zh-CN" altLang="en-US" sz="2000" dirty="0">
              <a:latin typeface="华文中宋" panose="02010600040101010101" pitchFamily="2" charset="-122"/>
            </a:endParaRPr>
          </a:p>
        </p:txBody>
      </p:sp>
      <p:sp>
        <p:nvSpPr>
          <p:cNvPr id="6" name="矩形 5"/>
          <p:cNvSpPr>
            <a:spLocks noRot="1" noChangeAspect="1" noMove="1" noResize="1" noEditPoints="1" noAdjustHandles="1" noChangeArrowheads="1" noChangeShapeType="1" noTextEdit="1"/>
          </p:cNvSpPr>
          <p:nvPr/>
        </p:nvSpPr>
        <p:spPr>
          <a:xfrm>
            <a:off x="1471038" y="2907891"/>
            <a:ext cx="5544128" cy="553998"/>
          </a:xfrm>
          <a:prstGeom prst="rect">
            <a:avLst/>
          </a:prstGeom>
          <a:blipFill>
            <a:blip r:embed="rId4"/>
            <a:stretch>
              <a:fillRect l="-1210" b="-8791"/>
            </a:stretch>
          </a:blipFill>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rPr>
              <a:t> </a:t>
            </a:r>
            <a:endParaRPr kumimoji="1" lang="zh-CN" altLang="en-US" sz="2200" b="0" i="0" u="none" strike="noStrike" kern="1200" cap="none" spc="0" normalizeH="0" baseline="0" noProof="0">
              <a:ln>
                <a:noFill/>
              </a:ln>
              <a:noFill/>
              <a:effectLst/>
              <a:uLnTx/>
              <a:uFillTx/>
              <a:latin typeface="Tahoma" panose="020B0604030504040204" pitchFamily="34" charset="0"/>
              <a:ea typeface="华文中宋" panose="02010600040101010101" pitchFamily="2" charset="-122"/>
              <a:cs typeface="+mn-cs"/>
            </a:endParaRPr>
          </a:p>
        </p:txBody>
      </p:sp>
      <p:sp>
        <p:nvSpPr>
          <p:cNvPr id="7" name="矩形 6"/>
          <p:cNvSpPr/>
          <p:nvPr/>
        </p:nvSpPr>
        <p:spPr>
          <a:xfrm>
            <a:off x="454978" y="3774123"/>
            <a:ext cx="2773680" cy="460375"/>
          </a:xfrm>
          <a:prstGeom prst="rect">
            <a:avLst/>
          </a:prstGeom>
          <a:noFill/>
          <a:ln w="9525">
            <a:noFill/>
          </a:ln>
        </p:spPr>
        <p:txBody>
          <a:bodyPr wrap="none">
            <a:spAutoFit/>
          </a:bodyPr>
          <a:p>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8</a:t>
            </a:r>
            <a:r>
              <a:rPr lang="zh-CN" altLang="en-US" sz="2400" dirty="0">
                <a:solidFill>
                  <a:srgbClr val="0000FF"/>
                </a:solidFill>
                <a:latin typeface="黑体" panose="02010609060101010101" pitchFamily="2" charset="-122"/>
                <a:ea typeface="黑体" panose="02010609060101010101" pitchFamily="2" charset="-122"/>
                <a:cs typeface="黑体" panose="02010609060101010101" pitchFamily="2" charset="-122"/>
              </a:rPr>
              <a:t>、驱动力矩的</a:t>
            </a:r>
            <a:r>
              <a:rPr lang="zh-CN"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计算</a:t>
            </a:r>
            <a:endParaRPr lang="zh-CN"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8" name="矩形 7"/>
          <p:cNvSpPr/>
          <p:nvPr/>
        </p:nvSpPr>
        <p:spPr>
          <a:xfrm>
            <a:off x="703263" y="4310380"/>
            <a:ext cx="7623175" cy="977265"/>
          </a:xfrm>
          <a:prstGeom prst="rect">
            <a:avLst/>
          </a:prstGeom>
          <a:noFill/>
          <a:ln w="9525">
            <a:noFill/>
          </a:ln>
        </p:spPr>
        <p:txBody>
          <a:bodyPr>
            <a:spAutoFit/>
          </a:bodyPr>
          <a:p>
            <a:pPr>
              <a:lnSpc>
                <a:spcPct val="120000"/>
              </a:lnSpc>
              <a:spcBef>
                <a:spcPts val="0"/>
              </a:spcBef>
              <a:spcAft>
                <a:spcPts val="0"/>
              </a:spcAft>
            </a:pPr>
            <a:r>
              <a:rPr lang="en-US" altLang="zh-CN" sz="2000" dirty="0">
                <a:latin typeface="Tahoma" panose="020B0604030504040204" pitchFamily="34" charset="0"/>
              </a:rPr>
              <a:t>   </a:t>
            </a:r>
            <a:r>
              <a:rPr lang="en-US" altLang="zh-CN" sz="2400" dirty="0">
                <a:latin typeface="黑体" panose="02010609060101010101" pitchFamily="2" charset="-122"/>
                <a:ea typeface="黑体" panose="02010609060101010101" pitchFamily="2" charset="-122"/>
                <a:cs typeface="黑体" panose="02010609060101010101" pitchFamily="2" charset="-122"/>
              </a:rPr>
              <a:t> </a:t>
            </a:r>
            <a:r>
              <a:rPr lang="zh-CN" altLang="zh-CN" sz="2400" dirty="0">
                <a:latin typeface="黑体" panose="02010609060101010101" pitchFamily="2" charset="-122"/>
                <a:ea typeface="黑体" panose="02010609060101010101" pitchFamily="2" charset="-122"/>
                <a:cs typeface="黑体" panose="02010609060101010101" pitchFamily="2" charset="-122"/>
              </a:rPr>
              <a:t>为了确定驱动螺旋传动的原动机功率，所以需进行驱动力矩的计算。螺母旋转上升时驱动力矩为：</a:t>
            </a:r>
            <a:endParaRPr lang="zh-CN" altLang="zh-CN" sz="2400" dirty="0">
              <a:latin typeface="黑体" panose="02010609060101010101" pitchFamily="2" charset="-122"/>
              <a:ea typeface="黑体" panose="02010609060101010101" pitchFamily="2" charset="-122"/>
              <a:cs typeface="黑体" panose="02010609060101010101" pitchFamily="2" charset="-122"/>
            </a:endParaRPr>
          </a:p>
        </p:txBody>
      </p:sp>
      <p:sp>
        <p:nvSpPr>
          <p:cNvPr id="2" name="文本框 1"/>
          <p:cNvSpPr txBox="1">
            <a:spLocks noRot="1" noChangeAspect="1" noMove="1" noResize="1" noEditPoints="1" noAdjustHandles="1" noChangeArrowheads="1" noChangeShapeType="1" noTextEdit="1"/>
          </p:cNvSpPr>
          <p:nvPr/>
        </p:nvSpPr>
        <p:spPr>
          <a:xfrm>
            <a:off x="2917825" y="997585"/>
            <a:ext cx="5028565" cy="767715"/>
          </a:xfrm>
          <a:prstGeom prst="rect">
            <a:avLst/>
          </a:prstGeom>
          <a:blipFill>
            <a:blip r:embed="rId5"/>
            <a:stretch>
              <a:fillRect t="-2273" b="-7955"/>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0" name="文本框 9"/>
          <p:cNvSpPr txBox="1">
            <a:spLocks noRot="1" noChangeAspect="1" noMove="1" noResize="1" noEditPoints="1" noAdjustHandles="1" noChangeArrowheads="1" noChangeShapeType="1" noTextEdit="1"/>
          </p:cNvSpPr>
          <p:nvPr/>
        </p:nvSpPr>
        <p:spPr>
          <a:xfrm>
            <a:off x="3011170" y="2048510"/>
            <a:ext cx="3750945" cy="777240"/>
          </a:xfrm>
          <a:prstGeom prst="rect">
            <a:avLst/>
          </a:prstGeom>
          <a:blipFill>
            <a:blip r:embed="rId6"/>
            <a:stretch>
              <a:fillRect t="-1111" b="-6667"/>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sp>
        <p:nvSpPr>
          <p:cNvPr id="11" name="文本框 10"/>
          <p:cNvSpPr txBox="1">
            <a:spLocks noRot="1" noChangeAspect="1" noMove="1" noResize="1" noEditPoints="1" noAdjustHandles="1" noChangeArrowheads="1" noChangeShapeType="1" noTextEdit="1"/>
          </p:cNvSpPr>
          <p:nvPr/>
        </p:nvSpPr>
        <p:spPr>
          <a:xfrm>
            <a:off x="3011170" y="5374005"/>
            <a:ext cx="1614805" cy="1007745"/>
          </a:xfrm>
          <a:prstGeom prst="rect">
            <a:avLst/>
          </a:prstGeom>
          <a:blipFill>
            <a:blip r:embed="rId7"/>
            <a:stretch>
              <a:fillRect/>
            </a:stretch>
          </a:blipFill>
        </p:spPr>
        <p:txBody>
          <a:bodyPr/>
          <a:lstStyle/>
          <a:p>
            <a:pPr marR="0" defTabSz="914400">
              <a:buClrTx/>
              <a:buSzTx/>
              <a:buFontTx/>
              <a:defRPr/>
            </a:pPr>
            <a:r>
              <a:rPr kumimoji="1" lang="zh-CN" altLang="en-US" kern="1200" cap="none" spc="0" normalizeH="0" baseline="0" noProof="0">
                <a:noFill/>
                <a:latin typeface="Tahoma" panose="020B0604030504040204" pitchFamily="34" charset="0"/>
                <a:ea typeface="华文中宋" panose="02010600040101010101" pitchFamily="2" charset="-122"/>
                <a:cs typeface="+mn-cs"/>
              </a:rPr>
              <a:t> </a:t>
            </a:r>
            <a:endParaRPr kumimoji="1" lang="zh-CN" altLang="en-US" kern="1200" cap="none" spc="0" normalizeH="0" baseline="0" noProof="0">
              <a:noFill/>
              <a:latin typeface="Tahoma" panose="020B0604030504040204" pitchFamily="34" charset="0"/>
              <a:ea typeface="华文中宋" panose="02010600040101010101" pitchFamily="2" charset="-122"/>
              <a:cs typeface="+mn-cs"/>
            </a:endParaRPr>
          </a:p>
        </p:txBody>
      </p:sp>
      <p:pic>
        <p:nvPicPr>
          <p:cNvPr id="13323" name="图片 1073742872" descr="44303071dc0a1f9688d599dbc999570副本"/>
          <p:cNvPicPr>
            <a:picLocks noChangeAspect="1"/>
          </p:cNvPicPr>
          <p:nvPr/>
        </p:nvPicPr>
        <p:blipFill>
          <a:blip r:embed="rId8"/>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585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35853"/>
                                        </p:tgtEl>
                                        <p:attrNameLst>
                                          <p:attrName>style.visibility</p:attrName>
                                        </p:attrNameLst>
                                      </p:cBhvr>
                                      <p:to>
                                        <p:strVal val="visible"/>
                                      </p:to>
                                    </p:set>
                                    <p:anim calcmode="lin" valueType="num">
                                      <p:cBhvr additive="base">
                                        <p:cTn id="10" dur="500" fill="hold"/>
                                        <p:tgtEl>
                                          <p:spTgt spid="35853"/>
                                        </p:tgtEl>
                                        <p:attrNameLst>
                                          <p:attrName>ppt_x</p:attrName>
                                        </p:attrNameLst>
                                      </p:cBhvr>
                                      <p:tavLst>
                                        <p:tav tm="0">
                                          <p:val>
                                            <p:strVal val="0-#ppt_w/2"/>
                                          </p:val>
                                        </p:tav>
                                        <p:tav tm="100000">
                                          <p:val>
                                            <p:strVal val="#ppt_x"/>
                                          </p:val>
                                        </p:tav>
                                      </p:tavLst>
                                    </p:anim>
                                    <p:anim calcmode="lin" valueType="num">
                                      <p:cBhvr additive="base">
                                        <p:cTn id="11" dur="500" fill="hold"/>
                                        <p:tgtEl>
                                          <p:spTgt spid="35853"/>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5862"/>
                                        </p:tgtEl>
                                        <p:attrNameLst>
                                          <p:attrName>style.visibility</p:attrName>
                                        </p:attrNameLst>
                                      </p:cBhvr>
                                      <p:to>
                                        <p:strVal val="visible"/>
                                      </p:to>
                                    </p:set>
                                    <p:animEffect transition="in" filter="wipe(left)">
                                      <p:cBhvr>
                                        <p:cTn id="16" dur="500"/>
                                        <p:tgtEl>
                                          <p:spTgt spid="3586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5863"/>
                                        </p:tgtEl>
                                        <p:attrNameLst>
                                          <p:attrName>style.visibility</p:attrName>
                                        </p:attrNameLst>
                                      </p:cBhvr>
                                      <p:to>
                                        <p:strVal val="visible"/>
                                      </p:to>
                                    </p:set>
                                    <p:animEffect transition="in" filter="wipe(left)">
                                      <p:cBhvr>
                                        <p:cTn id="21" dur="500"/>
                                        <p:tgtEl>
                                          <p:spTgt spid="3586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P spid="35863" grpId="0"/>
      <p:bldP spid="4" grpId="0"/>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p:nvPr/>
        </p:nvSpPr>
        <p:spPr>
          <a:xfrm>
            <a:off x="3201670" y="361633"/>
            <a:ext cx="4900613" cy="533400"/>
          </a:xfrm>
          <a:prstGeom prst="rect">
            <a:avLst/>
          </a:prstGeom>
          <a:noFill/>
          <a:ln w="9525">
            <a:noFill/>
          </a:ln>
        </p:spPr>
        <p:txBody>
          <a:bodyPr tIns="18000" anchor="ctr" anchorCtr="1"/>
          <a:p>
            <a:pPr eaLnBrk="1" hangingPunct="1"/>
            <a:r>
              <a:rPr lang="zh-CN" altLang="en-US" sz="2400" dirty="0">
                <a:solidFill>
                  <a:srgbClr val="FF0000"/>
                </a:solidFill>
                <a:latin typeface="Times New Roman" panose="02020603050405020304" pitchFamily="18" charset="0"/>
                <a:ea typeface="黑体" panose="02010609060101010101" pitchFamily="2" charset="-122"/>
              </a:rPr>
              <a:t>教材</a:t>
            </a:r>
            <a:r>
              <a:rPr lang="en-US" altLang="zh-CN" sz="2400" dirty="0">
                <a:solidFill>
                  <a:srgbClr val="FF0000"/>
                </a:solidFill>
                <a:latin typeface="Times New Roman" panose="02020603050405020304" pitchFamily="18" charset="0"/>
                <a:ea typeface="黑体" panose="02010609060101010101" pitchFamily="2" charset="-122"/>
              </a:rPr>
              <a:t>P118-119</a:t>
            </a:r>
            <a:endParaRPr lang="zh-CN" altLang="en-US" sz="2400" dirty="0">
              <a:solidFill>
                <a:srgbClr val="FF0000"/>
              </a:solidFill>
              <a:latin typeface="Times New Roman" panose="02020603050405020304" pitchFamily="18" charset="0"/>
              <a:ea typeface="黑体" panose="02010609060101010101" pitchFamily="2" charset="-122"/>
            </a:endParaRPr>
          </a:p>
        </p:txBody>
      </p:sp>
      <p:sp>
        <p:nvSpPr>
          <p:cNvPr id="35862" name="Text Box 22"/>
          <p:cNvSpPr txBox="1"/>
          <p:nvPr/>
        </p:nvSpPr>
        <p:spPr>
          <a:xfrm>
            <a:off x="420688" y="361950"/>
            <a:ext cx="1706880" cy="460375"/>
          </a:xfrm>
          <a:prstGeom prst="rect">
            <a:avLst/>
          </a:prstGeom>
          <a:noFill/>
          <a:ln w="9525">
            <a:noFill/>
          </a:ln>
        </p:spPr>
        <p:txBody>
          <a:bodyPr wrap="none">
            <a:spAutoFit/>
          </a:bodyPr>
          <a:p>
            <a:r>
              <a:rPr 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例题 </a:t>
            </a:r>
            <a:r>
              <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rPr>
              <a:t>2.4-1</a:t>
            </a:r>
            <a:endParaRPr lang="en-US" altLang="zh-CN" sz="24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文本框 2"/>
          <p:cNvSpPr txBox="1"/>
          <p:nvPr/>
        </p:nvSpPr>
        <p:spPr>
          <a:xfrm>
            <a:off x="421005" y="1198880"/>
            <a:ext cx="8016875" cy="2306320"/>
          </a:xfrm>
          <a:prstGeom prst="rect">
            <a:avLst/>
          </a:prstGeom>
          <a:noFill/>
        </p:spPr>
        <p:txBody>
          <a:bodyPr wrap="square" rtlCol="0">
            <a:spAutoFit/>
          </a:bodyPr>
          <a:p>
            <a:pPr eaLnBrk="1" latinLnBrk="0" hangingPunct="1">
              <a:lnSpc>
                <a:spcPct val="120000"/>
              </a:lnSpc>
            </a:pPr>
            <a:r>
              <a:rPr lang="en-US" altLang="zh-CN" sz="2400">
                <a:latin typeface="黑体" panose="02010609060101010101" pitchFamily="2" charset="-122"/>
                <a:ea typeface="黑体" panose="02010609060101010101" pitchFamily="2" charset="-122"/>
                <a:cs typeface="黑体" panose="02010609060101010101" pitchFamily="2" charset="-122"/>
              </a:rPr>
              <a:t>    </a:t>
            </a:r>
            <a:r>
              <a:rPr lang="zh-CN" altLang="en-US" sz="2400">
                <a:latin typeface="黑体" panose="02010609060101010101" pitchFamily="2" charset="-122"/>
                <a:ea typeface="黑体" panose="02010609060101010101" pitchFamily="2" charset="-122"/>
                <a:cs typeface="黑体" panose="02010609060101010101" pitchFamily="2" charset="-122"/>
              </a:rPr>
              <a:t>设某车床的纵向进给螺旋，其螺杆为</a:t>
            </a:r>
            <a:r>
              <a:rPr lang="en-US" altLang="zh-CN" sz="2400">
                <a:latin typeface="黑体" panose="02010609060101010101" pitchFamily="2" charset="-122"/>
                <a:ea typeface="黑体" panose="02010609060101010101" pitchFamily="2" charset="-122"/>
                <a:cs typeface="黑体" panose="02010609060101010101" pitchFamily="2" charset="-122"/>
              </a:rPr>
              <a:t>Tr30</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6</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8</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级精度，材料为</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45</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钢；螺母（剖分式螺母）高度</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H=100mm</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，材料为耐磨铸铁；轴向载荷</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F=4000N</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；螺杆支承间的距离</a:t>
            </a:r>
            <a:r>
              <a:rPr lang="en-US" alt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L=1400mm</a:t>
            </a:r>
            <a:r>
              <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rPr>
              <a:t>，支承方式为一端固定、一端铰支。试对螺杆、螺母进行计算。</a:t>
            </a:r>
            <a:endParaRPr lang="zh-CN" altLang="en-US" sz="2400">
              <a:latin typeface="黑体" panose="02010609060101010101" pitchFamily="2" charset="-122"/>
              <a:ea typeface="黑体" panose="02010609060101010101" pitchFamily="2" charset="-122"/>
              <a:cs typeface="黑体" panose="02010609060101010101" pitchFamily="2" charset="-122"/>
              <a:sym typeface="Symbol" panose="05050102010706020507" charset="0"/>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
        <p:nvSpPr>
          <p:cNvPr id="2" name="文本框 1"/>
          <p:cNvSpPr txBox="1"/>
          <p:nvPr/>
        </p:nvSpPr>
        <p:spPr>
          <a:xfrm>
            <a:off x="1501140" y="3429000"/>
            <a:ext cx="4194810" cy="398780"/>
          </a:xfrm>
          <a:prstGeom prst="rect">
            <a:avLst/>
          </a:prstGeom>
          <a:noFill/>
        </p:spPr>
        <p:txBody>
          <a:bodyPr wrap="square" rtlCol="0">
            <a:spAutoFit/>
          </a:bodyPr>
          <a:p>
            <a:r>
              <a:rPr lang="en-US" altLang="zh-CN" sz="2000">
                <a:latin typeface="黑体" panose="02010609060101010101" pitchFamily="2" charset="-122"/>
                <a:ea typeface="黑体" panose="02010609060101010101" pitchFamily="2" charset="-122"/>
                <a:cs typeface="黑体" panose="02010609060101010101" pitchFamily="2" charset="-122"/>
              </a:rPr>
              <a:t>1</a:t>
            </a:r>
            <a:r>
              <a:rPr lang="zh-CN" altLang="en-US" sz="2000">
                <a:latin typeface="黑体" panose="02010609060101010101" pitchFamily="2" charset="-122"/>
                <a:ea typeface="黑体" panose="02010609060101010101" pitchFamily="2" charset="-122"/>
                <a:cs typeface="黑体" panose="02010609060101010101" pitchFamily="2" charset="-122"/>
              </a:rPr>
              <a:t>、耐磨性验算</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
        <p:nvSpPr>
          <p:cNvPr id="4" name="文本框 3"/>
          <p:cNvSpPr txBox="1"/>
          <p:nvPr/>
        </p:nvSpPr>
        <p:spPr>
          <a:xfrm>
            <a:off x="1501140" y="3932555"/>
            <a:ext cx="4194810" cy="398780"/>
          </a:xfrm>
          <a:prstGeom prst="rect">
            <a:avLst/>
          </a:prstGeom>
          <a:noFill/>
        </p:spPr>
        <p:txBody>
          <a:bodyPr wrap="square" rtlCol="0">
            <a:spAutoFit/>
          </a:bodyPr>
          <a:p>
            <a:r>
              <a:rPr lang="en-US" altLang="zh-CN" sz="2000">
                <a:latin typeface="黑体" panose="02010609060101010101" pitchFamily="2" charset="-122"/>
                <a:ea typeface="黑体" panose="02010609060101010101" pitchFamily="2" charset="-122"/>
                <a:cs typeface="黑体" panose="02010609060101010101" pitchFamily="2" charset="-122"/>
              </a:rPr>
              <a:t>2</a:t>
            </a:r>
            <a:r>
              <a:rPr lang="zh-CN" altLang="en-US" sz="2000">
                <a:latin typeface="黑体" panose="02010609060101010101" pitchFamily="2" charset="-122"/>
                <a:ea typeface="黑体" panose="02010609060101010101" pitchFamily="2" charset="-122"/>
                <a:cs typeface="黑体" panose="02010609060101010101" pitchFamily="2" charset="-122"/>
              </a:rPr>
              <a:t>、效率和驱动力矩的</a:t>
            </a:r>
            <a:r>
              <a:rPr lang="zh-CN" altLang="en-US" sz="2000">
                <a:latin typeface="黑体" panose="02010609060101010101" pitchFamily="2" charset="-122"/>
                <a:ea typeface="黑体" panose="02010609060101010101" pitchFamily="2" charset="-122"/>
                <a:cs typeface="黑体" panose="02010609060101010101" pitchFamily="2" charset="-122"/>
              </a:rPr>
              <a:t>计算</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
        <p:nvSpPr>
          <p:cNvPr id="5" name="文本框 4"/>
          <p:cNvSpPr txBox="1"/>
          <p:nvPr/>
        </p:nvSpPr>
        <p:spPr>
          <a:xfrm>
            <a:off x="1501140" y="4450080"/>
            <a:ext cx="4194810" cy="398780"/>
          </a:xfrm>
          <a:prstGeom prst="rect">
            <a:avLst/>
          </a:prstGeom>
          <a:noFill/>
        </p:spPr>
        <p:txBody>
          <a:bodyPr wrap="square" rtlCol="0">
            <a:spAutoFit/>
          </a:bodyPr>
          <a:p>
            <a:r>
              <a:rPr lang="en-US" altLang="zh-CN" sz="2000">
                <a:latin typeface="黑体" panose="02010609060101010101" pitchFamily="2" charset="-122"/>
                <a:ea typeface="黑体" panose="02010609060101010101" pitchFamily="2" charset="-122"/>
                <a:cs typeface="黑体" panose="02010609060101010101" pitchFamily="2" charset="-122"/>
              </a:rPr>
              <a:t>3</a:t>
            </a:r>
            <a:r>
              <a:rPr lang="zh-CN" altLang="en-US" sz="2000">
                <a:latin typeface="黑体" panose="02010609060101010101" pitchFamily="2" charset="-122"/>
                <a:ea typeface="黑体" panose="02010609060101010101" pitchFamily="2" charset="-122"/>
                <a:cs typeface="黑体" panose="02010609060101010101" pitchFamily="2" charset="-122"/>
              </a:rPr>
              <a:t>、刚度</a:t>
            </a:r>
            <a:r>
              <a:rPr lang="zh-CN" altLang="en-US" sz="2000">
                <a:latin typeface="黑体" panose="02010609060101010101" pitchFamily="2" charset="-122"/>
                <a:ea typeface="黑体" panose="02010609060101010101" pitchFamily="2" charset="-122"/>
                <a:cs typeface="黑体" panose="02010609060101010101" pitchFamily="2" charset="-122"/>
              </a:rPr>
              <a:t>验算</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
        <p:nvSpPr>
          <p:cNvPr id="6" name="文本框 5"/>
          <p:cNvSpPr txBox="1"/>
          <p:nvPr/>
        </p:nvSpPr>
        <p:spPr>
          <a:xfrm>
            <a:off x="1501140" y="4968240"/>
            <a:ext cx="4194810" cy="398780"/>
          </a:xfrm>
          <a:prstGeom prst="rect">
            <a:avLst/>
          </a:prstGeom>
          <a:noFill/>
        </p:spPr>
        <p:txBody>
          <a:bodyPr wrap="square" rtlCol="0">
            <a:spAutoFit/>
          </a:bodyPr>
          <a:p>
            <a:r>
              <a:rPr lang="en-US" altLang="zh-CN" sz="2000">
                <a:latin typeface="黑体" panose="02010609060101010101" pitchFamily="2" charset="-122"/>
                <a:ea typeface="黑体" panose="02010609060101010101" pitchFamily="2" charset="-122"/>
                <a:cs typeface="黑体" panose="02010609060101010101" pitchFamily="2" charset="-122"/>
              </a:rPr>
              <a:t>4</a:t>
            </a:r>
            <a:r>
              <a:rPr lang="zh-CN" altLang="en-US" sz="2000">
                <a:latin typeface="黑体" panose="02010609060101010101" pitchFamily="2" charset="-122"/>
                <a:ea typeface="黑体" panose="02010609060101010101" pitchFamily="2" charset="-122"/>
                <a:cs typeface="黑体" panose="02010609060101010101" pitchFamily="2" charset="-122"/>
              </a:rPr>
              <a:t>、</a:t>
            </a:r>
            <a:r>
              <a:rPr lang="zh-CN" altLang="en-US" sz="2000">
                <a:latin typeface="黑体" panose="02010609060101010101" pitchFamily="2" charset="-122"/>
                <a:ea typeface="黑体" panose="02010609060101010101" pitchFamily="2" charset="-122"/>
                <a:cs typeface="黑体" panose="02010609060101010101" pitchFamily="2" charset="-122"/>
              </a:rPr>
              <a:t>稳定性验算</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
        <p:nvSpPr>
          <p:cNvPr id="7" name="文本框 6"/>
          <p:cNvSpPr txBox="1"/>
          <p:nvPr/>
        </p:nvSpPr>
        <p:spPr>
          <a:xfrm>
            <a:off x="1501140" y="5479415"/>
            <a:ext cx="4194810" cy="398780"/>
          </a:xfrm>
          <a:prstGeom prst="rect">
            <a:avLst/>
          </a:prstGeom>
          <a:noFill/>
        </p:spPr>
        <p:txBody>
          <a:bodyPr wrap="square" rtlCol="0">
            <a:spAutoFit/>
          </a:bodyPr>
          <a:p>
            <a:r>
              <a:rPr lang="en-US" altLang="zh-CN" sz="2000">
                <a:latin typeface="黑体" panose="02010609060101010101" pitchFamily="2" charset="-122"/>
                <a:ea typeface="黑体" panose="02010609060101010101" pitchFamily="2" charset="-122"/>
                <a:cs typeface="黑体" panose="02010609060101010101" pitchFamily="2" charset="-122"/>
              </a:rPr>
              <a:t>5</a:t>
            </a:r>
            <a:r>
              <a:rPr lang="zh-CN" altLang="en-US" sz="2000">
                <a:latin typeface="黑体" panose="02010609060101010101" pitchFamily="2" charset="-122"/>
                <a:ea typeface="黑体" panose="02010609060101010101" pitchFamily="2" charset="-122"/>
                <a:cs typeface="黑体" panose="02010609060101010101" pitchFamily="2" charset="-122"/>
              </a:rPr>
              <a:t>、</a:t>
            </a:r>
            <a:r>
              <a:rPr lang="zh-CN" altLang="en-US" sz="2000">
                <a:latin typeface="黑体" panose="02010609060101010101" pitchFamily="2" charset="-122"/>
                <a:ea typeface="黑体" panose="02010609060101010101" pitchFamily="2" charset="-122"/>
                <a:cs typeface="黑体" panose="02010609060101010101" pitchFamily="2" charset="-122"/>
              </a:rPr>
              <a:t>强度验算</a:t>
            </a:r>
            <a:endParaRPr lang="zh-CN" altLang="en-US" sz="200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62"/>
                                        </p:tgtEl>
                                        <p:attrNameLst>
                                          <p:attrName>style.visibility</p:attrName>
                                        </p:attrNameLst>
                                      </p:cBhvr>
                                      <p:to>
                                        <p:strVal val="visible"/>
                                      </p:to>
                                    </p:set>
                                    <p:animEffect transition="in" filter="wipe(left)">
                                      <p:cBhvr>
                                        <p:cTn id="7" dur="500"/>
                                        <p:tgtEl>
                                          <p:spTgt spid="358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P spid="2" grpId="0"/>
      <p:bldP spid="4" grpId="0"/>
      <p:bldP spid="5" grpId="0"/>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p:nvPr/>
        </p:nvSpPr>
        <p:spPr>
          <a:xfrm>
            <a:off x="3201670" y="361633"/>
            <a:ext cx="4900613" cy="533400"/>
          </a:xfrm>
          <a:prstGeom prst="rect">
            <a:avLst/>
          </a:prstGeom>
          <a:noFill/>
          <a:ln w="9525">
            <a:noFill/>
          </a:ln>
        </p:spPr>
        <p:txBody>
          <a:bodyPr tIns="18000" anchor="ctr" anchorCtr="1"/>
          <a:p>
            <a:pPr eaLnBrk="1" hangingPunct="1"/>
            <a:r>
              <a:rPr lang="zh-CN" altLang="en-US" sz="2400" dirty="0">
                <a:solidFill>
                  <a:srgbClr val="FF0000"/>
                </a:solidFill>
                <a:latin typeface="Times New Roman" panose="02020603050405020304" pitchFamily="18" charset="0"/>
                <a:ea typeface="黑体" panose="02010609060101010101" pitchFamily="2" charset="-122"/>
              </a:rPr>
              <a:t>教材</a:t>
            </a:r>
            <a:r>
              <a:rPr lang="en-US" altLang="zh-CN" sz="2400" dirty="0">
                <a:solidFill>
                  <a:srgbClr val="FF0000"/>
                </a:solidFill>
                <a:latin typeface="Times New Roman" panose="02020603050405020304" pitchFamily="18" charset="0"/>
                <a:ea typeface="黑体" panose="02010609060101010101" pitchFamily="2" charset="-122"/>
              </a:rPr>
              <a:t>P120-139</a:t>
            </a:r>
            <a:endParaRPr lang="zh-CN" altLang="en-US" sz="2400" dirty="0">
              <a:solidFill>
                <a:srgbClr val="FF0000"/>
              </a:solidFill>
              <a:latin typeface="Times New Roman" panose="02020603050405020304" pitchFamily="18" charset="0"/>
              <a:ea typeface="黑体" panose="02010609060101010101" pitchFamily="2" charset="-122"/>
            </a:endParaRPr>
          </a:p>
        </p:txBody>
      </p:sp>
      <p:sp>
        <p:nvSpPr>
          <p:cNvPr id="35862" name="Text Box 22"/>
          <p:cNvSpPr txBox="1"/>
          <p:nvPr/>
        </p:nvSpPr>
        <p:spPr>
          <a:xfrm>
            <a:off x="421005" y="361950"/>
            <a:ext cx="3111500" cy="521970"/>
          </a:xfrm>
          <a:prstGeom prst="rect">
            <a:avLst/>
          </a:prstGeom>
          <a:noFill/>
          <a:ln w="9525">
            <a:noFill/>
          </a:ln>
        </p:spPr>
        <p:txBody>
          <a:bodyPr wrap="square">
            <a:spAutoFit/>
          </a:bodyPr>
          <a:p>
            <a:r>
              <a:rPr lang="zh-CN" sz="2800" dirty="0">
                <a:solidFill>
                  <a:srgbClr val="0000FF"/>
                </a:solidFill>
                <a:latin typeface="黑体" panose="02010609060101010101" pitchFamily="2" charset="-122"/>
                <a:ea typeface="黑体" panose="02010609060101010101" pitchFamily="2" charset="-122"/>
                <a:cs typeface="黑体" panose="02010609060101010101" pitchFamily="2" charset="-122"/>
              </a:rPr>
              <a:t>案例</a:t>
            </a:r>
            <a:r>
              <a:rPr lang="en-US" altLang="zh-CN" sz="2800" dirty="0">
                <a:solidFill>
                  <a:srgbClr val="0000FF"/>
                </a:solidFill>
                <a:latin typeface="黑体" panose="02010609060101010101" pitchFamily="2" charset="-122"/>
                <a:ea typeface="黑体" panose="02010609060101010101" pitchFamily="2" charset="-122"/>
                <a:cs typeface="黑体" panose="02010609060101010101" pitchFamily="2" charset="-122"/>
              </a:rPr>
              <a:t>1</a:t>
            </a:r>
            <a:r>
              <a:rPr lang="zh-CN" altLang="en-US" sz="2800" dirty="0">
                <a:solidFill>
                  <a:srgbClr val="0000FF"/>
                </a:solidFill>
                <a:latin typeface="黑体" panose="02010609060101010101" pitchFamily="2" charset="-122"/>
                <a:ea typeface="黑体" panose="02010609060101010101" pitchFamily="2" charset="-122"/>
                <a:cs typeface="黑体" panose="02010609060101010101" pitchFamily="2" charset="-122"/>
              </a:rPr>
              <a:t>的设计</a:t>
            </a:r>
            <a:endParaRPr lang="zh-CN" altLang="en-US" sz="2800" dirty="0">
              <a:solidFill>
                <a:srgbClr val="0000FF"/>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文本框 2"/>
          <p:cNvSpPr txBox="1"/>
          <p:nvPr/>
        </p:nvSpPr>
        <p:spPr>
          <a:xfrm>
            <a:off x="647700" y="1581785"/>
            <a:ext cx="614045" cy="3192780"/>
          </a:xfrm>
          <a:prstGeom prst="rect">
            <a:avLst/>
          </a:prstGeom>
          <a:noFill/>
        </p:spPr>
        <p:txBody>
          <a:bodyPr wrap="square" rtlCol="0">
            <a:spAutoFit/>
          </a:bodyPr>
          <a:p>
            <a:pPr eaLnBrk="1" latinLnBrk="0" hangingPunct="1">
              <a:lnSpc>
                <a:spcPct val="120000"/>
              </a:lnSpc>
            </a:pPr>
            <a:r>
              <a:rPr lang="zh-CN" sz="2400">
                <a:latin typeface="黑体" panose="02010609060101010101" pitchFamily="2" charset="-122"/>
                <a:ea typeface="黑体" panose="02010609060101010101" pitchFamily="2" charset="-122"/>
                <a:cs typeface="黑体" panose="02010609060101010101" pitchFamily="2" charset="-122"/>
              </a:rPr>
              <a:t>螺旋千斤顶设计</a:t>
            </a:r>
            <a:endParaRPr lang="zh-CN" sz="2400">
              <a:latin typeface="黑体" panose="02010609060101010101" pitchFamily="2" charset="-122"/>
              <a:ea typeface="黑体" panose="02010609060101010101" pitchFamily="2" charset="-122"/>
              <a:cs typeface="黑体" panose="02010609060101010101" pitchFamily="2" charset="-122"/>
              <a:sym typeface="Symbol" panose="05050102010706020507" charset="0"/>
            </a:endParaRPr>
          </a:p>
        </p:txBody>
      </p:sp>
      <p:pic>
        <p:nvPicPr>
          <p:cNvPr id="19459" name="Picture 4" descr="千斤顶"/>
          <p:cNvPicPr>
            <a:picLocks noChangeAspect="1" noChangeArrowheads="1" noCrop="1"/>
          </p:cNvPicPr>
          <p:nvPr/>
        </p:nvPicPr>
        <p:blipFill>
          <a:blip r:embed="rId1"/>
          <a:srcRect/>
          <a:stretch>
            <a:fillRect/>
          </a:stretch>
        </p:blipFill>
        <p:spPr bwMode="auto">
          <a:xfrm>
            <a:off x="1751752" y="1181259"/>
            <a:ext cx="7215188"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62"/>
                                        </p:tgtEl>
                                        <p:attrNameLst>
                                          <p:attrName>style.visibility</p:attrName>
                                        </p:attrNameLst>
                                      </p:cBhvr>
                                      <p:to>
                                        <p:strVal val="visible"/>
                                      </p:to>
                                    </p:set>
                                    <p:animEffect transition="in" filter="wipe(left)">
                                      <p:cBhvr>
                                        <p:cTn id="7" dur="500"/>
                                        <p:tgtEl>
                                          <p:spTgt spid="35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885190" y="561340"/>
            <a:ext cx="7134860" cy="57353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p:nvPr/>
        </p:nvSpPr>
        <p:spPr>
          <a:xfrm>
            <a:off x="3201670" y="361633"/>
            <a:ext cx="4900613" cy="533400"/>
          </a:xfrm>
          <a:prstGeom prst="rect">
            <a:avLst/>
          </a:prstGeom>
          <a:noFill/>
          <a:ln w="9525">
            <a:noFill/>
          </a:ln>
        </p:spPr>
        <p:txBody>
          <a:bodyPr tIns="18000" anchor="ctr" anchorCtr="1"/>
          <a:p>
            <a:pPr eaLnBrk="1" hangingPunct="1"/>
            <a:r>
              <a:rPr lang="zh-CN" altLang="en-US" sz="2400" dirty="0">
                <a:solidFill>
                  <a:srgbClr val="FF0000"/>
                </a:solidFill>
                <a:latin typeface="Times New Roman" panose="02020603050405020304" pitchFamily="18" charset="0"/>
                <a:ea typeface="黑体" panose="02010609060101010101" pitchFamily="2" charset="-122"/>
              </a:rPr>
              <a:t>详见教材</a:t>
            </a:r>
            <a:r>
              <a:rPr lang="en-US" altLang="zh-CN" sz="2400" dirty="0">
                <a:solidFill>
                  <a:srgbClr val="FF0000"/>
                </a:solidFill>
                <a:latin typeface="Times New Roman" panose="02020603050405020304" pitchFamily="18" charset="0"/>
                <a:ea typeface="黑体" panose="02010609060101010101" pitchFamily="2" charset="-122"/>
              </a:rPr>
              <a:t>P120-139</a:t>
            </a:r>
            <a:endParaRPr lang="zh-CN" altLang="en-US" sz="2400" dirty="0">
              <a:solidFill>
                <a:srgbClr val="FF0000"/>
              </a:solidFill>
              <a:latin typeface="Times New Roman" panose="02020603050405020304" pitchFamily="18" charset="0"/>
              <a:ea typeface="黑体" panose="02010609060101010101" pitchFamily="2" charset="-122"/>
            </a:endParaRPr>
          </a:p>
        </p:txBody>
      </p:sp>
      <p:sp>
        <p:nvSpPr>
          <p:cNvPr id="2" name="文本框 1"/>
          <p:cNvSpPr txBox="1"/>
          <p:nvPr/>
        </p:nvSpPr>
        <p:spPr>
          <a:xfrm>
            <a:off x="600710" y="1233170"/>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（一）设计任务书</a:t>
            </a:r>
            <a:endParaRPr lang="zh-CN" altLang="en-US" sz="2400">
              <a:latin typeface="黑体" panose="02010609060101010101" pitchFamily="2" charset="-122"/>
              <a:ea typeface="黑体" panose="02010609060101010101" pitchFamily="2" charset="-122"/>
            </a:endParaRPr>
          </a:p>
        </p:txBody>
      </p:sp>
      <p:sp>
        <p:nvSpPr>
          <p:cNvPr id="4" name="文本框 3"/>
          <p:cNvSpPr txBox="1"/>
          <p:nvPr/>
        </p:nvSpPr>
        <p:spPr>
          <a:xfrm>
            <a:off x="648335" y="1902460"/>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（二）方案的选择和确定</a:t>
            </a:r>
            <a:endParaRPr lang="zh-CN" altLang="en-US" sz="2400">
              <a:latin typeface="黑体" panose="02010609060101010101" pitchFamily="2" charset="-122"/>
              <a:ea typeface="黑体" panose="02010609060101010101" pitchFamily="2" charset="-122"/>
            </a:endParaRPr>
          </a:p>
        </p:txBody>
      </p:sp>
      <p:sp>
        <p:nvSpPr>
          <p:cNvPr id="5" name="文本框 4"/>
          <p:cNvSpPr txBox="1"/>
          <p:nvPr/>
        </p:nvSpPr>
        <p:spPr>
          <a:xfrm>
            <a:off x="600710" y="2637155"/>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（三）设计计算</a:t>
            </a:r>
            <a:endParaRPr lang="zh-CN" altLang="en-US" sz="2400">
              <a:latin typeface="黑体" panose="02010609060101010101" pitchFamily="2" charset="-122"/>
              <a:ea typeface="黑体" panose="02010609060101010101" pitchFamily="2" charset="-122"/>
            </a:endParaRPr>
          </a:p>
        </p:txBody>
      </p:sp>
      <p:sp>
        <p:nvSpPr>
          <p:cNvPr id="6" name="文本框 5"/>
          <p:cNvSpPr txBox="1"/>
          <p:nvPr/>
        </p:nvSpPr>
        <p:spPr>
          <a:xfrm>
            <a:off x="648335" y="3277870"/>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（四）总装配图</a:t>
            </a:r>
            <a:endParaRPr lang="zh-CN" altLang="en-US" sz="2400">
              <a:latin typeface="黑体" panose="02010609060101010101" pitchFamily="2" charset="-122"/>
              <a:ea typeface="黑体" panose="02010609060101010101" pitchFamily="2" charset="-122"/>
            </a:endParaRPr>
          </a:p>
        </p:txBody>
      </p:sp>
      <p:sp>
        <p:nvSpPr>
          <p:cNvPr id="7" name="文本框 6"/>
          <p:cNvSpPr txBox="1"/>
          <p:nvPr/>
        </p:nvSpPr>
        <p:spPr>
          <a:xfrm>
            <a:off x="648335" y="4012565"/>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（五）零件图</a:t>
            </a:r>
            <a:endParaRPr lang="zh-CN" altLang="en-US" sz="2400">
              <a:latin typeface="黑体" panose="02010609060101010101" pitchFamily="2" charset="-122"/>
              <a:ea typeface="黑体" panose="02010609060101010101" pitchFamily="2" charset="-122"/>
            </a:endParaRPr>
          </a:p>
        </p:txBody>
      </p:sp>
      <p:sp>
        <p:nvSpPr>
          <p:cNvPr id="8" name="文本框 7"/>
          <p:cNvSpPr txBox="1"/>
          <p:nvPr/>
        </p:nvSpPr>
        <p:spPr>
          <a:xfrm>
            <a:off x="648335" y="4662170"/>
            <a:ext cx="606679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（六）设计计算说明书和文档整理</a:t>
            </a:r>
            <a:endParaRPr lang="zh-CN" altLang="en-US" sz="2400">
              <a:latin typeface="黑体" panose="02010609060101010101" pitchFamily="2" charset="-122"/>
              <a:ea typeface="黑体" panose="02010609060101010101" pitchFamily="2" charset="-122"/>
            </a:endParaRPr>
          </a:p>
        </p:txBody>
      </p:sp>
      <p:sp>
        <p:nvSpPr>
          <p:cNvPr id="9" name="文本框 8"/>
          <p:cNvSpPr txBox="1"/>
          <p:nvPr/>
        </p:nvSpPr>
        <p:spPr>
          <a:xfrm>
            <a:off x="1320165" y="5575935"/>
            <a:ext cx="4229735" cy="460375"/>
          </a:xfrm>
          <a:prstGeom prst="rect">
            <a:avLst/>
          </a:prstGeom>
          <a:solidFill>
            <a:schemeClr val="bg1">
              <a:lumMod val="85000"/>
            </a:schemeClr>
          </a:solidFill>
          <a:ln>
            <a:solidFill>
              <a:schemeClr val="tx1">
                <a:lumMod val="50000"/>
                <a:lumOff val="50000"/>
              </a:schemeClr>
            </a:solidFill>
          </a:ln>
        </p:spPr>
        <p:txBody>
          <a:bodyPr wrap="square" rtlCol="0">
            <a:spAutoFit/>
          </a:bodyPr>
          <a:p>
            <a:pPr algn="ctr"/>
            <a:r>
              <a:rPr lang="zh-CN" altLang="en-US" sz="2400" b="1">
                <a:solidFill>
                  <a:srgbClr val="C00000"/>
                </a:solidFill>
              </a:rPr>
              <a:t>时间：</a:t>
            </a:r>
            <a:r>
              <a:rPr lang="en-US" altLang="zh-CN" sz="2400" b="1">
                <a:solidFill>
                  <a:srgbClr val="C00000"/>
                </a:solidFill>
              </a:rPr>
              <a:t>9</a:t>
            </a:r>
            <a:r>
              <a:rPr lang="zh-CN" altLang="en-US" sz="2400" b="1">
                <a:solidFill>
                  <a:srgbClr val="C00000"/>
                </a:solidFill>
              </a:rPr>
              <a:t>月</a:t>
            </a:r>
            <a:r>
              <a:rPr lang="en-US" altLang="zh-CN" sz="2400" b="1">
                <a:solidFill>
                  <a:srgbClr val="C00000"/>
                </a:solidFill>
              </a:rPr>
              <a:t>23</a:t>
            </a:r>
            <a:r>
              <a:rPr lang="zh-CN" altLang="en-US" sz="2400" b="1">
                <a:solidFill>
                  <a:srgbClr val="C00000"/>
                </a:solidFill>
              </a:rPr>
              <a:t>日至</a:t>
            </a:r>
            <a:r>
              <a:rPr lang="en-US" altLang="zh-CN" sz="2400" b="1">
                <a:solidFill>
                  <a:srgbClr val="C00000"/>
                </a:solidFill>
              </a:rPr>
              <a:t>10</a:t>
            </a:r>
            <a:r>
              <a:rPr lang="zh-CN" altLang="en-US" sz="2400" b="1">
                <a:solidFill>
                  <a:srgbClr val="C00000"/>
                </a:solidFill>
              </a:rPr>
              <a:t>月</a:t>
            </a:r>
            <a:r>
              <a:rPr lang="en-US" altLang="zh-CN" sz="2400" b="1">
                <a:solidFill>
                  <a:srgbClr val="C00000"/>
                </a:solidFill>
              </a:rPr>
              <a:t>11</a:t>
            </a:r>
            <a:r>
              <a:rPr lang="zh-CN" altLang="en-US" sz="2400" b="1">
                <a:solidFill>
                  <a:srgbClr val="C00000"/>
                </a:solidFill>
              </a:rPr>
              <a:t>日</a:t>
            </a:r>
            <a:endParaRPr lang="zh-CN" altLang="en-US" sz="2400" b="1">
              <a:solidFill>
                <a:srgbClr val="C00000"/>
              </a:solidFill>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57200" y="142875"/>
            <a:ext cx="8229600" cy="725488"/>
          </a:xfrm>
        </p:spPr>
        <p:txBody>
          <a:bodyPr/>
          <a:lstStyle/>
          <a:p>
            <a:pPr eaLnBrk="1" hangingPunct="1"/>
            <a:r>
              <a:rPr lang="zh-CN" altLang="en-US" sz="3200" b="0" dirty="0">
                <a:latin typeface="黑体" panose="02010609060101010101" pitchFamily="2" charset="-122"/>
                <a:ea typeface="黑体" panose="02010609060101010101" pitchFamily="2" charset="-122"/>
              </a:rPr>
              <a:t>第一个大作业注意事项</a:t>
            </a:r>
            <a:endParaRPr lang="zh-CN" altLang="en-US" sz="3200" b="0" dirty="0">
              <a:latin typeface="黑体" panose="02010609060101010101" pitchFamily="2" charset="-122"/>
              <a:ea typeface="黑体" panose="02010609060101010101" pitchFamily="2" charset="-122"/>
            </a:endParaRPr>
          </a:p>
        </p:txBody>
      </p:sp>
      <p:sp>
        <p:nvSpPr>
          <p:cNvPr id="45059" name="内容占位符 2"/>
          <p:cNvSpPr>
            <a:spLocks noGrp="1"/>
          </p:cNvSpPr>
          <p:nvPr>
            <p:ph idx="1"/>
          </p:nvPr>
        </p:nvSpPr>
        <p:spPr>
          <a:xfrm>
            <a:off x="395536" y="1412776"/>
            <a:ext cx="8229600" cy="5357812"/>
          </a:xfrm>
        </p:spPr>
        <p:txBody>
          <a:bodyPr/>
          <a:lstStyle/>
          <a:p>
            <a:pPr eaLnBrk="1" hangingPunct="1">
              <a:lnSpc>
                <a:spcPct val="150000"/>
              </a:lnSpc>
              <a:spcBef>
                <a:spcPct val="0"/>
              </a:spcBef>
            </a:pPr>
            <a:r>
              <a:rPr lang="zh-CN" altLang="en-US" sz="2400" b="0" dirty="0">
                <a:solidFill>
                  <a:srgbClr val="002060"/>
                </a:solidFill>
                <a:latin typeface="黑体" panose="02010609060101010101" pitchFamily="2" charset="-122"/>
                <a:ea typeface="黑体" panose="02010609060101010101" pitchFamily="2" charset="-122"/>
              </a:rPr>
              <a:t>学习查询手册或国家标准，零部件要符合国家有关标准；</a:t>
            </a:r>
            <a:endParaRPr lang="zh-CN" altLang="en-US" sz="2400" b="0" dirty="0">
              <a:solidFill>
                <a:srgbClr val="002060"/>
              </a:solidFill>
              <a:latin typeface="黑体" panose="02010609060101010101" pitchFamily="2" charset="-122"/>
              <a:ea typeface="黑体" panose="02010609060101010101" pitchFamily="2" charset="-122"/>
            </a:endParaRPr>
          </a:p>
          <a:p>
            <a:pPr eaLnBrk="1" hangingPunct="1">
              <a:lnSpc>
                <a:spcPct val="150000"/>
              </a:lnSpc>
              <a:spcBef>
                <a:spcPct val="0"/>
              </a:spcBef>
            </a:pPr>
            <a:r>
              <a:rPr lang="zh-CN" altLang="en-US" sz="2400" b="0" dirty="0">
                <a:solidFill>
                  <a:srgbClr val="002060"/>
                </a:solidFill>
                <a:latin typeface="黑体" panose="02010609060101010101" pitchFamily="2" charset="-122"/>
                <a:ea typeface="黑体" panose="02010609060101010101" pitchFamily="2" charset="-122"/>
              </a:rPr>
              <a:t>机械设计制图时要考虑金属工艺学的相关知识，如铸件的铸造圆角、车削退刀槽等；</a:t>
            </a:r>
            <a:endParaRPr lang="zh-CN" altLang="en-US" sz="2400" b="0" dirty="0">
              <a:solidFill>
                <a:srgbClr val="002060"/>
              </a:solidFill>
              <a:latin typeface="黑体" panose="02010609060101010101" pitchFamily="2" charset="-122"/>
              <a:ea typeface="黑体" panose="02010609060101010101" pitchFamily="2" charset="-122"/>
            </a:endParaRPr>
          </a:p>
          <a:p>
            <a:pPr eaLnBrk="1" hangingPunct="1">
              <a:lnSpc>
                <a:spcPct val="150000"/>
              </a:lnSpc>
              <a:spcBef>
                <a:spcPct val="0"/>
              </a:spcBef>
            </a:pPr>
            <a:r>
              <a:rPr lang="zh-CN" altLang="en-US" sz="2400" b="0" dirty="0">
                <a:solidFill>
                  <a:srgbClr val="002060"/>
                </a:solidFill>
                <a:latin typeface="黑体" panose="02010609060101010101" pitchFamily="2" charset="-122"/>
                <a:ea typeface="黑体" panose="02010609060101010101" pitchFamily="2" charset="-122"/>
              </a:rPr>
              <a:t>图中确定尺寸时要参考手册上给出的经验值或进行简单计算后进行圆整处理；</a:t>
            </a:r>
            <a:endParaRPr lang="zh-CN" altLang="en-US" sz="2400" b="0" dirty="0">
              <a:solidFill>
                <a:srgbClr val="002060"/>
              </a:solidFill>
              <a:latin typeface="黑体" panose="02010609060101010101" pitchFamily="2" charset="-122"/>
              <a:ea typeface="黑体" panose="02010609060101010101" pitchFamily="2" charset="-122"/>
            </a:endParaRPr>
          </a:p>
          <a:p>
            <a:pPr eaLnBrk="1" hangingPunct="1">
              <a:lnSpc>
                <a:spcPct val="150000"/>
              </a:lnSpc>
              <a:spcBef>
                <a:spcPct val="0"/>
              </a:spcBef>
            </a:pPr>
            <a:r>
              <a:rPr lang="zh-CN" altLang="en-US" sz="2400" b="0" dirty="0">
                <a:solidFill>
                  <a:srgbClr val="002060"/>
                </a:solidFill>
                <a:latin typeface="黑体" panose="02010609060101010101" pitchFamily="2" charset="-122"/>
                <a:ea typeface="黑体" panose="02010609060101010101" pitchFamily="2" charset="-122"/>
              </a:rPr>
              <a:t>布局合理，制图规范，线型标准，图面整洁，尺寸准确</a:t>
            </a:r>
            <a:endParaRPr lang="zh-CN" altLang="en-US" sz="2400" b="0" dirty="0">
              <a:solidFill>
                <a:srgbClr val="002060"/>
              </a:solidFill>
              <a:latin typeface="黑体" panose="02010609060101010101" pitchFamily="2" charset="-122"/>
              <a:ea typeface="黑体" panose="02010609060101010101" pitchFamily="2" charset="-122"/>
            </a:endParaRPr>
          </a:p>
          <a:p>
            <a:pPr eaLnBrk="1" hangingPunct="1">
              <a:lnSpc>
                <a:spcPct val="150000"/>
              </a:lnSpc>
              <a:spcBef>
                <a:spcPct val="0"/>
              </a:spcBef>
            </a:pPr>
            <a:r>
              <a:rPr lang="zh-CN" altLang="en-US" sz="2400" b="0" dirty="0">
                <a:solidFill>
                  <a:srgbClr val="002060"/>
                </a:solidFill>
                <a:latin typeface="黑体" panose="02010609060101010101" pitchFamily="2" charset="-122"/>
                <a:ea typeface="黑体" panose="02010609060101010101" pitchFamily="2" charset="-122"/>
              </a:rPr>
              <a:t>图中标注尺寸要全面；</a:t>
            </a:r>
            <a:endParaRPr lang="zh-CN" altLang="en-US" sz="2400" b="0" dirty="0">
              <a:solidFill>
                <a:srgbClr val="002060"/>
              </a:solidFill>
              <a:latin typeface="黑体" panose="02010609060101010101" pitchFamily="2" charset="-122"/>
              <a:ea typeface="黑体" panose="02010609060101010101" pitchFamily="2" charset="-122"/>
            </a:endParaRPr>
          </a:p>
          <a:p>
            <a:pPr marL="0" indent="0" eaLnBrk="1" hangingPunct="1">
              <a:buNone/>
            </a:pPr>
            <a:endParaRPr lang="zh-CN" altLang="en-US" dirty="0" smtClean="0">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1"/>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457200" y="142875"/>
            <a:ext cx="8229600" cy="725488"/>
          </a:xfrm>
        </p:spPr>
        <p:txBody>
          <a:bodyPr/>
          <a:lstStyle/>
          <a:p>
            <a:pPr eaLnBrk="1" hangingPunct="1"/>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滚动螺旋传动简介</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37891" name="内容占位符 2"/>
          <p:cNvSpPr txBox="1"/>
          <p:nvPr/>
        </p:nvSpPr>
        <p:spPr bwMode="auto">
          <a:xfrm>
            <a:off x="314325" y="928688"/>
            <a:ext cx="8472488"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ct val="135000"/>
              </a:lnSpc>
              <a:spcBef>
                <a:spcPts val="600"/>
              </a:spcBef>
            </a:pPr>
            <a:r>
              <a:rPr lang="zh-CN" altLang="en-US" sz="2400" dirty="0" smtClean="0">
                <a:solidFill>
                  <a:srgbClr val="FF0000"/>
                </a:solidFill>
                <a:latin typeface="黑体" panose="02010609060101010101" pitchFamily="2" charset="-122"/>
                <a:ea typeface="黑体" panose="02010609060101010101" pitchFamily="2" charset="-122"/>
              </a:rPr>
              <a:t>  </a:t>
            </a:r>
            <a:r>
              <a:rPr lang="zh-CN" altLang="zh-CN" sz="2400" dirty="0">
                <a:solidFill>
                  <a:srgbClr val="C00000"/>
                </a:solidFill>
                <a:latin typeface="黑体" panose="02010609060101010101" pitchFamily="2" charset="-122"/>
                <a:ea typeface="黑体" panose="02010609060101010101" pitchFamily="2" charset="-122"/>
                <a:sym typeface="+mn-ea"/>
              </a:rPr>
              <a:t>螺杆和螺母之间放入适量的滚珠，使滑动摩擦变为滚动摩擦的螺旋传动，所以又称滚珠螺旋传动。</a:t>
            </a:r>
            <a:endParaRPr lang="en-US" altLang="zh-CN" sz="2400" dirty="0" smtClean="0">
              <a:solidFill>
                <a:srgbClr val="FF0000"/>
              </a:solidFill>
              <a:latin typeface="黑体" panose="02010609060101010101" pitchFamily="2" charset="-122"/>
              <a:ea typeface="黑体" panose="02010609060101010101" pitchFamily="2" charset="-122"/>
            </a:endParaRPr>
          </a:p>
          <a:p>
            <a:pPr marL="0" indent="0" eaLnBrk="1" hangingPunct="1">
              <a:lnSpc>
                <a:spcPct val="135000"/>
              </a:lnSpc>
              <a:spcBef>
                <a:spcPts val="600"/>
              </a:spcBef>
            </a:pPr>
            <a:r>
              <a:rPr lang="zh-CN" altLang="en-US" sz="2400" dirty="0" smtClean="0">
                <a:solidFill>
                  <a:srgbClr val="0000FF"/>
                </a:solidFill>
                <a:latin typeface="黑体" panose="02010609060101010101" pitchFamily="2" charset="-122"/>
                <a:ea typeface="黑体" panose="02010609060101010101" pitchFamily="2" charset="-122"/>
              </a:rPr>
              <a:t>  钢</a:t>
            </a:r>
            <a:r>
              <a:rPr lang="zh-CN" altLang="en-US" sz="2400" dirty="0">
                <a:solidFill>
                  <a:srgbClr val="0000FF"/>
                </a:solidFill>
                <a:latin typeface="黑体" panose="02010609060101010101" pitchFamily="2" charset="-122"/>
                <a:ea typeface="黑体" panose="02010609060101010101" pitchFamily="2" charset="-122"/>
              </a:rPr>
              <a:t>球或陶瓷球，圆柱、圆锥滚子。</a:t>
            </a:r>
            <a:endParaRPr lang="en-US" altLang="zh-CN" sz="2400" dirty="0">
              <a:solidFill>
                <a:srgbClr val="0000FF"/>
              </a:solidFill>
              <a:latin typeface="黑体" panose="02010609060101010101" pitchFamily="2" charset="-122"/>
              <a:ea typeface="黑体" panose="02010609060101010101" pitchFamily="2" charset="-122"/>
            </a:endParaRPr>
          </a:p>
          <a:p>
            <a:pPr marL="0" indent="0" eaLnBrk="1" hangingPunct="1">
              <a:lnSpc>
                <a:spcPct val="135000"/>
              </a:lnSpc>
              <a:spcBef>
                <a:spcPts val="600"/>
              </a:spcBef>
            </a:pPr>
            <a:r>
              <a:rPr lang="zh-CN" altLang="en-US" sz="2400" dirty="0" smtClean="0">
                <a:solidFill>
                  <a:srgbClr val="0000FF"/>
                </a:solidFill>
                <a:latin typeface="黑体" panose="02010609060101010101" pitchFamily="2" charset="-122"/>
                <a:ea typeface="黑体" panose="02010609060101010101" pitchFamily="2" charset="-122"/>
              </a:rPr>
              <a:t>   滚动</a:t>
            </a:r>
            <a:r>
              <a:rPr lang="zh-CN" altLang="en-US" sz="2400" dirty="0">
                <a:solidFill>
                  <a:srgbClr val="0000FF"/>
                </a:solidFill>
                <a:latin typeface="黑体" panose="02010609060101010101" pitchFamily="2" charset="-122"/>
                <a:ea typeface="黑体" panose="02010609060101010101" pitchFamily="2" charset="-122"/>
              </a:rPr>
              <a:t>螺旋传动又被称为滚珠丝杠副。</a:t>
            </a:r>
            <a:endParaRPr lang="zh-CN" altLang="en-US" sz="2400" dirty="0">
              <a:solidFill>
                <a:srgbClr val="0000FF"/>
              </a:solidFill>
              <a:latin typeface="黑体" panose="02010609060101010101" pitchFamily="2" charset="-122"/>
              <a:ea typeface="黑体" panose="02010609060101010101" pitchFamily="2" charset="-122"/>
            </a:endParaRPr>
          </a:p>
        </p:txBody>
      </p:sp>
      <p:pic>
        <p:nvPicPr>
          <p:cNvPr id="38916" name="Picture 2"/>
          <p:cNvPicPr>
            <a:picLocks noChangeAspect="1" noChangeArrowheads="1"/>
          </p:cNvPicPr>
          <p:nvPr/>
        </p:nvPicPr>
        <p:blipFill>
          <a:blip r:embed="rId1">
            <a:extLst>
              <a:ext uri="{28A0092B-C50C-407E-A947-70E740481C1C}">
                <a14:useLocalDpi xmlns:a14="http://schemas.microsoft.com/office/drawing/2010/main" val="0"/>
              </a:ext>
            </a:extLst>
          </a:blip>
          <a:srcRect r="55457"/>
          <a:stretch>
            <a:fillRect/>
          </a:stretch>
        </p:blipFill>
        <p:spPr bwMode="auto">
          <a:xfrm>
            <a:off x="4375150" y="3455988"/>
            <a:ext cx="37592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27735" y="3724275"/>
            <a:ext cx="2868295" cy="1938020"/>
          </a:xfrm>
          <a:prstGeom prst="rect">
            <a:avLst/>
          </a:prstGeom>
          <a:noFill/>
        </p:spPr>
        <p:txBody>
          <a:bodyPr wrap="square" rtlCol="0" anchor="t">
            <a:spAutoFit/>
          </a:bodyPr>
          <a:p>
            <a:pPr>
              <a:lnSpc>
                <a:spcPct val="150000"/>
              </a:lnSpc>
            </a:pPr>
            <a:r>
              <a:rPr lang="en-US" altLang="zh-CN" dirty="0">
                <a:latin typeface="Tahoma" panose="020B0604030504040204" pitchFamily="34" charset="0"/>
                <a:sym typeface="+mn-ea"/>
              </a:rPr>
              <a:t>  </a:t>
            </a:r>
            <a:r>
              <a:rPr lang="zh-CN" altLang="zh-CN" sz="2000" b="1" dirty="0">
                <a:latin typeface="Tahoma" panose="020B0604030504040204" pitchFamily="34" charset="0"/>
                <a:sym typeface="+mn-ea"/>
              </a:rPr>
              <a:t>滚珠螺旋传动是由螺杆、螺母、滚珠和滚珠循环返回装置（导路）四部分组成。</a:t>
            </a:r>
            <a:endParaRPr lang="zh-CN" altLang="en-US" sz="2000" b="1"/>
          </a:p>
        </p:txBody>
      </p:sp>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457200" y="142875"/>
            <a:ext cx="8229600" cy="725488"/>
          </a:xfrm>
        </p:spPr>
        <p:txBody>
          <a:bodyPr/>
          <a:lstStyle/>
          <a:p>
            <a:pPr eaLnBrk="1" hangingPunct="1"/>
            <a:r>
              <a:rPr lang="zh-CN" altLang="en-US" sz="2800" b="0" dirty="0">
                <a:solidFill>
                  <a:srgbClr val="0000FF"/>
                </a:solidFill>
                <a:latin typeface="黑体" panose="02010609060101010101" pitchFamily="2" charset="-122"/>
                <a:ea typeface="黑体" panose="02010609060101010101" pitchFamily="2" charset="-122"/>
              </a:rPr>
              <a:t>滚动螺旋传动简介</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4" name="内容占位符 2"/>
          <p:cNvSpPr txBox="1"/>
          <p:nvPr/>
        </p:nvSpPr>
        <p:spPr>
          <a:xfrm>
            <a:off x="314325" y="1000125"/>
            <a:ext cx="8472488" cy="2071688"/>
          </a:xfrm>
          <a:prstGeom prst="rect">
            <a:avLst/>
          </a:prstGeom>
        </p:spPr>
        <p:txBody>
          <a:bodyPr>
            <a:normAutofit/>
          </a:bodyPr>
          <a:lstStyle/>
          <a:p>
            <a:pPr marL="342900" indent="-342900">
              <a:spcBef>
                <a:spcPct val="20000"/>
              </a:spcBef>
              <a:defRPr/>
            </a:pPr>
            <a:r>
              <a:rPr kumimoji="1" lang="zh-CN" altLang="en-US" sz="2800" b="1" dirty="0">
                <a:solidFill>
                  <a:srgbClr val="FF0000"/>
                </a:solidFill>
                <a:effectLst>
                  <a:outerShdw blurRad="38100" dist="38100" dir="2700000" algn="tl">
                    <a:srgbClr val="C0C0C0"/>
                  </a:outerShdw>
                </a:effectLst>
                <a:latin typeface="黑体" panose="02010609060101010101" pitchFamily="2" charset="-122"/>
                <a:ea typeface="黑体" panose="02010609060101010101" pitchFamily="2" charset="-122"/>
              </a:rPr>
              <a:t>按球的循环方式，滚珠丝杆副分为内循环和外循环</a:t>
            </a:r>
            <a:endParaRPr kumimoji="1" lang="en-US" altLang="zh-CN" sz="2800" b="1" dirty="0">
              <a:solidFill>
                <a:srgbClr val="FF0000"/>
              </a:solidFill>
              <a:effectLst>
                <a:outerShdw blurRad="38100" dist="38100" dir="2700000" algn="tl">
                  <a:srgbClr val="C0C0C0"/>
                </a:outerShdw>
              </a:effectLst>
              <a:latin typeface="黑体" panose="02010609060101010101" pitchFamily="2" charset="-122"/>
              <a:ea typeface="黑体" panose="02010609060101010101" pitchFamily="2" charset="-122"/>
            </a:endParaRPr>
          </a:p>
          <a:p>
            <a:pPr marL="342900" indent="-342900">
              <a:spcBef>
                <a:spcPct val="20000"/>
              </a:spcBef>
              <a:defRPr/>
            </a:pPr>
            <a:endParaRPr kumimoji="1" lang="en-US" altLang="zh-CN" sz="1200" b="1" dirty="0">
              <a:solidFill>
                <a:srgbClr val="000000"/>
              </a:solidFill>
              <a:latin typeface="黑体" panose="02010609060101010101" pitchFamily="2" charset="-122"/>
              <a:ea typeface="黑体" panose="02010609060101010101" pitchFamily="2" charset="-122"/>
            </a:endParaRPr>
          </a:p>
          <a:p>
            <a:pPr marL="342900" indent="-342900">
              <a:spcBef>
                <a:spcPct val="20000"/>
              </a:spcBef>
              <a:buFont typeface="Arial" panose="020B0604020202020204" pitchFamily="34" charset="0"/>
              <a:buChar char="•"/>
              <a:defRPr/>
            </a:pPr>
            <a:r>
              <a:rPr lang="zh-CN" altLang="en-US" sz="2400" dirty="0">
                <a:solidFill>
                  <a:srgbClr val="002060"/>
                </a:solidFill>
                <a:latin typeface="黑体" panose="02010609060101010101" pitchFamily="2" charset="-122"/>
                <a:ea typeface="黑体" panose="02010609060101010101" pitchFamily="2" charset="-122"/>
              </a:rPr>
              <a:t>外循环：工艺性好，径向尺寸大</a:t>
            </a:r>
            <a:r>
              <a:rPr kumimoji="1" lang="zh-CN" altLang="en-US" sz="2800" b="1" dirty="0">
                <a:solidFill>
                  <a:srgbClr val="0000FF"/>
                </a:solidFill>
                <a:latin typeface="黑体" panose="02010609060101010101" pitchFamily="2" charset="-122"/>
                <a:ea typeface="黑体" panose="02010609060101010101" pitchFamily="2" charset="-122"/>
              </a:rPr>
              <a:t>；</a:t>
            </a:r>
            <a:endParaRPr lang="zh-CN" altLang="en-US" sz="2800" b="1" dirty="0">
              <a:solidFill>
                <a:srgbClr val="0000FF"/>
              </a:solidFill>
              <a:latin typeface="黑体" panose="02010609060101010101" pitchFamily="2" charset="-122"/>
              <a:ea typeface="黑体" panose="02010609060101010101" pitchFamily="2" charset="-122"/>
            </a:endParaRPr>
          </a:p>
        </p:txBody>
      </p:sp>
      <p:pic>
        <p:nvPicPr>
          <p:cNvPr id="38916" name="Picture 2"/>
          <p:cNvPicPr>
            <a:picLocks noChangeAspect="1" noChangeArrowheads="1"/>
          </p:cNvPicPr>
          <p:nvPr/>
        </p:nvPicPr>
        <p:blipFill>
          <a:blip r:embed="rId1">
            <a:extLst>
              <a:ext uri="{28A0092B-C50C-407E-A947-70E740481C1C}">
                <a14:useLocalDpi xmlns:a14="http://schemas.microsoft.com/office/drawing/2010/main" val="0"/>
              </a:ext>
            </a:extLst>
          </a:blip>
          <a:srcRect r="55457"/>
          <a:stretch>
            <a:fillRect/>
          </a:stretch>
        </p:blipFill>
        <p:spPr bwMode="auto">
          <a:xfrm>
            <a:off x="182880" y="2607628"/>
            <a:ext cx="37592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3" descr="C:\Documents and Settings\zhaoan\My Documents\My Pictures\2-1111121ZA60-L-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3915" y="2328545"/>
            <a:ext cx="4427538"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57200" y="142875"/>
            <a:ext cx="8229600" cy="725488"/>
          </a:xfrm>
        </p:spPr>
        <p:txBody>
          <a:bodyPr/>
          <a:lstStyle/>
          <a:p>
            <a:pPr eaLnBrk="1" hangingPunct="1"/>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滚动螺旋传动简介</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39939" name="内容占位符 2"/>
          <p:cNvSpPr txBox="1"/>
          <p:nvPr/>
        </p:nvSpPr>
        <p:spPr bwMode="auto">
          <a:xfrm>
            <a:off x="314325" y="1484313"/>
            <a:ext cx="84724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 typeface="Arial" panose="020B0604020202020204" pitchFamily="34" charset="0"/>
              <a:buChar char="•"/>
            </a:pPr>
            <a:r>
              <a:rPr kumimoji="1" lang="zh-CN" altLang="en-US" sz="2800" dirty="0">
                <a:solidFill>
                  <a:srgbClr val="002060"/>
                </a:solidFill>
                <a:latin typeface="黑体" panose="02010609060101010101" pitchFamily="2" charset="-122"/>
                <a:ea typeface="黑体" panose="02010609060101010101" pitchFamily="2" charset="-122"/>
              </a:rPr>
              <a:t>内循环：流畅性好，径向尺寸小，反向器加工复杂</a:t>
            </a:r>
            <a:endParaRPr lang="zh-CN" altLang="en-US" sz="2800" dirty="0">
              <a:solidFill>
                <a:srgbClr val="002060"/>
              </a:solidFill>
              <a:latin typeface="黑体" panose="02010609060101010101" pitchFamily="2" charset="-122"/>
              <a:ea typeface="黑体" panose="02010609060101010101" pitchFamily="2" charset="-122"/>
            </a:endParaRPr>
          </a:p>
        </p:txBody>
      </p:sp>
      <p:pic>
        <p:nvPicPr>
          <p:cNvPr id="39940" name="Picture 2"/>
          <p:cNvPicPr>
            <a:picLocks noChangeAspect="1" noChangeArrowheads="1"/>
          </p:cNvPicPr>
          <p:nvPr/>
        </p:nvPicPr>
        <p:blipFill>
          <a:blip r:embed="rId1">
            <a:extLst>
              <a:ext uri="{28A0092B-C50C-407E-A947-70E740481C1C}">
                <a14:useLocalDpi xmlns:a14="http://schemas.microsoft.com/office/drawing/2010/main" val="0"/>
              </a:ext>
            </a:extLst>
          </a:blip>
          <a:srcRect l="55457" t="12038"/>
          <a:stretch>
            <a:fillRect/>
          </a:stretch>
        </p:blipFill>
        <p:spPr bwMode="auto">
          <a:xfrm>
            <a:off x="0" y="2559050"/>
            <a:ext cx="4211638"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9" descr="ABBA%25E6%25BB%259A%25E7%258F%25A0%25E4%25B8%259D%25E6%259D%25A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2632075"/>
            <a:ext cx="4716462"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24205" y="5735955"/>
            <a:ext cx="8093710" cy="645160"/>
          </a:xfrm>
          <a:prstGeom prst="rect">
            <a:avLst/>
          </a:prstGeom>
          <a:noFill/>
        </p:spPr>
        <p:txBody>
          <a:bodyPr wrap="square" rtlCol="0" anchor="t">
            <a:spAutoFit/>
          </a:bodyPr>
          <a:p>
            <a:r>
              <a:rPr lang="zh-CN" altLang="en-US"/>
              <a:t>https://www.bilibili.com/video/BV1xV4y1u7NV/?spm_id_from=333.788.recommend_more_video.-1</a:t>
            </a:r>
            <a:endParaRPr lang="zh-CN" altLang="en-US"/>
          </a:p>
        </p:txBody>
      </p:sp>
      <p:pic>
        <p:nvPicPr>
          <p:cNvPr id="13323" name="图片 1073742872" descr="44303071dc0a1f9688d599dbc999570副本"/>
          <p:cNvPicPr>
            <a:picLocks noChangeAspect="1"/>
          </p:cNvPicPr>
          <p:nvPr/>
        </p:nvPicPr>
        <p:blipFill>
          <a:blip r:embed="rId3"/>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 name="文本框 4"/>
          <p:cNvSpPr txBox="1"/>
          <p:nvPr/>
        </p:nvSpPr>
        <p:spPr>
          <a:xfrm>
            <a:off x="1237615" y="5273040"/>
            <a:ext cx="7216140" cy="645160"/>
          </a:xfrm>
          <a:prstGeom prst="rect">
            <a:avLst/>
          </a:prstGeom>
          <a:noFill/>
        </p:spPr>
        <p:txBody>
          <a:bodyPr wrap="square" rtlCol="0" anchor="t">
            <a:spAutoFit/>
          </a:bodyPr>
          <a:p>
            <a:r>
              <a:rPr lang="zh-CN" altLang="en-US"/>
              <a:t>https://www.bilibili.com/video/BV1hU4y1t7mr/?spm_id_from=333.788.recommend_more_video.-1</a:t>
            </a:r>
            <a:endParaRPr lang="zh-CN" altLang="en-US"/>
          </a:p>
        </p:txBody>
      </p:sp>
      <p:pic>
        <p:nvPicPr>
          <p:cNvPr id="6" name="图片 5"/>
          <p:cNvPicPr>
            <a:picLocks noChangeAspect="1"/>
          </p:cNvPicPr>
          <p:nvPr>
            <p:custDataLst>
              <p:tags r:id="rId1"/>
            </p:custDataLst>
          </p:nvPr>
        </p:nvPicPr>
        <p:blipFill>
          <a:blip r:embed="rId2"/>
          <a:srcRect t="1126"/>
          <a:stretch>
            <a:fillRect/>
          </a:stretch>
        </p:blipFill>
        <p:spPr>
          <a:xfrm>
            <a:off x="1984375" y="1057275"/>
            <a:ext cx="5795010" cy="3290570"/>
          </a:xfrm>
          <a:prstGeom prst="rect">
            <a:avLst/>
          </a:prstGeom>
        </p:spPr>
      </p:pic>
      <p:sp>
        <p:nvSpPr>
          <p:cNvPr id="7" name="文本框 6"/>
          <p:cNvSpPr txBox="1"/>
          <p:nvPr/>
        </p:nvSpPr>
        <p:spPr>
          <a:xfrm>
            <a:off x="1892935" y="4627245"/>
            <a:ext cx="4591050" cy="460375"/>
          </a:xfrm>
          <a:prstGeom prst="rect">
            <a:avLst/>
          </a:prstGeom>
          <a:noFill/>
        </p:spPr>
        <p:txBody>
          <a:bodyPr wrap="square" rtlCol="0">
            <a:spAutoFit/>
          </a:bodyPr>
          <a:p>
            <a:r>
              <a:rPr lang="zh-CN" altLang="en-US" sz="2400">
                <a:latin typeface="黑体" panose="02010609060101010101" pitchFamily="2" charset="-122"/>
                <a:ea typeface="黑体" panose="02010609060101010101" pitchFamily="2" charset="-122"/>
              </a:rPr>
              <a:t>行星滚柱丝杆</a:t>
            </a:r>
            <a:endParaRPr lang="zh-CN" altLang="en-US" sz="2400">
              <a:latin typeface="黑体" panose="02010609060101010101" pitchFamily="2" charset="-122"/>
              <a:ea typeface="黑体" panose="0201060906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3"/>
          <p:cNvSpPr/>
          <p:nvPr/>
        </p:nvSpPr>
        <p:spPr>
          <a:xfrm>
            <a:off x="1209675" y="71438"/>
            <a:ext cx="4886325" cy="533400"/>
          </a:xfrm>
          <a:prstGeom prst="rect">
            <a:avLst/>
          </a:prstGeom>
          <a:noFill/>
          <a:ln w="9525">
            <a:noFill/>
          </a:ln>
        </p:spPr>
        <p:txBody>
          <a:bodyPr tIns="18000" anchor="ctr" anchorCtr="1"/>
          <a:p>
            <a:pPr eaLnBrk="1" hangingPunct="1"/>
            <a:endParaRPr lang="zh-CN" altLang="en-US" sz="2800" dirty="0">
              <a:solidFill>
                <a:schemeClr val="bg1"/>
              </a:solidFill>
              <a:latin typeface="黑体" panose="02010609060101010101" pitchFamily="2" charset="-122"/>
              <a:ea typeface="黑体" panose="02010609060101010101" pitchFamily="2" charset="-122"/>
            </a:endParaRPr>
          </a:p>
        </p:txBody>
      </p:sp>
      <p:pic>
        <p:nvPicPr>
          <p:cNvPr id="35853" name="Picture 13" descr="rewind1">
            <a:hlinkClick r:id="rId1" action="ppaction://hlinksldjump"/>
          </p:cNvPr>
          <p:cNvPicPr>
            <a:picLocks noChangeAspect="1"/>
          </p:cNvPicPr>
          <p:nvPr/>
        </p:nvPicPr>
        <p:blipFill>
          <a:blip r:embed="rId2"/>
          <a:stretch>
            <a:fillRect/>
          </a:stretch>
        </p:blipFill>
        <p:spPr>
          <a:xfrm>
            <a:off x="8247063" y="6530975"/>
            <a:ext cx="287337" cy="287338"/>
          </a:xfrm>
          <a:prstGeom prst="rect">
            <a:avLst/>
          </a:prstGeom>
          <a:noFill/>
          <a:ln w="9525">
            <a:noFill/>
          </a:ln>
        </p:spPr>
      </p:pic>
      <p:pic>
        <p:nvPicPr>
          <p:cNvPr id="35854" name="Picture 14" descr="back1">
            <a:hlinkClick r:id="rId3" action="ppaction://hlinksldjump"/>
          </p:cNvPr>
          <p:cNvPicPr>
            <a:picLocks noChangeAspect="1"/>
          </p:cNvPicPr>
          <p:nvPr/>
        </p:nvPicPr>
        <p:blipFill>
          <a:blip r:embed="rId4"/>
          <a:stretch>
            <a:fillRect/>
          </a:stretch>
        </p:blipFill>
        <p:spPr>
          <a:xfrm>
            <a:off x="8718550" y="6523038"/>
            <a:ext cx="287338" cy="287337"/>
          </a:xfrm>
          <a:prstGeom prst="rect">
            <a:avLst/>
          </a:prstGeom>
          <a:noFill/>
          <a:ln w="9525">
            <a:noFill/>
          </a:ln>
        </p:spPr>
      </p:pic>
      <p:sp>
        <p:nvSpPr>
          <p:cNvPr id="17414" name="矩形 2"/>
          <p:cNvSpPr/>
          <p:nvPr/>
        </p:nvSpPr>
        <p:spPr>
          <a:xfrm>
            <a:off x="917575" y="6350"/>
            <a:ext cx="3262313" cy="554038"/>
          </a:xfrm>
          <a:prstGeom prst="rect">
            <a:avLst/>
          </a:prstGeom>
          <a:noFill/>
          <a:ln w="9525">
            <a:noFill/>
          </a:ln>
        </p:spPr>
        <p:txBody>
          <a:bodyPr wrap="none">
            <a:spAutoFit/>
          </a:bodyPr>
          <a:p>
            <a:pPr eaLnBrk="1" hangingPunct="1"/>
            <a:r>
              <a:rPr lang="zh-CN" altLang="en-US" sz="3000" dirty="0">
                <a:solidFill>
                  <a:schemeClr val="bg1"/>
                </a:solidFill>
                <a:latin typeface="Times New Roman" panose="02020603050405020304" pitchFamily="18" charset="0"/>
                <a:ea typeface="黑体" panose="02010609060101010101" pitchFamily="2" charset="-122"/>
              </a:rPr>
              <a:t>滚动螺旋传动简介</a:t>
            </a:r>
            <a:endParaRPr lang="zh-CN" altLang="en-US" sz="3000" dirty="0">
              <a:solidFill>
                <a:schemeClr val="bg1"/>
              </a:solidFill>
              <a:latin typeface="黑体" panose="02010609060101010101" pitchFamily="2" charset="-122"/>
              <a:ea typeface="黑体" panose="02010609060101010101" pitchFamily="2" charset="-122"/>
            </a:endParaRPr>
          </a:p>
        </p:txBody>
      </p:sp>
      <p:sp>
        <p:nvSpPr>
          <p:cNvPr id="2" name="文本框 1"/>
          <p:cNvSpPr txBox="1"/>
          <p:nvPr/>
        </p:nvSpPr>
        <p:spPr>
          <a:xfrm>
            <a:off x="557530" y="948690"/>
            <a:ext cx="3805238" cy="603885"/>
          </a:xfrm>
          <a:prstGeom prst="rect">
            <a:avLst/>
          </a:prstGeom>
          <a:noFill/>
          <a:ln w="9525">
            <a:noFill/>
          </a:ln>
        </p:spPr>
        <p:txBody>
          <a:bodyPr>
            <a:spAutoFit/>
          </a:bodyPr>
          <a:p>
            <a:pPr>
              <a:lnSpc>
                <a:spcPts val="4000"/>
              </a:lnSpc>
              <a:spcBef>
                <a:spcPct val="50000"/>
              </a:spcBef>
            </a:pPr>
            <a:r>
              <a:rPr lang="zh-CN" altLang="en-US" sz="2400" dirty="0">
                <a:solidFill>
                  <a:srgbClr val="CC3300"/>
                </a:solidFill>
                <a:latin typeface="黑体" panose="02010609060101010101" pitchFamily="2" charset="-122"/>
                <a:ea typeface="黑体" panose="02010609060101010101" pitchFamily="2" charset="-122"/>
              </a:rPr>
              <a:t>滚珠</a:t>
            </a:r>
            <a:r>
              <a:rPr lang="zh-CN" altLang="en-US" sz="2400" dirty="0">
                <a:solidFill>
                  <a:srgbClr val="CC0000"/>
                </a:solidFill>
                <a:latin typeface="黑体" panose="02010609060101010101" pitchFamily="2" charset="-122"/>
                <a:ea typeface="黑体" panose="02010609060101010101" pitchFamily="2" charset="-122"/>
              </a:rPr>
              <a:t>螺旋传动的特点：</a:t>
            </a:r>
            <a:endParaRPr lang="zh-CN" altLang="en-US" sz="2400" dirty="0">
              <a:latin typeface="黑体" panose="02010609060101010101" pitchFamily="2" charset="-122"/>
              <a:ea typeface="黑体" panose="02010609060101010101" pitchFamily="2" charset="-122"/>
            </a:endParaRPr>
          </a:p>
        </p:txBody>
      </p:sp>
      <p:sp>
        <p:nvSpPr>
          <p:cNvPr id="4" name="文本框 3"/>
          <p:cNvSpPr txBox="1"/>
          <p:nvPr/>
        </p:nvSpPr>
        <p:spPr>
          <a:xfrm>
            <a:off x="598488" y="1239520"/>
            <a:ext cx="7791450" cy="1050925"/>
          </a:xfrm>
          <a:prstGeom prst="rect">
            <a:avLst/>
          </a:prstGeom>
          <a:noFill/>
          <a:ln w="9525">
            <a:noFill/>
          </a:ln>
        </p:spPr>
        <p:txBody>
          <a:bodyPr>
            <a:spAutoFit/>
          </a:bodyPr>
          <a:p>
            <a:pPr>
              <a:lnSpc>
                <a:spcPct val="150000"/>
              </a:lnSpc>
            </a:pPr>
            <a:r>
              <a:rPr lang="zh-CN" altLang="en-US" sz="2400" dirty="0">
                <a:latin typeface="Tahoma" panose="020B0604030504040204" pitchFamily="34" charset="0"/>
              </a:rPr>
              <a:t>       </a:t>
            </a:r>
            <a:r>
              <a:rPr lang="zh-CN" altLang="en-US" sz="2000" dirty="0">
                <a:latin typeface="Tahoma" panose="020B0604030504040204" pitchFamily="34" charset="0"/>
              </a:rPr>
              <a:t>滚珠螺旋传动除具有螺旋传动的一般特点（降速传动比大及牵引力大）外，与滑动螺旋传动相比较，具有下列特点：</a:t>
            </a:r>
            <a:endParaRPr lang="zh-CN" altLang="en-US" sz="2000" dirty="0">
              <a:latin typeface="Tahoma" panose="020B0604030504040204" pitchFamily="34" charset="0"/>
            </a:endParaRPr>
          </a:p>
        </p:txBody>
      </p:sp>
      <p:sp>
        <p:nvSpPr>
          <p:cNvPr id="16" name="Text Box 7"/>
          <p:cNvSpPr txBox="1"/>
          <p:nvPr/>
        </p:nvSpPr>
        <p:spPr>
          <a:xfrm>
            <a:off x="557213" y="2170113"/>
            <a:ext cx="7769225" cy="1014730"/>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en-US" altLang="zh-CN" sz="2000" b="1" dirty="0">
                <a:latin typeface="Tahoma" panose="020B0604030504040204" pitchFamily="34" charset="0"/>
              </a:rPr>
              <a:t>  1</a:t>
            </a:r>
            <a:r>
              <a:rPr lang="zh-CN" altLang="en-US" sz="2000" b="1" dirty="0">
                <a:latin typeface="Tahoma" panose="020B0604030504040204" pitchFamily="34" charset="0"/>
              </a:rPr>
              <a:t>）传动效率高，一般可达</a:t>
            </a:r>
            <a:r>
              <a:rPr lang="en-US" altLang="zh-CN" sz="2000" b="1" dirty="0">
                <a:latin typeface="Tahoma" panose="020B0604030504040204" pitchFamily="34" charset="0"/>
              </a:rPr>
              <a:t>90%</a:t>
            </a:r>
            <a:r>
              <a:rPr lang="zh-CN" altLang="en-US" sz="2000" b="1" dirty="0">
                <a:latin typeface="Tahoma" panose="020B0604030504040204" pitchFamily="34" charset="0"/>
              </a:rPr>
              <a:t>以上，约为滑动螺旋传动效率的三倍。</a:t>
            </a:r>
            <a:endParaRPr lang="zh-CN" altLang="en-US" sz="2000" b="1" dirty="0">
              <a:latin typeface="Tahoma" panose="020B0604030504040204" pitchFamily="34" charset="0"/>
            </a:endParaRPr>
          </a:p>
        </p:txBody>
      </p:sp>
      <p:sp>
        <p:nvSpPr>
          <p:cNvPr id="17" name="Text Box 8"/>
          <p:cNvSpPr txBox="1"/>
          <p:nvPr/>
        </p:nvSpPr>
        <p:spPr>
          <a:xfrm>
            <a:off x="534988" y="3186113"/>
            <a:ext cx="8183562" cy="1014730"/>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en-US" altLang="zh-CN" sz="2000" b="1" dirty="0">
                <a:latin typeface="Tahoma" panose="020B0604030504040204" pitchFamily="34" charset="0"/>
              </a:rPr>
              <a:t> 2</a:t>
            </a:r>
            <a:r>
              <a:rPr lang="zh-CN" altLang="en-US" sz="2000" b="1" dirty="0">
                <a:latin typeface="Tahoma" panose="020B0604030504040204" pitchFamily="34" charset="0"/>
              </a:rPr>
              <a:t>）传动精度高。摩擦力小，经调整预紧后，可得到无间隙传动，因而具有较高的传动精度，定位精度和轴向刚度。</a:t>
            </a:r>
            <a:endParaRPr lang="zh-CN" altLang="en-US" sz="2000" b="1" dirty="0">
              <a:latin typeface="Tahoma" panose="020B0604030504040204" pitchFamily="34" charset="0"/>
            </a:endParaRPr>
          </a:p>
        </p:txBody>
      </p:sp>
      <p:sp>
        <p:nvSpPr>
          <p:cNvPr id="18" name="Text Box 9"/>
          <p:cNvSpPr txBox="1"/>
          <p:nvPr/>
        </p:nvSpPr>
        <p:spPr>
          <a:xfrm>
            <a:off x="862013" y="4308475"/>
            <a:ext cx="7527925" cy="398780"/>
          </a:xfrm>
          <a:prstGeom prst="rect">
            <a:avLst/>
          </a:prstGeom>
          <a:noFill/>
          <a:ln w="9525">
            <a:noFill/>
          </a:ln>
        </p:spPr>
        <p:txBody>
          <a:bodyPr>
            <a:spAutoFit/>
          </a:bodyPr>
          <a:p>
            <a:r>
              <a:rPr lang="en-US" altLang="zh-CN" sz="2000" dirty="0">
                <a:latin typeface="Tahoma" panose="020B0604030504040204" pitchFamily="34" charset="0"/>
              </a:rPr>
              <a:t> </a:t>
            </a:r>
            <a:r>
              <a:rPr lang="en-US" altLang="zh-CN" sz="2000" b="1" dirty="0">
                <a:latin typeface="Tahoma" panose="020B0604030504040204" pitchFamily="34" charset="0"/>
              </a:rPr>
              <a:t>   3</a:t>
            </a:r>
            <a:r>
              <a:rPr lang="zh-CN" altLang="en-US" sz="2000" b="1" dirty="0">
                <a:latin typeface="Tahoma" panose="020B0604030504040204" pitchFamily="34" charset="0"/>
              </a:rPr>
              <a:t>）具有传动的可逆性，但不能自锁。</a:t>
            </a:r>
            <a:endParaRPr lang="zh-CN" altLang="en-US" sz="2000" b="1" dirty="0">
              <a:latin typeface="Tahoma" panose="020B0604030504040204" pitchFamily="34" charset="0"/>
            </a:endParaRPr>
          </a:p>
        </p:txBody>
      </p:sp>
      <p:sp>
        <p:nvSpPr>
          <p:cNvPr id="20" name="Text Box 10"/>
          <p:cNvSpPr txBox="1"/>
          <p:nvPr/>
        </p:nvSpPr>
        <p:spPr>
          <a:xfrm>
            <a:off x="798513" y="4814888"/>
            <a:ext cx="7527925" cy="460375"/>
          </a:xfrm>
          <a:prstGeom prst="rect">
            <a:avLst/>
          </a:prstGeom>
          <a:noFill/>
          <a:ln w="9525">
            <a:noFill/>
          </a:ln>
        </p:spPr>
        <p:txBody>
          <a:bodyPr>
            <a:spAutoFit/>
          </a:bodyPr>
          <a:p>
            <a:r>
              <a:rPr lang="en-US" altLang="zh-CN" sz="2400" dirty="0">
                <a:latin typeface="Tahoma" panose="020B0604030504040204" pitchFamily="34" charset="0"/>
              </a:rPr>
              <a:t>    </a:t>
            </a:r>
            <a:r>
              <a:rPr lang="en-US" altLang="zh-CN" sz="2000" b="1" dirty="0">
                <a:latin typeface="Tahoma" panose="020B0604030504040204" pitchFamily="34" charset="0"/>
              </a:rPr>
              <a:t>4</a:t>
            </a:r>
            <a:r>
              <a:rPr lang="zh-CN" altLang="en-US" sz="2000" b="1" dirty="0">
                <a:latin typeface="Tahoma" panose="020B0604030504040204" pitchFamily="34" charset="0"/>
              </a:rPr>
              <a:t>）制造工艺复杂，成本较高，但使用寿命长，维护简单。</a:t>
            </a:r>
            <a:endParaRPr lang="zh-CN" altLang="en-US" sz="2000" b="1" dirty="0">
              <a:latin typeface="Tahoma" panose="020B0604030504040204" pitchFamily="34" charset="0"/>
            </a:endParaRPr>
          </a:p>
        </p:txBody>
      </p:sp>
      <p:sp>
        <p:nvSpPr>
          <p:cNvPr id="10" name="文本框 9"/>
          <p:cNvSpPr txBox="1"/>
          <p:nvPr/>
        </p:nvSpPr>
        <p:spPr>
          <a:xfrm>
            <a:off x="534988" y="5321300"/>
            <a:ext cx="8183562" cy="1014730"/>
          </a:xfrm>
          <a:prstGeom prst="rect">
            <a:avLst/>
          </a:prstGeom>
          <a:noFill/>
          <a:ln w="9525">
            <a:noFill/>
          </a:ln>
        </p:spPr>
        <p:txBody>
          <a:bodyPr>
            <a:spAutoFit/>
          </a:bodyPr>
          <a:p>
            <a:pPr>
              <a:lnSpc>
                <a:spcPct val="150000"/>
              </a:lnSpc>
            </a:pPr>
            <a:r>
              <a:rPr lang="en-US" altLang="zh-CN" sz="2000" dirty="0">
                <a:latin typeface="Tahoma" panose="020B0604030504040204" pitchFamily="34" charset="0"/>
              </a:rPr>
              <a:t>       </a:t>
            </a:r>
            <a:r>
              <a:rPr lang="zh-CN" altLang="zh-CN" sz="2000" b="1" dirty="0">
                <a:latin typeface="Tahoma" panose="020B0604030504040204" pitchFamily="34" charset="0"/>
              </a:rPr>
              <a:t>除广泛应用于现代数控机床或加工中心外，已扩展到军工、航天、民用各种设备当中</a:t>
            </a:r>
            <a:r>
              <a:rPr lang="zh-CN" altLang="en-US" sz="2000" b="1" dirty="0">
                <a:latin typeface="Tahoma" panose="020B0604030504040204" pitchFamily="34" charset="0"/>
              </a:rPr>
              <a:t>。</a:t>
            </a:r>
            <a:endParaRPr lang="zh-CN" altLang="en-US" sz="2000" b="1" dirty="0">
              <a:latin typeface="Tahoma" panose="020B0604030504040204" pitchFamily="34" charset="0"/>
            </a:endParaRPr>
          </a:p>
        </p:txBody>
      </p:sp>
      <p:sp>
        <p:nvSpPr>
          <p:cNvPr id="39938" name="标题 1"/>
          <p:cNvSpPr>
            <a:spLocks noGrp="1"/>
          </p:cNvSpPr>
          <p:nvPr>
            <p:ph type="title"/>
          </p:nvPr>
        </p:nvSpPr>
        <p:spPr>
          <a:xfrm>
            <a:off x="457200" y="142875"/>
            <a:ext cx="8229600" cy="725488"/>
          </a:xfrm>
        </p:spPr>
        <p:txBody>
          <a:bodyPr/>
          <a:p>
            <a:pPr eaLnBrk="1" hangingPunct="1"/>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滚动螺旋传动简介</a:t>
            </a:r>
            <a:endParaRPr lang="zh-CN" altLang="en-US" sz="2800" b="0" dirty="0">
              <a:solidFill>
                <a:srgbClr val="0000FF"/>
              </a:solidFill>
              <a:latin typeface="黑体" panose="02010609060101010101" pitchFamily="2" charset="-122"/>
              <a:ea typeface="黑体" panose="02010609060101010101" pitchFamily="2" charset="-122"/>
            </a:endParaRPr>
          </a:p>
        </p:txBody>
      </p:sp>
      <p:pic>
        <p:nvPicPr>
          <p:cNvPr id="13323" name="图片 1073742872" descr="44303071dc0a1f9688d599dbc999570副本"/>
          <p:cNvPicPr>
            <a:picLocks noChangeAspect="1"/>
          </p:cNvPicPr>
          <p:nvPr/>
        </p:nvPicPr>
        <p:blipFill>
          <a:blip r:embed="rId5"/>
          <a:stretch>
            <a:fillRect/>
          </a:stretch>
        </p:blipFill>
        <p:spPr>
          <a:xfrm>
            <a:off x="8350885" y="76835"/>
            <a:ext cx="703580" cy="6946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5854"/>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nodeType="afterEffect">
                                  <p:stCondLst>
                                    <p:cond delay="0"/>
                                  </p:stCondLst>
                                  <p:childTnLst>
                                    <p:set>
                                      <p:cBhvr>
                                        <p:cTn id="9" dur="1" fill="hold">
                                          <p:stCondLst>
                                            <p:cond delay="0"/>
                                          </p:stCondLst>
                                        </p:cTn>
                                        <p:tgtEl>
                                          <p:spTgt spid="35853"/>
                                        </p:tgtEl>
                                        <p:attrNameLst>
                                          <p:attrName>style.visibility</p:attrName>
                                        </p:attrNameLst>
                                      </p:cBhvr>
                                      <p:to>
                                        <p:strVal val="visible"/>
                                      </p:to>
                                    </p:set>
                                    <p:anim calcmode="lin" valueType="num">
                                      <p:cBhvr additive="base">
                                        <p:cTn id="10" dur="500" fill="hold"/>
                                        <p:tgtEl>
                                          <p:spTgt spid="35853"/>
                                        </p:tgtEl>
                                        <p:attrNameLst>
                                          <p:attrName>ppt_x</p:attrName>
                                        </p:attrNameLst>
                                      </p:cBhvr>
                                      <p:tavLst>
                                        <p:tav tm="0">
                                          <p:val>
                                            <p:strVal val="0-#ppt_w/2"/>
                                          </p:val>
                                        </p:tav>
                                        <p:tav tm="100000">
                                          <p:val>
                                            <p:strVal val="#ppt_x"/>
                                          </p:val>
                                        </p:tav>
                                      </p:tavLst>
                                    </p:anim>
                                    <p:anim calcmode="lin" valueType="num">
                                      <p:cBhvr additive="base">
                                        <p:cTn id="11" dur="500" fill="hold"/>
                                        <p:tgtEl>
                                          <p:spTgt spid="35853"/>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6" grpId="0"/>
      <p:bldP spid="17" grpId="0"/>
      <p:bldP spid="18" grpId="0"/>
      <p:bldP spid="20"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457200" y="142875"/>
            <a:ext cx="8229600" cy="725488"/>
          </a:xfrm>
        </p:spPr>
        <p:txBody>
          <a:bodyPr/>
          <a:lstStyle/>
          <a:p>
            <a:pPr eaLnBrk="1" hangingPunct="1"/>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a:solidFill>
                  <a:srgbClr val="0000FF"/>
                </a:solidFill>
                <a:latin typeface="黑体" panose="02010609060101010101" pitchFamily="2" charset="-122"/>
                <a:ea typeface="黑体" panose="02010609060101010101" pitchFamily="2" charset="-122"/>
              </a:rPr>
              <a:t>静压螺旋传动简介</a:t>
            </a:r>
            <a:endParaRPr lang="zh-CN" altLang="en-US" sz="2800" b="0" dirty="0">
              <a:solidFill>
                <a:srgbClr val="0000FF"/>
              </a:solidFill>
              <a:latin typeface="黑体" panose="02010609060101010101" pitchFamily="2" charset="-122"/>
              <a:ea typeface="黑体" panose="02010609060101010101" pitchFamily="2" charset="-122"/>
            </a:endParaRPr>
          </a:p>
        </p:txBody>
      </p:sp>
      <p:sp>
        <p:nvSpPr>
          <p:cNvPr id="41987" name="矩形 4"/>
          <p:cNvSpPr>
            <a:spLocks noChangeArrowheads="1"/>
          </p:cNvSpPr>
          <p:nvPr/>
        </p:nvSpPr>
        <p:spPr bwMode="auto">
          <a:xfrm>
            <a:off x="467544" y="1196752"/>
            <a:ext cx="8429625" cy="51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ts val="600"/>
              </a:spcBef>
            </a:pPr>
            <a:r>
              <a:rPr lang="zh-CN" altLang="en-US" sz="2400" dirty="0">
                <a:solidFill>
                  <a:srgbClr val="FF0000"/>
                </a:solidFill>
                <a:latin typeface="黑体" panose="02010609060101010101" pitchFamily="2" charset="-122"/>
                <a:ea typeface="黑体" panose="02010609060101010101" pitchFamily="2" charset="-122"/>
              </a:rPr>
              <a:t>利用静压原理使螺旋传动副始终处于液体摩擦状态。</a:t>
            </a:r>
            <a:endParaRPr lang="en-US" altLang="zh-CN" sz="2400" dirty="0">
              <a:solidFill>
                <a:srgbClr val="FF0000"/>
              </a:solidFill>
              <a:latin typeface="黑体" panose="02010609060101010101" pitchFamily="2" charset="-122"/>
              <a:ea typeface="黑体" panose="02010609060101010101" pitchFamily="2" charset="-122"/>
            </a:endParaRPr>
          </a:p>
        </p:txBody>
      </p:sp>
      <p:sp>
        <p:nvSpPr>
          <p:cNvPr id="41988" name="矩形 5"/>
          <p:cNvSpPr>
            <a:spLocks noChangeArrowheads="1"/>
          </p:cNvSpPr>
          <p:nvPr/>
        </p:nvSpPr>
        <p:spPr bwMode="auto">
          <a:xfrm>
            <a:off x="694239" y="2099072"/>
            <a:ext cx="4572000" cy="332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dirty="0">
                <a:solidFill>
                  <a:srgbClr val="002060"/>
                </a:solidFill>
                <a:latin typeface="黑体" panose="02010609060101010101" pitchFamily="2" charset="-122"/>
                <a:ea typeface="黑体" panose="02010609060101010101" pitchFamily="2" charset="-122"/>
              </a:rPr>
              <a:t>当两摩擦表面被流体（液体或气体）完全隔开时，摩擦表面不会产生金属间的直接摩擦，流体层间的粘剪阻力就是摩擦力，这种摩擦称为流体摩擦，不发生金属磨损，是理想状态！</a:t>
            </a:r>
            <a:endParaRPr lang="zh-CN" altLang="en-US" sz="2400" dirty="0">
              <a:solidFill>
                <a:srgbClr val="002060"/>
              </a:solidFill>
              <a:latin typeface="黑体" panose="02010609060101010101" pitchFamily="2" charset="-122"/>
              <a:ea typeface="黑体" panose="02010609060101010101" pitchFamily="2" charset="-122"/>
            </a:endParaRPr>
          </a:p>
        </p:txBody>
      </p:sp>
      <p:pic>
        <p:nvPicPr>
          <p:cNvPr id="41989" name="Picture 2"/>
          <p:cNvPicPr>
            <a:picLocks noChangeAspect="1" noChangeArrowheads="1"/>
          </p:cNvPicPr>
          <p:nvPr/>
        </p:nvPicPr>
        <p:blipFill>
          <a:blip r:embed="rId1">
            <a:extLst>
              <a:ext uri="{28A0092B-C50C-407E-A947-70E740481C1C}">
                <a14:useLocalDpi xmlns:a14="http://schemas.microsoft.com/office/drawing/2010/main" val="0"/>
              </a:ext>
            </a:extLst>
          </a:blip>
          <a:srcRect b="18347"/>
          <a:stretch>
            <a:fillRect/>
          </a:stretch>
        </p:blipFill>
        <p:spPr bwMode="auto">
          <a:xfrm>
            <a:off x="5143500" y="1928813"/>
            <a:ext cx="3527425"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图片 1073742872" descr="44303071dc0a1f9688d599dbc999570副本"/>
          <p:cNvPicPr>
            <a:picLocks noChangeAspect="1"/>
          </p:cNvPicPr>
          <p:nvPr/>
        </p:nvPicPr>
        <p:blipFill>
          <a:blip r:embed="rId2"/>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457200" y="142875"/>
            <a:ext cx="8229600" cy="725488"/>
          </a:xfrm>
        </p:spPr>
        <p:txBody>
          <a:bodyPr/>
          <a:lstStyle/>
          <a:p>
            <a:pPr eaLnBrk="1" hangingPunct="1"/>
            <a:r>
              <a:rPr lang="en-US" altLang="zh-CN" sz="2800" b="0" dirty="0" smtClean="0">
                <a:solidFill>
                  <a:srgbClr val="0000FF"/>
                </a:solidFill>
                <a:latin typeface="黑体" panose="02010609060101010101" pitchFamily="2" charset="-122"/>
                <a:ea typeface="黑体" panose="02010609060101010101" pitchFamily="2" charset="-122"/>
              </a:rPr>
              <a:t> </a:t>
            </a:r>
            <a:r>
              <a:rPr lang="zh-CN" altLang="en-US" sz="2800" b="0" dirty="0" smtClean="0">
                <a:solidFill>
                  <a:srgbClr val="0000FF"/>
                </a:solidFill>
                <a:latin typeface="黑体" panose="02010609060101010101" pitchFamily="2" charset="-122"/>
                <a:ea typeface="黑体" panose="02010609060101010101" pitchFamily="2" charset="-122"/>
              </a:rPr>
              <a:t>静压螺旋传动简介</a:t>
            </a:r>
            <a:endParaRPr lang="zh-CN" altLang="en-US" sz="2800" b="0" dirty="0" smtClean="0">
              <a:latin typeface="黑体" panose="02010609060101010101" pitchFamily="2" charset="-122"/>
              <a:ea typeface="黑体" panose="02010609060101010101" pitchFamily="2" charset="-122"/>
            </a:endParaRPr>
          </a:p>
        </p:txBody>
      </p:sp>
      <p:sp>
        <p:nvSpPr>
          <p:cNvPr id="43011" name="矩形 5"/>
          <p:cNvSpPr>
            <a:spLocks noChangeArrowheads="1"/>
          </p:cNvSpPr>
          <p:nvPr/>
        </p:nvSpPr>
        <p:spPr bwMode="auto">
          <a:xfrm>
            <a:off x="651828" y="868363"/>
            <a:ext cx="8286750" cy="58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ts val="600"/>
              </a:spcBef>
            </a:pPr>
            <a:r>
              <a:rPr lang="zh-CN" altLang="en-US" sz="2400" dirty="0">
                <a:solidFill>
                  <a:srgbClr val="FF0000"/>
                </a:solidFill>
                <a:latin typeface="黑体" panose="02010609060101010101" pitchFamily="2" charset="-122"/>
                <a:ea typeface="黑体" panose="02010609060101010101" pitchFamily="2" charset="-122"/>
              </a:rPr>
              <a:t>梯形螺纹牙两侧面中径处均布</a:t>
            </a:r>
            <a:r>
              <a:rPr lang="en-US" altLang="zh-CN" sz="2400" dirty="0">
                <a:solidFill>
                  <a:srgbClr val="FF0000"/>
                </a:solidFill>
                <a:latin typeface="黑体" panose="02010609060101010101" pitchFamily="2" charset="-122"/>
                <a:ea typeface="黑体" panose="02010609060101010101" pitchFamily="2" charset="-122"/>
              </a:rPr>
              <a:t>3-4</a:t>
            </a:r>
            <a:r>
              <a:rPr lang="zh-CN" altLang="en-US" sz="2400" dirty="0">
                <a:solidFill>
                  <a:srgbClr val="FF0000"/>
                </a:solidFill>
                <a:latin typeface="黑体" panose="02010609060101010101" pitchFamily="2" charset="-122"/>
                <a:ea typeface="黑体" panose="02010609060101010101" pitchFamily="2" charset="-122"/>
              </a:rPr>
              <a:t>个油腔，压力供油</a:t>
            </a:r>
            <a:endParaRPr lang="en-US" altLang="zh-CN" sz="2400" dirty="0">
              <a:solidFill>
                <a:srgbClr val="FF0000"/>
              </a:solidFill>
              <a:latin typeface="黑体" panose="02010609060101010101" pitchFamily="2" charset="-122"/>
              <a:ea typeface="黑体" panose="02010609060101010101" pitchFamily="2" charset="-122"/>
            </a:endParaRPr>
          </a:p>
        </p:txBody>
      </p:sp>
      <p:pic>
        <p:nvPicPr>
          <p:cNvPr id="38919" name="Picture 7" descr="图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02175" y="1700213"/>
            <a:ext cx="3182938"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557338"/>
            <a:ext cx="3724275"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图片 1073742872" descr="44303071dc0a1f9688d599dbc999570副本"/>
          <p:cNvPicPr>
            <a:picLocks noChangeAspect="1"/>
          </p:cNvPicPr>
          <p:nvPr/>
        </p:nvPicPr>
        <p:blipFill>
          <a:blip r:embed="rId3"/>
          <a:stretch>
            <a:fillRect/>
          </a:stretch>
        </p:blipFill>
        <p:spPr>
          <a:xfrm>
            <a:off x="8350885" y="76835"/>
            <a:ext cx="703580" cy="6946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8919"/>
                                        </p:tgtEl>
                                        <p:attrNameLst>
                                          <p:attrName>style.visibility</p:attrName>
                                        </p:attrNameLst>
                                      </p:cBhvr>
                                      <p:to>
                                        <p:strVal val="visible"/>
                                      </p:to>
                                    </p:set>
                                    <p:animEffect transition="in" filter="dissolve">
                                      <p:cBhvr>
                                        <p:cTn id="7"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idx="4294967295"/>
          </p:nvPr>
        </p:nvSpPr>
        <p:spPr>
          <a:xfrm>
            <a:off x="457200" y="115888"/>
            <a:ext cx="8229600" cy="725487"/>
          </a:xfrm>
        </p:spPr>
        <p:txBody>
          <a:bodyPr/>
          <a:lstStyle/>
          <a:p>
            <a:pPr eaLnBrk="1" hangingPunct="1"/>
            <a:r>
              <a:rPr lang="en-US" altLang="zh-CN" sz="2800" dirty="0" smtClean="0">
                <a:solidFill>
                  <a:srgbClr val="0000FF"/>
                </a:solidFill>
                <a:latin typeface="黑体" panose="02010609060101010101" pitchFamily="2" charset="-122"/>
                <a:ea typeface="黑体" panose="02010609060101010101" pitchFamily="2" charset="-122"/>
              </a:rPr>
              <a:t> </a:t>
            </a:r>
            <a:r>
              <a:rPr lang="zh-CN" altLang="en-US" sz="2800" dirty="0">
                <a:solidFill>
                  <a:srgbClr val="0000FF"/>
                </a:solidFill>
                <a:latin typeface="黑体" panose="02010609060101010101" pitchFamily="2" charset="-122"/>
                <a:ea typeface="黑体" panose="02010609060101010101" pitchFamily="2" charset="-122"/>
              </a:rPr>
              <a:t>静压螺旋传动简介</a:t>
            </a:r>
            <a:endParaRPr lang="zh-CN" altLang="en-US" sz="2800" dirty="0">
              <a:solidFill>
                <a:srgbClr val="0000FF"/>
              </a:solidFill>
              <a:latin typeface="黑体" panose="02010609060101010101" pitchFamily="2" charset="-122"/>
              <a:ea typeface="黑体" panose="02010609060101010101" pitchFamily="2" charset="-122"/>
            </a:endParaRPr>
          </a:p>
        </p:txBody>
      </p:sp>
      <p:sp>
        <p:nvSpPr>
          <p:cNvPr id="44035" name="Text Box 9"/>
          <p:cNvSpPr txBox="1">
            <a:spLocks noChangeArrowheads="1"/>
          </p:cNvSpPr>
          <p:nvPr/>
        </p:nvSpPr>
        <p:spPr bwMode="auto">
          <a:xfrm>
            <a:off x="285750" y="1700530"/>
            <a:ext cx="8660765" cy="252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800" b="1" dirty="0">
                <a:solidFill>
                  <a:srgbClr val="FF0000"/>
                </a:solidFill>
                <a:latin typeface="黑体" panose="02010609060101010101" pitchFamily="2" charset="-122"/>
                <a:ea typeface="黑体" panose="02010609060101010101" pitchFamily="2" charset="-122"/>
              </a:rPr>
              <a:t>特点：</a:t>
            </a:r>
            <a:r>
              <a:rPr lang="zh-CN" altLang="en-US" sz="2400" dirty="0">
                <a:solidFill>
                  <a:srgbClr val="002060"/>
                </a:solidFill>
                <a:latin typeface="黑体" panose="02010609060101010101" pitchFamily="2" charset="-122"/>
                <a:ea typeface="黑体" panose="02010609060101010101" pitchFamily="2" charset="-122"/>
              </a:rPr>
              <a:t>摩擦系数小、效率高、启动力矩小、减振、承载能力大</a:t>
            </a:r>
            <a:r>
              <a:rPr lang="en-US" altLang="zh-CN" sz="2400" dirty="0">
                <a:solidFill>
                  <a:srgbClr val="002060"/>
                </a:solidFill>
                <a:latin typeface="黑体" panose="02010609060101010101" pitchFamily="2" charset="-122"/>
                <a:ea typeface="黑体" panose="02010609060101010101" pitchFamily="2" charset="-122"/>
              </a:rPr>
              <a:t>  	</a:t>
            </a:r>
            <a:r>
              <a:rPr lang="zh-CN" altLang="en-US" sz="2400" dirty="0">
                <a:solidFill>
                  <a:srgbClr val="002060"/>
                </a:solidFill>
                <a:latin typeface="黑体" panose="02010609060101010101" pitchFamily="2" charset="-122"/>
                <a:ea typeface="黑体" panose="02010609060101010101" pitchFamily="2" charset="-122"/>
              </a:rPr>
              <a:t>、传动平稳、传动精度高，结构复杂，加工、安装及调</a:t>
            </a:r>
            <a:r>
              <a:rPr lang="en-US" altLang="zh-CN" sz="2400" dirty="0">
                <a:solidFill>
                  <a:srgbClr val="002060"/>
                </a:solidFill>
                <a:latin typeface="黑体" panose="02010609060101010101" pitchFamily="2" charset="-122"/>
                <a:ea typeface="黑体" panose="02010609060101010101" pitchFamily="2" charset="-122"/>
              </a:rPr>
              <a:t>	</a:t>
            </a:r>
            <a:r>
              <a:rPr lang="zh-CN" altLang="en-US" sz="2400" dirty="0">
                <a:solidFill>
                  <a:srgbClr val="002060"/>
                </a:solidFill>
                <a:latin typeface="黑体" panose="02010609060101010101" pitchFamily="2" charset="-122"/>
                <a:ea typeface="黑体" panose="02010609060101010101" pitchFamily="2" charset="-122"/>
              </a:rPr>
              <a:t>整困难，不自锁，需供油装置</a:t>
            </a:r>
            <a:endParaRPr lang="en-US" altLang="zh-CN" sz="2400" dirty="0">
              <a:solidFill>
                <a:srgbClr val="002060"/>
              </a:solidFill>
              <a:latin typeface="黑体" panose="02010609060101010101" pitchFamily="2" charset="-122"/>
              <a:ea typeface="黑体" panose="02010609060101010101" pitchFamily="2" charset="-122"/>
            </a:endParaRPr>
          </a:p>
          <a:p>
            <a:pPr>
              <a:lnSpc>
                <a:spcPct val="120000"/>
              </a:lnSpc>
            </a:pPr>
            <a:endParaRPr lang="en-US" altLang="zh-CN" sz="2800" b="1" dirty="0">
              <a:solidFill>
                <a:srgbClr val="0000FF"/>
              </a:solidFill>
              <a:latin typeface="黑体" panose="02010609060101010101" pitchFamily="2" charset="-122"/>
              <a:ea typeface="黑体" panose="02010609060101010101" pitchFamily="2" charset="-122"/>
            </a:endParaRPr>
          </a:p>
          <a:p>
            <a:pPr>
              <a:lnSpc>
                <a:spcPct val="120000"/>
              </a:lnSpc>
            </a:pPr>
            <a:r>
              <a:rPr lang="zh-CN" altLang="en-US" sz="2800" b="1" dirty="0">
                <a:solidFill>
                  <a:srgbClr val="0000FF"/>
                </a:solidFill>
                <a:latin typeface="黑体" panose="02010609060101010101" pitchFamily="2" charset="-122"/>
                <a:ea typeface="黑体" panose="02010609060101010101" pitchFamily="2" charset="-122"/>
              </a:rPr>
              <a:t>应用场合：</a:t>
            </a:r>
            <a:r>
              <a:rPr lang="zh-CN" altLang="en-US" sz="2400" dirty="0">
                <a:solidFill>
                  <a:srgbClr val="002060"/>
                </a:solidFill>
                <a:latin typeface="黑体" panose="02010609060101010101" pitchFamily="2" charset="-122"/>
                <a:ea typeface="黑体" panose="02010609060101010101" pitchFamily="2" charset="-122"/>
              </a:rPr>
              <a:t>精度高、定位准确和传动效率高的场合</a:t>
            </a:r>
            <a:endParaRPr lang="zh-CN" altLang="en-US" sz="2400" dirty="0">
              <a:solidFill>
                <a:srgbClr val="002060"/>
              </a:solidFill>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TABLE_ENDDRAG_ORIGIN_RECT" val="563*236"/>
  <p:tag name="TABLE_ENDDRAG_RECT" val="73*193*563*236"/>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Bullet"/>
  <p:tag name="RAINPROBLEMTYPE" val="MultipleChoice"/>
  <p:tag name="RAINBULLET" val="Wrong"/>
</p:tagLst>
</file>

<file path=ppt/tags/tag11.xml><?xml version="1.0" encoding="utf-8"?>
<p:tagLst xmlns:p="http://schemas.openxmlformats.org/presentationml/2006/main">
  <p:tag name="RAINPROBLEM" val="ProblemSubmit"/>
  <p:tag name="RAINPROBLEMTYPE" val="MultipleChoice"/>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MultipleChoice"/>
</p:tagLst>
</file>

<file path=ppt/tags/tag18.xml><?xml version="1.0" encoding="utf-8"?>
<p:tagLst xmlns:p="http://schemas.openxmlformats.org/presentationml/2006/main">
  <p:tag name="RAINPROBLEM" val="MultipleChoice"/>
  <p:tag name="PROBLEMSCORE" val="2.0"/>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Correct"/>
</p:tagLst>
</file>

<file path=ppt/tags/tag26.xml><?xml version="1.0" encoding="utf-8"?>
<p:tagLst xmlns:p="http://schemas.openxmlformats.org/presentationml/2006/main">
  <p:tag name="RAINPROBLEM" val="ProblemBullet"/>
  <p:tag name="RAINPROBLEMTYPE" val="MultipleChoice"/>
  <p:tag name="RAINBULLET" val="Wrong"/>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Submit"/>
  <p:tag name="RAINPROBLEMTYPE" val="MultipleChoice"/>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
</p:tagLst>
</file>

<file path=ppt/tags/tag35.xml><?xml version="1.0" encoding="utf-8"?>
<p:tagLst xmlns:p="http://schemas.openxmlformats.org/presentationml/2006/main">
  <p:tag name="RAINPROBLEM" val="MultipleChoice"/>
  <p:tag name="PROBLEMSCORE" val="2.0"/>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PP_MARK_KEY" val="c61a8b0f-639b-4e06-a1e0-c0433d5afda9"/>
  <p:tag name="COMMONDATA" val="eyJoZGlkIjoiZmYwY2UxNzI0ODdjMTkzYTM2NmQ4OTdkNGYwMzJlYmMifQ=="/>
  <p:tag name="resource_record_key" val="{&quot;13&quot;:[4364884],&quot;29&quot;:[5000015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cmpd="thickThi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5746</Words>
  <Application>WPS 演示</Application>
  <PresentationFormat>全屏显示(4:3)</PresentationFormat>
  <Paragraphs>725</Paragraphs>
  <Slides>50</Slides>
  <Notes>5</Notes>
  <HiddenSlides>2</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39</vt:i4>
      </vt:variant>
      <vt:variant>
        <vt:lpstr>幻灯片标题</vt:lpstr>
      </vt:variant>
      <vt:variant>
        <vt:i4>50</vt:i4>
      </vt:variant>
    </vt:vector>
  </HeadingPairs>
  <TitlesOfParts>
    <vt:vector size="105" baseType="lpstr">
      <vt:lpstr>Arial</vt:lpstr>
      <vt:lpstr>宋体</vt:lpstr>
      <vt:lpstr>Wingdings</vt:lpstr>
      <vt:lpstr>Calibri</vt:lpstr>
      <vt:lpstr>黑体</vt:lpstr>
      <vt:lpstr>楷体_GB2312</vt:lpstr>
      <vt:lpstr>新宋体</vt:lpstr>
      <vt:lpstr>华文中宋</vt:lpstr>
      <vt:lpstr>Symbol</vt:lpstr>
      <vt:lpstr>Times New Roman</vt:lpstr>
      <vt:lpstr>Tahoma</vt:lpstr>
      <vt:lpstr>微软雅黑</vt:lpstr>
      <vt:lpstr>Arial Unicode MS</vt:lpstr>
      <vt:lpstr>Arial</vt:lpstr>
      <vt:lpstr>Symbol</vt:lpstr>
      <vt:lpstr>Office 主题</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Equation.KSEE3</vt:lpstr>
      <vt:lpstr>Equation.KSEE3</vt:lpstr>
      <vt:lpstr>Equation.DSMT4</vt:lpstr>
      <vt:lpstr>Equation.DSMT4</vt:lpstr>
      <vt:lpstr>Equation.KSEE3</vt:lpstr>
      <vt:lpstr>Equation.KSEE3</vt:lpstr>
      <vt:lpstr>Equation.KSEE3</vt:lpstr>
      <vt:lpstr>Equation.3</vt:lpstr>
      <vt:lpstr>Equation.3</vt:lpstr>
      <vt:lpstr>Equation.KSEE3</vt:lpstr>
      <vt:lpstr>Equation.3</vt:lpstr>
      <vt:lpstr>Equation.3</vt:lpstr>
      <vt:lpstr>Equation.3</vt:lpstr>
      <vt:lpstr>Equation.3</vt:lpstr>
      <vt:lpstr>Equation.3</vt:lpstr>
      <vt:lpstr>Equation.3</vt:lpstr>
      <vt:lpstr>PowerPoint 演示文稿</vt:lpstr>
      <vt:lpstr>PowerPoint 演示文稿</vt:lpstr>
      <vt:lpstr>PowerPoint 演示文稿</vt:lpstr>
      <vt:lpstr>第2.4章  螺旋传动</vt:lpstr>
      <vt:lpstr>一、螺旋传动的类型和应用</vt:lpstr>
      <vt:lpstr>PowerPoint 演示文稿</vt:lpstr>
      <vt:lpstr>PowerPoint 演示文稿</vt:lpstr>
      <vt:lpstr>一、螺旋传动的类型和应用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二、滑动螺旋的牙型、材料及许用应力</vt:lpstr>
      <vt:lpstr>PowerPoint 演示文稿</vt:lpstr>
      <vt:lpstr>二、滑动螺旋的材料及许用应力</vt:lpstr>
      <vt:lpstr>三、螺旋传动的运动关系</vt:lpstr>
      <vt:lpstr>三、螺旋传动的运动关系</vt:lpstr>
      <vt:lpstr>三、螺旋传动的运动关系</vt:lpstr>
      <vt:lpstr>PowerPoint 演示文稿</vt:lpstr>
      <vt:lpstr>PowerPoint 演示文稿</vt:lpstr>
      <vt:lpstr>PowerPoint 演示文稿</vt:lpstr>
      <vt:lpstr>三、 滑动螺旋传动的设计和计算</vt:lpstr>
      <vt:lpstr>四、 滑动螺旋传动的设计计算</vt:lpstr>
      <vt:lpstr>四、滑动螺旋传动的设计计算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第一个大作业注意事项</vt:lpstr>
      <vt:lpstr> 滚动螺旋传动简介</vt:lpstr>
      <vt:lpstr>滚动螺旋传动简介</vt:lpstr>
      <vt:lpstr> 滚动螺旋传动简介</vt:lpstr>
      <vt:lpstr>PowerPoint 演示文稿</vt:lpstr>
      <vt:lpstr> 滚动螺旋传动简介</vt:lpstr>
      <vt:lpstr> 静压螺旋传动简介</vt:lpstr>
      <vt:lpstr> 静压螺旋传动简介</vt:lpstr>
      <vt:lpstr> 静压螺旋传动简介</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ahr</dc:creator>
  <cp:lastModifiedBy>DQH</cp:lastModifiedBy>
  <cp:revision>660</cp:revision>
  <dcterms:created xsi:type="dcterms:W3CDTF">2012-09-28T02:31:00Z</dcterms:created>
  <dcterms:modified xsi:type="dcterms:W3CDTF">2025-09-22T11:10:39Z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8BF3694DA8E24E80A6D2BF2023DAD7D3</vt:lpwstr>
  </property>
</Properties>
</file>