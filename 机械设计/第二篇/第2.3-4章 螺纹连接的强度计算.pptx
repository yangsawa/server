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Lst>
  <p:notesMasterIdLst>
    <p:notesMasterId r:id="rId10"/>
  </p:notesMasterIdLst>
  <p:sldIdLst>
    <p:sldId id="419" r:id="rId5"/>
    <p:sldId id="1204" r:id="rId6"/>
    <p:sldId id="1205" r:id="rId7"/>
    <p:sldId id="1206" r:id="rId8"/>
    <p:sldId id="1207" r:id="rId9"/>
    <p:sldId id="1208" r:id="rId11"/>
    <p:sldId id="1209" r:id="rId12"/>
    <p:sldId id="1210" r:id="rId13"/>
    <p:sldId id="1211" r:id="rId14"/>
    <p:sldId id="1212" r:id="rId15"/>
    <p:sldId id="1213" r:id="rId16"/>
    <p:sldId id="1151" r:id="rId17"/>
    <p:sldId id="1150" r:id="rId18"/>
    <p:sldId id="1152" r:id="rId19"/>
    <p:sldId id="264" r:id="rId20"/>
    <p:sldId id="328" r:id="rId21"/>
    <p:sldId id="270" r:id="rId22"/>
    <p:sldId id="296" r:id="rId23"/>
    <p:sldId id="883" r:id="rId24"/>
    <p:sldId id="884" r:id="rId25"/>
    <p:sldId id="271" r:id="rId26"/>
    <p:sldId id="964" r:id="rId27"/>
    <p:sldId id="274" r:id="rId28"/>
    <p:sldId id="309" r:id="rId29"/>
    <p:sldId id="298" r:id="rId30"/>
    <p:sldId id="885" r:id="rId31"/>
    <p:sldId id="308" r:id="rId32"/>
    <p:sldId id="265" r:id="rId33"/>
    <p:sldId id="288" r:id="rId34"/>
    <p:sldId id="297" r:id="rId35"/>
    <p:sldId id="949" r:id="rId36"/>
    <p:sldId id="950" r:id="rId37"/>
    <p:sldId id="951" r:id="rId38"/>
    <p:sldId id="952" r:id="rId39"/>
    <p:sldId id="953" r:id="rId40"/>
    <p:sldId id="954" r:id="rId41"/>
    <p:sldId id="955" r:id="rId42"/>
    <p:sldId id="956" r:id="rId43"/>
    <p:sldId id="957" r:id="rId44"/>
    <p:sldId id="958" r:id="rId45"/>
    <p:sldId id="944" r:id="rId46"/>
    <p:sldId id="945" r:id="rId47"/>
    <p:sldId id="946" r:id="rId48"/>
    <p:sldId id="947" r:id="rId49"/>
    <p:sldId id="948" r:id="rId50"/>
    <p:sldId id="997" r:id="rId51"/>
    <p:sldId id="1193" r:id="rId52"/>
    <p:sldId id="1194" r:id="rId53"/>
    <p:sldId id="1195" r:id="rId54"/>
    <p:sldId id="962" r:id="rId55"/>
    <p:sldId id="1153" r:id="rId56"/>
    <p:sldId id="993" r:id="rId57"/>
    <p:sldId id="994" r:id="rId58"/>
    <p:sldId id="995" r:id="rId59"/>
    <p:sldId id="996" r:id="rId60"/>
    <p:sldId id="963" r:id="rId61"/>
  </p:sldIdLst>
  <p:sldSz cx="9144000" cy="6858000" type="screen4x3"/>
  <p:notesSz cx="6858000" cy="9144000"/>
  <p:custDataLst>
    <p:tags r:id="rId65"/>
  </p:custDataLst>
  <p:defaultTextStyle>
    <a:defPPr>
      <a:defRPr lang="zh-CN"/>
    </a:defPPr>
    <a:lvl1pPr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1pPr>
    <a:lvl2pPr marL="4572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2pPr>
    <a:lvl3pPr marL="9144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3pPr>
    <a:lvl4pPr marL="13716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4pPr>
    <a:lvl5pPr marL="18288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5pPr>
    <a:lvl6pPr marL="22860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6pPr>
    <a:lvl7pPr marL="27432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7pPr>
    <a:lvl8pPr marL="32004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8pPr>
    <a:lvl9pPr marL="36576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9pPr>
  </p:defaultTextStyle>
  <p:extLst>
    <p:ext uri="{EFAFB233-063F-42B5-8137-9DF3F51BA10A}">
      <p15:sldGuideLst xmlns:p15="http://schemas.microsoft.com/office/powerpoint/2012/main">
        <p15:guide id="1" orient="horz" pos="216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000099"/>
    <a:srgbClr val="E1E5F7"/>
    <a:srgbClr val="CC3300"/>
    <a:srgbClr val="FF9900"/>
    <a:srgbClr val="800000"/>
    <a:srgbClr val="A50021"/>
    <a:srgbClr val="FF3300"/>
    <a:srgbClr val="4049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59" autoAdjust="0"/>
    <p:restoredTop sz="96846" autoAdjust="0"/>
  </p:normalViewPr>
  <p:slideViewPr>
    <p:cSldViewPr snapToGrid="0" showGuides="1">
      <p:cViewPr>
        <p:scale>
          <a:sx n="63" d="100"/>
          <a:sy n="63" d="100"/>
        </p:scale>
        <p:origin x="952" y="100"/>
      </p:cViewPr>
      <p:guideLst>
        <p:guide orient="horz" pos="2168"/>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84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5" Type="http://schemas.openxmlformats.org/officeDocument/2006/relationships/tags" Target="tags/tag54.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20.wmf"/><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1.e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47.emf"/><Relationship Id="rId3" Type="http://schemas.openxmlformats.org/officeDocument/2006/relationships/image" Target="../media/image46.emf"/><Relationship Id="rId2" Type="http://schemas.openxmlformats.org/officeDocument/2006/relationships/image" Target="../media/image45.wmf"/><Relationship Id="rId1" Type="http://schemas.openxmlformats.org/officeDocument/2006/relationships/image" Target="../media/image44.emf"/></Relationships>
</file>

<file path=ppt/drawings/_rels/vmlDrawing10.vml.rels><?xml version="1.0" encoding="UTF-8" standalone="yes"?>
<Relationships xmlns="http://schemas.openxmlformats.org/package/2006/relationships"><Relationship Id="rId7" Type="http://schemas.openxmlformats.org/officeDocument/2006/relationships/image" Target="../media/image56.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image" Target="../media/image61.e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68.wmf"/><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8.wmf"/></Relationships>
</file>

<file path=ppt/drawings/_rels/vmlDrawing19.vml.rels><?xml version="1.0" encoding="UTF-8" standalone="yes"?>
<Relationships xmlns="http://schemas.openxmlformats.org/package/2006/relationships"><Relationship Id="rId5" Type="http://schemas.openxmlformats.org/officeDocument/2006/relationships/image" Target="../media/image95.wmf"/><Relationship Id="rId4" Type="http://schemas.openxmlformats.org/officeDocument/2006/relationships/image" Target="../media/image94.wmf"/><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98.wmf"/><Relationship Id="rId1" Type="http://schemas.openxmlformats.org/officeDocument/2006/relationships/image" Target="../media/image97.w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102.wmf"/><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23.vml.rels><?xml version="1.0" encoding="UTF-8" standalone="yes"?>
<Relationships xmlns="http://schemas.openxmlformats.org/package/2006/relationships"><Relationship Id="rId6" Type="http://schemas.openxmlformats.org/officeDocument/2006/relationships/image" Target="../media/image114.wmf"/><Relationship Id="rId5" Type="http://schemas.openxmlformats.org/officeDocument/2006/relationships/image" Target="../media/image112.wmf"/><Relationship Id="rId4" Type="http://schemas.openxmlformats.org/officeDocument/2006/relationships/image" Target="../media/image111.wmf"/><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s>
</file>

<file path=ppt/drawings/_rels/vmlDrawing24.vml.rels><?xml version="1.0" encoding="UTF-8" standalone="yes"?>
<Relationships xmlns="http://schemas.openxmlformats.org/package/2006/relationships"><Relationship Id="rId6" Type="http://schemas.openxmlformats.org/officeDocument/2006/relationships/image" Target="../media/image120.wmf"/><Relationship Id="rId5" Type="http://schemas.openxmlformats.org/officeDocument/2006/relationships/image" Target="../media/image119.wmf"/><Relationship Id="rId4" Type="http://schemas.openxmlformats.org/officeDocument/2006/relationships/image" Target="../media/image118.wmf"/><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s>
</file>

<file path=ppt/drawings/_rels/vmlDrawing25.vml.rels><?xml version="1.0" encoding="UTF-8" standalone="yes"?>
<Relationships xmlns="http://schemas.openxmlformats.org/package/2006/relationships"><Relationship Id="rId4" Type="http://schemas.openxmlformats.org/officeDocument/2006/relationships/image" Target="../media/image124.wmf"/><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26.wmf"/><Relationship Id="rId1" Type="http://schemas.openxmlformats.org/officeDocument/2006/relationships/image" Target="../media/image12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AD2B18-DB81-4DD3-BF11-891FA525082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F07492-7F81-418F-B209-68ACD7B96D6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F07492-7F81-418F-B209-68ACD7B96D6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25000"/>
              </a:spcBef>
            </a:pPr>
            <a:r>
              <a:rPr lang="zh-CN" altLang="en-US" sz="1400" b="1" dirty="0" smtClean="0">
                <a:solidFill>
                  <a:schemeClr val="tx2"/>
                </a:solidFill>
                <a:latin typeface="Times New Roman" panose="02020603050405020304" pitchFamily="18" charset="0"/>
              </a:rPr>
              <a:t>假设：</a:t>
            </a:r>
            <a:endParaRPr lang="zh-CN" altLang="en-US" sz="1400" b="1" dirty="0" smtClean="0">
              <a:solidFill>
                <a:schemeClr val="tx2"/>
              </a:solidFill>
              <a:latin typeface="Times New Roman" panose="02020603050405020304" pitchFamily="18" charset="0"/>
            </a:endParaRPr>
          </a:p>
          <a:p>
            <a:pPr eaLnBrk="1" hangingPunct="1">
              <a:spcBef>
                <a:spcPct val="25000"/>
              </a:spcBef>
            </a:pPr>
            <a:r>
              <a:rPr lang="zh-CN" altLang="en-US" sz="1200" b="1" dirty="0" smtClean="0">
                <a:latin typeface="Times New Roman" panose="02020603050405020304" pitchFamily="18" charset="0"/>
              </a:rPr>
              <a:t>螺栓是弹性体；</a:t>
            </a:r>
            <a:endParaRPr lang="zh-CN" altLang="en-US" sz="1200" b="1" dirty="0" smtClean="0">
              <a:latin typeface="Times New Roman" panose="02020603050405020304" pitchFamily="18" charset="0"/>
            </a:endParaRPr>
          </a:p>
          <a:p>
            <a:pPr eaLnBrk="1" hangingPunct="1">
              <a:spcBef>
                <a:spcPct val="25000"/>
              </a:spcBef>
            </a:pPr>
            <a:r>
              <a:rPr lang="zh-CN" altLang="en-US" sz="1200" b="1" dirty="0" smtClean="0">
                <a:latin typeface="Times New Roman" panose="02020603050405020304" pitchFamily="18" charset="0"/>
              </a:rPr>
              <a:t>被连接件是弹性体，绕轴线翻转趋势；</a:t>
            </a:r>
            <a:endParaRPr lang="zh-CN" altLang="en-US" sz="1200" b="1" dirty="0" smtClean="0">
              <a:latin typeface="Times New Roman" panose="02020603050405020304" pitchFamily="18" charset="0"/>
            </a:endParaRPr>
          </a:p>
          <a:p>
            <a:pPr eaLnBrk="1" hangingPunct="1">
              <a:spcBef>
                <a:spcPct val="25000"/>
              </a:spcBef>
            </a:pPr>
            <a:r>
              <a:rPr lang="zh-CN" altLang="en-US" sz="1200" b="1" dirty="0" smtClean="0">
                <a:latin typeface="Times New Roman" panose="02020603050405020304" pitchFamily="18" charset="0"/>
              </a:rPr>
              <a:t>接合面平直。</a:t>
            </a:r>
            <a:endParaRPr lang="zh-CN" altLang="en-US" sz="1200" b="1" dirty="0" smtClean="0">
              <a:latin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72F07492-7F81-418F-B209-68ACD7B96D6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en-US" altLang="zh-CN" sz="1200" dirty="0"/>
            </a:fld>
            <a:endParaRPr lang="en-US" altLang="zh-CN" sz="1200" dirty="0"/>
          </a:p>
        </p:txBody>
      </p:sp>
      <p:sp>
        <p:nvSpPr>
          <p:cNvPr id="38915" name="Rectangle 2"/>
          <p:cNvSpPr>
            <a:spLocks noGrp="1"/>
          </p:cNvSpPr>
          <p:nvPr>
            <p:ph type="body" idx="1"/>
          </p:nvPr>
        </p:nvSpPr>
        <p:spPr>
          <a:xfrm>
            <a:off x="914400" y="4344988"/>
            <a:ext cx="5029200" cy="3849687"/>
          </a:xfrm>
          <a:noFill/>
          <a:ln>
            <a:noFill/>
          </a:ln>
        </p:spPr>
        <p:txBody>
          <a:bodyPr wrap="square" lIns="92075" tIns="46038" rIns="92075" bIns="46038" anchor="t"/>
          <a:p>
            <a:pPr lvl="0" eaLnBrk="1" hangingPunct="1"/>
            <a:endParaRPr lang="zh-CN" altLang="zh-CN" dirty="0"/>
          </a:p>
        </p:txBody>
      </p:sp>
      <p:sp>
        <p:nvSpPr>
          <p:cNvPr id="38916" name="Rectangle 3"/>
          <p:cNvSpPr>
            <a:spLocks noRot="1" noTextEdit="1"/>
          </p:cNvSpPr>
          <p:nvPr>
            <p:ph type="sldImg"/>
          </p:nvPr>
        </p:nvSpPr>
        <p:spPr>
          <a:xfrm>
            <a:off x="1289050" y="793750"/>
            <a:ext cx="4279900" cy="3209925"/>
          </a:xfrm>
          <a:ln>
            <a:solidFill>
              <a:schemeClr val="tx1">
                <a:alpha val="100000"/>
              </a:schemeClr>
            </a:solidFill>
            <a:miter lim="800000"/>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en-US" altLang="zh-CN" sz="1200" dirty="0"/>
            </a:fld>
            <a:endParaRPr lang="en-US" altLang="zh-CN" sz="1200" dirty="0"/>
          </a:p>
        </p:txBody>
      </p:sp>
      <p:sp>
        <p:nvSpPr>
          <p:cNvPr id="39939" name="Rectangle 2"/>
          <p:cNvSpPr>
            <a:spLocks noGrp="1"/>
          </p:cNvSpPr>
          <p:nvPr>
            <p:ph type="body" idx="1"/>
          </p:nvPr>
        </p:nvSpPr>
        <p:spPr>
          <a:xfrm>
            <a:off x="914400" y="4344988"/>
            <a:ext cx="5029200" cy="3849687"/>
          </a:xfrm>
          <a:noFill/>
          <a:ln>
            <a:noFill/>
          </a:ln>
        </p:spPr>
        <p:txBody>
          <a:bodyPr wrap="square" lIns="92075" tIns="46038" rIns="92075" bIns="46038" anchor="t"/>
          <a:p>
            <a:pPr lvl="0" eaLnBrk="1" hangingPunct="1"/>
            <a:endParaRPr lang="zh-CN" altLang="zh-CN" dirty="0"/>
          </a:p>
        </p:txBody>
      </p:sp>
      <p:sp>
        <p:nvSpPr>
          <p:cNvPr id="39940" name="Rectangle 3"/>
          <p:cNvSpPr>
            <a:spLocks noRot="1" noTextEdit="1"/>
          </p:cNvSpPr>
          <p:nvPr>
            <p:ph type="sldImg"/>
          </p:nvPr>
        </p:nvSpPr>
        <p:spPr>
          <a:xfrm>
            <a:off x="1289050" y="793750"/>
            <a:ext cx="4279900" cy="3209925"/>
          </a:xfrm>
          <a:ln>
            <a:solidFill>
              <a:schemeClr val="tx1">
                <a:alpha val="100000"/>
              </a:schemeClr>
            </a:solidFill>
            <a:miter lim="800000"/>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F07492-7F81-418F-B209-68ACD7B96D6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F07492-7F81-418F-B209-68ACD7B96D6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E9FE00-1A04-4461-9872-77D0B903819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C72776A4-A756-4CDC-A3D2-25C7638527F0}" type="slidenum">
              <a:rPr lang="en-US" altLang="zh-CN"/>
            </a:fld>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037"/>
            <a:ext cx="7772400" cy="5487669"/>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Rectangle 4"/>
          <p:cNvSpPr>
            <a:spLocks noGrp="1" noChangeArrowheads="1"/>
          </p:cNvSpPr>
          <p:nvPr>
            <p:ph type="dt" sz="half" idx="10"/>
          </p:nvPr>
        </p:nvSpPr>
        <p:spPr>
          <a:xfrm>
            <a:off x="685800" y="6248964"/>
            <a:ext cx="1905000" cy="456777"/>
          </a:xfrm>
          <a:prstGeom prst="rect">
            <a:avLst/>
          </a:prstGeom>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xfrm>
            <a:off x="3124200" y="6248964"/>
            <a:ext cx="2895600" cy="456777"/>
          </a:xfrm>
          <a:prstGeom prst="rect">
            <a:avLst/>
          </a:prstGeom>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xfrm>
            <a:off x="6553200" y="6248964"/>
            <a:ext cx="1905000" cy="456777"/>
          </a:xfrm>
          <a:prstGeom prst="rect">
            <a:avLst/>
          </a:prstGeom>
        </p:spPr>
        <p:txBody>
          <a:bodyPr/>
          <a:lstStyle>
            <a:lvl1pPr>
              <a:defRPr/>
            </a:lvl1pPr>
          </a:lstStyle>
          <a:p>
            <a:fld id="{04BA2CD3-8E3A-4B1D-ADAB-7FAEC333C6D0}" type="slidenum">
              <a:rPr lang="en-US" altLang="zh-CN"/>
            </a:fld>
            <a:endParaRPr lang="en-US" altLang="zh-CN"/>
          </a:p>
        </p:txBody>
      </p:sp>
    </p:spTree>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C72776A4-A756-4CDC-A3D2-25C7638527F0}" type="slidenum">
              <a:rPr lang="en-US" altLang="zh-CN"/>
            </a:fld>
            <a:endParaRPr lang="en-US" altLang="zh-CN"/>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C72776A4-A756-4CDC-A3D2-25C7638527F0}" type="slidenum">
              <a:rPr lang="en-US" altLang="zh-CN"/>
            </a:fld>
            <a:endParaRPr lang="en-US" altLang="zh-CN"/>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3" Type="http://schemas.openxmlformats.org/officeDocument/2006/relationships/theme" Target="../theme/theme3.xml"/><Relationship Id="rId12" Type="http://schemas.openxmlformats.org/officeDocument/2006/relationships/image" Target="../media/image1.png"/><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2.png"/><Relationship Id="rId2" Type="http://schemas.openxmlformats.org/officeDocument/2006/relationships/slide" Target="slide15.xml"/><Relationship Id="rId1" Type="http://schemas.openxmlformats.org/officeDocument/2006/relationships/slide" Target="slide1.xml"/></Relationships>
</file>

<file path=ppt/slides/_rels/slide2.xml.rels><?xml version="1.0" encoding="UTF-8" standalone="yes"?>
<Relationships xmlns="http://schemas.openxmlformats.org/package/2006/relationships"><Relationship Id="rId9" Type="http://schemas.openxmlformats.org/officeDocument/2006/relationships/oleObject" Target="../embeddings/oleObject1.bin"/><Relationship Id="rId8" Type="http://schemas.openxmlformats.org/officeDocument/2006/relationships/image" Target="../media/image5.png"/><Relationship Id="rId7" Type="http://schemas.openxmlformats.org/officeDocument/2006/relationships/image" Target="../media/image4.png"/><Relationship Id="rId6" Type="http://schemas.openxmlformats.org/officeDocument/2006/relationships/slide" Target="slide1.xml"/><Relationship Id="rId5" Type="http://schemas.openxmlformats.org/officeDocument/2006/relationships/image" Target="../media/image3.png"/><Relationship Id="rId4" Type="http://schemas.openxmlformats.org/officeDocument/2006/relationships/slide" Target="slide47.xml"/><Relationship Id="rId3" Type="http://schemas.openxmlformats.org/officeDocument/2006/relationships/slide" Target="slide46.xml"/><Relationship Id="rId2" Type="http://schemas.openxmlformats.org/officeDocument/2006/relationships/slide" Target="slide39.xml"/><Relationship Id="rId12" Type="http://schemas.openxmlformats.org/officeDocument/2006/relationships/vmlDrawing" Target="../drawings/vmlDrawing1.vml"/><Relationship Id="rId11" Type="http://schemas.openxmlformats.org/officeDocument/2006/relationships/slideLayout" Target="../slideLayouts/slideLayout14.xml"/><Relationship Id="rId10" Type="http://schemas.openxmlformats.org/officeDocument/2006/relationships/image" Target="../media/image6.wmf"/><Relationship Id="rId1" Type="http://schemas.openxmlformats.org/officeDocument/2006/relationships/slide" Target="slide38.xml"/></Relationships>
</file>

<file path=ppt/slides/_rels/slide3.xml.rels><?xml version="1.0" encoding="UTF-8" standalone="yes"?>
<Relationships xmlns="http://schemas.openxmlformats.org/package/2006/relationships"><Relationship Id="rId9" Type="http://schemas.openxmlformats.org/officeDocument/2006/relationships/slide" Target="slide37.xml"/><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wmf"/><Relationship Id="rId5" Type="http://schemas.openxmlformats.org/officeDocument/2006/relationships/oleObject" Target="../embeddings/oleObject4.bin"/><Relationship Id="rId4" Type="http://schemas.openxmlformats.org/officeDocument/2006/relationships/image" Target="../media/image8.wmf"/><Relationship Id="rId3" Type="http://schemas.openxmlformats.org/officeDocument/2006/relationships/oleObject" Target="../embeddings/oleObject3.bin"/><Relationship Id="rId2" Type="http://schemas.openxmlformats.org/officeDocument/2006/relationships/image" Target="../media/image7.emf"/><Relationship Id="rId11" Type="http://schemas.openxmlformats.org/officeDocument/2006/relationships/vmlDrawing" Target="../drawings/vmlDrawing2.vml"/><Relationship Id="rId10" Type="http://schemas.openxmlformats.org/officeDocument/2006/relationships/slideLayout" Target="../slideLayouts/slideLayout14.xml"/><Relationship Id="rId1"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emf"/><Relationship Id="rId3" Type="http://schemas.openxmlformats.org/officeDocument/2006/relationships/oleObject" Target="../embeddings/oleObject6.bin"/><Relationship Id="rId2" Type="http://schemas.openxmlformats.org/officeDocument/2006/relationships/image" Target="../media/image12.emf"/><Relationship Id="rId1"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slide" Target="slide37.xml"/><Relationship Id="rId7" Type="http://schemas.openxmlformats.org/officeDocument/2006/relationships/image" Target="../media/image19.png"/><Relationship Id="rId6" Type="http://schemas.openxmlformats.org/officeDocument/2006/relationships/image" Target="../media/image18.emf"/><Relationship Id="rId5" Type="http://schemas.openxmlformats.org/officeDocument/2006/relationships/oleObject" Target="../embeddings/oleObject9.bin"/><Relationship Id="rId4" Type="http://schemas.openxmlformats.org/officeDocument/2006/relationships/image" Target="../media/image17.emf"/><Relationship Id="rId3" Type="http://schemas.openxmlformats.org/officeDocument/2006/relationships/oleObject" Target="../embeddings/oleObject8.bin"/><Relationship Id="rId2" Type="http://schemas.openxmlformats.org/officeDocument/2006/relationships/image" Target="../media/image16.emf"/><Relationship Id="rId13" Type="http://schemas.openxmlformats.org/officeDocument/2006/relationships/notesSlide" Target="../notesSlides/notesSlide1.xml"/><Relationship Id="rId12" Type="http://schemas.openxmlformats.org/officeDocument/2006/relationships/vmlDrawing" Target="../drawings/vmlDrawing4.vml"/><Relationship Id="rId11" Type="http://schemas.openxmlformats.org/officeDocument/2006/relationships/slideLayout" Target="../slideLayouts/slideLayout19.xml"/><Relationship Id="rId10" Type="http://schemas.openxmlformats.org/officeDocument/2006/relationships/image" Target="../media/image20.wmf"/><Relationship Id="rId1" Type="http://schemas.openxmlformats.org/officeDocument/2006/relationships/oleObject" Target="../embeddings/oleObject7.bin"/></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14.xml"/><Relationship Id="rId4" Type="http://schemas.openxmlformats.org/officeDocument/2006/relationships/slide" Target="slide37.xml"/><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image" Target="../media/image23.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23.png"/><Relationship Id="rId2" Type="http://schemas.openxmlformats.org/officeDocument/2006/relationships/slide" Target="slide37.xml"/><Relationship Id="rId1" Type="http://schemas.openxmlformats.org/officeDocument/2006/relationships/image" Target="../media/image24.png"/></Relationships>
</file>

<file path=ppt/slides/_rels/slide9.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19.xml"/><Relationship Id="rId7" Type="http://schemas.openxmlformats.org/officeDocument/2006/relationships/image" Target="../media/image23.png"/><Relationship Id="rId6" Type="http://schemas.openxmlformats.org/officeDocument/2006/relationships/image" Target="../media/image27.wmf"/><Relationship Id="rId5" Type="http://schemas.openxmlformats.org/officeDocument/2006/relationships/oleObject" Target="../embeddings/oleObject14.bin"/><Relationship Id="rId4" Type="http://schemas.openxmlformats.org/officeDocument/2006/relationships/image" Target="../media/image26.wmf"/><Relationship Id="rId3" Type="http://schemas.openxmlformats.org/officeDocument/2006/relationships/oleObject" Target="../embeddings/oleObject13.bin"/><Relationship Id="rId2" Type="http://schemas.openxmlformats.org/officeDocument/2006/relationships/image" Target="../media/image25.emf"/><Relationship Id="rId1"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9" Type="http://schemas.openxmlformats.org/officeDocument/2006/relationships/image" Target="../media/image34.wmf"/><Relationship Id="rId8" Type="http://schemas.openxmlformats.org/officeDocument/2006/relationships/oleObject" Target="../embeddings/oleObject16.bin"/><Relationship Id="rId7" Type="http://schemas.openxmlformats.org/officeDocument/2006/relationships/image" Target="../media/image33.wmf"/><Relationship Id="rId6" Type="http://schemas.openxmlformats.org/officeDocument/2006/relationships/oleObject" Target="../embeddings/oleObject15.bin"/><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jpeg"/><Relationship Id="rId2" Type="http://schemas.openxmlformats.org/officeDocument/2006/relationships/image" Target="../media/image29.png"/><Relationship Id="rId13" Type="http://schemas.openxmlformats.org/officeDocument/2006/relationships/vmlDrawing" Target="../drawings/vmlDrawing7.vml"/><Relationship Id="rId12" Type="http://schemas.openxmlformats.org/officeDocument/2006/relationships/slideLayout" Target="../slideLayouts/slideLayout14.xml"/><Relationship Id="rId11" Type="http://schemas.openxmlformats.org/officeDocument/2006/relationships/image" Target="../media/image35.wmf"/><Relationship Id="rId10" Type="http://schemas.openxmlformats.org/officeDocument/2006/relationships/oleObject" Target="../embeddings/oleObject17.bin"/><Relationship Id="rId1" Type="http://schemas.openxmlformats.org/officeDocument/2006/relationships/image" Target="../media/image28.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1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slideLayout" Target="../slideLayouts/slideLayout19.xml"/><Relationship Id="rId17" Type="http://schemas.openxmlformats.org/officeDocument/2006/relationships/tags" Target="../tags/tag16.xml"/><Relationship Id="rId16" Type="http://schemas.openxmlformats.org/officeDocument/2006/relationships/image" Target="../media/image39.png"/><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0" Type="http://schemas.openxmlformats.org/officeDocument/2006/relationships/slideLayout" Target="../slideLayouts/slideLayout7.xml"/><Relationship Id="rId2" Type="http://schemas.openxmlformats.org/officeDocument/2006/relationships/tags" Target="../tags/tag18.xml"/><Relationship Id="rId19" Type="http://schemas.openxmlformats.org/officeDocument/2006/relationships/tags" Target="../tags/tag34.xml"/><Relationship Id="rId18" Type="http://schemas.openxmlformats.org/officeDocument/2006/relationships/image" Target="../media/image39.png"/><Relationship Id="rId17" Type="http://schemas.openxmlformats.org/officeDocument/2006/relationships/tags" Target="../tags/tag33.xml"/><Relationship Id="rId16" Type="http://schemas.openxmlformats.org/officeDocument/2006/relationships/tags" Target="../tags/tag32.xml"/><Relationship Id="rId15" Type="http://schemas.openxmlformats.org/officeDocument/2006/relationships/tags" Target="../tags/tag31.xml"/><Relationship Id="rId14" Type="http://schemas.openxmlformats.org/officeDocument/2006/relationships/tags" Target="../tags/tag30.xml"/><Relationship Id="rId13" Type="http://schemas.openxmlformats.org/officeDocument/2006/relationships/tags" Target="../tags/tag29.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7.xml"/></Relationships>
</file>

<file path=ppt/slides/_rels/slide14.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7" Type="http://schemas.openxmlformats.org/officeDocument/2006/relationships/slideLayout" Target="../slideLayouts/slideLayout7.xml"/><Relationship Id="rId16" Type="http://schemas.openxmlformats.org/officeDocument/2006/relationships/tags" Target="../tags/tag49.xml"/><Relationship Id="rId15" Type="http://schemas.openxmlformats.org/officeDocument/2006/relationships/image" Target="../media/image39.png"/><Relationship Id="rId14" Type="http://schemas.openxmlformats.org/officeDocument/2006/relationships/tags" Target="../tags/tag48.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tags" Target="../tags/tag44.xml"/><Relationship Id="rId1" Type="http://schemas.openxmlformats.org/officeDocument/2006/relationships/tags" Target="../tags/tag35.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4.png"/><Relationship Id="rId1" Type="http://schemas.openxmlformats.org/officeDocument/2006/relationships/slide" Target="slide1.xml"/></Relationships>
</file>

<file path=ppt/slides/_rels/slide16.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image" Target="../media/image41.emf"/><Relationship Id="rId7" Type="http://schemas.openxmlformats.org/officeDocument/2006/relationships/oleObject" Target="../embeddings/oleObject18.bin"/><Relationship Id="rId6" Type="http://schemas.openxmlformats.org/officeDocument/2006/relationships/image" Target="../media/image4.png"/><Relationship Id="rId5" Type="http://schemas.openxmlformats.org/officeDocument/2006/relationships/slide" Target="slide1.xml"/><Relationship Id="rId4" Type="http://schemas.openxmlformats.org/officeDocument/2006/relationships/slide" Target="slide23.xml"/><Relationship Id="rId3" Type="http://schemas.openxmlformats.org/officeDocument/2006/relationships/slide" Target="slide18.xml"/><Relationship Id="rId2" Type="http://schemas.openxmlformats.org/officeDocument/2006/relationships/slide" Target="slide21.xml"/><Relationship Id="rId13" Type="http://schemas.openxmlformats.org/officeDocument/2006/relationships/vmlDrawing" Target="../drawings/vmlDrawing8.vml"/><Relationship Id="rId12" Type="http://schemas.openxmlformats.org/officeDocument/2006/relationships/slideLayout" Target="../slideLayouts/slideLayout2.xml"/><Relationship Id="rId11" Type="http://schemas.openxmlformats.org/officeDocument/2006/relationships/image" Target="../media/image43.wmf"/><Relationship Id="rId10" Type="http://schemas.openxmlformats.org/officeDocument/2006/relationships/oleObject" Target="../embeddings/oleObject19.bin"/><Relationship Id="rId1" Type="http://schemas.openxmlformats.org/officeDocument/2006/relationships/slide" Target="slide17.xml"/></Relationships>
</file>

<file path=ppt/slides/_rels/slide17.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47.emf"/><Relationship Id="rId7" Type="http://schemas.openxmlformats.org/officeDocument/2006/relationships/oleObject" Target="../embeddings/oleObject23.bin"/><Relationship Id="rId6" Type="http://schemas.openxmlformats.org/officeDocument/2006/relationships/image" Target="../media/image46.emf"/><Relationship Id="rId5" Type="http://schemas.openxmlformats.org/officeDocument/2006/relationships/oleObject" Target="../embeddings/oleObject22.bin"/><Relationship Id="rId4" Type="http://schemas.openxmlformats.org/officeDocument/2006/relationships/image" Target="../media/image45.wmf"/><Relationship Id="rId3" Type="http://schemas.openxmlformats.org/officeDocument/2006/relationships/oleObject" Target="../embeddings/oleObject21.bin"/><Relationship Id="rId2" Type="http://schemas.openxmlformats.org/officeDocument/2006/relationships/image" Target="../media/image44.emf"/><Relationship Id="rId11" Type="http://schemas.openxmlformats.org/officeDocument/2006/relationships/vmlDrawing" Target="../drawings/vmlDrawing9.vml"/><Relationship Id="rId10" Type="http://schemas.openxmlformats.org/officeDocument/2006/relationships/slideLayout" Target="../slideLayouts/slideLayout2.xml"/><Relationship Id="rId1" Type="http://schemas.openxmlformats.org/officeDocument/2006/relationships/oleObject" Target="../embeddings/oleObject20.bin"/></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9.png"/><Relationship Id="rId2" Type="http://schemas.openxmlformats.org/officeDocument/2006/relationships/image" Target="../media/image4.png"/><Relationship Id="rId1" Type="http://schemas.openxmlformats.org/officeDocument/2006/relationships/slide" Target="slide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audio" Target="../media/audio1.wav"/></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28.bin"/><Relationship Id="rId8" Type="http://schemas.openxmlformats.org/officeDocument/2006/relationships/image" Target="../media/image53.wmf"/><Relationship Id="rId7" Type="http://schemas.openxmlformats.org/officeDocument/2006/relationships/oleObject" Target="../embeddings/oleObject27.bin"/><Relationship Id="rId6" Type="http://schemas.openxmlformats.org/officeDocument/2006/relationships/image" Target="../media/image52.wmf"/><Relationship Id="rId5" Type="http://schemas.openxmlformats.org/officeDocument/2006/relationships/oleObject" Target="../embeddings/oleObject26.bin"/><Relationship Id="rId4" Type="http://schemas.openxmlformats.org/officeDocument/2006/relationships/image" Target="../media/image51.wmf"/><Relationship Id="rId3" Type="http://schemas.openxmlformats.org/officeDocument/2006/relationships/oleObject" Target="../embeddings/oleObject25.bin"/><Relationship Id="rId2" Type="http://schemas.openxmlformats.org/officeDocument/2006/relationships/image" Target="../media/image50.wmf"/><Relationship Id="rId17" Type="http://schemas.openxmlformats.org/officeDocument/2006/relationships/notesSlide" Target="../notesSlides/notesSlide4.xml"/><Relationship Id="rId16" Type="http://schemas.openxmlformats.org/officeDocument/2006/relationships/vmlDrawing" Target="../drawings/vmlDrawing10.vml"/><Relationship Id="rId15" Type="http://schemas.openxmlformats.org/officeDocument/2006/relationships/slideLayout" Target="../slideLayouts/slideLayout4.xml"/><Relationship Id="rId14" Type="http://schemas.openxmlformats.org/officeDocument/2006/relationships/image" Target="../media/image56.wmf"/><Relationship Id="rId13" Type="http://schemas.openxmlformats.org/officeDocument/2006/relationships/oleObject" Target="../embeddings/oleObject30.bin"/><Relationship Id="rId12" Type="http://schemas.openxmlformats.org/officeDocument/2006/relationships/image" Target="../media/image55.wmf"/><Relationship Id="rId11" Type="http://schemas.openxmlformats.org/officeDocument/2006/relationships/oleObject" Target="../embeddings/oleObject29.bin"/><Relationship Id="rId10" Type="http://schemas.openxmlformats.org/officeDocument/2006/relationships/image" Target="../media/image54.wmf"/><Relationship Id="rId1" Type="http://schemas.openxmlformats.org/officeDocument/2006/relationships/oleObject" Target="../embeddings/oleObject24.bin"/></Relationships>
</file>

<file path=ppt/slides/_rels/slide21.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2.xml"/><Relationship Id="rId6" Type="http://schemas.openxmlformats.org/officeDocument/2006/relationships/image" Target="../media/image59.wmf"/><Relationship Id="rId5" Type="http://schemas.openxmlformats.org/officeDocument/2006/relationships/oleObject" Target="../embeddings/oleObject33.bin"/><Relationship Id="rId4" Type="http://schemas.openxmlformats.org/officeDocument/2006/relationships/image" Target="../media/image58.wmf"/><Relationship Id="rId3" Type="http://schemas.openxmlformats.org/officeDocument/2006/relationships/oleObject" Target="../embeddings/oleObject32.bin"/><Relationship Id="rId2" Type="http://schemas.openxmlformats.org/officeDocument/2006/relationships/image" Target="../media/image57.emf"/><Relationship Id="rId1" Type="http://schemas.openxmlformats.org/officeDocument/2006/relationships/oleObject" Target="../embeddings/oleObject31.bin"/></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0.jpeg"/><Relationship Id="rId2" Type="http://schemas.openxmlformats.org/officeDocument/2006/relationships/image" Target="../media/image5.png"/><Relationship Id="rId1" Type="http://schemas.openxmlformats.org/officeDocument/2006/relationships/slide" Target="slide1.xml"/></Relationships>
</file>

<file path=ppt/slides/_rels/slide23.xml.rels><?xml version="1.0" encoding="UTF-8" standalone="yes"?>
<Relationships xmlns="http://schemas.openxmlformats.org/package/2006/relationships"><Relationship Id="rId9" Type="http://schemas.openxmlformats.org/officeDocument/2006/relationships/vmlDrawing" Target="../drawings/vmlDrawing12.vml"/><Relationship Id="rId8" Type="http://schemas.openxmlformats.org/officeDocument/2006/relationships/slideLayout" Target="../slideLayouts/slideLayout2.xml"/><Relationship Id="rId7" Type="http://schemas.openxmlformats.org/officeDocument/2006/relationships/slide" Target="slide15.xml"/><Relationship Id="rId6" Type="http://schemas.openxmlformats.org/officeDocument/2006/relationships/image" Target="../media/image63.png"/><Relationship Id="rId5" Type="http://schemas.openxmlformats.org/officeDocument/2006/relationships/image" Target="../media/image62.emf"/><Relationship Id="rId4" Type="http://schemas.openxmlformats.org/officeDocument/2006/relationships/oleObject" Target="../embeddings/oleObject35.bin"/><Relationship Id="rId3" Type="http://schemas.openxmlformats.org/officeDocument/2006/relationships/image" Target="../media/image61.emf"/><Relationship Id="rId2" Type="http://schemas.openxmlformats.org/officeDocument/2006/relationships/oleObject" Target="../embeddings/oleObject34.bin"/><Relationship Id="rId10" Type="http://schemas.openxmlformats.org/officeDocument/2006/relationships/notesSlide" Target="../notesSlides/notesSlide5.xml"/><Relationship Id="rId1" Type="http://schemas.openxmlformats.org/officeDocument/2006/relationships/slide" Target="slide18.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slide" Target="slide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slide" Target="slide28.xml"/></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38.bin"/><Relationship Id="rId8" Type="http://schemas.openxmlformats.org/officeDocument/2006/relationships/image" Target="../media/image4.png"/><Relationship Id="rId7" Type="http://schemas.openxmlformats.org/officeDocument/2006/relationships/slide" Target="slide1.xml"/><Relationship Id="rId6" Type="http://schemas.openxmlformats.org/officeDocument/2006/relationships/image" Target="../media/image66.wmf"/><Relationship Id="rId5" Type="http://schemas.openxmlformats.org/officeDocument/2006/relationships/oleObject" Target="../embeddings/oleObject37.bin"/><Relationship Id="rId4" Type="http://schemas.openxmlformats.org/officeDocument/2006/relationships/image" Target="../media/image65.wmf"/><Relationship Id="rId3" Type="http://schemas.openxmlformats.org/officeDocument/2006/relationships/oleObject" Target="../embeddings/oleObject36.bin"/><Relationship Id="rId2" Type="http://schemas.openxmlformats.org/officeDocument/2006/relationships/slide" Target="slide27.xml"/><Relationship Id="rId14" Type="http://schemas.openxmlformats.org/officeDocument/2006/relationships/vmlDrawing" Target="../drawings/vmlDrawing13.vml"/><Relationship Id="rId13" Type="http://schemas.openxmlformats.org/officeDocument/2006/relationships/slideLayout" Target="../slideLayouts/slideLayout25.xml"/><Relationship Id="rId12" Type="http://schemas.openxmlformats.org/officeDocument/2006/relationships/image" Target="../media/image68.wmf"/><Relationship Id="rId11" Type="http://schemas.openxmlformats.org/officeDocument/2006/relationships/oleObject" Target="../embeddings/oleObject39.bin"/><Relationship Id="rId10" Type="http://schemas.openxmlformats.org/officeDocument/2006/relationships/image" Target="../media/image67.wmf"/><Relationship Id="rId1" Type="http://schemas.openxmlformats.org/officeDocument/2006/relationships/image" Target="../media/image64.GIF"/></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0.xml"/><Relationship Id="rId2" Type="http://schemas.openxmlformats.org/officeDocument/2006/relationships/image" Target="../media/image4.png"/><Relationship Id="rId1" Type="http://schemas.openxmlformats.org/officeDocument/2006/relationships/slide" Target="slide28.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slide" Target="slide30.xml"/><Relationship Id="rId5" Type="http://schemas.openxmlformats.org/officeDocument/2006/relationships/image" Target="../media/image69.png"/><Relationship Id="rId4" Type="http://schemas.openxmlformats.org/officeDocument/2006/relationships/image" Target="../media/image64.GIF"/><Relationship Id="rId3" Type="http://schemas.openxmlformats.org/officeDocument/2006/relationships/slide" Target="slide29.xml"/><Relationship Id="rId2" Type="http://schemas.openxmlformats.org/officeDocument/2006/relationships/image" Target="../media/image4.png"/><Relationship Id="rId1" Type="http://schemas.openxmlformats.org/officeDocument/2006/relationships/slide" Target="slide1.xml"/></Relationships>
</file>

<file path=ppt/slides/_rels/slide29.xml.rels><?xml version="1.0" encoding="UTF-8" standalone="yes"?>
<Relationships xmlns="http://schemas.openxmlformats.org/package/2006/relationships"><Relationship Id="rId8" Type="http://schemas.openxmlformats.org/officeDocument/2006/relationships/vmlDrawing" Target="../drawings/vmlDrawing14.vml"/><Relationship Id="rId7" Type="http://schemas.openxmlformats.org/officeDocument/2006/relationships/slideLayout" Target="../slideLayouts/slideLayout2.xml"/><Relationship Id="rId6" Type="http://schemas.openxmlformats.org/officeDocument/2006/relationships/image" Target="../media/image72.wmf"/><Relationship Id="rId5" Type="http://schemas.openxmlformats.org/officeDocument/2006/relationships/oleObject" Target="../embeddings/oleObject40.bin"/><Relationship Id="rId4" Type="http://schemas.openxmlformats.org/officeDocument/2006/relationships/slide" Target="slide28.xml"/><Relationship Id="rId3" Type="http://schemas.openxmlformats.org/officeDocument/2006/relationships/image" Target="../media/image71.png"/><Relationship Id="rId2" Type="http://schemas.openxmlformats.org/officeDocument/2006/relationships/tags" Target="../tags/tag51.xml"/><Relationship Id="rId1" Type="http://schemas.openxmlformats.org/officeDocument/2006/relationships/image" Target="../media/image70.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28.xml"/><Relationship Id="rId2" Type="http://schemas.openxmlformats.org/officeDocument/2006/relationships/image" Target="../media/image74.png"/><Relationship Id="rId1" Type="http://schemas.openxmlformats.org/officeDocument/2006/relationships/image" Target="../media/image73.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6.jpeg"/><Relationship Id="rId1" Type="http://schemas.openxmlformats.org/officeDocument/2006/relationships/image" Target="../media/image75.png"/></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6.jpeg"/><Relationship Id="rId7" Type="http://schemas.openxmlformats.org/officeDocument/2006/relationships/image" Target="../media/image80.wmf"/><Relationship Id="rId6" Type="http://schemas.openxmlformats.org/officeDocument/2006/relationships/oleObject" Target="../embeddings/oleObject43.bin"/><Relationship Id="rId5" Type="http://schemas.openxmlformats.org/officeDocument/2006/relationships/image" Target="../media/image79.wmf"/><Relationship Id="rId4" Type="http://schemas.openxmlformats.org/officeDocument/2006/relationships/oleObject" Target="../embeddings/oleObject42.bin"/><Relationship Id="rId3" Type="http://schemas.openxmlformats.org/officeDocument/2006/relationships/image" Target="../media/image78.wmf"/><Relationship Id="rId2" Type="http://schemas.openxmlformats.org/officeDocument/2006/relationships/oleObject" Target="../embeddings/oleObject41.bin"/><Relationship Id="rId11" Type="http://schemas.openxmlformats.org/officeDocument/2006/relationships/notesSlide" Target="../notesSlides/notesSlide6.xml"/><Relationship Id="rId10" Type="http://schemas.openxmlformats.org/officeDocument/2006/relationships/vmlDrawing" Target="../drawings/vmlDrawing15.vml"/><Relationship Id="rId1" Type="http://schemas.openxmlformats.org/officeDocument/2006/relationships/image" Target="../media/image77.png"/></Relationships>
</file>

<file path=ppt/slides/_rels/slide33.xml.rels><?xml version="1.0" encoding="UTF-8" standalone="yes"?>
<Relationships xmlns="http://schemas.openxmlformats.org/package/2006/relationships"><Relationship Id="rId9" Type="http://schemas.openxmlformats.org/officeDocument/2006/relationships/vmlDrawing" Target="../drawings/vmlDrawing16.vml"/><Relationship Id="rId8" Type="http://schemas.openxmlformats.org/officeDocument/2006/relationships/slideLayout" Target="../slideLayouts/slideLayout2.xml"/><Relationship Id="rId7" Type="http://schemas.openxmlformats.org/officeDocument/2006/relationships/image" Target="../media/image83.wmf"/><Relationship Id="rId6" Type="http://schemas.openxmlformats.org/officeDocument/2006/relationships/oleObject" Target="../embeddings/oleObject46.bin"/><Relationship Id="rId5" Type="http://schemas.openxmlformats.org/officeDocument/2006/relationships/image" Target="../media/image82.wmf"/><Relationship Id="rId4" Type="http://schemas.openxmlformats.org/officeDocument/2006/relationships/oleObject" Target="../embeddings/oleObject45.bin"/><Relationship Id="rId3" Type="http://schemas.openxmlformats.org/officeDocument/2006/relationships/image" Target="../media/image81.wmf"/><Relationship Id="rId2" Type="http://schemas.openxmlformats.org/officeDocument/2006/relationships/oleObject" Target="../embeddings/oleObject44.bin"/><Relationship Id="rId1" Type="http://schemas.openxmlformats.org/officeDocument/2006/relationships/image" Target="../media/image76.jpeg"/></Relationships>
</file>

<file path=ppt/slides/_rels/slide34.xml.rels><?xml version="1.0" encoding="UTF-8" standalone="yes"?>
<Relationships xmlns="http://schemas.openxmlformats.org/package/2006/relationships"><Relationship Id="rId9" Type="http://schemas.openxmlformats.org/officeDocument/2006/relationships/vmlDrawing" Target="../drawings/vmlDrawing17.vml"/><Relationship Id="rId8" Type="http://schemas.openxmlformats.org/officeDocument/2006/relationships/slideLayout" Target="../slideLayouts/slideLayout12.xml"/><Relationship Id="rId7" Type="http://schemas.openxmlformats.org/officeDocument/2006/relationships/image" Target="../media/image87.wmf"/><Relationship Id="rId6" Type="http://schemas.openxmlformats.org/officeDocument/2006/relationships/oleObject" Target="../embeddings/oleObject49.bin"/><Relationship Id="rId5" Type="http://schemas.openxmlformats.org/officeDocument/2006/relationships/image" Target="../media/image86.wmf"/><Relationship Id="rId4" Type="http://schemas.openxmlformats.org/officeDocument/2006/relationships/oleObject" Target="../embeddings/oleObject48.bin"/><Relationship Id="rId3" Type="http://schemas.openxmlformats.org/officeDocument/2006/relationships/image" Target="../media/image85.wmf"/><Relationship Id="rId2" Type="http://schemas.openxmlformats.org/officeDocument/2006/relationships/oleObject" Target="../embeddings/oleObject47.bin"/><Relationship Id="rId1" Type="http://schemas.openxmlformats.org/officeDocument/2006/relationships/image" Target="../media/image84.png"/></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18.vml"/><Relationship Id="rId7"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76.jpeg"/><Relationship Id="rId4" Type="http://schemas.openxmlformats.org/officeDocument/2006/relationships/image" Target="../media/image89.wmf"/><Relationship Id="rId3" Type="http://schemas.openxmlformats.org/officeDocument/2006/relationships/oleObject" Target="../embeddings/oleObject51.bin"/><Relationship Id="rId2" Type="http://schemas.openxmlformats.org/officeDocument/2006/relationships/image" Target="../media/image88.wmf"/><Relationship Id="rId1" Type="http://schemas.openxmlformats.org/officeDocument/2006/relationships/oleObject" Target="../embeddings/oleObject50.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94.wmf"/><Relationship Id="rId7" Type="http://schemas.openxmlformats.org/officeDocument/2006/relationships/oleObject" Target="../embeddings/oleObject55.bin"/><Relationship Id="rId6" Type="http://schemas.openxmlformats.org/officeDocument/2006/relationships/image" Target="../media/image93.wmf"/><Relationship Id="rId5" Type="http://schemas.openxmlformats.org/officeDocument/2006/relationships/oleObject" Target="../embeddings/oleObject54.bin"/><Relationship Id="rId4" Type="http://schemas.openxmlformats.org/officeDocument/2006/relationships/image" Target="../media/image92.wmf"/><Relationship Id="rId3" Type="http://schemas.openxmlformats.org/officeDocument/2006/relationships/oleObject" Target="../embeddings/oleObject53.bin"/><Relationship Id="rId2" Type="http://schemas.openxmlformats.org/officeDocument/2006/relationships/image" Target="../media/image91.wmf"/><Relationship Id="rId12" Type="http://schemas.openxmlformats.org/officeDocument/2006/relationships/vmlDrawing" Target="../drawings/vmlDrawing19.vml"/><Relationship Id="rId11" Type="http://schemas.openxmlformats.org/officeDocument/2006/relationships/slideLayout" Target="../slideLayouts/slideLayout12.xml"/><Relationship Id="rId10" Type="http://schemas.openxmlformats.org/officeDocument/2006/relationships/image" Target="../media/image95.wmf"/><Relationship Id="rId1" Type="http://schemas.openxmlformats.org/officeDocument/2006/relationships/oleObject" Target="../embeddings/oleObject52.bin"/></Relationships>
</file>

<file path=ppt/slides/_rels/slide37.xml.rels><?xml version="1.0" encoding="UTF-8" standalone="yes"?>
<Relationships xmlns="http://schemas.openxmlformats.org/package/2006/relationships"><Relationship Id="rId8" Type="http://schemas.openxmlformats.org/officeDocument/2006/relationships/vmlDrawing" Target="../drawings/vmlDrawing20.vml"/><Relationship Id="rId7" Type="http://schemas.openxmlformats.org/officeDocument/2006/relationships/slideLayout" Target="../slideLayouts/slideLayout4.xml"/><Relationship Id="rId6" Type="http://schemas.openxmlformats.org/officeDocument/2006/relationships/image" Target="../media/image76.jpeg"/><Relationship Id="rId5" Type="http://schemas.openxmlformats.org/officeDocument/2006/relationships/image" Target="../media/image98.wmf"/><Relationship Id="rId4" Type="http://schemas.openxmlformats.org/officeDocument/2006/relationships/oleObject" Target="../embeddings/oleObject58.bin"/><Relationship Id="rId3" Type="http://schemas.openxmlformats.org/officeDocument/2006/relationships/image" Target="../media/image97.wmf"/><Relationship Id="rId2" Type="http://schemas.openxmlformats.org/officeDocument/2006/relationships/oleObject" Target="../embeddings/oleObject57.bin"/><Relationship Id="rId1" Type="http://schemas.openxmlformats.org/officeDocument/2006/relationships/image" Target="../media/image96.png"/></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102.wmf"/><Relationship Id="rId7" Type="http://schemas.openxmlformats.org/officeDocument/2006/relationships/oleObject" Target="../embeddings/oleObject62.bin"/><Relationship Id="rId6" Type="http://schemas.openxmlformats.org/officeDocument/2006/relationships/image" Target="../media/image101.wmf"/><Relationship Id="rId5" Type="http://schemas.openxmlformats.org/officeDocument/2006/relationships/oleObject" Target="../embeddings/oleObject61.bin"/><Relationship Id="rId4" Type="http://schemas.openxmlformats.org/officeDocument/2006/relationships/image" Target="../media/image100.wmf"/><Relationship Id="rId3" Type="http://schemas.openxmlformats.org/officeDocument/2006/relationships/oleObject" Target="../embeddings/oleObject60.bin"/><Relationship Id="rId2" Type="http://schemas.openxmlformats.org/officeDocument/2006/relationships/image" Target="../media/image99.wmf"/><Relationship Id="rId10" Type="http://schemas.openxmlformats.org/officeDocument/2006/relationships/vmlDrawing" Target="../drawings/vmlDrawing21.vml"/><Relationship Id="rId1" Type="http://schemas.openxmlformats.org/officeDocument/2006/relationships/oleObject" Target="../embeddings/oleObject59.bin"/></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22.vml"/><Relationship Id="rId5" Type="http://schemas.openxmlformats.org/officeDocument/2006/relationships/slideLayout" Target="../slideLayouts/slideLayout2.xml"/><Relationship Id="rId4" Type="http://schemas.openxmlformats.org/officeDocument/2006/relationships/image" Target="../media/image104.wmf"/><Relationship Id="rId3" Type="http://schemas.openxmlformats.org/officeDocument/2006/relationships/oleObject" Target="../embeddings/oleObject64.bin"/><Relationship Id="rId2" Type="http://schemas.openxmlformats.org/officeDocument/2006/relationships/image" Target="../media/image103.wmf"/><Relationship Id="rId1" Type="http://schemas.openxmlformats.org/officeDocument/2006/relationships/oleObject" Target="../embeddings/oleObject63.bin"/></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jpe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6.png"/><Relationship Id="rId1" Type="http://schemas.openxmlformats.org/officeDocument/2006/relationships/image" Target="../media/image105.jpeg"/></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68.bin"/><Relationship Id="rId8" Type="http://schemas.openxmlformats.org/officeDocument/2006/relationships/image" Target="../media/image110.png"/><Relationship Id="rId7" Type="http://schemas.openxmlformats.org/officeDocument/2006/relationships/image" Target="../media/image109.wmf"/><Relationship Id="rId6" Type="http://schemas.openxmlformats.org/officeDocument/2006/relationships/oleObject" Target="../embeddings/oleObject67.bin"/><Relationship Id="rId5" Type="http://schemas.openxmlformats.org/officeDocument/2006/relationships/image" Target="../media/image108.wmf"/><Relationship Id="rId4" Type="http://schemas.openxmlformats.org/officeDocument/2006/relationships/oleObject" Target="../embeddings/oleObject66.bin"/><Relationship Id="rId3" Type="http://schemas.openxmlformats.org/officeDocument/2006/relationships/image" Target="../media/image107.wmf"/><Relationship Id="rId2" Type="http://schemas.openxmlformats.org/officeDocument/2006/relationships/oleObject" Target="../embeddings/oleObject65.bin"/><Relationship Id="rId17" Type="http://schemas.openxmlformats.org/officeDocument/2006/relationships/vmlDrawing" Target="../drawings/vmlDrawing23.vml"/><Relationship Id="rId16" Type="http://schemas.openxmlformats.org/officeDocument/2006/relationships/slideLayout" Target="../slideLayouts/slideLayout2.xml"/><Relationship Id="rId15" Type="http://schemas.openxmlformats.org/officeDocument/2006/relationships/image" Target="../media/image114.wmf"/><Relationship Id="rId14" Type="http://schemas.openxmlformats.org/officeDocument/2006/relationships/oleObject" Target="../embeddings/oleObject70.bin"/><Relationship Id="rId13" Type="http://schemas.openxmlformats.org/officeDocument/2006/relationships/image" Target="../media/image113.png"/><Relationship Id="rId12" Type="http://schemas.openxmlformats.org/officeDocument/2006/relationships/image" Target="../media/image112.wmf"/><Relationship Id="rId11" Type="http://schemas.openxmlformats.org/officeDocument/2006/relationships/oleObject" Target="../embeddings/oleObject69.bin"/><Relationship Id="rId10" Type="http://schemas.openxmlformats.org/officeDocument/2006/relationships/image" Target="../media/image111.wmf"/><Relationship Id="rId1" Type="http://schemas.openxmlformats.org/officeDocument/2006/relationships/image" Target="../media/image105.jpeg"/></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75.bin"/><Relationship Id="rId8" Type="http://schemas.openxmlformats.org/officeDocument/2006/relationships/image" Target="../media/image118.wmf"/><Relationship Id="rId7" Type="http://schemas.openxmlformats.org/officeDocument/2006/relationships/oleObject" Target="../embeddings/oleObject74.bin"/><Relationship Id="rId6" Type="http://schemas.openxmlformats.org/officeDocument/2006/relationships/image" Target="../media/image117.wmf"/><Relationship Id="rId5" Type="http://schemas.openxmlformats.org/officeDocument/2006/relationships/oleObject" Target="../embeddings/oleObject73.bin"/><Relationship Id="rId4" Type="http://schemas.openxmlformats.org/officeDocument/2006/relationships/image" Target="../media/image116.wmf"/><Relationship Id="rId3" Type="http://schemas.openxmlformats.org/officeDocument/2006/relationships/oleObject" Target="../embeddings/oleObject72.bin"/><Relationship Id="rId2" Type="http://schemas.openxmlformats.org/officeDocument/2006/relationships/image" Target="../media/image115.wmf"/><Relationship Id="rId14" Type="http://schemas.openxmlformats.org/officeDocument/2006/relationships/vmlDrawing" Target="../drawings/vmlDrawing24.vml"/><Relationship Id="rId13" Type="http://schemas.openxmlformats.org/officeDocument/2006/relationships/slideLayout" Target="../slideLayouts/slideLayout2.xml"/><Relationship Id="rId12" Type="http://schemas.openxmlformats.org/officeDocument/2006/relationships/image" Target="../media/image120.wmf"/><Relationship Id="rId11" Type="http://schemas.openxmlformats.org/officeDocument/2006/relationships/oleObject" Target="../embeddings/oleObject76.bin"/><Relationship Id="rId10" Type="http://schemas.openxmlformats.org/officeDocument/2006/relationships/image" Target="../media/image119.wmf"/><Relationship Id="rId1" Type="http://schemas.openxmlformats.org/officeDocument/2006/relationships/oleObject" Target="../embeddings/oleObject71.bin"/></Relationships>
</file>

<file path=ppt/slides/_rels/slide4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24.wmf"/><Relationship Id="rId7" Type="http://schemas.openxmlformats.org/officeDocument/2006/relationships/oleObject" Target="../embeddings/oleObject80.bin"/><Relationship Id="rId6" Type="http://schemas.openxmlformats.org/officeDocument/2006/relationships/image" Target="../media/image123.wmf"/><Relationship Id="rId5" Type="http://schemas.openxmlformats.org/officeDocument/2006/relationships/oleObject" Target="../embeddings/oleObject79.bin"/><Relationship Id="rId4" Type="http://schemas.openxmlformats.org/officeDocument/2006/relationships/image" Target="../media/image122.wmf"/><Relationship Id="rId3" Type="http://schemas.openxmlformats.org/officeDocument/2006/relationships/oleObject" Target="../embeddings/oleObject78.bin"/><Relationship Id="rId2" Type="http://schemas.openxmlformats.org/officeDocument/2006/relationships/image" Target="../media/image121.wmf"/><Relationship Id="rId10" Type="http://schemas.openxmlformats.org/officeDocument/2006/relationships/vmlDrawing" Target="../drawings/vmlDrawing25.vml"/><Relationship Id="rId1" Type="http://schemas.openxmlformats.org/officeDocument/2006/relationships/oleObject" Target="../embeddings/oleObject77.bin"/></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2.xml"/><Relationship Id="rId4" Type="http://schemas.openxmlformats.org/officeDocument/2006/relationships/image" Target="../media/image126.wmf"/><Relationship Id="rId3" Type="http://schemas.openxmlformats.org/officeDocument/2006/relationships/oleObject" Target="../embeddings/oleObject82.bin"/><Relationship Id="rId2" Type="http://schemas.openxmlformats.org/officeDocument/2006/relationships/image" Target="../media/image125.wmf"/><Relationship Id="rId1" Type="http://schemas.openxmlformats.org/officeDocument/2006/relationships/oleObject" Target="../embeddings/oleObject81.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130.png"/><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image" Target="../media/image127.jpe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1.jpeg"/><Relationship Id="rId1" Type="http://schemas.openxmlformats.org/officeDocument/2006/relationships/tags" Target="../tags/tag52.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tags" Target="../tags/tag53.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4.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5.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bwMode="auto">
          <a:xfrm>
            <a:off x="2583180" y="384175"/>
            <a:ext cx="6015355"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3000" dirty="0" smtClean="0">
                <a:solidFill>
                  <a:srgbClr val="A50021"/>
                </a:solidFill>
                <a:latin typeface="黑体" panose="02010609060101010101" pitchFamily="49" charset="-122"/>
                <a:ea typeface="黑体" panose="02010609060101010101" pitchFamily="49" charset="-122"/>
              </a:rPr>
              <a:t>第</a:t>
            </a:r>
            <a:r>
              <a:rPr lang="en-US" altLang="zh-CN" sz="3000" dirty="0" smtClean="0">
                <a:solidFill>
                  <a:srgbClr val="A50021"/>
                </a:solidFill>
                <a:latin typeface="黑体" panose="02010609060101010101" pitchFamily="49" charset="-122"/>
                <a:ea typeface="黑体" panose="02010609060101010101" pitchFamily="49" charset="-122"/>
              </a:rPr>
              <a:t>2.3</a:t>
            </a:r>
            <a:r>
              <a:rPr lang="zh-CN" altLang="en-US" sz="3000" dirty="0" smtClean="0">
                <a:solidFill>
                  <a:srgbClr val="A50021"/>
                </a:solidFill>
                <a:latin typeface="黑体" panose="02010609060101010101" pitchFamily="49" charset="-122"/>
                <a:ea typeface="黑体" panose="02010609060101010101" pitchFamily="49" charset="-122"/>
              </a:rPr>
              <a:t>章 螺纹连接</a:t>
            </a:r>
            <a:endParaRPr lang="zh-CN" altLang="en-US" sz="3000" dirty="0" smtClean="0">
              <a:solidFill>
                <a:srgbClr val="A50021"/>
              </a:solidFill>
              <a:latin typeface="黑体" panose="02010609060101010101" pitchFamily="49" charset="-122"/>
              <a:ea typeface="黑体" panose="02010609060101010101" pitchFamily="49" charset="-122"/>
            </a:endParaRPr>
          </a:p>
        </p:txBody>
      </p:sp>
      <p:sp>
        <p:nvSpPr>
          <p:cNvPr id="16388" name="Text Box 4">
            <a:hlinkClick r:id="" highlightClick="1"/>
          </p:cNvPr>
          <p:cNvSpPr txBox="1">
            <a:spLocks noChangeArrowheads="1"/>
          </p:cNvSpPr>
          <p:nvPr/>
        </p:nvSpPr>
        <p:spPr bwMode="auto">
          <a:xfrm>
            <a:off x="1955165" y="1463675"/>
            <a:ext cx="5161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a:solidFill>
                  <a:srgbClr val="000099"/>
                </a:solidFill>
                <a:latin typeface="Times New Roman" panose="02020603050405020304" pitchFamily="18" charset="0"/>
                <a:ea typeface="黑体" panose="02010609060101010101" pitchFamily="49" charset="-122"/>
              </a:rPr>
              <a:t>§2.3-1 </a:t>
            </a:r>
            <a:r>
              <a:rPr lang="zh-CN" altLang="en-US" sz="2400">
                <a:solidFill>
                  <a:srgbClr val="000099"/>
                </a:solidFill>
                <a:latin typeface="Times New Roman" panose="02020603050405020304" pitchFamily="18" charset="0"/>
                <a:ea typeface="黑体" panose="02010609060101010101" pitchFamily="49" charset="-122"/>
                <a:hlinkClick r:id="" tooltip="螺纹联接的类型与标准联接件"/>
              </a:rPr>
              <a:t>螺纹连接的类型与标准连接件</a:t>
            </a:r>
            <a:endParaRPr lang="zh-CN" altLang="en-US" sz="2400">
              <a:solidFill>
                <a:srgbClr val="000099"/>
              </a:solidFill>
              <a:latin typeface="Times New Roman" panose="02020603050405020304" pitchFamily="18" charset="0"/>
              <a:ea typeface="黑体" panose="02010609060101010101" pitchFamily="49" charset="-122"/>
            </a:endParaRPr>
          </a:p>
        </p:txBody>
      </p:sp>
      <p:sp>
        <p:nvSpPr>
          <p:cNvPr id="16389" name="Text Box 5">
            <a:hlinkClick r:id=""/>
          </p:cNvPr>
          <p:cNvSpPr txBox="1">
            <a:spLocks noChangeArrowheads="1"/>
          </p:cNvSpPr>
          <p:nvPr/>
        </p:nvSpPr>
        <p:spPr bwMode="auto">
          <a:xfrm>
            <a:off x="1991995" y="2110740"/>
            <a:ext cx="516191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a:solidFill>
                  <a:srgbClr val="000099"/>
                </a:solidFill>
                <a:latin typeface="Times New Roman" panose="02020603050405020304" pitchFamily="18" charset="0"/>
                <a:ea typeface="黑体" panose="02010609060101010101" pitchFamily="49" charset="-122"/>
              </a:rPr>
              <a:t>§2.3-2 </a:t>
            </a:r>
            <a:r>
              <a:rPr lang="zh-CN" altLang="en-US" sz="2400">
                <a:solidFill>
                  <a:srgbClr val="000099"/>
                </a:solidFill>
                <a:latin typeface="Times New Roman" panose="02020603050405020304" pitchFamily="18" charset="0"/>
                <a:ea typeface="黑体" panose="02010609060101010101" pitchFamily="49" charset="-122"/>
                <a:hlinkClick r:id="" tooltip="螺纹联接的预紧与防松"/>
              </a:rPr>
              <a:t>螺纹连接的预紧和防松</a:t>
            </a:r>
            <a:endParaRPr lang="en-US" altLang="zh-CN" sz="2400">
              <a:solidFill>
                <a:srgbClr val="000099"/>
              </a:solidFill>
              <a:latin typeface="Times New Roman" panose="02020603050405020304" pitchFamily="18" charset="0"/>
              <a:ea typeface="黑体" panose="02010609060101010101" pitchFamily="49" charset="-122"/>
              <a:hlinkClick r:id="" tooltip="螺纹联接的预紧与防松"/>
            </a:endParaRPr>
          </a:p>
        </p:txBody>
      </p:sp>
      <p:sp>
        <p:nvSpPr>
          <p:cNvPr id="16390" name="Text Box 6">
            <a:hlinkClick r:id="" tooltip="螺纹联接组的设计"/>
          </p:cNvPr>
          <p:cNvSpPr txBox="1">
            <a:spLocks noChangeArrowheads="1"/>
          </p:cNvSpPr>
          <p:nvPr/>
        </p:nvSpPr>
        <p:spPr bwMode="auto">
          <a:xfrm>
            <a:off x="1954864" y="2763186"/>
            <a:ext cx="3637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a:solidFill>
                  <a:srgbClr val="000099"/>
                </a:solidFill>
                <a:latin typeface="Times New Roman" panose="02020603050405020304" pitchFamily="18" charset="0"/>
                <a:ea typeface="黑体" panose="02010609060101010101" pitchFamily="49" charset="-122"/>
              </a:rPr>
              <a:t>§</a:t>
            </a:r>
            <a:r>
              <a:rPr lang="en-US" altLang="zh-CN" sz="2400" dirty="0" smtClean="0">
                <a:solidFill>
                  <a:srgbClr val="000099"/>
                </a:solidFill>
                <a:latin typeface="Times New Roman" panose="02020603050405020304" pitchFamily="18" charset="0"/>
                <a:ea typeface="黑体" panose="02010609060101010101" pitchFamily="49" charset="-122"/>
              </a:rPr>
              <a:t>2.3</a:t>
            </a:r>
            <a:r>
              <a:rPr lang="en-US" altLang="zh-CN" sz="2400" dirty="0" smtClean="0">
                <a:solidFill>
                  <a:srgbClr val="000099"/>
                </a:solidFill>
                <a:latin typeface="Times New Roman" panose="02020603050405020304" pitchFamily="18" charset="0"/>
                <a:ea typeface="黑体" panose="02010609060101010101" pitchFamily="49" charset="-122"/>
              </a:rPr>
              <a:t>-3 </a:t>
            </a:r>
            <a:r>
              <a:rPr lang="zh-CN" altLang="en-US" sz="2400" dirty="0">
                <a:solidFill>
                  <a:srgbClr val="000099"/>
                </a:solidFill>
                <a:latin typeface="Times New Roman" panose="02020603050405020304" pitchFamily="18" charset="0"/>
                <a:ea typeface="黑体" panose="02010609060101010101" pitchFamily="49" charset="-122"/>
                <a:hlinkClick r:id="rId1" tooltip="螺纹联接组的设计" action="ppaction://hlinksldjump"/>
              </a:rPr>
              <a:t>螺栓组连接的设计</a:t>
            </a:r>
            <a:endParaRPr lang="zh-CN" altLang="en-US" sz="2400" dirty="0">
              <a:solidFill>
                <a:srgbClr val="000099"/>
              </a:solidFill>
              <a:latin typeface="Times New Roman" panose="02020603050405020304" pitchFamily="18" charset="0"/>
              <a:ea typeface="黑体" panose="02010609060101010101" pitchFamily="49" charset="-122"/>
            </a:endParaRPr>
          </a:p>
        </p:txBody>
      </p:sp>
      <p:sp>
        <p:nvSpPr>
          <p:cNvPr id="16391" name="Text Box 7">
            <a:hlinkClick r:id=""/>
          </p:cNvPr>
          <p:cNvSpPr txBox="1">
            <a:spLocks noChangeArrowheads="1"/>
          </p:cNvSpPr>
          <p:nvPr/>
        </p:nvSpPr>
        <p:spPr bwMode="auto">
          <a:xfrm>
            <a:off x="1992229" y="3415765"/>
            <a:ext cx="4018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a:solidFill>
                  <a:srgbClr val="000099"/>
                </a:solidFill>
                <a:latin typeface="Times New Roman" panose="02020603050405020304" pitchFamily="18" charset="0"/>
                <a:ea typeface="黑体" panose="02010609060101010101" pitchFamily="49" charset="-122"/>
              </a:rPr>
              <a:t>§</a:t>
            </a:r>
            <a:r>
              <a:rPr lang="en-US" altLang="zh-CN" sz="2400" dirty="0" smtClean="0">
                <a:solidFill>
                  <a:srgbClr val="000099"/>
                </a:solidFill>
                <a:latin typeface="Times New Roman" panose="02020603050405020304" pitchFamily="18" charset="0"/>
                <a:ea typeface="黑体" panose="02010609060101010101" pitchFamily="49" charset="-122"/>
              </a:rPr>
              <a:t>2.3</a:t>
            </a:r>
            <a:r>
              <a:rPr lang="en-US" altLang="zh-CN" sz="2400" dirty="0" smtClean="0">
                <a:solidFill>
                  <a:srgbClr val="000099"/>
                </a:solidFill>
                <a:latin typeface="Times New Roman" panose="02020603050405020304" pitchFamily="18" charset="0"/>
                <a:ea typeface="黑体" panose="02010609060101010101" pitchFamily="49" charset="-122"/>
              </a:rPr>
              <a:t>-4  </a:t>
            </a:r>
            <a:r>
              <a:rPr lang="zh-CN" altLang="en-US" sz="2400" dirty="0">
                <a:solidFill>
                  <a:srgbClr val="000099"/>
                </a:solidFill>
                <a:latin typeface="Times New Roman" panose="02020603050405020304" pitchFamily="18" charset="0"/>
                <a:ea typeface="黑体" panose="02010609060101010101" pitchFamily="49" charset="-122"/>
                <a:hlinkClick r:id="rId2" tooltip="螺纹联接的强度计算" action="ppaction://hlinksldjump"/>
              </a:rPr>
              <a:t>螺纹连接的强度计算</a:t>
            </a:r>
            <a:endParaRPr lang="zh-CN" altLang="en-US" sz="2400" dirty="0">
              <a:solidFill>
                <a:srgbClr val="000099"/>
              </a:solidFill>
              <a:latin typeface="Times New Roman" panose="02020603050405020304" pitchFamily="18" charset="0"/>
              <a:ea typeface="黑体" panose="02010609060101010101" pitchFamily="49" charset="-122"/>
            </a:endParaRPr>
          </a:p>
        </p:txBody>
      </p:sp>
      <p:sp>
        <p:nvSpPr>
          <p:cNvPr id="16392" name="Text Box 8">
            <a:hlinkClick r:id=""/>
          </p:cNvPr>
          <p:cNvSpPr txBox="1">
            <a:spLocks noChangeArrowheads="1"/>
          </p:cNvSpPr>
          <p:nvPr/>
        </p:nvSpPr>
        <p:spPr bwMode="auto">
          <a:xfrm>
            <a:off x="1991995" y="4660900"/>
            <a:ext cx="45516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a:solidFill>
                  <a:srgbClr val="000099"/>
                </a:solidFill>
                <a:latin typeface="Times New Roman" panose="02020603050405020304" pitchFamily="18" charset="0"/>
                <a:ea typeface="黑体" panose="02010609060101010101" pitchFamily="49" charset="-122"/>
              </a:rPr>
              <a:t>§2.3-6 </a:t>
            </a:r>
            <a:r>
              <a:rPr lang="zh-CN" altLang="en-US" sz="2400" dirty="0">
                <a:solidFill>
                  <a:srgbClr val="000099"/>
                </a:solidFill>
                <a:latin typeface="Times New Roman" panose="02020603050405020304" pitchFamily="18" charset="0"/>
                <a:ea typeface="黑体" panose="02010609060101010101" pitchFamily="49" charset="-122"/>
                <a:hlinkClick r:id="" tooltip="提高螺纹联接强度的措施"/>
              </a:rPr>
              <a:t>提高螺纹连接强度的措施</a:t>
            </a:r>
            <a:endParaRPr lang="zh-CN" altLang="en-US" sz="2400" dirty="0">
              <a:solidFill>
                <a:srgbClr val="000099"/>
              </a:solidFill>
              <a:latin typeface="Times New Roman" panose="02020603050405020304" pitchFamily="18" charset="0"/>
              <a:ea typeface="黑体" panose="02010609060101010101" pitchFamily="49" charset="-122"/>
            </a:endParaRPr>
          </a:p>
        </p:txBody>
      </p:sp>
      <p:sp>
        <p:nvSpPr>
          <p:cNvPr id="16393" name="Text Box 9">
            <a:hlinkClick r:id=""/>
          </p:cNvPr>
          <p:cNvSpPr txBox="1">
            <a:spLocks noChangeArrowheads="1"/>
          </p:cNvSpPr>
          <p:nvPr/>
        </p:nvSpPr>
        <p:spPr bwMode="auto">
          <a:xfrm>
            <a:off x="1955165" y="4029075"/>
            <a:ext cx="5237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a:solidFill>
                  <a:srgbClr val="000099"/>
                </a:solidFill>
                <a:latin typeface="Times New Roman" panose="02020603050405020304" pitchFamily="18" charset="0"/>
                <a:ea typeface="黑体" panose="02010609060101010101" pitchFamily="49" charset="-122"/>
              </a:rPr>
              <a:t>§2.3-5  </a:t>
            </a:r>
            <a:r>
              <a:rPr lang="zh-CN" altLang="en-US" sz="2400">
                <a:solidFill>
                  <a:srgbClr val="000099"/>
                </a:solidFill>
                <a:latin typeface="Times New Roman" panose="02020603050405020304" pitchFamily="18" charset="0"/>
                <a:ea typeface="黑体" panose="02010609060101010101" pitchFamily="49" charset="-122"/>
                <a:hlinkClick r:id="" tooltip="螺纹联接件的材料与许用应力"/>
              </a:rPr>
              <a:t>螺纹连接件的材料与许用应力</a:t>
            </a:r>
            <a:endParaRPr lang="zh-CN" altLang="en-US" sz="2400">
              <a:solidFill>
                <a:srgbClr val="000099"/>
              </a:solidFill>
              <a:latin typeface="Times New Roman" panose="02020603050405020304" pitchFamily="18" charset="0"/>
              <a:ea typeface="黑体" panose="02010609060101010101" pitchFamily="49" charset="-122"/>
            </a:endParaRPr>
          </a:p>
        </p:txBody>
      </p:sp>
      <p:sp>
        <p:nvSpPr>
          <p:cNvPr id="16398" name="直接连接符 6"/>
          <p:cNvSpPr>
            <a:spLocks noChangeShapeType="1"/>
          </p:cNvSpPr>
          <p:nvPr/>
        </p:nvSpPr>
        <p:spPr bwMode="auto">
          <a:xfrm>
            <a:off x="0" y="1042577"/>
            <a:ext cx="9144000" cy="0"/>
          </a:xfrm>
          <a:prstGeom prst="line">
            <a:avLst/>
          </a:prstGeom>
          <a:noFill/>
          <a:ln w="38100">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5" name="组合 1"/>
          <p:cNvGrpSpPr/>
          <p:nvPr/>
        </p:nvGrpSpPr>
        <p:grpSpPr>
          <a:xfrm>
            <a:off x="6303194" y="5905918"/>
            <a:ext cx="2630487" cy="827087"/>
            <a:chOff x="10088" y="9497"/>
            <a:chExt cx="4141" cy="1302"/>
          </a:xfrm>
        </p:grpSpPr>
        <p:sp>
          <p:nvSpPr>
            <p:cNvPr id="16"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7" name="图片 1073742872" descr="44303071dc0a1f9688d599dbc999570副本"/>
            <p:cNvPicPr>
              <a:picLocks noChangeAspect="1"/>
            </p:cNvPicPr>
            <p:nvPr/>
          </p:nvPicPr>
          <p:blipFill>
            <a:blip r:embed="rId3"/>
            <a:stretch>
              <a:fillRect/>
            </a:stretch>
          </p:blipFill>
          <p:spPr>
            <a:xfrm>
              <a:off x="10088" y="9497"/>
              <a:ext cx="1435" cy="1303"/>
            </a:xfrm>
            <a:prstGeom prst="rect">
              <a:avLst/>
            </a:prstGeom>
            <a:noFill/>
            <a:ln w="9525">
              <a:noFill/>
            </a:ln>
          </p:spPr>
        </p:pic>
      </p:gr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bwMode="auto">
          <a:xfrm>
            <a:off x="5334000" y="762000"/>
            <a:ext cx="2286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2</a:t>
            </a:r>
            <a:endParaRPr lang="en-US" altLang="zh-CN" sz="800" smtClean="0">
              <a:solidFill>
                <a:schemeClr val="bg1"/>
              </a:solidFill>
            </a:endParaRPr>
          </a:p>
        </p:txBody>
      </p:sp>
      <p:sp>
        <p:nvSpPr>
          <p:cNvPr id="24581" name="Rectangle 5"/>
          <p:cNvSpPr>
            <a:spLocks noChangeArrowheads="1"/>
          </p:cNvSpPr>
          <p:nvPr/>
        </p:nvSpPr>
        <p:spPr bwMode="auto">
          <a:xfrm>
            <a:off x="323850" y="5676900"/>
            <a:ext cx="18351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30000"/>
              </a:lnSpc>
              <a:spcBef>
                <a:spcPct val="20000"/>
              </a:spcBef>
              <a:buClr>
                <a:schemeClr val="hlink"/>
              </a:buClr>
              <a:buSzPct val="110000"/>
              <a:buFont typeface="Wingdings" panose="05000000000000000000" pitchFamily="2" charset="2"/>
              <a:buNone/>
            </a:pPr>
            <a:r>
              <a:rPr lang="en-US" altLang="zh-CN" sz="2000" dirty="0">
                <a:solidFill>
                  <a:srgbClr val="000099"/>
                </a:solidFill>
                <a:latin typeface="Times New Roman" panose="02020603050405020304" pitchFamily="18" charset="0"/>
              </a:rPr>
              <a:t>1</a:t>
            </a:r>
            <a:r>
              <a:rPr lang="zh-CN" altLang="en-US" sz="2000" dirty="0">
                <a:solidFill>
                  <a:srgbClr val="000099"/>
                </a:solidFill>
                <a:latin typeface="Times New Roman" panose="02020603050405020304" pitchFamily="18" charset="0"/>
              </a:rPr>
              <a:t>．</a:t>
            </a:r>
            <a:r>
              <a:rPr lang="zh-CN" altLang="en-US" sz="2000" dirty="0">
                <a:solidFill>
                  <a:srgbClr val="000099"/>
                </a:solidFill>
                <a:latin typeface="Times New Roman" panose="02020603050405020304" pitchFamily="18" charset="0"/>
                <a:hlinkClick r:id="rId1" action="ppaction://hlinksldjump"/>
              </a:rPr>
              <a:t>受横向载荷</a:t>
            </a:r>
            <a:endParaRPr lang="zh-CN" altLang="en-US" sz="2000" dirty="0">
              <a:solidFill>
                <a:srgbClr val="000099"/>
              </a:solidFill>
              <a:latin typeface="Times New Roman" panose="02020603050405020304" pitchFamily="18" charset="0"/>
            </a:endParaRPr>
          </a:p>
        </p:txBody>
      </p:sp>
      <p:sp>
        <p:nvSpPr>
          <p:cNvPr id="24582" name="Rectangle 6"/>
          <p:cNvSpPr>
            <a:spLocks noChangeArrowheads="1"/>
          </p:cNvSpPr>
          <p:nvPr/>
        </p:nvSpPr>
        <p:spPr bwMode="auto">
          <a:xfrm>
            <a:off x="2743200" y="5739130"/>
            <a:ext cx="16637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a:solidFill>
                  <a:srgbClr val="000099"/>
                </a:solidFill>
                <a:latin typeface="Times New Roman" panose="02020603050405020304" pitchFamily="18" charset="0"/>
              </a:rPr>
              <a:t>2</a:t>
            </a:r>
            <a:r>
              <a:rPr lang="zh-CN" altLang="en-US" sz="2000">
                <a:solidFill>
                  <a:srgbClr val="000099"/>
                </a:solidFill>
                <a:latin typeface="Times New Roman" panose="02020603050405020304" pitchFamily="18" charset="0"/>
              </a:rPr>
              <a:t>．</a:t>
            </a:r>
            <a:r>
              <a:rPr lang="zh-CN" altLang="en-US" sz="2000">
                <a:solidFill>
                  <a:srgbClr val="000099"/>
                </a:solidFill>
                <a:latin typeface="Times New Roman" panose="02020603050405020304" pitchFamily="18" charset="0"/>
                <a:hlinkClick r:id="rId2" action="ppaction://hlinksldjump"/>
              </a:rPr>
              <a:t>受转矩</a:t>
            </a:r>
            <a:endParaRPr lang="zh-CN" altLang="en-US" sz="2000">
              <a:solidFill>
                <a:srgbClr val="000099"/>
              </a:solidFill>
              <a:latin typeface="Times New Roman" panose="02020603050405020304" pitchFamily="18" charset="0"/>
            </a:endParaRPr>
          </a:p>
        </p:txBody>
      </p:sp>
      <p:sp>
        <p:nvSpPr>
          <p:cNvPr id="24583" name="Rectangle 7"/>
          <p:cNvSpPr>
            <a:spLocks noChangeArrowheads="1"/>
          </p:cNvSpPr>
          <p:nvPr/>
        </p:nvSpPr>
        <p:spPr bwMode="auto">
          <a:xfrm>
            <a:off x="4852988" y="5738813"/>
            <a:ext cx="183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a:solidFill>
                  <a:srgbClr val="000099"/>
                </a:solidFill>
                <a:latin typeface="Times New Roman" panose="02020603050405020304" pitchFamily="18" charset="0"/>
              </a:rPr>
              <a:t>3</a:t>
            </a:r>
            <a:r>
              <a:rPr lang="zh-CN" altLang="en-US" sz="2000">
                <a:solidFill>
                  <a:srgbClr val="000099"/>
                </a:solidFill>
                <a:latin typeface="Times New Roman" panose="02020603050405020304" pitchFamily="18" charset="0"/>
              </a:rPr>
              <a:t>．</a:t>
            </a:r>
            <a:r>
              <a:rPr lang="zh-CN" altLang="en-US" sz="2000">
                <a:solidFill>
                  <a:srgbClr val="000099"/>
                </a:solidFill>
                <a:latin typeface="Times New Roman" panose="02020603050405020304" pitchFamily="18" charset="0"/>
                <a:hlinkClick r:id="rId3" action="ppaction://hlinksldjump"/>
              </a:rPr>
              <a:t>受轴向载荷</a:t>
            </a:r>
            <a:endParaRPr lang="zh-CN" altLang="en-US" sz="2000">
              <a:solidFill>
                <a:srgbClr val="000099"/>
              </a:solidFill>
              <a:latin typeface="Times New Roman" panose="02020603050405020304" pitchFamily="18" charset="0"/>
            </a:endParaRPr>
          </a:p>
        </p:txBody>
      </p:sp>
      <p:sp>
        <p:nvSpPr>
          <p:cNvPr id="24584" name="Rectangle 8"/>
          <p:cNvSpPr>
            <a:spLocks noChangeArrowheads="1"/>
          </p:cNvSpPr>
          <p:nvPr/>
        </p:nvSpPr>
        <p:spPr bwMode="auto">
          <a:xfrm>
            <a:off x="6972300" y="5738813"/>
            <a:ext cx="183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a:solidFill>
                  <a:srgbClr val="000099"/>
                </a:solidFill>
                <a:latin typeface="Times New Roman" panose="02020603050405020304" pitchFamily="18" charset="0"/>
              </a:rPr>
              <a:t>4</a:t>
            </a:r>
            <a:r>
              <a:rPr lang="zh-CN" altLang="en-US" sz="2000">
                <a:solidFill>
                  <a:srgbClr val="000099"/>
                </a:solidFill>
                <a:latin typeface="Times New Roman" panose="02020603050405020304" pitchFamily="18" charset="0"/>
              </a:rPr>
              <a:t>．</a:t>
            </a:r>
            <a:r>
              <a:rPr lang="zh-CN" altLang="en-US" sz="2000">
                <a:solidFill>
                  <a:srgbClr val="000099"/>
                </a:solidFill>
                <a:latin typeface="Times New Roman" panose="02020603050405020304" pitchFamily="18" charset="0"/>
                <a:hlinkClick r:id="rId4" action="ppaction://hlinksldjump"/>
              </a:rPr>
              <a:t>受倾覆力矩</a:t>
            </a:r>
            <a:endParaRPr lang="zh-CN" altLang="en-US" sz="2000">
              <a:solidFill>
                <a:srgbClr val="000099"/>
              </a:solidFill>
              <a:latin typeface="Times New Roman" panose="02020603050405020304" pitchFamily="18" charset="0"/>
            </a:endParaRPr>
          </a:p>
        </p:txBody>
      </p:sp>
      <p:sp>
        <p:nvSpPr>
          <p:cNvPr id="24587" name="Rectangle 11"/>
          <p:cNvSpPr>
            <a:spLocks noChangeArrowheads="1"/>
          </p:cNvSpPr>
          <p:nvPr/>
        </p:nvSpPr>
        <p:spPr bwMode="auto">
          <a:xfrm>
            <a:off x="342900" y="1173480"/>
            <a:ext cx="86918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SzPct val="80000"/>
              <a:buFontTx/>
              <a:buBlip>
                <a:blip r:embed="rId5"/>
              </a:buBlip>
            </a:pPr>
            <a:r>
              <a:rPr lang="en-US" altLang="zh-CN" sz="2000" dirty="0">
                <a:solidFill>
                  <a:srgbClr val="000099"/>
                </a:solidFill>
                <a:latin typeface="华文中宋" panose="02010600040101010101" pitchFamily="2" charset="-122"/>
              </a:rPr>
              <a:t> </a:t>
            </a:r>
            <a:r>
              <a:rPr lang="zh-CN" altLang="en-US" sz="2000" b="1" dirty="0">
                <a:solidFill>
                  <a:srgbClr val="FF0000"/>
                </a:solidFill>
                <a:latin typeface="华文中宋" panose="02010600040101010101" pitchFamily="2" charset="-122"/>
              </a:rPr>
              <a:t>受力分析的目的</a:t>
            </a:r>
            <a:r>
              <a:rPr lang="zh-CN" altLang="en-US" sz="2000" b="1"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根据连接的结构和受载情况，</a:t>
            </a:r>
            <a:r>
              <a:rPr lang="zh-CN" altLang="en-US" sz="2000" dirty="0">
                <a:solidFill>
                  <a:srgbClr val="C00000"/>
                </a:solidFill>
                <a:latin typeface="华文中宋" panose="02010600040101010101" pitchFamily="2" charset="-122"/>
              </a:rPr>
              <a:t>求出受力最大的螺栓</a:t>
            </a:r>
            <a:endParaRPr lang="zh-CN" altLang="en-US" sz="2000" dirty="0">
              <a:solidFill>
                <a:srgbClr val="C00000"/>
              </a:solidFill>
              <a:latin typeface="华文中宋" panose="02010600040101010101" pitchFamily="2" charset="-122"/>
            </a:endParaRPr>
          </a:p>
          <a:p>
            <a:pPr eaLnBrk="1" hangingPunct="1">
              <a:lnSpc>
                <a:spcPct val="120000"/>
              </a:lnSpc>
            </a:pPr>
            <a:r>
              <a:rPr lang="zh-CN" altLang="en-US" sz="2000" dirty="0">
                <a:solidFill>
                  <a:srgbClr val="C00000"/>
                </a:solidFill>
                <a:latin typeface="华文中宋" panose="02010600040101010101" pitchFamily="2" charset="-122"/>
              </a:rPr>
              <a:t>                  及其所受的力</a:t>
            </a:r>
            <a:r>
              <a:rPr lang="zh-CN" altLang="en-US" sz="2000" dirty="0">
                <a:solidFill>
                  <a:srgbClr val="000099"/>
                </a:solidFill>
                <a:latin typeface="华文中宋" panose="02010600040101010101" pitchFamily="2" charset="-122"/>
              </a:rPr>
              <a:t>，以便进行螺栓连接的强度计算。</a:t>
            </a:r>
            <a:endParaRPr lang="zh-CN" altLang="en-US" sz="2000" dirty="0">
              <a:solidFill>
                <a:srgbClr val="000099"/>
              </a:solidFill>
              <a:latin typeface="华文中宋" panose="02010600040101010101" pitchFamily="2" charset="-122"/>
            </a:endParaRPr>
          </a:p>
        </p:txBody>
      </p:sp>
      <p:sp>
        <p:nvSpPr>
          <p:cNvPr id="24588" name="Rectangle 12"/>
          <p:cNvSpPr>
            <a:spLocks noChangeArrowheads="1"/>
          </p:cNvSpPr>
          <p:nvPr/>
        </p:nvSpPr>
        <p:spPr bwMode="auto">
          <a:xfrm>
            <a:off x="304800" y="2165350"/>
            <a:ext cx="88392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buSzPct val="80000"/>
              <a:buFontTx/>
              <a:buBlip>
                <a:blip r:embed="rId5"/>
              </a:buBlip>
            </a:pPr>
            <a:r>
              <a:rPr lang="en-US" altLang="zh-CN" sz="2000" dirty="0">
                <a:solidFill>
                  <a:srgbClr val="000099"/>
                </a:solidFill>
                <a:latin typeface="华文中宋" panose="02010600040101010101" pitchFamily="2" charset="-122"/>
              </a:rPr>
              <a:t> </a:t>
            </a:r>
            <a:r>
              <a:rPr lang="zh-CN" altLang="en-US" sz="2000" b="1" dirty="0">
                <a:solidFill>
                  <a:srgbClr val="FF0000"/>
                </a:solidFill>
                <a:latin typeface="华文中宋" panose="02010600040101010101" pitchFamily="2" charset="-122"/>
              </a:rPr>
              <a:t>受力分析时所作假设：</a:t>
            </a:r>
            <a:r>
              <a:rPr lang="zh-CN" altLang="en-US" sz="2000" dirty="0">
                <a:solidFill>
                  <a:srgbClr val="000099"/>
                </a:solidFill>
                <a:latin typeface="华文中宋" panose="02010600040101010101" pitchFamily="2" charset="-122"/>
              </a:rPr>
              <a:t>所有螺栓的材料、直径、长度和预紧力均相同； </a:t>
            </a:r>
            <a:endParaRPr lang="zh-CN" altLang="en-US" sz="2000" dirty="0">
              <a:solidFill>
                <a:srgbClr val="000099"/>
              </a:solidFill>
              <a:latin typeface="华文中宋" panose="02010600040101010101" pitchFamily="2" charset="-122"/>
            </a:endParaRPr>
          </a:p>
        </p:txBody>
      </p:sp>
      <p:sp>
        <p:nvSpPr>
          <p:cNvPr id="24589" name="Rectangle 13"/>
          <p:cNvSpPr>
            <a:spLocks noChangeArrowheads="1"/>
          </p:cNvSpPr>
          <p:nvPr/>
        </p:nvSpPr>
        <p:spPr bwMode="auto">
          <a:xfrm>
            <a:off x="3062288" y="2994025"/>
            <a:ext cx="399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华文中宋" panose="02010600040101010101" pitchFamily="2" charset="-122"/>
              </a:rPr>
              <a:t>受载后连接接合面仍保持为平面。</a:t>
            </a:r>
            <a:endParaRPr lang="zh-CN" altLang="en-US" sz="2000" dirty="0">
              <a:solidFill>
                <a:srgbClr val="000099"/>
              </a:solidFill>
              <a:latin typeface="华文中宋" panose="02010600040101010101" pitchFamily="2" charset="-122"/>
            </a:endParaRPr>
          </a:p>
        </p:txBody>
      </p:sp>
      <p:sp>
        <p:nvSpPr>
          <p:cNvPr id="24590" name="Rectangle 14"/>
          <p:cNvSpPr>
            <a:spLocks noChangeArrowheads="1"/>
          </p:cNvSpPr>
          <p:nvPr/>
        </p:nvSpPr>
        <p:spPr bwMode="auto">
          <a:xfrm>
            <a:off x="387350" y="3494088"/>
            <a:ext cx="249301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buSzPct val="80000"/>
              <a:buFontTx/>
              <a:buBlip>
                <a:blip r:embed="rId5"/>
              </a:buBlip>
            </a:pPr>
            <a:r>
              <a:rPr lang="en-US" altLang="zh-CN" sz="2000" b="1" dirty="0">
                <a:solidFill>
                  <a:srgbClr val="000099"/>
                </a:solidFill>
                <a:latin typeface="华文中宋" panose="02010600040101010101" pitchFamily="2" charset="-122"/>
              </a:rPr>
              <a:t> </a:t>
            </a:r>
            <a:r>
              <a:rPr lang="zh-CN" altLang="en-US" sz="2000" b="1" dirty="0">
                <a:solidFill>
                  <a:srgbClr val="FF0000"/>
                </a:solidFill>
                <a:latin typeface="华文中宋" panose="02010600040101010101" pitchFamily="2" charset="-122"/>
              </a:rPr>
              <a:t>受力分析的类型：</a:t>
            </a:r>
            <a:endParaRPr lang="zh-CN" altLang="en-US" sz="2000" b="1" dirty="0">
              <a:solidFill>
                <a:srgbClr val="FF0000"/>
              </a:solidFill>
              <a:latin typeface="华文中宋" panose="02010600040101010101" pitchFamily="2" charset="-122"/>
            </a:endParaRPr>
          </a:p>
        </p:txBody>
      </p:sp>
      <p:sp>
        <p:nvSpPr>
          <p:cNvPr id="24591" name="Rectangle 15"/>
          <p:cNvSpPr>
            <a:spLocks noChangeArrowheads="1"/>
          </p:cNvSpPr>
          <p:nvPr/>
        </p:nvSpPr>
        <p:spPr bwMode="auto">
          <a:xfrm>
            <a:off x="304800" y="780415"/>
            <a:ext cx="3733800" cy="39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90000"/>
              </a:lnSpc>
              <a:spcBef>
                <a:spcPct val="20000"/>
              </a:spcBef>
              <a:buClr>
                <a:schemeClr val="hlink"/>
              </a:buClr>
              <a:buSzPct val="110000"/>
            </a:pPr>
            <a:r>
              <a:rPr lang="zh-CN" altLang="en-US" dirty="0">
                <a:solidFill>
                  <a:srgbClr val="0000FF"/>
                </a:solidFill>
                <a:latin typeface="黑体" panose="02010609060101010101" pitchFamily="49" charset="-122"/>
                <a:ea typeface="黑体" panose="02010609060101010101" pitchFamily="49" charset="-122"/>
              </a:rPr>
              <a:t>二、螺栓组连接的受力分析</a:t>
            </a:r>
            <a:endParaRPr lang="zh-CN" altLang="en-US" dirty="0">
              <a:solidFill>
                <a:srgbClr val="0000FF"/>
              </a:solidFill>
              <a:latin typeface="黑体" panose="02010609060101010101" pitchFamily="49" charset="-122"/>
              <a:ea typeface="黑体" panose="02010609060101010101" pitchFamily="49" charset="-122"/>
            </a:endParaRPr>
          </a:p>
        </p:txBody>
      </p:sp>
      <p:pic>
        <p:nvPicPr>
          <p:cNvPr id="25046" name="Picture 470" descr="rewind1">
            <a:hlinkClick r:id="rId6" action="ppaction://hlinksldjump"/>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3913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47" name="Picture 471" descr="back1">
            <a:hlinkClick r:id="" action="ppaction://hlinkshowjump?jump=previousslide"/>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747125"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49" name="Rectangle 473"/>
          <p:cNvSpPr>
            <a:spLocks noChangeArrowheads="1"/>
          </p:cNvSpPr>
          <p:nvPr/>
        </p:nvSpPr>
        <p:spPr bwMode="auto">
          <a:xfrm>
            <a:off x="3062288" y="2574925"/>
            <a:ext cx="526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华文中宋" panose="02010600040101010101" pitchFamily="2" charset="-122"/>
              </a:rPr>
              <a:t>螺栓组的对称中心与连接接合面的形心重合；</a:t>
            </a:r>
            <a:endParaRPr lang="zh-CN" altLang="en-US" sz="2000" dirty="0">
              <a:solidFill>
                <a:srgbClr val="000099"/>
              </a:solidFill>
              <a:latin typeface="华文中宋" panose="02010600040101010101" pitchFamily="2" charset="-122"/>
            </a:endParaRPr>
          </a:p>
        </p:txBody>
      </p:sp>
      <p:sp>
        <p:nvSpPr>
          <p:cNvPr id="25051" name="Text Box 475"/>
          <p:cNvSpPr txBox="1">
            <a:spLocks noChangeArrowheads="1"/>
          </p:cNvSpPr>
          <p:nvPr/>
        </p:nvSpPr>
        <p:spPr bwMode="auto">
          <a:xfrm>
            <a:off x="6672263" y="6211888"/>
            <a:ext cx="27146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graphicFrame>
        <p:nvGraphicFramePr>
          <p:cNvPr id="25052" name="Object 476"/>
          <p:cNvGraphicFramePr>
            <a:graphicFrameLocks noChangeAspect="1"/>
          </p:cNvGraphicFramePr>
          <p:nvPr/>
        </p:nvGraphicFramePr>
        <p:xfrm>
          <a:off x="401638" y="4146550"/>
          <a:ext cx="8551862" cy="1509713"/>
        </p:xfrm>
        <a:graphic>
          <a:graphicData uri="http://schemas.openxmlformats.org/presentationml/2006/ole">
            <mc:AlternateContent xmlns:mc="http://schemas.openxmlformats.org/markup-compatibility/2006">
              <mc:Choice xmlns:v="urn:schemas-microsoft-com:vml" Requires="v">
                <p:oleObj spid="_x0000_s7231" name="Flash Movie" r:id="rId9" imgW="7772400" imgH="1371600" progId="Flash.Movie">
                  <p:embed/>
                </p:oleObj>
              </mc:Choice>
              <mc:Fallback>
                <p:oleObj name="Flash Movie" r:id="rId9" imgW="7772400" imgH="1371600" progId="Flash.Movie">
                  <p:embed/>
                  <p:pic>
                    <p:nvPicPr>
                      <p:cNvPr id="0" name="Object 47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1638" y="4146550"/>
                        <a:ext cx="8551862" cy="1509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6"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4579" name="Rectangle 4"/>
          <p:cNvSpPr>
            <a:spLocks noChangeArrowheads="1"/>
          </p:cNvSpPr>
          <p:nvPr/>
        </p:nvSpPr>
        <p:spPr bwMode="auto">
          <a:xfrm>
            <a:off x="3693160" y="200025"/>
            <a:ext cx="511429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591"/>
                                        </p:tgtEl>
                                        <p:attrNameLst>
                                          <p:attrName>style.visibility</p:attrName>
                                        </p:attrNameLst>
                                      </p:cBhvr>
                                      <p:to>
                                        <p:strVal val="visible"/>
                                      </p:to>
                                    </p:set>
                                    <p:animEffect transition="in" filter="wipe(left)">
                                      <p:cBhvr>
                                        <p:cTn id="7" dur="500"/>
                                        <p:tgtEl>
                                          <p:spTgt spid="2459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587"/>
                                        </p:tgtEl>
                                        <p:attrNameLst>
                                          <p:attrName>style.visibility</p:attrName>
                                        </p:attrNameLst>
                                      </p:cBhvr>
                                      <p:to>
                                        <p:strVal val="visible"/>
                                      </p:to>
                                    </p:set>
                                    <p:animEffect transition="in" filter="wipe(left)">
                                      <p:cBhvr>
                                        <p:cTn id="11" dur="500"/>
                                        <p:tgtEl>
                                          <p:spTgt spid="2458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4588"/>
                                        </p:tgtEl>
                                        <p:attrNameLst>
                                          <p:attrName>style.visibility</p:attrName>
                                        </p:attrNameLst>
                                      </p:cBhvr>
                                      <p:to>
                                        <p:strVal val="visible"/>
                                      </p:to>
                                    </p:set>
                                    <p:animEffect transition="in" filter="wipe(left)">
                                      <p:cBhvr>
                                        <p:cTn id="16" dur="500"/>
                                        <p:tgtEl>
                                          <p:spTgt spid="2458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5049"/>
                                        </p:tgtEl>
                                        <p:attrNameLst>
                                          <p:attrName>style.visibility</p:attrName>
                                        </p:attrNameLst>
                                      </p:cBhvr>
                                      <p:to>
                                        <p:strVal val="visible"/>
                                      </p:to>
                                    </p:set>
                                    <p:animEffect transition="in" filter="wipe(left)">
                                      <p:cBhvr>
                                        <p:cTn id="21" dur="500"/>
                                        <p:tgtEl>
                                          <p:spTgt spid="2504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4589"/>
                                        </p:tgtEl>
                                        <p:attrNameLst>
                                          <p:attrName>style.visibility</p:attrName>
                                        </p:attrNameLst>
                                      </p:cBhvr>
                                      <p:to>
                                        <p:strVal val="visible"/>
                                      </p:to>
                                    </p:set>
                                    <p:animEffect transition="in" filter="wipe(left)">
                                      <p:cBhvr>
                                        <p:cTn id="26" dur="500"/>
                                        <p:tgtEl>
                                          <p:spTgt spid="2458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4590"/>
                                        </p:tgtEl>
                                        <p:attrNameLst>
                                          <p:attrName>style.visibility</p:attrName>
                                        </p:attrNameLst>
                                      </p:cBhvr>
                                      <p:to>
                                        <p:strVal val="visible"/>
                                      </p:to>
                                    </p:set>
                                    <p:animEffect transition="in" filter="wipe(left)">
                                      <p:cBhvr>
                                        <p:cTn id="31" dur="500"/>
                                        <p:tgtEl>
                                          <p:spTgt spid="24590"/>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5052"/>
                                        </p:tgtEl>
                                        <p:attrNameLst>
                                          <p:attrName>style.visibility</p:attrName>
                                        </p:attrNameLst>
                                      </p:cBhvr>
                                      <p:to>
                                        <p:strVal val="visible"/>
                                      </p:to>
                                    </p:set>
                                    <p:animEffect transition="in" filter="wipe(left)">
                                      <p:cBhvr>
                                        <p:cTn id="35" dur="500"/>
                                        <p:tgtEl>
                                          <p:spTgt spid="25052"/>
                                        </p:tgtEl>
                                      </p:cBhvr>
                                    </p:animEffect>
                                  </p:childTnLst>
                                </p:cTn>
                              </p:par>
                            </p:childTnLst>
                          </p:cTn>
                        </p:par>
                        <p:par>
                          <p:cTn id="36" fill="hold">
                            <p:stCondLst>
                              <p:cond delay="1000"/>
                            </p:stCondLst>
                            <p:childTnLst>
                              <p:par>
                                <p:cTn id="37" presetID="12" presetClass="entr" presetSubtype="4" fill="hold" grpId="0" nodeType="afterEffect">
                                  <p:stCondLst>
                                    <p:cond delay="0"/>
                                  </p:stCondLst>
                                  <p:childTnLst>
                                    <p:set>
                                      <p:cBhvr>
                                        <p:cTn id="38" dur="1" fill="hold">
                                          <p:stCondLst>
                                            <p:cond delay="0"/>
                                          </p:stCondLst>
                                        </p:cTn>
                                        <p:tgtEl>
                                          <p:spTgt spid="24581"/>
                                        </p:tgtEl>
                                        <p:attrNameLst>
                                          <p:attrName>style.visibility</p:attrName>
                                        </p:attrNameLst>
                                      </p:cBhvr>
                                      <p:to>
                                        <p:strVal val="visible"/>
                                      </p:to>
                                    </p:set>
                                    <p:animEffect transition="in" filter="slide(fromBottom)">
                                      <p:cBhvr>
                                        <p:cTn id="39" dur="500"/>
                                        <p:tgtEl>
                                          <p:spTgt spid="24581"/>
                                        </p:tgtEl>
                                      </p:cBhvr>
                                    </p:animEffect>
                                  </p:childTnLst>
                                </p:cTn>
                              </p:par>
                            </p:childTnLst>
                          </p:cTn>
                        </p:par>
                        <p:par>
                          <p:cTn id="40" fill="hold">
                            <p:stCondLst>
                              <p:cond delay="1500"/>
                            </p:stCondLst>
                            <p:childTnLst>
                              <p:par>
                                <p:cTn id="41" presetID="12" presetClass="entr" presetSubtype="4" fill="hold" grpId="0" nodeType="afterEffect">
                                  <p:stCondLst>
                                    <p:cond delay="0"/>
                                  </p:stCondLst>
                                  <p:childTnLst>
                                    <p:set>
                                      <p:cBhvr>
                                        <p:cTn id="42" dur="1" fill="hold">
                                          <p:stCondLst>
                                            <p:cond delay="0"/>
                                          </p:stCondLst>
                                        </p:cTn>
                                        <p:tgtEl>
                                          <p:spTgt spid="24582"/>
                                        </p:tgtEl>
                                        <p:attrNameLst>
                                          <p:attrName>style.visibility</p:attrName>
                                        </p:attrNameLst>
                                      </p:cBhvr>
                                      <p:to>
                                        <p:strVal val="visible"/>
                                      </p:to>
                                    </p:set>
                                    <p:animEffect transition="in" filter="slide(fromBottom)">
                                      <p:cBhvr>
                                        <p:cTn id="43" dur="500"/>
                                        <p:tgtEl>
                                          <p:spTgt spid="24582"/>
                                        </p:tgtEl>
                                      </p:cBhvr>
                                    </p:animEffect>
                                  </p:childTnLst>
                                </p:cTn>
                              </p:par>
                            </p:childTnLst>
                          </p:cTn>
                        </p:par>
                        <p:par>
                          <p:cTn id="44" fill="hold">
                            <p:stCondLst>
                              <p:cond delay="2000"/>
                            </p:stCondLst>
                            <p:childTnLst>
                              <p:par>
                                <p:cTn id="45" presetID="12" presetClass="entr" presetSubtype="4" fill="hold" grpId="0" nodeType="afterEffect">
                                  <p:stCondLst>
                                    <p:cond delay="0"/>
                                  </p:stCondLst>
                                  <p:childTnLst>
                                    <p:set>
                                      <p:cBhvr>
                                        <p:cTn id="46" dur="1" fill="hold">
                                          <p:stCondLst>
                                            <p:cond delay="0"/>
                                          </p:stCondLst>
                                        </p:cTn>
                                        <p:tgtEl>
                                          <p:spTgt spid="24583"/>
                                        </p:tgtEl>
                                        <p:attrNameLst>
                                          <p:attrName>style.visibility</p:attrName>
                                        </p:attrNameLst>
                                      </p:cBhvr>
                                      <p:to>
                                        <p:strVal val="visible"/>
                                      </p:to>
                                    </p:set>
                                    <p:animEffect transition="in" filter="slide(fromBottom)">
                                      <p:cBhvr>
                                        <p:cTn id="47" dur="500"/>
                                        <p:tgtEl>
                                          <p:spTgt spid="24583"/>
                                        </p:tgtEl>
                                      </p:cBhvr>
                                    </p:animEffect>
                                  </p:childTnLst>
                                </p:cTn>
                              </p:par>
                            </p:childTnLst>
                          </p:cTn>
                        </p:par>
                        <p:par>
                          <p:cTn id="48" fill="hold">
                            <p:stCondLst>
                              <p:cond delay="2500"/>
                            </p:stCondLst>
                            <p:childTnLst>
                              <p:par>
                                <p:cTn id="49" presetID="12" presetClass="entr" presetSubtype="4" fill="hold" grpId="0" nodeType="afterEffect">
                                  <p:stCondLst>
                                    <p:cond delay="0"/>
                                  </p:stCondLst>
                                  <p:childTnLst>
                                    <p:set>
                                      <p:cBhvr>
                                        <p:cTn id="50" dur="1" fill="hold">
                                          <p:stCondLst>
                                            <p:cond delay="0"/>
                                          </p:stCondLst>
                                        </p:cTn>
                                        <p:tgtEl>
                                          <p:spTgt spid="24584"/>
                                        </p:tgtEl>
                                        <p:attrNameLst>
                                          <p:attrName>style.visibility</p:attrName>
                                        </p:attrNameLst>
                                      </p:cBhvr>
                                      <p:to>
                                        <p:strVal val="visible"/>
                                      </p:to>
                                    </p:set>
                                    <p:animEffect transition="in" filter="slide(fromBottom)">
                                      <p:cBhvr>
                                        <p:cTn id="51" dur="500"/>
                                        <p:tgtEl>
                                          <p:spTgt spid="24584"/>
                                        </p:tgtEl>
                                      </p:cBhvr>
                                    </p:animEffect>
                                  </p:childTnLst>
                                </p:cTn>
                              </p:par>
                            </p:childTnLst>
                          </p:cTn>
                        </p:par>
                        <p:par>
                          <p:cTn id="52" fill="hold">
                            <p:stCondLst>
                              <p:cond delay="3000"/>
                            </p:stCondLst>
                            <p:childTnLst>
                              <p:par>
                                <p:cTn id="53" presetID="1" presetClass="entr" presetSubtype="0" fill="hold" nodeType="afterEffect">
                                  <p:stCondLst>
                                    <p:cond delay="0"/>
                                  </p:stCondLst>
                                  <p:childTnLst>
                                    <p:set>
                                      <p:cBhvr>
                                        <p:cTn id="54" dur="1" fill="hold">
                                          <p:stCondLst>
                                            <p:cond delay="499"/>
                                          </p:stCondLst>
                                        </p:cTn>
                                        <p:tgtEl>
                                          <p:spTgt spid="25047"/>
                                        </p:tgtEl>
                                        <p:attrNameLst>
                                          <p:attrName>style.visibility</p:attrName>
                                        </p:attrNameLst>
                                      </p:cBhvr>
                                      <p:to>
                                        <p:strVal val="visible"/>
                                      </p:to>
                                    </p:set>
                                  </p:childTnLst>
                                </p:cTn>
                              </p:par>
                            </p:childTnLst>
                          </p:cTn>
                        </p:par>
                        <p:par>
                          <p:cTn id="55" fill="hold">
                            <p:stCondLst>
                              <p:cond delay="3500"/>
                            </p:stCondLst>
                            <p:childTnLst>
                              <p:par>
                                <p:cTn id="56" presetID="2" presetClass="entr" presetSubtype="8" fill="hold" nodeType="afterEffect">
                                  <p:stCondLst>
                                    <p:cond delay="0"/>
                                  </p:stCondLst>
                                  <p:childTnLst>
                                    <p:set>
                                      <p:cBhvr>
                                        <p:cTn id="57" dur="1" fill="hold">
                                          <p:stCondLst>
                                            <p:cond delay="0"/>
                                          </p:stCondLst>
                                        </p:cTn>
                                        <p:tgtEl>
                                          <p:spTgt spid="25046"/>
                                        </p:tgtEl>
                                        <p:attrNameLst>
                                          <p:attrName>style.visibility</p:attrName>
                                        </p:attrNameLst>
                                      </p:cBhvr>
                                      <p:to>
                                        <p:strVal val="visible"/>
                                      </p:to>
                                    </p:set>
                                    <p:anim calcmode="lin" valueType="num">
                                      <p:cBhvr additive="base">
                                        <p:cTn id="58" dur="500" fill="hold"/>
                                        <p:tgtEl>
                                          <p:spTgt spid="25046"/>
                                        </p:tgtEl>
                                        <p:attrNameLst>
                                          <p:attrName>ppt_x</p:attrName>
                                        </p:attrNameLst>
                                      </p:cBhvr>
                                      <p:tavLst>
                                        <p:tav tm="0">
                                          <p:val>
                                            <p:strVal val="0-#ppt_w/2"/>
                                          </p:val>
                                        </p:tav>
                                        <p:tav tm="100000">
                                          <p:val>
                                            <p:strVal val="#ppt_x"/>
                                          </p:val>
                                        </p:tav>
                                      </p:tavLst>
                                    </p:anim>
                                    <p:anim calcmode="lin" valueType="num">
                                      <p:cBhvr additive="base">
                                        <p:cTn id="59" dur="500" fill="hold"/>
                                        <p:tgtEl>
                                          <p:spTgt spid="25046"/>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grpId="0" nodeType="clickEffect">
                                  <p:stCondLst>
                                    <p:cond delay="0"/>
                                  </p:stCondLst>
                                  <p:childTnLst>
                                    <p:set>
                                      <p:cBhvr>
                                        <p:cTn id="63" dur="1" fill="hold">
                                          <p:stCondLst>
                                            <p:cond delay="0"/>
                                          </p:stCondLst>
                                        </p:cTn>
                                        <p:tgtEl>
                                          <p:spTgt spid="25051"/>
                                        </p:tgtEl>
                                        <p:attrNameLst>
                                          <p:attrName>style.visibility</p:attrName>
                                        </p:attrNameLst>
                                      </p:cBhvr>
                                      <p:to>
                                        <p:strVal val="visible"/>
                                      </p:to>
                                    </p:set>
                                    <p:anim calcmode="lin" valueType="num">
                                      <p:cBhvr additive="base">
                                        <p:cTn id="64" dur="500" fill="hold"/>
                                        <p:tgtEl>
                                          <p:spTgt spid="25051"/>
                                        </p:tgtEl>
                                        <p:attrNameLst>
                                          <p:attrName>ppt_x</p:attrName>
                                        </p:attrNameLst>
                                      </p:cBhvr>
                                      <p:tavLst>
                                        <p:tav tm="0">
                                          <p:val>
                                            <p:strVal val="0-#ppt_w/2"/>
                                          </p:val>
                                        </p:tav>
                                        <p:tav tm="100000">
                                          <p:val>
                                            <p:strVal val="#ppt_x"/>
                                          </p:val>
                                        </p:tav>
                                      </p:tavLst>
                                    </p:anim>
                                    <p:anim calcmode="lin" valueType="num">
                                      <p:cBhvr additive="base">
                                        <p:cTn id="65" dur="500" fill="hold"/>
                                        <p:tgtEl>
                                          <p:spTgt spid="250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autoUpdateAnimBg="0"/>
      <p:bldP spid="24582" grpId="0" autoUpdateAnimBg="0"/>
      <p:bldP spid="24583" grpId="0" autoUpdateAnimBg="0"/>
      <p:bldP spid="24584" grpId="0" autoUpdateAnimBg="0"/>
      <p:bldP spid="24587" grpId="0" autoUpdateAnimBg="0"/>
      <p:bldP spid="24588" grpId="0" autoUpdateAnimBg="0"/>
      <p:bldP spid="24589" grpId="0" autoUpdateAnimBg="0"/>
      <p:bldP spid="24590" grpId="0" autoUpdateAnimBg="0"/>
      <p:bldP spid="24591" grpId="0" autoUpdateAnimBg="0"/>
      <p:bldP spid="25049" grpId="0" autoUpdateAnimBg="0"/>
      <p:bldP spid="25051"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bwMode="auto">
          <a:xfrm>
            <a:off x="5334000" y="762000"/>
            <a:ext cx="2286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3</a:t>
            </a:r>
            <a:endParaRPr lang="en-US" altLang="zh-CN" sz="800" smtClean="0">
              <a:solidFill>
                <a:schemeClr val="bg1"/>
              </a:solidFill>
            </a:endParaRPr>
          </a:p>
        </p:txBody>
      </p:sp>
      <p:sp>
        <p:nvSpPr>
          <p:cNvPr id="25606" name="Rectangle 6"/>
          <p:cNvSpPr>
            <a:spLocks noChangeArrowheads="1"/>
          </p:cNvSpPr>
          <p:nvPr/>
        </p:nvSpPr>
        <p:spPr bwMode="auto">
          <a:xfrm>
            <a:off x="376555" y="1722755"/>
            <a:ext cx="462407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zh-CN" altLang="en-US" sz="2000" dirty="0">
                <a:solidFill>
                  <a:srgbClr val="0000FF"/>
                </a:solidFill>
                <a:latin typeface="Times New Roman" panose="02020603050405020304" pitchFamily="18" charset="0"/>
              </a:rPr>
              <a:t>（</a:t>
            </a:r>
            <a:r>
              <a:rPr lang="en-US" altLang="zh-CN" sz="2000" dirty="0">
                <a:solidFill>
                  <a:srgbClr val="0000FF"/>
                </a:solidFill>
                <a:latin typeface="Times New Roman" panose="02020603050405020304" pitchFamily="18" charset="0"/>
              </a:rPr>
              <a:t>1</a:t>
            </a:r>
            <a:r>
              <a:rPr lang="zh-CN" altLang="en-US" sz="2000" dirty="0">
                <a:solidFill>
                  <a:srgbClr val="0000FF"/>
                </a:solidFill>
                <a:latin typeface="Times New Roman" panose="02020603050405020304" pitchFamily="18" charset="0"/>
              </a:rPr>
              <a:t>）对于铰制孔用螺栓连接（</a:t>
            </a:r>
            <a:r>
              <a:rPr lang="zh-CN" altLang="en-US" sz="2000" dirty="0" smtClean="0">
                <a:solidFill>
                  <a:srgbClr val="0000FF"/>
                </a:solidFill>
                <a:latin typeface="Times New Roman" panose="02020603050405020304" pitchFamily="18" charset="0"/>
              </a:rPr>
              <a:t>图</a:t>
            </a:r>
            <a:r>
              <a:rPr lang="en-US" altLang="zh-CN" sz="2000" dirty="0" smtClean="0">
                <a:solidFill>
                  <a:srgbClr val="0000FF"/>
                </a:solidFill>
                <a:latin typeface="Times New Roman" panose="02020603050405020304" pitchFamily="18" charset="0"/>
              </a:rPr>
              <a:t>a</a:t>
            </a:r>
            <a:r>
              <a:rPr lang="zh-CN" altLang="en-US" sz="2000" dirty="0" smtClean="0">
                <a:solidFill>
                  <a:srgbClr val="0000FF"/>
                </a:solidFill>
                <a:latin typeface="Times New Roman" panose="02020603050405020304" pitchFamily="18" charset="0"/>
              </a:rPr>
              <a:t>），</a:t>
            </a:r>
            <a:endParaRPr lang="zh-CN" altLang="en-US" sz="2000" dirty="0" smtClean="0">
              <a:solidFill>
                <a:srgbClr val="0000FF"/>
              </a:solidFill>
              <a:latin typeface="Times New Roman" panose="02020603050405020304" pitchFamily="18" charset="0"/>
            </a:endParaRPr>
          </a:p>
          <a:p>
            <a:pPr eaLnBrk="1" hangingPunct="1">
              <a:lnSpc>
                <a:spcPct val="120000"/>
              </a:lnSpc>
              <a:buClr>
                <a:schemeClr val="hlink"/>
              </a:buClr>
              <a:buSzPct val="110000"/>
              <a:buFont typeface="Wingdings" panose="05000000000000000000" pitchFamily="2" charset="2"/>
              <a:buNone/>
            </a:pPr>
            <a:r>
              <a:rPr lang="zh-CN" altLang="en-US" sz="2000" dirty="0">
                <a:solidFill>
                  <a:srgbClr val="0000FF"/>
                </a:solidFill>
                <a:latin typeface="Times New Roman" panose="02020603050405020304" pitchFamily="18" charset="0"/>
              </a:rPr>
              <a:t>每个螺栓所受工作剪力为：</a:t>
            </a:r>
            <a:endParaRPr lang="zh-CN" altLang="en-US" sz="2000" dirty="0">
              <a:solidFill>
                <a:srgbClr val="0000FF"/>
              </a:solidFill>
              <a:latin typeface="Times New Roman" panose="02020603050405020304" pitchFamily="18" charset="0"/>
            </a:endParaRPr>
          </a:p>
        </p:txBody>
      </p:sp>
      <p:sp>
        <p:nvSpPr>
          <p:cNvPr id="25607" name="Rectangle 7"/>
          <p:cNvSpPr>
            <a:spLocks noChangeArrowheads="1"/>
          </p:cNvSpPr>
          <p:nvPr/>
        </p:nvSpPr>
        <p:spPr bwMode="auto">
          <a:xfrm>
            <a:off x="244992" y="4300887"/>
            <a:ext cx="886154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en-US" altLang="zh-CN" sz="2000" dirty="0">
                <a:solidFill>
                  <a:srgbClr val="000099"/>
                </a:solidFill>
                <a:latin typeface="Times New Roman" panose="02020603050405020304" pitchFamily="18" charset="0"/>
              </a:rPr>
              <a:t>    </a:t>
            </a:r>
            <a:r>
              <a:rPr lang="zh-CN" altLang="en-US" sz="2000" dirty="0">
                <a:solidFill>
                  <a:srgbClr val="0000FF"/>
                </a:solidFill>
                <a:latin typeface="Times New Roman" panose="02020603050405020304" pitchFamily="18" charset="0"/>
              </a:rPr>
              <a:t>（</a:t>
            </a:r>
            <a:r>
              <a:rPr lang="en-US" altLang="zh-CN" sz="2000" dirty="0">
                <a:solidFill>
                  <a:srgbClr val="0000FF"/>
                </a:solidFill>
                <a:latin typeface="Times New Roman" panose="02020603050405020304" pitchFamily="18" charset="0"/>
              </a:rPr>
              <a:t>2</a:t>
            </a:r>
            <a:r>
              <a:rPr lang="zh-CN" altLang="en-US" sz="2000" dirty="0">
                <a:solidFill>
                  <a:srgbClr val="0000FF"/>
                </a:solidFill>
                <a:latin typeface="Times New Roman" panose="02020603050405020304" pitchFamily="18" charset="0"/>
              </a:rPr>
              <a:t>）对于普通螺栓连接（</a:t>
            </a:r>
            <a:r>
              <a:rPr lang="zh-CN" altLang="en-US" sz="2000" dirty="0" smtClean="0">
                <a:solidFill>
                  <a:srgbClr val="0000FF"/>
                </a:solidFill>
                <a:latin typeface="Times New Roman" panose="02020603050405020304" pitchFamily="18" charset="0"/>
              </a:rPr>
              <a:t>图</a:t>
            </a:r>
            <a:r>
              <a:rPr lang="en-US" altLang="zh-CN" sz="2000" dirty="0" smtClean="0">
                <a:solidFill>
                  <a:srgbClr val="0000FF"/>
                </a:solidFill>
                <a:latin typeface="Times New Roman" panose="02020603050405020304" pitchFamily="18" charset="0"/>
              </a:rPr>
              <a:t>b</a:t>
            </a:r>
            <a:r>
              <a:rPr lang="zh-CN" altLang="en-US" sz="2000" dirty="0" smtClean="0">
                <a:solidFill>
                  <a:srgbClr val="0000FF"/>
                </a:solidFill>
                <a:latin typeface="Times New Roman" panose="02020603050405020304" pitchFamily="18" charset="0"/>
              </a:rPr>
              <a:t>） </a:t>
            </a:r>
            <a:r>
              <a:rPr lang="zh-CN" altLang="en-US" sz="2000" dirty="0">
                <a:solidFill>
                  <a:srgbClr val="0000FF"/>
                </a:solidFill>
                <a:latin typeface="Times New Roman" panose="02020603050405020304" pitchFamily="18" charset="0"/>
              </a:rPr>
              <a:t>，按预紧后接合面间所产生的最大摩擦</a:t>
            </a:r>
            <a:endParaRPr lang="zh-CN" altLang="en-US" sz="2000" dirty="0">
              <a:solidFill>
                <a:srgbClr val="0000FF"/>
              </a:solidFill>
              <a:latin typeface="Times New Roman" panose="02020603050405020304" pitchFamily="18" charset="0"/>
            </a:endParaRPr>
          </a:p>
          <a:p>
            <a:pPr eaLnBrk="1" hangingPunct="1">
              <a:lnSpc>
                <a:spcPct val="120000"/>
              </a:lnSpc>
              <a:buClr>
                <a:schemeClr val="hlink"/>
              </a:buClr>
              <a:buSzPct val="110000"/>
              <a:buFont typeface="Wingdings" panose="05000000000000000000" pitchFamily="2" charset="2"/>
              <a:buNone/>
            </a:pPr>
            <a:r>
              <a:rPr lang="zh-CN" altLang="en-US" sz="2000" dirty="0">
                <a:solidFill>
                  <a:srgbClr val="0000FF"/>
                </a:solidFill>
                <a:latin typeface="Times New Roman" panose="02020603050405020304" pitchFamily="18" charset="0"/>
              </a:rPr>
              <a:t>力必须大于或等于横向载荷的要求，有：</a:t>
            </a:r>
            <a:endParaRPr lang="zh-CN" altLang="en-US" sz="2000" dirty="0">
              <a:solidFill>
                <a:srgbClr val="0000FF"/>
              </a:solidFill>
              <a:latin typeface="Times New Roman" panose="02020603050405020304" pitchFamily="18" charset="0"/>
            </a:endParaRPr>
          </a:p>
        </p:txBody>
      </p:sp>
      <p:sp>
        <p:nvSpPr>
          <p:cNvPr id="25608" name="Rectangle 8"/>
          <p:cNvSpPr>
            <a:spLocks noChangeArrowheads="1"/>
          </p:cNvSpPr>
          <p:nvPr/>
        </p:nvSpPr>
        <p:spPr bwMode="auto">
          <a:xfrm>
            <a:off x="661586" y="3635242"/>
            <a:ext cx="27543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30000"/>
              </a:lnSpc>
              <a:spcBef>
                <a:spcPct val="20000"/>
              </a:spcBef>
              <a:buClr>
                <a:schemeClr val="hlink"/>
              </a:buClr>
              <a:buSzPct val="110000"/>
              <a:buFont typeface="Wingdings" panose="05000000000000000000" pitchFamily="2" charset="2"/>
              <a:buNone/>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式中：</a:t>
            </a:r>
            <a:r>
              <a:rPr lang="en-US" altLang="zh-CN" sz="2000" dirty="0">
                <a:solidFill>
                  <a:srgbClr val="000099"/>
                </a:solidFill>
                <a:latin typeface="华文中宋" panose="02010600040101010101" pitchFamily="2" charset="-122"/>
              </a:rPr>
              <a:t>z</a:t>
            </a:r>
            <a:r>
              <a:rPr lang="zh-CN" altLang="en-US" sz="2000" dirty="0">
                <a:solidFill>
                  <a:srgbClr val="000099"/>
                </a:solidFill>
                <a:latin typeface="华文中宋" panose="02010600040101010101" pitchFamily="2" charset="-122"/>
              </a:rPr>
              <a:t>为螺栓数目。</a:t>
            </a:r>
            <a:endParaRPr lang="zh-CN" altLang="en-US" sz="2000" dirty="0">
              <a:solidFill>
                <a:srgbClr val="000099"/>
              </a:solidFill>
              <a:latin typeface="华文中宋" panose="02010600040101010101" pitchFamily="2" charset="-122"/>
            </a:endParaRPr>
          </a:p>
        </p:txBody>
      </p:sp>
      <p:sp>
        <p:nvSpPr>
          <p:cNvPr id="25609" name="Rectangle 9"/>
          <p:cNvSpPr>
            <a:spLocks noChangeArrowheads="1"/>
          </p:cNvSpPr>
          <p:nvPr/>
        </p:nvSpPr>
        <p:spPr bwMode="auto">
          <a:xfrm>
            <a:off x="501968" y="1265238"/>
            <a:ext cx="6615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en-US" altLang="zh-CN" sz="2000">
                <a:solidFill>
                  <a:srgbClr val="000099"/>
                </a:solidFill>
                <a:latin typeface="华文中宋" panose="02010600040101010101" pitchFamily="2" charset="-122"/>
              </a:rPr>
              <a:t> </a:t>
            </a:r>
            <a:r>
              <a:rPr lang="zh-CN" altLang="en-US" sz="2000">
                <a:solidFill>
                  <a:srgbClr val="000099"/>
                </a:solidFill>
                <a:latin typeface="华文中宋" panose="02010600040101010101" pitchFamily="2" charset="-122"/>
              </a:rPr>
              <a:t>图示为由四个螺栓组成的受横向载荷的螺栓组连接。</a:t>
            </a:r>
            <a:endParaRPr lang="zh-CN" altLang="en-US" sz="2000">
              <a:solidFill>
                <a:srgbClr val="000099"/>
              </a:solidFill>
              <a:latin typeface="华文中宋" panose="02010600040101010101" pitchFamily="2" charset="-122"/>
            </a:endParaRPr>
          </a:p>
        </p:txBody>
      </p:sp>
      <p:sp>
        <p:nvSpPr>
          <p:cNvPr id="8202" name="Rectangle 10"/>
          <p:cNvSpPr>
            <a:spLocks noChangeArrowheads="1"/>
          </p:cNvSpPr>
          <p:nvPr/>
        </p:nvSpPr>
        <p:spPr bwMode="auto">
          <a:xfrm>
            <a:off x="376238" y="847725"/>
            <a:ext cx="5045075" cy="444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en-US" altLang="zh-CN" dirty="0">
                <a:solidFill>
                  <a:srgbClr val="C00000"/>
                </a:solidFill>
                <a:latin typeface="黑体" panose="02010609060101010101" pitchFamily="49" charset="-122"/>
                <a:ea typeface="黑体" panose="02010609060101010101" pitchFamily="49" charset="-122"/>
              </a:rPr>
              <a:t>1</a:t>
            </a:r>
            <a:r>
              <a:rPr lang="zh-CN" altLang="en-US" dirty="0">
                <a:solidFill>
                  <a:srgbClr val="C00000"/>
                </a:solidFill>
                <a:latin typeface="黑体" panose="02010609060101010101" pitchFamily="49" charset="-122"/>
                <a:ea typeface="黑体" panose="02010609060101010101" pitchFamily="49" charset="-122"/>
              </a:rPr>
              <a:t>．受横向载荷的螺栓组连接</a:t>
            </a:r>
            <a:endParaRPr lang="zh-CN" altLang="en-US" dirty="0">
              <a:solidFill>
                <a:srgbClr val="C00000"/>
              </a:solidFill>
              <a:latin typeface="黑体" panose="02010609060101010101" pitchFamily="49" charset="-122"/>
              <a:ea typeface="黑体" panose="02010609060101010101" pitchFamily="49" charset="-122"/>
            </a:endParaRPr>
          </a:p>
        </p:txBody>
      </p:sp>
      <p:graphicFrame>
        <p:nvGraphicFramePr>
          <p:cNvPr id="25618" name="Object 18"/>
          <p:cNvGraphicFramePr>
            <a:graphicFrameLocks noChangeAspect="1"/>
          </p:cNvGraphicFramePr>
          <p:nvPr/>
        </p:nvGraphicFramePr>
        <p:xfrm>
          <a:off x="1555516" y="2685783"/>
          <a:ext cx="965200" cy="754063"/>
        </p:xfrm>
        <a:graphic>
          <a:graphicData uri="http://schemas.openxmlformats.org/presentationml/2006/ole">
            <mc:AlternateContent xmlns:mc="http://schemas.openxmlformats.org/markup-compatibility/2006">
              <mc:Choice xmlns:v="urn:schemas-microsoft-com:vml" Requires="v">
                <p:oleObj spid="_x0000_s8349" name="Equation" r:id="rId1" imgW="451485" imgH="358775" progId="Equation.3">
                  <p:embed/>
                </p:oleObj>
              </mc:Choice>
              <mc:Fallback>
                <p:oleObj name="Equation" r:id="rId1" imgW="451485" imgH="358775" progId="Equation.3">
                  <p:embed/>
                  <p:pic>
                    <p:nvPicPr>
                      <p:cNvPr id="0" name="Object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516" y="2685783"/>
                        <a:ext cx="965200" cy="754063"/>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grpSp>
        <p:nvGrpSpPr>
          <p:cNvPr id="2" name="Group 25"/>
          <p:cNvGrpSpPr/>
          <p:nvPr/>
        </p:nvGrpSpPr>
        <p:grpSpPr bwMode="auto">
          <a:xfrm>
            <a:off x="1271287" y="5080217"/>
            <a:ext cx="4400551" cy="828675"/>
            <a:chOff x="1259" y="3340"/>
            <a:chExt cx="2772" cy="522"/>
          </a:xfrm>
        </p:grpSpPr>
        <p:graphicFrame>
          <p:nvGraphicFramePr>
            <p:cNvPr id="8195" name="Object 17"/>
            <p:cNvGraphicFramePr>
              <a:graphicFrameLocks noChangeAspect="1"/>
            </p:cNvGraphicFramePr>
            <p:nvPr/>
          </p:nvGraphicFramePr>
          <p:xfrm>
            <a:off x="1259" y="3440"/>
            <a:ext cx="1334" cy="286"/>
          </p:xfrm>
          <a:graphic>
            <a:graphicData uri="http://schemas.openxmlformats.org/presentationml/2006/ole">
              <mc:AlternateContent xmlns:mc="http://schemas.openxmlformats.org/markup-compatibility/2006">
                <mc:Choice xmlns:v="urn:schemas-microsoft-com:vml" Requires="v">
                  <p:oleObj spid="_x0000_s8350" name="Equation" r:id="rId3" imgW="889000" imgH="228600" progId="Equation.3">
                    <p:embed/>
                  </p:oleObj>
                </mc:Choice>
                <mc:Fallback>
                  <p:oleObj name="Equation" r:id="rId3" imgW="889000" imgH="228600" progId="Equation.3">
                    <p:embed/>
                    <p:pic>
                      <p:nvPicPr>
                        <p:cNvPr id="0" name="Object 17"/>
                        <p:cNvPicPr>
                          <a:picLocks noChangeAspect="1" noChangeArrowheads="1"/>
                        </p:cNvPicPr>
                        <p:nvPr/>
                      </p:nvPicPr>
                      <p:blipFill>
                        <a:blip r:embed="rId4"/>
                        <a:srcRect/>
                        <a:stretch>
                          <a:fillRect/>
                        </a:stretch>
                      </p:blipFill>
                      <p:spPr bwMode="auto">
                        <a:xfrm>
                          <a:off x="1259" y="3440"/>
                          <a:ext cx="1334" cy="286"/>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graphicFrame>
          <p:nvGraphicFramePr>
            <p:cNvPr id="8196" name="Object 19"/>
            <p:cNvGraphicFramePr>
              <a:graphicFrameLocks noChangeAspect="1"/>
            </p:cNvGraphicFramePr>
            <p:nvPr/>
          </p:nvGraphicFramePr>
          <p:xfrm>
            <a:off x="3008" y="3340"/>
            <a:ext cx="1023" cy="522"/>
          </p:xfrm>
          <a:graphic>
            <a:graphicData uri="http://schemas.openxmlformats.org/presentationml/2006/ole">
              <mc:AlternateContent xmlns:mc="http://schemas.openxmlformats.org/markup-compatibility/2006">
                <mc:Choice xmlns:v="urn:schemas-microsoft-com:vml" Requires="v">
                  <p:oleObj spid="_x0000_s8351" name="Equation" r:id="rId5" imgW="685800" imgH="419100" progId="Equation.3">
                    <p:embed/>
                  </p:oleObj>
                </mc:Choice>
                <mc:Fallback>
                  <p:oleObj name="Equation" r:id="rId5" imgW="685800" imgH="419100" progId="Equation.3">
                    <p:embed/>
                    <p:pic>
                      <p:nvPicPr>
                        <p:cNvPr id="0" name="Object 19"/>
                        <p:cNvPicPr>
                          <a:picLocks noChangeAspect="1" noChangeArrowheads="1"/>
                        </p:cNvPicPr>
                        <p:nvPr/>
                      </p:nvPicPr>
                      <p:blipFill>
                        <a:blip r:embed="rId6"/>
                        <a:srcRect/>
                        <a:stretch>
                          <a:fillRect/>
                        </a:stretch>
                      </p:blipFill>
                      <p:spPr bwMode="auto">
                        <a:xfrm>
                          <a:off x="3008" y="3340"/>
                          <a:ext cx="1023" cy="522"/>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8213" name="Text Box 20"/>
            <p:cNvSpPr txBox="1">
              <a:spLocks noChangeArrowheads="1"/>
            </p:cNvSpPr>
            <p:nvPr/>
          </p:nvSpPr>
          <p:spPr bwMode="auto">
            <a:xfrm>
              <a:off x="2601" y="3453"/>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t>或</a:t>
              </a:r>
              <a:endParaRPr lang="zh-CN" altLang="en-US" sz="2000"/>
            </a:p>
          </p:txBody>
        </p:sp>
      </p:grpSp>
      <p:sp>
        <p:nvSpPr>
          <p:cNvPr id="25624" name="Text Box 24"/>
          <p:cNvSpPr txBox="1">
            <a:spLocks noChangeArrowheads="1"/>
          </p:cNvSpPr>
          <p:nvPr/>
        </p:nvSpPr>
        <p:spPr bwMode="auto">
          <a:xfrm>
            <a:off x="7194550" y="6211888"/>
            <a:ext cx="3587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25626" name="Text Box 26"/>
          <p:cNvSpPr txBox="1">
            <a:spLocks noChangeArrowheads="1"/>
          </p:cNvSpPr>
          <p:nvPr/>
        </p:nvSpPr>
        <p:spPr bwMode="auto">
          <a:xfrm>
            <a:off x="1110298" y="5838190"/>
            <a:ext cx="513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en-US" altLang="zh-CN" sz="2000" i="1" dirty="0">
                <a:solidFill>
                  <a:srgbClr val="000099"/>
                </a:solidFill>
                <a:latin typeface="Times New Roman" panose="02020603050405020304" pitchFamily="18" charset="0"/>
              </a:rPr>
              <a:t>K</a:t>
            </a:r>
            <a:r>
              <a:rPr lang="en-US" altLang="zh-CN" sz="2000" dirty="0">
                <a:solidFill>
                  <a:srgbClr val="000099"/>
                </a:solidFill>
                <a:latin typeface="Times New Roman" panose="02020603050405020304" pitchFamily="18" charset="0"/>
              </a:rPr>
              <a:t>s</a:t>
            </a:r>
            <a:r>
              <a:rPr lang="zh-CN" altLang="en-US" sz="2000" dirty="0">
                <a:solidFill>
                  <a:srgbClr val="000099"/>
                </a:solidFill>
                <a:latin typeface="Times New Roman" panose="02020603050405020304" pitchFamily="18" charset="0"/>
              </a:rPr>
              <a:t>为防滑系数，设计中可取</a:t>
            </a:r>
            <a:r>
              <a:rPr lang="en-US" altLang="zh-CN" sz="2000" i="1" dirty="0">
                <a:solidFill>
                  <a:srgbClr val="000099"/>
                </a:solidFill>
                <a:latin typeface="Times New Roman" panose="02020603050405020304" pitchFamily="18" charset="0"/>
              </a:rPr>
              <a:t>K</a:t>
            </a:r>
            <a:r>
              <a:rPr lang="en-US" altLang="zh-CN" sz="2000" dirty="0">
                <a:solidFill>
                  <a:srgbClr val="000099"/>
                </a:solidFill>
                <a:latin typeface="Times New Roman" panose="02020603050405020304" pitchFamily="18" charset="0"/>
              </a:rPr>
              <a:t>s =1.1~1.3</a:t>
            </a:r>
            <a:r>
              <a:rPr lang="zh-CN" altLang="en-US" sz="2000" dirty="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ndParaRPr>
          </a:p>
        </p:txBody>
      </p:sp>
      <p:pic>
        <p:nvPicPr>
          <p:cNvPr id="8208" name="Picture 28"/>
          <p:cNvPicPr>
            <a:picLocks noChangeAspect="1" noChangeArrowheads="1"/>
          </p:cNvPicPr>
          <p:nvPr/>
        </p:nvPicPr>
        <p:blipFill>
          <a:blip r:embed="rId7" cstate="print">
            <a:extLst>
              <a:ext uri="{28A0092B-C50C-407E-A947-70E740481C1C}">
                <a14:useLocalDpi xmlns:a14="http://schemas.microsoft.com/office/drawing/2010/main" val="0"/>
              </a:ext>
            </a:extLst>
          </a:blip>
          <a:srcRect b="6380"/>
          <a:stretch>
            <a:fillRect/>
          </a:stretch>
        </p:blipFill>
        <p:spPr bwMode="auto">
          <a:xfrm>
            <a:off x="6396556" y="1576454"/>
            <a:ext cx="24511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9" name="Picture 29"/>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78275" y="2138680"/>
            <a:ext cx="2128520" cy="1551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10" name="矩形 19"/>
          <p:cNvSpPr>
            <a:spLocks noChangeArrowheads="1"/>
          </p:cNvSpPr>
          <p:nvPr/>
        </p:nvSpPr>
        <p:spPr bwMode="auto">
          <a:xfrm>
            <a:off x="6788735" y="3954696"/>
            <a:ext cx="181171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t> </a:t>
            </a:r>
            <a:r>
              <a:rPr lang="en-US" altLang="en-US" sz="1600" dirty="0">
                <a:solidFill>
                  <a:srgbClr val="000099"/>
                </a:solidFill>
                <a:latin typeface="Times New Roman" panose="02020603050405020304" pitchFamily="18" charset="0"/>
              </a:rPr>
              <a:t>b</a:t>
            </a:r>
            <a:r>
              <a:rPr lang="zh-CN" altLang="en-US" sz="1600" dirty="0" smtClean="0">
                <a:solidFill>
                  <a:srgbClr val="000099"/>
                </a:solidFill>
                <a:latin typeface="Times New Roman" panose="02020603050405020304" pitchFamily="18" charset="0"/>
              </a:rPr>
              <a:t>）</a:t>
            </a:r>
            <a:r>
              <a:rPr lang="zh-CN" altLang="en-US" sz="1600" dirty="0" smtClean="0">
                <a:solidFill>
                  <a:srgbClr val="000099"/>
                </a:solidFill>
                <a:latin typeface="Times New Roman" panose="02020603050405020304" pitchFamily="18" charset="0"/>
              </a:rPr>
              <a:t>普通</a:t>
            </a:r>
            <a:r>
              <a:rPr lang="zh-CN" altLang="en-US" sz="1600" dirty="0" smtClean="0">
                <a:solidFill>
                  <a:srgbClr val="000099"/>
                </a:solidFill>
                <a:latin typeface="Times New Roman" panose="02020603050405020304" pitchFamily="18" charset="0"/>
              </a:rPr>
              <a:t>螺栓</a:t>
            </a:r>
            <a:r>
              <a:rPr lang="zh-CN" altLang="en-US" sz="1600" dirty="0">
                <a:solidFill>
                  <a:srgbClr val="000099"/>
                </a:solidFill>
                <a:latin typeface="Times New Roman" panose="02020603050405020304" pitchFamily="18" charset="0"/>
              </a:rPr>
              <a:t>连接</a:t>
            </a:r>
            <a:endParaRPr lang="zh-CN" altLang="en-US" sz="1600" dirty="0">
              <a:solidFill>
                <a:srgbClr val="000099"/>
              </a:solidFill>
              <a:latin typeface="Times New Roman" panose="02020603050405020304" pitchFamily="18" charset="0"/>
            </a:endParaRPr>
          </a:p>
        </p:txBody>
      </p:sp>
      <p:sp>
        <p:nvSpPr>
          <p:cNvPr id="3"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1" name="矩形 19"/>
          <p:cNvSpPr>
            <a:spLocks noChangeArrowheads="1"/>
          </p:cNvSpPr>
          <p:nvPr/>
        </p:nvSpPr>
        <p:spPr bwMode="auto">
          <a:xfrm>
            <a:off x="4104339" y="3911849"/>
            <a:ext cx="21224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600" dirty="0">
                <a:solidFill>
                  <a:srgbClr val="000099"/>
                </a:solidFill>
                <a:latin typeface="Times New Roman" panose="02020603050405020304" pitchFamily="18" charset="0"/>
              </a:rPr>
              <a:t>a</a:t>
            </a:r>
            <a:r>
              <a:rPr lang="zh-CN" altLang="en-US" sz="1600" dirty="0">
                <a:solidFill>
                  <a:srgbClr val="000099"/>
                </a:solidFill>
                <a:latin typeface="Times New Roman" panose="02020603050405020304" pitchFamily="18" charset="0"/>
              </a:rPr>
              <a:t>）铰制孔用螺栓连接</a:t>
            </a:r>
            <a:endParaRPr lang="zh-CN" altLang="en-US" sz="1600" dirty="0">
              <a:solidFill>
                <a:srgbClr val="000099"/>
              </a:solidFill>
              <a:latin typeface="Times New Roman" panose="02020603050405020304" pitchFamily="18" charset="0"/>
            </a:endParaRPr>
          </a:p>
        </p:txBody>
      </p:sp>
      <p:sp>
        <p:nvSpPr>
          <p:cNvPr id="22" name="TextBox 21"/>
          <p:cNvSpPr txBox="1">
            <a:spLocks noChangeArrowheads="1"/>
          </p:cNvSpPr>
          <p:nvPr/>
        </p:nvSpPr>
        <p:spPr bwMode="auto">
          <a:xfrm>
            <a:off x="7945655" y="6221512"/>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9" action="ppaction://hlinksldjump"/>
              </a:rPr>
              <a:t>返回</a:t>
            </a:r>
            <a:endParaRPr lang="zh-CN" altLang="en-US">
              <a:solidFill>
                <a:srgbClr val="000099"/>
              </a:solidFill>
            </a:endParaRPr>
          </a:p>
        </p:txBody>
      </p:sp>
      <p:sp>
        <p:nvSpPr>
          <p:cNvPr id="4" name="矩形 3"/>
          <p:cNvSpPr/>
          <p:nvPr/>
        </p:nvSpPr>
        <p:spPr>
          <a:xfrm>
            <a:off x="6059905" y="4953114"/>
            <a:ext cx="2916455" cy="800219"/>
          </a:xfrm>
          <a:prstGeom prst="rect">
            <a:avLst/>
          </a:prstGeom>
        </p:spPr>
        <p:txBody>
          <a:bodyPr wrap="square">
            <a:spAutoFit/>
          </a:bodyPr>
          <a:lstStyle/>
          <a:p>
            <a:pPr eaLnBrk="1" hangingPunct="1">
              <a:spcAft>
                <a:spcPct val="30000"/>
              </a:spcAft>
            </a:pPr>
            <a:r>
              <a:rPr lang="en-US" altLang="zh-CN" sz="2000" b="1" i="1" dirty="0">
                <a:latin typeface="Times New Roman" panose="02020603050405020304" pitchFamily="18" charset="0"/>
              </a:rPr>
              <a:t>f  </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接合面间摩擦因数；</a:t>
            </a:r>
            <a:endParaRPr lang="zh-CN" altLang="en-US" sz="2000" b="1" dirty="0">
              <a:latin typeface="Times New Roman" panose="02020603050405020304" pitchFamily="18" charset="0"/>
            </a:endParaRPr>
          </a:p>
          <a:p>
            <a:pPr eaLnBrk="1" hangingPunct="1">
              <a:spcAft>
                <a:spcPct val="30000"/>
              </a:spcAft>
            </a:pPr>
            <a:r>
              <a:rPr lang="en-US" altLang="zh-CN" sz="2000" b="1" i="1" dirty="0">
                <a:latin typeface="Times New Roman" panose="02020603050405020304" pitchFamily="18" charset="0"/>
              </a:rPr>
              <a:t>m  </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接合面数；</a:t>
            </a:r>
            <a:endParaRPr lang="zh-CN" altLang="en-US" sz="2000" b="1" dirty="0">
              <a:latin typeface="Times New Roman" panose="02020603050405020304" pitchFamily="18" charset="0"/>
            </a:endParaRPr>
          </a:p>
        </p:txBody>
      </p:sp>
      <p:sp>
        <p:nvSpPr>
          <p:cNvPr id="24579" name="Rectangle 4"/>
          <p:cNvSpPr>
            <a:spLocks noChangeArrowheads="1"/>
          </p:cNvSpPr>
          <p:nvPr/>
        </p:nvSpPr>
        <p:spPr bwMode="auto">
          <a:xfrm>
            <a:off x="3201035" y="228600"/>
            <a:ext cx="511429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5609"/>
                                        </p:tgtEl>
                                        <p:attrNameLst>
                                          <p:attrName>style.visibility</p:attrName>
                                        </p:attrNameLst>
                                      </p:cBhvr>
                                      <p:to>
                                        <p:strVal val="visible"/>
                                      </p:to>
                                    </p:set>
                                    <p:animEffect transition="in" filter="wipe(left)">
                                      <p:cBhvr>
                                        <p:cTn id="11" dur="500"/>
                                        <p:tgtEl>
                                          <p:spTgt spid="2560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209"/>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08"/>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82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5606"/>
                                        </p:tgtEl>
                                        <p:attrNameLst>
                                          <p:attrName>style.visibility</p:attrName>
                                        </p:attrNameLst>
                                      </p:cBhvr>
                                      <p:to>
                                        <p:strVal val="visible"/>
                                      </p:to>
                                    </p:set>
                                    <p:animEffect transition="in" filter="wipe(left)">
                                      <p:cBhvr>
                                        <p:cTn id="30" dur="500"/>
                                        <p:tgtEl>
                                          <p:spTgt spid="2560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5618"/>
                                        </p:tgtEl>
                                        <p:attrNameLst>
                                          <p:attrName>style.visibility</p:attrName>
                                        </p:attrNameLst>
                                      </p:cBhvr>
                                      <p:to>
                                        <p:strVal val="visible"/>
                                      </p:to>
                                    </p:set>
                                    <p:animEffect transition="in" filter="dissolve">
                                      <p:cBhvr>
                                        <p:cTn id="35" dur="500"/>
                                        <p:tgtEl>
                                          <p:spTgt spid="2561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25608"/>
                                        </p:tgtEl>
                                        <p:attrNameLst>
                                          <p:attrName>style.visibility</p:attrName>
                                        </p:attrNameLst>
                                      </p:cBhvr>
                                      <p:to>
                                        <p:strVal val="visible"/>
                                      </p:to>
                                    </p:set>
                                    <p:animEffect transition="in" filter="wipe(left)">
                                      <p:cBhvr>
                                        <p:cTn id="39" dur="500"/>
                                        <p:tgtEl>
                                          <p:spTgt spid="2560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5607"/>
                                        </p:tgtEl>
                                        <p:attrNameLst>
                                          <p:attrName>style.visibility</p:attrName>
                                        </p:attrNameLst>
                                      </p:cBhvr>
                                      <p:to>
                                        <p:strVal val="visible"/>
                                      </p:to>
                                    </p:set>
                                    <p:animEffect transition="in" filter="wipe(left)">
                                      <p:cBhvr>
                                        <p:cTn id="44" dur="500"/>
                                        <p:tgtEl>
                                          <p:spTgt spid="2560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wipe(left)">
                                      <p:cBhvr>
                                        <p:cTn id="49" dur="500"/>
                                        <p:tgtEl>
                                          <p:spTgt spid="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5626"/>
                                        </p:tgtEl>
                                        <p:attrNameLst>
                                          <p:attrName>style.visibility</p:attrName>
                                        </p:attrNameLst>
                                      </p:cBhvr>
                                      <p:to>
                                        <p:strVal val="visible"/>
                                      </p:to>
                                    </p:set>
                                    <p:animEffect transition="in" filter="wipe(left)">
                                      <p:cBhvr>
                                        <p:cTn id="54" dur="500"/>
                                        <p:tgtEl>
                                          <p:spTgt spid="2562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wipe(left)">
                                      <p:cBhvr>
                                        <p:cTn id="59" dur="500"/>
                                        <p:tgtEl>
                                          <p:spTgt spid="4"/>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grpId="0" nodeType="clickEffect">
                                  <p:stCondLst>
                                    <p:cond delay="0"/>
                                  </p:stCondLst>
                                  <p:childTnLst>
                                    <p:set>
                                      <p:cBhvr>
                                        <p:cTn id="63" dur="1" fill="hold">
                                          <p:stCondLst>
                                            <p:cond delay="0"/>
                                          </p:stCondLst>
                                        </p:cTn>
                                        <p:tgtEl>
                                          <p:spTgt spid="25624"/>
                                        </p:tgtEl>
                                        <p:attrNameLst>
                                          <p:attrName>style.visibility</p:attrName>
                                        </p:attrNameLst>
                                      </p:cBhvr>
                                      <p:to>
                                        <p:strVal val="visible"/>
                                      </p:to>
                                    </p:set>
                                    <p:anim calcmode="lin" valueType="num">
                                      <p:cBhvr additive="base">
                                        <p:cTn id="64" dur="500" fill="hold"/>
                                        <p:tgtEl>
                                          <p:spTgt spid="25624"/>
                                        </p:tgtEl>
                                        <p:attrNameLst>
                                          <p:attrName>ppt_x</p:attrName>
                                        </p:attrNameLst>
                                      </p:cBhvr>
                                      <p:tavLst>
                                        <p:tav tm="0">
                                          <p:val>
                                            <p:strVal val="0-#ppt_w/2"/>
                                          </p:val>
                                        </p:tav>
                                        <p:tav tm="100000">
                                          <p:val>
                                            <p:strVal val="#ppt_x"/>
                                          </p:val>
                                        </p:tav>
                                      </p:tavLst>
                                    </p:anim>
                                    <p:anim calcmode="lin" valueType="num">
                                      <p:cBhvr additive="base">
                                        <p:cTn id="65" dur="500" fill="hold"/>
                                        <p:tgtEl>
                                          <p:spTgt spid="25624"/>
                                        </p:tgtEl>
                                        <p:attrNameLst>
                                          <p:attrName>ppt_y</p:attrName>
                                        </p:attrNameLst>
                                      </p:cBhvr>
                                      <p:tavLst>
                                        <p:tav tm="0">
                                          <p:val>
                                            <p:strVal val="#ppt_y"/>
                                          </p:val>
                                        </p:tav>
                                        <p:tav tm="100000">
                                          <p:val>
                                            <p:strVal val="#ppt_y"/>
                                          </p:val>
                                        </p:tav>
                                      </p:tavLst>
                                    </p:anim>
                                  </p:childTnLst>
                                </p:cTn>
                              </p:par>
                            </p:childTnLst>
                          </p:cTn>
                        </p:par>
                        <p:par>
                          <p:cTn id="66" fill="hold">
                            <p:stCondLst>
                              <p:cond delay="500"/>
                            </p:stCondLst>
                            <p:childTnLst>
                              <p:par>
                                <p:cTn id="67" presetID="1" presetClass="entr" presetSubtype="0" fill="hold" grpId="0" nodeType="after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6" grpId="0" autoUpdateAnimBg="0"/>
      <p:bldP spid="25607" grpId="0" autoUpdateAnimBg="0"/>
      <p:bldP spid="25608" grpId="0" autoUpdateAnimBg="0"/>
      <p:bldP spid="25609" grpId="0" autoUpdateAnimBg="0"/>
      <p:bldP spid="8202" grpId="0"/>
      <p:bldP spid="25624" grpId="0" autoUpdateAnimBg="0"/>
      <p:bldP spid="25626" grpId="0" autoUpdateAnimBg="0"/>
      <p:bldP spid="8210" grpId="0"/>
      <p:bldP spid="21" grpId="0"/>
      <p:bldP spid="22"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23" name="Rectangle 2"/>
          <p:cNvSpPr>
            <a:spLocks noGrp="1" noChangeArrowheads="1"/>
          </p:cNvSpPr>
          <p:nvPr>
            <p:ph type="title"/>
          </p:nvPr>
        </p:nvSpPr>
        <p:spPr bwMode="auto">
          <a:xfrm>
            <a:off x="5334000" y="762000"/>
            <a:ext cx="2286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4</a:t>
            </a:r>
            <a:endParaRPr lang="en-US" altLang="zh-CN" sz="800" smtClean="0">
              <a:solidFill>
                <a:schemeClr val="bg1"/>
              </a:solidFill>
            </a:endParaRPr>
          </a:p>
        </p:txBody>
      </p:sp>
      <p:sp>
        <p:nvSpPr>
          <p:cNvPr id="28677" name="Rectangle 5"/>
          <p:cNvSpPr>
            <a:spLocks noChangeArrowheads="1"/>
          </p:cNvSpPr>
          <p:nvPr/>
        </p:nvSpPr>
        <p:spPr bwMode="auto">
          <a:xfrm>
            <a:off x="220579" y="1207169"/>
            <a:ext cx="5303838" cy="90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华文中宋" panose="02010600040101010101" pitchFamily="2" charset="-122"/>
              </a:rPr>
              <a:t>    </a:t>
            </a:r>
            <a:r>
              <a:rPr lang="zh-CN" altLang="en-US" dirty="0">
                <a:solidFill>
                  <a:srgbClr val="000099"/>
                </a:solidFill>
                <a:latin typeface="黑体" panose="02010609060101010101" pitchFamily="49" charset="-122"/>
                <a:ea typeface="黑体" panose="02010609060101010101" pitchFamily="49" charset="-122"/>
              </a:rPr>
              <a:t>采用普通螺栓和铰制孔用螺栓组成的螺栓组受转矩时的受力情况是不同的。</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9225" name="Rectangle 8"/>
          <p:cNvSpPr>
            <a:spLocks noChangeArrowheads="1"/>
          </p:cNvSpPr>
          <p:nvPr/>
        </p:nvSpPr>
        <p:spPr bwMode="auto">
          <a:xfrm>
            <a:off x="373063" y="776187"/>
            <a:ext cx="314701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solidFill>
                  <a:srgbClr val="C00000"/>
                </a:solidFill>
                <a:latin typeface="黑体" panose="02010609060101010101" pitchFamily="49" charset="-122"/>
                <a:ea typeface="黑体" panose="02010609060101010101" pitchFamily="49" charset="-122"/>
              </a:rPr>
              <a:t>2</a:t>
            </a:r>
            <a:r>
              <a:rPr lang="zh-CN" altLang="en-US" dirty="0">
                <a:solidFill>
                  <a:srgbClr val="C00000"/>
                </a:solidFill>
                <a:latin typeface="黑体" panose="02010609060101010101" pitchFamily="49" charset="-122"/>
                <a:ea typeface="黑体" panose="02010609060101010101" pitchFamily="49" charset="-122"/>
              </a:rPr>
              <a:t>．受转矩的螺栓组连接</a:t>
            </a:r>
            <a:endParaRPr lang="zh-CN" altLang="en-US" dirty="0">
              <a:solidFill>
                <a:srgbClr val="C00000"/>
              </a:solidFill>
              <a:latin typeface="黑体" panose="02010609060101010101" pitchFamily="49" charset="-122"/>
              <a:ea typeface="黑体" panose="02010609060101010101" pitchFamily="49" charset="-122"/>
            </a:endParaRPr>
          </a:p>
        </p:txBody>
      </p:sp>
      <p:graphicFrame>
        <p:nvGraphicFramePr>
          <p:cNvPr id="28681" name="Object 9"/>
          <p:cNvGraphicFramePr>
            <a:graphicFrameLocks noGrp="1" noChangeAspect="1"/>
          </p:cNvGraphicFramePr>
          <p:nvPr>
            <p:ph type="body" idx="1"/>
          </p:nvPr>
        </p:nvGraphicFramePr>
        <p:xfrm>
          <a:off x="664693" y="3694665"/>
          <a:ext cx="4291539" cy="511141"/>
        </p:xfrm>
        <a:graphic>
          <a:graphicData uri="http://schemas.openxmlformats.org/presentationml/2006/ole">
            <mc:AlternateContent xmlns:mc="http://schemas.openxmlformats.org/markup-compatibility/2006">
              <mc:Choice xmlns:v="urn:schemas-microsoft-com:vml" Requires="v">
                <p:oleObj spid="_x0000_s9390" name="Equation" r:id="rId1" imgW="1747520" imgH="208280" progId="Equation.3">
                  <p:embed/>
                </p:oleObj>
              </mc:Choice>
              <mc:Fallback>
                <p:oleObj name="Equation" r:id="rId1" imgW="1747520" imgH="208280" progId="Equation.3">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693" y="3694665"/>
                        <a:ext cx="4291539" cy="511141"/>
                      </a:xfrm>
                      <a:prstGeom prst="rect">
                        <a:avLst/>
                      </a:prstGeom>
                      <a:noFill/>
                      <a:ln>
                        <a:noFill/>
                      </a:ln>
                      <a:effectLst/>
                    </p:spPr>
                  </p:pic>
                </p:oleObj>
              </mc:Fallback>
            </mc:AlternateContent>
          </a:graphicData>
        </a:graphic>
      </p:graphicFrame>
      <p:sp>
        <p:nvSpPr>
          <p:cNvPr id="28685" name="Rectangle 13"/>
          <p:cNvSpPr>
            <a:spLocks noChangeArrowheads="1"/>
          </p:cNvSpPr>
          <p:nvPr/>
        </p:nvSpPr>
        <p:spPr bwMode="auto">
          <a:xfrm>
            <a:off x="220345" y="2025650"/>
            <a:ext cx="5207000" cy="1308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dirty="0">
                <a:solidFill>
                  <a:srgbClr val="000099"/>
                </a:solidFill>
                <a:latin typeface="黑体" panose="02010609060101010101" pitchFamily="49" charset="-122"/>
                <a:ea typeface="黑体" panose="02010609060101010101" pitchFamily="49" charset="-122"/>
              </a:rPr>
              <a:t>   </a:t>
            </a:r>
            <a:r>
              <a:rPr lang="zh-CN" altLang="en-US" dirty="0" smtClean="0">
                <a:solidFill>
                  <a:srgbClr val="FF0000"/>
                </a:solidFill>
                <a:latin typeface="黑体" panose="02010609060101010101" pitchFamily="49" charset="-122"/>
                <a:ea typeface="黑体" panose="02010609060101010101" pitchFamily="49" charset="-122"/>
              </a:rPr>
              <a:t>采用</a:t>
            </a:r>
            <a:r>
              <a:rPr lang="zh-CN" altLang="en-US" dirty="0">
                <a:solidFill>
                  <a:srgbClr val="FF0000"/>
                </a:solidFill>
                <a:latin typeface="黑体" panose="02010609060101010101" pitchFamily="49" charset="-122"/>
                <a:ea typeface="黑体" panose="02010609060101010101" pitchFamily="49" charset="-122"/>
              </a:rPr>
              <a:t>普通螺栓：</a:t>
            </a:r>
            <a:r>
              <a:rPr lang="zh-CN" altLang="en-US" dirty="0">
                <a:solidFill>
                  <a:srgbClr val="000099"/>
                </a:solidFill>
                <a:latin typeface="黑体" panose="02010609060101010101" pitchFamily="49" charset="-122"/>
                <a:ea typeface="黑体" panose="02010609060101010101" pitchFamily="49" charset="-122"/>
              </a:rPr>
              <a:t>如</a:t>
            </a:r>
            <a:r>
              <a:rPr lang="zh-CN" altLang="en-US" dirty="0" smtClean="0">
                <a:solidFill>
                  <a:srgbClr val="000099"/>
                </a:solidFill>
                <a:latin typeface="黑体" panose="02010609060101010101" pitchFamily="49" charset="-122"/>
                <a:ea typeface="黑体" panose="02010609060101010101" pitchFamily="49" charset="-122"/>
              </a:rPr>
              <a:t>图</a:t>
            </a:r>
            <a:r>
              <a:rPr lang="en-US" altLang="zh-CN" dirty="0" smtClean="0">
                <a:solidFill>
                  <a:srgbClr val="000099"/>
                </a:solidFill>
                <a:latin typeface="黑体" panose="02010609060101010101" pitchFamily="49" charset="-122"/>
                <a:ea typeface="黑体" panose="02010609060101010101" pitchFamily="49" charset="-122"/>
              </a:rPr>
              <a:t>(a</a:t>
            </a:r>
            <a:r>
              <a:rPr lang="zh-CN" altLang="en-US" dirty="0">
                <a:solidFill>
                  <a:srgbClr val="000099"/>
                </a:solidFill>
                <a:latin typeface="黑体" panose="02010609060101010101" pitchFamily="49" charset="-122"/>
                <a:ea typeface="黑体" panose="02010609060101010101" pitchFamily="49" charset="-122"/>
              </a:rPr>
              <a:t>），是靠连接预紧后在接合面间产生的摩擦力矩来抵抗转矩</a:t>
            </a:r>
            <a:r>
              <a:rPr lang="en-US" altLang="zh-CN" dirty="0">
                <a:solidFill>
                  <a:srgbClr val="000099"/>
                </a:solidFill>
                <a:latin typeface="黑体" panose="02010609060101010101" pitchFamily="49" charset="-122"/>
                <a:ea typeface="黑体" panose="02010609060101010101" pitchFamily="49" charset="-122"/>
              </a:rPr>
              <a:t>T</a:t>
            </a:r>
            <a:r>
              <a:rPr lang="zh-CN" altLang="en-US" dirty="0">
                <a:solidFill>
                  <a:srgbClr val="000099"/>
                </a:solidFill>
                <a:latin typeface="黑体" panose="02010609060101010101" pitchFamily="49" charset="-122"/>
                <a:ea typeface="黑体" panose="02010609060101010101" pitchFamily="49" charset="-122"/>
              </a:rPr>
              <a:t>。</a:t>
            </a:r>
            <a:endParaRPr lang="zh-CN" altLang="en-US" dirty="0">
              <a:solidFill>
                <a:srgbClr val="000099"/>
              </a:solidFill>
              <a:latin typeface="黑体" panose="02010609060101010101" pitchFamily="49" charset="-122"/>
              <a:ea typeface="黑体" panose="02010609060101010101" pitchFamily="49" charset="-122"/>
            </a:endParaRPr>
          </a:p>
        </p:txBody>
      </p:sp>
      <p:graphicFrame>
        <p:nvGraphicFramePr>
          <p:cNvPr id="28692" name="Object 20"/>
          <p:cNvGraphicFramePr>
            <a:graphicFrameLocks noChangeAspect="1"/>
          </p:cNvGraphicFramePr>
          <p:nvPr/>
        </p:nvGraphicFramePr>
        <p:xfrm>
          <a:off x="1547512" y="4563812"/>
          <a:ext cx="1206500" cy="968375"/>
        </p:xfrm>
        <a:graphic>
          <a:graphicData uri="http://schemas.openxmlformats.org/presentationml/2006/ole">
            <mc:AlternateContent xmlns:mc="http://schemas.openxmlformats.org/markup-compatibility/2006">
              <mc:Choice xmlns:v="urn:schemas-microsoft-com:vml" Requires="v">
                <p:oleObj spid="_x0000_s9391" name="Equation" r:id="rId3" imgW="636905" imgH="509270" progId="Equation.3">
                  <p:embed/>
                </p:oleObj>
              </mc:Choice>
              <mc:Fallback>
                <p:oleObj name="Equation" r:id="rId3" imgW="636905" imgH="509270"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512" y="4563812"/>
                        <a:ext cx="1206500" cy="968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9" name="Text Box 23"/>
          <p:cNvSpPr txBox="1">
            <a:spLocks noChangeArrowheads="1"/>
          </p:cNvSpPr>
          <p:nvPr/>
        </p:nvSpPr>
        <p:spPr bwMode="auto">
          <a:xfrm>
            <a:off x="6918325" y="6211888"/>
            <a:ext cx="2714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9231" name="Picture 2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27160" y="1429987"/>
            <a:ext cx="3619219" cy="2349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19" name="矩形 18"/>
              <p:cNvSpPr/>
              <p:nvPr/>
            </p:nvSpPr>
            <p:spPr>
              <a:xfrm>
                <a:off x="4744453" y="4160868"/>
                <a:ext cx="4340993" cy="1508105"/>
              </a:xfrm>
              <a:prstGeom prst="rect">
                <a:avLst/>
              </a:prstGeom>
            </p:spPr>
            <p:txBody>
              <a:bodyPr wrap="square">
                <a:spAutoFit/>
              </a:bodyPr>
              <a:lstStyle/>
              <a:p>
                <a:pPr eaLnBrk="1" hangingPunct="1">
                  <a:spcAft>
                    <a:spcPct val="30000"/>
                  </a:spcAft>
                </a:pPr>
                <a:r>
                  <a:rPr lang="en-US" altLang="zh-CN" sz="2000" i="1" dirty="0" smtClean="0">
                    <a:latin typeface="Times New Roman" panose="02020603050405020304" pitchFamily="18" charset="0"/>
                  </a:rPr>
                  <a:t>f  </a:t>
                </a:r>
                <a:r>
                  <a:rPr lang="en-US" altLang="zh-CN" sz="2000" dirty="0">
                    <a:latin typeface="Times New Roman" panose="02020603050405020304" pitchFamily="18" charset="0"/>
                  </a:rPr>
                  <a:t>—</a:t>
                </a:r>
                <a:r>
                  <a:rPr lang="zh-CN" altLang="en-US" sz="2000" dirty="0">
                    <a:latin typeface="Times New Roman" panose="02020603050405020304" pitchFamily="18" charset="0"/>
                  </a:rPr>
                  <a:t>接合面间摩擦因数；</a:t>
                </a:r>
                <a:endParaRPr lang="zh-CN" altLang="en-US" sz="2000" dirty="0">
                  <a:latin typeface="Times New Roman" panose="02020603050405020304" pitchFamily="18" charset="0"/>
                </a:endParaRPr>
              </a:p>
              <a:p>
                <a:pPr eaLnBrk="1" hangingPunct="1">
                  <a:spcAft>
                    <a:spcPct val="30000"/>
                  </a:spcAft>
                </a:pP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𝑖</m:t>
                        </m:r>
                      </m:sub>
                    </m:sSub>
                  </m:oMath>
                </a14:m>
                <a:r>
                  <a:rPr lang="en-US" altLang="zh-CN" sz="2000" i="1" dirty="0" smtClean="0">
                    <a:latin typeface="Times New Roman" panose="02020603050405020304" pitchFamily="18" charset="0"/>
                  </a:rPr>
                  <a:t>  </a:t>
                </a:r>
                <a:r>
                  <a:rPr lang="en-US" altLang="zh-CN" sz="2000" dirty="0" smtClean="0">
                    <a:latin typeface="Times New Roman" panose="02020603050405020304" pitchFamily="18" charset="0"/>
                  </a:rPr>
                  <a:t>—</a:t>
                </a:r>
                <a:r>
                  <a:rPr lang="zh-CN" altLang="en-US" sz="2000" dirty="0" smtClean="0">
                    <a:latin typeface="Times New Roman" panose="02020603050405020304" pitchFamily="18" charset="0"/>
                  </a:rPr>
                  <a:t>第</a:t>
                </a:r>
                <a14:m>
                  <m:oMath xmlns:m="http://schemas.openxmlformats.org/officeDocument/2006/math">
                    <m:r>
                      <a:rPr lang="en-US" altLang="zh-CN" sz="2000" b="0" i="1" smtClean="0">
                        <a:latin typeface="Cambria Math" panose="02040503050406030204" pitchFamily="18" charset="0"/>
                      </a:rPr>
                      <m:t>𝑖</m:t>
                    </m:r>
                    <m:r>
                      <a:rPr lang="zh-CN" altLang="en-US" sz="2000" b="0" i="1">
                        <a:latin typeface="Cambria Math" panose="02040503050406030204" pitchFamily="18" charset="0"/>
                      </a:rPr>
                      <m:t>个</m:t>
                    </m:r>
                  </m:oMath>
                </a14:m>
                <a:r>
                  <a:rPr lang="zh-CN" altLang="en-US" sz="2000" dirty="0" smtClean="0">
                    <a:latin typeface="Times New Roman" panose="02020603050405020304" pitchFamily="18" charset="0"/>
                  </a:rPr>
                  <a:t>螺栓的轴线到螺栓组对称中心的距离，</a:t>
                </a:r>
                <a:r>
                  <a:rPr lang="en-US" altLang="zh-CN" sz="2000" dirty="0" smtClean="0">
                    <a:latin typeface="Times New Roman" panose="02020603050405020304" pitchFamily="18" charset="0"/>
                  </a:rPr>
                  <a:t>mm</a:t>
                </a:r>
                <a:r>
                  <a:rPr lang="zh-CN" altLang="en-US" sz="2000" dirty="0" smtClean="0">
                    <a:latin typeface="Times New Roman" panose="02020603050405020304" pitchFamily="18" charset="0"/>
                  </a:rPr>
                  <a:t>；</a:t>
                </a:r>
                <a:endParaRPr lang="en-US" altLang="zh-CN" sz="2000" dirty="0" smtClean="0">
                  <a:latin typeface="Times New Roman" panose="02020603050405020304" pitchFamily="18" charset="0"/>
                </a:endParaRPr>
              </a:p>
              <a:p>
                <a:pPr eaLnBrk="1" hangingPunct="1">
                  <a:spcAft>
                    <a:spcPct val="30000"/>
                  </a:spcAft>
                </a:pPr>
                <a14:m>
                  <m:oMath xmlns:m="http://schemas.openxmlformats.org/officeDocument/2006/math">
                    <m:r>
                      <a:rPr lang="en-US" altLang="zh-CN" sz="2000" b="0" i="1" smtClean="0">
                        <a:latin typeface="Cambria Math" panose="02040503050406030204" pitchFamily="18" charset="0"/>
                      </a:rPr>
                      <m:t>𝑧</m:t>
                    </m:r>
                    <m:r>
                      <a:rPr lang="en-US" altLang="zh-CN" sz="2000" i="1">
                        <a:latin typeface="Cambria Math" panose="02040503050406030204" pitchFamily="18" charset="0"/>
                      </a:rPr>
                      <m:t>—</m:t>
                    </m:r>
                    <m:r>
                      <a:rPr lang="zh-CN" altLang="en-US" sz="2000" i="1" smtClean="0">
                        <a:latin typeface="Cambria Math" panose="02040503050406030204" pitchFamily="18" charset="0"/>
                      </a:rPr>
                      <m:t>螺栓</m:t>
                    </m:r>
                  </m:oMath>
                </a14:m>
                <a:r>
                  <a:rPr lang="zh-CN" altLang="en-US" sz="2000" dirty="0" smtClean="0">
                    <a:latin typeface="Times New Roman" panose="02020603050405020304" pitchFamily="18" charset="0"/>
                  </a:rPr>
                  <a:t>数目</a:t>
                </a:r>
                <a:endParaRPr lang="en-US" altLang="zh-CN" sz="2000" dirty="0" smtClean="0">
                  <a:latin typeface="Times New Roman" panose="02020603050405020304" pitchFamily="18" charset="0"/>
                </a:endParaRPr>
              </a:p>
            </p:txBody>
          </p:sp>
        </mc:Choice>
        <mc:Fallback>
          <p:sp>
            <p:nvSpPr>
              <p:cNvPr id="19" name="矩形 18"/>
              <p:cNvSpPr>
                <a:spLocks noRot="1" noChangeAspect="1" noMove="1" noResize="1" noEditPoints="1" noAdjustHandles="1" noChangeArrowheads="1" noChangeShapeType="1" noTextEdit="1"/>
              </p:cNvSpPr>
              <p:nvPr/>
            </p:nvSpPr>
            <p:spPr>
              <a:xfrm>
                <a:off x="4744453" y="4160868"/>
                <a:ext cx="4340993" cy="1508105"/>
              </a:xfrm>
              <a:prstGeom prst="rect">
                <a:avLst/>
              </a:prstGeom>
              <a:blipFill rotWithShape="1">
                <a:blip r:embed="rId6"/>
                <a:stretch>
                  <a:fillRect l="-8" t="-23" r="12" b="22"/>
                </a:stretch>
              </a:blipFill>
            </p:spPr>
            <p:txBody>
              <a:bodyPr/>
              <a:lstStyle/>
              <a:p>
                <a:r>
                  <a:rPr lang="zh-CN" altLang="en-US">
                    <a:noFill/>
                  </a:rPr>
                  <a:t> </a:t>
                </a:r>
              </a:p>
            </p:txBody>
          </p:sp>
        </mc:Fallback>
      </mc:AlternateContent>
      <p:sp>
        <p:nvSpPr>
          <p:cNvPr id="20" name="Text Box 26"/>
          <p:cNvSpPr txBox="1">
            <a:spLocks noChangeArrowheads="1"/>
          </p:cNvSpPr>
          <p:nvPr/>
        </p:nvSpPr>
        <p:spPr bwMode="auto">
          <a:xfrm>
            <a:off x="771876" y="5767070"/>
            <a:ext cx="513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en-US" altLang="zh-CN" sz="2000" i="1" dirty="0">
                <a:solidFill>
                  <a:srgbClr val="000099"/>
                </a:solidFill>
                <a:latin typeface="Times New Roman" panose="02020603050405020304" pitchFamily="18" charset="0"/>
              </a:rPr>
              <a:t>K</a:t>
            </a:r>
            <a:r>
              <a:rPr lang="en-US" altLang="zh-CN" sz="2000" dirty="0">
                <a:solidFill>
                  <a:srgbClr val="000099"/>
                </a:solidFill>
                <a:latin typeface="Times New Roman" panose="02020603050405020304" pitchFamily="18" charset="0"/>
              </a:rPr>
              <a:t>s</a:t>
            </a:r>
            <a:r>
              <a:rPr lang="zh-CN" altLang="en-US" sz="2000" dirty="0">
                <a:solidFill>
                  <a:srgbClr val="000099"/>
                </a:solidFill>
                <a:latin typeface="Times New Roman" panose="02020603050405020304" pitchFamily="18" charset="0"/>
              </a:rPr>
              <a:t>为防滑系数，设计中可取</a:t>
            </a:r>
            <a:r>
              <a:rPr lang="en-US" altLang="zh-CN" sz="2000" i="1" dirty="0">
                <a:solidFill>
                  <a:srgbClr val="000099"/>
                </a:solidFill>
                <a:latin typeface="Times New Roman" panose="02020603050405020304" pitchFamily="18" charset="0"/>
              </a:rPr>
              <a:t>K</a:t>
            </a:r>
            <a:r>
              <a:rPr lang="en-US" altLang="zh-CN" sz="2000" dirty="0">
                <a:solidFill>
                  <a:srgbClr val="000099"/>
                </a:solidFill>
                <a:latin typeface="Times New Roman" panose="02020603050405020304" pitchFamily="18" charset="0"/>
              </a:rPr>
              <a:t>s =1.1~1.3</a:t>
            </a:r>
            <a:r>
              <a:rPr lang="zh-CN" altLang="en-US" sz="2000" dirty="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ndParaRPr>
          </a:p>
        </p:txBody>
      </p:sp>
      <p:sp>
        <p:nvSpPr>
          <p:cNvPr id="24579" name="Rectangle 4"/>
          <p:cNvSpPr>
            <a:spLocks noChangeArrowheads="1"/>
          </p:cNvSpPr>
          <p:nvPr/>
        </p:nvSpPr>
        <p:spPr bwMode="auto">
          <a:xfrm>
            <a:off x="3932555" y="128905"/>
            <a:ext cx="511429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8677"/>
                                        </p:tgtEl>
                                        <p:attrNameLst>
                                          <p:attrName>style.visibility</p:attrName>
                                        </p:attrNameLst>
                                      </p:cBhvr>
                                      <p:to>
                                        <p:strVal val="visible"/>
                                      </p:to>
                                    </p:set>
                                    <p:animEffect transition="in" filter="wipe(left)">
                                      <p:cBhvr>
                                        <p:cTn id="11" dur="500"/>
                                        <p:tgtEl>
                                          <p:spTgt spid="2867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8685"/>
                                        </p:tgtEl>
                                        <p:attrNameLst>
                                          <p:attrName>style.visibility</p:attrName>
                                        </p:attrNameLst>
                                      </p:cBhvr>
                                      <p:to>
                                        <p:strVal val="visible"/>
                                      </p:to>
                                    </p:set>
                                    <p:animEffect transition="in" filter="wipe(left)">
                                      <p:cBhvr>
                                        <p:cTn id="16" dur="500"/>
                                        <p:tgtEl>
                                          <p:spTgt spid="28685"/>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8681"/>
                                        </p:tgtEl>
                                        <p:attrNameLst>
                                          <p:attrName>style.visibility</p:attrName>
                                        </p:attrNameLst>
                                      </p:cBhvr>
                                      <p:to>
                                        <p:strVal val="visible"/>
                                      </p:to>
                                    </p:set>
                                    <p:animEffect transition="in" filter="wipe(left)">
                                      <p:cBhvr>
                                        <p:cTn id="20" dur="500"/>
                                        <p:tgtEl>
                                          <p:spTgt spid="28681"/>
                                        </p:tgtEl>
                                      </p:cBhvr>
                                    </p:animEffect>
                                  </p:childTnLst>
                                </p:cTn>
                              </p:par>
                            </p:childTnLst>
                          </p:cTn>
                        </p:par>
                        <p:par>
                          <p:cTn id="21" fill="hold">
                            <p:stCondLst>
                              <p:cond delay="1000"/>
                            </p:stCondLst>
                            <p:childTnLst>
                              <p:par>
                                <p:cTn id="22" presetID="1" presetClass="entr" presetSubtype="0" fill="hold" nodeType="afterEffect">
                                  <p:stCondLst>
                                    <p:cond delay="0"/>
                                  </p:stCondLst>
                                  <p:childTnLst>
                                    <p:set>
                                      <p:cBhvr>
                                        <p:cTn id="23" dur="1" fill="hold">
                                          <p:stCondLst>
                                            <p:cond delay="0"/>
                                          </p:stCondLst>
                                        </p:cTn>
                                        <p:tgtEl>
                                          <p:spTgt spid="923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28692"/>
                                        </p:tgtEl>
                                        <p:attrNameLst>
                                          <p:attrName>style.visibility</p:attrName>
                                        </p:attrNameLst>
                                      </p:cBhvr>
                                      <p:to>
                                        <p:strVal val="visible"/>
                                      </p:to>
                                    </p:set>
                                    <p:animEffect transition="in" filter="wipe(up)">
                                      <p:cBhvr>
                                        <p:cTn id="28" dur="500"/>
                                        <p:tgtEl>
                                          <p:spTgt spid="2869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left)">
                                      <p:cBhvr>
                                        <p:cTn id="3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autoUpdateAnimBg="0"/>
      <p:bldP spid="9225" grpId="0"/>
      <p:bldP spid="28685" grpId="0" autoUpdateAnimBg="0"/>
      <p:bldP spid="19" grpId="0" bldLvl="0" animBg="1"/>
      <p:bldP spid="20"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10"/>
          <p:cNvGraphicFramePr>
            <a:graphicFrameLocks noChangeAspect="1"/>
          </p:cNvGraphicFramePr>
          <p:nvPr/>
        </p:nvGraphicFramePr>
        <p:xfrm>
          <a:off x="2144877" y="3647679"/>
          <a:ext cx="1618601" cy="1017536"/>
        </p:xfrm>
        <a:graphic>
          <a:graphicData uri="http://schemas.openxmlformats.org/presentationml/2006/ole">
            <mc:AlternateContent xmlns:mc="http://schemas.openxmlformats.org/markup-compatibility/2006">
              <mc:Choice xmlns:v="urn:schemas-microsoft-com:vml" Requires="v">
                <p:oleObj spid="_x0000_s35938" name="公式" r:id="rId1" imgW="624840" imgH="393700" progId="Equation.3">
                  <p:embed/>
                </p:oleObj>
              </mc:Choice>
              <mc:Fallback>
                <p:oleObj name="公式" r:id="rId1" imgW="624840" imgH="393700" progId="Equation.3">
                  <p:embed/>
                  <p:pic>
                    <p:nvPicPr>
                      <p:cNvPr id="0" name="图片 359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4877" y="3647679"/>
                        <a:ext cx="1618601" cy="1017536"/>
                      </a:xfrm>
                      <a:prstGeom prst="rect">
                        <a:avLst/>
                      </a:prstGeom>
                      <a:solidFill>
                        <a:schemeClr val="accent1">
                          <a:lumMod val="40000"/>
                          <a:lumOff val="60000"/>
                        </a:schemeClr>
                      </a:solidFill>
                      <a:ln>
                        <a:noFill/>
                      </a:ln>
                      <a:effectLst/>
                    </p:spPr>
                  </p:pic>
                </p:oleObj>
              </mc:Fallback>
            </mc:AlternateContent>
          </a:graphicData>
        </a:graphic>
      </p:graphicFrame>
      <p:sp>
        <p:nvSpPr>
          <p:cNvPr id="5" name="Rectangle 14"/>
          <p:cNvSpPr>
            <a:spLocks noChangeArrowheads="1"/>
          </p:cNvSpPr>
          <p:nvPr/>
        </p:nvSpPr>
        <p:spPr bwMode="auto">
          <a:xfrm>
            <a:off x="330801" y="474044"/>
            <a:ext cx="5151438" cy="1257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华文中宋" panose="02010600040101010101" pitchFamily="2" charset="-122"/>
              </a:rPr>
              <a:t>       </a:t>
            </a:r>
            <a:r>
              <a:rPr lang="zh-CN" altLang="en-US" dirty="0">
                <a:solidFill>
                  <a:srgbClr val="000099"/>
                </a:solidFill>
                <a:latin typeface="黑体" panose="02010609060101010101" pitchFamily="49" charset="-122"/>
                <a:ea typeface="黑体" panose="02010609060101010101" pitchFamily="49" charset="-122"/>
              </a:rPr>
              <a:t>采用铰制孔用螺栓图</a:t>
            </a:r>
            <a:r>
              <a:rPr lang="en-US" altLang="zh-CN" dirty="0">
                <a:solidFill>
                  <a:srgbClr val="000099"/>
                </a:solidFill>
                <a:latin typeface="黑体" panose="02010609060101010101" pitchFamily="49" charset="-122"/>
                <a:ea typeface="黑体" panose="02010609060101010101" pitchFamily="49" charset="-122"/>
              </a:rPr>
              <a:t>b</a:t>
            </a:r>
            <a:r>
              <a:rPr lang="zh-CN" altLang="en-US" dirty="0">
                <a:solidFill>
                  <a:srgbClr val="000099"/>
                </a:solidFill>
                <a:latin typeface="黑体" panose="02010609060101010101" pitchFamily="49" charset="-122"/>
                <a:ea typeface="黑体" panose="02010609060101010101" pitchFamily="49" charset="-122"/>
              </a:rPr>
              <a:t>），是靠螺栓的剪切和螺栓与孔壁的挤压作用来抵抗转矩</a:t>
            </a:r>
            <a:r>
              <a:rPr lang="en-US" altLang="zh-CN" dirty="0">
                <a:solidFill>
                  <a:srgbClr val="000099"/>
                </a:solidFill>
                <a:latin typeface="黑体" panose="02010609060101010101" pitchFamily="49" charset="-122"/>
                <a:ea typeface="黑体" panose="02010609060101010101" pitchFamily="49" charset="-122"/>
              </a:rPr>
              <a:t>T</a:t>
            </a:r>
            <a:r>
              <a:rPr lang="zh-CN" altLang="en-US" dirty="0">
                <a:solidFill>
                  <a:srgbClr val="000099"/>
                </a:solidFill>
                <a:latin typeface="黑体" panose="02010609060101010101" pitchFamily="49" charset="-122"/>
                <a:ea typeface="黑体" panose="02010609060101010101" pitchFamily="49" charset="-122"/>
              </a:rPr>
              <a:t>。</a:t>
            </a:r>
            <a:endParaRPr lang="zh-CN" altLang="en-US" dirty="0">
              <a:solidFill>
                <a:srgbClr val="000099"/>
              </a:solidFill>
              <a:latin typeface="黑体" panose="02010609060101010101" pitchFamily="49" charset="-122"/>
              <a:ea typeface="黑体" panose="02010609060101010101" pitchFamily="49" charset="-122"/>
            </a:endParaRPr>
          </a:p>
        </p:txBody>
      </p:sp>
      <p:graphicFrame>
        <p:nvGraphicFramePr>
          <p:cNvPr id="6" name="Object 15"/>
          <p:cNvGraphicFramePr>
            <a:graphicFrameLocks noChangeAspect="1"/>
          </p:cNvGraphicFramePr>
          <p:nvPr/>
        </p:nvGraphicFramePr>
        <p:xfrm>
          <a:off x="1016632" y="1994635"/>
          <a:ext cx="1368853" cy="931445"/>
        </p:xfrm>
        <a:graphic>
          <a:graphicData uri="http://schemas.openxmlformats.org/presentationml/2006/ole">
            <mc:AlternateContent xmlns:mc="http://schemas.openxmlformats.org/markup-compatibility/2006">
              <mc:Choice xmlns:v="urn:schemas-microsoft-com:vml" Requires="v">
                <p:oleObj spid="_x0000_s35939" name="Equation" r:id="rId3" imgW="578485" imgH="393700" progId="Equation.3">
                  <p:embed/>
                </p:oleObj>
              </mc:Choice>
              <mc:Fallback>
                <p:oleObj name="Equation" r:id="rId3" imgW="578485" imgH="393700" progId="Equation.3">
                  <p:embed/>
                  <p:pic>
                    <p:nvPicPr>
                      <p:cNvPr id="0" name="图片 359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6632" y="1994635"/>
                        <a:ext cx="1368853" cy="931445"/>
                      </a:xfrm>
                      <a:prstGeom prst="rect">
                        <a:avLst/>
                      </a:prstGeom>
                      <a:noFill/>
                      <a:ln>
                        <a:noFill/>
                      </a:ln>
                      <a:effectLst/>
                    </p:spPr>
                  </p:pic>
                </p:oleObj>
              </mc:Fallback>
            </mc:AlternateContent>
          </a:graphicData>
        </a:graphic>
      </p:graphicFrame>
      <p:graphicFrame>
        <p:nvGraphicFramePr>
          <p:cNvPr id="7" name="Object 16"/>
          <p:cNvGraphicFramePr>
            <a:graphicFrameLocks noChangeAspect="1"/>
          </p:cNvGraphicFramePr>
          <p:nvPr/>
        </p:nvGraphicFramePr>
        <p:xfrm>
          <a:off x="5725309" y="4813622"/>
          <a:ext cx="1571677" cy="1221418"/>
        </p:xfrm>
        <a:graphic>
          <a:graphicData uri="http://schemas.openxmlformats.org/presentationml/2006/ole">
            <mc:AlternateContent xmlns:mc="http://schemas.openxmlformats.org/markup-compatibility/2006">
              <mc:Choice xmlns:v="urn:schemas-microsoft-com:vml" Requires="v">
                <p:oleObj spid="_x0000_s35940" name="Equation" r:id="rId5" imgW="728980" imgH="567055" progId="Equation.3">
                  <p:embed/>
                </p:oleObj>
              </mc:Choice>
              <mc:Fallback>
                <p:oleObj name="Equation" r:id="rId5" imgW="728980" imgH="567055" progId="Equation.3">
                  <p:embed/>
                  <p:pic>
                    <p:nvPicPr>
                      <p:cNvPr id="0" name="图片 359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5309" y="4813622"/>
                        <a:ext cx="1571677" cy="1221418"/>
                      </a:xfrm>
                      <a:prstGeom prst="rect">
                        <a:avLst/>
                      </a:prstGeom>
                      <a:solidFill>
                        <a:srgbClr val="FFFF00"/>
                      </a:solidFill>
                      <a:ln>
                        <a:noFill/>
                      </a:ln>
                      <a:effectLst/>
                    </p:spPr>
                  </p:pic>
                </p:oleObj>
              </mc:Fallback>
            </mc:AlternateContent>
          </a:graphicData>
        </a:graphic>
      </p:graphicFrame>
      <p:pic>
        <p:nvPicPr>
          <p:cNvPr id="8" name="Picture 2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96125" y="454042"/>
            <a:ext cx="343217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7"/>
          <p:cNvSpPr txBox="1">
            <a:spLocks noChangeArrowheads="1"/>
          </p:cNvSpPr>
          <p:nvPr/>
        </p:nvSpPr>
        <p:spPr bwMode="auto">
          <a:xfrm>
            <a:off x="7772400" y="6211888"/>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8" action="ppaction://hlinksldjump"/>
              </a:rPr>
              <a:t>返回</a:t>
            </a:r>
            <a:endParaRPr lang="zh-CN" altLang="en-US">
              <a:solidFill>
                <a:srgbClr val="000099"/>
              </a:solidFill>
            </a:endParaRPr>
          </a:p>
        </p:txBody>
      </p:sp>
      <p:graphicFrame>
        <p:nvGraphicFramePr>
          <p:cNvPr id="10" name="Object 15"/>
          <p:cNvGraphicFramePr>
            <a:graphicFrameLocks noChangeAspect="1"/>
          </p:cNvGraphicFramePr>
          <p:nvPr/>
        </p:nvGraphicFramePr>
        <p:xfrm>
          <a:off x="3202521" y="2020804"/>
          <a:ext cx="1789061" cy="847524"/>
        </p:xfrm>
        <a:graphic>
          <a:graphicData uri="http://schemas.openxmlformats.org/presentationml/2006/ole">
            <mc:AlternateContent xmlns:mc="http://schemas.openxmlformats.org/markup-compatibility/2006">
              <mc:Choice xmlns:v="urn:schemas-microsoft-com:vml" Requires="v">
                <p:oleObj spid="_x0000_s35941" name="公式" r:id="rId9" imgW="22555200" imgH="10668000" progId="Equation.3">
                  <p:embed/>
                </p:oleObj>
              </mc:Choice>
              <mc:Fallback>
                <p:oleObj name="公式" r:id="rId9" imgW="22555200" imgH="10668000" progId="Equation.3">
                  <p:embed/>
                  <p:pic>
                    <p:nvPicPr>
                      <p:cNvPr id="0" name="图片 35940"/>
                      <p:cNvPicPr>
                        <a:picLocks noChangeAspect="1" noChangeArrowheads="1"/>
                      </p:cNvPicPr>
                      <p:nvPr/>
                    </p:nvPicPr>
                    <p:blipFill>
                      <a:blip r:embed="rId10"/>
                      <a:srcRect/>
                      <a:stretch>
                        <a:fillRect/>
                      </a:stretch>
                    </p:blipFill>
                    <p:spPr bwMode="auto">
                      <a:xfrm>
                        <a:off x="3202521" y="2020804"/>
                        <a:ext cx="1789061" cy="847524"/>
                      </a:xfrm>
                      <a:prstGeom prst="rect">
                        <a:avLst/>
                      </a:prstGeom>
                      <a:solidFill>
                        <a:srgbClr val="92D050"/>
                      </a:solidFill>
                      <a:ln>
                        <a:noFill/>
                      </a:ln>
                      <a:effectLst/>
                    </p:spPr>
                  </p:pic>
                </p:oleObj>
              </mc:Fallback>
            </mc:AlternateContent>
          </a:graphicData>
        </a:graphic>
      </p:graphicFrame>
      <p:sp>
        <p:nvSpPr>
          <p:cNvPr id="11" name="文本框 10"/>
          <p:cNvSpPr txBox="1"/>
          <p:nvPr/>
        </p:nvSpPr>
        <p:spPr>
          <a:xfrm>
            <a:off x="596766" y="2993457"/>
            <a:ext cx="5601903" cy="430887"/>
          </a:xfrm>
          <a:prstGeom prst="rect">
            <a:avLst/>
          </a:prstGeom>
          <a:noFill/>
        </p:spPr>
        <p:txBody>
          <a:bodyPr wrap="square" rtlCol="0">
            <a:spAutoFit/>
          </a:bodyPr>
          <a:lstStyle/>
          <a:p>
            <a:r>
              <a:rPr lang="zh-CN" altLang="en-US" dirty="0" smtClean="0"/>
              <a:t>根据作用在底板上的力矩</a:t>
            </a:r>
            <a:r>
              <a:rPr lang="zh-CN" altLang="en-US" dirty="0"/>
              <a:t>平衡的</a:t>
            </a:r>
            <a:r>
              <a:rPr lang="zh-CN" altLang="en-US" dirty="0" smtClean="0"/>
              <a:t>条件得：</a:t>
            </a:r>
            <a:endParaRPr lang="zh-CN" altLang="en-US" dirty="0"/>
          </a:p>
        </p:txBody>
      </p:sp>
      <p:sp>
        <p:nvSpPr>
          <p:cNvPr id="12" name="文本框 11"/>
          <p:cNvSpPr txBox="1"/>
          <p:nvPr/>
        </p:nvSpPr>
        <p:spPr>
          <a:xfrm>
            <a:off x="606392" y="4985886"/>
            <a:ext cx="5601903" cy="430887"/>
          </a:xfrm>
          <a:prstGeom prst="rect">
            <a:avLst/>
          </a:prstGeom>
          <a:noFill/>
        </p:spPr>
        <p:txBody>
          <a:bodyPr wrap="square" rtlCol="0">
            <a:spAutoFit/>
          </a:bodyPr>
          <a:lstStyle/>
          <a:p>
            <a:r>
              <a:rPr lang="zh-CN" altLang="en-US" dirty="0" smtClean="0"/>
              <a:t>可求得受力最大的螺栓的工作剪力为：</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9"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bwMode="auto">
          <a:xfrm>
            <a:off x="5334000" y="762000"/>
            <a:ext cx="2286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5</a:t>
            </a:r>
            <a:endParaRPr lang="en-US" altLang="zh-CN" sz="800" smtClean="0">
              <a:solidFill>
                <a:schemeClr val="bg1"/>
              </a:solidFill>
            </a:endParaRPr>
          </a:p>
        </p:txBody>
      </p:sp>
      <p:sp>
        <p:nvSpPr>
          <p:cNvPr id="10245" name="Rectangle 5"/>
          <p:cNvSpPr>
            <a:spLocks noChangeArrowheads="1"/>
          </p:cNvSpPr>
          <p:nvPr/>
        </p:nvSpPr>
        <p:spPr bwMode="auto">
          <a:xfrm>
            <a:off x="366713" y="926616"/>
            <a:ext cx="48387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solidFill>
                  <a:srgbClr val="C00000"/>
                </a:solidFill>
                <a:latin typeface="黑体" panose="02010609060101010101" pitchFamily="49" charset="-122"/>
                <a:ea typeface="黑体" panose="02010609060101010101" pitchFamily="49" charset="-122"/>
              </a:rPr>
              <a:t>3</a:t>
            </a:r>
            <a:r>
              <a:rPr lang="zh-CN" altLang="en-US" dirty="0">
                <a:solidFill>
                  <a:srgbClr val="C00000"/>
                </a:solidFill>
                <a:latin typeface="黑体" panose="02010609060101010101" pitchFamily="49" charset="-122"/>
                <a:ea typeface="黑体" panose="02010609060101010101" pitchFamily="49" charset="-122"/>
              </a:rPr>
              <a:t>．受轴向载荷的螺栓组连接</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29705" name="Rectangle 9"/>
          <p:cNvSpPr>
            <a:spLocks noChangeArrowheads="1"/>
          </p:cNvSpPr>
          <p:nvPr/>
        </p:nvSpPr>
        <p:spPr bwMode="auto">
          <a:xfrm>
            <a:off x="367030" y="3570923"/>
            <a:ext cx="84486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a:solidFill>
                  <a:srgbClr val="000099"/>
                </a:solidFill>
                <a:latin typeface="华文中宋" panose="02010600040101010101" pitchFamily="2" charset="-122"/>
              </a:rPr>
              <a:t>      </a:t>
            </a:r>
            <a:r>
              <a:rPr lang="zh-CN" altLang="en-US" sz="2000">
                <a:solidFill>
                  <a:srgbClr val="000099"/>
                </a:solidFill>
                <a:latin typeface="华文中宋" panose="02010600040101010101" pitchFamily="2" charset="-122"/>
              </a:rPr>
              <a:t>若作用在螺栓组上轴向总载荷</a:t>
            </a:r>
            <a:r>
              <a:rPr lang="en-US" altLang="zh-CN" sz="2000" i="1">
                <a:solidFill>
                  <a:srgbClr val="000099"/>
                </a:solidFill>
                <a:latin typeface="华文中宋" panose="02010600040101010101" pitchFamily="2" charset="-122"/>
              </a:rPr>
              <a:t>F</a:t>
            </a:r>
            <a:r>
              <a:rPr lang="en-US" altLang="zh-CN" sz="2000" baseline="-25000">
                <a:solidFill>
                  <a:srgbClr val="000099"/>
                </a:solidFill>
                <a:latin typeface="华文中宋" panose="02010600040101010101" pitchFamily="2" charset="-122"/>
              </a:rPr>
              <a:t>Σ</a:t>
            </a:r>
            <a:r>
              <a:rPr lang="zh-CN" altLang="en-US" sz="2000">
                <a:solidFill>
                  <a:srgbClr val="000099"/>
                </a:solidFill>
                <a:latin typeface="华文中宋" panose="02010600040101010101" pitchFamily="2" charset="-122"/>
              </a:rPr>
              <a:t>作用线与螺栓轴线平行，并通过螺栓组的对称中心，则各个螺栓受载相同，每个螺栓所受轴向工作载荷为：</a:t>
            </a:r>
            <a:endParaRPr lang="zh-CN" altLang="en-US" sz="2000">
              <a:solidFill>
                <a:srgbClr val="000099"/>
              </a:solidFill>
              <a:latin typeface="华文中宋" panose="02010600040101010101" pitchFamily="2" charset="-122"/>
            </a:endParaRPr>
          </a:p>
        </p:txBody>
      </p:sp>
      <p:sp>
        <p:nvSpPr>
          <p:cNvPr id="29708" name="Rectangle 12"/>
          <p:cNvSpPr>
            <a:spLocks noChangeArrowheads="1"/>
          </p:cNvSpPr>
          <p:nvPr/>
        </p:nvSpPr>
        <p:spPr bwMode="auto">
          <a:xfrm>
            <a:off x="345758" y="5090160"/>
            <a:ext cx="84518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a:t>       </a:t>
            </a:r>
            <a:r>
              <a:rPr lang="zh-CN" altLang="en-US" sz="2000">
                <a:solidFill>
                  <a:srgbClr val="000099"/>
                </a:solidFill>
              </a:rPr>
              <a:t>通常，各个螺栓还承受预紧力</a:t>
            </a:r>
            <a:r>
              <a:rPr lang="en-US" altLang="zh-CN" sz="2000" i="1">
                <a:solidFill>
                  <a:srgbClr val="000099"/>
                </a:solidFill>
                <a:latin typeface="Times New Roman" panose="02020603050405020304" pitchFamily="18" charset="0"/>
              </a:rPr>
              <a:t>F</a:t>
            </a:r>
            <a:r>
              <a:rPr lang="en-US" altLang="zh-CN" sz="2000" baseline="-25000">
                <a:solidFill>
                  <a:srgbClr val="000099"/>
                </a:solidFill>
                <a:latin typeface="Times New Roman" panose="02020603050405020304" pitchFamily="18" charset="0"/>
              </a:rPr>
              <a:t>0</a:t>
            </a:r>
            <a:r>
              <a:rPr lang="zh-CN" altLang="en-US" sz="2000">
                <a:solidFill>
                  <a:srgbClr val="000099"/>
                </a:solidFill>
              </a:rPr>
              <a:t>的作用，当连接要有保证的</a:t>
            </a:r>
            <a:r>
              <a:rPr lang="zh-CN" altLang="en-US" sz="2000">
                <a:solidFill>
                  <a:srgbClr val="FF0000"/>
                </a:solidFill>
              </a:rPr>
              <a:t>残余预紧</a:t>
            </a:r>
            <a:endParaRPr lang="zh-CN" altLang="en-US" sz="2000">
              <a:solidFill>
                <a:srgbClr val="FF0000"/>
              </a:solidFill>
            </a:endParaRPr>
          </a:p>
          <a:p>
            <a:pPr eaLnBrk="1" hangingPunct="1">
              <a:lnSpc>
                <a:spcPct val="120000"/>
              </a:lnSpc>
            </a:pPr>
            <a:r>
              <a:rPr lang="zh-CN" altLang="en-US" sz="2000">
                <a:solidFill>
                  <a:srgbClr val="FF0000"/>
                </a:solidFill>
              </a:rPr>
              <a:t>力为</a:t>
            </a:r>
            <a:r>
              <a:rPr lang="en-US" altLang="zh-CN" sz="2000" i="1">
                <a:solidFill>
                  <a:srgbClr val="FF0000"/>
                </a:solidFill>
                <a:latin typeface="Times New Roman" panose="02020603050405020304" pitchFamily="18" charset="0"/>
              </a:rPr>
              <a:t>F</a:t>
            </a:r>
            <a:r>
              <a:rPr lang="en-US" altLang="zh-CN" sz="2000" baseline="-25000">
                <a:solidFill>
                  <a:srgbClr val="FF0000"/>
                </a:solidFill>
                <a:latin typeface="Times New Roman" panose="02020603050405020304" pitchFamily="18" charset="0"/>
              </a:rPr>
              <a:t>1</a:t>
            </a:r>
            <a:r>
              <a:rPr lang="zh-CN" altLang="en-US" sz="2000">
                <a:solidFill>
                  <a:srgbClr val="000099"/>
                </a:solidFill>
              </a:rPr>
              <a:t>时，每个螺栓所承受的总载荷</a:t>
            </a:r>
            <a:r>
              <a:rPr lang="en-US" altLang="zh-CN" sz="2000" i="1">
                <a:solidFill>
                  <a:srgbClr val="000099"/>
                </a:solidFill>
                <a:latin typeface="Times New Roman" panose="02020603050405020304" pitchFamily="18" charset="0"/>
              </a:rPr>
              <a:t>F</a:t>
            </a:r>
            <a:r>
              <a:rPr lang="en-US" altLang="zh-CN" sz="2000" baseline="-25000">
                <a:solidFill>
                  <a:srgbClr val="000099"/>
                </a:solidFill>
                <a:latin typeface="Times New Roman" panose="02020603050405020304" pitchFamily="18" charset="0"/>
              </a:rPr>
              <a:t>2</a:t>
            </a:r>
            <a:r>
              <a:rPr lang="zh-CN" altLang="en-US" sz="2000">
                <a:solidFill>
                  <a:srgbClr val="000099"/>
                </a:solidFill>
              </a:rPr>
              <a:t>为。</a:t>
            </a:r>
            <a:endParaRPr lang="zh-CN" altLang="en-US" sz="2000">
              <a:solidFill>
                <a:srgbClr val="000099"/>
              </a:solidFill>
            </a:endParaRPr>
          </a:p>
        </p:txBody>
      </p:sp>
      <p:graphicFrame>
        <p:nvGraphicFramePr>
          <p:cNvPr id="29712" name="Object 16"/>
          <p:cNvGraphicFramePr>
            <a:graphicFrameLocks noChangeAspect="1"/>
          </p:cNvGraphicFramePr>
          <p:nvPr/>
        </p:nvGraphicFramePr>
        <p:xfrm>
          <a:off x="3736975" y="4352925"/>
          <a:ext cx="1019175" cy="722313"/>
        </p:xfrm>
        <a:graphic>
          <a:graphicData uri="http://schemas.openxmlformats.org/presentationml/2006/ole">
            <mc:AlternateContent xmlns:mc="http://schemas.openxmlformats.org/markup-compatibility/2006">
              <mc:Choice xmlns:v="urn:schemas-microsoft-com:vml" Requires="v">
                <p:oleObj spid="_x0000_s10297" name="Equation" r:id="rId1" imgW="451485" imgH="358775" progId="Equation.3">
                  <p:embed/>
                </p:oleObj>
              </mc:Choice>
              <mc:Fallback>
                <p:oleObj name="Equation" r:id="rId1" imgW="451485" imgH="358775" progId="Equation.3">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6975" y="4352925"/>
                        <a:ext cx="1019175" cy="722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4" name="Text Box 18"/>
          <p:cNvSpPr txBox="1">
            <a:spLocks noChangeArrowheads="1"/>
          </p:cNvSpPr>
          <p:nvPr/>
        </p:nvSpPr>
        <p:spPr bwMode="auto">
          <a:xfrm>
            <a:off x="3299527" y="5992596"/>
            <a:ext cx="310991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i="1">
                <a:solidFill>
                  <a:srgbClr val="000099"/>
                </a:solidFill>
                <a:latin typeface="Times New Roman" panose="02020603050405020304" pitchFamily="18" charset="0"/>
              </a:rPr>
              <a:t>F</a:t>
            </a:r>
            <a:r>
              <a:rPr lang="en-US" altLang="zh-CN" sz="2000" baseline="-25000">
                <a:solidFill>
                  <a:srgbClr val="000099"/>
                </a:solidFill>
                <a:latin typeface="Times New Roman" panose="02020603050405020304" pitchFamily="18" charset="0"/>
              </a:rPr>
              <a:t>2</a:t>
            </a:r>
            <a:r>
              <a:rPr lang="en-US" altLang="zh-CN">
                <a:latin typeface="Times New Roman" panose="02020603050405020304" pitchFamily="18" charset="0"/>
              </a:rPr>
              <a:t> = </a:t>
            </a:r>
            <a:r>
              <a:rPr lang="en-US" altLang="zh-CN" sz="2000" i="1">
                <a:solidFill>
                  <a:srgbClr val="000099"/>
                </a:solidFill>
                <a:latin typeface="Times New Roman" panose="02020603050405020304" pitchFamily="18" charset="0"/>
              </a:rPr>
              <a:t>F</a:t>
            </a:r>
            <a:r>
              <a:rPr lang="en-US" altLang="zh-CN" sz="2000" baseline="-25000">
                <a:solidFill>
                  <a:srgbClr val="000099"/>
                </a:solidFill>
                <a:latin typeface="Times New Roman" panose="02020603050405020304" pitchFamily="18" charset="0"/>
              </a:rPr>
              <a:t>1</a:t>
            </a:r>
            <a:r>
              <a:rPr lang="en-US" altLang="zh-CN">
                <a:latin typeface="Times New Roman" panose="02020603050405020304" pitchFamily="18" charset="0"/>
              </a:rPr>
              <a:t> + </a:t>
            </a:r>
            <a:r>
              <a:rPr lang="en-US" altLang="zh-CN" sz="2000" i="1">
                <a:solidFill>
                  <a:srgbClr val="000099"/>
                </a:solidFill>
                <a:latin typeface="Times New Roman" panose="02020603050405020304" pitchFamily="18" charset="0"/>
              </a:rPr>
              <a:t>F</a:t>
            </a:r>
            <a:endParaRPr lang="en-US" altLang="zh-CN" sz="2000" baseline="-25000">
              <a:solidFill>
                <a:srgbClr val="000099"/>
              </a:solidFill>
              <a:latin typeface="Times New Roman" panose="02020603050405020304" pitchFamily="18" charset="0"/>
            </a:endParaRPr>
          </a:p>
        </p:txBody>
      </p:sp>
      <p:sp>
        <p:nvSpPr>
          <p:cNvPr id="10249" name="Text Box 19"/>
          <p:cNvSpPr txBox="1">
            <a:spLocks noChangeArrowheads="1"/>
          </p:cNvSpPr>
          <p:nvPr/>
        </p:nvSpPr>
        <p:spPr bwMode="auto">
          <a:xfrm>
            <a:off x="6932613" y="6124575"/>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10250" name="Picture 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7710" y="689327"/>
            <a:ext cx="3390900" cy="273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1"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3" name="TextBox 12"/>
          <p:cNvSpPr txBox="1">
            <a:spLocks noChangeArrowheads="1"/>
          </p:cNvSpPr>
          <p:nvPr/>
        </p:nvSpPr>
        <p:spPr bwMode="auto">
          <a:xfrm>
            <a:off x="7772400" y="6211888"/>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4" action="ppaction://hlinksldjump"/>
              </a:rPr>
              <a:t>返回</a:t>
            </a:r>
            <a:endParaRPr lang="zh-CN" altLang="en-US">
              <a:solidFill>
                <a:srgbClr val="000099"/>
              </a:solidFill>
            </a:endParaRPr>
          </a:p>
        </p:txBody>
      </p:sp>
      <p:sp>
        <p:nvSpPr>
          <p:cNvPr id="24579" name="Rectangle 4"/>
          <p:cNvSpPr>
            <a:spLocks noChangeArrowheads="1"/>
          </p:cNvSpPr>
          <p:nvPr/>
        </p:nvSpPr>
        <p:spPr bwMode="auto">
          <a:xfrm>
            <a:off x="3784600" y="128905"/>
            <a:ext cx="511429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05"/>
                                        </p:tgtEl>
                                        <p:attrNameLst>
                                          <p:attrName>style.visibility</p:attrName>
                                        </p:attrNameLst>
                                      </p:cBhvr>
                                      <p:to>
                                        <p:strVal val="visible"/>
                                      </p:to>
                                    </p:set>
                                    <p:animEffect transition="in" filter="wipe(left)">
                                      <p:cBhvr>
                                        <p:cTn id="7" dur="500"/>
                                        <p:tgtEl>
                                          <p:spTgt spid="29705"/>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29712"/>
                                        </p:tgtEl>
                                        <p:attrNameLst>
                                          <p:attrName>style.visibility</p:attrName>
                                        </p:attrNameLst>
                                      </p:cBhvr>
                                      <p:to>
                                        <p:strVal val="visible"/>
                                      </p:to>
                                    </p:set>
                                    <p:animEffect transition="in" filter="slide(fromBottom)">
                                      <p:cBhvr>
                                        <p:cTn id="11" dur="500"/>
                                        <p:tgtEl>
                                          <p:spTgt spid="297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708"/>
                                        </p:tgtEl>
                                        <p:attrNameLst>
                                          <p:attrName>style.visibility</p:attrName>
                                        </p:attrNameLst>
                                      </p:cBhvr>
                                      <p:to>
                                        <p:strVal val="visible"/>
                                      </p:to>
                                    </p:set>
                                    <p:animEffect transition="in" filter="wipe(left)">
                                      <p:cBhvr>
                                        <p:cTn id="16" dur="500"/>
                                        <p:tgtEl>
                                          <p:spTgt spid="29708"/>
                                        </p:tgtEl>
                                      </p:cBhvr>
                                    </p:animEffect>
                                  </p:childTnLst>
                                </p:cTn>
                              </p:par>
                            </p:childTnLst>
                          </p:cTn>
                        </p:par>
                        <p:par>
                          <p:cTn id="17" fill="hold">
                            <p:stCondLst>
                              <p:cond delay="500"/>
                            </p:stCondLst>
                            <p:childTnLst>
                              <p:par>
                                <p:cTn id="18" presetID="12" presetClass="entr" presetSubtype="4" fill="hold" grpId="0" nodeType="afterEffect">
                                  <p:stCondLst>
                                    <p:cond delay="0"/>
                                  </p:stCondLst>
                                  <p:childTnLst>
                                    <p:set>
                                      <p:cBhvr>
                                        <p:cTn id="19" dur="1" fill="hold">
                                          <p:stCondLst>
                                            <p:cond delay="0"/>
                                          </p:stCondLst>
                                        </p:cTn>
                                        <p:tgtEl>
                                          <p:spTgt spid="29714"/>
                                        </p:tgtEl>
                                        <p:attrNameLst>
                                          <p:attrName>style.visibility</p:attrName>
                                        </p:attrNameLst>
                                      </p:cBhvr>
                                      <p:to>
                                        <p:strVal val="visible"/>
                                      </p:to>
                                    </p:set>
                                    <p:animEffect transition="in" filter="slide(fromBottom)">
                                      <p:cBhvr>
                                        <p:cTn id="20" dur="500"/>
                                        <p:tgtEl>
                                          <p:spTgt spid="29714"/>
                                        </p:tgtEl>
                                      </p:cBhvr>
                                    </p:animEffect>
                                  </p:childTnLst>
                                </p:cTn>
                              </p:par>
                            </p:childTnLst>
                          </p:cTn>
                        </p:par>
                        <p:par>
                          <p:cTn id="21" fill="hold">
                            <p:stCondLst>
                              <p:cond delay="1000"/>
                            </p:stCondLst>
                            <p:childTnLst>
                              <p:par>
                                <p:cTn id="22" presetID="1"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5" grpId="0" autoUpdateAnimBg="0"/>
      <p:bldP spid="29708" grpId="0" autoUpdateAnimBg="0"/>
      <p:bldP spid="29714" grpId="0" autoUpdateAnimBg="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bwMode="auto">
          <a:xfrm>
            <a:off x="5334000" y="762000"/>
            <a:ext cx="2286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6</a:t>
            </a:r>
            <a:endParaRPr lang="en-US" altLang="zh-CN" sz="800" smtClean="0">
              <a:solidFill>
                <a:schemeClr val="bg1"/>
              </a:solidFill>
            </a:endParaRPr>
          </a:p>
        </p:txBody>
      </p:sp>
      <p:sp>
        <p:nvSpPr>
          <p:cNvPr id="11269" name="Rectangle 3"/>
          <p:cNvSpPr>
            <a:spLocks noChangeArrowheads="1"/>
          </p:cNvSpPr>
          <p:nvPr/>
        </p:nvSpPr>
        <p:spPr bwMode="auto">
          <a:xfrm>
            <a:off x="3442970" y="228600"/>
            <a:ext cx="486283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1270" name="Rectangle 5"/>
          <p:cNvSpPr>
            <a:spLocks noChangeArrowheads="1"/>
          </p:cNvSpPr>
          <p:nvPr/>
        </p:nvSpPr>
        <p:spPr bwMode="auto">
          <a:xfrm>
            <a:off x="362250" y="816075"/>
            <a:ext cx="371127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solidFill>
                  <a:srgbClr val="C00000"/>
                </a:solidFill>
                <a:latin typeface="黑体" panose="02010609060101010101" pitchFamily="49" charset="-122"/>
                <a:ea typeface="黑体" panose="02010609060101010101" pitchFamily="49" charset="-122"/>
              </a:rPr>
              <a:t>4</a:t>
            </a:r>
            <a:r>
              <a:rPr lang="zh-CN" altLang="en-US" dirty="0">
                <a:solidFill>
                  <a:srgbClr val="C00000"/>
                </a:solidFill>
                <a:latin typeface="黑体" panose="02010609060101010101" pitchFamily="49" charset="-122"/>
                <a:ea typeface="黑体" panose="02010609060101010101" pitchFamily="49" charset="-122"/>
              </a:rPr>
              <a:t>．受倾覆力矩的螺栓组连接</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30726" name="Rectangle 6"/>
          <p:cNvSpPr>
            <a:spLocks noChangeArrowheads="1"/>
          </p:cNvSpPr>
          <p:nvPr/>
        </p:nvSpPr>
        <p:spPr bwMode="auto">
          <a:xfrm>
            <a:off x="433303" y="1464477"/>
            <a:ext cx="4629585"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倾覆力矩 </a:t>
            </a:r>
            <a:r>
              <a:rPr lang="en-US" altLang="zh-CN" sz="2000" i="1" dirty="0">
                <a:solidFill>
                  <a:srgbClr val="000099"/>
                </a:solidFill>
                <a:latin typeface="Times New Roman" panose="02020603050405020304" pitchFamily="18" charset="0"/>
              </a:rPr>
              <a:t>M </a:t>
            </a:r>
            <a:r>
              <a:rPr lang="zh-CN" altLang="en-US" sz="2000" dirty="0">
                <a:solidFill>
                  <a:srgbClr val="000099"/>
                </a:solidFill>
                <a:latin typeface="Times New Roman" panose="02020603050405020304" pitchFamily="18" charset="0"/>
              </a:rPr>
              <a:t>作用在连接接合面的一个对称面内，底板在承受倾覆力矩之前，螺栓已拧紧并承受预紧力</a:t>
            </a:r>
            <a:r>
              <a:rPr lang="en-US" altLang="zh-CN" sz="2000" i="1" dirty="0">
                <a:solidFill>
                  <a:srgbClr val="000099"/>
                </a:solidFill>
                <a:latin typeface="Times New Roman" panose="02020603050405020304" pitchFamily="18" charset="0"/>
              </a:rPr>
              <a:t>F</a:t>
            </a:r>
            <a:r>
              <a:rPr lang="en-US" altLang="zh-CN" sz="2000" baseline="-25000" dirty="0">
                <a:solidFill>
                  <a:srgbClr val="000099"/>
                </a:solidFill>
                <a:latin typeface="Times New Roman" panose="02020603050405020304" pitchFamily="18" charset="0"/>
              </a:rPr>
              <a:t>0</a:t>
            </a:r>
            <a:r>
              <a:rPr lang="zh-CN" altLang="en-US" sz="2000" dirty="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ndParaRPr>
          </a:p>
        </p:txBody>
      </p:sp>
      <p:pic>
        <p:nvPicPr>
          <p:cNvPr id="11276" name="Picture 87"/>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51181"/>
          <a:stretch>
            <a:fillRect/>
          </a:stretch>
        </p:blipFill>
        <p:spPr bwMode="auto">
          <a:xfrm>
            <a:off x="5334316" y="1174115"/>
            <a:ext cx="3286743" cy="360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7"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15" name="Picture 87"/>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51106" b="54269"/>
          <a:stretch>
            <a:fillRect/>
          </a:stretch>
        </p:blipFill>
        <p:spPr bwMode="auto">
          <a:xfrm>
            <a:off x="1242595" y="4268137"/>
            <a:ext cx="3291840" cy="1647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33"/>
          <p:cNvSpPr>
            <a:spLocks noChangeArrowheads="1"/>
          </p:cNvSpPr>
          <p:nvPr/>
        </p:nvSpPr>
        <p:spPr bwMode="auto">
          <a:xfrm>
            <a:off x="715312" y="2994277"/>
            <a:ext cx="434774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smtClean="0">
                <a:solidFill>
                  <a:srgbClr val="000099"/>
                </a:solidFill>
              </a:rPr>
              <a:t>在底板承受倾覆力矩</a:t>
            </a:r>
            <a:r>
              <a:rPr lang="zh-CN" altLang="en-US" sz="2000" dirty="0">
                <a:solidFill>
                  <a:srgbClr val="000099"/>
                </a:solidFill>
              </a:rPr>
              <a:t>作用前，螺栓和</a:t>
            </a:r>
            <a:r>
              <a:rPr lang="zh-CN" altLang="en-US" sz="2000" dirty="0" smtClean="0">
                <a:solidFill>
                  <a:srgbClr val="000099"/>
                </a:solidFill>
              </a:rPr>
              <a:t>地基都承受预紧力</a:t>
            </a:r>
            <a:r>
              <a:rPr lang="en-US" altLang="zh-CN" sz="2000" i="1" dirty="0">
                <a:solidFill>
                  <a:srgbClr val="000099"/>
                </a:solidFill>
                <a:latin typeface="Times New Roman" panose="02020603050405020304" pitchFamily="18" charset="0"/>
              </a:rPr>
              <a:t>F</a:t>
            </a:r>
            <a:r>
              <a:rPr lang="en-US" altLang="zh-CN" sz="2000" baseline="-25000" dirty="0">
                <a:solidFill>
                  <a:srgbClr val="000099"/>
                </a:solidFill>
                <a:latin typeface="Times New Roman" panose="02020603050405020304" pitchFamily="18" charset="0"/>
              </a:rPr>
              <a:t>0 </a:t>
            </a:r>
            <a:r>
              <a:rPr lang="zh-CN" altLang="en-US" sz="2000" dirty="0">
                <a:solidFill>
                  <a:srgbClr val="000099"/>
                </a:solidFill>
                <a:latin typeface="Times New Roman" panose="02020603050405020304" pitchFamily="18" charset="0"/>
              </a:rPr>
              <a:t>，</a:t>
            </a:r>
            <a:r>
              <a:rPr lang="zh-CN" altLang="en-US" sz="2000" dirty="0" smtClean="0">
                <a:solidFill>
                  <a:srgbClr val="000099"/>
                </a:solidFill>
                <a:latin typeface="Times New Roman" panose="02020603050405020304" pitchFamily="18" charset="0"/>
              </a:rPr>
              <a:t>底板上受到的合力为零。</a:t>
            </a:r>
            <a:endParaRPr lang="zh-CN" altLang="en-US" sz="2000" dirty="0">
              <a:solidFill>
                <a:srgbClr val="000099"/>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726"/>
                                        </p:tgtEl>
                                        <p:attrNameLst>
                                          <p:attrName>style.visibility</p:attrName>
                                        </p:attrNameLst>
                                      </p:cBhvr>
                                      <p:to>
                                        <p:strVal val="visible"/>
                                      </p:to>
                                    </p:set>
                                    <p:animEffect transition="in" filter="wipe(up)">
                                      <p:cBhvr>
                                        <p:cTn id="7" dur="500"/>
                                        <p:tgtEl>
                                          <p:spTgt spid="307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autoUpdateAnimBg="0"/>
      <p:bldP spid="1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bwMode="auto">
          <a:xfrm>
            <a:off x="5334000" y="762000"/>
            <a:ext cx="2286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7</a:t>
            </a:r>
            <a:endParaRPr lang="en-US" altLang="zh-CN" sz="800" smtClean="0">
              <a:solidFill>
                <a:schemeClr val="bg1"/>
              </a:solidFill>
            </a:endParaRPr>
          </a:p>
        </p:txBody>
      </p:sp>
      <p:sp>
        <p:nvSpPr>
          <p:cNvPr id="12297" name="Text Box 26"/>
          <p:cNvSpPr txBox="1">
            <a:spLocks noChangeArrowheads="1"/>
          </p:cNvSpPr>
          <p:nvPr/>
        </p:nvSpPr>
        <p:spPr bwMode="auto">
          <a:xfrm>
            <a:off x="654050" y="3740150"/>
            <a:ext cx="1841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zh-CN"/>
          </a:p>
        </p:txBody>
      </p:sp>
      <p:sp>
        <p:nvSpPr>
          <p:cNvPr id="31773" name="Text Box 29"/>
          <p:cNvSpPr txBox="1">
            <a:spLocks noChangeArrowheads="1"/>
          </p:cNvSpPr>
          <p:nvPr/>
        </p:nvSpPr>
        <p:spPr bwMode="auto">
          <a:xfrm>
            <a:off x="231140" y="2531110"/>
            <a:ext cx="449770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底板受倾覆力矩后，</a:t>
            </a:r>
            <a:r>
              <a:rPr lang="zh-CN" altLang="en-US" sz="2000" dirty="0">
                <a:solidFill>
                  <a:srgbClr val="FF0000"/>
                </a:solidFill>
                <a:latin typeface="Times New Roman" panose="02020603050405020304" pitchFamily="18" charset="0"/>
              </a:rPr>
              <a:t>在轴线 </a:t>
            </a:r>
            <a:r>
              <a:rPr lang="en-US" altLang="zh-CN" sz="2000" i="1" dirty="0">
                <a:solidFill>
                  <a:srgbClr val="FF0000"/>
                </a:solidFill>
                <a:latin typeface="Times New Roman" panose="02020603050405020304" pitchFamily="18" charset="0"/>
              </a:rPr>
              <a:t>O-O </a:t>
            </a:r>
            <a:r>
              <a:rPr lang="zh-CN" altLang="en-US" sz="2000" dirty="0">
                <a:solidFill>
                  <a:srgbClr val="FF0000"/>
                </a:solidFill>
                <a:latin typeface="Times New Roman" panose="02020603050405020304" pitchFamily="18" charset="0"/>
              </a:rPr>
              <a:t>左侧</a:t>
            </a:r>
            <a:r>
              <a:rPr lang="zh-CN" altLang="en-US" sz="2000" dirty="0">
                <a:solidFill>
                  <a:srgbClr val="000099"/>
                </a:solidFill>
                <a:latin typeface="Times New Roman" panose="02020603050405020304" pitchFamily="18" charset="0"/>
              </a:rPr>
              <a:t>，螺栓受拉，螺栓与地基的工作点分别移至</a:t>
            </a:r>
            <a:r>
              <a:rPr lang="en-US" altLang="zh-CN" sz="2000" i="1" dirty="0">
                <a:solidFill>
                  <a:srgbClr val="000099"/>
                </a:solidFill>
                <a:latin typeface="Times New Roman" panose="02020603050405020304" pitchFamily="18" charset="0"/>
              </a:rPr>
              <a:t>B</a:t>
            </a:r>
            <a:r>
              <a:rPr lang="en-US" altLang="zh-CN" sz="2000" baseline="-25000" dirty="0">
                <a:solidFill>
                  <a:srgbClr val="000099"/>
                </a:solidFill>
                <a:latin typeface="Times New Roman" panose="02020603050405020304" pitchFamily="18" charset="0"/>
              </a:rPr>
              <a:t>1</a:t>
            </a:r>
            <a:r>
              <a:rPr lang="en-US" altLang="zh-CN" sz="2000" baseline="-25000" dirty="0">
                <a:solidFill>
                  <a:srgbClr val="000099"/>
                </a:solidFill>
                <a:latin typeface="华文中宋" panose="02010600040101010101" pitchFamily="2" charset="-122"/>
              </a:rPr>
              <a:t> </a:t>
            </a:r>
            <a:r>
              <a:rPr lang="zh-CN" altLang="en-US" sz="2000" dirty="0">
                <a:solidFill>
                  <a:srgbClr val="000099"/>
                </a:solidFill>
                <a:latin typeface="Times New Roman" panose="02020603050405020304" pitchFamily="18" charset="0"/>
              </a:rPr>
              <a:t>和</a:t>
            </a:r>
            <a:r>
              <a:rPr lang="en-US" altLang="zh-CN" sz="2000" i="1" dirty="0">
                <a:solidFill>
                  <a:srgbClr val="000099"/>
                </a:solidFill>
                <a:latin typeface="Times New Roman" panose="02020603050405020304" pitchFamily="18" charset="0"/>
              </a:rPr>
              <a:t>C</a:t>
            </a:r>
            <a:r>
              <a:rPr lang="en-US" altLang="zh-CN" sz="2000" baseline="-25000" dirty="0">
                <a:solidFill>
                  <a:srgbClr val="000099"/>
                </a:solidFill>
                <a:latin typeface="Times New Roman" panose="02020603050405020304" pitchFamily="18" charset="0"/>
              </a:rPr>
              <a:t>1</a:t>
            </a:r>
            <a:r>
              <a:rPr lang="en-US" altLang="zh-CN" sz="2000" i="1" dirty="0">
                <a:solidFill>
                  <a:srgbClr val="000099"/>
                </a:solidFill>
                <a:latin typeface="Times New Roman" panose="02020603050405020304" pitchFamily="18" charset="0"/>
              </a:rPr>
              <a:t> </a:t>
            </a:r>
            <a:r>
              <a:rPr lang="zh-CN" altLang="en-US" sz="2000" i="1" dirty="0">
                <a:solidFill>
                  <a:srgbClr val="000099"/>
                </a:solidFill>
                <a:latin typeface="Times New Roman" panose="02020603050405020304" pitchFamily="18" charset="0"/>
              </a:rPr>
              <a:t>，</a:t>
            </a:r>
            <a:r>
              <a:rPr lang="zh-CN" altLang="en-US" sz="2000" dirty="0">
                <a:solidFill>
                  <a:srgbClr val="000099"/>
                </a:solidFill>
                <a:latin typeface="Times New Roman" panose="02020603050405020304" pitchFamily="18" charset="0"/>
              </a:rPr>
              <a:t>两者作用在底板上的</a:t>
            </a:r>
            <a:r>
              <a:rPr lang="zh-CN" altLang="en-US" sz="2000" dirty="0">
                <a:solidFill>
                  <a:srgbClr val="C00000"/>
                </a:solidFill>
                <a:latin typeface="Times New Roman" panose="02020603050405020304" pitchFamily="18" charset="0"/>
              </a:rPr>
              <a:t>合力为</a:t>
            </a:r>
            <a:r>
              <a:rPr lang="en-US" altLang="zh-CN" sz="2000" i="1" dirty="0" smtClean="0">
                <a:solidFill>
                  <a:srgbClr val="C00000"/>
                </a:solidFill>
                <a:latin typeface="Times New Roman" panose="02020603050405020304" pitchFamily="18" charset="0"/>
              </a:rPr>
              <a:t>F</a:t>
            </a:r>
            <a:r>
              <a:rPr lang="zh-CN" altLang="en-US" sz="2000" i="1" dirty="0" smtClean="0">
                <a:solidFill>
                  <a:srgbClr val="000099"/>
                </a:solidFill>
                <a:latin typeface="Times New Roman" panose="02020603050405020304" pitchFamily="18" charset="0"/>
              </a:rPr>
              <a:t>，</a:t>
            </a:r>
            <a:r>
              <a:rPr lang="zh-CN" altLang="en-US" sz="2000" dirty="0" smtClean="0">
                <a:solidFill>
                  <a:srgbClr val="000099"/>
                </a:solidFill>
                <a:latin typeface="Times New Roman" panose="02020603050405020304" pitchFamily="18" charset="0"/>
              </a:rPr>
              <a:t>为螺栓的工作载荷</a:t>
            </a:r>
            <a:r>
              <a:rPr lang="zh-CN" altLang="en-US" sz="2000" i="1" dirty="0" smtClean="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ndParaRPr>
          </a:p>
        </p:txBody>
      </p:sp>
      <p:sp>
        <p:nvSpPr>
          <p:cNvPr id="31774" name="Text Box 30"/>
          <p:cNvSpPr txBox="1">
            <a:spLocks noChangeArrowheads="1"/>
          </p:cNvSpPr>
          <p:nvPr/>
        </p:nvSpPr>
        <p:spPr bwMode="auto">
          <a:xfrm>
            <a:off x="309563" y="800100"/>
            <a:ext cx="45434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rPr>
              <a:t>      </a:t>
            </a:r>
            <a:r>
              <a:rPr lang="zh-CN" altLang="en-US" sz="2000" dirty="0">
                <a:solidFill>
                  <a:srgbClr val="000099"/>
                </a:solidFill>
              </a:rPr>
              <a:t>受倾覆力矩</a:t>
            </a:r>
            <a:r>
              <a:rPr lang="zh-CN" altLang="en-US" sz="2000" dirty="0" smtClean="0">
                <a:solidFill>
                  <a:srgbClr val="000099"/>
                </a:solidFill>
              </a:rPr>
              <a:t>的单个螺栓</a:t>
            </a:r>
            <a:r>
              <a:rPr lang="en-US" altLang="zh-CN" sz="2000" dirty="0" smtClean="0">
                <a:solidFill>
                  <a:srgbClr val="000099"/>
                </a:solidFill>
              </a:rPr>
              <a:t>-</a:t>
            </a:r>
            <a:r>
              <a:rPr lang="zh-CN" altLang="en-US" sz="2000" dirty="0" smtClean="0">
                <a:solidFill>
                  <a:srgbClr val="000099"/>
                </a:solidFill>
              </a:rPr>
              <a:t>地基的受</a:t>
            </a:r>
            <a:endParaRPr lang="zh-CN" altLang="en-US" sz="2000" dirty="0">
              <a:solidFill>
                <a:srgbClr val="000099"/>
              </a:solidFill>
            </a:endParaRPr>
          </a:p>
          <a:p>
            <a:pPr eaLnBrk="1" hangingPunct="1">
              <a:lnSpc>
                <a:spcPct val="120000"/>
              </a:lnSpc>
            </a:pPr>
            <a:r>
              <a:rPr lang="zh-CN" altLang="en-US" sz="2000" dirty="0" smtClean="0">
                <a:solidFill>
                  <a:srgbClr val="000099"/>
                </a:solidFill>
              </a:rPr>
              <a:t>力变形图右</a:t>
            </a:r>
            <a:r>
              <a:rPr lang="zh-CN" altLang="en-US" sz="2000" dirty="0">
                <a:solidFill>
                  <a:srgbClr val="000099"/>
                </a:solidFill>
              </a:rPr>
              <a:t>图表示。</a:t>
            </a:r>
            <a:endParaRPr lang="zh-CN" altLang="en-US" sz="2000" dirty="0">
              <a:solidFill>
                <a:srgbClr val="000099"/>
              </a:solidFill>
            </a:endParaRPr>
          </a:p>
        </p:txBody>
      </p:sp>
      <p:sp>
        <p:nvSpPr>
          <p:cNvPr id="31776" name="Rectangle 32"/>
          <p:cNvSpPr>
            <a:spLocks noChangeArrowheads="1"/>
          </p:cNvSpPr>
          <p:nvPr/>
        </p:nvSpPr>
        <p:spPr bwMode="auto">
          <a:xfrm>
            <a:off x="308143" y="4192853"/>
            <a:ext cx="389866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Times New Roman" panose="02020603050405020304" pitchFamily="18" charset="0"/>
              </a:rPr>
              <a:t>        </a:t>
            </a:r>
            <a:r>
              <a:rPr lang="zh-CN" altLang="en-US" sz="2000" dirty="0">
                <a:solidFill>
                  <a:srgbClr val="FF0000"/>
                </a:solidFill>
                <a:latin typeface="Times New Roman" panose="02020603050405020304" pitchFamily="18" charset="0"/>
              </a:rPr>
              <a:t>在轴线</a:t>
            </a:r>
            <a:r>
              <a:rPr lang="en-US" altLang="zh-CN" sz="2000" i="1" dirty="0">
                <a:solidFill>
                  <a:srgbClr val="FF0000"/>
                </a:solidFill>
                <a:latin typeface="Times New Roman" panose="02020603050405020304" pitchFamily="18" charset="0"/>
              </a:rPr>
              <a:t>O-O</a:t>
            </a:r>
            <a:r>
              <a:rPr lang="en-US" altLang="zh-CN" sz="2000" dirty="0">
                <a:solidFill>
                  <a:srgbClr val="FF0000"/>
                </a:solidFill>
                <a:latin typeface="Times New Roman" panose="02020603050405020304" pitchFamily="18" charset="0"/>
              </a:rPr>
              <a:t> </a:t>
            </a:r>
            <a:r>
              <a:rPr lang="zh-CN" altLang="en-US" sz="2000" dirty="0">
                <a:solidFill>
                  <a:srgbClr val="FF0000"/>
                </a:solidFill>
                <a:latin typeface="Times New Roman" panose="02020603050405020304" pitchFamily="18" charset="0"/>
              </a:rPr>
              <a:t>右侧，</a:t>
            </a:r>
            <a:r>
              <a:rPr lang="zh-CN" altLang="en-US" sz="2000" dirty="0">
                <a:solidFill>
                  <a:srgbClr val="000099"/>
                </a:solidFill>
                <a:latin typeface="Times New Roman" panose="02020603050405020304" pitchFamily="18" charset="0"/>
              </a:rPr>
              <a:t>螺栓与地基的工作点分别移至</a:t>
            </a:r>
            <a:r>
              <a:rPr lang="en-US" altLang="zh-CN" sz="2000" i="1" dirty="0">
                <a:solidFill>
                  <a:srgbClr val="000099"/>
                </a:solidFill>
                <a:latin typeface="Times New Roman" panose="02020603050405020304" pitchFamily="18" charset="0"/>
              </a:rPr>
              <a:t>B</a:t>
            </a:r>
            <a:r>
              <a:rPr lang="en-US" altLang="zh-CN" sz="2000" baseline="-25000" dirty="0">
                <a:solidFill>
                  <a:srgbClr val="000099"/>
                </a:solidFill>
                <a:latin typeface="Times New Roman" panose="02020603050405020304" pitchFamily="18" charset="0"/>
              </a:rPr>
              <a:t>2</a:t>
            </a: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和</a:t>
            </a:r>
            <a:r>
              <a:rPr lang="en-US" altLang="zh-CN" sz="2000" i="1" dirty="0">
                <a:solidFill>
                  <a:srgbClr val="000099"/>
                </a:solidFill>
                <a:latin typeface="Times New Roman" panose="02020603050405020304" pitchFamily="18" charset="0"/>
              </a:rPr>
              <a:t>C</a:t>
            </a:r>
            <a:r>
              <a:rPr lang="en-US" altLang="zh-CN" sz="2000" baseline="-25000" dirty="0">
                <a:solidFill>
                  <a:srgbClr val="000099"/>
                </a:solidFill>
                <a:latin typeface="Times New Roman" panose="02020603050405020304" pitchFamily="18" charset="0"/>
              </a:rPr>
              <a:t>2</a:t>
            </a:r>
            <a:r>
              <a:rPr lang="en-US" altLang="zh-CN" sz="2000" dirty="0">
                <a:solidFill>
                  <a:srgbClr val="000099"/>
                </a:solidFill>
                <a:latin typeface="Times New Roman" panose="02020603050405020304" pitchFamily="18" charset="0"/>
              </a:rPr>
              <a:t> </a:t>
            </a:r>
            <a:r>
              <a:rPr lang="zh-CN" altLang="en-US" sz="2000" i="1" dirty="0">
                <a:solidFill>
                  <a:srgbClr val="000099"/>
                </a:solidFill>
                <a:latin typeface="Times New Roman" panose="02020603050405020304" pitchFamily="18" charset="0"/>
              </a:rPr>
              <a:t>，</a:t>
            </a:r>
            <a:r>
              <a:rPr lang="zh-CN" altLang="en-US" sz="2000" dirty="0">
                <a:solidFill>
                  <a:srgbClr val="000099"/>
                </a:solidFill>
                <a:latin typeface="Times New Roman" panose="02020603050405020304" pitchFamily="18" charset="0"/>
              </a:rPr>
              <a:t>两者作用在底板上的</a:t>
            </a:r>
            <a:r>
              <a:rPr lang="zh-CN" altLang="en-US" sz="2000" dirty="0">
                <a:solidFill>
                  <a:srgbClr val="C00000"/>
                </a:solidFill>
                <a:latin typeface="Times New Roman" panose="02020603050405020304" pitchFamily="18" charset="0"/>
              </a:rPr>
              <a:t>合力为</a:t>
            </a:r>
            <a:r>
              <a:rPr lang="zh-CN" altLang="en-US" sz="2000" i="1" dirty="0">
                <a:solidFill>
                  <a:srgbClr val="C00000"/>
                </a:solidFill>
                <a:latin typeface="Times New Roman" panose="02020603050405020304" pitchFamily="18" charset="0"/>
              </a:rPr>
              <a:t> </a:t>
            </a:r>
            <a:r>
              <a:rPr lang="en-US" altLang="zh-CN" sz="2000" i="1" dirty="0" err="1">
                <a:solidFill>
                  <a:srgbClr val="C00000"/>
                </a:solidFill>
                <a:latin typeface="Times New Roman" panose="02020603050405020304" pitchFamily="18" charset="0"/>
              </a:rPr>
              <a:t>F</a:t>
            </a:r>
            <a:r>
              <a:rPr lang="en-US" altLang="zh-CN" sz="2000" baseline="-25000" dirty="0" err="1">
                <a:solidFill>
                  <a:srgbClr val="C00000"/>
                </a:solidFill>
                <a:latin typeface="Times New Roman" panose="02020603050405020304" pitchFamily="18" charset="0"/>
              </a:rPr>
              <a:t>m</a:t>
            </a:r>
            <a:r>
              <a:rPr lang="en-US" altLang="zh-CN" sz="2000" i="1" dirty="0">
                <a:solidFill>
                  <a:srgbClr val="000099"/>
                </a:solidFill>
                <a:latin typeface="Times New Roman" panose="02020603050405020304" pitchFamily="18" charset="0"/>
              </a:rPr>
              <a:t>  </a:t>
            </a:r>
            <a:r>
              <a:rPr lang="zh-CN" altLang="en-US" sz="2000" i="1" dirty="0" smtClean="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ndParaRPr>
          </a:p>
        </p:txBody>
      </p:sp>
      <p:sp>
        <p:nvSpPr>
          <p:cNvPr id="31777" name="Rectangle 33"/>
          <p:cNvSpPr>
            <a:spLocks noChangeArrowheads="1"/>
          </p:cNvSpPr>
          <p:nvPr/>
        </p:nvSpPr>
        <p:spPr bwMode="auto">
          <a:xfrm>
            <a:off x="377725" y="1755392"/>
            <a:ext cx="434774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在倾覆力矩作用前，螺栓和地基的工作点都处于</a:t>
            </a:r>
            <a:r>
              <a:rPr lang="en-US" altLang="zh-CN" sz="2000" dirty="0">
                <a:solidFill>
                  <a:srgbClr val="000099"/>
                </a:solidFill>
                <a:latin typeface="Times New Roman" panose="02020603050405020304" pitchFamily="18" charset="0"/>
              </a:rPr>
              <a:t>A</a:t>
            </a:r>
            <a:r>
              <a:rPr lang="zh-CN" altLang="en-US" sz="2000" dirty="0">
                <a:solidFill>
                  <a:srgbClr val="000099"/>
                </a:solidFill>
                <a:latin typeface="Times New Roman" panose="02020603050405020304" pitchFamily="18" charset="0"/>
              </a:rPr>
              <a:t>点。</a:t>
            </a:r>
            <a:endParaRPr lang="zh-CN" altLang="en-US" sz="2000" dirty="0">
              <a:solidFill>
                <a:srgbClr val="000099"/>
              </a:solidFill>
              <a:latin typeface="Times New Roman" panose="02020603050405020304" pitchFamily="18" charset="0"/>
            </a:endParaRPr>
          </a:p>
        </p:txBody>
      </p:sp>
      <p:sp>
        <p:nvSpPr>
          <p:cNvPr id="12302" name="Text Box 39"/>
          <p:cNvSpPr txBox="1">
            <a:spLocks noChangeArrowheads="1"/>
          </p:cNvSpPr>
          <p:nvPr/>
        </p:nvSpPr>
        <p:spPr bwMode="auto">
          <a:xfrm>
            <a:off x="6672263" y="6124575"/>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12303" name="Picture 40"/>
          <p:cNvPicPr>
            <a:picLocks noChangeAspect="1" noChangeArrowheads="1"/>
          </p:cNvPicPr>
          <p:nvPr/>
        </p:nvPicPr>
        <p:blipFill>
          <a:blip r:embed="rId1" cstate="print">
            <a:extLst>
              <a:ext uri="{28A0092B-C50C-407E-A947-70E740481C1C}">
                <a14:useLocalDpi xmlns:a14="http://schemas.microsoft.com/office/drawing/2010/main" val="0"/>
              </a:ext>
            </a:extLst>
          </a:blip>
          <a:srcRect l="8858" t="5669" r="5905" b="4724"/>
          <a:stretch>
            <a:fillRect/>
          </a:stretch>
        </p:blipFill>
        <p:spPr bwMode="auto">
          <a:xfrm>
            <a:off x="4837113" y="907950"/>
            <a:ext cx="4306887"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4"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9" name="TextBox 18"/>
          <p:cNvSpPr txBox="1">
            <a:spLocks noChangeArrowheads="1"/>
          </p:cNvSpPr>
          <p:nvPr/>
        </p:nvSpPr>
        <p:spPr bwMode="auto">
          <a:xfrm>
            <a:off x="7772400" y="6211888"/>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2" action="ppaction://hlinksldjump"/>
              </a:rPr>
              <a:t>返回</a:t>
            </a:r>
            <a:endParaRPr lang="zh-CN" altLang="en-US">
              <a:solidFill>
                <a:srgbClr val="000099"/>
              </a:solidFill>
            </a:endParaRPr>
          </a:p>
        </p:txBody>
      </p:sp>
      <p:cxnSp>
        <p:nvCxnSpPr>
          <p:cNvPr id="3" name="直接连接符 2"/>
          <p:cNvCxnSpPr/>
          <p:nvPr/>
        </p:nvCxnSpPr>
        <p:spPr bwMode="auto">
          <a:xfrm flipV="1">
            <a:off x="5188017" y="1501541"/>
            <a:ext cx="2223436" cy="2011680"/>
          </a:xfrm>
          <a:prstGeom prst="line">
            <a:avLst/>
          </a:prstGeom>
          <a:solidFill>
            <a:schemeClr val="accent1"/>
          </a:solidFill>
          <a:ln w="19050" cap="flat" cmpd="sng" algn="ctr">
            <a:solidFill>
              <a:srgbClr val="FF0000"/>
            </a:solidFill>
            <a:prstDash val="solid"/>
            <a:round/>
            <a:headEnd type="none" w="med" len="med"/>
            <a:tailEnd type="none" w="med" len="med"/>
          </a:ln>
          <a:effectLst/>
        </p:spPr>
      </p:cxnSp>
      <p:cxnSp>
        <p:nvCxnSpPr>
          <p:cNvPr id="5" name="直接连接符 4"/>
          <p:cNvCxnSpPr/>
          <p:nvPr/>
        </p:nvCxnSpPr>
        <p:spPr bwMode="auto">
          <a:xfrm flipH="1" flipV="1">
            <a:off x="6140918" y="1260909"/>
            <a:ext cx="1607419" cy="2252312"/>
          </a:xfrm>
          <a:prstGeom prst="line">
            <a:avLst/>
          </a:prstGeom>
          <a:solidFill>
            <a:schemeClr val="accent1"/>
          </a:solidFill>
          <a:ln w="19050" cap="flat" cmpd="sng" algn="ctr">
            <a:solidFill>
              <a:srgbClr val="0000FF"/>
            </a:solidFill>
            <a:prstDash val="solid"/>
            <a:round/>
            <a:headEnd type="none" w="med" len="med"/>
            <a:tailEnd type="none" w="med" len="med"/>
          </a:ln>
          <a:effectLst/>
        </p:spPr>
      </p:cxnSp>
      <p:pic>
        <p:nvPicPr>
          <p:cNvPr id="22" name="Picture 87"/>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534" t="43859" r="6434" b="8308"/>
          <a:stretch>
            <a:fillRect/>
          </a:stretch>
        </p:blipFill>
        <p:spPr bwMode="auto">
          <a:xfrm>
            <a:off x="5322769" y="3970421"/>
            <a:ext cx="2897205" cy="17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2"/>
          <p:cNvSpPr>
            <a:spLocks noChangeArrowheads="1"/>
          </p:cNvSpPr>
          <p:nvPr/>
        </p:nvSpPr>
        <p:spPr bwMode="auto">
          <a:xfrm>
            <a:off x="202098" y="5396178"/>
            <a:ext cx="3898666"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作用在</a:t>
            </a:r>
            <a:r>
              <a:rPr lang="zh-CN" altLang="en-US" sz="2000" dirty="0">
                <a:solidFill>
                  <a:srgbClr val="FF0000"/>
                </a:solidFill>
                <a:latin typeface="Times New Roman" panose="02020603050405020304" pitchFamily="18" charset="0"/>
              </a:rPr>
              <a:t>轴线</a:t>
            </a:r>
            <a:r>
              <a:rPr lang="en-US" altLang="zh-CN" sz="2000" i="1" dirty="0">
                <a:solidFill>
                  <a:srgbClr val="FF0000"/>
                </a:solidFill>
                <a:latin typeface="Times New Roman" panose="02020603050405020304" pitchFamily="18" charset="0"/>
              </a:rPr>
              <a:t>O-O</a:t>
            </a:r>
            <a:r>
              <a:rPr lang="en-US" altLang="zh-CN" sz="2000" dirty="0">
                <a:solidFill>
                  <a:srgbClr val="FF0000"/>
                </a:solidFill>
                <a:latin typeface="Times New Roman" panose="02020603050405020304" pitchFamily="18" charset="0"/>
              </a:rPr>
              <a:t> </a:t>
            </a:r>
            <a:r>
              <a:rPr lang="zh-CN" altLang="en-US" sz="2000" dirty="0">
                <a:solidFill>
                  <a:srgbClr val="FF0000"/>
                </a:solidFill>
                <a:latin typeface="Times New Roman" panose="02020603050405020304" pitchFamily="18" charset="0"/>
              </a:rPr>
              <a:t>两侧底板上</a:t>
            </a:r>
            <a:r>
              <a:rPr lang="zh-CN" altLang="en-US" sz="2000" dirty="0">
                <a:solidFill>
                  <a:schemeClr val="tx1">
                    <a:lumMod val="75000"/>
                  </a:schemeClr>
                </a:solidFill>
                <a:latin typeface="Times New Roman" panose="02020603050405020304" pitchFamily="18" charset="0"/>
              </a:rPr>
              <a:t>的两个总合力，对</a:t>
            </a:r>
            <a:r>
              <a:rPr lang="zh-CN" altLang="en-US" sz="2000" dirty="0">
                <a:solidFill>
                  <a:schemeClr val="tx1">
                    <a:lumMod val="75000"/>
                  </a:schemeClr>
                </a:solidFill>
                <a:latin typeface="Times New Roman" panose="02020603050405020304" pitchFamily="18" charset="0"/>
                <a:sym typeface="+mn-ea"/>
              </a:rPr>
              <a:t>轴线</a:t>
            </a:r>
            <a:r>
              <a:rPr lang="en-US" altLang="zh-CN" sz="2000" i="1" dirty="0">
                <a:solidFill>
                  <a:schemeClr val="tx1">
                    <a:lumMod val="75000"/>
                  </a:schemeClr>
                </a:solidFill>
                <a:latin typeface="Times New Roman" panose="02020603050405020304" pitchFamily="18" charset="0"/>
                <a:sym typeface="+mn-ea"/>
              </a:rPr>
              <a:t>O-O</a:t>
            </a:r>
            <a:r>
              <a:rPr lang="en-US" altLang="zh-CN" sz="2000" dirty="0">
                <a:solidFill>
                  <a:schemeClr val="tx1">
                    <a:lumMod val="75000"/>
                  </a:schemeClr>
                </a:solidFill>
                <a:latin typeface="Times New Roman" panose="02020603050405020304" pitchFamily="18" charset="0"/>
                <a:sym typeface="+mn-ea"/>
              </a:rPr>
              <a:t> </a:t>
            </a:r>
            <a:r>
              <a:rPr lang="zh-CN" altLang="en-US" sz="2000" dirty="0">
                <a:solidFill>
                  <a:schemeClr val="tx1">
                    <a:lumMod val="75000"/>
                  </a:schemeClr>
                </a:solidFill>
                <a:latin typeface="Times New Roman" panose="02020603050405020304" pitchFamily="18" charset="0"/>
                <a:sym typeface="+mn-ea"/>
              </a:rPr>
              <a:t>形成一个力矩；</a:t>
            </a:r>
            <a:endParaRPr lang="zh-CN" altLang="en-US" sz="2000" dirty="0">
              <a:solidFill>
                <a:schemeClr val="tx1">
                  <a:lumMod val="75000"/>
                </a:schemeClr>
              </a:solidFill>
              <a:latin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774"/>
                                        </p:tgtEl>
                                        <p:attrNameLst>
                                          <p:attrName>style.visibility</p:attrName>
                                        </p:attrNameLst>
                                      </p:cBhvr>
                                      <p:to>
                                        <p:strVal val="visible"/>
                                      </p:to>
                                    </p:set>
                                    <p:animEffect transition="in" filter="wipe(left)">
                                      <p:cBhvr>
                                        <p:cTn id="7" dur="500"/>
                                        <p:tgtEl>
                                          <p:spTgt spid="317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777"/>
                                        </p:tgtEl>
                                        <p:attrNameLst>
                                          <p:attrName>style.visibility</p:attrName>
                                        </p:attrNameLst>
                                      </p:cBhvr>
                                      <p:to>
                                        <p:strVal val="visible"/>
                                      </p:to>
                                    </p:set>
                                    <p:animEffect transition="in" filter="wipe(left)">
                                      <p:cBhvr>
                                        <p:cTn id="12" dur="500"/>
                                        <p:tgtEl>
                                          <p:spTgt spid="3177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773"/>
                                        </p:tgtEl>
                                        <p:attrNameLst>
                                          <p:attrName>style.visibility</p:attrName>
                                        </p:attrNameLst>
                                      </p:cBhvr>
                                      <p:to>
                                        <p:strVal val="visible"/>
                                      </p:to>
                                    </p:set>
                                    <p:animEffect transition="in" filter="wipe(left)">
                                      <p:cBhvr>
                                        <p:cTn id="17" dur="500"/>
                                        <p:tgtEl>
                                          <p:spTgt spid="317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776"/>
                                        </p:tgtEl>
                                        <p:attrNameLst>
                                          <p:attrName>style.visibility</p:attrName>
                                        </p:attrNameLst>
                                      </p:cBhvr>
                                      <p:to>
                                        <p:strVal val="visible"/>
                                      </p:to>
                                    </p:set>
                                    <p:animEffect transition="in" filter="wipe(left)">
                                      <p:cBhvr>
                                        <p:cTn id="22" dur="500"/>
                                        <p:tgtEl>
                                          <p:spTgt spid="31776"/>
                                        </p:tgtEl>
                                      </p:cBhvr>
                                    </p:animEffec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1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73" grpId="0" autoUpdateAnimBg="0"/>
      <p:bldP spid="31774" grpId="0" autoUpdateAnimBg="0"/>
      <p:bldP spid="31776" grpId="0" autoUpdateAnimBg="0"/>
      <p:bldP spid="31777" grpId="0" autoUpdateAnimBg="0"/>
      <p:bldP spid="19" grpId="0"/>
      <p:bldP spid="2"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271780" y="243205"/>
            <a:ext cx="5747385" cy="937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dirty="0" smtClean="0">
                <a:solidFill>
                  <a:srgbClr val="000099"/>
                </a:solidFill>
              </a:rPr>
              <a:t>  </a:t>
            </a:r>
            <a:r>
              <a:rPr lang="zh-CN" altLang="en-US" dirty="0" smtClean="0">
                <a:solidFill>
                  <a:srgbClr val="000099"/>
                </a:solidFill>
              </a:rPr>
              <a:t>作用在底板两侧的合力矩与倾覆力矩</a:t>
            </a:r>
            <a:r>
              <a:rPr lang="en-US" altLang="zh-CN" i="1" dirty="0" smtClean="0">
                <a:solidFill>
                  <a:srgbClr val="000099"/>
                </a:solidFill>
                <a:latin typeface="Times New Roman" panose="02020603050405020304" pitchFamily="18" charset="0"/>
              </a:rPr>
              <a:t>M</a:t>
            </a:r>
            <a:r>
              <a:rPr lang="zh-CN" altLang="en-US" dirty="0" smtClean="0">
                <a:solidFill>
                  <a:srgbClr val="000099"/>
                </a:solidFill>
              </a:rPr>
              <a:t>平衡，即：</a:t>
            </a:r>
            <a:endParaRPr lang="zh-CN" altLang="en-US" dirty="0">
              <a:solidFill>
                <a:srgbClr val="000099"/>
              </a:solidFill>
            </a:endParaRPr>
          </a:p>
        </p:txBody>
      </p:sp>
      <p:sp>
        <p:nvSpPr>
          <p:cNvPr id="5" name="Rectangle 82"/>
          <p:cNvSpPr>
            <a:spLocks noChangeArrowheads="1"/>
          </p:cNvSpPr>
          <p:nvPr/>
        </p:nvSpPr>
        <p:spPr bwMode="auto">
          <a:xfrm>
            <a:off x="845838" y="5563751"/>
            <a:ext cx="37401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dirty="0">
                <a:solidFill>
                  <a:srgbClr val="000099"/>
                </a:solidFill>
              </a:rPr>
              <a:t> </a:t>
            </a:r>
            <a:r>
              <a:rPr lang="zh-CN" altLang="en-US" dirty="0">
                <a:solidFill>
                  <a:srgbClr val="000099"/>
                </a:solidFill>
              </a:rPr>
              <a:t>由此可以求出最大工作载荷：</a:t>
            </a:r>
            <a:endParaRPr lang="zh-CN" altLang="en-US" dirty="0">
              <a:solidFill>
                <a:srgbClr val="000099"/>
              </a:solidFill>
            </a:endParaRPr>
          </a:p>
        </p:txBody>
      </p:sp>
      <p:graphicFrame>
        <p:nvGraphicFramePr>
          <p:cNvPr id="6" name="Object 83"/>
          <p:cNvGraphicFramePr>
            <a:graphicFrameLocks noChangeAspect="1"/>
          </p:cNvGraphicFramePr>
          <p:nvPr/>
        </p:nvGraphicFramePr>
        <p:xfrm>
          <a:off x="1412224" y="843747"/>
          <a:ext cx="1876807" cy="956244"/>
        </p:xfrm>
        <a:graphic>
          <a:graphicData uri="http://schemas.openxmlformats.org/presentationml/2006/ole">
            <mc:AlternateContent xmlns:mc="http://schemas.openxmlformats.org/markup-compatibility/2006">
              <mc:Choice xmlns:v="urn:schemas-microsoft-com:vml" Requires="v">
                <p:oleObj spid="_x0000_s52266" name="Equation" r:id="rId1" imgW="671195" imgH="347345" progId="Equation.3">
                  <p:embed/>
                </p:oleObj>
              </mc:Choice>
              <mc:Fallback>
                <p:oleObj name="Equation" r:id="rId1" imgW="671195" imgH="347345" progId="Equation.3">
                  <p:embed/>
                  <p:pic>
                    <p:nvPicPr>
                      <p:cNvPr id="0" name="图片 522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2224" y="843747"/>
                        <a:ext cx="1876807" cy="956244"/>
                      </a:xfrm>
                      <a:prstGeom prst="rect">
                        <a:avLst/>
                      </a:prstGeom>
                      <a:noFill/>
                      <a:ln>
                        <a:noFill/>
                      </a:ln>
                    </p:spPr>
                  </p:pic>
                </p:oleObj>
              </mc:Fallback>
            </mc:AlternateContent>
          </a:graphicData>
        </a:graphic>
      </p:graphicFrame>
      <p:graphicFrame>
        <p:nvGraphicFramePr>
          <p:cNvPr id="7" name="Object 84"/>
          <p:cNvGraphicFramePr>
            <a:graphicFrameLocks noChangeAspect="1"/>
          </p:cNvGraphicFramePr>
          <p:nvPr/>
        </p:nvGraphicFramePr>
        <p:xfrm>
          <a:off x="4811294" y="5134085"/>
          <a:ext cx="2180590" cy="1568450"/>
        </p:xfrm>
        <a:graphic>
          <a:graphicData uri="http://schemas.openxmlformats.org/presentationml/2006/ole">
            <mc:AlternateContent xmlns:mc="http://schemas.openxmlformats.org/markup-compatibility/2006">
              <mc:Choice xmlns:v="urn:schemas-microsoft-com:vml" Requires="v">
                <p:oleObj spid="_x0000_s52267" name="Equation" r:id="rId3" imgW="862965" imgH="622300" progId="Equation.3">
                  <p:embed/>
                </p:oleObj>
              </mc:Choice>
              <mc:Fallback>
                <p:oleObj name="Equation" r:id="rId3" imgW="862965" imgH="622300" progId="Equation.3">
                  <p:embed/>
                  <p:pic>
                    <p:nvPicPr>
                      <p:cNvPr id="0" name="图片 52266"/>
                      <p:cNvPicPr>
                        <a:picLocks noChangeAspect="1" noChangeArrowheads="1"/>
                      </p:cNvPicPr>
                      <p:nvPr/>
                    </p:nvPicPr>
                    <p:blipFill>
                      <a:blip r:embed="rId4"/>
                      <a:srcRect/>
                      <a:stretch>
                        <a:fillRect/>
                      </a:stretch>
                    </p:blipFill>
                    <p:spPr bwMode="auto">
                      <a:xfrm>
                        <a:off x="4811294" y="5134085"/>
                        <a:ext cx="2180590" cy="1568450"/>
                      </a:xfrm>
                      <a:prstGeom prst="rect">
                        <a:avLst/>
                      </a:prstGeom>
                      <a:noFill/>
                      <a:ln>
                        <a:noFill/>
                      </a:ln>
                      <a:effectLst/>
                    </p:spPr>
                  </p:pic>
                </p:oleObj>
              </mc:Fallback>
            </mc:AlternateContent>
          </a:graphicData>
        </a:graphic>
      </p:graphicFrame>
      <p:graphicFrame>
        <p:nvGraphicFramePr>
          <p:cNvPr id="8" name="Object 15"/>
          <p:cNvGraphicFramePr>
            <a:graphicFrameLocks noChangeAspect="1"/>
          </p:cNvGraphicFramePr>
          <p:nvPr/>
        </p:nvGraphicFramePr>
        <p:xfrm>
          <a:off x="2439670" y="4566285"/>
          <a:ext cx="1797685" cy="852170"/>
        </p:xfrm>
        <a:graphic>
          <a:graphicData uri="http://schemas.openxmlformats.org/presentationml/2006/ole">
            <mc:AlternateContent xmlns:mc="http://schemas.openxmlformats.org/markup-compatibility/2006">
              <mc:Choice xmlns:v="urn:schemas-microsoft-com:vml" Requires="v">
                <p:oleObj spid="_x0000_s52268" name="公式" r:id="rId5" imgW="22555200" imgH="10668000" progId="Equation.3">
                  <p:embed/>
                </p:oleObj>
              </mc:Choice>
              <mc:Fallback>
                <p:oleObj name="公式" r:id="rId5" imgW="22555200" imgH="10668000" progId="Equation.3">
                  <p:embed/>
                  <p:pic>
                    <p:nvPicPr>
                      <p:cNvPr id="0" name="图片 52267"/>
                      <p:cNvPicPr>
                        <a:picLocks noChangeAspect="1" noChangeArrowheads="1"/>
                      </p:cNvPicPr>
                      <p:nvPr/>
                    </p:nvPicPr>
                    <p:blipFill>
                      <a:blip r:embed="rId6"/>
                      <a:srcRect/>
                      <a:stretch>
                        <a:fillRect/>
                      </a:stretch>
                    </p:blipFill>
                    <p:spPr bwMode="auto">
                      <a:xfrm>
                        <a:off x="2439670" y="4566285"/>
                        <a:ext cx="1797685" cy="852170"/>
                      </a:xfrm>
                      <a:prstGeom prst="rect">
                        <a:avLst/>
                      </a:prstGeom>
                      <a:solidFill>
                        <a:srgbClr val="92D050"/>
                      </a:solidFill>
                      <a:ln>
                        <a:noFill/>
                      </a:ln>
                      <a:effectLst/>
                    </p:spPr>
                  </p:pic>
                </p:oleObj>
              </mc:Fallback>
            </mc:AlternateContent>
          </a:graphicData>
        </a:graphic>
      </p:graphicFrame>
      <p:pic>
        <p:nvPicPr>
          <p:cNvPr id="9" name="Picture 87"/>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50534" t="43859" r="6434" b="8308"/>
          <a:stretch>
            <a:fillRect/>
          </a:stretch>
        </p:blipFill>
        <p:spPr bwMode="auto">
          <a:xfrm>
            <a:off x="5929060" y="681522"/>
            <a:ext cx="2897205" cy="17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3848100" y="3145790"/>
            <a:ext cx="3924935" cy="675640"/>
          </a:xfrm>
          <a:prstGeom prst="rect">
            <a:avLst/>
          </a:prstGeom>
          <a:noFill/>
          <a:ln w="9525">
            <a:solidFill>
              <a:schemeClr val="tx2">
                <a:lumMod val="40000"/>
                <a:lumOff val="60000"/>
              </a:schemeClr>
            </a:solidFill>
          </a:ln>
          <a:extLst>
            <a:ext uri="{909E8E84-426E-40DD-AFC4-6F175D3DCCD1}">
              <a14:hiddenFill xmlns:a14="http://schemas.microsoft.com/office/drawing/2010/main">
                <a:solidFill>
                  <a:schemeClr val="tx2">
                    <a:lumMod val="20000"/>
                    <a:lumOff val="80000"/>
                  </a:schemeClr>
                </a:solidFill>
              </a14:hiddenFill>
            </a:ext>
          </a:extLst>
        </p:spPr>
        <p:txBody>
          <a:bodyPr wrap="square">
            <a:spAutoFit/>
          </a:bodyPr>
          <a:p>
            <a:pPr marL="0" indent="0" eaLnBrk="1" latinLnBrk="0" hangingPunct="1">
              <a:lnSpc>
                <a:spcPct val="100000"/>
              </a:lnSpc>
            </a:pPr>
            <a:r>
              <a:rPr lang="en-US" altLang="zh-CN" sz="2000" dirty="0">
                <a:latin typeface="Tahoma" panose="020B0604030504040204" pitchFamily="34" charset="0"/>
              </a:rPr>
              <a:t> </a:t>
            </a:r>
            <a:r>
              <a:rPr lang="zh-CN" altLang="zh-CN" sz="1800" dirty="0">
                <a:latin typeface="Tahoma" panose="020B0604030504040204" pitchFamily="34" charset="0"/>
              </a:rPr>
              <a:t>各因螺栓的材料、直径和长度相同，即</a:t>
            </a:r>
            <a:r>
              <a:rPr lang="zh-CN" altLang="zh-CN" sz="1800" dirty="0">
                <a:solidFill>
                  <a:srgbClr val="0000FF"/>
                </a:solidFill>
                <a:latin typeface="Tahoma" panose="020B0604030504040204" pitchFamily="34" charset="0"/>
              </a:rPr>
              <a:t>拉伸刚度</a:t>
            </a:r>
            <a:r>
              <a:rPr lang="zh-CN" altLang="zh-CN" sz="1800" dirty="0">
                <a:latin typeface="Tahoma" panose="020B0604030504040204" pitchFamily="34" charset="0"/>
              </a:rPr>
              <a:t>相同</a:t>
            </a:r>
            <a:endParaRPr lang="zh-CN" altLang="en-US" sz="1800" dirty="0">
              <a:latin typeface="Tahoma" panose="020B0604030504040204" pitchFamily="34" charset="0"/>
            </a:endParaRPr>
          </a:p>
        </p:txBody>
      </p:sp>
      <p:sp>
        <p:nvSpPr>
          <p:cNvPr id="2" name="文本框 1"/>
          <p:cNvSpPr txBox="1"/>
          <p:nvPr/>
        </p:nvSpPr>
        <p:spPr>
          <a:xfrm>
            <a:off x="3493" y="1824355"/>
            <a:ext cx="8453437" cy="553085"/>
          </a:xfrm>
          <a:prstGeom prst="rect">
            <a:avLst/>
          </a:prstGeom>
          <a:noFill/>
          <a:ln w="9525">
            <a:noFill/>
          </a:ln>
        </p:spPr>
        <p:txBody>
          <a:bodyPr>
            <a:spAutoFit/>
          </a:bodyPr>
          <a:p>
            <a:pPr>
              <a:lnSpc>
                <a:spcPct val="150000"/>
              </a:lnSpc>
            </a:pPr>
            <a:r>
              <a:rPr lang="en-US" altLang="zh-CN" sz="2000" dirty="0">
                <a:latin typeface="Tahoma" panose="020B0604030504040204" pitchFamily="34" charset="0"/>
              </a:rPr>
              <a:t>      </a:t>
            </a:r>
            <a:r>
              <a:rPr lang="zh-CN" altLang="zh-CN" sz="2000" dirty="0">
                <a:latin typeface="Tahoma" panose="020B0604030504040204" pitchFamily="34" charset="0"/>
              </a:rPr>
              <a:t>根据螺栓变形协调条件得知</a:t>
            </a:r>
            <a:r>
              <a:rPr lang="en-US" altLang="zh-CN" sz="2000" dirty="0">
                <a:latin typeface="Tahoma" panose="020B0604030504040204" pitchFamily="34" charset="0"/>
              </a:rPr>
              <a:t>:</a:t>
            </a:r>
            <a:endParaRPr lang="en-US" altLang="zh-CN" sz="2000" dirty="0">
              <a:latin typeface="Tahoma" panose="020B0604030504040204" pitchFamily="34" charset="0"/>
            </a:endParaRPr>
          </a:p>
        </p:txBody>
      </p:sp>
      <p:sp>
        <p:nvSpPr>
          <p:cNvPr id="10" name="文本框 9"/>
          <p:cNvSpPr txBox="1"/>
          <p:nvPr/>
        </p:nvSpPr>
        <p:spPr>
          <a:xfrm>
            <a:off x="647700" y="2489200"/>
            <a:ext cx="7143115" cy="553085"/>
          </a:xfrm>
          <a:prstGeom prst="rect">
            <a:avLst/>
          </a:prstGeom>
          <a:noFill/>
          <a:ln w="9525">
            <a:solidFill>
              <a:srgbClr val="C00000"/>
            </a:solidFill>
          </a:ln>
        </p:spPr>
        <p:txBody>
          <a:bodyPr wrap="square">
            <a:spAutoFit/>
          </a:bodyPr>
          <a:p>
            <a:pPr>
              <a:lnSpc>
                <a:spcPct val="150000"/>
              </a:lnSpc>
            </a:pPr>
            <a:r>
              <a:rPr lang="en-US" altLang="zh-CN" sz="2000" dirty="0">
                <a:latin typeface="Tahoma" panose="020B0604030504040204" pitchFamily="34" charset="0"/>
              </a:rPr>
              <a:t> </a:t>
            </a:r>
            <a:r>
              <a:rPr lang="zh-CN" altLang="zh-CN" sz="2000" dirty="0">
                <a:latin typeface="Tahoma" panose="020B0604030504040204" pitchFamily="34" charset="0"/>
              </a:rPr>
              <a:t>各螺栓的拉伸变形量与其中心到底板翻转轴线的距离成正比</a:t>
            </a:r>
            <a:endParaRPr lang="zh-CN" altLang="en-US" sz="2000" dirty="0">
              <a:latin typeface="Tahoma" panose="020B0604030504040204" pitchFamily="34" charset="0"/>
            </a:endParaRPr>
          </a:p>
        </p:txBody>
      </p:sp>
      <p:sp>
        <p:nvSpPr>
          <p:cNvPr id="11" name="文本框 10"/>
          <p:cNvSpPr txBox="1"/>
          <p:nvPr/>
        </p:nvSpPr>
        <p:spPr>
          <a:xfrm>
            <a:off x="1177290" y="3906520"/>
            <a:ext cx="4657090" cy="553085"/>
          </a:xfrm>
          <a:prstGeom prst="rect">
            <a:avLst/>
          </a:prstGeom>
          <a:noFill/>
          <a:ln w="9525">
            <a:solidFill>
              <a:srgbClr val="C00000"/>
            </a:solidFill>
          </a:ln>
        </p:spPr>
        <p:txBody>
          <a:bodyPr wrap="square">
            <a:spAutoFit/>
          </a:bodyPr>
          <a:p>
            <a:pPr>
              <a:lnSpc>
                <a:spcPct val="150000"/>
              </a:lnSpc>
            </a:pPr>
            <a:r>
              <a:rPr lang="zh-CN" altLang="zh-CN" sz="2000" dirty="0">
                <a:latin typeface="Tahoma" panose="020B0604030504040204" pitchFamily="34" charset="0"/>
              </a:rPr>
              <a:t>各螺栓的工作拉力也与这个距离成正比</a:t>
            </a:r>
            <a:endParaRPr lang="zh-CN" altLang="en-US" sz="2000" dirty="0">
              <a:latin typeface="Tahoma" panose="020B0604030504040204" pitchFamily="34" charset="0"/>
            </a:endParaRPr>
          </a:p>
        </p:txBody>
      </p:sp>
      <p:sp>
        <p:nvSpPr>
          <p:cNvPr id="12" name="下箭头 11"/>
          <p:cNvSpPr/>
          <p:nvPr/>
        </p:nvSpPr>
        <p:spPr>
          <a:xfrm>
            <a:off x="3242310" y="3110230"/>
            <a:ext cx="263525" cy="734060"/>
          </a:xfrm>
          <a:prstGeom prst="downArrow">
            <a:avLst/>
          </a:prstGeom>
          <a:solidFill>
            <a:schemeClr val="accent1"/>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右箭头 13"/>
          <p:cNvSpPr/>
          <p:nvPr/>
        </p:nvSpPr>
        <p:spPr>
          <a:xfrm>
            <a:off x="1681480" y="4900930"/>
            <a:ext cx="645795" cy="215265"/>
          </a:xfrm>
          <a:prstGeom prst="rightArrow">
            <a:avLst/>
          </a:prstGeom>
          <a:solidFill>
            <a:srgbClr val="00B0F0"/>
          </a:solidFill>
          <a:ln w="9525" cap="flat" cmpd="sng" algn="ctr">
            <a:solidFill>
              <a:schemeClr val="tx1"/>
            </a:solidFill>
            <a:prstDash val="solid"/>
            <a:round/>
            <a:headEnd type="none" w="med" len="med"/>
            <a:tailEnd type="none" w="med" len="med"/>
          </a:ln>
          <a:effectLst>
            <a:outerShdw blurRad="50800" dist="38100" algn="l" rotWithShape="0">
              <a:prstClr val="black">
                <a:alpha val="40000"/>
              </a:prstClr>
            </a:outerShdw>
          </a:effec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up)">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left)">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left)">
                                      <p:cBhvr>
                                        <p:cTn id="51" dur="500"/>
                                        <p:tgtEl>
                                          <p:spTgt spid="5"/>
                                        </p:tgtEl>
                                      </p:cBhvr>
                                    </p:animEffect>
                                  </p:childTnLst>
                                </p:cTn>
                              </p:par>
                            </p:childTnLst>
                          </p:cTn>
                        </p:par>
                        <p:par>
                          <p:cTn id="52" fill="hold">
                            <p:stCondLst>
                              <p:cond delay="500"/>
                            </p:stCondLst>
                            <p:childTnLst>
                              <p:par>
                                <p:cTn id="53" presetID="9" presetClass="entr" presetSubtype="0" fill="hold" nodeType="after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dissolve">
                                      <p:cBhvr>
                                        <p:cTn id="5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3" grpId="0" bldLvl="0" animBg="1"/>
      <p:bldP spid="2" grpId="0"/>
      <p:bldP spid="10" grpId="0" bldLvl="0" animBg="1"/>
      <p:bldP spid="11" grpId="0" bldLvl="0" animBg="1"/>
      <p:bldP spid="14" grpId="0" bldLvl="0" animBg="1"/>
      <p:bldP spid="12"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Text Box 3"/>
          <p:cNvSpPr txBox="1">
            <a:spLocks noChangeArrowheads="1"/>
          </p:cNvSpPr>
          <p:nvPr/>
        </p:nvSpPr>
        <p:spPr bwMode="auto">
          <a:xfrm>
            <a:off x="634950" y="1493505"/>
            <a:ext cx="40386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chemeClr val="tx2"/>
                </a:solidFill>
                <a:latin typeface="Times New Roman" panose="02020603050405020304" pitchFamily="18" charset="0"/>
              </a:rPr>
              <a:t>接合面</a:t>
            </a:r>
            <a:r>
              <a:rPr lang="zh-CN" altLang="en-US" b="1" dirty="0">
                <a:solidFill>
                  <a:srgbClr val="FF0000"/>
                </a:solidFill>
                <a:latin typeface="Times New Roman" panose="02020603050405020304" pitchFamily="18" charset="0"/>
              </a:rPr>
              <a:t>右端应满足</a:t>
            </a:r>
            <a:r>
              <a:rPr lang="zh-CN" altLang="en-US" b="1" dirty="0">
                <a:solidFill>
                  <a:schemeClr val="tx2"/>
                </a:solidFill>
                <a:latin typeface="Times New Roman" panose="02020603050405020304" pitchFamily="18" charset="0"/>
              </a:rPr>
              <a:t>：</a:t>
            </a:r>
            <a:endParaRPr lang="zh-CN" altLang="en-US" b="1" dirty="0">
              <a:solidFill>
                <a:schemeClr val="tx2"/>
              </a:solidFill>
              <a:latin typeface="Times New Roman" panose="02020603050405020304" pitchFamily="18" charset="0"/>
            </a:endParaRPr>
          </a:p>
        </p:txBody>
      </p:sp>
      <p:sp>
        <p:nvSpPr>
          <p:cNvPr id="9221" name="Text Box 5"/>
          <p:cNvSpPr txBox="1">
            <a:spLocks noChangeArrowheads="1"/>
          </p:cNvSpPr>
          <p:nvPr/>
        </p:nvSpPr>
        <p:spPr bwMode="auto">
          <a:xfrm>
            <a:off x="672933" y="2130658"/>
            <a:ext cx="41148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FF0000"/>
                </a:solidFill>
                <a:latin typeface="Times New Roman" panose="02020603050405020304" pitchFamily="18" charset="0"/>
              </a:rPr>
              <a:t>左端应满足：</a:t>
            </a:r>
            <a:endParaRPr lang="zh-CN" altLang="en-US" b="1" dirty="0">
              <a:solidFill>
                <a:srgbClr val="FF0000"/>
              </a:solidFill>
              <a:latin typeface="Times New Roman" panose="02020603050405020304" pitchFamily="18" charset="0"/>
            </a:endParaRPr>
          </a:p>
        </p:txBody>
      </p:sp>
      <p:sp>
        <p:nvSpPr>
          <p:cNvPr id="9222" name="Text Box 7"/>
          <p:cNvSpPr txBox="1">
            <a:spLocks noChangeArrowheads="1"/>
          </p:cNvSpPr>
          <p:nvPr/>
        </p:nvSpPr>
        <p:spPr bwMode="auto">
          <a:xfrm>
            <a:off x="407670" y="4976495"/>
            <a:ext cx="523430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latin typeface="Times New Roman" panose="02020603050405020304" pitchFamily="18" charset="0"/>
              </a:rPr>
              <a:t>由公式求得预紧力</a:t>
            </a:r>
            <a:r>
              <a:rPr lang="en-US" altLang="zh-CN" b="1" i="1" dirty="0" smtClean="0">
                <a:latin typeface="Times New Roman" panose="02020603050405020304" pitchFamily="18" charset="0"/>
              </a:rPr>
              <a:t>F</a:t>
            </a:r>
            <a:r>
              <a:rPr lang="en-US" altLang="zh-CN" b="1" i="1" baseline="-25000" dirty="0" smtClean="0">
                <a:latin typeface="Times New Roman" panose="02020603050405020304" pitchFamily="18" charset="0"/>
              </a:rPr>
              <a:t>0</a:t>
            </a:r>
            <a:r>
              <a:rPr lang="zh-CN" altLang="en-US" b="1" dirty="0" smtClean="0">
                <a:latin typeface="Times New Roman" panose="02020603050405020304" pitchFamily="18" charset="0"/>
              </a:rPr>
              <a:t>，</a:t>
            </a:r>
            <a:r>
              <a:rPr lang="zh-CN" altLang="en-US" b="1" dirty="0">
                <a:latin typeface="Times New Roman" panose="02020603050405020304" pitchFamily="18" charset="0"/>
              </a:rPr>
              <a:t>并取两者较大值。</a:t>
            </a:r>
            <a:endParaRPr lang="zh-CN" altLang="en-US" b="1" dirty="0">
              <a:latin typeface="Times New Roman" panose="02020603050405020304" pitchFamily="18" charset="0"/>
            </a:endParaRPr>
          </a:p>
        </p:txBody>
      </p:sp>
      <p:pic>
        <p:nvPicPr>
          <p:cNvPr id="9223" name="Picture 9" descr="11"/>
          <p:cNvPicPr>
            <a:picLocks noChangeAspect="1" noChangeArrowheads="1"/>
          </p:cNvPicPr>
          <p:nvPr/>
        </p:nvPicPr>
        <p:blipFill>
          <a:blip r:embed="rId1">
            <a:extLst>
              <a:ext uri="{28A0092B-C50C-407E-A947-70E740481C1C}">
                <a14:useLocalDpi xmlns:a14="http://schemas.microsoft.com/office/drawing/2010/main" val="0"/>
              </a:ext>
            </a:extLst>
          </a:blip>
          <a:srcRect l="33223" r="37376" b="61417"/>
          <a:stretch>
            <a:fillRect/>
          </a:stretch>
        </p:blipFill>
        <p:spPr bwMode="auto">
          <a:xfrm>
            <a:off x="6112510" y="1819593"/>
            <a:ext cx="2509838"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Text Box 11"/>
          <p:cNvSpPr txBox="1">
            <a:spLocks noChangeArrowheads="1"/>
          </p:cNvSpPr>
          <p:nvPr/>
        </p:nvSpPr>
        <p:spPr bwMode="auto">
          <a:xfrm>
            <a:off x="634917" y="949024"/>
            <a:ext cx="7462837"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C00000"/>
                </a:solidFill>
                <a:latin typeface="Times New Roman" panose="02020603050405020304" pitchFamily="18" charset="0"/>
              </a:rPr>
              <a:t>要求：</a:t>
            </a:r>
            <a:r>
              <a:rPr lang="zh-CN" altLang="en-US" b="1" dirty="0">
                <a:latin typeface="Times New Roman" panose="02020603050405020304" pitchFamily="18" charset="0"/>
              </a:rPr>
              <a:t>保证接合面</a:t>
            </a:r>
            <a:r>
              <a:rPr lang="en-US" altLang="zh-CN" b="1" dirty="0">
                <a:solidFill>
                  <a:srgbClr val="FF0000"/>
                </a:solidFill>
                <a:latin typeface="Times New Roman" panose="02020603050405020304" pitchFamily="18" charset="0"/>
                <a:sym typeface="+mn-ea"/>
              </a:rPr>
              <a:t>(</a:t>
            </a:r>
            <a:r>
              <a:rPr lang="zh-CN" altLang="en-US" b="1" dirty="0">
                <a:solidFill>
                  <a:srgbClr val="FF0000"/>
                </a:solidFill>
                <a:latin typeface="Times New Roman" panose="02020603050405020304" pitchFamily="18" charset="0"/>
                <a:sym typeface="+mn-ea"/>
              </a:rPr>
              <a:t>左端）</a:t>
            </a:r>
            <a:r>
              <a:rPr lang="zh-CN" altLang="en-US" b="1" dirty="0">
                <a:latin typeface="Times New Roman" panose="02020603050405020304" pitchFamily="18" charset="0"/>
              </a:rPr>
              <a:t>既不出缝隙</a:t>
            </a:r>
            <a:r>
              <a:rPr lang="en-US" altLang="zh-CN" b="1" dirty="0">
                <a:solidFill>
                  <a:srgbClr val="FF0000"/>
                </a:solidFill>
                <a:latin typeface="Times New Roman" panose="02020603050405020304" pitchFamily="18" charset="0"/>
                <a:sym typeface="+mn-ea"/>
              </a:rPr>
              <a:t>(</a:t>
            </a:r>
            <a:r>
              <a:rPr lang="zh-CN" altLang="en-US" b="1" dirty="0">
                <a:solidFill>
                  <a:srgbClr val="FF0000"/>
                </a:solidFill>
                <a:latin typeface="Times New Roman" panose="02020603050405020304" pitchFamily="18" charset="0"/>
                <a:sym typeface="+mn-ea"/>
              </a:rPr>
              <a:t>右</a:t>
            </a:r>
            <a:r>
              <a:rPr lang="zh-CN" altLang="en-US" b="1" dirty="0">
                <a:solidFill>
                  <a:srgbClr val="FF0000"/>
                </a:solidFill>
                <a:latin typeface="Times New Roman" panose="02020603050405020304" pitchFamily="18" charset="0"/>
                <a:sym typeface="+mn-ea"/>
              </a:rPr>
              <a:t>端）</a:t>
            </a:r>
            <a:r>
              <a:rPr lang="zh-CN" altLang="en-US" b="1" dirty="0">
                <a:latin typeface="Times New Roman" panose="02020603050405020304" pitchFamily="18" charset="0"/>
              </a:rPr>
              <a:t>也不被压溃。</a:t>
            </a:r>
            <a:endParaRPr lang="zh-CN" altLang="en-US" b="1" dirty="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9225" name="Text Box 12"/>
              <p:cNvSpPr txBox="1">
                <a:spLocks noChangeArrowheads="1"/>
              </p:cNvSpPr>
              <p:nvPr/>
            </p:nvSpPr>
            <p:spPr bwMode="auto">
              <a:xfrm>
                <a:off x="320007" y="349969"/>
                <a:ext cx="83518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5000"/>
                  </a:spcBef>
                </a:pPr>
                <a:r>
                  <a:rPr lang="zh-CN" altLang="en-US" sz="2400" b="1" dirty="0" smtClean="0">
                    <a:solidFill>
                      <a:srgbClr val="C00000"/>
                    </a:solidFill>
                    <a:latin typeface="Times New Roman" panose="02020603050405020304" pitchFamily="18" charset="0"/>
                  </a:rPr>
                  <a:t>分析螺栓预紧力</a:t>
                </a:r>
                <a14:m>
                  <m:oMath xmlns:m="http://schemas.openxmlformats.org/officeDocument/2006/math">
                    <m:sSub>
                      <m:sSubPr>
                        <m:ctrlPr>
                          <a:rPr lang="en-US" altLang="zh-CN" sz="2400" b="1" i="1" dirty="0" smtClean="0">
                            <a:solidFill>
                              <a:srgbClr val="C00000"/>
                            </a:solidFill>
                            <a:latin typeface="Cambria Math" panose="02040503050406030204" pitchFamily="18" charset="0"/>
                          </a:rPr>
                        </m:ctrlPr>
                      </m:sSubPr>
                      <m:e>
                        <m:r>
                          <a:rPr lang="en-US" altLang="zh-CN" sz="2400" b="1" i="1" dirty="0" smtClean="0">
                            <a:solidFill>
                              <a:srgbClr val="C00000"/>
                            </a:solidFill>
                            <a:latin typeface="Cambria Math" panose="02040503050406030204" pitchFamily="18" charset="0"/>
                          </a:rPr>
                          <m:t>𝑭</m:t>
                        </m:r>
                      </m:e>
                      <m:sub>
                        <m:r>
                          <a:rPr lang="en-US" altLang="zh-CN" sz="2400" b="1" i="1" dirty="0" smtClean="0">
                            <a:solidFill>
                              <a:srgbClr val="C00000"/>
                            </a:solidFill>
                            <a:latin typeface="Cambria Math" panose="02040503050406030204" pitchFamily="18" charset="0"/>
                          </a:rPr>
                          <m:t>𝟎</m:t>
                        </m:r>
                      </m:sub>
                    </m:sSub>
                  </m:oMath>
                </a14:m>
                <a:endParaRPr lang="en-US" altLang="zh-CN" sz="2400" b="1" i="1" baseline="-25000" dirty="0" smtClean="0">
                  <a:solidFill>
                    <a:srgbClr val="C00000"/>
                  </a:solidFill>
                  <a:latin typeface="Cambria Math" panose="02040503050406030204" pitchFamily="18" charset="0"/>
                  <a:cs typeface="Cambria Math" panose="02040503050406030204" pitchFamily="18" charset="0"/>
                </a:endParaRPr>
              </a:p>
            </p:txBody>
          </p:sp>
        </mc:Choice>
        <mc:Fallback>
          <p:sp>
            <p:nvSpPr>
              <p:cNvPr id="9225" name="Text Box 12"/>
              <p:cNvSpPr txBox="1">
                <a:spLocks noRot="1" noChangeAspect="1" noMove="1" noResize="1" noEditPoints="1" noAdjustHandles="1" noChangeArrowheads="1" noChangeShapeType="1" noTextEdit="1"/>
              </p:cNvSpPr>
              <p:nvPr/>
            </p:nvSpPr>
            <p:spPr bwMode="auto">
              <a:xfrm>
                <a:off x="320007" y="349969"/>
                <a:ext cx="8351838" cy="461665"/>
              </a:xfrm>
              <a:prstGeom prst="rect">
                <a:avLst/>
              </a:prstGeom>
              <a:blipFill rotWithShape="1">
                <a:blip r:embed="rId2"/>
                <a:stretch>
                  <a:fillRect l="-7" t="-18" r="3" b="-231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9226" name="Group 14"/>
          <p:cNvGrpSpPr/>
          <p:nvPr/>
        </p:nvGrpSpPr>
        <p:grpSpPr bwMode="auto">
          <a:xfrm>
            <a:off x="5990273" y="3772535"/>
            <a:ext cx="2951162" cy="1895475"/>
            <a:chOff x="3424" y="2478"/>
            <a:chExt cx="1859" cy="1194"/>
          </a:xfrm>
        </p:grpSpPr>
        <p:pic>
          <p:nvPicPr>
            <p:cNvPr id="9227" name="Picture 10" descr="11"/>
            <p:cNvPicPr>
              <a:picLocks noChangeAspect="1" noChangeArrowheads="1"/>
            </p:cNvPicPr>
            <p:nvPr/>
          </p:nvPicPr>
          <p:blipFill>
            <a:blip r:embed="rId1">
              <a:extLst>
                <a:ext uri="{28A0092B-C50C-407E-A947-70E740481C1C}">
                  <a14:useLocalDpi xmlns:a14="http://schemas.microsoft.com/office/drawing/2010/main" val="0"/>
                </a:ext>
              </a:extLst>
            </a:blip>
            <a:srcRect l="63126" b="55118"/>
            <a:stretch>
              <a:fillRect/>
            </a:stretch>
          </p:blipFill>
          <p:spPr bwMode="auto">
            <a:xfrm>
              <a:off x="3424" y="2478"/>
              <a:ext cx="1859" cy="1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8" name="Picture 13" descr="u=3368332832,2136434202&amp;fm=23&amp;gp=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6" y="2478"/>
              <a:ext cx="336"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文本框 3"/>
          <p:cNvSpPr txBox="1">
            <a:spLocks noRot="1" noChangeAspect="1" noMove="1" noResize="1" noEditPoints="1" noAdjustHandles="1" noChangeArrowheads="1" noChangeShapeType="1" noTextEdit="1"/>
          </p:cNvSpPr>
          <p:nvPr/>
        </p:nvSpPr>
        <p:spPr>
          <a:xfrm>
            <a:off x="1430020" y="3470275"/>
            <a:ext cx="3662045" cy="558800"/>
          </a:xfrm>
          <a:prstGeom prst="rect">
            <a:avLst/>
          </a:prstGeom>
          <a:blipFill>
            <a:blip r:embed="rId4"/>
            <a:stretch>
              <a:fillRect/>
            </a:stretch>
          </a:blipFill>
        </p:spPr>
        <p:txBody>
          <a:bodyPr/>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5" name="文本框 4"/>
          <p:cNvSpPr txBox="1">
            <a:spLocks noRot="1" noChangeAspect="1" noMove="1" noResize="1" noEditPoints="1" noAdjustHandles="1" noChangeArrowheads="1" noChangeShapeType="1" noTextEdit="1"/>
          </p:cNvSpPr>
          <p:nvPr/>
        </p:nvSpPr>
        <p:spPr>
          <a:xfrm>
            <a:off x="1449635" y="4309130"/>
            <a:ext cx="3150057" cy="480516"/>
          </a:xfrm>
          <a:prstGeom prst="rect">
            <a:avLst/>
          </a:prstGeom>
          <a:blipFill>
            <a:blip r:embed="rId5"/>
            <a:stretch>
              <a:fillRect/>
            </a:stretch>
          </a:blipFill>
        </p:spPr>
        <p:txBody>
          <a:bodyPr/>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graphicFrame>
        <p:nvGraphicFramePr>
          <p:cNvPr id="7" name="对象 6">
            <a:hlinkClick r:id="" action="ppaction://ole?verb="/>
          </p:cNvPr>
          <p:cNvGraphicFramePr>
            <a:graphicFrameLocks noChangeAspect="1"/>
          </p:cNvGraphicFramePr>
          <p:nvPr/>
        </p:nvGraphicFramePr>
        <p:xfrm>
          <a:off x="3392170" y="1440180"/>
          <a:ext cx="3416935" cy="484505"/>
        </p:xfrm>
        <a:graphic>
          <a:graphicData uri="http://schemas.openxmlformats.org/presentationml/2006/ole">
            <mc:AlternateContent xmlns:mc="http://schemas.openxmlformats.org/markup-compatibility/2006">
              <mc:Choice xmlns:v="urn:schemas-microsoft-com:vml" Requires="v">
                <p:oleObj spid="_x0000_s1025" name="" r:id="rId6" imgW="1701800" imgH="241300" progId="Equation.KSEE3">
                  <p:embed/>
                </p:oleObj>
              </mc:Choice>
              <mc:Fallback>
                <p:oleObj name="" r:id="rId6" imgW="1701800" imgH="241300" progId="Equation.KSEE3">
                  <p:embed/>
                  <p:pic>
                    <p:nvPicPr>
                      <p:cNvPr id="0" name="图片 1024"/>
                      <p:cNvPicPr/>
                      <p:nvPr/>
                    </p:nvPicPr>
                    <p:blipFill>
                      <a:blip r:embed="rId7"/>
                      <a:stretch>
                        <a:fillRect/>
                      </a:stretch>
                    </p:blipFill>
                    <p:spPr>
                      <a:xfrm>
                        <a:off x="3392170" y="1440180"/>
                        <a:ext cx="3416935" cy="48450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2644775" y="2130425"/>
          <a:ext cx="3009265" cy="484505"/>
        </p:xfrm>
        <a:graphic>
          <a:graphicData uri="http://schemas.openxmlformats.org/presentationml/2006/ole">
            <mc:AlternateContent xmlns:mc="http://schemas.openxmlformats.org/markup-compatibility/2006">
              <mc:Choice xmlns:v="urn:schemas-microsoft-com:vml" Requires="v">
                <p:oleObj spid="_x0000_s2" name="" r:id="rId8" imgW="1498600" imgH="241300" progId="Equation.KSEE3">
                  <p:embed/>
                </p:oleObj>
              </mc:Choice>
              <mc:Fallback>
                <p:oleObj name="" r:id="rId8" imgW="1498600" imgH="241300" progId="Equation.KSEE3">
                  <p:embed/>
                  <p:pic>
                    <p:nvPicPr>
                      <p:cNvPr id="0" name="图片 1024"/>
                      <p:cNvPicPr/>
                      <p:nvPr/>
                    </p:nvPicPr>
                    <p:blipFill>
                      <a:blip r:embed="rId9"/>
                      <a:stretch>
                        <a:fillRect/>
                      </a:stretch>
                    </p:blipFill>
                    <p:spPr>
                      <a:xfrm>
                        <a:off x="2644775" y="2130425"/>
                        <a:ext cx="3009265" cy="484505"/>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2349500" y="2614930"/>
          <a:ext cx="1508125" cy="719455"/>
        </p:xfrm>
        <a:graphic>
          <a:graphicData uri="http://schemas.openxmlformats.org/presentationml/2006/ole">
            <mc:AlternateContent xmlns:mc="http://schemas.openxmlformats.org/markup-compatibility/2006">
              <mc:Choice xmlns:v="urn:schemas-microsoft-com:vml" Requires="v">
                <p:oleObj spid="_x0000_s10" name="" r:id="rId10" imgW="825500" imgH="393700" progId="Equation.KSEE3">
                  <p:embed/>
                </p:oleObj>
              </mc:Choice>
              <mc:Fallback>
                <p:oleObj name="" r:id="rId10" imgW="825500" imgH="393700" progId="Equation.KSEE3">
                  <p:embed/>
                  <p:pic>
                    <p:nvPicPr>
                      <p:cNvPr id="0" name="图片 1024"/>
                      <p:cNvPicPr/>
                      <p:nvPr/>
                    </p:nvPicPr>
                    <p:blipFill>
                      <a:blip r:embed="rId11"/>
                      <a:stretch>
                        <a:fillRect/>
                      </a:stretch>
                    </p:blipFill>
                    <p:spPr>
                      <a:xfrm>
                        <a:off x="2349500" y="2614930"/>
                        <a:ext cx="1508125" cy="719455"/>
                      </a:xfrm>
                      <a:prstGeom prst="rect">
                        <a:avLst/>
                      </a:prstGeom>
                    </p:spPr>
                  </p:pic>
                </p:oleObj>
              </mc:Fallback>
            </mc:AlternateContent>
          </a:graphicData>
        </a:graphic>
      </p:graphicFrame>
      <p:sp>
        <p:nvSpPr>
          <p:cNvPr id="11" name="文本框 10"/>
          <p:cNvSpPr txBox="1"/>
          <p:nvPr/>
        </p:nvSpPr>
        <p:spPr>
          <a:xfrm>
            <a:off x="7037070" y="2185035"/>
            <a:ext cx="433705" cy="429895"/>
          </a:xfrm>
          <a:prstGeom prst="rect">
            <a:avLst/>
          </a:prstGeom>
          <a:solidFill>
            <a:schemeClr val="bg1"/>
          </a:solidFill>
        </p:spPr>
        <p:txBody>
          <a:bodyPr wrap="square" rtlCol="0">
            <a:spAutoFit/>
          </a:bodyPr>
          <a:p>
            <a:r>
              <a:rPr lang="en-US" altLang="zh-CN"/>
              <a:t>F</a:t>
            </a:r>
            <a:r>
              <a:rPr lang="en-US" altLang="zh-CN" baseline="-25000"/>
              <a:t>0</a:t>
            </a:r>
            <a:endParaRPr lang="en-US" altLang="zh-CN" baseline="-25000"/>
          </a:p>
        </p:txBody>
      </p:sp>
      <p:sp>
        <p:nvSpPr>
          <p:cNvPr id="43026" name="Text Box 18"/>
          <p:cNvSpPr txBox="1"/>
          <p:nvPr/>
        </p:nvSpPr>
        <p:spPr>
          <a:xfrm>
            <a:off x="250825" y="5527993"/>
            <a:ext cx="7307263" cy="953135"/>
          </a:xfrm>
          <a:prstGeom prst="rect">
            <a:avLst/>
          </a:prstGeom>
          <a:noFill/>
          <a:ln w="9525">
            <a:noFill/>
          </a:ln>
        </p:spPr>
        <p:txBody>
          <a:bodyPr>
            <a:spAutoFit/>
          </a:bodyPr>
          <a:p>
            <a:pPr eaLnBrk="1" hangingPunct="1">
              <a:lnSpc>
                <a:spcPct val="140000"/>
              </a:lnSpc>
            </a:pPr>
            <a:r>
              <a:rPr lang="zh-CN" altLang="en-US" sz="2000" dirty="0">
                <a:solidFill>
                  <a:srgbClr val="000099"/>
                </a:solidFill>
                <a:latin typeface="Tahoma" panose="020B0604030504040204" pitchFamily="34" charset="0"/>
              </a:rPr>
              <a:t>　　式中， </a:t>
            </a:r>
            <a:r>
              <a:rPr lang="en-US" altLang="zh-CN" sz="2000" dirty="0">
                <a:solidFill>
                  <a:srgbClr val="000099"/>
                </a:solidFill>
                <a:latin typeface="Times New Roman" panose="02020603050405020304" pitchFamily="18" charset="0"/>
              </a:rPr>
              <a:t>[</a:t>
            </a:r>
            <a:r>
              <a:rPr lang="en-US" altLang="zh-CN" sz="2000" dirty="0">
                <a:solidFill>
                  <a:srgbClr val="000099"/>
                </a:solidFill>
                <a:latin typeface="Symbol" panose="05050102010706020507" pitchFamily="18" charset="2"/>
              </a:rPr>
              <a:t>s</a:t>
            </a:r>
            <a:r>
              <a:rPr lang="en-US" altLang="zh-CN" sz="2000" baseline="-25000" dirty="0">
                <a:solidFill>
                  <a:srgbClr val="000099"/>
                </a:solidFill>
                <a:latin typeface="Times New Roman" panose="02020603050405020304" pitchFamily="18" charset="0"/>
              </a:rPr>
              <a:t>p</a:t>
            </a:r>
            <a:r>
              <a:rPr lang="en-US" altLang="zh-CN" sz="2000" dirty="0">
                <a:solidFill>
                  <a:srgbClr val="000099"/>
                </a:solidFill>
                <a:latin typeface="Times New Roman" panose="02020603050405020304" pitchFamily="18" charset="0"/>
              </a:rPr>
              <a:t>]</a:t>
            </a:r>
            <a:r>
              <a:rPr lang="zh-CN" altLang="en-US" sz="2000" dirty="0">
                <a:solidFill>
                  <a:srgbClr val="000099"/>
                </a:solidFill>
                <a:latin typeface="Times New Roman" panose="02020603050405020304" pitchFamily="18" charset="0"/>
              </a:rPr>
              <a:t>为</a:t>
            </a:r>
            <a:r>
              <a:rPr lang="zh-CN" altLang="en-US" sz="2000" dirty="0">
                <a:solidFill>
                  <a:srgbClr val="000099"/>
                </a:solidFill>
                <a:latin typeface="Tahoma" panose="020B0604030504040204" pitchFamily="34" charset="0"/>
              </a:rPr>
              <a:t>地基</a:t>
            </a:r>
            <a:r>
              <a:rPr lang="zh-CN" altLang="en-US" sz="2000" dirty="0">
                <a:solidFill>
                  <a:srgbClr val="000099"/>
                </a:solidFill>
                <a:latin typeface="Tahoma" panose="020B0604030504040204" pitchFamily="34" charset="0"/>
              </a:rPr>
              <a:t>接合面材料的许用挤压应力。</a:t>
            </a:r>
            <a:endParaRPr lang="zh-CN" altLang="en-US" sz="2000" dirty="0">
              <a:solidFill>
                <a:srgbClr val="000099"/>
              </a:solidFill>
              <a:latin typeface="Tahoma" panose="020B0604030504040204" pitchFamily="34" charset="0"/>
            </a:endParaRPr>
          </a:p>
          <a:p>
            <a:pPr eaLnBrk="1" hangingPunct="1">
              <a:lnSpc>
                <a:spcPct val="140000"/>
              </a:lnSpc>
            </a:pPr>
            <a:r>
              <a:rPr lang="zh-CN" altLang="en-US" sz="2000" dirty="0">
                <a:solidFill>
                  <a:srgbClr val="000099"/>
                </a:solidFill>
                <a:latin typeface="Tahoma" panose="020B0604030504040204" pitchFamily="34" charset="0"/>
              </a:rPr>
              <a:t>　　常用接合面材料的许用挤压应力值可查表</a:t>
            </a:r>
            <a:r>
              <a:rPr lang="en-US" altLang="zh-CN" sz="2000" dirty="0">
                <a:solidFill>
                  <a:srgbClr val="000099"/>
                </a:solidFill>
                <a:latin typeface="Tahoma" panose="020B0604030504040204" pitchFamily="34" charset="0"/>
              </a:rPr>
              <a:t>2.3-5(</a:t>
            </a:r>
            <a:r>
              <a:rPr lang="zh-CN" altLang="en-US" sz="2000" dirty="0">
                <a:solidFill>
                  <a:srgbClr val="000099"/>
                </a:solidFill>
                <a:latin typeface="Tahoma" panose="020B0604030504040204" pitchFamily="34" charset="0"/>
              </a:rPr>
              <a:t>教材</a:t>
            </a:r>
            <a:r>
              <a:rPr lang="en-US" altLang="zh-CN" sz="2000" dirty="0">
                <a:solidFill>
                  <a:srgbClr val="000099"/>
                </a:solidFill>
                <a:latin typeface="Tahoma" panose="020B0604030504040204" pitchFamily="34" charset="0"/>
              </a:rPr>
              <a:t>P94</a:t>
            </a:r>
            <a:r>
              <a:rPr lang="zh-CN" altLang="en-US" sz="2000" dirty="0">
                <a:solidFill>
                  <a:srgbClr val="000099"/>
                </a:solidFill>
                <a:latin typeface="Tahoma" panose="020B0604030504040204" pitchFamily="34" charset="0"/>
              </a:rPr>
              <a:t>）</a:t>
            </a:r>
            <a:r>
              <a:rPr lang="zh-CN" altLang="en-US" sz="2000" dirty="0">
                <a:solidFill>
                  <a:srgbClr val="000099"/>
                </a:solidFill>
                <a:latin typeface="Tahoma" panose="020B0604030504040204" pitchFamily="34" charset="0"/>
              </a:rPr>
              <a:t>。 </a:t>
            </a:r>
            <a:endParaRPr lang="zh-CN" altLang="en-US" sz="2000" dirty="0">
              <a:solidFill>
                <a:srgbClr val="000099"/>
              </a:solidFill>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4"/>
                                        </p:tgtEl>
                                        <p:attrNameLst>
                                          <p:attrName>style.visibility</p:attrName>
                                        </p:attrNameLst>
                                      </p:cBhvr>
                                      <p:to>
                                        <p:strVal val="visible"/>
                                      </p:to>
                                    </p:set>
                                    <p:animEffect transition="in" filter="wipe(left)">
                                      <p:cBhvr>
                                        <p:cTn id="7" dur="500"/>
                                        <p:tgtEl>
                                          <p:spTgt spid="92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0"/>
                                        </p:tgtEl>
                                        <p:attrNameLst>
                                          <p:attrName>style.visibility</p:attrName>
                                        </p:attrNameLst>
                                      </p:cBhvr>
                                      <p:to>
                                        <p:strVal val="visible"/>
                                      </p:to>
                                    </p:set>
                                    <p:animEffect transition="in" filter="wipe(left)">
                                      <p:cBhvr>
                                        <p:cTn id="12" dur="500"/>
                                        <p:tgtEl>
                                          <p:spTgt spid="92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21"/>
                                        </p:tgtEl>
                                        <p:attrNameLst>
                                          <p:attrName>style.visibility</p:attrName>
                                        </p:attrNameLst>
                                      </p:cBhvr>
                                      <p:to>
                                        <p:strVal val="visible"/>
                                      </p:to>
                                    </p:set>
                                    <p:animEffect transition="in" filter="wipe(left)">
                                      <p:cBhvr>
                                        <p:cTn id="22" dur="500"/>
                                        <p:tgtEl>
                                          <p:spTgt spid="92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222"/>
                                        </p:tgtEl>
                                        <p:attrNameLst>
                                          <p:attrName>style.visibility</p:attrName>
                                        </p:attrNameLst>
                                      </p:cBhvr>
                                      <p:to>
                                        <p:strVal val="visible"/>
                                      </p:to>
                                    </p:set>
                                    <p:animEffect transition="in" filter="wipe(left)">
                                      <p:cBhvr>
                                        <p:cTn id="47" dur="500"/>
                                        <p:tgtEl>
                                          <p:spTgt spid="922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3026">
                                            <p:txEl>
                                              <p:charRg st="0" end="27"/>
                                            </p:txEl>
                                          </p:spTgt>
                                        </p:tgtEl>
                                        <p:attrNameLst>
                                          <p:attrName>style.visibility</p:attrName>
                                        </p:attrNameLst>
                                      </p:cBhvr>
                                      <p:to>
                                        <p:strVal val="visible"/>
                                      </p:to>
                                    </p:set>
                                    <p:animEffect transition="in" filter="wipe(left)">
                                      <p:cBhvr>
                                        <p:cTn id="52" dur="1000"/>
                                        <p:tgtEl>
                                          <p:spTgt spid="43026">
                                            <p:txEl>
                                              <p:charRg st="0" end="2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3026">
                                            <p:txEl>
                                              <p:charRg st="27" end="51"/>
                                            </p:txEl>
                                          </p:spTgt>
                                        </p:tgtEl>
                                        <p:attrNameLst>
                                          <p:attrName>style.visibility</p:attrName>
                                        </p:attrNameLst>
                                      </p:cBhvr>
                                      <p:to>
                                        <p:strVal val="visible"/>
                                      </p:to>
                                    </p:set>
                                    <p:animEffect transition="in" filter="wipe(left)">
                                      <p:cBhvr>
                                        <p:cTn id="57" dur="1000"/>
                                        <p:tgtEl>
                                          <p:spTgt spid="43026">
                                            <p:txEl>
                                              <p:charRg st="27" end="5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4" grpId="0"/>
      <p:bldP spid="9220" grpId="0"/>
      <p:bldP spid="9221" grpId="0"/>
      <p:bldP spid="9222" grpId="0"/>
      <p:bldP spid="43026"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10655" y="1552040"/>
            <a:ext cx="856648" cy="1107996"/>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solidFill>
              <a:srgbClr val="0070C0"/>
            </a:solidFill>
          </a:ln>
        </p:spPr>
        <p:txBody>
          <a:bodyPr wrap="square" rtlCol="0">
            <a:spAutoFit/>
          </a:bodyPr>
          <a:lstStyle/>
          <a:p>
            <a:r>
              <a:rPr lang="zh-CN" altLang="en-US" dirty="0" smtClean="0"/>
              <a:t>受拉螺栓连接</a:t>
            </a:r>
            <a:endParaRPr lang="zh-CN" altLang="en-US" dirty="0"/>
          </a:p>
        </p:txBody>
      </p:sp>
      <mc:AlternateContent xmlns:mc="http://schemas.openxmlformats.org/markup-compatibility/2006">
        <mc:Choice xmlns:a14="http://schemas.microsoft.com/office/drawing/2010/main" Requires="a14">
          <p:sp>
            <p:nvSpPr>
              <p:cNvPr id="5" name="文本框 4"/>
              <p:cNvSpPr txBox="1"/>
              <p:nvPr/>
            </p:nvSpPr>
            <p:spPr>
              <a:xfrm>
                <a:off x="1558325" y="1526840"/>
                <a:ext cx="1684420" cy="430887"/>
              </a:xfrm>
              <a:prstGeom prst="rect">
                <a:avLst/>
              </a:prstGeom>
              <a:solidFill>
                <a:schemeClr val="accent4">
                  <a:lumMod val="20000"/>
                  <a:lumOff val="80000"/>
                </a:schemeClr>
              </a:solidFill>
              <a:ln>
                <a:gradFill>
                  <a:gsLst>
                    <a:gs pos="0">
                      <a:srgbClr val="007BD3"/>
                    </a:gs>
                    <a:gs pos="100000">
                      <a:srgbClr val="034373"/>
                    </a:gs>
                  </a:gsLst>
                </a:gradFill>
              </a:ln>
            </p:spPr>
            <p:txBody>
              <a:bodyPr wrap="square" rtlCol="0">
                <a:spAutoFit/>
              </a:bodyPr>
              <a:lstStyle/>
              <a:p>
                <a:r>
                  <a:rPr lang="zh-CN" altLang="en-US" dirty="0" smtClean="0"/>
                  <a:t>受轴向力</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m:rPr>
                            <m:sty m:val="p"/>
                          </m:rPr>
                          <a:rPr lang="el-GR" altLang="zh-CN" b="0" i="1" smtClean="0">
                            <a:latin typeface="Cambria Math" panose="02040503050406030204" pitchFamily="18" charset="0"/>
                            <a:ea typeface="Cambria Math" panose="02040503050406030204" pitchFamily="18" charset="0"/>
                          </a:rPr>
                          <m:t>Σ</m:t>
                        </m:r>
                      </m:sub>
                    </m:sSub>
                  </m:oMath>
                </a14:m>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1558325" y="1526840"/>
                <a:ext cx="1684420" cy="430887"/>
              </a:xfrm>
              <a:prstGeom prst="rect">
                <a:avLst/>
              </a:prstGeom>
              <a:blipFill rotWithShape="1">
                <a:blip r:embed="rId1"/>
                <a:stretch>
                  <a:fillRect l="-304" t="-1249" r="-276" b="-1026"/>
                </a:stretch>
              </a:blipFill>
              <a:ln>
                <a:gradFill>
                  <a:gsLst>
                    <a:gs pos="0">
                      <a:srgbClr val="007BD3"/>
                    </a:gs>
                    <a:gs pos="100000">
                      <a:srgbClr val="034373"/>
                    </a:gs>
                  </a:gsLst>
                </a:gra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1529314" y="502218"/>
                <a:ext cx="1636295" cy="430887"/>
              </a:xfrm>
              <a:prstGeom prst="rect">
                <a:avLst/>
              </a:prstGeom>
              <a:solidFill>
                <a:schemeClr val="tx2">
                  <a:lumMod val="20000"/>
                  <a:lumOff val="80000"/>
                </a:schemeClr>
              </a:solidFill>
            </p:spPr>
            <p:txBody>
              <a:bodyPr wrap="square" rtlCol="0">
                <a:spAutoFit/>
              </a:bodyPr>
              <a:lstStyle/>
              <a:p>
                <a:r>
                  <a:rPr lang="zh-CN" altLang="en-US" dirty="0" smtClean="0"/>
                  <a:t>受</a:t>
                </a:r>
                <a:r>
                  <a:rPr lang="zh-CN" altLang="en-US" dirty="0"/>
                  <a:t>横</a:t>
                </a:r>
                <a:r>
                  <a:rPr lang="zh-CN" altLang="en-US" dirty="0" smtClean="0"/>
                  <a:t>向力</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m:rPr>
                            <m:sty m:val="p"/>
                          </m:rPr>
                          <a:rPr lang="el-GR" altLang="zh-CN" b="0" i="1" smtClean="0">
                            <a:latin typeface="Cambria Math" panose="02040503050406030204" pitchFamily="18" charset="0"/>
                            <a:ea typeface="Cambria Math" panose="02040503050406030204" pitchFamily="18" charset="0"/>
                          </a:rPr>
                          <m:t>Σ</m:t>
                        </m:r>
                      </m:sub>
                    </m:sSub>
                  </m:oMath>
                </a14:m>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1529314" y="502218"/>
                <a:ext cx="1636295" cy="430887"/>
              </a:xfrm>
              <a:prstGeom prst="rect">
                <a:avLst/>
              </a:prstGeom>
              <a:blipFill rotWithShape="1">
                <a:blip r:embed="rId2"/>
                <a:stretch>
                  <a:fillRect l="-14" t="-132" r="8" b="67"/>
                </a:stretch>
              </a:blipFill>
            </p:spPr>
            <p:txBody>
              <a:bodyPr/>
              <a:lstStyle/>
              <a:p>
                <a:r>
                  <a:rPr lang="zh-CN" altLang="en-US">
                    <a:noFill/>
                  </a:rPr>
                  <a:t> </a:t>
                </a:r>
              </a:p>
            </p:txBody>
          </p:sp>
        </mc:Fallback>
      </mc:AlternateContent>
      <p:sp>
        <p:nvSpPr>
          <p:cNvPr id="7" name="文本框 6"/>
          <p:cNvSpPr txBox="1"/>
          <p:nvPr/>
        </p:nvSpPr>
        <p:spPr>
          <a:xfrm>
            <a:off x="3523515" y="169044"/>
            <a:ext cx="1896177" cy="430887"/>
          </a:xfrm>
          <a:prstGeom prst="rect">
            <a:avLst/>
          </a:prstGeom>
          <a:solidFill>
            <a:schemeClr val="tx2">
              <a:lumMod val="20000"/>
              <a:lumOff val="80000"/>
            </a:schemeClr>
          </a:solidFill>
          <a:ln>
            <a:solidFill>
              <a:schemeClr val="tx2">
                <a:lumMod val="60000"/>
                <a:lumOff val="40000"/>
              </a:schemeClr>
            </a:solidFill>
          </a:ln>
        </p:spPr>
        <p:txBody>
          <a:bodyPr wrap="square" rtlCol="0">
            <a:spAutoFit/>
          </a:bodyPr>
          <a:lstStyle/>
          <a:p>
            <a:r>
              <a:rPr lang="zh-CN" altLang="en-US" dirty="0" smtClean="0"/>
              <a:t>普通螺栓连接</a:t>
            </a:r>
            <a:endParaRPr lang="zh-CN" altLang="en-US" dirty="0"/>
          </a:p>
        </p:txBody>
      </p:sp>
      <p:sp>
        <p:nvSpPr>
          <p:cNvPr id="8" name="文本框 7"/>
          <p:cNvSpPr txBox="1"/>
          <p:nvPr/>
        </p:nvSpPr>
        <p:spPr>
          <a:xfrm>
            <a:off x="3562217" y="1193667"/>
            <a:ext cx="1896177" cy="430887"/>
          </a:xfrm>
          <a:prstGeom prst="rect">
            <a:avLst/>
          </a:prstGeom>
          <a:solidFill>
            <a:schemeClr val="accent4">
              <a:lumMod val="20000"/>
              <a:lumOff val="80000"/>
            </a:schemeClr>
          </a:solidFill>
          <a:ln>
            <a:gradFill>
              <a:gsLst>
                <a:gs pos="0">
                  <a:srgbClr val="012D86"/>
                </a:gs>
                <a:gs pos="100000">
                  <a:srgbClr val="0E2557"/>
                </a:gs>
              </a:gsLst>
            </a:gradFill>
          </a:ln>
        </p:spPr>
        <p:txBody>
          <a:bodyPr wrap="square" rtlCol="0">
            <a:spAutoFit/>
          </a:bodyPr>
          <a:lstStyle/>
          <a:p>
            <a:r>
              <a:rPr lang="zh-CN" altLang="en-US" dirty="0" smtClean="0"/>
              <a:t>普通螺栓连接</a:t>
            </a:r>
            <a:endParaRPr lang="zh-CN" altLang="en-US" dirty="0"/>
          </a:p>
        </p:txBody>
      </p:sp>
      <p:sp>
        <p:nvSpPr>
          <p:cNvPr id="9" name="文本框 8"/>
          <p:cNvSpPr txBox="1"/>
          <p:nvPr/>
        </p:nvSpPr>
        <p:spPr>
          <a:xfrm>
            <a:off x="1500874" y="2453906"/>
            <a:ext cx="1876925" cy="430887"/>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5400000" scaled="1"/>
            <a:tileRect/>
          </a:gradFill>
          <a:ln>
            <a:solidFill>
              <a:srgbClr val="00B050"/>
            </a:solidFill>
          </a:ln>
        </p:spPr>
        <p:txBody>
          <a:bodyPr wrap="square" rtlCol="0">
            <a:spAutoFit/>
          </a:bodyPr>
          <a:lstStyle/>
          <a:p>
            <a:r>
              <a:rPr lang="zh-CN" altLang="en-US" dirty="0" smtClean="0"/>
              <a:t>受旋转力矩</a:t>
            </a:r>
            <a:r>
              <a:rPr lang="en-US" altLang="zh-CN" dirty="0"/>
              <a:t>T</a:t>
            </a:r>
            <a:endParaRPr lang="zh-CN" altLang="en-US" dirty="0"/>
          </a:p>
        </p:txBody>
      </p:sp>
      <p:sp>
        <p:nvSpPr>
          <p:cNvPr id="10" name="文本框 9"/>
          <p:cNvSpPr txBox="1"/>
          <p:nvPr/>
        </p:nvSpPr>
        <p:spPr>
          <a:xfrm>
            <a:off x="1482090" y="3166745"/>
            <a:ext cx="1885315" cy="42989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a:solidFill>
              <a:srgbClr val="FFC000"/>
            </a:solidFill>
          </a:ln>
        </p:spPr>
        <p:txBody>
          <a:bodyPr wrap="square" rtlCol="0">
            <a:spAutoFit/>
          </a:bodyPr>
          <a:lstStyle/>
          <a:p>
            <a:r>
              <a:rPr lang="zh-CN" altLang="en-US" dirty="0" smtClean="0"/>
              <a:t>受翻转力矩</a:t>
            </a:r>
            <a:r>
              <a:rPr lang="en-US" altLang="zh-CN" dirty="0" smtClean="0"/>
              <a:t>M</a:t>
            </a:r>
            <a:endParaRPr lang="zh-CN" altLang="en-US" dirty="0"/>
          </a:p>
        </p:txBody>
      </p:sp>
      <p:sp>
        <p:nvSpPr>
          <p:cNvPr id="11" name="文本框 10"/>
          <p:cNvSpPr txBox="1"/>
          <p:nvPr/>
        </p:nvSpPr>
        <p:spPr>
          <a:xfrm>
            <a:off x="5776930" y="2521820"/>
            <a:ext cx="3137836" cy="430887"/>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5400000" scaled="1"/>
            <a:tileRect/>
          </a:gradFill>
          <a:ln>
            <a:solidFill>
              <a:srgbClr val="00B050"/>
            </a:solidFill>
          </a:ln>
        </p:spPr>
        <p:txBody>
          <a:bodyPr wrap="square" rtlCol="0">
            <a:spAutoFit/>
          </a:bodyPr>
          <a:lstStyle/>
          <a:p>
            <a:r>
              <a:rPr lang="zh-CN" altLang="en-US" dirty="0" smtClean="0"/>
              <a:t>每个螺栓所受的预紧力</a:t>
            </a:r>
            <a:endParaRPr lang="zh-CN" altLang="en-US" dirty="0"/>
          </a:p>
        </p:txBody>
      </p:sp>
      <p:sp>
        <p:nvSpPr>
          <p:cNvPr id="12" name="文本框 11"/>
          <p:cNvSpPr txBox="1"/>
          <p:nvPr/>
        </p:nvSpPr>
        <p:spPr>
          <a:xfrm>
            <a:off x="5756343" y="1273879"/>
            <a:ext cx="3137836" cy="769441"/>
          </a:xfrm>
          <a:prstGeom prst="rect">
            <a:avLst/>
          </a:prstGeom>
          <a:solidFill>
            <a:schemeClr val="accent4">
              <a:lumMod val="20000"/>
              <a:lumOff val="80000"/>
            </a:schemeClr>
          </a:solidFill>
          <a:ln>
            <a:gradFill>
              <a:gsLst>
                <a:gs pos="0">
                  <a:srgbClr val="012D86"/>
                </a:gs>
                <a:gs pos="100000">
                  <a:srgbClr val="0E2557"/>
                </a:gs>
              </a:gsLst>
            </a:gradFill>
          </a:ln>
        </p:spPr>
        <p:txBody>
          <a:bodyPr wrap="square" rtlCol="0">
            <a:spAutoFit/>
          </a:bodyPr>
          <a:lstStyle/>
          <a:p>
            <a:r>
              <a:rPr lang="zh-CN" altLang="en-US" dirty="0" smtClean="0"/>
              <a:t>每个螺栓所受的轴向工作载荷</a:t>
            </a:r>
            <a:endParaRPr lang="zh-CN" altLang="en-US" dirty="0"/>
          </a:p>
        </p:txBody>
      </p:sp>
      <p:sp>
        <p:nvSpPr>
          <p:cNvPr id="13" name="文本框 12"/>
          <p:cNvSpPr txBox="1"/>
          <p:nvPr/>
        </p:nvSpPr>
        <p:spPr>
          <a:xfrm>
            <a:off x="5708552" y="511076"/>
            <a:ext cx="3137836" cy="430887"/>
          </a:xfrm>
          <a:prstGeom prst="rect">
            <a:avLst/>
          </a:prstGeom>
          <a:solidFill>
            <a:schemeClr val="tx2">
              <a:lumMod val="20000"/>
              <a:lumOff val="80000"/>
            </a:schemeClr>
          </a:solidFill>
          <a:ln>
            <a:solidFill>
              <a:schemeClr val="tx2">
                <a:lumMod val="60000"/>
                <a:lumOff val="40000"/>
              </a:schemeClr>
            </a:solidFill>
          </a:ln>
        </p:spPr>
        <p:txBody>
          <a:bodyPr wrap="square" rtlCol="0">
            <a:spAutoFit/>
          </a:bodyPr>
          <a:lstStyle/>
          <a:p>
            <a:r>
              <a:rPr lang="zh-CN" altLang="en-US" dirty="0" smtClean="0"/>
              <a:t>每个螺栓所受的预紧力</a:t>
            </a:r>
            <a:endParaRPr lang="zh-CN" altLang="en-US" dirty="0"/>
          </a:p>
        </p:txBody>
      </p:sp>
      <p:sp>
        <p:nvSpPr>
          <p:cNvPr id="14" name="文本框 13"/>
          <p:cNvSpPr txBox="1"/>
          <p:nvPr/>
        </p:nvSpPr>
        <p:spPr>
          <a:xfrm>
            <a:off x="5676900" y="3197225"/>
            <a:ext cx="3306445" cy="42989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a:solidFill>
              <a:srgbClr val="FFC000"/>
            </a:solidFill>
          </a:ln>
        </p:spPr>
        <p:txBody>
          <a:bodyPr wrap="square" rtlCol="0">
            <a:spAutoFit/>
          </a:bodyPr>
          <a:lstStyle/>
          <a:p>
            <a:r>
              <a:rPr lang="zh-CN" altLang="en-US" dirty="0" smtClean="0"/>
              <a:t>螺栓所受的最大工作载荷</a:t>
            </a:r>
            <a:endParaRPr lang="zh-CN" altLang="en-US" dirty="0"/>
          </a:p>
        </p:txBody>
      </p:sp>
      <p:sp>
        <p:nvSpPr>
          <p:cNvPr id="15" name="文本框 14"/>
          <p:cNvSpPr txBox="1"/>
          <p:nvPr/>
        </p:nvSpPr>
        <p:spPr>
          <a:xfrm>
            <a:off x="279134" y="4812631"/>
            <a:ext cx="856648" cy="1107996"/>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5400000" scaled="1"/>
            <a:tileRect/>
          </a:gradFill>
        </p:spPr>
        <p:txBody>
          <a:bodyPr wrap="square" rtlCol="0">
            <a:spAutoFit/>
          </a:bodyPr>
          <a:lstStyle/>
          <a:p>
            <a:r>
              <a:rPr lang="zh-CN" altLang="en-US" dirty="0" smtClean="0"/>
              <a:t>受剪螺栓连接</a:t>
            </a:r>
            <a:endParaRPr lang="zh-CN" altLang="en-US" dirty="0"/>
          </a:p>
        </p:txBody>
      </p:sp>
      <mc:AlternateContent xmlns:mc="http://schemas.openxmlformats.org/markup-compatibility/2006">
        <mc:Choice xmlns:a14="http://schemas.microsoft.com/office/drawing/2010/main" Requires="a14">
          <p:sp>
            <p:nvSpPr>
              <p:cNvPr id="16" name="文本框 15"/>
              <p:cNvSpPr txBox="1"/>
              <p:nvPr/>
            </p:nvSpPr>
            <p:spPr>
              <a:xfrm>
                <a:off x="1472667" y="4754879"/>
                <a:ext cx="1732546" cy="430887"/>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a:solidFill>
                  <a:srgbClr val="0070C0"/>
                </a:solidFill>
              </a:ln>
            </p:spPr>
            <p:txBody>
              <a:bodyPr wrap="square" rtlCol="0">
                <a:spAutoFit/>
              </a:bodyPr>
              <a:lstStyle/>
              <a:p>
                <a:r>
                  <a:rPr lang="zh-CN" altLang="en-US" dirty="0" smtClean="0"/>
                  <a:t>受</a:t>
                </a:r>
                <a:r>
                  <a:rPr lang="zh-CN" altLang="en-US" dirty="0"/>
                  <a:t>横</a:t>
                </a:r>
                <a:r>
                  <a:rPr lang="zh-CN" altLang="en-US" dirty="0" smtClean="0"/>
                  <a:t>向力</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m:rPr>
                            <m:sty m:val="p"/>
                          </m:rPr>
                          <a:rPr lang="el-GR" altLang="zh-CN" b="0" i="1" smtClean="0">
                            <a:latin typeface="Cambria Math" panose="02040503050406030204" pitchFamily="18" charset="0"/>
                            <a:ea typeface="Cambria Math" panose="02040503050406030204" pitchFamily="18" charset="0"/>
                          </a:rPr>
                          <m:t>Σ</m:t>
                        </m:r>
                      </m:sub>
                    </m:sSub>
                  </m:oMath>
                </a14:m>
                <a:endParaRPr lang="zh-CN" altLang="en-US" dirty="0"/>
              </a:p>
            </p:txBody>
          </p:sp>
        </mc:Choice>
        <mc:Fallback>
          <p:sp>
            <p:nvSpPr>
              <p:cNvPr id="16" name="文本框 15"/>
              <p:cNvSpPr txBox="1">
                <a:spLocks noRot="1" noChangeAspect="1" noMove="1" noResize="1" noEditPoints="1" noAdjustHandles="1" noChangeArrowheads="1" noChangeShapeType="1" noTextEdit="1"/>
              </p:cNvSpPr>
              <p:nvPr/>
            </p:nvSpPr>
            <p:spPr>
              <a:xfrm>
                <a:off x="1472667" y="4754879"/>
                <a:ext cx="1732546" cy="430887"/>
              </a:xfrm>
              <a:prstGeom prst="rect">
                <a:avLst/>
              </a:prstGeom>
              <a:blipFill rotWithShape="1">
                <a:blip r:embed="rId3"/>
                <a:stretch>
                  <a:fillRect l="-299" t="-1179" r="-272" b="-1096"/>
                </a:stretch>
              </a:blipFill>
              <a:ln>
                <a:solidFill>
                  <a:srgbClr val="0070C0"/>
                </a:solidFill>
              </a:ln>
            </p:spPr>
            <p:txBody>
              <a:bodyPr/>
              <a:lstStyle/>
              <a:p>
                <a:r>
                  <a:rPr lang="zh-CN" altLang="en-US">
                    <a:noFill/>
                  </a:rPr>
                  <a:t> </a:t>
                </a:r>
              </a:p>
            </p:txBody>
          </p:sp>
        </mc:Fallback>
      </mc:AlternateContent>
      <p:sp>
        <p:nvSpPr>
          <p:cNvPr id="17" name="文本框 16"/>
          <p:cNvSpPr txBox="1"/>
          <p:nvPr/>
        </p:nvSpPr>
        <p:spPr>
          <a:xfrm>
            <a:off x="3457207" y="4344370"/>
            <a:ext cx="2252312" cy="430887"/>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a:solidFill>
              <a:srgbClr val="0070C0"/>
            </a:solidFill>
          </a:ln>
        </p:spPr>
        <p:txBody>
          <a:bodyPr wrap="square" rtlCol="0">
            <a:spAutoFit/>
          </a:bodyPr>
          <a:lstStyle/>
          <a:p>
            <a:r>
              <a:rPr lang="zh-CN" altLang="en-US" dirty="0" smtClean="0"/>
              <a:t>铰制孔螺栓连接</a:t>
            </a:r>
            <a:endParaRPr lang="zh-CN" altLang="en-US" dirty="0"/>
          </a:p>
        </p:txBody>
      </p:sp>
      <p:sp>
        <p:nvSpPr>
          <p:cNvPr id="18" name="文本框 17"/>
          <p:cNvSpPr txBox="1"/>
          <p:nvPr/>
        </p:nvSpPr>
        <p:spPr>
          <a:xfrm>
            <a:off x="5765800" y="4639310"/>
            <a:ext cx="3288030" cy="429895"/>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a:solidFill>
              <a:srgbClr val="0070C0"/>
            </a:solidFill>
          </a:ln>
        </p:spPr>
        <p:txBody>
          <a:bodyPr wrap="square" rtlCol="0">
            <a:spAutoFit/>
          </a:bodyPr>
          <a:lstStyle/>
          <a:p>
            <a:r>
              <a:rPr lang="zh-CN" altLang="en-US" dirty="0" smtClean="0"/>
              <a:t>每个螺栓所受的工作剪力</a:t>
            </a:r>
            <a:endParaRPr lang="zh-CN" altLang="en-US" dirty="0"/>
          </a:p>
        </p:txBody>
      </p:sp>
      <p:sp>
        <p:nvSpPr>
          <p:cNvPr id="19" name="文本框 18"/>
          <p:cNvSpPr txBox="1"/>
          <p:nvPr/>
        </p:nvSpPr>
        <p:spPr>
          <a:xfrm>
            <a:off x="1376414" y="5938788"/>
            <a:ext cx="1944302" cy="430887"/>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rtlCol="0">
            <a:spAutoFit/>
          </a:bodyPr>
          <a:lstStyle/>
          <a:p>
            <a:r>
              <a:rPr lang="zh-CN" altLang="en-US" dirty="0" smtClean="0"/>
              <a:t>受旋转力矩</a:t>
            </a:r>
            <a:r>
              <a:rPr lang="en-US" altLang="zh-CN" dirty="0"/>
              <a:t>T</a:t>
            </a:r>
            <a:endParaRPr lang="zh-CN" altLang="en-US" dirty="0"/>
          </a:p>
        </p:txBody>
      </p:sp>
      <p:sp>
        <p:nvSpPr>
          <p:cNvPr id="20" name="文本框 19"/>
          <p:cNvSpPr txBox="1"/>
          <p:nvPr/>
        </p:nvSpPr>
        <p:spPr>
          <a:xfrm>
            <a:off x="5746750" y="5736590"/>
            <a:ext cx="3185795" cy="76835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rtlCol="0">
            <a:spAutoFit/>
          </a:bodyPr>
          <a:lstStyle/>
          <a:p>
            <a:r>
              <a:rPr lang="zh-CN" altLang="en-US" dirty="0" smtClean="0"/>
              <a:t>受力最大的螺栓所受的工作剪力</a:t>
            </a:r>
            <a:endParaRPr lang="zh-CN" altLang="en-US" dirty="0"/>
          </a:p>
        </p:txBody>
      </p:sp>
      <p:sp>
        <p:nvSpPr>
          <p:cNvPr id="21" name="左大括号 20"/>
          <p:cNvSpPr/>
          <p:nvPr/>
        </p:nvSpPr>
        <p:spPr bwMode="auto">
          <a:xfrm>
            <a:off x="1183907" y="789272"/>
            <a:ext cx="298384" cy="2598821"/>
          </a:xfrm>
          <a:prstGeom prst="leftBrac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22" name="文本框 21"/>
          <p:cNvSpPr txBox="1"/>
          <p:nvPr/>
        </p:nvSpPr>
        <p:spPr>
          <a:xfrm>
            <a:off x="3561782" y="2277678"/>
            <a:ext cx="1896177" cy="430887"/>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5400000" scaled="1"/>
            <a:tileRect/>
          </a:gradFill>
          <a:ln>
            <a:solidFill>
              <a:srgbClr val="00B050"/>
            </a:solidFill>
          </a:ln>
        </p:spPr>
        <p:txBody>
          <a:bodyPr wrap="square" rtlCol="0">
            <a:spAutoFit/>
          </a:bodyPr>
          <a:lstStyle/>
          <a:p>
            <a:r>
              <a:rPr lang="zh-CN" altLang="en-US" dirty="0" smtClean="0"/>
              <a:t>普通螺栓连接</a:t>
            </a:r>
            <a:endParaRPr lang="zh-CN" altLang="en-US" dirty="0"/>
          </a:p>
        </p:txBody>
      </p:sp>
      <p:sp>
        <p:nvSpPr>
          <p:cNvPr id="23" name="左大括号 22"/>
          <p:cNvSpPr/>
          <p:nvPr/>
        </p:nvSpPr>
        <p:spPr bwMode="auto">
          <a:xfrm>
            <a:off x="1164657" y="5005137"/>
            <a:ext cx="202130" cy="1001027"/>
          </a:xfrm>
          <a:prstGeom prst="leftBrac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24" name="文本框 23"/>
          <p:cNvSpPr txBox="1"/>
          <p:nvPr/>
        </p:nvSpPr>
        <p:spPr>
          <a:xfrm>
            <a:off x="3368507" y="5567213"/>
            <a:ext cx="2252312" cy="430887"/>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rtlCol="0">
            <a:spAutoFit/>
          </a:bodyPr>
          <a:lstStyle/>
          <a:p>
            <a:r>
              <a:rPr lang="zh-CN" altLang="en-US" dirty="0" smtClean="0"/>
              <a:t>铰制孔螺栓连接</a:t>
            </a:r>
            <a:endParaRPr lang="zh-CN" altLang="en-US" dirty="0"/>
          </a:p>
        </p:txBody>
      </p:sp>
      <p:sp>
        <p:nvSpPr>
          <p:cNvPr id="2" name="右箭头 1"/>
          <p:cNvSpPr/>
          <p:nvPr/>
        </p:nvSpPr>
        <p:spPr>
          <a:xfrm>
            <a:off x="3418840" y="2719705"/>
            <a:ext cx="2259965" cy="137160"/>
          </a:xfrm>
          <a:prstGeom prst="rightArrow">
            <a:avLst/>
          </a:prstGeom>
          <a:gradFill>
            <a:gsLst>
              <a:gs pos="50000">
                <a:schemeClr val="tx1"/>
              </a:gs>
              <a:gs pos="0">
                <a:schemeClr val="tx1">
                  <a:lumMod val="25000"/>
                  <a:lumOff val="75000"/>
                </a:schemeClr>
              </a:gs>
              <a:gs pos="100000">
                <a:schemeClr val="tx1">
                  <a:lumMod val="85000"/>
                </a:schemeClr>
              </a:gs>
            </a:gsLst>
            <a:lin ang="5400000" scaled="1"/>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3" name="右箭头 2"/>
          <p:cNvSpPr/>
          <p:nvPr/>
        </p:nvSpPr>
        <p:spPr>
          <a:xfrm>
            <a:off x="3311525" y="694690"/>
            <a:ext cx="2259965" cy="137160"/>
          </a:xfrm>
          <a:prstGeom prst="rightArrow">
            <a:avLst/>
          </a:prstGeom>
          <a:gradFill>
            <a:gsLst>
              <a:gs pos="50000">
                <a:schemeClr val="tx1"/>
              </a:gs>
              <a:gs pos="0">
                <a:schemeClr val="tx1">
                  <a:lumMod val="25000"/>
                  <a:lumOff val="75000"/>
                </a:schemeClr>
              </a:gs>
              <a:gs pos="100000">
                <a:schemeClr val="tx1">
                  <a:lumMod val="85000"/>
                </a:schemeClr>
              </a:gs>
            </a:gsLst>
            <a:lin ang="5400000" scaled="1"/>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25" name="右箭头 24"/>
          <p:cNvSpPr/>
          <p:nvPr/>
        </p:nvSpPr>
        <p:spPr>
          <a:xfrm>
            <a:off x="3399790" y="1731645"/>
            <a:ext cx="2259965" cy="137160"/>
          </a:xfrm>
          <a:prstGeom prst="rightArrow">
            <a:avLst/>
          </a:prstGeom>
          <a:gradFill>
            <a:gsLst>
              <a:gs pos="50000">
                <a:schemeClr val="tx1"/>
              </a:gs>
              <a:gs pos="0">
                <a:schemeClr val="tx1">
                  <a:lumMod val="25000"/>
                  <a:lumOff val="75000"/>
                </a:schemeClr>
              </a:gs>
              <a:gs pos="100000">
                <a:schemeClr val="tx1">
                  <a:lumMod val="85000"/>
                </a:schemeClr>
              </a:gs>
            </a:gsLst>
            <a:lin ang="5400000" scaled="1"/>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26" name="右箭头 25"/>
          <p:cNvSpPr/>
          <p:nvPr/>
        </p:nvSpPr>
        <p:spPr>
          <a:xfrm>
            <a:off x="3380740" y="3335655"/>
            <a:ext cx="2259965" cy="137160"/>
          </a:xfrm>
          <a:prstGeom prst="rightArrow">
            <a:avLst/>
          </a:prstGeom>
          <a:gradFill>
            <a:gsLst>
              <a:gs pos="50000">
                <a:schemeClr val="tx1"/>
              </a:gs>
              <a:gs pos="0">
                <a:schemeClr val="tx1">
                  <a:lumMod val="25000"/>
                  <a:lumOff val="75000"/>
                </a:schemeClr>
              </a:gs>
              <a:gs pos="100000">
                <a:schemeClr val="tx1">
                  <a:lumMod val="85000"/>
                </a:schemeClr>
              </a:gs>
            </a:gsLst>
            <a:lin ang="5400000" scaled="1"/>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27" name="右箭头 26"/>
          <p:cNvSpPr/>
          <p:nvPr/>
        </p:nvSpPr>
        <p:spPr>
          <a:xfrm>
            <a:off x="3458845" y="4911090"/>
            <a:ext cx="2259965" cy="137160"/>
          </a:xfrm>
          <a:prstGeom prst="rightArrow">
            <a:avLst/>
          </a:prstGeom>
          <a:gradFill>
            <a:gsLst>
              <a:gs pos="50000">
                <a:schemeClr val="tx1"/>
              </a:gs>
              <a:gs pos="0">
                <a:schemeClr val="tx1">
                  <a:lumMod val="25000"/>
                  <a:lumOff val="75000"/>
                </a:schemeClr>
              </a:gs>
              <a:gs pos="100000">
                <a:schemeClr val="tx1">
                  <a:lumMod val="85000"/>
                </a:schemeClr>
              </a:gs>
            </a:gsLst>
            <a:lin ang="5400000" scaled="1"/>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28" name="右箭头 27"/>
          <p:cNvSpPr/>
          <p:nvPr/>
        </p:nvSpPr>
        <p:spPr>
          <a:xfrm>
            <a:off x="3409950" y="6035675"/>
            <a:ext cx="2259965" cy="137160"/>
          </a:xfrm>
          <a:prstGeom prst="rightArrow">
            <a:avLst/>
          </a:prstGeom>
          <a:gradFill>
            <a:gsLst>
              <a:gs pos="50000">
                <a:schemeClr val="tx1"/>
              </a:gs>
              <a:gs pos="0">
                <a:schemeClr val="tx1">
                  <a:lumMod val="25000"/>
                  <a:lumOff val="75000"/>
                </a:schemeClr>
              </a:gs>
              <a:gs pos="100000">
                <a:schemeClr val="tx1">
                  <a:lumMod val="85000"/>
                </a:schemeClr>
              </a:gs>
            </a:gsLst>
            <a:lin ang="5400000" scaled="1"/>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500"/>
                                        <p:tgtEl>
                                          <p:spTgt spid="5"/>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wipe(left)">
                                      <p:cBhvr>
                                        <p:cTn id="50" dur="5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wipe(left)">
                                      <p:cBhvr>
                                        <p:cTn id="60" dur="500"/>
                                        <p:tgtEl>
                                          <p:spTgt spid="9"/>
                                        </p:tgtEl>
                                      </p:cBhvr>
                                    </p:animEffect>
                                  </p:childTnLst>
                                </p:cTn>
                              </p:par>
                            </p:childTnLst>
                          </p:cTn>
                        </p:par>
                        <p:par>
                          <p:cTn id="61" fill="hold">
                            <p:stCondLst>
                              <p:cond delay="500"/>
                            </p:stCondLst>
                            <p:childTnLst>
                              <p:par>
                                <p:cTn id="62" presetID="22" presetClass="entr" presetSubtype="8" fill="hold" grpId="0" nodeType="after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wipe(left)">
                                      <p:cBhvr>
                                        <p:cTn id="64" dur="500"/>
                                        <p:tgtEl>
                                          <p:spTgt spid="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wipe(left)">
                                      <p:cBhvr>
                                        <p:cTn id="69" dur="500"/>
                                        <p:tgtEl>
                                          <p:spTgt spid="2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1"/>
                                        </p:tgtEl>
                                        <p:attrNameLst>
                                          <p:attrName>style.visibility</p:attrName>
                                        </p:attrNameLst>
                                      </p:cBhvr>
                                      <p:to>
                                        <p:strVal val="visible"/>
                                      </p:to>
                                    </p:set>
                                    <p:animEffect transition="in" filter="wipe(left)">
                                      <p:cBhvr>
                                        <p:cTn id="74" dur="500"/>
                                        <p:tgtEl>
                                          <p:spTgt spid="1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wipe(left)">
                                      <p:cBhvr>
                                        <p:cTn id="79" dur="500"/>
                                        <p:tgtEl>
                                          <p:spTgt spid="10"/>
                                        </p:tgtEl>
                                      </p:cBhvr>
                                    </p:animEffect>
                                  </p:childTnLst>
                                </p:cTn>
                              </p:par>
                            </p:childTnLst>
                          </p:cTn>
                        </p:par>
                        <p:par>
                          <p:cTn id="80" fill="hold">
                            <p:stCondLst>
                              <p:cond delay="500"/>
                            </p:stCondLst>
                            <p:childTnLst>
                              <p:par>
                                <p:cTn id="81" presetID="22" presetClass="entr" presetSubtype="8" fill="hold" grpId="0" nodeType="after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wipe(left)">
                                      <p:cBhvr>
                                        <p:cTn id="83" dur="500"/>
                                        <p:tgtEl>
                                          <p:spTgt spid="2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4"/>
                                        </p:tgtEl>
                                        <p:attrNameLst>
                                          <p:attrName>style.visibility</p:attrName>
                                        </p:attrNameLst>
                                      </p:cBhvr>
                                      <p:to>
                                        <p:strVal val="visible"/>
                                      </p:to>
                                    </p:set>
                                    <p:animEffect transition="in" filter="wipe(left)">
                                      <p:cBhvr>
                                        <p:cTn id="88" dur="500"/>
                                        <p:tgtEl>
                                          <p:spTgt spid="14"/>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wipe(left)">
                                      <p:cBhvr>
                                        <p:cTn id="93" dur="500"/>
                                        <p:tgtEl>
                                          <p:spTgt spid="23"/>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wipe(left)">
                                      <p:cBhvr>
                                        <p:cTn id="98" dur="500"/>
                                        <p:tgtEl>
                                          <p:spTgt spid="16"/>
                                        </p:tgtEl>
                                      </p:cBhvr>
                                    </p:animEffect>
                                  </p:childTnLst>
                                </p:cTn>
                              </p:par>
                            </p:childTnLst>
                          </p:cTn>
                        </p:par>
                        <p:par>
                          <p:cTn id="99" fill="hold">
                            <p:stCondLst>
                              <p:cond delay="500"/>
                            </p:stCondLst>
                            <p:childTnLst>
                              <p:par>
                                <p:cTn id="100" presetID="22" presetClass="entr" presetSubtype="8"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wipe(left)">
                                      <p:cBhvr>
                                        <p:cTn id="102" dur="500"/>
                                        <p:tgtEl>
                                          <p:spTgt spid="27"/>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7"/>
                                        </p:tgtEl>
                                        <p:attrNameLst>
                                          <p:attrName>style.visibility</p:attrName>
                                        </p:attrNameLst>
                                      </p:cBhvr>
                                      <p:to>
                                        <p:strVal val="visible"/>
                                      </p:to>
                                    </p:set>
                                    <p:animEffect transition="in" filter="wipe(left)">
                                      <p:cBhvr>
                                        <p:cTn id="107" dur="500"/>
                                        <p:tgtEl>
                                          <p:spTgt spid="1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8"/>
                                        </p:tgtEl>
                                        <p:attrNameLst>
                                          <p:attrName>style.visibility</p:attrName>
                                        </p:attrNameLst>
                                      </p:cBhvr>
                                      <p:to>
                                        <p:strVal val="visible"/>
                                      </p:to>
                                    </p:set>
                                    <p:animEffect transition="in" filter="wipe(left)">
                                      <p:cBhvr>
                                        <p:cTn id="112" dur="500"/>
                                        <p:tgtEl>
                                          <p:spTgt spid="1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9"/>
                                        </p:tgtEl>
                                        <p:attrNameLst>
                                          <p:attrName>style.visibility</p:attrName>
                                        </p:attrNameLst>
                                      </p:cBhvr>
                                      <p:to>
                                        <p:strVal val="visible"/>
                                      </p:to>
                                    </p:set>
                                    <p:animEffect transition="in" filter="wipe(left)">
                                      <p:cBhvr>
                                        <p:cTn id="117" dur="500"/>
                                        <p:tgtEl>
                                          <p:spTgt spid="19"/>
                                        </p:tgtEl>
                                      </p:cBhvr>
                                    </p:animEffect>
                                  </p:childTnLst>
                                </p:cTn>
                              </p:par>
                            </p:childTnLst>
                          </p:cTn>
                        </p:par>
                        <p:par>
                          <p:cTn id="118" fill="hold">
                            <p:stCondLst>
                              <p:cond delay="500"/>
                            </p:stCondLst>
                            <p:childTnLst>
                              <p:par>
                                <p:cTn id="119" presetID="22" presetClass="entr" presetSubtype="8" fill="hold" grpId="0" nodeType="afterEffect">
                                  <p:stCondLst>
                                    <p:cond delay="0"/>
                                  </p:stCondLst>
                                  <p:childTnLst>
                                    <p:set>
                                      <p:cBhvr>
                                        <p:cTn id="120" dur="1" fill="hold">
                                          <p:stCondLst>
                                            <p:cond delay="0"/>
                                          </p:stCondLst>
                                        </p:cTn>
                                        <p:tgtEl>
                                          <p:spTgt spid="28"/>
                                        </p:tgtEl>
                                        <p:attrNameLst>
                                          <p:attrName>style.visibility</p:attrName>
                                        </p:attrNameLst>
                                      </p:cBhvr>
                                      <p:to>
                                        <p:strVal val="visible"/>
                                      </p:to>
                                    </p:set>
                                    <p:animEffect transition="in" filter="wipe(left)">
                                      <p:cBhvr>
                                        <p:cTn id="121" dur="500"/>
                                        <p:tgtEl>
                                          <p:spTgt spid="28"/>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4"/>
                                        </p:tgtEl>
                                        <p:attrNameLst>
                                          <p:attrName>style.visibility</p:attrName>
                                        </p:attrNameLst>
                                      </p:cBhvr>
                                      <p:to>
                                        <p:strVal val="visible"/>
                                      </p:to>
                                    </p:set>
                                    <p:animEffect transition="in" filter="wipe(left)">
                                      <p:cBhvr>
                                        <p:cTn id="126" dur="500"/>
                                        <p:tgtEl>
                                          <p:spTgt spid="24"/>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20"/>
                                        </p:tgtEl>
                                        <p:attrNameLst>
                                          <p:attrName>style.visibility</p:attrName>
                                        </p:attrNameLst>
                                      </p:cBhvr>
                                      <p:to>
                                        <p:strVal val="visible"/>
                                      </p:to>
                                    </p:set>
                                    <p:animEffect transition="in" filter="wipe(left)">
                                      <p:cBhvr>
                                        <p:cTn id="13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P spid="3" grpId="0" animBg="1"/>
      <p:bldP spid="25" grpId="0" animBg="1"/>
      <p:bldP spid="2" grpId="0" animBg="1"/>
      <p:bldP spid="26" grpId="0" animBg="1"/>
      <p:bldP spid="27" grpId="0" animBg="1"/>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79120" y="1067435"/>
            <a:ext cx="8107680" cy="2143125"/>
          </a:xfrm>
          <a:prstGeom prst="rect">
            <a:avLst/>
          </a:prstGeom>
          <a:noFill/>
        </p:spPr>
        <p:txBody>
          <a:bodyPr wrap="square" rtlCol="0" anchor="ctr" anchorCtr="0">
            <a:noAutofit/>
          </a:bodyPr>
          <a:p>
            <a:pPr marL="0" algn="just" eaLnBrk="1" hangingPunct="1">
              <a:lnSpc>
                <a:spcPct val="130000"/>
              </a:lnSpc>
              <a:buClrTx/>
              <a:buSzTx/>
              <a:buFont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1、被联接件受横向载荷作用时，若采用一组普通螺栓联接，则载荷靠</a:t>
            </a:r>
            <a:r>
              <a:rPr lang="en-US" altLang="zh-CN" sz="2400" u="sng"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来传递。</a:t>
            </a:r>
            <a:endPar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a:p>
            <a:pPr lvl="0" algn="l">
              <a:buNone/>
            </a:pP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just">
              <a:lnSpc>
                <a:spcPct val="130000"/>
              </a:lnSpc>
              <a:buClrTx/>
              <a:buSz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结合面之间的摩擦力；</a:t>
            </a:r>
            <a:endPar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just">
              <a:lnSpc>
                <a:spcPct val="130000"/>
              </a:lnSpc>
              <a:buClrTx/>
              <a:buSz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螺栓的剪切和挤压；</a:t>
            </a:r>
            <a:endPar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螺栓的剪切和被联接件的挤压</a:t>
            </a:r>
            <a:r>
              <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8" name="椭圆 7"/>
          <p:cNvSpPr>
            <a:spLocks noChangeAspect="1"/>
          </p:cNvSpPr>
          <p:nvPr>
            <p:custDataLst>
              <p:tags r:id="rId5"/>
            </p:custDataLst>
          </p:nvPr>
        </p:nvSpPr>
        <p:spPr>
          <a:xfrm>
            <a:off x="1114425" y="284988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6"/>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7"/>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8"/>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7" name="矩形 6"/>
          <p:cNvSpPr/>
          <p:nvPr>
            <p:custDataLst>
              <p:tags r:id="rId9"/>
            </p:custDataLst>
          </p:nvPr>
        </p:nvSpPr>
        <p:spPr>
          <a:xfrm>
            <a:off x="808990" y="2842895"/>
            <a:ext cx="935355" cy="261620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17" name="组合 16"/>
          <p:cNvGrpSpPr/>
          <p:nvPr>
            <p:custDataLst>
              <p:tags r:id="rId10"/>
            </p:custDataLst>
          </p:nvPr>
        </p:nvGrpSpPr>
        <p:grpSpPr>
          <a:xfrm>
            <a:off x="0" y="0"/>
            <a:ext cx="9144000" cy="635000"/>
            <a:chOff x="0" y="0"/>
            <a:chExt cx="14400" cy="1000"/>
          </a:xfrm>
        </p:grpSpPr>
        <p:sp>
          <p:nvSpPr>
            <p:cNvPr id="13" name="TitleBackground"/>
            <p:cNvSpPr/>
            <p:nvPr>
              <p:custDataLst>
                <p:tags r:id="rId11"/>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2"/>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3"/>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4"/>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7AA2"/>
          <p:cNvPicPr>
            <a:picLocks noChangeAspect="1"/>
          </p:cNvPicPr>
          <p:nvPr>
            <p:custDataLst>
              <p:tags r:id="rId15"/>
            </p:custDataLst>
          </p:nvPr>
        </p:nvPicPr>
        <p:blipFill>
          <a:blip r:embed="rId16"/>
          <a:stretch>
            <a:fillRect/>
          </a:stretch>
        </p:blipFill>
        <p:spPr>
          <a:xfrm>
            <a:off x="7594600" y="63500"/>
            <a:ext cx="1422400" cy="508000"/>
          </a:xfrm>
          <a:prstGeom prst="rect">
            <a:avLst/>
          </a:prstGeom>
        </p:spPr>
      </p:pic>
    </p:spTree>
    <p:custDataLst>
      <p:tags r:id="rId1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914400" y="812800"/>
            <a:ext cx="7315200" cy="2143125"/>
          </a:xfrm>
          <a:prstGeom prst="rect">
            <a:avLst/>
          </a:prstGeom>
          <a:noFill/>
        </p:spPr>
        <p:txBody>
          <a:bodyPr wrap="square" rtlCol="0" anchor="ctr" anchorCtr="0">
            <a:noAutofit/>
          </a:bodyPr>
          <a:p>
            <a:pPr marL="0" indent="0" algn="just" eaLnBrk="1" hangingPunct="1">
              <a:lnSpc>
                <a:spcPct val="130000"/>
              </a:lnSpc>
              <a:buFont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2</a:t>
            </a:r>
            <a:r>
              <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承受横向载荷或旋转力矩的紧螺栓联接，该联接中的螺栓</a:t>
            </a:r>
            <a:r>
              <a:rPr lang="zh-CN" altLang="en-US" sz="2400" u="sng"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a:p>
            <a:pPr marL="0" indent="0" algn="just" eaLnBrk="1" hangingPunct="1">
              <a:lnSpc>
                <a:spcPct val="130000"/>
              </a:lnSpc>
              <a:buFontTx/>
              <a:buNone/>
            </a:pPr>
            <a:endPar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6" name="文本框 5"/>
          <p:cNvSpPr txBox="1"/>
          <p:nvPr>
            <p:custDataLst>
              <p:tags r:id="rId2"/>
            </p:custDataLst>
          </p:nvPr>
        </p:nvSpPr>
        <p:spPr>
          <a:xfrm>
            <a:off x="1828800" y="2721610"/>
            <a:ext cx="6400800" cy="642620"/>
          </a:xfrm>
          <a:prstGeom prst="rect">
            <a:avLst/>
          </a:prstGeom>
          <a:noFill/>
        </p:spPr>
        <p:txBody>
          <a:bodyPr wrap="square" rtlCol="0" anchor="ctr" anchorCtr="0">
            <a:noAutofit/>
          </a:bodyPr>
          <a:p>
            <a:pPr lvl="0" algn="l">
              <a:buNone/>
            </a:pPr>
            <a:r>
              <a:rPr 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受剪切作用；</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just">
              <a:lnSpc>
                <a:spcPct val="130000"/>
              </a:lnSpc>
              <a:buClrTx/>
              <a:buSzTx/>
              <a:buFontTx/>
              <a:buNone/>
            </a:pPr>
            <a:r>
              <a:rPr 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受拉伸作用</a:t>
            </a:r>
            <a:r>
              <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8" name="文本框 7"/>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just">
              <a:lnSpc>
                <a:spcPct val="130000"/>
              </a:lnSpc>
              <a:buClrTx/>
              <a:buSzTx/>
              <a:buFontTx/>
              <a:buNone/>
            </a:pPr>
            <a:r>
              <a:rPr 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受剪切和拉伸作用</a:t>
            </a:r>
            <a:r>
              <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9" name="文本框 8"/>
          <p:cNvSpPr txBox="1"/>
          <p:nvPr>
            <p:custDataLst>
              <p:tags r:id="rId5"/>
            </p:custDataLst>
          </p:nvPr>
        </p:nvSpPr>
        <p:spPr>
          <a:xfrm>
            <a:off x="1828800" y="5264150"/>
            <a:ext cx="6400800" cy="642620"/>
          </a:xfrm>
          <a:prstGeom prst="rect">
            <a:avLst/>
          </a:prstGeom>
          <a:noFill/>
        </p:spPr>
        <p:txBody>
          <a:bodyPr wrap="square" rtlCol="0" anchor="ctr" anchorCtr="0">
            <a:noAutofit/>
          </a:bodyPr>
          <a:p>
            <a:pPr lvl="0" algn="just">
              <a:lnSpc>
                <a:spcPct val="130000"/>
              </a:lnSpc>
              <a:buClrTx/>
              <a:buSzTx/>
              <a:buFontTx/>
              <a:buNone/>
            </a:pPr>
            <a:r>
              <a:rPr 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既可能受剪切又可能受拉伸作用</a:t>
            </a:r>
            <a:r>
              <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0" name="椭圆 9"/>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椭圆 11"/>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3" name="椭圆 12"/>
          <p:cNvSpPr>
            <a:spLocks noChangeAspect="1"/>
          </p:cNvSpPr>
          <p:nvPr>
            <p:custDataLst>
              <p:tags r:id="rId9"/>
            </p:custDataLst>
          </p:nvPr>
        </p:nvSpPr>
        <p:spPr>
          <a:xfrm>
            <a:off x="1114425" y="542163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4" name="圆角矩形 13"/>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2" name="矩形 1"/>
          <p:cNvSpPr/>
          <p:nvPr>
            <p:custDataLst>
              <p:tags r:id="rId11"/>
            </p:custDataLst>
          </p:nvPr>
        </p:nvSpPr>
        <p:spPr>
          <a:xfrm>
            <a:off x="884555" y="2332355"/>
            <a:ext cx="935355" cy="385826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19" name="组合 18"/>
          <p:cNvGrpSpPr/>
          <p:nvPr>
            <p:custDataLst>
              <p:tags r:id="rId12"/>
            </p:custDataLst>
          </p:nvPr>
        </p:nvGrpSpPr>
        <p:grpSpPr>
          <a:xfrm>
            <a:off x="0" y="0"/>
            <a:ext cx="9144000" cy="635000"/>
            <a:chOff x="0" y="0"/>
            <a:chExt cx="14400" cy="1000"/>
          </a:xfrm>
        </p:grpSpPr>
        <p:sp>
          <p:nvSpPr>
            <p:cNvPr id="15" name="TitleBackground"/>
            <p:cNvSpPr/>
            <p:nvPr>
              <p:custDataLst>
                <p:tags r:id="rId13"/>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6"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7"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8"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4" name="图片 3" descr="tmp7AA2"/>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Tree>
    <p:custDataLst>
      <p:tags r:id="rId1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22960" y="1064260"/>
            <a:ext cx="7904480" cy="2143125"/>
          </a:xfrm>
          <a:prstGeom prst="rect">
            <a:avLst/>
          </a:prstGeom>
          <a:noFill/>
        </p:spPr>
        <p:txBody>
          <a:bodyPr wrap="square" rtlCol="0" anchor="ctr" anchorCtr="0">
            <a:noAutofit/>
          </a:bodyPr>
          <a:p>
            <a:pPr marL="0" algn="just" eaLnBrk="1" hangingPunct="1">
              <a:lnSpc>
                <a:spcPct val="130000"/>
              </a:lnSpc>
              <a:buClrTx/>
              <a:buSzTx/>
              <a:buFont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3</a:t>
            </a:r>
            <a:r>
              <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设计螺栓组联接时，虽然每个螺栓的受力不一定相等，但对该组螺栓仍均采用相同的材料、直径和长度，这主要是为了</a:t>
            </a:r>
            <a:r>
              <a:rPr lang="en-US" altLang="zh-CN" sz="2400" u="sng"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endPar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4" name="文本框 3"/>
          <p:cNvSpPr txBox="1"/>
          <p:nvPr>
            <p:custDataLst>
              <p:tags r:id="rId2"/>
            </p:custDataLst>
          </p:nvPr>
        </p:nvSpPr>
        <p:spPr>
          <a:xfrm>
            <a:off x="1828800" y="3364865"/>
            <a:ext cx="6400800" cy="642620"/>
          </a:xfrm>
          <a:prstGeom prst="rect">
            <a:avLst/>
          </a:prstGeom>
          <a:noFill/>
        </p:spPr>
        <p:txBody>
          <a:bodyPr wrap="square" rtlCol="0" anchor="ctr" anchorCtr="0">
            <a:noAutofit/>
          </a:bodyPr>
          <a:p>
            <a:pPr lvl="0" algn="just">
              <a:lnSpc>
                <a:spcPct val="130000"/>
              </a:lnSpc>
              <a:buClrTx/>
              <a:buSz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外形美观；</a:t>
            </a:r>
            <a:endPar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custDataLst>
              <p:tags r:id="rId3"/>
            </p:custDataLst>
          </p:nvPr>
        </p:nvSpPr>
        <p:spPr>
          <a:xfrm>
            <a:off x="1828800" y="4222115"/>
            <a:ext cx="6400800" cy="642620"/>
          </a:xfrm>
          <a:prstGeom prst="rect">
            <a:avLst/>
          </a:prstGeom>
          <a:noFill/>
        </p:spPr>
        <p:txBody>
          <a:bodyPr wrap="square" rtlCol="0" anchor="ctr" anchorCtr="0">
            <a:noAutofit/>
          </a:bodyPr>
          <a:p>
            <a:pPr lvl="0" algn="l">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购买方便；</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5079365"/>
            <a:ext cx="6400800" cy="642620"/>
          </a:xfrm>
          <a:prstGeom prst="rect">
            <a:avLst/>
          </a:prstGeom>
          <a:noFill/>
        </p:spPr>
        <p:txBody>
          <a:bodyPr wrap="square" rtlCol="0" anchor="ctr" anchorCtr="0">
            <a:noAutofit/>
          </a:bodyPr>
          <a:p>
            <a:pPr lvl="0" algn="just">
              <a:lnSpc>
                <a:spcPct val="130000"/>
              </a:lnSpc>
              <a:buClrTx/>
              <a:buSz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便于加工和安装；</a:t>
            </a:r>
            <a:endPar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8" name="椭圆 7"/>
          <p:cNvSpPr>
            <a:spLocks noChangeAspect="1"/>
          </p:cNvSpPr>
          <p:nvPr>
            <p:custDataLst>
              <p:tags r:id="rId5"/>
            </p:custDataLst>
          </p:nvPr>
        </p:nvSpPr>
        <p:spPr>
          <a:xfrm>
            <a:off x="1114425" y="342900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6"/>
            </p:custDataLst>
          </p:nvPr>
        </p:nvSpPr>
        <p:spPr>
          <a:xfrm>
            <a:off x="1114425" y="428625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7"/>
            </p:custDataLst>
          </p:nvPr>
        </p:nvSpPr>
        <p:spPr>
          <a:xfrm>
            <a:off x="1114425" y="514350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8"/>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7" name="矩形 6"/>
          <p:cNvSpPr/>
          <p:nvPr/>
        </p:nvSpPr>
        <p:spPr>
          <a:xfrm>
            <a:off x="884555" y="3201670"/>
            <a:ext cx="935355" cy="261620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17" name="组合 16"/>
          <p:cNvGrpSpPr/>
          <p:nvPr>
            <p:custDataLst>
              <p:tags r:id="rId9"/>
            </p:custDataLst>
          </p:nvPr>
        </p:nvGrpSpPr>
        <p:grpSpPr>
          <a:xfrm>
            <a:off x="0" y="0"/>
            <a:ext cx="9144000" cy="635000"/>
            <a:chOff x="0" y="0"/>
            <a:chExt cx="14400" cy="1000"/>
          </a:xfrm>
        </p:grpSpPr>
        <p:sp>
          <p:nvSpPr>
            <p:cNvPr id="13" name="TitleBackground"/>
            <p:cNvSpPr/>
            <p:nvPr>
              <p:custDataLst>
                <p:tags r:id="rId10"/>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1"/>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2"/>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3"/>
              </p:custDataLst>
            </p:nvPr>
          </p:nvSpPr>
          <p:spPr>
            <a:xfrm>
              <a:off x="26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7AA2"/>
          <p:cNvPicPr>
            <a:picLocks noChangeAspect="1"/>
          </p:cNvPicPr>
          <p:nvPr>
            <p:custDataLst>
              <p:tags r:id="rId14"/>
            </p:custDataLst>
          </p:nvPr>
        </p:nvPicPr>
        <p:blipFill>
          <a:blip r:embed="rId15"/>
          <a:stretch>
            <a:fillRect/>
          </a:stretch>
        </p:blipFill>
        <p:spPr>
          <a:xfrm>
            <a:off x="7594600" y="63500"/>
            <a:ext cx="1422400" cy="508000"/>
          </a:xfrm>
          <a:prstGeom prst="rect">
            <a:avLst/>
          </a:prstGeom>
        </p:spPr>
      </p:pic>
    </p:spTree>
    <p:custDataLst>
      <p:tags r:id="rId16"/>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bwMode="auto">
          <a:xfrm>
            <a:off x="4953000" y="838200"/>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螺纹连接的强度计算</a:t>
            </a:r>
            <a:r>
              <a:rPr lang="en-US" altLang="zh-CN" sz="800" smtClean="0">
                <a:solidFill>
                  <a:schemeClr val="bg1"/>
                </a:solidFill>
              </a:rPr>
              <a:t>1</a:t>
            </a:r>
            <a:endParaRPr lang="en-US" altLang="zh-CN" sz="800" smtClean="0">
              <a:solidFill>
                <a:schemeClr val="bg1"/>
              </a:solidFill>
            </a:endParaRPr>
          </a:p>
        </p:txBody>
      </p:sp>
      <p:sp>
        <p:nvSpPr>
          <p:cNvPr id="3076" name="Rectangle 4"/>
          <p:cNvSpPr>
            <a:spLocks noChangeArrowheads="1"/>
          </p:cNvSpPr>
          <p:nvPr/>
        </p:nvSpPr>
        <p:spPr bwMode="auto">
          <a:xfrm>
            <a:off x="3313430" y="215900"/>
            <a:ext cx="52209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-4 </a:t>
            </a:r>
            <a:r>
              <a:rPr lang="zh-CN" altLang="en-US" sz="3000" dirty="0">
                <a:solidFill>
                  <a:srgbClr val="CC3300"/>
                </a:solidFill>
                <a:latin typeface="黑体" panose="02010609060101010101" pitchFamily="49" charset="-122"/>
                <a:ea typeface="黑体" panose="02010609060101010101" pitchFamily="49" charset="-122"/>
              </a:rPr>
              <a:t>螺纹连接的强度计算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6393" name="Rectangle 9"/>
          <p:cNvSpPr>
            <a:spLocks noChangeArrowheads="1"/>
          </p:cNvSpPr>
          <p:nvPr/>
        </p:nvSpPr>
        <p:spPr bwMode="auto">
          <a:xfrm>
            <a:off x="410845" y="5111115"/>
            <a:ext cx="8112125" cy="90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kumimoji="0" lang="en-US" altLang="zh-CN" sz="2000" dirty="0">
                <a:solidFill>
                  <a:srgbClr val="000099"/>
                </a:solidFill>
                <a:latin typeface="华文中宋" panose="02010600040101010101" pitchFamily="2" charset="-122"/>
              </a:rPr>
              <a:t>       </a:t>
            </a:r>
            <a:r>
              <a:rPr lang="zh-CN" altLang="en-US" dirty="0">
                <a:solidFill>
                  <a:srgbClr val="000099"/>
                </a:solidFill>
                <a:latin typeface="黑体" panose="02010609060101010101" pitchFamily="49" charset="-122"/>
                <a:ea typeface="黑体" panose="02010609060101010101" pitchFamily="49" charset="-122"/>
              </a:rPr>
              <a:t>螺栓连接的强度计算主要与连接的装配</a:t>
            </a:r>
            <a:endParaRPr lang="zh-CN" altLang="en-US" dirty="0">
              <a:solidFill>
                <a:srgbClr val="000099"/>
              </a:solidFill>
              <a:latin typeface="黑体" panose="02010609060101010101" pitchFamily="49" charset="-122"/>
              <a:ea typeface="黑体" panose="02010609060101010101" pitchFamily="49" charset="-122"/>
            </a:endParaRPr>
          </a:p>
          <a:p>
            <a:pPr eaLnBrk="1" hangingPunct="1">
              <a:lnSpc>
                <a:spcPct val="120000"/>
              </a:lnSpc>
            </a:pPr>
            <a:r>
              <a:rPr lang="zh-CN" altLang="en-US" dirty="0">
                <a:solidFill>
                  <a:srgbClr val="000099"/>
                </a:solidFill>
                <a:latin typeface="黑体" panose="02010609060101010101" pitchFamily="49" charset="-122"/>
                <a:ea typeface="黑体" panose="02010609060101010101" pitchFamily="49" charset="-122"/>
              </a:rPr>
              <a:t>情况（</a:t>
            </a:r>
            <a:r>
              <a:rPr lang="zh-CN" altLang="en-US" dirty="0">
                <a:solidFill>
                  <a:srgbClr val="C00000"/>
                </a:solidFill>
                <a:latin typeface="黑体" panose="02010609060101010101" pitchFamily="49" charset="-122"/>
                <a:ea typeface="黑体" panose="02010609060101010101" pitchFamily="49" charset="-122"/>
              </a:rPr>
              <a:t>预紧</a:t>
            </a:r>
            <a:r>
              <a:rPr lang="zh-CN" altLang="en-US" dirty="0">
                <a:solidFill>
                  <a:srgbClr val="000099"/>
                </a:solidFill>
                <a:latin typeface="黑体" panose="02010609060101010101" pitchFamily="49" charset="-122"/>
                <a:ea typeface="黑体" panose="02010609060101010101" pitchFamily="49" charset="-122"/>
              </a:rPr>
              <a:t>或</a:t>
            </a:r>
            <a:r>
              <a:rPr lang="zh-CN" altLang="en-US" dirty="0">
                <a:solidFill>
                  <a:srgbClr val="C00000"/>
                </a:solidFill>
                <a:latin typeface="黑体" panose="02010609060101010101" pitchFamily="49" charset="-122"/>
                <a:ea typeface="黑体" panose="02010609060101010101" pitchFamily="49" charset="-122"/>
              </a:rPr>
              <a:t>不预紧</a:t>
            </a:r>
            <a:r>
              <a:rPr lang="zh-CN" altLang="en-US" dirty="0">
                <a:solidFill>
                  <a:srgbClr val="000099"/>
                </a:solidFill>
                <a:latin typeface="黑体" panose="02010609060101010101" pitchFamily="49" charset="-122"/>
                <a:ea typeface="黑体" panose="02010609060101010101" pitchFamily="49" charset="-122"/>
              </a:rPr>
              <a:t>）、外载荷的性质和材料性能等有关。</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6394" name="Rectangle 10"/>
          <p:cNvSpPr>
            <a:spLocks noChangeArrowheads="1"/>
          </p:cNvSpPr>
          <p:nvPr/>
        </p:nvSpPr>
        <p:spPr bwMode="auto">
          <a:xfrm>
            <a:off x="217153" y="3225666"/>
            <a:ext cx="4817128"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kumimoji="0" lang="en-US" altLang="zh-CN" sz="2000" dirty="0">
                <a:solidFill>
                  <a:srgbClr val="000099"/>
                </a:solidFill>
                <a:latin typeface="华文中宋" panose="02010600040101010101" pitchFamily="2" charset="-122"/>
              </a:rPr>
              <a:t>       </a:t>
            </a:r>
            <a:r>
              <a:rPr kumimoji="0" lang="zh-CN" altLang="en-US" dirty="0">
                <a:solidFill>
                  <a:srgbClr val="000099"/>
                </a:solidFill>
                <a:latin typeface="黑体" panose="02010609060101010101" pitchFamily="49" charset="-122"/>
                <a:ea typeface="黑体" panose="02010609060101010101" pitchFamily="49" charset="-122"/>
              </a:rPr>
              <a:t>螺栓连接强度计算的目的是根据强度条件确定</a:t>
            </a:r>
            <a:r>
              <a:rPr kumimoji="0" lang="zh-CN" altLang="en-US" dirty="0">
                <a:solidFill>
                  <a:srgbClr val="C00000"/>
                </a:solidFill>
                <a:latin typeface="黑体" panose="02010609060101010101" pitchFamily="49" charset="-122"/>
                <a:ea typeface="黑体" panose="02010609060101010101" pitchFamily="49" charset="-122"/>
              </a:rPr>
              <a:t>螺栓直径</a:t>
            </a:r>
            <a:r>
              <a:rPr kumimoji="0" lang="zh-CN" altLang="en-US" dirty="0">
                <a:solidFill>
                  <a:srgbClr val="000099"/>
                </a:solidFill>
                <a:latin typeface="黑体" panose="02010609060101010101" pitchFamily="49" charset="-122"/>
                <a:ea typeface="黑体" panose="02010609060101010101" pitchFamily="49" charset="-122"/>
              </a:rPr>
              <a:t>，而螺栓和螺母的螺纹牙及其他各部分</a:t>
            </a:r>
            <a:r>
              <a:rPr lang="zh-CN" altLang="en-US" dirty="0">
                <a:solidFill>
                  <a:srgbClr val="000099"/>
                </a:solidFill>
                <a:latin typeface="黑体" panose="02010609060101010101" pitchFamily="49" charset="-122"/>
                <a:ea typeface="黑体" panose="02010609060101010101" pitchFamily="49" charset="-122"/>
              </a:rPr>
              <a:t>尺寸</a:t>
            </a:r>
            <a:r>
              <a:rPr kumimoji="0" lang="zh-CN" altLang="en-US" dirty="0">
                <a:solidFill>
                  <a:srgbClr val="000099"/>
                </a:solidFill>
                <a:latin typeface="黑体" panose="02010609060101010101" pitchFamily="49" charset="-122"/>
                <a:ea typeface="黑体" panose="02010609060101010101" pitchFamily="49" charset="-122"/>
              </a:rPr>
              <a:t>均</a:t>
            </a:r>
            <a:r>
              <a:rPr kumimoji="0" lang="zh-CN" altLang="en-US" dirty="0">
                <a:solidFill>
                  <a:srgbClr val="C00000"/>
                </a:solidFill>
                <a:latin typeface="黑体" panose="02010609060101010101" pitchFamily="49" charset="-122"/>
                <a:ea typeface="黑体" panose="02010609060101010101" pitchFamily="49" charset="-122"/>
              </a:rPr>
              <a:t>按标准选定</a:t>
            </a:r>
            <a:r>
              <a:rPr kumimoji="0" lang="zh-CN" altLang="en-US" dirty="0">
                <a:solidFill>
                  <a:srgbClr val="000099"/>
                </a:solidFill>
                <a:latin typeface="黑体" panose="02010609060101010101" pitchFamily="49" charset="-122"/>
                <a:ea typeface="黑体" panose="02010609060101010101" pitchFamily="49" charset="-122"/>
              </a:rPr>
              <a:t>。</a:t>
            </a:r>
            <a:endParaRPr kumimoji="0" lang="zh-CN" altLang="en-US" dirty="0">
              <a:solidFill>
                <a:srgbClr val="000099"/>
              </a:solidFill>
              <a:latin typeface="黑体" panose="02010609060101010101" pitchFamily="49" charset="-122"/>
              <a:ea typeface="黑体" panose="02010609060101010101" pitchFamily="49" charset="-122"/>
            </a:endParaRPr>
          </a:p>
        </p:txBody>
      </p:sp>
      <p:pic>
        <p:nvPicPr>
          <p:cNvPr id="16401" name="Picture 17"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39175" y="650875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04" name="Rectangle 20"/>
          <p:cNvSpPr>
            <a:spLocks noChangeArrowheads="1"/>
          </p:cNvSpPr>
          <p:nvPr/>
        </p:nvSpPr>
        <p:spPr bwMode="auto">
          <a:xfrm>
            <a:off x="217170" y="975995"/>
            <a:ext cx="8422640"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kumimoji="0" lang="en-US" altLang="zh-CN" sz="2000" dirty="0">
                <a:solidFill>
                  <a:srgbClr val="000099"/>
                </a:solidFill>
                <a:latin typeface="华文中宋" panose="02010600040101010101" pitchFamily="2" charset="-122"/>
              </a:rPr>
              <a:t>      </a:t>
            </a:r>
            <a:r>
              <a:rPr lang="zh-CN" altLang="en-US" dirty="0">
                <a:solidFill>
                  <a:srgbClr val="000099"/>
                </a:solidFill>
                <a:latin typeface="黑体" panose="02010609060101010101" pitchFamily="49" charset="-122"/>
                <a:ea typeface="黑体" panose="02010609060101010101" pitchFamily="49" charset="-122"/>
              </a:rPr>
              <a:t>连接的失效形式：主要是指螺纹连接件的失效</a:t>
            </a:r>
            <a:r>
              <a:rPr lang="zh-CN" altLang="en-US" dirty="0" smtClean="0">
                <a:solidFill>
                  <a:srgbClr val="000099"/>
                </a:solidFill>
                <a:latin typeface="黑体" panose="02010609060101010101" pitchFamily="49" charset="-122"/>
                <a:ea typeface="黑体" panose="02010609060101010101" pitchFamily="49" charset="-122"/>
              </a:rPr>
              <a:t>。</a:t>
            </a:r>
            <a:endParaRPr lang="en-US" altLang="zh-CN" dirty="0" smtClean="0">
              <a:solidFill>
                <a:srgbClr val="000099"/>
              </a:solidFill>
              <a:latin typeface="黑体" panose="02010609060101010101" pitchFamily="49" charset="-122"/>
              <a:ea typeface="黑体" panose="02010609060101010101" pitchFamily="49" charset="-122"/>
            </a:endParaRPr>
          </a:p>
          <a:p>
            <a:pPr eaLnBrk="1" hangingPunct="1">
              <a:lnSpc>
                <a:spcPct val="120000"/>
              </a:lnSpc>
            </a:pPr>
            <a:r>
              <a:rPr lang="zh-CN" altLang="en-US" b="1" dirty="0" smtClean="0">
                <a:solidFill>
                  <a:srgbClr val="C00000"/>
                </a:solidFill>
                <a:latin typeface="黑体" panose="02010609060101010101" pitchFamily="49" charset="-122"/>
                <a:ea typeface="黑体" panose="02010609060101010101" pitchFamily="49" charset="-122"/>
              </a:rPr>
              <a:t> </a:t>
            </a:r>
            <a:r>
              <a:rPr lang="zh-CN" altLang="en-US" b="1" dirty="0" smtClean="0">
                <a:solidFill>
                  <a:srgbClr val="C00000"/>
                </a:solidFill>
                <a:latin typeface="Arial" panose="020B0604020202020204" pitchFamily="34" charset="0"/>
                <a:ea typeface="黑体" panose="02010609060101010101" pitchFamily="49" charset="-122"/>
                <a:cs typeface="Arial" panose="020B0604020202020204" pitchFamily="34" charset="0"/>
              </a:rPr>
              <a:t>→</a:t>
            </a:r>
            <a:r>
              <a:rPr lang="zh-CN" altLang="en-US" dirty="0" smtClean="0">
                <a:solidFill>
                  <a:srgbClr val="000099"/>
                </a:solidFill>
                <a:latin typeface="黑体" panose="02010609060101010101" pitchFamily="49" charset="-122"/>
                <a:ea typeface="黑体" panose="02010609060101010101" pitchFamily="49" charset="-122"/>
              </a:rPr>
              <a:t> 对于</a:t>
            </a:r>
            <a:r>
              <a:rPr lang="zh-CN" altLang="en-US" dirty="0">
                <a:solidFill>
                  <a:srgbClr val="000099"/>
                </a:solidFill>
                <a:latin typeface="黑体" panose="02010609060101010101" pitchFamily="49" charset="-122"/>
                <a:ea typeface="黑体" panose="02010609060101010101" pitchFamily="49" charset="-122"/>
              </a:rPr>
              <a:t>受拉螺栓</a:t>
            </a:r>
            <a:r>
              <a:rPr lang="en-US" altLang="zh-CN" dirty="0">
                <a:solidFill>
                  <a:srgbClr val="000099"/>
                </a:solidFill>
                <a:latin typeface="黑体" panose="02010609060101010101" pitchFamily="49" charset="-122"/>
                <a:ea typeface="黑体" panose="02010609060101010101" pitchFamily="49" charset="-122"/>
              </a:rPr>
              <a:t>:</a:t>
            </a:r>
            <a:r>
              <a:rPr lang="zh-CN" altLang="en-US" dirty="0">
                <a:solidFill>
                  <a:srgbClr val="000099"/>
                </a:solidFill>
                <a:latin typeface="黑体" panose="02010609060101010101" pitchFamily="49" charset="-122"/>
                <a:ea typeface="黑体" panose="02010609060101010101" pitchFamily="49" charset="-122"/>
              </a:rPr>
              <a:t>其</a:t>
            </a:r>
            <a:r>
              <a:rPr lang="zh-CN" altLang="en-US" dirty="0" smtClean="0">
                <a:solidFill>
                  <a:srgbClr val="000099"/>
                </a:solidFill>
                <a:latin typeface="黑体" panose="02010609060101010101" pitchFamily="49" charset="-122"/>
                <a:ea typeface="黑体" panose="02010609060101010101" pitchFamily="49" charset="-122"/>
              </a:rPr>
              <a:t>失效形式</a:t>
            </a:r>
            <a:r>
              <a:rPr lang="zh-CN" altLang="en-US" dirty="0">
                <a:solidFill>
                  <a:srgbClr val="000099"/>
                </a:solidFill>
                <a:latin typeface="黑体" panose="02010609060101010101" pitchFamily="49" charset="-122"/>
                <a:ea typeface="黑体" panose="02010609060101010101" pitchFamily="49" charset="-122"/>
              </a:rPr>
              <a:t>主要是螺纹部分的塑性变形和螺杆的</a:t>
            </a:r>
            <a:r>
              <a:rPr lang="zh-CN" altLang="en-US" dirty="0">
                <a:solidFill>
                  <a:srgbClr val="FF0000"/>
                </a:solidFill>
                <a:latin typeface="黑体" panose="02010609060101010101" pitchFamily="49" charset="-122"/>
                <a:ea typeface="黑体" panose="02010609060101010101" pitchFamily="49" charset="-122"/>
              </a:rPr>
              <a:t>疲劳断裂</a:t>
            </a:r>
            <a:r>
              <a:rPr lang="zh-CN" altLang="en-US" dirty="0" smtClean="0">
                <a:solidFill>
                  <a:srgbClr val="000099"/>
                </a:solidFill>
                <a:latin typeface="黑体" panose="02010609060101010101" pitchFamily="49" charset="-122"/>
                <a:ea typeface="黑体" panose="02010609060101010101" pitchFamily="49" charset="-122"/>
              </a:rPr>
              <a:t>。</a:t>
            </a:r>
            <a:endParaRPr lang="en-US" altLang="zh-CN" dirty="0" smtClean="0">
              <a:solidFill>
                <a:srgbClr val="000099"/>
              </a:solidFill>
              <a:latin typeface="黑体" panose="02010609060101010101" pitchFamily="49" charset="-122"/>
              <a:ea typeface="黑体" panose="02010609060101010101" pitchFamily="49" charset="-122"/>
            </a:endParaRPr>
          </a:p>
          <a:p>
            <a:pPr eaLnBrk="1" hangingPunct="1">
              <a:lnSpc>
                <a:spcPct val="120000"/>
              </a:lnSpc>
            </a:pPr>
            <a:r>
              <a:rPr lang="zh-CN" altLang="en-US" dirty="0" smtClean="0">
                <a:solidFill>
                  <a:srgbClr val="000099"/>
                </a:solidFill>
                <a:latin typeface="黑体" panose="02010609060101010101" pitchFamily="49" charset="-122"/>
                <a:ea typeface="黑体" panose="02010609060101010101" pitchFamily="49" charset="-122"/>
              </a:rPr>
              <a:t>  </a:t>
            </a:r>
            <a:r>
              <a:rPr lang="zh-CN" altLang="en-US" b="1" dirty="0" smtClean="0">
                <a:solidFill>
                  <a:srgbClr val="C00000"/>
                </a:solidFill>
                <a:latin typeface="Arial" panose="020B0604020202020204" pitchFamily="34" charset="0"/>
                <a:ea typeface="黑体" panose="02010609060101010101" pitchFamily="49" charset="-122"/>
                <a:cs typeface="Arial" panose="020B0604020202020204" pitchFamily="34" charset="0"/>
                <a:sym typeface="+mn-ea"/>
              </a:rPr>
              <a:t>→</a:t>
            </a:r>
            <a:r>
              <a:rPr lang="zh-CN" altLang="en-US" dirty="0" smtClean="0">
                <a:solidFill>
                  <a:srgbClr val="000099"/>
                </a:solidFill>
                <a:latin typeface="黑体" panose="02010609060101010101" pitchFamily="49" charset="-122"/>
                <a:ea typeface="黑体" panose="02010609060101010101" pitchFamily="49" charset="-122"/>
              </a:rPr>
              <a:t>对于</a:t>
            </a:r>
            <a:r>
              <a:rPr lang="zh-CN" altLang="en-US" dirty="0">
                <a:solidFill>
                  <a:srgbClr val="000099"/>
                </a:solidFill>
                <a:latin typeface="黑体" panose="02010609060101010101" pitchFamily="49" charset="-122"/>
                <a:ea typeface="黑体" panose="02010609060101010101" pitchFamily="49" charset="-122"/>
              </a:rPr>
              <a:t>受剪螺栓</a:t>
            </a:r>
            <a:r>
              <a:rPr lang="en-US" altLang="zh-CN" dirty="0">
                <a:solidFill>
                  <a:srgbClr val="000099"/>
                </a:solidFill>
                <a:latin typeface="黑体" panose="02010609060101010101" pitchFamily="49" charset="-122"/>
                <a:ea typeface="黑体" panose="02010609060101010101" pitchFamily="49" charset="-122"/>
              </a:rPr>
              <a:t>:</a:t>
            </a:r>
            <a:r>
              <a:rPr lang="zh-CN" altLang="en-US" dirty="0">
                <a:solidFill>
                  <a:srgbClr val="000099"/>
                </a:solidFill>
                <a:latin typeface="黑体" panose="02010609060101010101" pitchFamily="49" charset="-122"/>
                <a:ea typeface="黑体" panose="02010609060101010101" pitchFamily="49" charset="-122"/>
              </a:rPr>
              <a:t>其</a:t>
            </a:r>
            <a:r>
              <a:rPr lang="zh-CN" altLang="en-US" dirty="0" smtClean="0">
                <a:solidFill>
                  <a:srgbClr val="000099"/>
                </a:solidFill>
                <a:latin typeface="黑体" panose="02010609060101010101" pitchFamily="49" charset="-122"/>
                <a:ea typeface="黑体" panose="02010609060101010101" pitchFamily="49" charset="-122"/>
              </a:rPr>
              <a:t>失效形式</a:t>
            </a:r>
            <a:r>
              <a:rPr lang="zh-CN" altLang="en-US" dirty="0">
                <a:solidFill>
                  <a:srgbClr val="000099"/>
                </a:solidFill>
                <a:latin typeface="黑体" panose="02010609060101010101" pitchFamily="49" charset="-122"/>
                <a:ea typeface="黑体" panose="02010609060101010101" pitchFamily="49" charset="-122"/>
              </a:rPr>
              <a:t>可能是螺栓杆被剪断或螺栓杆和孔壁的贴合面被压溃。</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6415" name="Text Box 31"/>
          <p:cNvSpPr txBox="1">
            <a:spLocks noChangeArrowheads="1"/>
          </p:cNvSpPr>
          <p:nvPr/>
        </p:nvSpPr>
        <p:spPr bwMode="auto">
          <a:xfrm>
            <a:off x="7107238" y="6256338"/>
            <a:ext cx="3587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3088" name="Picture 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9171" y="2985737"/>
            <a:ext cx="3379788"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9"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404">
                                            <p:txEl>
                                              <p:pRg st="0" end="0"/>
                                            </p:txEl>
                                          </p:spTgt>
                                        </p:tgtEl>
                                        <p:attrNameLst>
                                          <p:attrName>style.visibility</p:attrName>
                                        </p:attrNameLst>
                                      </p:cBhvr>
                                      <p:to>
                                        <p:strVal val="visible"/>
                                      </p:to>
                                    </p:set>
                                    <p:animEffect transition="in" filter="wipe(left)">
                                      <p:cBhvr>
                                        <p:cTn id="7" dur="500"/>
                                        <p:tgtEl>
                                          <p:spTgt spid="164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404">
                                            <p:txEl>
                                              <p:pRg st="1" end="1"/>
                                            </p:txEl>
                                          </p:spTgt>
                                        </p:tgtEl>
                                        <p:attrNameLst>
                                          <p:attrName>style.visibility</p:attrName>
                                        </p:attrNameLst>
                                      </p:cBhvr>
                                      <p:to>
                                        <p:strVal val="visible"/>
                                      </p:to>
                                    </p:set>
                                    <p:animEffect transition="in" filter="wipe(left)">
                                      <p:cBhvr>
                                        <p:cTn id="12" dur="500"/>
                                        <p:tgtEl>
                                          <p:spTgt spid="16404">
                                            <p:txEl>
                                              <p:pRg st="1" end="1"/>
                                            </p:txEl>
                                          </p:spTgt>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3088"/>
                                        </p:tgtEl>
                                        <p:attrNameLst>
                                          <p:attrName>style.visibility</p:attrName>
                                        </p:attrNameLst>
                                      </p:cBhvr>
                                      <p:to>
                                        <p:strVal val="visible"/>
                                      </p:to>
                                    </p:set>
                                  </p:childTnLst>
                                </p:cTn>
                              </p:par>
                              <p:par>
                                <p:cTn id="16" presetID="22" presetClass="entr" presetSubtype="8" fill="hold" nodeType="withEffect">
                                  <p:stCondLst>
                                    <p:cond delay="0"/>
                                  </p:stCondLst>
                                  <p:childTnLst>
                                    <p:set>
                                      <p:cBhvr>
                                        <p:cTn id="17" dur="1" fill="hold">
                                          <p:stCondLst>
                                            <p:cond delay="0"/>
                                          </p:stCondLst>
                                        </p:cTn>
                                        <p:tgtEl>
                                          <p:spTgt spid="16404">
                                            <p:txEl>
                                              <p:pRg st="2" end="2"/>
                                            </p:txEl>
                                          </p:spTgt>
                                        </p:tgtEl>
                                        <p:attrNameLst>
                                          <p:attrName>style.visibility</p:attrName>
                                        </p:attrNameLst>
                                      </p:cBhvr>
                                      <p:to>
                                        <p:strVal val="visible"/>
                                      </p:to>
                                    </p:set>
                                    <p:animEffect transition="in" filter="wipe(left)">
                                      <p:cBhvr>
                                        <p:cTn id="18" dur="500"/>
                                        <p:tgtEl>
                                          <p:spTgt spid="1640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6394"/>
                                        </p:tgtEl>
                                        <p:attrNameLst>
                                          <p:attrName>style.visibility</p:attrName>
                                        </p:attrNameLst>
                                      </p:cBhvr>
                                      <p:to>
                                        <p:strVal val="visible"/>
                                      </p:to>
                                    </p:set>
                                    <p:animEffect transition="in" filter="wipe(left)">
                                      <p:cBhvr>
                                        <p:cTn id="23" dur="500"/>
                                        <p:tgtEl>
                                          <p:spTgt spid="1639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393"/>
                                        </p:tgtEl>
                                        <p:attrNameLst>
                                          <p:attrName>style.visibility</p:attrName>
                                        </p:attrNameLst>
                                      </p:cBhvr>
                                      <p:to>
                                        <p:strVal val="visible"/>
                                      </p:to>
                                    </p:set>
                                    <p:animEffect transition="in" filter="wipe(left)">
                                      <p:cBhvr>
                                        <p:cTn id="28" dur="500"/>
                                        <p:tgtEl>
                                          <p:spTgt spid="16393"/>
                                        </p:tgtEl>
                                      </p:cBhvr>
                                    </p:animEffect>
                                  </p:childTnLst>
                                </p:cTn>
                              </p:par>
                            </p:childTnLst>
                          </p:cTn>
                        </p:par>
                        <p:par>
                          <p:cTn id="29" fill="hold">
                            <p:stCondLst>
                              <p:cond delay="500"/>
                            </p:stCondLst>
                            <p:childTnLst>
                              <p:par>
                                <p:cTn id="30" presetID="2" presetClass="entr" presetSubtype="8" fill="hold" nodeType="afterEffect">
                                  <p:stCondLst>
                                    <p:cond delay="0"/>
                                  </p:stCondLst>
                                  <p:childTnLst>
                                    <p:set>
                                      <p:cBhvr>
                                        <p:cTn id="31" dur="1" fill="hold">
                                          <p:stCondLst>
                                            <p:cond delay="0"/>
                                          </p:stCondLst>
                                        </p:cTn>
                                        <p:tgtEl>
                                          <p:spTgt spid="16401"/>
                                        </p:tgtEl>
                                        <p:attrNameLst>
                                          <p:attrName>style.visibility</p:attrName>
                                        </p:attrNameLst>
                                      </p:cBhvr>
                                      <p:to>
                                        <p:strVal val="visible"/>
                                      </p:to>
                                    </p:set>
                                    <p:anim calcmode="lin" valueType="num">
                                      <p:cBhvr additive="base">
                                        <p:cTn id="32" dur="500" fill="hold"/>
                                        <p:tgtEl>
                                          <p:spTgt spid="16401"/>
                                        </p:tgtEl>
                                        <p:attrNameLst>
                                          <p:attrName>ppt_x</p:attrName>
                                        </p:attrNameLst>
                                      </p:cBhvr>
                                      <p:tavLst>
                                        <p:tav tm="0">
                                          <p:val>
                                            <p:strVal val="0-#ppt_w/2"/>
                                          </p:val>
                                        </p:tav>
                                        <p:tav tm="100000">
                                          <p:val>
                                            <p:strVal val="#ppt_x"/>
                                          </p:val>
                                        </p:tav>
                                      </p:tavLst>
                                    </p:anim>
                                    <p:anim calcmode="lin" valueType="num">
                                      <p:cBhvr additive="base">
                                        <p:cTn id="33" dur="500" fill="hold"/>
                                        <p:tgtEl>
                                          <p:spTgt spid="16401"/>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6415"/>
                                        </p:tgtEl>
                                        <p:attrNameLst>
                                          <p:attrName>style.visibility</p:attrName>
                                        </p:attrNameLst>
                                      </p:cBhvr>
                                      <p:to>
                                        <p:strVal val="visible"/>
                                      </p:to>
                                    </p:set>
                                    <p:anim calcmode="lin" valueType="num">
                                      <p:cBhvr additive="base">
                                        <p:cTn id="38" dur="500" fill="hold"/>
                                        <p:tgtEl>
                                          <p:spTgt spid="16415"/>
                                        </p:tgtEl>
                                        <p:attrNameLst>
                                          <p:attrName>ppt_x</p:attrName>
                                        </p:attrNameLst>
                                      </p:cBhvr>
                                      <p:tavLst>
                                        <p:tav tm="0">
                                          <p:val>
                                            <p:strVal val="0-#ppt_w/2"/>
                                          </p:val>
                                        </p:tav>
                                        <p:tav tm="100000">
                                          <p:val>
                                            <p:strVal val="#ppt_x"/>
                                          </p:val>
                                        </p:tav>
                                      </p:tavLst>
                                    </p:anim>
                                    <p:anim calcmode="lin" valueType="num">
                                      <p:cBhvr additive="base">
                                        <p:cTn id="39" dur="500" fill="hold"/>
                                        <p:tgtEl>
                                          <p:spTgt spid="164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3" grpId="0" autoUpdateAnimBg="0"/>
      <p:bldP spid="16394" grpId="0" autoUpdateAnimBg="0"/>
      <p:bldP spid="1641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bwMode="auto">
          <a:xfrm>
            <a:off x="4953000" y="838200"/>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螺纹连接的强度计算</a:t>
            </a:r>
            <a:r>
              <a:rPr lang="en-US" altLang="zh-CN" sz="800" smtClean="0">
                <a:solidFill>
                  <a:schemeClr val="bg1"/>
                </a:solidFill>
              </a:rPr>
              <a:t>1</a:t>
            </a:r>
            <a:endParaRPr lang="en-US" altLang="zh-CN" sz="800" smtClean="0">
              <a:solidFill>
                <a:schemeClr val="bg1"/>
              </a:solidFill>
            </a:endParaRPr>
          </a:p>
        </p:txBody>
      </p:sp>
      <p:sp>
        <p:nvSpPr>
          <p:cNvPr id="16398" name="Text Box 14"/>
          <p:cNvSpPr txBox="1">
            <a:spLocks noChangeArrowheads="1"/>
          </p:cNvSpPr>
          <p:nvPr/>
        </p:nvSpPr>
        <p:spPr bwMode="auto">
          <a:xfrm>
            <a:off x="486377" y="989180"/>
            <a:ext cx="328808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000099"/>
                </a:solidFill>
                <a:latin typeface="黑体" panose="02010609060101010101" pitchFamily="49" charset="-122"/>
                <a:ea typeface="黑体" panose="02010609060101010101" pitchFamily="49" charset="-122"/>
              </a:rPr>
              <a:t>一、松螺栓连接强度计算</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6399" name="Text Box 15"/>
          <p:cNvSpPr txBox="1">
            <a:spLocks noChangeArrowheads="1"/>
          </p:cNvSpPr>
          <p:nvPr/>
        </p:nvSpPr>
        <p:spPr bwMode="auto">
          <a:xfrm>
            <a:off x="321844" y="5037824"/>
            <a:ext cx="328808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000099"/>
                </a:solidFill>
                <a:latin typeface="黑体" panose="02010609060101010101" pitchFamily="49" charset="-122"/>
                <a:ea typeface="黑体" panose="02010609060101010101" pitchFamily="49" charset="-122"/>
              </a:rPr>
              <a:t>二、紧螺栓连接强度计算</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6395" name="Text Box 11">
            <a:hlinkClick r:id="" action="ppaction://noaction"/>
          </p:cNvPr>
          <p:cNvSpPr txBox="1">
            <a:spLocks noChangeArrowheads="1"/>
          </p:cNvSpPr>
          <p:nvPr/>
        </p:nvSpPr>
        <p:spPr bwMode="auto">
          <a:xfrm>
            <a:off x="3823615" y="4850699"/>
            <a:ext cx="3743332" cy="3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ctr" eaLnBrk="1" hangingPunct="1">
              <a:lnSpc>
                <a:spcPct val="70000"/>
              </a:lnSpc>
            </a:pPr>
            <a:r>
              <a:rPr lang="en-US" altLang="zh-CN" sz="2000" dirty="0">
                <a:solidFill>
                  <a:srgbClr val="000099"/>
                </a:solidFill>
                <a:latin typeface="Times New Roman" panose="02020603050405020304" pitchFamily="18" charset="0"/>
              </a:rPr>
              <a:t>1</a:t>
            </a:r>
            <a:r>
              <a:rPr lang="zh-CN" altLang="en-US" sz="2000" dirty="0">
                <a:solidFill>
                  <a:srgbClr val="000099"/>
                </a:solidFill>
                <a:latin typeface="Times New Roman" panose="02020603050405020304" pitchFamily="18" charset="0"/>
              </a:rPr>
              <a:t>．</a:t>
            </a:r>
            <a:r>
              <a:rPr lang="zh-CN" altLang="en-US" dirty="0">
                <a:solidFill>
                  <a:srgbClr val="000099"/>
                </a:solidFill>
                <a:latin typeface="Times New Roman" panose="02020603050405020304" pitchFamily="18" charset="0"/>
                <a:hlinkClick r:id="rId1" action="ppaction://hlinksldjump"/>
              </a:rPr>
              <a:t>仅受预紧力的紧螺栓连接 </a:t>
            </a:r>
            <a:endParaRPr lang="zh-CN" altLang="en-US" dirty="0">
              <a:solidFill>
                <a:srgbClr val="000099"/>
              </a:solidFill>
              <a:latin typeface="Times New Roman" panose="02020603050405020304" pitchFamily="18" charset="0"/>
            </a:endParaRPr>
          </a:p>
        </p:txBody>
      </p:sp>
      <p:sp>
        <p:nvSpPr>
          <p:cNvPr id="16396" name="Text Box 12">
            <a:hlinkClick r:id="" action="ppaction://noaction"/>
          </p:cNvPr>
          <p:cNvSpPr txBox="1">
            <a:spLocks noChangeArrowheads="1"/>
          </p:cNvSpPr>
          <p:nvPr/>
        </p:nvSpPr>
        <p:spPr bwMode="auto">
          <a:xfrm>
            <a:off x="3804806" y="5337176"/>
            <a:ext cx="3672800" cy="3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ctr" eaLnBrk="1" hangingPunct="1">
              <a:lnSpc>
                <a:spcPct val="70000"/>
              </a:lnSpc>
            </a:pPr>
            <a:r>
              <a:rPr lang="en-US" altLang="zh-CN" sz="2000" dirty="0">
                <a:solidFill>
                  <a:srgbClr val="000099"/>
                </a:solidFill>
                <a:latin typeface="Times New Roman" panose="02020603050405020304" pitchFamily="18" charset="0"/>
              </a:rPr>
              <a:t>2</a:t>
            </a:r>
            <a:r>
              <a:rPr lang="zh-CN" altLang="en-US" sz="2000" dirty="0">
                <a:solidFill>
                  <a:srgbClr val="000099"/>
                </a:solidFill>
                <a:latin typeface="Times New Roman" panose="02020603050405020304" pitchFamily="18" charset="0"/>
              </a:rPr>
              <a:t>．</a:t>
            </a:r>
            <a:r>
              <a:rPr lang="zh-CN" altLang="en-US" dirty="0">
                <a:solidFill>
                  <a:srgbClr val="000099"/>
                </a:solidFill>
                <a:latin typeface="Times New Roman" panose="02020603050405020304" pitchFamily="18" charset="0"/>
                <a:hlinkClick r:id="rId2" action="ppaction://hlinksldjump"/>
              </a:rPr>
              <a:t>受轴向载荷的紧螺栓连接</a:t>
            </a:r>
            <a:endParaRPr lang="zh-CN" altLang="en-US" dirty="0">
              <a:solidFill>
                <a:srgbClr val="000099"/>
              </a:solidFill>
              <a:latin typeface="Times New Roman" panose="02020603050405020304" pitchFamily="18" charset="0"/>
            </a:endParaRPr>
          </a:p>
        </p:txBody>
      </p:sp>
      <p:sp>
        <p:nvSpPr>
          <p:cNvPr id="16397" name="Text Box 13">
            <a:hlinkClick r:id="rId3" action="ppaction://hlinksldjump"/>
          </p:cNvPr>
          <p:cNvSpPr txBox="1">
            <a:spLocks noChangeArrowheads="1"/>
          </p:cNvSpPr>
          <p:nvPr/>
        </p:nvSpPr>
        <p:spPr bwMode="auto">
          <a:xfrm>
            <a:off x="3774566" y="5738614"/>
            <a:ext cx="3954929" cy="3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ctr" eaLnBrk="1" hangingPunct="1">
              <a:lnSpc>
                <a:spcPct val="70000"/>
              </a:lnSpc>
            </a:pPr>
            <a:r>
              <a:rPr lang="en-US" altLang="zh-CN" sz="2000" dirty="0">
                <a:solidFill>
                  <a:srgbClr val="000099"/>
                </a:solidFill>
                <a:latin typeface="Times New Roman" panose="02020603050405020304" pitchFamily="18" charset="0"/>
              </a:rPr>
              <a:t>3</a:t>
            </a:r>
            <a:r>
              <a:rPr lang="zh-CN" altLang="en-US" sz="2000" dirty="0">
                <a:solidFill>
                  <a:srgbClr val="000099"/>
                </a:solidFill>
                <a:latin typeface="Times New Roman" panose="02020603050405020304" pitchFamily="18" charset="0"/>
              </a:rPr>
              <a:t>．</a:t>
            </a:r>
            <a:r>
              <a:rPr lang="zh-CN" altLang="en-US" dirty="0">
                <a:solidFill>
                  <a:srgbClr val="000099"/>
                </a:solidFill>
                <a:latin typeface="Times New Roman" panose="02020603050405020304" pitchFamily="18" charset="0"/>
                <a:hlinkClick r:id="rId4" action="ppaction://hlinksldjump"/>
              </a:rPr>
              <a:t>承受工作剪力的紧螺栓连接</a:t>
            </a:r>
            <a:endParaRPr lang="zh-CN" altLang="en-US" dirty="0">
              <a:solidFill>
                <a:srgbClr val="000099"/>
              </a:solidFill>
              <a:latin typeface="Times New Roman" panose="02020603050405020304" pitchFamily="18" charset="0"/>
            </a:endParaRPr>
          </a:p>
        </p:txBody>
      </p:sp>
      <p:sp>
        <p:nvSpPr>
          <p:cNvPr id="16400" name="AutoShape 16"/>
          <p:cNvSpPr/>
          <p:nvPr/>
        </p:nvSpPr>
        <p:spPr bwMode="auto">
          <a:xfrm>
            <a:off x="3609691" y="4877487"/>
            <a:ext cx="196850" cy="974725"/>
          </a:xfrm>
          <a:prstGeom prst="leftBrace">
            <a:avLst>
              <a:gd name="adj1" fmla="val 41263"/>
              <a:gd name="adj2" fmla="val 50000"/>
            </a:avLst>
          </a:prstGeom>
          <a:noFill/>
          <a:ln w="12700">
            <a:solidFill>
              <a:srgbClr val="00339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zh-CN">
              <a:solidFill>
                <a:srgbClr val="000099"/>
              </a:solidFill>
            </a:endParaRPr>
          </a:p>
        </p:txBody>
      </p:sp>
      <p:pic>
        <p:nvPicPr>
          <p:cNvPr id="16401" name="Picture 17" descr="rewind1">
            <a:hlinkClick r:id="rId5" action="ppaction://hlinksldjump"/>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39175" y="650875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413" name="Object 29"/>
          <p:cNvGraphicFramePr>
            <a:graphicFrameLocks noChangeAspect="1"/>
          </p:cNvGraphicFramePr>
          <p:nvPr/>
        </p:nvGraphicFramePr>
        <p:xfrm>
          <a:off x="1323607" y="1632083"/>
          <a:ext cx="2678215" cy="1064995"/>
        </p:xfrm>
        <a:graphic>
          <a:graphicData uri="http://schemas.openxmlformats.org/presentationml/2006/ole">
            <mc:AlternateContent xmlns:mc="http://schemas.openxmlformats.org/markup-compatibility/2006">
              <mc:Choice xmlns:v="urn:schemas-microsoft-com:vml" Requires="v">
                <p:oleObj spid="_x0000_s20511" name="Equation" r:id="rId7" imgW="972185" imgH="393700" progId="Equation.3">
                  <p:embed/>
                </p:oleObj>
              </mc:Choice>
              <mc:Fallback>
                <p:oleObj name="Equation" r:id="rId7" imgW="972185" imgH="393700" progId="Equation.3">
                  <p:embed/>
                  <p:pic>
                    <p:nvPicPr>
                      <p:cNvPr id="0" name="图片 205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23607" y="1632083"/>
                        <a:ext cx="2678215" cy="1064995"/>
                      </a:xfrm>
                      <a:prstGeom prst="rect">
                        <a:avLst/>
                      </a:prstGeom>
                      <a:noFill/>
                      <a:ln>
                        <a:noFill/>
                      </a:ln>
                    </p:spPr>
                  </p:pic>
                </p:oleObj>
              </mc:Fallback>
            </mc:AlternateContent>
          </a:graphicData>
        </a:graphic>
      </p:graphicFrame>
      <p:sp>
        <p:nvSpPr>
          <p:cNvPr id="16415" name="Text Box 31"/>
          <p:cNvSpPr txBox="1">
            <a:spLocks noChangeArrowheads="1"/>
          </p:cNvSpPr>
          <p:nvPr/>
        </p:nvSpPr>
        <p:spPr bwMode="auto">
          <a:xfrm>
            <a:off x="7107238" y="6256338"/>
            <a:ext cx="3587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3089"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Rectangle 4"/>
          <p:cNvSpPr>
            <a:spLocks noChangeArrowheads="1"/>
          </p:cNvSpPr>
          <p:nvPr/>
        </p:nvSpPr>
        <p:spPr bwMode="auto">
          <a:xfrm>
            <a:off x="3313430" y="215900"/>
            <a:ext cx="52209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-4 </a:t>
            </a:r>
            <a:r>
              <a:rPr lang="zh-CN" altLang="en-US" sz="3000" dirty="0">
                <a:solidFill>
                  <a:srgbClr val="CC3300"/>
                </a:solidFill>
                <a:latin typeface="黑体" panose="02010609060101010101" pitchFamily="49" charset="-122"/>
                <a:ea typeface="黑体" panose="02010609060101010101" pitchFamily="49" charset="-122"/>
              </a:rPr>
              <a:t>螺纹连接的强度计算</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43014" name="Picture 6"/>
          <p:cNvPicPr>
            <a:picLocks noChangeAspect="1"/>
          </p:cNvPicPr>
          <p:nvPr/>
        </p:nvPicPr>
        <p:blipFill>
          <a:blip r:embed="rId9"/>
          <a:stretch>
            <a:fillRect/>
          </a:stretch>
        </p:blipFill>
        <p:spPr>
          <a:xfrm>
            <a:off x="6781483" y="838200"/>
            <a:ext cx="2051050" cy="3929063"/>
          </a:xfrm>
          <a:prstGeom prst="rect">
            <a:avLst/>
          </a:prstGeom>
          <a:noFill/>
          <a:ln w="9525">
            <a:noFill/>
          </a:ln>
        </p:spPr>
      </p:pic>
      <p:graphicFrame>
        <p:nvGraphicFramePr>
          <p:cNvPr id="556050" name="Object 5"/>
          <p:cNvGraphicFramePr>
            <a:graphicFrameLocks noChangeAspect="1"/>
          </p:cNvGraphicFramePr>
          <p:nvPr/>
        </p:nvGraphicFramePr>
        <p:xfrm>
          <a:off x="1487012" y="2911952"/>
          <a:ext cx="2712720" cy="916305"/>
        </p:xfrm>
        <a:graphic>
          <a:graphicData uri="http://schemas.openxmlformats.org/presentationml/2006/ole">
            <mc:AlternateContent xmlns:mc="http://schemas.openxmlformats.org/markup-compatibility/2006">
              <mc:Choice xmlns:v="urn:schemas-microsoft-com:vml" Requires="v">
                <p:oleObj spid="_x0000_s3086" name="" r:id="rId10" imgW="1117600" imgH="469900" progId="Equation.DSMT4">
                  <p:embed/>
                </p:oleObj>
              </mc:Choice>
              <mc:Fallback>
                <p:oleObj name="" r:id="rId10" imgW="1117600" imgH="469900" progId="Equation.DSMT4">
                  <p:embed/>
                  <p:pic>
                    <p:nvPicPr>
                      <p:cNvPr id="0" name="图片 3085"/>
                      <p:cNvPicPr/>
                      <p:nvPr/>
                    </p:nvPicPr>
                    <p:blipFill>
                      <a:blip r:embed="rId11"/>
                      <a:stretch>
                        <a:fillRect/>
                      </a:stretch>
                    </p:blipFill>
                    <p:spPr>
                      <a:xfrm>
                        <a:off x="1487012" y="2911952"/>
                        <a:ext cx="2712720" cy="916305"/>
                      </a:xfrm>
                      <a:prstGeom prst="rect">
                        <a:avLst/>
                      </a:prstGeom>
                      <a:solidFill>
                        <a:srgbClr val="FFFFFF"/>
                      </a:solidFill>
                      <a:ln w="38100">
                        <a:noFill/>
                        <a:miter/>
                      </a:ln>
                    </p:spPr>
                  </p:pic>
                </p:oleObj>
              </mc:Fallback>
            </mc:AlternateContent>
          </a:graphicData>
        </a:graphic>
      </p:graphicFrame>
      <p:sp>
        <p:nvSpPr>
          <p:cNvPr id="3" name="文本框 2"/>
          <p:cNvSpPr txBox="1"/>
          <p:nvPr/>
        </p:nvSpPr>
        <p:spPr>
          <a:xfrm>
            <a:off x="486410" y="4038600"/>
            <a:ext cx="6170295" cy="429895"/>
          </a:xfrm>
          <a:prstGeom prst="rect">
            <a:avLst/>
          </a:prstGeom>
          <a:noFill/>
        </p:spPr>
        <p:txBody>
          <a:bodyPr wrap="none" rtlCol="0" anchor="t">
            <a:spAutoFit/>
          </a:bodyPr>
          <a:p>
            <a:pPr marR="0" defTabSz="914400">
              <a:spcBef>
                <a:spcPct val="50000"/>
              </a:spcBef>
              <a:buClrTx/>
              <a:buSzTx/>
              <a:buFontTx/>
              <a:defRPr/>
            </a:pPr>
            <a:r>
              <a:rPr lang="zh-CN" altLang="en-US" b="1" noProof="0" dirty="0">
                <a:solidFill>
                  <a:srgbClr val="003399"/>
                </a:solidFill>
                <a:latin typeface="+mn-ea"/>
                <a:ea typeface="+mn-ea"/>
                <a:sym typeface="+mn-ea"/>
              </a:rPr>
              <a:t>根据计算所得的</a:t>
            </a:r>
            <a:r>
              <a:rPr lang="en-US" altLang="zh-CN" b="1" i="1" noProof="0" dirty="0">
                <a:solidFill>
                  <a:srgbClr val="003399"/>
                </a:solidFill>
                <a:latin typeface="+mn-ea"/>
                <a:ea typeface="+mn-ea"/>
                <a:sym typeface="+mn-ea"/>
              </a:rPr>
              <a:t>d</a:t>
            </a:r>
            <a:r>
              <a:rPr lang="en-US" altLang="zh-CN" b="1" baseline="-25000" noProof="0" dirty="0">
                <a:solidFill>
                  <a:srgbClr val="003399"/>
                </a:solidFill>
                <a:latin typeface="+mn-ea"/>
                <a:ea typeface="+mn-ea"/>
                <a:sym typeface="+mn-ea"/>
              </a:rPr>
              <a:t>1</a:t>
            </a:r>
            <a:r>
              <a:rPr lang="zh-CN" altLang="en-US" b="1" noProof="0" dirty="0">
                <a:solidFill>
                  <a:srgbClr val="003399"/>
                </a:solidFill>
                <a:latin typeface="+mn-ea"/>
                <a:ea typeface="+mn-ea"/>
                <a:sym typeface="+mn-ea"/>
              </a:rPr>
              <a:t>，查标准确定螺栓的公称直径</a:t>
            </a:r>
            <a:r>
              <a:rPr lang="en-US" altLang="zh-CN" b="1" i="1" noProof="0" dirty="0">
                <a:solidFill>
                  <a:srgbClr val="003399"/>
                </a:solidFill>
                <a:latin typeface="+mn-ea"/>
                <a:ea typeface="+mn-ea"/>
                <a:sym typeface="+mn-ea"/>
              </a:rPr>
              <a:t>d</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98"/>
                                        </p:tgtEl>
                                        <p:attrNameLst>
                                          <p:attrName>style.visibility</p:attrName>
                                        </p:attrNameLst>
                                      </p:cBhvr>
                                      <p:to>
                                        <p:strVal val="visible"/>
                                      </p:to>
                                    </p:set>
                                    <p:animEffect transition="in" filter="wipe(left)">
                                      <p:cBhvr>
                                        <p:cTn id="7" dur="500"/>
                                        <p:tgtEl>
                                          <p:spTgt spid="1639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3014"/>
                                        </p:tgtEl>
                                        <p:attrNameLst>
                                          <p:attrName>style.visibility</p:attrName>
                                        </p:attrNameLst>
                                      </p:cBhvr>
                                      <p:to>
                                        <p:strVal val="visible"/>
                                      </p:to>
                                    </p:set>
                                    <p:anim calcmode="lin" valueType="num">
                                      <p:cBhvr additive="base">
                                        <p:cTn id="12" dur="500" fill="hold"/>
                                        <p:tgtEl>
                                          <p:spTgt spid="43014"/>
                                        </p:tgtEl>
                                        <p:attrNameLst>
                                          <p:attrName>ppt_x</p:attrName>
                                        </p:attrNameLst>
                                      </p:cBhvr>
                                      <p:tavLst>
                                        <p:tav tm="0">
                                          <p:val>
                                            <p:strVal val="#ppt_x"/>
                                          </p:val>
                                        </p:tav>
                                        <p:tav tm="100000">
                                          <p:val>
                                            <p:strVal val="#ppt_x"/>
                                          </p:val>
                                        </p:tav>
                                      </p:tavLst>
                                    </p:anim>
                                    <p:anim calcmode="lin" valueType="num">
                                      <p:cBhvr additive="base">
                                        <p:cTn id="13" dur="500" fill="hold"/>
                                        <p:tgtEl>
                                          <p:spTgt spid="4301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6413"/>
                                        </p:tgtEl>
                                        <p:attrNameLst>
                                          <p:attrName>style.visibility</p:attrName>
                                        </p:attrNameLst>
                                      </p:cBhvr>
                                      <p:to>
                                        <p:strVal val="visible"/>
                                      </p:to>
                                    </p:set>
                                    <p:animEffect transition="in" filter="wipe(left)">
                                      <p:cBhvr>
                                        <p:cTn id="18" dur="500"/>
                                        <p:tgtEl>
                                          <p:spTgt spid="16413"/>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556050"/>
                                        </p:tgtEl>
                                        <p:attrNameLst>
                                          <p:attrName>style.visibility</p:attrName>
                                        </p:attrNameLst>
                                      </p:cBhvr>
                                      <p:to>
                                        <p:strVal val="visible"/>
                                      </p:to>
                                    </p:set>
                                    <p:animEffect transition="in" filter="dissolve">
                                      <p:cBhvr>
                                        <p:cTn id="23" dur="500"/>
                                        <p:tgtEl>
                                          <p:spTgt spid="55605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399"/>
                                        </p:tgtEl>
                                        <p:attrNameLst>
                                          <p:attrName>style.visibility</p:attrName>
                                        </p:attrNameLst>
                                      </p:cBhvr>
                                      <p:to>
                                        <p:strVal val="visible"/>
                                      </p:to>
                                    </p:set>
                                    <p:animEffect transition="in" filter="wipe(left)">
                                      <p:cBhvr>
                                        <p:cTn id="33" dur="500"/>
                                        <p:tgtEl>
                                          <p:spTgt spid="1639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6400"/>
                                        </p:tgtEl>
                                        <p:attrNameLst>
                                          <p:attrName>style.visibility</p:attrName>
                                        </p:attrNameLst>
                                      </p:cBhvr>
                                      <p:to>
                                        <p:strVal val="visible"/>
                                      </p:to>
                                    </p:set>
                                    <p:animEffect transition="in" filter="wipe(left)">
                                      <p:cBhvr>
                                        <p:cTn id="38" dur="500"/>
                                        <p:tgtEl>
                                          <p:spTgt spid="16400"/>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16395"/>
                                        </p:tgtEl>
                                        <p:attrNameLst>
                                          <p:attrName>style.visibility</p:attrName>
                                        </p:attrNameLst>
                                      </p:cBhvr>
                                      <p:to>
                                        <p:strVal val="visible"/>
                                      </p:to>
                                    </p:set>
                                    <p:animEffect transition="in" filter="wipe(left)">
                                      <p:cBhvr>
                                        <p:cTn id="42" dur="500"/>
                                        <p:tgtEl>
                                          <p:spTgt spid="16395"/>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16396"/>
                                        </p:tgtEl>
                                        <p:attrNameLst>
                                          <p:attrName>style.visibility</p:attrName>
                                        </p:attrNameLst>
                                      </p:cBhvr>
                                      <p:to>
                                        <p:strVal val="visible"/>
                                      </p:to>
                                    </p:set>
                                    <p:animEffect transition="in" filter="wipe(left)">
                                      <p:cBhvr>
                                        <p:cTn id="46" dur="500"/>
                                        <p:tgtEl>
                                          <p:spTgt spid="16396"/>
                                        </p:tgtEl>
                                      </p:cBhvr>
                                    </p:animEffect>
                                  </p:childTnLst>
                                </p:cTn>
                              </p:par>
                            </p:childTnLst>
                          </p:cTn>
                        </p:par>
                        <p:par>
                          <p:cTn id="47" fill="hold">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16397"/>
                                        </p:tgtEl>
                                        <p:attrNameLst>
                                          <p:attrName>style.visibility</p:attrName>
                                        </p:attrNameLst>
                                      </p:cBhvr>
                                      <p:to>
                                        <p:strVal val="visible"/>
                                      </p:to>
                                    </p:set>
                                    <p:animEffect transition="in" filter="wipe(left)">
                                      <p:cBhvr>
                                        <p:cTn id="50" dur="500"/>
                                        <p:tgtEl>
                                          <p:spTgt spid="16397"/>
                                        </p:tgtEl>
                                      </p:cBhvr>
                                    </p:animEffect>
                                  </p:childTnLst>
                                </p:cTn>
                              </p:par>
                            </p:childTnLst>
                          </p:cTn>
                        </p:par>
                        <p:par>
                          <p:cTn id="51" fill="hold">
                            <p:stCondLst>
                              <p:cond delay="2000"/>
                            </p:stCondLst>
                            <p:childTnLst>
                              <p:par>
                                <p:cTn id="52" presetID="2" presetClass="entr" presetSubtype="8" fill="hold" nodeType="afterEffect">
                                  <p:stCondLst>
                                    <p:cond delay="0"/>
                                  </p:stCondLst>
                                  <p:childTnLst>
                                    <p:set>
                                      <p:cBhvr>
                                        <p:cTn id="53" dur="1" fill="hold">
                                          <p:stCondLst>
                                            <p:cond delay="0"/>
                                          </p:stCondLst>
                                        </p:cTn>
                                        <p:tgtEl>
                                          <p:spTgt spid="16401"/>
                                        </p:tgtEl>
                                        <p:attrNameLst>
                                          <p:attrName>style.visibility</p:attrName>
                                        </p:attrNameLst>
                                      </p:cBhvr>
                                      <p:to>
                                        <p:strVal val="visible"/>
                                      </p:to>
                                    </p:set>
                                    <p:anim calcmode="lin" valueType="num">
                                      <p:cBhvr additive="base">
                                        <p:cTn id="54" dur="500" fill="hold"/>
                                        <p:tgtEl>
                                          <p:spTgt spid="16401"/>
                                        </p:tgtEl>
                                        <p:attrNameLst>
                                          <p:attrName>ppt_x</p:attrName>
                                        </p:attrNameLst>
                                      </p:cBhvr>
                                      <p:tavLst>
                                        <p:tav tm="0">
                                          <p:val>
                                            <p:strVal val="0-#ppt_w/2"/>
                                          </p:val>
                                        </p:tav>
                                        <p:tav tm="100000">
                                          <p:val>
                                            <p:strVal val="#ppt_x"/>
                                          </p:val>
                                        </p:tav>
                                      </p:tavLst>
                                    </p:anim>
                                    <p:anim calcmode="lin" valueType="num">
                                      <p:cBhvr additive="base">
                                        <p:cTn id="55" dur="500" fill="hold"/>
                                        <p:tgtEl>
                                          <p:spTgt spid="16401"/>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grpId="0" nodeType="clickEffect">
                                  <p:stCondLst>
                                    <p:cond delay="0"/>
                                  </p:stCondLst>
                                  <p:childTnLst>
                                    <p:set>
                                      <p:cBhvr>
                                        <p:cTn id="59" dur="1" fill="hold">
                                          <p:stCondLst>
                                            <p:cond delay="0"/>
                                          </p:stCondLst>
                                        </p:cTn>
                                        <p:tgtEl>
                                          <p:spTgt spid="16415"/>
                                        </p:tgtEl>
                                        <p:attrNameLst>
                                          <p:attrName>style.visibility</p:attrName>
                                        </p:attrNameLst>
                                      </p:cBhvr>
                                      <p:to>
                                        <p:strVal val="visible"/>
                                      </p:to>
                                    </p:set>
                                    <p:anim calcmode="lin" valueType="num">
                                      <p:cBhvr additive="base">
                                        <p:cTn id="60" dur="500" fill="hold"/>
                                        <p:tgtEl>
                                          <p:spTgt spid="16415"/>
                                        </p:tgtEl>
                                        <p:attrNameLst>
                                          <p:attrName>ppt_x</p:attrName>
                                        </p:attrNameLst>
                                      </p:cBhvr>
                                      <p:tavLst>
                                        <p:tav tm="0">
                                          <p:val>
                                            <p:strVal val="0-#ppt_w/2"/>
                                          </p:val>
                                        </p:tav>
                                        <p:tav tm="100000">
                                          <p:val>
                                            <p:strVal val="#ppt_x"/>
                                          </p:val>
                                        </p:tav>
                                      </p:tavLst>
                                    </p:anim>
                                    <p:anim calcmode="lin" valueType="num">
                                      <p:cBhvr additive="base">
                                        <p:cTn id="61" dur="500" fill="hold"/>
                                        <p:tgtEl>
                                          <p:spTgt spid="164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8" grpId="0" autoUpdateAnimBg="0"/>
      <p:bldP spid="16399" grpId="0" autoUpdateAnimBg="0"/>
      <p:bldP spid="16395" grpId="0" autoUpdateAnimBg="0"/>
      <p:bldP spid="16396" grpId="0" autoUpdateAnimBg="0"/>
      <p:bldP spid="16397" grpId="0" autoUpdateAnimBg="0"/>
      <p:bldP spid="16400" grpId="0" bldLvl="0" animBg="1" autoUpdateAnimBg="0"/>
      <p:bldP spid="16415" grpId="0" autoUpdateAnimBg="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2"/>
          <p:cNvSpPr>
            <a:spLocks noGrp="1" noChangeArrowheads="1"/>
          </p:cNvSpPr>
          <p:nvPr>
            <p:ph type="title"/>
          </p:nvPr>
        </p:nvSpPr>
        <p:spPr bwMode="auto">
          <a:xfrm>
            <a:off x="5681663" y="809625"/>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螺纹连接的强度计算</a:t>
            </a:r>
            <a:r>
              <a:rPr lang="en-US" altLang="zh-CN" sz="800" smtClean="0">
                <a:solidFill>
                  <a:schemeClr val="bg1"/>
                </a:solidFill>
              </a:rPr>
              <a:t>2 </a:t>
            </a:r>
            <a:endParaRPr lang="en-US" altLang="zh-CN" sz="800" smtClean="0">
              <a:solidFill>
                <a:schemeClr val="bg1"/>
              </a:solidFill>
            </a:endParaRPr>
          </a:p>
        </p:txBody>
      </p:sp>
      <p:sp>
        <p:nvSpPr>
          <p:cNvPr id="22533" name="Rectangle 5"/>
          <p:cNvSpPr>
            <a:spLocks noChangeArrowheads="1"/>
          </p:cNvSpPr>
          <p:nvPr/>
        </p:nvSpPr>
        <p:spPr bwMode="auto">
          <a:xfrm>
            <a:off x="250825" y="846138"/>
            <a:ext cx="3992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a:solidFill>
                  <a:srgbClr val="C00000"/>
                </a:solidFill>
                <a:latin typeface="黑体" panose="02010609060101010101" pitchFamily="49" charset="-122"/>
                <a:ea typeface="黑体" panose="02010609060101010101" pitchFamily="49" charset="-122"/>
                <a:cs typeface="黑体" panose="02010609060101010101" pitchFamily="49" charset="-122"/>
              </a:rPr>
              <a:t>1</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．仅受预紧力的紧螺栓连接</a:t>
            </a:r>
            <a:endPar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endParaRPr>
          </a:p>
        </p:txBody>
      </p:sp>
      <p:grpSp>
        <p:nvGrpSpPr>
          <p:cNvPr id="2" name="Group 60"/>
          <p:cNvGrpSpPr/>
          <p:nvPr/>
        </p:nvGrpSpPr>
        <p:grpSpPr bwMode="auto">
          <a:xfrm>
            <a:off x="250825" y="1279525"/>
            <a:ext cx="3711575" cy="935038"/>
            <a:chOff x="158" y="806"/>
            <a:chExt cx="2338" cy="589"/>
          </a:xfrm>
        </p:grpSpPr>
        <p:graphicFrame>
          <p:nvGraphicFramePr>
            <p:cNvPr id="4101" name="Object 7"/>
            <p:cNvGraphicFramePr>
              <a:graphicFrameLocks noChangeAspect="1"/>
            </p:cNvGraphicFramePr>
            <p:nvPr/>
          </p:nvGraphicFramePr>
          <p:xfrm>
            <a:off x="1791" y="806"/>
            <a:ext cx="705" cy="589"/>
          </p:xfrm>
          <a:graphic>
            <a:graphicData uri="http://schemas.openxmlformats.org/presentationml/2006/ole">
              <mc:AlternateContent xmlns:mc="http://schemas.openxmlformats.org/markup-compatibility/2006">
                <mc:Choice xmlns:v="urn:schemas-microsoft-com:vml" Requires="v">
                  <p:oleObj spid="_x0000_s4282" name="Equation" r:id="rId1" imgW="613410" imgH="520700" progId="Equation.3">
                    <p:embed/>
                  </p:oleObj>
                </mc:Choice>
                <mc:Fallback>
                  <p:oleObj name="Equation" r:id="rId1" imgW="613410" imgH="5207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 y="806"/>
                          <a:ext cx="705" cy="589"/>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4117" name="Text Box 17"/>
            <p:cNvSpPr txBox="1">
              <a:spLocks noChangeArrowheads="1"/>
            </p:cNvSpPr>
            <p:nvPr/>
          </p:nvSpPr>
          <p:spPr bwMode="auto">
            <a:xfrm>
              <a:off x="158" y="864"/>
              <a:ext cx="17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预紧力引起的拉应力：</a:t>
              </a:r>
              <a:endParaRPr lang="zh-CN" altLang="en-US" sz="2000">
                <a:solidFill>
                  <a:srgbClr val="000099"/>
                </a:solidFill>
              </a:endParaRPr>
            </a:p>
          </p:txBody>
        </p:sp>
      </p:grpSp>
      <p:grpSp>
        <p:nvGrpSpPr>
          <p:cNvPr id="3" name="Group 61"/>
          <p:cNvGrpSpPr/>
          <p:nvPr/>
        </p:nvGrpSpPr>
        <p:grpSpPr bwMode="auto">
          <a:xfrm>
            <a:off x="82550" y="2128838"/>
            <a:ext cx="5888038" cy="1365250"/>
            <a:chOff x="52" y="1341"/>
            <a:chExt cx="3709" cy="860"/>
          </a:xfrm>
        </p:grpSpPr>
        <p:graphicFrame>
          <p:nvGraphicFramePr>
            <p:cNvPr id="4100" name="Object 15"/>
            <p:cNvGraphicFramePr>
              <a:graphicFrameLocks noChangeAspect="1"/>
            </p:cNvGraphicFramePr>
            <p:nvPr/>
          </p:nvGraphicFramePr>
          <p:xfrm>
            <a:off x="1694" y="1341"/>
            <a:ext cx="2067" cy="860"/>
          </p:xfrm>
          <a:graphic>
            <a:graphicData uri="http://schemas.openxmlformats.org/presentationml/2006/ole">
              <mc:AlternateContent xmlns:mc="http://schemas.openxmlformats.org/markup-compatibility/2006">
                <mc:Choice xmlns:v="urn:schemas-microsoft-com:vml" Requires="v">
                  <p:oleObj spid="_x0000_s4283" name="Equation" r:id="rId3" imgW="1803400" imgH="762000" progId="Equation.3">
                    <p:embed/>
                  </p:oleObj>
                </mc:Choice>
                <mc:Fallback>
                  <p:oleObj name="Equation" r:id="rId3" imgW="1803400" imgH="762000" progId="Equation.3">
                    <p:embed/>
                    <p:pic>
                      <p:nvPicPr>
                        <p:cNvPr id="0" name="Object 15"/>
                        <p:cNvPicPr>
                          <a:picLocks noChangeAspect="1" noChangeArrowheads="1"/>
                        </p:cNvPicPr>
                        <p:nvPr/>
                      </p:nvPicPr>
                      <p:blipFill>
                        <a:blip r:embed="rId4"/>
                        <a:srcRect/>
                        <a:stretch>
                          <a:fillRect/>
                        </a:stretch>
                      </p:blipFill>
                      <p:spPr bwMode="auto">
                        <a:xfrm>
                          <a:off x="1694" y="1341"/>
                          <a:ext cx="2067" cy="860"/>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6" name="Text Box 18"/>
            <p:cNvSpPr txBox="1">
              <a:spLocks noChangeArrowheads="1"/>
            </p:cNvSpPr>
            <p:nvPr/>
          </p:nvSpPr>
          <p:spPr bwMode="auto">
            <a:xfrm>
              <a:off x="52" y="1416"/>
              <a:ext cx="2131"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rPr>
                <a:t>螺纹</a:t>
              </a:r>
              <a:r>
                <a:rPr lang="zh-CN" altLang="en-US" sz="2000">
                  <a:solidFill>
                    <a:srgbClr val="000099"/>
                  </a:solidFill>
                </a:rPr>
                <a:t>牙间的摩擦力矩引</a:t>
              </a:r>
              <a:endParaRPr lang="zh-CN" altLang="en-US" sz="2000">
                <a:solidFill>
                  <a:srgbClr val="000099"/>
                </a:solidFill>
              </a:endParaRPr>
            </a:p>
            <a:p>
              <a:pPr eaLnBrk="1" hangingPunct="1">
                <a:lnSpc>
                  <a:spcPct val="120000"/>
                </a:lnSpc>
              </a:pPr>
              <a:r>
                <a:rPr lang="zh-CN" altLang="en-US" sz="2000">
                  <a:solidFill>
                    <a:srgbClr val="000099"/>
                  </a:solidFill>
                </a:rPr>
                <a:t>起的扭转剪应力：</a:t>
              </a:r>
              <a:endParaRPr lang="zh-CN" altLang="en-US" sz="2000">
                <a:solidFill>
                  <a:srgbClr val="000099"/>
                </a:solidFill>
              </a:endParaRPr>
            </a:p>
          </p:txBody>
        </p:sp>
      </p:grpSp>
      <p:grpSp>
        <p:nvGrpSpPr>
          <p:cNvPr id="4" name="Group 63"/>
          <p:cNvGrpSpPr/>
          <p:nvPr/>
        </p:nvGrpSpPr>
        <p:grpSpPr bwMode="auto">
          <a:xfrm>
            <a:off x="250825" y="4235450"/>
            <a:ext cx="4392613" cy="958850"/>
            <a:chOff x="158" y="2668"/>
            <a:chExt cx="2767" cy="604"/>
          </a:xfrm>
        </p:grpSpPr>
        <p:graphicFrame>
          <p:nvGraphicFramePr>
            <p:cNvPr id="4099" name="Object 8"/>
            <p:cNvGraphicFramePr>
              <a:graphicFrameLocks noChangeAspect="1"/>
            </p:cNvGraphicFramePr>
            <p:nvPr/>
          </p:nvGraphicFramePr>
          <p:xfrm>
            <a:off x="1791" y="2668"/>
            <a:ext cx="1134" cy="604"/>
          </p:xfrm>
          <a:graphic>
            <a:graphicData uri="http://schemas.openxmlformats.org/presentationml/2006/ole">
              <mc:AlternateContent xmlns:mc="http://schemas.openxmlformats.org/markup-compatibility/2006">
                <mc:Choice xmlns:v="urn:schemas-microsoft-com:vml" Requires="v">
                  <p:oleObj spid="_x0000_s4284" name="Equation" r:id="rId5" imgW="983615" imgH="532130" progId="Equation.3">
                    <p:embed/>
                  </p:oleObj>
                </mc:Choice>
                <mc:Fallback>
                  <p:oleObj name="Equation" r:id="rId5" imgW="983615" imgH="53213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1" y="2668"/>
                          <a:ext cx="1134" cy="604"/>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4115" name="Text Box 19"/>
            <p:cNvSpPr txBox="1">
              <a:spLocks noChangeArrowheads="1"/>
            </p:cNvSpPr>
            <p:nvPr/>
          </p:nvSpPr>
          <p:spPr bwMode="auto">
            <a:xfrm>
              <a:off x="158" y="2839"/>
              <a:ext cx="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强度条件：</a:t>
              </a:r>
              <a:endParaRPr lang="zh-CN" altLang="en-US" sz="2000">
                <a:solidFill>
                  <a:srgbClr val="000099"/>
                </a:solidFill>
              </a:endParaRPr>
            </a:p>
          </p:txBody>
        </p:sp>
      </p:grpSp>
      <p:sp>
        <p:nvSpPr>
          <p:cNvPr id="22550" name="Text Box 22"/>
          <p:cNvSpPr txBox="1">
            <a:spLocks noChangeArrowheads="1"/>
          </p:cNvSpPr>
          <p:nvPr/>
        </p:nvSpPr>
        <p:spPr bwMode="auto">
          <a:xfrm>
            <a:off x="632143" y="5290503"/>
            <a:ext cx="7899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当连接承受较大的横向载荷</a:t>
            </a:r>
            <a:r>
              <a:rPr lang="en-US" altLang="zh-CN" sz="2000" i="1" dirty="0">
                <a:solidFill>
                  <a:srgbClr val="000099"/>
                </a:solidFill>
                <a:latin typeface="Times New Roman" panose="02020603050405020304" pitchFamily="18" charset="0"/>
              </a:rPr>
              <a:t>F</a:t>
            </a:r>
            <a:r>
              <a:rPr lang="zh-CN" altLang="en-US" sz="2000" dirty="0">
                <a:solidFill>
                  <a:srgbClr val="000099"/>
                </a:solidFill>
                <a:latin typeface="Times New Roman" panose="02020603050405020304" pitchFamily="18" charset="0"/>
              </a:rPr>
              <a:t>时，由于要求</a:t>
            </a:r>
            <a:r>
              <a:rPr lang="en-US" altLang="zh-CN" sz="2000" i="1" dirty="0">
                <a:solidFill>
                  <a:srgbClr val="000099"/>
                </a:solidFill>
                <a:latin typeface="Times New Roman" panose="02020603050405020304" pitchFamily="18" charset="0"/>
              </a:rPr>
              <a:t>F</a:t>
            </a:r>
            <a:r>
              <a:rPr lang="en-US" altLang="zh-CN" sz="2000" baseline="-25000" dirty="0">
                <a:solidFill>
                  <a:srgbClr val="000099"/>
                </a:solidFill>
                <a:latin typeface="Times New Roman" panose="02020603050405020304" pitchFamily="18" charset="0"/>
              </a:rPr>
              <a:t>0</a:t>
            </a:r>
            <a:r>
              <a:rPr lang="en-US" altLang="zh-CN" sz="2000" dirty="0">
                <a:solidFill>
                  <a:srgbClr val="000099"/>
                </a:solidFill>
                <a:latin typeface="Times New Roman" panose="02020603050405020304" pitchFamily="18" charset="0"/>
              </a:rPr>
              <a:t>≥</a:t>
            </a:r>
            <a:r>
              <a:rPr lang="en-US" altLang="zh-CN" sz="2000" i="1" dirty="0">
                <a:solidFill>
                  <a:srgbClr val="000099"/>
                </a:solidFill>
                <a:latin typeface="Times New Roman" panose="02020603050405020304" pitchFamily="18" charset="0"/>
              </a:rPr>
              <a:t>F</a:t>
            </a:r>
            <a:r>
              <a:rPr lang="zh-CN" altLang="en-US" sz="2000" dirty="0">
                <a:solidFill>
                  <a:srgbClr val="000099"/>
                </a:solidFill>
                <a:latin typeface="Times New Roman" panose="02020603050405020304" pitchFamily="18" charset="0"/>
              </a:rPr>
              <a:t>／</a:t>
            </a:r>
            <a:r>
              <a:rPr lang="en-US" altLang="zh-CN" sz="2000" i="1" dirty="0">
                <a:solidFill>
                  <a:srgbClr val="000099"/>
                </a:solidFill>
                <a:latin typeface="Times New Roman" panose="02020603050405020304" pitchFamily="18" charset="0"/>
              </a:rPr>
              <a:t>f</a:t>
            </a:r>
            <a:r>
              <a:rPr lang="zh-CN" altLang="en-US" sz="2000" dirty="0">
                <a:solidFill>
                  <a:srgbClr val="000099"/>
                </a:solidFill>
                <a:latin typeface="Times New Roman" panose="02020603050405020304" pitchFamily="18" charset="0"/>
              </a:rPr>
              <a:t>（</a:t>
            </a:r>
            <a:r>
              <a:rPr lang="en-US" altLang="zh-CN" sz="2000" i="1" dirty="0">
                <a:solidFill>
                  <a:srgbClr val="000099"/>
                </a:solidFill>
                <a:latin typeface="Times New Roman" panose="02020603050405020304" pitchFamily="18" charset="0"/>
              </a:rPr>
              <a:t>f</a:t>
            </a:r>
            <a:r>
              <a:rPr lang="en-US" altLang="zh-CN" sz="2000" dirty="0">
                <a:solidFill>
                  <a:srgbClr val="000099"/>
                </a:solidFill>
                <a:latin typeface="Times New Roman" panose="02020603050405020304" pitchFamily="18" charset="0"/>
              </a:rPr>
              <a:t>=0.2</a:t>
            </a:r>
            <a:r>
              <a:rPr lang="zh-CN" altLang="en-US" sz="2000" dirty="0">
                <a:solidFill>
                  <a:srgbClr val="000099"/>
                </a:solidFill>
                <a:latin typeface="Times New Roman" panose="02020603050405020304" pitchFamily="18" charset="0"/>
              </a:rPr>
              <a:t>），即</a:t>
            </a:r>
            <a:endParaRPr lang="zh-CN" altLang="en-US" sz="2000" dirty="0">
              <a:solidFill>
                <a:srgbClr val="000099"/>
              </a:solidFill>
              <a:latin typeface="Times New Roman" panose="02020603050405020304" pitchFamily="18" charset="0"/>
            </a:endParaRPr>
          </a:p>
          <a:p>
            <a:pPr eaLnBrk="1" hangingPunct="1">
              <a:lnSpc>
                <a:spcPct val="120000"/>
              </a:lnSpc>
            </a:pPr>
            <a:r>
              <a:rPr lang="en-US" altLang="zh-CN" sz="2000" i="1" dirty="0">
                <a:solidFill>
                  <a:srgbClr val="000099"/>
                </a:solidFill>
                <a:latin typeface="Times New Roman" panose="02020603050405020304" pitchFamily="18" charset="0"/>
              </a:rPr>
              <a:t>F</a:t>
            </a:r>
            <a:r>
              <a:rPr lang="en-US" altLang="zh-CN" sz="2000" baseline="-25000" dirty="0">
                <a:solidFill>
                  <a:srgbClr val="000099"/>
                </a:solidFill>
                <a:latin typeface="Times New Roman" panose="02020603050405020304" pitchFamily="18" charset="0"/>
              </a:rPr>
              <a:t>0</a:t>
            </a:r>
            <a:r>
              <a:rPr lang="en-US" altLang="zh-CN" sz="2000" dirty="0">
                <a:solidFill>
                  <a:srgbClr val="000099"/>
                </a:solidFill>
                <a:latin typeface="Times New Roman" panose="02020603050405020304" pitchFamily="18" charset="0"/>
              </a:rPr>
              <a:t>≥5</a:t>
            </a:r>
            <a:r>
              <a:rPr lang="en-US" altLang="zh-CN" sz="2000" i="1" dirty="0">
                <a:solidFill>
                  <a:srgbClr val="000099"/>
                </a:solidFill>
                <a:latin typeface="Times New Roman" panose="02020603050405020304" pitchFamily="18" charset="0"/>
              </a:rPr>
              <a:t>F</a:t>
            </a:r>
            <a:r>
              <a:rPr lang="en-US" altLang="zh-CN" sz="2000" dirty="0">
                <a:solidFill>
                  <a:srgbClr val="000099"/>
                </a:solidFill>
              </a:rPr>
              <a:t> </a:t>
            </a:r>
            <a:r>
              <a:rPr lang="zh-CN" altLang="en-US" sz="2000" dirty="0">
                <a:solidFill>
                  <a:srgbClr val="000099"/>
                </a:solidFill>
              </a:rPr>
              <a:t>，因而需要大幅度地增加螺栓直径。为减小螺栓直径的增加，</a:t>
            </a:r>
            <a:endParaRPr lang="zh-CN" altLang="en-US" sz="2000" dirty="0">
              <a:solidFill>
                <a:srgbClr val="000099"/>
              </a:solidFill>
            </a:endParaRPr>
          </a:p>
          <a:p>
            <a:pPr eaLnBrk="1" hangingPunct="1">
              <a:lnSpc>
                <a:spcPct val="120000"/>
              </a:lnSpc>
            </a:pPr>
            <a:r>
              <a:rPr lang="zh-CN" altLang="en-US" sz="2000" dirty="0">
                <a:solidFill>
                  <a:srgbClr val="000099"/>
                </a:solidFill>
              </a:rPr>
              <a:t>可采用减载措施。</a:t>
            </a:r>
            <a:endParaRPr lang="zh-CN" altLang="en-US" sz="2000" dirty="0">
              <a:solidFill>
                <a:srgbClr val="000099"/>
              </a:solidFill>
            </a:endParaRPr>
          </a:p>
        </p:txBody>
      </p:sp>
      <p:grpSp>
        <p:nvGrpSpPr>
          <p:cNvPr id="5" name="Group 62"/>
          <p:cNvGrpSpPr/>
          <p:nvPr/>
        </p:nvGrpSpPr>
        <p:grpSpPr bwMode="auto">
          <a:xfrm>
            <a:off x="250825" y="3109913"/>
            <a:ext cx="5010150" cy="1187450"/>
            <a:chOff x="158" y="1959"/>
            <a:chExt cx="3156" cy="748"/>
          </a:xfrm>
        </p:grpSpPr>
        <p:graphicFrame>
          <p:nvGraphicFramePr>
            <p:cNvPr id="4098" name="Object 16"/>
            <p:cNvGraphicFramePr>
              <a:graphicFrameLocks noChangeAspect="1"/>
            </p:cNvGraphicFramePr>
            <p:nvPr/>
          </p:nvGraphicFramePr>
          <p:xfrm>
            <a:off x="1791" y="2242"/>
            <a:ext cx="1523" cy="284"/>
          </p:xfrm>
          <a:graphic>
            <a:graphicData uri="http://schemas.openxmlformats.org/presentationml/2006/ole">
              <mc:AlternateContent xmlns:mc="http://schemas.openxmlformats.org/markup-compatibility/2006">
                <mc:Choice xmlns:v="urn:schemas-microsoft-com:vml" Requires="v">
                  <p:oleObj spid="_x0000_s4285" name="Equation" r:id="rId7" imgW="1342390" imgH="254635" progId="Equation.3">
                    <p:embed/>
                  </p:oleObj>
                </mc:Choice>
                <mc:Fallback>
                  <p:oleObj name="Equation" r:id="rId7" imgW="1342390" imgH="254635"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1" y="2242"/>
                          <a:ext cx="1523" cy="284"/>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4114" name="Rectangle 52"/>
            <p:cNvSpPr>
              <a:spLocks noChangeArrowheads="1"/>
            </p:cNvSpPr>
            <p:nvPr/>
          </p:nvSpPr>
          <p:spPr bwMode="auto">
            <a:xfrm>
              <a:off x="158" y="1959"/>
              <a:ext cx="1739"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华文中宋" panose="02010600040101010101" pitchFamily="2" charset="-122"/>
                </a:rPr>
                <a:t>根据第四强度理论，</a:t>
              </a:r>
              <a:endParaRPr lang="zh-CN" altLang="en-US" sz="2000">
                <a:solidFill>
                  <a:srgbClr val="000099"/>
                </a:solidFill>
                <a:latin typeface="华文中宋" panose="02010600040101010101" pitchFamily="2" charset="-122"/>
              </a:endParaRPr>
            </a:p>
            <a:p>
              <a:pPr eaLnBrk="1" hangingPunct="1">
                <a:lnSpc>
                  <a:spcPct val="120000"/>
                </a:lnSpc>
              </a:pPr>
              <a:r>
                <a:rPr lang="zh-CN" altLang="en-US" sz="2000">
                  <a:solidFill>
                    <a:srgbClr val="000099"/>
                  </a:solidFill>
                  <a:latin typeface="华文中宋" panose="02010600040101010101" pitchFamily="2" charset="-122"/>
                </a:rPr>
                <a:t>螺栓在预紧状态下的</a:t>
              </a:r>
              <a:endParaRPr lang="zh-CN" altLang="en-US" sz="2000">
                <a:solidFill>
                  <a:srgbClr val="000099"/>
                </a:solidFill>
                <a:latin typeface="华文中宋" panose="02010600040101010101" pitchFamily="2" charset="-122"/>
              </a:endParaRPr>
            </a:p>
            <a:p>
              <a:pPr eaLnBrk="1" hangingPunct="1">
                <a:lnSpc>
                  <a:spcPct val="120000"/>
                </a:lnSpc>
              </a:pPr>
              <a:r>
                <a:rPr lang="zh-CN" altLang="en-US" sz="2000">
                  <a:solidFill>
                    <a:srgbClr val="000099"/>
                  </a:solidFill>
                  <a:latin typeface="华文中宋" panose="02010600040101010101" pitchFamily="2" charset="-122"/>
                </a:rPr>
                <a:t>计算应力</a:t>
              </a:r>
              <a:r>
                <a:rPr lang="en-US" altLang="zh-CN" sz="2000">
                  <a:solidFill>
                    <a:srgbClr val="000099"/>
                  </a:solidFill>
                  <a:latin typeface="华文中宋" panose="02010600040101010101" pitchFamily="2" charset="-122"/>
                </a:rPr>
                <a:t>:</a:t>
              </a:r>
              <a:endParaRPr lang="en-US" altLang="zh-CN" sz="2000">
                <a:solidFill>
                  <a:srgbClr val="000099"/>
                </a:solidFill>
                <a:latin typeface="华文中宋" panose="02010600040101010101" pitchFamily="2" charset="-122"/>
              </a:endParaRPr>
            </a:p>
          </p:txBody>
        </p:sp>
      </p:grpSp>
      <p:sp>
        <p:nvSpPr>
          <p:cNvPr id="4110" name="Text Box 64"/>
          <p:cNvSpPr txBox="1">
            <a:spLocks noChangeArrowheads="1"/>
          </p:cNvSpPr>
          <p:nvPr/>
        </p:nvSpPr>
        <p:spPr bwMode="auto">
          <a:xfrm>
            <a:off x="7005638" y="6256338"/>
            <a:ext cx="27146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4112" name="Picture 6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885815" y="1508125"/>
            <a:ext cx="3151505" cy="2607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2" name="TextBox 21"/>
          <p:cNvSpPr txBox="1">
            <a:spLocks noChangeArrowheads="1"/>
          </p:cNvSpPr>
          <p:nvPr/>
        </p:nvSpPr>
        <p:spPr bwMode="auto">
          <a:xfrm>
            <a:off x="7772400" y="6211888"/>
            <a:ext cx="99377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solidFill>
                <a:srgbClr val="000099"/>
              </a:solidFill>
            </a:endParaRPr>
          </a:p>
        </p:txBody>
      </p:sp>
      <p:sp>
        <p:nvSpPr>
          <p:cNvPr id="3076" name="Rectangle 4"/>
          <p:cNvSpPr>
            <a:spLocks noChangeArrowheads="1"/>
          </p:cNvSpPr>
          <p:nvPr/>
        </p:nvSpPr>
        <p:spPr bwMode="auto">
          <a:xfrm>
            <a:off x="3313430" y="215900"/>
            <a:ext cx="52209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-4 </a:t>
            </a:r>
            <a:r>
              <a:rPr lang="zh-CN" altLang="en-US" sz="3000" dirty="0">
                <a:solidFill>
                  <a:srgbClr val="CC3300"/>
                </a:solidFill>
                <a:latin typeface="黑体" panose="02010609060101010101" pitchFamily="49" charset="-122"/>
                <a:ea typeface="黑体" panose="02010609060101010101" pitchFamily="49" charset="-122"/>
              </a:rPr>
              <a:t>螺纹连接的强度计算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wipe(left)">
                                      <p:cBhvr>
                                        <p:cTn id="7" dur="500"/>
                                        <p:tgtEl>
                                          <p:spTgt spid="22533"/>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1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2550"/>
                                        </p:tgtEl>
                                        <p:attrNameLst>
                                          <p:attrName>style.visibility</p:attrName>
                                        </p:attrNameLst>
                                      </p:cBhvr>
                                      <p:to>
                                        <p:strVal val="visible"/>
                                      </p:to>
                                    </p:set>
                                    <p:animEffect transition="in" filter="wipe(left)">
                                      <p:cBhvr>
                                        <p:cTn id="35" dur="500"/>
                                        <p:tgtEl>
                                          <p:spTgt spid="22550"/>
                                        </p:tgtEl>
                                      </p:cBhvr>
                                    </p:animEffec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utoUpdateAnimBg="0"/>
      <p:bldP spid="22550" grpId="0" autoUpdateAnimBg="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auto">
          <a:xfrm>
            <a:off x="5181600" y="762000"/>
            <a:ext cx="1828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减载措施</a:t>
            </a:r>
            <a:endParaRPr lang="zh-CN" altLang="en-US" sz="800" smtClean="0">
              <a:solidFill>
                <a:schemeClr val="bg1"/>
              </a:solidFill>
            </a:endParaRPr>
          </a:p>
        </p:txBody>
      </p:sp>
      <p:sp>
        <p:nvSpPr>
          <p:cNvPr id="28675" name="Rectangle 4"/>
          <p:cNvSpPr>
            <a:spLocks noChangeArrowheads="1"/>
          </p:cNvSpPr>
          <p:nvPr/>
        </p:nvSpPr>
        <p:spPr bwMode="auto">
          <a:xfrm>
            <a:off x="2643188" y="228600"/>
            <a:ext cx="4495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3000">
                <a:solidFill>
                  <a:srgbClr val="CC3300"/>
                </a:solidFill>
                <a:latin typeface="黑体" panose="02010609060101010101" pitchFamily="49" charset="-122"/>
                <a:ea typeface="黑体" panose="02010609060101010101" pitchFamily="49" charset="-122"/>
              </a:rPr>
              <a:t>减载措施</a:t>
            </a:r>
            <a:endParaRPr lang="zh-CN" altLang="en-US" sz="3000">
              <a:solidFill>
                <a:srgbClr val="CC3300"/>
              </a:solidFill>
              <a:latin typeface="黑体" panose="02010609060101010101" pitchFamily="49" charset="-122"/>
              <a:ea typeface="黑体" panose="02010609060101010101" pitchFamily="49" charset="-122"/>
            </a:endParaRPr>
          </a:p>
        </p:txBody>
      </p:sp>
      <p:pic>
        <p:nvPicPr>
          <p:cNvPr id="17445" name="Picture 37" descr="rewind1">
            <a:hlinkClick r:id="rId1" action="ppaction://hlinksldjump"/>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2300" y="6054725"/>
            <a:ext cx="727075"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52" name="Text Box 44"/>
          <p:cNvSpPr txBox="1">
            <a:spLocks noChangeArrowheads="1"/>
          </p:cNvSpPr>
          <p:nvPr/>
        </p:nvSpPr>
        <p:spPr bwMode="auto">
          <a:xfrm>
            <a:off x="6164263" y="62420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2867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7050" y="1077913"/>
            <a:ext cx="5565775"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矩形 7"/>
          <p:cNvSpPr>
            <a:spLocks noChangeArrowheads="1"/>
          </p:cNvSpPr>
          <p:nvPr/>
        </p:nvSpPr>
        <p:spPr bwMode="auto">
          <a:xfrm>
            <a:off x="2349500" y="5788025"/>
            <a:ext cx="53435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a:t>a</a:t>
            </a:r>
            <a:r>
              <a:rPr lang="zh-CN" altLang="en-US" sz="2000"/>
              <a:t>）圆柱销  </a:t>
            </a:r>
            <a:r>
              <a:rPr lang="en-US" sz="2000"/>
              <a:t>  </a:t>
            </a:r>
            <a:r>
              <a:rPr lang="en-US" altLang="zh-CN" sz="2000"/>
              <a:t>b) </a:t>
            </a:r>
            <a:r>
              <a:rPr lang="zh-CN" altLang="en-US" sz="2000"/>
              <a:t>套筒  </a:t>
            </a:r>
            <a:r>
              <a:rPr lang="en-US" sz="2000"/>
              <a:t>  </a:t>
            </a:r>
            <a:r>
              <a:rPr lang="en-US" altLang="zh-CN" sz="2000"/>
              <a:t>c) </a:t>
            </a:r>
            <a:r>
              <a:rPr lang="zh-CN" altLang="en-US" sz="2000"/>
              <a:t>嵌接榫</a:t>
            </a:r>
            <a:r>
              <a:rPr lang="en-US" sz="2000"/>
              <a:t>    </a:t>
            </a:r>
            <a:r>
              <a:rPr lang="en-US" altLang="zh-CN" sz="2000"/>
              <a:t>d) </a:t>
            </a:r>
            <a:r>
              <a:rPr lang="zh-CN" altLang="en-US" sz="2000"/>
              <a:t>键</a:t>
            </a:r>
            <a:endParaRPr lang="zh-CN" altLang="en-US" sz="2000"/>
          </a:p>
        </p:txBody>
      </p:sp>
      <p:sp>
        <p:nvSpPr>
          <p:cNvPr id="28680"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7445"/>
                                        </p:tgtEl>
                                        <p:attrNameLst>
                                          <p:attrName>style.visibility</p:attrName>
                                        </p:attrNameLst>
                                      </p:cBhvr>
                                      <p:to>
                                        <p:strVal val="visible"/>
                                      </p:to>
                                    </p:set>
                                    <p:anim calcmode="lin" valueType="num">
                                      <p:cBhvr additive="base">
                                        <p:cTn id="7" dur="500" fill="hold"/>
                                        <p:tgtEl>
                                          <p:spTgt spid="17445"/>
                                        </p:tgtEl>
                                        <p:attrNameLst>
                                          <p:attrName>ppt_x</p:attrName>
                                        </p:attrNameLst>
                                      </p:cBhvr>
                                      <p:tavLst>
                                        <p:tav tm="0">
                                          <p:val>
                                            <p:strVal val="0-#ppt_w/2"/>
                                          </p:val>
                                        </p:tav>
                                        <p:tav tm="100000">
                                          <p:val>
                                            <p:strVal val="#ppt_x"/>
                                          </p:val>
                                        </p:tav>
                                      </p:tavLst>
                                    </p:anim>
                                    <p:anim calcmode="lin" valueType="num">
                                      <p:cBhvr additive="base">
                                        <p:cTn id="8" dur="500" fill="hold"/>
                                        <p:tgtEl>
                                          <p:spTgt spid="1744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52"/>
                                        </p:tgtEl>
                                        <p:attrNameLst>
                                          <p:attrName>style.visibility</p:attrName>
                                        </p:attrNameLst>
                                      </p:cBhvr>
                                      <p:to>
                                        <p:strVal val="visible"/>
                                      </p:to>
                                    </p:set>
                                    <p:anim calcmode="lin" valueType="num">
                                      <p:cBhvr additive="base">
                                        <p:cTn id="13" dur="500" fill="hold"/>
                                        <p:tgtEl>
                                          <p:spTgt spid="17452"/>
                                        </p:tgtEl>
                                        <p:attrNameLst>
                                          <p:attrName>ppt_x</p:attrName>
                                        </p:attrNameLst>
                                      </p:cBhvr>
                                      <p:tavLst>
                                        <p:tav tm="0">
                                          <p:val>
                                            <p:strVal val="0-#ppt_w/2"/>
                                          </p:val>
                                        </p:tav>
                                        <p:tav tm="100000">
                                          <p:val>
                                            <p:strVal val="#ppt_x"/>
                                          </p:val>
                                        </p:tav>
                                      </p:tavLst>
                                    </p:anim>
                                    <p:anim calcmode="lin" valueType="num">
                                      <p:cBhvr additive="base">
                                        <p:cTn id="14" dur="500" fill="hold"/>
                                        <p:tgtEl>
                                          <p:spTgt spid="174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6277" name="Rectangle 5"/>
          <p:cNvSpPr/>
          <p:nvPr/>
        </p:nvSpPr>
        <p:spPr>
          <a:xfrm>
            <a:off x="6172200" y="314960"/>
            <a:ext cx="2743200" cy="2951163"/>
          </a:xfrm>
          <a:prstGeom prst="rect">
            <a:avLst/>
          </a:prstGeom>
          <a:solidFill>
            <a:schemeClr val="accent1">
              <a:lumMod val="20000"/>
              <a:lumOff val="80000"/>
            </a:schemeClr>
          </a:solidFill>
          <a:ln w="38100" cap="flat" cmpd="sng">
            <a:solidFill>
              <a:schemeClr val="accent2"/>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grpSp>
        <p:nvGrpSpPr>
          <p:cNvPr id="2" name="Group 6"/>
          <p:cNvGrpSpPr/>
          <p:nvPr/>
        </p:nvGrpSpPr>
        <p:grpSpPr>
          <a:xfrm>
            <a:off x="7391400" y="638175"/>
            <a:ext cx="996950" cy="2574925"/>
            <a:chOff x="4656" y="624"/>
            <a:chExt cx="628" cy="1529"/>
          </a:xfrm>
        </p:grpSpPr>
        <p:grpSp>
          <p:nvGrpSpPr>
            <p:cNvPr id="23804" name="Group 7"/>
            <p:cNvGrpSpPr/>
            <p:nvPr/>
          </p:nvGrpSpPr>
          <p:grpSpPr>
            <a:xfrm>
              <a:off x="4656" y="624"/>
              <a:ext cx="628" cy="384"/>
              <a:chOff x="4560" y="1104"/>
              <a:chExt cx="628" cy="384"/>
            </a:xfrm>
          </p:grpSpPr>
          <p:sp>
            <p:nvSpPr>
              <p:cNvPr id="23808" name="Line 8"/>
              <p:cNvSpPr/>
              <p:nvPr/>
            </p:nvSpPr>
            <p:spPr>
              <a:xfrm flipV="1">
                <a:off x="4560" y="1104"/>
                <a:ext cx="0" cy="384"/>
              </a:xfrm>
              <a:prstGeom prst="line">
                <a:avLst/>
              </a:prstGeom>
              <a:ln w="25400" cap="flat" cmpd="sng">
                <a:solidFill>
                  <a:srgbClr val="0000FF"/>
                </a:solidFill>
                <a:prstDash val="solid"/>
                <a:headEnd type="none" w="med" len="med"/>
                <a:tailEnd type="triangle" w="med" len="med"/>
              </a:ln>
            </p:spPr>
          </p:sp>
          <p:sp>
            <p:nvSpPr>
              <p:cNvPr id="23809" name="Text Box 9"/>
              <p:cNvSpPr txBox="1"/>
              <p:nvPr/>
            </p:nvSpPr>
            <p:spPr>
              <a:xfrm>
                <a:off x="4660" y="1105"/>
                <a:ext cx="528" cy="255"/>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0</a:t>
                </a:r>
                <a:endParaRPr lang="en-US" altLang="zh-CN" b="1" i="1" baseline="-25000" dirty="0">
                  <a:solidFill>
                    <a:srgbClr val="002060"/>
                  </a:solidFill>
                  <a:latin typeface="Times New Roman" panose="02020603050405020304" pitchFamily="18" charset="0"/>
                </a:endParaRPr>
              </a:p>
            </p:txBody>
          </p:sp>
        </p:grpSp>
        <p:grpSp>
          <p:nvGrpSpPr>
            <p:cNvPr id="23805" name="Group 10"/>
            <p:cNvGrpSpPr/>
            <p:nvPr/>
          </p:nvGrpSpPr>
          <p:grpSpPr>
            <a:xfrm>
              <a:off x="4656" y="1640"/>
              <a:ext cx="628" cy="513"/>
              <a:chOff x="4560" y="2168"/>
              <a:chExt cx="628" cy="513"/>
            </a:xfrm>
          </p:grpSpPr>
          <p:sp>
            <p:nvSpPr>
              <p:cNvPr id="23806" name="Line 11"/>
              <p:cNvSpPr/>
              <p:nvPr/>
            </p:nvSpPr>
            <p:spPr>
              <a:xfrm>
                <a:off x="4560" y="2297"/>
                <a:ext cx="0" cy="384"/>
              </a:xfrm>
              <a:prstGeom prst="line">
                <a:avLst/>
              </a:prstGeom>
              <a:ln w="25400" cap="flat" cmpd="sng">
                <a:solidFill>
                  <a:srgbClr val="0000FF"/>
                </a:solidFill>
                <a:prstDash val="solid"/>
                <a:headEnd type="none" w="med" len="med"/>
                <a:tailEnd type="triangle" w="med" len="med"/>
              </a:ln>
            </p:spPr>
          </p:sp>
          <p:sp>
            <p:nvSpPr>
              <p:cNvPr id="23807" name="Text Box 12"/>
              <p:cNvSpPr txBox="1"/>
              <p:nvPr/>
            </p:nvSpPr>
            <p:spPr>
              <a:xfrm>
                <a:off x="4660" y="2168"/>
                <a:ext cx="528" cy="255"/>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0</a:t>
                </a:r>
                <a:endParaRPr lang="en-US" altLang="zh-CN" b="1" i="1" baseline="-25000" dirty="0">
                  <a:solidFill>
                    <a:srgbClr val="002060"/>
                  </a:solidFill>
                  <a:latin typeface="Times New Roman" panose="02020603050405020304" pitchFamily="18" charset="0"/>
                </a:endParaRPr>
              </a:p>
            </p:txBody>
          </p:sp>
        </p:grpSp>
      </p:grpSp>
      <p:grpSp>
        <p:nvGrpSpPr>
          <p:cNvPr id="5" name="Group 13"/>
          <p:cNvGrpSpPr/>
          <p:nvPr/>
        </p:nvGrpSpPr>
        <p:grpSpPr>
          <a:xfrm>
            <a:off x="8101013" y="1926273"/>
            <a:ext cx="720725" cy="685800"/>
            <a:chOff x="5136" y="1776"/>
            <a:chExt cx="454" cy="432"/>
          </a:xfrm>
        </p:grpSpPr>
        <p:sp>
          <p:nvSpPr>
            <p:cNvPr id="23802" name="Line 14"/>
            <p:cNvSpPr/>
            <p:nvPr/>
          </p:nvSpPr>
          <p:spPr>
            <a:xfrm flipH="1">
              <a:off x="5136" y="1776"/>
              <a:ext cx="0" cy="384"/>
            </a:xfrm>
            <a:prstGeom prst="line">
              <a:avLst/>
            </a:prstGeom>
            <a:ln w="25400" cap="flat" cmpd="sng">
              <a:solidFill>
                <a:srgbClr val="0000FF"/>
              </a:solidFill>
              <a:prstDash val="solid"/>
              <a:headEnd type="none" w="med" len="med"/>
              <a:tailEnd type="triangle" w="med" len="med"/>
            </a:ln>
          </p:spPr>
        </p:sp>
        <p:sp>
          <p:nvSpPr>
            <p:cNvPr id="23803" name="Text Box 15"/>
            <p:cNvSpPr txBox="1"/>
            <p:nvPr/>
          </p:nvSpPr>
          <p:spPr>
            <a:xfrm>
              <a:off x="5254" y="1920"/>
              <a:ext cx="336" cy="288"/>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endParaRPr lang="en-US" altLang="zh-CN" b="1" i="1" dirty="0">
                <a:solidFill>
                  <a:srgbClr val="002060"/>
                </a:solidFill>
                <a:latin typeface="Times New Roman" panose="02020603050405020304" pitchFamily="18" charset="0"/>
              </a:endParaRPr>
            </a:p>
          </p:txBody>
        </p:sp>
      </p:grpSp>
      <p:grpSp>
        <p:nvGrpSpPr>
          <p:cNvPr id="6" name="Group 16"/>
          <p:cNvGrpSpPr/>
          <p:nvPr/>
        </p:nvGrpSpPr>
        <p:grpSpPr>
          <a:xfrm>
            <a:off x="8101013" y="1154113"/>
            <a:ext cx="914400" cy="762000"/>
            <a:chOff x="5136" y="960"/>
            <a:chExt cx="576" cy="480"/>
          </a:xfrm>
        </p:grpSpPr>
        <p:sp>
          <p:nvSpPr>
            <p:cNvPr id="23800" name="Line 17"/>
            <p:cNvSpPr/>
            <p:nvPr/>
          </p:nvSpPr>
          <p:spPr>
            <a:xfrm rot="10800000">
              <a:off x="5136" y="1056"/>
              <a:ext cx="0" cy="384"/>
            </a:xfrm>
            <a:prstGeom prst="line">
              <a:avLst/>
            </a:prstGeom>
            <a:ln w="25400" cap="flat" cmpd="sng">
              <a:solidFill>
                <a:srgbClr val="0000FF"/>
              </a:solidFill>
              <a:prstDash val="solid"/>
              <a:headEnd type="none" w="med" len="med"/>
              <a:tailEnd type="triangle" w="med" len="med"/>
            </a:ln>
          </p:spPr>
        </p:sp>
        <p:sp>
          <p:nvSpPr>
            <p:cNvPr id="23801" name="Text Box 18"/>
            <p:cNvSpPr txBox="1"/>
            <p:nvPr/>
          </p:nvSpPr>
          <p:spPr>
            <a:xfrm>
              <a:off x="5184" y="960"/>
              <a:ext cx="528" cy="288"/>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endParaRPr lang="en-US" altLang="zh-CN" b="1" i="1" dirty="0">
                <a:solidFill>
                  <a:srgbClr val="002060"/>
                </a:solidFill>
                <a:latin typeface="Times New Roman" panose="02020603050405020304" pitchFamily="18" charset="0"/>
              </a:endParaRPr>
            </a:p>
          </p:txBody>
        </p:sp>
      </p:grpSp>
      <p:grpSp>
        <p:nvGrpSpPr>
          <p:cNvPr id="7" name="Group 19"/>
          <p:cNvGrpSpPr/>
          <p:nvPr/>
        </p:nvGrpSpPr>
        <p:grpSpPr>
          <a:xfrm>
            <a:off x="7543800" y="697230"/>
            <a:ext cx="914400" cy="533400"/>
            <a:chOff x="4656" y="1392"/>
            <a:chExt cx="576" cy="336"/>
          </a:xfrm>
        </p:grpSpPr>
        <p:sp>
          <p:nvSpPr>
            <p:cNvPr id="23798" name="Arc 20"/>
            <p:cNvSpPr/>
            <p:nvPr/>
          </p:nvSpPr>
          <p:spPr>
            <a:xfrm rot="-1184392" flipH="1" flipV="1">
              <a:off x="4656" y="1584"/>
              <a:ext cx="250" cy="144"/>
            </a:xfrm>
            <a:custGeom>
              <a:avLst/>
              <a:gdLst>
                <a:gd name="txL" fmla="*/ 0 w 21868"/>
                <a:gd name="txT" fmla="*/ 0 h 21600"/>
                <a:gd name="txR" fmla="*/ 21868 w 21868"/>
                <a:gd name="txB" fmla="*/ 21600 h 21600"/>
              </a:gdLst>
              <a:ahLst/>
              <a:cxnLst>
                <a:cxn ang="0">
                  <a:pos x="0" y="0"/>
                </a:cxn>
                <a:cxn ang="0">
                  <a:pos x="0" y="0"/>
                </a:cxn>
                <a:cxn ang="0">
                  <a:pos x="0" y="0"/>
                </a:cxn>
              </a:cxnLst>
              <a:rect l="txL" t="txT" r="txR" b="txB"/>
              <a:pathLst>
                <a:path w="21868" h="21600" fill="none">
                  <a:moveTo>
                    <a:pt x="-1" y="1488"/>
                  </a:moveTo>
                  <a:cubicBezTo>
                    <a:pt x="2510" y="504"/>
                    <a:pt x="5183" y="-1"/>
                    <a:pt x="7880" y="0"/>
                  </a:cubicBezTo>
                  <a:cubicBezTo>
                    <a:pt x="13004" y="0"/>
                    <a:pt x="17962" y="1822"/>
                    <a:pt x="21867" y="5141"/>
                  </a:cubicBezTo>
                </a:path>
                <a:path w="21868" h="21600" stroke="0">
                  <a:moveTo>
                    <a:pt x="-1" y="1488"/>
                  </a:moveTo>
                  <a:cubicBezTo>
                    <a:pt x="2510" y="504"/>
                    <a:pt x="5183" y="-1"/>
                    <a:pt x="7880" y="0"/>
                  </a:cubicBezTo>
                  <a:cubicBezTo>
                    <a:pt x="13004" y="0"/>
                    <a:pt x="17962" y="1822"/>
                    <a:pt x="21867" y="5141"/>
                  </a:cubicBezTo>
                  <a:lnTo>
                    <a:pt x="7880" y="21600"/>
                  </a:lnTo>
                  <a:lnTo>
                    <a:pt x="-1" y="1488"/>
                  </a:lnTo>
                  <a:close/>
                </a:path>
              </a:pathLst>
            </a:custGeom>
            <a:noFill/>
            <a:ln w="22225" cap="flat" cmpd="sng">
              <a:solidFill>
                <a:srgbClr val="FF0000">
                  <a:alpha val="100000"/>
                </a:srgbClr>
              </a:solidFill>
              <a:prstDash val="solid"/>
              <a:round/>
              <a:headEnd type="none" w="med" len="med"/>
              <a:tailEnd type="triangle" w="med" len="med"/>
            </a:ln>
          </p:spPr>
          <p:txBody>
            <a:bodyPr/>
            <a:p>
              <a:endParaRPr lang="zh-CN" altLang="en-US"/>
            </a:p>
          </p:txBody>
        </p:sp>
        <p:sp>
          <p:nvSpPr>
            <p:cNvPr id="23799" name="Text Box 21"/>
            <p:cNvSpPr txBox="1"/>
            <p:nvPr/>
          </p:nvSpPr>
          <p:spPr>
            <a:xfrm>
              <a:off x="4848" y="1392"/>
              <a:ext cx="384" cy="288"/>
            </a:xfrm>
            <a:prstGeom prst="rect">
              <a:avLst/>
            </a:prstGeom>
            <a:noFill/>
            <a:ln w="9525">
              <a:noFill/>
            </a:ln>
          </p:spPr>
          <p:txBody>
            <a:bodyPr>
              <a:spAutoFit/>
            </a:bodyPr>
            <a:p>
              <a:pPr>
                <a:spcBef>
                  <a:spcPct val="50000"/>
                </a:spcBef>
              </a:pPr>
              <a:r>
                <a:rPr lang="en-US" altLang="zh-CN" b="1" i="1" dirty="0">
                  <a:solidFill>
                    <a:srgbClr val="C00000"/>
                  </a:solidFill>
                  <a:latin typeface="Times New Roman" panose="02020603050405020304" pitchFamily="18" charset="0"/>
                </a:rPr>
                <a:t>T</a:t>
              </a:r>
              <a:endParaRPr lang="en-US" altLang="zh-CN" b="1" i="1" dirty="0">
                <a:solidFill>
                  <a:srgbClr val="C00000"/>
                </a:solidFill>
                <a:latin typeface="Times New Roman" panose="02020603050405020304" pitchFamily="18" charset="0"/>
              </a:endParaRPr>
            </a:p>
          </p:txBody>
        </p:sp>
      </p:grpSp>
      <p:grpSp>
        <p:nvGrpSpPr>
          <p:cNvPr id="8" name="Group 22"/>
          <p:cNvGrpSpPr/>
          <p:nvPr/>
        </p:nvGrpSpPr>
        <p:grpSpPr>
          <a:xfrm>
            <a:off x="6400800" y="952500"/>
            <a:ext cx="838200" cy="2030413"/>
            <a:chOff x="4032" y="1008"/>
            <a:chExt cx="528" cy="1279"/>
          </a:xfrm>
        </p:grpSpPr>
        <p:grpSp>
          <p:nvGrpSpPr>
            <p:cNvPr id="23792" name="Group 23"/>
            <p:cNvGrpSpPr/>
            <p:nvPr/>
          </p:nvGrpSpPr>
          <p:grpSpPr>
            <a:xfrm>
              <a:off x="4032" y="1632"/>
              <a:ext cx="528" cy="655"/>
              <a:chOff x="3936" y="2160"/>
              <a:chExt cx="528" cy="655"/>
            </a:xfrm>
          </p:grpSpPr>
          <p:sp>
            <p:nvSpPr>
              <p:cNvPr id="23796" name="Line 24"/>
              <p:cNvSpPr/>
              <p:nvPr/>
            </p:nvSpPr>
            <p:spPr>
              <a:xfrm flipV="1">
                <a:off x="4176" y="2160"/>
                <a:ext cx="0" cy="384"/>
              </a:xfrm>
              <a:prstGeom prst="line">
                <a:avLst/>
              </a:prstGeom>
              <a:ln w="25400" cap="flat" cmpd="sng">
                <a:solidFill>
                  <a:srgbClr val="0000FF"/>
                </a:solidFill>
                <a:prstDash val="solid"/>
                <a:headEnd type="none" w="med" len="med"/>
                <a:tailEnd type="triangle" w="med" len="med"/>
              </a:ln>
            </p:spPr>
          </p:sp>
          <p:sp>
            <p:nvSpPr>
              <p:cNvPr id="23797" name="Text Box 25"/>
              <p:cNvSpPr txBox="1"/>
              <p:nvPr/>
            </p:nvSpPr>
            <p:spPr>
              <a:xfrm>
                <a:off x="3936" y="2544"/>
                <a:ext cx="528" cy="271"/>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0</a:t>
                </a:r>
                <a:endParaRPr lang="en-US" altLang="zh-CN" b="1" i="1" baseline="-25000" dirty="0">
                  <a:solidFill>
                    <a:srgbClr val="002060"/>
                  </a:solidFill>
                  <a:latin typeface="Times New Roman" panose="02020603050405020304" pitchFamily="18" charset="0"/>
                </a:endParaRPr>
              </a:p>
            </p:txBody>
          </p:sp>
        </p:grpSp>
        <p:grpSp>
          <p:nvGrpSpPr>
            <p:cNvPr id="23793" name="Group 26"/>
            <p:cNvGrpSpPr/>
            <p:nvPr/>
          </p:nvGrpSpPr>
          <p:grpSpPr>
            <a:xfrm>
              <a:off x="4032" y="1008"/>
              <a:ext cx="528" cy="624"/>
              <a:chOff x="3936" y="1536"/>
              <a:chExt cx="528" cy="624"/>
            </a:xfrm>
          </p:grpSpPr>
          <p:sp>
            <p:nvSpPr>
              <p:cNvPr id="23794" name="Line 27"/>
              <p:cNvSpPr/>
              <p:nvPr/>
            </p:nvSpPr>
            <p:spPr>
              <a:xfrm>
                <a:off x="4176" y="1776"/>
                <a:ext cx="0" cy="384"/>
              </a:xfrm>
              <a:prstGeom prst="line">
                <a:avLst/>
              </a:prstGeom>
              <a:ln w="25400" cap="flat" cmpd="sng">
                <a:solidFill>
                  <a:srgbClr val="0000FF"/>
                </a:solidFill>
                <a:prstDash val="solid"/>
                <a:headEnd type="none" w="med" len="med"/>
                <a:tailEnd type="triangle" w="med" len="med"/>
              </a:ln>
            </p:spPr>
          </p:sp>
          <p:sp>
            <p:nvSpPr>
              <p:cNvPr id="23795" name="Text Box 28"/>
              <p:cNvSpPr txBox="1"/>
              <p:nvPr/>
            </p:nvSpPr>
            <p:spPr>
              <a:xfrm>
                <a:off x="3936" y="1536"/>
                <a:ext cx="528" cy="271"/>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0</a:t>
                </a:r>
                <a:endParaRPr lang="en-US" altLang="zh-CN" b="1" i="1" baseline="-25000" dirty="0">
                  <a:solidFill>
                    <a:srgbClr val="002060"/>
                  </a:solidFill>
                  <a:latin typeface="Times New Roman" panose="02020603050405020304" pitchFamily="18" charset="0"/>
                </a:endParaRPr>
              </a:p>
            </p:txBody>
          </p:sp>
        </p:grpSp>
      </p:grpSp>
      <p:grpSp>
        <p:nvGrpSpPr>
          <p:cNvPr id="11" name="Group 29"/>
          <p:cNvGrpSpPr/>
          <p:nvPr/>
        </p:nvGrpSpPr>
        <p:grpSpPr>
          <a:xfrm>
            <a:off x="6407150" y="783590"/>
            <a:ext cx="1981200" cy="2057400"/>
            <a:chOff x="3936" y="1440"/>
            <a:chExt cx="1248" cy="1296"/>
          </a:xfrm>
        </p:grpSpPr>
        <p:grpSp>
          <p:nvGrpSpPr>
            <p:cNvPr id="23755" name="Group 30"/>
            <p:cNvGrpSpPr/>
            <p:nvPr/>
          </p:nvGrpSpPr>
          <p:grpSpPr>
            <a:xfrm>
              <a:off x="3936" y="1440"/>
              <a:ext cx="1248" cy="1296"/>
              <a:chOff x="3936" y="1440"/>
              <a:chExt cx="1248" cy="1296"/>
            </a:xfrm>
          </p:grpSpPr>
          <p:sp>
            <p:nvSpPr>
              <p:cNvPr id="23761" name="Line 31"/>
              <p:cNvSpPr/>
              <p:nvPr/>
            </p:nvSpPr>
            <p:spPr>
              <a:xfrm>
                <a:off x="4368" y="1872"/>
                <a:ext cx="0" cy="576"/>
              </a:xfrm>
              <a:prstGeom prst="line">
                <a:avLst/>
              </a:prstGeom>
              <a:ln w="25400" cap="flat" cmpd="sng">
                <a:solidFill>
                  <a:srgbClr val="800000"/>
                </a:solidFill>
                <a:prstDash val="solid"/>
                <a:headEnd type="none" w="med" len="med"/>
                <a:tailEnd type="none" w="med" len="med"/>
              </a:ln>
            </p:spPr>
          </p:sp>
          <p:sp>
            <p:nvSpPr>
              <p:cNvPr id="23762" name="Line 32"/>
              <p:cNvSpPr/>
              <p:nvPr/>
            </p:nvSpPr>
            <p:spPr>
              <a:xfrm>
                <a:off x="4752" y="1872"/>
                <a:ext cx="0" cy="576"/>
              </a:xfrm>
              <a:prstGeom prst="line">
                <a:avLst/>
              </a:prstGeom>
              <a:ln w="25400" cap="flat" cmpd="sng">
                <a:solidFill>
                  <a:srgbClr val="800000"/>
                </a:solidFill>
                <a:prstDash val="solid"/>
                <a:headEnd type="none" w="med" len="med"/>
                <a:tailEnd type="none" w="med" len="med"/>
              </a:ln>
            </p:spPr>
          </p:sp>
          <p:grpSp>
            <p:nvGrpSpPr>
              <p:cNvPr id="23763" name="Group 33"/>
              <p:cNvGrpSpPr/>
              <p:nvPr/>
            </p:nvGrpSpPr>
            <p:grpSpPr>
              <a:xfrm>
                <a:off x="3936" y="1440"/>
                <a:ext cx="1248" cy="1296"/>
                <a:chOff x="3936" y="1440"/>
                <a:chExt cx="1248" cy="1296"/>
              </a:xfrm>
            </p:grpSpPr>
            <p:grpSp>
              <p:nvGrpSpPr>
                <p:cNvPr id="23764" name="Group 34"/>
                <p:cNvGrpSpPr/>
                <p:nvPr/>
              </p:nvGrpSpPr>
              <p:grpSpPr>
                <a:xfrm>
                  <a:off x="3936" y="1440"/>
                  <a:ext cx="1248" cy="1296"/>
                  <a:chOff x="3936" y="1440"/>
                  <a:chExt cx="1248" cy="1296"/>
                </a:xfrm>
              </p:grpSpPr>
              <p:sp>
                <p:nvSpPr>
                  <p:cNvPr id="23783" name="Rectangle 35"/>
                  <p:cNvSpPr/>
                  <p:nvPr/>
                </p:nvSpPr>
                <p:spPr>
                  <a:xfrm>
                    <a:off x="4272" y="1584"/>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784" name="Rectangle 36"/>
                  <p:cNvSpPr/>
                  <p:nvPr/>
                </p:nvSpPr>
                <p:spPr>
                  <a:xfrm>
                    <a:off x="4272" y="2448"/>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785" name="Rectangle 37"/>
                  <p:cNvSpPr/>
                  <p:nvPr/>
                </p:nvSpPr>
                <p:spPr>
                  <a:xfrm>
                    <a:off x="4416" y="1440"/>
                    <a:ext cx="288" cy="1296"/>
                  </a:xfrm>
                  <a:prstGeom prst="rect">
                    <a:avLst/>
                  </a:prstGeom>
                  <a:noFill/>
                  <a:ln w="25400" cap="flat" cmpd="sng">
                    <a:solidFill>
                      <a:srgbClr val="002060"/>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sp>
                <p:nvSpPr>
                  <p:cNvPr id="23786" name="Line 38"/>
                  <p:cNvSpPr/>
                  <p:nvPr/>
                </p:nvSpPr>
                <p:spPr>
                  <a:xfrm>
                    <a:off x="3936" y="1872"/>
                    <a:ext cx="336" cy="0"/>
                  </a:xfrm>
                  <a:prstGeom prst="line">
                    <a:avLst/>
                  </a:prstGeom>
                  <a:ln w="25400" cap="flat" cmpd="sng">
                    <a:solidFill>
                      <a:srgbClr val="800000"/>
                    </a:solidFill>
                    <a:prstDash val="solid"/>
                    <a:headEnd type="none" w="med" len="med"/>
                    <a:tailEnd type="none" w="med" len="med"/>
                  </a:ln>
                </p:spPr>
              </p:sp>
              <p:sp>
                <p:nvSpPr>
                  <p:cNvPr id="23787" name="Line 39"/>
                  <p:cNvSpPr/>
                  <p:nvPr/>
                </p:nvSpPr>
                <p:spPr>
                  <a:xfrm>
                    <a:off x="4848" y="1872"/>
                    <a:ext cx="336" cy="0"/>
                  </a:xfrm>
                  <a:prstGeom prst="line">
                    <a:avLst/>
                  </a:prstGeom>
                  <a:ln w="25400" cap="flat" cmpd="sng">
                    <a:solidFill>
                      <a:srgbClr val="800000"/>
                    </a:solidFill>
                    <a:prstDash val="solid"/>
                    <a:headEnd type="none" w="med" len="med"/>
                    <a:tailEnd type="none" w="med" len="med"/>
                  </a:ln>
                </p:spPr>
              </p:sp>
              <p:sp>
                <p:nvSpPr>
                  <p:cNvPr id="23788" name="Line 40"/>
                  <p:cNvSpPr/>
                  <p:nvPr/>
                </p:nvSpPr>
                <p:spPr>
                  <a:xfrm>
                    <a:off x="3936" y="2448"/>
                    <a:ext cx="336" cy="0"/>
                  </a:xfrm>
                  <a:prstGeom prst="line">
                    <a:avLst/>
                  </a:prstGeom>
                  <a:ln w="25400" cap="flat" cmpd="sng">
                    <a:solidFill>
                      <a:srgbClr val="800000"/>
                    </a:solidFill>
                    <a:prstDash val="solid"/>
                    <a:headEnd type="none" w="med" len="med"/>
                    <a:tailEnd type="none" w="med" len="med"/>
                  </a:ln>
                </p:spPr>
              </p:sp>
              <p:sp>
                <p:nvSpPr>
                  <p:cNvPr id="23789" name="Line 41"/>
                  <p:cNvSpPr/>
                  <p:nvPr/>
                </p:nvSpPr>
                <p:spPr>
                  <a:xfrm>
                    <a:off x="4848" y="2448"/>
                    <a:ext cx="336" cy="0"/>
                  </a:xfrm>
                  <a:prstGeom prst="line">
                    <a:avLst/>
                  </a:prstGeom>
                  <a:ln w="25400" cap="flat" cmpd="sng">
                    <a:solidFill>
                      <a:srgbClr val="800000"/>
                    </a:solidFill>
                    <a:prstDash val="solid"/>
                    <a:headEnd type="none" w="med" len="med"/>
                    <a:tailEnd type="none" w="med" len="med"/>
                  </a:ln>
                </p:spPr>
              </p:sp>
              <p:sp>
                <p:nvSpPr>
                  <p:cNvPr id="23790" name="Line 42"/>
                  <p:cNvSpPr/>
                  <p:nvPr/>
                </p:nvSpPr>
                <p:spPr>
                  <a:xfrm>
                    <a:off x="3936" y="2160"/>
                    <a:ext cx="478" cy="0"/>
                  </a:xfrm>
                  <a:prstGeom prst="line">
                    <a:avLst/>
                  </a:prstGeom>
                  <a:ln w="25400" cap="flat" cmpd="sng">
                    <a:solidFill>
                      <a:srgbClr val="800000"/>
                    </a:solidFill>
                    <a:prstDash val="solid"/>
                    <a:headEnd type="none" w="med" len="med"/>
                    <a:tailEnd type="none" w="med" len="med"/>
                  </a:ln>
                </p:spPr>
              </p:sp>
              <p:sp>
                <p:nvSpPr>
                  <p:cNvPr id="23791" name="Line 43"/>
                  <p:cNvSpPr/>
                  <p:nvPr/>
                </p:nvSpPr>
                <p:spPr>
                  <a:xfrm>
                    <a:off x="4700" y="2160"/>
                    <a:ext cx="484" cy="0"/>
                  </a:xfrm>
                  <a:prstGeom prst="line">
                    <a:avLst/>
                  </a:prstGeom>
                  <a:ln w="25400" cap="flat" cmpd="sng">
                    <a:solidFill>
                      <a:srgbClr val="800000"/>
                    </a:solidFill>
                    <a:prstDash val="solid"/>
                    <a:headEnd type="none" w="med" len="med"/>
                    <a:tailEnd type="none" w="med" len="med"/>
                  </a:ln>
                </p:spPr>
              </p:sp>
            </p:grpSp>
            <p:grpSp>
              <p:nvGrpSpPr>
                <p:cNvPr id="23765" name="Group 44"/>
                <p:cNvGrpSpPr/>
                <p:nvPr/>
              </p:nvGrpSpPr>
              <p:grpSpPr>
                <a:xfrm>
                  <a:off x="3936" y="1872"/>
                  <a:ext cx="1248" cy="576"/>
                  <a:chOff x="3936" y="1872"/>
                  <a:chExt cx="1248" cy="576"/>
                </a:xfrm>
              </p:grpSpPr>
              <p:sp>
                <p:nvSpPr>
                  <p:cNvPr id="23766" name="Line 45"/>
                  <p:cNvSpPr/>
                  <p:nvPr/>
                </p:nvSpPr>
                <p:spPr>
                  <a:xfrm flipV="1">
                    <a:off x="3936" y="1872"/>
                    <a:ext cx="288" cy="288"/>
                  </a:xfrm>
                  <a:prstGeom prst="line">
                    <a:avLst/>
                  </a:prstGeom>
                  <a:ln w="12700" cap="flat" cmpd="sng">
                    <a:solidFill>
                      <a:srgbClr val="800000"/>
                    </a:solidFill>
                    <a:prstDash val="solid"/>
                    <a:headEnd type="none" w="med" len="med"/>
                    <a:tailEnd type="none" w="med" len="med"/>
                  </a:ln>
                </p:spPr>
              </p:sp>
              <p:sp>
                <p:nvSpPr>
                  <p:cNvPr id="23767" name="Line 46"/>
                  <p:cNvSpPr/>
                  <p:nvPr/>
                </p:nvSpPr>
                <p:spPr>
                  <a:xfrm flipV="1">
                    <a:off x="4080" y="1872"/>
                    <a:ext cx="288" cy="288"/>
                  </a:xfrm>
                  <a:prstGeom prst="line">
                    <a:avLst/>
                  </a:prstGeom>
                  <a:ln w="12700" cap="flat" cmpd="sng">
                    <a:solidFill>
                      <a:srgbClr val="800000"/>
                    </a:solidFill>
                    <a:prstDash val="solid"/>
                    <a:headEnd type="none" w="med" len="med"/>
                    <a:tailEnd type="none" w="med" len="med"/>
                  </a:ln>
                </p:spPr>
              </p:sp>
              <p:sp>
                <p:nvSpPr>
                  <p:cNvPr id="23768" name="Line 47"/>
                  <p:cNvSpPr/>
                  <p:nvPr/>
                </p:nvSpPr>
                <p:spPr>
                  <a:xfrm flipV="1">
                    <a:off x="4224" y="2016"/>
                    <a:ext cx="144" cy="144"/>
                  </a:xfrm>
                  <a:prstGeom prst="line">
                    <a:avLst/>
                  </a:prstGeom>
                  <a:ln w="12700" cap="flat" cmpd="sng">
                    <a:solidFill>
                      <a:srgbClr val="800000"/>
                    </a:solidFill>
                    <a:prstDash val="solid"/>
                    <a:headEnd type="none" w="med" len="med"/>
                    <a:tailEnd type="none" w="med" len="med"/>
                  </a:ln>
                </p:spPr>
              </p:sp>
              <p:sp>
                <p:nvSpPr>
                  <p:cNvPr id="23769" name="Line 48"/>
                  <p:cNvSpPr/>
                  <p:nvPr/>
                </p:nvSpPr>
                <p:spPr>
                  <a:xfrm flipV="1">
                    <a:off x="4752" y="1872"/>
                    <a:ext cx="288" cy="288"/>
                  </a:xfrm>
                  <a:prstGeom prst="line">
                    <a:avLst/>
                  </a:prstGeom>
                  <a:ln w="12700" cap="flat" cmpd="sng">
                    <a:solidFill>
                      <a:srgbClr val="800000"/>
                    </a:solidFill>
                    <a:prstDash val="solid"/>
                    <a:headEnd type="none" w="med" len="med"/>
                    <a:tailEnd type="none" w="med" len="med"/>
                  </a:ln>
                </p:spPr>
              </p:sp>
              <p:sp>
                <p:nvSpPr>
                  <p:cNvPr id="23770" name="Line 49"/>
                  <p:cNvSpPr/>
                  <p:nvPr/>
                </p:nvSpPr>
                <p:spPr>
                  <a:xfrm flipV="1">
                    <a:off x="4896" y="1872"/>
                    <a:ext cx="288" cy="288"/>
                  </a:xfrm>
                  <a:prstGeom prst="line">
                    <a:avLst/>
                  </a:prstGeom>
                  <a:ln w="12700" cap="flat" cmpd="sng">
                    <a:solidFill>
                      <a:srgbClr val="800000"/>
                    </a:solidFill>
                    <a:prstDash val="solid"/>
                    <a:headEnd type="none" w="med" len="med"/>
                    <a:tailEnd type="none" w="med" len="med"/>
                  </a:ln>
                </p:spPr>
              </p:sp>
              <p:sp>
                <p:nvSpPr>
                  <p:cNvPr id="23771" name="Line 50"/>
                  <p:cNvSpPr/>
                  <p:nvPr/>
                </p:nvSpPr>
                <p:spPr>
                  <a:xfrm flipV="1">
                    <a:off x="5040" y="2016"/>
                    <a:ext cx="144" cy="144"/>
                  </a:xfrm>
                  <a:prstGeom prst="line">
                    <a:avLst/>
                  </a:prstGeom>
                  <a:ln w="12700" cap="flat" cmpd="sng">
                    <a:solidFill>
                      <a:srgbClr val="800000"/>
                    </a:solidFill>
                    <a:prstDash val="solid"/>
                    <a:headEnd type="none" w="med" len="med"/>
                    <a:tailEnd type="none" w="med" len="med"/>
                  </a:ln>
                </p:spPr>
              </p:sp>
              <p:sp>
                <p:nvSpPr>
                  <p:cNvPr id="23772" name="Line 51"/>
                  <p:cNvSpPr/>
                  <p:nvPr/>
                </p:nvSpPr>
                <p:spPr>
                  <a:xfrm flipV="1">
                    <a:off x="3936" y="1872"/>
                    <a:ext cx="144" cy="144"/>
                  </a:xfrm>
                  <a:prstGeom prst="line">
                    <a:avLst/>
                  </a:prstGeom>
                  <a:ln w="12700" cap="flat" cmpd="sng">
                    <a:solidFill>
                      <a:srgbClr val="800000"/>
                    </a:solidFill>
                    <a:prstDash val="solid"/>
                    <a:headEnd type="none" w="med" len="med"/>
                    <a:tailEnd type="none" w="med" len="med"/>
                  </a:ln>
                </p:spPr>
              </p:sp>
              <p:sp>
                <p:nvSpPr>
                  <p:cNvPr id="23773" name="Line 52"/>
                  <p:cNvSpPr/>
                  <p:nvPr/>
                </p:nvSpPr>
                <p:spPr>
                  <a:xfrm flipV="1">
                    <a:off x="4752" y="1872"/>
                    <a:ext cx="144" cy="144"/>
                  </a:xfrm>
                  <a:prstGeom prst="line">
                    <a:avLst/>
                  </a:prstGeom>
                  <a:ln w="12700" cap="flat" cmpd="sng">
                    <a:solidFill>
                      <a:srgbClr val="800000"/>
                    </a:solidFill>
                    <a:prstDash val="solid"/>
                    <a:headEnd type="none" w="med" len="med"/>
                    <a:tailEnd type="none" w="med" len="med"/>
                  </a:ln>
                </p:spPr>
              </p:sp>
              <p:grpSp>
                <p:nvGrpSpPr>
                  <p:cNvPr id="23774" name="Group 53"/>
                  <p:cNvGrpSpPr/>
                  <p:nvPr/>
                </p:nvGrpSpPr>
                <p:grpSpPr>
                  <a:xfrm flipV="1">
                    <a:off x="3936" y="2160"/>
                    <a:ext cx="1248" cy="288"/>
                    <a:chOff x="4032" y="1824"/>
                    <a:chExt cx="1248" cy="288"/>
                  </a:xfrm>
                </p:grpSpPr>
                <p:sp>
                  <p:nvSpPr>
                    <p:cNvPr id="23775" name="Line 54"/>
                    <p:cNvSpPr/>
                    <p:nvPr/>
                  </p:nvSpPr>
                  <p:spPr>
                    <a:xfrm flipV="1">
                      <a:off x="4032" y="1824"/>
                      <a:ext cx="288" cy="288"/>
                    </a:xfrm>
                    <a:prstGeom prst="line">
                      <a:avLst/>
                    </a:prstGeom>
                    <a:ln w="12700" cap="flat" cmpd="sng">
                      <a:solidFill>
                        <a:srgbClr val="800000"/>
                      </a:solidFill>
                      <a:prstDash val="solid"/>
                      <a:headEnd type="none" w="med" len="med"/>
                      <a:tailEnd type="none" w="med" len="med"/>
                    </a:ln>
                  </p:spPr>
                </p:sp>
                <p:sp>
                  <p:nvSpPr>
                    <p:cNvPr id="23776" name="Line 55"/>
                    <p:cNvSpPr/>
                    <p:nvPr/>
                  </p:nvSpPr>
                  <p:spPr>
                    <a:xfrm flipV="1">
                      <a:off x="4176" y="1824"/>
                      <a:ext cx="288" cy="288"/>
                    </a:xfrm>
                    <a:prstGeom prst="line">
                      <a:avLst/>
                    </a:prstGeom>
                    <a:ln w="12700" cap="flat" cmpd="sng">
                      <a:solidFill>
                        <a:srgbClr val="800000"/>
                      </a:solidFill>
                      <a:prstDash val="solid"/>
                      <a:headEnd type="none" w="med" len="med"/>
                      <a:tailEnd type="none" w="med" len="med"/>
                    </a:ln>
                  </p:spPr>
                </p:sp>
                <p:sp>
                  <p:nvSpPr>
                    <p:cNvPr id="23777" name="Line 56"/>
                    <p:cNvSpPr/>
                    <p:nvPr/>
                  </p:nvSpPr>
                  <p:spPr>
                    <a:xfrm flipV="1">
                      <a:off x="4320" y="1968"/>
                      <a:ext cx="144" cy="144"/>
                    </a:xfrm>
                    <a:prstGeom prst="line">
                      <a:avLst/>
                    </a:prstGeom>
                    <a:ln w="12700" cap="flat" cmpd="sng">
                      <a:solidFill>
                        <a:srgbClr val="800000"/>
                      </a:solidFill>
                      <a:prstDash val="solid"/>
                      <a:headEnd type="none" w="med" len="med"/>
                      <a:tailEnd type="none" w="med" len="med"/>
                    </a:ln>
                  </p:spPr>
                </p:sp>
                <p:sp>
                  <p:nvSpPr>
                    <p:cNvPr id="23778" name="Line 57"/>
                    <p:cNvSpPr/>
                    <p:nvPr/>
                  </p:nvSpPr>
                  <p:spPr>
                    <a:xfrm flipV="1">
                      <a:off x="4848" y="1824"/>
                      <a:ext cx="288" cy="288"/>
                    </a:xfrm>
                    <a:prstGeom prst="line">
                      <a:avLst/>
                    </a:prstGeom>
                    <a:ln w="12700" cap="flat" cmpd="sng">
                      <a:solidFill>
                        <a:srgbClr val="800000"/>
                      </a:solidFill>
                      <a:prstDash val="solid"/>
                      <a:headEnd type="none" w="med" len="med"/>
                      <a:tailEnd type="none" w="med" len="med"/>
                    </a:ln>
                  </p:spPr>
                </p:sp>
                <p:sp>
                  <p:nvSpPr>
                    <p:cNvPr id="23779" name="Line 58"/>
                    <p:cNvSpPr/>
                    <p:nvPr/>
                  </p:nvSpPr>
                  <p:spPr>
                    <a:xfrm flipV="1">
                      <a:off x="4992" y="1824"/>
                      <a:ext cx="288" cy="288"/>
                    </a:xfrm>
                    <a:prstGeom prst="line">
                      <a:avLst/>
                    </a:prstGeom>
                    <a:ln w="12700" cap="flat" cmpd="sng">
                      <a:solidFill>
                        <a:srgbClr val="800000"/>
                      </a:solidFill>
                      <a:prstDash val="solid"/>
                      <a:headEnd type="none" w="med" len="med"/>
                      <a:tailEnd type="none" w="med" len="med"/>
                    </a:ln>
                  </p:spPr>
                </p:sp>
                <p:sp>
                  <p:nvSpPr>
                    <p:cNvPr id="23780" name="Line 59"/>
                    <p:cNvSpPr/>
                    <p:nvPr/>
                  </p:nvSpPr>
                  <p:spPr>
                    <a:xfrm flipV="1">
                      <a:off x="5136" y="1968"/>
                      <a:ext cx="144" cy="144"/>
                    </a:xfrm>
                    <a:prstGeom prst="line">
                      <a:avLst/>
                    </a:prstGeom>
                    <a:ln w="12700" cap="flat" cmpd="sng">
                      <a:solidFill>
                        <a:srgbClr val="800000"/>
                      </a:solidFill>
                      <a:prstDash val="solid"/>
                      <a:headEnd type="none" w="med" len="med"/>
                      <a:tailEnd type="none" w="med" len="med"/>
                    </a:ln>
                  </p:spPr>
                </p:sp>
                <p:sp>
                  <p:nvSpPr>
                    <p:cNvPr id="23781" name="Line 60"/>
                    <p:cNvSpPr/>
                    <p:nvPr/>
                  </p:nvSpPr>
                  <p:spPr>
                    <a:xfrm flipV="1">
                      <a:off x="4032" y="1824"/>
                      <a:ext cx="144" cy="144"/>
                    </a:xfrm>
                    <a:prstGeom prst="line">
                      <a:avLst/>
                    </a:prstGeom>
                    <a:ln w="12700" cap="flat" cmpd="sng">
                      <a:solidFill>
                        <a:srgbClr val="800000"/>
                      </a:solidFill>
                      <a:prstDash val="solid"/>
                      <a:headEnd type="none" w="med" len="med"/>
                      <a:tailEnd type="none" w="med" len="med"/>
                    </a:ln>
                  </p:spPr>
                </p:sp>
                <p:sp>
                  <p:nvSpPr>
                    <p:cNvPr id="23782" name="Line 61"/>
                    <p:cNvSpPr/>
                    <p:nvPr/>
                  </p:nvSpPr>
                  <p:spPr>
                    <a:xfrm flipV="1">
                      <a:off x="4848" y="1824"/>
                      <a:ext cx="144" cy="144"/>
                    </a:xfrm>
                    <a:prstGeom prst="line">
                      <a:avLst/>
                    </a:prstGeom>
                    <a:ln w="12700" cap="flat" cmpd="sng">
                      <a:solidFill>
                        <a:srgbClr val="800000"/>
                      </a:solidFill>
                      <a:prstDash val="solid"/>
                      <a:headEnd type="none" w="med" len="med"/>
                      <a:tailEnd type="none" w="med" len="med"/>
                    </a:ln>
                  </p:spPr>
                </p:sp>
              </p:grpSp>
            </p:grpSp>
          </p:grpSp>
        </p:grpSp>
        <p:sp>
          <p:nvSpPr>
            <p:cNvPr id="23756" name="Line 62"/>
            <p:cNvSpPr/>
            <p:nvPr/>
          </p:nvSpPr>
          <p:spPr>
            <a:xfrm>
              <a:off x="4416" y="2256"/>
              <a:ext cx="288" cy="0"/>
            </a:xfrm>
            <a:prstGeom prst="line">
              <a:avLst/>
            </a:prstGeom>
            <a:ln w="28575" cap="flat" cmpd="sng">
              <a:solidFill>
                <a:srgbClr val="002060"/>
              </a:solidFill>
              <a:prstDash val="solid"/>
              <a:headEnd type="none" w="med" len="med"/>
              <a:tailEnd type="none" w="med" len="med"/>
            </a:ln>
          </p:spPr>
        </p:sp>
        <p:sp>
          <p:nvSpPr>
            <p:cNvPr id="23757" name="Line 63"/>
            <p:cNvSpPr/>
            <p:nvPr/>
          </p:nvSpPr>
          <p:spPr>
            <a:xfrm>
              <a:off x="4464" y="1440"/>
              <a:ext cx="0" cy="144"/>
            </a:xfrm>
            <a:prstGeom prst="line">
              <a:avLst/>
            </a:prstGeom>
            <a:ln w="15875" cap="flat" cmpd="sng">
              <a:solidFill>
                <a:srgbClr val="002060"/>
              </a:solidFill>
              <a:prstDash val="solid"/>
              <a:headEnd type="none" w="med" len="med"/>
              <a:tailEnd type="none" w="med" len="med"/>
            </a:ln>
          </p:spPr>
        </p:sp>
        <p:sp>
          <p:nvSpPr>
            <p:cNvPr id="23758" name="Line 64"/>
            <p:cNvSpPr/>
            <p:nvPr/>
          </p:nvSpPr>
          <p:spPr>
            <a:xfrm>
              <a:off x="4656" y="1440"/>
              <a:ext cx="0" cy="144"/>
            </a:xfrm>
            <a:prstGeom prst="line">
              <a:avLst/>
            </a:prstGeom>
            <a:ln w="15875" cap="flat" cmpd="sng">
              <a:solidFill>
                <a:srgbClr val="002060"/>
              </a:solidFill>
              <a:prstDash val="solid"/>
              <a:headEnd type="none" w="med" len="med"/>
              <a:tailEnd type="none" w="med" len="med"/>
            </a:ln>
          </p:spPr>
        </p:sp>
        <p:sp>
          <p:nvSpPr>
            <p:cNvPr id="23759" name="Line 65"/>
            <p:cNvSpPr/>
            <p:nvPr/>
          </p:nvSpPr>
          <p:spPr>
            <a:xfrm>
              <a:off x="4464" y="1872"/>
              <a:ext cx="0" cy="384"/>
            </a:xfrm>
            <a:prstGeom prst="line">
              <a:avLst/>
            </a:prstGeom>
            <a:ln w="15875" cap="flat" cmpd="sng">
              <a:solidFill>
                <a:srgbClr val="002060"/>
              </a:solidFill>
              <a:prstDash val="solid"/>
              <a:headEnd type="none" w="med" len="med"/>
              <a:tailEnd type="none" w="med" len="med"/>
            </a:ln>
          </p:spPr>
        </p:sp>
        <p:sp>
          <p:nvSpPr>
            <p:cNvPr id="23760" name="Line 66"/>
            <p:cNvSpPr/>
            <p:nvPr/>
          </p:nvSpPr>
          <p:spPr>
            <a:xfrm>
              <a:off x="4656" y="1872"/>
              <a:ext cx="0" cy="384"/>
            </a:xfrm>
            <a:prstGeom prst="line">
              <a:avLst/>
            </a:prstGeom>
            <a:ln w="15875" cap="flat" cmpd="sng">
              <a:solidFill>
                <a:srgbClr val="002060"/>
              </a:solidFill>
              <a:prstDash val="solid"/>
              <a:headEnd type="none" w="med" len="med"/>
              <a:tailEnd type="none" w="med" len="med"/>
            </a:ln>
          </p:spPr>
        </p:sp>
      </p:grpSp>
      <p:grpSp>
        <p:nvGrpSpPr>
          <p:cNvPr id="17" name="Group 67"/>
          <p:cNvGrpSpPr/>
          <p:nvPr/>
        </p:nvGrpSpPr>
        <p:grpSpPr>
          <a:xfrm>
            <a:off x="7391400" y="314960"/>
            <a:ext cx="914400" cy="1104900"/>
            <a:chOff x="4560" y="495"/>
            <a:chExt cx="576" cy="696"/>
          </a:xfrm>
        </p:grpSpPr>
        <p:sp>
          <p:nvSpPr>
            <p:cNvPr id="23753" name="Line 68"/>
            <p:cNvSpPr/>
            <p:nvPr/>
          </p:nvSpPr>
          <p:spPr>
            <a:xfrm rot="10800000">
              <a:off x="4560" y="615"/>
              <a:ext cx="0" cy="576"/>
            </a:xfrm>
            <a:prstGeom prst="line">
              <a:avLst/>
            </a:prstGeom>
            <a:ln w="25400" cap="flat" cmpd="sng">
              <a:solidFill>
                <a:srgbClr val="0000FF"/>
              </a:solidFill>
              <a:prstDash val="solid"/>
              <a:headEnd type="none" w="med" len="med"/>
              <a:tailEnd type="triangle" w="med" len="med"/>
            </a:ln>
          </p:spPr>
        </p:sp>
        <p:sp>
          <p:nvSpPr>
            <p:cNvPr id="23754" name="Text Box 69"/>
            <p:cNvSpPr txBox="1"/>
            <p:nvPr/>
          </p:nvSpPr>
          <p:spPr>
            <a:xfrm>
              <a:off x="4608" y="495"/>
              <a:ext cx="528" cy="271"/>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baseline="-25000" dirty="0">
                  <a:solidFill>
                    <a:srgbClr val="002060"/>
                  </a:solidFill>
                  <a:latin typeface="Times New Roman" panose="02020603050405020304" pitchFamily="18" charset="0"/>
                </a:rPr>
                <a:t>2</a:t>
              </a:r>
              <a:endParaRPr lang="en-US" altLang="zh-CN" b="1" baseline="-25000" dirty="0">
                <a:solidFill>
                  <a:srgbClr val="002060"/>
                </a:solidFill>
                <a:latin typeface="Times New Roman" panose="02020603050405020304" pitchFamily="18" charset="0"/>
              </a:endParaRPr>
            </a:p>
          </p:txBody>
        </p:sp>
      </p:grpSp>
      <p:grpSp>
        <p:nvGrpSpPr>
          <p:cNvPr id="18" name="Group 70"/>
          <p:cNvGrpSpPr/>
          <p:nvPr/>
        </p:nvGrpSpPr>
        <p:grpSpPr>
          <a:xfrm>
            <a:off x="6117908" y="1916430"/>
            <a:ext cx="838200" cy="468313"/>
            <a:chOff x="3891" y="1584"/>
            <a:chExt cx="528" cy="295"/>
          </a:xfrm>
        </p:grpSpPr>
        <p:sp>
          <p:nvSpPr>
            <p:cNvPr id="23751" name="Line 71"/>
            <p:cNvSpPr/>
            <p:nvPr/>
          </p:nvSpPr>
          <p:spPr>
            <a:xfrm rot="10800000">
              <a:off x="4176" y="1584"/>
              <a:ext cx="0" cy="240"/>
            </a:xfrm>
            <a:prstGeom prst="line">
              <a:avLst/>
            </a:prstGeom>
            <a:ln w="25400" cap="flat" cmpd="sng">
              <a:solidFill>
                <a:srgbClr val="0000FF"/>
              </a:solidFill>
              <a:prstDash val="solid"/>
              <a:headEnd type="none" w="med" len="med"/>
              <a:tailEnd type="triangle" w="med" len="med"/>
            </a:ln>
          </p:spPr>
        </p:sp>
        <p:sp>
          <p:nvSpPr>
            <p:cNvPr id="23752" name="Text Box 72"/>
            <p:cNvSpPr txBox="1"/>
            <p:nvPr/>
          </p:nvSpPr>
          <p:spPr>
            <a:xfrm>
              <a:off x="3891" y="1608"/>
              <a:ext cx="528" cy="271"/>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1</a:t>
              </a:r>
              <a:endParaRPr lang="en-US" altLang="zh-CN" b="1" i="1" baseline="-25000" dirty="0">
                <a:solidFill>
                  <a:srgbClr val="002060"/>
                </a:solidFill>
                <a:latin typeface="Times New Roman" panose="02020603050405020304" pitchFamily="18" charset="0"/>
              </a:endParaRPr>
            </a:p>
          </p:txBody>
        </p:sp>
      </p:grpSp>
      <p:grpSp>
        <p:nvGrpSpPr>
          <p:cNvPr id="3" name="组合 2"/>
          <p:cNvGrpSpPr/>
          <p:nvPr/>
        </p:nvGrpSpPr>
        <p:grpSpPr>
          <a:xfrm>
            <a:off x="6118225" y="1483360"/>
            <a:ext cx="533400" cy="433070"/>
            <a:chOff x="9635" y="2336"/>
            <a:chExt cx="840" cy="682"/>
          </a:xfrm>
        </p:grpSpPr>
        <p:sp>
          <p:nvSpPr>
            <p:cNvPr id="23749" name="Line 74"/>
            <p:cNvSpPr/>
            <p:nvPr/>
          </p:nvSpPr>
          <p:spPr>
            <a:xfrm flipH="1">
              <a:off x="10355" y="2418"/>
              <a:ext cx="0" cy="600"/>
            </a:xfrm>
            <a:prstGeom prst="line">
              <a:avLst/>
            </a:prstGeom>
            <a:ln w="25400" cap="flat" cmpd="sng">
              <a:solidFill>
                <a:srgbClr val="0000FF"/>
              </a:solidFill>
              <a:prstDash val="solid"/>
              <a:headEnd type="none" w="med" len="med"/>
              <a:tailEnd type="triangle" w="med" len="med"/>
            </a:ln>
          </p:spPr>
        </p:sp>
        <p:sp>
          <p:nvSpPr>
            <p:cNvPr id="23750" name="Text Box 75"/>
            <p:cNvSpPr txBox="1"/>
            <p:nvPr/>
          </p:nvSpPr>
          <p:spPr>
            <a:xfrm>
              <a:off x="9635" y="2336"/>
              <a:ext cx="840" cy="677"/>
            </a:xfrm>
            <a:prstGeom prst="rect">
              <a:avLst/>
            </a:prstGeom>
            <a:noFill/>
            <a:ln w="9525">
              <a:noFill/>
            </a:ln>
          </p:spPr>
          <p:txBody>
            <a:bodyPr wrap="square">
              <a:spAutoFit/>
            </a:bodyPr>
            <a:p>
              <a:pPr>
                <a:spcBef>
                  <a:spcPct val="50000"/>
                </a:spcBef>
              </a:pP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1</a:t>
              </a:r>
              <a:endParaRPr lang="en-US" altLang="zh-CN" b="1" i="1" baseline="-25000" dirty="0">
                <a:solidFill>
                  <a:srgbClr val="002060"/>
                </a:solidFill>
                <a:latin typeface="Times New Roman" panose="02020603050405020304" pitchFamily="18" charset="0"/>
              </a:endParaRPr>
            </a:p>
          </p:txBody>
        </p:sp>
      </p:grpSp>
      <p:grpSp>
        <p:nvGrpSpPr>
          <p:cNvPr id="20" name="Group 76"/>
          <p:cNvGrpSpPr/>
          <p:nvPr/>
        </p:nvGrpSpPr>
        <p:grpSpPr>
          <a:xfrm>
            <a:off x="7391400" y="2384425"/>
            <a:ext cx="914400" cy="941634"/>
            <a:chOff x="4560" y="2326"/>
            <a:chExt cx="576" cy="538"/>
          </a:xfrm>
        </p:grpSpPr>
        <p:sp>
          <p:nvSpPr>
            <p:cNvPr id="23747" name="Line 77"/>
            <p:cNvSpPr/>
            <p:nvPr/>
          </p:nvSpPr>
          <p:spPr>
            <a:xfrm rot="-10800000" flipV="1">
              <a:off x="4560" y="2326"/>
              <a:ext cx="0" cy="391"/>
            </a:xfrm>
            <a:prstGeom prst="line">
              <a:avLst/>
            </a:prstGeom>
            <a:ln w="25400" cap="flat" cmpd="sng">
              <a:solidFill>
                <a:srgbClr val="0000FF"/>
              </a:solidFill>
              <a:prstDash val="solid"/>
              <a:headEnd type="none" w="med" len="med"/>
              <a:tailEnd type="triangle" w="med" len="med"/>
            </a:ln>
          </p:spPr>
        </p:sp>
        <p:sp>
          <p:nvSpPr>
            <p:cNvPr id="23748" name="Text Box 78"/>
            <p:cNvSpPr txBox="1"/>
            <p:nvPr/>
          </p:nvSpPr>
          <p:spPr>
            <a:xfrm>
              <a:off x="4608" y="2618"/>
              <a:ext cx="528" cy="246"/>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baseline="-25000" dirty="0">
                  <a:solidFill>
                    <a:srgbClr val="002060"/>
                  </a:solidFill>
                  <a:latin typeface="Times New Roman" panose="02020603050405020304" pitchFamily="18" charset="0"/>
                </a:rPr>
                <a:t>2</a:t>
              </a:r>
              <a:endParaRPr lang="en-US" altLang="zh-CN" b="1" baseline="-25000" dirty="0">
                <a:solidFill>
                  <a:srgbClr val="002060"/>
                </a:solidFill>
                <a:latin typeface="Times New Roman" panose="02020603050405020304" pitchFamily="18" charset="0"/>
              </a:endParaRPr>
            </a:p>
          </p:txBody>
        </p:sp>
      </p:grpSp>
      <p:sp>
        <p:nvSpPr>
          <p:cNvPr id="91" name="Text Box 4"/>
          <p:cNvSpPr txBox="1"/>
          <p:nvPr/>
        </p:nvSpPr>
        <p:spPr>
          <a:xfrm>
            <a:off x="288608" y="284798"/>
            <a:ext cx="4991100" cy="460375"/>
          </a:xfrm>
          <a:prstGeom prst="rect">
            <a:avLst/>
          </a:prstGeom>
          <a:noFill/>
          <a:ln w="9525">
            <a:noFill/>
          </a:ln>
        </p:spPr>
        <p:txBody>
          <a:bodyPr>
            <a:spAutoFit/>
          </a:bodyPr>
          <a:p>
            <a:pPr>
              <a:spcBef>
                <a:spcPct val="50000"/>
              </a:spcBef>
            </a:pPr>
            <a:r>
              <a:rPr lang="en-US" altLang="zh-CN" sz="2400" dirty="0">
                <a:solidFill>
                  <a:srgbClr val="C00000"/>
                </a:solidFill>
                <a:latin typeface="黑体" panose="02010609060101010101" pitchFamily="49" charset="-122"/>
                <a:ea typeface="黑体" panose="02010609060101010101" pitchFamily="49" charset="-122"/>
                <a:cs typeface="黑体" panose="02010609060101010101" pitchFamily="49" charset="-122"/>
              </a:rPr>
              <a:t>2.</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受轴向工作载荷的普通螺栓联接</a:t>
            </a:r>
            <a:endPar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92" name="Text Box 79"/>
          <p:cNvSpPr txBox="1">
            <a:spLocks noChangeArrowheads="1"/>
          </p:cNvSpPr>
          <p:nvPr/>
        </p:nvSpPr>
        <p:spPr bwMode="auto">
          <a:xfrm>
            <a:off x="395288" y="1484313"/>
            <a:ext cx="3028950" cy="400050"/>
          </a:xfrm>
          <a:prstGeom prst="rect">
            <a:avLst/>
          </a:prstGeom>
          <a:noFill/>
          <a:ln w="9525">
            <a:noFill/>
            <a:miter lim="800000"/>
          </a:ln>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螺栓所受的总拉力：</a:t>
            </a:r>
            <a:endParaRPr kumimoji="1" lang="zh-CN" altLang="en-US" sz="2000" b="1" kern="1200" cap="none" spc="0" normalizeH="0" baseline="0" noProof="0" dirty="0">
              <a:solidFill>
                <a:srgbClr val="003399"/>
              </a:solidFill>
              <a:latin typeface="+mn-ea"/>
              <a:ea typeface="+mn-ea"/>
              <a:cs typeface="+mn-cs"/>
            </a:endParaRPr>
          </a:p>
        </p:txBody>
      </p:sp>
      <p:sp>
        <p:nvSpPr>
          <p:cNvPr id="93" name="Text Box 80"/>
          <p:cNvSpPr txBox="1"/>
          <p:nvPr/>
        </p:nvSpPr>
        <p:spPr>
          <a:xfrm>
            <a:off x="2916238" y="1412875"/>
            <a:ext cx="1828800" cy="429895"/>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baseline="-25000" dirty="0">
                <a:solidFill>
                  <a:srgbClr val="002060"/>
                </a:solidFill>
                <a:latin typeface="Times New Roman" panose="02020603050405020304" pitchFamily="18" charset="0"/>
              </a:rPr>
              <a:t>2</a:t>
            </a:r>
            <a:r>
              <a:rPr lang="en-US" altLang="zh-CN" b="1" dirty="0">
                <a:solidFill>
                  <a:srgbClr val="002060"/>
                </a:solidFill>
                <a:latin typeface="Times New Roman" panose="02020603050405020304" pitchFamily="18" charset="0"/>
              </a:rPr>
              <a:t> = </a:t>
            </a: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0</a:t>
            </a:r>
            <a:r>
              <a:rPr lang="en-US" altLang="zh-CN" b="1" dirty="0">
                <a:solidFill>
                  <a:srgbClr val="002060"/>
                </a:solidFill>
                <a:latin typeface="Times New Roman" panose="02020603050405020304" pitchFamily="18" charset="0"/>
              </a:rPr>
              <a:t>+ </a:t>
            </a:r>
            <a:r>
              <a:rPr lang="en-US" altLang="zh-CN" b="1" i="1" dirty="0">
                <a:solidFill>
                  <a:srgbClr val="002060"/>
                </a:solidFill>
                <a:latin typeface="Times New Roman" panose="02020603050405020304" pitchFamily="18" charset="0"/>
              </a:rPr>
              <a:t>F</a:t>
            </a:r>
            <a:endParaRPr lang="en-US" altLang="zh-CN" b="1" i="1" dirty="0">
              <a:solidFill>
                <a:srgbClr val="002060"/>
              </a:solidFill>
              <a:latin typeface="Times New Roman" panose="02020603050405020304" pitchFamily="18" charset="0"/>
            </a:endParaRPr>
          </a:p>
        </p:txBody>
      </p:sp>
      <p:sp>
        <p:nvSpPr>
          <p:cNvPr id="94" name="Text Box 81"/>
          <p:cNvSpPr txBox="1"/>
          <p:nvPr/>
        </p:nvSpPr>
        <p:spPr>
          <a:xfrm>
            <a:off x="4787900" y="1412875"/>
            <a:ext cx="457200" cy="519113"/>
          </a:xfrm>
          <a:prstGeom prst="rect">
            <a:avLst/>
          </a:prstGeom>
          <a:noFill/>
          <a:ln w="9525">
            <a:noFill/>
          </a:ln>
        </p:spPr>
        <p:txBody>
          <a:bodyPr>
            <a:spAutoFit/>
          </a:bodyPr>
          <a:p>
            <a:pPr>
              <a:spcBef>
                <a:spcPct val="50000"/>
              </a:spcBef>
            </a:pPr>
            <a:r>
              <a:rPr lang="en-US" altLang="zh-CN" sz="2800" b="1" dirty="0">
                <a:solidFill>
                  <a:schemeClr val="accent2"/>
                </a:solidFill>
                <a:latin typeface="Times New Roman" panose="02020603050405020304" pitchFamily="18" charset="0"/>
              </a:rPr>
              <a:t>?</a:t>
            </a:r>
            <a:endParaRPr lang="en-US" altLang="zh-CN" b="1" dirty="0">
              <a:solidFill>
                <a:schemeClr val="bg2"/>
              </a:solidFill>
              <a:latin typeface="Times New Roman" panose="02020603050405020304" pitchFamily="18" charset="0"/>
            </a:endParaRPr>
          </a:p>
        </p:txBody>
      </p:sp>
      <p:sp>
        <p:nvSpPr>
          <p:cNvPr id="95" name="Text Box 82"/>
          <p:cNvSpPr txBox="1"/>
          <p:nvPr/>
        </p:nvSpPr>
        <p:spPr>
          <a:xfrm>
            <a:off x="4686300" y="1397000"/>
            <a:ext cx="533400" cy="519113"/>
          </a:xfrm>
          <a:prstGeom prst="rect">
            <a:avLst/>
          </a:prstGeom>
          <a:noFill/>
          <a:ln w="9525">
            <a:noFill/>
          </a:ln>
        </p:spPr>
        <p:txBody>
          <a:bodyPr>
            <a:spAutoFit/>
          </a:bodyPr>
          <a:p>
            <a:pPr>
              <a:spcBef>
                <a:spcPct val="50000"/>
              </a:spcBef>
            </a:pPr>
            <a:r>
              <a:rPr lang="en-US" altLang="zh-CN" sz="2800" b="1" dirty="0">
                <a:solidFill>
                  <a:srgbClr val="FF3300"/>
                </a:solidFill>
                <a:latin typeface="Times New Roman" panose="02020603050405020304" pitchFamily="18" charset="0"/>
              </a:rPr>
              <a:t>×</a:t>
            </a:r>
            <a:endParaRPr lang="en-US" altLang="zh-CN" b="1" dirty="0">
              <a:solidFill>
                <a:srgbClr val="FF3300"/>
              </a:solidFill>
              <a:latin typeface="Times New Roman" panose="02020603050405020304" pitchFamily="18" charset="0"/>
            </a:endParaRPr>
          </a:p>
        </p:txBody>
      </p:sp>
      <p:sp>
        <p:nvSpPr>
          <p:cNvPr id="96" name="Text Box 83"/>
          <p:cNvSpPr txBox="1">
            <a:spLocks noChangeArrowheads="1"/>
          </p:cNvSpPr>
          <p:nvPr/>
        </p:nvSpPr>
        <p:spPr bwMode="auto">
          <a:xfrm>
            <a:off x="468313" y="1844675"/>
            <a:ext cx="5326063" cy="398780"/>
          </a:xfrm>
          <a:prstGeom prst="rect">
            <a:avLst/>
          </a:prstGeom>
          <a:noFill/>
          <a:ln w="9525">
            <a:noFill/>
            <a:miter lim="800000"/>
          </a:ln>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注意：加载后，</a:t>
            </a:r>
            <a:r>
              <a:rPr kumimoji="1" lang="en-US" altLang="zh-CN" sz="2000" b="1" i="1" kern="1200" cap="none" spc="0" normalizeH="0" baseline="0" noProof="0" dirty="0">
                <a:solidFill>
                  <a:srgbClr val="003399"/>
                </a:solidFill>
                <a:latin typeface="+mn-ea"/>
                <a:ea typeface="黑体" panose="02010609060101010101" pitchFamily="49" charset="-122"/>
                <a:cs typeface="+mn-cs"/>
              </a:rPr>
              <a:t>F</a:t>
            </a:r>
            <a:r>
              <a:rPr kumimoji="1" lang="en-US" altLang="zh-CN" sz="2000" b="1" i="1" kern="1200" cap="none" spc="0" normalizeH="0" baseline="-25000" noProof="0" dirty="0">
                <a:solidFill>
                  <a:srgbClr val="003399"/>
                </a:solidFill>
                <a:latin typeface="+mn-ea"/>
                <a:ea typeface="黑体" panose="02010609060101010101" pitchFamily="49" charset="-122"/>
                <a:cs typeface="+mn-cs"/>
              </a:rPr>
              <a:t>0</a:t>
            </a:r>
            <a:r>
              <a:rPr kumimoji="1" lang="en-US" altLang="zh-CN" sz="2000" b="1" kern="1200" cap="none" spc="0" normalizeH="0" baseline="0" noProof="0" dirty="0">
                <a:solidFill>
                  <a:srgbClr val="003399"/>
                </a:solidFill>
                <a:latin typeface="+mn-ea"/>
                <a:ea typeface="黑体" panose="02010609060101010101" pitchFamily="49" charset="-122"/>
                <a:cs typeface="+mn-cs"/>
              </a:rPr>
              <a:t>--&gt;</a:t>
            </a:r>
            <a:r>
              <a:rPr kumimoji="1" lang="en-US" altLang="zh-CN" sz="2000" b="1" i="1" kern="1200" cap="none" spc="0" normalizeH="0" baseline="0" noProof="0" dirty="0">
                <a:solidFill>
                  <a:srgbClr val="003399"/>
                </a:solidFill>
                <a:latin typeface="+mn-ea"/>
                <a:ea typeface="黑体" panose="02010609060101010101" pitchFamily="49" charset="-122"/>
                <a:cs typeface="+mn-cs"/>
              </a:rPr>
              <a:t> F</a:t>
            </a:r>
            <a:r>
              <a:rPr kumimoji="1" lang="en-US" altLang="zh-CN" sz="2000" b="1" i="1" kern="1200" cap="none" spc="0" normalizeH="0" baseline="-25000" noProof="0" dirty="0">
                <a:solidFill>
                  <a:srgbClr val="003399"/>
                </a:solidFill>
                <a:latin typeface="+mn-ea"/>
                <a:ea typeface="黑体" panose="02010609060101010101" pitchFamily="49" charset="-122"/>
                <a:cs typeface="+mn-cs"/>
              </a:rPr>
              <a:t>1</a:t>
            </a:r>
            <a:r>
              <a:rPr kumimoji="1" lang="zh-CN" altLang="en-US" sz="2000" b="1" kern="1200" cap="none" spc="0" normalizeH="0" baseline="-25000" noProof="0" dirty="0">
                <a:solidFill>
                  <a:srgbClr val="003399"/>
                </a:solidFill>
                <a:latin typeface="+mn-ea"/>
                <a:ea typeface="+mn-ea"/>
                <a:cs typeface="+mn-cs"/>
              </a:rPr>
              <a:t>（</a:t>
            </a:r>
            <a:r>
              <a:rPr kumimoji="1" lang="zh-CN" altLang="en-US" sz="2000" b="1" kern="1200" cap="none" spc="0" normalizeH="0" baseline="0" noProof="0" dirty="0">
                <a:solidFill>
                  <a:srgbClr val="003399"/>
                </a:solidFill>
                <a:latin typeface="+mn-ea"/>
                <a:ea typeface="+mn-ea"/>
                <a:cs typeface="+mn-cs"/>
              </a:rPr>
              <a:t>残余预紧力）。</a:t>
            </a:r>
            <a:endParaRPr kumimoji="1" lang="zh-CN" altLang="en-US" sz="2000" b="1" kern="1200" cap="none" spc="0" normalizeH="0" baseline="0" noProof="0" dirty="0">
              <a:solidFill>
                <a:srgbClr val="003399"/>
              </a:solidFill>
              <a:latin typeface="+mn-ea"/>
              <a:ea typeface="+mn-ea"/>
              <a:cs typeface="+mn-cs"/>
            </a:endParaRPr>
          </a:p>
        </p:txBody>
      </p:sp>
      <p:sp>
        <p:nvSpPr>
          <p:cNvPr id="97" name="Text Box 84"/>
          <p:cNvSpPr txBox="1">
            <a:spLocks noChangeArrowheads="1"/>
          </p:cNvSpPr>
          <p:nvPr/>
        </p:nvSpPr>
        <p:spPr bwMode="auto">
          <a:xfrm>
            <a:off x="468313" y="2205038"/>
            <a:ext cx="5111750" cy="706755"/>
          </a:xfrm>
          <a:prstGeom prst="rect">
            <a:avLst/>
          </a:prstGeom>
          <a:noFill/>
          <a:ln w="9525">
            <a:noFill/>
            <a:miter lim="800000"/>
          </a:ln>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此时各零件的受力关系属静不定问题，未知力有两个：</a:t>
            </a:r>
            <a:r>
              <a:rPr kumimoji="1" lang="en-US" altLang="zh-CN" sz="2000" b="1" i="1" kern="1200" cap="none" spc="0" normalizeH="0" baseline="0" noProof="0" dirty="0">
                <a:solidFill>
                  <a:srgbClr val="003399"/>
                </a:solidFill>
                <a:latin typeface="+mn-ea"/>
                <a:ea typeface="黑体" panose="02010609060101010101" pitchFamily="49" charset="-122"/>
                <a:cs typeface="+mn-cs"/>
              </a:rPr>
              <a:t> F</a:t>
            </a:r>
            <a:r>
              <a:rPr kumimoji="1" lang="en-US" altLang="zh-CN" sz="2000" b="1" kern="1200" cap="none" spc="0" normalizeH="0" baseline="-25000" noProof="0" dirty="0">
                <a:solidFill>
                  <a:srgbClr val="003399"/>
                </a:solidFill>
                <a:latin typeface="+mn-ea"/>
                <a:ea typeface="黑体" panose="02010609060101010101" pitchFamily="49" charset="-122"/>
                <a:cs typeface="+mn-cs"/>
              </a:rPr>
              <a:t>0</a:t>
            </a:r>
            <a:r>
              <a:rPr kumimoji="1" lang="zh-CN" altLang="en-US" sz="2000" b="1" kern="1200" cap="none" spc="0" normalizeH="0" baseline="0" noProof="0" dirty="0">
                <a:solidFill>
                  <a:srgbClr val="003399"/>
                </a:solidFill>
                <a:latin typeface="+mn-ea"/>
                <a:ea typeface="+mn-ea"/>
                <a:cs typeface="+mn-cs"/>
              </a:rPr>
              <a:t>和</a:t>
            </a:r>
            <a:r>
              <a:rPr kumimoji="1" lang="en-US" altLang="zh-CN" sz="2000" b="1" i="1" kern="1200" cap="none" spc="0" normalizeH="0" baseline="0" noProof="0" dirty="0">
                <a:solidFill>
                  <a:srgbClr val="003399"/>
                </a:solidFill>
                <a:latin typeface="+mn-ea"/>
                <a:ea typeface="黑体" panose="02010609060101010101" pitchFamily="49" charset="-122"/>
                <a:cs typeface="+mn-cs"/>
              </a:rPr>
              <a:t>F</a:t>
            </a:r>
            <a:r>
              <a:rPr kumimoji="1" lang="en-US" altLang="zh-CN" sz="2000" b="1" i="1" kern="1200" cap="none" spc="0" normalizeH="0" baseline="-25000" noProof="0" dirty="0">
                <a:solidFill>
                  <a:srgbClr val="003399"/>
                </a:solidFill>
                <a:latin typeface="+mn-ea"/>
                <a:ea typeface="黑体" panose="02010609060101010101" pitchFamily="49" charset="-122"/>
                <a:cs typeface="+mn-cs"/>
              </a:rPr>
              <a:t>1</a:t>
            </a:r>
            <a:endParaRPr kumimoji="1" lang="en-US" altLang="zh-CN" sz="2000" b="1" i="1" kern="1200" cap="none" spc="0" normalizeH="0" baseline="-25000" noProof="0" dirty="0">
              <a:solidFill>
                <a:srgbClr val="003399"/>
              </a:solidFill>
              <a:latin typeface="+mn-ea"/>
              <a:ea typeface="黑体" panose="02010609060101010101" pitchFamily="49" charset="-122"/>
              <a:cs typeface="+mn-cs"/>
            </a:endParaRPr>
          </a:p>
        </p:txBody>
      </p:sp>
      <p:sp>
        <p:nvSpPr>
          <p:cNvPr id="99" name="Text Box 87"/>
          <p:cNvSpPr txBox="1">
            <a:spLocks noChangeArrowheads="1"/>
          </p:cNvSpPr>
          <p:nvPr/>
        </p:nvSpPr>
        <p:spPr bwMode="auto">
          <a:xfrm>
            <a:off x="539750" y="2852738"/>
            <a:ext cx="4797425" cy="400050"/>
          </a:xfrm>
          <a:prstGeom prst="rect">
            <a:avLst/>
          </a:prstGeom>
          <a:noFill/>
          <a:ln w="9525">
            <a:noFill/>
            <a:miter lim="800000"/>
          </a:ln>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须根据静力平衡方程和变形协调条件求解</a:t>
            </a:r>
            <a:endParaRPr kumimoji="1" lang="zh-CN" altLang="en-US" sz="2000" b="1" kern="1200" cap="none" spc="0" normalizeH="0" baseline="0" noProof="0" dirty="0">
              <a:solidFill>
                <a:srgbClr val="003399"/>
              </a:solidFill>
              <a:latin typeface="+mn-ea"/>
              <a:ea typeface="+mn-ea"/>
              <a:cs typeface="+mn-cs"/>
            </a:endParaRPr>
          </a:p>
        </p:txBody>
      </p:sp>
      <p:sp>
        <p:nvSpPr>
          <p:cNvPr id="100" name="Text Box 3"/>
          <p:cNvSpPr txBox="1">
            <a:spLocks noChangeArrowheads="1"/>
          </p:cNvSpPr>
          <p:nvPr/>
        </p:nvSpPr>
        <p:spPr bwMode="auto">
          <a:xfrm>
            <a:off x="251778" y="828358"/>
            <a:ext cx="5545138" cy="706755"/>
          </a:xfrm>
          <a:prstGeom prst="rect">
            <a:avLst/>
          </a:prstGeom>
          <a:noFill/>
          <a:ln w="9525">
            <a:noFill/>
            <a:miter lim="800000"/>
          </a:ln>
          <a:effectLst/>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受载过程：先拧紧（</a:t>
            </a:r>
            <a:r>
              <a:rPr kumimoji="1" lang="en-US" altLang="zh-CN" sz="2000" b="1" i="1" kern="1200" cap="none" spc="0" normalizeH="0" baseline="0" noProof="0" dirty="0">
                <a:solidFill>
                  <a:srgbClr val="003399"/>
                </a:solidFill>
                <a:latin typeface="+mn-ea"/>
                <a:ea typeface="黑体" panose="02010609060101010101" pitchFamily="49" charset="-122"/>
                <a:cs typeface="+mn-cs"/>
              </a:rPr>
              <a:t>F</a:t>
            </a:r>
            <a:r>
              <a:rPr kumimoji="1" lang="en-US" altLang="zh-CN" sz="2000" b="1" i="1" kern="1200" cap="none" spc="0" normalizeH="0" baseline="-25000" noProof="0" dirty="0">
                <a:solidFill>
                  <a:srgbClr val="003399"/>
                </a:solidFill>
                <a:latin typeface="+mn-ea"/>
                <a:ea typeface="黑体" panose="02010609060101010101" pitchFamily="49" charset="-122"/>
                <a:cs typeface="+mn-cs"/>
              </a:rPr>
              <a:t>0</a:t>
            </a:r>
            <a:r>
              <a:rPr kumimoji="1" lang="en-US" altLang="zh-CN" sz="2000" b="1" kern="1200" cap="none" spc="0" normalizeH="0" baseline="0" noProof="0" dirty="0">
                <a:solidFill>
                  <a:srgbClr val="003399"/>
                </a:solidFill>
                <a:latin typeface="+mn-ea"/>
                <a:ea typeface="黑体" panose="02010609060101010101" pitchFamily="49" charset="-122"/>
                <a:cs typeface="+mn-cs"/>
              </a:rPr>
              <a:t>)</a:t>
            </a:r>
            <a:r>
              <a:rPr kumimoji="1" lang="zh-CN" altLang="en-US" sz="2000" b="1" kern="1200" cap="none" spc="0" normalizeH="0" baseline="0" noProof="0" dirty="0">
                <a:solidFill>
                  <a:srgbClr val="003399"/>
                </a:solidFill>
                <a:latin typeface="+mn-ea"/>
                <a:ea typeface="+mn-ea"/>
                <a:cs typeface="+mn-cs"/>
              </a:rPr>
              <a:t>再施加工作载荷（</a:t>
            </a:r>
            <a:r>
              <a:rPr kumimoji="1" lang="en-US" altLang="zh-CN" sz="2000" b="1" i="1" kern="1200" cap="none" spc="0" normalizeH="0" baseline="0" noProof="0" dirty="0">
                <a:solidFill>
                  <a:srgbClr val="003399"/>
                </a:solidFill>
                <a:latin typeface="+mn-ea"/>
                <a:ea typeface="+mn-ea"/>
                <a:cs typeface="+mn-cs"/>
              </a:rPr>
              <a:t>F</a:t>
            </a:r>
            <a:r>
              <a:rPr kumimoji="1" lang="zh-CN" altLang="en-US" sz="2000" b="1" i="1" kern="1200" cap="none" spc="0" normalizeH="0" baseline="0" noProof="0" dirty="0">
                <a:solidFill>
                  <a:srgbClr val="003399"/>
                </a:solidFill>
                <a:latin typeface="+mn-ea"/>
                <a:ea typeface="+mn-ea"/>
                <a:cs typeface="+mn-cs"/>
              </a:rPr>
              <a:t>）</a:t>
            </a:r>
            <a:r>
              <a:rPr kumimoji="1" lang="zh-CN" altLang="en-US" sz="2000" b="1" kern="1200" cap="none" spc="0" normalizeH="0" baseline="0" noProof="0" dirty="0">
                <a:solidFill>
                  <a:srgbClr val="003399"/>
                </a:solidFill>
                <a:latin typeface="+mn-ea"/>
                <a:ea typeface="+mn-ea"/>
                <a:cs typeface="+mn-cs"/>
              </a:rPr>
              <a:t>，</a:t>
            </a:r>
            <a:r>
              <a:rPr kumimoji="1" lang="zh-CN" altLang="en-US" sz="2000" b="1" kern="1200" cap="none" spc="0" normalizeH="0" baseline="0" noProof="0" dirty="0">
                <a:solidFill>
                  <a:srgbClr val="FF0000"/>
                </a:solidFill>
                <a:latin typeface="+mn-ea"/>
                <a:ea typeface="+mn-ea"/>
                <a:cs typeface="+mn-cs"/>
              </a:rPr>
              <a:t>螺栓所受总的载荷为何？ </a:t>
            </a:r>
            <a:endParaRPr kumimoji="1" lang="zh-CN" altLang="en-US" sz="2000" b="1" kern="1200" cap="none" spc="0" normalizeH="0" baseline="0" noProof="0" dirty="0">
              <a:solidFill>
                <a:srgbClr val="FF0000"/>
              </a:solidFill>
              <a:latin typeface="+mn-ea"/>
              <a:ea typeface="+mn-ea"/>
              <a:cs typeface="+mn-cs"/>
            </a:endParaRPr>
          </a:p>
        </p:txBody>
      </p:sp>
      <p:sp>
        <p:nvSpPr>
          <p:cNvPr id="101" name="Rectangle 3"/>
          <p:cNvSpPr/>
          <p:nvPr/>
        </p:nvSpPr>
        <p:spPr>
          <a:xfrm>
            <a:off x="250825" y="3287713"/>
            <a:ext cx="6840538" cy="3419475"/>
          </a:xfrm>
          <a:prstGeom prst="rect">
            <a:avLst/>
          </a:prstGeom>
          <a:solidFill>
            <a:srgbClr val="FFFFCC"/>
          </a:solidFill>
          <a:ln w="38100" cap="flat" cmpd="sng">
            <a:solidFill>
              <a:schemeClr val="accent2"/>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grpSp>
        <p:nvGrpSpPr>
          <p:cNvPr id="21" name="Group 6"/>
          <p:cNvGrpSpPr/>
          <p:nvPr/>
        </p:nvGrpSpPr>
        <p:grpSpPr>
          <a:xfrm>
            <a:off x="250825" y="4302125"/>
            <a:ext cx="1981200" cy="2133600"/>
            <a:chOff x="864" y="672"/>
            <a:chExt cx="1248" cy="1344"/>
          </a:xfrm>
        </p:grpSpPr>
        <p:sp>
          <p:nvSpPr>
            <p:cNvPr id="23711" name="Line 7"/>
            <p:cNvSpPr/>
            <p:nvPr/>
          </p:nvSpPr>
          <p:spPr>
            <a:xfrm>
              <a:off x="864" y="1344"/>
              <a:ext cx="480" cy="0"/>
            </a:xfrm>
            <a:prstGeom prst="line">
              <a:avLst/>
            </a:prstGeom>
            <a:ln w="25400" cap="flat" cmpd="sng">
              <a:solidFill>
                <a:srgbClr val="002060"/>
              </a:solidFill>
              <a:prstDash val="solid"/>
              <a:headEnd type="none" w="med" len="med"/>
              <a:tailEnd type="none" w="med" len="med"/>
            </a:ln>
          </p:spPr>
        </p:sp>
        <p:sp>
          <p:nvSpPr>
            <p:cNvPr id="23712" name="Line 8"/>
            <p:cNvSpPr/>
            <p:nvPr/>
          </p:nvSpPr>
          <p:spPr>
            <a:xfrm>
              <a:off x="1644" y="1344"/>
              <a:ext cx="468" cy="0"/>
            </a:xfrm>
            <a:prstGeom prst="line">
              <a:avLst/>
            </a:prstGeom>
            <a:ln w="25400" cap="flat" cmpd="sng">
              <a:solidFill>
                <a:srgbClr val="002060"/>
              </a:solidFill>
              <a:prstDash val="solid"/>
              <a:headEnd type="none" w="med" len="med"/>
              <a:tailEnd type="none" w="med" len="med"/>
            </a:ln>
          </p:spPr>
        </p:sp>
        <p:grpSp>
          <p:nvGrpSpPr>
            <p:cNvPr id="23713" name="Group 9"/>
            <p:cNvGrpSpPr/>
            <p:nvPr/>
          </p:nvGrpSpPr>
          <p:grpSpPr>
            <a:xfrm>
              <a:off x="864" y="672"/>
              <a:ext cx="1248" cy="1344"/>
              <a:chOff x="864" y="672"/>
              <a:chExt cx="1248" cy="1344"/>
            </a:xfrm>
          </p:grpSpPr>
          <p:sp>
            <p:nvSpPr>
              <p:cNvPr id="23714" name="Rectangle 10"/>
              <p:cNvSpPr/>
              <p:nvPr/>
            </p:nvSpPr>
            <p:spPr>
              <a:xfrm>
                <a:off x="1344" y="672"/>
                <a:ext cx="288" cy="1344"/>
              </a:xfrm>
              <a:prstGeom prst="rect">
                <a:avLst/>
              </a:prstGeom>
              <a:noFill/>
              <a:ln w="25400" cap="flat" cmpd="sng">
                <a:solidFill>
                  <a:srgbClr val="002060"/>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grpSp>
            <p:nvGrpSpPr>
              <p:cNvPr id="23715" name="Group 11"/>
              <p:cNvGrpSpPr/>
              <p:nvPr/>
            </p:nvGrpSpPr>
            <p:grpSpPr>
              <a:xfrm>
                <a:off x="864" y="672"/>
                <a:ext cx="1248" cy="1344"/>
                <a:chOff x="864" y="672"/>
                <a:chExt cx="1248" cy="1344"/>
              </a:xfrm>
            </p:grpSpPr>
            <p:sp>
              <p:nvSpPr>
                <p:cNvPr id="23716" name="Line 12"/>
                <p:cNvSpPr/>
                <p:nvPr/>
              </p:nvSpPr>
              <p:spPr>
                <a:xfrm>
                  <a:off x="1296" y="1008"/>
                  <a:ext cx="0" cy="720"/>
                </a:xfrm>
                <a:prstGeom prst="line">
                  <a:avLst/>
                </a:prstGeom>
                <a:ln w="25400" cap="flat" cmpd="sng">
                  <a:solidFill>
                    <a:srgbClr val="002060"/>
                  </a:solidFill>
                  <a:prstDash val="solid"/>
                  <a:headEnd type="none" w="med" len="med"/>
                  <a:tailEnd type="none" w="med" len="med"/>
                </a:ln>
              </p:spPr>
            </p:sp>
            <p:grpSp>
              <p:nvGrpSpPr>
                <p:cNvPr id="23717" name="Group 13"/>
                <p:cNvGrpSpPr/>
                <p:nvPr/>
              </p:nvGrpSpPr>
              <p:grpSpPr>
                <a:xfrm>
                  <a:off x="864" y="672"/>
                  <a:ext cx="1248" cy="1344"/>
                  <a:chOff x="864" y="672"/>
                  <a:chExt cx="1248" cy="1344"/>
                </a:xfrm>
              </p:grpSpPr>
              <p:sp>
                <p:nvSpPr>
                  <p:cNvPr id="23718" name="Rectangle 14"/>
                  <p:cNvSpPr/>
                  <p:nvPr/>
                </p:nvSpPr>
                <p:spPr>
                  <a:xfrm>
                    <a:off x="1200" y="720"/>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grpSp>
                <p:nvGrpSpPr>
                  <p:cNvPr id="23719" name="Group 15"/>
                  <p:cNvGrpSpPr/>
                  <p:nvPr/>
                </p:nvGrpSpPr>
                <p:grpSpPr>
                  <a:xfrm>
                    <a:off x="864" y="672"/>
                    <a:ext cx="1248" cy="1344"/>
                    <a:chOff x="864" y="672"/>
                    <a:chExt cx="1248" cy="1344"/>
                  </a:xfrm>
                </p:grpSpPr>
                <p:sp>
                  <p:nvSpPr>
                    <p:cNvPr id="23720" name="Line 16"/>
                    <p:cNvSpPr/>
                    <p:nvPr/>
                  </p:nvSpPr>
                  <p:spPr>
                    <a:xfrm>
                      <a:off x="1680" y="1008"/>
                      <a:ext cx="0" cy="720"/>
                    </a:xfrm>
                    <a:prstGeom prst="line">
                      <a:avLst/>
                    </a:prstGeom>
                    <a:ln w="25400" cap="flat" cmpd="sng">
                      <a:solidFill>
                        <a:srgbClr val="002060"/>
                      </a:solidFill>
                      <a:prstDash val="solid"/>
                      <a:headEnd type="none" w="med" len="med"/>
                      <a:tailEnd type="none" w="med" len="med"/>
                    </a:ln>
                  </p:spPr>
                </p:sp>
                <p:sp>
                  <p:nvSpPr>
                    <p:cNvPr id="23721" name="Rectangle 17"/>
                    <p:cNvSpPr/>
                    <p:nvPr/>
                  </p:nvSpPr>
                  <p:spPr>
                    <a:xfrm>
                      <a:off x="1200" y="1728"/>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722" name="Line 18"/>
                    <p:cNvSpPr/>
                    <p:nvPr/>
                  </p:nvSpPr>
                  <p:spPr>
                    <a:xfrm>
                      <a:off x="864" y="1008"/>
                      <a:ext cx="336" cy="0"/>
                    </a:xfrm>
                    <a:prstGeom prst="line">
                      <a:avLst/>
                    </a:prstGeom>
                    <a:ln w="25400" cap="flat" cmpd="sng">
                      <a:solidFill>
                        <a:srgbClr val="002060"/>
                      </a:solidFill>
                      <a:prstDash val="solid"/>
                      <a:headEnd type="none" w="med" len="med"/>
                      <a:tailEnd type="none" w="med" len="med"/>
                    </a:ln>
                  </p:spPr>
                </p:sp>
                <p:sp>
                  <p:nvSpPr>
                    <p:cNvPr id="23723" name="Line 19"/>
                    <p:cNvSpPr/>
                    <p:nvPr/>
                  </p:nvSpPr>
                  <p:spPr>
                    <a:xfrm>
                      <a:off x="1776" y="1008"/>
                      <a:ext cx="336" cy="0"/>
                    </a:xfrm>
                    <a:prstGeom prst="line">
                      <a:avLst/>
                    </a:prstGeom>
                    <a:ln w="25400" cap="flat" cmpd="sng">
                      <a:solidFill>
                        <a:srgbClr val="002060"/>
                      </a:solidFill>
                      <a:prstDash val="solid"/>
                      <a:headEnd type="none" w="med" len="med"/>
                      <a:tailEnd type="none" w="med" len="med"/>
                    </a:ln>
                  </p:spPr>
                </p:sp>
                <p:sp>
                  <p:nvSpPr>
                    <p:cNvPr id="23724" name="Line 20"/>
                    <p:cNvSpPr/>
                    <p:nvPr/>
                  </p:nvSpPr>
                  <p:spPr>
                    <a:xfrm>
                      <a:off x="864" y="1728"/>
                      <a:ext cx="336" cy="0"/>
                    </a:xfrm>
                    <a:prstGeom prst="line">
                      <a:avLst/>
                    </a:prstGeom>
                    <a:ln w="25400" cap="flat" cmpd="sng">
                      <a:solidFill>
                        <a:srgbClr val="002060"/>
                      </a:solidFill>
                      <a:prstDash val="solid"/>
                      <a:headEnd type="none" w="med" len="med"/>
                      <a:tailEnd type="none" w="med" len="med"/>
                    </a:ln>
                  </p:spPr>
                </p:sp>
                <p:sp>
                  <p:nvSpPr>
                    <p:cNvPr id="23725" name="Line 21"/>
                    <p:cNvSpPr/>
                    <p:nvPr/>
                  </p:nvSpPr>
                  <p:spPr>
                    <a:xfrm>
                      <a:off x="1776" y="1728"/>
                      <a:ext cx="336" cy="0"/>
                    </a:xfrm>
                    <a:prstGeom prst="line">
                      <a:avLst/>
                    </a:prstGeom>
                    <a:ln w="25400" cap="flat" cmpd="sng">
                      <a:solidFill>
                        <a:srgbClr val="002060"/>
                      </a:solidFill>
                      <a:prstDash val="solid"/>
                      <a:headEnd type="none" w="med" len="med"/>
                      <a:tailEnd type="none" w="med" len="med"/>
                    </a:ln>
                  </p:spPr>
                </p:sp>
                <p:sp>
                  <p:nvSpPr>
                    <p:cNvPr id="23726" name="Line 22"/>
                    <p:cNvSpPr/>
                    <p:nvPr/>
                  </p:nvSpPr>
                  <p:spPr>
                    <a:xfrm flipV="1">
                      <a:off x="864" y="1008"/>
                      <a:ext cx="288" cy="288"/>
                    </a:xfrm>
                    <a:prstGeom prst="line">
                      <a:avLst/>
                    </a:prstGeom>
                    <a:ln w="12700" cap="flat" cmpd="sng">
                      <a:solidFill>
                        <a:srgbClr val="002060"/>
                      </a:solidFill>
                      <a:prstDash val="solid"/>
                      <a:headEnd type="none" w="med" len="med"/>
                      <a:tailEnd type="none" w="med" len="med"/>
                    </a:ln>
                  </p:spPr>
                </p:sp>
                <p:sp>
                  <p:nvSpPr>
                    <p:cNvPr id="23727" name="Line 23"/>
                    <p:cNvSpPr/>
                    <p:nvPr/>
                  </p:nvSpPr>
                  <p:spPr>
                    <a:xfrm flipV="1">
                      <a:off x="960" y="1008"/>
                      <a:ext cx="336" cy="336"/>
                    </a:xfrm>
                    <a:prstGeom prst="line">
                      <a:avLst/>
                    </a:prstGeom>
                    <a:ln w="12700" cap="flat" cmpd="sng">
                      <a:solidFill>
                        <a:srgbClr val="002060"/>
                      </a:solidFill>
                      <a:prstDash val="solid"/>
                      <a:headEnd type="none" w="med" len="med"/>
                      <a:tailEnd type="none" w="med" len="med"/>
                    </a:ln>
                  </p:spPr>
                </p:sp>
                <p:sp>
                  <p:nvSpPr>
                    <p:cNvPr id="23728" name="Line 24"/>
                    <p:cNvSpPr/>
                    <p:nvPr/>
                  </p:nvSpPr>
                  <p:spPr>
                    <a:xfrm flipV="1">
                      <a:off x="1104" y="1152"/>
                      <a:ext cx="192" cy="192"/>
                    </a:xfrm>
                    <a:prstGeom prst="line">
                      <a:avLst/>
                    </a:prstGeom>
                    <a:ln w="12700" cap="flat" cmpd="sng">
                      <a:solidFill>
                        <a:srgbClr val="002060"/>
                      </a:solidFill>
                      <a:prstDash val="solid"/>
                      <a:headEnd type="none" w="med" len="med"/>
                      <a:tailEnd type="none" w="med" len="med"/>
                    </a:ln>
                  </p:spPr>
                </p:sp>
                <p:sp>
                  <p:nvSpPr>
                    <p:cNvPr id="23729" name="Line 25"/>
                    <p:cNvSpPr/>
                    <p:nvPr/>
                  </p:nvSpPr>
                  <p:spPr>
                    <a:xfrm flipV="1">
                      <a:off x="1680" y="1008"/>
                      <a:ext cx="288" cy="288"/>
                    </a:xfrm>
                    <a:prstGeom prst="line">
                      <a:avLst/>
                    </a:prstGeom>
                    <a:ln w="12700" cap="flat" cmpd="sng">
                      <a:solidFill>
                        <a:srgbClr val="002060"/>
                      </a:solidFill>
                      <a:prstDash val="solid"/>
                      <a:headEnd type="none" w="med" len="med"/>
                      <a:tailEnd type="none" w="med" len="med"/>
                    </a:ln>
                  </p:spPr>
                </p:sp>
                <p:sp>
                  <p:nvSpPr>
                    <p:cNvPr id="23730" name="Line 26"/>
                    <p:cNvSpPr/>
                    <p:nvPr/>
                  </p:nvSpPr>
                  <p:spPr>
                    <a:xfrm flipV="1">
                      <a:off x="1776" y="1008"/>
                      <a:ext cx="336" cy="336"/>
                    </a:xfrm>
                    <a:prstGeom prst="line">
                      <a:avLst/>
                    </a:prstGeom>
                    <a:ln w="12700" cap="flat" cmpd="sng">
                      <a:solidFill>
                        <a:srgbClr val="002060"/>
                      </a:solidFill>
                      <a:prstDash val="solid"/>
                      <a:headEnd type="none" w="med" len="med"/>
                      <a:tailEnd type="none" w="med" len="med"/>
                    </a:ln>
                  </p:spPr>
                </p:sp>
                <p:sp>
                  <p:nvSpPr>
                    <p:cNvPr id="23731" name="Line 27"/>
                    <p:cNvSpPr/>
                    <p:nvPr/>
                  </p:nvSpPr>
                  <p:spPr>
                    <a:xfrm flipV="1">
                      <a:off x="1920" y="1152"/>
                      <a:ext cx="192" cy="192"/>
                    </a:xfrm>
                    <a:prstGeom prst="line">
                      <a:avLst/>
                    </a:prstGeom>
                    <a:ln w="12700" cap="flat" cmpd="sng">
                      <a:solidFill>
                        <a:srgbClr val="002060"/>
                      </a:solidFill>
                      <a:prstDash val="solid"/>
                      <a:headEnd type="none" w="med" len="med"/>
                      <a:tailEnd type="none" w="med" len="med"/>
                    </a:ln>
                  </p:spPr>
                </p:sp>
                <p:sp>
                  <p:nvSpPr>
                    <p:cNvPr id="23732" name="Line 28"/>
                    <p:cNvSpPr/>
                    <p:nvPr/>
                  </p:nvSpPr>
                  <p:spPr>
                    <a:xfrm flipV="1">
                      <a:off x="864" y="1008"/>
                      <a:ext cx="144" cy="144"/>
                    </a:xfrm>
                    <a:prstGeom prst="line">
                      <a:avLst/>
                    </a:prstGeom>
                    <a:ln w="12700" cap="flat" cmpd="sng">
                      <a:solidFill>
                        <a:srgbClr val="002060"/>
                      </a:solidFill>
                      <a:prstDash val="solid"/>
                      <a:headEnd type="none" w="med" len="med"/>
                      <a:tailEnd type="none" w="med" len="med"/>
                    </a:ln>
                  </p:spPr>
                </p:sp>
                <p:sp>
                  <p:nvSpPr>
                    <p:cNvPr id="23733" name="Line 29"/>
                    <p:cNvSpPr/>
                    <p:nvPr/>
                  </p:nvSpPr>
                  <p:spPr>
                    <a:xfrm flipV="1">
                      <a:off x="1680" y="1008"/>
                      <a:ext cx="144" cy="144"/>
                    </a:xfrm>
                    <a:prstGeom prst="line">
                      <a:avLst/>
                    </a:prstGeom>
                    <a:ln w="12700" cap="flat" cmpd="sng">
                      <a:solidFill>
                        <a:srgbClr val="002060"/>
                      </a:solidFill>
                      <a:prstDash val="solid"/>
                      <a:headEnd type="none" w="med" len="med"/>
                      <a:tailEnd type="none" w="med" len="med"/>
                    </a:ln>
                  </p:spPr>
                </p:sp>
                <p:sp>
                  <p:nvSpPr>
                    <p:cNvPr id="23734" name="Line 30"/>
                    <p:cNvSpPr/>
                    <p:nvPr/>
                  </p:nvSpPr>
                  <p:spPr>
                    <a:xfrm>
                      <a:off x="864" y="1440"/>
                      <a:ext cx="288" cy="288"/>
                    </a:xfrm>
                    <a:prstGeom prst="line">
                      <a:avLst/>
                    </a:prstGeom>
                    <a:ln w="12700" cap="flat" cmpd="sng">
                      <a:solidFill>
                        <a:srgbClr val="002060"/>
                      </a:solidFill>
                      <a:prstDash val="solid"/>
                      <a:headEnd type="none" w="med" len="med"/>
                      <a:tailEnd type="none" w="med" len="med"/>
                    </a:ln>
                  </p:spPr>
                </p:sp>
                <p:sp>
                  <p:nvSpPr>
                    <p:cNvPr id="23735" name="Line 31"/>
                    <p:cNvSpPr/>
                    <p:nvPr/>
                  </p:nvSpPr>
                  <p:spPr>
                    <a:xfrm>
                      <a:off x="912" y="1344"/>
                      <a:ext cx="384" cy="384"/>
                    </a:xfrm>
                    <a:prstGeom prst="line">
                      <a:avLst/>
                    </a:prstGeom>
                    <a:ln w="12700" cap="flat" cmpd="sng">
                      <a:solidFill>
                        <a:srgbClr val="002060"/>
                      </a:solidFill>
                      <a:prstDash val="solid"/>
                      <a:headEnd type="none" w="med" len="med"/>
                      <a:tailEnd type="none" w="med" len="med"/>
                    </a:ln>
                  </p:spPr>
                </p:sp>
                <p:sp>
                  <p:nvSpPr>
                    <p:cNvPr id="23736" name="Line 32"/>
                    <p:cNvSpPr/>
                    <p:nvPr/>
                  </p:nvSpPr>
                  <p:spPr>
                    <a:xfrm>
                      <a:off x="1056" y="1344"/>
                      <a:ext cx="240" cy="240"/>
                    </a:xfrm>
                    <a:prstGeom prst="line">
                      <a:avLst/>
                    </a:prstGeom>
                    <a:ln w="12700" cap="flat" cmpd="sng">
                      <a:solidFill>
                        <a:srgbClr val="002060"/>
                      </a:solidFill>
                      <a:prstDash val="solid"/>
                      <a:headEnd type="none" w="med" len="med"/>
                      <a:tailEnd type="none" w="med" len="med"/>
                    </a:ln>
                  </p:spPr>
                </p:sp>
                <p:sp>
                  <p:nvSpPr>
                    <p:cNvPr id="23737" name="Line 33"/>
                    <p:cNvSpPr/>
                    <p:nvPr/>
                  </p:nvSpPr>
                  <p:spPr>
                    <a:xfrm>
                      <a:off x="1680" y="1440"/>
                      <a:ext cx="288" cy="288"/>
                    </a:xfrm>
                    <a:prstGeom prst="line">
                      <a:avLst/>
                    </a:prstGeom>
                    <a:ln w="12700" cap="flat" cmpd="sng">
                      <a:solidFill>
                        <a:srgbClr val="002060"/>
                      </a:solidFill>
                      <a:prstDash val="solid"/>
                      <a:headEnd type="none" w="med" len="med"/>
                      <a:tailEnd type="none" w="med" len="med"/>
                    </a:ln>
                  </p:spPr>
                </p:sp>
                <p:sp>
                  <p:nvSpPr>
                    <p:cNvPr id="23738" name="Line 34"/>
                    <p:cNvSpPr/>
                    <p:nvPr/>
                  </p:nvSpPr>
                  <p:spPr>
                    <a:xfrm>
                      <a:off x="1728" y="1344"/>
                      <a:ext cx="384" cy="384"/>
                    </a:xfrm>
                    <a:prstGeom prst="line">
                      <a:avLst/>
                    </a:prstGeom>
                    <a:ln w="12700" cap="flat" cmpd="sng">
                      <a:solidFill>
                        <a:srgbClr val="002060"/>
                      </a:solidFill>
                      <a:prstDash val="solid"/>
                      <a:headEnd type="none" w="med" len="med"/>
                      <a:tailEnd type="none" w="med" len="med"/>
                    </a:ln>
                  </p:spPr>
                </p:sp>
                <p:sp>
                  <p:nvSpPr>
                    <p:cNvPr id="23739" name="Line 35"/>
                    <p:cNvSpPr/>
                    <p:nvPr/>
                  </p:nvSpPr>
                  <p:spPr>
                    <a:xfrm>
                      <a:off x="1872" y="1344"/>
                      <a:ext cx="240" cy="240"/>
                    </a:xfrm>
                    <a:prstGeom prst="line">
                      <a:avLst/>
                    </a:prstGeom>
                    <a:ln w="12700" cap="flat" cmpd="sng">
                      <a:solidFill>
                        <a:srgbClr val="002060"/>
                      </a:solidFill>
                      <a:prstDash val="solid"/>
                      <a:headEnd type="none" w="med" len="med"/>
                      <a:tailEnd type="none" w="med" len="med"/>
                    </a:ln>
                  </p:spPr>
                </p:sp>
                <p:sp>
                  <p:nvSpPr>
                    <p:cNvPr id="23740" name="Line 36"/>
                    <p:cNvSpPr/>
                    <p:nvPr/>
                  </p:nvSpPr>
                  <p:spPr>
                    <a:xfrm>
                      <a:off x="864" y="1584"/>
                      <a:ext cx="144" cy="144"/>
                    </a:xfrm>
                    <a:prstGeom prst="line">
                      <a:avLst/>
                    </a:prstGeom>
                    <a:ln w="12700" cap="flat" cmpd="sng">
                      <a:solidFill>
                        <a:srgbClr val="002060"/>
                      </a:solidFill>
                      <a:prstDash val="solid"/>
                      <a:headEnd type="none" w="med" len="med"/>
                      <a:tailEnd type="none" w="med" len="med"/>
                    </a:ln>
                  </p:spPr>
                </p:sp>
                <p:sp>
                  <p:nvSpPr>
                    <p:cNvPr id="23741" name="Line 37"/>
                    <p:cNvSpPr/>
                    <p:nvPr/>
                  </p:nvSpPr>
                  <p:spPr>
                    <a:xfrm>
                      <a:off x="1680" y="1584"/>
                      <a:ext cx="144" cy="144"/>
                    </a:xfrm>
                    <a:prstGeom prst="line">
                      <a:avLst/>
                    </a:prstGeom>
                    <a:ln w="12700" cap="flat" cmpd="sng">
                      <a:solidFill>
                        <a:srgbClr val="002060"/>
                      </a:solidFill>
                      <a:prstDash val="solid"/>
                      <a:headEnd type="none" w="med" len="med"/>
                      <a:tailEnd type="none" w="med" len="med"/>
                    </a:ln>
                  </p:spPr>
                </p:sp>
                <p:sp>
                  <p:nvSpPr>
                    <p:cNvPr id="23742" name="Line 38"/>
                    <p:cNvSpPr/>
                    <p:nvPr/>
                  </p:nvSpPr>
                  <p:spPr>
                    <a:xfrm>
                      <a:off x="1344" y="1536"/>
                      <a:ext cx="288" cy="0"/>
                    </a:xfrm>
                    <a:prstGeom prst="line">
                      <a:avLst/>
                    </a:prstGeom>
                    <a:ln w="28575" cap="flat" cmpd="sng">
                      <a:solidFill>
                        <a:srgbClr val="002060"/>
                      </a:solidFill>
                      <a:prstDash val="solid"/>
                      <a:headEnd type="none" w="med" len="med"/>
                      <a:tailEnd type="none" w="med" len="med"/>
                    </a:ln>
                  </p:spPr>
                </p:sp>
                <p:sp>
                  <p:nvSpPr>
                    <p:cNvPr id="23743" name="Line 39"/>
                    <p:cNvSpPr/>
                    <p:nvPr/>
                  </p:nvSpPr>
                  <p:spPr>
                    <a:xfrm>
                      <a:off x="1392" y="672"/>
                      <a:ext cx="0" cy="48"/>
                    </a:xfrm>
                    <a:prstGeom prst="line">
                      <a:avLst/>
                    </a:prstGeom>
                    <a:ln w="15875" cap="flat" cmpd="sng">
                      <a:solidFill>
                        <a:srgbClr val="002060"/>
                      </a:solidFill>
                      <a:prstDash val="solid"/>
                      <a:headEnd type="none" w="med" len="med"/>
                      <a:tailEnd type="none" w="med" len="med"/>
                    </a:ln>
                  </p:spPr>
                </p:sp>
                <p:sp>
                  <p:nvSpPr>
                    <p:cNvPr id="23744" name="Line 40"/>
                    <p:cNvSpPr/>
                    <p:nvPr/>
                  </p:nvSpPr>
                  <p:spPr>
                    <a:xfrm>
                      <a:off x="1584" y="672"/>
                      <a:ext cx="0" cy="48"/>
                    </a:xfrm>
                    <a:prstGeom prst="line">
                      <a:avLst/>
                    </a:prstGeom>
                    <a:ln w="15875" cap="flat" cmpd="sng">
                      <a:solidFill>
                        <a:srgbClr val="002060"/>
                      </a:solidFill>
                      <a:prstDash val="solid"/>
                      <a:headEnd type="none" w="med" len="med"/>
                      <a:tailEnd type="none" w="med" len="med"/>
                    </a:ln>
                  </p:spPr>
                </p:sp>
                <p:sp>
                  <p:nvSpPr>
                    <p:cNvPr id="23745" name="Line 41"/>
                    <p:cNvSpPr/>
                    <p:nvPr/>
                  </p:nvSpPr>
                  <p:spPr>
                    <a:xfrm>
                      <a:off x="1392" y="1008"/>
                      <a:ext cx="0" cy="528"/>
                    </a:xfrm>
                    <a:prstGeom prst="line">
                      <a:avLst/>
                    </a:prstGeom>
                    <a:ln w="15875" cap="flat" cmpd="sng">
                      <a:solidFill>
                        <a:srgbClr val="002060"/>
                      </a:solidFill>
                      <a:prstDash val="solid"/>
                      <a:headEnd type="none" w="med" len="med"/>
                      <a:tailEnd type="none" w="med" len="med"/>
                    </a:ln>
                  </p:spPr>
                </p:sp>
                <p:sp>
                  <p:nvSpPr>
                    <p:cNvPr id="23746" name="Line 42"/>
                    <p:cNvSpPr/>
                    <p:nvPr/>
                  </p:nvSpPr>
                  <p:spPr>
                    <a:xfrm>
                      <a:off x="1584" y="1008"/>
                      <a:ext cx="0" cy="528"/>
                    </a:xfrm>
                    <a:prstGeom prst="line">
                      <a:avLst/>
                    </a:prstGeom>
                    <a:ln w="15875" cap="flat" cmpd="sng">
                      <a:solidFill>
                        <a:srgbClr val="002060"/>
                      </a:solidFill>
                      <a:prstDash val="solid"/>
                      <a:headEnd type="none" w="med" len="med"/>
                      <a:tailEnd type="none" w="med" len="med"/>
                    </a:ln>
                  </p:spPr>
                </p:sp>
              </p:grpSp>
            </p:grpSp>
          </p:grpSp>
        </p:grpSp>
      </p:grpSp>
      <p:grpSp>
        <p:nvGrpSpPr>
          <p:cNvPr id="26" name="Group 43"/>
          <p:cNvGrpSpPr/>
          <p:nvPr/>
        </p:nvGrpSpPr>
        <p:grpSpPr>
          <a:xfrm>
            <a:off x="3603625" y="3595688"/>
            <a:ext cx="666750" cy="587375"/>
            <a:chOff x="4560" y="1064"/>
            <a:chExt cx="420" cy="370"/>
          </a:xfrm>
        </p:grpSpPr>
        <p:sp>
          <p:nvSpPr>
            <p:cNvPr id="23709" name="Line 44"/>
            <p:cNvSpPr/>
            <p:nvPr/>
          </p:nvSpPr>
          <p:spPr>
            <a:xfrm flipV="1">
              <a:off x="4560" y="1162"/>
              <a:ext cx="0" cy="272"/>
            </a:xfrm>
            <a:prstGeom prst="line">
              <a:avLst/>
            </a:prstGeom>
            <a:ln w="25400" cap="flat" cmpd="sng">
              <a:solidFill>
                <a:srgbClr val="0000FF"/>
              </a:solidFill>
              <a:prstDash val="solid"/>
              <a:headEnd type="none" w="med" len="med"/>
              <a:tailEnd type="triangle" w="med" len="med"/>
            </a:ln>
          </p:spPr>
        </p:sp>
        <p:sp>
          <p:nvSpPr>
            <p:cNvPr id="23710" name="Text Box 45"/>
            <p:cNvSpPr txBox="1"/>
            <p:nvPr/>
          </p:nvSpPr>
          <p:spPr>
            <a:xfrm>
              <a:off x="4608" y="1064"/>
              <a:ext cx="372"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i="1" baseline="-25000" dirty="0">
                  <a:solidFill>
                    <a:srgbClr val="0000FF"/>
                  </a:solidFill>
                  <a:latin typeface="Times New Roman" panose="02020603050405020304" pitchFamily="18" charset="0"/>
                  <a:ea typeface="方正大黑简体"/>
                </a:rPr>
                <a:t>0</a:t>
              </a:r>
              <a:endParaRPr lang="en-US" altLang="zh-CN" b="1" i="1" baseline="-25000" dirty="0">
                <a:solidFill>
                  <a:srgbClr val="0000FF"/>
                </a:solidFill>
                <a:latin typeface="Times New Roman" panose="02020603050405020304" pitchFamily="18" charset="0"/>
                <a:ea typeface="方正大黑简体"/>
              </a:endParaRPr>
            </a:p>
          </p:txBody>
        </p:sp>
      </p:grpSp>
      <p:grpSp>
        <p:nvGrpSpPr>
          <p:cNvPr id="27" name="Group 46"/>
          <p:cNvGrpSpPr/>
          <p:nvPr/>
        </p:nvGrpSpPr>
        <p:grpSpPr>
          <a:xfrm>
            <a:off x="3603625" y="6275388"/>
            <a:ext cx="666750" cy="511175"/>
            <a:chOff x="4560" y="2635"/>
            <a:chExt cx="420" cy="322"/>
          </a:xfrm>
        </p:grpSpPr>
        <p:sp>
          <p:nvSpPr>
            <p:cNvPr id="23707" name="Line 47"/>
            <p:cNvSpPr/>
            <p:nvPr/>
          </p:nvSpPr>
          <p:spPr>
            <a:xfrm>
              <a:off x="4560" y="2635"/>
              <a:ext cx="0" cy="295"/>
            </a:xfrm>
            <a:prstGeom prst="line">
              <a:avLst/>
            </a:prstGeom>
            <a:ln w="25400" cap="flat" cmpd="sng">
              <a:solidFill>
                <a:srgbClr val="0000FF"/>
              </a:solidFill>
              <a:prstDash val="solid"/>
              <a:headEnd type="none" w="med" len="med"/>
              <a:tailEnd type="triangle" w="med" len="med"/>
            </a:ln>
          </p:spPr>
        </p:sp>
        <p:sp>
          <p:nvSpPr>
            <p:cNvPr id="23708" name="Text Box 48"/>
            <p:cNvSpPr txBox="1"/>
            <p:nvPr/>
          </p:nvSpPr>
          <p:spPr>
            <a:xfrm>
              <a:off x="4608" y="2686"/>
              <a:ext cx="372"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i="1" baseline="-25000" dirty="0">
                  <a:solidFill>
                    <a:srgbClr val="0000FF"/>
                  </a:solidFill>
                  <a:latin typeface="Times New Roman" panose="02020603050405020304" pitchFamily="18" charset="0"/>
                  <a:ea typeface="方正大黑简体"/>
                </a:rPr>
                <a:t>0</a:t>
              </a:r>
              <a:endParaRPr lang="en-US" altLang="zh-CN" b="1" i="1" baseline="-25000" dirty="0">
                <a:solidFill>
                  <a:srgbClr val="0000FF"/>
                </a:solidFill>
                <a:latin typeface="Times New Roman" panose="02020603050405020304" pitchFamily="18" charset="0"/>
                <a:ea typeface="方正大黑简体"/>
              </a:endParaRPr>
            </a:p>
          </p:txBody>
        </p:sp>
      </p:grpSp>
      <p:grpSp>
        <p:nvGrpSpPr>
          <p:cNvPr id="28" name="Group 49"/>
          <p:cNvGrpSpPr/>
          <p:nvPr/>
        </p:nvGrpSpPr>
        <p:grpSpPr>
          <a:xfrm>
            <a:off x="2606040" y="5521325"/>
            <a:ext cx="838200" cy="1039813"/>
            <a:chOff x="3936" y="2160"/>
            <a:chExt cx="528" cy="655"/>
          </a:xfrm>
        </p:grpSpPr>
        <p:sp>
          <p:nvSpPr>
            <p:cNvPr id="23705" name="Line 50"/>
            <p:cNvSpPr/>
            <p:nvPr/>
          </p:nvSpPr>
          <p:spPr>
            <a:xfrm flipV="1">
              <a:off x="4176" y="2160"/>
              <a:ext cx="0" cy="384"/>
            </a:xfrm>
            <a:prstGeom prst="line">
              <a:avLst/>
            </a:prstGeom>
            <a:ln w="25400" cap="flat" cmpd="sng">
              <a:solidFill>
                <a:srgbClr val="0000FF"/>
              </a:solidFill>
              <a:prstDash val="solid"/>
              <a:headEnd type="none" w="med" len="med"/>
              <a:tailEnd type="triangle" w="med" len="med"/>
            </a:ln>
          </p:spPr>
        </p:sp>
        <p:sp>
          <p:nvSpPr>
            <p:cNvPr id="23706" name="Text Box 51"/>
            <p:cNvSpPr txBox="1"/>
            <p:nvPr/>
          </p:nvSpPr>
          <p:spPr>
            <a:xfrm>
              <a:off x="3936" y="2544"/>
              <a:ext cx="528"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baseline="-25000" dirty="0">
                  <a:solidFill>
                    <a:srgbClr val="0000FF"/>
                  </a:solidFill>
                  <a:latin typeface="Times New Roman" panose="02020603050405020304" pitchFamily="18" charset="0"/>
                  <a:ea typeface="方正大黑简体"/>
                </a:rPr>
                <a:t>0</a:t>
              </a:r>
              <a:endParaRPr lang="en-US" altLang="zh-CN" b="1" baseline="-25000" dirty="0">
                <a:solidFill>
                  <a:srgbClr val="0000FF"/>
                </a:solidFill>
                <a:latin typeface="Times New Roman" panose="02020603050405020304" pitchFamily="18" charset="0"/>
                <a:ea typeface="方正大黑简体"/>
              </a:endParaRPr>
            </a:p>
          </p:txBody>
        </p:sp>
      </p:grpSp>
      <p:grpSp>
        <p:nvGrpSpPr>
          <p:cNvPr id="29" name="Group 52"/>
          <p:cNvGrpSpPr/>
          <p:nvPr/>
        </p:nvGrpSpPr>
        <p:grpSpPr>
          <a:xfrm>
            <a:off x="2613025" y="4530725"/>
            <a:ext cx="838200" cy="990600"/>
            <a:chOff x="3936" y="1536"/>
            <a:chExt cx="528" cy="624"/>
          </a:xfrm>
        </p:grpSpPr>
        <p:sp>
          <p:nvSpPr>
            <p:cNvPr id="23703" name="Line 53"/>
            <p:cNvSpPr/>
            <p:nvPr/>
          </p:nvSpPr>
          <p:spPr>
            <a:xfrm>
              <a:off x="4176" y="1776"/>
              <a:ext cx="0" cy="384"/>
            </a:xfrm>
            <a:prstGeom prst="line">
              <a:avLst/>
            </a:prstGeom>
            <a:ln w="25400" cap="flat" cmpd="sng">
              <a:solidFill>
                <a:srgbClr val="0000FF"/>
              </a:solidFill>
              <a:prstDash val="solid"/>
              <a:headEnd type="none" w="med" len="med"/>
              <a:tailEnd type="triangle" w="med" len="med"/>
            </a:ln>
          </p:spPr>
        </p:sp>
        <p:sp>
          <p:nvSpPr>
            <p:cNvPr id="23704" name="Text Box 54"/>
            <p:cNvSpPr txBox="1"/>
            <p:nvPr/>
          </p:nvSpPr>
          <p:spPr>
            <a:xfrm>
              <a:off x="3936" y="1536"/>
              <a:ext cx="528"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baseline="-25000" dirty="0">
                  <a:solidFill>
                    <a:srgbClr val="0000FF"/>
                  </a:solidFill>
                  <a:latin typeface="Times New Roman" panose="02020603050405020304" pitchFamily="18" charset="0"/>
                  <a:ea typeface="方正大黑简体"/>
                </a:rPr>
                <a:t>0</a:t>
              </a:r>
              <a:endParaRPr lang="en-US" altLang="zh-CN" b="1" baseline="-25000" dirty="0">
                <a:solidFill>
                  <a:srgbClr val="0000FF"/>
                </a:solidFill>
                <a:latin typeface="Times New Roman" panose="02020603050405020304" pitchFamily="18" charset="0"/>
                <a:ea typeface="方正大黑简体"/>
              </a:endParaRPr>
            </a:p>
          </p:txBody>
        </p:sp>
      </p:grpSp>
      <p:grpSp>
        <p:nvGrpSpPr>
          <p:cNvPr id="30" name="Group 55"/>
          <p:cNvGrpSpPr/>
          <p:nvPr/>
        </p:nvGrpSpPr>
        <p:grpSpPr>
          <a:xfrm>
            <a:off x="2613025" y="3997325"/>
            <a:ext cx="1981200" cy="2438400"/>
            <a:chOff x="2352" y="480"/>
            <a:chExt cx="1248" cy="1536"/>
          </a:xfrm>
        </p:grpSpPr>
        <p:sp>
          <p:nvSpPr>
            <p:cNvPr id="23668" name="Line 56"/>
            <p:cNvSpPr/>
            <p:nvPr/>
          </p:nvSpPr>
          <p:spPr>
            <a:xfrm>
              <a:off x="2832" y="1536"/>
              <a:ext cx="288" cy="0"/>
            </a:xfrm>
            <a:prstGeom prst="line">
              <a:avLst/>
            </a:prstGeom>
            <a:ln w="28575" cap="flat" cmpd="sng">
              <a:solidFill>
                <a:srgbClr val="002060"/>
              </a:solidFill>
              <a:prstDash val="solid"/>
              <a:headEnd type="none" w="med" len="med"/>
              <a:tailEnd type="none" w="med" len="med"/>
            </a:ln>
          </p:spPr>
        </p:sp>
        <p:grpSp>
          <p:nvGrpSpPr>
            <p:cNvPr id="23669" name="Group 57"/>
            <p:cNvGrpSpPr/>
            <p:nvPr/>
          </p:nvGrpSpPr>
          <p:grpSpPr>
            <a:xfrm>
              <a:off x="2352" y="480"/>
              <a:ext cx="1248" cy="1536"/>
              <a:chOff x="2352" y="480"/>
              <a:chExt cx="1248" cy="1536"/>
            </a:xfrm>
          </p:grpSpPr>
          <p:sp>
            <p:nvSpPr>
              <p:cNvPr id="23670" name="Line 58"/>
              <p:cNvSpPr/>
              <p:nvPr/>
            </p:nvSpPr>
            <p:spPr>
              <a:xfrm>
                <a:off x="2784" y="1152"/>
                <a:ext cx="0" cy="576"/>
              </a:xfrm>
              <a:prstGeom prst="line">
                <a:avLst/>
              </a:prstGeom>
              <a:ln w="25400" cap="flat" cmpd="sng">
                <a:solidFill>
                  <a:srgbClr val="002060"/>
                </a:solidFill>
                <a:prstDash val="solid"/>
                <a:headEnd type="none" w="med" len="med"/>
                <a:tailEnd type="none" w="med" len="med"/>
              </a:ln>
            </p:spPr>
          </p:sp>
          <p:sp>
            <p:nvSpPr>
              <p:cNvPr id="23671" name="Line 59"/>
              <p:cNvSpPr/>
              <p:nvPr/>
            </p:nvSpPr>
            <p:spPr>
              <a:xfrm>
                <a:off x="3168" y="1152"/>
                <a:ext cx="0" cy="576"/>
              </a:xfrm>
              <a:prstGeom prst="line">
                <a:avLst/>
              </a:prstGeom>
              <a:ln w="25400" cap="flat" cmpd="sng">
                <a:solidFill>
                  <a:srgbClr val="002060"/>
                </a:solidFill>
                <a:prstDash val="solid"/>
                <a:headEnd type="none" w="med" len="med"/>
                <a:tailEnd type="none" w="med" len="med"/>
              </a:ln>
            </p:spPr>
          </p:sp>
          <p:sp>
            <p:nvSpPr>
              <p:cNvPr id="23672" name="Rectangle 60"/>
              <p:cNvSpPr/>
              <p:nvPr/>
            </p:nvSpPr>
            <p:spPr>
              <a:xfrm>
                <a:off x="2688" y="864"/>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673" name="Rectangle 61"/>
              <p:cNvSpPr/>
              <p:nvPr/>
            </p:nvSpPr>
            <p:spPr>
              <a:xfrm>
                <a:off x="2688" y="1728"/>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674" name="Rectangle 62"/>
              <p:cNvSpPr/>
              <p:nvPr/>
            </p:nvSpPr>
            <p:spPr>
              <a:xfrm>
                <a:off x="2832" y="480"/>
                <a:ext cx="288" cy="1536"/>
              </a:xfrm>
              <a:prstGeom prst="rect">
                <a:avLst/>
              </a:prstGeom>
              <a:noFill/>
              <a:ln w="25400" cap="flat" cmpd="sng">
                <a:solidFill>
                  <a:srgbClr val="002060"/>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sp>
            <p:nvSpPr>
              <p:cNvPr id="23675" name="Line 63"/>
              <p:cNvSpPr/>
              <p:nvPr/>
            </p:nvSpPr>
            <p:spPr>
              <a:xfrm>
                <a:off x="2352" y="1152"/>
                <a:ext cx="336" cy="0"/>
              </a:xfrm>
              <a:prstGeom prst="line">
                <a:avLst/>
              </a:prstGeom>
              <a:ln w="25400" cap="flat" cmpd="sng">
                <a:solidFill>
                  <a:srgbClr val="002060"/>
                </a:solidFill>
                <a:prstDash val="solid"/>
                <a:headEnd type="none" w="med" len="med"/>
                <a:tailEnd type="none" w="med" len="med"/>
              </a:ln>
            </p:spPr>
          </p:sp>
          <p:sp>
            <p:nvSpPr>
              <p:cNvPr id="23676" name="Line 64"/>
              <p:cNvSpPr/>
              <p:nvPr/>
            </p:nvSpPr>
            <p:spPr>
              <a:xfrm>
                <a:off x="3264" y="1152"/>
                <a:ext cx="336" cy="0"/>
              </a:xfrm>
              <a:prstGeom prst="line">
                <a:avLst/>
              </a:prstGeom>
              <a:ln w="25400" cap="flat" cmpd="sng">
                <a:solidFill>
                  <a:srgbClr val="002060"/>
                </a:solidFill>
                <a:prstDash val="solid"/>
                <a:headEnd type="none" w="med" len="med"/>
                <a:tailEnd type="none" w="med" len="med"/>
              </a:ln>
            </p:spPr>
          </p:sp>
          <p:sp>
            <p:nvSpPr>
              <p:cNvPr id="23677" name="Line 65"/>
              <p:cNvSpPr/>
              <p:nvPr/>
            </p:nvSpPr>
            <p:spPr>
              <a:xfrm>
                <a:off x="2352" y="1728"/>
                <a:ext cx="336" cy="0"/>
              </a:xfrm>
              <a:prstGeom prst="line">
                <a:avLst/>
              </a:prstGeom>
              <a:ln w="25400" cap="flat" cmpd="sng">
                <a:solidFill>
                  <a:srgbClr val="002060"/>
                </a:solidFill>
                <a:prstDash val="solid"/>
                <a:headEnd type="none" w="med" len="med"/>
                <a:tailEnd type="none" w="med" len="med"/>
              </a:ln>
            </p:spPr>
          </p:sp>
          <p:sp>
            <p:nvSpPr>
              <p:cNvPr id="23678" name="Line 66"/>
              <p:cNvSpPr/>
              <p:nvPr/>
            </p:nvSpPr>
            <p:spPr>
              <a:xfrm>
                <a:off x="3264" y="1728"/>
                <a:ext cx="336" cy="0"/>
              </a:xfrm>
              <a:prstGeom prst="line">
                <a:avLst/>
              </a:prstGeom>
              <a:ln w="25400" cap="flat" cmpd="sng">
                <a:solidFill>
                  <a:srgbClr val="002060"/>
                </a:solidFill>
                <a:prstDash val="solid"/>
                <a:headEnd type="none" w="med" len="med"/>
                <a:tailEnd type="none" w="med" len="med"/>
              </a:ln>
            </p:spPr>
          </p:sp>
          <p:sp>
            <p:nvSpPr>
              <p:cNvPr id="23679" name="Line 67"/>
              <p:cNvSpPr/>
              <p:nvPr/>
            </p:nvSpPr>
            <p:spPr>
              <a:xfrm>
                <a:off x="2352" y="1440"/>
                <a:ext cx="472" cy="0"/>
              </a:xfrm>
              <a:prstGeom prst="line">
                <a:avLst/>
              </a:prstGeom>
              <a:ln w="25400" cap="flat" cmpd="sng">
                <a:solidFill>
                  <a:srgbClr val="002060"/>
                </a:solidFill>
                <a:prstDash val="solid"/>
                <a:headEnd type="none" w="med" len="med"/>
                <a:tailEnd type="none" w="med" len="med"/>
              </a:ln>
            </p:spPr>
          </p:sp>
          <p:sp>
            <p:nvSpPr>
              <p:cNvPr id="23680" name="Line 68"/>
              <p:cNvSpPr/>
              <p:nvPr/>
            </p:nvSpPr>
            <p:spPr>
              <a:xfrm>
                <a:off x="3124" y="1440"/>
                <a:ext cx="476" cy="0"/>
              </a:xfrm>
              <a:prstGeom prst="line">
                <a:avLst/>
              </a:prstGeom>
              <a:ln w="25400" cap="flat" cmpd="sng">
                <a:solidFill>
                  <a:srgbClr val="002060"/>
                </a:solidFill>
                <a:prstDash val="solid"/>
                <a:headEnd type="none" w="med" len="med"/>
                <a:tailEnd type="none" w="med" len="med"/>
              </a:ln>
            </p:spPr>
          </p:sp>
          <p:grpSp>
            <p:nvGrpSpPr>
              <p:cNvPr id="23681" name="Group 69"/>
              <p:cNvGrpSpPr/>
              <p:nvPr/>
            </p:nvGrpSpPr>
            <p:grpSpPr>
              <a:xfrm>
                <a:off x="2352" y="1152"/>
                <a:ext cx="1248" cy="576"/>
                <a:chOff x="2352" y="1152"/>
                <a:chExt cx="1248" cy="576"/>
              </a:xfrm>
            </p:grpSpPr>
            <p:sp>
              <p:nvSpPr>
                <p:cNvPr id="23686" name="Line 70"/>
                <p:cNvSpPr/>
                <p:nvPr/>
              </p:nvSpPr>
              <p:spPr>
                <a:xfrm flipV="1">
                  <a:off x="2352" y="1152"/>
                  <a:ext cx="288" cy="288"/>
                </a:xfrm>
                <a:prstGeom prst="line">
                  <a:avLst/>
                </a:prstGeom>
                <a:ln w="12700" cap="flat" cmpd="sng">
                  <a:solidFill>
                    <a:srgbClr val="002060"/>
                  </a:solidFill>
                  <a:prstDash val="solid"/>
                  <a:headEnd type="none" w="med" len="med"/>
                  <a:tailEnd type="none" w="med" len="med"/>
                </a:ln>
              </p:spPr>
            </p:sp>
            <p:sp>
              <p:nvSpPr>
                <p:cNvPr id="23687" name="Line 71"/>
                <p:cNvSpPr/>
                <p:nvPr/>
              </p:nvSpPr>
              <p:spPr>
                <a:xfrm flipV="1">
                  <a:off x="2496" y="1152"/>
                  <a:ext cx="288" cy="288"/>
                </a:xfrm>
                <a:prstGeom prst="line">
                  <a:avLst/>
                </a:prstGeom>
                <a:ln w="12700" cap="flat" cmpd="sng">
                  <a:solidFill>
                    <a:srgbClr val="002060"/>
                  </a:solidFill>
                  <a:prstDash val="solid"/>
                  <a:headEnd type="none" w="med" len="med"/>
                  <a:tailEnd type="none" w="med" len="med"/>
                </a:ln>
              </p:spPr>
            </p:sp>
            <p:sp>
              <p:nvSpPr>
                <p:cNvPr id="23688" name="Line 72"/>
                <p:cNvSpPr/>
                <p:nvPr/>
              </p:nvSpPr>
              <p:spPr>
                <a:xfrm flipV="1">
                  <a:off x="2640" y="1296"/>
                  <a:ext cx="144" cy="144"/>
                </a:xfrm>
                <a:prstGeom prst="line">
                  <a:avLst/>
                </a:prstGeom>
                <a:ln w="12700" cap="flat" cmpd="sng">
                  <a:solidFill>
                    <a:srgbClr val="002060"/>
                  </a:solidFill>
                  <a:prstDash val="solid"/>
                  <a:headEnd type="none" w="med" len="med"/>
                  <a:tailEnd type="none" w="med" len="med"/>
                </a:ln>
              </p:spPr>
            </p:sp>
            <p:sp>
              <p:nvSpPr>
                <p:cNvPr id="23689" name="Line 73"/>
                <p:cNvSpPr/>
                <p:nvPr/>
              </p:nvSpPr>
              <p:spPr>
                <a:xfrm flipV="1">
                  <a:off x="3168" y="1152"/>
                  <a:ext cx="288" cy="288"/>
                </a:xfrm>
                <a:prstGeom prst="line">
                  <a:avLst/>
                </a:prstGeom>
                <a:ln w="12700" cap="flat" cmpd="sng">
                  <a:solidFill>
                    <a:srgbClr val="002060"/>
                  </a:solidFill>
                  <a:prstDash val="solid"/>
                  <a:headEnd type="none" w="med" len="med"/>
                  <a:tailEnd type="none" w="med" len="med"/>
                </a:ln>
              </p:spPr>
            </p:sp>
            <p:sp>
              <p:nvSpPr>
                <p:cNvPr id="23690" name="Line 74"/>
                <p:cNvSpPr/>
                <p:nvPr/>
              </p:nvSpPr>
              <p:spPr>
                <a:xfrm flipV="1">
                  <a:off x="3312" y="1152"/>
                  <a:ext cx="288" cy="288"/>
                </a:xfrm>
                <a:prstGeom prst="line">
                  <a:avLst/>
                </a:prstGeom>
                <a:ln w="12700" cap="flat" cmpd="sng">
                  <a:solidFill>
                    <a:srgbClr val="002060"/>
                  </a:solidFill>
                  <a:prstDash val="solid"/>
                  <a:headEnd type="none" w="med" len="med"/>
                  <a:tailEnd type="none" w="med" len="med"/>
                </a:ln>
              </p:spPr>
            </p:sp>
            <p:sp>
              <p:nvSpPr>
                <p:cNvPr id="23691" name="Line 75"/>
                <p:cNvSpPr/>
                <p:nvPr/>
              </p:nvSpPr>
              <p:spPr>
                <a:xfrm flipV="1">
                  <a:off x="3456" y="1296"/>
                  <a:ext cx="144" cy="144"/>
                </a:xfrm>
                <a:prstGeom prst="line">
                  <a:avLst/>
                </a:prstGeom>
                <a:ln w="12700" cap="flat" cmpd="sng">
                  <a:solidFill>
                    <a:srgbClr val="002060"/>
                  </a:solidFill>
                  <a:prstDash val="solid"/>
                  <a:headEnd type="none" w="med" len="med"/>
                  <a:tailEnd type="none" w="med" len="med"/>
                </a:ln>
              </p:spPr>
            </p:sp>
            <p:sp>
              <p:nvSpPr>
                <p:cNvPr id="23692" name="Line 76"/>
                <p:cNvSpPr/>
                <p:nvPr/>
              </p:nvSpPr>
              <p:spPr>
                <a:xfrm flipV="1">
                  <a:off x="2352" y="1152"/>
                  <a:ext cx="144" cy="144"/>
                </a:xfrm>
                <a:prstGeom prst="line">
                  <a:avLst/>
                </a:prstGeom>
                <a:ln w="12700" cap="flat" cmpd="sng">
                  <a:solidFill>
                    <a:srgbClr val="002060"/>
                  </a:solidFill>
                  <a:prstDash val="solid"/>
                  <a:headEnd type="none" w="med" len="med"/>
                  <a:tailEnd type="none" w="med" len="med"/>
                </a:ln>
              </p:spPr>
            </p:sp>
            <p:sp>
              <p:nvSpPr>
                <p:cNvPr id="23693" name="Line 77"/>
                <p:cNvSpPr/>
                <p:nvPr/>
              </p:nvSpPr>
              <p:spPr>
                <a:xfrm flipV="1">
                  <a:off x="3168" y="1152"/>
                  <a:ext cx="144" cy="144"/>
                </a:xfrm>
                <a:prstGeom prst="line">
                  <a:avLst/>
                </a:prstGeom>
                <a:ln w="12700" cap="flat" cmpd="sng">
                  <a:solidFill>
                    <a:srgbClr val="002060"/>
                  </a:solidFill>
                  <a:prstDash val="solid"/>
                  <a:headEnd type="none" w="med" len="med"/>
                  <a:tailEnd type="none" w="med" len="med"/>
                </a:ln>
              </p:spPr>
            </p:sp>
            <p:grpSp>
              <p:nvGrpSpPr>
                <p:cNvPr id="23694" name="Group 78"/>
                <p:cNvGrpSpPr/>
                <p:nvPr/>
              </p:nvGrpSpPr>
              <p:grpSpPr>
                <a:xfrm flipV="1">
                  <a:off x="2352" y="1440"/>
                  <a:ext cx="1248" cy="288"/>
                  <a:chOff x="4032" y="1824"/>
                  <a:chExt cx="1248" cy="288"/>
                </a:xfrm>
              </p:grpSpPr>
              <p:sp>
                <p:nvSpPr>
                  <p:cNvPr id="23695" name="Line 79"/>
                  <p:cNvSpPr/>
                  <p:nvPr/>
                </p:nvSpPr>
                <p:spPr>
                  <a:xfrm flipV="1">
                    <a:off x="4032" y="1824"/>
                    <a:ext cx="288" cy="288"/>
                  </a:xfrm>
                  <a:prstGeom prst="line">
                    <a:avLst/>
                  </a:prstGeom>
                  <a:ln w="12700" cap="flat" cmpd="sng">
                    <a:solidFill>
                      <a:srgbClr val="002060"/>
                    </a:solidFill>
                    <a:prstDash val="solid"/>
                    <a:headEnd type="none" w="med" len="med"/>
                    <a:tailEnd type="none" w="med" len="med"/>
                  </a:ln>
                </p:spPr>
              </p:sp>
              <p:sp>
                <p:nvSpPr>
                  <p:cNvPr id="23696" name="Line 80"/>
                  <p:cNvSpPr/>
                  <p:nvPr/>
                </p:nvSpPr>
                <p:spPr>
                  <a:xfrm flipV="1">
                    <a:off x="4176" y="1824"/>
                    <a:ext cx="288" cy="288"/>
                  </a:xfrm>
                  <a:prstGeom prst="line">
                    <a:avLst/>
                  </a:prstGeom>
                  <a:ln w="12700" cap="flat" cmpd="sng">
                    <a:solidFill>
                      <a:srgbClr val="002060"/>
                    </a:solidFill>
                    <a:prstDash val="solid"/>
                    <a:headEnd type="none" w="med" len="med"/>
                    <a:tailEnd type="none" w="med" len="med"/>
                  </a:ln>
                </p:spPr>
              </p:sp>
              <p:sp>
                <p:nvSpPr>
                  <p:cNvPr id="23697" name="Line 81"/>
                  <p:cNvSpPr/>
                  <p:nvPr/>
                </p:nvSpPr>
                <p:spPr>
                  <a:xfrm flipV="1">
                    <a:off x="4320" y="1968"/>
                    <a:ext cx="144" cy="144"/>
                  </a:xfrm>
                  <a:prstGeom prst="line">
                    <a:avLst/>
                  </a:prstGeom>
                  <a:ln w="12700" cap="flat" cmpd="sng">
                    <a:solidFill>
                      <a:srgbClr val="002060"/>
                    </a:solidFill>
                    <a:prstDash val="solid"/>
                    <a:headEnd type="none" w="med" len="med"/>
                    <a:tailEnd type="none" w="med" len="med"/>
                  </a:ln>
                </p:spPr>
              </p:sp>
              <p:sp>
                <p:nvSpPr>
                  <p:cNvPr id="23698" name="Line 82"/>
                  <p:cNvSpPr/>
                  <p:nvPr/>
                </p:nvSpPr>
                <p:spPr>
                  <a:xfrm flipV="1">
                    <a:off x="4848" y="1824"/>
                    <a:ext cx="288" cy="288"/>
                  </a:xfrm>
                  <a:prstGeom prst="line">
                    <a:avLst/>
                  </a:prstGeom>
                  <a:ln w="12700" cap="flat" cmpd="sng">
                    <a:solidFill>
                      <a:srgbClr val="002060"/>
                    </a:solidFill>
                    <a:prstDash val="solid"/>
                    <a:headEnd type="none" w="med" len="med"/>
                    <a:tailEnd type="none" w="med" len="med"/>
                  </a:ln>
                </p:spPr>
              </p:sp>
              <p:sp>
                <p:nvSpPr>
                  <p:cNvPr id="23699" name="Line 83"/>
                  <p:cNvSpPr/>
                  <p:nvPr/>
                </p:nvSpPr>
                <p:spPr>
                  <a:xfrm flipV="1">
                    <a:off x="4992" y="1824"/>
                    <a:ext cx="288" cy="288"/>
                  </a:xfrm>
                  <a:prstGeom prst="line">
                    <a:avLst/>
                  </a:prstGeom>
                  <a:ln w="12700" cap="flat" cmpd="sng">
                    <a:solidFill>
                      <a:srgbClr val="002060"/>
                    </a:solidFill>
                    <a:prstDash val="solid"/>
                    <a:headEnd type="none" w="med" len="med"/>
                    <a:tailEnd type="none" w="med" len="med"/>
                  </a:ln>
                </p:spPr>
              </p:sp>
              <p:sp>
                <p:nvSpPr>
                  <p:cNvPr id="23700" name="Line 84"/>
                  <p:cNvSpPr/>
                  <p:nvPr/>
                </p:nvSpPr>
                <p:spPr>
                  <a:xfrm flipV="1">
                    <a:off x="5136" y="1968"/>
                    <a:ext cx="144" cy="144"/>
                  </a:xfrm>
                  <a:prstGeom prst="line">
                    <a:avLst/>
                  </a:prstGeom>
                  <a:ln w="12700" cap="flat" cmpd="sng">
                    <a:solidFill>
                      <a:srgbClr val="002060"/>
                    </a:solidFill>
                    <a:prstDash val="solid"/>
                    <a:headEnd type="none" w="med" len="med"/>
                    <a:tailEnd type="none" w="med" len="med"/>
                  </a:ln>
                </p:spPr>
              </p:sp>
              <p:sp>
                <p:nvSpPr>
                  <p:cNvPr id="23701" name="Line 85"/>
                  <p:cNvSpPr/>
                  <p:nvPr/>
                </p:nvSpPr>
                <p:spPr>
                  <a:xfrm flipV="1">
                    <a:off x="4032" y="1824"/>
                    <a:ext cx="144" cy="144"/>
                  </a:xfrm>
                  <a:prstGeom prst="line">
                    <a:avLst/>
                  </a:prstGeom>
                  <a:ln w="12700" cap="flat" cmpd="sng">
                    <a:solidFill>
                      <a:srgbClr val="002060"/>
                    </a:solidFill>
                    <a:prstDash val="solid"/>
                    <a:headEnd type="none" w="med" len="med"/>
                    <a:tailEnd type="none" w="med" len="med"/>
                  </a:ln>
                </p:spPr>
              </p:sp>
              <p:sp>
                <p:nvSpPr>
                  <p:cNvPr id="23702" name="Line 86"/>
                  <p:cNvSpPr/>
                  <p:nvPr/>
                </p:nvSpPr>
                <p:spPr>
                  <a:xfrm flipV="1">
                    <a:off x="4848" y="1824"/>
                    <a:ext cx="144" cy="144"/>
                  </a:xfrm>
                  <a:prstGeom prst="line">
                    <a:avLst/>
                  </a:prstGeom>
                  <a:ln w="12700" cap="flat" cmpd="sng">
                    <a:solidFill>
                      <a:srgbClr val="002060"/>
                    </a:solidFill>
                    <a:prstDash val="solid"/>
                    <a:headEnd type="none" w="med" len="med"/>
                    <a:tailEnd type="none" w="med" len="med"/>
                  </a:ln>
                </p:spPr>
              </p:sp>
            </p:grpSp>
          </p:grpSp>
          <p:sp>
            <p:nvSpPr>
              <p:cNvPr id="23682" name="Line 87"/>
              <p:cNvSpPr/>
              <p:nvPr/>
            </p:nvSpPr>
            <p:spPr>
              <a:xfrm>
                <a:off x="2880" y="480"/>
                <a:ext cx="0" cy="384"/>
              </a:xfrm>
              <a:prstGeom prst="line">
                <a:avLst/>
              </a:prstGeom>
              <a:ln w="15875" cap="flat" cmpd="sng">
                <a:solidFill>
                  <a:srgbClr val="002060"/>
                </a:solidFill>
                <a:prstDash val="solid"/>
                <a:headEnd type="none" w="med" len="med"/>
                <a:tailEnd type="none" w="med" len="med"/>
              </a:ln>
            </p:spPr>
          </p:sp>
          <p:sp>
            <p:nvSpPr>
              <p:cNvPr id="23683" name="Line 88"/>
              <p:cNvSpPr/>
              <p:nvPr/>
            </p:nvSpPr>
            <p:spPr>
              <a:xfrm>
                <a:off x="3072" y="480"/>
                <a:ext cx="0" cy="384"/>
              </a:xfrm>
              <a:prstGeom prst="line">
                <a:avLst/>
              </a:prstGeom>
              <a:ln w="15875" cap="flat" cmpd="sng">
                <a:solidFill>
                  <a:srgbClr val="002060"/>
                </a:solidFill>
                <a:prstDash val="solid"/>
                <a:headEnd type="none" w="med" len="med"/>
                <a:tailEnd type="none" w="med" len="med"/>
              </a:ln>
            </p:spPr>
          </p:sp>
          <p:sp>
            <p:nvSpPr>
              <p:cNvPr id="23684" name="Line 89"/>
              <p:cNvSpPr/>
              <p:nvPr/>
            </p:nvSpPr>
            <p:spPr>
              <a:xfrm>
                <a:off x="2880" y="1152"/>
                <a:ext cx="0" cy="384"/>
              </a:xfrm>
              <a:prstGeom prst="line">
                <a:avLst/>
              </a:prstGeom>
              <a:ln w="15875" cap="flat" cmpd="sng">
                <a:solidFill>
                  <a:srgbClr val="002060"/>
                </a:solidFill>
                <a:prstDash val="solid"/>
                <a:headEnd type="none" w="med" len="med"/>
                <a:tailEnd type="none" w="med" len="med"/>
              </a:ln>
            </p:spPr>
          </p:sp>
          <p:sp>
            <p:nvSpPr>
              <p:cNvPr id="23685" name="Line 90"/>
              <p:cNvSpPr/>
              <p:nvPr/>
            </p:nvSpPr>
            <p:spPr>
              <a:xfrm>
                <a:off x="3072" y="1152"/>
                <a:ext cx="0" cy="384"/>
              </a:xfrm>
              <a:prstGeom prst="line">
                <a:avLst/>
              </a:prstGeom>
              <a:ln w="15875" cap="flat" cmpd="sng">
                <a:solidFill>
                  <a:srgbClr val="002060"/>
                </a:solidFill>
                <a:prstDash val="solid"/>
                <a:headEnd type="none" w="med" len="med"/>
                <a:tailEnd type="none" w="med" len="med"/>
              </a:ln>
            </p:spPr>
          </p:sp>
        </p:grpSp>
      </p:grpSp>
      <p:grpSp>
        <p:nvGrpSpPr>
          <p:cNvPr id="36092" name="Group 91"/>
          <p:cNvGrpSpPr/>
          <p:nvPr/>
        </p:nvGrpSpPr>
        <p:grpSpPr>
          <a:xfrm>
            <a:off x="6651625" y="5421313"/>
            <a:ext cx="609600" cy="609600"/>
            <a:chOff x="5136" y="1776"/>
            <a:chExt cx="384" cy="384"/>
          </a:xfrm>
        </p:grpSpPr>
        <p:sp>
          <p:nvSpPr>
            <p:cNvPr id="23666" name="Line 92"/>
            <p:cNvSpPr/>
            <p:nvPr/>
          </p:nvSpPr>
          <p:spPr>
            <a:xfrm flipH="1">
              <a:off x="5136" y="1776"/>
              <a:ext cx="0" cy="384"/>
            </a:xfrm>
            <a:prstGeom prst="line">
              <a:avLst/>
            </a:prstGeom>
            <a:ln w="25400" cap="flat" cmpd="sng">
              <a:solidFill>
                <a:srgbClr val="0000FF"/>
              </a:solidFill>
              <a:prstDash val="solid"/>
              <a:headEnd type="none" w="med" len="med"/>
              <a:tailEnd type="triangle" w="med" len="med"/>
            </a:ln>
          </p:spPr>
        </p:sp>
        <p:sp>
          <p:nvSpPr>
            <p:cNvPr id="23667" name="Text Box 93"/>
            <p:cNvSpPr txBox="1"/>
            <p:nvPr/>
          </p:nvSpPr>
          <p:spPr>
            <a:xfrm>
              <a:off x="5184" y="1867"/>
              <a:ext cx="336" cy="288"/>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endParaRPr lang="en-US" altLang="zh-CN" b="1" i="1" dirty="0">
                <a:solidFill>
                  <a:srgbClr val="0000FF"/>
                </a:solidFill>
                <a:latin typeface="Times New Roman" panose="02020603050405020304" pitchFamily="18" charset="0"/>
                <a:ea typeface="方正大黑简体"/>
              </a:endParaRPr>
            </a:p>
          </p:txBody>
        </p:sp>
      </p:grpSp>
      <p:grpSp>
        <p:nvGrpSpPr>
          <p:cNvPr id="36093" name="Group 94"/>
          <p:cNvGrpSpPr/>
          <p:nvPr/>
        </p:nvGrpSpPr>
        <p:grpSpPr>
          <a:xfrm>
            <a:off x="6651625" y="4603750"/>
            <a:ext cx="642938" cy="817563"/>
            <a:chOff x="5136" y="925"/>
            <a:chExt cx="405" cy="515"/>
          </a:xfrm>
        </p:grpSpPr>
        <p:sp>
          <p:nvSpPr>
            <p:cNvPr id="23664" name="Line 95"/>
            <p:cNvSpPr/>
            <p:nvPr/>
          </p:nvSpPr>
          <p:spPr>
            <a:xfrm rot="10800000">
              <a:off x="5136" y="1056"/>
              <a:ext cx="0" cy="384"/>
            </a:xfrm>
            <a:prstGeom prst="line">
              <a:avLst/>
            </a:prstGeom>
            <a:ln w="25400" cap="flat" cmpd="sng">
              <a:solidFill>
                <a:srgbClr val="0000FF"/>
              </a:solidFill>
              <a:prstDash val="solid"/>
              <a:headEnd type="none" w="med" len="med"/>
              <a:tailEnd type="triangle" w="med" len="med"/>
            </a:ln>
          </p:spPr>
        </p:sp>
        <p:sp>
          <p:nvSpPr>
            <p:cNvPr id="23665" name="Text Box 96"/>
            <p:cNvSpPr txBox="1"/>
            <p:nvPr/>
          </p:nvSpPr>
          <p:spPr>
            <a:xfrm>
              <a:off x="5184" y="925"/>
              <a:ext cx="357" cy="288"/>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endParaRPr lang="en-US" altLang="zh-CN" b="1" i="1" dirty="0">
                <a:solidFill>
                  <a:srgbClr val="0000FF"/>
                </a:solidFill>
                <a:latin typeface="Times New Roman" panose="02020603050405020304" pitchFamily="18" charset="0"/>
                <a:ea typeface="方正大黑简体"/>
              </a:endParaRPr>
            </a:p>
          </p:txBody>
        </p:sp>
      </p:grpSp>
      <p:grpSp>
        <p:nvGrpSpPr>
          <p:cNvPr id="36098" name="Group 97"/>
          <p:cNvGrpSpPr/>
          <p:nvPr/>
        </p:nvGrpSpPr>
        <p:grpSpPr>
          <a:xfrm>
            <a:off x="4899025" y="3921125"/>
            <a:ext cx="1981200" cy="2514600"/>
            <a:chOff x="3792" y="432"/>
            <a:chExt cx="1248" cy="1584"/>
          </a:xfrm>
        </p:grpSpPr>
        <p:sp>
          <p:nvSpPr>
            <p:cNvPr id="23630" name="Line 98"/>
            <p:cNvSpPr/>
            <p:nvPr/>
          </p:nvSpPr>
          <p:spPr>
            <a:xfrm>
              <a:off x="3792" y="1392"/>
              <a:ext cx="480" cy="0"/>
            </a:xfrm>
            <a:prstGeom prst="line">
              <a:avLst/>
            </a:prstGeom>
            <a:ln w="25400" cap="flat" cmpd="sng">
              <a:solidFill>
                <a:srgbClr val="002060"/>
              </a:solidFill>
              <a:prstDash val="solid"/>
              <a:headEnd type="none" w="med" len="med"/>
              <a:tailEnd type="none" w="med" len="med"/>
            </a:ln>
          </p:spPr>
        </p:sp>
        <p:sp>
          <p:nvSpPr>
            <p:cNvPr id="23631" name="Line 99"/>
            <p:cNvSpPr/>
            <p:nvPr/>
          </p:nvSpPr>
          <p:spPr>
            <a:xfrm>
              <a:off x="4560" y="1392"/>
              <a:ext cx="480" cy="0"/>
            </a:xfrm>
            <a:prstGeom prst="line">
              <a:avLst/>
            </a:prstGeom>
            <a:ln w="25400" cap="flat" cmpd="sng">
              <a:solidFill>
                <a:srgbClr val="002060"/>
              </a:solidFill>
              <a:prstDash val="solid"/>
              <a:headEnd type="none" w="med" len="med"/>
              <a:tailEnd type="none" w="med" len="med"/>
            </a:ln>
          </p:spPr>
        </p:sp>
        <p:grpSp>
          <p:nvGrpSpPr>
            <p:cNvPr id="23632" name="Group 100"/>
            <p:cNvGrpSpPr/>
            <p:nvPr/>
          </p:nvGrpSpPr>
          <p:grpSpPr>
            <a:xfrm>
              <a:off x="3792" y="1104"/>
              <a:ext cx="1248" cy="624"/>
              <a:chOff x="3792" y="1104"/>
              <a:chExt cx="1248" cy="624"/>
            </a:xfrm>
          </p:grpSpPr>
          <p:sp>
            <p:nvSpPr>
              <p:cNvPr id="23648" name="Line 101"/>
              <p:cNvSpPr/>
              <p:nvPr/>
            </p:nvSpPr>
            <p:spPr>
              <a:xfrm flipV="1">
                <a:off x="3792" y="1104"/>
                <a:ext cx="288" cy="288"/>
              </a:xfrm>
              <a:prstGeom prst="line">
                <a:avLst/>
              </a:prstGeom>
              <a:ln w="12700" cap="flat" cmpd="sng">
                <a:solidFill>
                  <a:srgbClr val="002060"/>
                </a:solidFill>
                <a:prstDash val="solid"/>
                <a:headEnd type="none" w="med" len="med"/>
                <a:tailEnd type="none" w="med" len="med"/>
              </a:ln>
            </p:spPr>
          </p:sp>
          <p:sp>
            <p:nvSpPr>
              <p:cNvPr id="23649" name="Line 102"/>
              <p:cNvSpPr/>
              <p:nvPr/>
            </p:nvSpPr>
            <p:spPr>
              <a:xfrm flipV="1">
                <a:off x="3936" y="1104"/>
                <a:ext cx="288" cy="288"/>
              </a:xfrm>
              <a:prstGeom prst="line">
                <a:avLst/>
              </a:prstGeom>
              <a:ln w="12700" cap="flat" cmpd="sng">
                <a:solidFill>
                  <a:srgbClr val="002060"/>
                </a:solidFill>
                <a:prstDash val="solid"/>
                <a:headEnd type="none" w="med" len="med"/>
                <a:tailEnd type="none" w="med" len="med"/>
              </a:ln>
            </p:spPr>
          </p:sp>
          <p:sp>
            <p:nvSpPr>
              <p:cNvPr id="23650" name="Line 103"/>
              <p:cNvSpPr/>
              <p:nvPr/>
            </p:nvSpPr>
            <p:spPr>
              <a:xfrm flipV="1">
                <a:off x="4080" y="1248"/>
                <a:ext cx="144" cy="144"/>
              </a:xfrm>
              <a:prstGeom prst="line">
                <a:avLst/>
              </a:prstGeom>
              <a:ln w="12700" cap="flat" cmpd="sng">
                <a:solidFill>
                  <a:srgbClr val="002060"/>
                </a:solidFill>
                <a:prstDash val="solid"/>
                <a:headEnd type="none" w="med" len="med"/>
                <a:tailEnd type="none" w="med" len="med"/>
              </a:ln>
            </p:spPr>
          </p:sp>
          <p:sp>
            <p:nvSpPr>
              <p:cNvPr id="23651" name="Line 104"/>
              <p:cNvSpPr/>
              <p:nvPr/>
            </p:nvSpPr>
            <p:spPr>
              <a:xfrm flipV="1">
                <a:off x="4608" y="1104"/>
                <a:ext cx="288" cy="288"/>
              </a:xfrm>
              <a:prstGeom prst="line">
                <a:avLst/>
              </a:prstGeom>
              <a:ln w="12700" cap="flat" cmpd="sng">
                <a:solidFill>
                  <a:srgbClr val="002060"/>
                </a:solidFill>
                <a:prstDash val="solid"/>
                <a:headEnd type="none" w="med" len="med"/>
                <a:tailEnd type="none" w="med" len="med"/>
              </a:ln>
            </p:spPr>
          </p:sp>
          <p:sp>
            <p:nvSpPr>
              <p:cNvPr id="23652" name="Line 105"/>
              <p:cNvSpPr/>
              <p:nvPr/>
            </p:nvSpPr>
            <p:spPr>
              <a:xfrm flipV="1">
                <a:off x="4752" y="1104"/>
                <a:ext cx="288" cy="288"/>
              </a:xfrm>
              <a:prstGeom prst="line">
                <a:avLst/>
              </a:prstGeom>
              <a:ln w="12700" cap="flat" cmpd="sng">
                <a:solidFill>
                  <a:srgbClr val="002060"/>
                </a:solidFill>
                <a:prstDash val="solid"/>
                <a:headEnd type="none" w="med" len="med"/>
                <a:tailEnd type="none" w="med" len="med"/>
              </a:ln>
            </p:spPr>
          </p:sp>
          <p:sp>
            <p:nvSpPr>
              <p:cNvPr id="23653" name="Line 106"/>
              <p:cNvSpPr/>
              <p:nvPr/>
            </p:nvSpPr>
            <p:spPr>
              <a:xfrm flipV="1">
                <a:off x="4896" y="1248"/>
                <a:ext cx="144" cy="144"/>
              </a:xfrm>
              <a:prstGeom prst="line">
                <a:avLst/>
              </a:prstGeom>
              <a:ln w="12700" cap="flat" cmpd="sng">
                <a:solidFill>
                  <a:srgbClr val="002060"/>
                </a:solidFill>
                <a:prstDash val="solid"/>
                <a:headEnd type="none" w="med" len="med"/>
                <a:tailEnd type="none" w="med" len="med"/>
              </a:ln>
            </p:spPr>
          </p:sp>
          <p:sp>
            <p:nvSpPr>
              <p:cNvPr id="23654" name="Line 107"/>
              <p:cNvSpPr/>
              <p:nvPr/>
            </p:nvSpPr>
            <p:spPr>
              <a:xfrm flipV="1">
                <a:off x="3792" y="1104"/>
                <a:ext cx="144" cy="144"/>
              </a:xfrm>
              <a:prstGeom prst="line">
                <a:avLst/>
              </a:prstGeom>
              <a:ln w="12700" cap="flat" cmpd="sng">
                <a:solidFill>
                  <a:srgbClr val="002060"/>
                </a:solidFill>
                <a:prstDash val="solid"/>
                <a:headEnd type="none" w="med" len="med"/>
                <a:tailEnd type="none" w="med" len="med"/>
              </a:ln>
            </p:spPr>
          </p:sp>
          <p:sp>
            <p:nvSpPr>
              <p:cNvPr id="23655" name="Line 108"/>
              <p:cNvSpPr/>
              <p:nvPr/>
            </p:nvSpPr>
            <p:spPr>
              <a:xfrm flipV="1">
                <a:off x="4608" y="1104"/>
                <a:ext cx="144" cy="144"/>
              </a:xfrm>
              <a:prstGeom prst="line">
                <a:avLst/>
              </a:prstGeom>
              <a:ln w="12700" cap="flat" cmpd="sng">
                <a:solidFill>
                  <a:srgbClr val="002060"/>
                </a:solidFill>
                <a:prstDash val="solid"/>
                <a:headEnd type="none" w="med" len="med"/>
                <a:tailEnd type="none" w="med" len="med"/>
              </a:ln>
            </p:spPr>
          </p:sp>
          <p:sp>
            <p:nvSpPr>
              <p:cNvPr id="23656" name="Line 109"/>
              <p:cNvSpPr/>
              <p:nvPr/>
            </p:nvSpPr>
            <p:spPr>
              <a:xfrm>
                <a:off x="3792" y="1440"/>
                <a:ext cx="288" cy="288"/>
              </a:xfrm>
              <a:prstGeom prst="line">
                <a:avLst/>
              </a:prstGeom>
              <a:ln w="12700" cap="flat" cmpd="sng">
                <a:solidFill>
                  <a:srgbClr val="002060"/>
                </a:solidFill>
                <a:prstDash val="solid"/>
                <a:headEnd type="none" w="med" len="med"/>
                <a:tailEnd type="none" w="med" len="med"/>
              </a:ln>
            </p:spPr>
          </p:sp>
          <p:sp>
            <p:nvSpPr>
              <p:cNvPr id="23657" name="Line 110"/>
              <p:cNvSpPr/>
              <p:nvPr/>
            </p:nvSpPr>
            <p:spPr>
              <a:xfrm>
                <a:off x="3888" y="1392"/>
                <a:ext cx="336" cy="336"/>
              </a:xfrm>
              <a:prstGeom prst="line">
                <a:avLst/>
              </a:prstGeom>
              <a:ln w="12700" cap="flat" cmpd="sng">
                <a:solidFill>
                  <a:srgbClr val="002060"/>
                </a:solidFill>
                <a:prstDash val="solid"/>
                <a:headEnd type="none" w="med" len="med"/>
                <a:tailEnd type="none" w="med" len="med"/>
              </a:ln>
            </p:spPr>
          </p:sp>
          <p:sp>
            <p:nvSpPr>
              <p:cNvPr id="23658" name="Line 111"/>
              <p:cNvSpPr/>
              <p:nvPr/>
            </p:nvSpPr>
            <p:spPr>
              <a:xfrm>
                <a:off x="4032" y="1392"/>
                <a:ext cx="192" cy="192"/>
              </a:xfrm>
              <a:prstGeom prst="line">
                <a:avLst/>
              </a:prstGeom>
              <a:ln w="12700" cap="flat" cmpd="sng">
                <a:solidFill>
                  <a:srgbClr val="002060"/>
                </a:solidFill>
                <a:prstDash val="solid"/>
                <a:headEnd type="none" w="med" len="med"/>
                <a:tailEnd type="none" w="med" len="med"/>
              </a:ln>
            </p:spPr>
          </p:sp>
          <p:sp>
            <p:nvSpPr>
              <p:cNvPr id="23659" name="Line 112"/>
              <p:cNvSpPr/>
              <p:nvPr/>
            </p:nvSpPr>
            <p:spPr>
              <a:xfrm>
                <a:off x="4608" y="1440"/>
                <a:ext cx="288" cy="288"/>
              </a:xfrm>
              <a:prstGeom prst="line">
                <a:avLst/>
              </a:prstGeom>
              <a:ln w="12700" cap="flat" cmpd="sng">
                <a:solidFill>
                  <a:srgbClr val="002060"/>
                </a:solidFill>
                <a:prstDash val="solid"/>
                <a:headEnd type="none" w="med" len="med"/>
                <a:tailEnd type="none" w="med" len="med"/>
              </a:ln>
            </p:spPr>
          </p:sp>
          <p:sp>
            <p:nvSpPr>
              <p:cNvPr id="23660" name="Line 113"/>
              <p:cNvSpPr/>
              <p:nvPr/>
            </p:nvSpPr>
            <p:spPr>
              <a:xfrm>
                <a:off x="4704" y="1392"/>
                <a:ext cx="336" cy="336"/>
              </a:xfrm>
              <a:prstGeom prst="line">
                <a:avLst/>
              </a:prstGeom>
              <a:ln w="12700" cap="flat" cmpd="sng">
                <a:solidFill>
                  <a:srgbClr val="002060"/>
                </a:solidFill>
                <a:prstDash val="solid"/>
                <a:headEnd type="none" w="med" len="med"/>
                <a:tailEnd type="none" w="med" len="med"/>
              </a:ln>
            </p:spPr>
          </p:sp>
          <p:sp>
            <p:nvSpPr>
              <p:cNvPr id="23661" name="Line 114"/>
              <p:cNvSpPr/>
              <p:nvPr/>
            </p:nvSpPr>
            <p:spPr>
              <a:xfrm>
                <a:off x="4848" y="1392"/>
                <a:ext cx="192" cy="192"/>
              </a:xfrm>
              <a:prstGeom prst="line">
                <a:avLst/>
              </a:prstGeom>
              <a:ln w="12700" cap="flat" cmpd="sng">
                <a:solidFill>
                  <a:srgbClr val="002060"/>
                </a:solidFill>
                <a:prstDash val="solid"/>
                <a:headEnd type="none" w="med" len="med"/>
                <a:tailEnd type="none" w="med" len="med"/>
              </a:ln>
            </p:spPr>
          </p:sp>
          <p:sp>
            <p:nvSpPr>
              <p:cNvPr id="23662" name="Line 115"/>
              <p:cNvSpPr/>
              <p:nvPr/>
            </p:nvSpPr>
            <p:spPr>
              <a:xfrm>
                <a:off x="3792" y="1584"/>
                <a:ext cx="144" cy="144"/>
              </a:xfrm>
              <a:prstGeom prst="line">
                <a:avLst/>
              </a:prstGeom>
              <a:ln w="12700" cap="flat" cmpd="sng">
                <a:solidFill>
                  <a:srgbClr val="002060"/>
                </a:solidFill>
                <a:prstDash val="solid"/>
                <a:headEnd type="none" w="med" len="med"/>
                <a:tailEnd type="none" w="med" len="med"/>
              </a:ln>
            </p:spPr>
          </p:sp>
          <p:sp>
            <p:nvSpPr>
              <p:cNvPr id="23663" name="Line 116"/>
              <p:cNvSpPr/>
              <p:nvPr/>
            </p:nvSpPr>
            <p:spPr>
              <a:xfrm>
                <a:off x="4608" y="1584"/>
                <a:ext cx="144" cy="144"/>
              </a:xfrm>
              <a:prstGeom prst="line">
                <a:avLst/>
              </a:prstGeom>
              <a:ln w="12700" cap="flat" cmpd="sng">
                <a:solidFill>
                  <a:srgbClr val="002060"/>
                </a:solidFill>
                <a:prstDash val="solid"/>
                <a:headEnd type="none" w="med" len="med"/>
                <a:tailEnd type="none" w="med" len="med"/>
              </a:ln>
            </p:spPr>
          </p:sp>
        </p:grpSp>
        <p:grpSp>
          <p:nvGrpSpPr>
            <p:cNvPr id="23633" name="Group 117"/>
            <p:cNvGrpSpPr/>
            <p:nvPr/>
          </p:nvGrpSpPr>
          <p:grpSpPr>
            <a:xfrm>
              <a:off x="3792" y="432"/>
              <a:ext cx="1248" cy="1584"/>
              <a:chOff x="3792" y="432"/>
              <a:chExt cx="1248" cy="1584"/>
            </a:xfrm>
          </p:grpSpPr>
          <p:sp>
            <p:nvSpPr>
              <p:cNvPr id="23634" name="Line 118"/>
              <p:cNvSpPr/>
              <p:nvPr/>
            </p:nvSpPr>
            <p:spPr>
              <a:xfrm>
                <a:off x="4224" y="1104"/>
                <a:ext cx="0" cy="624"/>
              </a:xfrm>
              <a:prstGeom prst="line">
                <a:avLst/>
              </a:prstGeom>
              <a:ln w="25400" cap="flat" cmpd="sng">
                <a:solidFill>
                  <a:srgbClr val="002060"/>
                </a:solidFill>
                <a:prstDash val="solid"/>
                <a:headEnd type="none" w="med" len="med"/>
                <a:tailEnd type="none" w="med" len="med"/>
              </a:ln>
            </p:spPr>
          </p:sp>
          <p:sp>
            <p:nvSpPr>
              <p:cNvPr id="23635" name="Line 119"/>
              <p:cNvSpPr/>
              <p:nvPr/>
            </p:nvSpPr>
            <p:spPr>
              <a:xfrm>
                <a:off x="4608" y="1104"/>
                <a:ext cx="0" cy="624"/>
              </a:xfrm>
              <a:prstGeom prst="line">
                <a:avLst/>
              </a:prstGeom>
              <a:ln w="25400" cap="flat" cmpd="sng">
                <a:solidFill>
                  <a:srgbClr val="002060"/>
                </a:solidFill>
                <a:prstDash val="solid"/>
                <a:headEnd type="none" w="med" len="med"/>
                <a:tailEnd type="none" w="med" len="med"/>
              </a:ln>
            </p:spPr>
          </p:sp>
          <p:sp>
            <p:nvSpPr>
              <p:cNvPr id="23636" name="Rectangle 120"/>
              <p:cNvSpPr/>
              <p:nvPr/>
            </p:nvSpPr>
            <p:spPr>
              <a:xfrm>
                <a:off x="4128" y="816"/>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637" name="Rectangle 121"/>
              <p:cNvSpPr/>
              <p:nvPr/>
            </p:nvSpPr>
            <p:spPr>
              <a:xfrm>
                <a:off x="4128" y="1728"/>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638" name="Rectangle 122"/>
              <p:cNvSpPr/>
              <p:nvPr/>
            </p:nvSpPr>
            <p:spPr>
              <a:xfrm>
                <a:off x="4272" y="432"/>
                <a:ext cx="288" cy="1584"/>
              </a:xfrm>
              <a:prstGeom prst="rect">
                <a:avLst/>
              </a:prstGeom>
              <a:noFill/>
              <a:ln w="25400" cap="flat" cmpd="sng">
                <a:solidFill>
                  <a:srgbClr val="002060"/>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sp>
            <p:nvSpPr>
              <p:cNvPr id="23639" name="Line 123"/>
              <p:cNvSpPr/>
              <p:nvPr/>
            </p:nvSpPr>
            <p:spPr>
              <a:xfrm>
                <a:off x="3792" y="1104"/>
                <a:ext cx="336" cy="0"/>
              </a:xfrm>
              <a:prstGeom prst="line">
                <a:avLst/>
              </a:prstGeom>
              <a:ln w="25400" cap="flat" cmpd="sng">
                <a:solidFill>
                  <a:srgbClr val="002060"/>
                </a:solidFill>
                <a:prstDash val="solid"/>
                <a:headEnd type="none" w="med" len="med"/>
                <a:tailEnd type="none" w="med" len="med"/>
              </a:ln>
            </p:spPr>
          </p:sp>
          <p:sp>
            <p:nvSpPr>
              <p:cNvPr id="23640" name="Line 124"/>
              <p:cNvSpPr/>
              <p:nvPr/>
            </p:nvSpPr>
            <p:spPr>
              <a:xfrm>
                <a:off x="4704" y="1104"/>
                <a:ext cx="336" cy="0"/>
              </a:xfrm>
              <a:prstGeom prst="line">
                <a:avLst/>
              </a:prstGeom>
              <a:ln w="25400" cap="flat" cmpd="sng">
                <a:solidFill>
                  <a:srgbClr val="002060"/>
                </a:solidFill>
                <a:prstDash val="solid"/>
                <a:headEnd type="none" w="med" len="med"/>
                <a:tailEnd type="none" w="med" len="med"/>
              </a:ln>
            </p:spPr>
          </p:sp>
          <p:sp>
            <p:nvSpPr>
              <p:cNvPr id="23641" name="Line 125"/>
              <p:cNvSpPr/>
              <p:nvPr/>
            </p:nvSpPr>
            <p:spPr>
              <a:xfrm>
                <a:off x="3792" y="1728"/>
                <a:ext cx="336" cy="0"/>
              </a:xfrm>
              <a:prstGeom prst="line">
                <a:avLst/>
              </a:prstGeom>
              <a:ln w="25400" cap="flat" cmpd="sng">
                <a:solidFill>
                  <a:srgbClr val="002060"/>
                </a:solidFill>
                <a:prstDash val="solid"/>
                <a:headEnd type="none" w="med" len="med"/>
                <a:tailEnd type="none" w="med" len="med"/>
              </a:ln>
            </p:spPr>
          </p:sp>
          <p:sp>
            <p:nvSpPr>
              <p:cNvPr id="23642" name="Line 126"/>
              <p:cNvSpPr/>
              <p:nvPr/>
            </p:nvSpPr>
            <p:spPr>
              <a:xfrm>
                <a:off x="4704" y="1728"/>
                <a:ext cx="336" cy="0"/>
              </a:xfrm>
              <a:prstGeom prst="line">
                <a:avLst/>
              </a:prstGeom>
              <a:ln w="25400" cap="flat" cmpd="sng">
                <a:solidFill>
                  <a:srgbClr val="002060"/>
                </a:solidFill>
                <a:prstDash val="solid"/>
                <a:headEnd type="none" w="med" len="med"/>
                <a:tailEnd type="none" w="med" len="med"/>
              </a:ln>
            </p:spPr>
          </p:sp>
          <p:sp>
            <p:nvSpPr>
              <p:cNvPr id="23643" name="Line 127"/>
              <p:cNvSpPr/>
              <p:nvPr/>
            </p:nvSpPr>
            <p:spPr>
              <a:xfrm>
                <a:off x="4272" y="1536"/>
                <a:ext cx="288" cy="0"/>
              </a:xfrm>
              <a:prstGeom prst="line">
                <a:avLst/>
              </a:prstGeom>
              <a:ln w="28575" cap="flat" cmpd="sng">
                <a:solidFill>
                  <a:srgbClr val="002060"/>
                </a:solidFill>
                <a:prstDash val="solid"/>
                <a:headEnd type="none" w="med" len="med"/>
                <a:tailEnd type="none" w="med" len="med"/>
              </a:ln>
            </p:spPr>
          </p:sp>
          <p:sp>
            <p:nvSpPr>
              <p:cNvPr id="23644" name="Line 128"/>
              <p:cNvSpPr/>
              <p:nvPr/>
            </p:nvSpPr>
            <p:spPr>
              <a:xfrm>
                <a:off x="4320" y="432"/>
                <a:ext cx="0" cy="384"/>
              </a:xfrm>
              <a:prstGeom prst="line">
                <a:avLst/>
              </a:prstGeom>
              <a:ln w="15875" cap="flat" cmpd="sng">
                <a:solidFill>
                  <a:srgbClr val="002060"/>
                </a:solidFill>
                <a:prstDash val="solid"/>
                <a:headEnd type="none" w="med" len="med"/>
                <a:tailEnd type="none" w="med" len="med"/>
              </a:ln>
            </p:spPr>
          </p:sp>
          <p:sp>
            <p:nvSpPr>
              <p:cNvPr id="23645" name="Line 129"/>
              <p:cNvSpPr/>
              <p:nvPr/>
            </p:nvSpPr>
            <p:spPr>
              <a:xfrm>
                <a:off x="4512" y="432"/>
                <a:ext cx="0" cy="384"/>
              </a:xfrm>
              <a:prstGeom prst="line">
                <a:avLst/>
              </a:prstGeom>
              <a:ln w="15875" cap="flat" cmpd="sng">
                <a:solidFill>
                  <a:srgbClr val="002060"/>
                </a:solidFill>
                <a:prstDash val="solid"/>
                <a:headEnd type="none" w="med" len="med"/>
                <a:tailEnd type="none" w="med" len="med"/>
              </a:ln>
            </p:spPr>
          </p:sp>
          <p:sp>
            <p:nvSpPr>
              <p:cNvPr id="23646" name="Line 130"/>
              <p:cNvSpPr/>
              <p:nvPr/>
            </p:nvSpPr>
            <p:spPr>
              <a:xfrm>
                <a:off x="4320" y="1104"/>
                <a:ext cx="0" cy="432"/>
              </a:xfrm>
              <a:prstGeom prst="line">
                <a:avLst/>
              </a:prstGeom>
              <a:ln w="15875" cap="flat" cmpd="sng">
                <a:solidFill>
                  <a:srgbClr val="002060"/>
                </a:solidFill>
                <a:prstDash val="solid"/>
                <a:headEnd type="none" w="med" len="med"/>
                <a:tailEnd type="none" w="med" len="med"/>
              </a:ln>
            </p:spPr>
          </p:sp>
          <p:sp>
            <p:nvSpPr>
              <p:cNvPr id="23647" name="Line 131"/>
              <p:cNvSpPr/>
              <p:nvPr/>
            </p:nvSpPr>
            <p:spPr>
              <a:xfrm>
                <a:off x="4512" y="1104"/>
                <a:ext cx="0" cy="432"/>
              </a:xfrm>
              <a:prstGeom prst="line">
                <a:avLst/>
              </a:prstGeom>
              <a:ln w="15875" cap="flat" cmpd="sng">
                <a:solidFill>
                  <a:srgbClr val="002060"/>
                </a:solidFill>
                <a:prstDash val="solid"/>
                <a:headEnd type="none" w="med" len="med"/>
                <a:tailEnd type="none" w="med" len="med"/>
              </a:ln>
            </p:spPr>
          </p:sp>
        </p:grpSp>
      </p:grpSp>
      <p:grpSp>
        <p:nvGrpSpPr>
          <p:cNvPr id="36101" name="Group 132"/>
          <p:cNvGrpSpPr/>
          <p:nvPr/>
        </p:nvGrpSpPr>
        <p:grpSpPr>
          <a:xfrm>
            <a:off x="5854700" y="3548063"/>
            <a:ext cx="838200" cy="576262"/>
            <a:chOff x="4394" y="144"/>
            <a:chExt cx="528" cy="363"/>
          </a:xfrm>
        </p:grpSpPr>
        <p:sp>
          <p:nvSpPr>
            <p:cNvPr id="23628" name="Line 133"/>
            <p:cNvSpPr/>
            <p:nvPr/>
          </p:nvSpPr>
          <p:spPr>
            <a:xfrm rot="10800000">
              <a:off x="4416" y="235"/>
              <a:ext cx="0" cy="272"/>
            </a:xfrm>
            <a:prstGeom prst="line">
              <a:avLst/>
            </a:prstGeom>
            <a:ln w="25400" cap="flat" cmpd="sng">
              <a:solidFill>
                <a:srgbClr val="0000FF"/>
              </a:solidFill>
              <a:prstDash val="solid"/>
              <a:headEnd type="none" w="med" len="med"/>
              <a:tailEnd type="triangle" w="med" len="med"/>
            </a:ln>
          </p:spPr>
        </p:sp>
        <p:sp>
          <p:nvSpPr>
            <p:cNvPr id="23629" name="Text Box 134"/>
            <p:cNvSpPr txBox="1"/>
            <p:nvPr/>
          </p:nvSpPr>
          <p:spPr>
            <a:xfrm>
              <a:off x="4394" y="144"/>
              <a:ext cx="528"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baseline="-25000" dirty="0">
                  <a:solidFill>
                    <a:srgbClr val="0000FF"/>
                  </a:solidFill>
                  <a:latin typeface="Times New Roman" panose="02020603050405020304" pitchFamily="18" charset="0"/>
                  <a:ea typeface="方正大黑简体"/>
                </a:rPr>
                <a:t>2</a:t>
              </a:r>
              <a:endParaRPr lang="en-US" altLang="zh-CN" b="1" baseline="-25000" dirty="0">
                <a:solidFill>
                  <a:srgbClr val="0000FF"/>
                </a:solidFill>
                <a:latin typeface="Times New Roman" panose="02020603050405020304" pitchFamily="18" charset="0"/>
                <a:ea typeface="方正大黑简体"/>
              </a:endParaRPr>
            </a:p>
          </p:txBody>
        </p:sp>
      </p:grpSp>
      <p:grpSp>
        <p:nvGrpSpPr>
          <p:cNvPr id="36102" name="Group 135"/>
          <p:cNvGrpSpPr/>
          <p:nvPr/>
        </p:nvGrpSpPr>
        <p:grpSpPr>
          <a:xfrm>
            <a:off x="4670425" y="5445125"/>
            <a:ext cx="838200" cy="582613"/>
            <a:chOff x="3792" y="1584"/>
            <a:chExt cx="528" cy="367"/>
          </a:xfrm>
        </p:grpSpPr>
        <p:sp>
          <p:nvSpPr>
            <p:cNvPr id="23626" name="Line 136"/>
            <p:cNvSpPr/>
            <p:nvPr/>
          </p:nvSpPr>
          <p:spPr>
            <a:xfrm rot="10800000">
              <a:off x="4176" y="1584"/>
              <a:ext cx="0" cy="240"/>
            </a:xfrm>
            <a:prstGeom prst="line">
              <a:avLst/>
            </a:prstGeom>
            <a:ln w="25400" cap="flat" cmpd="sng">
              <a:solidFill>
                <a:srgbClr val="0000FF"/>
              </a:solidFill>
              <a:prstDash val="solid"/>
              <a:headEnd type="none" w="med" len="med"/>
              <a:tailEnd type="triangle" w="med" len="med"/>
            </a:ln>
          </p:spPr>
        </p:sp>
        <p:sp>
          <p:nvSpPr>
            <p:cNvPr id="23627" name="Text Box 137"/>
            <p:cNvSpPr txBox="1"/>
            <p:nvPr/>
          </p:nvSpPr>
          <p:spPr>
            <a:xfrm>
              <a:off x="3792" y="1680"/>
              <a:ext cx="528"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i="1" baseline="-25000" dirty="0">
                  <a:solidFill>
                    <a:srgbClr val="0000FF"/>
                  </a:solidFill>
                  <a:latin typeface="Times New Roman" panose="02020603050405020304" pitchFamily="18" charset="0"/>
                  <a:ea typeface="方正大黑简体"/>
                </a:rPr>
                <a:t>1</a:t>
              </a:r>
              <a:endParaRPr lang="en-US" altLang="zh-CN" b="1" i="1" baseline="-25000" dirty="0">
                <a:solidFill>
                  <a:srgbClr val="0000FF"/>
                </a:solidFill>
                <a:latin typeface="Times New Roman" panose="02020603050405020304" pitchFamily="18" charset="0"/>
                <a:ea typeface="方正大黑简体"/>
              </a:endParaRPr>
            </a:p>
          </p:txBody>
        </p:sp>
      </p:grpSp>
      <p:grpSp>
        <p:nvGrpSpPr>
          <p:cNvPr id="36103" name="Group 138"/>
          <p:cNvGrpSpPr/>
          <p:nvPr/>
        </p:nvGrpSpPr>
        <p:grpSpPr>
          <a:xfrm>
            <a:off x="4670425" y="5054600"/>
            <a:ext cx="838200" cy="436563"/>
            <a:chOff x="3792" y="1344"/>
            <a:chExt cx="528" cy="275"/>
          </a:xfrm>
        </p:grpSpPr>
        <p:sp>
          <p:nvSpPr>
            <p:cNvPr id="23624" name="Line 139"/>
            <p:cNvSpPr/>
            <p:nvPr/>
          </p:nvSpPr>
          <p:spPr>
            <a:xfrm flipH="1">
              <a:off x="4176" y="1344"/>
              <a:ext cx="0" cy="240"/>
            </a:xfrm>
            <a:prstGeom prst="line">
              <a:avLst/>
            </a:prstGeom>
            <a:ln w="25400" cap="flat" cmpd="sng">
              <a:solidFill>
                <a:srgbClr val="0000FF"/>
              </a:solidFill>
              <a:prstDash val="solid"/>
              <a:headEnd type="none" w="med" len="med"/>
              <a:tailEnd type="triangle" w="med" len="med"/>
            </a:ln>
          </p:spPr>
        </p:sp>
        <p:sp>
          <p:nvSpPr>
            <p:cNvPr id="23625" name="Text Box 140"/>
            <p:cNvSpPr txBox="1"/>
            <p:nvPr/>
          </p:nvSpPr>
          <p:spPr>
            <a:xfrm>
              <a:off x="3792" y="1348"/>
              <a:ext cx="528"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i="1" baseline="-25000" dirty="0">
                  <a:solidFill>
                    <a:srgbClr val="0000FF"/>
                  </a:solidFill>
                  <a:latin typeface="Times New Roman" panose="02020603050405020304" pitchFamily="18" charset="0"/>
                  <a:ea typeface="方正大黑简体"/>
                </a:rPr>
                <a:t>1</a:t>
              </a:r>
              <a:endParaRPr lang="en-US" altLang="zh-CN" b="1" i="1" baseline="-25000" dirty="0">
                <a:solidFill>
                  <a:srgbClr val="0000FF"/>
                </a:solidFill>
                <a:latin typeface="Times New Roman" panose="02020603050405020304" pitchFamily="18" charset="0"/>
                <a:ea typeface="方正大黑简体"/>
              </a:endParaRPr>
            </a:p>
          </p:txBody>
        </p:sp>
      </p:grpSp>
      <p:grpSp>
        <p:nvGrpSpPr>
          <p:cNvPr id="36104" name="Group 141"/>
          <p:cNvGrpSpPr/>
          <p:nvPr/>
        </p:nvGrpSpPr>
        <p:grpSpPr>
          <a:xfrm>
            <a:off x="5889625" y="6238875"/>
            <a:ext cx="914400" cy="547688"/>
            <a:chOff x="4416" y="1892"/>
            <a:chExt cx="576" cy="345"/>
          </a:xfrm>
        </p:grpSpPr>
        <p:sp>
          <p:nvSpPr>
            <p:cNvPr id="23622" name="Line 142"/>
            <p:cNvSpPr/>
            <p:nvPr/>
          </p:nvSpPr>
          <p:spPr>
            <a:xfrm rot="-10800000" flipV="1">
              <a:off x="4416" y="1892"/>
              <a:ext cx="0" cy="295"/>
            </a:xfrm>
            <a:prstGeom prst="line">
              <a:avLst/>
            </a:prstGeom>
            <a:ln w="25400" cap="flat" cmpd="sng">
              <a:solidFill>
                <a:srgbClr val="0000FF"/>
              </a:solidFill>
              <a:prstDash val="solid"/>
              <a:headEnd type="none" w="med" len="med"/>
              <a:tailEnd type="triangle" w="med" len="med"/>
            </a:ln>
          </p:spPr>
        </p:sp>
        <p:sp>
          <p:nvSpPr>
            <p:cNvPr id="23623" name="Text Box 143"/>
            <p:cNvSpPr txBox="1"/>
            <p:nvPr/>
          </p:nvSpPr>
          <p:spPr>
            <a:xfrm>
              <a:off x="4464" y="1966"/>
              <a:ext cx="528"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baseline="-25000" dirty="0">
                  <a:solidFill>
                    <a:srgbClr val="0000FF"/>
                  </a:solidFill>
                  <a:latin typeface="Times New Roman" panose="02020603050405020304" pitchFamily="18" charset="0"/>
                  <a:ea typeface="方正大黑简体"/>
                </a:rPr>
                <a:t>2</a:t>
              </a:r>
              <a:endParaRPr lang="en-US" altLang="zh-CN" b="1" baseline="-25000" dirty="0">
                <a:solidFill>
                  <a:srgbClr val="0000FF"/>
                </a:solidFill>
                <a:latin typeface="Times New Roman" panose="02020603050405020304" pitchFamily="18" charset="0"/>
                <a:ea typeface="方正大黑简体"/>
              </a:endParaRPr>
            </a:p>
          </p:txBody>
        </p:sp>
      </p:grpSp>
      <p:grpSp>
        <p:nvGrpSpPr>
          <p:cNvPr id="36105" name="Group 144"/>
          <p:cNvGrpSpPr/>
          <p:nvPr/>
        </p:nvGrpSpPr>
        <p:grpSpPr>
          <a:xfrm>
            <a:off x="2171700" y="4530725"/>
            <a:ext cx="441325" cy="1290638"/>
            <a:chOff x="2074" y="816"/>
            <a:chExt cx="278" cy="813"/>
          </a:xfrm>
        </p:grpSpPr>
        <p:sp>
          <p:nvSpPr>
            <p:cNvPr id="23615" name="Text Box 145"/>
            <p:cNvSpPr txBox="1"/>
            <p:nvPr/>
          </p:nvSpPr>
          <p:spPr>
            <a:xfrm rot="-5400000">
              <a:off x="1999" y="1323"/>
              <a:ext cx="380" cy="231"/>
            </a:xfrm>
            <a:prstGeom prst="rect">
              <a:avLst/>
            </a:prstGeom>
            <a:noFill/>
            <a:ln w="9525">
              <a:noFill/>
            </a:ln>
          </p:spPr>
          <p:txBody>
            <a:bodyPr>
              <a:spAutoFit/>
            </a:bodyPr>
            <a:p>
              <a:pPr>
                <a:spcBef>
                  <a:spcPct val="50000"/>
                </a:spcBef>
              </a:pPr>
              <a:r>
                <a:rPr lang="en-US" altLang="zh-CN" sz="1800" b="1" i="1" dirty="0">
                  <a:solidFill>
                    <a:srgbClr val="0000FF"/>
                  </a:solidFill>
                  <a:latin typeface="Times New Roman" panose="02020603050405020304" pitchFamily="18" charset="0"/>
                  <a:ea typeface="方正大黑简体"/>
                </a:rPr>
                <a:t>δ</a:t>
              </a:r>
              <a:r>
                <a:rPr lang="en-US" altLang="zh-CN" sz="1800" b="1" baseline="-25000" dirty="0">
                  <a:solidFill>
                    <a:srgbClr val="0000FF"/>
                  </a:solidFill>
                  <a:latin typeface="Times New Roman" panose="02020603050405020304" pitchFamily="18" charset="0"/>
                  <a:ea typeface="方正大黑简体"/>
                </a:rPr>
                <a:t>2</a:t>
              </a:r>
              <a:endParaRPr lang="en-US" altLang="zh-CN" sz="1800" b="1" baseline="-25000" dirty="0">
                <a:solidFill>
                  <a:srgbClr val="0000FF"/>
                </a:solidFill>
                <a:latin typeface="Times New Roman" panose="02020603050405020304" pitchFamily="18" charset="0"/>
                <a:ea typeface="方正大黑简体"/>
              </a:endParaRPr>
            </a:p>
          </p:txBody>
        </p:sp>
        <p:grpSp>
          <p:nvGrpSpPr>
            <p:cNvPr id="23616" name="Group 146"/>
            <p:cNvGrpSpPr/>
            <p:nvPr/>
          </p:nvGrpSpPr>
          <p:grpSpPr>
            <a:xfrm>
              <a:off x="2112" y="816"/>
              <a:ext cx="240" cy="528"/>
              <a:chOff x="2112" y="816"/>
              <a:chExt cx="240" cy="528"/>
            </a:xfrm>
          </p:grpSpPr>
          <p:sp>
            <p:nvSpPr>
              <p:cNvPr id="23617" name="Line 147"/>
              <p:cNvSpPr/>
              <p:nvPr/>
            </p:nvSpPr>
            <p:spPr>
              <a:xfrm>
                <a:off x="2112" y="1008"/>
                <a:ext cx="192" cy="0"/>
              </a:xfrm>
              <a:prstGeom prst="line">
                <a:avLst/>
              </a:prstGeom>
              <a:ln w="12700" cap="flat" cmpd="sng">
                <a:solidFill>
                  <a:srgbClr val="0000FF"/>
                </a:solidFill>
                <a:prstDash val="solid"/>
                <a:headEnd type="none" w="med" len="med"/>
                <a:tailEnd type="none" w="med" len="med"/>
              </a:ln>
            </p:spPr>
          </p:sp>
          <p:sp>
            <p:nvSpPr>
              <p:cNvPr id="23618" name="Line 148"/>
              <p:cNvSpPr/>
              <p:nvPr/>
            </p:nvSpPr>
            <p:spPr>
              <a:xfrm>
                <a:off x="2160" y="1152"/>
                <a:ext cx="192" cy="0"/>
              </a:xfrm>
              <a:prstGeom prst="line">
                <a:avLst/>
              </a:prstGeom>
              <a:ln w="12700" cap="flat" cmpd="sng">
                <a:solidFill>
                  <a:srgbClr val="0000FF"/>
                </a:solidFill>
                <a:prstDash val="solid"/>
                <a:headEnd type="none" w="med" len="med"/>
                <a:tailEnd type="none" w="med" len="med"/>
              </a:ln>
            </p:spPr>
          </p:sp>
          <p:sp>
            <p:nvSpPr>
              <p:cNvPr id="23619" name="Line 149"/>
              <p:cNvSpPr/>
              <p:nvPr/>
            </p:nvSpPr>
            <p:spPr>
              <a:xfrm>
                <a:off x="2208" y="1008"/>
                <a:ext cx="0" cy="144"/>
              </a:xfrm>
              <a:prstGeom prst="line">
                <a:avLst/>
              </a:prstGeom>
              <a:ln w="15875" cap="flat" cmpd="sng">
                <a:solidFill>
                  <a:srgbClr val="0000FF"/>
                </a:solidFill>
                <a:prstDash val="solid"/>
                <a:headEnd type="none" w="med" len="med"/>
                <a:tailEnd type="none" w="med" len="med"/>
              </a:ln>
            </p:spPr>
          </p:sp>
          <p:sp>
            <p:nvSpPr>
              <p:cNvPr id="23620" name="Line 150"/>
              <p:cNvSpPr/>
              <p:nvPr/>
            </p:nvSpPr>
            <p:spPr>
              <a:xfrm>
                <a:off x="2208" y="1152"/>
                <a:ext cx="0" cy="192"/>
              </a:xfrm>
              <a:prstGeom prst="line">
                <a:avLst/>
              </a:prstGeom>
              <a:ln w="15875" cap="flat" cmpd="sng">
                <a:solidFill>
                  <a:srgbClr val="0000FF"/>
                </a:solidFill>
                <a:prstDash val="solid"/>
                <a:headEnd type="triangle" w="med" len="med"/>
                <a:tailEnd type="none" w="med" len="med"/>
              </a:ln>
            </p:spPr>
          </p:sp>
          <p:sp>
            <p:nvSpPr>
              <p:cNvPr id="23621" name="Line 151"/>
              <p:cNvSpPr/>
              <p:nvPr/>
            </p:nvSpPr>
            <p:spPr>
              <a:xfrm flipV="1">
                <a:off x="2208" y="816"/>
                <a:ext cx="0" cy="192"/>
              </a:xfrm>
              <a:prstGeom prst="line">
                <a:avLst/>
              </a:prstGeom>
              <a:ln w="15875" cap="flat" cmpd="sng">
                <a:solidFill>
                  <a:srgbClr val="0000FF"/>
                </a:solidFill>
                <a:prstDash val="solid"/>
                <a:headEnd type="triangle" w="med" len="med"/>
                <a:tailEnd type="none" w="med" len="med"/>
              </a:ln>
            </p:spPr>
          </p:sp>
        </p:grpSp>
      </p:grpSp>
      <p:grpSp>
        <p:nvGrpSpPr>
          <p:cNvPr id="36107" name="Group 152"/>
          <p:cNvGrpSpPr/>
          <p:nvPr/>
        </p:nvGrpSpPr>
        <p:grpSpPr>
          <a:xfrm>
            <a:off x="1470025" y="3468688"/>
            <a:ext cx="1905000" cy="1138237"/>
            <a:chOff x="1632" y="147"/>
            <a:chExt cx="1200" cy="717"/>
          </a:xfrm>
        </p:grpSpPr>
        <p:sp>
          <p:nvSpPr>
            <p:cNvPr id="23608" name="Line 153"/>
            <p:cNvSpPr/>
            <p:nvPr/>
          </p:nvSpPr>
          <p:spPr>
            <a:xfrm>
              <a:off x="2304" y="480"/>
              <a:ext cx="0" cy="192"/>
            </a:xfrm>
            <a:prstGeom prst="line">
              <a:avLst/>
            </a:prstGeom>
            <a:ln w="15875" cap="flat" cmpd="sng">
              <a:solidFill>
                <a:srgbClr val="0000FF"/>
              </a:solidFill>
              <a:prstDash val="solid"/>
              <a:headEnd type="none" w="med" len="med"/>
              <a:tailEnd type="none" w="med" len="med"/>
            </a:ln>
          </p:spPr>
        </p:sp>
        <p:grpSp>
          <p:nvGrpSpPr>
            <p:cNvPr id="23609" name="Group 154"/>
            <p:cNvGrpSpPr/>
            <p:nvPr/>
          </p:nvGrpSpPr>
          <p:grpSpPr>
            <a:xfrm>
              <a:off x="1632" y="147"/>
              <a:ext cx="1200" cy="717"/>
              <a:chOff x="1632" y="147"/>
              <a:chExt cx="1200" cy="717"/>
            </a:xfrm>
          </p:grpSpPr>
          <p:sp>
            <p:nvSpPr>
              <p:cNvPr id="23610" name="Line 155"/>
              <p:cNvSpPr/>
              <p:nvPr/>
            </p:nvSpPr>
            <p:spPr>
              <a:xfrm>
                <a:off x="1632" y="672"/>
                <a:ext cx="768" cy="0"/>
              </a:xfrm>
              <a:prstGeom prst="line">
                <a:avLst/>
              </a:prstGeom>
              <a:ln w="12700" cap="flat" cmpd="sng">
                <a:solidFill>
                  <a:srgbClr val="0000FF"/>
                </a:solidFill>
                <a:prstDash val="solid"/>
                <a:headEnd type="none" w="med" len="med"/>
                <a:tailEnd type="none" w="med" len="med"/>
              </a:ln>
            </p:spPr>
          </p:sp>
          <p:sp>
            <p:nvSpPr>
              <p:cNvPr id="23611" name="Line 156"/>
              <p:cNvSpPr/>
              <p:nvPr/>
            </p:nvSpPr>
            <p:spPr>
              <a:xfrm flipH="1">
                <a:off x="2208" y="480"/>
                <a:ext cx="624" cy="0"/>
              </a:xfrm>
              <a:prstGeom prst="line">
                <a:avLst/>
              </a:prstGeom>
              <a:ln w="12700" cap="flat" cmpd="sng">
                <a:solidFill>
                  <a:srgbClr val="0000FF"/>
                </a:solidFill>
                <a:prstDash val="solid"/>
                <a:headEnd type="none" w="med" len="med"/>
                <a:tailEnd type="none" w="med" len="med"/>
              </a:ln>
            </p:spPr>
          </p:sp>
          <p:sp>
            <p:nvSpPr>
              <p:cNvPr id="23612" name="Line 157"/>
              <p:cNvSpPr/>
              <p:nvPr/>
            </p:nvSpPr>
            <p:spPr>
              <a:xfrm>
                <a:off x="2304" y="672"/>
                <a:ext cx="0" cy="192"/>
              </a:xfrm>
              <a:prstGeom prst="line">
                <a:avLst/>
              </a:prstGeom>
              <a:ln w="15875" cap="flat" cmpd="sng">
                <a:solidFill>
                  <a:srgbClr val="0000FF"/>
                </a:solidFill>
                <a:prstDash val="solid"/>
                <a:headEnd type="triangle" w="med" len="med"/>
                <a:tailEnd type="none" w="med" len="med"/>
              </a:ln>
            </p:spPr>
          </p:sp>
          <p:sp>
            <p:nvSpPr>
              <p:cNvPr id="23613" name="Line 158"/>
              <p:cNvSpPr/>
              <p:nvPr/>
            </p:nvSpPr>
            <p:spPr>
              <a:xfrm flipV="1">
                <a:off x="2304" y="288"/>
                <a:ext cx="0" cy="192"/>
              </a:xfrm>
              <a:prstGeom prst="line">
                <a:avLst/>
              </a:prstGeom>
              <a:ln w="15875" cap="flat" cmpd="sng">
                <a:solidFill>
                  <a:srgbClr val="0000FF"/>
                </a:solidFill>
                <a:prstDash val="solid"/>
                <a:headEnd type="triangle" w="med" len="med"/>
                <a:tailEnd type="none" w="med" len="med"/>
              </a:ln>
            </p:spPr>
          </p:sp>
          <p:sp>
            <p:nvSpPr>
              <p:cNvPr id="23614" name="Text Box 159"/>
              <p:cNvSpPr txBox="1"/>
              <p:nvPr/>
            </p:nvSpPr>
            <p:spPr>
              <a:xfrm rot="-5400000">
                <a:off x="1941" y="221"/>
                <a:ext cx="380" cy="231"/>
              </a:xfrm>
              <a:prstGeom prst="rect">
                <a:avLst/>
              </a:prstGeom>
              <a:noFill/>
              <a:ln w="9525">
                <a:noFill/>
              </a:ln>
            </p:spPr>
            <p:txBody>
              <a:bodyPr>
                <a:spAutoFit/>
              </a:bodyPr>
              <a:p>
                <a:pPr>
                  <a:spcBef>
                    <a:spcPct val="50000"/>
                  </a:spcBef>
                </a:pPr>
                <a:r>
                  <a:rPr lang="en-US" altLang="zh-CN" sz="1800" b="1" i="1" dirty="0">
                    <a:solidFill>
                      <a:srgbClr val="0000FF"/>
                    </a:solidFill>
                    <a:latin typeface="Times New Roman" panose="02020603050405020304" pitchFamily="18" charset="0"/>
                    <a:ea typeface="方正大黑简体"/>
                  </a:rPr>
                  <a:t>δ</a:t>
                </a:r>
                <a:r>
                  <a:rPr lang="en-US" altLang="zh-CN" sz="1800" b="1" baseline="-25000" dirty="0">
                    <a:solidFill>
                      <a:srgbClr val="0000FF"/>
                    </a:solidFill>
                    <a:latin typeface="Times New Roman" panose="02020603050405020304" pitchFamily="18" charset="0"/>
                    <a:ea typeface="方正大黑简体"/>
                  </a:rPr>
                  <a:t>1</a:t>
                </a:r>
                <a:endParaRPr lang="en-US" altLang="zh-CN" sz="1800" b="1" baseline="-25000" dirty="0">
                  <a:solidFill>
                    <a:srgbClr val="0000FF"/>
                  </a:solidFill>
                  <a:latin typeface="Times New Roman" panose="02020603050405020304" pitchFamily="18" charset="0"/>
                  <a:ea typeface="方正大黑简体"/>
                </a:endParaRPr>
              </a:p>
            </p:txBody>
          </p:sp>
        </p:grpSp>
      </p:grpSp>
      <p:grpSp>
        <p:nvGrpSpPr>
          <p:cNvPr id="36109" name="Group 160"/>
          <p:cNvGrpSpPr/>
          <p:nvPr/>
        </p:nvGrpSpPr>
        <p:grpSpPr>
          <a:xfrm>
            <a:off x="4284028" y="3242945"/>
            <a:ext cx="1905000" cy="1058863"/>
            <a:chOff x="3120" y="5"/>
            <a:chExt cx="1200" cy="667"/>
          </a:xfrm>
        </p:grpSpPr>
        <p:sp>
          <p:nvSpPr>
            <p:cNvPr id="23602" name="Line 161"/>
            <p:cNvSpPr/>
            <p:nvPr/>
          </p:nvSpPr>
          <p:spPr>
            <a:xfrm>
              <a:off x="3120" y="480"/>
              <a:ext cx="768" cy="0"/>
            </a:xfrm>
            <a:prstGeom prst="line">
              <a:avLst/>
            </a:prstGeom>
            <a:ln w="12700" cap="flat" cmpd="sng">
              <a:solidFill>
                <a:srgbClr val="0000FF"/>
              </a:solidFill>
              <a:prstDash val="solid"/>
              <a:headEnd type="none" w="med" len="med"/>
              <a:tailEnd type="none" w="med" len="med"/>
            </a:ln>
          </p:spPr>
        </p:sp>
        <p:sp>
          <p:nvSpPr>
            <p:cNvPr id="23603" name="Line 162"/>
            <p:cNvSpPr/>
            <p:nvPr/>
          </p:nvSpPr>
          <p:spPr>
            <a:xfrm flipH="1">
              <a:off x="3696" y="432"/>
              <a:ext cx="624" cy="0"/>
            </a:xfrm>
            <a:prstGeom prst="line">
              <a:avLst/>
            </a:prstGeom>
            <a:ln w="12700" cap="flat" cmpd="sng">
              <a:solidFill>
                <a:srgbClr val="0000FF"/>
              </a:solidFill>
              <a:prstDash val="solid"/>
              <a:headEnd type="none" w="med" len="med"/>
              <a:tailEnd type="none" w="med" len="med"/>
            </a:ln>
          </p:spPr>
        </p:sp>
        <p:sp>
          <p:nvSpPr>
            <p:cNvPr id="23604" name="Line 163"/>
            <p:cNvSpPr/>
            <p:nvPr/>
          </p:nvSpPr>
          <p:spPr>
            <a:xfrm>
              <a:off x="3792" y="288"/>
              <a:ext cx="0" cy="192"/>
            </a:xfrm>
            <a:prstGeom prst="line">
              <a:avLst/>
            </a:prstGeom>
            <a:ln w="15875" cap="flat" cmpd="sng">
              <a:solidFill>
                <a:srgbClr val="0000FF"/>
              </a:solidFill>
              <a:prstDash val="solid"/>
              <a:headEnd type="none" w="med" len="med"/>
              <a:tailEnd type="none" w="med" len="med"/>
            </a:ln>
          </p:spPr>
        </p:sp>
        <p:sp>
          <p:nvSpPr>
            <p:cNvPr id="23605" name="Line 164"/>
            <p:cNvSpPr/>
            <p:nvPr/>
          </p:nvSpPr>
          <p:spPr>
            <a:xfrm>
              <a:off x="3792" y="480"/>
              <a:ext cx="0" cy="192"/>
            </a:xfrm>
            <a:prstGeom prst="line">
              <a:avLst/>
            </a:prstGeom>
            <a:ln w="15875" cap="flat" cmpd="sng">
              <a:solidFill>
                <a:srgbClr val="0000FF"/>
              </a:solidFill>
              <a:prstDash val="solid"/>
              <a:headEnd type="triangle" w="med" len="med"/>
              <a:tailEnd type="none" w="med" len="med"/>
            </a:ln>
          </p:spPr>
        </p:sp>
        <p:sp>
          <p:nvSpPr>
            <p:cNvPr id="23606" name="Line 165"/>
            <p:cNvSpPr/>
            <p:nvPr/>
          </p:nvSpPr>
          <p:spPr>
            <a:xfrm flipV="1">
              <a:off x="3792" y="240"/>
              <a:ext cx="0" cy="192"/>
            </a:xfrm>
            <a:prstGeom prst="line">
              <a:avLst/>
            </a:prstGeom>
            <a:ln w="15875" cap="flat" cmpd="sng">
              <a:solidFill>
                <a:srgbClr val="0000FF"/>
              </a:solidFill>
              <a:prstDash val="solid"/>
              <a:headEnd type="triangle" w="med" len="med"/>
              <a:tailEnd type="none" w="med" len="med"/>
            </a:ln>
          </p:spPr>
        </p:sp>
        <p:sp>
          <p:nvSpPr>
            <p:cNvPr id="23607" name="Text Box 166"/>
            <p:cNvSpPr txBox="1"/>
            <p:nvPr/>
          </p:nvSpPr>
          <p:spPr>
            <a:xfrm rot="-5400000">
              <a:off x="3430" y="127"/>
              <a:ext cx="475" cy="231"/>
            </a:xfrm>
            <a:prstGeom prst="rect">
              <a:avLst/>
            </a:prstGeom>
            <a:noFill/>
            <a:ln w="9525">
              <a:noFill/>
            </a:ln>
          </p:spPr>
          <p:txBody>
            <a:bodyPr>
              <a:spAutoFit/>
            </a:bodyPr>
            <a:p>
              <a:pPr>
                <a:spcBef>
                  <a:spcPct val="50000"/>
                </a:spcBef>
              </a:pPr>
              <a:r>
                <a:rPr lang="en-US" altLang="zh-CN" sz="1400" b="1" i="1" dirty="0">
                  <a:solidFill>
                    <a:srgbClr val="0000FF"/>
                  </a:solidFill>
                  <a:latin typeface="Times New Roman" panose="02020603050405020304" pitchFamily="18" charset="0"/>
                </a:rPr>
                <a:t>△</a:t>
              </a:r>
              <a:r>
                <a:rPr lang="en-US" altLang="zh-CN" sz="1800" b="1" i="1" dirty="0">
                  <a:solidFill>
                    <a:srgbClr val="0000FF"/>
                  </a:solidFill>
                  <a:latin typeface="Times New Roman" panose="02020603050405020304" pitchFamily="18" charset="0"/>
                </a:rPr>
                <a:t>δ</a:t>
              </a:r>
              <a:r>
                <a:rPr lang="en-US" altLang="zh-CN" sz="1800" b="1" baseline="-25000" dirty="0">
                  <a:solidFill>
                    <a:srgbClr val="0000FF"/>
                  </a:solidFill>
                  <a:latin typeface="Times New Roman" panose="02020603050405020304" pitchFamily="18" charset="0"/>
                </a:rPr>
                <a:t>1</a:t>
              </a:r>
              <a:endParaRPr lang="en-US" altLang="zh-CN" sz="1800" b="1" baseline="-25000" dirty="0">
                <a:solidFill>
                  <a:srgbClr val="0000FF"/>
                </a:solidFill>
                <a:latin typeface="Times New Roman" panose="02020603050405020304" pitchFamily="18" charset="0"/>
                <a:ea typeface="方正大黑简体"/>
              </a:endParaRPr>
            </a:p>
          </p:txBody>
        </p:sp>
      </p:grpSp>
      <p:grpSp>
        <p:nvGrpSpPr>
          <p:cNvPr id="36110" name="Group 167"/>
          <p:cNvGrpSpPr/>
          <p:nvPr/>
        </p:nvGrpSpPr>
        <p:grpSpPr>
          <a:xfrm>
            <a:off x="4135438" y="4224338"/>
            <a:ext cx="763587" cy="1144587"/>
            <a:chOff x="3311" y="623"/>
            <a:chExt cx="481" cy="721"/>
          </a:xfrm>
        </p:grpSpPr>
        <p:sp>
          <p:nvSpPr>
            <p:cNvPr id="23597" name="Text Box 168"/>
            <p:cNvSpPr txBox="1"/>
            <p:nvPr/>
          </p:nvSpPr>
          <p:spPr>
            <a:xfrm rot="-5400000">
              <a:off x="3189" y="745"/>
              <a:ext cx="475" cy="231"/>
            </a:xfrm>
            <a:prstGeom prst="rect">
              <a:avLst/>
            </a:prstGeom>
            <a:noFill/>
            <a:ln w="9525">
              <a:noFill/>
            </a:ln>
          </p:spPr>
          <p:txBody>
            <a:bodyPr>
              <a:spAutoFit/>
            </a:bodyPr>
            <a:p>
              <a:pPr>
                <a:spcBef>
                  <a:spcPct val="50000"/>
                </a:spcBef>
              </a:pPr>
              <a:r>
                <a:rPr lang="en-US" altLang="zh-CN" sz="1400" b="1" i="1" dirty="0">
                  <a:solidFill>
                    <a:srgbClr val="0000FF"/>
                  </a:solidFill>
                  <a:latin typeface="Times New Roman" panose="02020603050405020304" pitchFamily="18" charset="0"/>
                </a:rPr>
                <a:t>△</a:t>
              </a:r>
              <a:r>
                <a:rPr lang="en-US" altLang="zh-CN" sz="1800" b="1" i="1" dirty="0">
                  <a:solidFill>
                    <a:srgbClr val="0000FF"/>
                  </a:solidFill>
                  <a:latin typeface="Times New Roman" panose="02020603050405020304" pitchFamily="18" charset="0"/>
                </a:rPr>
                <a:t>δ</a:t>
              </a:r>
              <a:r>
                <a:rPr lang="en-US" altLang="zh-CN" sz="1800" b="1" baseline="-25000" dirty="0">
                  <a:solidFill>
                    <a:srgbClr val="0000FF"/>
                  </a:solidFill>
                  <a:latin typeface="Times New Roman" panose="02020603050405020304" pitchFamily="18" charset="0"/>
                </a:rPr>
                <a:t>2</a:t>
              </a:r>
              <a:endParaRPr lang="en-US" altLang="zh-CN" sz="1800" b="1" baseline="-25000" dirty="0">
                <a:solidFill>
                  <a:srgbClr val="0000FF"/>
                </a:solidFill>
                <a:latin typeface="Times New Roman" panose="02020603050405020304" pitchFamily="18" charset="0"/>
                <a:ea typeface="方正大黑简体"/>
              </a:endParaRPr>
            </a:p>
          </p:txBody>
        </p:sp>
        <p:sp>
          <p:nvSpPr>
            <p:cNvPr id="23598" name="Line 169"/>
            <p:cNvSpPr/>
            <p:nvPr/>
          </p:nvSpPr>
          <p:spPr>
            <a:xfrm>
              <a:off x="3456" y="1104"/>
              <a:ext cx="336" cy="0"/>
            </a:xfrm>
            <a:prstGeom prst="line">
              <a:avLst/>
            </a:prstGeom>
            <a:ln w="12700" cap="flat" cmpd="sng">
              <a:solidFill>
                <a:srgbClr val="0000FF"/>
              </a:solidFill>
              <a:prstDash val="solid"/>
              <a:headEnd type="none" w="med" len="med"/>
              <a:tailEnd type="none" w="med" len="med"/>
            </a:ln>
          </p:spPr>
        </p:sp>
        <p:sp>
          <p:nvSpPr>
            <p:cNvPr id="23599" name="Line 170"/>
            <p:cNvSpPr/>
            <p:nvPr/>
          </p:nvSpPr>
          <p:spPr>
            <a:xfrm>
              <a:off x="3552" y="1008"/>
              <a:ext cx="0" cy="144"/>
            </a:xfrm>
            <a:prstGeom prst="line">
              <a:avLst/>
            </a:prstGeom>
            <a:ln w="15875" cap="flat" cmpd="sng">
              <a:solidFill>
                <a:srgbClr val="0000FF"/>
              </a:solidFill>
              <a:prstDash val="solid"/>
              <a:headEnd type="none" w="med" len="med"/>
              <a:tailEnd type="none" w="med" len="med"/>
            </a:ln>
          </p:spPr>
        </p:sp>
        <p:sp>
          <p:nvSpPr>
            <p:cNvPr id="23600" name="Line 171"/>
            <p:cNvSpPr/>
            <p:nvPr/>
          </p:nvSpPr>
          <p:spPr>
            <a:xfrm>
              <a:off x="3552" y="1152"/>
              <a:ext cx="0" cy="192"/>
            </a:xfrm>
            <a:prstGeom prst="line">
              <a:avLst/>
            </a:prstGeom>
            <a:ln w="15875" cap="flat" cmpd="sng">
              <a:solidFill>
                <a:srgbClr val="0000FF"/>
              </a:solidFill>
              <a:prstDash val="solid"/>
              <a:headEnd type="triangle" w="med" len="med"/>
              <a:tailEnd type="none" w="med" len="med"/>
            </a:ln>
          </p:spPr>
        </p:sp>
        <p:sp>
          <p:nvSpPr>
            <p:cNvPr id="23601" name="Line 172"/>
            <p:cNvSpPr/>
            <p:nvPr/>
          </p:nvSpPr>
          <p:spPr>
            <a:xfrm flipV="1">
              <a:off x="3552" y="912"/>
              <a:ext cx="0" cy="192"/>
            </a:xfrm>
            <a:prstGeom prst="line">
              <a:avLst/>
            </a:prstGeom>
            <a:ln w="15875" cap="flat" cmpd="sng">
              <a:solidFill>
                <a:srgbClr val="0000FF"/>
              </a:solidFill>
              <a:prstDash val="solid"/>
              <a:headEnd type="triangle" w="med" len="med"/>
              <a:tailEnd type="none" w="med" len="med"/>
            </a:ln>
          </p:spPr>
        </p:sp>
      </p:grpSp>
      <p:grpSp>
        <p:nvGrpSpPr>
          <p:cNvPr id="36111" name="Group 173"/>
          <p:cNvGrpSpPr/>
          <p:nvPr/>
        </p:nvGrpSpPr>
        <p:grpSpPr>
          <a:xfrm>
            <a:off x="3527425" y="4225925"/>
            <a:ext cx="914400" cy="533400"/>
            <a:chOff x="4656" y="1392"/>
            <a:chExt cx="576" cy="336"/>
          </a:xfrm>
        </p:grpSpPr>
        <p:sp>
          <p:nvSpPr>
            <p:cNvPr id="23595" name="Arc 174"/>
            <p:cNvSpPr/>
            <p:nvPr/>
          </p:nvSpPr>
          <p:spPr>
            <a:xfrm rot="-1184392" flipH="1" flipV="1">
              <a:off x="4656" y="1584"/>
              <a:ext cx="250" cy="144"/>
            </a:xfrm>
            <a:custGeom>
              <a:avLst/>
              <a:gdLst>
                <a:gd name="txL" fmla="*/ 0 w 21868"/>
                <a:gd name="txT" fmla="*/ 0 h 21600"/>
                <a:gd name="txR" fmla="*/ 21868 w 21868"/>
                <a:gd name="txB" fmla="*/ 21600 h 21600"/>
              </a:gdLst>
              <a:ahLst/>
              <a:cxnLst>
                <a:cxn ang="0">
                  <a:pos x="0" y="0"/>
                </a:cxn>
                <a:cxn ang="0">
                  <a:pos x="0" y="0"/>
                </a:cxn>
                <a:cxn ang="0">
                  <a:pos x="0" y="0"/>
                </a:cxn>
              </a:cxnLst>
              <a:rect l="txL" t="txT" r="txR" b="txB"/>
              <a:pathLst>
                <a:path w="21868" h="21600" fill="none">
                  <a:moveTo>
                    <a:pt x="-1" y="1488"/>
                  </a:moveTo>
                  <a:cubicBezTo>
                    <a:pt x="2510" y="504"/>
                    <a:pt x="5183" y="-1"/>
                    <a:pt x="7880" y="0"/>
                  </a:cubicBezTo>
                  <a:cubicBezTo>
                    <a:pt x="13004" y="0"/>
                    <a:pt x="17962" y="1822"/>
                    <a:pt x="21867" y="5141"/>
                  </a:cubicBezTo>
                </a:path>
                <a:path w="21868" h="21600" stroke="0">
                  <a:moveTo>
                    <a:pt x="-1" y="1488"/>
                  </a:moveTo>
                  <a:cubicBezTo>
                    <a:pt x="2510" y="504"/>
                    <a:pt x="5183" y="-1"/>
                    <a:pt x="7880" y="0"/>
                  </a:cubicBezTo>
                  <a:cubicBezTo>
                    <a:pt x="13004" y="0"/>
                    <a:pt x="17962" y="1822"/>
                    <a:pt x="21867" y="5141"/>
                  </a:cubicBezTo>
                  <a:lnTo>
                    <a:pt x="7880" y="21600"/>
                  </a:lnTo>
                  <a:lnTo>
                    <a:pt x="-1" y="1488"/>
                  </a:lnTo>
                  <a:close/>
                </a:path>
              </a:pathLst>
            </a:custGeom>
            <a:noFill/>
            <a:ln w="22225" cap="flat" cmpd="sng">
              <a:solidFill>
                <a:srgbClr val="FF0000">
                  <a:alpha val="100000"/>
                </a:srgbClr>
              </a:solidFill>
              <a:prstDash val="solid"/>
              <a:round/>
              <a:headEnd type="none" w="med" len="med"/>
              <a:tailEnd type="triangle" w="med" len="med"/>
            </a:ln>
          </p:spPr>
          <p:txBody>
            <a:bodyPr/>
            <a:p>
              <a:endParaRPr lang="zh-CN" altLang="en-US"/>
            </a:p>
          </p:txBody>
        </p:sp>
        <p:sp>
          <p:nvSpPr>
            <p:cNvPr id="23596" name="Text Box 175"/>
            <p:cNvSpPr txBox="1"/>
            <p:nvPr/>
          </p:nvSpPr>
          <p:spPr>
            <a:xfrm>
              <a:off x="4848" y="1392"/>
              <a:ext cx="384" cy="288"/>
            </a:xfrm>
            <a:prstGeom prst="rect">
              <a:avLst/>
            </a:prstGeom>
            <a:noFill/>
            <a:ln w="9525">
              <a:noFill/>
            </a:ln>
          </p:spPr>
          <p:txBody>
            <a:bodyPr>
              <a:spAutoFit/>
            </a:bodyPr>
            <a:p>
              <a:pPr>
                <a:spcBef>
                  <a:spcPct val="50000"/>
                </a:spcBef>
              </a:pPr>
              <a:r>
                <a:rPr lang="en-US" altLang="zh-CN" b="1" i="1" dirty="0">
                  <a:solidFill>
                    <a:srgbClr val="FF0000"/>
                  </a:solidFill>
                  <a:latin typeface="Times New Roman" panose="02020603050405020304" pitchFamily="18" charset="0"/>
                  <a:ea typeface="方正大黑简体"/>
                </a:rPr>
                <a:t>T</a:t>
              </a:r>
              <a:endParaRPr lang="en-US" altLang="zh-CN" b="1" i="1" dirty="0">
                <a:solidFill>
                  <a:srgbClr val="FF0000"/>
                </a:solidFill>
                <a:latin typeface="Times New Roman" panose="02020603050405020304" pitchFamily="18" charset="0"/>
                <a:ea typeface="方正大黑简体"/>
              </a:endParaRPr>
            </a:p>
          </p:txBody>
        </p:sp>
      </p:grpSp>
      <p:sp>
        <p:nvSpPr>
          <p:cNvPr id="272" name="Text Box 176"/>
          <p:cNvSpPr txBox="1">
            <a:spLocks noChangeArrowheads="1"/>
          </p:cNvSpPr>
          <p:nvPr/>
        </p:nvSpPr>
        <p:spPr bwMode="auto">
          <a:xfrm>
            <a:off x="7127875" y="3935413"/>
            <a:ext cx="1979613" cy="862013"/>
          </a:xfrm>
          <a:prstGeom prst="rect">
            <a:avLst/>
          </a:prstGeom>
          <a:solidFill>
            <a:schemeClr val="accent1">
              <a:lumMod val="20000"/>
              <a:lumOff val="80000"/>
            </a:schemeClr>
          </a:solidFill>
          <a:ln w="9525">
            <a:noFill/>
            <a:miter lim="800000"/>
          </a:ln>
          <a:effectLst/>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FF0000"/>
                </a:solidFill>
                <a:latin typeface="+mn-ea"/>
                <a:ea typeface="+mn-ea"/>
                <a:cs typeface="+mn-cs"/>
              </a:rPr>
              <a:t>变形协调条件：</a:t>
            </a:r>
            <a:endParaRPr kumimoji="1" lang="en-US" altLang="zh-CN" sz="2000" b="1" kern="1200" cap="none" spc="0" normalizeH="0" baseline="0" noProof="0" dirty="0">
              <a:solidFill>
                <a:srgbClr val="FF0000"/>
              </a:solidFill>
              <a:latin typeface="+mn-ea"/>
              <a:ea typeface="+mn-ea"/>
              <a:cs typeface="+mn-cs"/>
            </a:endParaRPr>
          </a:p>
          <a:p>
            <a:pPr marR="0" defTabSz="914400">
              <a:spcBef>
                <a:spcPct val="50000"/>
              </a:spcBef>
              <a:buClrTx/>
              <a:buSzTx/>
              <a:buFontTx/>
              <a:defRPr/>
            </a:pPr>
            <a:r>
              <a:rPr kumimoji="1" lang="zh-CN" altLang="en-US" sz="2000" b="1" kern="1200" cap="none" spc="0" normalizeH="0" baseline="0" noProof="0" dirty="0">
                <a:solidFill>
                  <a:srgbClr val="002060"/>
                </a:solidFill>
                <a:latin typeface="Times New Roman" panose="02020603050405020304" pitchFamily="18" charset="0"/>
                <a:ea typeface="黑体" panose="02010609060101010101" pitchFamily="49" charset="-122"/>
                <a:cs typeface="+mn-cs"/>
              </a:rPr>
              <a:t>△</a:t>
            </a:r>
            <a:r>
              <a:rPr kumimoji="1" lang="en-US" altLang="zh-CN" sz="2000" b="1" i="1" kern="1200" cap="none" spc="0" normalizeH="0" baseline="0" noProof="0" dirty="0">
                <a:solidFill>
                  <a:srgbClr val="002060"/>
                </a:solidFill>
                <a:latin typeface="Times New Roman" panose="02020603050405020304" pitchFamily="18" charset="0"/>
                <a:ea typeface="黑体" panose="02010609060101010101" pitchFamily="49" charset="-122"/>
                <a:cs typeface="+mn-cs"/>
              </a:rPr>
              <a:t>δ</a:t>
            </a:r>
            <a:r>
              <a:rPr kumimoji="1" lang="en-US" altLang="zh-CN" sz="2000" b="1" kern="1200" cap="none" spc="0" normalizeH="0" baseline="-25000" noProof="0" dirty="0">
                <a:solidFill>
                  <a:srgbClr val="002060"/>
                </a:solidFill>
                <a:latin typeface="Times New Roman" panose="02020603050405020304" pitchFamily="18" charset="0"/>
                <a:ea typeface="黑体" panose="02010609060101010101" pitchFamily="49" charset="-122"/>
                <a:cs typeface="+mn-cs"/>
              </a:rPr>
              <a:t>1 </a:t>
            </a:r>
            <a:r>
              <a:rPr kumimoji="1" lang="en-US" altLang="zh-CN" sz="2000" b="1" kern="1200" cap="none" spc="0" normalizeH="0" baseline="0" noProof="0" dirty="0">
                <a:solidFill>
                  <a:srgbClr val="002060"/>
                </a:solidFill>
                <a:latin typeface="Times New Roman" panose="02020603050405020304" pitchFamily="18" charset="0"/>
                <a:ea typeface="黑体" panose="02010609060101010101" pitchFamily="49" charset="-122"/>
                <a:cs typeface="+mn-cs"/>
              </a:rPr>
              <a:t>=△</a:t>
            </a:r>
            <a:r>
              <a:rPr kumimoji="1" lang="en-US" altLang="zh-CN" sz="2000" b="1" i="1" kern="1200" cap="none" spc="0" normalizeH="0" baseline="0" noProof="0" dirty="0">
                <a:solidFill>
                  <a:srgbClr val="002060"/>
                </a:solidFill>
                <a:latin typeface="Times New Roman" panose="02020603050405020304" pitchFamily="18" charset="0"/>
                <a:ea typeface="黑体" panose="02010609060101010101" pitchFamily="49" charset="-122"/>
                <a:cs typeface="+mn-cs"/>
              </a:rPr>
              <a:t>δ</a:t>
            </a:r>
            <a:r>
              <a:rPr kumimoji="1" lang="en-US" altLang="zh-CN" sz="2000" b="1" kern="1200" cap="none" spc="0" normalizeH="0" baseline="-25000" noProof="0" dirty="0">
                <a:solidFill>
                  <a:srgbClr val="002060"/>
                </a:solidFill>
                <a:latin typeface="Times New Roman" panose="02020603050405020304" pitchFamily="18" charset="0"/>
                <a:ea typeface="黑体" panose="02010609060101010101" pitchFamily="49" charset="-122"/>
                <a:cs typeface="+mn-cs"/>
              </a:rPr>
              <a:t>2</a:t>
            </a:r>
            <a:r>
              <a:rPr kumimoji="1" lang="en-US" altLang="zh-CN" sz="2000" b="1" kern="1200" cap="none" spc="0" normalizeH="0" baseline="0" noProof="0" dirty="0">
                <a:solidFill>
                  <a:srgbClr val="002060"/>
                </a:solidFill>
                <a:latin typeface="Times New Roman" panose="02020603050405020304" pitchFamily="18" charset="0"/>
                <a:ea typeface="黑体" panose="02010609060101010101" pitchFamily="49" charset="-122"/>
                <a:cs typeface="+mn-cs"/>
              </a:rPr>
              <a:t> =△</a:t>
            </a:r>
            <a:r>
              <a:rPr kumimoji="1" lang="en-US" altLang="zh-CN" sz="2000" b="1" i="1" kern="1200" cap="none" spc="0" normalizeH="0" baseline="0" noProof="0" dirty="0">
                <a:solidFill>
                  <a:srgbClr val="002060"/>
                </a:solidFill>
                <a:latin typeface="Times New Roman" panose="02020603050405020304" pitchFamily="18" charset="0"/>
                <a:ea typeface="黑体" panose="02010609060101010101" pitchFamily="49" charset="-122"/>
                <a:cs typeface="+mn-cs"/>
              </a:rPr>
              <a:t>δ</a:t>
            </a:r>
            <a:endParaRPr kumimoji="1" lang="en-US" altLang="zh-CN" sz="2000" b="1" i="1" kern="1200" cap="none" spc="0" normalizeH="0" baseline="0" noProof="0" dirty="0">
              <a:solidFill>
                <a:srgbClr val="002060"/>
              </a:solidFill>
              <a:latin typeface="Times New Roman" panose="02020603050405020304" pitchFamily="18" charset="0"/>
              <a:ea typeface="黑体" panose="02010609060101010101" pitchFamily="49" charset="-122"/>
              <a:cs typeface="+mn-cs"/>
            </a:endParaRPr>
          </a:p>
        </p:txBody>
      </p:sp>
      <p:sp>
        <p:nvSpPr>
          <p:cNvPr id="273" name="Text Box 177"/>
          <p:cNvSpPr txBox="1">
            <a:spLocks noChangeArrowheads="1"/>
          </p:cNvSpPr>
          <p:nvPr/>
        </p:nvSpPr>
        <p:spPr bwMode="auto">
          <a:xfrm>
            <a:off x="7164388" y="5313363"/>
            <a:ext cx="1900238" cy="706755"/>
          </a:xfrm>
          <a:prstGeom prst="rect">
            <a:avLst/>
          </a:prstGeom>
          <a:solidFill>
            <a:srgbClr val="CCFFFF"/>
          </a:solidFill>
          <a:ln w="9525">
            <a:noFill/>
            <a:miter lim="800000"/>
          </a:ln>
          <a:effectLst/>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FF0000"/>
                </a:solidFill>
                <a:effectLst>
                  <a:outerShdw blurRad="38100" dist="38100" dir="2700000" algn="tl">
                    <a:srgbClr val="000000"/>
                  </a:outerShdw>
                </a:effectLst>
                <a:latin typeface="+mn-ea"/>
                <a:ea typeface="+mn-ea"/>
                <a:cs typeface="+mn-cs"/>
              </a:rPr>
              <a:t>静力平衡条件：</a:t>
            </a:r>
            <a:r>
              <a:rPr kumimoji="1" lang="zh-CN" altLang="en-US" sz="2000" b="1" kern="1200" cap="none" spc="0" normalizeH="0" baseline="0" noProof="0" dirty="0">
                <a:solidFill>
                  <a:srgbClr val="FF0000"/>
                </a:solidFill>
                <a:latin typeface="+mn-ea"/>
                <a:ea typeface="+mn-ea"/>
                <a:cs typeface="+mn-cs"/>
              </a:rPr>
              <a:t> </a:t>
            </a:r>
            <a:r>
              <a:rPr kumimoji="1" lang="en-US" altLang="zh-CN" sz="2000" b="1" i="1" kern="1200" cap="none" spc="0" normalizeH="0" baseline="0" noProof="0" dirty="0">
                <a:solidFill>
                  <a:srgbClr val="002060"/>
                </a:solidFill>
                <a:latin typeface="+mn-ea"/>
                <a:ea typeface="+mn-ea"/>
                <a:cs typeface="+mn-cs"/>
              </a:rPr>
              <a:t>F</a:t>
            </a:r>
            <a:r>
              <a:rPr kumimoji="1" lang="en-US" altLang="zh-CN" sz="2000" b="1" kern="1200" cap="none" spc="0" normalizeH="0" baseline="-25000" noProof="0" dirty="0">
                <a:solidFill>
                  <a:srgbClr val="002060"/>
                </a:solidFill>
                <a:latin typeface="+mn-ea"/>
                <a:ea typeface="+mn-ea"/>
                <a:cs typeface="+mn-cs"/>
              </a:rPr>
              <a:t>2</a:t>
            </a:r>
            <a:r>
              <a:rPr kumimoji="1" lang="en-US" altLang="zh-CN" sz="2000" b="1" kern="1200" cap="none" spc="0" normalizeH="0" baseline="0" noProof="0" dirty="0">
                <a:solidFill>
                  <a:srgbClr val="002060"/>
                </a:solidFill>
                <a:latin typeface="+mn-ea"/>
                <a:ea typeface="+mn-ea"/>
                <a:cs typeface="+mn-cs"/>
              </a:rPr>
              <a:t> = </a:t>
            </a:r>
            <a:r>
              <a:rPr kumimoji="1" lang="en-US" altLang="zh-CN" sz="2000" b="1" i="1" kern="1200" cap="none" spc="0" normalizeH="0" baseline="0" noProof="0" dirty="0">
                <a:solidFill>
                  <a:srgbClr val="002060"/>
                </a:solidFill>
                <a:latin typeface="+mn-ea"/>
                <a:ea typeface="+mn-ea"/>
                <a:cs typeface="+mn-cs"/>
              </a:rPr>
              <a:t>F</a:t>
            </a:r>
            <a:r>
              <a:rPr kumimoji="1" lang="en-US" altLang="zh-CN" sz="2000" b="1" i="1" kern="1200" cap="none" spc="0" normalizeH="0" baseline="-25000" noProof="0" dirty="0">
                <a:solidFill>
                  <a:srgbClr val="002060"/>
                </a:solidFill>
                <a:latin typeface="+mn-ea"/>
                <a:ea typeface="+mn-ea"/>
                <a:cs typeface="+mn-cs"/>
              </a:rPr>
              <a:t>1</a:t>
            </a:r>
            <a:r>
              <a:rPr kumimoji="1" lang="en-US" altLang="zh-CN" sz="2000" b="1" kern="1200" cap="none" spc="0" normalizeH="0" baseline="0" noProof="0" dirty="0">
                <a:solidFill>
                  <a:srgbClr val="002060"/>
                </a:solidFill>
                <a:latin typeface="+mn-ea"/>
                <a:ea typeface="+mn-ea"/>
                <a:cs typeface="+mn-cs"/>
              </a:rPr>
              <a:t> + </a:t>
            </a:r>
            <a:r>
              <a:rPr kumimoji="1" lang="en-US" altLang="zh-CN" sz="2000" b="1" i="1" kern="1200" cap="none" spc="0" normalizeH="0" baseline="0" noProof="0" dirty="0">
                <a:solidFill>
                  <a:srgbClr val="002060"/>
                </a:solidFill>
                <a:latin typeface="+mn-ea"/>
                <a:ea typeface="+mn-ea"/>
                <a:cs typeface="+mn-cs"/>
              </a:rPr>
              <a:t>F</a:t>
            </a:r>
            <a:endParaRPr kumimoji="1" lang="en-US" altLang="zh-CN" sz="2000" b="1" i="1" kern="1200" cap="none" spc="0" normalizeH="0" baseline="0" noProof="0" dirty="0">
              <a:solidFill>
                <a:srgbClr val="002060"/>
              </a:solidFill>
              <a:latin typeface="+mn-ea"/>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slide(fromLeft)">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566277"/>
                                        </p:tgtEl>
                                        <p:attrNameLst>
                                          <p:attrName>style.visibility</p:attrName>
                                        </p:attrNameLst>
                                      </p:cBhvr>
                                      <p:to>
                                        <p:strVal val="visible"/>
                                      </p:to>
                                    </p:set>
                                    <p:anim calcmode="lin" valueType="num">
                                      <p:cBhvr>
                                        <p:cTn id="12" dur="500" fill="hold"/>
                                        <p:tgtEl>
                                          <p:spTgt spid="566277"/>
                                        </p:tgtEl>
                                        <p:attrNameLst>
                                          <p:attrName>ppt_w</p:attrName>
                                        </p:attrNameLst>
                                      </p:cBhvr>
                                      <p:tavLst>
                                        <p:tav tm="0">
                                          <p:val>
                                            <p:fltVal val="0.000000"/>
                                          </p:val>
                                        </p:tav>
                                        <p:tav tm="100000">
                                          <p:val>
                                            <p:strVal val="#ppt_w"/>
                                          </p:val>
                                        </p:tav>
                                      </p:tavLst>
                                    </p:anim>
                                    <p:anim calcmode="lin" valueType="num">
                                      <p:cBhvr>
                                        <p:cTn id="13" dur="500" fill="hold"/>
                                        <p:tgtEl>
                                          <p:spTgt spid="566277"/>
                                        </p:tgtEl>
                                        <p:attrNameLst>
                                          <p:attrName>ppt_h</p:attrName>
                                        </p:attrNameLst>
                                      </p:cBhvr>
                                      <p:tavLst>
                                        <p:tav tm="0">
                                          <p:val>
                                            <p:fltVal val="0.000000"/>
                                          </p:val>
                                        </p:tav>
                                        <p:tav tm="100000">
                                          <p:val>
                                            <p:strVal val="#ppt_h"/>
                                          </p:val>
                                        </p:tav>
                                      </p:tavLst>
                                    </p:anim>
                                  </p:childTnLst>
                                </p:cTn>
                              </p:par>
                            </p:childTnLst>
                          </p:cTn>
                        </p:par>
                        <p:par>
                          <p:cTn id="14" fill="hold">
                            <p:stCondLst>
                              <p:cond delay="500"/>
                            </p:stCondLst>
                            <p:childTnLst>
                              <p:par>
                                <p:cTn id="15" presetID="9" presetClass="entr" presetSubtype="0"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42"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arn(outHorizontal)">
                                      <p:cBhvr>
                                        <p:cTn id="28"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up)">
                                      <p:cBhvr>
                                        <p:cTn id="33" dur="500"/>
                                        <p:tgtEl>
                                          <p:spTgt spid="5"/>
                                        </p:tgtEl>
                                      </p:cBhvr>
                                    </p:animEffect>
                                  </p:childTnLst>
                                </p:cTn>
                              </p:par>
                            </p:childTnLst>
                          </p:cTn>
                        </p:par>
                        <p:par>
                          <p:cTn id="34" fill="hold">
                            <p:stCondLst>
                              <p:cond delay="500"/>
                            </p:stCondLst>
                            <p:childTnLst>
                              <p:par>
                                <p:cTn id="35" presetID="22" presetClass="entr" presetSubtype="4" fill="hold"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down)">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0"/>
                                        </p:tgtEl>
                                        <p:attrNameLst>
                                          <p:attrName>style.visibility</p:attrName>
                                        </p:attrNameLst>
                                      </p:cBhvr>
                                      <p:to>
                                        <p:strVal val="visible"/>
                                      </p:to>
                                    </p:set>
                                    <p:animEffect transition="in" filter="wipe(left)">
                                      <p:cBhvr>
                                        <p:cTn id="42" dur="500"/>
                                        <p:tgtEl>
                                          <p:spTgt spid="10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down)">
                                      <p:cBhvr>
                                        <p:cTn id="47" dur="500"/>
                                        <p:tgtEl>
                                          <p:spTgt spid="17"/>
                                        </p:tgtEl>
                                      </p:cBhvr>
                                    </p:animEffect>
                                  </p:childTnLst>
                                </p:cTn>
                              </p:par>
                            </p:childTnLst>
                          </p:cTn>
                        </p:par>
                        <p:par>
                          <p:cTn id="48" fill="hold">
                            <p:stCondLst>
                              <p:cond delay="500"/>
                            </p:stCondLst>
                            <p:childTnLst>
                              <p:par>
                                <p:cTn id="49" presetID="22" presetClass="entr" presetSubtype="1" fill="hold"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up)">
                                      <p:cBhvr>
                                        <p:cTn id="51" dur="500"/>
                                        <p:tgtEl>
                                          <p:spTgt spid="20"/>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9" fill="hold" grpId="0" nodeType="clickEffect">
                                  <p:stCondLst>
                                    <p:cond delay="0"/>
                                  </p:stCondLst>
                                  <p:childTnLst>
                                    <p:set>
                                      <p:cBhvr>
                                        <p:cTn id="55" dur="1" fill="hold">
                                          <p:stCondLst>
                                            <p:cond delay="0"/>
                                          </p:stCondLst>
                                        </p:cTn>
                                        <p:tgtEl>
                                          <p:spTgt spid="92"/>
                                        </p:tgtEl>
                                        <p:attrNameLst>
                                          <p:attrName>style.visibility</p:attrName>
                                        </p:attrNameLst>
                                      </p:cBhvr>
                                      <p:to>
                                        <p:strVal val="visible"/>
                                      </p:to>
                                    </p:set>
                                    <p:anim calcmode="lin" valueType="num">
                                      <p:cBhvr additive="base">
                                        <p:cTn id="56" dur="500" fill="hold"/>
                                        <p:tgtEl>
                                          <p:spTgt spid="92"/>
                                        </p:tgtEl>
                                        <p:attrNameLst>
                                          <p:attrName>ppt_x</p:attrName>
                                        </p:attrNameLst>
                                      </p:cBhvr>
                                      <p:tavLst>
                                        <p:tav tm="0">
                                          <p:val>
                                            <p:strVal val="0-#ppt_w/2"/>
                                          </p:val>
                                        </p:tav>
                                        <p:tav tm="100000">
                                          <p:val>
                                            <p:strVal val="#ppt_x"/>
                                          </p:val>
                                        </p:tav>
                                      </p:tavLst>
                                    </p:anim>
                                    <p:anim calcmode="lin" valueType="num">
                                      <p:cBhvr additive="base">
                                        <p:cTn id="57" dur="500" fill="hold"/>
                                        <p:tgtEl>
                                          <p:spTgt spid="92"/>
                                        </p:tgtEl>
                                        <p:attrNameLst>
                                          <p:attrName>ppt_y</p:attrName>
                                        </p:attrNameLst>
                                      </p:cBhvr>
                                      <p:tavLst>
                                        <p:tav tm="0">
                                          <p:val>
                                            <p:strVal val="0-#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93"/>
                                        </p:tgtEl>
                                        <p:attrNameLst>
                                          <p:attrName>style.visibility</p:attrName>
                                        </p:attrNameLst>
                                      </p:cBhvr>
                                      <p:to>
                                        <p:strVal val="visible"/>
                                      </p:to>
                                    </p:set>
                                    <p:animEffect transition="in" filter="box(in)">
                                      <p:cBhvr>
                                        <p:cTn id="62" dur="500"/>
                                        <p:tgtEl>
                                          <p:spTgt spid="93"/>
                                        </p:tgtEl>
                                      </p:cBhvr>
                                    </p:animEffect>
                                  </p:childTnLst>
                                </p:cTn>
                              </p:par>
                            </p:childTnLst>
                          </p:cTn>
                        </p:par>
                        <p:par>
                          <p:cTn id="63" fill="hold">
                            <p:stCondLst>
                              <p:cond delay="500"/>
                            </p:stCondLst>
                            <p:childTnLst>
                              <p:par>
                                <p:cTn id="64" presetID="19" presetClass="entr" presetSubtype="10" fill="hold" grpId="0" nodeType="afterEffect">
                                  <p:stCondLst>
                                    <p:cond delay="0"/>
                                  </p:stCondLst>
                                  <p:childTnLst>
                                    <p:set>
                                      <p:cBhvr>
                                        <p:cTn id="65" dur="1" fill="hold">
                                          <p:stCondLst>
                                            <p:cond delay="0"/>
                                          </p:stCondLst>
                                        </p:cTn>
                                        <p:tgtEl>
                                          <p:spTgt spid="94"/>
                                        </p:tgtEl>
                                        <p:attrNameLst>
                                          <p:attrName>style.visibility</p:attrName>
                                        </p:attrNameLst>
                                      </p:cBhvr>
                                      <p:to>
                                        <p:strVal val="visible"/>
                                      </p:to>
                                    </p:set>
                                    <p:anim calcmode="lin" valueType="num">
                                      <p:cBhvr>
                                        <p:cTn id="66" dur="5000" fill="hold"/>
                                        <p:tgtEl>
                                          <p:spTgt spid="94"/>
                                        </p:tgtEl>
                                        <p:attrNameLst>
                                          <p:attrName>ppt_w</p:attrName>
                                        </p:attrNameLst>
                                      </p:cBhvr>
                                      <p:tavLst>
                                        <p:tav tm="0" fmla="#ppt_w*sin(2.5*pi*$)">
                                          <p:val>
                                            <p:fltVal val="0.000000"/>
                                          </p:val>
                                        </p:tav>
                                        <p:tav tm="100000">
                                          <p:val>
                                            <p:fltVal val="1.000000"/>
                                          </p:val>
                                        </p:tav>
                                      </p:tavLst>
                                    </p:anim>
                                    <p:anim calcmode="lin" valueType="num">
                                      <p:cBhvr>
                                        <p:cTn id="67" dur="5000" fill="hold"/>
                                        <p:tgtEl>
                                          <p:spTgt spid="94"/>
                                        </p:tgtEl>
                                        <p:attrNameLst>
                                          <p:attrName>ppt_h</p:attrName>
                                        </p:attrNameLst>
                                      </p:cBhvr>
                                      <p:tavLst>
                                        <p:tav tm="0">
                                          <p:val>
                                            <p:strVal val="#ppt_h"/>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6" fill="hold" grpId="0" nodeType="clickEffect">
                                  <p:stCondLst>
                                    <p:cond delay="0"/>
                                  </p:stCondLst>
                                  <p:childTnLst>
                                    <p:set>
                                      <p:cBhvr>
                                        <p:cTn id="71" dur="1" fill="hold">
                                          <p:stCondLst>
                                            <p:cond delay="0"/>
                                          </p:stCondLst>
                                        </p:cTn>
                                        <p:tgtEl>
                                          <p:spTgt spid="95"/>
                                        </p:tgtEl>
                                        <p:attrNameLst>
                                          <p:attrName>style.visibility</p:attrName>
                                        </p:attrNameLst>
                                      </p:cBhvr>
                                      <p:to>
                                        <p:strVal val="visible"/>
                                      </p:to>
                                    </p:set>
                                    <p:anim calcmode="lin" valueType="num">
                                      <p:cBhvr additive="base">
                                        <p:cTn id="72" dur="500" fill="hold"/>
                                        <p:tgtEl>
                                          <p:spTgt spid="95"/>
                                        </p:tgtEl>
                                        <p:attrNameLst>
                                          <p:attrName>ppt_x</p:attrName>
                                        </p:attrNameLst>
                                      </p:cBhvr>
                                      <p:tavLst>
                                        <p:tav tm="0">
                                          <p:val>
                                            <p:strVal val="1+#ppt_w/2"/>
                                          </p:val>
                                        </p:tav>
                                        <p:tav tm="100000">
                                          <p:val>
                                            <p:strVal val="#ppt_x"/>
                                          </p:val>
                                        </p:tav>
                                      </p:tavLst>
                                    </p:anim>
                                    <p:anim calcmode="lin" valueType="num">
                                      <p:cBhvr additive="base">
                                        <p:cTn id="73" dur="500" fill="hold"/>
                                        <p:tgtEl>
                                          <p:spTgt spid="9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0"/>
                                            </p:cond>
                                          </p:stCondLst>
                                          <p:endCondLst>
                                            <p:cond evt="onStopAudio" delay="0">
                                              <p:tgtEl>
                                                <p:sldTgt/>
                                              </p:tgtEl>
                                            </p:cond>
                                          </p:endCondLst>
                                        </p:cTn>
                                        <p:tgtEl>
                                          <p:sndTgt r:embed="rId1" name="CARBRAKE.WAV"/>
                                        </p:tgtEl>
                                      </p:cMediaNode>
                                    </p:audio>
                                  </p:sub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96"/>
                                        </p:tgtEl>
                                        <p:attrNameLst>
                                          <p:attrName>style.visibility</p:attrName>
                                        </p:attrNameLst>
                                      </p:cBhvr>
                                      <p:to>
                                        <p:strVal val="visible"/>
                                      </p:to>
                                    </p:set>
                                    <p:animEffect transition="in" filter="dissolve">
                                      <p:cBhvr>
                                        <p:cTn id="78" dur="500"/>
                                        <p:tgtEl>
                                          <p:spTgt spid="96"/>
                                        </p:tgtEl>
                                      </p:cBhvr>
                                    </p:animEffect>
                                  </p:childTnLst>
                                </p:cTn>
                              </p:par>
                            </p:childTnLst>
                          </p:cTn>
                        </p:par>
                      </p:childTnLst>
                    </p:cTn>
                  </p:par>
                  <p:par>
                    <p:cTn id="79" fill="hold">
                      <p:stCondLst>
                        <p:cond delay="indefinite"/>
                      </p:stCondLst>
                      <p:childTnLst>
                        <p:par>
                          <p:cTn id="80" fill="hold">
                            <p:stCondLst>
                              <p:cond delay="0"/>
                            </p:stCondLst>
                            <p:childTnLst>
                              <p:par>
                                <p:cTn id="81" presetID="16" presetClass="entr" presetSubtype="42" fill="hold" nodeType="clickEffect">
                                  <p:stCondLst>
                                    <p:cond delay="0"/>
                                  </p:stCondLst>
                                  <p:childTnLst>
                                    <p:set>
                                      <p:cBhvr>
                                        <p:cTn id="82" dur="1" fill="hold">
                                          <p:stCondLst>
                                            <p:cond delay="0"/>
                                          </p:stCondLst>
                                        </p:cTn>
                                        <p:tgtEl>
                                          <p:spTgt spid="8"/>
                                        </p:tgtEl>
                                        <p:attrNameLst>
                                          <p:attrName>style.visibility</p:attrName>
                                        </p:attrNameLst>
                                      </p:cBhvr>
                                      <p:to>
                                        <p:strVal val="visible"/>
                                      </p:to>
                                    </p:set>
                                    <p:animEffect transition="in" filter="barn(outHorizontal)">
                                      <p:cBhvr>
                                        <p:cTn id="83"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3"/>
                                        </p:tgtEl>
                                        <p:attrNameLst>
                                          <p:attrName>style.visibility</p:attrName>
                                        </p:attrNameLst>
                                      </p:cBhvr>
                                      <p:to>
                                        <p:strVal val="visible"/>
                                      </p:to>
                                    </p:set>
                                    <p:animEffect transition="in" filter="wipe(up)">
                                      <p:cBhvr>
                                        <p:cTn id="88" dur="500"/>
                                        <p:tgtEl>
                                          <p:spTgt spid="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1" fill="hold" nodeType="clickEffect">
                                  <p:stCondLst>
                                    <p:cond delay="0"/>
                                  </p:stCondLst>
                                  <p:childTnLst>
                                    <p:set>
                                      <p:cBhvr>
                                        <p:cTn id="92" dur="1" fill="hold">
                                          <p:stCondLst>
                                            <p:cond delay="0"/>
                                          </p:stCondLst>
                                        </p:cTn>
                                        <p:tgtEl>
                                          <p:spTgt spid="18"/>
                                        </p:tgtEl>
                                        <p:attrNameLst>
                                          <p:attrName>style.visibility</p:attrName>
                                        </p:attrNameLst>
                                      </p:cBhvr>
                                      <p:to>
                                        <p:strVal val="visible"/>
                                      </p:to>
                                    </p:set>
                                    <p:animEffect transition="in" filter="wipe(up)">
                                      <p:cBhvr>
                                        <p:cTn id="93" dur="500"/>
                                        <p:tgtEl>
                                          <p:spTgt spid="18"/>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grpId="0" nodeType="clickEffect">
                                  <p:stCondLst>
                                    <p:cond delay="0"/>
                                  </p:stCondLst>
                                  <p:childTnLst>
                                    <p:set>
                                      <p:cBhvr>
                                        <p:cTn id="97" dur="1" fill="hold">
                                          <p:stCondLst>
                                            <p:cond delay="0"/>
                                          </p:stCondLst>
                                        </p:cTn>
                                        <p:tgtEl>
                                          <p:spTgt spid="97"/>
                                        </p:tgtEl>
                                        <p:attrNameLst>
                                          <p:attrName>style.visibility</p:attrName>
                                        </p:attrNameLst>
                                      </p:cBhvr>
                                      <p:to>
                                        <p:strVal val="visible"/>
                                      </p:to>
                                    </p:set>
                                    <p:animEffect transition="in" filter="dissolve">
                                      <p:cBhvr>
                                        <p:cTn id="98" dur="500"/>
                                        <p:tgtEl>
                                          <p:spTgt spid="97"/>
                                        </p:tgtEl>
                                      </p:cBhvr>
                                    </p:animEffect>
                                  </p:childTnLst>
                                </p:cTn>
                              </p:par>
                            </p:childTnLst>
                          </p:cTn>
                        </p:par>
                      </p:childTnLst>
                    </p:cTn>
                  </p:par>
                  <p:par>
                    <p:cTn id="99" fill="hold">
                      <p:stCondLst>
                        <p:cond delay="indefinite"/>
                      </p:stCondLst>
                      <p:childTnLst>
                        <p:par>
                          <p:cTn id="100" fill="hold">
                            <p:stCondLst>
                              <p:cond delay="0"/>
                            </p:stCondLst>
                            <p:childTnLst>
                              <p:par>
                                <p:cTn id="101" presetID="9" presetClass="entr" presetSubtype="0" fill="hold" grpId="0" nodeType="clickEffect">
                                  <p:stCondLst>
                                    <p:cond delay="0"/>
                                  </p:stCondLst>
                                  <p:childTnLst>
                                    <p:set>
                                      <p:cBhvr>
                                        <p:cTn id="102" dur="1" fill="hold">
                                          <p:stCondLst>
                                            <p:cond delay="0"/>
                                          </p:stCondLst>
                                        </p:cTn>
                                        <p:tgtEl>
                                          <p:spTgt spid="99"/>
                                        </p:tgtEl>
                                        <p:attrNameLst>
                                          <p:attrName>style.visibility</p:attrName>
                                        </p:attrNameLst>
                                      </p:cBhvr>
                                      <p:to>
                                        <p:strVal val="visible"/>
                                      </p:to>
                                    </p:set>
                                    <p:animEffect transition="in" filter="dissolve">
                                      <p:cBhvr>
                                        <p:cTn id="103" dur="500"/>
                                        <p:tgtEl>
                                          <p:spTgt spid="99"/>
                                        </p:tgtEl>
                                      </p:cBhvr>
                                    </p:animEffect>
                                  </p:childTnLst>
                                </p:cTn>
                              </p:par>
                            </p:childTnLst>
                          </p:cTn>
                        </p:par>
                        <p:par>
                          <p:cTn id="104" fill="hold">
                            <p:stCondLst>
                              <p:cond delay="500"/>
                            </p:stCondLst>
                            <p:childTnLst>
                              <p:par>
                                <p:cTn id="105" presetID="16" presetClass="entr" presetSubtype="37" fill="hold" grpId="0" nodeType="afterEffect">
                                  <p:stCondLst>
                                    <p:cond delay="0"/>
                                  </p:stCondLst>
                                  <p:childTnLst>
                                    <p:set>
                                      <p:cBhvr>
                                        <p:cTn id="106" dur="1" fill="hold">
                                          <p:stCondLst>
                                            <p:cond delay="0"/>
                                          </p:stCondLst>
                                        </p:cTn>
                                        <p:tgtEl>
                                          <p:spTgt spid="101"/>
                                        </p:tgtEl>
                                        <p:attrNameLst>
                                          <p:attrName>style.visibility</p:attrName>
                                        </p:attrNameLst>
                                      </p:cBhvr>
                                      <p:to>
                                        <p:strVal val="visible"/>
                                      </p:to>
                                    </p:set>
                                    <p:animEffect transition="in" filter="barn(outVertical)">
                                      <p:cBhvr>
                                        <p:cTn id="107" dur="500"/>
                                        <p:tgtEl>
                                          <p:spTgt spid="101"/>
                                        </p:tgtEl>
                                      </p:cBhvr>
                                    </p:animEffect>
                                  </p:childTnLst>
                                </p:cTn>
                              </p:par>
                            </p:childTnLst>
                          </p:cTn>
                        </p:par>
                        <p:par>
                          <p:cTn id="108" fill="hold">
                            <p:stCondLst>
                              <p:cond delay="1000"/>
                            </p:stCondLst>
                            <p:childTnLst>
                              <p:par>
                                <p:cTn id="109" presetID="22" presetClass="entr" presetSubtype="8" fill="hold" nodeType="afterEffect">
                                  <p:stCondLst>
                                    <p:cond delay="0"/>
                                  </p:stCondLst>
                                  <p:childTnLst>
                                    <p:set>
                                      <p:cBhvr>
                                        <p:cTn id="110" dur="1" fill="hold">
                                          <p:stCondLst>
                                            <p:cond delay="0"/>
                                          </p:stCondLst>
                                        </p:cTn>
                                        <p:tgtEl>
                                          <p:spTgt spid="21"/>
                                        </p:tgtEl>
                                        <p:attrNameLst>
                                          <p:attrName>style.visibility</p:attrName>
                                        </p:attrNameLst>
                                      </p:cBhvr>
                                      <p:to>
                                        <p:strVal val="visible"/>
                                      </p:to>
                                    </p:set>
                                    <p:animEffect transition="in" filter="wipe(left)">
                                      <p:cBhvr>
                                        <p:cTn id="111" dur="500"/>
                                        <p:tgtEl>
                                          <p:spTgt spid="21"/>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30"/>
                                        </p:tgtEl>
                                        <p:attrNameLst>
                                          <p:attrName>style.visibility</p:attrName>
                                        </p:attrNameLst>
                                      </p:cBhvr>
                                      <p:to>
                                        <p:strVal val="visible"/>
                                      </p:to>
                                    </p:set>
                                    <p:animEffect transition="in" filter="wipe(left)">
                                      <p:cBhvr>
                                        <p:cTn id="116" dur="500"/>
                                        <p:tgtEl>
                                          <p:spTgt spid="30"/>
                                        </p:tgtEl>
                                      </p:cBhvr>
                                    </p:animEffect>
                                  </p:childTnLst>
                                </p:cTn>
                              </p:par>
                            </p:childTnLst>
                          </p:cTn>
                        </p:par>
                        <p:par>
                          <p:cTn id="117" fill="hold">
                            <p:stCondLst>
                              <p:cond delay="500"/>
                            </p:stCondLst>
                            <p:childTnLst>
                              <p:par>
                                <p:cTn id="118" presetID="2" presetClass="entr" presetSubtype="2" fill="hold" nodeType="afterEffect">
                                  <p:stCondLst>
                                    <p:cond delay="0"/>
                                  </p:stCondLst>
                                  <p:childTnLst>
                                    <p:set>
                                      <p:cBhvr>
                                        <p:cTn id="119" dur="1" fill="hold">
                                          <p:stCondLst>
                                            <p:cond delay="0"/>
                                          </p:stCondLst>
                                        </p:cTn>
                                        <p:tgtEl>
                                          <p:spTgt spid="36111"/>
                                        </p:tgtEl>
                                        <p:attrNameLst>
                                          <p:attrName>style.visibility</p:attrName>
                                        </p:attrNameLst>
                                      </p:cBhvr>
                                      <p:to>
                                        <p:strVal val="visible"/>
                                      </p:to>
                                    </p:set>
                                    <p:anim calcmode="lin" valueType="num">
                                      <p:cBhvr additive="base">
                                        <p:cTn id="120" dur="500" fill="hold"/>
                                        <p:tgtEl>
                                          <p:spTgt spid="36111"/>
                                        </p:tgtEl>
                                        <p:attrNameLst>
                                          <p:attrName>ppt_x</p:attrName>
                                        </p:attrNameLst>
                                      </p:cBhvr>
                                      <p:tavLst>
                                        <p:tav tm="0">
                                          <p:val>
                                            <p:strVal val="1+#ppt_w/2"/>
                                          </p:val>
                                        </p:tav>
                                        <p:tav tm="100000">
                                          <p:val>
                                            <p:strVal val="#ppt_x"/>
                                          </p:val>
                                        </p:tav>
                                      </p:tavLst>
                                    </p:anim>
                                    <p:anim calcmode="lin" valueType="num">
                                      <p:cBhvr additive="base">
                                        <p:cTn id="121" dur="500" fill="hold"/>
                                        <p:tgtEl>
                                          <p:spTgt spid="36111"/>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36111"/>
                                        </p:tgtEl>
                                        <p:attrNameLst>
                                          <p:attrName>style.visibility</p:attrName>
                                        </p:attrNameLst>
                                      </p:cBhvr>
                                      <p:to>
                                        <p:strVal val="hidden"/>
                                      </p:to>
                                    </p:set>
                                  </p:subTnLst>
                                </p:cTn>
                              </p:par>
                            </p:childTnLst>
                          </p:cTn>
                        </p:par>
                      </p:childTnLst>
                    </p:cTn>
                  </p:par>
                  <p:par>
                    <p:cTn id="122" fill="hold">
                      <p:stCondLst>
                        <p:cond delay="indefinite"/>
                      </p:stCondLst>
                      <p:childTnLst>
                        <p:par>
                          <p:cTn id="123" fill="hold">
                            <p:stCondLst>
                              <p:cond delay="0"/>
                            </p:stCondLst>
                            <p:childTnLst>
                              <p:par>
                                <p:cTn id="124" presetID="12" presetClass="entr" presetSubtype="4" fill="hold" nodeType="clickEffect">
                                  <p:stCondLst>
                                    <p:cond delay="0"/>
                                  </p:stCondLst>
                                  <p:childTnLst>
                                    <p:set>
                                      <p:cBhvr>
                                        <p:cTn id="125" dur="1" fill="hold">
                                          <p:stCondLst>
                                            <p:cond delay="0"/>
                                          </p:stCondLst>
                                        </p:cTn>
                                        <p:tgtEl>
                                          <p:spTgt spid="26"/>
                                        </p:tgtEl>
                                        <p:attrNameLst>
                                          <p:attrName>style.visibility</p:attrName>
                                        </p:attrNameLst>
                                      </p:cBhvr>
                                      <p:to>
                                        <p:strVal val="visible"/>
                                      </p:to>
                                    </p:set>
                                    <p:animEffect transition="in" filter="slide(fromBottom)">
                                      <p:cBhvr>
                                        <p:cTn id="126" dur="500"/>
                                        <p:tgtEl>
                                          <p:spTgt spid="26"/>
                                        </p:tgtEl>
                                      </p:cBhvr>
                                    </p:animEffect>
                                  </p:childTnLst>
                                </p:cTn>
                              </p:par>
                            </p:childTnLst>
                          </p:cTn>
                        </p:par>
                        <p:par>
                          <p:cTn id="127" fill="hold">
                            <p:stCondLst>
                              <p:cond delay="500"/>
                            </p:stCondLst>
                            <p:childTnLst>
                              <p:par>
                                <p:cTn id="128" presetID="12" presetClass="entr" presetSubtype="1" fill="hold" nodeType="afterEffect">
                                  <p:stCondLst>
                                    <p:cond delay="0"/>
                                  </p:stCondLst>
                                  <p:childTnLst>
                                    <p:set>
                                      <p:cBhvr>
                                        <p:cTn id="129" dur="1" fill="hold">
                                          <p:stCondLst>
                                            <p:cond delay="0"/>
                                          </p:stCondLst>
                                        </p:cTn>
                                        <p:tgtEl>
                                          <p:spTgt spid="27"/>
                                        </p:tgtEl>
                                        <p:attrNameLst>
                                          <p:attrName>style.visibility</p:attrName>
                                        </p:attrNameLst>
                                      </p:cBhvr>
                                      <p:to>
                                        <p:strVal val="visible"/>
                                      </p:to>
                                    </p:set>
                                    <p:animEffect transition="in" filter="slide(fromTop)">
                                      <p:cBhvr>
                                        <p:cTn id="130" dur="500"/>
                                        <p:tgtEl>
                                          <p:spTgt spid="27"/>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4" fill="hold" nodeType="clickEffect">
                                  <p:stCondLst>
                                    <p:cond delay="0"/>
                                  </p:stCondLst>
                                  <p:childTnLst>
                                    <p:set>
                                      <p:cBhvr>
                                        <p:cTn id="134" dur="1" fill="hold">
                                          <p:stCondLst>
                                            <p:cond delay="0"/>
                                          </p:stCondLst>
                                        </p:cTn>
                                        <p:tgtEl>
                                          <p:spTgt spid="29"/>
                                        </p:tgtEl>
                                        <p:attrNameLst>
                                          <p:attrName>style.visibility</p:attrName>
                                        </p:attrNameLst>
                                      </p:cBhvr>
                                      <p:to>
                                        <p:strVal val="visible"/>
                                      </p:to>
                                    </p:set>
                                    <p:animEffect transition="in" filter="wipe(down)">
                                      <p:cBhvr>
                                        <p:cTn id="135" dur="500"/>
                                        <p:tgtEl>
                                          <p:spTgt spid="29"/>
                                        </p:tgtEl>
                                      </p:cBhvr>
                                    </p:animEffect>
                                  </p:childTnLst>
                                </p:cTn>
                              </p:par>
                            </p:childTnLst>
                          </p:cTn>
                        </p:par>
                        <p:par>
                          <p:cTn id="136" fill="hold">
                            <p:stCondLst>
                              <p:cond delay="500"/>
                            </p:stCondLst>
                            <p:childTnLst>
                              <p:par>
                                <p:cTn id="137" presetID="22" presetClass="entr" presetSubtype="1" fill="hold" nodeType="afterEffect">
                                  <p:stCondLst>
                                    <p:cond delay="0"/>
                                  </p:stCondLst>
                                  <p:childTnLst>
                                    <p:set>
                                      <p:cBhvr>
                                        <p:cTn id="138" dur="1" fill="hold">
                                          <p:stCondLst>
                                            <p:cond delay="0"/>
                                          </p:stCondLst>
                                        </p:cTn>
                                        <p:tgtEl>
                                          <p:spTgt spid="28"/>
                                        </p:tgtEl>
                                        <p:attrNameLst>
                                          <p:attrName>style.visibility</p:attrName>
                                        </p:attrNameLst>
                                      </p:cBhvr>
                                      <p:to>
                                        <p:strVal val="visible"/>
                                      </p:to>
                                    </p:set>
                                    <p:animEffect transition="in" filter="wipe(up)">
                                      <p:cBhvr>
                                        <p:cTn id="139" dur="500"/>
                                        <p:tgtEl>
                                          <p:spTgt spid="28"/>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nodeType="clickEffect">
                                  <p:stCondLst>
                                    <p:cond delay="0"/>
                                  </p:stCondLst>
                                  <p:childTnLst>
                                    <p:set>
                                      <p:cBhvr>
                                        <p:cTn id="143" dur="1" fill="hold">
                                          <p:stCondLst>
                                            <p:cond delay="0"/>
                                          </p:stCondLst>
                                        </p:cTn>
                                        <p:tgtEl>
                                          <p:spTgt spid="36107"/>
                                        </p:tgtEl>
                                        <p:attrNameLst>
                                          <p:attrName>style.visibility</p:attrName>
                                        </p:attrNameLst>
                                      </p:cBhvr>
                                      <p:to>
                                        <p:strVal val="visible"/>
                                      </p:to>
                                    </p:set>
                                    <p:animEffect transition="in" filter="wipe(left)">
                                      <p:cBhvr>
                                        <p:cTn id="144" dur="500"/>
                                        <p:tgtEl>
                                          <p:spTgt spid="36107"/>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1" fill="hold" nodeType="clickEffect">
                                  <p:stCondLst>
                                    <p:cond delay="0"/>
                                  </p:stCondLst>
                                  <p:childTnLst>
                                    <p:set>
                                      <p:cBhvr>
                                        <p:cTn id="148" dur="1" fill="hold">
                                          <p:stCondLst>
                                            <p:cond delay="0"/>
                                          </p:stCondLst>
                                        </p:cTn>
                                        <p:tgtEl>
                                          <p:spTgt spid="36105"/>
                                        </p:tgtEl>
                                        <p:attrNameLst>
                                          <p:attrName>style.visibility</p:attrName>
                                        </p:attrNameLst>
                                      </p:cBhvr>
                                      <p:to>
                                        <p:strVal val="visible"/>
                                      </p:to>
                                    </p:set>
                                    <p:animEffect transition="in" filter="wipe(up)">
                                      <p:cBhvr>
                                        <p:cTn id="149" dur="500"/>
                                        <p:tgtEl>
                                          <p:spTgt spid="36105"/>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nodeType="clickEffect">
                                  <p:stCondLst>
                                    <p:cond delay="0"/>
                                  </p:stCondLst>
                                  <p:childTnLst>
                                    <p:set>
                                      <p:cBhvr>
                                        <p:cTn id="153" dur="1" fill="hold">
                                          <p:stCondLst>
                                            <p:cond delay="0"/>
                                          </p:stCondLst>
                                        </p:cTn>
                                        <p:tgtEl>
                                          <p:spTgt spid="36098"/>
                                        </p:tgtEl>
                                        <p:attrNameLst>
                                          <p:attrName>style.visibility</p:attrName>
                                        </p:attrNameLst>
                                      </p:cBhvr>
                                      <p:to>
                                        <p:strVal val="visible"/>
                                      </p:to>
                                    </p:set>
                                    <p:animEffect transition="in" filter="wipe(left)">
                                      <p:cBhvr>
                                        <p:cTn id="154" dur="500"/>
                                        <p:tgtEl>
                                          <p:spTgt spid="36098"/>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1" fill="hold" nodeType="clickEffect">
                                  <p:stCondLst>
                                    <p:cond delay="0"/>
                                  </p:stCondLst>
                                  <p:childTnLst>
                                    <p:set>
                                      <p:cBhvr>
                                        <p:cTn id="158" dur="1" fill="hold">
                                          <p:stCondLst>
                                            <p:cond delay="0"/>
                                          </p:stCondLst>
                                        </p:cTn>
                                        <p:tgtEl>
                                          <p:spTgt spid="36092"/>
                                        </p:tgtEl>
                                        <p:attrNameLst>
                                          <p:attrName>style.visibility</p:attrName>
                                        </p:attrNameLst>
                                      </p:cBhvr>
                                      <p:to>
                                        <p:strVal val="visible"/>
                                      </p:to>
                                    </p:set>
                                    <p:animEffect transition="in" filter="wipe(up)">
                                      <p:cBhvr>
                                        <p:cTn id="159" dur="500"/>
                                        <p:tgtEl>
                                          <p:spTgt spid="36092"/>
                                        </p:tgtEl>
                                      </p:cBhvr>
                                    </p:animEffect>
                                  </p:childTnLst>
                                </p:cTn>
                              </p:par>
                            </p:childTnLst>
                          </p:cTn>
                        </p:par>
                        <p:par>
                          <p:cTn id="160" fill="hold">
                            <p:stCondLst>
                              <p:cond delay="500"/>
                            </p:stCondLst>
                            <p:childTnLst>
                              <p:par>
                                <p:cTn id="161" presetID="22" presetClass="entr" presetSubtype="4" fill="hold" nodeType="afterEffect">
                                  <p:stCondLst>
                                    <p:cond delay="0"/>
                                  </p:stCondLst>
                                  <p:childTnLst>
                                    <p:set>
                                      <p:cBhvr>
                                        <p:cTn id="162" dur="1" fill="hold">
                                          <p:stCondLst>
                                            <p:cond delay="0"/>
                                          </p:stCondLst>
                                        </p:cTn>
                                        <p:tgtEl>
                                          <p:spTgt spid="36093"/>
                                        </p:tgtEl>
                                        <p:attrNameLst>
                                          <p:attrName>style.visibility</p:attrName>
                                        </p:attrNameLst>
                                      </p:cBhvr>
                                      <p:to>
                                        <p:strVal val="visible"/>
                                      </p:to>
                                    </p:set>
                                    <p:animEffect transition="in" filter="wipe(down)">
                                      <p:cBhvr>
                                        <p:cTn id="163" dur="500"/>
                                        <p:tgtEl>
                                          <p:spTgt spid="36093"/>
                                        </p:tgtEl>
                                      </p:cBhvr>
                                    </p:animEffect>
                                  </p:childTnLst>
                                </p:cTn>
                              </p:par>
                            </p:childTnLst>
                          </p:cTn>
                        </p:par>
                      </p:childTnLst>
                    </p:cTn>
                  </p:par>
                  <p:par>
                    <p:cTn id="164" fill="hold">
                      <p:stCondLst>
                        <p:cond delay="indefinite"/>
                      </p:stCondLst>
                      <p:childTnLst>
                        <p:par>
                          <p:cTn id="165" fill="hold">
                            <p:stCondLst>
                              <p:cond delay="0"/>
                            </p:stCondLst>
                            <p:childTnLst>
                              <p:par>
                                <p:cTn id="166" presetID="12" presetClass="entr" presetSubtype="4" fill="hold" nodeType="clickEffect">
                                  <p:stCondLst>
                                    <p:cond delay="0"/>
                                  </p:stCondLst>
                                  <p:childTnLst>
                                    <p:set>
                                      <p:cBhvr>
                                        <p:cTn id="167" dur="1" fill="hold">
                                          <p:stCondLst>
                                            <p:cond delay="0"/>
                                          </p:stCondLst>
                                        </p:cTn>
                                        <p:tgtEl>
                                          <p:spTgt spid="36101"/>
                                        </p:tgtEl>
                                        <p:attrNameLst>
                                          <p:attrName>style.visibility</p:attrName>
                                        </p:attrNameLst>
                                      </p:cBhvr>
                                      <p:to>
                                        <p:strVal val="visible"/>
                                      </p:to>
                                    </p:set>
                                    <p:animEffect transition="in" filter="slide(fromBottom)">
                                      <p:cBhvr>
                                        <p:cTn id="168" dur="500"/>
                                        <p:tgtEl>
                                          <p:spTgt spid="36101"/>
                                        </p:tgtEl>
                                      </p:cBhvr>
                                    </p:animEffect>
                                  </p:childTnLst>
                                </p:cTn>
                              </p:par>
                            </p:childTnLst>
                          </p:cTn>
                        </p:par>
                        <p:par>
                          <p:cTn id="169" fill="hold">
                            <p:stCondLst>
                              <p:cond delay="500"/>
                            </p:stCondLst>
                            <p:childTnLst>
                              <p:par>
                                <p:cTn id="170" presetID="12" presetClass="entr" presetSubtype="1" fill="hold" nodeType="afterEffect">
                                  <p:stCondLst>
                                    <p:cond delay="0"/>
                                  </p:stCondLst>
                                  <p:childTnLst>
                                    <p:set>
                                      <p:cBhvr>
                                        <p:cTn id="171" dur="1" fill="hold">
                                          <p:stCondLst>
                                            <p:cond delay="0"/>
                                          </p:stCondLst>
                                        </p:cTn>
                                        <p:tgtEl>
                                          <p:spTgt spid="36104"/>
                                        </p:tgtEl>
                                        <p:attrNameLst>
                                          <p:attrName>style.visibility</p:attrName>
                                        </p:attrNameLst>
                                      </p:cBhvr>
                                      <p:to>
                                        <p:strVal val="visible"/>
                                      </p:to>
                                    </p:set>
                                    <p:animEffect transition="in" filter="slide(fromTop)">
                                      <p:cBhvr>
                                        <p:cTn id="172" dur="500"/>
                                        <p:tgtEl>
                                          <p:spTgt spid="36104"/>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4" fill="hold" nodeType="clickEffect">
                                  <p:stCondLst>
                                    <p:cond delay="0"/>
                                  </p:stCondLst>
                                  <p:childTnLst>
                                    <p:set>
                                      <p:cBhvr>
                                        <p:cTn id="176" dur="1" fill="hold">
                                          <p:stCondLst>
                                            <p:cond delay="0"/>
                                          </p:stCondLst>
                                        </p:cTn>
                                        <p:tgtEl>
                                          <p:spTgt spid="36103"/>
                                        </p:tgtEl>
                                        <p:attrNameLst>
                                          <p:attrName>style.visibility</p:attrName>
                                        </p:attrNameLst>
                                      </p:cBhvr>
                                      <p:to>
                                        <p:strVal val="visible"/>
                                      </p:to>
                                    </p:set>
                                    <p:animEffect transition="in" filter="wipe(down)">
                                      <p:cBhvr>
                                        <p:cTn id="177" dur="500"/>
                                        <p:tgtEl>
                                          <p:spTgt spid="36103"/>
                                        </p:tgtEl>
                                      </p:cBhvr>
                                    </p:animEffect>
                                  </p:childTnLst>
                                </p:cTn>
                              </p:par>
                            </p:childTnLst>
                          </p:cTn>
                        </p:par>
                        <p:par>
                          <p:cTn id="178" fill="hold">
                            <p:stCondLst>
                              <p:cond delay="500"/>
                            </p:stCondLst>
                            <p:childTnLst>
                              <p:par>
                                <p:cTn id="179" presetID="22" presetClass="entr" presetSubtype="1" fill="hold" nodeType="afterEffect">
                                  <p:stCondLst>
                                    <p:cond delay="0"/>
                                  </p:stCondLst>
                                  <p:childTnLst>
                                    <p:set>
                                      <p:cBhvr>
                                        <p:cTn id="180" dur="1" fill="hold">
                                          <p:stCondLst>
                                            <p:cond delay="0"/>
                                          </p:stCondLst>
                                        </p:cTn>
                                        <p:tgtEl>
                                          <p:spTgt spid="36102"/>
                                        </p:tgtEl>
                                        <p:attrNameLst>
                                          <p:attrName>style.visibility</p:attrName>
                                        </p:attrNameLst>
                                      </p:cBhvr>
                                      <p:to>
                                        <p:strVal val="visible"/>
                                      </p:to>
                                    </p:set>
                                    <p:animEffect transition="in" filter="wipe(up)">
                                      <p:cBhvr>
                                        <p:cTn id="181" dur="500"/>
                                        <p:tgtEl>
                                          <p:spTgt spid="36102"/>
                                        </p:tgtEl>
                                      </p:cBhvr>
                                    </p:animEffect>
                                  </p:childTnLst>
                                </p:cTn>
                              </p:par>
                            </p:childTnLst>
                          </p:cTn>
                        </p:par>
                      </p:childTnLst>
                    </p:cTn>
                  </p:par>
                  <p:par>
                    <p:cTn id="182" fill="hold">
                      <p:stCondLst>
                        <p:cond delay="indefinite"/>
                      </p:stCondLst>
                      <p:childTnLst>
                        <p:par>
                          <p:cTn id="183" fill="hold">
                            <p:stCondLst>
                              <p:cond delay="0"/>
                            </p:stCondLst>
                            <p:childTnLst>
                              <p:par>
                                <p:cTn id="184" presetID="22" presetClass="entr" presetSubtype="8" fill="hold" nodeType="clickEffect">
                                  <p:stCondLst>
                                    <p:cond delay="0"/>
                                  </p:stCondLst>
                                  <p:childTnLst>
                                    <p:set>
                                      <p:cBhvr>
                                        <p:cTn id="185" dur="1" fill="hold">
                                          <p:stCondLst>
                                            <p:cond delay="0"/>
                                          </p:stCondLst>
                                        </p:cTn>
                                        <p:tgtEl>
                                          <p:spTgt spid="36109"/>
                                        </p:tgtEl>
                                        <p:attrNameLst>
                                          <p:attrName>style.visibility</p:attrName>
                                        </p:attrNameLst>
                                      </p:cBhvr>
                                      <p:to>
                                        <p:strVal val="visible"/>
                                      </p:to>
                                    </p:set>
                                    <p:animEffect transition="in" filter="wipe(left)">
                                      <p:cBhvr>
                                        <p:cTn id="186" dur="500"/>
                                        <p:tgtEl>
                                          <p:spTgt spid="36109"/>
                                        </p:tgtEl>
                                      </p:cBhvr>
                                    </p:animEffect>
                                  </p:childTnLst>
                                </p:cTn>
                              </p:par>
                            </p:childTnLst>
                          </p:cTn>
                        </p:par>
                      </p:childTnLst>
                    </p:cTn>
                  </p:par>
                  <p:par>
                    <p:cTn id="187" fill="hold">
                      <p:stCondLst>
                        <p:cond delay="indefinite"/>
                      </p:stCondLst>
                      <p:childTnLst>
                        <p:par>
                          <p:cTn id="188" fill="hold">
                            <p:stCondLst>
                              <p:cond delay="0"/>
                            </p:stCondLst>
                            <p:childTnLst>
                              <p:par>
                                <p:cTn id="189" presetID="2" presetClass="entr" presetSubtype="2" fill="hold" nodeType="clickEffect">
                                  <p:stCondLst>
                                    <p:cond delay="0"/>
                                  </p:stCondLst>
                                  <p:childTnLst>
                                    <p:set>
                                      <p:cBhvr>
                                        <p:cTn id="190" dur="1" fill="hold">
                                          <p:stCondLst>
                                            <p:cond delay="0"/>
                                          </p:stCondLst>
                                        </p:cTn>
                                        <p:tgtEl>
                                          <p:spTgt spid="36110"/>
                                        </p:tgtEl>
                                        <p:attrNameLst>
                                          <p:attrName>style.visibility</p:attrName>
                                        </p:attrNameLst>
                                      </p:cBhvr>
                                      <p:to>
                                        <p:strVal val="visible"/>
                                      </p:to>
                                    </p:set>
                                    <p:anim calcmode="lin" valueType="num">
                                      <p:cBhvr additive="base">
                                        <p:cTn id="191" dur="500" fill="hold"/>
                                        <p:tgtEl>
                                          <p:spTgt spid="36110"/>
                                        </p:tgtEl>
                                        <p:attrNameLst>
                                          <p:attrName>ppt_x</p:attrName>
                                        </p:attrNameLst>
                                      </p:cBhvr>
                                      <p:tavLst>
                                        <p:tav tm="0">
                                          <p:val>
                                            <p:strVal val="1+#ppt_w/2"/>
                                          </p:val>
                                        </p:tav>
                                        <p:tav tm="100000">
                                          <p:val>
                                            <p:strVal val="#ppt_x"/>
                                          </p:val>
                                        </p:tav>
                                      </p:tavLst>
                                    </p:anim>
                                    <p:anim calcmode="lin" valueType="num">
                                      <p:cBhvr additive="base">
                                        <p:cTn id="192" dur="500" fill="hold"/>
                                        <p:tgtEl>
                                          <p:spTgt spid="36110"/>
                                        </p:tgtEl>
                                        <p:attrNameLst>
                                          <p:attrName>ppt_y</p:attrName>
                                        </p:attrNameLst>
                                      </p:cBhvr>
                                      <p:tavLst>
                                        <p:tav tm="0">
                                          <p:val>
                                            <p:strVal val="#ppt_y"/>
                                          </p:val>
                                        </p:tav>
                                        <p:tav tm="100000">
                                          <p:val>
                                            <p:strVal val="#ppt_y"/>
                                          </p:val>
                                        </p:tav>
                                      </p:tavLst>
                                    </p:anim>
                                  </p:childTnLst>
                                </p:cTn>
                              </p:par>
                            </p:childTnLst>
                          </p:cTn>
                        </p:par>
                      </p:childTnLst>
                    </p:cTn>
                  </p:par>
                  <p:par>
                    <p:cTn id="193" fill="hold">
                      <p:stCondLst>
                        <p:cond delay="indefinite"/>
                      </p:stCondLst>
                      <p:childTnLst>
                        <p:par>
                          <p:cTn id="194" fill="hold">
                            <p:stCondLst>
                              <p:cond delay="0"/>
                            </p:stCondLst>
                            <p:childTnLst>
                              <p:par>
                                <p:cTn id="195" presetID="22" presetClass="entr" presetSubtype="8" fill="hold" grpId="0" nodeType="clickEffect">
                                  <p:stCondLst>
                                    <p:cond delay="0"/>
                                  </p:stCondLst>
                                  <p:childTnLst>
                                    <p:set>
                                      <p:cBhvr>
                                        <p:cTn id="196" dur="1" fill="hold">
                                          <p:stCondLst>
                                            <p:cond delay="0"/>
                                          </p:stCondLst>
                                        </p:cTn>
                                        <p:tgtEl>
                                          <p:spTgt spid="272"/>
                                        </p:tgtEl>
                                        <p:attrNameLst>
                                          <p:attrName>style.visibility</p:attrName>
                                        </p:attrNameLst>
                                      </p:cBhvr>
                                      <p:to>
                                        <p:strVal val="visible"/>
                                      </p:to>
                                    </p:set>
                                    <p:animEffect transition="in" filter="wipe(left)">
                                      <p:cBhvr>
                                        <p:cTn id="197" dur="500"/>
                                        <p:tgtEl>
                                          <p:spTgt spid="272"/>
                                        </p:tgtEl>
                                      </p:cBhvr>
                                    </p:animEffect>
                                  </p:childTnLst>
                                </p:cTn>
                              </p:par>
                            </p:childTnLst>
                          </p:cTn>
                        </p:par>
                      </p:childTnLst>
                    </p:cTn>
                  </p:par>
                  <p:par>
                    <p:cTn id="198" fill="hold">
                      <p:stCondLst>
                        <p:cond delay="indefinite"/>
                      </p:stCondLst>
                      <p:childTnLst>
                        <p:par>
                          <p:cTn id="199" fill="hold">
                            <p:stCondLst>
                              <p:cond delay="0"/>
                            </p:stCondLst>
                            <p:childTnLst>
                              <p:par>
                                <p:cTn id="200" presetID="22" presetClass="entr" presetSubtype="8" fill="hold" grpId="0" nodeType="clickEffect">
                                  <p:stCondLst>
                                    <p:cond delay="0"/>
                                  </p:stCondLst>
                                  <p:childTnLst>
                                    <p:set>
                                      <p:cBhvr>
                                        <p:cTn id="201" dur="1" fill="hold">
                                          <p:stCondLst>
                                            <p:cond delay="0"/>
                                          </p:stCondLst>
                                        </p:cTn>
                                        <p:tgtEl>
                                          <p:spTgt spid="273"/>
                                        </p:tgtEl>
                                        <p:attrNameLst>
                                          <p:attrName>style.visibility</p:attrName>
                                        </p:attrNameLst>
                                      </p:cBhvr>
                                      <p:to>
                                        <p:strVal val="visible"/>
                                      </p:to>
                                    </p:set>
                                    <p:animEffect transition="in" filter="wipe(left)">
                                      <p:cBhvr>
                                        <p:cTn id="202" dur="500"/>
                                        <p:tgtEl>
                                          <p:spTgt spid="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7" grpId="0" bldLvl="0" animBg="1"/>
      <p:bldP spid="91" grpId="0"/>
      <p:bldP spid="92" grpId="0"/>
      <p:bldP spid="93" grpId="0"/>
      <p:bldP spid="94" grpId="0"/>
      <p:bldP spid="95" grpId="0"/>
      <p:bldP spid="96" grpId="0"/>
      <p:bldP spid="97" grpId="0"/>
      <p:bldP spid="99" grpId="0"/>
      <p:bldP spid="100" grpId="0" bldLvl="0" animBg="1"/>
      <p:bldP spid="101" grpId="0" bldLvl="0" animBg="1"/>
      <p:bldP spid="272" grpId="0" bldLvl="0" animBg="1"/>
      <p:bldP spid="273"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0371" name="Rectangle 3"/>
          <p:cNvSpPr/>
          <p:nvPr/>
        </p:nvSpPr>
        <p:spPr>
          <a:xfrm>
            <a:off x="1143000" y="177165"/>
            <a:ext cx="7467600" cy="2627313"/>
          </a:xfrm>
          <a:prstGeom prst="rect">
            <a:avLst/>
          </a:prstGeom>
          <a:solidFill>
            <a:srgbClr val="FFFFCC"/>
          </a:solidFill>
          <a:ln w="38100" cap="flat" cmpd="sng">
            <a:solidFill>
              <a:schemeClr val="accent2"/>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sp>
        <p:nvSpPr>
          <p:cNvPr id="24579" name="Rectangle 4"/>
          <p:cNvSpPr/>
          <p:nvPr/>
        </p:nvSpPr>
        <p:spPr>
          <a:xfrm>
            <a:off x="1431925" y="750888"/>
            <a:ext cx="4276725" cy="762000"/>
          </a:xfrm>
          <a:prstGeom prst="rect">
            <a:avLst/>
          </a:prstGeom>
          <a:noFill/>
          <a:ln w="9525">
            <a:noFill/>
          </a:ln>
        </p:spPr>
        <p:txBody>
          <a:bodyPr wrap="none" anchor="ctr"/>
          <a:p>
            <a:endParaRPr lang="zh-CN" altLang="en-US" dirty="0">
              <a:latin typeface="Times New Roman" panose="02020603050405020304" pitchFamily="18" charset="0"/>
            </a:endParaRPr>
          </a:p>
        </p:txBody>
      </p:sp>
      <p:sp>
        <p:nvSpPr>
          <p:cNvPr id="570375" name="Line 7"/>
          <p:cNvSpPr/>
          <p:nvPr/>
        </p:nvSpPr>
        <p:spPr>
          <a:xfrm flipV="1">
            <a:off x="1600200" y="995363"/>
            <a:ext cx="1295400" cy="838200"/>
          </a:xfrm>
          <a:prstGeom prst="line">
            <a:avLst/>
          </a:prstGeom>
          <a:ln w="22225" cap="flat" cmpd="sng">
            <a:solidFill>
              <a:srgbClr val="002060"/>
            </a:solidFill>
            <a:prstDash val="solid"/>
            <a:headEnd type="none" w="med" len="med"/>
            <a:tailEnd type="none" w="med" len="med"/>
          </a:ln>
        </p:spPr>
      </p:sp>
      <p:sp>
        <p:nvSpPr>
          <p:cNvPr id="570376" name="Line 8"/>
          <p:cNvSpPr/>
          <p:nvPr/>
        </p:nvSpPr>
        <p:spPr>
          <a:xfrm rot="5400000" flipV="1">
            <a:off x="4381500" y="1109663"/>
            <a:ext cx="0" cy="1447800"/>
          </a:xfrm>
          <a:prstGeom prst="line">
            <a:avLst/>
          </a:prstGeom>
          <a:ln w="19050" cap="flat" cmpd="sng">
            <a:solidFill>
              <a:srgbClr val="002060"/>
            </a:solidFill>
            <a:prstDash val="solid"/>
            <a:headEnd type="none" w="med" len="med"/>
            <a:tailEnd type="triangle" w="med" len="med"/>
          </a:ln>
        </p:spPr>
      </p:sp>
      <p:sp>
        <p:nvSpPr>
          <p:cNvPr id="570377" name="Line 9"/>
          <p:cNvSpPr/>
          <p:nvPr/>
        </p:nvSpPr>
        <p:spPr>
          <a:xfrm flipH="1" flipV="1">
            <a:off x="3733800" y="919163"/>
            <a:ext cx="914400" cy="914400"/>
          </a:xfrm>
          <a:prstGeom prst="line">
            <a:avLst/>
          </a:prstGeom>
          <a:ln w="22225" cap="flat" cmpd="sng">
            <a:solidFill>
              <a:srgbClr val="002060"/>
            </a:solidFill>
            <a:prstDash val="solid"/>
            <a:headEnd type="none" w="med" len="med"/>
            <a:tailEnd type="none" w="med" len="med"/>
          </a:ln>
        </p:spPr>
      </p:sp>
      <p:sp>
        <p:nvSpPr>
          <p:cNvPr id="570378" name="Line 10"/>
          <p:cNvSpPr/>
          <p:nvPr/>
        </p:nvSpPr>
        <p:spPr>
          <a:xfrm>
            <a:off x="2667000" y="1147763"/>
            <a:ext cx="0" cy="685800"/>
          </a:xfrm>
          <a:prstGeom prst="line">
            <a:avLst/>
          </a:prstGeom>
          <a:ln w="9525" cap="flat" cmpd="sng">
            <a:solidFill>
              <a:srgbClr val="0000FF"/>
            </a:solidFill>
            <a:prstDash val="dash"/>
            <a:headEnd type="none" w="med" len="med"/>
            <a:tailEnd type="none" w="med" len="med"/>
          </a:ln>
        </p:spPr>
      </p:sp>
      <p:sp>
        <p:nvSpPr>
          <p:cNvPr id="570379" name="Line 11"/>
          <p:cNvSpPr/>
          <p:nvPr/>
        </p:nvSpPr>
        <p:spPr>
          <a:xfrm>
            <a:off x="3962400" y="1147763"/>
            <a:ext cx="0" cy="685800"/>
          </a:xfrm>
          <a:prstGeom prst="line">
            <a:avLst/>
          </a:prstGeom>
          <a:ln w="9525" cap="flat" cmpd="sng">
            <a:solidFill>
              <a:srgbClr val="0000FF"/>
            </a:solidFill>
            <a:prstDash val="dash"/>
            <a:headEnd type="none" w="med" len="med"/>
            <a:tailEnd type="none" w="med" len="med"/>
          </a:ln>
        </p:spPr>
      </p:sp>
      <p:sp>
        <p:nvSpPr>
          <p:cNvPr id="570380" name="Line 12"/>
          <p:cNvSpPr/>
          <p:nvPr/>
        </p:nvSpPr>
        <p:spPr>
          <a:xfrm flipV="1">
            <a:off x="5715000" y="919163"/>
            <a:ext cx="1371600" cy="914400"/>
          </a:xfrm>
          <a:prstGeom prst="line">
            <a:avLst/>
          </a:prstGeom>
          <a:ln w="22225" cap="flat" cmpd="sng">
            <a:solidFill>
              <a:srgbClr val="002060"/>
            </a:solidFill>
            <a:prstDash val="solid"/>
            <a:headEnd type="none" w="med" len="med"/>
            <a:tailEnd type="none" w="med" len="med"/>
          </a:ln>
        </p:spPr>
      </p:sp>
      <p:sp>
        <p:nvSpPr>
          <p:cNvPr id="570381" name="Line 13"/>
          <p:cNvSpPr/>
          <p:nvPr/>
        </p:nvSpPr>
        <p:spPr>
          <a:xfrm>
            <a:off x="6781800" y="1147763"/>
            <a:ext cx="0" cy="685800"/>
          </a:xfrm>
          <a:prstGeom prst="line">
            <a:avLst/>
          </a:prstGeom>
          <a:ln w="9525" cap="flat" cmpd="sng">
            <a:solidFill>
              <a:srgbClr val="0000FF"/>
            </a:solidFill>
            <a:prstDash val="dash"/>
            <a:headEnd type="none" w="med" len="med"/>
            <a:tailEnd type="none" w="med" len="med"/>
          </a:ln>
        </p:spPr>
      </p:sp>
      <p:sp>
        <p:nvSpPr>
          <p:cNvPr id="570382" name="Line 14"/>
          <p:cNvSpPr/>
          <p:nvPr/>
        </p:nvSpPr>
        <p:spPr>
          <a:xfrm flipH="1" flipV="1">
            <a:off x="6629400" y="995363"/>
            <a:ext cx="838200" cy="838200"/>
          </a:xfrm>
          <a:prstGeom prst="line">
            <a:avLst/>
          </a:prstGeom>
          <a:ln w="22225" cap="flat" cmpd="sng">
            <a:solidFill>
              <a:srgbClr val="002060"/>
            </a:solidFill>
            <a:prstDash val="solid"/>
            <a:headEnd type="none" w="med" len="med"/>
            <a:tailEnd type="none" w="med" len="med"/>
          </a:ln>
        </p:spPr>
      </p:sp>
      <p:sp>
        <p:nvSpPr>
          <p:cNvPr id="570383" name="Line 15"/>
          <p:cNvSpPr/>
          <p:nvPr/>
        </p:nvSpPr>
        <p:spPr>
          <a:xfrm flipV="1">
            <a:off x="7086600" y="919163"/>
            <a:ext cx="0" cy="1295400"/>
          </a:xfrm>
          <a:prstGeom prst="line">
            <a:avLst/>
          </a:prstGeom>
          <a:ln w="9525" cap="flat" cmpd="sng">
            <a:solidFill>
              <a:srgbClr val="0000FF"/>
            </a:solidFill>
            <a:prstDash val="solid"/>
            <a:headEnd type="none" w="med" len="med"/>
            <a:tailEnd type="none" w="med" len="med"/>
          </a:ln>
        </p:spPr>
      </p:sp>
      <p:grpSp>
        <p:nvGrpSpPr>
          <p:cNvPr id="2" name="Group 16"/>
          <p:cNvGrpSpPr/>
          <p:nvPr/>
        </p:nvGrpSpPr>
        <p:grpSpPr>
          <a:xfrm>
            <a:off x="1600200" y="1681163"/>
            <a:ext cx="2057400" cy="336550"/>
            <a:chOff x="1008" y="1056"/>
            <a:chExt cx="1296" cy="212"/>
          </a:xfrm>
        </p:grpSpPr>
        <p:sp>
          <p:nvSpPr>
            <p:cNvPr id="24667" name="Line 17"/>
            <p:cNvSpPr/>
            <p:nvPr/>
          </p:nvSpPr>
          <p:spPr>
            <a:xfrm rot="5400000" flipV="1">
              <a:off x="1464" y="696"/>
              <a:ext cx="0" cy="912"/>
            </a:xfrm>
            <a:prstGeom prst="line">
              <a:avLst/>
            </a:prstGeom>
            <a:ln w="19050" cap="flat" cmpd="sng">
              <a:solidFill>
                <a:srgbClr val="002060"/>
              </a:solidFill>
              <a:prstDash val="solid"/>
              <a:headEnd type="none" w="med" len="med"/>
              <a:tailEnd type="triangle" w="med" len="med"/>
            </a:ln>
          </p:spPr>
        </p:sp>
        <p:sp>
          <p:nvSpPr>
            <p:cNvPr id="24668" name="Text Box 18"/>
            <p:cNvSpPr txBox="1"/>
            <p:nvPr/>
          </p:nvSpPr>
          <p:spPr>
            <a:xfrm>
              <a:off x="1872" y="1056"/>
              <a:ext cx="432" cy="212"/>
            </a:xfrm>
            <a:prstGeom prst="rect">
              <a:avLst/>
            </a:prstGeom>
            <a:noFill/>
            <a:ln w="9525">
              <a:noFill/>
            </a:ln>
          </p:spPr>
          <p:txBody>
            <a:bodyPr>
              <a:spAutoFit/>
            </a:bodyPr>
            <a:p>
              <a:pPr>
                <a:spcBef>
                  <a:spcPct val="50000"/>
                </a:spcBef>
              </a:pPr>
              <a:r>
                <a:rPr lang="zh-CN" altLang="en-US" sz="1600" b="1" dirty="0">
                  <a:solidFill>
                    <a:srgbClr val="002060"/>
                  </a:solidFill>
                  <a:latin typeface="Times New Roman" panose="02020603050405020304" pitchFamily="18" charset="0"/>
                </a:rPr>
                <a:t>变形</a:t>
              </a:r>
              <a:endParaRPr lang="zh-CN" altLang="en-US" sz="1600" b="1" dirty="0">
                <a:solidFill>
                  <a:srgbClr val="002060"/>
                </a:solidFill>
                <a:latin typeface="Times New Roman" panose="02020603050405020304" pitchFamily="18" charset="0"/>
              </a:endParaRPr>
            </a:p>
          </p:txBody>
        </p:sp>
      </p:grpSp>
      <p:grpSp>
        <p:nvGrpSpPr>
          <p:cNvPr id="3" name="Group 19"/>
          <p:cNvGrpSpPr/>
          <p:nvPr/>
        </p:nvGrpSpPr>
        <p:grpSpPr>
          <a:xfrm>
            <a:off x="1143000" y="309563"/>
            <a:ext cx="685800" cy="1524000"/>
            <a:chOff x="720" y="192"/>
            <a:chExt cx="432" cy="960"/>
          </a:xfrm>
        </p:grpSpPr>
        <p:sp>
          <p:nvSpPr>
            <p:cNvPr id="24665" name="Line 20"/>
            <p:cNvSpPr/>
            <p:nvPr/>
          </p:nvSpPr>
          <p:spPr>
            <a:xfrm flipV="1">
              <a:off x="1008" y="288"/>
              <a:ext cx="0" cy="864"/>
            </a:xfrm>
            <a:prstGeom prst="line">
              <a:avLst/>
            </a:prstGeom>
            <a:ln w="19050" cap="flat" cmpd="sng">
              <a:solidFill>
                <a:srgbClr val="002060"/>
              </a:solidFill>
              <a:prstDash val="solid"/>
              <a:headEnd type="none" w="med" len="med"/>
              <a:tailEnd type="triangle" w="med" len="med"/>
            </a:ln>
          </p:spPr>
        </p:sp>
        <p:sp>
          <p:nvSpPr>
            <p:cNvPr id="24666" name="Text Box 21"/>
            <p:cNvSpPr txBox="1"/>
            <p:nvPr/>
          </p:nvSpPr>
          <p:spPr>
            <a:xfrm>
              <a:off x="720" y="192"/>
              <a:ext cx="432" cy="212"/>
            </a:xfrm>
            <a:prstGeom prst="rect">
              <a:avLst/>
            </a:prstGeom>
            <a:noFill/>
            <a:ln w="9525">
              <a:noFill/>
            </a:ln>
          </p:spPr>
          <p:txBody>
            <a:bodyPr>
              <a:spAutoFit/>
            </a:bodyPr>
            <a:p>
              <a:pPr>
                <a:spcBef>
                  <a:spcPct val="50000"/>
                </a:spcBef>
              </a:pPr>
              <a:r>
                <a:rPr lang="zh-CN" altLang="en-US" sz="1600" b="1" dirty="0">
                  <a:solidFill>
                    <a:srgbClr val="002060"/>
                  </a:solidFill>
                  <a:latin typeface="Times New Roman" panose="02020603050405020304" pitchFamily="18" charset="0"/>
                  <a:ea typeface="方正大黑简体"/>
                </a:rPr>
                <a:t>力</a:t>
              </a:r>
              <a:endParaRPr lang="zh-CN" altLang="en-US" sz="1600" b="1" dirty="0">
                <a:solidFill>
                  <a:srgbClr val="002060"/>
                </a:solidFill>
                <a:latin typeface="Times New Roman" panose="02020603050405020304" pitchFamily="18" charset="0"/>
                <a:ea typeface="方正大黑简体"/>
              </a:endParaRPr>
            </a:p>
          </p:txBody>
        </p:sp>
      </p:grpSp>
      <p:grpSp>
        <p:nvGrpSpPr>
          <p:cNvPr id="4" name="Group 22"/>
          <p:cNvGrpSpPr/>
          <p:nvPr/>
        </p:nvGrpSpPr>
        <p:grpSpPr>
          <a:xfrm>
            <a:off x="4191000" y="309563"/>
            <a:ext cx="685800" cy="1524000"/>
            <a:chOff x="2640" y="192"/>
            <a:chExt cx="432" cy="960"/>
          </a:xfrm>
        </p:grpSpPr>
        <p:sp>
          <p:nvSpPr>
            <p:cNvPr id="24663" name="Line 23"/>
            <p:cNvSpPr/>
            <p:nvPr/>
          </p:nvSpPr>
          <p:spPr>
            <a:xfrm flipH="1" flipV="1">
              <a:off x="2928" y="288"/>
              <a:ext cx="0" cy="864"/>
            </a:xfrm>
            <a:prstGeom prst="line">
              <a:avLst/>
            </a:prstGeom>
            <a:ln w="19050" cap="flat" cmpd="sng">
              <a:solidFill>
                <a:srgbClr val="002060"/>
              </a:solidFill>
              <a:prstDash val="solid"/>
              <a:headEnd type="none" w="med" len="med"/>
              <a:tailEnd type="triangle" w="med" len="med"/>
            </a:ln>
          </p:spPr>
        </p:sp>
        <p:sp>
          <p:nvSpPr>
            <p:cNvPr id="24664" name="Text Box 24"/>
            <p:cNvSpPr txBox="1"/>
            <p:nvPr/>
          </p:nvSpPr>
          <p:spPr>
            <a:xfrm>
              <a:off x="2640" y="192"/>
              <a:ext cx="432" cy="212"/>
            </a:xfrm>
            <a:prstGeom prst="rect">
              <a:avLst/>
            </a:prstGeom>
            <a:noFill/>
            <a:ln w="9525">
              <a:noFill/>
            </a:ln>
          </p:spPr>
          <p:txBody>
            <a:bodyPr>
              <a:spAutoFit/>
            </a:bodyPr>
            <a:p>
              <a:pPr>
                <a:spcBef>
                  <a:spcPct val="50000"/>
                </a:spcBef>
              </a:pPr>
              <a:r>
                <a:rPr lang="zh-CN" altLang="en-US" sz="1600" b="1" dirty="0">
                  <a:solidFill>
                    <a:srgbClr val="002060"/>
                  </a:solidFill>
                  <a:latin typeface="Times New Roman" panose="02020603050405020304" pitchFamily="18" charset="0"/>
                  <a:ea typeface="方正大黑简体"/>
                </a:rPr>
                <a:t>力</a:t>
              </a:r>
              <a:endParaRPr lang="zh-CN" altLang="en-US" sz="1600" b="1" dirty="0">
                <a:solidFill>
                  <a:srgbClr val="002060"/>
                </a:solidFill>
                <a:latin typeface="Times New Roman" panose="02020603050405020304" pitchFamily="18" charset="0"/>
                <a:ea typeface="方正大黑简体"/>
              </a:endParaRPr>
            </a:p>
          </p:txBody>
        </p:sp>
      </p:grpSp>
      <p:grpSp>
        <p:nvGrpSpPr>
          <p:cNvPr id="5" name="Group 25"/>
          <p:cNvGrpSpPr/>
          <p:nvPr/>
        </p:nvGrpSpPr>
        <p:grpSpPr>
          <a:xfrm>
            <a:off x="5334000" y="309563"/>
            <a:ext cx="685800" cy="1524000"/>
            <a:chOff x="3360" y="192"/>
            <a:chExt cx="432" cy="960"/>
          </a:xfrm>
        </p:grpSpPr>
        <p:sp>
          <p:nvSpPr>
            <p:cNvPr id="24661" name="Line 26"/>
            <p:cNvSpPr/>
            <p:nvPr/>
          </p:nvSpPr>
          <p:spPr>
            <a:xfrm flipV="1">
              <a:off x="3600" y="288"/>
              <a:ext cx="0" cy="864"/>
            </a:xfrm>
            <a:prstGeom prst="line">
              <a:avLst/>
            </a:prstGeom>
            <a:ln w="19050" cap="flat" cmpd="sng">
              <a:solidFill>
                <a:srgbClr val="002060"/>
              </a:solidFill>
              <a:prstDash val="solid"/>
              <a:headEnd type="none" w="med" len="med"/>
              <a:tailEnd type="triangle" w="med" len="med"/>
            </a:ln>
          </p:spPr>
        </p:sp>
        <p:sp>
          <p:nvSpPr>
            <p:cNvPr id="24662" name="Text Box 27"/>
            <p:cNvSpPr txBox="1"/>
            <p:nvPr/>
          </p:nvSpPr>
          <p:spPr>
            <a:xfrm>
              <a:off x="3360" y="192"/>
              <a:ext cx="432" cy="212"/>
            </a:xfrm>
            <a:prstGeom prst="rect">
              <a:avLst/>
            </a:prstGeom>
            <a:noFill/>
            <a:ln w="9525">
              <a:noFill/>
            </a:ln>
          </p:spPr>
          <p:txBody>
            <a:bodyPr>
              <a:spAutoFit/>
            </a:bodyPr>
            <a:p>
              <a:pPr>
                <a:spcBef>
                  <a:spcPct val="50000"/>
                </a:spcBef>
              </a:pPr>
              <a:r>
                <a:rPr lang="zh-CN" altLang="en-US" sz="1600" b="1" dirty="0">
                  <a:solidFill>
                    <a:srgbClr val="002060"/>
                  </a:solidFill>
                  <a:latin typeface="Times New Roman" panose="02020603050405020304" pitchFamily="18" charset="0"/>
                  <a:ea typeface="方正大黑简体"/>
                </a:rPr>
                <a:t>力</a:t>
              </a:r>
              <a:endParaRPr lang="zh-CN" altLang="en-US" sz="1600" b="1" dirty="0">
                <a:solidFill>
                  <a:srgbClr val="002060"/>
                </a:solidFill>
                <a:latin typeface="Times New Roman" panose="02020603050405020304" pitchFamily="18" charset="0"/>
                <a:ea typeface="方正大黑简体"/>
              </a:endParaRPr>
            </a:p>
          </p:txBody>
        </p:sp>
      </p:grpSp>
      <p:grpSp>
        <p:nvGrpSpPr>
          <p:cNvPr id="6" name="Group 28"/>
          <p:cNvGrpSpPr/>
          <p:nvPr/>
        </p:nvGrpSpPr>
        <p:grpSpPr>
          <a:xfrm>
            <a:off x="5715000" y="1833563"/>
            <a:ext cx="2971800" cy="412750"/>
            <a:chOff x="3600" y="1152"/>
            <a:chExt cx="1872" cy="260"/>
          </a:xfrm>
        </p:grpSpPr>
        <p:sp>
          <p:nvSpPr>
            <p:cNvPr id="24659" name="Line 29"/>
            <p:cNvSpPr/>
            <p:nvPr/>
          </p:nvSpPr>
          <p:spPr>
            <a:xfrm rot="5400000" flipV="1">
              <a:off x="4440" y="312"/>
              <a:ext cx="0" cy="1680"/>
            </a:xfrm>
            <a:prstGeom prst="line">
              <a:avLst/>
            </a:prstGeom>
            <a:ln w="19050" cap="flat" cmpd="sng">
              <a:solidFill>
                <a:srgbClr val="002060"/>
              </a:solidFill>
              <a:prstDash val="solid"/>
              <a:headEnd type="none" w="med" len="med"/>
              <a:tailEnd type="triangle" w="med" len="med"/>
            </a:ln>
          </p:spPr>
        </p:sp>
        <p:sp>
          <p:nvSpPr>
            <p:cNvPr id="24660" name="Text Box 30"/>
            <p:cNvSpPr txBox="1"/>
            <p:nvPr/>
          </p:nvSpPr>
          <p:spPr>
            <a:xfrm>
              <a:off x="5040" y="1200"/>
              <a:ext cx="432" cy="212"/>
            </a:xfrm>
            <a:prstGeom prst="rect">
              <a:avLst/>
            </a:prstGeom>
            <a:noFill/>
            <a:ln w="9525">
              <a:noFill/>
            </a:ln>
          </p:spPr>
          <p:txBody>
            <a:bodyPr>
              <a:spAutoFit/>
            </a:bodyPr>
            <a:p>
              <a:pPr>
                <a:spcBef>
                  <a:spcPct val="50000"/>
                </a:spcBef>
              </a:pPr>
              <a:r>
                <a:rPr lang="zh-CN" altLang="en-US" sz="1600" b="1" dirty="0">
                  <a:solidFill>
                    <a:srgbClr val="002060"/>
                  </a:solidFill>
                  <a:latin typeface="Times New Roman" panose="02020603050405020304" pitchFamily="18" charset="0"/>
                </a:rPr>
                <a:t>变形</a:t>
              </a:r>
              <a:endParaRPr lang="zh-CN" altLang="en-US" sz="1600" b="1" dirty="0">
                <a:solidFill>
                  <a:srgbClr val="002060"/>
                </a:solidFill>
                <a:latin typeface="Times New Roman" panose="02020603050405020304" pitchFamily="18" charset="0"/>
              </a:endParaRPr>
            </a:p>
          </p:txBody>
        </p:sp>
      </p:grpSp>
      <p:grpSp>
        <p:nvGrpSpPr>
          <p:cNvPr id="7" name="Group 31"/>
          <p:cNvGrpSpPr/>
          <p:nvPr/>
        </p:nvGrpSpPr>
        <p:grpSpPr>
          <a:xfrm>
            <a:off x="1600200" y="1819593"/>
            <a:ext cx="1066800" cy="488950"/>
            <a:chOff x="1008" y="1228"/>
            <a:chExt cx="672" cy="308"/>
          </a:xfrm>
        </p:grpSpPr>
        <p:sp>
          <p:nvSpPr>
            <p:cNvPr id="24655" name="Line 32"/>
            <p:cNvSpPr/>
            <p:nvPr/>
          </p:nvSpPr>
          <p:spPr>
            <a:xfrm>
              <a:off x="1008" y="1248"/>
              <a:ext cx="0" cy="288"/>
            </a:xfrm>
            <a:prstGeom prst="line">
              <a:avLst/>
            </a:prstGeom>
            <a:ln w="12700" cap="flat" cmpd="sng">
              <a:solidFill>
                <a:srgbClr val="002060"/>
              </a:solidFill>
              <a:prstDash val="solid"/>
              <a:headEnd type="none" w="med" len="med"/>
              <a:tailEnd type="none" w="med" len="med"/>
            </a:ln>
          </p:spPr>
        </p:sp>
        <p:sp>
          <p:nvSpPr>
            <p:cNvPr id="24656" name="Line 33"/>
            <p:cNvSpPr/>
            <p:nvPr/>
          </p:nvSpPr>
          <p:spPr>
            <a:xfrm>
              <a:off x="1680" y="1248"/>
              <a:ext cx="0" cy="288"/>
            </a:xfrm>
            <a:prstGeom prst="line">
              <a:avLst/>
            </a:prstGeom>
            <a:ln w="12700" cap="flat" cmpd="sng">
              <a:solidFill>
                <a:srgbClr val="002060"/>
              </a:solidFill>
              <a:prstDash val="solid"/>
              <a:headEnd type="none" w="med" len="med"/>
              <a:tailEnd type="none" w="med" len="med"/>
            </a:ln>
          </p:spPr>
        </p:sp>
        <p:sp>
          <p:nvSpPr>
            <p:cNvPr id="24657" name="Line 34"/>
            <p:cNvSpPr/>
            <p:nvPr/>
          </p:nvSpPr>
          <p:spPr>
            <a:xfrm>
              <a:off x="1008" y="1440"/>
              <a:ext cx="672" cy="0"/>
            </a:xfrm>
            <a:prstGeom prst="line">
              <a:avLst/>
            </a:prstGeom>
            <a:ln w="12700" cap="flat" cmpd="sng">
              <a:solidFill>
                <a:srgbClr val="002060"/>
              </a:solidFill>
              <a:prstDash val="solid"/>
              <a:headEnd type="triangle" w="med" len="med"/>
              <a:tailEnd type="triangle" w="med" len="med"/>
            </a:ln>
          </p:spPr>
        </p:sp>
        <p:sp>
          <p:nvSpPr>
            <p:cNvPr id="24658" name="Text Box 35"/>
            <p:cNvSpPr txBox="1"/>
            <p:nvPr/>
          </p:nvSpPr>
          <p:spPr>
            <a:xfrm>
              <a:off x="1152" y="1228"/>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ea typeface="楷体_GB2312" pitchFamily="49" charset="-122"/>
                </a:rPr>
                <a:t>δ</a:t>
              </a:r>
              <a:r>
                <a:rPr lang="en-US" altLang="zh-CN" sz="1600" b="1" baseline="-25000" dirty="0">
                  <a:solidFill>
                    <a:srgbClr val="002060"/>
                  </a:solidFill>
                  <a:latin typeface="Times New Roman" panose="02020603050405020304" pitchFamily="18" charset="0"/>
                </a:rPr>
                <a:t>1</a:t>
              </a:r>
              <a:endParaRPr lang="en-US" altLang="zh-CN" sz="1600" b="1" baseline="-25000" dirty="0">
                <a:solidFill>
                  <a:srgbClr val="002060"/>
                </a:solidFill>
                <a:latin typeface="Times New Roman" panose="02020603050405020304" pitchFamily="18" charset="0"/>
              </a:endParaRPr>
            </a:p>
          </p:txBody>
        </p:sp>
      </p:grpSp>
      <p:grpSp>
        <p:nvGrpSpPr>
          <p:cNvPr id="8" name="Group 36"/>
          <p:cNvGrpSpPr/>
          <p:nvPr/>
        </p:nvGrpSpPr>
        <p:grpSpPr>
          <a:xfrm>
            <a:off x="3962400" y="1762443"/>
            <a:ext cx="685800" cy="533400"/>
            <a:chOff x="2496" y="1200"/>
            <a:chExt cx="432" cy="336"/>
          </a:xfrm>
        </p:grpSpPr>
        <p:sp>
          <p:nvSpPr>
            <p:cNvPr id="24651" name="Line 37"/>
            <p:cNvSpPr/>
            <p:nvPr/>
          </p:nvSpPr>
          <p:spPr>
            <a:xfrm>
              <a:off x="2496" y="1248"/>
              <a:ext cx="0" cy="288"/>
            </a:xfrm>
            <a:prstGeom prst="line">
              <a:avLst/>
            </a:prstGeom>
            <a:ln w="12700" cap="flat" cmpd="sng">
              <a:solidFill>
                <a:srgbClr val="002060"/>
              </a:solidFill>
              <a:prstDash val="solid"/>
              <a:headEnd type="none" w="med" len="med"/>
              <a:tailEnd type="none" w="med" len="med"/>
            </a:ln>
          </p:spPr>
        </p:sp>
        <p:sp>
          <p:nvSpPr>
            <p:cNvPr id="24652" name="Line 38"/>
            <p:cNvSpPr/>
            <p:nvPr/>
          </p:nvSpPr>
          <p:spPr>
            <a:xfrm>
              <a:off x="2928" y="1248"/>
              <a:ext cx="0" cy="288"/>
            </a:xfrm>
            <a:prstGeom prst="line">
              <a:avLst/>
            </a:prstGeom>
            <a:ln w="12700" cap="flat" cmpd="sng">
              <a:solidFill>
                <a:srgbClr val="002060"/>
              </a:solidFill>
              <a:prstDash val="solid"/>
              <a:headEnd type="none" w="med" len="med"/>
              <a:tailEnd type="none" w="med" len="med"/>
            </a:ln>
          </p:spPr>
        </p:sp>
        <p:sp>
          <p:nvSpPr>
            <p:cNvPr id="24653" name="Line 39"/>
            <p:cNvSpPr/>
            <p:nvPr/>
          </p:nvSpPr>
          <p:spPr>
            <a:xfrm>
              <a:off x="2496" y="1440"/>
              <a:ext cx="432" cy="0"/>
            </a:xfrm>
            <a:prstGeom prst="line">
              <a:avLst/>
            </a:prstGeom>
            <a:ln w="12700" cap="flat" cmpd="sng">
              <a:solidFill>
                <a:srgbClr val="002060"/>
              </a:solidFill>
              <a:prstDash val="solid"/>
              <a:headEnd type="triangle" w="med" len="med"/>
              <a:tailEnd type="triangle" w="med" len="med"/>
            </a:ln>
          </p:spPr>
        </p:sp>
        <p:sp>
          <p:nvSpPr>
            <p:cNvPr id="24654" name="Text Box 40"/>
            <p:cNvSpPr txBox="1"/>
            <p:nvPr/>
          </p:nvSpPr>
          <p:spPr>
            <a:xfrm>
              <a:off x="2496" y="1200"/>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楷体_GB2312" pitchFamily="49" charset="-122"/>
                  <a:ea typeface="楷体_GB2312" pitchFamily="49" charset="-122"/>
                </a:rPr>
                <a:t>δ</a:t>
              </a:r>
              <a:r>
                <a:rPr lang="en-US" altLang="zh-CN" sz="1600" b="1" baseline="-25000" dirty="0">
                  <a:solidFill>
                    <a:srgbClr val="002060"/>
                  </a:solidFill>
                  <a:latin typeface="Times New Roman" panose="02020603050405020304" pitchFamily="18" charset="0"/>
                  <a:ea typeface="楷体_GB2312" pitchFamily="49" charset="-122"/>
                </a:rPr>
                <a:t>2</a:t>
              </a:r>
              <a:endParaRPr lang="en-US" altLang="zh-CN" sz="1600" b="1" baseline="-25000" dirty="0">
                <a:solidFill>
                  <a:srgbClr val="002060"/>
                </a:solidFill>
                <a:latin typeface="Times New Roman" panose="02020603050405020304" pitchFamily="18" charset="0"/>
                <a:ea typeface="楷体_GB2312" pitchFamily="49" charset="-122"/>
              </a:endParaRPr>
            </a:p>
          </p:txBody>
        </p:sp>
      </p:grpSp>
      <p:grpSp>
        <p:nvGrpSpPr>
          <p:cNvPr id="9" name="Group 41"/>
          <p:cNvGrpSpPr/>
          <p:nvPr/>
        </p:nvGrpSpPr>
        <p:grpSpPr>
          <a:xfrm>
            <a:off x="5715000" y="1883093"/>
            <a:ext cx="1066800" cy="598488"/>
            <a:chOff x="3600" y="1248"/>
            <a:chExt cx="672" cy="377"/>
          </a:xfrm>
        </p:grpSpPr>
        <p:sp>
          <p:nvSpPr>
            <p:cNvPr id="24647" name="Line 42"/>
            <p:cNvSpPr/>
            <p:nvPr/>
          </p:nvSpPr>
          <p:spPr>
            <a:xfrm>
              <a:off x="3600" y="1248"/>
              <a:ext cx="0" cy="288"/>
            </a:xfrm>
            <a:prstGeom prst="line">
              <a:avLst/>
            </a:prstGeom>
            <a:ln w="12700" cap="flat" cmpd="sng">
              <a:solidFill>
                <a:srgbClr val="0000FF"/>
              </a:solidFill>
              <a:prstDash val="solid"/>
              <a:headEnd type="none" w="med" len="med"/>
              <a:tailEnd type="none" w="med" len="med"/>
            </a:ln>
          </p:spPr>
        </p:sp>
        <p:sp>
          <p:nvSpPr>
            <p:cNvPr id="24648" name="Line 43"/>
            <p:cNvSpPr/>
            <p:nvPr/>
          </p:nvSpPr>
          <p:spPr>
            <a:xfrm>
              <a:off x="4272" y="1248"/>
              <a:ext cx="0" cy="377"/>
            </a:xfrm>
            <a:prstGeom prst="line">
              <a:avLst/>
            </a:prstGeom>
            <a:ln w="12700" cap="flat" cmpd="sng">
              <a:solidFill>
                <a:srgbClr val="0000FF"/>
              </a:solidFill>
              <a:prstDash val="solid"/>
              <a:headEnd type="none" w="med" len="med"/>
              <a:tailEnd type="none" w="med" len="med"/>
            </a:ln>
          </p:spPr>
        </p:sp>
        <p:sp>
          <p:nvSpPr>
            <p:cNvPr id="24649" name="Line 44"/>
            <p:cNvSpPr/>
            <p:nvPr/>
          </p:nvSpPr>
          <p:spPr>
            <a:xfrm>
              <a:off x="3600" y="1488"/>
              <a:ext cx="672" cy="0"/>
            </a:xfrm>
            <a:prstGeom prst="line">
              <a:avLst/>
            </a:prstGeom>
            <a:ln w="12700" cap="flat" cmpd="sng">
              <a:solidFill>
                <a:srgbClr val="0000FF"/>
              </a:solidFill>
              <a:prstDash val="solid"/>
              <a:headEnd type="triangle" w="med" len="med"/>
              <a:tailEnd type="triangle" w="med" len="med"/>
            </a:ln>
          </p:spPr>
        </p:sp>
        <p:sp>
          <p:nvSpPr>
            <p:cNvPr id="24650" name="Text Box 45"/>
            <p:cNvSpPr txBox="1"/>
            <p:nvPr/>
          </p:nvSpPr>
          <p:spPr>
            <a:xfrm>
              <a:off x="3744" y="1248"/>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楷体_GB2312" pitchFamily="49" charset="-122"/>
                  <a:ea typeface="楷体_GB2312" pitchFamily="49" charset="-122"/>
                </a:rPr>
                <a:t>δ</a:t>
              </a:r>
              <a:r>
                <a:rPr lang="en-US" altLang="zh-CN" sz="1600" b="1" baseline="-25000" dirty="0">
                  <a:solidFill>
                    <a:srgbClr val="002060"/>
                  </a:solidFill>
                  <a:latin typeface="Times New Roman" panose="02020603050405020304" pitchFamily="18" charset="0"/>
                  <a:ea typeface="楷体_GB2312" pitchFamily="49" charset="-122"/>
                </a:rPr>
                <a:t>1</a:t>
              </a:r>
              <a:endParaRPr lang="en-US" altLang="zh-CN" sz="1600" b="1" baseline="-25000" dirty="0">
                <a:solidFill>
                  <a:srgbClr val="002060"/>
                </a:solidFill>
                <a:latin typeface="Times New Roman" panose="02020603050405020304" pitchFamily="18" charset="0"/>
                <a:ea typeface="楷体_GB2312" pitchFamily="49" charset="-122"/>
              </a:endParaRPr>
            </a:p>
          </p:txBody>
        </p:sp>
      </p:grpSp>
      <p:grpSp>
        <p:nvGrpSpPr>
          <p:cNvPr id="10" name="Group 46"/>
          <p:cNvGrpSpPr/>
          <p:nvPr/>
        </p:nvGrpSpPr>
        <p:grpSpPr>
          <a:xfrm>
            <a:off x="6781800" y="1851343"/>
            <a:ext cx="968375" cy="590550"/>
            <a:chOff x="4272" y="1228"/>
            <a:chExt cx="610" cy="372"/>
          </a:xfrm>
        </p:grpSpPr>
        <p:sp>
          <p:nvSpPr>
            <p:cNvPr id="24644" name="Line 47"/>
            <p:cNvSpPr/>
            <p:nvPr/>
          </p:nvSpPr>
          <p:spPr>
            <a:xfrm>
              <a:off x="4704" y="1228"/>
              <a:ext cx="0" cy="372"/>
            </a:xfrm>
            <a:prstGeom prst="line">
              <a:avLst/>
            </a:prstGeom>
            <a:ln w="12700" cap="flat" cmpd="sng">
              <a:solidFill>
                <a:srgbClr val="0000FF"/>
              </a:solidFill>
              <a:prstDash val="solid"/>
              <a:headEnd type="none" w="med" len="med"/>
              <a:tailEnd type="none" w="med" len="med"/>
            </a:ln>
          </p:spPr>
        </p:sp>
        <p:sp>
          <p:nvSpPr>
            <p:cNvPr id="24645" name="Line 48"/>
            <p:cNvSpPr/>
            <p:nvPr/>
          </p:nvSpPr>
          <p:spPr>
            <a:xfrm>
              <a:off x="4272" y="1526"/>
              <a:ext cx="432" cy="0"/>
            </a:xfrm>
            <a:prstGeom prst="line">
              <a:avLst/>
            </a:prstGeom>
            <a:ln w="12700" cap="flat" cmpd="sng">
              <a:solidFill>
                <a:srgbClr val="0000FF"/>
              </a:solidFill>
              <a:prstDash val="solid"/>
              <a:headEnd type="triangle" w="med" len="med"/>
              <a:tailEnd type="triangle" w="med" len="med"/>
            </a:ln>
          </p:spPr>
        </p:sp>
        <p:sp>
          <p:nvSpPr>
            <p:cNvPr id="24646" name="Text Box 49"/>
            <p:cNvSpPr txBox="1"/>
            <p:nvPr/>
          </p:nvSpPr>
          <p:spPr>
            <a:xfrm>
              <a:off x="4450" y="1333"/>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楷体_GB2312" pitchFamily="49" charset="-122"/>
                  <a:ea typeface="楷体_GB2312" pitchFamily="49" charset="-122"/>
                </a:rPr>
                <a:t>δ</a:t>
              </a:r>
              <a:r>
                <a:rPr lang="en-US" altLang="zh-CN" sz="1600" b="1" baseline="-25000" dirty="0">
                  <a:solidFill>
                    <a:srgbClr val="002060"/>
                  </a:solidFill>
                  <a:latin typeface="Times New Roman" panose="02020603050405020304" pitchFamily="18" charset="0"/>
                  <a:ea typeface="楷体_GB2312" pitchFamily="49" charset="-122"/>
                </a:rPr>
                <a:t>2</a:t>
              </a:r>
              <a:endParaRPr lang="en-US" altLang="zh-CN" sz="1600" b="1" baseline="-25000" dirty="0">
                <a:solidFill>
                  <a:srgbClr val="002060"/>
                </a:solidFill>
                <a:latin typeface="Times New Roman" panose="02020603050405020304" pitchFamily="18" charset="0"/>
                <a:ea typeface="楷体_GB2312" pitchFamily="49" charset="-122"/>
              </a:endParaRPr>
            </a:p>
          </p:txBody>
        </p:sp>
      </p:grpSp>
      <p:grpSp>
        <p:nvGrpSpPr>
          <p:cNvPr id="11" name="Group 50"/>
          <p:cNvGrpSpPr/>
          <p:nvPr/>
        </p:nvGrpSpPr>
        <p:grpSpPr>
          <a:xfrm>
            <a:off x="6667500" y="1762443"/>
            <a:ext cx="685800" cy="336550"/>
            <a:chOff x="4202" y="1132"/>
            <a:chExt cx="432" cy="212"/>
          </a:xfrm>
        </p:grpSpPr>
        <p:sp>
          <p:nvSpPr>
            <p:cNvPr id="24642" name="Line 51"/>
            <p:cNvSpPr/>
            <p:nvPr/>
          </p:nvSpPr>
          <p:spPr>
            <a:xfrm>
              <a:off x="4272" y="1344"/>
              <a:ext cx="192" cy="0"/>
            </a:xfrm>
            <a:prstGeom prst="line">
              <a:avLst/>
            </a:prstGeom>
            <a:ln w="12700" cap="flat" cmpd="sng">
              <a:solidFill>
                <a:srgbClr val="0000FF"/>
              </a:solidFill>
              <a:prstDash val="solid"/>
              <a:headEnd type="triangle" w="med" len="med"/>
              <a:tailEnd type="triangle" w="med" len="med"/>
            </a:ln>
          </p:spPr>
        </p:sp>
        <p:sp>
          <p:nvSpPr>
            <p:cNvPr id="24643" name="Text Box 52"/>
            <p:cNvSpPr txBox="1"/>
            <p:nvPr/>
          </p:nvSpPr>
          <p:spPr>
            <a:xfrm>
              <a:off x="4202" y="1132"/>
              <a:ext cx="432" cy="212"/>
            </a:xfrm>
            <a:prstGeom prst="rect">
              <a:avLst/>
            </a:prstGeom>
            <a:noFill/>
            <a:ln w="9525">
              <a:noFill/>
            </a:ln>
          </p:spPr>
          <p:txBody>
            <a:bodyPr>
              <a:spAutoFit/>
            </a:bodyPr>
            <a:p>
              <a:pPr>
                <a:spcBef>
                  <a:spcPct val="50000"/>
                </a:spcBef>
              </a:pPr>
              <a:r>
                <a:rPr lang="en-US" altLang="zh-CN" sz="1600" b="1" i="1" dirty="0">
                  <a:solidFill>
                    <a:srgbClr val="FF0000"/>
                  </a:solidFill>
                  <a:latin typeface="楷体_GB2312" pitchFamily="49" charset="-122"/>
                  <a:ea typeface="楷体_GB2312" pitchFamily="49" charset="-122"/>
                </a:rPr>
                <a:t>△δ</a:t>
              </a:r>
              <a:endParaRPr lang="en-US" altLang="zh-CN" sz="1600" b="1" i="1" dirty="0">
                <a:solidFill>
                  <a:srgbClr val="FF0000"/>
                </a:solidFill>
                <a:latin typeface="楷体_GB2312" pitchFamily="49" charset="-122"/>
                <a:ea typeface="楷体_GB2312" pitchFamily="49" charset="-122"/>
              </a:endParaRPr>
            </a:p>
          </p:txBody>
        </p:sp>
      </p:grpSp>
      <p:grpSp>
        <p:nvGrpSpPr>
          <p:cNvPr id="12" name="Group 53"/>
          <p:cNvGrpSpPr/>
          <p:nvPr/>
        </p:nvGrpSpPr>
        <p:grpSpPr>
          <a:xfrm>
            <a:off x="1219200" y="963613"/>
            <a:ext cx="1447800" cy="336550"/>
            <a:chOff x="768" y="604"/>
            <a:chExt cx="912" cy="212"/>
          </a:xfrm>
        </p:grpSpPr>
        <p:sp>
          <p:nvSpPr>
            <p:cNvPr id="24640" name="Line 54"/>
            <p:cNvSpPr/>
            <p:nvPr/>
          </p:nvSpPr>
          <p:spPr>
            <a:xfrm flipH="1">
              <a:off x="1008" y="720"/>
              <a:ext cx="672" cy="0"/>
            </a:xfrm>
            <a:prstGeom prst="line">
              <a:avLst/>
            </a:prstGeom>
            <a:ln w="9525" cap="flat" cmpd="sng">
              <a:solidFill>
                <a:srgbClr val="0000FF"/>
              </a:solidFill>
              <a:prstDash val="dash"/>
              <a:headEnd type="none" w="med" len="med"/>
              <a:tailEnd type="none" w="med" len="med"/>
            </a:ln>
          </p:spPr>
        </p:sp>
        <p:sp>
          <p:nvSpPr>
            <p:cNvPr id="24641" name="Text Box 55"/>
            <p:cNvSpPr txBox="1"/>
            <p:nvPr/>
          </p:nvSpPr>
          <p:spPr>
            <a:xfrm>
              <a:off x="768" y="604"/>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ea typeface="方正大黑简体"/>
                </a:rPr>
                <a:t>F</a:t>
              </a:r>
              <a:r>
                <a:rPr lang="en-US" altLang="zh-CN" sz="1600" b="1" baseline="-25000" dirty="0">
                  <a:solidFill>
                    <a:srgbClr val="002060"/>
                  </a:solidFill>
                  <a:latin typeface="Times New Roman" panose="02020603050405020304" pitchFamily="18" charset="0"/>
                  <a:ea typeface="方正大黑简体"/>
                </a:rPr>
                <a:t>0</a:t>
              </a:r>
              <a:endParaRPr lang="en-US" altLang="zh-CN" sz="1600" b="1" baseline="-25000" dirty="0">
                <a:solidFill>
                  <a:srgbClr val="002060"/>
                </a:solidFill>
                <a:latin typeface="Times New Roman" panose="02020603050405020304" pitchFamily="18" charset="0"/>
                <a:ea typeface="方正大黑简体"/>
              </a:endParaRPr>
            </a:p>
          </p:txBody>
        </p:sp>
      </p:grpSp>
      <p:grpSp>
        <p:nvGrpSpPr>
          <p:cNvPr id="13" name="Group 56"/>
          <p:cNvGrpSpPr/>
          <p:nvPr/>
        </p:nvGrpSpPr>
        <p:grpSpPr>
          <a:xfrm>
            <a:off x="5334000" y="1039813"/>
            <a:ext cx="1752600" cy="336550"/>
            <a:chOff x="3360" y="652"/>
            <a:chExt cx="1056" cy="212"/>
          </a:xfrm>
        </p:grpSpPr>
        <p:sp>
          <p:nvSpPr>
            <p:cNvPr id="24638" name="Line 57"/>
            <p:cNvSpPr/>
            <p:nvPr/>
          </p:nvSpPr>
          <p:spPr>
            <a:xfrm flipH="1">
              <a:off x="3600" y="720"/>
              <a:ext cx="816" cy="0"/>
            </a:xfrm>
            <a:prstGeom prst="line">
              <a:avLst/>
            </a:prstGeom>
            <a:ln w="9525" cap="flat" cmpd="sng">
              <a:solidFill>
                <a:srgbClr val="0000FF"/>
              </a:solidFill>
              <a:prstDash val="dash"/>
              <a:headEnd type="none" w="med" len="med"/>
              <a:tailEnd type="none" w="med" len="med"/>
            </a:ln>
          </p:spPr>
        </p:sp>
        <p:sp>
          <p:nvSpPr>
            <p:cNvPr id="24639" name="Text Box 58"/>
            <p:cNvSpPr txBox="1"/>
            <p:nvPr/>
          </p:nvSpPr>
          <p:spPr>
            <a:xfrm>
              <a:off x="3360" y="652"/>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ea typeface="方正大黑简体"/>
                </a:rPr>
                <a:t>F</a:t>
              </a:r>
              <a:r>
                <a:rPr lang="en-US" altLang="zh-CN" sz="1600" b="1" baseline="-25000" dirty="0">
                  <a:solidFill>
                    <a:srgbClr val="002060"/>
                  </a:solidFill>
                  <a:latin typeface="Times New Roman" panose="02020603050405020304" pitchFamily="18" charset="0"/>
                  <a:ea typeface="方正大黑简体"/>
                </a:rPr>
                <a:t>0</a:t>
              </a:r>
              <a:endParaRPr lang="en-US" altLang="zh-CN" sz="1600" b="1" baseline="-25000" dirty="0">
                <a:solidFill>
                  <a:srgbClr val="002060"/>
                </a:solidFill>
                <a:latin typeface="Times New Roman" panose="02020603050405020304" pitchFamily="18" charset="0"/>
                <a:ea typeface="方正大黑简体"/>
              </a:endParaRPr>
            </a:p>
          </p:txBody>
        </p:sp>
      </p:grpSp>
      <p:grpSp>
        <p:nvGrpSpPr>
          <p:cNvPr id="14" name="Group 59"/>
          <p:cNvGrpSpPr/>
          <p:nvPr/>
        </p:nvGrpSpPr>
        <p:grpSpPr>
          <a:xfrm>
            <a:off x="5334000" y="690563"/>
            <a:ext cx="1752600" cy="336550"/>
            <a:chOff x="3360" y="432"/>
            <a:chExt cx="1104" cy="212"/>
          </a:xfrm>
        </p:grpSpPr>
        <p:sp>
          <p:nvSpPr>
            <p:cNvPr id="24636" name="Line 60"/>
            <p:cNvSpPr/>
            <p:nvPr/>
          </p:nvSpPr>
          <p:spPr>
            <a:xfrm flipH="1">
              <a:off x="3600" y="576"/>
              <a:ext cx="864" cy="0"/>
            </a:xfrm>
            <a:prstGeom prst="line">
              <a:avLst/>
            </a:prstGeom>
            <a:ln w="9525" cap="flat" cmpd="sng">
              <a:solidFill>
                <a:srgbClr val="0000FF"/>
              </a:solidFill>
              <a:prstDash val="dash"/>
              <a:headEnd type="none" w="med" len="med"/>
              <a:tailEnd type="none" w="med" len="med"/>
            </a:ln>
          </p:spPr>
        </p:sp>
        <p:sp>
          <p:nvSpPr>
            <p:cNvPr id="24637" name="Text Box 61"/>
            <p:cNvSpPr txBox="1"/>
            <p:nvPr/>
          </p:nvSpPr>
          <p:spPr>
            <a:xfrm>
              <a:off x="3360" y="432"/>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ea typeface="方正大黑简体"/>
                </a:rPr>
                <a:t>F</a:t>
              </a:r>
              <a:r>
                <a:rPr lang="en-US" altLang="zh-CN" sz="1600" b="1" baseline="-25000" dirty="0">
                  <a:solidFill>
                    <a:srgbClr val="002060"/>
                  </a:solidFill>
                  <a:latin typeface="Times New Roman" panose="02020603050405020304" pitchFamily="18" charset="0"/>
                  <a:ea typeface="方正大黑简体"/>
                </a:rPr>
                <a:t>2</a:t>
              </a:r>
              <a:endParaRPr lang="en-US" altLang="zh-CN" sz="1600" b="1" baseline="-25000" dirty="0">
                <a:solidFill>
                  <a:srgbClr val="002060"/>
                </a:solidFill>
                <a:latin typeface="Times New Roman" panose="02020603050405020304" pitchFamily="18" charset="0"/>
                <a:ea typeface="方正大黑简体"/>
              </a:endParaRPr>
            </a:p>
          </p:txBody>
        </p:sp>
      </p:grpSp>
      <p:grpSp>
        <p:nvGrpSpPr>
          <p:cNvPr id="15" name="Group 62"/>
          <p:cNvGrpSpPr/>
          <p:nvPr/>
        </p:nvGrpSpPr>
        <p:grpSpPr>
          <a:xfrm>
            <a:off x="6781800" y="919163"/>
            <a:ext cx="1371600" cy="533400"/>
            <a:chOff x="4320" y="576"/>
            <a:chExt cx="816" cy="336"/>
          </a:xfrm>
        </p:grpSpPr>
        <p:sp>
          <p:nvSpPr>
            <p:cNvPr id="24632" name="Line 63"/>
            <p:cNvSpPr/>
            <p:nvPr/>
          </p:nvSpPr>
          <p:spPr>
            <a:xfrm rot="-5400000">
              <a:off x="4728" y="312"/>
              <a:ext cx="0" cy="528"/>
            </a:xfrm>
            <a:prstGeom prst="line">
              <a:avLst/>
            </a:prstGeom>
            <a:ln w="12700" cap="flat" cmpd="sng">
              <a:solidFill>
                <a:srgbClr val="0000FF"/>
              </a:solidFill>
              <a:prstDash val="solid"/>
              <a:headEnd type="none" w="med" len="med"/>
              <a:tailEnd type="none" w="med" len="med"/>
            </a:ln>
          </p:spPr>
        </p:sp>
        <p:sp>
          <p:nvSpPr>
            <p:cNvPr id="24633" name="Line 64"/>
            <p:cNvSpPr/>
            <p:nvPr/>
          </p:nvSpPr>
          <p:spPr>
            <a:xfrm rot="-5400000">
              <a:off x="4656" y="576"/>
              <a:ext cx="0" cy="672"/>
            </a:xfrm>
            <a:prstGeom prst="line">
              <a:avLst/>
            </a:prstGeom>
            <a:ln w="12700" cap="flat" cmpd="sng">
              <a:solidFill>
                <a:srgbClr val="0000FF"/>
              </a:solidFill>
              <a:prstDash val="solid"/>
              <a:headEnd type="none" w="med" len="med"/>
              <a:tailEnd type="none" w="med" len="med"/>
            </a:ln>
          </p:spPr>
        </p:sp>
        <p:sp>
          <p:nvSpPr>
            <p:cNvPr id="24634" name="Line 65"/>
            <p:cNvSpPr/>
            <p:nvPr/>
          </p:nvSpPr>
          <p:spPr>
            <a:xfrm rot="-5400000">
              <a:off x="4728" y="744"/>
              <a:ext cx="336" cy="0"/>
            </a:xfrm>
            <a:prstGeom prst="line">
              <a:avLst/>
            </a:prstGeom>
            <a:ln w="12700" cap="flat" cmpd="sng">
              <a:solidFill>
                <a:srgbClr val="0000FF"/>
              </a:solidFill>
              <a:prstDash val="solid"/>
              <a:headEnd type="triangle" w="med" len="med"/>
              <a:tailEnd type="triangle" w="med" len="med"/>
            </a:ln>
          </p:spPr>
        </p:sp>
        <p:sp>
          <p:nvSpPr>
            <p:cNvPr id="24635" name="Text Box 66"/>
            <p:cNvSpPr txBox="1"/>
            <p:nvPr/>
          </p:nvSpPr>
          <p:spPr>
            <a:xfrm>
              <a:off x="4704" y="652"/>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ea typeface="方正大黑简体"/>
                </a:rPr>
                <a:t>F</a:t>
              </a:r>
              <a:endParaRPr lang="en-US" altLang="zh-CN" sz="1600" b="1" i="1" dirty="0">
                <a:solidFill>
                  <a:srgbClr val="002060"/>
                </a:solidFill>
                <a:latin typeface="Times New Roman" panose="02020603050405020304" pitchFamily="18" charset="0"/>
                <a:ea typeface="方正大黑简体"/>
              </a:endParaRPr>
            </a:p>
          </p:txBody>
        </p:sp>
      </p:grpSp>
      <p:grpSp>
        <p:nvGrpSpPr>
          <p:cNvPr id="16" name="Group 67"/>
          <p:cNvGrpSpPr/>
          <p:nvPr/>
        </p:nvGrpSpPr>
        <p:grpSpPr>
          <a:xfrm>
            <a:off x="7315200" y="1452563"/>
            <a:ext cx="685800" cy="381000"/>
            <a:chOff x="4608" y="912"/>
            <a:chExt cx="432" cy="240"/>
          </a:xfrm>
        </p:grpSpPr>
        <p:sp>
          <p:nvSpPr>
            <p:cNvPr id="24630" name="Line 68"/>
            <p:cNvSpPr/>
            <p:nvPr/>
          </p:nvSpPr>
          <p:spPr>
            <a:xfrm rot="-5400000">
              <a:off x="4776" y="1032"/>
              <a:ext cx="240" cy="0"/>
            </a:xfrm>
            <a:prstGeom prst="line">
              <a:avLst/>
            </a:prstGeom>
            <a:ln w="12700" cap="flat" cmpd="sng">
              <a:solidFill>
                <a:srgbClr val="0000FF"/>
              </a:solidFill>
              <a:prstDash val="solid"/>
              <a:headEnd type="triangle" w="med" len="med"/>
              <a:tailEnd type="triangle" w="med" len="med"/>
            </a:ln>
          </p:spPr>
        </p:sp>
        <p:sp>
          <p:nvSpPr>
            <p:cNvPr id="24631" name="Text Box 69"/>
            <p:cNvSpPr txBox="1"/>
            <p:nvPr/>
          </p:nvSpPr>
          <p:spPr>
            <a:xfrm>
              <a:off x="4608" y="940"/>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rPr>
                <a:t>F</a:t>
              </a:r>
              <a:r>
                <a:rPr lang="en-US" altLang="zh-CN" sz="1600" b="1" i="1" baseline="-25000" dirty="0">
                  <a:solidFill>
                    <a:srgbClr val="002060"/>
                  </a:solidFill>
                  <a:latin typeface="Times New Roman" panose="02020603050405020304" pitchFamily="18" charset="0"/>
                </a:rPr>
                <a:t>1</a:t>
              </a:r>
              <a:endParaRPr lang="en-US" altLang="zh-CN" sz="1600" b="1" i="1" baseline="-25000" dirty="0">
                <a:solidFill>
                  <a:srgbClr val="002060"/>
                </a:solidFill>
                <a:latin typeface="Times New Roman" panose="02020603050405020304" pitchFamily="18" charset="0"/>
              </a:endParaRPr>
            </a:p>
          </p:txBody>
        </p:sp>
      </p:grpSp>
      <p:grpSp>
        <p:nvGrpSpPr>
          <p:cNvPr id="17" name="Group 70"/>
          <p:cNvGrpSpPr/>
          <p:nvPr/>
        </p:nvGrpSpPr>
        <p:grpSpPr>
          <a:xfrm>
            <a:off x="1986280" y="1439228"/>
            <a:ext cx="762000" cy="457200"/>
            <a:chOff x="1248" y="912"/>
            <a:chExt cx="480" cy="288"/>
          </a:xfrm>
        </p:grpSpPr>
        <p:sp>
          <p:nvSpPr>
            <p:cNvPr id="24628" name="Arc 71"/>
            <p:cNvSpPr/>
            <p:nvPr/>
          </p:nvSpPr>
          <p:spPr>
            <a:xfrm rot="3342497" flipH="1">
              <a:off x="1191" y="1047"/>
              <a:ext cx="209" cy="96"/>
            </a:xfrm>
            <a:custGeom>
              <a:avLst/>
              <a:gdLst>
                <a:gd name="txL" fmla="*/ 0 w 31404"/>
                <a:gd name="txT" fmla="*/ 0 h 21600"/>
                <a:gd name="txR" fmla="*/ 31404 w 31404"/>
                <a:gd name="txB" fmla="*/ 21600 h 21600"/>
              </a:gdLst>
              <a:ahLst/>
              <a:cxnLst>
                <a:cxn ang="0">
                  <a:pos x="0" y="0"/>
                </a:cxn>
                <a:cxn ang="0">
                  <a:pos x="0" y="0"/>
                </a:cxn>
                <a:cxn ang="0">
                  <a:pos x="0" y="0"/>
                </a:cxn>
              </a:cxnLst>
              <a:rect l="txL" t="txT" r="txR" b="txB"/>
              <a:pathLst>
                <a:path w="31404" h="21600" fill="none">
                  <a:moveTo>
                    <a:pt x="0" y="4194"/>
                  </a:moveTo>
                  <a:cubicBezTo>
                    <a:pt x="3708" y="1469"/>
                    <a:pt x="8189" y="-1"/>
                    <a:pt x="12791" y="0"/>
                  </a:cubicBezTo>
                  <a:cubicBezTo>
                    <a:pt x="20442" y="0"/>
                    <a:pt x="27522" y="4047"/>
                    <a:pt x="31404" y="10640"/>
                  </a:cubicBezTo>
                </a:path>
                <a:path w="31404" h="21600" stroke="0">
                  <a:moveTo>
                    <a:pt x="0" y="4194"/>
                  </a:moveTo>
                  <a:cubicBezTo>
                    <a:pt x="3708" y="1469"/>
                    <a:pt x="8189" y="-1"/>
                    <a:pt x="12791" y="0"/>
                  </a:cubicBezTo>
                  <a:cubicBezTo>
                    <a:pt x="20442" y="0"/>
                    <a:pt x="27522" y="4047"/>
                    <a:pt x="31404" y="10640"/>
                  </a:cubicBezTo>
                  <a:lnTo>
                    <a:pt x="12791" y="21600"/>
                  </a:lnTo>
                  <a:lnTo>
                    <a:pt x="0" y="4194"/>
                  </a:lnTo>
                  <a:close/>
                </a:path>
              </a:pathLst>
            </a:custGeom>
            <a:noFill/>
            <a:ln w="22225" cap="flat" cmpd="sng">
              <a:solidFill>
                <a:srgbClr val="002060">
                  <a:alpha val="100000"/>
                </a:srgbClr>
              </a:solidFill>
              <a:prstDash val="solid"/>
              <a:round/>
              <a:headEnd type="triangle" w="sm" len="med"/>
              <a:tailEnd type="triangle" w="sm" len="med"/>
            </a:ln>
          </p:spPr>
          <p:txBody>
            <a:bodyPr/>
            <a:p>
              <a:endParaRPr lang="zh-CN" altLang="en-US"/>
            </a:p>
          </p:txBody>
        </p:sp>
        <p:sp>
          <p:nvSpPr>
            <p:cNvPr id="24629" name="Text Box 72"/>
            <p:cNvSpPr txBox="1"/>
            <p:nvPr/>
          </p:nvSpPr>
          <p:spPr>
            <a:xfrm>
              <a:off x="1296" y="912"/>
              <a:ext cx="432" cy="231"/>
            </a:xfrm>
            <a:prstGeom prst="rect">
              <a:avLst/>
            </a:prstGeom>
            <a:noFill/>
            <a:ln w="9525">
              <a:noFill/>
            </a:ln>
          </p:spPr>
          <p:txBody>
            <a:bodyPr>
              <a:spAutoFit/>
            </a:bodyPr>
            <a:p>
              <a:pPr>
                <a:spcBef>
                  <a:spcPct val="50000"/>
                </a:spcBef>
              </a:pPr>
              <a:r>
                <a:rPr lang="en-US" altLang="zh-CN" sz="1800" b="1" i="1" dirty="0">
                  <a:solidFill>
                    <a:srgbClr val="002060"/>
                  </a:solidFill>
                  <a:latin typeface="楷体_GB2312" pitchFamily="49" charset="-122"/>
                  <a:ea typeface="楷体_GB2312" pitchFamily="49" charset="-122"/>
                </a:rPr>
                <a:t>θ</a:t>
              </a:r>
              <a:r>
                <a:rPr lang="en-US" altLang="zh-CN" sz="1600" b="1" baseline="-25000" dirty="0">
                  <a:solidFill>
                    <a:srgbClr val="002060"/>
                  </a:solidFill>
                  <a:latin typeface="Times New Roman" panose="02020603050405020304" pitchFamily="18" charset="0"/>
                  <a:ea typeface="楷体_GB2312" pitchFamily="49" charset="-122"/>
                </a:rPr>
                <a:t>1</a:t>
              </a:r>
              <a:endParaRPr lang="en-US" altLang="zh-CN" sz="1600" b="1" baseline="-25000" dirty="0">
                <a:solidFill>
                  <a:srgbClr val="002060"/>
                </a:solidFill>
                <a:latin typeface="Times New Roman" panose="02020603050405020304" pitchFamily="18" charset="0"/>
                <a:ea typeface="楷体_GB2312" pitchFamily="49" charset="-122"/>
              </a:endParaRPr>
            </a:p>
          </p:txBody>
        </p:sp>
      </p:grpSp>
      <p:grpSp>
        <p:nvGrpSpPr>
          <p:cNvPr id="18" name="Group 73"/>
          <p:cNvGrpSpPr/>
          <p:nvPr/>
        </p:nvGrpSpPr>
        <p:grpSpPr>
          <a:xfrm>
            <a:off x="3886200" y="1307465"/>
            <a:ext cx="685800" cy="577850"/>
            <a:chOff x="2448" y="825"/>
            <a:chExt cx="432" cy="364"/>
          </a:xfrm>
        </p:grpSpPr>
        <p:sp>
          <p:nvSpPr>
            <p:cNvPr id="24626" name="Arc 74"/>
            <p:cNvSpPr/>
            <p:nvPr/>
          </p:nvSpPr>
          <p:spPr>
            <a:xfrm rot="-3342497">
              <a:off x="2631" y="1036"/>
              <a:ext cx="209" cy="96"/>
            </a:xfrm>
            <a:custGeom>
              <a:avLst/>
              <a:gdLst>
                <a:gd name="txL" fmla="*/ 0 w 31404"/>
                <a:gd name="txT" fmla="*/ 0 h 21600"/>
                <a:gd name="txR" fmla="*/ 31404 w 31404"/>
                <a:gd name="txB" fmla="*/ 21600 h 21600"/>
              </a:gdLst>
              <a:ahLst/>
              <a:cxnLst>
                <a:cxn ang="0">
                  <a:pos x="0" y="0"/>
                </a:cxn>
                <a:cxn ang="0">
                  <a:pos x="0" y="0"/>
                </a:cxn>
                <a:cxn ang="0">
                  <a:pos x="0" y="0"/>
                </a:cxn>
              </a:cxnLst>
              <a:rect l="txL" t="txT" r="txR" b="txB"/>
              <a:pathLst>
                <a:path w="31404" h="21600" fill="none">
                  <a:moveTo>
                    <a:pt x="0" y="4194"/>
                  </a:moveTo>
                  <a:cubicBezTo>
                    <a:pt x="3708" y="1469"/>
                    <a:pt x="8189" y="-1"/>
                    <a:pt x="12791" y="0"/>
                  </a:cubicBezTo>
                  <a:cubicBezTo>
                    <a:pt x="20442" y="0"/>
                    <a:pt x="27522" y="4047"/>
                    <a:pt x="31404" y="10640"/>
                  </a:cubicBezTo>
                </a:path>
                <a:path w="31404" h="21600" stroke="0">
                  <a:moveTo>
                    <a:pt x="0" y="4194"/>
                  </a:moveTo>
                  <a:cubicBezTo>
                    <a:pt x="3708" y="1469"/>
                    <a:pt x="8189" y="-1"/>
                    <a:pt x="12791" y="0"/>
                  </a:cubicBezTo>
                  <a:cubicBezTo>
                    <a:pt x="20442" y="0"/>
                    <a:pt x="27522" y="4047"/>
                    <a:pt x="31404" y="10640"/>
                  </a:cubicBezTo>
                  <a:lnTo>
                    <a:pt x="12791" y="21600"/>
                  </a:lnTo>
                  <a:lnTo>
                    <a:pt x="0" y="4194"/>
                  </a:lnTo>
                  <a:close/>
                </a:path>
              </a:pathLst>
            </a:custGeom>
            <a:noFill/>
            <a:ln w="22225" cap="flat" cmpd="sng">
              <a:solidFill>
                <a:srgbClr val="002060">
                  <a:alpha val="100000"/>
                </a:srgbClr>
              </a:solidFill>
              <a:prstDash val="solid"/>
              <a:round/>
              <a:headEnd type="triangle" w="sm" len="med"/>
              <a:tailEnd type="triangle" w="sm" len="med"/>
            </a:ln>
          </p:spPr>
          <p:txBody>
            <a:bodyPr/>
            <a:p>
              <a:endParaRPr lang="zh-CN" altLang="en-US"/>
            </a:p>
          </p:txBody>
        </p:sp>
        <p:sp>
          <p:nvSpPr>
            <p:cNvPr id="24627" name="Text Box 75"/>
            <p:cNvSpPr txBox="1"/>
            <p:nvPr/>
          </p:nvSpPr>
          <p:spPr>
            <a:xfrm>
              <a:off x="2448" y="825"/>
              <a:ext cx="432" cy="231"/>
            </a:xfrm>
            <a:prstGeom prst="rect">
              <a:avLst/>
            </a:prstGeom>
            <a:noFill/>
            <a:ln w="9525">
              <a:noFill/>
            </a:ln>
          </p:spPr>
          <p:txBody>
            <a:bodyPr>
              <a:spAutoFit/>
            </a:bodyPr>
            <a:p>
              <a:pPr>
                <a:spcBef>
                  <a:spcPct val="50000"/>
                </a:spcBef>
              </a:pPr>
              <a:r>
                <a:rPr lang="en-US" altLang="zh-CN" sz="1800" b="1" i="1" dirty="0">
                  <a:solidFill>
                    <a:srgbClr val="002060"/>
                  </a:solidFill>
                  <a:latin typeface="楷体_GB2312" pitchFamily="49" charset="-122"/>
                  <a:ea typeface="楷体_GB2312" pitchFamily="49" charset="-122"/>
                </a:rPr>
                <a:t>θ</a:t>
              </a:r>
              <a:r>
                <a:rPr lang="en-US" altLang="zh-CN" sz="1600" b="1" baseline="-25000" dirty="0">
                  <a:solidFill>
                    <a:srgbClr val="002060"/>
                  </a:solidFill>
                  <a:latin typeface="Times New Roman" panose="02020603050405020304" pitchFamily="18" charset="0"/>
                  <a:ea typeface="楷体_GB2312" pitchFamily="49" charset="-122"/>
                </a:rPr>
                <a:t>2</a:t>
              </a:r>
              <a:endParaRPr lang="en-US" altLang="zh-CN" sz="1600" b="1" baseline="-25000" dirty="0">
                <a:solidFill>
                  <a:srgbClr val="002060"/>
                </a:solidFill>
                <a:latin typeface="Times New Roman" panose="02020603050405020304" pitchFamily="18" charset="0"/>
                <a:ea typeface="楷体_GB2312" pitchFamily="49" charset="-122"/>
              </a:endParaRPr>
            </a:p>
          </p:txBody>
        </p:sp>
      </p:grpSp>
      <p:sp>
        <p:nvSpPr>
          <p:cNvPr id="570444" name="Text Box 76"/>
          <p:cNvSpPr txBox="1"/>
          <p:nvPr/>
        </p:nvSpPr>
        <p:spPr>
          <a:xfrm>
            <a:off x="1905000" y="2443163"/>
            <a:ext cx="990600" cy="396875"/>
          </a:xfrm>
          <a:prstGeom prst="rect">
            <a:avLst/>
          </a:prstGeom>
          <a:noFill/>
          <a:ln w="9525">
            <a:noFill/>
          </a:ln>
        </p:spPr>
        <p:txBody>
          <a:bodyPr>
            <a:spAutoFit/>
          </a:bodyPr>
          <a:p>
            <a:pPr>
              <a:spcBef>
                <a:spcPct val="50000"/>
              </a:spcBef>
            </a:pPr>
            <a:r>
              <a:rPr lang="zh-CN" altLang="en-US" sz="2000" b="1" dirty="0">
                <a:solidFill>
                  <a:srgbClr val="002060"/>
                </a:solidFill>
                <a:latin typeface="Times New Roman" panose="02020603050405020304" pitchFamily="18" charset="0"/>
              </a:rPr>
              <a:t>螺栓</a:t>
            </a:r>
            <a:endParaRPr lang="zh-CN" altLang="en-US" sz="2000" b="1" baseline="-25000" dirty="0">
              <a:solidFill>
                <a:srgbClr val="002060"/>
              </a:solidFill>
              <a:latin typeface="Times New Roman" panose="02020603050405020304" pitchFamily="18" charset="0"/>
            </a:endParaRPr>
          </a:p>
        </p:txBody>
      </p:sp>
      <p:sp>
        <p:nvSpPr>
          <p:cNvPr id="570445" name="Text Box 77"/>
          <p:cNvSpPr txBox="1"/>
          <p:nvPr/>
        </p:nvSpPr>
        <p:spPr>
          <a:xfrm>
            <a:off x="3733800" y="2443163"/>
            <a:ext cx="1295400" cy="396875"/>
          </a:xfrm>
          <a:prstGeom prst="rect">
            <a:avLst/>
          </a:prstGeom>
          <a:noFill/>
          <a:ln w="9525">
            <a:noFill/>
          </a:ln>
        </p:spPr>
        <p:txBody>
          <a:bodyPr>
            <a:spAutoFit/>
          </a:bodyPr>
          <a:p>
            <a:pPr>
              <a:spcBef>
                <a:spcPct val="50000"/>
              </a:spcBef>
            </a:pPr>
            <a:r>
              <a:rPr lang="zh-CN" altLang="en-US" sz="2000" b="1" dirty="0">
                <a:solidFill>
                  <a:srgbClr val="002060"/>
                </a:solidFill>
                <a:latin typeface="Times New Roman" panose="02020603050405020304" pitchFamily="18" charset="0"/>
              </a:rPr>
              <a:t>被联接件</a:t>
            </a:r>
            <a:endParaRPr lang="zh-CN" altLang="en-US" sz="2000" b="1" baseline="-25000" dirty="0">
              <a:solidFill>
                <a:srgbClr val="002060"/>
              </a:solidFill>
              <a:latin typeface="Times New Roman" panose="02020603050405020304" pitchFamily="18" charset="0"/>
            </a:endParaRPr>
          </a:p>
        </p:txBody>
      </p:sp>
      <p:grpSp>
        <p:nvGrpSpPr>
          <p:cNvPr id="19" name="Group 78"/>
          <p:cNvGrpSpPr/>
          <p:nvPr/>
        </p:nvGrpSpPr>
        <p:grpSpPr>
          <a:xfrm>
            <a:off x="3962400" y="919163"/>
            <a:ext cx="1371600" cy="336550"/>
            <a:chOff x="2496" y="576"/>
            <a:chExt cx="864" cy="212"/>
          </a:xfrm>
        </p:grpSpPr>
        <p:sp>
          <p:nvSpPr>
            <p:cNvPr id="24624" name="Text Box 79"/>
            <p:cNvSpPr txBox="1"/>
            <p:nvPr/>
          </p:nvSpPr>
          <p:spPr>
            <a:xfrm>
              <a:off x="2928" y="576"/>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ea typeface="方正大黑简体"/>
                </a:rPr>
                <a:t>F</a:t>
              </a:r>
              <a:r>
                <a:rPr lang="en-US" altLang="zh-CN" sz="1600" b="1" baseline="-25000" dirty="0">
                  <a:solidFill>
                    <a:srgbClr val="002060"/>
                  </a:solidFill>
                  <a:latin typeface="Times New Roman" panose="02020603050405020304" pitchFamily="18" charset="0"/>
                  <a:ea typeface="方正大黑简体"/>
                </a:rPr>
                <a:t>0</a:t>
              </a:r>
              <a:endParaRPr lang="en-US" altLang="zh-CN" sz="1600" b="1" baseline="-25000" dirty="0">
                <a:solidFill>
                  <a:srgbClr val="002060"/>
                </a:solidFill>
                <a:latin typeface="Times New Roman" panose="02020603050405020304" pitchFamily="18" charset="0"/>
                <a:ea typeface="方正大黑简体"/>
              </a:endParaRPr>
            </a:p>
          </p:txBody>
        </p:sp>
        <p:sp>
          <p:nvSpPr>
            <p:cNvPr id="24625" name="Line 80"/>
            <p:cNvSpPr/>
            <p:nvPr/>
          </p:nvSpPr>
          <p:spPr>
            <a:xfrm flipH="1">
              <a:off x="2496" y="720"/>
              <a:ext cx="432" cy="0"/>
            </a:xfrm>
            <a:prstGeom prst="line">
              <a:avLst/>
            </a:prstGeom>
            <a:ln w="9525" cap="flat" cmpd="sng">
              <a:solidFill>
                <a:srgbClr val="0000FF"/>
              </a:solidFill>
              <a:prstDash val="dash"/>
              <a:headEnd type="none" w="med" len="med"/>
              <a:tailEnd type="none" w="med" len="med"/>
            </a:ln>
          </p:spPr>
        </p:sp>
      </p:grpSp>
      <p:sp>
        <p:nvSpPr>
          <p:cNvPr id="570449" name="Line 81"/>
          <p:cNvSpPr/>
          <p:nvPr/>
        </p:nvSpPr>
        <p:spPr>
          <a:xfrm flipH="1">
            <a:off x="2667000" y="1147763"/>
            <a:ext cx="1295400" cy="0"/>
          </a:xfrm>
          <a:prstGeom prst="line">
            <a:avLst/>
          </a:prstGeom>
          <a:ln w="9525" cap="flat" cmpd="sng">
            <a:solidFill>
              <a:srgbClr val="0000FF"/>
            </a:solidFill>
            <a:prstDash val="dash"/>
            <a:headEnd type="none" w="med" len="med"/>
            <a:tailEnd type="none" w="med" len="med"/>
          </a:ln>
        </p:spPr>
      </p:sp>
      <p:sp>
        <p:nvSpPr>
          <p:cNvPr id="570450" name="Text Box 82"/>
          <p:cNvSpPr txBox="1">
            <a:spLocks noChangeArrowheads="1"/>
          </p:cNvSpPr>
          <p:nvPr/>
        </p:nvSpPr>
        <p:spPr bwMode="auto">
          <a:xfrm>
            <a:off x="424180" y="2997200"/>
            <a:ext cx="3962400" cy="398780"/>
          </a:xfrm>
          <a:prstGeom prst="rect">
            <a:avLst/>
          </a:prstGeom>
          <a:noFill/>
          <a:ln w="9525">
            <a:noFill/>
            <a:miter lim="800000"/>
          </a:ln>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螺栓刚度</a:t>
            </a:r>
            <a:r>
              <a:rPr kumimoji="1" lang="en-US" altLang="zh-CN" sz="2000" b="1" kern="1200" cap="none" spc="0" normalizeH="0" baseline="0" noProof="0" dirty="0">
                <a:solidFill>
                  <a:srgbClr val="003399"/>
                </a:solidFill>
                <a:latin typeface="+mn-ea"/>
                <a:ea typeface="+mn-ea"/>
                <a:cs typeface="+mn-cs"/>
              </a:rPr>
              <a:t>: </a:t>
            </a:r>
            <a:r>
              <a:rPr kumimoji="1" lang="en-US" altLang="zh-CN" sz="2000" b="1" i="1" kern="1200" cap="none" spc="0" normalizeH="0" baseline="0" noProof="0" dirty="0">
                <a:solidFill>
                  <a:srgbClr val="003399"/>
                </a:solidFill>
                <a:latin typeface="+mn-ea"/>
                <a:ea typeface="+mn-ea"/>
                <a:cs typeface="+mn-cs"/>
              </a:rPr>
              <a:t>C</a:t>
            </a:r>
            <a:r>
              <a:rPr kumimoji="1" lang="en-US" altLang="zh-CN" sz="2000" b="1" kern="1200" cap="none" spc="0" normalizeH="0" baseline="-25000" noProof="0" dirty="0">
                <a:solidFill>
                  <a:srgbClr val="003399"/>
                </a:solidFill>
                <a:latin typeface="+mn-ea"/>
                <a:ea typeface="+mn-ea"/>
                <a:cs typeface="+mn-cs"/>
              </a:rPr>
              <a:t>1</a:t>
            </a:r>
            <a:r>
              <a:rPr kumimoji="1" lang="en-US" altLang="zh-CN" sz="2000" b="1" kern="1200" cap="none" spc="0" normalizeH="0" baseline="0" noProof="0" dirty="0">
                <a:solidFill>
                  <a:srgbClr val="003399"/>
                </a:solidFill>
                <a:latin typeface="+mn-ea"/>
                <a:ea typeface="+mn-ea"/>
                <a:cs typeface="+mn-cs"/>
              </a:rPr>
              <a:t> = </a:t>
            </a:r>
            <a:r>
              <a:rPr kumimoji="1" lang="en-US" altLang="zh-CN" sz="2000" b="1" i="1" kern="1200" cap="none" spc="0" normalizeH="0" baseline="0" noProof="0" dirty="0">
                <a:solidFill>
                  <a:srgbClr val="003399"/>
                </a:solidFill>
                <a:latin typeface="+mn-ea"/>
                <a:ea typeface="+mn-ea"/>
                <a:cs typeface="+mn-cs"/>
              </a:rPr>
              <a:t>F</a:t>
            </a:r>
            <a:r>
              <a:rPr kumimoji="1" lang="en-US" altLang="zh-CN" sz="2000" b="1" i="1" kern="1200" cap="none" spc="0" normalizeH="0" baseline="-25000" noProof="0" dirty="0">
                <a:solidFill>
                  <a:srgbClr val="003399"/>
                </a:solidFill>
                <a:latin typeface="+mn-ea"/>
                <a:ea typeface="+mn-ea"/>
                <a:cs typeface="+mn-cs"/>
              </a:rPr>
              <a:t>0</a:t>
            </a:r>
            <a:r>
              <a:rPr kumimoji="1" lang="en-US" altLang="zh-CN" sz="2000" b="1" kern="1200" cap="none" spc="0" normalizeH="0" baseline="0" noProof="0" dirty="0">
                <a:solidFill>
                  <a:srgbClr val="003399"/>
                </a:solidFill>
                <a:latin typeface="+mn-ea"/>
                <a:ea typeface="+mn-ea"/>
                <a:cs typeface="+mn-cs"/>
              </a:rPr>
              <a:t>/</a:t>
            </a:r>
            <a:r>
              <a:rPr kumimoji="1" lang="en-US" altLang="zh-CN" sz="2000" b="1" i="1" kern="1200" cap="none" spc="0" normalizeH="0" baseline="0" noProof="0" dirty="0">
                <a:solidFill>
                  <a:srgbClr val="003399"/>
                </a:solidFill>
                <a:latin typeface="+mn-ea"/>
                <a:ea typeface="+mn-ea"/>
                <a:cs typeface="+mn-cs"/>
              </a:rPr>
              <a:t>δ</a:t>
            </a:r>
            <a:r>
              <a:rPr kumimoji="1" lang="en-US" altLang="zh-CN" sz="2000" b="1" kern="1200" cap="none" spc="0" normalizeH="0" baseline="-25000" noProof="0" dirty="0">
                <a:solidFill>
                  <a:srgbClr val="003399"/>
                </a:solidFill>
                <a:latin typeface="+mn-ea"/>
                <a:ea typeface="+mn-ea"/>
                <a:cs typeface="+mn-cs"/>
              </a:rPr>
              <a:t>1</a:t>
            </a:r>
            <a:r>
              <a:rPr kumimoji="1" lang="en-US" altLang="zh-CN" sz="2000" b="1" kern="1200" cap="none" spc="0" normalizeH="0" baseline="0" noProof="0" dirty="0">
                <a:solidFill>
                  <a:srgbClr val="003399"/>
                </a:solidFill>
                <a:latin typeface="+mn-ea"/>
                <a:ea typeface="+mn-ea"/>
                <a:cs typeface="+mn-cs"/>
              </a:rPr>
              <a:t>=tg</a:t>
            </a:r>
            <a:r>
              <a:rPr kumimoji="1" lang="en-US" altLang="zh-CN" sz="2000" b="1" i="1" kern="1200" cap="none" spc="0" normalizeH="0" baseline="0" noProof="0" dirty="0">
                <a:solidFill>
                  <a:srgbClr val="003399"/>
                </a:solidFill>
                <a:latin typeface="+mn-ea"/>
                <a:ea typeface="+mn-ea"/>
                <a:cs typeface="楷体_GB2312"/>
              </a:rPr>
              <a:t>θ</a:t>
            </a:r>
            <a:r>
              <a:rPr kumimoji="1" lang="en-US" altLang="zh-CN" sz="2000" b="1" kern="1200" cap="none" spc="0" normalizeH="0" baseline="-25000" noProof="0" dirty="0">
                <a:solidFill>
                  <a:srgbClr val="003399"/>
                </a:solidFill>
                <a:latin typeface="+mn-ea"/>
                <a:ea typeface="+mn-ea"/>
                <a:cs typeface="+mn-cs"/>
              </a:rPr>
              <a:t>1</a:t>
            </a:r>
            <a:r>
              <a:rPr kumimoji="1" lang="en-US" altLang="zh-CN" sz="2000" b="1" kern="1200" cap="none" spc="0" normalizeH="0" baseline="0" noProof="0" dirty="0">
                <a:solidFill>
                  <a:srgbClr val="003399"/>
                </a:solidFill>
                <a:latin typeface="+mn-ea"/>
                <a:ea typeface="+mn-ea"/>
                <a:cs typeface="+mn-cs"/>
              </a:rPr>
              <a:t> </a:t>
            </a:r>
            <a:endParaRPr kumimoji="1" lang="en-US" altLang="zh-CN" sz="2000" b="1" kern="1200" cap="none" spc="0" normalizeH="0" baseline="-25000" noProof="0" dirty="0">
              <a:solidFill>
                <a:srgbClr val="003399"/>
              </a:solidFill>
              <a:latin typeface="+mn-ea"/>
              <a:ea typeface="+mn-ea"/>
              <a:cs typeface="+mn-cs"/>
            </a:endParaRPr>
          </a:p>
        </p:txBody>
      </p:sp>
      <p:sp>
        <p:nvSpPr>
          <p:cNvPr id="570451" name="Text Box 83"/>
          <p:cNvSpPr txBox="1">
            <a:spLocks noChangeArrowheads="1"/>
          </p:cNvSpPr>
          <p:nvPr/>
        </p:nvSpPr>
        <p:spPr bwMode="auto">
          <a:xfrm>
            <a:off x="4572000" y="2940050"/>
            <a:ext cx="4495800" cy="398780"/>
          </a:xfrm>
          <a:prstGeom prst="rect">
            <a:avLst/>
          </a:prstGeom>
          <a:noFill/>
          <a:ln w="9525">
            <a:noFill/>
            <a:miter lim="800000"/>
          </a:ln>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被联接件刚度</a:t>
            </a:r>
            <a:r>
              <a:rPr kumimoji="1" lang="en-US" altLang="zh-CN" sz="2000" b="1" kern="1200" cap="none" spc="0" normalizeH="0" baseline="0" noProof="0" dirty="0">
                <a:solidFill>
                  <a:srgbClr val="003399"/>
                </a:solidFill>
                <a:latin typeface="+mn-ea"/>
                <a:ea typeface="+mn-ea"/>
                <a:cs typeface="+mn-cs"/>
              </a:rPr>
              <a:t>: </a:t>
            </a:r>
            <a:r>
              <a:rPr kumimoji="1" lang="en-US" altLang="zh-CN" sz="2000" b="1" i="1" kern="1200" cap="none" spc="0" normalizeH="0" baseline="0" noProof="0" dirty="0">
                <a:solidFill>
                  <a:srgbClr val="003399"/>
                </a:solidFill>
                <a:latin typeface="+mn-ea"/>
                <a:ea typeface="+mn-ea"/>
                <a:cs typeface="+mn-cs"/>
              </a:rPr>
              <a:t>C</a:t>
            </a:r>
            <a:r>
              <a:rPr kumimoji="1" lang="en-US" altLang="zh-CN" sz="2000" b="1" kern="1200" cap="none" spc="0" normalizeH="0" baseline="-25000" noProof="0" dirty="0">
                <a:solidFill>
                  <a:srgbClr val="003399"/>
                </a:solidFill>
                <a:latin typeface="+mn-ea"/>
                <a:ea typeface="+mn-ea"/>
                <a:cs typeface="+mn-cs"/>
              </a:rPr>
              <a:t>2</a:t>
            </a:r>
            <a:r>
              <a:rPr kumimoji="1" lang="en-US" altLang="zh-CN" sz="2000" b="1" kern="1200" cap="none" spc="0" normalizeH="0" baseline="0" noProof="0" dirty="0">
                <a:solidFill>
                  <a:srgbClr val="003399"/>
                </a:solidFill>
                <a:latin typeface="+mn-ea"/>
                <a:ea typeface="+mn-ea"/>
                <a:cs typeface="+mn-cs"/>
              </a:rPr>
              <a:t> = </a:t>
            </a:r>
            <a:r>
              <a:rPr kumimoji="1" lang="en-US" altLang="zh-CN" sz="2000" b="1" i="1" kern="1200" cap="none" spc="0" normalizeH="0" baseline="0" noProof="0" dirty="0">
                <a:solidFill>
                  <a:srgbClr val="003399"/>
                </a:solidFill>
                <a:latin typeface="+mn-ea"/>
                <a:ea typeface="+mn-ea"/>
                <a:cs typeface="+mn-cs"/>
              </a:rPr>
              <a:t>F</a:t>
            </a:r>
            <a:r>
              <a:rPr kumimoji="1" lang="en-US" altLang="zh-CN" sz="2000" b="1" i="1" kern="1200" cap="none" spc="0" normalizeH="0" baseline="-25000" noProof="0" dirty="0">
                <a:solidFill>
                  <a:srgbClr val="003399"/>
                </a:solidFill>
                <a:latin typeface="+mn-ea"/>
                <a:ea typeface="+mn-ea"/>
                <a:cs typeface="+mn-cs"/>
              </a:rPr>
              <a:t>0</a:t>
            </a:r>
            <a:r>
              <a:rPr kumimoji="1" lang="en-US" altLang="zh-CN" sz="2000" b="1" kern="1200" cap="none" spc="0" normalizeH="0" baseline="0" noProof="0" dirty="0">
                <a:solidFill>
                  <a:srgbClr val="003399"/>
                </a:solidFill>
                <a:latin typeface="+mn-ea"/>
                <a:ea typeface="+mn-ea"/>
                <a:cs typeface="+mn-cs"/>
              </a:rPr>
              <a:t>/</a:t>
            </a:r>
            <a:r>
              <a:rPr kumimoji="1" lang="en-US" altLang="zh-CN" sz="2000" b="1" i="1" kern="1200" cap="none" spc="0" normalizeH="0" baseline="0" noProof="0" dirty="0">
                <a:solidFill>
                  <a:srgbClr val="003399"/>
                </a:solidFill>
                <a:latin typeface="+mn-ea"/>
                <a:ea typeface="+mn-ea"/>
                <a:cs typeface="+mn-cs"/>
              </a:rPr>
              <a:t>δ</a:t>
            </a:r>
            <a:r>
              <a:rPr kumimoji="1" lang="en-US" altLang="zh-CN" sz="2000" b="1" kern="1200" cap="none" spc="0" normalizeH="0" baseline="-25000" noProof="0" dirty="0">
                <a:solidFill>
                  <a:srgbClr val="003399"/>
                </a:solidFill>
                <a:latin typeface="+mn-ea"/>
                <a:ea typeface="+mn-ea"/>
                <a:cs typeface="+mn-cs"/>
              </a:rPr>
              <a:t>2</a:t>
            </a:r>
            <a:r>
              <a:rPr kumimoji="1" lang="en-US" altLang="zh-CN" sz="2000" b="1" kern="1200" cap="none" spc="0" normalizeH="0" baseline="0" noProof="0" dirty="0">
                <a:solidFill>
                  <a:srgbClr val="003399"/>
                </a:solidFill>
                <a:latin typeface="+mn-ea"/>
                <a:ea typeface="+mn-ea"/>
                <a:cs typeface="+mn-cs"/>
              </a:rPr>
              <a:t>=tg</a:t>
            </a:r>
            <a:r>
              <a:rPr kumimoji="1" lang="en-US" altLang="zh-CN" sz="2000" b="1" i="1" kern="1200" cap="none" spc="0" normalizeH="0" baseline="0" noProof="0" dirty="0">
                <a:solidFill>
                  <a:srgbClr val="003399"/>
                </a:solidFill>
                <a:latin typeface="+mn-ea"/>
                <a:ea typeface="+mn-ea"/>
                <a:cs typeface="楷体_GB2312"/>
              </a:rPr>
              <a:t>θ</a:t>
            </a:r>
            <a:r>
              <a:rPr kumimoji="1" lang="en-US" altLang="zh-CN" sz="2000" b="1" kern="1200" cap="none" spc="0" normalizeH="0" baseline="-25000" noProof="0" dirty="0">
                <a:solidFill>
                  <a:srgbClr val="003399"/>
                </a:solidFill>
                <a:latin typeface="+mn-ea"/>
                <a:ea typeface="+mn-ea"/>
                <a:cs typeface="+mn-cs"/>
              </a:rPr>
              <a:t>2</a:t>
            </a:r>
            <a:endParaRPr kumimoji="1" lang="en-US" altLang="zh-CN" sz="2000" b="1" kern="1200" cap="none" spc="0" normalizeH="0" baseline="-25000" noProof="0" dirty="0">
              <a:solidFill>
                <a:srgbClr val="003399"/>
              </a:solidFill>
              <a:latin typeface="+mn-ea"/>
              <a:ea typeface="+mn-ea"/>
              <a:cs typeface="+mn-cs"/>
            </a:endParaRPr>
          </a:p>
        </p:txBody>
      </p:sp>
      <p:grpSp>
        <p:nvGrpSpPr>
          <p:cNvPr id="20" name="Group 87"/>
          <p:cNvGrpSpPr/>
          <p:nvPr/>
        </p:nvGrpSpPr>
        <p:grpSpPr>
          <a:xfrm>
            <a:off x="4883774" y="4516755"/>
            <a:ext cx="3302011" cy="2236307"/>
            <a:chOff x="2616" y="2880"/>
            <a:chExt cx="2824" cy="1528"/>
          </a:xfrm>
        </p:grpSpPr>
        <p:sp>
          <p:nvSpPr>
            <p:cNvPr id="24622" name="AutoShape 88"/>
            <p:cNvSpPr/>
            <p:nvPr/>
          </p:nvSpPr>
          <p:spPr>
            <a:xfrm flipV="1">
              <a:off x="2616" y="3845"/>
              <a:ext cx="2268" cy="563"/>
            </a:xfrm>
            <a:prstGeom prst="wedgeRoundRectCallout">
              <a:avLst>
                <a:gd name="adj1" fmla="val 51537"/>
                <a:gd name="adj2" fmla="val 93444"/>
                <a:gd name="adj3" fmla="val 16667"/>
              </a:avLst>
            </a:prstGeom>
            <a:noFill/>
            <a:ln w="19050" cap="flat" cmpd="sng">
              <a:solidFill>
                <a:srgbClr val="0000FF"/>
              </a:solidFill>
              <a:prstDash val="solid"/>
              <a:miter/>
              <a:headEnd type="none" w="med" len="med"/>
              <a:tailEnd type="none" w="med" len="med"/>
            </a:ln>
          </p:spPr>
          <p:txBody>
            <a:bodyPr rot="10800000" wrap="square" anchor="ctr">
              <a:noAutofit/>
            </a:bodyPr>
            <a:p>
              <a:pPr marL="0" indent="0" algn="ctr" eaLnBrk="1" latinLnBrk="0" hangingPunct="1">
                <a:spcBef>
                  <a:spcPts val="0"/>
                </a:spcBef>
              </a:pPr>
              <a:r>
                <a:rPr lang="zh-CN" altLang="en-US" sz="2000" b="1" dirty="0">
                  <a:solidFill>
                    <a:srgbClr val="003399"/>
                  </a:solidFill>
                  <a:latin typeface="宋体" panose="02010600030101010101" pitchFamily="2" charset="-122"/>
                  <a:ea typeface="宋体" panose="02010600030101010101" pitchFamily="2" charset="-122"/>
                </a:rPr>
                <a:t>螺栓相对刚度系数</a:t>
              </a:r>
              <a:endParaRPr lang="zh-CN" altLang="en-US" sz="2000" b="1" dirty="0">
                <a:solidFill>
                  <a:srgbClr val="003399"/>
                </a:solidFill>
                <a:latin typeface="宋体" panose="02010600030101010101" pitchFamily="2" charset="-122"/>
                <a:ea typeface="宋体" panose="02010600030101010101" pitchFamily="2" charset="-122"/>
              </a:endParaRPr>
            </a:p>
            <a:p>
              <a:pPr marL="0" indent="0" algn="ctr" eaLnBrk="1" latinLnBrk="0" hangingPunct="1">
                <a:spcBef>
                  <a:spcPts val="0"/>
                </a:spcBef>
              </a:pPr>
              <a:r>
                <a:rPr lang="zh-CN" altLang="en-US" sz="2000" dirty="0">
                  <a:solidFill>
                    <a:srgbClr val="000099"/>
                  </a:solidFill>
                  <a:sym typeface="+mn-ea"/>
                </a:rPr>
                <a:t>其取值范围为 </a:t>
              </a:r>
              <a:r>
                <a:rPr lang="en-US" altLang="zh-CN" sz="2000" dirty="0">
                  <a:solidFill>
                    <a:srgbClr val="000099"/>
                  </a:solidFill>
                  <a:latin typeface="华文中宋" panose="02010600040101010101" pitchFamily="2" charset="-122"/>
                  <a:sym typeface="+mn-ea"/>
                </a:rPr>
                <a:t>0~1</a:t>
              </a:r>
              <a:r>
                <a:rPr lang="zh-CN" altLang="en-US" sz="2000" dirty="0">
                  <a:solidFill>
                    <a:srgbClr val="000099"/>
                  </a:solidFill>
                  <a:latin typeface="华文中宋" panose="02010600040101010101" pitchFamily="2" charset="-122"/>
                  <a:sym typeface="+mn-ea"/>
                </a:rPr>
                <a:t>。</a:t>
              </a:r>
              <a:endParaRPr lang="en-US" altLang="zh-CN" sz="2000" b="1" baseline="-16000" dirty="0">
                <a:solidFill>
                  <a:srgbClr val="003399"/>
                </a:solidFill>
                <a:latin typeface="宋体" panose="02010600030101010101" pitchFamily="2" charset="-122"/>
                <a:ea typeface="宋体" panose="02010600030101010101" pitchFamily="2" charset="-122"/>
              </a:endParaRPr>
            </a:p>
          </p:txBody>
        </p:sp>
        <p:sp>
          <p:nvSpPr>
            <p:cNvPr id="24623" name="Oval 89"/>
            <p:cNvSpPr/>
            <p:nvPr/>
          </p:nvSpPr>
          <p:spPr>
            <a:xfrm>
              <a:off x="4616" y="2880"/>
              <a:ext cx="824" cy="720"/>
            </a:xfrm>
            <a:prstGeom prst="ellipse">
              <a:avLst/>
            </a:prstGeom>
            <a:noFill/>
            <a:ln w="12700" cap="flat" cmpd="sng">
              <a:solidFill>
                <a:srgbClr val="0000FF"/>
              </a:solidFill>
              <a:prstDash val="solid"/>
              <a:headEnd type="none" w="med" len="med"/>
              <a:tailEnd type="none" w="med" len="med"/>
            </a:ln>
          </p:spPr>
          <p:txBody>
            <a:bodyPr anchor="ctr">
              <a:spAutoFit/>
            </a:bodyPr>
            <a:p>
              <a:endParaRPr lang="zh-CN" altLang="en-US" dirty="0">
                <a:latin typeface="Times New Roman" panose="02020603050405020304" pitchFamily="18" charset="0"/>
              </a:endParaRPr>
            </a:p>
          </p:txBody>
        </p:sp>
      </p:grpSp>
      <p:graphicFrame>
        <p:nvGraphicFramePr>
          <p:cNvPr id="21" name="Object 2"/>
          <p:cNvGraphicFramePr>
            <a:graphicFrameLocks noChangeAspect="1"/>
          </p:cNvGraphicFramePr>
          <p:nvPr/>
        </p:nvGraphicFramePr>
        <p:xfrm>
          <a:off x="3890010" y="4607560"/>
          <a:ext cx="1402080" cy="607060"/>
        </p:xfrm>
        <a:graphic>
          <a:graphicData uri="http://schemas.openxmlformats.org/presentationml/2006/ole">
            <mc:AlternateContent xmlns:mc="http://schemas.openxmlformats.org/markup-compatibility/2006">
              <mc:Choice xmlns:v="urn:schemas-microsoft-com:vml" Requires="v">
                <p:oleObj spid="_x0000_s3112" name="" r:id="rId1" imgW="799465" imgH="431800" progId="Equation.DSMT4">
                  <p:embed/>
                </p:oleObj>
              </mc:Choice>
              <mc:Fallback>
                <p:oleObj name="" r:id="rId1" imgW="799465" imgH="431800" progId="Equation.DSMT4">
                  <p:embed/>
                  <p:pic>
                    <p:nvPicPr>
                      <p:cNvPr id="0" name="图片 3111"/>
                      <p:cNvPicPr/>
                      <p:nvPr/>
                    </p:nvPicPr>
                    <p:blipFill>
                      <a:blip r:embed="rId2"/>
                      <a:stretch>
                        <a:fillRect/>
                      </a:stretch>
                    </p:blipFill>
                    <p:spPr>
                      <a:xfrm>
                        <a:off x="3890010" y="4607560"/>
                        <a:ext cx="1402080" cy="607060"/>
                      </a:xfrm>
                      <a:prstGeom prst="rect">
                        <a:avLst/>
                      </a:prstGeom>
                      <a:solidFill>
                        <a:srgbClr val="FFFFFF"/>
                      </a:solidFill>
                      <a:ln w="38100">
                        <a:noFill/>
                        <a:miter/>
                      </a:ln>
                    </p:spPr>
                  </p:pic>
                </p:oleObj>
              </mc:Fallback>
            </mc:AlternateContent>
          </a:graphicData>
        </a:graphic>
      </p:graphicFrame>
      <p:grpSp>
        <p:nvGrpSpPr>
          <p:cNvPr id="36" name="组合 35"/>
          <p:cNvGrpSpPr/>
          <p:nvPr/>
        </p:nvGrpSpPr>
        <p:grpSpPr>
          <a:xfrm>
            <a:off x="333375" y="3423285"/>
            <a:ext cx="1828800" cy="830580"/>
            <a:chOff x="356" y="5330"/>
            <a:chExt cx="2880" cy="1308"/>
          </a:xfrm>
        </p:grpSpPr>
        <p:sp>
          <p:nvSpPr>
            <p:cNvPr id="35" name="矩形 34"/>
            <p:cNvSpPr/>
            <p:nvPr/>
          </p:nvSpPr>
          <p:spPr>
            <a:xfrm>
              <a:off x="356" y="5330"/>
              <a:ext cx="2881" cy="1309"/>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aphicFrame>
          <p:nvGraphicFramePr>
            <p:cNvPr id="22" name="对象 21">
              <a:hlinkClick r:id="" action="ppaction://ole?verb="/>
            </p:cNvPr>
            <p:cNvGraphicFramePr>
              <a:graphicFrameLocks noChangeAspect="1"/>
            </p:cNvGraphicFramePr>
            <p:nvPr/>
          </p:nvGraphicFramePr>
          <p:xfrm>
            <a:off x="788" y="5607"/>
            <a:ext cx="1941" cy="956"/>
          </p:xfrm>
          <a:graphic>
            <a:graphicData uri="http://schemas.openxmlformats.org/presentationml/2006/ole">
              <mc:AlternateContent xmlns:mc="http://schemas.openxmlformats.org/markup-compatibility/2006">
                <mc:Choice xmlns:v="urn:schemas-microsoft-com:vml" Requires="v">
                  <p:oleObj spid="_x0000_s1025" name="" r:id="rId3" imgW="876300" imgH="431800" progId="Equation.KSEE3">
                    <p:embed/>
                  </p:oleObj>
                </mc:Choice>
                <mc:Fallback>
                  <p:oleObj name="" r:id="rId3" imgW="876300" imgH="431800" progId="Equation.KSEE3">
                    <p:embed/>
                    <p:pic>
                      <p:nvPicPr>
                        <p:cNvPr id="0" name="图片 1024"/>
                        <p:cNvPicPr/>
                        <p:nvPr/>
                      </p:nvPicPr>
                      <p:blipFill>
                        <a:blip r:embed="rId4"/>
                        <a:stretch>
                          <a:fillRect/>
                        </a:stretch>
                      </p:blipFill>
                      <p:spPr>
                        <a:xfrm>
                          <a:off x="788" y="5607"/>
                          <a:ext cx="1941" cy="956"/>
                        </a:xfrm>
                        <a:prstGeom prst="rect">
                          <a:avLst/>
                        </a:prstGeom>
                      </p:spPr>
                    </p:pic>
                  </p:oleObj>
                </mc:Fallback>
              </mc:AlternateContent>
            </a:graphicData>
          </a:graphic>
        </p:graphicFrame>
      </p:grpSp>
      <p:grpSp>
        <p:nvGrpSpPr>
          <p:cNvPr id="38" name="组合 37"/>
          <p:cNvGrpSpPr/>
          <p:nvPr/>
        </p:nvGrpSpPr>
        <p:grpSpPr>
          <a:xfrm>
            <a:off x="2368550" y="3423920"/>
            <a:ext cx="2533650" cy="859790"/>
            <a:chOff x="3730" y="5392"/>
            <a:chExt cx="3990" cy="1354"/>
          </a:xfrm>
        </p:grpSpPr>
        <p:sp>
          <p:nvSpPr>
            <p:cNvPr id="37" name="矩形 36"/>
            <p:cNvSpPr/>
            <p:nvPr/>
          </p:nvSpPr>
          <p:spPr>
            <a:xfrm>
              <a:off x="3730" y="5392"/>
              <a:ext cx="3991" cy="1355"/>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aphicFrame>
          <p:nvGraphicFramePr>
            <p:cNvPr id="23" name="对象 22">
              <a:hlinkClick r:id="" action="ppaction://ole?verb="/>
            </p:cNvPr>
            <p:cNvGraphicFramePr>
              <a:graphicFrameLocks noChangeAspect="1"/>
            </p:cNvGraphicFramePr>
            <p:nvPr/>
          </p:nvGraphicFramePr>
          <p:xfrm>
            <a:off x="3758" y="5684"/>
            <a:ext cx="3827" cy="956"/>
          </p:xfrm>
          <a:graphic>
            <a:graphicData uri="http://schemas.openxmlformats.org/presentationml/2006/ole">
              <mc:AlternateContent xmlns:mc="http://schemas.openxmlformats.org/markup-compatibility/2006">
                <mc:Choice xmlns:v="urn:schemas-microsoft-com:vml" Requires="v">
                  <p:oleObj spid="_x0000_s24" name="" r:id="rId5" imgW="1727200" imgH="431800" progId="Equation.KSEE3">
                    <p:embed/>
                  </p:oleObj>
                </mc:Choice>
                <mc:Fallback>
                  <p:oleObj name="" r:id="rId5" imgW="1727200" imgH="431800" progId="Equation.KSEE3">
                    <p:embed/>
                    <p:pic>
                      <p:nvPicPr>
                        <p:cNvPr id="0" name="图片 1024"/>
                        <p:cNvPicPr/>
                        <p:nvPr/>
                      </p:nvPicPr>
                      <p:blipFill>
                        <a:blip r:embed="rId6"/>
                        <a:stretch>
                          <a:fillRect/>
                        </a:stretch>
                      </p:blipFill>
                      <p:spPr>
                        <a:xfrm>
                          <a:off x="3758" y="5684"/>
                          <a:ext cx="3827" cy="956"/>
                        </a:xfrm>
                        <a:prstGeom prst="rect">
                          <a:avLst/>
                        </a:prstGeom>
                      </p:spPr>
                    </p:pic>
                  </p:oleObj>
                </mc:Fallback>
              </mc:AlternateContent>
            </a:graphicData>
          </a:graphic>
        </p:graphicFrame>
      </p:grpSp>
      <p:grpSp>
        <p:nvGrpSpPr>
          <p:cNvPr id="53" name="组合 52"/>
          <p:cNvGrpSpPr/>
          <p:nvPr/>
        </p:nvGrpSpPr>
        <p:grpSpPr>
          <a:xfrm>
            <a:off x="5842000" y="3345180"/>
            <a:ext cx="2533650" cy="977900"/>
            <a:chOff x="9200" y="5268"/>
            <a:chExt cx="3990" cy="1540"/>
          </a:xfrm>
        </p:grpSpPr>
        <p:sp>
          <p:nvSpPr>
            <p:cNvPr id="52" name="矩形 51"/>
            <p:cNvSpPr/>
            <p:nvPr/>
          </p:nvSpPr>
          <p:spPr>
            <a:xfrm>
              <a:off x="9200" y="5268"/>
              <a:ext cx="3990" cy="1541"/>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aphicFrame>
          <p:nvGraphicFramePr>
            <p:cNvPr id="29" name="对象 28">
              <a:hlinkClick r:id="" action="ppaction://ole?verb="/>
            </p:cNvPr>
            <p:cNvGraphicFramePr>
              <a:graphicFrameLocks noChangeAspect="1"/>
            </p:cNvGraphicFramePr>
            <p:nvPr/>
          </p:nvGraphicFramePr>
          <p:xfrm>
            <a:off x="9434" y="5451"/>
            <a:ext cx="3526" cy="1249"/>
          </p:xfrm>
          <a:graphic>
            <a:graphicData uri="http://schemas.openxmlformats.org/presentationml/2006/ole">
              <mc:AlternateContent xmlns:mc="http://schemas.openxmlformats.org/markup-compatibility/2006">
                <mc:Choice xmlns:v="urn:schemas-microsoft-com:vml" Requires="v">
                  <p:oleObj spid="_x0000_s1026" name="" r:id="rId7" imgW="1219200" imgH="431800" progId="Equation.KSEE3">
                    <p:embed/>
                  </p:oleObj>
                </mc:Choice>
                <mc:Fallback>
                  <p:oleObj name="" r:id="rId7" imgW="1219200" imgH="431800" progId="Equation.KSEE3">
                    <p:embed/>
                    <p:pic>
                      <p:nvPicPr>
                        <p:cNvPr id="0" name="图片 1025"/>
                        <p:cNvPicPr/>
                        <p:nvPr/>
                      </p:nvPicPr>
                      <p:blipFill>
                        <a:blip r:embed="rId8"/>
                        <a:stretch>
                          <a:fillRect/>
                        </a:stretch>
                      </p:blipFill>
                      <p:spPr>
                        <a:xfrm>
                          <a:off x="9434" y="5451"/>
                          <a:ext cx="3526" cy="1249"/>
                        </a:xfrm>
                        <a:prstGeom prst="rect">
                          <a:avLst/>
                        </a:prstGeom>
                      </p:spPr>
                    </p:pic>
                  </p:oleObj>
                </mc:Fallback>
              </mc:AlternateContent>
            </a:graphicData>
          </a:graphic>
        </p:graphicFrame>
      </p:grpSp>
      <p:graphicFrame>
        <p:nvGraphicFramePr>
          <p:cNvPr id="30" name="对象 29">
            <a:hlinkClick r:id="" action="ppaction://ole?verb="/>
          </p:cNvPr>
          <p:cNvGraphicFramePr>
            <a:graphicFrameLocks noChangeAspect="1"/>
          </p:cNvGraphicFramePr>
          <p:nvPr/>
        </p:nvGraphicFramePr>
        <p:xfrm>
          <a:off x="6071235" y="4556760"/>
          <a:ext cx="2355850" cy="824230"/>
        </p:xfrm>
        <a:graphic>
          <a:graphicData uri="http://schemas.openxmlformats.org/presentationml/2006/ole">
            <mc:AlternateContent xmlns:mc="http://schemas.openxmlformats.org/markup-compatibility/2006">
              <mc:Choice xmlns:v="urn:schemas-microsoft-com:vml" Requires="v">
                <p:oleObj spid="_x0000_s31" name="" r:id="rId9" imgW="1231265" imgH="431800" progId="Equation.KSEE3">
                  <p:embed/>
                </p:oleObj>
              </mc:Choice>
              <mc:Fallback>
                <p:oleObj name="" r:id="rId9" imgW="1231265" imgH="431800" progId="Equation.KSEE3">
                  <p:embed/>
                  <p:pic>
                    <p:nvPicPr>
                      <p:cNvPr id="0" name="图片 1025"/>
                      <p:cNvPicPr/>
                      <p:nvPr/>
                    </p:nvPicPr>
                    <p:blipFill>
                      <a:blip r:embed="rId10"/>
                      <a:stretch>
                        <a:fillRect/>
                      </a:stretch>
                    </p:blipFill>
                    <p:spPr>
                      <a:xfrm>
                        <a:off x="6071235" y="4556760"/>
                        <a:ext cx="2355850" cy="824230"/>
                      </a:xfrm>
                      <a:prstGeom prst="rect">
                        <a:avLst/>
                      </a:prstGeom>
                    </p:spPr>
                  </p:pic>
                </p:oleObj>
              </mc:Fallback>
            </mc:AlternateContent>
          </a:graphicData>
        </a:graphic>
      </p:graphicFrame>
      <p:sp>
        <p:nvSpPr>
          <p:cNvPr id="32" name="下箭头 31"/>
          <p:cNvSpPr/>
          <p:nvPr/>
        </p:nvSpPr>
        <p:spPr>
          <a:xfrm>
            <a:off x="2143760" y="4733925"/>
            <a:ext cx="128270" cy="635635"/>
          </a:xfrm>
          <a:prstGeom prst="downArrow">
            <a:avLst/>
          </a:prstGeom>
          <a:solidFill>
            <a:schemeClr val="tx2">
              <a:lumMod val="20000"/>
              <a:lumOff val="80000"/>
            </a:schemeClr>
          </a:solidFill>
          <a:ln w="9525" cap="flat" cmpd="sng" algn="ctr">
            <a:solidFill>
              <a:schemeClr val="tx2">
                <a:lumMod val="60000"/>
                <a:lumOff val="40000"/>
              </a:schemeClr>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34" name="组合 33"/>
          <p:cNvGrpSpPr/>
          <p:nvPr/>
        </p:nvGrpSpPr>
        <p:grpSpPr>
          <a:xfrm>
            <a:off x="655955" y="5379720"/>
            <a:ext cx="3022600" cy="871220"/>
            <a:chOff x="464" y="7656"/>
            <a:chExt cx="4760" cy="1372"/>
          </a:xfrm>
        </p:grpSpPr>
        <p:graphicFrame>
          <p:nvGraphicFramePr>
            <p:cNvPr id="27" name="对象 26">
              <a:hlinkClick r:id="" action="ppaction://ole?verb="/>
            </p:cNvPr>
            <p:cNvGraphicFramePr>
              <a:graphicFrameLocks noChangeAspect="1"/>
            </p:cNvGraphicFramePr>
            <p:nvPr/>
          </p:nvGraphicFramePr>
          <p:xfrm>
            <a:off x="1004" y="7820"/>
            <a:ext cx="3556" cy="1150"/>
          </p:xfrm>
          <a:graphic>
            <a:graphicData uri="http://schemas.openxmlformats.org/presentationml/2006/ole">
              <mc:AlternateContent xmlns:mc="http://schemas.openxmlformats.org/markup-compatibility/2006">
                <mc:Choice xmlns:v="urn:schemas-microsoft-com:vml" Requires="v">
                  <p:oleObj spid="_x0000_s28" name="" r:id="rId11" imgW="1333500" imgH="431800" progId="Equation.KSEE3">
                    <p:embed/>
                  </p:oleObj>
                </mc:Choice>
                <mc:Fallback>
                  <p:oleObj name="" r:id="rId11" imgW="1333500" imgH="431800" progId="Equation.KSEE3">
                    <p:embed/>
                    <p:pic>
                      <p:nvPicPr>
                        <p:cNvPr id="0" name="图片 1024"/>
                        <p:cNvPicPr/>
                        <p:nvPr/>
                      </p:nvPicPr>
                      <p:blipFill>
                        <a:blip r:embed="rId12"/>
                        <a:stretch>
                          <a:fillRect/>
                        </a:stretch>
                      </p:blipFill>
                      <p:spPr>
                        <a:xfrm>
                          <a:off x="1004" y="7820"/>
                          <a:ext cx="3556" cy="1150"/>
                        </a:xfrm>
                        <a:prstGeom prst="rect">
                          <a:avLst/>
                        </a:prstGeom>
                      </p:spPr>
                    </p:pic>
                  </p:oleObj>
                </mc:Fallback>
              </mc:AlternateContent>
            </a:graphicData>
          </a:graphic>
        </p:graphicFrame>
        <p:sp>
          <p:nvSpPr>
            <p:cNvPr id="33" name="矩形 32"/>
            <p:cNvSpPr/>
            <p:nvPr/>
          </p:nvSpPr>
          <p:spPr>
            <a:xfrm>
              <a:off x="464" y="7656"/>
              <a:ext cx="4761" cy="1372"/>
            </a:xfrm>
            <a:prstGeom prst="rect">
              <a:avLst/>
            </a:prstGeom>
            <a:noFill/>
            <a:ln w="19050"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grpSp>
        <p:nvGrpSpPr>
          <p:cNvPr id="40" name="组合 39"/>
          <p:cNvGrpSpPr/>
          <p:nvPr/>
        </p:nvGrpSpPr>
        <p:grpSpPr>
          <a:xfrm>
            <a:off x="2475865" y="4674870"/>
            <a:ext cx="1193800" cy="469900"/>
            <a:chOff x="2436" y="6824"/>
            <a:chExt cx="1880" cy="740"/>
          </a:xfrm>
        </p:grpSpPr>
        <p:graphicFrame>
          <p:nvGraphicFramePr>
            <p:cNvPr id="25" name="对象 24">
              <a:hlinkClick r:id="" action="ppaction://ole?verb="/>
            </p:cNvPr>
            <p:cNvGraphicFramePr>
              <a:graphicFrameLocks noChangeAspect="1"/>
            </p:cNvGraphicFramePr>
            <p:nvPr/>
          </p:nvGraphicFramePr>
          <p:xfrm>
            <a:off x="2486" y="6883"/>
            <a:ext cx="1830" cy="598"/>
          </p:xfrm>
          <a:graphic>
            <a:graphicData uri="http://schemas.openxmlformats.org/presentationml/2006/ole">
              <mc:AlternateContent xmlns:mc="http://schemas.openxmlformats.org/markup-compatibility/2006">
                <mc:Choice xmlns:v="urn:schemas-microsoft-com:vml" Requires="v">
                  <p:oleObj spid="_x0000_s26" name="" r:id="rId13" imgW="660400" imgH="215900" progId="Equation.KSEE3">
                    <p:embed/>
                  </p:oleObj>
                </mc:Choice>
                <mc:Fallback>
                  <p:oleObj name="" r:id="rId13" imgW="660400" imgH="215900" progId="Equation.KSEE3">
                    <p:embed/>
                    <p:pic>
                      <p:nvPicPr>
                        <p:cNvPr id="0" name="图片 1024"/>
                        <p:cNvPicPr/>
                        <p:nvPr/>
                      </p:nvPicPr>
                      <p:blipFill>
                        <a:blip r:embed="rId14"/>
                        <a:stretch>
                          <a:fillRect/>
                        </a:stretch>
                      </p:blipFill>
                      <p:spPr>
                        <a:xfrm>
                          <a:off x="2486" y="6883"/>
                          <a:ext cx="1830" cy="598"/>
                        </a:xfrm>
                        <a:prstGeom prst="rect">
                          <a:avLst/>
                        </a:prstGeom>
                      </p:spPr>
                    </p:pic>
                  </p:oleObj>
                </mc:Fallback>
              </mc:AlternateContent>
            </a:graphicData>
          </a:graphic>
        </p:graphicFrame>
        <p:sp>
          <p:nvSpPr>
            <p:cNvPr id="39" name="矩形 38"/>
            <p:cNvSpPr/>
            <p:nvPr/>
          </p:nvSpPr>
          <p:spPr>
            <a:xfrm>
              <a:off x="2436" y="6824"/>
              <a:ext cx="1818" cy="740"/>
            </a:xfrm>
            <a:prstGeom prst="rect">
              <a:avLst/>
            </a:prstGeom>
            <a:noFill/>
            <a:ln w="952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sp>
        <p:nvSpPr>
          <p:cNvPr id="49" name="右大括号 48"/>
          <p:cNvSpPr/>
          <p:nvPr/>
        </p:nvSpPr>
        <p:spPr>
          <a:xfrm rot="5400000">
            <a:off x="1977390" y="3048000"/>
            <a:ext cx="470535" cy="2867025"/>
          </a:xfrm>
          <a:prstGeom prst="rightBrace">
            <a:avLst>
              <a:gd name="adj1" fmla="val 64102"/>
              <a:gd name="adj2" fmla="val 50469"/>
            </a:avLst>
          </a:prstGeom>
          <a:noFill/>
          <a:ln w="2857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cxnSp>
        <p:nvCxnSpPr>
          <p:cNvPr id="50" name="肘形连接符 49"/>
          <p:cNvCxnSpPr/>
          <p:nvPr/>
        </p:nvCxnSpPr>
        <p:spPr>
          <a:xfrm flipV="1">
            <a:off x="3689985" y="3823970"/>
            <a:ext cx="2074545" cy="1849120"/>
          </a:xfrm>
          <a:prstGeom prst="bentConnector3">
            <a:avLst>
              <a:gd name="adj1" fmla="val 79706"/>
            </a:avLst>
          </a:prstGeom>
          <a:solidFill>
            <a:schemeClr val="accent1"/>
          </a:solidFill>
          <a:ln w="19050" cap="flat" cmpd="sng" algn="ctr">
            <a:solidFill>
              <a:schemeClr val="tx2">
                <a:lumMod val="60000"/>
                <a:lumOff val="40000"/>
              </a:schemeClr>
            </a:solidFill>
            <a:prstDash val="solid"/>
            <a:round/>
            <a:headEnd type="none" w="med" len="med"/>
            <a:tailEnd type="triangle" w="med" len="med"/>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570371"/>
                                        </p:tgtEl>
                                        <p:attrNameLst>
                                          <p:attrName>style.visibility</p:attrName>
                                        </p:attrNameLst>
                                      </p:cBhvr>
                                      <p:to>
                                        <p:strVal val="visible"/>
                                      </p:to>
                                    </p:set>
                                    <p:animEffect transition="in" filter="barn(outVertical)">
                                      <p:cBhvr>
                                        <p:cTn id="7" dur="500"/>
                                        <p:tgtEl>
                                          <p:spTgt spid="5703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70375"/>
                                        </p:tgtEl>
                                        <p:attrNameLst>
                                          <p:attrName>style.visibility</p:attrName>
                                        </p:attrNameLst>
                                      </p:cBhvr>
                                      <p:to>
                                        <p:strVal val="visible"/>
                                      </p:to>
                                    </p:set>
                                    <p:animEffect transition="in" filter="wipe(left)">
                                      <p:cBhvr>
                                        <p:cTn id="21" dur="500"/>
                                        <p:tgtEl>
                                          <p:spTgt spid="57037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570378"/>
                                        </p:tgtEl>
                                        <p:attrNameLst>
                                          <p:attrName>style.visibility</p:attrName>
                                        </p:attrNameLst>
                                      </p:cBhvr>
                                      <p:to>
                                        <p:strVal val="visible"/>
                                      </p:to>
                                    </p:set>
                                    <p:animEffect transition="in" filter="wipe(up)">
                                      <p:cBhvr>
                                        <p:cTn id="31" dur="500"/>
                                        <p:tgtEl>
                                          <p:spTgt spid="570378"/>
                                        </p:tgtEl>
                                      </p:cBhvr>
                                    </p:animEffec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up)">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3" fill="hold" nodeType="click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additive="base">
                                        <p:cTn id="40" dur="500" fill="hold"/>
                                        <p:tgtEl>
                                          <p:spTgt spid="17"/>
                                        </p:tgtEl>
                                        <p:attrNameLst>
                                          <p:attrName>ppt_x</p:attrName>
                                        </p:attrNameLst>
                                      </p:cBhvr>
                                      <p:tavLst>
                                        <p:tav tm="0">
                                          <p:val>
                                            <p:strVal val="1+#ppt_w/2"/>
                                          </p:val>
                                        </p:tav>
                                        <p:tav tm="100000">
                                          <p:val>
                                            <p:strVal val="#ppt_x"/>
                                          </p:val>
                                        </p:tav>
                                      </p:tavLst>
                                    </p:anim>
                                    <p:anim calcmode="lin" valueType="num">
                                      <p:cBhvr additive="base">
                                        <p:cTn id="41" dur="500" fill="hold"/>
                                        <p:tgtEl>
                                          <p:spTgt spid="17"/>
                                        </p:tgtEl>
                                        <p:attrNameLst>
                                          <p:attrName>ppt_y</p:attrName>
                                        </p:attrNameLst>
                                      </p:cBhvr>
                                      <p:tavLst>
                                        <p:tav tm="0">
                                          <p:val>
                                            <p:strVal val="0-#ppt_h/2"/>
                                          </p:val>
                                        </p:tav>
                                        <p:tav tm="100000">
                                          <p:val>
                                            <p:strVal val="#ppt_y"/>
                                          </p:val>
                                        </p:tav>
                                      </p:tavLst>
                                    </p:anim>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570444"/>
                                        </p:tgtEl>
                                        <p:attrNameLst>
                                          <p:attrName>style.visibility</p:attrName>
                                        </p:attrNameLst>
                                      </p:cBhvr>
                                      <p:to>
                                        <p:strVal val="visible"/>
                                      </p:to>
                                    </p:set>
                                    <p:animEffect transition="in" filter="dissolve">
                                      <p:cBhvr>
                                        <p:cTn id="45" dur="500"/>
                                        <p:tgtEl>
                                          <p:spTgt spid="570444"/>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grpId="0" nodeType="clickEffect">
                                  <p:stCondLst>
                                    <p:cond delay="0"/>
                                  </p:stCondLst>
                                  <p:childTnLst>
                                    <p:set>
                                      <p:cBhvr>
                                        <p:cTn id="49" dur="1" fill="hold">
                                          <p:stCondLst>
                                            <p:cond delay="0"/>
                                          </p:stCondLst>
                                        </p:cTn>
                                        <p:tgtEl>
                                          <p:spTgt spid="570450"/>
                                        </p:tgtEl>
                                        <p:attrNameLst>
                                          <p:attrName>style.visibility</p:attrName>
                                        </p:attrNameLst>
                                      </p:cBhvr>
                                      <p:to>
                                        <p:strVal val="visible"/>
                                      </p:to>
                                    </p:set>
                                    <p:animEffect transition="in" filter="slide(fromLeft)">
                                      <p:cBhvr>
                                        <p:cTn id="50" dur="500"/>
                                        <p:tgtEl>
                                          <p:spTgt spid="57045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wipe(down)">
                                      <p:cBhvr>
                                        <p:cTn id="55" dur="500"/>
                                        <p:tgtEl>
                                          <p:spTgt spid="4"/>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570376"/>
                                        </p:tgtEl>
                                        <p:attrNameLst>
                                          <p:attrName>style.visibility</p:attrName>
                                        </p:attrNameLst>
                                      </p:cBhvr>
                                      <p:to>
                                        <p:strVal val="visible"/>
                                      </p:to>
                                    </p:set>
                                    <p:animEffect transition="in" filter="wipe(left)">
                                      <p:cBhvr>
                                        <p:cTn id="59" dur="500"/>
                                        <p:tgtEl>
                                          <p:spTgt spid="57037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nodeType="clickEffect">
                                  <p:stCondLst>
                                    <p:cond delay="0"/>
                                  </p:stCondLst>
                                  <p:childTnLst>
                                    <p:set>
                                      <p:cBhvr>
                                        <p:cTn id="63" dur="1" fill="hold">
                                          <p:stCondLst>
                                            <p:cond delay="0"/>
                                          </p:stCondLst>
                                        </p:cTn>
                                        <p:tgtEl>
                                          <p:spTgt spid="570377"/>
                                        </p:tgtEl>
                                        <p:attrNameLst>
                                          <p:attrName>style.visibility</p:attrName>
                                        </p:attrNameLst>
                                      </p:cBhvr>
                                      <p:to>
                                        <p:strVal val="visible"/>
                                      </p:to>
                                    </p:set>
                                    <p:animEffect transition="in" filter="wipe(right)">
                                      <p:cBhvr>
                                        <p:cTn id="64" dur="500"/>
                                        <p:tgtEl>
                                          <p:spTgt spid="57037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wipe(right)">
                                      <p:cBhvr>
                                        <p:cTn id="69" dur="500"/>
                                        <p:tgtEl>
                                          <p:spTgt spid="19"/>
                                        </p:tgtEl>
                                      </p:cBhvr>
                                    </p:animEffect>
                                  </p:childTnLst>
                                </p:cTn>
                              </p:par>
                            </p:childTnLst>
                          </p:cTn>
                        </p:par>
                        <p:par>
                          <p:cTn id="70" fill="hold">
                            <p:stCondLst>
                              <p:cond delay="500"/>
                            </p:stCondLst>
                            <p:childTnLst>
                              <p:par>
                                <p:cTn id="71" presetID="22" presetClass="entr" presetSubtype="2" fill="hold" nodeType="afterEffect">
                                  <p:stCondLst>
                                    <p:cond delay="0"/>
                                  </p:stCondLst>
                                  <p:childTnLst>
                                    <p:set>
                                      <p:cBhvr>
                                        <p:cTn id="72" dur="1" fill="hold">
                                          <p:stCondLst>
                                            <p:cond delay="0"/>
                                          </p:stCondLst>
                                        </p:cTn>
                                        <p:tgtEl>
                                          <p:spTgt spid="570449"/>
                                        </p:tgtEl>
                                        <p:attrNameLst>
                                          <p:attrName>style.visibility</p:attrName>
                                        </p:attrNameLst>
                                      </p:cBhvr>
                                      <p:to>
                                        <p:strVal val="visible"/>
                                      </p:to>
                                    </p:set>
                                    <p:animEffect transition="in" filter="wipe(right)">
                                      <p:cBhvr>
                                        <p:cTn id="73" dur="500"/>
                                        <p:tgtEl>
                                          <p:spTgt spid="570449"/>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570379"/>
                                        </p:tgtEl>
                                        <p:attrNameLst>
                                          <p:attrName>style.visibility</p:attrName>
                                        </p:attrNameLst>
                                      </p:cBhvr>
                                      <p:to>
                                        <p:strVal val="visible"/>
                                      </p:to>
                                    </p:set>
                                    <p:animEffect transition="in" filter="wipe(up)">
                                      <p:cBhvr>
                                        <p:cTn id="78" dur="500"/>
                                        <p:tgtEl>
                                          <p:spTgt spid="570379"/>
                                        </p:tgtEl>
                                      </p:cBhvr>
                                    </p:animEffect>
                                  </p:childTnLst>
                                </p:cTn>
                              </p:par>
                            </p:childTnLst>
                          </p:cTn>
                        </p:par>
                        <p:par>
                          <p:cTn id="79" fill="hold">
                            <p:stCondLst>
                              <p:cond delay="500"/>
                            </p:stCondLst>
                            <p:childTnLst>
                              <p:par>
                                <p:cTn id="80" presetID="22" presetClass="entr" presetSubtype="1" fill="hold" nodeType="after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wipe(up)">
                                      <p:cBhvr>
                                        <p:cTn id="82" dur="500"/>
                                        <p:tgtEl>
                                          <p:spTgt spid="8"/>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9" fill="hold" nodeType="clickEffect">
                                  <p:stCondLst>
                                    <p:cond delay="0"/>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500" fill="hold"/>
                                        <p:tgtEl>
                                          <p:spTgt spid="18"/>
                                        </p:tgtEl>
                                        <p:attrNameLst>
                                          <p:attrName>ppt_x</p:attrName>
                                        </p:attrNameLst>
                                      </p:cBhvr>
                                      <p:tavLst>
                                        <p:tav tm="0">
                                          <p:val>
                                            <p:strVal val="0-#ppt_w/2"/>
                                          </p:val>
                                        </p:tav>
                                        <p:tav tm="100000">
                                          <p:val>
                                            <p:strVal val="#ppt_x"/>
                                          </p:val>
                                        </p:tav>
                                      </p:tavLst>
                                    </p:anim>
                                    <p:anim calcmode="lin" valueType="num">
                                      <p:cBhvr additive="base">
                                        <p:cTn id="88" dur="500" fill="hold"/>
                                        <p:tgtEl>
                                          <p:spTgt spid="18"/>
                                        </p:tgtEl>
                                        <p:attrNameLst>
                                          <p:attrName>ppt_y</p:attrName>
                                        </p:attrNameLst>
                                      </p:cBhvr>
                                      <p:tavLst>
                                        <p:tav tm="0">
                                          <p:val>
                                            <p:strVal val="0-#ppt_h/2"/>
                                          </p:val>
                                        </p:tav>
                                        <p:tav tm="100000">
                                          <p:val>
                                            <p:strVal val="#ppt_y"/>
                                          </p:val>
                                        </p:tav>
                                      </p:tavLst>
                                    </p:anim>
                                  </p:childTnLst>
                                </p:cTn>
                              </p:par>
                            </p:childTnLst>
                          </p:cTn>
                        </p:par>
                        <p:par>
                          <p:cTn id="89" fill="hold">
                            <p:stCondLst>
                              <p:cond delay="500"/>
                            </p:stCondLst>
                            <p:childTnLst>
                              <p:par>
                                <p:cTn id="90" presetID="9" presetClass="entr" presetSubtype="0" fill="hold" grpId="0" nodeType="afterEffect">
                                  <p:stCondLst>
                                    <p:cond delay="0"/>
                                  </p:stCondLst>
                                  <p:childTnLst>
                                    <p:set>
                                      <p:cBhvr>
                                        <p:cTn id="91" dur="1" fill="hold">
                                          <p:stCondLst>
                                            <p:cond delay="0"/>
                                          </p:stCondLst>
                                        </p:cTn>
                                        <p:tgtEl>
                                          <p:spTgt spid="570445"/>
                                        </p:tgtEl>
                                        <p:attrNameLst>
                                          <p:attrName>style.visibility</p:attrName>
                                        </p:attrNameLst>
                                      </p:cBhvr>
                                      <p:to>
                                        <p:strVal val="visible"/>
                                      </p:to>
                                    </p:set>
                                    <p:animEffect transition="in" filter="dissolve">
                                      <p:cBhvr>
                                        <p:cTn id="92" dur="500"/>
                                        <p:tgtEl>
                                          <p:spTgt spid="570445"/>
                                        </p:tgtEl>
                                      </p:cBhvr>
                                    </p:animEffect>
                                  </p:childTnLst>
                                </p:cTn>
                              </p:par>
                            </p:childTnLst>
                          </p:cTn>
                        </p:par>
                      </p:childTnLst>
                    </p:cTn>
                  </p:par>
                  <p:par>
                    <p:cTn id="93" fill="hold">
                      <p:stCondLst>
                        <p:cond delay="indefinite"/>
                      </p:stCondLst>
                      <p:childTnLst>
                        <p:par>
                          <p:cTn id="94" fill="hold">
                            <p:stCondLst>
                              <p:cond delay="0"/>
                            </p:stCondLst>
                            <p:childTnLst>
                              <p:par>
                                <p:cTn id="95" presetID="12" presetClass="entr" presetSubtype="2" fill="hold" grpId="0" nodeType="clickEffect">
                                  <p:stCondLst>
                                    <p:cond delay="0"/>
                                  </p:stCondLst>
                                  <p:childTnLst>
                                    <p:set>
                                      <p:cBhvr>
                                        <p:cTn id="96" dur="1" fill="hold">
                                          <p:stCondLst>
                                            <p:cond delay="0"/>
                                          </p:stCondLst>
                                        </p:cTn>
                                        <p:tgtEl>
                                          <p:spTgt spid="570451"/>
                                        </p:tgtEl>
                                        <p:attrNameLst>
                                          <p:attrName>style.visibility</p:attrName>
                                        </p:attrNameLst>
                                      </p:cBhvr>
                                      <p:to>
                                        <p:strVal val="visible"/>
                                      </p:to>
                                    </p:set>
                                    <p:animEffect transition="in" filter="slide(fromRight)">
                                      <p:cBhvr>
                                        <p:cTn id="97" dur="500"/>
                                        <p:tgtEl>
                                          <p:spTgt spid="570451"/>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5"/>
                                        </p:tgtEl>
                                        <p:attrNameLst>
                                          <p:attrName>style.visibility</p:attrName>
                                        </p:attrNameLst>
                                      </p:cBhvr>
                                      <p:to>
                                        <p:strVal val="visible"/>
                                      </p:to>
                                    </p:set>
                                    <p:animEffect transition="in" filter="wipe(down)">
                                      <p:cBhvr>
                                        <p:cTn id="102" dur="500"/>
                                        <p:tgtEl>
                                          <p:spTgt spid="5"/>
                                        </p:tgtEl>
                                      </p:cBhvr>
                                    </p:animEffect>
                                  </p:childTnLst>
                                </p:cTn>
                              </p:par>
                            </p:childTnLst>
                          </p:cTn>
                        </p:par>
                        <p:par>
                          <p:cTn id="103" fill="hold">
                            <p:stCondLst>
                              <p:cond delay="500"/>
                            </p:stCondLst>
                            <p:childTnLst>
                              <p:par>
                                <p:cTn id="104" presetID="22" presetClass="entr" presetSubtype="8" fill="hold" nodeType="afterEffect">
                                  <p:stCondLst>
                                    <p:cond delay="0"/>
                                  </p:stCondLst>
                                  <p:childTnLst>
                                    <p:set>
                                      <p:cBhvr>
                                        <p:cTn id="105" dur="1" fill="hold">
                                          <p:stCondLst>
                                            <p:cond delay="0"/>
                                          </p:stCondLst>
                                        </p:cTn>
                                        <p:tgtEl>
                                          <p:spTgt spid="6"/>
                                        </p:tgtEl>
                                        <p:attrNameLst>
                                          <p:attrName>style.visibility</p:attrName>
                                        </p:attrNameLst>
                                      </p:cBhvr>
                                      <p:to>
                                        <p:strVal val="visible"/>
                                      </p:to>
                                    </p:set>
                                    <p:animEffect transition="in" filter="wipe(left)">
                                      <p:cBhvr>
                                        <p:cTn id="106" dur="500"/>
                                        <p:tgtEl>
                                          <p:spTgt spid="6"/>
                                        </p:tgtEl>
                                      </p:cBhvr>
                                    </p:animEffect>
                                  </p:childTnLst>
                                </p:cTn>
                              </p:par>
                            </p:childTnLst>
                          </p:cTn>
                        </p:par>
                      </p:childTnLst>
                    </p:cTn>
                  </p:par>
                  <p:par>
                    <p:cTn id="107" fill="hold">
                      <p:stCondLst>
                        <p:cond delay="indefinite"/>
                      </p:stCondLst>
                      <p:childTnLst>
                        <p:par>
                          <p:cTn id="108" fill="hold">
                            <p:stCondLst>
                              <p:cond delay="0"/>
                            </p:stCondLst>
                            <p:childTnLst>
                              <p:par>
                                <p:cTn id="109" presetID="2" presetClass="entr" presetSubtype="8" fill="hold" nodeType="clickEffect">
                                  <p:stCondLst>
                                    <p:cond delay="0"/>
                                  </p:stCondLst>
                                  <p:childTnLst>
                                    <p:set>
                                      <p:cBhvr>
                                        <p:cTn id="110" dur="1" fill="hold">
                                          <p:stCondLst>
                                            <p:cond delay="0"/>
                                          </p:stCondLst>
                                        </p:cTn>
                                        <p:tgtEl>
                                          <p:spTgt spid="570380"/>
                                        </p:tgtEl>
                                        <p:attrNameLst>
                                          <p:attrName>style.visibility</p:attrName>
                                        </p:attrNameLst>
                                      </p:cBhvr>
                                      <p:to>
                                        <p:strVal val="visible"/>
                                      </p:to>
                                    </p:set>
                                    <p:anim calcmode="lin" valueType="num">
                                      <p:cBhvr additive="base">
                                        <p:cTn id="111" dur="500" fill="hold"/>
                                        <p:tgtEl>
                                          <p:spTgt spid="570380"/>
                                        </p:tgtEl>
                                        <p:attrNameLst>
                                          <p:attrName>ppt_x</p:attrName>
                                        </p:attrNameLst>
                                      </p:cBhvr>
                                      <p:tavLst>
                                        <p:tav tm="0">
                                          <p:val>
                                            <p:strVal val="0-#ppt_w/2"/>
                                          </p:val>
                                        </p:tav>
                                        <p:tav tm="100000">
                                          <p:val>
                                            <p:strVal val="#ppt_x"/>
                                          </p:val>
                                        </p:tav>
                                      </p:tavLst>
                                    </p:anim>
                                    <p:anim calcmode="lin" valueType="num">
                                      <p:cBhvr additive="base">
                                        <p:cTn id="112" dur="500" fill="hold"/>
                                        <p:tgtEl>
                                          <p:spTgt spid="570380"/>
                                        </p:tgtEl>
                                        <p:attrNameLst>
                                          <p:attrName>ppt_y</p:attrName>
                                        </p:attrNameLst>
                                      </p:cBhvr>
                                      <p:tavLst>
                                        <p:tav tm="0">
                                          <p:val>
                                            <p:strVal val="#ppt_y"/>
                                          </p:val>
                                        </p:tav>
                                        <p:tav tm="100000">
                                          <p:val>
                                            <p:strVal val="#ppt_y"/>
                                          </p:val>
                                        </p:tav>
                                      </p:tavLst>
                                    </p:anim>
                                  </p:childTnLst>
                                </p:cTn>
                              </p:par>
                            </p:childTnLst>
                          </p:cTn>
                        </p:par>
                        <p:par>
                          <p:cTn id="113" fill="hold">
                            <p:stCondLst>
                              <p:cond delay="500"/>
                            </p:stCondLst>
                            <p:childTnLst>
                              <p:par>
                                <p:cTn id="114" presetID="7" presetClass="entr" presetSubtype="2" fill="hold" nodeType="afterEffect">
                                  <p:stCondLst>
                                    <p:cond delay="0"/>
                                  </p:stCondLst>
                                  <p:childTnLst>
                                    <p:set>
                                      <p:cBhvr>
                                        <p:cTn id="115" dur="1" fill="hold">
                                          <p:stCondLst>
                                            <p:cond delay="0"/>
                                          </p:stCondLst>
                                        </p:cTn>
                                        <p:tgtEl>
                                          <p:spTgt spid="570382"/>
                                        </p:tgtEl>
                                        <p:attrNameLst>
                                          <p:attrName>style.visibility</p:attrName>
                                        </p:attrNameLst>
                                      </p:cBhvr>
                                      <p:to>
                                        <p:strVal val="visible"/>
                                      </p:to>
                                    </p:set>
                                    <p:anim calcmode="lin" valueType="num">
                                      <p:cBhvr additive="base">
                                        <p:cTn id="116" dur="5000" fill="hold"/>
                                        <p:tgtEl>
                                          <p:spTgt spid="570382"/>
                                        </p:tgtEl>
                                        <p:attrNameLst>
                                          <p:attrName>ppt_x</p:attrName>
                                        </p:attrNameLst>
                                      </p:cBhvr>
                                      <p:tavLst>
                                        <p:tav tm="0">
                                          <p:val>
                                            <p:strVal val="1+#ppt_w/2"/>
                                          </p:val>
                                        </p:tav>
                                        <p:tav tm="100000">
                                          <p:val>
                                            <p:strVal val="#ppt_x"/>
                                          </p:val>
                                        </p:tav>
                                      </p:tavLst>
                                    </p:anim>
                                    <p:anim calcmode="lin" valueType="num">
                                      <p:cBhvr additive="base">
                                        <p:cTn id="117" dur="5000" fill="hold"/>
                                        <p:tgtEl>
                                          <p:spTgt spid="570382"/>
                                        </p:tgtEl>
                                        <p:attrNameLst>
                                          <p:attrName>ppt_y</p:attrName>
                                        </p:attrNameLst>
                                      </p:cBhvr>
                                      <p:tavLst>
                                        <p:tav tm="0">
                                          <p:val>
                                            <p:strVal val="#ppt_y"/>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13"/>
                                        </p:tgtEl>
                                        <p:attrNameLst>
                                          <p:attrName>style.visibility</p:attrName>
                                        </p:attrNameLst>
                                      </p:cBhvr>
                                      <p:to>
                                        <p:strVal val="visible"/>
                                      </p:to>
                                    </p:set>
                                    <p:animEffect transition="in" filter="wipe(left)">
                                      <p:cBhvr>
                                        <p:cTn id="122" dur="500"/>
                                        <p:tgtEl>
                                          <p:spTgt spid="13"/>
                                        </p:tgtEl>
                                      </p:cBhvr>
                                    </p:animEffect>
                                  </p:childTnLst>
                                </p:cTn>
                              </p:par>
                            </p:childTnLst>
                          </p:cTn>
                        </p:par>
                        <p:par>
                          <p:cTn id="123" fill="hold">
                            <p:stCondLst>
                              <p:cond delay="500"/>
                            </p:stCondLst>
                            <p:childTnLst>
                              <p:par>
                                <p:cTn id="124" presetID="22" presetClass="entr" presetSubtype="1" fill="hold" nodeType="afterEffect">
                                  <p:stCondLst>
                                    <p:cond delay="0"/>
                                  </p:stCondLst>
                                  <p:childTnLst>
                                    <p:set>
                                      <p:cBhvr>
                                        <p:cTn id="125" dur="1" fill="hold">
                                          <p:stCondLst>
                                            <p:cond delay="0"/>
                                          </p:stCondLst>
                                        </p:cTn>
                                        <p:tgtEl>
                                          <p:spTgt spid="570381"/>
                                        </p:tgtEl>
                                        <p:attrNameLst>
                                          <p:attrName>style.visibility</p:attrName>
                                        </p:attrNameLst>
                                      </p:cBhvr>
                                      <p:to>
                                        <p:strVal val="visible"/>
                                      </p:to>
                                    </p:set>
                                    <p:animEffect transition="in" filter="wipe(up)">
                                      <p:cBhvr>
                                        <p:cTn id="126" dur="500"/>
                                        <p:tgtEl>
                                          <p:spTgt spid="570381"/>
                                        </p:tgtEl>
                                      </p:cBhvr>
                                    </p:animEffect>
                                  </p:childTnLst>
                                </p:cTn>
                              </p:par>
                            </p:childTnLst>
                          </p:cTn>
                        </p:par>
                        <p:par>
                          <p:cTn id="127" fill="hold">
                            <p:stCondLst>
                              <p:cond delay="1000"/>
                            </p:stCondLst>
                            <p:childTnLst>
                              <p:par>
                                <p:cTn id="128" presetID="22" presetClass="entr" presetSubtype="1" fill="hold" nodeType="afterEffect">
                                  <p:stCondLst>
                                    <p:cond delay="0"/>
                                  </p:stCondLst>
                                  <p:childTnLst>
                                    <p:set>
                                      <p:cBhvr>
                                        <p:cTn id="129" dur="1" fill="hold">
                                          <p:stCondLst>
                                            <p:cond delay="0"/>
                                          </p:stCondLst>
                                        </p:cTn>
                                        <p:tgtEl>
                                          <p:spTgt spid="9"/>
                                        </p:tgtEl>
                                        <p:attrNameLst>
                                          <p:attrName>style.visibility</p:attrName>
                                        </p:attrNameLst>
                                      </p:cBhvr>
                                      <p:to>
                                        <p:strVal val="visible"/>
                                      </p:to>
                                    </p:set>
                                    <p:animEffect transition="in" filter="wipe(up)">
                                      <p:cBhvr>
                                        <p:cTn id="130" dur="500"/>
                                        <p:tgtEl>
                                          <p:spTgt spid="9"/>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1" fill="hold" nodeType="clickEffect">
                                  <p:stCondLst>
                                    <p:cond delay="0"/>
                                  </p:stCondLst>
                                  <p:childTnLst>
                                    <p:set>
                                      <p:cBhvr>
                                        <p:cTn id="134" dur="1" fill="hold">
                                          <p:stCondLst>
                                            <p:cond delay="0"/>
                                          </p:stCondLst>
                                        </p:cTn>
                                        <p:tgtEl>
                                          <p:spTgt spid="10"/>
                                        </p:tgtEl>
                                        <p:attrNameLst>
                                          <p:attrName>style.visibility</p:attrName>
                                        </p:attrNameLst>
                                      </p:cBhvr>
                                      <p:to>
                                        <p:strVal val="visible"/>
                                      </p:to>
                                    </p:set>
                                    <p:animEffect transition="in" filter="wipe(up)">
                                      <p:cBhvr>
                                        <p:cTn id="135" dur="500"/>
                                        <p:tgtEl>
                                          <p:spTgt spid="10"/>
                                        </p:tgtEl>
                                      </p:cBhvr>
                                    </p:animEffect>
                                  </p:childTnLst>
                                </p:cTn>
                              </p:par>
                            </p:childTnLst>
                          </p:cTn>
                        </p:par>
                      </p:childTnLst>
                    </p:cTn>
                  </p:par>
                  <p:par>
                    <p:cTn id="136" fill="hold">
                      <p:stCondLst>
                        <p:cond delay="indefinite"/>
                      </p:stCondLst>
                      <p:childTnLst>
                        <p:par>
                          <p:cTn id="137" fill="hold">
                            <p:stCondLst>
                              <p:cond delay="0"/>
                            </p:stCondLst>
                            <p:childTnLst>
                              <p:par>
                                <p:cTn id="138" presetID="16" presetClass="entr" presetSubtype="37" fill="hold" nodeType="clickEffect">
                                  <p:stCondLst>
                                    <p:cond delay="0"/>
                                  </p:stCondLst>
                                  <p:childTnLst>
                                    <p:set>
                                      <p:cBhvr>
                                        <p:cTn id="139" dur="1" fill="hold">
                                          <p:stCondLst>
                                            <p:cond delay="0"/>
                                          </p:stCondLst>
                                        </p:cTn>
                                        <p:tgtEl>
                                          <p:spTgt spid="15"/>
                                        </p:tgtEl>
                                        <p:attrNameLst>
                                          <p:attrName>style.visibility</p:attrName>
                                        </p:attrNameLst>
                                      </p:cBhvr>
                                      <p:to>
                                        <p:strVal val="visible"/>
                                      </p:to>
                                    </p:set>
                                    <p:animEffect transition="in" filter="barn(outVertical)">
                                      <p:cBhvr>
                                        <p:cTn id="140" dur="500"/>
                                        <p:tgtEl>
                                          <p:spTgt spid="15"/>
                                        </p:tgtEl>
                                      </p:cBhvr>
                                    </p:animEffect>
                                  </p:childTnLst>
                                </p:cTn>
                              </p:par>
                            </p:childTnLst>
                          </p:cTn>
                        </p:par>
                        <p:par>
                          <p:cTn id="141" fill="hold">
                            <p:stCondLst>
                              <p:cond delay="500"/>
                            </p:stCondLst>
                            <p:childTnLst>
                              <p:par>
                                <p:cTn id="142" presetID="22" presetClass="entr" presetSubtype="1" fill="hold" nodeType="afterEffect">
                                  <p:stCondLst>
                                    <p:cond delay="0"/>
                                  </p:stCondLst>
                                  <p:childTnLst>
                                    <p:set>
                                      <p:cBhvr>
                                        <p:cTn id="143" dur="1" fill="hold">
                                          <p:stCondLst>
                                            <p:cond delay="0"/>
                                          </p:stCondLst>
                                        </p:cTn>
                                        <p:tgtEl>
                                          <p:spTgt spid="570383"/>
                                        </p:tgtEl>
                                        <p:attrNameLst>
                                          <p:attrName>style.visibility</p:attrName>
                                        </p:attrNameLst>
                                      </p:cBhvr>
                                      <p:to>
                                        <p:strVal val="visible"/>
                                      </p:to>
                                    </p:set>
                                    <p:animEffect transition="in" filter="wipe(up)">
                                      <p:cBhvr>
                                        <p:cTn id="144" dur="500"/>
                                        <p:tgtEl>
                                          <p:spTgt spid="570383"/>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14"/>
                                        </p:tgtEl>
                                        <p:attrNameLst>
                                          <p:attrName>style.visibility</p:attrName>
                                        </p:attrNameLst>
                                      </p:cBhvr>
                                      <p:to>
                                        <p:strVal val="visible"/>
                                      </p:to>
                                    </p:set>
                                    <p:animEffect transition="in" filter="wipe(left)">
                                      <p:cBhvr>
                                        <p:cTn id="149" dur="500"/>
                                        <p:tgtEl>
                                          <p:spTgt spid="14"/>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1" fill="hold" nodeType="clickEffect">
                                  <p:stCondLst>
                                    <p:cond delay="0"/>
                                  </p:stCondLst>
                                  <p:childTnLst>
                                    <p:set>
                                      <p:cBhvr>
                                        <p:cTn id="153" dur="1" fill="hold">
                                          <p:stCondLst>
                                            <p:cond delay="0"/>
                                          </p:stCondLst>
                                        </p:cTn>
                                        <p:tgtEl>
                                          <p:spTgt spid="11"/>
                                        </p:tgtEl>
                                        <p:attrNameLst>
                                          <p:attrName>style.visibility</p:attrName>
                                        </p:attrNameLst>
                                      </p:cBhvr>
                                      <p:to>
                                        <p:strVal val="visible"/>
                                      </p:to>
                                    </p:set>
                                    <p:animEffect transition="in" filter="wipe(up)">
                                      <p:cBhvr>
                                        <p:cTn id="154" dur="500"/>
                                        <p:tgtEl>
                                          <p:spTgt spid="11"/>
                                        </p:tgtEl>
                                      </p:cBhvr>
                                    </p:animEffect>
                                  </p:childTnLst>
                                </p:cTn>
                              </p:par>
                            </p:childTnLst>
                          </p:cTn>
                        </p:par>
                      </p:childTnLst>
                    </p:cTn>
                  </p:par>
                  <p:par>
                    <p:cTn id="155" fill="hold">
                      <p:stCondLst>
                        <p:cond delay="indefinite"/>
                      </p:stCondLst>
                      <p:childTnLst>
                        <p:par>
                          <p:cTn id="156" fill="hold">
                            <p:stCondLst>
                              <p:cond delay="0"/>
                            </p:stCondLst>
                            <p:childTnLst>
                              <p:par>
                                <p:cTn id="157" presetID="16" presetClass="entr" presetSubtype="42" fill="hold" nodeType="clickEffect">
                                  <p:stCondLst>
                                    <p:cond delay="0"/>
                                  </p:stCondLst>
                                  <p:childTnLst>
                                    <p:set>
                                      <p:cBhvr>
                                        <p:cTn id="158" dur="1" fill="hold">
                                          <p:stCondLst>
                                            <p:cond delay="0"/>
                                          </p:stCondLst>
                                        </p:cTn>
                                        <p:tgtEl>
                                          <p:spTgt spid="16"/>
                                        </p:tgtEl>
                                        <p:attrNameLst>
                                          <p:attrName>style.visibility</p:attrName>
                                        </p:attrNameLst>
                                      </p:cBhvr>
                                      <p:to>
                                        <p:strVal val="visible"/>
                                      </p:to>
                                    </p:set>
                                    <p:animEffect transition="in" filter="barn(outHorizontal)">
                                      <p:cBhvr>
                                        <p:cTn id="159" dur="500"/>
                                        <p:tgtEl>
                                          <p:spTgt spid="16"/>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nodeType="clickEffect">
                                  <p:stCondLst>
                                    <p:cond delay="0"/>
                                  </p:stCondLst>
                                  <p:childTnLst>
                                    <p:set>
                                      <p:cBhvr>
                                        <p:cTn id="163" dur="1" fill="hold">
                                          <p:stCondLst>
                                            <p:cond delay="0"/>
                                          </p:stCondLst>
                                        </p:cTn>
                                        <p:tgtEl>
                                          <p:spTgt spid="36"/>
                                        </p:tgtEl>
                                        <p:attrNameLst>
                                          <p:attrName>style.visibility</p:attrName>
                                        </p:attrNameLst>
                                      </p:cBhvr>
                                      <p:to>
                                        <p:strVal val="visible"/>
                                      </p:to>
                                    </p:set>
                                    <p:animEffect transition="in" filter="wipe(left)">
                                      <p:cBhvr>
                                        <p:cTn id="164" dur="500"/>
                                        <p:tgtEl>
                                          <p:spTgt spid="36"/>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nodeType="clickEffect">
                                  <p:stCondLst>
                                    <p:cond delay="0"/>
                                  </p:stCondLst>
                                  <p:childTnLst>
                                    <p:set>
                                      <p:cBhvr>
                                        <p:cTn id="168" dur="1" fill="hold">
                                          <p:stCondLst>
                                            <p:cond delay="0"/>
                                          </p:stCondLst>
                                        </p:cTn>
                                        <p:tgtEl>
                                          <p:spTgt spid="38"/>
                                        </p:tgtEl>
                                        <p:attrNameLst>
                                          <p:attrName>style.visibility</p:attrName>
                                        </p:attrNameLst>
                                      </p:cBhvr>
                                      <p:to>
                                        <p:strVal val="visible"/>
                                      </p:to>
                                    </p:set>
                                    <p:animEffect transition="in" filter="wipe(left)">
                                      <p:cBhvr>
                                        <p:cTn id="169" dur="500"/>
                                        <p:tgtEl>
                                          <p:spTgt spid="38"/>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8" fill="hold" nodeType="clickEffect">
                                  <p:stCondLst>
                                    <p:cond delay="0"/>
                                  </p:stCondLst>
                                  <p:childTnLst>
                                    <p:set>
                                      <p:cBhvr>
                                        <p:cTn id="173" dur="1" fill="hold">
                                          <p:stCondLst>
                                            <p:cond delay="0"/>
                                          </p:stCondLst>
                                        </p:cTn>
                                        <p:tgtEl>
                                          <p:spTgt spid="40"/>
                                        </p:tgtEl>
                                        <p:attrNameLst>
                                          <p:attrName>style.visibility</p:attrName>
                                        </p:attrNameLst>
                                      </p:cBhvr>
                                      <p:to>
                                        <p:strVal val="visible"/>
                                      </p:to>
                                    </p:set>
                                    <p:animEffect transition="in" filter="wipe(left)">
                                      <p:cBhvr>
                                        <p:cTn id="174" dur="500"/>
                                        <p:tgtEl>
                                          <p:spTgt spid="40"/>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1" fill="hold" grpId="0" nodeType="clickEffect">
                                  <p:stCondLst>
                                    <p:cond delay="0"/>
                                  </p:stCondLst>
                                  <p:childTnLst>
                                    <p:set>
                                      <p:cBhvr>
                                        <p:cTn id="178" dur="1" fill="hold">
                                          <p:stCondLst>
                                            <p:cond delay="0"/>
                                          </p:stCondLst>
                                        </p:cTn>
                                        <p:tgtEl>
                                          <p:spTgt spid="49"/>
                                        </p:tgtEl>
                                        <p:attrNameLst>
                                          <p:attrName>style.visibility</p:attrName>
                                        </p:attrNameLst>
                                      </p:cBhvr>
                                      <p:to>
                                        <p:strVal val="visible"/>
                                      </p:to>
                                    </p:set>
                                    <p:animEffect transition="in" filter="wipe(up)">
                                      <p:cBhvr>
                                        <p:cTn id="179" dur="500"/>
                                        <p:tgtEl>
                                          <p:spTgt spid="49"/>
                                        </p:tgtEl>
                                      </p:cBhvr>
                                    </p:animEffect>
                                  </p:childTnLst>
                                </p:cTn>
                              </p:par>
                            </p:childTnLst>
                          </p:cTn>
                        </p:par>
                        <p:par>
                          <p:cTn id="180" fill="hold">
                            <p:stCondLst>
                              <p:cond delay="500"/>
                            </p:stCondLst>
                            <p:childTnLst>
                              <p:par>
                                <p:cTn id="181" presetID="22" presetClass="entr" presetSubtype="1" fill="hold" grpId="0" nodeType="afterEffect">
                                  <p:stCondLst>
                                    <p:cond delay="0"/>
                                  </p:stCondLst>
                                  <p:childTnLst>
                                    <p:set>
                                      <p:cBhvr>
                                        <p:cTn id="182" dur="1" fill="hold">
                                          <p:stCondLst>
                                            <p:cond delay="0"/>
                                          </p:stCondLst>
                                        </p:cTn>
                                        <p:tgtEl>
                                          <p:spTgt spid="32"/>
                                        </p:tgtEl>
                                        <p:attrNameLst>
                                          <p:attrName>style.visibility</p:attrName>
                                        </p:attrNameLst>
                                      </p:cBhvr>
                                      <p:to>
                                        <p:strVal val="visible"/>
                                      </p:to>
                                    </p:set>
                                    <p:animEffect transition="in" filter="wipe(up)">
                                      <p:cBhvr>
                                        <p:cTn id="183" dur="500"/>
                                        <p:tgtEl>
                                          <p:spTgt spid="32"/>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nodeType="clickEffect">
                                  <p:stCondLst>
                                    <p:cond delay="0"/>
                                  </p:stCondLst>
                                  <p:childTnLst>
                                    <p:set>
                                      <p:cBhvr>
                                        <p:cTn id="187" dur="1" fill="hold">
                                          <p:stCondLst>
                                            <p:cond delay="0"/>
                                          </p:stCondLst>
                                        </p:cTn>
                                        <p:tgtEl>
                                          <p:spTgt spid="34"/>
                                        </p:tgtEl>
                                        <p:attrNameLst>
                                          <p:attrName>style.visibility</p:attrName>
                                        </p:attrNameLst>
                                      </p:cBhvr>
                                      <p:to>
                                        <p:strVal val="visible"/>
                                      </p:to>
                                    </p:set>
                                    <p:animEffect transition="in" filter="wipe(left)">
                                      <p:cBhvr>
                                        <p:cTn id="188" dur="500"/>
                                        <p:tgtEl>
                                          <p:spTgt spid="34"/>
                                        </p:tgtEl>
                                      </p:cBhvr>
                                    </p:animEffect>
                                  </p:childTnLst>
                                </p:cTn>
                              </p:par>
                            </p:childTnLst>
                          </p:cTn>
                        </p:par>
                      </p:childTnLst>
                    </p:cTn>
                  </p:par>
                  <p:par>
                    <p:cTn id="189" fill="hold">
                      <p:stCondLst>
                        <p:cond delay="indefinite"/>
                      </p:stCondLst>
                      <p:childTnLst>
                        <p:par>
                          <p:cTn id="190" fill="hold">
                            <p:stCondLst>
                              <p:cond delay="0"/>
                            </p:stCondLst>
                            <p:childTnLst>
                              <p:par>
                                <p:cTn id="191" presetID="22" presetClass="entr" presetSubtype="8" fill="hold" nodeType="clickEffect">
                                  <p:stCondLst>
                                    <p:cond delay="0"/>
                                  </p:stCondLst>
                                  <p:childTnLst>
                                    <p:set>
                                      <p:cBhvr>
                                        <p:cTn id="192" dur="1" fill="hold">
                                          <p:stCondLst>
                                            <p:cond delay="0"/>
                                          </p:stCondLst>
                                        </p:cTn>
                                        <p:tgtEl>
                                          <p:spTgt spid="50"/>
                                        </p:tgtEl>
                                        <p:attrNameLst>
                                          <p:attrName>style.visibility</p:attrName>
                                        </p:attrNameLst>
                                      </p:cBhvr>
                                      <p:to>
                                        <p:strVal val="visible"/>
                                      </p:to>
                                    </p:set>
                                    <p:animEffect transition="in" filter="wipe(left)">
                                      <p:cBhvr>
                                        <p:cTn id="193" dur="500"/>
                                        <p:tgtEl>
                                          <p:spTgt spid="50"/>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8" fill="hold" nodeType="clickEffect">
                                  <p:stCondLst>
                                    <p:cond delay="0"/>
                                  </p:stCondLst>
                                  <p:childTnLst>
                                    <p:set>
                                      <p:cBhvr>
                                        <p:cTn id="197" dur="1" fill="hold">
                                          <p:stCondLst>
                                            <p:cond delay="0"/>
                                          </p:stCondLst>
                                        </p:cTn>
                                        <p:tgtEl>
                                          <p:spTgt spid="53"/>
                                        </p:tgtEl>
                                        <p:attrNameLst>
                                          <p:attrName>style.visibility</p:attrName>
                                        </p:attrNameLst>
                                      </p:cBhvr>
                                      <p:to>
                                        <p:strVal val="visible"/>
                                      </p:to>
                                    </p:set>
                                    <p:animEffect transition="in" filter="wipe(left)">
                                      <p:cBhvr>
                                        <p:cTn id="198" dur="500"/>
                                        <p:tgtEl>
                                          <p:spTgt spid="53"/>
                                        </p:tgtEl>
                                      </p:cBhvr>
                                    </p:animEffect>
                                  </p:childTnLst>
                                </p:cTn>
                              </p:par>
                            </p:childTnLst>
                          </p:cTn>
                        </p:par>
                      </p:childTnLst>
                    </p:cTn>
                  </p:par>
                  <p:par>
                    <p:cTn id="199" fill="hold">
                      <p:stCondLst>
                        <p:cond delay="indefinite"/>
                      </p:stCondLst>
                      <p:childTnLst>
                        <p:par>
                          <p:cTn id="200" fill="hold">
                            <p:stCondLst>
                              <p:cond delay="0"/>
                            </p:stCondLst>
                            <p:childTnLst>
                              <p:par>
                                <p:cTn id="201" presetID="9" presetClass="entr" presetSubtype="0" fill="hold" nodeType="clickEffect">
                                  <p:stCondLst>
                                    <p:cond delay="0"/>
                                  </p:stCondLst>
                                  <p:childTnLst>
                                    <p:set>
                                      <p:cBhvr>
                                        <p:cTn id="202" dur="1" fill="hold">
                                          <p:stCondLst>
                                            <p:cond delay="0"/>
                                          </p:stCondLst>
                                        </p:cTn>
                                        <p:tgtEl>
                                          <p:spTgt spid="21"/>
                                        </p:tgtEl>
                                        <p:attrNameLst>
                                          <p:attrName>style.visibility</p:attrName>
                                        </p:attrNameLst>
                                      </p:cBhvr>
                                      <p:to>
                                        <p:strVal val="visible"/>
                                      </p:to>
                                    </p:set>
                                    <p:animEffect transition="in" filter="dissolve">
                                      <p:cBhvr>
                                        <p:cTn id="203" dur="500"/>
                                        <p:tgtEl>
                                          <p:spTgt spid="21"/>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8" fill="hold" nodeType="clickEffect">
                                  <p:stCondLst>
                                    <p:cond delay="0"/>
                                  </p:stCondLst>
                                  <p:childTnLst>
                                    <p:set>
                                      <p:cBhvr>
                                        <p:cTn id="207" dur="1" fill="hold">
                                          <p:stCondLst>
                                            <p:cond delay="0"/>
                                          </p:stCondLst>
                                        </p:cTn>
                                        <p:tgtEl>
                                          <p:spTgt spid="30"/>
                                        </p:tgtEl>
                                        <p:attrNameLst>
                                          <p:attrName>style.visibility</p:attrName>
                                        </p:attrNameLst>
                                      </p:cBhvr>
                                      <p:to>
                                        <p:strVal val="visible"/>
                                      </p:to>
                                    </p:set>
                                    <p:animEffect transition="in" filter="wipe(left)">
                                      <p:cBhvr>
                                        <p:cTn id="208" dur="500"/>
                                        <p:tgtEl>
                                          <p:spTgt spid="30"/>
                                        </p:tgtEl>
                                      </p:cBhvr>
                                    </p:animEffect>
                                  </p:childTnLst>
                                </p:cTn>
                              </p:par>
                            </p:childTnLst>
                          </p:cTn>
                        </p:par>
                      </p:childTnLst>
                    </p:cTn>
                  </p:par>
                  <p:par>
                    <p:cTn id="209" fill="hold">
                      <p:stCondLst>
                        <p:cond delay="indefinite"/>
                      </p:stCondLst>
                      <p:childTnLst>
                        <p:par>
                          <p:cTn id="210" fill="hold">
                            <p:stCondLst>
                              <p:cond delay="0"/>
                            </p:stCondLst>
                            <p:childTnLst>
                              <p:par>
                                <p:cTn id="211" presetID="22" presetClass="entr" presetSubtype="2" fill="hold" nodeType="clickEffect">
                                  <p:stCondLst>
                                    <p:cond delay="0"/>
                                  </p:stCondLst>
                                  <p:childTnLst>
                                    <p:set>
                                      <p:cBhvr>
                                        <p:cTn id="212" dur="1" fill="hold">
                                          <p:stCondLst>
                                            <p:cond delay="0"/>
                                          </p:stCondLst>
                                        </p:cTn>
                                        <p:tgtEl>
                                          <p:spTgt spid="20"/>
                                        </p:tgtEl>
                                        <p:attrNameLst>
                                          <p:attrName>style.visibility</p:attrName>
                                        </p:attrNameLst>
                                      </p:cBhvr>
                                      <p:to>
                                        <p:strVal val="visible"/>
                                      </p:to>
                                    </p:set>
                                    <p:animEffect transition="in" filter="wipe(right)">
                                      <p:cBhvr>
                                        <p:cTn id="21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1" grpId="0" bldLvl="0" animBg="1"/>
      <p:bldP spid="570444" grpId="0"/>
      <p:bldP spid="570445" grpId="0"/>
      <p:bldP spid="570450" grpId="0"/>
      <p:bldP spid="570451" grpId="0"/>
      <p:bldP spid="32" grpId="0" bldLvl="0" animBg="1"/>
      <p:bldP spid="4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Rectangle 2"/>
          <p:cNvSpPr>
            <a:spLocks noGrp="1" noChangeArrowheads="1"/>
          </p:cNvSpPr>
          <p:nvPr>
            <p:ph type="title"/>
          </p:nvPr>
        </p:nvSpPr>
        <p:spPr bwMode="auto">
          <a:xfrm>
            <a:off x="4953000" y="838200"/>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螺纹连接的强度计算</a:t>
            </a:r>
            <a:r>
              <a:rPr lang="en-US" altLang="zh-CN" sz="800" smtClean="0">
                <a:solidFill>
                  <a:schemeClr val="bg1"/>
                </a:solidFill>
              </a:rPr>
              <a:t>3</a:t>
            </a:r>
            <a:endParaRPr lang="en-US" altLang="zh-CN" sz="800" smtClean="0">
              <a:solidFill>
                <a:schemeClr val="bg1"/>
              </a:solidFill>
            </a:endParaRPr>
          </a:p>
        </p:txBody>
      </p:sp>
      <p:sp>
        <p:nvSpPr>
          <p:cNvPr id="23561" name="Text Box 9"/>
          <p:cNvSpPr txBox="1">
            <a:spLocks noChangeArrowheads="1"/>
          </p:cNvSpPr>
          <p:nvPr/>
        </p:nvSpPr>
        <p:spPr bwMode="auto">
          <a:xfrm>
            <a:off x="64770" y="1066800"/>
            <a:ext cx="8732520" cy="51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15000"/>
              </a:lnSpc>
            </a:pPr>
            <a:r>
              <a:rPr lang="en-US" altLang="zh-CN" sz="2000" dirty="0">
                <a:solidFill>
                  <a:srgbClr val="000099"/>
                </a:solidFill>
                <a:latin typeface="Times New Roman" panose="02020603050405020304" pitchFamily="18" charset="0"/>
              </a:rPr>
              <a:t>        </a:t>
            </a:r>
            <a:r>
              <a:rPr lang="zh-CN" altLang="en-US" sz="2400" dirty="0">
                <a:solidFill>
                  <a:srgbClr val="000099"/>
                </a:solidFill>
                <a:latin typeface="黑体" panose="02010609060101010101" pitchFamily="49" charset="-122"/>
                <a:ea typeface="黑体" panose="02010609060101010101" pitchFamily="49" charset="-122"/>
                <a:cs typeface="黑体" panose="02010609060101010101" pitchFamily="49" charset="-122"/>
              </a:rPr>
              <a:t>螺栓预紧力</a:t>
            </a:r>
            <a:r>
              <a:rPr lang="en-US" altLang="zh-CN" sz="2400" i="1" dirty="0">
                <a:solidFill>
                  <a:srgbClr val="000099"/>
                </a:solidFill>
                <a:latin typeface="黑体" panose="02010609060101010101" pitchFamily="49" charset="-122"/>
                <a:ea typeface="黑体" panose="02010609060101010101" pitchFamily="49" charset="-122"/>
                <a:cs typeface="黑体" panose="02010609060101010101" pitchFamily="49" charset="-122"/>
              </a:rPr>
              <a:t>F</a:t>
            </a:r>
            <a:r>
              <a:rPr lang="en-US" altLang="zh-CN" sz="2400" baseline="-25000" dirty="0">
                <a:solidFill>
                  <a:srgbClr val="000099"/>
                </a:solidFill>
                <a:latin typeface="黑体" panose="02010609060101010101" pitchFamily="49" charset="-122"/>
                <a:ea typeface="黑体" panose="02010609060101010101" pitchFamily="49" charset="-122"/>
                <a:cs typeface="黑体" panose="02010609060101010101" pitchFamily="49" charset="-122"/>
              </a:rPr>
              <a:t>0</a:t>
            </a:r>
            <a:r>
              <a:rPr lang="zh-CN" altLang="en-US" sz="2400" dirty="0">
                <a:solidFill>
                  <a:srgbClr val="000099"/>
                </a:solidFill>
                <a:latin typeface="黑体" panose="02010609060101010101" pitchFamily="49" charset="-122"/>
                <a:ea typeface="黑体" panose="02010609060101010101" pitchFamily="49" charset="-122"/>
                <a:cs typeface="黑体" panose="02010609060101010101" pitchFamily="49" charset="-122"/>
              </a:rPr>
              <a:t>后，在工作拉力</a:t>
            </a:r>
            <a:r>
              <a:rPr lang="en-US" altLang="zh-CN" sz="2400" i="1" dirty="0">
                <a:solidFill>
                  <a:srgbClr val="000099"/>
                </a:solidFill>
                <a:latin typeface="黑体" panose="02010609060101010101" pitchFamily="49" charset="-122"/>
                <a:ea typeface="黑体" panose="02010609060101010101" pitchFamily="49" charset="-122"/>
                <a:cs typeface="黑体" panose="02010609060101010101" pitchFamily="49" charset="-122"/>
              </a:rPr>
              <a:t>F </a:t>
            </a:r>
            <a:r>
              <a:rPr lang="zh-CN" altLang="en-US" sz="2400" dirty="0">
                <a:solidFill>
                  <a:srgbClr val="000099"/>
                </a:solidFill>
                <a:latin typeface="黑体" panose="02010609060101010101" pitchFamily="49" charset="-122"/>
                <a:ea typeface="黑体" panose="02010609060101010101" pitchFamily="49" charset="-122"/>
                <a:cs typeface="黑体" panose="02010609060101010101" pitchFamily="49" charset="-122"/>
              </a:rPr>
              <a:t>的</a:t>
            </a:r>
            <a:r>
              <a:rPr lang="zh-CN" altLang="en-US" sz="2400" dirty="0" smtClean="0">
                <a:solidFill>
                  <a:srgbClr val="000099"/>
                </a:solidFill>
                <a:latin typeface="黑体" panose="02010609060101010101" pitchFamily="49" charset="-122"/>
                <a:ea typeface="黑体" panose="02010609060101010101" pitchFamily="49" charset="-122"/>
                <a:cs typeface="黑体" panose="02010609060101010101" pitchFamily="49" charset="-122"/>
              </a:rPr>
              <a:t>作用</a:t>
            </a:r>
            <a:r>
              <a:rPr lang="zh-CN" altLang="en-US" sz="2400" dirty="0">
                <a:solidFill>
                  <a:srgbClr val="000099"/>
                </a:solidFill>
                <a:latin typeface="黑体" panose="02010609060101010101" pitchFamily="49" charset="-122"/>
                <a:ea typeface="黑体" panose="02010609060101010101" pitchFamily="49" charset="-122"/>
                <a:cs typeface="黑体" panose="02010609060101010101" pitchFamily="49" charset="-122"/>
              </a:rPr>
              <a:t>下，螺栓的总拉力</a:t>
            </a:r>
            <a:r>
              <a:rPr lang="en-US" altLang="zh-CN" sz="2400" i="1" dirty="0">
                <a:solidFill>
                  <a:srgbClr val="000099"/>
                </a:solidFill>
                <a:latin typeface="黑体" panose="02010609060101010101" pitchFamily="49" charset="-122"/>
                <a:ea typeface="黑体" panose="02010609060101010101" pitchFamily="49" charset="-122"/>
                <a:cs typeface="黑体" panose="02010609060101010101" pitchFamily="49" charset="-122"/>
              </a:rPr>
              <a:t>F</a:t>
            </a:r>
            <a:r>
              <a:rPr lang="en-US" altLang="zh-CN" sz="2400" baseline="-25000" dirty="0">
                <a:solidFill>
                  <a:srgbClr val="000099"/>
                </a:solidFill>
                <a:latin typeface="黑体" panose="02010609060101010101" pitchFamily="49" charset="-122"/>
                <a:ea typeface="黑体" panose="02010609060101010101" pitchFamily="49" charset="-122"/>
                <a:cs typeface="黑体" panose="02010609060101010101" pitchFamily="49" charset="-122"/>
              </a:rPr>
              <a:t>2</a:t>
            </a:r>
            <a:endParaRPr lang="en-US" altLang="zh-CN" sz="2400" dirty="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23569" name="Object 17"/>
          <p:cNvGraphicFramePr>
            <a:graphicFrameLocks noChangeAspect="1"/>
          </p:cNvGraphicFramePr>
          <p:nvPr/>
        </p:nvGraphicFramePr>
        <p:xfrm>
          <a:off x="1664335" y="1814830"/>
          <a:ext cx="1781175" cy="514350"/>
        </p:xfrm>
        <a:graphic>
          <a:graphicData uri="http://schemas.openxmlformats.org/presentationml/2006/ole">
            <mc:AlternateContent xmlns:mc="http://schemas.openxmlformats.org/markup-compatibility/2006">
              <mc:Choice xmlns:v="urn:schemas-microsoft-com:vml" Requires="v">
                <p:oleObj spid="_x0000_s5355" name="公式" r:id="rId1" imgW="671195" imgH="196850" progId="Equation.3">
                  <p:embed/>
                </p:oleObj>
              </mc:Choice>
              <mc:Fallback>
                <p:oleObj name="公式" r:id="rId1" imgW="671195" imgH="196850" progId="Equation.3">
                  <p:embed/>
                  <p:pic>
                    <p:nvPicPr>
                      <p:cNvPr id="0" name="Object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4335" y="1814830"/>
                        <a:ext cx="1781175" cy="514350"/>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graphicFrame>
        <p:nvGraphicFramePr>
          <p:cNvPr id="23570" name="Object 18"/>
          <p:cNvGraphicFramePr>
            <a:graphicFrameLocks noChangeAspect="1"/>
          </p:cNvGraphicFramePr>
          <p:nvPr/>
        </p:nvGraphicFramePr>
        <p:xfrm>
          <a:off x="2540000" y="4212590"/>
          <a:ext cx="2945130" cy="1097915"/>
        </p:xfrm>
        <a:graphic>
          <a:graphicData uri="http://schemas.openxmlformats.org/presentationml/2006/ole">
            <mc:AlternateContent xmlns:mc="http://schemas.openxmlformats.org/markup-compatibility/2006">
              <mc:Choice xmlns:v="urn:schemas-microsoft-com:vml" Requires="v">
                <p:oleObj spid="_x0000_s5356" name="公式" r:id="rId3" imgW="1143000" imgH="431800" progId="Equation.3">
                  <p:embed/>
                </p:oleObj>
              </mc:Choice>
              <mc:Fallback>
                <p:oleObj name="公式" r:id="rId3" imgW="1143000" imgH="431800" progId="Equation.3">
                  <p:embed/>
                  <p:pic>
                    <p:nvPicPr>
                      <p:cNvPr id="0" name="Object 18"/>
                      <p:cNvPicPr>
                        <a:picLocks noChangeAspect="1" noChangeArrowheads="1"/>
                      </p:cNvPicPr>
                      <p:nvPr/>
                    </p:nvPicPr>
                    <p:blipFill>
                      <a:blip r:embed="rId4"/>
                      <a:srcRect/>
                      <a:stretch>
                        <a:fillRect/>
                      </a:stretch>
                    </p:blipFill>
                    <p:spPr bwMode="auto">
                      <a:xfrm>
                        <a:off x="2540000" y="4212590"/>
                        <a:ext cx="2945130" cy="1097915"/>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23588" name="Text Box 36"/>
          <p:cNvSpPr txBox="1">
            <a:spLocks noChangeArrowheads="1"/>
          </p:cNvSpPr>
          <p:nvPr/>
        </p:nvSpPr>
        <p:spPr bwMode="auto">
          <a:xfrm>
            <a:off x="3754120" y="1664335"/>
            <a:ext cx="4835525" cy="1420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400" dirty="0">
                <a:solidFill>
                  <a:srgbClr val="000099"/>
                </a:solidFill>
                <a:latin typeface="Times New Roman" panose="02020603050405020304" pitchFamily="18" charset="0"/>
              </a:rPr>
              <a:t>式中</a:t>
            </a:r>
            <a:r>
              <a:rPr lang="en-US" altLang="zh-CN" sz="2400" i="1" dirty="0">
                <a:solidFill>
                  <a:srgbClr val="000099"/>
                </a:solidFill>
                <a:latin typeface="Times New Roman" panose="02020603050405020304" pitchFamily="18" charset="0"/>
              </a:rPr>
              <a:t>F</a:t>
            </a:r>
            <a:r>
              <a:rPr lang="en-US" altLang="zh-CN" sz="2400" baseline="-25000" dirty="0">
                <a:solidFill>
                  <a:srgbClr val="000099"/>
                </a:solidFill>
                <a:latin typeface="Times New Roman" panose="02020603050405020304" pitchFamily="18" charset="0"/>
              </a:rPr>
              <a:t>1</a:t>
            </a:r>
            <a:r>
              <a:rPr lang="zh-CN" altLang="en-US" sz="2400" dirty="0">
                <a:solidFill>
                  <a:srgbClr val="000099"/>
                </a:solidFill>
                <a:latin typeface="Times New Roman" panose="02020603050405020304" pitchFamily="18" charset="0"/>
              </a:rPr>
              <a:t>为残余预紧力，为保证连接的紧密性，应使 </a:t>
            </a:r>
            <a:r>
              <a:rPr lang="en-US" altLang="zh-CN" sz="2400" i="1" dirty="0">
                <a:solidFill>
                  <a:srgbClr val="000099"/>
                </a:solidFill>
                <a:latin typeface="Times New Roman" panose="02020603050405020304" pitchFamily="18" charset="0"/>
              </a:rPr>
              <a:t>F</a:t>
            </a:r>
            <a:r>
              <a:rPr lang="en-US" altLang="zh-CN" sz="2400" baseline="-25000" dirty="0">
                <a:solidFill>
                  <a:srgbClr val="000099"/>
                </a:solidFill>
                <a:latin typeface="Times New Roman" panose="02020603050405020304" pitchFamily="18" charset="0"/>
              </a:rPr>
              <a:t>1 </a:t>
            </a:r>
            <a:r>
              <a:rPr lang="zh-CN" altLang="en-US" sz="2400" dirty="0">
                <a:solidFill>
                  <a:srgbClr val="000099"/>
                </a:solidFill>
                <a:latin typeface="Times New Roman" panose="02020603050405020304" pitchFamily="18" charset="0"/>
              </a:rPr>
              <a:t>＞</a:t>
            </a:r>
            <a:r>
              <a:rPr lang="en-US" altLang="zh-CN" sz="2400" dirty="0">
                <a:solidFill>
                  <a:srgbClr val="000099"/>
                </a:solidFill>
                <a:latin typeface="Times New Roman" panose="02020603050405020304" pitchFamily="18" charset="0"/>
              </a:rPr>
              <a:t>0</a:t>
            </a:r>
            <a:r>
              <a:rPr lang="zh-CN" altLang="en-US" sz="2400" dirty="0">
                <a:solidFill>
                  <a:srgbClr val="000099"/>
                </a:solidFill>
                <a:latin typeface="Times New Roman" panose="02020603050405020304" pitchFamily="18" charset="0"/>
              </a:rPr>
              <a:t>，一般根据连接的性质确定</a:t>
            </a:r>
            <a:r>
              <a:rPr lang="en-US" altLang="zh-CN" sz="2400" i="1" dirty="0">
                <a:solidFill>
                  <a:srgbClr val="000099"/>
                </a:solidFill>
                <a:latin typeface="Times New Roman" panose="02020603050405020304" pitchFamily="18" charset="0"/>
              </a:rPr>
              <a:t>F</a:t>
            </a:r>
            <a:r>
              <a:rPr lang="en-US" altLang="zh-CN" sz="2400" baseline="-25000" dirty="0">
                <a:solidFill>
                  <a:srgbClr val="000099"/>
                </a:solidFill>
                <a:latin typeface="Times New Roman" panose="02020603050405020304" pitchFamily="18" charset="0"/>
              </a:rPr>
              <a:t>1</a:t>
            </a:r>
            <a:r>
              <a:rPr lang="zh-CN" altLang="en-US" sz="2400" dirty="0">
                <a:solidFill>
                  <a:srgbClr val="000099"/>
                </a:solidFill>
                <a:latin typeface="Times New Roman" panose="02020603050405020304" pitchFamily="18" charset="0"/>
              </a:rPr>
              <a:t>的大小</a:t>
            </a:r>
            <a:r>
              <a:rPr lang="zh-CN" altLang="en-US" sz="2400" dirty="0">
                <a:solidFill>
                  <a:srgbClr val="FF0000"/>
                </a:solidFill>
                <a:latin typeface="Times New Roman" panose="02020603050405020304" pitchFamily="18" charset="0"/>
              </a:rPr>
              <a:t>（</a:t>
            </a:r>
            <a:r>
              <a:rPr lang="en-US" altLang="zh-CN" sz="2400" dirty="0">
                <a:solidFill>
                  <a:srgbClr val="FF0000"/>
                </a:solidFill>
                <a:latin typeface="Times New Roman" panose="02020603050405020304" pitchFamily="18" charset="0"/>
              </a:rPr>
              <a:t>P98</a:t>
            </a:r>
            <a:r>
              <a:rPr lang="zh-CN" altLang="en-US" sz="2400" dirty="0">
                <a:solidFill>
                  <a:srgbClr val="FF0000"/>
                </a:solidFill>
                <a:latin typeface="Times New Roman" panose="02020603050405020304" pitchFamily="18" charset="0"/>
              </a:rPr>
              <a:t>）</a:t>
            </a:r>
            <a:r>
              <a:rPr lang="zh-CN" altLang="en-US" sz="2400" dirty="0">
                <a:solidFill>
                  <a:srgbClr val="000099"/>
                </a:solidFill>
                <a:latin typeface="Times New Roman" panose="02020603050405020304" pitchFamily="18" charset="0"/>
              </a:rPr>
              <a:t>。</a:t>
            </a:r>
            <a:endParaRPr lang="zh-CN" altLang="en-US" sz="2400" dirty="0">
              <a:solidFill>
                <a:srgbClr val="000099"/>
              </a:solidFill>
              <a:latin typeface="Times New Roman" panose="02020603050405020304" pitchFamily="18" charset="0"/>
            </a:endParaRPr>
          </a:p>
        </p:txBody>
      </p:sp>
      <p:sp>
        <p:nvSpPr>
          <p:cNvPr id="5137" name="Text Box 64"/>
          <p:cNvSpPr txBox="1">
            <a:spLocks noChangeArrowheads="1"/>
          </p:cNvSpPr>
          <p:nvPr/>
        </p:nvSpPr>
        <p:spPr bwMode="auto">
          <a:xfrm>
            <a:off x="6859588" y="6538913"/>
            <a:ext cx="27146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5138"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076" name="Rectangle 4"/>
          <p:cNvSpPr>
            <a:spLocks noChangeArrowheads="1"/>
          </p:cNvSpPr>
          <p:nvPr/>
        </p:nvSpPr>
        <p:spPr bwMode="auto">
          <a:xfrm>
            <a:off x="3313430" y="215900"/>
            <a:ext cx="52209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-4 </a:t>
            </a:r>
            <a:r>
              <a:rPr lang="zh-CN" altLang="en-US" sz="3000" dirty="0">
                <a:solidFill>
                  <a:srgbClr val="CC3300"/>
                </a:solidFill>
                <a:latin typeface="黑体" panose="02010609060101010101" pitchFamily="49" charset="-122"/>
                <a:ea typeface="黑体" panose="02010609060101010101" pitchFamily="49" charset="-122"/>
              </a:rPr>
              <a:t>螺纹连接的强度计算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5" name="文本框 4"/>
          <p:cNvSpPr txBox="1"/>
          <p:nvPr/>
        </p:nvSpPr>
        <p:spPr>
          <a:xfrm>
            <a:off x="812165" y="3235325"/>
            <a:ext cx="7922895" cy="977265"/>
          </a:xfrm>
          <a:prstGeom prst="rect">
            <a:avLst/>
          </a:prstGeom>
          <a:noFill/>
        </p:spPr>
        <p:txBody>
          <a:bodyPr wrap="square" rtlCol="0">
            <a:spAutoFit/>
          </a:bodyPr>
          <a:p>
            <a:pPr eaLnBrk="1" latinLnBrk="0" hangingPunct="1">
              <a:lnSpc>
                <a:spcPct val="120000"/>
              </a:lnSpc>
            </a:pPr>
            <a:r>
              <a:rPr lang="zh-CN" altLang="en-US" sz="2400"/>
              <a:t>求出螺栓的工作拉力</a:t>
            </a:r>
            <a:r>
              <a:rPr lang="en-US" altLang="zh-CN" sz="2400"/>
              <a:t>F</a:t>
            </a:r>
            <a:r>
              <a:rPr lang="zh-CN" altLang="en-US" sz="2400"/>
              <a:t>，再根据工作要求选择</a:t>
            </a:r>
            <a:r>
              <a:rPr lang="en-US" altLang="zh-CN" sz="2400"/>
              <a:t>F</a:t>
            </a:r>
            <a:r>
              <a:rPr lang="en-US" altLang="zh-CN" sz="2400" baseline="-25000"/>
              <a:t>1</a:t>
            </a:r>
            <a:r>
              <a:rPr lang="zh-CN" altLang="en-US" sz="2400"/>
              <a:t>，按上式求</a:t>
            </a:r>
            <a:r>
              <a:rPr lang="en-US" altLang="zh-CN" sz="2400"/>
              <a:t>F</a:t>
            </a:r>
            <a:r>
              <a:rPr lang="en-US" altLang="zh-CN" sz="2400" baseline="-25000"/>
              <a:t>2</a:t>
            </a:r>
            <a:r>
              <a:rPr lang="zh-CN" altLang="en-US" sz="2400"/>
              <a:t>，螺栓危险截面的强度校核公式为：</a:t>
            </a:r>
            <a:endParaRPr lang="zh-CN" altLang="en-US" sz="2400"/>
          </a:p>
        </p:txBody>
      </p:sp>
      <p:graphicFrame>
        <p:nvGraphicFramePr>
          <p:cNvPr id="6" name="Object 18"/>
          <p:cNvGraphicFramePr>
            <a:graphicFrameLocks noChangeAspect="1"/>
          </p:cNvGraphicFramePr>
          <p:nvPr/>
        </p:nvGraphicFramePr>
        <p:xfrm>
          <a:off x="2822575" y="5388610"/>
          <a:ext cx="2447925" cy="1146810"/>
        </p:xfrm>
        <a:graphic>
          <a:graphicData uri="http://schemas.openxmlformats.org/presentationml/2006/ole">
            <mc:AlternateContent xmlns:mc="http://schemas.openxmlformats.org/markup-compatibility/2006">
              <mc:Choice xmlns:v="urn:schemas-microsoft-com:vml" Requires="v">
                <p:oleObj spid="_x0000_s7" name="公式" r:id="rId5" imgW="990600" imgH="469900" progId="Equation.3">
                  <p:embed/>
                </p:oleObj>
              </mc:Choice>
              <mc:Fallback>
                <p:oleObj name="公式" r:id="rId5" imgW="990600" imgH="469900" progId="Equation.3">
                  <p:embed/>
                  <p:pic>
                    <p:nvPicPr>
                      <p:cNvPr id="0" name="Object 18"/>
                      <p:cNvPicPr>
                        <a:picLocks noChangeAspect="1" noChangeArrowheads="1"/>
                      </p:cNvPicPr>
                      <p:nvPr/>
                    </p:nvPicPr>
                    <p:blipFill>
                      <a:blip r:embed="rId6"/>
                      <a:srcRect/>
                      <a:stretch>
                        <a:fillRect/>
                      </a:stretch>
                    </p:blipFill>
                    <p:spPr bwMode="auto">
                      <a:xfrm>
                        <a:off x="2822575" y="5388610"/>
                        <a:ext cx="2447925" cy="1146810"/>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61"/>
                                        </p:tgtEl>
                                        <p:attrNameLst>
                                          <p:attrName>style.visibility</p:attrName>
                                        </p:attrNameLst>
                                      </p:cBhvr>
                                      <p:to>
                                        <p:strVal val="visible"/>
                                      </p:to>
                                    </p:set>
                                    <p:animEffect transition="in" filter="wipe(left)">
                                      <p:cBhvr>
                                        <p:cTn id="7" dur="500"/>
                                        <p:tgtEl>
                                          <p:spTgt spid="235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569"/>
                                        </p:tgtEl>
                                        <p:attrNameLst>
                                          <p:attrName>style.visibility</p:attrName>
                                        </p:attrNameLst>
                                      </p:cBhvr>
                                      <p:to>
                                        <p:strVal val="visible"/>
                                      </p:to>
                                    </p:set>
                                    <p:animEffect transition="in" filter="wipe(left)">
                                      <p:cBhvr>
                                        <p:cTn id="12" dur="500"/>
                                        <p:tgtEl>
                                          <p:spTgt spid="235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588"/>
                                        </p:tgtEl>
                                        <p:attrNameLst>
                                          <p:attrName>style.visibility</p:attrName>
                                        </p:attrNameLst>
                                      </p:cBhvr>
                                      <p:to>
                                        <p:strVal val="visible"/>
                                      </p:to>
                                    </p:set>
                                    <p:animEffect transition="in" filter="wipe(left)">
                                      <p:cBhvr>
                                        <p:cTn id="17" dur="500"/>
                                        <p:tgtEl>
                                          <p:spTgt spid="235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23570"/>
                                        </p:tgtEl>
                                        <p:attrNameLst>
                                          <p:attrName>style.visibility</p:attrName>
                                        </p:attrNameLst>
                                      </p:cBhvr>
                                      <p:to>
                                        <p:strVal val="visible"/>
                                      </p:to>
                                    </p:set>
                                    <p:animEffect transition="in" filter="slide(fromBottom)">
                                      <p:cBhvr>
                                        <p:cTn id="27" dur="500"/>
                                        <p:tgtEl>
                                          <p:spTgt spid="2357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slide(fromBottom)">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1" grpId="0" autoUpdateAnimBg="0"/>
      <p:bldP spid="23588" grpId="0" autoUpdateAnimBg="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4953000" y="838200"/>
            <a:ext cx="2438400" cy="228600"/>
          </a:xfrm>
          <a:noFill/>
          <a:ln>
            <a:noFill/>
          </a:ln>
        </p:spPr>
        <p:txBody>
          <a:bodyPr/>
          <a:p>
            <a:pPr eaLnBrk="1" hangingPunct="1"/>
            <a:r>
              <a:rPr lang="zh-CN" altLang="en-US" sz="900" dirty="0">
                <a:solidFill>
                  <a:schemeClr val="bg1"/>
                </a:solidFill>
              </a:rPr>
              <a:t>螺纹连接的强度计算</a:t>
            </a:r>
            <a:r>
              <a:rPr lang="en-US" altLang="zh-CN" sz="900" dirty="0">
                <a:solidFill>
                  <a:schemeClr val="bg1"/>
                </a:solidFill>
              </a:rPr>
              <a:t>3</a:t>
            </a:r>
            <a:endParaRPr lang="en-US" altLang="zh-CN" sz="900" dirty="0">
              <a:solidFill>
                <a:schemeClr val="bg1"/>
              </a:solidFill>
            </a:endParaRPr>
          </a:p>
        </p:txBody>
      </p:sp>
      <p:pic>
        <p:nvPicPr>
          <p:cNvPr id="23611" name="Picture 59" descr="back1">
            <a:hlinkClick r:id="rId1" action="ppaction://hlinksldjump"/>
          </p:cNvPr>
          <p:cNvPicPr>
            <a:picLocks noChangeAspect="1"/>
          </p:cNvPicPr>
          <p:nvPr/>
        </p:nvPicPr>
        <p:blipFill>
          <a:blip r:embed="rId2"/>
          <a:stretch>
            <a:fillRect/>
          </a:stretch>
        </p:blipFill>
        <p:spPr>
          <a:xfrm>
            <a:off x="8675688" y="6519863"/>
            <a:ext cx="287337" cy="287337"/>
          </a:xfrm>
          <a:prstGeom prst="rect">
            <a:avLst/>
          </a:prstGeom>
          <a:noFill/>
          <a:ln w="9525">
            <a:noFill/>
          </a:ln>
        </p:spPr>
      </p:pic>
      <p:pic>
        <p:nvPicPr>
          <p:cNvPr id="21509" name="图片 15"/>
          <p:cNvPicPr>
            <a:picLocks noChangeAspect="1"/>
          </p:cNvPicPr>
          <p:nvPr/>
        </p:nvPicPr>
        <p:blipFill>
          <a:blip r:embed="rId3"/>
          <a:stretch>
            <a:fillRect/>
          </a:stretch>
        </p:blipFill>
        <p:spPr>
          <a:xfrm>
            <a:off x="344488" y="764858"/>
            <a:ext cx="8331200" cy="5497512"/>
          </a:xfrm>
          <a:prstGeom prst="rect">
            <a:avLst/>
          </a:prstGeom>
          <a:noFill/>
          <a:ln w="9525">
            <a:noFill/>
          </a:ln>
        </p:spPr>
      </p:pic>
      <p:sp>
        <p:nvSpPr>
          <p:cNvPr id="5138"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076" name="Rectangle 4"/>
          <p:cNvSpPr>
            <a:spLocks noChangeArrowheads="1"/>
          </p:cNvSpPr>
          <p:nvPr/>
        </p:nvSpPr>
        <p:spPr bwMode="auto">
          <a:xfrm>
            <a:off x="3313430" y="215900"/>
            <a:ext cx="52209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-4 </a:t>
            </a:r>
            <a:r>
              <a:rPr lang="zh-CN" altLang="en-US" sz="3000" dirty="0">
                <a:solidFill>
                  <a:srgbClr val="CC3300"/>
                </a:solidFill>
                <a:latin typeface="黑体" panose="02010609060101010101" pitchFamily="49" charset="-122"/>
                <a:ea typeface="黑体" panose="02010609060101010101" pitchFamily="49" charset="-122"/>
              </a:rPr>
              <a:t>螺纹连接的强度计算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3611"/>
                                        </p:tgtEl>
                                        <p:attrNameLst>
                                          <p:attrName>style.visibility</p:attrName>
                                        </p:attrNameLst>
                                      </p:cBhvr>
                                      <p:to>
                                        <p:strVal val="visible"/>
                                      </p:to>
                                    </p:set>
                                    <p:anim calcmode="lin" valueType="num">
                                      <p:cBhvr additive="base">
                                        <p:cTn id="7" dur="500" fill="hold"/>
                                        <p:tgtEl>
                                          <p:spTgt spid="23611"/>
                                        </p:tgtEl>
                                        <p:attrNameLst>
                                          <p:attrName>ppt_x</p:attrName>
                                        </p:attrNameLst>
                                      </p:cBhvr>
                                      <p:tavLst>
                                        <p:tav tm="0">
                                          <p:val>
                                            <p:strVal val="0-#ppt_w/2"/>
                                          </p:val>
                                        </p:tav>
                                        <p:tav tm="100000">
                                          <p:val>
                                            <p:strVal val="#ppt_x"/>
                                          </p:val>
                                        </p:tav>
                                      </p:tavLst>
                                    </p:anim>
                                    <p:anim calcmode="lin" valueType="num">
                                      <p:cBhvr additive="base">
                                        <p:cTn id="8" dur="500" fill="hold"/>
                                        <p:tgtEl>
                                          <p:spTgt spid="236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bwMode="auto">
          <a:xfrm>
            <a:off x="4953000" y="838200"/>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螺纹连接的强度计算</a:t>
            </a:r>
            <a:r>
              <a:rPr lang="en-US" altLang="zh-CN" sz="800" smtClean="0">
                <a:solidFill>
                  <a:schemeClr val="bg1"/>
                </a:solidFill>
              </a:rPr>
              <a:t>4</a:t>
            </a:r>
            <a:endParaRPr lang="en-US" altLang="zh-CN" sz="800" smtClean="0">
              <a:solidFill>
                <a:schemeClr val="bg1"/>
              </a:solidFill>
            </a:endParaRPr>
          </a:p>
        </p:txBody>
      </p:sp>
      <p:sp>
        <p:nvSpPr>
          <p:cNvPr id="6150" name="Text Box 16">
            <a:hlinkClick r:id="rId1" action="ppaction://hlinksldjump"/>
          </p:cNvPr>
          <p:cNvSpPr txBox="1">
            <a:spLocks noChangeArrowheads="1"/>
          </p:cNvSpPr>
          <p:nvPr/>
        </p:nvSpPr>
        <p:spPr bwMode="auto">
          <a:xfrm>
            <a:off x="238050" y="974141"/>
            <a:ext cx="429768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ctr" eaLnBrk="1" hangingPunct="1">
              <a:lnSpc>
                <a:spcPct val="70000"/>
              </a:lnSpc>
            </a:pPr>
            <a:r>
              <a:rPr lang="en-US" altLang="zh-CN" sz="2400" dirty="0">
                <a:solidFill>
                  <a:srgbClr val="FF0000"/>
                </a:solidFill>
                <a:latin typeface="黑体" panose="02010609060101010101" pitchFamily="49" charset="-122"/>
                <a:ea typeface="黑体" panose="02010609060101010101" pitchFamily="49" charset="-122"/>
                <a:cs typeface="黑体" panose="02010609060101010101" pitchFamily="49" charset="-122"/>
              </a:rPr>
              <a:t>3</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．承受工作剪力的紧螺栓连接</a:t>
            </a:r>
            <a:endPar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6151" name="Rectangle 18"/>
          <p:cNvSpPr>
            <a:spLocks noChangeArrowheads="1"/>
          </p:cNvSpPr>
          <p:nvPr/>
        </p:nvSpPr>
        <p:spPr bwMode="auto">
          <a:xfrm>
            <a:off x="322045" y="1323374"/>
            <a:ext cx="86868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这种连接是利用铰制孔用螺栓抗剪切来承受载荷的。螺栓杆与孔壁之间无间隙，接触表面受挤压。在连接结合面处，螺栓杆则受剪切。</a:t>
            </a:r>
            <a:endParaRPr lang="zh-CN" altLang="en-US" sz="2000" dirty="0">
              <a:solidFill>
                <a:srgbClr val="000099"/>
              </a:solidFill>
              <a:latin typeface="华文中宋" panose="02010600040101010101" pitchFamily="2" charset="-122"/>
            </a:endParaRPr>
          </a:p>
        </p:txBody>
      </p:sp>
      <p:sp>
        <p:nvSpPr>
          <p:cNvPr id="26645" name="Rectangle 21"/>
          <p:cNvSpPr>
            <a:spLocks noChangeArrowheads="1"/>
          </p:cNvSpPr>
          <p:nvPr/>
        </p:nvSpPr>
        <p:spPr bwMode="auto">
          <a:xfrm>
            <a:off x="725288" y="2131528"/>
            <a:ext cx="465772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华文中宋" panose="02010600040101010101" pitchFamily="2" charset="-122"/>
              </a:rPr>
              <a:t>螺栓杆与孔壁的挤压强度条件为：</a:t>
            </a:r>
            <a:endParaRPr lang="zh-CN" altLang="en-US" sz="2000" dirty="0">
              <a:solidFill>
                <a:srgbClr val="000099"/>
              </a:solidFill>
              <a:latin typeface="华文中宋" panose="02010600040101010101" pitchFamily="2" charset="-122"/>
            </a:endParaRPr>
          </a:p>
        </p:txBody>
      </p:sp>
      <p:sp>
        <p:nvSpPr>
          <p:cNvPr id="26653" name="Rectangle 29"/>
          <p:cNvSpPr>
            <a:spLocks noChangeArrowheads="1"/>
          </p:cNvSpPr>
          <p:nvPr/>
        </p:nvSpPr>
        <p:spPr bwMode="auto">
          <a:xfrm>
            <a:off x="774700" y="3333467"/>
            <a:ext cx="455612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华文中宋" panose="02010600040101010101" pitchFamily="2" charset="-122"/>
              </a:rPr>
              <a:t>螺栓杆的剪切强度条件为：</a:t>
            </a:r>
            <a:endParaRPr lang="zh-CN" altLang="en-US" sz="2000" dirty="0">
              <a:solidFill>
                <a:srgbClr val="000099"/>
              </a:solidFill>
              <a:latin typeface="华文中宋" panose="02010600040101010101" pitchFamily="2" charset="-122"/>
            </a:endParaRPr>
          </a:p>
        </p:txBody>
      </p:sp>
      <p:sp>
        <p:nvSpPr>
          <p:cNvPr id="26656" name="Rectangle 32"/>
          <p:cNvSpPr>
            <a:spLocks noChangeArrowheads="1"/>
          </p:cNvSpPr>
          <p:nvPr/>
        </p:nvSpPr>
        <p:spPr bwMode="auto">
          <a:xfrm>
            <a:off x="446890" y="4866506"/>
            <a:ext cx="8885237"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式中：</a:t>
            </a:r>
            <a:r>
              <a:rPr lang="en-US" altLang="zh-CN" sz="2000" i="1" dirty="0">
                <a:solidFill>
                  <a:srgbClr val="000099"/>
                </a:solidFill>
                <a:latin typeface="Times New Roman" panose="02020603050405020304" pitchFamily="18" charset="0"/>
              </a:rPr>
              <a:t>F</a:t>
            </a:r>
            <a:r>
              <a:rPr lang="zh-CN" altLang="en-US" sz="2000" dirty="0">
                <a:solidFill>
                  <a:srgbClr val="000099"/>
                </a:solidFill>
                <a:latin typeface="Times New Roman" panose="02020603050405020304" pitchFamily="18" charset="0"/>
              </a:rPr>
              <a:t>－螺栓所受的工作剪力，单位为</a:t>
            </a:r>
            <a:r>
              <a:rPr lang="en-US" altLang="zh-CN" sz="2000" dirty="0">
                <a:solidFill>
                  <a:srgbClr val="000099"/>
                </a:solidFill>
                <a:latin typeface="Times New Roman" panose="02020603050405020304" pitchFamily="18" charset="0"/>
              </a:rPr>
              <a:t>N</a:t>
            </a:r>
            <a:r>
              <a:rPr lang="zh-CN" altLang="en-US" sz="2000" dirty="0">
                <a:solidFill>
                  <a:srgbClr val="000099"/>
                </a:solidFill>
                <a:latin typeface="Times New Roman" panose="02020603050405020304" pitchFamily="18" charset="0"/>
              </a:rPr>
              <a:t>；</a:t>
            </a:r>
            <a:br>
              <a:rPr lang="zh-CN" altLang="en-US" sz="2000" dirty="0">
                <a:solidFill>
                  <a:srgbClr val="000099"/>
                </a:solidFill>
                <a:latin typeface="Times New Roman" panose="02020603050405020304" pitchFamily="18" charset="0"/>
              </a:rPr>
            </a:br>
            <a:r>
              <a:rPr lang="zh-CN" altLang="en-US" sz="2000" dirty="0">
                <a:solidFill>
                  <a:srgbClr val="000099"/>
                </a:solidFill>
                <a:latin typeface="Times New Roman" panose="02020603050405020304" pitchFamily="18" charset="0"/>
              </a:rPr>
              <a:t>　　　</a:t>
            </a:r>
            <a:r>
              <a:rPr lang="en-US" altLang="zh-CN" sz="2000" i="1" dirty="0">
                <a:solidFill>
                  <a:srgbClr val="000099"/>
                </a:solidFill>
                <a:latin typeface="Times New Roman" panose="02020603050405020304" pitchFamily="18" charset="0"/>
              </a:rPr>
              <a:t>d</a:t>
            </a:r>
            <a:r>
              <a:rPr lang="en-US" altLang="zh-CN" sz="2000" baseline="-25000" dirty="0">
                <a:solidFill>
                  <a:srgbClr val="000099"/>
                </a:solidFill>
                <a:latin typeface="Times New Roman" panose="02020603050405020304" pitchFamily="18" charset="0"/>
              </a:rPr>
              <a:t>0</a:t>
            </a:r>
            <a:r>
              <a:rPr lang="zh-CN" altLang="en-US" sz="2000" dirty="0">
                <a:solidFill>
                  <a:srgbClr val="000099"/>
                </a:solidFill>
                <a:latin typeface="Times New Roman" panose="02020603050405020304" pitchFamily="18" charset="0"/>
              </a:rPr>
              <a:t>－螺栓剪切面的直径（可取螺栓孔直径），单位为</a:t>
            </a:r>
            <a:r>
              <a:rPr lang="en-US" altLang="zh-CN" sz="2000" dirty="0">
                <a:solidFill>
                  <a:srgbClr val="000099"/>
                </a:solidFill>
                <a:latin typeface="Times New Roman" panose="02020603050405020304" pitchFamily="18" charset="0"/>
              </a:rPr>
              <a:t>mm</a:t>
            </a:r>
            <a:r>
              <a:rPr lang="zh-CN" altLang="en-US" sz="2000" dirty="0">
                <a:solidFill>
                  <a:srgbClr val="000099"/>
                </a:solidFill>
                <a:latin typeface="Times New Roman" panose="02020603050405020304" pitchFamily="18" charset="0"/>
              </a:rPr>
              <a:t>；</a:t>
            </a:r>
            <a:br>
              <a:rPr lang="zh-CN" altLang="en-US" sz="2000" dirty="0">
                <a:solidFill>
                  <a:srgbClr val="000099"/>
                </a:solidFill>
                <a:latin typeface="Times New Roman" panose="02020603050405020304" pitchFamily="18" charset="0"/>
              </a:rPr>
            </a:br>
            <a:r>
              <a:rPr lang="zh-CN" altLang="en-US" sz="2000" dirty="0">
                <a:solidFill>
                  <a:srgbClr val="000099"/>
                </a:solidFill>
                <a:latin typeface="Times New Roman" panose="02020603050405020304" pitchFamily="18" charset="0"/>
              </a:rPr>
              <a:t>　　　</a:t>
            </a:r>
            <a:r>
              <a:rPr lang="en-US" altLang="zh-CN" sz="2000" i="1" dirty="0" err="1">
                <a:solidFill>
                  <a:srgbClr val="000099"/>
                </a:solidFill>
                <a:latin typeface="Times New Roman" panose="02020603050405020304" pitchFamily="18" charset="0"/>
              </a:rPr>
              <a:t>L</a:t>
            </a:r>
            <a:r>
              <a:rPr lang="en-US" altLang="zh-CN" sz="2000" baseline="-25000" dirty="0" err="1">
                <a:solidFill>
                  <a:srgbClr val="000099"/>
                </a:solidFill>
                <a:latin typeface="Times New Roman" panose="02020603050405020304" pitchFamily="18" charset="0"/>
              </a:rPr>
              <a:t>min</a:t>
            </a:r>
            <a:r>
              <a:rPr lang="zh-CN" altLang="en-US" sz="2000" dirty="0">
                <a:solidFill>
                  <a:srgbClr val="000099"/>
                </a:solidFill>
                <a:latin typeface="Times New Roman" panose="02020603050405020304" pitchFamily="18" charset="0"/>
              </a:rPr>
              <a:t>－螺栓杆与孔壁挤压面的最小高度，单位为</a:t>
            </a:r>
            <a:r>
              <a:rPr lang="en-US" altLang="zh-CN" sz="2000" dirty="0">
                <a:solidFill>
                  <a:srgbClr val="000099"/>
                </a:solidFill>
                <a:latin typeface="Times New Roman" panose="02020603050405020304" pitchFamily="18" charset="0"/>
              </a:rPr>
              <a:t>mm</a:t>
            </a:r>
            <a:r>
              <a:rPr lang="zh-CN" altLang="en-US" sz="2000" dirty="0">
                <a:solidFill>
                  <a:srgbClr val="000099"/>
                </a:solidFill>
                <a:latin typeface="Times New Roman" panose="02020603050405020304" pitchFamily="18" charset="0"/>
              </a:rPr>
              <a:t>；设计时</a:t>
            </a:r>
            <a:br>
              <a:rPr lang="zh-CN" altLang="en-US" sz="2000" dirty="0">
                <a:solidFill>
                  <a:srgbClr val="000099"/>
                </a:solidFill>
                <a:latin typeface="Times New Roman" panose="02020603050405020304" pitchFamily="18" charset="0"/>
              </a:rPr>
            </a:br>
            <a:r>
              <a:rPr lang="zh-CN" altLang="en-US" sz="2000" dirty="0">
                <a:solidFill>
                  <a:srgbClr val="000099"/>
                </a:solidFill>
                <a:latin typeface="Times New Roman" panose="02020603050405020304" pitchFamily="18" charset="0"/>
              </a:rPr>
              <a:t>　　　　　　应使</a:t>
            </a:r>
            <a:r>
              <a:rPr lang="en-US" altLang="zh-CN" sz="2000" i="1" dirty="0">
                <a:solidFill>
                  <a:srgbClr val="000099"/>
                </a:solidFill>
                <a:latin typeface="Times New Roman" panose="02020603050405020304" pitchFamily="18" charset="0"/>
              </a:rPr>
              <a:t>L</a:t>
            </a:r>
            <a:r>
              <a:rPr lang="en-US" altLang="zh-CN" sz="2000" baseline="-25000" dirty="0">
                <a:solidFill>
                  <a:srgbClr val="000099"/>
                </a:solidFill>
                <a:latin typeface="Times New Roman" panose="02020603050405020304" pitchFamily="18" charset="0"/>
              </a:rPr>
              <a:t>min</a:t>
            </a:r>
            <a:r>
              <a:rPr lang="en-US" altLang="zh-CN" sz="2000" dirty="0">
                <a:solidFill>
                  <a:srgbClr val="000099"/>
                </a:solidFill>
                <a:latin typeface="Times New Roman" panose="02020603050405020304" pitchFamily="18" charset="0"/>
              </a:rPr>
              <a:t>≥1.25</a:t>
            </a:r>
            <a:r>
              <a:rPr lang="en-US" altLang="zh-CN" sz="2000" i="1" dirty="0">
                <a:solidFill>
                  <a:srgbClr val="000099"/>
                </a:solidFill>
                <a:latin typeface="Times New Roman" panose="02020603050405020304" pitchFamily="18" charset="0"/>
              </a:rPr>
              <a:t>d</a:t>
            </a:r>
            <a:r>
              <a:rPr lang="en-US" altLang="zh-CN" sz="2000" baseline="-25000" dirty="0">
                <a:solidFill>
                  <a:srgbClr val="000099"/>
                </a:solidFill>
                <a:latin typeface="Times New Roman" panose="02020603050405020304" pitchFamily="18" charset="0"/>
              </a:rPr>
              <a:t>0</a:t>
            </a:r>
            <a:endParaRPr lang="en-US" altLang="zh-CN" sz="2000" baseline="-25000" dirty="0">
              <a:solidFill>
                <a:srgbClr val="000099"/>
              </a:solidFill>
              <a:latin typeface="Times New Roman" panose="02020603050405020304" pitchFamily="18" charset="0"/>
            </a:endParaRPr>
          </a:p>
        </p:txBody>
      </p:sp>
      <p:graphicFrame>
        <p:nvGraphicFramePr>
          <p:cNvPr id="26659" name="Object 35"/>
          <p:cNvGraphicFramePr>
            <a:graphicFrameLocks noChangeAspect="1"/>
          </p:cNvGraphicFramePr>
          <p:nvPr/>
        </p:nvGraphicFramePr>
        <p:xfrm>
          <a:off x="1906789" y="2555090"/>
          <a:ext cx="1976437" cy="722312"/>
        </p:xfrm>
        <a:graphic>
          <a:graphicData uri="http://schemas.openxmlformats.org/presentationml/2006/ole">
            <mc:AlternateContent xmlns:mc="http://schemas.openxmlformats.org/markup-compatibility/2006">
              <mc:Choice xmlns:v="urn:schemas-microsoft-com:vml" Requires="v">
                <p:oleObj spid="_x0000_s6243" name="Equation" r:id="rId2" imgW="1064895" imgH="393700" progId="Equation.3">
                  <p:embed/>
                </p:oleObj>
              </mc:Choice>
              <mc:Fallback>
                <p:oleObj name="Equation" r:id="rId2" imgW="1064895" imgH="393700" progId="Equation.3">
                  <p:embed/>
                  <p:pic>
                    <p:nvPicPr>
                      <p:cNvPr id="0" name="Object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6789" y="2555090"/>
                        <a:ext cx="1976437" cy="722312"/>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graphicFrame>
        <p:nvGraphicFramePr>
          <p:cNvPr id="26660" name="Object 36"/>
          <p:cNvGraphicFramePr>
            <a:graphicFrameLocks noChangeAspect="1"/>
          </p:cNvGraphicFramePr>
          <p:nvPr/>
        </p:nvGraphicFramePr>
        <p:xfrm>
          <a:off x="1935464" y="3860432"/>
          <a:ext cx="1612900" cy="1009650"/>
        </p:xfrm>
        <a:graphic>
          <a:graphicData uri="http://schemas.openxmlformats.org/presentationml/2006/ole">
            <mc:AlternateContent xmlns:mc="http://schemas.openxmlformats.org/markup-compatibility/2006">
              <mc:Choice xmlns:v="urn:schemas-microsoft-com:vml" Requires="v">
                <p:oleObj spid="_x0000_s6244" name="Equation" r:id="rId4" imgW="821690" imgH="520700" progId="Equation.3">
                  <p:embed/>
                </p:oleObj>
              </mc:Choice>
              <mc:Fallback>
                <p:oleObj name="Equation" r:id="rId4" imgW="821690" imgH="520700" progId="Equation.3">
                  <p:embed/>
                  <p:pic>
                    <p:nvPicPr>
                      <p:cNvPr id="0" name="Object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5464" y="3860432"/>
                        <a:ext cx="1612900" cy="1009650"/>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6155" name="Text Box 44"/>
          <p:cNvSpPr txBox="1">
            <a:spLocks noChangeArrowheads="1"/>
          </p:cNvSpPr>
          <p:nvPr/>
        </p:nvSpPr>
        <p:spPr bwMode="auto">
          <a:xfrm>
            <a:off x="6540500" y="6124575"/>
            <a:ext cx="27146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6157" name="Picture 4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213651" y="2241968"/>
            <a:ext cx="3565525"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5" name="TextBox 14"/>
          <p:cNvSpPr txBox="1">
            <a:spLocks noChangeArrowheads="1"/>
          </p:cNvSpPr>
          <p:nvPr/>
        </p:nvSpPr>
        <p:spPr bwMode="auto">
          <a:xfrm>
            <a:off x="7772400" y="6211888"/>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7" action="ppaction://hlinksldjump"/>
              </a:rPr>
              <a:t>返回</a:t>
            </a:r>
            <a:endParaRPr lang="zh-CN" altLang="en-US">
              <a:solidFill>
                <a:srgbClr val="000099"/>
              </a:solidFill>
            </a:endParaRPr>
          </a:p>
        </p:txBody>
      </p:sp>
      <p:sp>
        <p:nvSpPr>
          <p:cNvPr id="3076" name="Rectangle 4"/>
          <p:cNvSpPr>
            <a:spLocks noChangeArrowheads="1"/>
          </p:cNvSpPr>
          <p:nvPr/>
        </p:nvSpPr>
        <p:spPr bwMode="auto">
          <a:xfrm>
            <a:off x="3313430" y="215900"/>
            <a:ext cx="52209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-4 </a:t>
            </a:r>
            <a:r>
              <a:rPr lang="zh-CN" altLang="en-US" sz="3000" dirty="0">
                <a:solidFill>
                  <a:srgbClr val="CC3300"/>
                </a:solidFill>
                <a:latin typeface="黑体" panose="02010609060101010101" pitchFamily="49" charset="-122"/>
                <a:ea typeface="黑体" panose="02010609060101010101" pitchFamily="49" charset="-122"/>
              </a:rPr>
              <a:t>螺纹连接的强度计算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51"/>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615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645"/>
                                        </p:tgtEl>
                                        <p:attrNameLst>
                                          <p:attrName>style.visibility</p:attrName>
                                        </p:attrNameLst>
                                      </p:cBhvr>
                                      <p:to>
                                        <p:strVal val="visible"/>
                                      </p:to>
                                    </p:set>
                                    <p:animEffect transition="in" filter="wipe(left)">
                                      <p:cBhvr>
                                        <p:cTn id="18" dur="500"/>
                                        <p:tgtEl>
                                          <p:spTgt spid="26645"/>
                                        </p:tgtEl>
                                      </p:cBhvr>
                                    </p:animEffect>
                                  </p:childTnLst>
                                </p:cTn>
                              </p:par>
                            </p:childTnLst>
                          </p:cTn>
                        </p:par>
                        <p:par>
                          <p:cTn id="19" fill="hold">
                            <p:stCondLst>
                              <p:cond delay="500"/>
                            </p:stCondLst>
                            <p:childTnLst>
                              <p:par>
                                <p:cTn id="20" presetID="12" presetClass="entr" presetSubtype="4" fill="hold" nodeType="afterEffect">
                                  <p:stCondLst>
                                    <p:cond delay="0"/>
                                  </p:stCondLst>
                                  <p:childTnLst>
                                    <p:set>
                                      <p:cBhvr>
                                        <p:cTn id="21" dur="1" fill="hold">
                                          <p:stCondLst>
                                            <p:cond delay="0"/>
                                          </p:stCondLst>
                                        </p:cTn>
                                        <p:tgtEl>
                                          <p:spTgt spid="26659"/>
                                        </p:tgtEl>
                                        <p:attrNameLst>
                                          <p:attrName>style.visibility</p:attrName>
                                        </p:attrNameLst>
                                      </p:cBhvr>
                                      <p:to>
                                        <p:strVal val="visible"/>
                                      </p:to>
                                    </p:set>
                                    <p:animEffect transition="in" filter="slide(fromBottom)">
                                      <p:cBhvr>
                                        <p:cTn id="22" dur="500"/>
                                        <p:tgtEl>
                                          <p:spTgt spid="266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653"/>
                                        </p:tgtEl>
                                        <p:attrNameLst>
                                          <p:attrName>style.visibility</p:attrName>
                                        </p:attrNameLst>
                                      </p:cBhvr>
                                      <p:to>
                                        <p:strVal val="visible"/>
                                      </p:to>
                                    </p:set>
                                    <p:animEffect transition="in" filter="wipe(left)">
                                      <p:cBhvr>
                                        <p:cTn id="27" dur="500"/>
                                        <p:tgtEl>
                                          <p:spTgt spid="26653"/>
                                        </p:tgtEl>
                                      </p:cBhvr>
                                    </p:animEffect>
                                  </p:childTnLst>
                                </p:cTn>
                              </p:par>
                            </p:childTnLst>
                          </p:cTn>
                        </p:par>
                        <p:par>
                          <p:cTn id="28" fill="hold">
                            <p:stCondLst>
                              <p:cond delay="500"/>
                            </p:stCondLst>
                            <p:childTnLst>
                              <p:par>
                                <p:cTn id="29" presetID="12" presetClass="entr" presetSubtype="4" fill="hold" nodeType="afterEffect">
                                  <p:stCondLst>
                                    <p:cond delay="0"/>
                                  </p:stCondLst>
                                  <p:childTnLst>
                                    <p:set>
                                      <p:cBhvr>
                                        <p:cTn id="30" dur="1" fill="hold">
                                          <p:stCondLst>
                                            <p:cond delay="0"/>
                                          </p:stCondLst>
                                        </p:cTn>
                                        <p:tgtEl>
                                          <p:spTgt spid="26660"/>
                                        </p:tgtEl>
                                        <p:attrNameLst>
                                          <p:attrName>style.visibility</p:attrName>
                                        </p:attrNameLst>
                                      </p:cBhvr>
                                      <p:to>
                                        <p:strVal val="visible"/>
                                      </p:to>
                                    </p:set>
                                    <p:animEffect transition="in" filter="slide(fromBottom)">
                                      <p:cBhvr>
                                        <p:cTn id="31" dur="500"/>
                                        <p:tgtEl>
                                          <p:spTgt spid="2666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26656"/>
                                        </p:tgtEl>
                                        <p:attrNameLst>
                                          <p:attrName>style.visibility</p:attrName>
                                        </p:attrNameLst>
                                      </p:cBhvr>
                                      <p:to>
                                        <p:strVal val="visible"/>
                                      </p:to>
                                    </p:set>
                                    <p:animEffect transition="in" filter="wipe(up)">
                                      <p:cBhvr>
                                        <p:cTn id="36" dur="500"/>
                                        <p:tgtEl>
                                          <p:spTgt spid="26656"/>
                                        </p:tgtEl>
                                      </p:cBhvr>
                                    </p:animEffect>
                                  </p:childTnLst>
                                </p:cTn>
                              </p:par>
                            </p:childTnLst>
                          </p:cTn>
                        </p:par>
                        <p:par>
                          <p:cTn id="37" fill="hold">
                            <p:stCondLst>
                              <p:cond delay="500"/>
                            </p:stCondLst>
                            <p:childTnLst>
                              <p:par>
                                <p:cTn id="38" presetID="1"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p:bldP spid="6151" grpId="0"/>
      <p:bldP spid="26645" grpId="0" autoUpdateAnimBg="0"/>
      <p:bldP spid="26653" grpId="0" autoUpdateAnimBg="0"/>
      <p:bldP spid="26656" grpId="0" autoUpdateAnimBg="0" rev="1"/>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69" name="Text Box 37"/>
          <p:cNvSpPr txBox="1">
            <a:spLocks noChangeArrowheads="1"/>
          </p:cNvSpPr>
          <p:nvPr/>
        </p:nvSpPr>
        <p:spPr bwMode="auto">
          <a:xfrm>
            <a:off x="495300" y="1387475"/>
            <a:ext cx="8068945" cy="977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a:t>
            </a:r>
            <a:r>
              <a:rPr lang="zh-CN" altLang="en-US"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国家标准规定了螺纹连接件的性能等级。螺栓、螺柱、螺钉的性能等级分为</a:t>
            </a:r>
            <a:r>
              <a:rPr lang="en-US" altLang="zh-CN" sz="2400">
                <a:solidFill>
                  <a:srgbClr val="FF0000"/>
                </a:solidFill>
                <a:latin typeface="黑体" panose="02010609060101010101" pitchFamily="49" charset="-122"/>
                <a:ea typeface="黑体" panose="02010609060101010101" pitchFamily="49" charset="-122"/>
                <a:cs typeface="黑体" panose="02010609060101010101" pitchFamily="49" charset="-122"/>
              </a:rPr>
              <a:t>9</a:t>
            </a:r>
            <a:r>
              <a:rPr lang="zh-CN" altLang="en-US" sz="2400">
                <a:solidFill>
                  <a:srgbClr val="FF0000"/>
                </a:solidFill>
                <a:latin typeface="黑体" panose="02010609060101010101" pitchFamily="49" charset="-122"/>
                <a:ea typeface="黑体" panose="02010609060101010101" pitchFamily="49" charset="-122"/>
                <a:cs typeface="黑体" panose="02010609060101010101" pitchFamily="49" charset="-122"/>
              </a:rPr>
              <a:t>级</a:t>
            </a:r>
            <a:r>
              <a:rPr lang="zh-CN" altLang="en-US"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，螺母的性能等级分为 </a:t>
            </a:r>
            <a:r>
              <a:rPr lang="en-US" altLang="zh-CN" sz="2400">
                <a:solidFill>
                  <a:srgbClr val="FF0000"/>
                </a:solidFill>
                <a:latin typeface="黑体" panose="02010609060101010101" pitchFamily="49" charset="-122"/>
                <a:ea typeface="黑体" panose="02010609060101010101" pitchFamily="49" charset="-122"/>
                <a:cs typeface="黑体" panose="02010609060101010101" pitchFamily="49" charset="-122"/>
              </a:rPr>
              <a:t>7</a:t>
            </a:r>
            <a:r>
              <a:rPr lang="zh-CN" altLang="en-US" sz="2400">
                <a:solidFill>
                  <a:srgbClr val="FF0000"/>
                </a:solidFill>
                <a:latin typeface="黑体" panose="02010609060101010101" pitchFamily="49" charset="-122"/>
                <a:ea typeface="黑体" panose="02010609060101010101" pitchFamily="49" charset="-122"/>
                <a:cs typeface="黑体" panose="02010609060101010101" pitchFamily="49" charset="-122"/>
              </a:rPr>
              <a:t>级</a:t>
            </a:r>
            <a:r>
              <a:rPr lang="zh-CN" altLang="en-US" sz="2400">
                <a:solidFill>
                  <a:srgbClr val="000099"/>
                </a:solidFill>
                <a:latin typeface="黑体" panose="02010609060101010101" pitchFamily="49" charset="-122"/>
                <a:ea typeface="黑体" panose="02010609060101010101" pitchFamily="49" charset="-122"/>
                <a:cs typeface="黑体" panose="02010609060101010101" pitchFamily="49" charset="-122"/>
              </a:rPr>
              <a:t>。</a:t>
            </a:r>
            <a:endParaRPr lang="zh-CN" altLang="en-US" sz="240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13319" name="Rectangle 2"/>
          <p:cNvSpPr>
            <a:spLocks noGrp="1" noChangeArrowheads="1"/>
          </p:cNvSpPr>
          <p:nvPr>
            <p:ph type="title" idx="4294967295"/>
          </p:nvPr>
        </p:nvSpPr>
        <p:spPr bwMode="auto">
          <a:xfrm>
            <a:off x="6781800" y="762000"/>
            <a:ext cx="23622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螺纹连接件的材料与许用应力</a:t>
            </a:r>
            <a:endParaRPr lang="zh-CN" altLang="en-US" sz="800" smtClean="0">
              <a:solidFill>
                <a:schemeClr val="bg1"/>
              </a:solidFill>
            </a:endParaRPr>
          </a:p>
        </p:txBody>
      </p:sp>
      <p:sp>
        <p:nvSpPr>
          <p:cNvPr id="13320" name="Rectangle 4"/>
          <p:cNvSpPr>
            <a:spLocks noChangeArrowheads="1"/>
          </p:cNvSpPr>
          <p:nvPr/>
        </p:nvSpPr>
        <p:spPr bwMode="auto">
          <a:xfrm>
            <a:off x="1792605" y="228600"/>
            <a:ext cx="666559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§2.3-5 </a:t>
            </a:r>
            <a:r>
              <a:rPr lang="zh-CN" altLang="en-US" sz="3000">
                <a:solidFill>
                  <a:srgbClr val="CC3300"/>
                </a:solidFill>
                <a:latin typeface="黑体" panose="02010609060101010101" pitchFamily="49" charset="-122"/>
                <a:ea typeface="黑体" panose="02010609060101010101" pitchFamily="49" charset="-122"/>
              </a:rPr>
              <a:t>螺纹连接件的材料与许用应力</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18438" name="Rectangle 6"/>
          <p:cNvSpPr>
            <a:spLocks noChangeArrowheads="1"/>
          </p:cNvSpPr>
          <p:nvPr/>
        </p:nvSpPr>
        <p:spPr bwMode="auto">
          <a:xfrm>
            <a:off x="354330" y="958850"/>
            <a:ext cx="356933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400">
                <a:solidFill>
                  <a:srgbClr val="000099"/>
                </a:solidFill>
                <a:latin typeface="黑体" panose="02010609060101010101" pitchFamily="49" charset="-122"/>
                <a:ea typeface="黑体" panose="02010609060101010101" pitchFamily="49" charset="-122"/>
              </a:rPr>
              <a:t>一、螺纹连接件材料</a:t>
            </a:r>
            <a:endParaRPr lang="zh-CN" altLang="en-US" sz="2400">
              <a:solidFill>
                <a:srgbClr val="000099"/>
              </a:solidFill>
              <a:latin typeface="黑体" panose="02010609060101010101" pitchFamily="49" charset="-122"/>
              <a:ea typeface="黑体" panose="02010609060101010101" pitchFamily="49" charset="-122"/>
            </a:endParaRPr>
          </a:p>
        </p:txBody>
      </p:sp>
      <p:pic>
        <p:nvPicPr>
          <p:cNvPr id="18457" name="Picture 25"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82038" y="650875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3"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2772" name="矩形 15"/>
          <p:cNvSpPr>
            <a:spLocks noChangeArrowheads="1"/>
          </p:cNvSpPr>
          <p:nvPr/>
        </p:nvSpPr>
        <p:spPr bwMode="auto">
          <a:xfrm>
            <a:off x="354514" y="2437397"/>
            <a:ext cx="8434387" cy="2399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a:solidFill>
                  <a:srgbClr val="000099"/>
                </a:solidFill>
                <a:latin typeface="Times New Roman" panose="02020603050405020304" pitchFamily="18" charset="0"/>
              </a:rPr>
              <a:t>       </a:t>
            </a:r>
            <a:r>
              <a:rPr lang="zh-CN" altLang="en-US" sz="2400">
                <a:solidFill>
                  <a:srgbClr val="000099"/>
                </a:solidFill>
                <a:latin typeface="Times New Roman" panose="02020603050405020304" pitchFamily="18" charset="0"/>
              </a:rPr>
              <a:t> </a:t>
            </a:r>
            <a:r>
              <a:rPr lang="en-US" altLang="en-US" sz="2400">
                <a:solidFill>
                  <a:srgbClr val="C00000"/>
                </a:solidFill>
                <a:latin typeface="Times New Roman" panose="02020603050405020304" pitchFamily="18" charset="0"/>
              </a:rPr>
              <a:t>GB/T 3098.1-2010</a:t>
            </a:r>
            <a:r>
              <a:rPr lang="zh-CN" altLang="en-US" sz="2400">
                <a:solidFill>
                  <a:srgbClr val="C00000"/>
                </a:solidFill>
                <a:latin typeface="Times New Roman" panose="02020603050405020304" pitchFamily="18" charset="0"/>
              </a:rPr>
              <a:t>规定了螺纹连接件的性能等级。</a:t>
            </a:r>
            <a:r>
              <a:rPr lang="zh-CN" altLang="en-US" sz="2400">
                <a:solidFill>
                  <a:schemeClr val="accent5">
                    <a:lumMod val="10000"/>
                  </a:schemeClr>
                </a:solidFill>
                <a:latin typeface="Times New Roman" panose="02020603050405020304" pitchFamily="18" charset="0"/>
              </a:rPr>
              <a:t>螺栓、螺柱、螺钉的性能等级分为</a:t>
            </a:r>
            <a:r>
              <a:rPr lang="en-US" altLang="en-US" sz="2400">
                <a:solidFill>
                  <a:schemeClr val="accent5">
                    <a:lumMod val="10000"/>
                  </a:schemeClr>
                </a:solidFill>
                <a:latin typeface="Times New Roman" panose="02020603050405020304" pitchFamily="18" charset="0"/>
              </a:rPr>
              <a:t>4.6</a:t>
            </a:r>
            <a:r>
              <a:rPr lang="zh-CN" altLang="en-US" sz="2400">
                <a:solidFill>
                  <a:schemeClr val="accent5">
                    <a:lumMod val="10000"/>
                  </a:schemeClr>
                </a:solidFill>
                <a:latin typeface="Times New Roman" panose="02020603050405020304" pitchFamily="18" charset="0"/>
              </a:rPr>
              <a:t>、</a:t>
            </a:r>
            <a:r>
              <a:rPr lang="en-US" altLang="en-US" sz="2400">
                <a:solidFill>
                  <a:schemeClr val="accent5">
                    <a:lumMod val="10000"/>
                  </a:schemeClr>
                </a:solidFill>
                <a:latin typeface="Times New Roman" panose="02020603050405020304" pitchFamily="18" charset="0"/>
              </a:rPr>
              <a:t>4.8</a:t>
            </a:r>
            <a:r>
              <a:rPr lang="zh-CN" altLang="en-US" sz="2400">
                <a:solidFill>
                  <a:schemeClr val="accent5">
                    <a:lumMod val="10000"/>
                  </a:schemeClr>
                </a:solidFill>
                <a:latin typeface="Times New Roman" panose="02020603050405020304" pitchFamily="18" charset="0"/>
              </a:rPr>
              <a:t>、</a:t>
            </a:r>
            <a:r>
              <a:rPr lang="en-US" altLang="en-US" sz="2400">
                <a:solidFill>
                  <a:schemeClr val="accent5">
                    <a:lumMod val="10000"/>
                  </a:schemeClr>
                </a:solidFill>
                <a:latin typeface="Times New Roman" panose="02020603050405020304" pitchFamily="18" charset="0"/>
              </a:rPr>
              <a:t>5.6</a:t>
            </a:r>
            <a:r>
              <a:rPr lang="zh-CN" altLang="en-US" sz="2400">
                <a:solidFill>
                  <a:schemeClr val="accent5">
                    <a:lumMod val="10000"/>
                  </a:schemeClr>
                </a:solidFill>
                <a:latin typeface="Times New Roman" panose="02020603050405020304" pitchFamily="18" charset="0"/>
              </a:rPr>
              <a:t>、</a:t>
            </a:r>
            <a:r>
              <a:rPr lang="en-US" altLang="en-US" sz="2400">
                <a:solidFill>
                  <a:schemeClr val="accent5">
                    <a:lumMod val="10000"/>
                  </a:schemeClr>
                </a:solidFill>
                <a:latin typeface="Times New Roman" panose="02020603050405020304" pitchFamily="18" charset="0"/>
              </a:rPr>
              <a:t>5.8</a:t>
            </a:r>
            <a:r>
              <a:rPr lang="zh-CN" altLang="en-US" sz="2400">
                <a:solidFill>
                  <a:schemeClr val="accent5">
                    <a:lumMod val="10000"/>
                  </a:schemeClr>
                </a:solidFill>
                <a:latin typeface="Times New Roman" panose="02020603050405020304" pitchFamily="18" charset="0"/>
              </a:rPr>
              <a:t>、</a:t>
            </a:r>
            <a:r>
              <a:rPr lang="en-US" altLang="en-US" sz="2400">
                <a:solidFill>
                  <a:schemeClr val="accent5">
                    <a:lumMod val="10000"/>
                  </a:schemeClr>
                </a:solidFill>
                <a:latin typeface="Times New Roman" panose="02020603050405020304" pitchFamily="18" charset="0"/>
              </a:rPr>
              <a:t>6.8</a:t>
            </a:r>
            <a:r>
              <a:rPr lang="zh-CN" altLang="en-US" sz="2400">
                <a:solidFill>
                  <a:schemeClr val="accent5">
                    <a:lumMod val="10000"/>
                  </a:schemeClr>
                </a:solidFill>
                <a:latin typeface="Times New Roman" panose="02020603050405020304" pitchFamily="18" charset="0"/>
              </a:rPr>
              <a:t>、</a:t>
            </a:r>
            <a:r>
              <a:rPr lang="en-US" altLang="en-US" sz="2400">
                <a:solidFill>
                  <a:schemeClr val="accent5">
                    <a:lumMod val="10000"/>
                  </a:schemeClr>
                </a:solidFill>
                <a:latin typeface="Times New Roman" panose="02020603050405020304" pitchFamily="18" charset="0"/>
              </a:rPr>
              <a:t>8.8</a:t>
            </a:r>
            <a:r>
              <a:rPr lang="zh-CN" altLang="en-US" sz="2400">
                <a:solidFill>
                  <a:schemeClr val="accent5">
                    <a:lumMod val="10000"/>
                  </a:schemeClr>
                </a:solidFill>
                <a:latin typeface="Times New Roman" panose="02020603050405020304" pitchFamily="18" charset="0"/>
              </a:rPr>
              <a:t>、</a:t>
            </a:r>
            <a:r>
              <a:rPr lang="en-US" altLang="en-US" sz="2400">
                <a:solidFill>
                  <a:schemeClr val="accent5">
                    <a:lumMod val="10000"/>
                  </a:schemeClr>
                </a:solidFill>
                <a:latin typeface="Times New Roman" panose="02020603050405020304" pitchFamily="18" charset="0"/>
              </a:rPr>
              <a:t>9.8</a:t>
            </a:r>
            <a:r>
              <a:rPr lang="zh-CN" altLang="en-US" sz="2400">
                <a:solidFill>
                  <a:schemeClr val="accent5">
                    <a:lumMod val="10000"/>
                  </a:schemeClr>
                </a:solidFill>
                <a:latin typeface="Times New Roman" panose="02020603050405020304" pitchFamily="18" charset="0"/>
              </a:rPr>
              <a:t>、</a:t>
            </a:r>
            <a:r>
              <a:rPr lang="en-US" altLang="en-US" sz="2400">
                <a:solidFill>
                  <a:schemeClr val="accent5">
                    <a:lumMod val="10000"/>
                  </a:schemeClr>
                </a:solidFill>
                <a:latin typeface="Times New Roman" panose="02020603050405020304" pitchFamily="18" charset="0"/>
              </a:rPr>
              <a:t>10.9</a:t>
            </a:r>
            <a:r>
              <a:rPr lang="zh-CN" altLang="en-US" sz="2400">
                <a:solidFill>
                  <a:schemeClr val="accent5">
                    <a:lumMod val="10000"/>
                  </a:schemeClr>
                </a:solidFill>
                <a:latin typeface="Times New Roman" panose="02020603050405020304" pitchFamily="18" charset="0"/>
              </a:rPr>
              <a:t>、</a:t>
            </a:r>
            <a:r>
              <a:rPr lang="en-US" altLang="en-US" sz="2400">
                <a:solidFill>
                  <a:schemeClr val="accent5">
                    <a:lumMod val="10000"/>
                  </a:schemeClr>
                </a:solidFill>
                <a:latin typeface="Times New Roman" panose="02020603050405020304" pitchFamily="18" charset="0"/>
              </a:rPr>
              <a:t>12.9</a:t>
            </a:r>
            <a:r>
              <a:rPr lang="zh-CN" altLang="en-US" sz="2400">
                <a:solidFill>
                  <a:schemeClr val="accent5">
                    <a:lumMod val="10000"/>
                  </a:schemeClr>
                </a:solidFill>
                <a:latin typeface="Times New Roman" panose="02020603050405020304" pitchFamily="18" charset="0"/>
              </a:rPr>
              <a:t>共</a:t>
            </a:r>
            <a:r>
              <a:rPr lang="en-US" altLang="en-US" sz="2400">
                <a:solidFill>
                  <a:schemeClr val="accent5">
                    <a:lumMod val="10000"/>
                  </a:schemeClr>
                </a:solidFill>
                <a:latin typeface="Times New Roman" panose="02020603050405020304" pitchFamily="18" charset="0"/>
              </a:rPr>
              <a:t>9</a:t>
            </a:r>
            <a:r>
              <a:rPr lang="zh-CN" altLang="en-US" sz="2400">
                <a:solidFill>
                  <a:schemeClr val="accent5">
                    <a:lumMod val="10000"/>
                  </a:schemeClr>
                </a:solidFill>
                <a:latin typeface="Times New Roman" panose="02020603050405020304" pitchFamily="18" charset="0"/>
              </a:rPr>
              <a:t>级。小数点前的数字代表材料的抗拉强度的</a:t>
            </a:r>
            <a:r>
              <a:rPr lang="en-US" altLang="en-US" sz="2400">
                <a:solidFill>
                  <a:schemeClr val="accent5">
                    <a:lumMod val="10000"/>
                  </a:schemeClr>
                </a:solidFill>
                <a:latin typeface="Times New Roman" panose="02020603050405020304" pitchFamily="18" charset="0"/>
              </a:rPr>
              <a:t>1/100</a:t>
            </a:r>
            <a:r>
              <a:rPr lang="zh-CN" altLang="en-US" sz="2400">
                <a:solidFill>
                  <a:schemeClr val="accent5">
                    <a:lumMod val="10000"/>
                  </a:schemeClr>
                </a:solidFill>
                <a:latin typeface="Times New Roman" panose="02020603050405020304" pitchFamily="18" charset="0"/>
              </a:rPr>
              <a:t>，小数点后的数字代表材料的屈服强度</a:t>
            </a:r>
            <a:r>
              <a:rPr lang="zh-CN" altLang="en-US" sz="2400" i="1">
                <a:solidFill>
                  <a:schemeClr val="accent5">
                    <a:lumMod val="10000"/>
                  </a:schemeClr>
                </a:solidFill>
                <a:latin typeface="Arial" panose="020B0604020202020204" pitchFamily="34" charset="0"/>
                <a:cs typeface="Arial" panose="020B0604020202020204" pitchFamily="34" charset="0"/>
              </a:rPr>
              <a:t>σ</a:t>
            </a:r>
            <a:r>
              <a:rPr lang="en-US" altLang="zh-CN" sz="2400" i="1" baseline="-25000">
                <a:solidFill>
                  <a:schemeClr val="accent5">
                    <a:lumMod val="10000"/>
                  </a:schemeClr>
                </a:solidFill>
                <a:latin typeface="Arial" panose="020B0604020202020204" pitchFamily="34" charset="0"/>
                <a:cs typeface="Arial" panose="020B0604020202020204" pitchFamily="34" charset="0"/>
              </a:rPr>
              <a:t>S</a:t>
            </a:r>
            <a:r>
              <a:rPr lang="zh-CN" altLang="en-US" sz="2400">
                <a:solidFill>
                  <a:schemeClr val="accent5">
                    <a:lumMod val="10000"/>
                  </a:schemeClr>
                </a:solidFill>
                <a:latin typeface="Times New Roman" panose="02020603050405020304" pitchFamily="18" charset="0"/>
              </a:rPr>
              <a:t>与抗拉强度</a:t>
            </a:r>
            <a:r>
              <a:rPr lang="zh-CN" altLang="en-US" sz="2400" i="1">
                <a:solidFill>
                  <a:schemeClr val="accent5">
                    <a:lumMod val="10000"/>
                  </a:schemeClr>
                </a:solidFill>
                <a:latin typeface="Arial" panose="020B0604020202020204" pitchFamily="34" charset="0"/>
                <a:cs typeface="Arial" panose="020B0604020202020204" pitchFamily="34" charset="0"/>
                <a:sym typeface="+mn-ea"/>
              </a:rPr>
              <a:t>σ</a:t>
            </a:r>
            <a:r>
              <a:rPr lang="en-US" altLang="zh-CN" sz="2400" i="1" baseline="-25000">
                <a:solidFill>
                  <a:schemeClr val="accent5">
                    <a:lumMod val="10000"/>
                  </a:schemeClr>
                </a:solidFill>
                <a:latin typeface="Arial" panose="020B0604020202020204" pitchFamily="34" charset="0"/>
                <a:cs typeface="Arial" panose="020B0604020202020204" pitchFamily="34" charset="0"/>
                <a:sym typeface="+mn-ea"/>
              </a:rPr>
              <a:t>B</a:t>
            </a:r>
            <a:r>
              <a:rPr lang="zh-CN" altLang="en-US" sz="2400">
                <a:solidFill>
                  <a:schemeClr val="accent5">
                    <a:lumMod val="10000"/>
                  </a:schemeClr>
                </a:solidFill>
                <a:latin typeface="Times New Roman" panose="02020603050405020304" pitchFamily="18" charset="0"/>
              </a:rPr>
              <a:t>之比值的</a:t>
            </a:r>
            <a:r>
              <a:rPr lang="en-US" altLang="en-US" sz="2400">
                <a:solidFill>
                  <a:schemeClr val="accent5">
                    <a:lumMod val="10000"/>
                  </a:schemeClr>
                </a:solidFill>
                <a:latin typeface="Times New Roman" panose="02020603050405020304" pitchFamily="18" charset="0"/>
              </a:rPr>
              <a:t>10</a:t>
            </a:r>
            <a:r>
              <a:rPr lang="zh-CN" altLang="en-US" sz="2400">
                <a:solidFill>
                  <a:schemeClr val="accent5">
                    <a:lumMod val="10000"/>
                  </a:schemeClr>
                </a:solidFill>
                <a:latin typeface="Times New Roman" panose="02020603050405020304" pitchFamily="18" charset="0"/>
              </a:rPr>
              <a:t>倍。</a:t>
            </a:r>
            <a:endParaRPr lang="zh-CN" altLang="en-US" sz="2400">
              <a:solidFill>
                <a:schemeClr val="accent5">
                  <a:lumMod val="10000"/>
                </a:schemeClr>
              </a:solidFill>
              <a:latin typeface="Times New Roman" panose="02020603050405020304" pitchFamily="18" charset="0"/>
            </a:endParaRPr>
          </a:p>
        </p:txBody>
      </p:sp>
      <p:sp>
        <p:nvSpPr>
          <p:cNvPr id="2" name="文本框 1"/>
          <p:cNvSpPr txBox="1"/>
          <p:nvPr/>
        </p:nvSpPr>
        <p:spPr>
          <a:xfrm>
            <a:off x="1177925" y="4784725"/>
            <a:ext cx="4735830" cy="429895"/>
          </a:xfrm>
          <a:prstGeom prst="rect">
            <a:avLst/>
          </a:prstGeom>
          <a:noFill/>
        </p:spPr>
        <p:txBody>
          <a:bodyPr wrap="square" rtlCol="0">
            <a:spAutoFit/>
          </a:bodyPr>
          <a:p>
            <a:r>
              <a:rPr lang="zh-CN" altLang="en-US">
                <a:solidFill>
                  <a:srgbClr val="C00000"/>
                </a:solidFill>
              </a:rPr>
              <a:t>例如</a:t>
            </a:r>
            <a:r>
              <a:rPr lang="en-US" altLang="zh-CN">
                <a:solidFill>
                  <a:srgbClr val="C00000"/>
                </a:solidFill>
              </a:rPr>
              <a:t> </a:t>
            </a:r>
            <a:r>
              <a:rPr lang="zh-CN" altLang="en-US">
                <a:solidFill>
                  <a:srgbClr val="C00000"/>
                </a:solidFill>
              </a:rPr>
              <a:t>性能等级为</a:t>
            </a:r>
            <a:r>
              <a:rPr lang="en-US" altLang="zh-CN">
                <a:solidFill>
                  <a:srgbClr val="C00000"/>
                </a:solidFill>
              </a:rPr>
              <a:t>5.6</a:t>
            </a:r>
            <a:r>
              <a:rPr lang="zh-CN" altLang="en-US">
                <a:solidFill>
                  <a:srgbClr val="C00000"/>
                </a:solidFill>
              </a:rPr>
              <a:t>的螺栓</a:t>
            </a:r>
            <a:endParaRPr lang="zh-CN" altLang="en-US">
              <a:solidFill>
                <a:srgbClr val="C00000"/>
              </a:solidFill>
            </a:endParaRPr>
          </a:p>
        </p:txBody>
      </p:sp>
      <p:sp>
        <p:nvSpPr>
          <p:cNvPr id="3" name="文本框 2"/>
          <p:cNvSpPr txBox="1"/>
          <p:nvPr/>
        </p:nvSpPr>
        <p:spPr>
          <a:xfrm>
            <a:off x="1910080" y="5296535"/>
            <a:ext cx="6338570" cy="429895"/>
          </a:xfrm>
          <a:prstGeom prst="rect">
            <a:avLst/>
          </a:prstGeom>
          <a:noFill/>
        </p:spPr>
        <p:txBody>
          <a:bodyPr wrap="square" rtlCol="0">
            <a:spAutoFit/>
          </a:bodyPr>
          <a:p>
            <a:r>
              <a:rPr lang="zh-CN" altLang="en-US"/>
              <a:t>该螺栓的公称抗拉强度</a:t>
            </a:r>
            <a:r>
              <a:rPr lang="en-US" altLang="zh-CN"/>
              <a:t>  </a:t>
            </a:r>
            <a:r>
              <a:rPr lang="zh-CN" altLang="en-US">
                <a:latin typeface="Arial" panose="020B0604020202020204" pitchFamily="34" charset="0"/>
                <a:cs typeface="Arial" panose="020B0604020202020204" pitchFamily="34" charset="0"/>
              </a:rPr>
              <a:t>σ</a:t>
            </a:r>
            <a:r>
              <a:rPr lang="en-US" altLang="zh-CN" baseline="-25000">
                <a:latin typeface="Arial" panose="020B0604020202020204" pitchFamily="34" charset="0"/>
                <a:cs typeface="Arial" panose="020B0604020202020204" pitchFamily="34" charset="0"/>
              </a:rPr>
              <a:t>B</a:t>
            </a:r>
            <a:r>
              <a:rPr lang="en-US" altLang="zh-CN">
                <a:latin typeface="Arial" panose="020B0604020202020204" pitchFamily="34" charset="0"/>
                <a:cs typeface="Arial" panose="020B0604020202020204" pitchFamily="34" charset="0"/>
              </a:rPr>
              <a:t>=500MPa</a:t>
            </a:r>
            <a:endParaRPr lang="en-US" altLang="zh-CN">
              <a:latin typeface="Arial" panose="020B0604020202020204" pitchFamily="34" charset="0"/>
              <a:cs typeface="Arial" panose="020B0604020202020204" pitchFamily="34" charset="0"/>
            </a:endParaRPr>
          </a:p>
        </p:txBody>
      </p:sp>
      <p:sp>
        <p:nvSpPr>
          <p:cNvPr id="4" name="文本框 3"/>
          <p:cNvSpPr txBox="1"/>
          <p:nvPr/>
        </p:nvSpPr>
        <p:spPr>
          <a:xfrm>
            <a:off x="1888490" y="5863590"/>
            <a:ext cx="6338570" cy="429895"/>
          </a:xfrm>
          <a:prstGeom prst="rect">
            <a:avLst/>
          </a:prstGeom>
          <a:noFill/>
        </p:spPr>
        <p:txBody>
          <a:bodyPr wrap="square" rtlCol="0">
            <a:spAutoFit/>
          </a:bodyPr>
          <a:p>
            <a:r>
              <a:rPr lang="zh-CN" altLang="en-US"/>
              <a:t>该螺栓的屈服强度</a:t>
            </a:r>
            <a:r>
              <a:rPr lang="en-US" altLang="zh-CN"/>
              <a:t>  </a:t>
            </a:r>
            <a:r>
              <a:rPr lang="zh-CN" altLang="en-US">
                <a:latin typeface="Arial" panose="020B0604020202020204" pitchFamily="34" charset="0"/>
                <a:cs typeface="Arial" panose="020B0604020202020204" pitchFamily="34" charset="0"/>
              </a:rPr>
              <a:t>σ</a:t>
            </a:r>
            <a:r>
              <a:rPr lang="en-US" altLang="zh-CN" baseline="-25000">
                <a:latin typeface="Arial" panose="020B0604020202020204" pitchFamily="34" charset="0"/>
                <a:cs typeface="Arial" panose="020B0604020202020204" pitchFamily="34" charset="0"/>
              </a:rPr>
              <a:t>S</a:t>
            </a:r>
            <a:r>
              <a:rPr lang="en-US" altLang="zh-CN">
                <a:latin typeface="Arial" panose="020B0604020202020204" pitchFamily="34" charset="0"/>
                <a:cs typeface="Arial" panose="020B0604020202020204" pitchFamily="34" charset="0"/>
              </a:rPr>
              <a:t>=5×6</a:t>
            </a:r>
            <a:r>
              <a:rPr lang="en-US" altLang="zh-CN">
                <a:latin typeface="Arial" panose="020B0604020202020204" pitchFamily="34" charset="0"/>
                <a:cs typeface="Arial" panose="020B0604020202020204" pitchFamily="34" charset="0"/>
                <a:sym typeface="+mn-ea"/>
              </a:rPr>
              <a:t>×10=3</a:t>
            </a:r>
            <a:r>
              <a:rPr lang="en-US" altLang="zh-CN">
                <a:latin typeface="Arial" panose="020B0604020202020204" pitchFamily="34" charset="0"/>
                <a:cs typeface="Arial" panose="020B0604020202020204" pitchFamily="34" charset="0"/>
              </a:rPr>
              <a:t>00MPa</a:t>
            </a:r>
            <a:endParaRPr lang="en-US" altLang="zh-CN">
              <a:latin typeface="Arial" panose="020B0604020202020204" pitchFamily="34" charset="0"/>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8"/>
                                        </p:tgtEl>
                                        <p:attrNameLst>
                                          <p:attrName>style.visibility</p:attrName>
                                        </p:attrNameLst>
                                      </p:cBhvr>
                                      <p:to>
                                        <p:strVal val="visible"/>
                                      </p:to>
                                    </p:set>
                                    <p:animEffect transition="in" filter="wipe(left)">
                                      <p:cBhvr>
                                        <p:cTn id="7" dur="500"/>
                                        <p:tgtEl>
                                          <p:spTgt spid="1843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8469"/>
                                        </p:tgtEl>
                                        <p:attrNameLst>
                                          <p:attrName>style.visibility</p:attrName>
                                        </p:attrNameLst>
                                      </p:cBhvr>
                                      <p:to>
                                        <p:strVal val="visible"/>
                                      </p:to>
                                    </p:set>
                                    <p:animEffect transition="in" filter="barn(outHorizontal)">
                                      <p:cBhvr>
                                        <p:cTn id="12" dur="500"/>
                                        <p:tgtEl>
                                          <p:spTgt spid="18469"/>
                                        </p:tgtEl>
                                      </p:cBhvr>
                                    </p:animEffect>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18457"/>
                                        </p:tgtEl>
                                        <p:attrNameLst>
                                          <p:attrName>style.visibility</p:attrName>
                                        </p:attrNameLst>
                                      </p:cBhvr>
                                      <p:to>
                                        <p:strVal val="visible"/>
                                      </p:to>
                                    </p:set>
                                    <p:anim calcmode="lin" valueType="num">
                                      <p:cBhvr additive="base">
                                        <p:cTn id="16" dur="500" fill="hold"/>
                                        <p:tgtEl>
                                          <p:spTgt spid="18457"/>
                                        </p:tgtEl>
                                        <p:attrNameLst>
                                          <p:attrName>ppt_x</p:attrName>
                                        </p:attrNameLst>
                                      </p:cBhvr>
                                      <p:tavLst>
                                        <p:tav tm="0">
                                          <p:val>
                                            <p:strVal val="0-#ppt_w/2"/>
                                          </p:val>
                                        </p:tav>
                                        <p:tav tm="100000">
                                          <p:val>
                                            <p:strVal val="#ppt_x"/>
                                          </p:val>
                                        </p:tav>
                                      </p:tavLst>
                                    </p:anim>
                                    <p:anim calcmode="lin" valueType="num">
                                      <p:cBhvr additive="base">
                                        <p:cTn id="17" dur="500" fill="hold"/>
                                        <p:tgtEl>
                                          <p:spTgt spid="18457"/>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2772"/>
                                        </p:tgtEl>
                                        <p:attrNameLst>
                                          <p:attrName>style.visibility</p:attrName>
                                        </p:attrNameLst>
                                      </p:cBhvr>
                                      <p:to>
                                        <p:strVal val="visible"/>
                                      </p:to>
                                    </p:set>
                                    <p:animEffect transition="in" filter="wipe(up)">
                                      <p:cBhvr>
                                        <p:cTn id="22" dur="500"/>
                                        <p:tgtEl>
                                          <p:spTgt spid="3277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69" grpId="0" autoUpdateAnimBg="0"/>
      <p:bldP spid="18438" grpId="0" autoUpdateAnimBg="0"/>
      <p:bldP spid="32772" grpId="0"/>
      <p:bldP spid="2" grpId="0"/>
      <p:bldP spid="3"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3" name="Picture 5" descr="rewind1">
            <a:hlinkClick r:id="rId1" action="ppaction://hlinksldjump"/>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0263" y="6315075"/>
            <a:ext cx="4953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矩形 8"/>
          <p:cNvSpPr>
            <a:spLocks noChangeArrowheads="1"/>
          </p:cNvSpPr>
          <p:nvPr/>
        </p:nvSpPr>
        <p:spPr bwMode="auto">
          <a:xfrm>
            <a:off x="385445" y="1126791"/>
            <a:ext cx="8372475" cy="332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en-US" sz="2000" dirty="0">
                <a:solidFill>
                  <a:srgbClr val="000099"/>
                </a:solidFill>
                <a:latin typeface="Times New Roman" panose="02020603050405020304" pitchFamily="18" charset="0"/>
              </a:rPr>
              <a:t>       </a:t>
            </a:r>
            <a:r>
              <a:rPr lang="en-US"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 GB/T 3098.2-2015</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规定螺母的性能等级分为</a:t>
            </a:r>
            <a:r>
              <a:rPr lang="en-US"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04</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en-US"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05</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en-US"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5</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en-US"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6</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en-US"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8</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en-US"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10</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en-US"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12</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共</a:t>
            </a:r>
            <a:r>
              <a:rPr lang="en-US"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7</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级，</a:t>
            </a:r>
            <a:r>
              <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其中</a:t>
            </a:r>
            <a:r>
              <a:rPr lang="en-US"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04</a:t>
            </a:r>
            <a:r>
              <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a:t>
            </a:r>
            <a:r>
              <a:rPr lang="en-US"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05</a:t>
            </a:r>
            <a:r>
              <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用于薄螺母（</a:t>
            </a:r>
            <a:r>
              <a:rPr lang="en-US"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0</a:t>
            </a:r>
            <a:r>
              <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型），第一位数字“</a:t>
            </a:r>
            <a:r>
              <a:rPr lang="en-US"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0</a:t>
            </a:r>
            <a:r>
              <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”表示这种螺母比标准螺母（</a:t>
            </a:r>
            <a:r>
              <a:rPr lang="en-US"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1</a:t>
            </a:r>
            <a:r>
              <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型）和高螺母（</a:t>
            </a:r>
            <a:r>
              <a:rPr lang="en-US"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2</a:t>
            </a:r>
            <a:r>
              <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型）降低了承载能力，因此，当超载时，可能发生螺纹脱扣。第二位数字表示用淬硬试验芯棒测试的公称保证应力的</a:t>
            </a:r>
            <a:r>
              <a:rPr lang="en-US"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1/100</a:t>
            </a:r>
            <a:r>
              <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，以</a:t>
            </a:r>
            <a:r>
              <a:rPr lang="en-US" altLang="en-US" sz="2400" dirty="0" err="1">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MPa</a:t>
            </a:r>
            <a:r>
              <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计。选用时，</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须注意所用螺母的性能等级应不低于与其相配螺栓的性能等级。</a:t>
            </a:r>
            <a:endPar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32774"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8439" name="Rectangle 7"/>
          <p:cNvSpPr>
            <a:spLocks noChangeArrowheads="1"/>
          </p:cNvSpPr>
          <p:nvPr/>
        </p:nvSpPr>
        <p:spPr bwMode="auto">
          <a:xfrm>
            <a:off x="292100" y="4629150"/>
            <a:ext cx="8559800" cy="1259840"/>
          </a:xfrm>
          <a:prstGeom prst="rect">
            <a:avLst/>
          </a:prstGeom>
          <a:noFill/>
          <a:ln w="9525">
            <a:solidFill>
              <a:srgbClr val="FFC000"/>
            </a:solidFill>
            <a:miter lim="800000"/>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a:t>
            </a:r>
            <a:r>
              <a:rPr lang="zh-CN" altLang="en-US"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常用的螺纹连接件材料为</a:t>
            </a:r>
            <a:r>
              <a:rPr lang="en-US" altLang="zh-CN"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Q215</a:t>
            </a:r>
            <a:r>
              <a:rPr lang="zh-CN" altLang="en-US"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a:t>
            </a:r>
            <a:r>
              <a:rPr lang="en-US" altLang="zh-CN"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Q235</a:t>
            </a:r>
            <a:r>
              <a:rPr lang="zh-CN" altLang="en-US"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a:t>
            </a:r>
            <a:r>
              <a:rPr lang="en-US" altLang="zh-CN"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35</a:t>
            </a:r>
            <a:r>
              <a:rPr lang="zh-CN" altLang="en-US"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a:t>
            </a:r>
            <a:r>
              <a:rPr lang="en-US" altLang="zh-CN"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45</a:t>
            </a:r>
            <a:r>
              <a:rPr lang="zh-CN" altLang="en-US"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等碳素钢。 当强度要求高时，还可采用合金钢，如</a:t>
            </a:r>
            <a:r>
              <a:rPr lang="en-US" altLang="zh-CN"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15Cr</a:t>
            </a:r>
            <a:r>
              <a:rPr lang="zh-CN" altLang="en-US"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a:t>
            </a:r>
            <a:r>
              <a:rPr lang="en-US" altLang="zh-CN"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40Cr</a:t>
            </a:r>
            <a:r>
              <a:rPr lang="zh-CN" altLang="en-US"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等。</a:t>
            </a:r>
            <a:endParaRPr lang="zh-CN" altLang="en-US" sz="24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13320" name="Rectangle 4"/>
          <p:cNvSpPr>
            <a:spLocks noChangeArrowheads="1"/>
          </p:cNvSpPr>
          <p:nvPr/>
        </p:nvSpPr>
        <p:spPr bwMode="auto">
          <a:xfrm>
            <a:off x="1792605" y="228600"/>
            <a:ext cx="666559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§2.3-5 </a:t>
            </a:r>
            <a:r>
              <a:rPr lang="zh-CN" altLang="en-US" sz="3000">
                <a:solidFill>
                  <a:srgbClr val="CC3300"/>
                </a:solidFill>
                <a:latin typeface="黑体" panose="02010609060101010101" pitchFamily="49" charset="-122"/>
                <a:ea typeface="黑体" panose="02010609060101010101" pitchFamily="49" charset="-122"/>
              </a:rPr>
              <a:t>螺纹连接件的材料与许用应力</a:t>
            </a:r>
            <a:endParaRPr lang="zh-CN" altLang="en-US" sz="300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3013"/>
                                        </p:tgtEl>
                                        <p:attrNameLst>
                                          <p:attrName>style.visibility</p:attrName>
                                        </p:attrNameLst>
                                      </p:cBhvr>
                                      <p:to>
                                        <p:strVal val="visible"/>
                                      </p:to>
                                    </p:set>
                                    <p:anim calcmode="lin" valueType="num">
                                      <p:cBhvr additive="base">
                                        <p:cTn id="7" dur="500" fill="hold"/>
                                        <p:tgtEl>
                                          <p:spTgt spid="43013"/>
                                        </p:tgtEl>
                                        <p:attrNameLst>
                                          <p:attrName>ppt_x</p:attrName>
                                        </p:attrNameLst>
                                      </p:cBhvr>
                                      <p:tavLst>
                                        <p:tav tm="0">
                                          <p:val>
                                            <p:strVal val="0-#ppt_w/2"/>
                                          </p:val>
                                        </p:tav>
                                        <p:tav tm="100000">
                                          <p:val>
                                            <p:strVal val="#ppt_x"/>
                                          </p:val>
                                        </p:tav>
                                      </p:tavLst>
                                    </p:anim>
                                    <p:anim calcmode="lin" valueType="num">
                                      <p:cBhvr additive="base">
                                        <p:cTn id="8" dur="500" fill="hold"/>
                                        <p:tgtEl>
                                          <p:spTgt spid="430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8439"/>
                                        </p:tgtEl>
                                        <p:attrNameLst>
                                          <p:attrName>style.visibility</p:attrName>
                                        </p:attrNameLst>
                                      </p:cBhvr>
                                      <p:to>
                                        <p:strVal val="visible"/>
                                      </p:to>
                                    </p:set>
                                    <p:animEffect transition="in" filter="wipe(left)">
                                      <p:cBhvr>
                                        <p:cTn id="13" dur="500"/>
                                        <p:tgtEl>
                                          <p:spTgt spid="18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bldLvl="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9" name="Rectangle 2"/>
          <p:cNvSpPr>
            <a:spLocks noGrp="1" noChangeArrowheads="1"/>
          </p:cNvSpPr>
          <p:nvPr>
            <p:ph type="title"/>
          </p:nvPr>
        </p:nvSpPr>
        <p:spPr bwMode="auto">
          <a:xfrm>
            <a:off x="4953000" y="762000"/>
            <a:ext cx="23622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螺纹连接件的材料与许用应力</a:t>
            </a:r>
            <a:endParaRPr lang="zh-CN" altLang="en-US" sz="800" smtClean="0">
              <a:solidFill>
                <a:schemeClr val="bg1"/>
              </a:solidFill>
            </a:endParaRPr>
          </a:p>
        </p:txBody>
      </p:sp>
      <p:sp>
        <p:nvSpPr>
          <p:cNvPr id="13320" name="Rectangle 4"/>
          <p:cNvSpPr>
            <a:spLocks noChangeArrowheads="1"/>
          </p:cNvSpPr>
          <p:nvPr/>
        </p:nvSpPr>
        <p:spPr bwMode="auto">
          <a:xfrm>
            <a:off x="1792605" y="228600"/>
            <a:ext cx="666559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§2.3-5 </a:t>
            </a:r>
            <a:r>
              <a:rPr lang="zh-CN" altLang="en-US" sz="3000">
                <a:solidFill>
                  <a:srgbClr val="CC3300"/>
                </a:solidFill>
                <a:latin typeface="黑体" panose="02010609060101010101" pitchFamily="49" charset="-122"/>
                <a:ea typeface="黑体" panose="02010609060101010101" pitchFamily="49" charset="-122"/>
              </a:rPr>
              <a:t>螺纹连接件的材料与许用应力</a:t>
            </a:r>
            <a:endParaRPr lang="zh-CN" altLang="en-US" sz="3000">
              <a:solidFill>
                <a:srgbClr val="CC3300"/>
              </a:solidFill>
              <a:latin typeface="黑体" panose="02010609060101010101" pitchFamily="49" charset="-122"/>
              <a:ea typeface="黑体" panose="02010609060101010101" pitchFamily="49" charset="-122"/>
            </a:endParaRPr>
          </a:p>
        </p:txBody>
      </p:sp>
      <p:pic>
        <p:nvPicPr>
          <p:cNvPr id="13339" name="Picture 11" descr="arrow_2"/>
          <p:cNvPicPr>
            <a:picLocks noChangeAspect="1" noChangeArrowheads="1" noCrop="1"/>
          </p:cNvPicPr>
          <p:nvPr/>
        </p:nvPicPr>
        <p:blipFill>
          <a:blip r:embed="rId1"/>
          <a:srcRect/>
          <a:stretch>
            <a:fillRect/>
          </a:stretch>
        </p:blipFill>
        <p:spPr bwMode="auto">
          <a:xfrm>
            <a:off x="8112125" y="2256155"/>
            <a:ext cx="92075" cy="16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4" name="Rectangle 12"/>
          <p:cNvSpPr>
            <a:spLocks noChangeArrowheads="1"/>
          </p:cNvSpPr>
          <p:nvPr/>
        </p:nvSpPr>
        <p:spPr bwMode="auto">
          <a:xfrm>
            <a:off x="354013" y="1016000"/>
            <a:ext cx="3962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400">
                <a:solidFill>
                  <a:srgbClr val="000099"/>
                </a:solidFill>
                <a:latin typeface="黑体" panose="02010609060101010101" pitchFamily="49" charset="-122"/>
                <a:ea typeface="黑体" panose="02010609060101010101" pitchFamily="49" charset="-122"/>
              </a:rPr>
              <a:t>二、螺纹连接件的许用应力</a:t>
            </a:r>
            <a:endParaRPr lang="zh-CN" altLang="en-US" sz="2400">
              <a:solidFill>
                <a:srgbClr val="000099"/>
              </a:solidFill>
              <a:latin typeface="黑体" panose="02010609060101010101" pitchFamily="49" charset="-122"/>
              <a:ea typeface="黑体" panose="02010609060101010101" pitchFamily="49" charset="-122"/>
            </a:endParaRPr>
          </a:p>
        </p:txBody>
      </p:sp>
      <p:sp>
        <p:nvSpPr>
          <p:cNvPr id="18445" name="Rectangle 13"/>
          <p:cNvSpPr>
            <a:spLocks noChangeArrowheads="1"/>
          </p:cNvSpPr>
          <p:nvPr/>
        </p:nvSpPr>
        <p:spPr bwMode="auto">
          <a:xfrm>
            <a:off x="809625" y="1739900"/>
            <a:ext cx="39928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400">
                <a:solidFill>
                  <a:srgbClr val="000099"/>
                </a:solidFill>
                <a:latin typeface="Times New Roman" panose="02020603050405020304" pitchFamily="18" charset="0"/>
              </a:rPr>
              <a:t>1</a:t>
            </a:r>
            <a:r>
              <a:rPr lang="zh-CN" altLang="en-US" sz="2400">
                <a:solidFill>
                  <a:srgbClr val="000099"/>
                </a:solidFill>
                <a:latin typeface="Times New Roman" panose="02020603050405020304" pitchFamily="18" charset="0"/>
              </a:rPr>
              <a:t>．</a:t>
            </a:r>
            <a:r>
              <a:rPr lang="zh-CN" altLang="en-US" sz="2400">
                <a:solidFill>
                  <a:schemeClr val="accent5">
                    <a:lumMod val="10000"/>
                  </a:schemeClr>
                </a:solidFill>
                <a:latin typeface="Times New Roman" panose="02020603050405020304" pitchFamily="18" charset="0"/>
              </a:rPr>
              <a:t>螺纹连接件的许用拉应力</a:t>
            </a:r>
            <a:endParaRPr lang="zh-CN" altLang="en-US" sz="2400">
              <a:solidFill>
                <a:schemeClr val="accent5">
                  <a:lumMod val="10000"/>
                </a:schemeClr>
              </a:solidFill>
              <a:latin typeface="Times New Roman" panose="02020603050405020304" pitchFamily="18" charset="0"/>
            </a:endParaRPr>
          </a:p>
        </p:txBody>
      </p:sp>
      <p:sp>
        <p:nvSpPr>
          <p:cNvPr id="18446" name="Rectangle 14"/>
          <p:cNvSpPr>
            <a:spLocks noChangeArrowheads="1"/>
          </p:cNvSpPr>
          <p:nvPr/>
        </p:nvSpPr>
        <p:spPr bwMode="auto">
          <a:xfrm>
            <a:off x="809625" y="2656205"/>
            <a:ext cx="61264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400">
                <a:solidFill>
                  <a:schemeClr val="accent5">
                    <a:lumMod val="10000"/>
                  </a:schemeClr>
                </a:solidFill>
                <a:latin typeface="Times New Roman" panose="02020603050405020304" pitchFamily="18" charset="0"/>
              </a:rPr>
              <a:t>2</a:t>
            </a:r>
            <a:r>
              <a:rPr lang="zh-CN" altLang="en-US" sz="2400">
                <a:solidFill>
                  <a:schemeClr val="accent5">
                    <a:lumMod val="10000"/>
                  </a:schemeClr>
                </a:solidFill>
                <a:latin typeface="Times New Roman" panose="02020603050405020304" pitchFamily="18" charset="0"/>
              </a:rPr>
              <a:t>．螺纹连接件的许用剪应力和许用挤压应力</a:t>
            </a:r>
            <a:endParaRPr lang="zh-CN" altLang="en-US" sz="2400">
              <a:solidFill>
                <a:schemeClr val="accent5">
                  <a:lumMod val="10000"/>
                </a:schemeClr>
              </a:solidFill>
              <a:latin typeface="Times New Roman" panose="02020603050405020304" pitchFamily="18" charset="0"/>
            </a:endParaRPr>
          </a:p>
        </p:txBody>
      </p:sp>
      <p:sp>
        <p:nvSpPr>
          <p:cNvPr id="18448" name="Rectangle 16"/>
          <p:cNvSpPr>
            <a:spLocks noChangeArrowheads="1"/>
          </p:cNvSpPr>
          <p:nvPr/>
        </p:nvSpPr>
        <p:spPr bwMode="auto">
          <a:xfrm>
            <a:off x="1120140" y="5598478"/>
            <a:ext cx="372491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400">
                <a:solidFill>
                  <a:schemeClr val="accent5">
                    <a:lumMod val="10000"/>
                  </a:schemeClr>
                </a:solidFill>
                <a:latin typeface="华文中宋" panose="02010600040101010101" pitchFamily="2" charset="-122"/>
              </a:rPr>
              <a:t>3</a:t>
            </a:r>
            <a:r>
              <a:rPr lang="zh-CN" altLang="en-US" sz="2400">
                <a:solidFill>
                  <a:schemeClr val="accent5">
                    <a:lumMod val="10000"/>
                  </a:schemeClr>
                </a:solidFill>
                <a:latin typeface="黑体" panose="02010609060101010101" pitchFamily="49" charset="-122"/>
              </a:rPr>
              <a:t>．螺纹连接件</a:t>
            </a:r>
            <a:r>
              <a:rPr lang="zh-CN" altLang="en-US" sz="2400">
                <a:solidFill>
                  <a:schemeClr val="accent5">
                    <a:lumMod val="10000"/>
                  </a:schemeClr>
                </a:solidFill>
              </a:rPr>
              <a:t>的安全系数</a:t>
            </a:r>
            <a:endParaRPr lang="zh-CN" altLang="en-US" sz="2400">
              <a:solidFill>
                <a:schemeClr val="accent5">
                  <a:lumMod val="10000"/>
                </a:schemeClr>
              </a:solidFill>
            </a:endParaRPr>
          </a:p>
        </p:txBody>
      </p:sp>
      <p:grpSp>
        <p:nvGrpSpPr>
          <p:cNvPr id="3" name="Group 31"/>
          <p:cNvGrpSpPr/>
          <p:nvPr/>
        </p:nvGrpSpPr>
        <p:grpSpPr bwMode="auto">
          <a:xfrm>
            <a:off x="3462020" y="6256338"/>
            <a:ext cx="792163" cy="460375"/>
            <a:chOff x="2800" y="3550"/>
            <a:chExt cx="499" cy="290"/>
          </a:xfrm>
        </p:grpSpPr>
        <p:sp>
          <p:nvSpPr>
            <p:cNvPr id="13336" name="Text Box 19"/>
            <p:cNvSpPr txBox="1">
              <a:spLocks noChangeArrowheads="1"/>
            </p:cNvSpPr>
            <p:nvPr/>
          </p:nvSpPr>
          <p:spPr bwMode="auto">
            <a:xfrm>
              <a:off x="2800" y="3550"/>
              <a:ext cx="49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a:solidFill>
                    <a:srgbClr val="A50021"/>
                  </a:solidFill>
                  <a:hlinkClick r:id="rId2" action="ppaction://hlinksldjump"/>
                </a:rPr>
                <a:t>说明</a:t>
              </a:r>
              <a:endParaRPr lang="zh-CN" altLang="en-US" sz="2400">
                <a:solidFill>
                  <a:srgbClr val="A50021"/>
                </a:solidFill>
              </a:endParaRPr>
            </a:p>
          </p:txBody>
        </p:sp>
        <p:pic>
          <p:nvPicPr>
            <p:cNvPr id="13337" name="Picture 20" descr="arrow_2"/>
            <p:cNvPicPr>
              <a:picLocks noChangeAspect="1" noChangeArrowheads="1" noCrop="1"/>
            </p:cNvPicPr>
            <p:nvPr/>
          </p:nvPicPr>
          <p:blipFill>
            <a:blip r:embed="rId1"/>
            <a:srcRect/>
            <a:stretch>
              <a:fillRect/>
            </a:stretch>
          </p:blipFill>
          <p:spPr bwMode="auto">
            <a:xfrm>
              <a:off x="3236" y="3600"/>
              <a:ext cx="5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18453" name="Object 21"/>
          <p:cNvGraphicFramePr>
            <a:graphicFrameLocks noGrp="1" noChangeAspect="1"/>
          </p:cNvGraphicFramePr>
          <p:nvPr>
            <p:ph type="body" idx="1"/>
          </p:nvPr>
        </p:nvGraphicFramePr>
        <p:xfrm>
          <a:off x="5098415" y="1496695"/>
          <a:ext cx="1313180" cy="1021080"/>
        </p:xfrm>
        <a:graphic>
          <a:graphicData uri="http://schemas.openxmlformats.org/presentationml/2006/ole">
            <mc:AlternateContent xmlns:mc="http://schemas.openxmlformats.org/markup-compatibility/2006">
              <mc:Choice xmlns:v="urn:schemas-microsoft-com:vml" Requires="v">
                <p:oleObj spid="_x0000_s13500" name="公式" r:id="rId3" imgW="571500" imgH="444500" progId="Equation.3">
                  <p:embed/>
                </p:oleObj>
              </mc:Choice>
              <mc:Fallback>
                <p:oleObj name="公式" r:id="rId3" imgW="571500" imgH="444500" progId="Equation.3">
                  <p:embed/>
                  <p:pic>
                    <p:nvPicPr>
                      <p:cNvPr id="0" name="Object 21"/>
                      <p:cNvPicPr>
                        <a:picLocks noChangeAspect="1" noChangeArrowheads="1"/>
                      </p:cNvPicPr>
                      <p:nvPr/>
                    </p:nvPicPr>
                    <p:blipFill>
                      <a:blip r:embed="rId4"/>
                      <a:srcRect/>
                      <a:stretch>
                        <a:fillRect/>
                      </a:stretch>
                    </p:blipFill>
                    <p:spPr bwMode="auto">
                      <a:xfrm>
                        <a:off x="5098415" y="1496695"/>
                        <a:ext cx="1313180" cy="1021080"/>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6" name="Object 24"/>
          <p:cNvGraphicFramePr>
            <a:graphicFrameLocks noChangeAspect="1"/>
          </p:cNvGraphicFramePr>
          <p:nvPr/>
        </p:nvGraphicFramePr>
        <p:xfrm>
          <a:off x="1291749" y="3488532"/>
          <a:ext cx="1049655" cy="830580"/>
        </p:xfrm>
        <a:graphic>
          <a:graphicData uri="http://schemas.openxmlformats.org/presentationml/2006/ole">
            <mc:AlternateContent xmlns:mc="http://schemas.openxmlformats.org/markup-compatibility/2006">
              <mc:Choice xmlns:v="urn:schemas-microsoft-com:vml" Requires="v">
                <p:oleObj spid="_x0000_s13501" name="公式" r:id="rId5" imgW="545465" imgH="431800" progId="Equation.3">
                  <p:embed/>
                </p:oleObj>
              </mc:Choice>
              <mc:Fallback>
                <p:oleObj name="公式" r:id="rId5" imgW="545465" imgH="431800" progId="Equation.3">
                  <p:embed/>
                  <p:pic>
                    <p:nvPicPr>
                      <p:cNvPr id="0" name="Object 24"/>
                      <p:cNvPicPr>
                        <a:picLocks noChangeAspect="1" noChangeArrowheads="1"/>
                      </p:cNvPicPr>
                      <p:nvPr/>
                    </p:nvPicPr>
                    <p:blipFill>
                      <a:blip r:embed="rId6"/>
                      <a:srcRect/>
                      <a:stretch>
                        <a:fillRect/>
                      </a:stretch>
                    </p:blipFill>
                    <p:spPr bwMode="auto">
                      <a:xfrm>
                        <a:off x="1291749" y="3488532"/>
                        <a:ext cx="1049655" cy="830580"/>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8457" name="Picture 25" descr="rewind1">
            <a:hlinkClick r:id="rId7" action="ppaction://hlinksldjump"/>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682038" y="650875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5"/>
          <p:cNvGrpSpPr/>
          <p:nvPr/>
        </p:nvGrpSpPr>
        <p:grpSpPr bwMode="auto">
          <a:xfrm>
            <a:off x="3103563" y="3652839"/>
            <a:ext cx="3389313" cy="830262"/>
            <a:chOff x="1355" y="2100"/>
            <a:chExt cx="2135" cy="523"/>
          </a:xfrm>
        </p:grpSpPr>
        <p:graphicFrame>
          <p:nvGraphicFramePr>
            <p:cNvPr id="13317" name="Object 22"/>
            <p:cNvGraphicFramePr>
              <a:graphicFrameLocks noChangeAspect="1"/>
            </p:cNvGraphicFramePr>
            <p:nvPr/>
          </p:nvGraphicFramePr>
          <p:xfrm>
            <a:off x="1355" y="2100"/>
            <a:ext cx="770" cy="523"/>
          </p:xfrm>
          <a:graphic>
            <a:graphicData uri="http://schemas.openxmlformats.org/presentationml/2006/ole">
              <mc:AlternateContent xmlns:mc="http://schemas.openxmlformats.org/markup-compatibility/2006">
                <mc:Choice xmlns:v="urn:schemas-microsoft-com:vml" Requires="v">
                  <p:oleObj spid="_x0000_s13502" name="公式" r:id="rId9" imgW="634365" imgH="431800" progId="Equation.3">
                    <p:embed/>
                  </p:oleObj>
                </mc:Choice>
                <mc:Fallback>
                  <p:oleObj name="公式" r:id="rId9" imgW="634365" imgH="431800" progId="Equation.3">
                    <p:embed/>
                    <p:pic>
                      <p:nvPicPr>
                        <p:cNvPr id="0" name="Object 22"/>
                        <p:cNvPicPr>
                          <a:picLocks noChangeAspect="1" noChangeArrowheads="1"/>
                        </p:cNvPicPr>
                        <p:nvPr/>
                      </p:nvPicPr>
                      <p:blipFill>
                        <a:blip r:embed="rId10"/>
                        <a:srcRect/>
                        <a:stretch>
                          <a:fillRect/>
                        </a:stretch>
                      </p:blipFill>
                      <p:spPr bwMode="auto">
                        <a:xfrm>
                          <a:off x="1355" y="2100"/>
                          <a:ext cx="770" cy="523"/>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35" name="Text Box 28"/>
            <p:cNvSpPr txBox="1">
              <a:spLocks noChangeArrowheads="1"/>
            </p:cNvSpPr>
            <p:nvPr/>
          </p:nvSpPr>
          <p:spPr bwMode="auto">
            <a:xfrm>
              <a:off x="2094" y="2167"/>
              <a:ext cx="13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rPr>
                <a:t>（被连接件为钢）</a:t>
              </a:r>
              <a:endParaRPr lang="zh-CN" altLang="en-US" sz="2000">
                <a:solidFill>
                  <a:srgbClr val="000099"/>
                </a:solidFill>
              </a:endParaRPr>
            </a:p>
          </p:txBody>
        </p:sp>
      </p:grpSp>
      <p:grpSp>
        <p:nvGrpSpPr>
          <p:cNvPr id="5" name="Group 36"/>
          <p:cNvGrpSpPr/>
          <p:nvPr/>
        </p:nvGrpSpPr>
        <p:grpSpPr bwMode="auto">
          <a:xfrm>
            <a:off x="3014028" y="4626293"/>
            <a:ext cx="3478213" cy="828675"/>
            <a:chOff x="3322" y="3094"/>
            <a:chExt cx="2191" cy="522"/>
          </a:xfrm>
        </p:grpSpPr>
        <p:graphicFrame>
          <p:nvGraphicFramePr>
            <p:cNvPr id="13316" name="Object 23"/>
            <p:cNvGraphicFramePr>
              <a:graphicFrameLocks noChangeAspect="1"/>
            </p:cNvGraphicFramePr>
            <p:nvPr/>
          </p:nvGraphicFramePr>
          <p:xfrm>
            <a:off x="3322" y="3094"/>
            <a:ext cx="798" cy="522"/>
          </p:xfrm>
          <a:graphic>
            <a:graphicData uri="http://schemas.openxmlformats.org/presentationml/2006/ole">
              <mc:AlternateContent xmlns:mc="http://schemas.openxmlformats.org/markup-compatibility/2006">
                <mc:Choice xmlns:v="urn:schemas-microsoft-com:vml" Requires="v">
                  <p:oleObj spid="_x0000_s13503" name="公式" r:id="rId11" imgW="660400" imgH="431800" progId="Equation.3">
                    <p:embed/>
                  </p:oleObj>
                </mc:Choice>
                <mc:Fallback>
                  <p:oleObj name="公式" r:id="rId11" imgW="660400" imgH="431800" progId="Equation.3">
                    <p:embed/>
                    <p:pic>
                      <p:nvPicPr>
                        <p:cNvPr id="0" name="Object 23"/>
                        <p:cNvPicPr>
                          <a:picLocks noChangeAspect="1" noChangeArrowheads="1"/>
                        </p:cNvPicPr>
                        <p:nvPr/>
                      </p:nvPicPr>
                      <p:blipFill>
                        <a:blip r:embed="rId12"/>
                        <a:srcRect/>
                        <a:stretch>
                          <a:fillRect/>
                        </a:stretch>
                      </p:blipFill>
                      <p:spPr bwMode="auto">
                        <a:xfrm>
                          <a:off x="3322" y="3094"/>
                          <a:ext cx="798" cy="522"/>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34" name="Text Box 29"/>
            <p:cNvSpPr txBox="1">
              <a:spLocks noChangeArrowheads="1"/>
            </p:cNvSpPr>
            <p:nvPr/>
          </p:nvSpPr>
          <p:spPr bwMode="auto">
            <a:xfrm>
              <a:off x="3957" y="3211"/>
              <a:ext cx="15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rPr>
                <a:t>（被连接件为铸铁）</a:t>
              </a:r>
              <a:endParaRPr lang="zh-CN" altLang="en-US" sz="2000">
                <a:solidFill>
                  <a:srgbClr val="000099"/>
                </a:solidFill>
              </a:endParaRPr>
            </a:p>
          </p:txBody>
        </p:sp>
      </p:grpSp>
      <p:sp>
        <p:nvSpPr>
          <p:cNvPr id="18471" name="Text Box 39"/>
          <p:cNvSpPr txBox="1">
            <a:spLocks noChangeArrowheads="1"/>
          </p:cNvSpPr>
          <p:nvPr/>
        </p:nvSpPr>
        <p:spPr bwMode="auto">
          <a:xfrm>
            <a:off x="7296150" y="6256338"/>
            <a:ext cx="2714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3333"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44"/>
                                        </p:tgtEl>
                                        <p:attrNameLst>
                                          <p:attrName>style.visibility</p:attrName>
                                        </p:attrNameLst>
                                      </p:cBhvr>
                                      <p:to>
                                        <p:strVal val="visible"/>
                                      </p:to>
                                    </p:set>
                                    <p:animEffect transition="in" filter="wipe(left)">
                                      <p:cBhvr>
                                        <p:cTn id="7" dur="500"/>
                                        <p:tgtEl>
                                          <p:spTgt spid="184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45"/>
                                        </p:tgtEl>
                                        <p:attrNameLst>
                                          <p:attrName>style.visibility</p:attrName>
                                        </p:attrNameLst>
                                      </p:cBhvr>
                                      <p:to>
                                        <p:strVal val="visible"/>
                                      </p:to>
                                    </p:set>
                                    <p:animEffect transition="in" filter="wipe(left)">
                                      <p:cBhvr>
                                        <p:cTn id="12" dur="500"/>
                                        <p:tgtEl>
                                          <p:spTgt spid="1844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8453"/>
                                        </p:tgtEl>
                                        <p:attrNameLst>
                                          <p:attrName>style.visibility</p:attrName>
                                        </p:attrNameLst>
                                      </p:cBhvr>
                                      <p:to>
                                        <p:strVal val="visible"/>
                                      </p:to>
                                    </p:set>
                                    <p:animEffect transition="in" filter="wipe(left)">
                                      <p:cBhvr>
                                        <p:cTn id="16" dur="500"/>
                                        <p:tgtEl>
                                          <p:spTgt spid="1845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8446"/>
                                        </p:tgtEl>
                                        <p:attrNameLst>
                                          <p:attrName>style.visibility</p:attrName>
                                        </p:attrNameLst>
                                      </p:cBhvr>
                                      <p:to>
                                        <p:strVal val="visible"/>
                                      </p:to>
                                    </p:set>
                                    <p:animEffect transition="in" filter="wipe(left)">
                                      <p:cBhvr>
                                        <p:cTn id="21" dur="500"/>
                                        <p:tgtEl>
                                          <p:spTgt spid="18446"/>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8456"/>
                                        </p:tgtEl>
                                        <p:attrNameLst>
                                          <p:attrName>style.visibility</p:attrName>
                                        </p:attrNameLst>
                                      </p:cBhvr>
                                      <p:to>
                                        <p:strVal val="visible"/>
                                      </p:to>
                                    </p:set>
                                    <p:animEffect transition="in" filter="wipe(left)">
                                      <p:cBhvr>
                                        <p:cTn id="25" dur="500"/>
                                        <p:tgtEl>
                                          <p:spTgt spid="18456"/>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8448"/>
                                        </p:tgtEl>
                                        <p:attrNameLst>
                                          <p:attrName>style.visibility</p:attrName>
                                        </p:attrNameLst>
                                      </p:cBhvr>
                                      <p:to>
                                        <p:strVal val="visible"/>
                                      </p:to>
                                    </p:set>
                                    <p:animEffect transition="in" filter="wipe(left)">
                                      <p:cBhvr>
                                        <p:cTn id="38" dur="500"/>
                                        <p:tgtEl>
                                          <p:spTgt spid="18448"/>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par>
                          <p:cTn id="43" fill="hold">
                            <p:stCondLst>
                              <p:cond delay="1000"/>
                            </p:stCondLst>
                            <p:childTnLst>
                              <p:par>
                                <p:cTn id="44" presetID="2" presetClass="entr" presetSubtype="8" fill="hold" nodeType="afterEffect">
                                  <p:stCondLst>
                                    <p:cond delay="0"/>
                                  </p:stCondLst>
                                  <p:childTnLst>
                                    <p:set>
                                      <p:cBhvr>
                                        <p:cTn id="45" dur="1" fill="hold">
                                          <p:stCondLst>
                                            <p:cond delay="0"/>
                                          </p:stCondLst>
                                        </p:cTn>
                                        <p:tgtEl>
                                          <p:spTgt spid="18457"/>
                                        </p:tgtEl>
                                        <p:attrNameLst>
                                          <p:attrName>style.visibility</p:attrName>
                                        </p:attrNameLst>
                                      </p:cBhvr>
                                      <p:to>
                                        <p:strVal val="visible"/>
                                      </p:to>
                                    </p:set>
                                    <p:anim calcmode="lin" valueType="num">
                                      <p:cBhvr additive="base">
                                        <p:cTn id="46" dur="500" fill="hold"/>
                                        <p:tgtEl>
                                          <p:spTgt spid="18457"/>
                                        </p:tgtEl>
                                        <p:attrNameLst>
                                          <p:attrName>ppt_x</p:attrName>
                                        </p:attrNameLst>
                                      </p:cBhvr>
                                      <p:tavLst>
                                        <p:tav tm="0">
                                          <p:val>
                                            <p:strVal val="0-#ppt_w/2"/>
                                          </p:val>
                                        </p:tav>
                                        <p:tav tm="100000">
                                          <p:val>
                                            <p:strVal val="#ppt_x"/>
                                          </p:val>
                                        </p:tav>
                                      </p:tavLst>
                                    </p:anim>
                                    <p:anim calcmode="lin" valueType="num">
                                      <p:cBhvr additive="base">
                                        <p:cTn id="47" dur="500" fill="hold"/>
                                        <p:tgtEl>
                                          <p:spTgt spid="18457"/>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18471"/>
                                        </p:tgtEl>
                                        <p:attrNameLst>
                                          <p:attrName>style.visibility</p:attrName>
                                        </p:attrNameLst>
                                      </p:cBhvr>
                                      <p:to>
                                        <p:strVal val="visible"/>
                                      </p:to>
                                    </p:set>
                                    <p:anim calcmode="lin" valueType="num">
                                      <p:cBhvr additive="base">
                                        <p:cTn id="52" dur="500" fill="hold"/>
                                        <p:tgtEl>
                                          <p:spTgt spid="18471"/>
                                        </p:tgtEl>
                                        <p:attrNameLst>
                                          <p:attrName>ppt_x</p:attrName>
                                        </p:attrNameLst>
                                      </p:cBhvr>
                                      <p:tavLst>
                                        <p:tav tm="0">
                                          <p:val>
                                            <p:strVal val="0-#ppt_w/2"/>
                                          </p:val>
                                        </p:tav>
                                        <p:tav tm="100000">
                                          <p:val>
                                            <p:strVal val="#ppt_x"/>
                                          </p:val>
                                        </p:tav>
                                      </p:tavLst>
                                    </p:anim>
                                    <p:anim calcmode="lin" valueType="num">
                                      <p:cBhvr additive="base">
                                        <p:cTn id="53" dur="500" fill="hold"/>
                                        <p:tgtEl>
                                          <p:spTgt spid="184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4" grpId="0" autoUpdateAnimBg="0"/>
      <p:bldP spid="18445" grpId="0" autoUpdateAnimBg="0"/>
      <p:bldP spid="18446" grpId="0" autoUpdateAnimBg="0"/>
      <p:bldP spid="18448" grpId="0" autoUpdateAnimBg="0"/>
      <p:bldP spid="18471"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bwMode="auto">
          <a:xfrm>
            <a:off x="2663825" y="188913"/>
            <a:ext cx="5392738" cy="614362"/>
          </a:xfrm>
          <a:ln>
            <a:miter lim="800000"/>
          </a:ln>
        </p:spPr>
        <p:txBody>
          <a:bodyPr vert="horz" wrap="square" lIns="91440" tIns="45720" rIns="91440" bIns="45720" numCol="1" anchor="t" anchorCtr="0" compatLnSpc="1"/>
          <a:lstStyle/>
          <a:p>
            <a:pPr eaLnBrk="1" hangingPunct="1">
              <a:defRPr/>
            </a:pPr>
            <a:r>
              <a:rPr lang="zh-CN" altLang="en-US" sz="3000" kern="1200" dirty="0" smtClean="0">
                <a:solidFill>
                  <a:srgbClr val="CC3300"/>
                </a:solidFill>
                <a:latin typeface="黑体" panose="02010609060101010101" pitchFamily="49" charset="-122"/>
                <a:ea typeface="黑体" panose="02010609060101010101" pitchFamily="49" charset="-122"/>
                <a:cs typeface="+mn-cs"/>
              </a:rPr>
              <a:t>螺纹连接件的安全系数</a:t>
            </a:r>
            <a:endParaRPr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43013" name="Picture 5" descr="rewind1">
            <a:hlinkClick r:id="rId1" action="ppaction://hlinksldjump"/>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0263" y="6315075"/>
            <a:ext cx="4953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表格 5"/>
          <p:cNvGraphicFramePr>
            <a:graphicFrameLocks noGrp="1"/>
          </p:cNvGraphicFramePr>
          <p:nvPr>
            <p:custDataLst>
              <p:tags r:id="rId3"/>
            </p:custDataLst>
          </p:nvPr>
        </p:nvGraphicFramePr>
        <p:xfrm>
          <a:off x="457200" y="1057275"/>
          <a:ext cx="8213725" cy="5073834"/>
        </p:xfrm>
        <a:graphic>
          <a:graphicData uri="http://schemas.openxmlformats.org/drawingml/2006/table">
            <a:tbl>
              <a:tblPr/>
              <a:tblGrid>
                <a:gridCol w="819150"/>
                <a:gridCol w="471488"/>
                <a:gridCol w="471487"/>
                <a:gridCol w="933450"/>
                <a:gridCol w="804863"/>
                <a:gridCol w="850900"/>
                <a:gridCol w="931862"/>
                <a:gridCol w="1055688"/>
                <a:gridCol w="936625"/>
                <a:gridCol w="938212"/>
              </a:tblGrid>
              <a:tr h="365737">
                <a:tc gridSpan="3">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受 载 类 型</a:t>
                      </a:r>
                      <a:endPar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gridSpan="4">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静 载 荷</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gridSpan="3">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变 载 荷</a:t>
                      </a:r>
                      <a:endPar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r h="398438">
                <a:tc gridSpan="3">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松螺栓连接</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gridSpan="7">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1"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=1.2</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1.7</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hMerge="1">
                  <a:tcPr/>
                </a:tc>
                <a:tc hMerge="1">
                  <a:tcPr/>
                </a:tc>
                <a:tc hMerge="1">
                  <a:tcPr/>
                </a:tc>
              </a:tr>
              <a:tr h="731474">
                <a:tc rowSpan="5">
                  <a:txBody>
                    <a:bodyPr/>
                    <a:lstStyle/>
                    <a:p>
                      <a:pPr marL="71755"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紧 螺 栓 连 接</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vert="eaVert"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rowSpan="4">
                  <a:txBody>
                    <a:bodyPr/>
                    <a:lstStyle/>
                    <a:p>
                      <a:pPr marL="71755"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普 通 螺 栓 连 接</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vert="eaVert"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71755"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不控制预紧力</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vert="eaVert"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endPar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M6</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M16</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M16</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M30</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M30</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M60</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M6</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M16</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M16</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M30</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M30</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M60</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31474">
                <a:tc vMerge="1">
                  <a:tcPr/>
                </a:tc>
                <a:tc vMerge="1">
                  <a:tcPr/>
                </a:tc>
                <a:tc vMerge="1">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碳钢</a:t>
                      </a:r>
                      <a:r>
                        <a:rPr kumimoji="0"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0" lang="zh-CN"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5</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4</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4</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2.5</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12.5</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8.5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8.5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8.5</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12.5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2249">
                <a:tc vMerge="1">
                  <a:tcPr/>
                </a:tc>
                <a:tc vMerge="1">
                  <a:tcPr/>
                </a:tc>
                <a:tc vMerge="1">
                  <a:tcPr/>
                </a:tc>
                <a:tc>
                  <a:txBody>
                    <a:bodyPr/>
                    <a:lstStyle/>
                    <a:p>
                      <a:pPr marL="0" marR="0" lvl="0" indent="0" algn="just"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合金钢</a:t>
                      </a:r>
                      <a:r>
                        <a:rPr kumimoji="0"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0" lang="zh-CN"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5.7</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5</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3.4</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3.4</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3</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10</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6.8</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6.8</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6.8</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10</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327067">
                <a:tc vMerge="1">
                  <a:tcPr/>
                </a:tc>
                <a:tc vMerge="1">
                  <a:tcPr/>
                </a:tc>
                <a:tc>
                  <a:txBody>
                    <a:bodyPr/>
                    <a:lstStyle/>
                    <a:p>
                      <a:pPr marL="71755"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控制预紧力</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vert="eaVert"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1"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=1.2</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gridSpan="3">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1"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=1.2</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r h="1097211">
                <a:tc vMerge="1">
                  <a:tcPr/>
                </a:tc>
                <a:tc gridSpan="2">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铰制孔用螺栓连接</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hMerge="1">
                  <a:tcPr/>
                </a:tc>
                <a:tc gridSpan="4">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钢：</a:t>
                      </a:r>
                      <a:r>
                        <a:rPr kumimoji="0" lang="en-US" altLang="zh-CN" sz="1600" b="0" i="1"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τ </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=2.5</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1"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p </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=1.25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铸铁：</a:t>
                      </a:r>
                      <a:r>
                        <a:rPr kumimoji="0" lang="en-US" altLang="zh-CN" sz="1600" b="0" i="1"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p </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=2.0</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gridSpan="3">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钢：</a:t>
                      </a:r>
                      <a:r>
                        <a:rPr kumimoji="0" lang="en-US" altLang="zh-CN" sz="1600" b="0" i="1" u="none" strike="noStrike" cap="none" normalizeH="0" baseline="0" dirty="0" err="1"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dirty="0" err="1"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τ</a:t>
                      </a:r>
                      <a:r>
                        <a:rPr kumimoji="0" lang="en-US" altLang="zh-CN" sz="1600" b="0" i="0" u="none" strike="noStrike" cap="none" normalizeH="0" baseline="-2500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=3.5</a:t>
                      </a: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5.0</a:t>
                      </a: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1"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p </a:t>
                      </a: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=1.5</a:t>
                      </a:r>
                      <a:endParaRPr kumimoji="0" lang="zh-CN"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铸铁：</a:t>
                      </a:r>
                      <a:r>
                        <a:rPr kumimoji="0" lang="en-US" altLang="zh-CN" sz="1600" b="0" i="1"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p </a:t>
                      </a: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=2.5</a:t>
                      </a: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3</a:t>
                      </a:r>
                      <a:endParaRPr kumimoji="0" lang="zh-CN"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bl>
          </a:graphicData>
        </a:graphic>
      </p:graphicFrame>
      <p:sp>
        <p:nvSpPr>
          <p:cNvPr id="33850"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3013"/>
                                        </p:tgtEl>
                                        <p:attrNameLst>
                                          <p:attrName>style.visibility</p:attrName>
                                        </p:attrNameLst>
                                      </p:cBhvr>
                                      <p:to>
                                        <p:strVal val="visible"/>
                                      </p:to>
                                    </p:set>
                                    <p:anim calcmode="lin" valueType="num">
                                      <p:cBhvr additive="base">
                                        <p:cTn id="7" dur="500" fill="hold"/>
                                        <p:tgtEl>
                                          <p:spTgt spid="43013"/>
                                        </p:tgtEl>
                                        <p:attrNameLst>
                                          <p:attrName>ppt_x</p:attrName>
                                        </p:attrNameLst>
                                      </p:cBhvr>
                                      <p:tavLst>
                                        <p:tav tm="0">
                                          <p:val>
                                            <p:strVal val="0-#ppt_w/2"/>
                                          </p:val>
                                        </p:tav>
                                        <p:tav tm="100000">
                                          <p:val>
                                            <p:strVal val="#ppt_x"/>
                                          </p:val>
                                        </p:tav>
                                      </p:tavLst>
                                    </p:anim>
                                    <p:anim calcmode="lin" valueType="num">
                                      <p:cBhvr additive="base">
                                        <p:cTn id="8" dur="500" fill="hold"/>
                                        <p:tgtEl>
                                          <p:spTgt spid="430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bwMode="auto">
          <a:xfrm>
            <a:off x="5181600" y="762000"/>
            <a:ext cx="1828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提高螺纹连接强度的措施</a:t>
            </a:r>
            <a:endParaRPr lang="zh-CN" altLang="en-US" sz="800" smtClean="0">
              <a:solidFill>
                <a:schemeClr val="bg1"/>
              </a:solidFill>
            </a:endParaRPr>
          </a:p>
        </p:txBody>
      </p:sp>
      <p:sp>
        <p:nvSpPr>
          <p:cNvPr id="25603" name="Rectangle 4"/>
          <p:cNvSpPr>
            <a:spLocks noChangeArrowheads="1"/>
          </p:cNvSpPr>
          <p:nvPr/>
        </p:nvSpPr>
        <p:spPr bwMode="auto">
          <a:xfrm>
            <a:off x="2371725" y="228600"/>
            <a:ext cx="631063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§2.3-6 </a:t>
            </a:r>
            <a:r>
              <a:rPr lang="zh-CN" altLang="en-US" sz="3000">
                <a:solidFill>
                  <a:srgbClr val="CC3300"/>
                </a:solidFill>
                <a:latin typeface="黑体" panose="02010609060101010101" pitchFamily="49" charset="-122"/>
                <a:ea typeface="黑体" panose="02010609060101010101" pitchFamily="49" charset="-122"/>
              </a:rPr>
              <a:t>提高螺纹连接强度的措施</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25604" name="Rectangle 7"/>
          <p:cNvSpPr>
            <a:spLocks noChangeArrowheads="1"/>
          </p:cNvSpPr>
          <p:nvPr/>
        </p:nvSpPr>
        <p:spPr bwMode="auto">
          <a:xfrm>
            <a:off x="257175" y="871538"/>
            <a:ext cx="89154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rPr>
              <a:t>　　以螺栓连接为例，螺栓连接的强度主要取决于螺栓的强度，因此，提高</a:t>
            </a:r>
            <a:endParaRPr lang="zh-CN" altLang="en-US" sz="2000">
              <a:solidFill>
                <a:srgbClr val="000099"/>
              </a:solidFill>
            </a:endParaRPr>
          </a:p>
          <a:p>
            <a:pPr eaLnBrk="1" hangingPunct="1">
              <a:lnSpc>
                <a:spcPct val="120000"/>
              </a:lnSpc>
            </a:pPr>
            <a:r>
              <a:rPr lang="zh-CN" altLang="en-US" sz="2000">
                <a:solidFill>
                  <a:srgbClr val="000099"/>
                </a:solidFill>
              </a:rPr>
              <a:t>螺栓的强度，将大大提高连接系统的可靠性。</a:t>
            </a:r>
            <a:endParaRPr lang="zh-CN" altLang="en-US" sz="2000">
              <a:solidFill>
                <a:srgbClr val="000099"/>
              </a:solidFill>
            </a:endParaRPr>
          </a:p>
        </p:txBody>
      </p:sp>
      <p:sp>
        <p:nvSpPr>
          <p:cNvPr id="25605" name="Rectangle 8"/>
          <p:cNvSpPr>
            <a:spLocks noChangeArrowheads="1"/>
          </p:cNvSpPr>
          <p:nvPr/>
        </p:nvSpPr>
        <p:spPr bwMode="auto">
          <a:xfrm>
            <a:off x="257175" y="1673225"/>
            <a:ext cx="88868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rPr>
              <a:t>　　影响螺栓强度的因素主要有以下几个方面，或从以下几个方面提高螺栓</a:t>
            </a:r>
            <a:endParaRPr lang="zh-CN" altLang="en-US" sz="2000">
              <a:solidFill>
                <a:srgbClr val="000099"/>
              </a:solidFill>
            </a:endParaRPr>
          </a:p>
          <a:p>
            <a:pPr eaLnBrk="1" hangingPunct="1">
              <a:lnSpc>
                <a:spcPct val="120000"/>
              </a:lnSpc>
            </a:pPr>
            <a:r>
              <a:rPr lang="zh-CN" altLang="en-US" sz="2000">
                <a:solidFill>
                  <a:srgbClr val="000099"/>
                </a:solidFill>
              </a:rPr>
              <a:t>强度。</a:t>
            </a:r>
            <a:endParaRPr lang="zh-CN" altLang="en-US" sz="2000">
              <a:solidFill>
                <a:srgbClr val="000099"/>
              </a:solidFill>
            </a:endParaRPr>
          </a:p>
        </p:txBody>
      </p:sp>
      <p:sp>
        <p:nvSpPr>
          <p:cNvPr id="25606" name="Rectangle 16"/>
          <p:cNvSpPr>
            <a:spLocks noChangeArrowheads="1"/>
          </p:cNvSpPr>
          <p:nvPr/>
        </p:nvSpPr>
        <p:spPr bwMode="auto">
          <a:xfrm>
            <a:off x="2577465" y="4791075"/>
            <a:ext cx="2003425" cy="1087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pPr>
            <a:r>
              <a:rPr lang="en-US" altLang="zh-CN" sz="1800">
                <a:solidFill>
                  <a:srgbClr val="C00000"/>
                </a:solidFill>
              </a:rPr>
              <a:t>2</a:t>
            </a:r>
            <a:r>
              <a:rPr lang="zh-CN" altLang="en-US" sz="1800">
                <a:solidFill>
                  <a:srgbClr val="C00000"/>
                </a:solidFill>
              </a:rPr>
              <a:t>、改善螺纹牙上载荷分布不均的现象</a:t>
            </a:r>
            <a:endParaRPr lang="zh-CN" altLang="en-US" sz="1800">
              <a:solidFill>
                <a:srgbClr val="C00000"/>
              </a:solidFill>
            </a:endParaRPr>
          </a:p>
        </p:txBody>
      </p:sp>
      <p:sp>
        <p:nvSpPr>
          <p:cNvPr id="25607" name="Rectangle 17"/>
          <p:cNvSpPr>
            <a:spLocks noChangeArrowheads="1"/>
          </p:cNvSpPr>
          <p:nvPr/>
        </p:nvSpPr>
        <p:spPr bwMode="auto">
          <a:xfrm>
            <a:off x="358775" y="4850130"/>
            <a:ext cx="1946275" cy="1087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pPr>
            <a:r>
              <a:rPr lang="en-US" altLang="zh-CN" sz="1800">
                <a:solidFill>
                  <a:srgbClr val="C00000"/>
                </a:solidFill>
              </a:rPr>
              <a:t>1</a:t>
            </a:r>
            <a:r>
              <a:rPr lang="zh-CN" altLang="en-US" sz="1800">
                <a:solidFill>
                  <a:srgbClr val="C00000"/>
                </a:solidFill>
              </a:rPr>
              <a:t>、降低影响螺栓疲劳强度的应力幅</a:t>
            </a:r>
            <a:endParaRPr lang="zh-CN" altLang="en-US" sz="1800">
              <a:solidFill>
                <a:srgbClr val="C00000"/>
              </a:solidFill>
            </a:endParaRPr>
          </a:p>
        </p:txBody>
      </p:sp>
      <p:sp>
        <p:nvSpPr>
          <p:cNvPr id="25608" name="Rectangle 18"/>
          <p:cNvSpPr>
            <a:spLocks noChangeArrowheads="1"/>
          </p:cNvSpPr>
          <p:nvPr/>
        </p:nvSpPr>
        <p:spPr bwMode="auto">
          <a:xfrm>
            <a:off x="4993323" y="5008880"/>
            <a:ext cx="17240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pPr>
            <a:r>
              <a:rPr lang="en-US" altLang="zh-CN" sz="1800">
                <a:solidFill>
                  <a:srgbClr val="C00000"/>
                </a:solidFill>
              </a:rPr>
              <a:t>3</a:t>
            </a:r>
            <a:r>
              <a:rPr lang="zh-CN" altLang="en-US" sz="1800">
                <a:solidFill>
                  <a:srgbClr val="C00000"/>
                </a:solidFill>
              </a:rPr>
              <a:t>、减小应力集中的影响</a:t>
            </a:r>
            <a:endParaRPr lang="zh-CN" altLang="en-US" sz="1800">
              <a:solidFill>
                <a:srgbClr val="C00000"/>
              </a:solidFill>
            </a:endParaRPr>
          </a:p>
        </p:txBody>
      </p:sp>
      <p:sp>
        <p:nvSpPr>
          <p:cNvPr id="25609" name="Rectangle 19"/>
          <p:cNvSpPr>
            <a:spLocks noChangeArrowheads="1"/>
          </p:cNvSpPr>
          <p:nvPr/>
        </p:nvSpPr>
        <p:spPr bwMode="auto">
          <a:xfrm>
            <a:off x="7194550" y="4878388"/>
            <a:ext cx="178276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pPr>
            <a:r>
              <a:rPr lang="en-US" altLang="zh-CN" sz="1800">
                <a:solidFill>
                  <a:srgbClr val="C00000"/>
                </a:solidFill>
              </a:rPr>
              <a:t>4</a:t>
            </a:r>
            <a:r>
              <a:rPr lang="zh-CN" altLang="en-US" sz="1800">
                <a:solidFill>
                  <a:srgbClr val="C00000"/>
                </a:solidFill>
              </a:rPr>
              <a:t>、采用合理的制造工艺</a:t>
            </a:r>
            <a:endParaRPr lang="zh-CN" altLang="en-US" sz="1800">
              <a:solidFill>
                <a:srgbClr val="C00000"/>
              </a:solidFill>
            </a:endParaRPr>
          </a:p>
        </p:txBody>
      </p:sp>
      <p:pic>
        <p:nvPicPr>
          <p:cNvPr id="17445" name="Picture 37"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82038" y="64944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52" name="Text Box 44"/>
          <p:cNvSpPr txBox="1">
            <a:spLocks noChangeArrowheads="1"/>
          </p:cNvSpPr>
          <p:nvPr/>
        </p:nvSpPr>
        <p:spPr bwMode="auto">
          <a:xfrm>
            <a:off x="6164263" y="62420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grpSp>
        <p:nvGrpSpPr>
          <p:cNvPr id="25612" name="Group 48"/>
          <p:cNvGrpSpPr/>
          <p:nvPr/>
        </p:nvGrpSpPr>
        <p:grpSpPr bwMode="auto">
          <a:xfrm>
            <a:off x="749301" y="5848350"/>
            <a:ext cx="682624" cy="393700"/>
            <a:chOff x="1894" y="3661"/>
            <a:chExt cx="430" cy="248"/>
          </a:xfrm>
        </p:grpSpPr>
        <p:sp>
          <p:nvSpPr>
            <p:cNvPr id="25618" name="Text Box 49"/>
            <p:cNvSpPr txBox="1">
              <a:spLocks noChangeArrowheads="1"/>
            </p:cNvSpPr>
            <p:nvPr/>
          </p:nvSpPr>
          <p:spPr bwMode="auto">
            <a:xfrm>
              <a:off x="1894" y="3697"/>
              <a:ext cx="3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600">
                  <a:solidFill>
                    <a:srgbClr val="A50021"/>
                  </a:solidFill>
                  <a:hlinkClick r:id="rId3" action="ppaction://hlinksldjump"/>
                </a:rPr>
                <a:t>分析</a:t>
              </a:r>
              <a:endParaRPr lang="zh-CN" altLang="en-US" sz="1600">
                <a:solidFill>
                  <a:srgbClr val="A50021"/>
                </a:solidFill>
              </a:endParaRPr>
            </a:p>
          </p:txBody>
        </p:sp>
        <p:pic>
          <p:nvPicPr>
            <p:cNvPr id="25619" name="Picture 50" descr="arrow"/>
            <p:cNvPicPr>
              <a:picLocks noChangeAspect="1" noChangeArrowheads="1" noCrop="1"/>
            </p:cNvPicPr>
            <p:nvPr/>
          </p:nvPicPr>
          <p:blipFill>
            <a:blip r:embed="rId4"/>
            <a:srcRect/>
            <a:stretch>
              <a:fillRect/>
            </a:stretch>
          </p:blipFill>
          <p:spPr bwMode="auto">
            <a:xfrm>
              <a:off x="2266" y="3661"/>
              <a:ext cx="5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613" name="Picture 54"/>
          <p:cNvPicPr>
            <a:picLocks noChangeAspect="1" noChangeArrowheads="1"/>
          </p:cNvPicPr>
          <p:nvPr/>
        </p:nvPicPr>
        <p:blipFill>
          <a:blip r:embed="rId5">
            <a:extLst>
              <a:ext uri="{28A0092B-C50C-407E-A947-70E740481C1C}">
                <a14:useLocalDpi xmlns:a14="http://schemas.microsoft.com/office/drawing/2010/main" val="0"/>
              </a:ext>
            </a:extLst>
          </a:blip>
          <a:srcRect t="25981" b="30704"/>
          <a:stretch>
            <a:fillRect/>
          </a:stretch>
        </p:blipFill>
        <p:spPr bwMode="auto">
          <a:xfrm>
            <a:off x="358458" y="2433955"/>
            <a:ext cx="8494712"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4"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25615" name="Group 48"/>
          <p:cNvGrpSpPr/>
          <p:nvPr/>
        </p:nvGrpSpPr>
        <p:grpSpPr bwMode="auto">
          <a:xfrm>
            <a:off x="3035300" y="5937568"/>
            <a:ext cx="646113" cy="336550"/>
            <a:chOff x="1917" y="3599"/>
            <a:chExt cx="407" cy="212"/>
          </a:xfrm>
        </p:grpSpPr>
        <p:sp>
          <p:nvSpPr>
            <p:cNvPr id="25616" name="Text Box 49"/>
            <p:cNvSpPr txBox="1">
              <a:spLocks noChangeArrowheads="1"/>
            </p:cNvSpPr>
            <p:nvPr/>
          </p:nvSpPr>
          <p:spPr bwMode="auto">
            <a:xfrm>
              <a:off x="1917" y="3599"/>
              <a:ext cx="3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600">
                  <a:solidFill>
                    <a:srgbClr val="A50021"/>
                  </a:solidFill>
                  <a:hlinkClick r:id="rId6" action="ppaction://hlinksldjump"/>
                </a:rPr>
                <a:t>分析</a:t>
              </a:r>
              <a:endParaRPr lang="zh-CN" altLang="en-US" sz="1600">
                <a:solidFill>
                  <a:srgbClr val="A50021"/>
                </a:solidFill>
              </a:endParaRPr>
            </a:p>
          </p:txBody>
        </p:sp>
        <p:pic>
          <p:nvPicPr>
            <p:cNvPr id="25617" name="Picture 50" descr="arrow"/>
            <p:cNvPicPr>
              <a:picLocks noChangeAspect="1" noChangeArrowheads="1" noCrop="1"/>
            </p:cNvPicPr>
            <p:nvPr/>
          </p:nvPicPr>
          <p:blipFill>
            <a:blip r:embed="rId4"/>
            <a:srcRect/>
            <a:stretch>
              <a:fillRect/>
            </a:stretch>
          </p:blipFill>
          <p:spPr bwMode="auto">
            <a:xfrm>
              <a:off x="2266" y="3661"/>
              <a:ext cx="5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7445"/>
                                        </p:tgtEl>
                                        <p:attrNameLst>
                                          <p:attrName>style.visibility</p:attrName>
                                        </p:attrNameLst>
                                      </p:cBhvr>
                                      <p:to>
                                        <p:strVal val="visible"/>
                                      </p:to>
                                    </p:set>
                                    <p:anim calcmode="lin" valueType="num">
                                      <p:cBhvr additive="base">
                                        <p:cTn id="7" dur="500" fill="hold"/>
                                        <p:tgtEl>
                                          <p:spTgt spid="17445"/>
                                        </p:tgtEl>
                                        <p:attrNameLst>
                                          <p:attrName>ppt_x</p:attrName>
                                        </p:attrNameLst>
                                      </p:cBhvr>
                                      <p:tavLst>
                                        <p:tav tm="0">
                                          <p:val>
                                            <p:strVal val="0-#ppt_w/2"/>
                                          </p:val>
                                        </p:tav>
                                        <p:tav tm="100000">
                                          <p:val>
                                            <p:strVal val="#ppt_x"/>
                                          </p:val>
                                        </p:tav>
                                      </p:tavLst>
                                    </p:anim>
                                    <p:anim calcmode="lin" valueType="num">
                                      <p:cBhvr additive="base">
                                        <p:cTn id="8" dur="500" fill="hold"/>
                                        <p:tgtEl>
                                          <p:spTgt spid="1744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52"/>
                                        </p:tgtEl>
                                        <p:attrNameLst>
                                          <p:attrName>style.visibility</p:attrName>
                                        </p:attrNameLst>
                                      </p:cBhvr>
                                      <p:to>
                                        <p:strVal val="visible"/>
                                      </p:to>
                                    </p:set>
                                    <p:anim calcmode="lin" valueType="num">
                                      <p:cBhvr additive="base">
                                        <p:cTn id="13" dur="500" fill="hold"/>
                                        <p:tgtEl>
                                          <p:spTgt spid="17452"/>
                                        </p:tgtEl>
                                        <p:attrNameLst>
                                          <p:attrName>ppt_x</p:attrName>
                                        </p:attrNameLst>
                                      </p:cBhvr>
                                      <p:tavLst>
                                        <p:tav tm="0">
                                          <p:val>
                                            <p:strVal val="0-#ppt_w/2"/>
                                          </p:val>
                                        </p:tav>
                                        <p:tav tm="100000">
                                          <p:val>
                                            <p:strVal val="#ppt_x"/>
                                          </p:val>
                                        </p:tav>
                                      </p:tavLst>
                                    </p:anim>
                                    <p:anim calcmode="lin" valueType="num">
                                      <p:cBhvr additive="base">
                                        <p:cTn id="14" dur="500" fill="hold"/>
                                        <p:tgtEl>
                                          <p:spTgt spid="174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2"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bwMode="auto">
          <a:xfrm>
            <a:off x="2679700" y="204788"/>
            <a:ext cx="5738813" cy="614362"/>
          </a:xfrm>
          <a:ln>
            <a:miter lim="800000"/>
          </a:ln>
        </p:spPr>
        <p:txBody>
          <a:bodyPr vert="horz" wrap="square" lIns="91440" tIns="45720" rIns="91440" bIns="45720" numCol="1" anchor="t" anchorCtr="0" compatLnSpc="1"/>
          <a:lstStyle/>
          <a:p>
            <a:pPr eaLnBrk="1" hangingPunct="1">
              <a:defRPr/>
            </a:pPr>
            <a:r>
              <a:rPr lang="zh-CN" altLang="en-US" sz="3000" kern="1200" dirty="0" smtClean="0">
                <a:solidFill>
                  <a:srgbClr val="CC3300"/>
                </a:solidFill>
                <a:latin typeface="黑体" panose="02010609060101010101" pitchFamily="49" charset="-122"/>
                <a:ea typeface="黑体" panose="02010609060101010101" pitchFamily="49" charset="-122"/>
                <a:cs typeface="+mn-cs"/>
              </a:rPr>
              <a:t>降低影响螺栓疲劳强度的应力幅</a:t>
            </a:r>
            <a:endParaRPr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9940" name="矩形 4"/>
          <p:cNvSpPr>
            <a:spLocks noChangeArrowheads="1"/>
          </p:cNvSpPr>
          <p:nvPr/>
        </p:nvSpPr>
        <p:spPr bwMode="auto">
          <a:xfrm>
            <a:off x="378460" y="906463"/>
            <a:ext cx="6432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C00000"/>
                </a:solidFill>
                <a:latin typeface="Times New Roman" panose="02020603050405020304" pitchFamily="18" charset="0"/>
              </a:rPr>
              <a:t>降低影响螺栓疲劳强度的应力幅的主要措施有：</a:t>
            </a:r>
            <a:endParaRPr lang="zh-CN" altLang="en-US" sz="2000">
              <a:solidFill>
                <a:srgbClr val="C00000"/>
              </a:solidFill>
              <a:latin typeface="Times New Roman" panose="02020603050405020304" pitchFamily="18" charset="0"/>
            </a:endParaRPr>
          </a:p>
        </p:txBody>
      </p:sp>
      <p:sp>
        <p:nvSpPr>
          <p:cNvPr id="39941" name="Rectangle 6"/>
          <p:cNvSpPr>
            <a:spLocks noChangeArrowheads="1"/>
          </p:cNvSpPr>
          <p:nvPr/>
        </p:nvSpPr>
        <p:spPr bwMode="auto">
          <a:xfrm>
            <a:off x="568325" y="1343025"/>
            <a:ext cx="305943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措施</a:t>
            </a:r>
            <a:r>
              <a:rPr lang="en-US" altLang="zh-CN"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1</a:t>
            </a:r>
            <a:r>
              <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：减小螺栓刚度</a:t>
            </a:r>
            <a:r>
              <a:rPr lang="en-US" altLang="zh-CN" sz="2000" i="1">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C</a:t>
            </a:r>
            <a:r>
              <a:rPr lang="en-US" altLang="zh-CN" sz="2000" i="1" baseline="-25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1</a:t>
            </a:r>
            <a:r>
              <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a:t>
            </a:r>
            <a:endPar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39942" name="矩形 6"/>
          <p:cNvSpPr>
            <a:spLocks noChangeArrowheads="1"/>
          </p:cNvSpPr>
          <p:nvPr/>
        </p:nvSpPr>
        <p:spPr bwMode="auto">
          <a:xfrm>
            <a:off x="558800" y="1778000"/>
            <a:ext cx="331343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l" eaLnBrk="1" hangingPunct="1">
              <a:buClrTx/>
              <a:buSzTx/>
              <a:buFontTx/>
            </a:pPr>
            <a:r>
              <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措施2：增大被连接件刚度C</a:t>
            </a:r>
            <a:r>
              <a:rPr lang="zh-CN" altLang="en-US" sz="2000" baseline="-25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2</a:t>
            </a:r>
            <a:endParaRPr lang="zh-CN" altLang="en-US" sz="2000" baseline="-25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39943" name="Rectangle 6"/>
          <p:cNvSpPr>
            <a:spLocks noChangeArrowheads="1"/>
          </p:cNvSpPr>
          <p:nvPr/>
        </p:nvSpPr>
        <p:spPr bwMode="auto">
          <a:xfrm>
            <a:off x="546100" y="2202498"/>
            <a:ext cx="53009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l" eaLnBrk="1" hangingPunct="1">
              <a:buClrTx/>
              <a:buSzTx/>
              <a:buFontTx/>
            </a:pPr>
            <a:r>
              <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措施3：减小螺栓刚度C</a:t>
            </a:r>
            <a:r>
              <a:rPr lang="zh-CN" altLang="en-US" sz="2000" baseline="-25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1</a:t>
            </a:r>
            <a:r>
              <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；增大被连接件刚度C</a:t>
            </a:r>
            <a:r>
              <a:rPr lang="zh-CN" altLang="en-US" sz="2000" baseline="-25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2</a:t>
            </a:r>
            <a:endPar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a:p>
            <a:pPr algn="l" eaLnBrk="1" hangingPunct="1">
              <a:buClrTx/>
              <a:buSzTx/>
              <a:buFontTx/>
            </a:pPr>
            <a:endPar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39944" name="矩形 8"/>
          <p:cNvSpPr>
            <a:spLocks noChangeArrowheads="1"/>
          </p:cNvSpPr>
          <p:nvPr/>
        </p:nvSpPr>
        <p:spPr bwMode="auto">
          <a:xfrm>
            <a:off x="568325" y="2619375"/>
            <a:ext cx="62896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在</a:t>
            </a:r>
            <a:r>
              <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采取上述措施时，</a:t>
            </a:r>
            <a:r>
              <a:rPr lang="zh-CN" altLang="en-US" sz="2000">
                <a:solidFill>
                  <a:srgbClr val="000099"/>
                </a:solidFill>
                <a:latin typeface="Times New Roman" panose="02020603050405020304" pitchFamily="18" charset="0"/>
              </a:rPr>
              <a:t>需适当增加预紧力</a:t>
            </a:r>
            <a:r>
              <a:rPr lang="en-US" altLang="en-US" sz="2000" i="1">
                <a:solidFill>
                  <a:srgbClr val="000099"/>
                </a:solidFill>
                <a:latin typeface="Times New Roman" panose="02020603050405020304" pitchFamily="18" charset="0"/>
                <a:cs typeface="Times New Roman" panose="02020603050405020304" pitchFamily="18" charset="0"/>
              </a:rPr>
              <a:t>F</a:t>
            </a:r>
            <a:r>
              <a:rPr lang="en-US" altLang="en-US" sz="2000" baseline="-25000">
                <a:solidFill>
                  <a:srgbClr val="000099"/>
                </a:solidFill>
                <a:latin typeface="Times New Roman" panose="02020603050405020304" pitchFamily="18" charset="0"/>
              </a:rPr>
              <a:t>0</a:t>
            </a:r>
            <a:endParaRPr lang="zh-CN" altLang="en-US" sz="2000" baseline="-25000">
              <a:solidFill>
                <a:srgbClr val="000099"/>
              </a:solidFill>
              <a:latin typeface="Times New Roman" panose="02020603050405020304" pitchFamily="18" charset="0"/>
            </a:endParaRPr>
          </a:p>
        </p:txBody>
      </p:sp>
      <p:pic>
        <p:nvPicPr>
          <p:cNvPr id="39945"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78460" y="2952433"/>
            <a:ext cx="4383088" cy="284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6" name="矩形 10"/>
          <p:cNvSpPr>
            <a:spLocks noChangeArrowheads="1"/>
          </p:cNvSpPr>
          <p:nvPr>
            <p:custDataLst>
              <p:tags r:id="rId2"/>
            </p:custDataLst>
          </p:nvPr>
        </p:nvSpPr>
        <p:spPr bwMode="auto">
          <a:xfrm>
            <a:off x="473075" y="5798820"/>
            <a:ext cx="419417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l" eaLnBrk="1" hangingPunct="1">
              <a:buClrTx/>
              <a:buSzTx/>
              <a:buFontTx/>
            </a:pPr>
            <a:r>
              <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图示为不同刚度的螺栓连接，在变载荷和冲击载荷作用下其疲劳强度按序递增</a:t>
            </a:r>
            <a:endPar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pic>
        <p:nvPicPr>
          <p:cNvPr id="39947"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7775" y="3325813"/>
            <a:ext cx="4086225" cy="162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8" name="矩形 12"/>
          <p:cNvSpPr>
            <a:spLocks noChangeArrowheads="1"/>
          </p:cNvSpPr>
          <p:nvPr/>
        </p:nvSpPr>
        <p:spPr bwMode="auto">
          <a:xfrm>
            <a:off x="5013325" y="5434013"/>
            <a:ext cx="3925888"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l" eaLnBrk="1" hangingPunct="1">
              <a:buClrTx/>
              <a:buSzTx/>
              <a:buFontTx/>
            </a:pPr>
            <a:r>
              <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为了增大被连接件的刚度，可以不用垫片或采用刚度较大的垫片</a:t>
            </a:r>
            <a:endParaRPr lang="zh-CN" altLang="en-US" sz="200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39949" name="矩形 13"/>
          <p:cNvSpPr>
            <a:spLocks noChangeArrowheads="1"/>
          </p:cNvSpPr>
          <p:nvPr/>
        </p:nvSpPr>
        <p:spPr bwMode="auto">
          <a:xfrm>
            <a:off x="4978400" y="5010150"/>
            <a:ext cx="15065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en-US" sz="1600">
                <a:solidFill>
                  <a:srgbClr val="000099"/>
                </a:solidFill>
                <a:latin typeface="Times New Roman" panose="02020603050405020304" pitchFamily="18" charset="0"/>
              </a:rPr>
              <a:t>a</a:t>
            </a:r>
            <a:r>
              <a:rPr lang="zh-CN" altLang="en-US" sz="1600">
                <a:solidFill>
                  <a:srgbClr val="000099"/>
                </a:solidFill>
                <a:latin typeface="Times New Roman" panose="02020603050405020304" pitchFamily="18" charset="0"/>
              </a:rPr>
              <a:t>）软垫片密封</a:t>
            </a:r>
            <a:endParaRPr lang="zh-CN" altLang="en-US" sz="1600">
              <a:solidFill>
                <a:srgbClr val="000099"/>
              </a:solidFill>
              <a:latin typeface="Times New Roman" panose="02020603050405020304" pitchFamily="18" charset="0"/>
            </a:endParaRPr>
          </a:p>
        </p:txBody>
      </p:sp>
      <p:sp>
        <p:nvSpPr>
          <p:cNvPr id="39950" name="矩形 14"/>
          <p:cNvSpPr>
            <a:spLocks noChangeArrowheads="1"/>
          </p:cNvSpPr>
          <p:nvPr/>
        </p:nvSpPr>
        <p:spPr bwMode="auto">
          <a:xfrm>
            <a:off x="7292975" y="5010150"/>
            <a:ext cx="15176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en-US" sz="1600">
                <a:solidFill>
                  <a:srgbClr val="000099"/>
                </a:solidFill>
                <a:latin typeface="Times New Roman" panose="02020603050405020304" pitchFamily="18" charset="0"/>
              </a:rPr>
              <a:t>b</a:t>
            </a:r>
            <a:r>
              <a:rPr lang="zh-CN" altLang="en-US" sz="1600">
                <a:solidFill>
                  <a:srgbClr val="000099"/>
                </a:solidFill>
                <a:latin typeface="Times New Roman" panose="02020603050405020304" pitchFamily="18" charset="0"/>
              </a:rPr>
              <a:t>）密封环密封</a:t>
            </a:r>
            <a:endParaRPr lang="zh-CN" altLang="en-US" sz="1600">
              <a:solidFill>
                <a:srgbClr val="000099"/>
              </a:solidFill>
              <a:latin typeface="Times New Roman" panose="02020603050405020304" pitchFamily="18" charset="0"/>
            </a:endParaRPr>
          </a:p>
        </p:txBody>
      </p:sp>
      <p:sp>
        <p:nvSpPr>
          <p:cNvPr id="30734"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6" name="TextBox 15"/>
          <p:cNvSpPr txBox="1">
            <a:spLocks noChangeArrowheads="1"/>
          </p:cNvSpPr>
          <p:nvPr/>
        </p:nvSpPr>
        <p:spPr bwMode="auto">
          <a:xfrm>
            <a:off x="7772400" y="6211888"/>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4" action="ppaction://hlinksldjump"/>
              </a:rPr>
              <a:t>返回</a:t>
            </a:r>
            <a:endParaRPr lang="zh-CN" altLang="en-US">
              <a:solidFill>
                <a:srgbClr val="000099"/>
              </a:solidFill>
            </a:endParaRPr>
          </a:p>
        </p:txBody>
      </p:sp>
      <p:graphicFrame>
        <p:nvGraphicFramePr>
          <p:cNvPr id="2" name="对象 1">
            <a:hlinkClick r:id="" action="ppaction://ole?verb="/>
          </p:cNvPr>
          <p:cNvGraphicFramePr>
            <a:graphicFrameLocks noChangeAspect="1"/>
          </p:cNvGraphicFramePr>
          <p:nvPr/>
        </p:nvGraphicFramePr>
        <p:xfrm>
          <a:off x="6174740" y="906780"/>
          <a:ext cx="2052320" cy="850900"/>
        </p:xfrm>
        <a:graphic>
          <a:graphicData uri="http://schemas.openxmlformats.org/presentationml/2006/ole">
            <mc:AlternateContent xmlns:mc="http://schemas.openxmlformats.org/markup-compatibility/2006">
              <mc:Choice xmlns:v="urn:schemas-microsoft-com:vml" Requires="v">
                <p:oleObj spid="_x0000_s1025" name="" r:id="rId5" imgW="1041400" imgH="431800" progId="Equation.KSEE3">
                  <p:embed/>
                </p:oleObj>
              </mc:Choice>
              <mc:Fallback>
                <p:oleObj name="" r:id="rId5" imgW="1041400" imgH="431800" progId="Equation.KSEE3">
                  <p:embed/>
                  <p:pic>
                    <p:nvPicPr>
                      <p:cNvPr id="0" name="图片 1024"/>
                      <p:cNvPicPr/>
                      <p:nvPr/>
                    </p:nvPicPr>
                    <p:blipFill>
                      <a:blip r:embed="rId6"/>
                      <a:stretch>
                        <a:fillRect/>
                      </a:stretch>
                    </p:blipFill>
                    <p:spPr>
                      <a:xfrm>
                        <a:off x="6174740" y="906780"/>
                        <a:ext cx="2052320" cy="850900"/>
                      </a:xfrm>
                      <a:prstGeom prst="rect">
                        <a:avLst/>
                      </a:prstGeom>
                      <a:ln>
                        <a:solidFill>
                          <a:srgbClr val="00B0F0"/>
                        </a:solid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9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9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9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945"/>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3994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9947"/>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childTnLst>
                                    <p:set>
                                      <p:cBhvr>
                                        <p:cTn id="36" dur="1" fill="hold">
                                          <p:stCondLst>
                                            <p:cond delay="0"/>
                                          </p:stCondLst>
                                        </p:cTn>
                                        <p:tgtEl>
                                          <p:spTgt spid="39949"/>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39950"/>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39948"/>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p:bldP spid="39941" grpId="0"/>
      <p:bldP spid="39942" grpId="0"/>
      <p:bldP spid="39943" grpId="0"/>
      <p:bldP spid="39944" grpId="0"/>
      <p:bldP spid="39946" grpId="0"/>
      <p:bldP spid="39948" grpId="0"/>
      <p:bldP spid="39949" grpId="0"/>
      <p:bldP spid="39950" grpId="0"/>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bwMode="auto">
          <a:xfrm>
            <a:off x="2632075" y="188913"/>
            <a:ext cx="5834063" cy="614362"/>
          </a:xfrm>
          <a:ln>
            <a:miter lim="800000"/>
          </a:ln>
        </p:spPr>
        <p:txBody>
          <a:bodyPr vert="horz" wrap="square" lIns="91440" tIns="45720" rIns="91440" bIns="45720" numCol="1" anchor="t" anchorCtr="0" compatLnSpc="1"/>
          <a:lstStyle/>
          <a:p>
            <a:pPr eaLnBrk="1" hangingPunct="1">
              <a:defRPr/>
            </a:pPr>
            <a:r>
              <a:rPr lang="zh-CN" altLang="en-US" sz="3000" kern="1200" dirty="0" smtClean="0">
                <a:solidFill>
                  <a:srgbClr val="CC3300"/>
                </a:solidFill>
                <a:latin typeface="黑体" panose="02010609060101010101" pitchFamily="49" charset="-122"/>
                <a:ea typeface="黑体" panose="02010609060101010101" pitchFamily="49" charset="-122"/>
                <a:cs typeface="+mn-cs"/>
              </a:rPr>
              <a:t>改善螺纹牙载荷分布不均的现象</a:t>
            </a:r>
            <a:endParaRPr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1747" name="矩形 14"/>
          <p:cNvSpPr>
            <a:spLocks noChangeArrowheads="1"/>
          </p:cNvSpPr>
          <p:nvPr/>
        </p:nvSpPr>
        <p:spPr bwMode="auto">
          <a:xfrm>
            <a:off x="2631758" y="6303963"/>
            <a:ext cx="62103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en-US" sz="1600">
                <a:solidFill>
                  <a:srgbClr val="000099"/>
                </a:solidFill>
                <a:latin typeface="Times New Roman" panose="02020603050405020304" pitchFamily="18" charset="0"/>
              </a:rPr>
              <a:t>a</a:t>
            </a:r>
            <a:r>
              <a:rPr lang="zh-CN" altLang="en-US" sz="1600">
                <a:solidFill>
                  <a:srgbClr val="000099"/>
                </a:solidFill>
                <a:latin typeface="Times New Roman" panose="02020603050405020304" pitchFamily="18" charset="0"/>
              </a:rPr>
              <a:t>）普通型钢丝螺套</a:t>
            </a:r>
            <a:r>
              <a:rPr lang="en-US" altLang="en-US" sz="1600">
                <a:solidFill>
                  <a:srgbClr val="000099"/>
                </a:solidFill>
                <a:latin typeface="Times New Roman" panose="02020603050405020304" pitchFamily="18" charset="0"/>
              </a:rPr>
              <a:t>      b</a:t>
            </a:r>
            <a:r>
              <a:rPr lang="zh-CN" altLang="en-US" sz="1600">
                <a:solidFill>
                  <a:srgbClr val="000099"/>
                </a:solidFill>
                <a:latin typeface="Times New Roman" panose="02020603050405020304" pitchFamily="18" charset="0"/>
              </a:rPr>
              <a:t>）锁紧型钢丝螺套</a:t>
            </a:r>
            <a:endParaRPr lang="zh-CN" altLang="en-US" sz="1600">
              <a:solidFill>
                <a:srgbClr val="000099"/>
              </a:solidFill>
              <a:latin typeface="Times New Roman" panose="02020603050405020304" pitchFamily="18" charset="0"/>
            </a:endParaRPr>
          </a:p>
        </p:txBody>
      </p:sp>
      <p:sp>
        <p:nvSpPr>
          <p:cNvPr id="31748" name="矩形 15"/>
          <p:cNvSpPr>
            <a:spLocks noChangeArrowheads="1"/>
          </p:cNvSpPr>
          <p:nvPr/>
        </p:nvSpPr>
        <p:spPr bwMode="auto">
          <a:xfrm>
            <a:off x="331788" y="963613"/>
            <a:ext cx="8434387" cy="1245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a:solidFill>
                  <a:srgbClr val="000099"/>
                </a:solidFill>
                <a:latin typeface="Times New Roman" panose="02020603050405020304" pitchFamily="18" charset="0"/>
              </a:rPr>
              <a:t>        </a:t>
            </a:r>
            <a:r>
              <a:rPr lang="zh-CN" altLang="en-US" sz="2000">
                <a:solidFill>
                  <a:schemeClr val="accent5">
                    <a:lumMod val="10000"/>
                  </a:schemeClr>
                </a:solidFill>
                <a:latin typeface="黑体" panose="02010609060101010101" pitchFamily="49" charset="-122"/>
                <a:ea typeface="黑体" panose="02010609060101010101" pitchFamily="49" charset="-122"/>
              </a:rPr>
              <a:t>螺栓连接受载时，螺栓受拉伸，外螺纹的螺距增大；而螺母受压缩，内螺纹的螺距减小。由于螺栓和螺母的刚度及变形性质不同，即使制造和装配都很精确，各圈螺纹牙上的受力也是不同的。</a:t>
            </a:r>
            <a:endParaRPr lang="zh-CN" altLang="en-US" sz="2000">
              <a:solidFill>
                <a:schemeClr val="accent5">
                  <a:lumMod val="10000"/>
                </a:schemeClr>
              </a:solidFill>
              <a:latin typeface="黑体" panose="02010609060101010101" pitchFamily="49" charset="-122"/>
              <a:ea typeface="黑体" panose="02010609060101010101" pitchFamily="49" charset="-122"/>
            </a:endParaRPr>
          </a:p>
        </p:txBody>
      </p:sp>
      <p:pic>
        <p:nvPicPr>
          <p:cNvPr id="31749"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001838" y="2128838"/>
            <a:ext cx="5199062" cy="213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Rectangle 3"/>
          <p:cNvSpPr>
            <a:spLocks noChangeArrowheads="1"/>
          </p:cNvSpPr>
          <p:nvPr/>
        </p:nvSpPr>
        <p:spPr bwMode="auto">
          <a:xfrm>
            <a:off x="2418716" y="4230053"/>
            <a:ext cx="452882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ctr" eaLnBrk="1" hangingPunct="1"/>
            <a:r>
              <a:rPr lang="en-US" altLang="zh-CN" sz="1600">
                <a:solidFill>
                  <a:srgbClr val="000099"/>
                </a:solidFill>
                <a:latin typeface="Times New Roman" panose="02020603050405020304" pitchFamily="18" charset="0"/>
              </a:rPr>
              <a:t>a</a:t>
            </a:r>
            <a:r>
              <a:rPr lang="zh-CN" altLang="en-US" sz="1600">
                <a:solidFill>
                  <a:srgbClr val="000099"/>
                </a:solidFill>
                <a:latin typeface="Times New Roman" panose="02020603050405020304" pitchFamily="18" charset="0"/>
              </a:rPr>
              <a:t>）悬置螺母</a:t>
            </a:r>
            <a:r>
              <a:rPr lang="en-US" altLang="zh-CN" sz="1600">
                <a:solidFill>
                  <a:srgbClr val="000099"/>
                </a:solidFill>
                <a:latin typeface="Times New Roman" panose="02020603050405020304" pitchFamily="18" charset="0"/>
              </a:rPr>
              <a:t>     </a:t>
            </a:r>
            <a:r>
              <a:rPr lang="zh-CN" altLang="en-US" sz="1600">
                <a:solidFill>
                  <a:srgbClr val="000099"/>
                </a:solidFill>
                <a:latin typeface="Times New Roman" panose="02020603050405020304" pitchFamily="18" charset="0"/>
              </a:rPr>
              <a:t>      </a:t>
            </a:r>
            <a:r>
              <a:rPr lang="en-US" altLang="zh-CN" sz="1600">
                <a:solidFill>
                  <a:srgbClr val="000099"/>
                </a:solidFill>
                <a:latin typeface="Times New Roman" panose="02020603050405020304" pitchFamily="18" charset="0"/>
              </a:rPr>
              <a:t>b</a:t>
            </a:r>
            <a:r>
              <a:rPr lang="zh-CN" altLang="en-US" sz="1600">
                <a:solidFill>
                  <a:srgbClr val="000099"/>
                </a:solidFill>
                <a:latin typeface="Times New Roman" panose="02020603050405020304" pitchFamily="18" charset="0"/>
              </a:rPr>
              <a:t>）环槽螺母   </a:t>
            </a:r>
            <a:r>
              <a:rPr lang="en-US" altLang="zh-CN" sz="1600">
                <a:solidFill>
                  <a:srgbClr val="000099"/>
                </a:solidFill>
                <a:latin typeface="Times New Roman" panose="02020603050405020304" pitchFamily="18" charset="0"/>
              </a:rPr>
              <a:t>   </a:t>
            </a:r>
            <a:r>
              <a:rPr lang="zh-CN" altLang="en-US" sz="1600">
                <a:solidFill>
                  <a:srgbClr val="000099"/>
                </a:solidFill>
                <a:latin typeface="Times New Roman" panose="02020603050405020304" pitchFamily="18" charset="0"/>
              </a:rPr>
              <a:t>   </a:t>
            </a:r>
            <a:r>
              <a:rPr lang="en-US" altLang="zh-CN" sz="1600">
                <a:solidFill>
                  <a:srgbClr val="000099"/>
                </a:solidFill>
                <a:latin typeface="Times New Roman" panose="02020603050405020304" pitchFamily="18" charset="0"/>
              </a:rPr>
              <a:t>c</a:t>
            </a:r>
            <a:r>
              <a:rPr lang="zh-CN" altLang="en-US" sz="1600">
                <a:solidFill>
                  <a:srgbClr val="000099"/>
                </a:solidFill>
                <a:latin typeface="Times New Roman" panose="02020603050405020304" pitchFamily="18" charset="0"/>
              </a:rPr>
              <a:t>）内斜螺母</a:t>
            </a:r>
            <a:endParaRPr lang="zh-CN" altLang="en-US" sz="1600">
              <a:solidFill>
                <a:srgbClr val="000099"/>
              </a:solidFill>
              <a:latin typeface="Times New Roman" panose="02020603050405020304" pitchFamily="18" charset="0"/>
            </a:endParaRPr>
          </a:p>
        </p:txBody>
      </p:sp>
      <p:pic>
        <p:nvPicPr>
          <p:cNvPr id="3175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8595" y="4478973"/>
            <a:ext cx="3641725" cy="188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2"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0" name="TextBox 9"/>
          <p:cNvSpPr txBox="1">
            <a:spLocks noChangeArrowheads="1"/>
          </p:cNvSpPr>
          <p:nvPr/>
        </p:nvSpPr>
        <p:spPr bwMode="auto">
          <a:xfrm>
            <a:off x="7772400" y="6211888"/>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3" action="ppaction://hlinksldjump"/>
              </a:rPr>
              <a:t>返回</a:t>
            </a:r>
            <a:endParaRPr lang="zh-CN" altLang="en-US">
              <a:solidFill>
                <a:srgbClr val="000099"/>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125" name="Rectangle 18"/>
              <p:cNvSpPr>
                <a:spLocks noChangeArrowheads="1"/>
              </p:cNvSpPr>
              <p:nvPr/>
            </p:nvSpPr>
            <p:spPr bwMode="auto">
              <a:xfrm>
                <a:off x="198805" y="1027240"/>
                <a:ext cx="4392445" cy="3647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lnSpc>
                    <a:spcPct val="150000"/>
                  </a:lnSpc>
                </a:pPr>
                <a:r>
                  <a:rPr lang="zh-CN" altLang="en-US" b="1" dirty="0" smtClean="0">
                    <a:solidFill>
                      <a:srgbClr val="FF0000"/>
                    </a:solidFill>
                  </a:rPr>
                  <a:t>例题</a:t>
                </a:r>
                <a:r>
                  <a:rPr lang="en-US" altLang="zh-CN" b="1" dirty="0">
                    <a:solidFill>
                      <a:srgbClr val="FF0000"/>
                    </a:solidFill>
                  </a:rPr>
                  <a:t>1</a:t>
                </a:r>
                <a:r>
                  <a:rPr lang="zh-CN" altLang="en-US" b="1" dirty="0">
                    <a:solidFill>
                      <a:srgbClr val="FF0000"/>
                    </a:solidFill>
                  </a:rPr>
                  <a:t>：</a:t>
                </a:r>
                <a:r>
                  <a:rPr lang="zh-CN" altLang="en-US" dirty="0">
                    <a:solidFill>
                      <a:schemeClr val="tx1"/>
                    </a:solidFill>
                  </a:rPr>
                  <a:t>如图所示，一铸铁托架用螺栓固定在钢制立柱上。已知：</a:t>
                </a:r>
                <a:r>
                  <a:rPr lang="zh-CN" altLang="en-US" dirty="0" smtClean="0">
                    <a:solidFill>
                      <a:schemeClr val="tx1"/>
                    </a:solidFill>
                  </a:rPr>
                  <a:t>载荷</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smtClean="0">
                            <a:solidFill>
                              <a:schemeClr val="tx1"/>
                            </a:solidFill>
                            <a:latin typeface="Cambria Math" panose="02040503050406030204" pitchFamily="18" charset="0"/>
                          </a:rPr>
                          <m:t>𝐹</m:t>
                        </m:r>
                      </m:e>
                      <m:sub>
                        <m:r>
                          <a:rPr lang="el-GR" altLang="zh-CN" i="1" smtClean="0">
                            <a:solidFill>
                              <a:schemeClr val="tx1"/>
                            </a:solidFill>
                            <a:latin typeface="Cambria Math" panose="02040503050406030204" pitchFamily="18" charset="0"/>
                            <a:ea typeface="Cambria Math" panose="02040503050406030204" pitchFamily="18" charset="0"/>
                          </a:rPr>
                          <m:t>𝛴</m:t>
                        </m:r>
                      </m:sub>
                    </m:sSub>
                  </m:oMath>
                </a14:m>
                <a:r>
                  <a:rPr lang="en-US" altLang="zh-CN" dirty="0" smtClean="0">
                    <a:solidFill>
                      <a:schemeClr val="tx1"/>
                    </a:solidFill>
                  </a:rPr>
                  <a:t>=</a:t>
                </a:r>
                <a:r>
                  <a:rPr lang="en-US" altLang="zh-CN" dirty="0">
                    <a:solidFill>
                      <a:schemeClr val="tx1"/>
                    </a:solidFill>
                  </a:rPr>
                  <a:t>4800N,</a:t>
                </a:r>
                <a:r>
                  <a:rPr lang="zh-CN" altLang="en-US" dirty="0">
                    <a:solidFill>
                      <a:schemeClr val="tx1"/>
                    </a:solidFill>
                  </a:rPr>
                  <a:t>其作用线与垂直方向的夹角</a:t>
                </a:r>
                <a14:m>
                  <m:oMath xmlns:m="http://schemas.openxmlformats.org/officeDocument/2006/math">
                    <m:r>
                      <a:rPr lang="el-GR" altLang="zh-CN" i="1" dirty="0" smtClean="0">
                        <a:solidFill>
                          <a:schemeClr val="tx1"/>
                        </a:solidFill>
                        <a:latin typeface="Cambria Math" panose="02040503050406030204" pitchFamily="18" charset="0"/>
                        <a:ea typeface="Cambria Math" panose="02040503050406030204" pitchFamily="18" charset="0"/>
                      </a:rPr>
                      <m:t>𝛼</m:t>
                    </m:r>
                    <m:r>
                      <a:rPr lang="en-US" altLang="zh-CN" i="1" dirty="0">
                        <a:solidFill>
                          <a:schemeClr val="tx1"/>
                        </a:solidFill>
                        <a:latin typeface="Cambria Math" panose="02040503050406030204" pitchFamily="18" charset="0"/>
                        <a:ea typeface="Cambria Math" panose="02040503050406030204" pitchFamily="18" charset="0"/>
                      </a:rPr>
                      <m:t>=</m:t>
                    </m:r>
                    <m:r>
                      <a:rPr lang="en-US" altLang="zh-CN" i="1" dirty="0" smtClean="0">
                        <a:solidFill>
                          <a:schemeClr val="tx1"/>
                        </a:solidFill>
                        <a:latin typeface="Cambria Math" panose="02040503050406030204" pitchFamily="18" charset="0"/>
                        <a:ea typeface="Cambria Math" panose="02040503050406030204" pitchFamily="18" charset="0"/>
                      </a:rPr>
                      <m:t>50</m:t>
                    </m:r>
                    <m:r>
                      <a:rPr lang="en-US" altLang="zh-CN" i="1" dirty="0" smtClean="0">
                        <a:solidFill>
                          <a:schemeClr val="tx1"/>
                        </a:solidFill>
                        <a:latin typeface="Cambria Math" panose="02040503050406030204" pitchFamily="18" charset="0"/>
                        <a:ea typeface="Cambria Math" panose="02040503050406030204" pitchFamily="18" charset="0"/>
                      </a:rPr>
                      <m:t>°</m:t>
                    </m:r>
                  </m:oMath>
                </a14:m>
                <a:r>
                  <a:rPr lang="zh-CN" altLang="en-US" dirty="0">
                    <a:solidFill>
                      <a:schemeClr val="tx1"/>
                    </a:solidFill>
                  </a:rPr>
                  <a:t>。底板高</a:t>
                </a:r>
                <a:r>
                  <a:rPr lang="en-US" altLang="zh-CN" dirty="0">
                    <a:solidFill>
                      <a:schemeClr val="tx1"/>
                    </a:solidFill>
                  </a:rPr>
                  <a:t>h=340mm,</a:t>
                </a:r>
                <a:r>
                  <a:rPr lang="zh-CN" altLang="en-US" dirty="0">
                    <a:solidFill>
                      <a:schemeClr val="tx1"/>
                    </a:solidFill>
                  </a:rPr>
                  <a:t>宽</a:t>
                </a:r>
                <a:r>
                  <a:rPr lang="en-US" altLang="zh-CN" dirty="0">
                    <a:solidFill>
                      <a:schemeClr val="tx1"/>
                    </a:solidFill>
                  </a:rPr>
                  <a:t>b=150mm, </a:t>
                </a:r>
                <a:r>
                  <a:rPr lang="zh-CN" altLang="en-US" dirty="0" smtClean="0">
                    <a:solidFill>
                      <a:schemeClr val="tx1"/>
                    </a:solidFill>
                  </a:rPr>
                  <a:t>立柱</a:t>
                </a:r>
                <a:r>
                  <a:rPr lang="zh-CN" altLang="en-US" dirty="0">
                    <a:solidFill>
                      <a:schemeClr val="tx1"/>
                    </a:solidFill>
                  </a:rPr>
                  <a:t>材料</a:t>
                </a:r>
                <a:r>
                  <a:rPr lang="en-US" altLang="zh-CN" dirty="0" err="1">
                    <a:solidFill>
                      <a:schemeClr val="tx1"/>
                    </a:solidFill>
                  </a:rPr>
                  <a:t>σ</a:t>
                </a:r>
                <a:r>
                  <a:rPr lang="en-US" altLang="zh-CN" baseline="-25000" dirty="0" err="1">
                    <a:solidFill>
                      <a:schemeClr val="tx1"/>
                    </a:solidFill>
                  </a:rPr>
                  <a:t>S</a:t>
                </a:r>
                <a:r>
                  <a:rPr lang="en-US" altLang="zh-CN" dirty="0">
                    <a:solidFill>
                      <a:schemeClr val="tx1"/>
                    </a:solidFill>
                  </a:rPr>
                  <a:t>=235 </a:t>
                </a:r>
                <a:r>
                  <a:rPr lang="en-US" altLang="zh-CN" dirty="0" err="1">
                    <a:solidFill>
                      <a:schemeClr val="tx1"/>
                    </a:solidFill>
                  </a:rPr>
                  <a:t>Mpa</a:t>
                </a:r>
                <a:r>
                  <a:rPr lang="zh-CN" altLang="en-US" dirty="0">
                    <a:solidFill>
                      <a:schemeClr val="tx1"/>
                    </a:solidFill>
                  </a:rPr>
                  <a:t>、铸铁</a:t>
                </a:r>
                <a:r>
                  <a:rPr lang="en-US" altLang="zh-CN" dirty="0" err="1">
                    <a:solidFill>
                      <a:schemeClr val="tx1"/>
                    </a:solidFill>
                  </a:rPr>
                  <a:t>σ</a:t>
                </a:r>
                <a:r>
                  <a:rPr lang="en-US" altLang="zh-CN" baseline="-25000" dirty="0" err="1">
                    <a:solidFill>
                      <a:schemeClr val="tx1"/>
                    </a:solidFill>
                  </a:rPr>
                  <a:t>B</a:t>
                </a:r>
                <a:r>
                  <a:rPr lang="en-US" altLang="zh-CN" dirty="0">
                    <a:solidFill>
                      <a:schemeClr val="tx1"/>
                    </a:solidFill>
                  </a:rPr>
                  <a:t>=195 </a:t>
                </a:r>
                <a:r>
                  <a:rPr lang="en-US" altLang="zh-CN" dirty="0" err="1">
                    <a:solidFill>
                      <a:schemeClr val="tx1"/>
                    </a:solidFill>
                  </a:rPr>
                  <a:t>Mpa</a:t>
                </a:r>
                <a:r>
                  <a:rPr lang="en-US" altLang="zh-CN" dirty="0">
                    <a:solidFill>
                      <a:schemeClr val="tx1"/>
                    </a:solidFill>
                  </a:rPr>
                  <a:t>,</a:t>
                </a:r>
                <a:r>
                  <a:rPr lang="zh-CN" altLang="en-US" dirty="0">
                    <a:solidFill>
                      <a:schemeClr val="tx1"/>
                    </a:solidFill>
                  </a:rPr>
                  <a:t>试设计此螺栓组联接。</a:t>
                </a:r>
                <a:endParaRPr lang="zh-CN" altLang="en-US" dirty="0">
                  <a:solidFill>
                    <a:schemeClr val="tx1"/>
                  </a:solidFill>
                </a:endParaRPr>
              </a:p>
            </p:txBody>
          </p:sp>
        </mc:Choice>
        <mc:Fallback>
          <p:sp>
            <p:nvSpPr>
              <p:cNvPr id="5125" name="Rectangle 18"/>
              <p:cNvSpPr>
                <a:spLocks noRot="1" noChangeAspect="1" noMove="1" noResize="1" noEditPoints="1" noAdjustHandles="1" noChangeArrowheads="1" noChangeShapeType="1" noTextEdit="1"/>
              </p:cNvSpPr>
              <p:nvPr/>
            </p:nvSpPr>
            <p:spPr bwMode="auto">
              <a:xfrm>
                <a:off x="198805" y="1027240"/>
                <a:ext cx="4392445" cy="3647440"/>
              </a:xfrm>
              <a:prstGeom prst="rect">
                <a:avLst/>
              </a:prstGeom>
              <a:blipFill rotWithShape="1">
                <a:blip r:embed="rId1"/>
                <a:stretch>
                  <a:fillRect l="-1" t="-12" r="-1672" b="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rcRect b="11103"/>
          <a:stretch>
            <a:fillRect/>
          </a:stretch>
        </p:blipFill>
        <p:spPr>
          <a:xfrm>
            <a:off x="4554220" y="730250"/>
            <a:ext cx="4543425" cy="2918460"/>
          </a:xfrm>
          <a:prstGeom prst="rect">
            <a:avLst/>
          </a:prstGeom>
        </p:spPr>
      </p:pic>
      <p:sp>
        <p:nvSpPr>
          <p:cNvPr id="2" name="文本框 1"/>
          <p:cNvSpPr txBox="1"/>
          <p:nvPr/>
        </p:nvSpPr>
        <p:spPr>
          <a:xfrm>
            <a:off x="5230495" y="3794760"/>
            <a:ext cx="3531870" cy="368300"/>
          </a:xfrm>
          <a:prstGeom prst="rect">
            <a:avLst/>
          </a:prstGeom>
          <a:noFill/>
        </p:spPr>
        <p:txBody>
          <a:bodyPr wrap="square" rtlCol="0">
            <a:spAutoFit/>
          </a:bodyPr>
          <a:p>
            <a:r>
              <a:rPr lang="zh-CN" altLang="en-US" sz="1800"/>
              <a:t>图</a:t>
            </a:r>
            <a:r>
              <a:rPr lang="en-US" altLang="zh-CN" sz="1800"/>
              <a:t>2.3-36  </a:t>
            </a:r>
            <a:r>
              <a:rPr lang="zh-CN" altLang="en-US" sz="1800"/>
              <a:t>托架底板螺栓组连接</a:t>
            </a:r>
            <a:endParaRPr lang="zh-CN" altLang="en-US" sz="1800"/>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Rectangle 19"/>
          <p:cNvSpPr>
            <a:spLocks noChangeArrowheads="1"/>
          </p:cNvSpPr>
          <p:nvPr/>
        </p:nvSpPr>
        <p:spPr bwMode="auto">
          <a:xfrm>
            <a:off x="212407" y="734521"/>
            <a:ext cx="4773479" cy="15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lnSpc>
                <a:spcPct val="150000"/>
              </a:lnSpc>
            </a:pPr>
            <a:r>
              <a:rPr lang="zh-CN" altLang="en-US" b="1" dirty="0">
                <a:solidFill>
                  <a:schemeClr val="tx1"/>
                </a:solidFill>
              </a:rPr>
              <a:t>解： </a:t>
            </a:r>
            <a:r>
              <a:rPr lang="zh-CN" altLang="en-US" b="1" dirty="0">
                <a:solidFill>
                  <a:srgbClr val="FF0000"/>
                </a:solidFill>
              </a:rPr>
              <a:t>一、螺栓组结构设计</a:t>
            </a:r>
            <a:endParaRPr lang="zh-CN" altLang="en-US" dirty="0">
              <a:solidFill>
                <a:srgbClr val="FF0000"/>
              </a:solidFill>
            </a:endParaRPr>
          </a:p>
          <a:p>
            <a:pPr algn="l" eaLnBrk="1" hangingPunct="1">
              <a:lnSpc>
                <a:spcPct val="150000"/>
              </a:lnSpc>
            </a:pPr>
            <a:r>
              <a:rPr lang="zh-CN" altLang="en-US" b="1" dirty="0">
                <a:solidFill>
                  <a:schemeClr val="tx1"/>
                </a:solidFill>
              </a:rPr>
              <a:t>      如图所示，根据托架底板结构，</a:t>
            </a:r>
            <a:endParaRPr lang="zh-CN" altLang="en-US" b="1" dirty="0">
              <a:solidFill>
                <a:schemeClr val="tx1"/>
              </a:solidFill>
            </a:endParaRPr>
          </a:p>
          <a:p>
            <a:pPr algn="l" eaLnBrk="1" hangingPunct="1">
              <a:lnSpc>
                <a:spcPct val="150000"/>
              </a:lnSpc>
            </a:pPr>
            <a:r>
              <a:rPr lang="zh-CN" altLang="en-US" b="1" dirty="0">
                <a:solidFill>
                  <a:schemeClr val="tx1"/>
                </a:solidFill>
              </a:rPr>
              <a:t>      采用四个普通螺栓对称布置；　 </a:t>
            </a:r>
            <a:endParaRPr lang="zh-CN" altLang="en-US" b="1" dirty="0">
              <a:solidFill>
                <a:schemeClr val="tx1"/>
              </a:solidFill>
            </a:endParaRPr>
          </a:p>
        </p:txBody>
      </p:sp>
      <p:grpSp>
        <p:nvGrpSpPr>
          <p:cNvPr id="2" name="Group 36"/>
          <p:cNvGrpSpPr/>
          <p:nvPr/>
        </p:nvGrpSpPr>
        <p:grpSpPr bwMode="auto">
          <a:xfrm>
            <a:off x="559633" y="3206241"/>
            <a:ext cx="6861556" cy="3030183"/>
            <a:chOff x="402" y="499"/>
            <a:chExt cx="4391" cy="2340"/>
          </a:xfrm>
        </p:grpSpPr>
        <mc:AlternateContent xmlns:mc="http://schemas.openxmlformats.org/markup-compatibility/2006">
          <mc:Choice xmlns:a14="http://schemas.microsoft.com/office/drawing/2010/main" Requires="a14">
            <p:sp>
              <p:nvSpPr>
                <p:cNvPr id="5129" name="Rectangle 17"/>
                <p:cNvSpPr>
                  <a:spLocks noChangeArrowheads="1"/>
                </p:cNvSpPr>
                <p:nvPr/>
              </p:nvSpPr>
              <p:spPr bwMode="auto">
                <a:xfrm>
                  <a:off x="402" y="1094"/>
                  <a:ext cx="3731"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smtClean="0"/>
                    <a:t>1.</a:t>
                  </a:r>
                  <a:r>
                    <a:rPr lang="zh-CN" altLang="en-US" b="1" dirty="0"/>
                    <a:t>将</a:t>
                  </a:r>
                  <a:r>
                    <a:rPr lang="zh-CN" altLang="en-US" b="1" dirty="0" smtClean="0"/>
                    <a:t>外力</a:t>
                  </a:r>
                  <a14:m>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𝑭</m:t>
                          </m:r>
                        </m:e>
                        <m:sub>
                          <m:r>
                            <a:rPr lang="zh-CN" altLang="en-US" b="1" i="1" smtClean="0">
                              <a:latin typeface="Cambria Math" panose="02040503050406030204" pitchFamily="18" charset="0"/>
                            </a:rPr>
                            <m:t>𝚺</m:t>
                          </m:r>
                        </m:sub>
                      </m:sSub>
                    </m:oMath>
                  </a14:m>
                  <a:r>
                    <a:rPr lang="zh-CN" altLang="en-US" b="1" dirty="0" smtClean="0"/>
                    <a:t>向</a:t>
                  </a:r>
                  <a:r>
                    <a:rPr lang="zh-CN" altLang="en-US" b="1" dirty="0"/>
                    <a:t>螺栓组中心和对称平面简化</a:t>
                  </a:r>
                  <a:r>
                    <a:rPr lang="zh-CN" altLang="en-US" dirty="0"/>
                    <a:t> </a:t>
                  </a:r>
                  <a:r>
                    <a:rPr lang="zh-CN" altLang="en-US" sz="1200" b="1" dirty="0">
                      <a:solidFill>
                        <a:schemeClr val="tx1"/>
                      </a:solidFill>
                      <a:latin typeface="Plotter" charset="0"/>
                      <a:cs typeface="Times New Roman" panose="02020603050405020304" pitchFamily="18" charset="0"/>
                    </a:rPr>
                    <a:t>　　</a:t>
                  </a:r>
                  <a:r>
                    <a:rPr lang="zh-CN" altLang="en-US" sz="1100" dirty="0">
                      <a:solidFill>
                        <a:schemeClr val="tx1"/>
                      </a:solidFill>
                    </a:rPr>
                    <a:t> </a:t>
                  </a:r>
                  <a:endParaRPr lang="zh-CN" altLang="en-US" sz="1100" dirty="0">
                    <a:solidFill>
                      <a:schemeClr val="tx1"/>
                    </a:solidFill>
                  </a:endParaRPr>
                </a:p>
              </p:txBody>
            </p:sp>
          </mc:Choice>
          <mc:Fallback>
            <p:sp>
              <p:nvSpPr>
                <p:cNvPr id="5129" name="Rectangle 17"/>
                <p:cNvSpPr>
                  <a:spLocks noRot="1" noChangeAspect="1" noMove="1" noResize="1" noEditPoints="1" noAdjustHandles="1" noChangeArrowheads="1" noChangeShapeType="1" noTextEdit="1"/>
                </p:cNvSpPr>
                <p:nvPr/>
              </p:nvSpPr>
              <p:spPr bwMode="auto">
                <a:xfrm>
                  <a:off x="402" y="1094"/>
                  <a:ext cx="3731" cy="334"/>
                </a:xfrm>
                <a:prstGeom prst="rect">
                  <a:avLst/>
                </a:prstGeom>
                <a:blipFill rotWithShape="1">
                  <a:blip r:embed="rId1"/>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5130" name="Group 28"/>
            <p:cNvGrpSpPr/>
            <p:nvPr/>
          </p:nvGrpSpPr>
          <p:grpSpPr bwMode="auto">
            <a:xfrm>
              <a:off x="533" y="1543"/>
              <a:ext cx="4260" cy="352"/>
              <a:chOff x="533" y="1482"/>
              <a:chExt cx="4260" cy="352"/>
            </a:xfrm>
          </p:grpSpPr>
          <p:graphicFrame>
            <p:nvGraphicFramePr>
              <p:cNvPr id="5124" name="Object 22"/>
              <p:cNvGraphicFramePr>
                <a:graphicFrameLocks noChangeAspect="1"/>
              </p:cNvGraphicFramePr>
              <p:nvPr/>
            </p:nvGraphicFramePr>
            <p:xfrm>
              <a:off x="1278" y="1482"/>
              <a:ext cx="3515" cy="314"/>
            </p:xfrm>
            <a:graphic>
              <a:graphicData uri="http://schemas.openxmlformats.org/presentationml/2006/ole">
                <mc:AlternateContent xmlns:mc="http://schemas.openxmlformats.org/markup-compatibility/2006">
                  <mc:Choice xmlns:v="urn:schemas-microsoft-com:vml" Requires="v">
                    <p:oleObj spid="_x0000_s50259" name="公式" r:id="rId2" imgW="71628000" imgH="6096000" progId="Equation.3">
                      <p:embed/>
                    </p:oleObj>
                  </mc:Choice>
                  <mc:Fallback>
                    <p:oleObj name="公式" r:id="rId2" imgW="71628000" imgH="6096000" progId="Equation.3">
                      <p:embed/>
                      <p:pic>
                        <p:nvPicPr>
                          <p:cNvPr id="0" name="图片 50258"/>
                          <p:cNvPicPr>
                            <a:picLocks noChangeAspect="1" noChangeArrowheads="1"/>
                          </p:cNvPicPr>
                          <p:nvPr/>
                        </p:nvPicPr>
                        <p:blipFill>
                          <a:blip r:embed="rId3"/>
                          <a:srcRect/>
                          <a:stretch>
                            <a:fillRect/>
                          </a:stretch>
                        </p:blipFill>
                        <p:spPr bwMode="auto">
                          <a:xfrm>
                            <a:off x="1278" y="1482"/>
                            <a:ext cx="3515" cy="3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6" name="Rectangle 23"/>
              <p:cNvSpPr>
                <a:spLocks noChangeArrowheads="1"/>
              </p:cNvSpPr>
              <p:nvPr/>
            </p:nvSpPr>
            <p:spPr bwMode="auto">
              <a:xfrm>
                <a:off x="533" y="1500"/>
                <a:ext cx="843"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轴向力：</a:t>
                </a:r>
                <a:endParaRPr lang="zh-CN" altLang="en-US" dirty="0">
                  <a:solidFill>
                    <a:schemeClr val="tx1"/>
                  </a:solidFill>
                </a:endParaRPr>
              </a:p>
            </p:txBody>
          </p:sp>
        </p:grpSp>
        <p:grpSp>
          <p:nvGrpSpPr>
            <p:cNvPr id="5131" name="Group 29"/>
            <p:cNvGrpSpPr/>
            <p:nvPr/>
          </p:nvGrpSpPr>
          <p:grpSpPr bwMode="auto">
            <a:xfrm>
              <a:off x="508" y="2002"/>
              <a:ext cx="4282" cy="334"/>
              <a:chOff x="508" y="1941"/>
              <a:chExt cx="4282" cy="334"/>
            </a:xfrm>
          </p:grpSpPr>
          <p:graphicFrame>
            <p:nvGraphicFramePr>
              <p:cNvPr id="5123" name="Object 21"/>
              <p:cNvGraphicFramePr>
                <a:graphicFrameLocks noChangeAspect="1"/>
              </p:cNvGraphicFramePr>
              <p:nvPr/>
            </p:nvGraphicFramePr>
            <p:xfrm>
              <a:off x="1266" y="1971"/>
              <a:ext cx="3524" cy="288"/>
            </p:xfrm>
            <a:graphic>
              <a:graphicData uri="http://schemas.openxmlformats.org/presentationml/2006/ole">
                <mc:AlternateContent xmlns:mc="http://schemas.openxmlformats.org/markup-compatibility/2006">
                  <mc:Choice xmlns:v="urn:schemas-microsoft-com:vml" Requires="v">
                    <p:oleObj spid="_x0000_s50260" name="公式" r:id="rId4" imgW="70713600" imgH="5791200" progId="Equation.3">
                      <p:embed/>
                    </p:oleObj>
                  </mc:Choice>
                  <mc:Fallback>
                    <p:oleObj name="公式" r:id="rId4" imgW="70713600" imgH="5791200" progId="Equation.3">
                      <p:embed/>
                      <p:pic>
                        <p:nvPicPr>
                          <p:cNvPr id="0" name="图片 50259"/>
                          <p:cNvPicPr>
                            <a:picLocks noChangeAspect="1" noChangeArrowheads="1"/>
                          </p:cNvPicPr>
                          <p:nvPr/>
                        </p:nvPicPr>
                        <p:blipFill>
                          <a:blip r:embed="rId5"/>
                          <a:srcRect/>
                          <a:stretch>
                            <a:fillRect/>
                          </a:stretch>
                        </p:blipFill>
                        <p:spPr bwMode="auto">
                          <a:xfrm>
                            <a:off x="1266" y="1971"/>
                            <a:ext cx="3524"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5" name="Rectangle 24"/>
              <p:cNvSpPr>
                <a:spLocks noChangeArrowheads="1"/>
              </p:cNvSpPr>
              <p:nvPr/>
            </p:nvSpPr>
            <p:spPr bwMode="auto">
              <a:xfrm>
                <a:off x="508" y="1941"/>
                <a:ext cx="843"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横向力：</a:t>
                </a:r>
                <a:endParaRPr lang="zh-CN" altLang="en-US" dirty="0">
                  <a:solidFill>
                    <a:schemeClr val="tx1"/>
                  </a:solidFill>
                </a:endParaRPr>
              </a:p>
            </p:txBody>
          </p:sp>
        </p:grpSp>
        <p:grpSp>
          <p:nvGrpSpPr>
            <p:cNvPr id="5132" name="Group 30"/>
            <p:cNvGrpSpPr/>
            <p:nvPr/>
          </p:nvGrpSpPr>
          <p:grpSpPr bwMode="auto">
            <a:xfrm>
              <a:off x="453" y="2513"/>
              <a:ext cx="4167" cy="326"/>
              <a:chOff x="453" y="2452"/>
              <a:chExt cx="4167" cy="326"/>
            </a:xfrm>
          </p:grpSpPr>
          <p:graphicFrame>
            <p:nvGraphicFramePr>
              <p:cNvPr id="5122" name="Object 20"/>
              <p:cNvGraphicFramePr>
                <a:graphicFrameLocks noChangeAspect="1"/>
              </p:cNvGraphicFramePr>
              <p:nvPr/>
            </p:nvGraphicFramePr>
            <p:xfrm>
              <a:off x="1338" y="2483"/>
              <a:ext cx="3282" cy="270"/>
            </p:xfrm>
            <a:graphic>
              <a:graphicData uri="http://schemas.openxmlformats.org/presentationml/2006/ole">
                <mc:AlternateContent xmlns:mc="http://schemas.openxmlformats.org/markup-compatibility/2006">
                  <mc:Choice xmlns:v="urn:schemas-microsoft-com:vml" Requires="v">
                    <p:oleObj spid="_x0000_s50261" name="公式" r:id="rId6" imgW="71323200" imgH="5791200" progId="Equation.3">
                      <p:embed/>
                    </p:oleObj>
                  </mc:Choice>
                  <mc:Fallback>
                    <p:oleObj name="公式" r:id="rId6" imgW="71323200" imgH="5791200" progId="Equation.3">
                      <p:embed/>
                      <p:pic>
                        <p:nvPicPr>
                          <p:cNvPr id="0" name="图片 50260"/>
                          <p:cNvPicPr>
                            <a:picLocks noChangeAspect="1" noChangeArrowheads="1"/>
                          </p:cNvPicPr>
                          <p:nvPr/>
                        </p:nvPicPr>
                        <p:blipFill>
                          <a:blip r:embed="rId7"/>
                          <a:srcRect/>
                          <a:stretch>
                            <a:fillRect/>
                          </a:stretch>
                        </p:blipFill>
                        <p:spPr bwMode="auto">
                          <a:xfrm>
                            <a:off x="1338" y="2483"/>
                            <a:ext cx="3282" cy="2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4" name="Rectangle 25"/>
              <p:cNvSpPr>
                <a:spLocks noChangeArrowheads="1"/>
              </p:cNvSpPr>
              <p:nvPr/>
            </p:nvSpPr>
            <p:spPr bwMode="auto">
              <a:xfrm>
                <a:off x="453" y="2452"/>
                <a:ext cx="83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倾覆力矩</a:t>
                </a:r>
                <a:endParaRPr lang="zh-CN" altLang="en-US" dirty="0">
                  <a:solidFill>
                    <a:schemeClr val="tx1"/>
                  </a:solidFill>
                </a:endParaRPr>
              </a:p>
            </p:txBody>
          </p:sp>
        </p:grpSp>
        <p:sp>
          <p:nvSpPr>
            <p:cNvPr id="5133" name="Rectangle 34"/>
            <p:cNvSpPr>
              <a:spLocks noChangeArrowheads="1"/>
            </p:cNvSpPr>
            <p:nvPr/>
          </p:nvSpPr>
          <p:spPr bwMode="auto">
            <a:xfrm>
              <a:off x="402" y="499"/>
              <a:ext cx="229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FF0000"/>
                  </a:solidFill>
                </a:rPr>
                <a:t>二、螺栓组受力分析　</a:t>
              </a:r>
              <a:r>
                <a:rPr lang="zh-CN" altLang="en-US" b="1" dirty="0">
                  <a:solidFill>
                    <a:schemeClr val="tx1"/>
                  </a:solidFill>
                </a:rPr>
                <a:t>　 </a:t>
              </a:r>
              <a:endParaRPr lang="zh-CN" altLang="en-US" b="1" dirty="0">
                <a:solidFill>
                  <a:schemeClr val="tx1"/>
                </a:solidFill>
              </a:endParaRPr>
            </a:p>
          </p:txBody>
        </p:sp>
      </p:grpSp>
      <p:pic>
        <p:nvPicPr>
          <p:cNvPr id="17" name="图片 16"/>
          <p:cNvPicPr>
            <a:picLocks noChangeAspect="1"/>
          </p:cNvPicPr>
          <p:nvPr/>
        </p:nvPicPr>
        <p:blipFill>
          <a:blip r:embed="rId8" cstate="print">
            <a:extLst>
              <a:ext uri="{28A0092B-C50C-407E-A947-70E740481C1C}">
                <a14:useLocalDpi xmlns:a14="http://schemas.microsoft.com/office/drawing/2010/main" val="0"/>
              </a:ext>
            </a:extLst>
          </a:blip>
          <a:srcRect b="9729"/>
          <a:stretch>
            <a:fillRect/>
          </a:stretch>
        </p:blipFill>
        <p:spPr>
          <a:xfrm>
            <a:off x="4514215" y="558165"/>
            <a:ext cx="4543425" cy="2963545"/>
          </a:xfrm>
          <a:prstGeom prst="rect">
            <a:avLst/>
          </a:prstGeom>
        </p:spPr>
      </p:pic>
      <p:cxnSp>
        <p:nvCxnSpPr>
          <p:cNvPr id="4" name="直接箭头连接符 3"/>
          <p:cNvCxnSpPr/>
          <p:nvPr/>
        </p:nvCxnSpPr>
        <p:spPr bwMode="auto">
          <a:xfrm>
            <a:off x="6882063" y="1944303"/>
            <a:ext cx="798897"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6" name="直接箭头连接符 5"/>
          <p:cNvCxnSpPr/>
          <p:nvPr/>
        </p:nvCxnSpPr>
        <p:spPr bwMode="auto">
          <a:xfrm flipH="1">
            <a:off x="6872437" y="1963554"/>
            <a:ext cx="19251" cy="712269"/>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9" name="右弧形箭头 8"/>
          <p:cNvSpPr/>
          <p:nvPr/>
        </p:nvSpPr>
        <p:spPr bwMode="auto">
          <a:xfrm>
            <a:off x="6959065" y="1530416"/>
            <a:ext cx="404261" cy="943276"/>
          </a:xfrm>
          <a:prstGeom prst="curvedLeftArrow">
            <a:avLst/>
          </a:prstGeom>
          <a:solidFill>
            <a:srgbClr val="00B0F0"/>
          </a:solidFill>
          <a:ln w="952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b="12864"/>
          <a:stretch>
            <a:fillRect/>
          </a:stretch>
        </p:blipFill>
        <p:spPr>
          <a:xfrm>
            <a:off x="5401310" y="0"/>
            <a:ext cx="3742690" cy="2357120"/>
          </a:xfrm>
          <a:prstGeom prst="rect">
            <a:avLst/>
          </a:prstGeom>
        </p:spPr>
      </p:pic>
      <p:sp>
        <p:nvSpPr>
          <p:cNvPr id="6150" name="Rectangle 11"/>
          <p:cNvSpPr>
            <a:spLocks noChangeArrowheads="1"/>
          </p:cNvSpPr>
          <p:nvPr/>
        </p:nvSpPr>
        <p:spPr bwMode="auto">
          <a:xfrm>
            <a:off x="239714" y="2776132"/>
            <a:ext cx="997687" cy="64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indent="765175"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sz="1200" b="1">
                <a:solidFill>
                  <a:schemeClr val="tx1"/>
                </a:solidFill>
                <a:latin typeface="Plotter" charset="0"/>
                <a:ea typeface="Plotter" charset="0"/>
                <a:cs typeface="Times New Roman" panose="02020603050405020304" pitchFamily="18" charset="0"/>
              </a:rPr>
              <a:t> </a:t>
            </a:r>
            <a:endParaRPr lang="en-US" altLang="zh-CN" sz="1100">
              <a:solidFill>
                <a:schemeClr val="tx1"/>
              </a:solidFill>
              <a:ea typeface="Plotter" charset="0"/>
              <a:cs typeface="Times New Roman" panose="02020603050405020304" pitchFamily="18" charset="0"/>
            </a:endParaRPr>
          </a:p>
          <a:p>
            <a:pPr algn="l"/>
            <a:endParaRPr lang="en-US" altLang="zh-CN" sz="2400">
              <a:solidFill>
                <a:schemeClr val="tx1"/>
              </a:solidFill>
              <a:ea typeface="Plotter" charset="0"/>
              <a:cs typeface="Times New Roman" panose="02020603050405020304" pitchFamily="18" charset="0"/>
            </a:endParaRPr>
          </a:p>
        </p:txBody>
      </p:sp>
      <p:grpSp>
        <p:nvGrpSpPr>
          <p:cNvPr id="2" name="Group 50"/>
          <p:cNvGrpSpPr/>
          <p:nvPr/>
        </p:nvGrpSpPr>
        <p:grpSpPr bwMode="auto">
          <a:xfrm>
            <a:off x="125129" y="1763404"/>
            <a:ext cx="6034087" cy="1404938"/>
            <a:chOff x="249" y="639"/>
            <a:chExt cx="3801" cy="885"/>
          </a:xfrm>
        </p:grpSpPr>
        <p:graphicFrame>
          <p:nvGraphicFramePr>
            <p:cNvPr id="6148" name="Object 6"/>
            <p:cNvGraphicFramePr>
              <a:graphicFrameLocks noChangeAspect="1"/>
            </p:cNvGraphicFramePr>
            <p:nvPr/>
          </p:nvGraphicFramePr>
          <p:xfrm>
            <a:off x="602" y="1237"/>
            <a:ext cx="2589" cy="287"/>
          </p:xfrm>
          <a:graphic>
            <a:graphicData uri="http://schemas.openxmlformats.org/presentationml/2006/ole">
              <mc:AlternateContent xmlns:mc="http://schemas.openxmlformats.org/markup-compatibility/2006">
                <mc:Choice xmlns:v="urn:schemas-microsoft-com:vml" Requires="v">
                  <p:oleObj spid="_x0000_s43109" name="公式" r:id="rId2" imgW="53340000" imgH="5791200" progId="Equation.3">
                    <p:embed/>
                  </p:oleObj>
                </mc:Choice>
                <mc:Fallback>
                  <p:oleObj name="公式" r:id="rId2" imgW="53340000" imgH="5791200" progId="Equation.3">
                    <p:embed/>
                    <p:pic>
                      <p:nvPicPr>
                        <p:cNvPr id="0" name="图片 43108"/>
                        <p:cNvPicPr>
                          <a:picLocks noChangeAspect="1" noChangeArrowheads="1"/>
                        </p:cNvPicPr>
                        <p:nvPr/>
                      </p:nvPicPr>
                      <p:blipFill>
                        <a:blip r:embed="rId3"/>
                        <a:srcRect/>
                        <a:stretch>
                          <a:fillRect/>
                        </a:stretch>
                      </p:blipFill>
                      <p:spPr bwMode="auto">
                        <a:xfrm>
                          <a:off x="602" y="1237"/>
                          <a:ext cx="2589" cy="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8" name="Rectangle 15"/>
            <p:cNvSpPr>
              <a:spLocks noChangeArrowheads="1"/>
            </p:cNvSpPr>
            <p:nvPr/>
          </p:nvSpPr>
          <p:spPr bwMode="auto">
            <a:xfrm>
              <a:off x="295" y="639"/>
              <a:ext cx="2603"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rgbClr val="FF0000"/>
                  </a:solidFill>
                </a:rPr>
                <a:t>3</a:t>
              </a:r>
              <a:r>
                <a:rPr lang="zh-CN" altLang="en-US" b="1" dirty="0">
                  <a:solidFill>
                    <a:srgbClr val="FF0000"/>
                  </a:solidFill>
                </a:rPr>
                <a:t>、单个螺栓所受工作载荷</a:t>
              </a:r>
              <a:endParaRPr lang="zh-CN" altLang="en-US" b="1" dirty="0">
                <a:solidFill>
                  <a:srgbClr val="FF0000"/>
                </a:solidFill>
              </a:endParaRPr>
            </a:p>
          </p:txBody>
        </p:sp>
        <p:sp>
          <p:nvSpPr>
            <p:cNvPr id="6159" name="Rectangle 16"/>
            <p:cNvSpPr>
              <a:spLocks noChangeArrowheads="1"/>
            </p:cNvSpPr>
            <p:nvPr/>
          </p:nvSpPr>
          <p:spPr bwMode="auto">
            <a:xfrm>
              <a:off x="249" y="941"/>
              <a:ext cx="3801"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chemeClr val="tx1"/>
                  </a:solidFill>
                  <a:latin typeface="宋体" panose="02010600030101010101" pitchFamily="2" charset="-122"/>
                </a:rPr>
                <a:t>⑴ </a:t>
              </a:r>
              <a:r>
                <a:rPr lang="zh-CN" altLang="en-US" b="1" dirty="0">
                  <a:solidFill>
                    <a:schemeClr val="tx1"/>
                  </a:solidFill>
                  <a:latin typeface="宋体" panose="02010600030101010101" pitchFamily="2" charset="-122"/>
                </a:rPr>
                <a:t>轴向力</a:t>
              </a:r>
              <a:r>
                <a:rPr lang="en-US" altLang="zh-CN" b="1" dirty="0">
                  <a:solidFill>
                    <a:schemeClr val="tx1"/>
                  </a:solidFill>
                  <a:latin typeface="宋体" panose="02010600030101010101" pitchFamily="2" charset="-122"/>
                </a:rPr>
                <a:t>F</a:t>
              </a:r>
              <a:r>
                <a:rPr lang="el-GR" altLang="zh-CN" b="1" baseline="-25000" dirty="0" smtClean="0">
                  <a:solidFill>
                    <a:schemeClr val="tx1"/>
                  </a:solidFill>
                  <a:latin typeface="宋体" panose="02010600030101010101" pitchFamily="2" charset="-122"/>
                </a:rPr>
                <a:t>Σ</a:t>
              </a:r>
              <a:r>
                <a:rPr lang="en-US" altLang="zh-CN" b="1" baseline="-25000" dirty="0" smtClean="0">
                  <a:solidFill>
                    <a:schemeClr val="tx1"/>
                  </a:solidFill>
                  <a:latin typeface="宋体" panose="02010600030101010101" pitchFamily="2" charset="-122"/>
                </a:rPr>
                <a:t>h</a:t>
              </a:r>
              <a:r>
                <a:rPr lang="zh-CN" altLang="en-US" b="1" dirty="0" smtClean="0">
                  <a:solidFill>
                    <a:schemeClr val="tx1"/>
                  </a:solidFill>
                  <a:latin typeface="宋体" panose="02010600030101010101" pitchFamily="2" charset="-122"/>
                </a:rPr>
                <a:t>作用</a:t>
              </a:r>
              <a:r>
                <a:rPr lang="zh-CN" altLang="en-US" b="1" dirty="0">
                  <a:solidFill>
                    <a:schemeClr val="tx1"/>
                  </a:solidFill>
                  <a:latin typeface="宋体" panose="02010600030101010101" pitchFamily="2" charset="-122"/>
                </a:rPr>
                <a:t>下单个螺栓所受工作载荷</a:t>
              </a:r>
              <a:r>
                <a:rPr lang="en-US" altLang="zh-CN" b="1" dirty="0">
                  <a:solidFill>
                    <a:schemeClr val="tx1"/>
                  </a:solidFill>
                  <a:latin typeface="宋体" panose="02010600030101010101" pitchFamily="2" charset="-122"/>
                </a:rPr>
                <a:t>F</a:t>
              </a:r>
              <a:r>
                <a:rPr lang="en-US" altLang="zh-CN" b="1" baseline="-25000" dirty="0">
                  <a:solidFill>
                    <a:schemeClr val="tx1"/>
                  </a:solidFill>
                  <a:latin typeface="宋体" panose="02010600030101010101" pitchFamily="2" charset="-122"/>
                </a:rPr>
                <a:t>1 </a:t>
              </a:r>
              <a:r>
                <a:rPr lang="en-US" altLang="zh-CN" b="1" dirty="0">
                  <a:solidFill>
                    <a:schemeClr val="tx1"/>
                  </a:solidFill>
                  <a:latin typeface="宋体" panose="02010600030101010101" pitchFamily="2" charset="-122"/>
                </a:rPr>
                <a:t>:</a:t>
              </a:r>
              <a:endParaRPr lang="en-US" altLang="zh-CN" b="1" dirty="0">
                <a:solidFill>
                  <a:schemeClr val="tx1"/>
                </a:solidFill>
                <a:latin typeface="宋体" panose="02010600030101010101" pitchFamily="2" charset="-122"/>
              </a:endParaRPr>
            </a:p>
          </p:txBody>
        </p:sp>
      </p:grpSp>
      <p:grpSp>
        <p:nvGrpSpPr>
          <p:cNvPr id="3" name="Group 42"/>
          <p:cNvGrpSpPr/>
          <p:nvPr/>
        </p:nvGrpSpPr>
        <p:grpSpPr bwMode="auto">
          <a:xfrm>
            <a:off x="476400" y="3305152"/>
            <a:ext cx="7804786" cy="2846388"/>
            <a:chOff x="327" y="722"/>
            <a:chExt cx="4743" cy="1793"/>
          </a:xfrm>
        </p:grpSpPr>
        <p:graphicFrame>
          <p:nvGraphicFramePr>
            <p:cNvPr id="6147" name="Object 4"/>
            <p:cNvGraphicFramePr>
              <a:graphicFrameLocks noChangeAspect="1"/>
            </p:cNvGraphicFramePr>
            <p:nvPr/>
          </p:nvGraphicFramePr>
          <p:xfrm>
            <a:off x="733" y="1865"/>
            <a:ext cx="3102" cy="650"/>
          </p:xfrm>
          <a:graphic>
            <a:graphicData uri="http://schemas.openxmlformats.org/presentationml/2006/ole">
              <mc:AlternateContent xmlns:mc="http://schemas.openxmlformats.org/markup-compatibility/2006">
                <mc:Choice xmlns:v="urn:schemas-microsoft-com:vml" Requires="v">
                  <p:oleObj spid="_x0000_s43110" name="公式" r:id="rId4" imgW="2970530" imgH="622300" progId="Equation.3">
                    <p:embed/>
                  </p:oleObj>
                </mc:Choice>
                <mc:Fallback>
                  <p:oleObj name="公式" r:id="rId4" imgW="2970530" imgH="622300" progId="Equation.3">
                    <p:embed/>
                    <p:pic>
                      <p:nvPicPr>
                        <p:cNvPr id="0" name="图片 4310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 y="1865"/>
                          <a:ext cx="3102" cy="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6" name="Rectangle 17"/>
            <p:cNvSpPr>
              <a:spLocks noChangeArrowheads="1"/>
            </p:cNvSpPr>
            <p:nvPr/>
          </p:nvSpPr>
          <p:spPr bwMode="auto">
            <a:xfrm>
              <a:off x="327" y="722"/>
              <a:ext cx="275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chemeClr val="tx1"/>
                  </a:solidFill>
                </a:rPr>
                <a:t>⑵ </a:t>
              </a:r>
              <a:r>
                <a:rPr lang="zh-CN" altLang="en-US" b="1" dirty="0">
                  <a:solidFill>
                    <a:schemeClr val="tx1"/>
                  </a:solidFill>
                </a:rPr>
                <a:t>平衡Ｍ引起的螺栓工作载荷</a:t>
              </a:r>
              <a:r>
                <a:rPr lang="en-US" altLang="zh-CN" b="1" dirty="0">
                  <a:solidFill>
                    <a:schemeClr val="tx1"/>
                  </a:solidFill>
                </a:rPr>
                <a:t>F</a:t>
              </a:r>
              <a:r>
                <a:rPr lang="en-US" altLang="zh-CN" b="1" baseline="-25000" dirty="0">
                  <a:solidFill>
                    <a:schemeClr val="tx1"/>
                  </a:solidFill>
                </a:rPr>
                <a:t>2</a:t>
              </a:r>
              <a:r>
                <a:rPr lang="en-US" altLang="zh-CN" b="1" dirty="0">
                  <a:solidFill>
                    <a:schemeClr val="tx1"/>
                  </a:solidFill>
                </a:rPr>
                <a:t> :</a:t>
              </a:r>
              <a:endParaRPr lang="en-US" altLang="zh-CN" b="1" dirty="0">
                <a:solidFill>
                  <a:schemeClr val="tx1"/>
                </a:solidFill>
              </a:endParaRPr>
            </a:p>
          </p:txBody>
        </p:sp>
        <p:sp>
          <p:nvSpPr>
            <p:cNvPr id="6157" name="Rectangle 19"/>
            <p:cNvSpPr>
              <a:spLocks noChangeArrowheads="1"/>
            </p:cNvSpPr>
            <p:nvPr/>
          </p:nvSpPr>
          <p:spPr bwMode="auto">
            <a:xfrm>
              <a:off x="327" y="1081"/>
              <a:ext cx="4743"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dirty="0">
                  <a:solidFill>
                    <a:schemeClr val="tx1"/>
                  </a:solidFill>
                </a:rPr>
                <a:t>在倾覆力矩</a:t>
              </a:r>
              <a:r>
                <a:rPr lang="en-US" altLang="zh-CN" dirty="0">
                  <a:solidFill>
                    <a:schemeClr val="tx1"/>
                  </a:solidFill>
                </a:rPr>
                <a:t>M</a:t>
              </a:r>
              <a:r>
                <a:rPr lang="zh-CN" altLang="en-US" dirty="0">
                  <a:solidFill>
                    <a:schemeClr val="tx1"/>
                  </a:solidFill>
                </a:rPr>
                <a:t>作用下，底板有绕对称轴线翻转趋势，上侧螺栓拉力增加，下侧螺栓拉力减小，上侧螺栓由</a:t>
              </a:r>
              <a:r>
                <a:rPr lang="en-US" altLang="zh-CN" dirty="0">
                  <a:solidFill>
                    <a:schemeClr val="tx1"/>
                  </a:solidFill>
                </a:rPr>
                <a:t>M</a:t>
              </a:r>
              <a:r>
                <a:rPr lang="zh-CN" altLang="en-US" dirty="0">
                  <a:solidFill>
                    <a:schemeClr val="tx1"/>
                  </a:solidFill>
                </a:rPr>
                <a:t>引起的工作载荷</a:t>
              </a:r>
              <a:r>
                <a:rPr lang="en-US" altLang="zh-CN" dirty="0">
                  <a:solidFill>
                    <a:schemeClr val="tx1"/>
                  </a:solidFill>
                </a:rPr>
                <a:t>F</a:t>
              </a:r>
              <a:r>
                <a:rPr lang="en-US" altLang="zh-CN" baseline="-25000" dirty="0">
                  <a:solidFill>
                    <a:schemeClr val="tx1"/>
                  </a:solidFill>
                </a:rPr>
                <a:t>2</a:t>
              </a:r>
              <a:r>
                <a:rPr lang="en-US" altLang="zh-CN" dirty="0">
                  <a:solidFill>
                    <a:schemeClr val="tx1"/>
                  </a:solidFill>
                </a:rPr>
                <a:t>=</a:t>
              </a:r>
              <a:r>
                <a:rPr lang="en-US" altLang="zh-CN" dirty="0" err="1">
                  <a:solidFill>
                    <a:schemeClr val="tx1"/>
                  </a:solidFill>
                </a:rPr>
                <a:t>F</a:t>
              </a:r>
              <a:r>
                <a:rPr lang="en-US" altLang="zh-CN" baseline="-25000" dirty="0" err="1">
                  <a:solidFill>
                    <a:schemeClr val="tx1"/>
                  </a:solidFill>
                </a:rPr>
                <a:t>max</a:t>
              </a:r>
              <a:r>
                <a:rPr lang="en-US" altLang="zh-CN" baseline="-25000" dirty="0">
                  <a:solidFill>
                    <a:schemeClr val="tx1"/>
                  </a:solidFill>
                </a:rPr>
                <a:t>,</a:t>
              </a:r>
              <a:r>
                <a:rPr lang="zh-CN" altLang="en-US" dirty="0">
                  <a:solidFill>
                    <a:schemeClr val="tx1"/>
                  </a:solidFill>
                </a:rPr>
                <a:t>螺栓到倾翻轴线的距离</a:t>
              </a:r>
              <a:r>
                <a:rPr lang="en-US" altLang="zh-CN" dirty="0" err="1">
                  <a:solidFill>
                    <a:schemeClr val="tx1"/>
                  </a:solidFill>
                </a:rPr>
                <a:t>L</a:t>
              </a:r>
              <a:r>
                <a:rPr lang="en-US" altLang="zh-CN" baseline="-25000" dirty="0" err="1">
                  <a:solidFill>
                    <a:schemeClr val="tx1"/>
                  </a:solidFill>
                </a:rPr>
                <a:t>max</a:t>
              </a:r>
              <a:r>
                <a:rPr lang="en-US" altLang="zh-CN" dirty="0">
                  <a:solidFill>
                    <a:schemeClr val="tx1"/>
                  </a:solidFill>
                </a:rPr>
                <a:t>=L</a:t>
              </a:r>
              <a:r>
                <a:rPr lang="en-US" altLang="zh-CN" baseline="-25000" dirty="0">
                  <a:solidFill>
                    <a:schemeClr val="tx1"/>
                  </a:solidFill>
                </a:rPr>
                <a:t>i</a:t>
              </a:r>
              <a:r>
                <a:rPr lang="en-US" altLang="zh-CN" dirty="0">
                  <a:solidFill>
                    <a:schemeClr val="tx1"/>
                  </a:solidFill>
                </a:rPr>
                <a:t>=L</a:t>
              </a:r>
              <a:r>
                <a:rPr lang="en-US" altLang="zh-CN" baseline="-25000" dirty="0">
                  <a:solidFill>
                    <a:schemeClr val="tx1"/>
                  </a:solidFill>
                </a:rPr>
                <a:t>0</a:t>
              </a:r>
              <a:r>
                <a:rPr lang="en-US" altLang="zh-CN" dirty="0">
                  <a:solidFill>
                    <a:schemeClr val="tx1"/>
                  </a:solidFill>
                </a:rPr>
                <a:t>/2</a:t>
              </a:r>
              <a:endParaRPr lang="en-US" altLang="zh-CN" dirty="0">
                <a:solidFill>
                  <a:schemeClr val="tx1"/>
                </a:solidFill>
              </a:endParaRPr>
            </a:p>
          </p:txBody>
        </p:sp>
      </p:grpSp>
      <p:grpSp>
        <p:nvGrpSpPr>
          <p:cNvPr id="4" name="Group 51"/>
          <p:cNvGrpSpPr/>
          <p:nvPr/>
        </p:nvGrpSpPr>
        <p:grpSpPr bwMode="auto">
          <a:xfrm>
            <a:off x="342650" y="6287771"/>
            <a:ext cx="7215187" cy="461962"/>
            <a:chOff x="295" y="2812"/>
            <a:chExt cx="4545" cy="291"/>
          </a:xfrm>
        </p:grpSpPr>
        <p:graphicFrame>
          <p:nvGraphicFramePr>
            <p:cNvPr id="6146" name="Object 47"/>
            <p:cNvGraphicFramePr>
              <a:graphicFrameLocks noChangeAspect="1"/>
            </p:cNvGraphicFramePr>
            <p:nvPr/>
          </p:nvGraphicFramePr>
          <p:xfrm>
            <a:off x="2154" y="2812"/>
            <a:ext cx="2686" cy="291"/>
          </p:xfrm>
          <a:graphic>
            <a:graphicData uri="http://schemas.openxmlformats.org/presentationml/2006/ole">
              <mc:AlternateContent xmlns:mc="http://schemas.openxmlformats.org/markup-compatibility/2006">
                <mc:Choice xmlns:v="urn:schemas-microsoft-com:vml" Requires="v">
                  <p:oleObj spid="_x0000_s43111" name="公式" r:id="rId6" imgW="2209800" imgH="241300" progId="Equation.3">
                    <p:embed/>
                  </p:oleObj>
                </mc:Choice>
                <mc:Fallback>
                  <p:oleObj name="公式" r:id="rId6" imgW="2209800" imgH="241300" progId="Equation.3">
                    <p:embed/>
                    <p:pic>
                      <p:nvPicPr>
                        <p:cNvPr id="0" name="图片 43110"/>
                        <p:cNvPicPr>
                          <a:picLocks noChangeAspect="1" noChangeArrowheads="1"/>
                        </p:cNvPicPr>
                        <p:nvPr/>
                      </p:nvPicPr>
                      <p:blipFill>
                        <a:blip r:embed="rId7"/>
                        <a:srcRect/>
                        <a:stretch>
                          <a:fillRect/>
                        </a:stretch>
                      </p:blipFill>
                      <p:spPr bwMode="auto">
                        <a:xfrm>
                          <a:off x="2154" y="2812"/>
                          <a:ext cx="2686" cy="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5" name="Rectangle 48"/>
            <p:cNvSpPr>
              <a:spLocks noChangeArrowheads="1"/>
            </p:cNvSpPr>
            <p:nvPr/>
          </p:nvSpPr>
          <p:spPr bwMode="auto">
            <a:xfrm>
              <a:off x="295" y="2812"/>
              <a:ext cx="1859"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上侧螺栓总工作载荷：</a:t>
              </a:r>
              <a:endParaRPr lang="zh-CN" altLang="en-US" b="1" dirty="0">
                <a:solidFill>
                  <a:schemeClr val="tx1"/>
                </a:solidFill>
              </a:endParaRPr>
            </a:p>
          </p:txBody>
        </p:sp>
      </p:grpSp>
      <p:sp>
        <p:nvSpPr>
          <p:cNvPr id="6154" name="Rectangle 49"/>
          <p:cNvSpPr>
            <a:spLocks noChangeArrowheads="1"/>
          </p:cNvSpPr>
          <p:nvPr/>
        </p:nvSpPr>
        <p:spPr bwMode="auto">
          <a:xfrm>
            <a:off x="198806" y="256560"/>
            <a:ext cx="5256212" cy="1448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rgbClr val="FF0000"/>
                </a:solidFill>
              </a:rPr>
              <a:t>2</a:t>
            </a:r>
            <a:r>
              <a:rPr lang="zh-CN" altLang="en-US" b="1" dirty="0">
                <a:solidFill>
                  <a:srgbClr val="FF0000"/>
                </a:solidFill>
              </a:rPr>
              <a:t>、失效形式</a:t>
            </a:r>
            <a:endParaRPr lang="zh-CN" altLang="en-US" b="1" dirty="0">
              <a:solidFill>
                <a:srgbClr val="FF0000"/>
              </a:solidFill>
            </a:endParaRPr>
          </a:p>
          <a:p>
            <a:pPr algn="l" eaLnBrk="1" hangingPunct="1"/>
            <a:r>
              <a:rPr lang="zh-CN" altLang="en-US" b="1" dirty="0">
                <a:solidFill>
                  <a:schemeClr val="tx1"/>
                </a:solidFill>
              </a:rPr>
              <a:t>上侧螺栓塑变或拉断</a:t>
            </a:r>
            <a:r>
              <a:rPr lang="zh-CN" altLang="en-US" b="1" dirty="0" smtClean="0">
                <a:solidFill>
                  <a:schemeClr val="tx1"/>
                </a:solidFill>
              </a:rPr>
              <a:t>；</a:t>
            </a:r>
            <a:endParaRPr lang="en-US" altLang="zh-CN" b="1" dirty="0" smtClean="0">
              <a:solidFill>
                <a:schemeClr val="tx1"/>
              </a:solidFill>
            </a:endParaRPr>
          </a:p>
          <a:p>
            <a:pPr algn="l" eaLnBrk="1" hangingPunct="1"/>
            <a:r>
              <a:rPr lang="en-US" altLang="zh-CN" b="1" dirty="0">
                <a:solidFill>
                  <a:schemeClr val="tx1"/>
                </a:solidFill>
              </a:rPr>
              <a:t> </a:t>
            </a:r>
            <a:r>
              <a:rPr lang="zh-CN" altLang="en-US" b="1" dirty="0" smtClean="0">
                <a:solidFill>
                  <a:schemeClr val="tx1"/>
                </a:solidFill>
              </a:rPr>
              <a:t>向下</a:t>
            </a:r>
            <a:r>
              <a:rPr lang="zh-CN" altLang="en-US" b="1" dirty="0">
                <a:solidFill>
                  <a:schemeClr val="tx1"/>
                </a:solidFill>
              </a:rPr>
              <a:t>滑移；</a:t>
            </a:r>
            <a:endParaRPr lang="zh-CN" altLang="en-US" b="1" dirty="0">
              <a:solidFill>
                <a:schemeClr val="tx1"/>
              </a:solidFill>
            </a:endParaRPr>
          </a:p>
          <a:p>
            <a:pPr algn="l" eaLnBrk="1" hangingPunct="1"/>
            <a:r>
              <a:rPr lang="zh-CN" altLang="en-US" b="1" dirty="0">
                <a:solidFill>
                  <a:schemeClr val="tx1"/>
                </a:solidFill>
              </a:rPr>
              <a:t>上边缘离缝、下边缘压溃</a:t>
            </a:r>
            <a:r>
              <a:rPr lang="en-US" altLang="zh-CN" b="1" dirty="0">
                <a:solidFill>
                  <a:schemeClr val="tx1"/>
                </a:solidFill>
              </a:rPr>
              <a:t>;</a:t>
            </a:r>
            <a:endParaRPr lang="en-US" altLang="zh-CN" b="1" dirty="0">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Rectangle 4"/>
          <p:cNvSpPr>
            <a:spLocks noChangeArrowheads="1"/>
          </p:cNvSpPr>
          <p:nvPr/>
        </p:nvSpPr>
        <p:spPr bwMode="auto">
          <a:xfrm>
            <a:off x="239714" y="2776132"/>
            <a:ext cx="997687" cy="64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indent="765175"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sz="1200" b="1">
                <a:solidFill>
                  <a:schemeClr val="tx1"/>
                </a:solidFill>
                <a:latin typeface="Plotter" charset="0"/>
                <a:ea typeface="Plotter" charset="0"/>
                <a:cs typeface="Times New Roman" panose="02020603050405020304" pitchFamily="18" charset="0"/>
              </a:rPr>
              <a:t> </a:t>
            </a:r>
            <a:endParaRPr lang="en-US" altLang="zh-CN" sz="1100">
              <a:solidFill>
                <a:schemeClr val="tx1"/>
              </a:solidFill>
              <a:ea typeface="Plotter" charset="0"/>
              <a:cs typeface="Times New Roman" panose="02020603050405020304" pitchFamily="18" charset="0"/>
            </a:endParaRPr>
          </a:p>
          <a:p>
            <a:pPr algn="l"/>
            <a:endParaRPr lang="en-US" altLang="zh-CN" sz="2400">
              <a:solidFill>
                <a:schemeClr val="tx1"/>
              </a:solidFill>
              <a:ea typeface="Plotter"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175" name="Rectangle 12"/>
              <p:cNvSpPr>
                <a:spLocks noChangeArrowheads="1"/>
              </p:cNvSpPr>
              <p:nvPr/>
            </p:nvSpPr>
            <p:spPr bwMode="auto">
              <a:xfrm>
                <a:off x="318286" y="387337"/>
                <a:ext cx="6335712"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smtClean="0">
                    <a:solidFill>
                      <a:srgbClr val="FF0000"/>
                    </a:solidFill>
                    <a:latin typeface="宋体" panose="02010600030101010101" pitchFamily="2" charset="-122"/>
                    <a:cs typeface="Times New Roman" panose="02020603050405020304" pitchFamily="18" charset="0"/>
                  </a:rPr>
                  <a:t>4</a:t>
                </a:r>
                <a:r>
                  <a:rPr lang="zh-CN" altLang="en-US" b="1" dirty="0">
                    <a:solidFill>
                      <a:srgbClr val="FF0000"/>
                    </a:solidFill>
                    <a:latin typeface="宋体" panose="02010600030101010101" pitchFamily="2" charset="-122"/>
                    <a:cs typeface="Times New Roman" panose="02020603050405020304" pitchFamily="18" charset="0"/>
                  </a:rPr>
                  <a:t>、保证在</a:t>
                </a:r>
                <a:r>
                  <a:rPr lang="zh-CN" altLang="en-US" b="1" dirty="0" smtClean="0">
                    <a:solidFill>
                      <a:srgbClr val="FF0000"/>
                    </a:solidFill>
                    <a:latin typeface="宋体" panose="02010600030101010101" pitchFamily="2" charset="-122"/>
                    <a:cs typeface="Times New Roman" panose="02020603050405020304" pitchFamily="18" charset="0"/>
                  </a:rPr>
                  <a:t>横向力</a:t>
                </a:r>
                <a14:m>
                  <m:oMath xmlns:m="http://schemas.openxmlformats.org/officeDocument/2006/math">
                    <m:sSub>
                      <m:sSubPr>
                        <m:ctrlPr>
                          <a:rPr lang="en-US" altLang="zh-CN" b="1" i="1" dirty="0" smtClean="0">
                            <a:solidFill>
                              <a:srgbClr val="FF0000"/>
                            </a:solidFill>
                            <a:latin typeface="Cambria Math" panose="02040503050406030204" pitchFamily="18" charset="0"/>
                            <a:cs typeface="Times New Roman" panose="02020603050405020304" pitchFamily="18" charset="0"/>
                          </a:rPr>
                        </m:ctrlPr>
                      </m:sSubPr>
                      <m:e>
                        <m:r>
                          <a:rPr lang="en-US" altLang="zh-CN" b="1" i="1" dirty="0" smtClean="0">
                            <a:solidFill>
                              <a:srgbClr val="FF0000"/>
                            </a:solidFill>
                            <a:latin typeface="Cambria Math" panose="02040503050406030204" pitchFamily="18" charset="0"/>
                            <a:cs typeface="Times New Roman" panose="02020603050405020304" pitchFamily="18" charset="0"/>
                          </a:rPr>
                          <m:t>𝑭</m:t>
                        </m:r>
                      </m:e>
                      <m:sub>
                        <m:r>
                          <a:rPr lang="zh-CN" altLang="en-US" b="1" i="1" dirty="0" smtClean="0">
                            <a:solidFill>
                              <a:srgbClr val="FF0000"/>
                            </a:solidFill>
                            <a:latin typeface="Cambria Math" panose="02040503050406030204" pitchFamily="18" charset="0"/>
                            <a:cs typeface="Times New Roman" panose="02020603050405020304" pitchFamily="18" charset="0"/>
                          </a:rPr>
                          <m:t>𝚺</m:t>
                        </m:r>
                        <m:r>
                          <a:rPr lang="en-US" altLang="zh-CN" b="1" i="1" dirty="0" smtClean="0">
                            <a:solidFill>
                              <a:srgbClr val="FF0000"/>
                            </a:solidFill>
                            <a:latin typeface="Cambria Math" panose="02040503050406030204" pitchFamily="18" charset="0"/>
                            <a:cs typeface="Times New Roman" panose="02020603050405020304" pitchFamily="18" charset="0"/>
                          </a:rPr>
                          <m:t>𝒗</m:t>
                        </m:r>
                      </m:sub>
                    </m:sSub>
                  </m:oMath>
                </a14:m>
                <a:r>
                  <a:rPr lang="zh-CN" altLang="en-US" b="1" dirty="0">
                    <a:solidFill>
                      <a:srgbClr val="FF0000"/>
                    </a:solidFill>
                    <a:latin typeface="宋体" panose="02010600030101010101" pitchFamily="2" charset="-122"/>
                    <a:cs typeface="Times New Roman" panose="02020603050405020304" pitchFamily="18" charset="0"/>
                  </a:rPr>
                  <a:t>作用下，接合面不滑移所需的预紧</a:t>
                </a:r>
                <a:r>
                  <a:rPr lang="zh-CN" altLang="en-US" b="1" dirty="0" smtClean="0">
                    <a:solidFill>
                      <a:srgbClr val="FF0000"/>
                    </a:solidFill>
                    <a:latin typeface="宋体" panose="02010600030101010101" pitchFamily="2" charset="-122"/>
                    <a:cs typeface="Times New Roman" panose="02020603050405020304" pitchFamily="18" charset="0"/>
                  </a:rPr>
                  <a:t>力</a:t>
                </a:r>
                <a:r>
                  <a:rPr lang="en-US" altLang="zh-CN" b="1" dirty="0" smtClean="0">
                    <a:solidFill>
                      <a:srgbClr val="FF0000"/>
                    </a:solidFill>
                    <a:latin typeface="宋体" panose="02010600030101010101" pitchFamily="2" charset="-122"/>
                    <a:cs typeface="Times New Roman" panose="02020603050405020304" pitchFamily="18" charset="0"/>
                  </a:rPr>
                  <a:t>F</a:t>
                </a:r>
                <a:r>
                  <a:rPr lang="en-US" altLang="zh-CN" b="1" baseline="-25000" dirty="0" smtClean="0">
                    <a:solidFill>
                      <a:srgbClr val="FF0000"/>
                    </a:solidFill>
                    <a:latin typeface="宋体" panose="02010600030101010101" pitchFamily="2" charset="-122"/>
                    <a:cs typeface="Times New Roman" panose="02020603050405020304" pitchFamily="18" charset="0"/>
                  </a:rPr>
                  <a:t>0</a:t>
                </a:r>
                <a:endParaRPr lang="en-US" altLang="zh-CN" baseline="-25000" dirty="0">
                  <a:solidFill>
                    <a:srgbClr val="FF0000"/>
                  </a:solidFill>
                  <a:latin typeface="宋体" panose="02010600030101010101" pitchFamily="2" charset="-122"/>
                </a:endParaRPr>
              </a:p>
            </p:txBody>
          </p:sp>
        </mc:Choice>
        <mc:Fallback>
          <p:sp>
            <p:nvSpPr>
              <p:cNvPr id="7175" name="Rectangle 12"/>
              <p:cNvSpPr>
                <a:spLocks noRot="1" noChangeAspect="1" noMove="1" noResize="1" noEditPoints="1" noAdjustHandles="1" noChangeArrowheads="1" noChangeShapeType="1" noTextEdit="1"/>
              </p:cNvSpPr>
              <p:nvPr/>
            </p:nvSpPr>
            <p:spPr bwMode="auto">
              <a:xfrm>
                <a:off x="318286" y="387337"/>
                <a:ext cx="6335712" cy="771623"/>
              </a:xfrm>
              <a:prstGeom prst="rect">
                <a:avLst/>
              </a:prstGeom>
              <a:blipFill rotWithShape="1">
                <a:blip r:embed="rId1"/>
                <a:stretch>
                  <a:fillRect l="-2" t="-81" r="7" b="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7176" name="Rectangle 13"/>
          <p:cNvSpPr>
            <a:spLocks noChangeArrowheads="1"/>
          </p:cNvSpPr>
          <p:nvPr/>
        </p:nvSpPr>
        <p:spPr bwMode="auto">
          <a:xfrm>
            <a:off x="317500" y="1350010"/>
            <a:ext cx="8416290" cy="1851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indent="266700"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lnSpc>
                <a:spcPct val="130000"/>
              </a:lnSpc>
            </a:pPr>
            <a:r>
              <a:rPr lang="en-US" altLang="zh-CN" b="1" dirty="0">
                <a:solidFill>
                  <a:schemeClr val="tx1"/>
                </a:solidFill>
                <a:latin typeface="宋体" panose="02010600030101010101" pitchFamily="2" charset="-122"/>
                <a:cs typeface="Times New Roman" panose="02020603050405020304" pitchFamily="18" charset="0"/>
              </a:rPr>
              <a:t>(1)</a:t>
            </a:r>
            <a:r>
              <a:rPr lang="zh-CN" altLang="en-US" b="1" dirty="0">
                <a:solidFill>
                  <a:schemeClr val="tx1"/>
                </a:solidFill>
                <a:latin typeface="宋体" panose="02010600030101010101" pitchFamily="2" charset="-122"/>
                <a:cs typeface="Times New Roman" panose="02020603050405020304" pitchFamily="18" charset="0"/>
              </a:rPr>
              <a:t>Ｍ使接合面下侧压力增加，上侧压力减小</a:t>
            </a:r>
            <a:r>
              <a:rPr lang="zh-CN" altLang="en-US" b="1" dirty="0" smtClean="0">
                <a:solidFill>
                  <a:schemeClr val="tx1"/>
                </a:solidFill>
                <a:latin typeface="宋体" panose="02010600030101010101" pitchFamily="2" charset="-122"/>
                <a:cs typeface="Times New Roman" panose="02020603050405020304" pitchFamily="18" charset="0"/>
              </a:rPr>
              <a:t>， </a:t>
            </a:r>
            <a:r>
              <a:rPr lang="zh-CN" altLang="en-US" b="1" dirty="0">
                <a:solidFill>
                  <a:schemeClr val="tx1"/>
                </a:solidFill>
                <a:latin typeface="宋体" panose="02010600030101010101" pitchFamily="2" charset="-122"/>
                <a:cs typeface="Times New Roman" panose="02020603050405020304" pitchFamily="18" charset="0"/>
              </a:rPr>
              <a:t>总压力和不变，所以</a:t>
            </a:r>
            <a:r>
              <a:rPr lang="en-US" altLang="zh-CN" b="1" dirty="0">
                <a:solidFill>
                  <a:schemeClr val="tx1"/>
                </a:solidFill>
                <a:latin typeface="宋体" panose="02010600030101010101" pitchFamily="2" charset="-122"/>
                <a:cs typeface="Times New Roman" panose="02020603050405020304" pitchFamily="18" charset="0"/>
              </a:rPr>
              <a:t>M</a:t>
            </a:r>
            <a:r>
              <a:rPr lang="zh-CN" altLang="en-US" b="1" dirty="0">
                <a:solidFill>
                  <a:schemeClr val="tx1"/>
                </a:solidFill>
                <a:latin typeface="宋体" panose="02010600030101010101" pitchFamily="2" charset="-122"/>
                <a:cs typeface="Times New Roman" panose="02020603050405020304" pitchFamily="18" charset="0"/>
              </a:rPr>
              <a:t>对滑移没影响</a:t>
            </a:r>
            <a:r>
              <a:rPr lang="en-US" altLang="zh-CN" b="1" dirty="0">
                <a:solidFill>
                  <a:schemeClr val="tx1"/>
                </a:solidFill>
                <a:latin typeface="宋体" panose="02010600030101010101" pitchFamily="2" charset="-122"/>
                <a:cs typeface="Times New Roman" panose="02020603050405020304" pitchFamily="18" charset="0"/>
              </a:rPr>
              <a:t>;</a:t>
            </a:r>
            <a:endParaRPr lang="en-US" altLang="zh-CN" dirty="0">
              <a:solidFill>
                <a:schemeClr val="tx1"/>
              </a:solidFill>
              <a:latin typeface="宋体" panose="02010600030101010101" pitchFamily="2" charset="-122"/>
            </a:endParaRPr>
          </a:p>
          <a:p>
            <a:pPr algn="l">
              <a:lnSpc>
                <a:spcPct val="130000"/>
              </a:lnSpc>
            </a:pPr>
            <a:r>
              <a:rPr lang="en-US" altLang="zh-CN" b="1" dirty="0">
                <a:solidFill>
                  <a:schemeClr val="tx1"/>
                </a:solidFill>
                <a:latin typeface="宋体" panose="02010600030101010101" pitchFamily="2" charset="-122"/>
                <a:cs typeface="Times New Roman" panose="02020603050405020304" pitchFamily="18" charset="0"/>
              </a:rPr>
              <a:t>(2) </a:t>
            </a:r>
            <a:r>
              <a:rPr lang="en-US" altLang="zh-CN" b="1" dirty="0">
                <a:solidFill>
                  <a:schemeClr val="tx1"/>
                </a:solidFill>
                <a:latin typeface="宋体" panose="02010600030101010101" pitchFamily="2" charset="-122"/>
              </a:rPr>
              <a:t>F</a:t>
            </a:r>
            <a:r>
              <a:rPr lang="el-GR" altLang="zh-CN" b="1" baseline="-25000" dirty="0">
                <a:solidFill>
                  <a:schemeClr val="tx1"/>
                </a:solidFill>
                <a:latin typeface="宋体" panose="02010600030101010101" pitchFamily="2" charset="-122"/>
              </a:rPr>
              <a:t>Σ</a:t>
            </a:r>
            <a:r>
              <a:rPr lang="zh-CN" altLang="en-US" b="1" dirty="0">
                <a:solidFill>
                  <a:schemeClr val="tx1"/>
                </a:solidFill>
                <a:latin typeface="宋体" panose="02010600030101010101" pitchFamily="2" charset="-122"/>
              </a:rPr>
              <a:t>使接合面的压力减小，</a:t>
            </a:r>
            <a:r>
              <a:rPr lang="zh-CN" altLang="en-US" b="1" dirty="0" smtClean="0">
                <a:solidFill>
                  <a:schemeClr val="tx1"/>
                </a:solidFill>
                <a:latin typeface="宋体" panose="02010600030101010101" pitchFamily="2" charset="-122"/>
              </a:rPr>
              <a:t>压力</a:t>
            </a:r>
            <a:r>
              <a:rPr lang="en-US" altLang="zh-CN" b="1" dirty="0" smtClean="0">
                <a:solidFill>
                  <a:schemeClr val="tx1"/>
                </a:solidFill>
                <a:latin typeface="宋体" panose="02010600030101010101" pitchFamily="2" charset="-122"/>
              </a:rPr>
              <a:t>F</a:t>
            </a:r>
            <a:r>
              <a:rPr lang="en-US" altLang="zh-CN" b="1" baseline="-25000" dirty="0" smtClean="0">
                <a:solidFill>
                  <a:schemeClr val="tx1"/>
                </a:solidFill>
                <a:latin typeface="宋体" panose="02010600030101010101" pitchFamily="2" charset="-122"/>
              </a:rPr>
              <a:t>0</a:t>
            </a:r>
            <a:r>
              <a:rPr lang="en-US" altLang="zh-CN" b="1" dirty="0" smtClean="0">
                <a:solidFill>
                  <a:schemeClr val="tx1"/>
                </a:solidFill>
                <a:latin typeface="宋体" panose="02010600030101010101" pitchFamily="2" charset="-122"/>
              </a:rPr>
              <a:t>-</a:t>
            </a:r>
            <a:r>
              <a:rPr lang="en-US" altLang="zh-CN" b="1" dirty="0" smtClean="0">
                <a:solidFill>
                  <a:schemeClr val="tx1"/>
                </a:solidFill>
                <a:latin typeface="宋体" panose="02010600030101010101" pitchFamily="2" charset="-122"/>
              </a:rPr>
              <a:t>- </a:t>
            </a:r>
            <a:r>
              <a:rPr lang="en-US" altLang="zh-CN" b="1" dirty="0" smtClean="0">
                <a:solidFill>
                  <a:schemeClr val="tx1"/>
                </a:solidFill>
              </a:rPr>
              <a:t>F</a:t>
            </a:r>
            <a:r>
              <a:rPr lang="en-US" altLang="zh-CN" b="1" baseline="-25000" dirty="0" smtClean="0">
                <a:solidFill>
                  <a:schemeClr val="tx1"/>
                </a:solidFill>
              </a:rPr>
              <a:t>1  </a:t>
            </a:r>
            <a:r>
              <a:rPr lang="en-US" altLang="zh-CN" b="1" dirty="0">
                <a:solidFill>
                  <a:schemeClr val="tx1"/>
                </a:solidFill>
              </a:rPr>
              <a:t>,</a:t>
            </a:r>
            <a:endParaRPr lang="en-US" altLang="zh-CN" b="1" dirty="0">
              <a:solidFill>
                <a:schemeClr val="tx1"/>
              </a:solidFill>
            </a:endParaRPr>
          </a:p>
          <a:p>
            <a:pPr algn="l">
              <a:lnSpc>
                <a:spcPct val="130000"/>
              </a:lnSpc>
            </a:pPr>
            <a:r>
              <a:rPr lang="en-US" altLang="zh-CN" b="1" dirty="0">
                <a:solidFill>
                  <a:schemeClr val="tx1"/>
                </a:solidFill>
              </a:rPr>
              <a:t>   </a:t>
            </a:r>
            <a:r>
              <a:rPr lang="en-US" altLang="zh-CN" b="1" dirty="0" smtClean="0">
                <a:solidFill>
                  <a:schemeClr val="tx1"/>
                </a:solidFill>
              </a:rPr>
              <a:t> </a:t>
            </a:r>
            <a:r>
              <a:rPr lang="zh-CN" altLang="en-US" b="1" dirty="0">
                <a:solidFill>
                  <a:schemeClr val="tx1"/>
                </a:solidFill>
              </a:rPr>
              <a:t>阻止结合面滑移的是</a:t>
            </a:r>
            <a:r>
              <a:rPr lang="zh-CN" altLang="en-US" b="1" dirty="0">
                <a:solidFill>
                  <a:srgbClr val="0000FF"/>
                </a:solidFill>
              </a:rPr>
              <a:t>总残余预紧力</a:t>
            </a:r>
            <a:r>
              <a:rPr lang="en-US" altLang="zh-CN" b="1" dirty="0">
                <a:solidFill>
                  <a:schemeClr val="tx1"/>
                </a:solidFill>
              </a:rPr>
              <a:t>;</a:t>
            </a:r>
            <a:endParaRPr lang="en-US" altLang="zh-CN" dirty="0">
              <a:solidFill>
                <a:schemeClr val="tx1"/>
              </a:solidFill>
            </a:endParaRPr>
          </a:p>
        </p:txBody>
      </p:sp>
      <p:graphicFrame>
        <p:nvGraphicFramePr>
          <p:cNvPr id="7170" name="Object 14"/>
          <p:cNvGraphicFramePr>
            <a:graphicFrameLocks noChangeAspect="1"/>
          </p:cNvGraphicFramePr>
          <p:nvPr/>
        </p:nvGraphicFramePr>
        <p:xfrm>
          <a:off x="2227580" y="3424555"/>
          <a:ext cx="3448685" cy="902335"/>
        </p:xfrm>
        <a:graphic>
          <a:graphicData uri="http://schemas.openxmlformats.org/presentationml/2006/ole">
            <mc:AlternateContent xmlns:mc="http://schemas.openxmlformats.org/markup-compatibility/2006">
              <mc:Choice xmlns:v="urn:schemas-microsoft-com:vml" Requires="v">
                <p:oleObj spid="_x0000_s44133" name="公式" r:id="rId2" imgW="1854200" imgH="482600" progId="Equation.3">
                  <p:embed/>
                </p:oleObj>
              </mc:Choice>
              <mc:Fallback>
                <p:oleObj name="公式" r:id="rId2" imgW="1854200" imgH="482600" progId="Equation.3">
                  <p:embed/>
                  <p:pic>
                    <p:nvPicPr>
                      <p:cNvPr id="0" name="图片 44132"/>
                      <p:cNvPicPr>
                        <a:picLocks noChangeAspect="1" noChangeArrowheads="1"/>
                      </p:cNvPicPr>
                      <p:nvPr/>
                    </p:nvPicPr>
                    <p:blipFill>
                      <a:blip r:embed="rId3"/>
                      <a:srcRect/>
                      <a:stretch>
                        <a:fillRect/>
                      </a:stretch>
                    </p:blipFill>
                    <p:spPr bwMode="auto">
                      <a:xfrm>
                        <a:off x="2227580" y="3424555"/>
                        <a:ext cx="3448685" cy="902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7" name="Rectangle 15"/>
          <p:cNvSpPr>
            <a:spLocks noChangeArrowheads="1"/>
          </p:cNvSpPr>
          <p:nvPr/>
        </p:nvSpPr>
        <p:spPr bwMode="auto">
          <a:xfrm>
            <a:off x="581327" y="3171409"/>
            <a:ext cx="2207425"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rPr>
              <a:t>不滑移条件</a:t>
            </a:r>
            <a:r>
              <a:rPr lang="en-US" altLang="zh-CN" b="1" dirty="0">
                <a:solidFill>
                  <a:schemeClr val="tx1"/>
                </a:solidFill>
                <a:latin typeface="宋体" panose="02010600030101010101" pitchFamily="2" charset="-122"/>
              </a:rPr>
              <a:t>:</a:t>
            </a:r>
            <a:endParaRPr lang="en-US" altLang="zh-CN" b="1" dirty="0">
              <a:solidFill>
                <a:schemeClr val="tx1"/>
              </a:solidFill>
              <a:latin typeface="宋体" panose="02010600030101010101" pitchFamily="2" charset="-122"/>
            </a:endParaRPr>
          </a:p>
        </p:txBody>
      </p:sp>
      <p:grpSp>
        <p:nvGrpSpPr>
          <p:cNvPr id="7178" name="Group 16"/>
          <p:cNvGrpSpPr/>
          <p:nvPr/>
        </p:nvGrpSpPr>
        <p:grpSpPr bwMode="auto">
          <a:xfrm>
            <a:off x="805815" y="4647516"/>
            <a:ext cx="6544945" cy="826819"/>
            <a:chOff x="340" y="1043"/>
            <a:chExt cx="2918" cy="521"/>
          </a:xfrm>
        </p:grpSpPr>
        <p:graphicFrame>
          <p:nvGraphicFramePr>
            <p:cNvPr id="7172" name="Object 17"/>
            <p:cNvGraphicFramePr>
              <a:graphicFrameLocks noChangeAspect="1"/>
            </p:cNvGraphicFramePr>
            <p:nvPr/>
          </p:nvGraphicFramePr>
          <p:xfrm>
            <a:off x="1224" y="1043"/>
            <a:ext cx="2034" cy="521"/>
          </p:xfrm>
          <a:graphic>
            <a:graphicData uri="http://schemas.openxmlformats.org/presentationml/2006/ole">
              <mc:AlternateContent xmlns:mc="http://schemas.openxmlformats.org/markup-compatibility/2006">
                <mc:Choice xmlns:v="urn:schemas-microsoft-com:vml" Requires="v">
                  <p:oleObj spid="_x0000_s44134" name="公式" r:id="rId4" imgW="1816100" imgH="431800" progId="Equation.3">
                    <p:embed/>
                  </p:oleObj>
                </mc:Choice>
                <mc:Fallback>
                  <p:oleObj name="公式" r:id="rId4" imgW="1816100" imgH="431800" progId="Equation.3">
                    <p:embed/>
                    <p:pic>
                      <p:nvPicPr>
                        <p:cNvPr id="0" name="图片 44133"/>
                        <p:cNvPicPr>
                          <a:picLocks noChangeAspect="1" noChangeArrowheads="1"/>
                        </p:cNvPicPr>
                        <p:nvPr/>
                      </p:nvPicPr>
                      <p:blipFill>
                        <a:blip r:embed="rId5"/>
                        <a:srcRect/>
                        <a:stretch>
                          <a:fillRect/>
                        </a:stretch>
                      </p:blipFill>
                      <p:spPr bwMode="auto">
                        <a:xfrm>
                          <a:off x="1224" y="1043"/>
                          <a:ext cx="2034" cy="5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0" name="Rectangle 18"/>
            <p:cNvSpPr>
              <a:spLocks noChangeArrowheads="1"/>
            </p:cNvSpPr>
            <p:nvPr/>
          </p:nvSpPr>
          <p:spPr bwMode="auto">
            <a:xfrm>
              <a:off x="340" y="1056"/>
              <a:ext cx="93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所需预紧力：</a:t>
              </a:r>
              <a:endParaRPr lang="zh-CN" altLang="en-US" b="1" dirty="0">
                <a:solidFill>
                  <a:schemeClr val="tx1"/>
                </a:solidFill>
              </a:endParaRPr>
            </a:p>
          </p:txBody>
        </p:sp>
      </p:grpSp>
      <p:graphicFrame>
        <p:nvGraphicFramePr>
          <p:cNvPr id="7171" name="Object 21"/>
          <p:cNvGraphicFramePr>
            <a:graphicFrameLocks noGrp="1" noChangeAspect="1"/>
          </p:cNvGraphicFramePr>
          <p:nvPr>
            <p:ph/>
          </p:nvPr>
        </p:nvGraphicFramePr>
        <p:xfrm>
          <a:off x="1237615" y="5617210"/>
          <a:ext cx="5720080" cy="721995"/>
        </p:xfrm>
        <a:graphic>
          <a:graphicData uri="http://schemas.openxmlformats.org/presentationml/2006/ole">
            <mc:AlternateContent xmlns:mc="http://schemas.openxmlformats.org/markup-compatibility/2006">
              <mc:Choice xmlns:v="urn:schemas-microsoft-com:vml" Requires="v">
                <p:oleObj spid="_x0000_s44135" name="公式" r:id="rId6" imgW="3124200" imgH="431800" progId="Equation.3">
                  <p:embed/>
                </p:oleObj>
              </mc:Choice>
              <mc:Fallback>
                <p:oleObj name="公式" r:id="rId6" imgW="3124200" imgH="431800" progId="Equation.3">
                  <p:embed/>
                  <p:pic>
                    <p:nvPicPr>
                      <p:cNvPr id="0" name="图片 44134"/>
                      <p:cNvPicPr>
                        <a:picLocks noChangeAspect="1" noChangeArrowheads="1"/>
                      </p:cNvPicPr>
                      <p:nvPr/>
                    </p:nvPicPr>
                    <p:blipFill>
                      <a:blip r:embed="rId7"/>
                      <a:srcRect/>
                      <a:stretch>
                        <a:fillRect/>
                      </a:stretch>
                    </p:blipFill>
                    <p:spPr bwMode="auto">
                      <a:xfrm>
                        <a:off x="1237615" y="5617210"/>
                        <a:ext cx="5720080" cy="721995"/>
                      </a:xfrm>
                      <a:prstGeom prst="rect">
                        <a:avLst/>
                      </a:prstGeom>
                      <a:noFill/>
                      <a:ln>
                        <a:noFill/>
                      </a:ln>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2"/>
          <p:cNvSpPr>
            <a:spLocks noChangeArrowheads="1"/>
          </p:cNvSpPr>
          <p:nvPr/>
        </p:nvSpPr>
        <p:spPr bwMode="auto">
          <a:xfrm>
            <a:off x="419821" y="474356"/>
            <a:ext cx="4076314" cy="1715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b="1" dirty="0">
                <a:solidFill>
                  <a:schemeClr val="tx1"/>
                </a:solidFill>
              </a:rPr>
              <a:t>由</a:t>
            </a:r>
            <a:r>
              <a:rPr lang="zh-CN" altLang="en-US" b="1" dirty="0" smtClean="0">
                <a:solidFill>
                  <a:schemeClr val="tx1"/>
                </a:solidFill>
              </a:rPr>
              <a:t>表</a:t>
            </a:r>
            <a:r>
              <a:rPr lang="en-US" altLang="zh-CN" b="1" dirty="0" smtClean="0">
                <a:solidFill>
                  <a:schemeClr val="tx1"/>
                </a:solidFill>
              </a:rPr>
              <a:t>2.3</a:t>
            </a:r>
            <a:r>
              <a:rPr lang="en-US" altLang="zh-CN" b="1" dirty="0" smtClean="0">
                <a:solidFill>
                  <a:schemeClr val="tx1"/>
                </a:solidFill>
              </a:rPr>
              <a:t>-4</a:t>
            </a:r>
            <a:r>
              <a:rPr lang="zh-CN" altLang="en-US" b="1" dirty="0" smtClean="0">
                <a:solidFill>
                  <a:schemeClr val="tx1"/>
                </a:solidFill>
              </a:rPr>
              <a:t>查</a:t>
            </a:r>
            <a:r>
              <a:rPr lang="zh-CN" altLang="en-US" b="1" dirty="0">
                <a:solidFill>
                  <a:schemeClr val="tx1"/>
                </a:solidFill>
              </a:rPr>
              <a:t>得</a:t>
            </a:r>
            <a:r>
              <a:rPr lang="zh-CN" altLang="en-US" b="1" dirty="0" smtClean="0">
                <a:solidFill>
                  <a:schemeClr val="tx1"/>
                </a:solidFill>
              </a:rPr>
              <a:t>：</a:t>
            </a:r>
            <a:endParaRPr lang="en-US" altLang="zh-CN" b="1" dirty="0" smtClean="0">
              <a:solidFill>
                <a:schemeClr val="tx1"/>
              </a:solidFill>
            </a:endParaRPr>
          </a:p>
          <a:p>
            <a:pPr algn="l" eaLnBrk="1" hangingPunct="1">
              <a:lnSpc>
                <a:spcPct val="120000"/>
              </a:lnSpc>
            </a:pPr>
            <a:r>
              <a:rPr lang="zh-CN" altLang="en-US" b="1" dirty="0" smtClean="0">
                <a:solidFill>
                  <a:schemeClr val="tx1"/>
                </a:solidFill>
              </a:rPr>
              <a:t>（</a:t>
            </a:r>
            <a:r>
              <a:rPr lang="zh-CN" altLang="en-US" b="1" dirty="0">
                <a:solidFill>
                  <a:schemeClr val="tx1"/>
                </a:solidFill>
              </a:rPr>
              <a:t>干燥铸铁表面</a:t>
            </a:r>
            <a:r>
              <a:rPr lang="en-US" altLang="zh-CN" b="1" dirty="0">
                <a:solidFill>
                  <a:schemeClr val="tx1"/>
                </a:solidFill>
              </a:rPr>
              <a:t>0.1~0.2</a:t>
            </a:r>
            <a:r>
              <a:rPr lang="zh-CN" altLang="en-US" b="1" dirty="0">
                <a:solidFill>
                  <a:schemeClr val="tx1"/>
                </a:solidFill>
              </a:rPr>
              <a:t>）</a:t>
            </a:r>
            <a:endParaRPr lang="zh-CN" altLang="en-US" b="1" dirty="0">
              <a:solidFill>
                <a:schemeClr val="tx1"/>
              </a:solidFill>
            </a:endParaRPr>
          </a:p>
          <a:p>
            <a:pPr algn="l" eaLnBrk="1" hangingPunct="1">
              <a:lnSpc>
                <a:spcPct val="120000"/>
              </a:lnSpc>
            </a:pPr>
            <a:r>
              <a:rPr lang="zh-CN" altLang="en-US" b="1" dirty="0">
                <a:solidFill>
                  <a:schemeClr val="tx1"/>
                </a:solidFill>
              </a:rPr>
              <a:t>结合摩擦系数</a:t>
            </a:r>
            <a:r>
              <a:rPr lang="en-US" altLang="zh-CN" b="1" i="1" dirty="0">
                <a:solidFill>
                  <a:schemeClr val="tx1"/>
                </a:solidFill>
              </a:rPr>
              <a:t>f</a:t>
            </a:r>
            <a:r>
              <a:rPr lang="en-US" altLang="zh-CN" b="1" dirty="0">
                <a:solidFill>
                  <a:schemeClr val="tx1"/>
                </a:solidFill>
              </a:rPr>
              <a:t>=0.16</a:t>
            </a:r>
            <a:r>
              <a:rPr lang="zh-CN" altLang="en-US" b="1" dirty="0" smtClean="0">
                <a:solidFill>
                  <a:schemeClr val="tx1"/>
                </a:solidFill>
              </a:rPr>
              <a:t>；</a:t>
            </a:r>
            <a:endParaRPr lang="en-US" altLang="zh-CN" b="1" dirty="0" smtClean="0">
              <a:solidFill>
                <a:schemeClr val="tx1"/>
              </a:solidFill>
            </a:endParaRPr>
          </a:p>
          <a:p>
            <a:pPr algn="l" eaLnBrk="1" hangingPunct="1">
              <a:lnSpc>
                <a:spcPct val="120000"/>
              </a:lnSpc>
            </a:pPr>
            <a:r>
              <a:rPr lang="zh-CN" altLang="en-US" b="1" dirty="0" smtClean="0">
                <a:solidFill>
                  <a:schemeClr val="tx1"/>
                </a:solidFill>
              </a:rPr>
              <a:t>取</a:t>
            </a:r>
            <a:r>
              <a:rPr lang="zh-CN" altLang="en-US" b="1" dirty="0">
                <a:solidFill>
                  <a:schemeClr val="tx1"/>
                </a:solidFill>
              </a:rPr>
              <a:t>防滑</a:t>
            </a:r>
            <a:r>
              <a:rPr lang="zh-CN" altLang="en-US" b="1" dirty="0" smtClean="0">
                <a:solidFill>
                  <a:schemeClr val="tx1"/>
                </a:solidFill>
              </a:rPr>
              <a:t>系数</a:t>
            </a:r>
            <a:r>
              <a:rPr lang="en-US" altLang="zh-CN" b="1" i="1" dirty="0" smtClean="0">
                <a:solidFill>
                  <a:schemeClr val="tx1"/>
                </a:solidFill>
              </a:rPr>
              <a:t>K</a:t>
            </a:r>
            <a:r>
              <a:rPr lang="en-US" altLang="zh-CN" b="1" i="1" baseline="-25000" dirty="0" smtClean="0">
                <a:solidFill>
                  <a:schemeClr val="tx1"/>
                </a:solidFill>
              </a:rPr>
              <a:t>s</a:t>
            </a:r>
            <a:r>
              <a:rPr lang="en-US" altLang="zh-CN" b="1" i="1" dirty="0" smtClean="0">
                <a:solidFill>
                  <a:schemeClr val="tx1"/>
                </a:solidFill>
              </a:rPr>
              <a:t>=</a:t>
            </a:r>
            <a:r>
              <a:rPr lang="en-US" altLang="zh-CN" b="1" dirty="0" smtClean="0">
                <a:solidFill>
                  <a:schemeClr val="tx1"/>
                </a:solidFill>
              </a:rPr>
              <a:t>1.2</a:t>
            </a:r>
            <a:endParaRPr lang="en-US" altLang="zh-CN" b="1" dirty="0">
              <a:solidFill>
                <a:schemeClr val="tx1"/>
              </a:solidFill>
            </a:endParaRPr>
          </a:p>
        </p:txBody>
      </p:sp>
      <p:graphicFrame>
        <p:nvGraphicFramePr>
          <p:cNvPr id="8194" name="Object 2"/>
          <p:cNvGraphicFramePr>
            <a:graphicFrameLocks noChangeAspect="1"/>
          </p:cNvGraphicFramePr>
          <p:nvPr/>
        </p:nvGraphicFramePr>
        <p:xfrm>
          <a:off x="494983" y="2961640"/>
          <a:ext cx="3925570" cy="1845945"/>
        </p:xfrm>
        <a:graphic>
          <a:graphicData uri="http://schemas.openxmlformats.org/presentationml/2006/ole">
            <mc:AlternateContent xmlns:mc="http://schemas.openxmlformats.org/markup-compatibility/2006">
              <mc:Choice xmlns:v="urn:schemas-microsoft-com:vml" Requires="v">
                <p:oleObj spid="_x0000_s45124" name="公式" r:id="rId1" imgW="2032000" imgH="1066800" progId="Equation.3">
                  <p:embed/>
                </p:oleObj>
              </mc:Choice>
              <mc:Fallback>
                <p:oleObj name="公式" r:id="rId1" imgW="2032000" imgH="1066800" progId="Equation.3">
                  <p:embed/>
                  <p:pic>
                    <p:nvPicPr>
                      <p:cNvPr id="0" name="图片 45123"/>
                      <p:cNvPicPr>
                        <a:picLocks noChangeAspect="1" noChangeArrowheads="1"/>
                      </p:cNvPicPr>
                      <p:nvPr/>
                    </p:nvPicPr>
                    <p:blipFill>
                      <a:blip r:embed="rId2"/>
                      <a:srcRect/>
                      <a:stretch>
                        <a:fillRect/>
                      </a:stretch>
                    </p:blipFill>
                    <p:spPr bwMode="auto">
                      <a:xfrm>
                        <a:off x="494983" y="2961640"/>
                        <a:ext cx="3925570" cy="1845945"/>
                      </a:xfrm>
                      <a:prstGeom prst="rect">
                        <a:avLst/>
                      </a:prstGeom>
                      <a:noFill/>
                    </p:spPr>
                  </p:pic>
                </p:oleObj>
              </mc:Fallback>
            </mc:AlternateContent>
          </a:graphicData>
        </a:graphic>
      </p:graphicFrame>
      <p:sp>
        <p:nvSpPr>
          <p:cNvPr id="8197" name="Rectangle 44"/>
          <p:cNvSpPr>
            <a:spLocks noChangeArrowheads="1"/>
          </p:cNvSpPr>
          <p:nvPr/>
        </p:nvSpPr>
        <p:spPr bwMode="auto">
          <a:xfrm>
            <a:off x="264679" y="2285785"/>
            <a:ext cx="3455987"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保证不滑移的螺栓预紧力：</a:t>
            </a:r>
            <a:endParaRPr lang="zh-CN" altLang="en-US" b="1" dirty="0">
              <a:solidFill>
                <a:schemeClr val="tx1"/>
              </a:solidFill>
            </a:endParaRPr>
          </a:p>
        </p:txBody>
      </p:sp>
      <p:sp>
        <p:nvSpPr>
          <p:cNvPr id="8200" name="Rectangle 153"/>
          <p:cNvSpPr>
            <a:spLocks noChangeArrowheads="1"/>
          </p:cNvSpPr>
          <p:nvPr/>
        </p:nvSpPr>
        <p:spPr bwMode="auto">
          <a:xfrm>
            <a:off x="227765" y="5049489"/>
            <a:ext cx="4822825"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chemeClr val="tx1"/>
                </a:solidFill>
              </a:rPr>
              <a:t>5</a:t>
            </a:r>
            <a:r>
              <a:rPr lang="zh-CN" altLang="en-US" b="1" dirty="0">
                <a:solidFill>
                  <a:schemeClr val="tx1"/>
                </a:solidFill>
              </a:rPr>
              <a:t>、确定上侧受力最大螺栓的总载荷</a:t>
            </a:r>
            <a:endParaRPr lang="zh-CN" altLang="en-US" dirty="0">
              <a:solidFill>
                <a:schemeClr val="tx1"/>
              </a:solidFill>
            </a:endParaRPr>
          </a:p>
        </p:txBody>
      </p:sp>
      <p:graphicFrame>
        <p:nvGraphicFramePr>
          <p:cNvPr id="8195" name="Object 154"/>
          <p:cNvGraphicFramePr>
            <a:graphicFrameLocks noChangeAspect="1"/>
          </p:cNvGraphicFramePr>
          <p:nvPr/>
        </p:nvGraphicFramePr>
        <p:xfrm>
          <a:off x="495935" y="5579110"/>
          <a:ext cx="5493385" cy="830580"/>
        </p:xfrm>
        <a:graphic>
          <a:graphicData uri="http://schemas.openxmlformats.org/presentationml/2006/ole">
            <mc:AlternateContent xmlns:mc="http://schemas.openxmlformats.org/markup-compatibility/2006">
              <mc:Choice xmlns:v="urn:schemas-microsoft-com:vml" Requires="v">
                <p:oleObj spid="_x0000_s45125" name="公式" r:id="rId3" imgW="3225800" imgH="431800" progId="Equation.3">
                  <p:embed/>
                </p:oleObj>
              </mc:Choice>
              <mc:Fallback>
                <p:oleObj name="公式" r:id="rId3" imgW="3225800" imgH="431800" progId="Equation.3">
                  <p:embed/>
                  <p:pic>
                    <p:nvPicPr>
                      <p:cNvPr id="0" name="图片 45124"/>
                      <p:cNvPicPr>
                        <a:picLocks noChangeAspect="1" noChangeArrowheads="1"/>
                      </p:cNvPicPr>
                      <p:nvPr/>
                    </p:nvPicPr>
                    <p:blipFill>
                      <a:blip r:embed="rId4"/>
                      <a:srcRect/>
                      <a:stretch>
                        <a:fillRect/>
                      </a:stretch>
                    </p:blipFill>
                    <p:spPr bwMode="auto">
                      <a:xfrm>
                        <a:off x="495935" y="5579110"/>
                        <a:ext cx="5493385" cy="8305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rcRect b="10445"/>
          <a:stretch>
            <a:fillRect/>
          </a:stretch>
        </p:blipFill>
        <p:spPr>
          <a:xfrm>
            <a:off x="4521200" y="512445"/>
            <a:ext cx="4543425" cy="2940050"/>
          </a:xfrm>
          <a:prstGeom prst="rect">
            <a:avLst/>
          </a:prstGeom>
        </p:spPr>
      </p:pic>
      <p:cxnSp>
        <p:nvCxnSpPr>
          <p:cNvPr id="10" name="直接箭头连接符 9"/>
          <p:cNvCxnSpPr/>
          <p:nvPr/>
        </p:nvCxnSpPr>
        <p:spPr bwMode="auto">
          <a:xfrm>
            <a:off x="6882063" y="1944303"/>
            <a:ext cx="798897"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11" name="直接箭头连接符 10"/>
          <p:cNvCxnSpPr/>
          <p:nvPr/>
        </p:nvCxnSpPr>
        <p:spPr bwMode="auto">
          <a:xfrm flipH="1">
            <a:off x="6872437" y="1963554"/>
            <a:ext cx="19251" cy="712269"/>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12" name="右弧形箭头 11"/>
          <p:cNvSpPr/>
          <p:nvPr/>
        </p:nvSpPr>
        <p:spPr bwMode="auto">
          <a:xfrm>
            <a:off x="6959065" y="1530416"/>
            <a:ext cx="404261" cy="943276"/>
          </a:xfrm>
          <a:prstGeom prst="curvedLeftArrow">
            <a:avLst/>
          </a:prstGeom>
          <a:solidFill>
            <a:srgbClr val="00B0F0"/>
          </a:solidFill>
          <a:ln w="952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13" name="组合 12"/>
          <p:cNvGrpSpPr/>
          <p:nvPr/>
        </p:nvGrpSpPr>
        <p:grpSpPr>
          <a:xfrm>
            <a:off x="6140618" y="4165883"/>
            <a:ext cx="2714625" cy="1933575"/>
            <a:chOff x="6525628" y="2616215"/>
            <a:chExt cx="2714625" cy="1933575"/>
          </a:xfrm>
        </p:grpSpPr>
        <p:pic>
          <p:nvPicPr>
            <p:cNvPr id="14" name="图片 13"/>
            <p:cNvPicPr>
              <a:picLocks noChangeAspect="1"/>
            </p:cNvPicPr>
            <p:nvPr/>
          </p:nvPicPr>
          <p:blipFill>
            <a:blip r:embed="rId6"/>
            <a:stretch>
              <a:fillRect/>
            </a:stretch>
          </p:blipFill>
          <p:spPr>
            <a:xfrm>
              <a:off x="6525628" y="2616215"/>
              <a:ext cx="2714625" cy="1933575"/>
            </a:xfrm>
            <a:prstGeom prst="rect">
              <a:avLst/>
            </a:prstGeom>
          </p:spPr>
        </p:pic>
        <p:cxnSp>
          <p:nvCxnSpPr>
            <p:cNvPr id="15" name="直接箭头连接符 14"/>
            <p:cNvCxnSpPr/>
            <p:nvPr/>
          </p:nvCxnSpPr>
          <p:spPr bwMode="auto">
            <a:xfrm flipV="1">
              <a:off x="6651057" y="2752825"/>
              <a:ext cx="0" cy="12705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Rectangle 18"/>
          <p:cNvSpPr>
            <a:spLocks noChangeArrowheads="1"/>
          </p:cNvSpPr>
          <p:nvPr/>
        </p:nvSpPr>
        <p:spPr bwMode="auto">
          <a:xfrm>
            <a:off x="782639" y="5743686"/>
            <a:ext cx="225039"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sz="1200" b="1">
                <a:solidFill>
                  <a:schemeClr val="tx1"/>
                </a:solidFill>
                <a:latin typeface="Plotter" charset="0"/>
                <a:ea typeface="Plotter" charset="0"/>
                <a:cs typeface="Times New Roman" panose="02020603050405020304" pitchFamily="18" charset="0"/>
              </a:rPr>
              <a:t> </a:t>
            </a:r>
            <a:endParaRPr lang="en-US" altLang="zh-CN" sz="2400">
              <a:solidFill>
                <a:schemeClr val="tx1"/>
              </a:solidFill>
              <a:ea typeface="Plotter" charset="0"/>
              <a:cs typeface="Times New Roman" panose="02020603050405020304" pitchFamily="18" charset="0"/>
            </a:endParaRPr>
          </a:p>
        </p:txBody>
      </p:sp>
      <p:grpSp>
        <p:nvGrpSpPr>
          <p:cNvPr id="2" name="Group 42"/>
          <p:cNvGrpSpPr/>
          <p:nvPr/>
        </p:nvGrpSpPr>
        <p:grpSpPr bwMode="auto">
          <a:xfrm>
            <a:off x="582914" y="4012995"/>
            <a:ext cx="6645275" cy="1296988"/>
            <a:chOff x="349" y="2376"/>
            <a:chExt cx="4186" cy="817"/>
          </a:xfrm>
        </p:grpSpPr>
        <p:grpSp>
          <p:nvGrpSpPr>
            <p:cNvPr id="9233" name="Group 35"/>
            <p:cNvGrpSpPr/>
            <p:nvPr/>
          </p:nvGrpSpPr>
          <p:grpSpPr bwMode="auto">
            <a:xfrm>
              <a:off x="385" y="2376"/>
              <a:ext cx="2966" cy="273"/>
              <a:chOff x="385" y="2277"/>
              <a:chExt cx="2966" cy="273"/>
            </a:xfrm>
          </p:grpSpPr>
          <p:graphicFrame>
            <p:nvGraphicFramePr>
              <p:cNvPr id="9222" name="Object 22"/>
              <p:cNvGraphicFramePr>
                <a:graphicFrameLocks noChangeAspect="1"/>
              </p:cNvGraphicFramePr>
              <p:nvPr/>
            </p:nvGraphicFramePr>
            <p:xfrm>
              <a:off x="3237" y="2424"/>
              <a:ext cx="114" cy="20"/>
            </p:xfrm>
            <a:graphic>
              <a:graphicData uri="http://schemas.openxmlformats.org/presentationml/2006/ole">
                <mc:AlternateContent xmlns:mc="http://schemas.openxmlformats.org/markup-compatibility/2006">
                  <mc:Choice xmlns:v="urn:schemas-microsoft-com:vml" Requires="v">
                    <p:oleObj spid="_x0000_s46237" name="公式" r:id="rId1" imgW="2691765" imgH="469900" progId="Equation.3">
                      <p:embed/>
                    </p:oleObj>
                  </mc:Choice>
                  <mc:Fallback>
                    <p:oleObj name="公式" r:id="rId1" imgW="2691765" imgH="469900" progId="Equation.3">
                      <p:embed/>
                      <p:pic>
                        <p:nvPicPr>
                          <p:cNvPr id="0" name="图片 46236"/>
                          <p:cNvPicPr>
                            <a:picLocks noChangeAspect="1" noChangeArrowheads="1"/>
                          </p:cNvPicPr>
                          <p:nvPr/>
                        </p:nvPicPr>
                        <p:blipFill>
                          <a:blip r:embed="rId2"/>
                          <a:srcRect/>
                          <a:stretch>
                            <a:fillRect/>
                          </a:stretch>
                        </p:blipFill>
                        <p:spPr bwMode="auto">
                          <a:xfrm>
                            <a:off x="3237" y="2424"/>
                            <a:ext cx="114" cy="20"/>
                          </a:xfrm>
                          <a:prstGeom prst="rect">
                            <a:avLst/>
                          </a:prstGeom>
                          <a:noFill/>
                        </p:spPr>
                      </p:pic>
                    </p:oleObj>
                  </mc:Fallback>
                </mc:AlternateContent>
              </a:graphicData>
            </a:graphic>
          </p:graphicFrame>
          <p:sp>
            <p:nvSpPr>
              <p:cNvPr id="9236" name="Rectangle 29"/>
              <p:cNvSpPr>
                <a:spLocks noChangeArrowheads="1"/>
              </p:cNvSpPr>
              <p:nvPr/>
            </p:nvSpPr>
            <p:spPr bwMode="auto">
              <a:xfrm>
                <a:off x="385" y="2277"/>
                <a:ext cx="1179"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a:solidFill>
                      <a:schemeClr val="tx1"/>
                    </a:solidFill>
                  </a:rPr>
                  <a:t>螺栓最小直径：</a:t>
                </a:r>
                <a:endParaRPr lang="zh-CN" altLang="en-US" b="1">
                  <a:solidFill>
                    <a:schemeClr val="tx1"/>
                  </a:solidFill>
                </a:endParaRPr>
              </a:p>
            </p:txBody>
          </p:sp>
        </p:grpSp>
        <p:grpSp>
          <p:nvGrpSpPr>
            <p:cNvPr id="9234" name="Group 36"/>
            <p:cNvGrpSpPr/>
            <p:nvPr/>
          </p:nvGrpSpPr>
          <p:grpSpPr bwMode="auto">
            <a:xfrm>
              <a:off x="349" y="2907"/>
              <a:ext cx="4186" cy="286"/>
              <a:chOff x="349" y="2907"/>
              <a:chExt cx="4186" cy="286"/>
            </a:xfrm>
          </p:grpSpPr>
          <p:graphicFrame>
            <p:nvGraphicFramePr>
              <p:cNvPr id="9221" name="Object 10"/>
              <p:cNvGraphicFramePr>
                <a:graphicFrameLocks noChangeAspect="1"/>
              </p:cNvGraphicFramePr>
              <p:nvPr/>
            </p:nvGraphicFramePr>
            <p:xfrm>
              <a:off x="2584" y="2934"/>
              <a:ext cx="1951" cy="259"/>
            </p:xfrm>
            <a:graphic>
              <a:graphicData uri="http://schemas.openxmlformats.org/presentationml/2006/ole">
                <mc:AlternateContent xmlns:mc="http://schemas.openxmlformats.org/markup-compatibility/2006">
                  <mc:Choice xmlns:v="urn:schemas-microsoft-com:vml" Requires="v">
                    <p:oleObj spid="_x0000_s46238" name="公式" r:id="rId3" imgW="1651000" imgH="215900" progId="Equation.3">
                      <p:embed/>
                    </p:oleObj>
                  </mc:Choice>
                  <mc:Fallback>
                    <p:oleObj name="公式" r:id="rId3" imgW="1651000" imgH="215900" progId="Equation.3">
                      <p:embed/>
                      <p:pic>
                        <p:nvPicPr>
                          <p:cNvPr id="0" name="图片 462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4" y="2934"/>
                            <a:ext cx="1951"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5" name="Rectangle 30"/>
              <p:cNvSpPr>
                <a:spLocks noChangeArrowheads="1"/>
              </p:cNvSpPr>
              <p:nvPr/>
            </p:nvSpPr>
            <p:spPr bwMode="auto">
              <a:xfrm>
                <a:off x="349" y="2907"/>
                <a:ext cx="2113"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查标准选</a:t>
                </a:r>
                <a:r>
                  <a:rPr lang="en-US" altLang="zh-CN" b="1" dirty="0">
                    <a:solidFill>
                      <a:schemeClr val="tx1"/>
                    </a:solidFill>
                  </a:rPr>
                  <a:t>M12</a:t>
                </a:r>
                <a:r>
                  <a:rPr lang="zh-CN" altLang="en-US" b="1" dirty="0">
                    <a:solidFill>
                      <a:schemeClr val="tx1"/>
                    </a:solidFill>
                  </a:rPr>
                  <a:t>，螺栓小径</a:t>
                </a:r>
                <a:endParaRPr lang="zh-CN" altLang="en-US" b="1" dirty="0">
                  <a:solidFill>
                    <a:schemeClr val="tx1"/>
                  </a:solidFill>
                </a:endParaRPr>
              </a:p>
            </p:txBody>
          </p:sp>
        </p:grpSp>
      </p:grpSp>
      <p:grpSp>
        <p:nvGrpSpPr>
          <p:cNvPr id="5" name="Group 43"/>
          <p:cNvGrpSpPr/>
          <p:nvPr/>
        </p:nvGrpSpPr>
        <p:grpSpPr bwMode="auto">
          <a:xfrm>
            <a:off x="630639" y="2195103"/>
            <a:ext cx="7156450" cy="1544638"/>
            <a:chOff x="373" y="1316"/>
            <a:chExt cx="4508" cy="973"/>
          </a:xfrm>
        </p:grpSpPr>
        <p:grpSp>
          <p:nvGrpSpPr>
            <p:cNvPr id="9228" name="Group 31"/>
            <p:cNvGrpSpPr/>
            <p:nvPr/>
          </p:nvGrpSpPr>
          <p:grpSpPr bwMode="auto">
            <a:xfrm>
              <a:off x="373" y="1316"/>
              <a:ext cx="4508" cy="276"/>
              <a:chOff x="373" y="1225"/>
              <a:chExt cx="4508" cy="276"/>
            </a:xfrm>
          </p:grpSpPr>
          <p:graphicFrame>
            <p:nvGraphicFramePr>
              <p:cNvPr id="9220" name="Object 13"/>
              <p:cNvGraphicFramePr>
                <a:graphicFrameLocks noChangeAspect="1"/>
              </p:cNvGraphicFramePr>
              <p:nvPr/>
            </p:nvGraphicFramePr>
            <p:xfrm>
              <a:off x="3341" y="1225"/>
              <a:ext cx="1540" cy="236"/>
            </p:xfrm>
            <a:graphic>
              <a:graphicData uri="http://schemas.openxmlformats.org/presentationml/2006/ole">
                <mc:AlternateContent xmlns:mc="http://schemas.openxmlformats.org/markup-compatibility/2006">
                  <mc:Choice xmlns:v="urn:schemas-microsoft-com:vml" Requires="v">
                    <p:oleObj spid="_x0000_s46239" name="公式" r:id="rId5" imgW="1638300" imgH="228600" progId="Equation.3">
                      <p:embed/>
                    </p:oleObj>
                  </mc:Choice>
                  <mc:Fallback>
                    <p:oleObj name="公式" r:id="rId5" imgW="1638300" imgH="228600" progId="Equation.3">
                      <p:embed/>
                      <p:pic>
                        <p:nvPicPr>
                          <p:cNvPr id="0" name="图片 46238"/>
                          <p:cNvPicPr>
                            <a:picLocks noChangeAspect="1" noChangeArrowheads="1"/>
                          </p:cNvPicPr>
                          <p:nvPr/>
                        </p:nvPicPr>
                        <p:blipFill>
                          <a:blip r:embed="rId6"/>
                          <a:srcRect/>
                          <a:stretch>
                            <a:fillRect/>
                          </a:stretch>
                        </p:blipFill>
                        <p:spPr bwMode="auto">
                          <a:xfrm>
                            <a:off x="3341" y="1225"/>
                            <a:ext cx="1540"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2" name="Rectangle 20"/>
              <p:cNvSpPr>
                <a:spLocks noChangeArrowheads="1"/>
              </p:cNvSpPr>
              <p:nvPr/>
            </p:nvSpPr>
            <p:spPr bwMode="auto">
              <a:xfrm>
                <a:off x="373" y="1228"/>
                <a:ext cx="3520"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选螺栓性能等级４</a:t>
                </a:r>
                <a:r>
                  <a:rPr lang="en-US" altLang="zh-CN" b="1" dirty="0">
                    <a:solidFill>
                      <a:schemeClr val="tx1"/>
                    </a:solidFill>
                  </a:rPr>
                  <a:t>.</a:t>
                </a:r>
                <a:r>
                  <a:rPr lang="zh-CN" altLang="en-US" b="1" dirty="0">
                    <a:solidFill>
                      <a:schemeClr val="tx1"/>
                    </a:solidFill>
                  </a:rPr>
                  <a:t>６级，屈服极限：</a:t>
                </a:r>
                <a:endParaRPr lang="el-GR" altLang="zh-CN" b="1" baseline="-25000" dirty="0">
                  <a:solidFill>
                    <a:schemeClr val="tx1"/>
                  </a:solidFill>
                  <a:latin typeface="宋体" panose="02010600030101010101" pitchFamily="2" charset="-122"/>
                </a:endParaRPr>
              </a:p>
            </p:txBody>
          </p:sp>
        </p:grpSp>
        <p:sp>
          <p:nvSpPr>
            <p:cNvPr id="9229" name="Rectangle 27"/>
            <p:cNvSpPr>
              <a:spLocks noChangeArrowheads="1"/>
            </p:cNvSpPr>
            <p:nvPr/>
          </p:nvSpPr>
          <p:spPr bwMode="auto">
            <a:xfrm>
              <a:off x="409" y="1573"/>
              <a:ext cx="23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由</a:t>
              </a:r>
              <a:r>
                <a:rPr lang="zh-CN" altLang="en-US" b="1" dirty="0" smtClean="0">
                  <a:solidFill>
                    <a:schemeClr val="tx1"/>
                  </a:solidFill>
                </a:rPr>
                <a:t>表</a:t>
              </a:r>
              <a:r>
                <a:rPr lang="en-US" altLang="zh-CN" b="1" dirty="0" smtClean="0">
                  <a:solidFill>
                    <a:schemeClr val="tx1"/>
                  </a:solidFill>
                </a:rPr>
                <a:t>2.4</a:t>
              </a:r>
              <a:r>
                <a:rPr lang="en-US" altLang="zh-CN" b="1" dirty="0" smtClean="0">
                  <a:solidFill>
                    <a:schemeClr val="tx1"/>
                  </a:solidFill>
                </a:rPr>
                <a:t>-9</a:t>
              </a:r>
              <a:r>
                <a:rPr lang="zh-CN" altLang="en-US" b="1" dirty="0" smtClean="0">
                  <a:solidFill>
                    <a:schemeClr val="tx1"/>
                  </a:solidFill>
                </a:rPr>
                <a:t>取</a:t>
              </a:r>
              <a:r>
                <a:rPr lang="zh-CN" altLang="en-US" b="1" dirty="0">
                  <a:solidFill>
                    <a:schemeClr val="tx1"/>
                  </a:solidFill>
                </a:rPr>
                <a:t>安全系数：</a:t>
              </a:r>
              <a:r>
                <a:rPr lang="en-US" altLang="zh-CN" b="1" dirty="0">
                  <a:solidFill>
                    <a:schemeClr val="tx1"/>
                  </a:solidFill>
                </a:rPr>
                <a:t>S=1.5</a:t>
              </a:r>
              <a:endParaRPr lang="el-GR" altLang="zh-CN" b="1" dirty="0">
                <a:solidFill>
                  <a:schemeClr val="tx1"/>
                </a:solidFill>
              </a:endParaRPr>
            </a:p>
          </p:txBody>
        </p:sp>
        <p:grpSp>
          <p:nvGrpSpPr>
            <p:cNvPr id="9230" name="Group 34"/>
            <p:cNvGrpSpPr/>
            <p:nvPr/>
          </p:nvGrpSpPr>
          <p:grpSpPr bwMode="auto">
            <a:xfrm>
              <a:off x="422" y="1939"/>
              <a:ext cx="2877" cy="350"/>
              <a:chOff x="422" y="1835"/>
              <a:chExt cx="2877" cy="350"/>
            </a:xfrm>
          </p:grpSpPr>
          <p:graphicFrame>
            <p:nvGraphicFramePr>
              <p:cNvPr id="9219" name="Object 11"/>
              <p:cNvGraphicFramePr>
                <a:graphicFrameLocks noChangeAspect="1"/>
              </p:cNvGraphicFramePr>
              <p:nvPr/>
            </p:nvGraphicFramePr>
            <p:xfrm>
              <a:off x="1666" y="1835"/>
              <a:ext cx="1633" cy="350"/>
            </p:xfrm>
            <a:graphic>
              <a:graphicData uri="http://schemas.openxmlformats.org/presentationml/2006/ole">
                <mc:AlternateContent xmlns:mc="http://schemas.openxmlformats.org/markup-compatibility/2006">
                  <mc:Choice xmlns:v="urn:schemas-microsoft-com:vml" Requires="v">
                    <p:oleObj spid="_x0000_s46240" name="公式" r:id="rId7" imgW="1840865" imgH="393700" progId="Equation.3">
                      <p:embed/>
                    </p:oleObj>
                  </mc:Choice>
                  <mc:Fallback>
                    <p:oleObj name="公式" r:id="rId7" imgW="1840865" imgH="393700" progId="Equation.3">
                      <p:embed/>
                      <p:pic>
                        <p:nvPicPr>
                          <p:cNvPr id="0" name="图片 462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66" y="1835"/>
                            <a:ext cx="1633" cy="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1" name="Rectangle 28"/>
              <p:cNvSpPr>
                <a:spLocks noChangeArrowheads="1"/>
              </p:cNvSpPr>
              <p:nvPr/>
            </p:nvSpPr>
            <p:spPr bwMode="auto">
              <a:xfrm>
                <a:off x="422" y="1897"/>
                <a:ext cx="1064"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许用应力：</a:t>
                </a:r>
                <a:endParaRPr lang="zh-CN" altLang="en-US" b="1" dirty="0">
                  <a:solidFill>
                    <a:schemeClr val="tx1"/>
                  </a:solidFill>
                </a:endParaRPr>
              </a:p>
            </p:txBody>
          </p:sp>
        </p:grpSp>
      </p:grpSp>
      <p:sp>
        <p:nvSpPr>
          <p:cNvPr id="9226" name="Rectangle 19"/>
          <p:cNvSpPr>
            <a:spLocks noChangeArrowheads="1"/>
          </p:cNvSpPr>
          <p:nvPr/>
        </p:nvSpPr>
        <p:spPr bwMode="auto">
          <a:xfrm>
            <a:off x="453122" y="547072"/>
            <a:ext cx="3830119"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0000FF"/>
                </a:solidFill>
              </a:rPr>
              <a:t>三、确定螺栓直径</a:t>
            </a:r>
            <a:endParaRPr lang="zh-CN" altLang="en-US" b="1" dirty="0">
              <a:solidFill>
                <a:srgbClr val="0000FF"/>
              </a:solidFill>
            </a:endParaRPr>
          </a:p>
        </p:txBody>
      </p:sp>
      <p:graphicFrame>
        <p:nvGraphicFramePr>
          <p:cNvPr id="9218" name="Object 38"/>
          <p:cNvGraphicFramePr>
            <a:graphicFrameLocks noGrp="1" noChangeAspect="1"/>
          </p:cNvGraphicFramePr>
          <p:nvPr>
            <p:ph/>
          </p:nvPr>
        </p:nvGraphicFramePr>
        <p:xfrm>
          <a:off x="4194977" y="794469"/>
          <a:ext cx="2917069" cy="1197961"/>
        </p:xfrm>
        <a:graphic>
          <a:graphicData uri="http://schemas.openxmlformats.org/presentationml/2006/ole">
            <mc:AlternateContent xmlns:mc="http://schemas.openxmlformats.org/markup-compatibility/2006">
              <mc:Choice xmlns:v="urn:schemas-microsoft-com:vml" Requires="v">
                <p:oleObj spid="_x0000_s46241" name="公式" r:id="rId9" imgW="27432000" imgH="11277600" progId="Equation.3">
                  <p:embed/>
                </p:oleObj>
              </mc:Choice>
              <mc:Fallback>
                <p:oleObj name="公式" r:id="rId9" imgW="27432000" imgH="11277600" progId="Equation.3">
                  <p:embed/>
                  <p:pic>
                    <p:nvPicPr>
                      <p:cNvPr id="0" name="图片 46240"/>
                      <p:cNvPicPr>
                        <a:picLocks noChangeAspect="1" noChangeArrowheads="1"/>
                      </p:cNvPicPr>
                      <p:nvPr/>
                    </p:nvPicPr>
                    <p:blipFill>
                      <a:blip r:embed="rId10"/>
                      <a:srcRect/>
                      <a:stretch>
                        <a:fillRect/>
                      </a:stretch>
                    </p:blipFill>
                    <p:spPr bwMode="auto">
                      <a:xfrm>
                        <a:off x="4194977" y="794469"/>
                        <a:ext cx="2917069" cy="1197961"/>
                      </a:xfrm>
                      <a:prstGeom prst="rect">
                        <a:avLst/>
                      </a:prstGeom>
                      <a:noFill/>
                      <a:ln>
                        <a:noFill/>
                      </a:ln>
                    </p:spPr>
                  </p:pic>
                </p:oleObj>
              </mc:Fallback>
            </mc:AlternateContent>
          </a:graphicData>
        </a:graphic>
      </p:graphicFrame>
      <p:sp>
        <p:nvSpPr>
          <p:cNvPr id="9227" name="Rectangle 44"/>
          <p:cNvSpPr>
            <a:spLocks noChangeArrowheads="1"/>
          </p:cNvSpPr>
          <p:nvPr/>
        </p:nvSpPr>
        <p:spPr bwMode="auto">
          <a:xfrm>
            <a:off x="736316" y="1132960"/>
            <a:ext cx="3700929"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按最大</a:t>
            </a:r>
            <a:r>
              <a:rPr lang="zh-CN" altLang="en-US" b="1" dirty="0" smtClean="0">
                <a:solidFill>
                  <a:schemeClr val="tx1"/>
                </a:solidFill>
              </a:rPr>
              <a:t>静载荷</a:t>
            </a:r>
            <a:r>
              <a:rPr lang="en-US" altLang="zh-CN" b="1" dirty="0" smtClean="0">
                <a:solidFill>
                  <a:schemeClr val="tx1"/>
                </a:solidFill>
              </a:rPr>
              <a:t>F</a:t>
            </a:r>
            <a:r>
              <a:rPr lang="zh-CN" altLang="en-US" b="1" dirty="0" smtClean="0">
                <a:solidFill>
                  <a:schemeClr val="tx1"/>
                </a:solidFill>
              </a:rPr>
              <a:t>计算</a:t>
            </a:r>
            <a:r>
              <a:rPr lang="zh-CN" altLang="en-US" b="1" dirty="0">
                <a:solidFill>
                  <a:schemeClr val="tx1"/>
                </a:solidFill>
              </a:rPr>
              <a:t>直径</a:t>
            </a:r>
            <a:endParaRPr lang="zh-CN" altLang="en-US" dirty="0">
              <a:solidFill>
                <a:schemeClr val="tx1"/>
              </a:solidFill>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7"/>
          <p:cNvSpPr>
            <a:spLocks noChangeArrowheads="1"/>
          </p:cNvSpPr>
          <p:nvPr/>
        </p:nvSpPr>
        <p:spPr bwMode="auto">
          <a:xfrm>
            <a:off x="433873" y="621116"/>
            <a:ext cx="5168030"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0000FF"/>
                </a:solidFill>
              </a:rPr>
              <a:t>四、校核螺栓组联接的工作能力</a:t>
            </a:r>
            <a:endParaRPr lang="zh-CN" altLang="en-US" b="1" dirty="0">
              <a:solidFill>
                <a:srgbClr val="0000FF"/>
              </a:solidFill>
            </a:endParaRPr>
          </a:p>
        </p:txBody>
      </p:sp>
      <mc:AlternateContent xmlns:mc="http://schemas.openxmlformats.org/markup-compatibility/2006">
        <mc:Choice xmlns:a14="http://schemas.microsoft.com/office/drawing/2010/main" Requires="a14">
          <p:sp>
            <p:nvSpPr>
              <p:cNvPr id="10245" name="Rectangle 8"/>
              <p:cNvSpPr>
                <a:spLocks noChangeArrowheads="1"/>
              </p:cNvSpPr>
              <p:nvPr/>
            </p:nvSpPr>
            <p:spPr bwMode="auto">
              <a:xfrm>
                <a:off x="298953" y="1031494"/>
                <a:ext cx="4224921" cy="2802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indent="266700"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smtClean="0">
                    <a:solidFill>
                      <a:srgbClr val="FF0000"/>
                    </a:solidFill>
                    <a:latin typeface="宋体" panose="02010600030101010101" pitchFamily="2" charset="-122"/>
                    <a:cs typeface="Times New Roman" panose="02020603050405020304" pitchFamily="18" charset="0"/>
                  </a:rPr>
                  <a:t>1</a:t>
                </a:r>
                <a:r>
                  <a:rPr lang="zh-CN" altLang="en-US" b="1" dirty="0">
                    <a:solidFill>
                      <a:srgbClr val="FF0000"/>
                    </a:solidFill>
                    <a:latin typeface="宋体" panose="02010600030101010101" pitchFamily="2" charset="-122"/>
                    <a:cs typeface="Times New Roman" panose="02020603050405020304" pitchFamily="18" charset="0"/>
                  </a:rPr>
                  <a:t>、分析</a:t>
                </a:r>
                <a:endParaRPr lang="zh-CN" altLang="en-US" b="1" dirty="0">
                  <a:solidFill>
                    <a:srgbClr val="FF0000"/>
                  </a:solidFill>
                  <a:latin typeface="宋体" panose="02010600030101010101" pitchFamily="2" charset="-122"/>
                  <a:cs typeface="Times New Roman" panose="02020603050405020304" pitchFamily="18" charset="0"/>
                </a:endParaRPr>
              </a:p>
              <a:p>
                <a:pPr algn="l" eaLnBrk="1" hangingPunct="1"/>
                <a:r>
                  <a:rPr lang="en-US" altLang="zh-CN" b="1" dirty="0">
                    <a:solidFill>
                      <a:schemeClr val="tx1"/>
                    </a:solidFill>
                    <a:latin typeface="宋体" panose="02010600030101010101" pitchFamily="2" charset="-122"/>
                    <a:cs typeface="Times New Roman" panose="02020603050405020304" pitchFamily="18" charset="0"/>
                  </a:rPr>
                  <a:t>(1) </a:t>
                </a:r>
                <a14:m>
                  <m:oMath xmlns:m="http://schemas.openxmlformats.org/officeDocument/2006/math">
                    <m:sSub>
                      <m:sSubPr>
                        <m:ctrlPr>
                          <a:rPr lang="en-US" altLang="zh-CN" b="1" i="1" smtClean="0">
                            <a:solidFill>
                              <a:schemeClr val="tx1"/>
                            </a:solidFill>
                            <a:latin typeface="Cambria Math" panose="02040503050406030204" pitchFamily="18" charset="0"/>
                            <a:cs typeface="Times New Roman" panose="02020603050405020304" pitchFamily="18" charset="0"/>
                          </a:rPr>
                        </m:ctrlPr>
                      </m:sSubPr>
                      <m:e>
                        <m:r>
                          <a:rPr lang="en-US" altLang="zh-CN" b="1" i="1" smtClean="0">
                            <a:solidFill>
                              <a:schemeClr val="tx1"/>
                            </a:solidFill>
                            <a:latin typeface="Cambria Math" panose="02040503050406030204" pitchFamily="18" charset="0"/>
                            <a:cs typeface="Times New Roman" panose="02020603050405020304" pitchFamily="18" charset="0"/>
                          </a:rPr>
                          <m:t>𝑭</m:t>
                        </m:r>
                      </m:e>
                      <m:sub>
                        <m:r>
                          <a:rPr lang="zh-CN" altLang="en-US" b="1" i="1" smtClean="0">
                            <a:solidFill>
                              <a:schemeClr val="tx1"/>
                            </a:solidFill>
                            <a:latin typeface="Cambria Math" panose="02040503050406030204" pitchFamily="18" charset="0"/>
                            <a:cs typeface="Times New Roman" panose="02020603050405020304" pitchFamily="18" charset="0"/>
                          </a:rPr>
                          <m:t>𝚺</m:t>
                        </m:r>
                        <m:r>
                          <a:rPr lang="en-US" altLang="zh-CN" b="1" i="1" smtClean="0">
                            <a:solidFill>
                              <a:schemeClr val="tx1"/>
                            </a:solidFill>
                            <a:latin typeface="Cambria Math" panose="02040503050406030204" pitchFamily="18" charset="0"/>
                            <a:cs typeface="Times New Roman" panose="02020603050405020304" pitchFamily="18" charset="0"/>
                          </a:rPr>
                          <m:t>𝒗</m:t>
                        </m:r>
                      </m:sub>
                    </m:sSub>
                  </m:oMath>
                </a14:m>
                <a:r>
                  <a:rPr lang="zh-CN" altLang="en-US" b="1" dirty="0" smtClean="0">
                    <a:solidFill>
                      <a:schemeClr val="tx1"/>
                    </a:solidFill>
                    <a:latin typeface="宋体" panose="02010600030101010101" pitchFamily="2" charset="-122"/>
                    <a:cs typeface="Times New Roman" panose="02020603050405020304" pitchFamily="18" charset="0"/>
                  </a:rPr>
                  <a:t>不</a:t>
                </a:r>
                <a:r>
                  <a:rPr lang="zh-CN" altLang="en-US" b="1" dirty="0">
                    <a:solidFill>
                      <a:schemeClr val="tx1"/>
                    </a:solidFill>
                    <a:latin typeface="宋体" panose="02010600030101010101" pitchFamily="2" charset="-122"/>
                    <a:cs typeface="Times New Roman" panose="02020603050405020304" pitchFamily="18" charset="0"/>
                  </a:rPr>
                  <a:t>影响结合面总压力</a:t>
                </a:r>
                <a:r>
                  <a:rPr lang="en-US" altLang="zh-CN" b="1" dirty="0">
                    <a:solidFill>
                      <a:schemeClr val="tx1"/>
                    </a:solidFill>
                    <a:latin typeface="宋体" panose="02010600030101010101" pitchFamily="2" charset="-122"/>
                    <a:cs typeface="Times New Roman" panose="02020603050405020304" pitchFamily="18" charset="0"/>
                  </a:rPr>
                  <a:t>; </a:t>
                </a:r>
                <a14:m>
                  <m:oMath xmlns:m="http://schemas.openxmlformats.org/officeDocument/2006/math">
                    <m:sSub>
                      <m:sSubPr>
                        <m:ctrlPr>
                          <a:rPr lang="en-US" altLang="zh-CN" b="1" i="1" dirty="0" smtClean="0">
                            <a:solidFill>
                              <a:schemeClr val="tx1"/>
                            </a:solidFill>
                            <a:latin typeface="Cambria Math" panose="02040503050406030204" pitchFamily="18" charset="0"/>
                            <a:cs typeface="Times New Roman" panose="02020603050405020304" pitchFamily="18" charset="0"/>
                          </a:rPr>
                        </m:ctrlPr>
                      </m:sSubPr>
                      <m:e>
                        <m:r>
                          <a:rPr lang="en-US" altLang="zh-CN" b="1" i="1" dirty="0" smtClean="0">
                            <a:solidFill>
                              <a:schemeClr val="tx1"/>
                            </a:solidFill>
                            <a:latin typeface="Cambria Math" panose="02040503050406030204" pitchFamily="18" charset="0"/>
                            <a:cs typeface="Times New Roman" panose="02020603050405020304" pitchFamily="18" charset="0"/>
                          </a:rPr>
                          <m:t>𝑭</m:t>
                        </m:r>
                      </m:e>
                      <m:sub>
                        <m:r>
                          <a:rPr lang="en-US" altLang="zh-CN" b="1" i="1" dirty="0" smtClean="0">
                            <a:solidFill>
                              <a:schemeClr val="tx1"/>
                            </a:solidFill>
                            <a:latin typeface="Cambria Math" panose="02040503050406030204" pitchFamily="18" charset="0"/>
                            <a:cs typeface="Times New Roman" panose="02020603050405020304" pitchFamily="18" charset="0"/>
                          </a:rPr>
                          <m:t>𝟎</m:t>
                        </m:r>
                      </m:sub>
                    </m:sSub>
                  </m:oMath>
                </a14:m>
                <a:r>
                  <a:rPr lang="en-US" altLang="zh-CN" b="1" dirty="0" smtClean="0">
                    <a:solidFill>
                      <a:schemeClr val="tx1"/>
                    </a:solidFill>
                    <a:latin typeface="宋体" panose="02010600030101010101" pitchFamily="2" charset="-122"/>
                    <a:cs typeface="Times New Roman" panose="02020603050405020304" pitchFamily="18" charset="0"/>
                  </a:rPr>
                  <a:t>—</a:t>
                </a:r>
                <a:r>
                  <a:rPr lang="zh-CN" altLang="en-US" b="1" dirty="0">
                    <a:solidFill>
                      <a:schemeClr val="tx1"/>
                    </a:solidFill>
                    <a:latin typeface="宋体" panose="02010600030101010101" pitchFamily="2" charset="-122"/>
                    <a:cs typeface="Times New Roman" panose="02020603050405020304" pitchFamily="18" charset="0"/>
                  </a:rPr>
                  <a:t>保证不滑移；</a:t>
                </a:r>
                <a:endParaRPr lang="zh-CN" altLang="en-US" b="1" baseline="-25000" dirty="0">
                  <a:solidFill>
                    <a:schemeClr val="tx1"/>
                  </a:solidFill>
                  <a:latin typeface="宋体" panose="02010600030101010101" pitchFamily="2" charset="-122"/>
                  <a:cs typeface="Times New Roman" panose="02020603050405020304" pitchFamily="18" charset="0"/>
                </a:endParaRPr>
              </a:p>
              <a:p>
                <a:pPr algn="l" eaLnBrk="1" hangingPunct="1"/>
                <a:r>
                  <a:rPr lang="en-US" altLang="zh-CN" b="1" dirty="0">
                    <a:solidFill>
                      <a:schemeClr val="tx1"/>
                    </a:solidFill>
                  </a:rPr>
                  <a:t>(2) F</a:t>
                </a:r>
                <a:r>
                  <a:rPr lang="el-GR" altLang="zh-CN" b="1" baseline="-25000" dirty="0" smtClean="0">
                    <a:solidFill>
                      <a:schemeClr val="tx1"/>
                    </a:solidFill>
                  </a:rPr>
                  <a:t>Σ</a:t>
                </a:r>
                <a:r>
                  <a:rPr lang="en-US" altLang="zh-CN" b="1" baseline="-25000" dirty="0" smtClean="0">
                    <a:solidFill>
                      <a:schemeClr val="tx1"/>
                    </a:solidFill>
                  </a:rPr>
                  <a:t>h</a:t>
                </a:r>
                <a:r>
                  <a:rPr lang="zh-CN" altLang="en-US" b="1" dirty="0" smtClean="0">
                    <a:solidFill>
                      <a:schemeClr val="tx1"/>
                    </a:solidFill>
                  </a:rPr>
                  <a:t>使</a:t>
                </a:r>
                <a:r>
                  <a:rPr lang="zh-CN" altLang="en-US" b="1" dirty="0">
                    <a:solidFill>
                      <a:schemeClr val="tx1"/>
                    </a:solidFill>
                  </a:rPr>
                  <a:t>接合面的压力减小</a:t>
                </a:r>
                <a:r>
                  <a:rPr lang="en-US" altLang="zh-CN" b="1" dirty="0">
                    <a:solidFill>
                      <a:schemeClr val="tx1"/>
                    </a:solidFill>
                  </a:rPr>
                  <a:t>;</a:t>
                </a:r>
                <a:endParaRPr lang="en-US" altLang="zh-CN" dirty="0">
                  <a:solidFill>
                    <a:schemeClr val="tx1"/>
                  </a:solidFill>
                  <a:latin typeface="宋体" panose="02010600030101010101" pitchFamily="2" charset="-122"/>
                </a:endParaRPr>
              </a:p>
              <a:p>
                <a:pPr algn="l"/>
                <a:r>
                  <a:rPr lang="en-US" altLang="zh-CN" b="1" dirty="0">
                    <a:solidFill>
                      <a:schemeClr val="tx1"/>
                    </a:solidFill>
                    <a:latin typeface="宋体" panose="02010600030101010101" pitchFamily="2" charset="-122"/>
                    <a:cs typeface="Times New Roman" panose="02020603050405020304" pitchFamily="18" charset="0"/>
                  </a:rPr>
                  <a:t>(3) </a:t>
                </a:r>
                <a:r>
                  <a:rPr lang="zh-CN" altLang="en-US" b="1" dirty="0">
                    <a:solidFill>
                      <a:schemeClr val="tx1"/>
                    </a:solidFill>
                  </a:rPr>
                  <a:t>Ｍ不影响结合面总压力，但改变压力分布，</a:t>
                </a:r>
                <a:endParaRPr lang="zh-CN" altLang="en-US" b="1" dirty="0">
                  <a:solidFill>
                    <a:schemeClr val="tx1"/>
                  </a:solidFill>
                </a:endParaRPr>
              </a:p>
              <a:p>
                <a:pPr algn="l"/>
                <a:r>
                  <a:rPr lang="zh-CN" altLang="en-US" b="1" dirty="0">
                    <a:solidFill>
                      <a:schemeClr val="tx1"/>
                    </a:solidFill>
                  </a:rPr>
                  <a:t>      下侧压力增加，上侧压力减小</a:t>
                </a:r>
                <a:r>
                  <a:rPr lang="en-US" altLang="zh-CN" b="1" dirty="0">
                    <a:solidFill>
                      <a:schemeClr val="tx1"/>
                    </a:solidFill>
                  </a:rPr>
                  <a:t>;</a:t>
                </a:r>
                <a:endParaRPr lang="en-US" altLang="zh-CN" b="1" dirty="0">
                  <a:solidFill>
                    <a:schemeClr val="tx1"/>
                  </a:solidFill>
                  <a:latin typeface="宋体" panose="02010600030101010101" pitchFamily="2" charset="-122"/>
                  <a:cs typeface="Times New Roman" panose="02020603050405020304" pitchFamily="18" charset="0"/>
                </a:endParaRPr>
              </a:p>
            </p:txBody>
          </p:sp>
        </mc:Choice>
        <mc:Fallback>
          <p:sp>
            <p:nvSpPr>
              <p:cNvPr id="10245" name="Rectangle 8"/>
              <p:cNvSpPr>
                <a:spLocks noRot="1" noChangeAspect="1" noMove="1" noResize="1" noEditPoints="1" noAdjustHandles="1" noChangeArrowheads="1" noChangeShapeType="1" noTextEdit="1"/>
              </p:cNvSpPr>
              <p:nvPr/>
            </p:nvSpPr>
            <p:spPr bwMode="auto">
              <a:xfrm>
                <a:off x="298953" y="1031494"/>
                <a:ext cx="4224921" cy="2802948"/>
              </a:xfrm>
              <a:prstGeom prst="rect">
                <a:avLst/>
              </a:prstGeom>
              <a:blipFill rotWithShape="1">
                <a:blip r:embed="rId1"/>
                <a:stretch>
                  <a:fillRect l="-12" t="-9" r="3" b="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2" name="Group 31"/>
          <p:cNvGrpSpPr/>
          <p:nvPr/>
        </p:nvGrpSpPr>
        <p:grpSpPr bwMode="auto">
          <a:xfrm>
            <a:off x="752060" y="4795514"/>
            <a:ext cx="6207123" cy="555624"/>
            <a:chOff x="295" y="1551"/>
            <a:chExt cx="3910" cy="350"/>
          </a:xfrm>
        </p:grpSpPr>
        <p:graphicFrame>
          <p:nvGraphicFramePr>
            <p:cNvPr id="10243" name="Object 22"/>
            <p:cNvGraphicFramePr>
              <a:graphicFrameLocks noChangeAspect="1"/>
            </p:cNvGraphicFramePr>
            <p:nvPr/>
          </p:nvGraphicFramePr>
          <p:xfrm>
            <a:off x="2847" y="1579"/>
            <a:ext cx="1358" cy="322"/>
          </p:xfrm>
          <a:graphic>
            <a:graphicData uri="http://schemas.openxmlformats.org/presentationml/2006/ole">
              <mc:AlternateContent xmlns:mc="http://schemas.openxmlformats.org/markup-compatibility/2006">
                <mc:Choice xmlns:v="urn:schemas-microsoft-com:vml" Requires="v">
                  <p:oleObj spid="_x0000_s47170" name="公式" r:id="rId2" imgW="800100" imgH="241300" progId="Equation.3">
                    <p:embed/>
                  </p:oleObj>
                </mc:Choice>
                <mc:Fallback>
                  <p:oleObj name="公式" r:id="rId2" imgW="800100" imgH="241300" progId="Equation.3">
                    <p:embed/>
                    <p:pic>
                      <p:nvPicPr>
                        <p:cNvPr id="0" name="图片 47169"/>
                        <p:cNvPicPr>
                          <a:picLocks noChangeAspect="1" noChangeArrowheads="1"/>
                        </p:cNvPicPr>
                        <p:nvPr/>
                      </p:nvPicPr>
                      <p:blipFill>
                        <a:blip r:embed="rId3"/>
                        <a:srcRect/>
                        <a:stretch>
                          <a:fillRect/>
                        </a:stretch>
                      </p:blipFill>
                      <p:spPr bwMode="auto">
                        <a:xfrm>
                          <a:off x="2847" y="1579"/>
                          <a:ext cx="1358" cy="322"/>
                        </a:xfrm>
                        <a:prstGeom prst="rect">
                          <a:avLst/>
                        </a:prstGeom>
                        <a:noFill/>
                      </p:spPr>
                    </p:pic>
                  </p:oleObj>
                </mc:Fallback>
              </mc:AlternateContent>
            </a:graphicData>
          </a:graphic>
        </p:graphicFrame>
        <p:sp>
          <p:nvSpPr>
            <p:cNvPr id="10250" name="Rectangle 23"/>
            <p:cNvSpPr>
              <a:spLocks noChangeArrowheads="1"/>
            </p:cNvSpPr>
            <p:nvPr/>
          </p:nvSpPr>
          <p:spPr bwMode="auto">
            <a:xfrm>
              <a:off x="295" y="1551"/>
              <a:ext cx="2349"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chemeClr val="tx1"/>
                  </a:solidFill>
                  <a:latin typeface="宋体" panose="02010600030101010101" pitchFamily="2" charset="-122"/>
                  <a:cs typeface="Times New Roman" panose="02020603050405020304" pitchFamily="18" charset="0"/>
                </a:rPr>
                <a:t>2</a:t>
              </a:r>
              <a:r>
                <a:rPr lang="zh-CN" altLang="en-US" b="1" dirty="0">
                  <a:solidFill>
                    <a:srgbClr val="FF0000"/>
                  </a:solidFill>
                  <a:latin typeface="宋体" panose="02010600030101010101" pitchFamily="2" charset="-122"/>
                  <a:cs typeface="Times New Roman" panose="02020603050405020304" pitchFamily="18" charset="0"/>
                </a:rPr>
                <a:t>、结合面下侧边缘处不压溃</a:t>
              </a:r>
              <a:endParaRPr lang="zh-CN" altLang="en-US" dirty="0">
                <a:solidFill>
                  <a:srgbClr val="FF0000"/>
                </a:solidFill>
                <a:latin typeface="宋体" panose="02010600030101010101" pitchFamily="2" charset="-122"/>
              </a:endParaRPr>
            </a:p>
          </p:txBody>
        </p:sp>
      </p:grpSp>
      <p:graphicFrame>
        <p:nvGraphicFramePr>
          <p:cNvPr id="328732" name="Object 28"/>
          <p:cNvGraphicFramePr>
            <a:graphicFrameLocks noGrp="1" noChangeAspect="1"/>
          </p:cNvGraphicFramePr>
          <p:nvPr>
            <p:ph sz="half" idx="2"/>
          </p:nvPr>
        </p:nvGraphicFramePr>
        <p:xfrm>
          <a:off x="1241425" y="5351145"/>
          <a:ext cx="3875405" cy="1180465"/>
        </p:xfrm>
        <a:graphic>
          <a:graphicData uri="http://schemas.openxmlformats.org/presentationml/2006/ole">
            <mc:AlternateContent xmlns:mc="http://schemas.openxmlformats.org/markup-compatibility/2006">
              <mc:Choice xmlns:v="urn:schemas-microsoft-com:vml" Requires="v">
                <p:oleObj spid="_x0000_s47171" name="公式" r:id="rId4" imgW="2159000" imgH="660400" progId="Equation.3">
                  <p:embed/>
                </p:oleObj>
              </mc:Choice>
              <mc:Fallback>
                <p:oleObj name="公式" r:id="rId4" imgW="2159000" imgH="660400" progId="Equation.3">
                  <p:embed/>
                  <p:pic>
                    <p:nvPicPr>
                      <p:cNvPr id="0" name="图片 47170"/>
                      <p:cNvPicPr>
                        <a:picLocks noChangeAspect="1" noChangeArrowheads="1"/>
                      </p:cNvPicPr>
                      <p:nvPr/>
                    </p:nvPicPr>
                    <p:blipFill>
                      <a:blip r:embed="rId5"/>
                      <a:srcRect/>
                      <a:stretch>
                        <a:fillRect/>
                      </a:stretch>
                    </p:blipFill>
                    <p:spPr bwMode="auto">
                      <a:xfrm>
                        <a:off x="1241425" y="5351145"/>
                        <a:ext cx="3875405" cy="1180465"/>
                      </a:xfrm>
                      <a:prstGeom prst="rect">
                        <a:avLst/>
                      </a:prstGeom>
                      <a:noFill/>
                      <a:ln>
                        <a:noFill/>
                      </a:ln>
                      <a:effectLst/>
                    </p:spPr>
                  </p:pic>
                </p:oleObj>
              </mc:Fallback>
            </mc:AlternateContent>
          </a:graphicData>
        </a:graphic>
      </p:graphicFrame>
      <p:sp>
        <p:nvSpPr>
          <p:cNvPr id="10247" name="Rectangle 34"/>
          <p:cNvSpPr>
            <a:spLocks noChangeArrowheads="1"/>
          </p:cNvSpPr>
          <p:nvPr/>
        </p:nvSpPr>
        <p:spPr bwMode="auto">
          <a:xfrm>
            <a:off x="789272" y="3824731"/>
            <a:ext cx="4464050"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indent="266700"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a:r>
              <a:rPr lang="en-US" altLang="zh-CN" b="1" dirty="0">
                <a:solidFill>
                  <a:schemeClr val="tx1"/>
                </a:solidFill>
              </a:rPr>
              <a:t> </a:t>
            </a:r>
            <a:r>
              <a:rPr lang="zh-CN" altLang="en-US" b="1" dirty="0">
                <a:solidFill>
                  <a:schemeClr val="tx1"/>
                </a:solidFill>
              </a:rPr>
              <a:t>失效形式：</a:t>
            </a:r>
            <a:r>
              <a:rPr lang="zh-CN" altLang="en-US" b="1" dirty="0" smtClean="0">
                <a:solidFill>
                  <a:schemeClr val="tx1"/>
                </a:solidFill>
              </a:rPr>
              <a:t>下端边缘</a:t>
            </a:r>
            <a:r>
              <a:rPr lang="en-US" altLang="zh-CN" b="1" dirty="0">
                <a:solidFill>
                  <a:schemeClr val="tx1"/>
                </a:solidFill>
              </a:rPr>
              <a:t>—</a:t>
            </a:r>
            <a:r>
              <a:rPr lang="zh-CN" altLang="en-US" b="1" dirty="0">
                <a:solidFill>
                  <a:schemeClr val="tx1"/>
                </a:solidFill>
              </a:rPr>
              <a:t>压溃，</a:t>
            </a:r>
            <a:endParaRPr lang="zh-CN" altLang="en-US" b="1" dirty="0">
              <a:solidFill>
                <a:schemeClr val="tx1"/>
              </a:solidFill>
            </a:endParaRPr>
          </a:p>
          <a:p>
            <a:pPr algn="l"/>
            <a:r>
              <a:rPr lang="zh-CN" altLang="en-US" b="1" dirty="0">
                <a:solidFill>
                  <a:schemeClr val="tx1"/>
                </a:solidFill>
              </a:rPr>
              <a:t>                     </a:t>
            </a:r>
            <a:r>
              <a:rPr lang="zh-CN" altLang="en-US" b="1" dirty="0" smtClean="0">
                <a:solidFill>
                  <a:schemeClr val="tx1"/>
                </a:solidFill>
              </a:rPr>
              <a:t>上端边缘</a:t>
            </a:r>
            <a:r>
              <a:rPr lang="en-US" altLang="zh-CN" b="1" dirty="0">
                <a:solidFill>
                  <a:schemeClr val="tx1"/>
                </a:solidFill>
              </a:rPr>
              <a:t>—</a:t>
            </a:r>
            <a:r>
              <a:rPr lang="zh-CN" altLang="en-US" b="1" dirty="0">
                <a:solidFill>
                  <a:schemeClr val="tx1"/>
                </a:solidFill>
              </a:rPr>
              <a:t>离缝</a:t>
            </a:r>
            <a:r>
              <a:rPr lang="en-US" altLang="zh-CN" b="1" dirty="0">
                <a:solidFill>
                  <a:schemeClr val="tx1"/>
                </a:solidFill>
              </a:rPr>
              <a:t>;</a:t>
            </a:r>
            <a:endParaRPr lang="en-US" altLang="zh-CN" b="1" dirty="0">
              <a:solidFill>
                <a:schemeClr val="tx1"/>
              </a:solidFill>
              <a:latin typeface="宋体" panose="02010600030101010101" pitchFamily="2" charset="-122"/>
              <a:cs typeface="Times New Roman" panose="02020603050405020304" pitchFamily="18" charset="0"/>
            </a:endParaRPr>
          </a:p>
        </p:txBody>
      </p:sp>
      <p:grpSp>
        <p:nvGrpSpPr>
          <p:cNvPr id="3" name="组合 2"/>
          <p:cNvGrpSpPr/>
          <p:nvPr/>
        </p:nvGrpSpPr>
        <p:grpSpPr>
          <a:xfrm>
            <a:off x="4600876" y="481079"/>
            <a:ext cx="4543124" cy="3283189"/>
            <a:chOff x="4514248" y="558080"/>
            <a:chExt cx="4543124" cy="3283189"/>
          </a:xfrm>
        </p:grpSpPr>
        <p:pic>
          <p:nvPicPr>
            <p:cNvPr id="11" name="图片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14248" y="558080"/>
              <a:ext cx="4543124" cy="3283189"/>
            </a:xfrm>
            <a:prstGeom prst="rect">
              <a:avLst/>
            </a:prstGeom>
          </p:spPr>
        </p:pic>
        <p:cxnSp>
          <p:nvCxnSpPr>
            <p:cNvPr id="12" name="直接箭头连接符 11"/>
            <p:cNvCxnSpPr/>
            <p:nvPr/>
          </p:nvCxnSpPr>
          <p:spPr bwMode="auto">
            <a:xfrm>
              <a:off x="6882063" y="1944303"/>
              <a:ext cx="798897"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13" name="直接箭头连接符 12"/>
            <p:cNvCxnSpPr/>
            <p:nvPr/>
          </p:nvCxnSpPr>
          <p:spPr bwMode="auto">
            <a:xfrm flipH="1">
              <a:off x="6872437" y="1963554"/>
              <a:ext cx="19251" cy="712269"/>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14" name="右弧形箭头 13"/>
            <p:cNvSpPr/>
            <p:nvPr/>
          </p:nvSpPr>
          <p:spPr bwMode="auto">
            <a:xfrm>
              <a:off x="6959065" y="1530416"/>
              <a:ext cx="404261" cy="943276"/>
            </a:xfrm>
            <a:prstGeom prst="curvedLeftArrow">
              <a:avLst/>
            </a:prstGeom>
            <a:solidFill>
              <a:srgbClr val="00B0F0"/>
            </a:solidFill>
            <a:ln w="952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328732"/>
                                        </p:tgtEl>
                                        <p:attrNameLst>
                                          <p:attrName>style.visibility</p:attrName>
                                        </p:attrNameLst>
                                      </p:cBhvr>
                                      <p:to>
                                        <p:strVal val="visible"/>
                                      </p:to>
                                    </p:set>
                                    <p:animEffect transition="in" filter="wipe(up)">
                                      <p:cBhvr>
                                        <p:cTn id="11" dur="1000"/>
                                        <p:tgtEl>
                                          <p:spTgt spid="328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3"/>
          <p:cNvSpPr>
            <a:spLocks noChangeArrowheads="1"/>
          </p:cNvSpPr>
          <p:nvPr/>
        </p:nvSpPr>
        <p:spPr bwMode="auto">
          <a:xfrm>
            <a:off x="0" y="2430623"/>
            <a:ext cx="181822"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1266" name="Object 4"/>
          <p:cNvGraphicFramePr>
            <a:graphicFrameLocks noGrp="1" noChangeAspect="1"/>
          </p:cNvGraphicFramePr>
          <p:nvPr>
            <p:ph sz="half" idx="1"/>
          </p:nvPr>
        </p:nvGraphicFramePr>
        <p:xfrm>
          <a:off x="934085" y="2863850"/>
          <a:ext cx="5996305" cy="868045"/>
        </p:xfrm>
        <a:graphic>
          <a:graphicData uri="http://schemas.openxmlformats.org/presentationml/2006/ole">
            <mc:AlternateContent xmlns:mc="http://schemas.openxmlformats.org/markup-compatibility/2006">
              <mc:Choice xmlns:v="urn:schemas-microsoft-com:vml" Requires="v">
                <p:oleObj spid="_x0000_s48250" name="公式" r:id="rId1" imgW="3302000" imgH="482600" progId="Equation.3">
                  <p:embed/>
                </p:oleObj>
              </mc:Choice>
              <mc:Fallback>
                <p:oleObj name="公式" r:id="rId1" imgW="3302000" imgH="482600" progId="Equation.3">
                  <p:embed/>
                  <p:pic>
                    <p:nvPicPr>
                      <p:cNvPr id="0" name="图片 48249"/>
                      <p:cNvPicPr>
                        <a:picLocks noChangeAspect="1" noChangeArrowheads="1"/>
                      </p:cNvPicPr>
                      <p:nvPr/>
                    </p:nvPicPr>
                    <p:blipFill>
                      <a:blip r:embed="rId2"/>
                      <a:srcRect/>
                      <a:stretch>
                        <a:fillRect/>
                      </a:stretch>
                    </p:blipFill>
                    <p:spPr bwMode="auto">
                      <a:xfrm>
                        <a:off x="934085" y="2863850"/>
                        <a:ext cx="5996305" cy="868045"/>
                      </a:xfrm>
                      <a:prstGeom prst="rect">
                        <a:avLst/>
                      </a:prstGeom>
                      <a:noFill/>
                      <a:ln>
                        <a:noFill/>
                      </a:ln>
                      <a:effectLst/>
                    </p:spPr>
                  </p:pic>
                </p:oleObj>
              </mc:Fallback>
            </mc:AlternateContent>
          </a:graphicData>
        </a:graphic>
      </p:graphicFrame>
      <p:graphicFrame>
        <p:nvGraphicFramePr>
          <p:cNvPr id="11267" name="Object 13"/>
          <p:cNvGraphicFramePr>
            <a:graphicFrameLocks noChangeAspect="1"/>
          </p:cNvGraphicFramePr>
          <p:nvPr/>
        </p:nvGraphicFramePr>
        <p:xfrm>
          <a:off x="1541463" y="4337050"/>
          <a:ext cx="4849495" cy="2201545"/>
        </p:xfrm>
        <a:graphic>
          <a:graphicData uri="http://schemas.openxmlformats.org/presentationml/2006/ole">
            <mc:AlternateContent xmlns:mc="http://schemas.openxmlformats.org/markup-compatibility/2006">
              <mc:Choice xmlns:v="urn:schemas-microsoft-com:vml" Requires="v">
                <p:oleObj spid="_x0000_s48251" name="公式" r:id="rId3" imgW="3073400" imgH="1320165" progId="Equation.3">
                  <p:embed/>
                </p:oleObj>
              </mc:Choice>
              <mc:Fallback>
                <p:oleObj name="公式" r:id="rId3" imgW="3073400" imgH="1320165" progId="Equation.3">
                  <p:embed/>
                  <p:pic>
                    <p:nvPicPr>
                      <p:cNvPr id="0" name="图片 48250"/>
                      <p:cNvPicPr>
                        <a:picLocks noChangeAspect="1" noChangeArrowheads="1"/>
                      </p:cNvPicPr>
                      <p:nvPr/>
                    </p:nvPicPr>
                    <p:blipFill>
                      <a:blip r:embed="rId4"/>
                      <a:srcRect/>
                      <a:stretch>
                        <a:fillRect/>
                      </a:stretch>
                    </p:blipFill>
                    <p:spPr bwMode="auto">
                      <a:xfrm>
                        <a:off x="1541463" y="4337050"/>
                        <a:ext cx="4849495" cy="2201545"/>
                      </a:xfrm>
                      <a:prstGeom prst="rect">
                        <a:avLst/>
                      </a:prstGeom>
                      <a:noFill/>
                      <a:ln>
                        <a:noFill/>
                      </a:ln>
                    </p:spPr>
                  </p:pic>
                </p:oleObj>
              </mc:Fallback>
            </mc:AlternateContent>
          </a:graphicData>
        </a:graphic>
      </p:graphicFrame>
      <p:sp>
        <p:nvSpPr>
          <p:cNvPr id="11271" name="Rectangle 17"/>
          <p:cNvSpPr>
            <a:spLocks noChangeArrowheads="1"/>
          </p:cNvSpPr>
          <p:nvPr/>
        </p:nvSpPr>
        <p:spPr bwMode="auto">
          <a:xfrm>
            <a:off x="449064" y="3858981"/>
            <a:ext cx="4437731"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结合面</a:t>
            </a:r>
            <a:r>
              <a:rPr lang="zh-CN" altLang="en-US" b="1" dirty="0" smtClean="0">
                <a:solidFill>
                  <a:schemeClr val="tx1"/>
                </a:solidFill>
                <a:latin typeface="宋体" panose="02010600030101010101" pitchFamily="2" charset="-122"/>
                <a:cs typeface="Times New Roman" panose="02020603050405020304" pitchFamily="18" charset="0"/>
              </a:rPr>
              <a:t>下端边缘</a:t>
            </a:r>
            <a:r>
              <a:rPr lang="zh-CN" altLang="en-US" b="1" dirty="0">
                <a:solidFill>
                  <a:schemeClr val="tx1"/>
                </a:solidFill>
                <a:latin typeface="宋体" panose="02010600030101010101" pitchFamily="2" charset="-122"/>
                <a:cs typeface="Times New Roman" panose="02020603050405020304" pitchFamily="18" charset="0"/>
              </a:rPr>
              <a:t>处最大挤压应力：</a:t>
            </a:r>
            <a:endParaRPr lang="zh-CN" altLang="en-US" dirty="0">
              <a:solidFill>
                <a:schemeClr val="tx1"/>
              </a:solidFill>
              <a:latin typeface="宋体" panose="02010600030101010101" pitchFamily="2" charset="-122"/>
            </a:endParaRPr>
          </a:p>
        </p:txBody>
      </p:sp>
      <p:graphicFrame>
        <p:nvGraphicFramePr>
          <p:cNvPr id="11268" name="Object 21"/>
          <p:cNvGraphicFramePr>
            <a:graphicFrameLocks noChangeAspect="1"/>
          </p:cNvGraphicFramePr>
          <p:nvPr/>
        </p:nvGraphicFramePr>
        <p:xfrm>
          <a:off x="483486" y="686044"/>
          <a:ext cx="7262812" cy="407987"/>
        </p:xfrm>
        <a:graphic>
          <a:graphicData uri="http://schemas.openxmlformats.org/presentationml/2006/ole">
            <mc:AlternateContent xmlns:mc="http://schemas.openxmlformats.org/markup-compatibility/2006">
              <mc:Choice xmlns:v="urn:schemas-microsoft-com:vml" Requires="v">
                <p:oleObj spid="_x0000_s48252" name="公式" r:id="rId5" imgW="4089400" imgH="228600" progId="Equation.3">
                  <p:embed/>
                </p:oleObj>
              </mc:Choice>
              <mc:Fallback>
                <p:oleObj name="公式" r:id="rId5" imgW="4089400" imgH="228600" progId="Equation.3">
                  <p:embed/>
                  <p:pic>
                    <p:nvPicPr>
                      <p:cNvPr id="0" name="图片 482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486" y="686044"/>
                        <a:ext cx="7262812" cy="407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9" name="Object 22"/>
          <p:cNvGraphicFramePr>
            <a:graphicFrameLocks noChangeAspect="1"/>
          </p:cNvGraphicFramePr>
          <p:nvPr/>
        </p:nvGraphicFramePr>
        <p:xfrm>
          <a:off x="933885" y="1330902"/>
          <a:ext cx="5457290" cy="1295400"/>
        </p:xfrm>
        <a:graphic>
          <a:graphicData uri="http://schemas.openxmlformats.org/presentationml/2006/ole">
            <mc:AlternateContent xmlns:mc="http://schemas.openxmlformats.org/markup-compatibility/2006">
              <mc:Choice xmlns:v="urn:schemas-microsoft-com:vml" Requires="v">
                <p:oleObj spid="_x0000_s48253" name="公式" r:id="rId7" imgW="3352800" imgH="838200" progId="Equation.3">
                  <p:embed/>
                </p:oleObj>
              </mc:Choice>
              <mc:Fallback>
                <p:oleObj name="公式" r:id="rId7" imgW="3352800" imgH="838200" progId="Equation.3">
                  <p:embed/>
                  <p:pic>
                    <p:nvPicPr>
                      <p:cNvPr id="0" name="图片 4825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3885" y="1330902"/>
                        <a:ext cx="5457290" cy="1295400"/>
                      </a:xfrm>
                      <a:prstGeom prst="rect">
                        <a:avLst/>
                      </a:prstGeom>
                      <a:noFill/>
                      <a:ln>
                        <a:noFill/>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4"/>
          <p:cNvGraphicFramePr>
            <a:graphicFrameLocks noChangeAspect="1"/>
          </p:cNvGraphicFramePr>
          <p:nvPr/>
        </p:nvGraphicFramePr>
        <p:xfrm>
          <a:off x="1256030" y="1346200"/>
          <a:ext cx="5693410" cy="1993265"/>
        </p:xfrm>
        <a:graphic>
          <a:graphicData uri="http://schemas.openxmlformats.org/presentationml/2006/ole">
            <mc:AlternateContent xmlns:mc="http://schemas.openxmlformats.org/markup-compatibility/2006">
              <mc:Choice xmlns:v="urn:schemas-microsoft-com:vml" Requires="v">
                <p:oleObj spid="_x0000_s49214" name="公式" r:id="rId1" imgW="3086100" imgH="1028700" progId="Equation.3">
                  <p:embed/>
                </p:oleObj>
              </mc:Choice>
              <mc:Fallback>
                <p:oleObj name="公式" r:id="rId1" imgW="3086100" imgH="1028700" progId="Equation.3">
                  <p:embed/>
                  <p:pic>
                    <p:nvPicPr>
                      <p:cNvPr id="0" name="图片 49213"/>
                      <p:cNvPicPr>
                        <a:picLocks noChangeAspect="1" noChangeArrowheads="1"/>
                      </p:cNvPicPr>
                      <p:nvPr/>
                    </p:nvPicPr>
                    <p:blipFill>
                      <a:blip r:embed="rId2"/>
                      <a:srcRect/>
                      <a:stretch>
                        <a:fillRect/>
                      </a:stretch>
                    </p:blipFill>
                    <p:spPr bwMode="auto">
                      <a:xfrm>
                        <a:off x="1256030" y="1346200"/>
                        <a:ext cx="5693410" cy="19932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292" name="Group 14"/>
          <p:cNvGrpSpPr/>
          <p:nvPr/>
        </p:nvGrpSpPr>
        <p:grpSpPr bwMode="auto">
          <a:xfrm>
            <a:off x="460376" y="524669"/>
            <a:ext cx="5259385" cy="520701"/>
            <a:chOff x="155" y="-353"/>
            <a:chExt cx="3313" cy="328"/>
          </a:xfrm>
        </p:grpSpPr>
        <p:graphicFrame>
          <p:nvGraphicFramePr>
            <p:cNvPr id="12291" name="Object 5"/>
            <p:cNvGraphicFramePr>
              <a:graphicFrameLocks noChangeAspect="1"/>
            </p:cNvGraphicFramePr>
            <p:nvPr/>
          </p:nvGraphicFramePr>
          <p:xfrm>
            <a:off x="2682" y="-353"/>
            <a:ext cx="786" cy="328"/>
          </p:xfrm>
          <a:graphic>
            <a:graphicData uri="http://schemas.openxmlformats.org/presentationml/2006/ole">
              <mc:AlternateContent xmlns:mc="http://schemas.openxmlformats.org/markup-compatibility/2006">
                <mc:Choice xmlns:v="urn:schemas-microsoft-com:vml" Requires="v">
                  <p:oleObj spid="_x0000_s49215" name="公式" r:id="rId3" imgW="596900" imgH="241300" progId="Equation.3">
                    <p:embed/>
                  </p:oleObj>
                </mc:Choice>
                <mc:Fallback>
                  <p:oleObj name="公式" r:id="rId3" imgW="596900" imgH="241300" progId="Equation.3">
                    <p:embed/>
                    <p:pic>
                      <p:nvPicPr>
                        <p:cNvPr id="0" name="图片 49214"/>
                        <p:cNvPicPr>
                          <a:picLocks noChangeAspect="1" noChangeArrowheads="1"/>
                        </p:cNvPicPr>
                        <p:nvPr/>
                      </p:nvPicPr>
                      <p:blipFill>
                        <a:blip r:embed="rId4"/>
                        <a:srcRect/>
                        <a:stretch>
                          <a:fillRect/>
                        </a:stretch>
                      </p:blipFill>
                      <p:spPr bwMode="auto">
                        <a:xfrm>
                          <a:off x="2682" y="-353"/>
                          <a:ext cx="786" cy="3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4" name="Rectangle 9"/>
            <p:cNvSpPr>
              <a:spLocks noChangeArrowheads="1"/>
            </p:cNvSpPr>
            <p:nvPr/>
          </p:nvSpPr>
          <p:spPr bwMode="auto">
            <a:xfrm>
              <a:off x="155" y="-298"/>
              <a:ext cx="2527"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chemeClr val="tx1"/>
                  </a:solidFill>
                </a:rPr>
                <a:t>2</a:t>
              </a:r>
              <a:r>
                <a:rPr lang="zh-CN" altLang="en-US" b="1" dirty="0">
                  <a:solidFill>
                    <a:schemeClr val="tx1"/>
                  </a:solidFill>
                </a:rPr>
                <a:t>、结合面上侧边缘处不离缝</a:t>
              </a:r>
              <a:r>
                <a:rPr lang="zh-CN" altLang="en-US" b="1" dirty="0">
                  <a:solidFill>
                    <a:schemeClr val="tx1"/>
                  </a:solidFill>
                  <a:latin typeface="宋体" panose="02010600030101010101" pitchFamily="2" charset="-122"/>
                  <a:cs typeface="Times New Roman" panose="02020603050405020304" pitchFamily="18" charset="0"/>
                </a:rPr>
                <a:t>：</a:t>
              </a:r>
              <a:endParaRPr lang="zh-CN" altLang="en-US" b="1" dirty="0">
                <a:solidFill>
                  <a:schemeClr val="tx1"/>
                </a:solidFill>
                <a:latin typeface="宋体" panose="02010600030101010101" pitchFamily="2" charset="-122"/>
                <a:cs typeface="Times New Roman" panose="02020603050405020304" pitchFamily="18" charset="0"/>
              </a:endParaRPr>
            </a:p>
          </p:txBody>
        </p:sp>
      </p:grpSp>
      <p:sp>
        <p:nvSpPr>
          <p:cNvPr id="338956" name="Rectangle 12"/>
          <p:cNvSpPr>
            <a:spLocks noChangeArrowheads="1"/>
          </p:cNvSpPr>
          <p:nvPr/>
        </p:nvSpPr>
        <p:spPr bwMode="auto">
          <a:xfrm>
            <a:off x="317435" y="4409996"/>
            <a:ext cx="7993063" cy="1448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indent="306705"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t>五、确定螺栓联接的结构尺寸</a:t>
            </a:r>
            <a:endParaRPr lang="zh-CN" altLang="en-US" dirty="0"/>
          </a:p>
          <a:p>
            <a:pPr algn="l" eaLnBrk="1" hangingPunct="1"/>
            <a:r>
              <a:rPr lang="zh-CN" altLang="en-US" b="1" dirty="0"/>
              <a:t>     根据托架底板的结构尺寸，确定联接件类型（螺栓、螺钉、双头螺柱）</a:t>
            </a:r>
            <a:endParaRPr lang="zh-CN" altLang="en-US" b="1" dirty="0"/>
          </a:p>
          <a:p>
            <a:pPr algn="l" eaLnBrk="1" hangingPunct="1"/>
            <a:r>
              <a:rPr lang="zh-CN" altLang="en-US" b="1" dirty="0"/>
              <a:t>     查标准定长度、选择螺母、垫圈尺寸及防松方法；</a:t>
            </a:r>
            <a:endParaRPr lang="zh-CN" altLang="en-US" b="1" dirty="0"/>
          </a:p>
        </p:txBody>
      </p:sp>
      <p:sp>
        <p:nvSpPr>
          <p:cNvPr id="2" name="文本框 1"/>
          <p:cNvSpPr txBox="1"/>
          <p:nvPr/>
        </p:nvSpPr>
        <p:spPr>
          <a:xfrm>
            <a:off x="941738" y="3707364"/>
            <a:ext cx="6092792" cy="430887"/>
          </a:xfrm>
          <a:prstGeom prst="rect">
            <a:avLst/>
          </a:prstGeom>
          <a:noFill/>
        </p:spPr>
        <p:txBody>
          <a:bodyPr wrap="square" rtlCol="0">
            <a:spAutoFit/>
          </a:bodyPr>
          <a:lstStyle/>
          <a:p>
            <a:r>
              <a:rPr lang="zh-CN" altLang="en-US" dirty="0" smtClean="0"/>
              <a:t>故结合面上端受压最小处不会产生间隙。</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38956"/>
                                        </p:tgtEl>
                                        <p:attrNameLst>
                                          <p:attrName>style.visibility</p:attrName>
                                        </p:attrNameLst>
                                      </p:cBhvr>
                                      <p:to>
                                        <p:strVal val="visible"/>
                                      </p:to>
                                    </p:set>
                                    <p:animEffect transition="in" filter="wipe(up)">
                                      <p:cBhvr>
                                        <p:cTn id="7" dur="1000"/>
                                        <p:tgtEl>
                                          <p:spTgt spid="338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5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ChangeArrowheads="1"/>
          </p:cNvSpPr>
          <p:nvPr/>
        </p:nvSpPr>
        <p:spPr bwMode="auto">
          <a:xfrm>
            <a:off x="270242" y="349427"/>
            <a:ext cx="4167004" cy="618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FF0000"/>
                </a:solidFill>
              </a:rPr>
              <a:t>小结：</a:t>
            </a:r>
            <a:endParaRPr lang="zh-CN" altLang="en-US" b="1" dirty="0">
              <a:solidFill>
                <a:srgbClr val="FF0000"/>
              </a:solidFill>
            </a:endParaRPr>
          </a:p>
          <a:p>
            <a:pPr algn="l" eaLnBrk="1" hangingPunct="1"/>
            <a:r>
              <a:rPr lang="en-US" altLang="zh-CN" b="1" dirty="0">
                <a:solidFill>
                  <a:schemeClr val="tx1"/>
                </a:solidFill>
              </a:rPr>
              <a:t>1</a:t>
            </a:r>
            <a:r>
              <a:rPr lang="zh-CN" altLang="en-US" b="1" dirty="0">
                <a:solidFill>
                  <a:schemeClr val="tx1"/>
                </a:solidFill>
              </a:rPr>
              <a:t>、根据结构和工作载荷确定螺栓组布置方式、螺栓类型；</a:t>
            </a:r>
            <a:endParaRPr lang="zh-CN" altLang="en-US" b="1" dirty="0">
              <a:solidFill>
                <a:schemeClr val="tx1"/>
              </a:solidFill>
            </a:endParaRPr>
          </a:p>
          <a:p>
            <a:pPr algn="l" eaLnBrk="1" hangingPunct="1"/>
            <a:endParaRPr lang="zh-CN" altLang="en-US" b="1" dirty="0">
              <a:solidFill>
                <a:schemeClr val="tx1"/>
              </a:solidFill>
            </a:endParaRPr>
          </a:p>
          <a:p>
            <a:pPr algn="l" eaLnBrk="1" hangingPunct="1"/>
            <a:r>
              <a:rPr lang="en-US" altLang="zh-CN" b="1" dirty="0">
                <a:solidFill>
                  <a:schemeClr val="tx1"/>
                </a:solidFill>
              </a:rPr>
              <a:t>2</a:t>
            </a:r>
            <a:r>
              <a:rPr lang="zh-CN" altLang="en-US" b="1" dirty="0">
                <a:solidFill>
                  <a:schemeClr val="tx1"/>
                </a:solidFill>
              </a:rPr>
              <a:t>、载荷向螺栓组几何形心等效简化</a:t>
            </a:r>
            <a:r>
              <a:rPr lang="en-US" altLang="zh-CN" b="1" dirty="0">
                <a:solidFill>
                  <a:schemeClr val="tx1"/>
                </a:solidFill>
              </a:rPr>
              <a:t>:</a:t>
            </a:r>
            <a:endParaRPr lang="en-US" altLang="zh-CN" b="1" dirty="0">
              <a:solidFill>
                <a:schemeClr val="tx1"/>
              </a:solidFill>
            </a:endParaRPr>
          </a:p>
          <a:p>
            <a:pPr algn="l" eaLnBrk="1" hangingPunct="1"/>
            <a:r>
              <a:rPr lang="en-US" altLang="zh-CN" b="1" dirty="0">
                <a:solidFill>
                  <a:schemeClr val="tx1"/>
                </a:solidFill>
              </a:rPr>
              <a:t>    </a:t>
            </a:r>
            <a:r>
              <a:rPr lang="zh-CN" altLang="en-US" b="1" dirty="0" smtClean="0">
                <a:solidFill>
                  <a:schemeClr val="tx1"/>
                </a:solidFill>
              </a:rPr>
              <a:t>分成</a:t>
            </a:r>
            <a:r>
              <a:rPr lang="zh-CN" altLang="en-US" b="1" dirty="0">
                <a:solidFill>
                  <a:schemeClr val="tx1"/>
                </a:solidFill>
              </a:rPr>
              <a:t>轴向、横向外载和倾覆力矩，</a:t>
            </a:r>
            <a:endParaRPr lang="zh-CN" altLang="en-US" b="1" dirty="0">
              <a:solidFill>
                <a:schemeClr val="tx1"/>
              </a:solidFill>
            </a:endParaRPr>
          </a:p>
          <a:p>
            <a:pPr algn="l" eaLnBrk="1" hangingPunct="1"/>
            <a:r>
              <a:rPr lang="zh-CN" altLang="en-US" b="1" dirty="0">
                <a:solidFill>
                  <a:schemeClr val="tx1"/>
                </a:solidFill>
              </a:rPr>
              <a:t>   </a:t>
            </a:r>
            <a:r>
              <a:rPr lang="zh-CN" altLang="en-US" b="1" dirty="0" smtClean="0">
                <a:solidFill>
                  <a:schemeClr val="tx1"/>
                </a:solidFill>
              </a:rPr>
              <a:t> </a:t>
            </a:r>
            <a:r>
              <a:rPr lang="zh-CN" altLang="en-US" b="1" dirty="0">
                <a:solidFill>
                  <a:schemeClr val="tx1"/>
                </a:solidFill>
              </a:rPr>
              <a:t>分析各种载荷单独作用下螺栓受力，</a:t>
            </a:r>
            <a:endParaRPr lang="zh-CN" altLang="en-US" b="1" dirty="0">
              <a:solidFill>
                <a:schemeClr val="tx1"/>
              </a:solidFill>
            </a:endParaRPr>
          </a:p>
          <a:p>
            <a:pPr algn="l" eaLnBrk="1" hangingPunct="1"/>
            <a:r>
              <a:rPr lang="zh-CN" altLang="en-US" b="1" dirty="0">
                <a:solidFill>
                  <a:schemeClr val="tx1"/>
                </a:solidFill>
              </a:rPr>
              <a:t>      确定共同做用下组中受力最大螺栓螺栓受的力；</a:t>
            </a:r>
            <a:endParaRPr lang="zh-CN" altLang="en-US" b="1" dirty="0">
              <a:solidFill>
                <a:schemeClr val="tx1"/>
              </a:solidFill>
            </a:endParaRPr>
          </a:p>
          <a:p>
            <a:pPr algn="l" eaLnBrk="1" hangingPunct="1"/>
            <a:endParaRPr lang="zh-CN" altLang="en-US" b="1" dirty="0">
              <a:solidFill>
                <a:schemeClr val="tx1"/>
              </a:solidFill>
            </a:endParaRPr>
          </a:p>
          <a:p>
            <a:pPr algn="l" eaLnBrk="1" hangingPunct="1"/>
            <a:r>
              <a:rPr lang="en-US" altLang="zh-CN" b="1" dirty="0">
                <a:solidFill>
                  <a:schemeClr val="tx1"/>
                </a:solidFill>
              </a:rPr>
              <a:t>4</a:t>
            </a:r>
            <a:r>
              <a:rPr lang="zh-CN" altLang="en-US" b="1" dirty="0">
                <a:solidFill>
                  <a:schemeClr val="tx1"/>
                </a:solidFill>
              </a:rPr>
              <a:t>、失效形式与设计准则      </a:t>
            </a:r>
            <a:endParaRPr lang="zh-CN" altLang="en-US" b="1" dirty="0">
              <a:solidFill>
                <a:schemeClr val="tx1"/>
              </a:solidFill>
            </a:endParaRPr>
          </a:p>
          <a:p>
            <a:pPr algn="l" eaLnBrk="1" hangingPunct="1"/>
            <a:endParaRPr lang="zh-CN" altLang="en-US" b="1" dirty="0">
              <a:solidFill>
                <a:schemeClr val="tx1"/>
              </a:solidFill>
            </a:endParaRPr>
          </a:p>
          <a:p>
            <a:pPr algn="l" eaLnBrk="1" hangingPunct="1"/>
            <a:r>
              <a:rPr lang="en-US" altLang="zh-CN" b="1" dirty="0">
                <a:solidFill>
                  <a:schemeClr val="tx1"/>
                </a:solidFill>
              </a:rPr>
              <a:t>3</a:t>
            </a:r>
            <a:r>
              <a:rPr lang="zh-CN" altLang="en-US" b="1" dirty="0">
                <a:solidFill>
                  <a:schemeClr val="tx1"/>
                </a:solidFill>
              </a:rPr>
              <a:t>、确定螺栓总载荷和螺栓尺寸；</a:t>
            </a:r>
            <a:endParaRPr lang="zh-CN" altLang="en-US" b="1" dirty="0">
              <a:solidFill>
                <a:schemeClr val="tx1"/>
              </a:solidFill>
            </a:endParaRPr>
          </a:p>
          <a:p>
            <a:pPr algn="l" eaLnBrk="1" hangingPunct="1"/>
            <a:r>
              <a:rPr lang="zh-CN" altLang="en-US" b="1" dirty="0">
                <a:solidFill>
                  <a:schemeClr val="tx1"/>
                </a:solidFill>
              </a:rPr>
              <a:t>     选择螺纹联接件相关尺寸、防松等；</a:t>
            </a:r>
            <a:endParaRPr lang="zh-CN" altLang="en-US" b="1" dirty="0">
              <a:solidFill>
                <a:schemeClr val="tx1"/>
              </a:solidFill>
              <a:latin typeface="宋体" panose="02010600030101010101" pitchFamily="2" charset="-122"/>
              <a:cs typeface="Times New Roman" panose="02020603050405020304" pitchFamily="18" charset="0"/>
            </a:endParaRPr>
          </a:p>
        </p:txBody>
      </p:sp>
      <p:grpSp>
        <p:nvGrpSpPr>
          <p:cNvPr id="4" name="组合 3"/>
          <p:cNvGrpSpPr/>
          <p:nvPr/>
        </p:nvGrpSpPr>
        <p:grpSpPr>
          <a:xfrm>
            <a:off x="4427220" y="432435"/>
            <a:ext cx="4543425" cy="3001010"/>
            <a:chOff x="4513848" y="557563"/>
            <a:chExt cx="4543425" cy="300101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b="8588"/>
            <a:stretch>
              <a:fillRect/>
            </a:stretch>
          </p:blipFill>
          <p:spPr>
            <a:xfrm>
              <a:off x="4513848" y="557563"/>
              <a:ext cx="4543425" cy="3001010"/>
            </a:xfrm>
            <a:prstGeom prst="rect">
              <a:avLst/>
            </a:prstGeom>
          </p:spPr>
        </p:pic>
        <p:cxnSp>
          <p:nvCxnSpPr>
            <p:cNvPr id="6" name="直接箭头连接符 5"/>
            <p:cNvCxnSpPr/>
            <p:nvPr/>
          </p:nvCxnSpPr>
          <p:spPr bwMode="auto">
            <a:xfrm>
              <a:off x="6882063" y="1944303"/>
              <a:ext cx="798897"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7" name="直接箭头连接符 6"/>
            <p:cNvCxnSpPr/>
            <p:nvPr/>
          </p:nvCxnSpPr>
          <p:spPr bwMode="auto">
            <a:xfrm flipH="1">
              <a:off x="6872437" y="1963554"/>
              <a:ext cx="19251" cy="712269"/>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8" name="右弧形箭头 7"/>
            <p:cNvSpPr/>
            <p:nvPr/>
          </p:nvSpPr>
          <p:spPr bwMode="auto">
            <a:xfrm>
              <a:off x="6959065" y="1530416"/>
              <a:ext cx="404261" cy="943276"/>
            </a:xfrm>
            <a:prstGeom prst="curvedLeftArrow">
              <a:avLst/>
            </a:prstGeom>
            <a:solidFill>
              <a:srgbClr val="00B0F0"/>
            </a:solidFill>
            <a:ln w="952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4" descr="11_副本"/>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75730" y="697230"/>
            <a:ext cx="2421255" cy="307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2"/>
          <p:cNvSpPr>
            <a:spLocks noChangeArrowheads="1"/>
          </p:cNvSpPr>
          <p:nvPr/>
        </p:nvSpPr>
        <p:spPr bwMode="auto">
          <a:xfrm>
            <a:off x="427239" y="475190"/>
            <a:ext cx="6048375" cy="3745230"/>
          </a:xfrm>
          <a:prstGeom prst="rect">
            <a:avLst/>
          </a:prstGeom>
          <a:noFill/>
          <a:ln w="9525">
            <a:solidFill>
              <a:srgbClr val="002060"/>
            </a:solidFill>
            <a:miter lim="800000"/>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习题</a:t>
            </a:r>
            <a:r>
              <a:rPr lang="en-US" altLang="zh-CN" dirty="0">
                <a:solidFill>
                  <a:srgbClr val="FF0000"/>
                </a:solidFill>
                <a:latin typeface="黑体" panose="02010609060101010101" pitchFamily="49" charset="-122"/>
                <a:ea typeface="黑体" panose="02010609060101010101" pitchFamily="49" charset="-122"/>
                <a:cs typeface="Times New Roman" panose="02020603050405020304" pitchFamily="18" charset="0"/>
              </a:rPr>
              <a:t>2</a:t>
            </a:r>
            <a:r>
              <a:rPr lang="zh-CN" altLang="en-US"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如右图，已知：</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某油缸的缸体与缸盖用</a:t>
            </a:r>
            <a:r>
              <a:rPr lang="en-US" altLang="zh-CN" dirty="0">
                <a:solidFill>
                  <a:srgbClr val="FF0000"/>
                </a:solidFill>
                <a:latin typeface="黑体" panose="02010609060101010101" pitchFamily="49" charset="-122"/>
                <a:ea typeface="黑体" panose="02010609060101010101" pitchFamily="49" charset="-122"/>
                <a:cs typeface="Times New Roman" panose="02020603050405020304" pitchFamily="18" charset="0"/>
              </a:rPr>
              <a:t>28</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个普通螺栓联接。       </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油压在</a:t>
            </a:r>
            <a:r>
              <a:rPr lang="en-US" altLang="zh-CN"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P=0</a:t>
            </a:r>
            <a:r>
              <a:rPr lang="en-US" altLang="zh-CN" dirty="0" smtClean="0">
                <a:solidFill>
                  <a:srgbClr val="FF0000"/>
                </a:solidFill>
                <a:latin typeface="Arial" panose="020B0604020202020204" pitchFamily="34" charset="0"/>
                <a:ea typeface="黑体" panose="02010609060101010101" pitchFamily="49" charset="-122"/>
                <a:cs typeface="Arial" panose="020B0604020202020204" pitchFamily="34" charset="0"/>
              </a:rPr>
              <a:t>~</a:t>
            </a:r>
            <a:r>
              <a:rPr lang="en-US" altLang="zh-CN"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0.89 </a:t>
            </a:r>
            <a:r>
              <a:rPr lang="en-US" altLang="zh-CN" dirty="0" err="1">
                <a:solidFill>
                  <a:srgbClr val="FF0000"/>
                </a:solidFill>
                <a:latin typeface="黑体" panose="02010609060101010101" pitchFamily="49" charset="-122"/>
                <a:ea typeface="黑体" panose="02010609060101010101" pitchFamily="49" charset="-122"/>
                <a:cs typeface="Times New Roman" panose="02020603050405020304" pitchFamily="18" charset="0"/>
              </a:rPr>
              <a:t>MPa</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间波动；</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油缸内径</a:t>
            </a:r>
            <a:r>
              <a:rPr lang="en-US"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D=600mm,</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螺栓分布圆周直径为</a:t>
            </a:r>
            <a:r>
              <a:rPr lang="en-US" altLang="zh-CN" dirty="0">
                <a:solidFill>
                  <a:srgbClr val="FF0000"/>
                </a:solidFill>
                <a:latin typeface="黑体" panose="02010609060101010101" pitchFamily="49" charset="-122"/>
                <a:ea typeface="黑体" panose="02010609060101010101" pitchFamily="49" charset="-122"/>
                <a:cs typeface="Times New Roman" panose="02020603050405020304" pitchFamily="18" charset="0"/>
              </a:rPr>
              <a:t>D1=850mm</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螺栓材料性能等级</a:t>
            </a:r>
            <a:r>
              <a:rPr lang="en-US"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8.8</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缸盖与缸体法兰结合面用石棉铜皮垫片密封；</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a:t>
            </a:r>
            <a:r>
              <a:rPr lang="en-US"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1</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）试确定所需螺栓直径；</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a:t>
            </a:r>
            <a:r>
              <a:rPr lang="en-US"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2</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）若螺栓的应力幅</a:t>
            </a:r>
            <a:r>
              <a:rPr lang="el-GR"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σ</a:t>
            </a:r>
            <a:r>
              <a:rPr lang="en-US" altLang="zh-CN" baseline="-25000" dirty="0">
                <a:solidFill>
                  <a:schemeClr val="tx1"/>
                </a:solidFill>
                <a:latin typeface="黑体" panose="02010609060101010101" pitchFamily="49" charset="-122"/>
                <a:ea typeface="黑体" panose="02010609060101010101" pitchFamily="49" charset="-122"/>
                <a:cs typeface="Times New Roman" panose="02020603050405020304" pitchFamily="18" charset="0"/>
              </a:rPr>
              <a:t>a</a:t>
            </a:r>
            <a:r>
              <a:rPr lang="en-US"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&gt;[</a:t>
            </a:r>
            <a:r>
              <a:rPr lang="el-GR" altLang="zh-CN" dirty="0">
                <a:solidFill>
                  <a:schemeClr val="tx1"/>
                </a:solidFill>
                <a:latin typeface="黑体" panose="02010609060101010101" pitchFamily="49" charset="-122"/>
                <a:ea typeface="黑体" panose="02010609060101010101" pitchFamily="49" charset="-122"/>
              </a:rPr>
              <a:t>σ</a:t>
            </a:r>
            <a:r>
              <a:rPr lang="en-US" altLang="zh-CN" baseline="-25000" dirty="0">
                <a:solidFill>
                  <a:schemeClr val="tx1"/>
                </a:solidFill>
                <a:latin typeface="黑体" panose="02010609060101010101" pitchFamily="49" charset="-122"/>
                <a:ea typeface="黑体" panose="02010609060101010101" pitchFamily="49" charset="-122"/>
              </a:rPr>
              <a:t>a</a:t>
            </a:r>
            <a:r>
              <a:rPr lang="en-US"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a:t>
            </a:r>
            <a:r>
              <a:rPr lang="zh-CN" altLang="en-US" dirty="0">
                <a:solidFill>
                  <a:schemeClr val="tx1"/>
                </a:solidFill>
                <a:latin typeface="黑体" panose="02010609060101010101" pitchFamily="49" charset="-122"/>
                <a:ea typeface="黑体" panose="02010609060101010101" pitchFamily="49" charset="-122"/>
              </a:rPr>
              <a:t>时，</a:t>
            </a:r>
            <a:endParaRPr lang="zh-CN" altLang="en-US" dirty="0">
              <a:solidFill>
                <a:schemeClr val="tx1"/>
              </a:solidFill>
              <a:latin typeface="黑体" panose="02010609060101010101" pitchFamily="49" charset="-122"/>
              <a:ea typeface="黑体" panose="02010609060101010101" pitchFamily="49" charset="-122"/>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rPr>
              <a:t>       采取什么措施可降低螺栓应力幅？</a:t>
            </a:r>
            <a:endParaRPr lang="zh-CN" altLang="en-US" dirty="0">
              <a:solidFill>
                <a:schemeClr val="tx1"/>
              </a:solidFill>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323592" name="Rectangle 8"/>
              <p:cNvSpPr>
                <a:spLocks noChangeArrowheads="1"/>
              </p:cNvSpPr>
              <p:nvPr/>
            </p:nvSpPr>
            <p:spPr bwMode="auto">
              <a:xfrm>
                <a:off x="427088" y="4354747"/>
                <a:ext cx="8113362" cy="2122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a:lnSpc>
                    <a:spcPct val="120000"/>
                  </a:lnSpc>
                </a:pPr>
                <a:r>
                  <a:rPr lang="zh-CN" altLang="en-US" b="1" dirty="0" smtClean="0">
                    <a:solidFill>
                      <a:srgbClr val="0000FF"/>
                    </a:solidFill>
                    <a:latin typeface="宋体" panose="02010600030101010101" pitchFamily="2" charset="-122"/>
                    <a:cs typeface="Times New Roman" panose="02020603050405020304" pitchFamily="18" charset="0"/>
                  </a:rPr>
                  <a:t>解：</a:t>
                </a:r>
                <a:r>
                  <a:rPr lang="zh-CN" altLang="en-US" b="1" dirty="0">
                    <a:solidFill>
                      <a:srgbClr val="002060"/>
                    </a:solidFill>
                    <a:latin typeface="宋体" panose="02010600030101010101" pitchFamily="2" charset="-122"/>
                    <a:cs typeface="Times New Roman" panose="02020603050405020304" pitchFamily="18" charset="0"/>
                  </a:rPr>
                  <a:t>（螺栓组联接设计问题）</a:t>
                </a:r>
                <a:endParaRPr lang="zh-CN" altLang="en-US" b="1" dirty="0">
                  <a:solidFill>
                    <a:srgbClr val="002060"/>
                  </a:solidFill>
                  <a:latin typeface="宋体" panose="02010600030101010101" pitchFamily="2" charset="-122"/>
                  <a:cs typeface="Times New Roman" panose="02020603050405020304" pitchFamily="18" charset="0"/>
                </a:endParaRPr>
              </a:p>
              <a:p>
                <a:pPr algn="l">
                  <a:lnSpc>
                    <a:spcPct val="120000"/>
                  </a:lnSpc>
                </a:pPr>
                <a:r>
                  <a:rPr lang="zh-CN" altLang="en-US" b="1" dirty="0">
                    <a:solidFill>
                      <a:schemeClr val="tx1"/>
                    </a:solidFill>
                    <a:latin typeface="宋体" panose="02010600030101010101" pitchFamily="2" charset="-122"/>
                    <a:cs typeface="Times New Roman" panose="02020603050405020304" pitchFamily="18" charset="0"/>
                  </a:rPr>
                  <a:t> </a:t>
                </a:r>
                <a:r>
                  <a:rPr lang="zh-CN" altLang="en-US" b="1" dirty="0">
                    <a:solidFill>
                      <a:srgbClr val="0000FF"/>
                    </a:solidFill>
                    <a:latin typeface="宋体" panose="02010600030101010101" pitchFamily="2" charset="-122"/>
                    <a:cs typeface="Times New Roman" panose="02020603050405020304" pitchFamily="18" charset="0"/>
                  </a:rPr>
                  <a:t>一、受力与失效形式分析</a:t>
                </a:r>
                <a:r>
                  <a:rPr lang="en-US" altLang="zh-CN" b="1" dirty="0">
                    <a:solidFill>
                      <a:srgbClr val="0000FF"/>
                    </a:solidFill>
                    <a:latin typeface="宋体" panose="02010600030101010101" pitchFamily="2" charset="-122"/>
                    <a:cs typeface="Times New Roman" panose="02020603050405020304" pitchFamily="18" charset="0"/>
                  </a:rPr>
                  <a:t>: </a:t>
                </a:r>
                <a:endParaRPr lang="en-US" altLang="zh-CN" b="1" dirty="0">
                  <a:solidFill>
                    <a:srgbClr val="0000FF"/>
                  </a:solidFill>
                  <a:latin typeface="宋体" panose="02010600030101010101" pitchFamily="2" charset="-122"/>
                  <a:cs typeface="Times New Roman" panose="02020603050405020304" pitchFamily="18" charset="0"/>
                </a:endParaRPr>
              </a:p>
              <a:p>
                <a:pPr algn="l">
                  <a:lnSpc>
                    <a:spcPct val="120000"/>
                  </a:lnSpc>
                </a:pPr>
                <a:r>
                  <a:rPr lang="zh-CN" altLang="en-US" b="1" dirty="0">
                    <a:solidFill>
                      <a:srgbClr val="FF0000"/>
                    </a:solidFill>
                    <a:latin typeface="宋体" panose="02010600030101010101" pitchFamily="2" charset="-122"/>
                    <a:cs typeface="Times New Roman" panose="02020603050405020304" pitchFamily="18" charset="0"/>
                  </a:rPr>
                  <a:t>受力：</a:t>
                </a:r>
                <a:r>
                  <a:rPr lang="zh-CN" altLang="en-US" b="1" dirty="0">
                    <a:solidFill>
                      <a:schemeClr val="tx1"/>
                    </a:solidFill>
                  </a:rPr>
                  <a:t>受预紧力</a:t>
                </a:r>
                <a14:m>
                  <m:oMath xmlns:m="http://schemas.openxmlformats.org/officeDocument/2006/math">
                    <m:sSub>
                      <m:sSubPr>
                        <m:ctrlPr>
                          <a:rPr lang="en-US" altLang="zh-CN" b="1" i="1" dirty="0" smtClean="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𝑭</m:t>
                        </m:r>
                      </m:e>
                      <m:sub>
                        <m:r>
                          <a:rPr lang="en-US" altLang="zh-CN" b="1" i="1" dirty="0" smtClean="0">
                            <a:solidFill>
                              <a:schemeClr val="tx1"/>
                            </a:solidFill>
                            <a:latin typeface="Cambria Math" panose="02040503050406030204" pitchFamily="18" charset="0"/>
                          </a:rPr>
                          <m:t>𝟎</m:t>
                        </m:r>
                      </m:sub>
                    </m:sSub>
                  </m:oMath>
                </a14:m>
                <a:r>
                  <a:rPr lang="zh-CN" altLang="en-US" b="1" dirty="0" smtClean="0">
                    <a:solidFill>
                      <a:schemeClr val="tx1"/>
                    </a:solidFill>
                  </a:rPr>
                  <a:t>和</a:t>
                </a:r>
                <a:r>
                  <a:rPr lang="zh-CN" altLang="en-US" b="1" dirty="0">
                    <a:solidFill>
                      <a:schemeClr val="tx1"/>
                    </a:solidFill>
                  </a:rPr>
                  <a:t>工作载荷</a:t>
                </a:r>
                <a:r>
                  <a:rPr lang="en-US" altLang="zh-CN" b="1" dirty="0">
                    <a:solidFill>
                      <a:schemeClr val="tx1"/>
                    </a:solidFill>
                  </a:rPr>
                  <a:t>F</a:t>
                </a:r>
                <a:r>
                  <a:rPr lang="en-US" altLang="zh-CN" dirty="0"/>
                  <a:t> </a:t>
                </a:r>
                <a:r>
                  <a:rPr lang="zh-CN" altLang="en-US" b="1" dirty="0">
                    <a:solidFill>
                      <a:schemeClr val="tx1"/>
                    </a:solidFill>
                    <a:latin typeface="宋体" panose="02010600030101010101" pitchFamily="2" charset="-122"/>
                    <a:cs typeface="Times New Roman" panose="02020603050405020304" pitchFamily="18" charset="0"/>
                  </a:rPr>
                  <a:t>（</a:t>
                </a:r>
                <a:r>
                  <a:rPr lang="en-US" altLang="zh-CN" b="1" dirty="0">
                    <a:solidFill>
                      <a:schemeClr val="tx1"/>
                    </a:solidFill>
                    <a:latin typeface="宋体" panose="02010600030101010101" pitchFamily="2" charset="-122"/>
                    <a:cs typeface="Times New Roman" panose="02020603050405020304" pitchFamily="18" charset="0"/>
                  </a:rPr>
                  <a:t>F—</a:t>
                </a:r>
                <a:r>
                  <a:rPr lang="zh-CN" altLang="en-US" b="1" dirty="0">
                    <a:solidFill>
                      <a:schemeClr val="tx1"/>
                    </a:solidFill>
                    <a:latin typeface="宋体" panose="02010600030101010101" pitchFamily="2" charset="-122"/>
                    <a:cs typeface="Times New Roman" panose="02020603050405020304" pitchFamily="18" charset="0"/>
                  </a:rPr>
                  <a:t>变载）；</a:t>
                </a:r>
                <a:endParaRPr lang="zh-CN" altLang="en-US" b="1" dirty="0">
                  <a:solidFill>
                    <a:schemeClr val="tx1"/>
                  </a:solidFill>
                  <a:latin typeface="宋体" panose="02010600030101010101" pitchFamily="2" charset="-122"/>
                  <a:cs typeface="Times New Roman" panose="02020603050405020304" pitchFamily="18" charset="0"/>
                </a:endParaRPr>
              </a:p>
              <a:p>
                <a:pPr algn="l">
                  <a:lnSpc>
                    <a:spcPct val="120000"/>
                  </a:lnSpc>
                </a:pPr>
                <a:r>
                  <a:rPr lang="zh-CN" altLang="en-US" b="1" dirty="0">
                    <a:solidFill>
                      <a:srgbClr val="FF0000"/>
                    </a:solidFill>
                    <a:latin typeface="宋体" panose="02010600030101010101" pitchFamily="2" charset="-122"/>
                    <a:cs typeface="Times New Roman" panose="02020603050405020304" pitchFamily="18" charset="0"/>
                  </a:rPr>
                  <a:t>失效：</a:t>
                </a:r>
                <a:r>
                  <a:rPr lang="zh-CN" altLang="en-US" b="1" dirty="0">
                    <a:solidFill>
                      <a:schemeClr val="tx1"/>
                    </a:solidFill>
                    <a:latin typeface="宋体" panose="02010600030101010101" pitchFamily="2" charset="-122"/>
                    <a:cs typeface="Times New Roman" panose="02020603050405020304" pitchFamily="18" charset="0"/>
                  </a:rPr>
                  <a:t>螺栓拉断塑变或拉断</a:t>
                </a:r>
                <a:r>
                  <a:rPr lang="en-US" altLang="zh-CN" b="1" dirty="0">
                    <a:solidFill>
                      <a:schemeClr val="tx1"/>
                    </a:solidFill>
                    <a:latin typeface="宋体" panose="02010600030101010101" pitchFamily="2" charset="-122"/>
                    <a:cs typeface="Times New Roman" panose="02020603050405020304" pitchFamily="18" charset="0"/>
                  </a:rPr>
                  <a:t>—</a:t>
                </a:r>
                <a:r>
                  <a:rPr lang="zh-CN" altLang="en-US" b="1" dirty="0">
                    <a:solidFill>
                      <a:schemeClr val="tx1"/>
                    </a:solidFill>
                    <a:latin typeface="宋体" panose="02010600030101010101" pitchFamily="2" charset="-122"/>
                    <a:cs typeface="Times New Roman" panose="02020603050405020304" pitchFamily="18" charset="0"/>
                  </a:rPr>
                  <a:t>静载，</a:t>
                </a:r>
                <a:r>
                  <a:rPr lang="zh-CN" altLang="en-US" b="1" dirty="0" smtClean="0">
                    <a:solidFill>
                      <a:schemeClr val="tx1"/>
                    </a:solidFill>
                    <a:latin typeface="宋体" panose="02010600030101010101" pitchFamily="2" charset="-122"/>
                    <a:cs typeface="Times New Roman" panose="02020603050405020304" pitchFamily="18" charset="0"/>
                  </a:rPr>
                  <a:t>疲劳</a:t>
                </a:r>
                <a:r>
                  <a:rPr lang="en-US" altLang="zh-CN" b="1" dirty="0" smtClean="0">
                    <a:solidFill>
                      <a:schemeClr val="tx1"/>
                    </a:solidFill>
                    <a:latin typeface="宋体" panose="02010600030101010101" pitchFamily="2" charset="-122"/>
                    <a:cs typeface="Times New Roman" panose="02020603050405020304" pitchFamily="18" charset="0"/>
                  </a:rPr>
                  <a:t>,</a:t>
                </a:r>
                <a:endParaRPr lang="zh-CN" altLang="en-US" b="1" dirty="0" smtClean="0">
                  <a:solidFill>
                    <a:schemeClr val="tx1"/>
                  </a:solidFill>
                  <a:latin typeface="宋体" panose="02010600030101010101" pitchFamily="2" charset="-122"/>
                  <a:cs typeface="Times New Roman" panose="02020603050405020304" pitchFamily="18" charset="0"/>
                </a:endParaRPr>
              </a:p>
              <a:p>
                <a:pPr algn="l">
                  <a:lnSpc>
                    <a:spcPct val="120000"/>
                  </a:lnSpc>
                </a:pPr>
                <a:r>
                  <a:rPr lang="en-US" altLang="zh-CN" b="1" dirty="0" smtClean="0">
                    <a:solidFill>
                      <a:schemeClr val="tx1"/>
                    </a:solidFill>
                    <a:latin typeface="宋体" panose="02010600030101010101" pitchFamily="2" charset="-122"/>
                    <a:cs typeface="Times New Roman" panose="02020603050405020304" pitchFamily="18" charset="0"/>
                  </a:rPr>
                  <a:t>		</a:t>
                </a:r>
                <a:r>
                  <a:rPr lang="zh-CN" altLang="en-US" b="1" dirty="0" smtClean="0">
                    <a:solidFill>
                      <a:schemeClr val="tx1"/>
                    </a:solidFill>
                    <a:latin typeface="宋体" panose="02010600030101010101" pitchFamily="2" charset="-122"/>
                    <a:cs typeface="Times New Roman" panose="02020603050405020304" pitchFamily="18" charset="0"/>
                  </a:rPr>
                  <a:t>结合</a:t>
                </a:r>
                <a:r>
                  <a:rPr lang="zh-CN" altLang="en-US" b="1" dirty="0">
                    <a:solidFill>
                      <a:schemeClr val="tx1"/>
                    </a:solidFill>
                    <a:latin typeface="宋体" panose="02010600030101010101" pitchFamily="2" charset="-122"/>
                    <a:cs typeface="Times New Roman" panose="02020603050405020304" pitchFamily="18" charset="0"/>
                  </a:rPr>
                  <a:t>面出缝</a:t>
                </a:r>
                <a:endParaRPr lang="zh-CN" altLang="en-US" b="1" dirty="0">
                  <a:solidFill>
                    <a:schemeClr val="tx1"/>
                  </a:solidFill>
                  <a:latin typeface="宋体" panose="02010600030101010101" pitchFamily="2" charset="-122"/>
                  <a:cs typeface="Times New Roman" panose="02020603050405020304" pitchFamily="18" charset="0"/>
                </a:endParaRPr>
              </a:p>
            </p:txBody>
          </p:sp>
        </mc:Choice>
        <mc:Fallback>
          <p:sp>
            <p:nvSpPr>
              <p:cNvPr id="323592" name="Rectangle 8"/>
              <p:cNvSpPr>
                <a:spLocks noRot="1" noChangeAspect="1" noMove="1" noResize="1" noEditPoints="1" noAdjustHandles="1" noChangeArrowheads="1" noChangeShapeType="1" noTextEdit="1"/>
              </p:cNvSpPr>
              <p:nvPr/>
            </p:nvSpPr>
            <p:spPr bwMode="auto">
              <a:xfrm>
                <a:off x="427088" y="4354747"/>
                <a:ext cx="8113362" cy="2122170"/>
              </a:xfrm>
              <a:prstGeom prst="rect">
                <a:avLst/>
              </a:prstGeom>
              <a:blipFill rotWithShape="1">
                <a:blip r:embed="rId2"/>
                <a:stretch>
                  <a:fillRect l="-5" t="-26" r="4" b="2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23592">
                                            <p:txEl>
                                              <p:pRg st="0" end="0"/>
                                            </p:txEl>
                                          </p:spTgt>
                                        </p:tgtEl>
                                        <p:attrNameLst>
                                          <p:attrName>style.visibility</p:attrName>
                                        </p:attrNameLst>
                                      </p:cBhvr>
                                      <p:to>
                                        <p:strVal val="visible"/>
                                      </p:to>
                                    </p:set>
                                    <p:animEffect transition="in" filter="wipe(left)">
                                      <p:cBhvr>
                                        <p:cTn id="7" dur="500"/>
                                        <p:tgtEl>
                                          <p:spTgt spid="3235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3592">
                                            <p:txEl>
                                              <p:pRg st="1" end="1"/>
                                            </p:txEl>
                                          </p:spTgt>
                                        </p:tgtEl>
                                        <p:attrNameLst>
                                          <p:attrName>style.visibility</p:attrName>
                                        </p:attrNameLst>
                                      </p:cBhvr>
                                      <p:to>
                                        <p:strVal val="visible"/>
                                      </p:to>
                                    </p:set>
                                    <p:animEffect transition="in" filter="wipe(left)">
                                      <p:cBhvr>
                                        <p:cTn id="12" dur="500"/>
                                        <p:tgtEl>
                                          <p:spTgt spid="32359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23592">
                                            <p:txEl>
                                              <p:pRg st="2" end="2"/>
                                            </p:txEl>
                                          </p:spTgt>
                                        </p:tgtEl>
                                        <p:attrNameLst>
                                          <p:attrName>style.visibility</p:attrName>
                                        </p:attrNameLst>
                                      </p:cBhvr>
                                      <p:to>
                                        <p:strVal val="visible"/>
                                      </p:to>
                                    </p:set>
                                    <p:animEffect transition="in" filter="wipe(left)">
                                      <p:cBhvr>
                                        <p:cTn id="17" dur="500"/>
                                        <p:tgtEl>
                                          <p:spTgt spid="32359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3592">
                                            <p:txEl>
                                              <p:pRg st="3" end="3"/>
                                            </p:txEl>
                                          </p:spTgt>
                                        </p:tgtEl>
                                        <p:attrNameLst>
                                          <p:attrName>style.visibility</p:attrName>
                                        </p:attrNameLst>
                                      </p:cBhvr>
                                      <p:to>
                                        <p:strVal val="visible"/>
                                      </p:to>
                                    </p:set>
                                    <p:animEffect transition="in" filter="wipe(left)">
                                      <p:cBhvr>
                                        <p:cTn id="22" dur="500"/>
                                        <p:tgtEl>
                                          <p:spTgt spid="32359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3592">
                                            <p:txEl>
                                              <p:pRg st="4" end="4"/>
                                            </p:txEl>
                                          </p:spTgt>
                                        </p:tgtEl>
                                        <p:attrNameLst>
                                          <p:attrName>style.visibility</p:attrName>
                                        </p:attrNameLst>
                                      </p:cBhvr>
                                      <p:to>
                                        <p:strVal val="visible"/>
                                      </p:to>
                                    </p:set>
                                    <p:animEffect transition="in" filter="wipe(left)">
                                      <p:cBhvr>
                                        <p:cTn id="27" dur="500"/>
                                        <p:tgtEl>
                                          <p:spTgt spid="32359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3" descr="11_副本"/>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12063" y="0"/>
            <a:ext cx="1531937"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3" name="Group 4"/>
          <p:cNvGrpSpPr/>
          <p:nvPr/>
        </p:nvGrpSpPr>
        <p:grpSpPr bwMode="auto">
          <a:xfrm>
            <a:off x="121719" y="1286134"/>
            <a:ext cx="7318334" cy="771524"/>
            <a:chOff x="340" y="2038"/>
            <a:chExt cx="4220" cy="486"/>
          </a:xfrm>
        </p:grpSpPr>
        <p:sp>
          <p:nvSpPr>
            <p:cNvPr id="1042" name="Rectangle 5"/>
            <p:cNvSpPr>
              <a:spLocks noChangeArrowheads="1"/>
            </p:cNvSpPr>
            <p:nvPr/>
          </p:nvSpPr>
          <p:spPr bwMode="auto">
            <a:xfrm>
              <a:off x="340" y="2038"/>
              <a:ext cx="1769"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a:r>
                <a:rPr lang="en-US" altLang="zh-CN" b="1" dirty="0">
                  <a:solidFill>
                    <a:schemeClr val="tx1"/>
                  </a:solidFill>
                  <a:latin typeface="宋体" panose="02010600030101010101" pitchFamily="2" charset="-122"/>
                  <a:cs typeface="Times New Roman" panose="02020603050405020304" pitchFamily="18" charset="0"/>
                </a:rPr>
                <a:t>(1) </a:t>
              </a:r>
              <a:r>
                <a:rPr lang="zh-CN" altLang="en-US" b="1" dirty="0">
                  <a:solidFill>
                    <a:schemeClr val="tx1"/>
                  </a:solidFill>
                  <a:latin typeface="宋体" panose="02010600030101010101" pitchFamily="2" charset="-122"/>
                  <a:cs typeface="Times New Roman" panose="02020603050405020304" pitchFamily="18" charset="0"/>
                </a:rPr>
                <a:t>缸盖所受总外载荷</a:t>
              </a:r>
              <a:endParaRPr lang="zh-CN" altLang="en-US" dirty="0">
                <a:solidFill>
                  <a:schemeClr val="tx1"/>
                </a:solidFill>
                <a:latin typeface="宋体" panose="02010600030101010101" pitchFamily="2" charset="-122"/>
              </a:endParaRPr>
            </a:p>
          </p:txBody>
        </p:sp>
        <p:graphicFrame>
          <p:nvGraphicFramePr>
            <p:cNvPr id="1031" name="Object 6"/>
            <p:cNvGraphicFramePr>
              <a:graphicFrameLocks noChangeAspect="1"/>
            </p:cNvGraphicFramePr>
            <p:nvPr/>
          </p:nvGraphicFramePr>
          <p:xfrm>
            <a:off x="1974" y="2063"/>
            <a:ext cx="2586" cy="441"/>
          </p:xfrm>
          <a:graphic>
            <a:graphicData uri="http://schemas.openxmlformats.org/presentationml/2006/ole">
              <mc:AlternateContent xmlns:mc="http://schemas.openxmlformats.org/markup-compatibility/2006">
                <mc:Choice xmlns:v="urn:schemas-microsoft-com:vml" Requires="v">
                  <p:oleObj spid="_x0000_s38112" name="公式" r:id="rId2" imgW="2628900" imgH="419100" progId="Equation.3">
                    <p:embed/>
                  </p:oleObj>
                </mc:Choice>
                <mc:Fallback>
                  <p:oleObj name="公式" r:id="rId2" imgW="2628900" imgH="419100" progId="Equation.3">
                    <p:embed/>
                    <p:pic>
                      <p:nvPicPr>
                        <p:cNvPr id="0" name="图片 381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4" y="2063"/>
                          <a:ext cx="2586" cy="4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34" name="Rectangle 8"/>
          <p:cNvSpPr>
            <a:spLocks noChangeArrowheads="1"/>
          </p:cNvSpPr>
          <p:nvPr/>
        </p:nvSpPr>
        <p:spPr bwMode="auto">
          <a:xfrm>
            <a:off x="356788" y="420281"/>
            <a:ext cx="4968875"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a:r>
              <a:rPr lang="zh-CN" altLang="en-US" b="1" dirty="0">
                <a:solidFill>
                  <a:srgbClr val="0000FF"/>
                </a:solidFill>
                <a:latin typeface="宋体" panose="02010600030101010101" pitchFamily="2" charset="-122"/>
                <a:cs typeface="Times New Roman" panose="02020603050405020304" pitchFamily="18" charset="0"/>
              </a:rPr>
              <a:t>二、计算螺栓受力</a:t>
            </a:r>
            <a:endParaRPr lang="zh-CN" altLang="en-US" dirty="0">
              <a:solidFill>
                <a:srgbClr val="0000FF"/>
              </a:solidFill>
              <a:latin typeface="宋体" panose="02010600030101010101" pitchFamily="2" charset="-122"/>
            </a:endParaRPr>
          </a:p>
          <a:p>
            <a:pPr algn="l"/>
            <a:r>
              <a:rPr lang="en-US" altLang="zh-CN" b="1" dirty="0">
                <a:solidFill>
                  <a:srgbClr val="FF0000"/>
                </a:solidFill>
                <a:latin typeface="宋体" panose="02010600030101010101" pitchFamily="2" charset="-122"/>
                <a:cs typeface="Times New Roman" panose="02020603050405020304" pitchFamily="18" charset="0"/>
              </a:rPr>
              <a:t>1</a:t>
            </a:r>
            <a:r>
              <a:rPr lang="zh-CN" altLang="en-US" b="1" dirty="0">
                <a:solidFill>
                  <a:srgbClr val="FF0000"/>
                </a:solidFill>
                <a:latin typeface="宋体" panose="02010600030101010101" pitchFamily="2" charset="-122"/>
                <a:cs typeface="Times New Roman" panose="02020603050405020304" pitchFamily="18" charset="0"/>
              </a:rPr>
              <a:t>、单个螺栓受的轴向工作载荷 </a:t>
            </a:r>
            <a:r>
              <a:rPr lang="en-US" altLang="zh-CN" b="1" dirty="0">
                <a:solidFill>
                  <a:srgbClr val="FF0000"/>
                </a:solidFill>
                <a:latin typeface="宋体" panose="02010600030101010101" pitchFamily="2" charset="-122"/>
                <a:cs typeface="Times New Roman" panose="02020603050405020304" pitchFamily="18" charset="0"/>
              </a:rPr>
              <a:t>F</a:t>
            </a:r>
            <a:endParaRPr lang="en-US" altLang="zh-CN" b="1" dirty="0">
              <a:solidFill>
                <a:srgbClr val="FF0000"/>
              </a:solidFill>
              <a:latin typeface="宋体" panose="02010600030101010101" pitchFamily="2" charset="-122"/>
              <a:cs typeface="Times New Roman" panose="02020603050405020304" pitchFamily="18" charset="0"/>
            </a:endParaRPr>
          </a:p>
        </p:txBody>
      </p:sp>
      <p:grpSp>
        <p:nvGrpSpPr>
          <p:cNvPr id="1035" name="Group 9"/>
          <p:cNvGrpSpPr/>
          <p:nvPr/>
        </p:nvGrpSpPr>
        <p:grpSpPr bwMode="auto">
          <a:xfrm>
            <a:off x="314225" y="2134808"/>
            <a:ext cx="7289193" cy="576262"/>
            <a:chOff x="340" y="2488"/>
            <a:chExt cx="4541" cy="400"/>
          </a:xfrm>
        </p:grpSpPr>
        <p:graphicFrame>
          <p:nvGraphicFramePr>
            <p:cNvPr id="1030" name="Object 10"/>
            <p:cNvGraphicFramePr>
              <a:graphicFrameLocks noChangeAspect="1"/>
            </p:cNvGraphicFramePr>
            <p:nvPr/>
          </p:nvGraphicFramePr>
          <p:xfrm>
            <a:off x="2658" y="2488"/>
            <a:ext cx="2223" cy="400"/>
          </p:xfrm>
          <a:graphic>
            <a:graphicData uri="http://schemas.openxmlformats.org/presentationml/2006/ole">
              <mc:AlternateContent xmlns:mc="http://schemas.openxmlformats.org/markup-compatibility/2006">
                <mc:Choice xmlns:v="urn:schemas-microsoft-com:vml" Requires="v">
                  <p:oleObj spid="_x0000_s38113" name="公式" r:id="rId4" imgW="2095500" imgH="342900" progId="Equation.3">
                    <p:embed/>
                  </p:oleObj>
                </mc:Choice>
                <mc:Fallback>
                  <p:oleObj name="公式" r:id="rId4" imgW="2095500" imgH="342900" progId="Equation.3">
                    <p:embed/>
                    <p:pic>
                      <p:nvPicPr>
                        <p:cNvPr id="0" name="图片 381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8" y="2488"/>
                          <a:ext cx="2223" cy="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1" name="Rectangle 11"/>
            <p:cNvSpPr>
              <a:spLocks noChangeArrowheads="1"/>
            </p:cNvSpPr>
            <p:nvPr/>
          </p:nvSpPr>
          <p:spPr bwMode="auto">
            <a:xfrm>
              <a:off x="340" y="2586"/>
              <a:ext cx="2197"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a:r>
                <a:rPr lang="en-US" altLang="zh-CN" b="1" dirty="0">
                  <a:solidFill>
                    <a:schemeClr val="tx1"/>
                  </a:solidFill>
                </a:rPr>
                <a:t>(2) </a:t>
              </a:r>
              <a:r>
                <a:rPr lang="zh-CN" altLang="en-US" b="1" dirty="0">
                  <a:solidFill>
                    <a:schemeClr val="tx1"/>
                  </a:solidFill>
                </a:rPr>
                <a:t>单个螺栓所受工作载荷</a:t>
              </a:r>
              <a:endParaRPr lang="zh-CN" altLang="en-US" b="1" dirty="0">
                <a:solidFill>
                  <a:schemeClr val="tx1"/>
                </a:solidFill>
              </a:endParaRPr>
            </a:p>
          </p:txBody>
        </p:sp>
      </p:grpSp>
      <p:graphicFrame>
        <p:nvGraphicFramePr>
          <p:cNvPr id="343052" name="Object 12"/>
          <p:cNvGraphicFramePr>
            <a:graphicFrameLocks noChangeAspect="1"/>
          </p:cNvGraphicFramePr>
          <p:nvPr/>
        </p:nvGraphicFramePr>
        <p:xfrm>
          <a:off x="615783" y="3644800"/>
          <a:ext cx="4422775" cy="409575"/>
        </p:xfrm>
        <a:graphic>
          <a:graphicData uri="http://schemas.openxmlformats.org/presentationml/2006/ole">
            <mc:AlternateContent xmlns:mc="http://schemas.openxmlformats.org/markup-compatibility/2006">
              <mc:Choice xmlns:v="urn:schemas-microsoft-com:vml" Requires="v">
                <p:oleObj spid="_x0000_s38114" name="公式" r:id="rId6" imgW="60045600" imgH="5486400" progId="Equation.3">
                  <p:embed/>
                </p:oleObj>
              </mc:Choice>
              <mc:Fallback>
                <p:oleObj name="公式" r:id="rId6" imgW="60045600" imgH="5486400" progId="Equation.3">
                  <p:embed/>
                  <p:pic>
                    <p:nvPicPr>
                      <p:cNvPr id="0" name="图片 38113"/>
                      <p:cNvPicPr>
                        <a:picLocks noChangeAspect="1" noChangeArrowheads="1"/>
                      </p:cNvPicPr>
                      <p:nvPr/>
                    </p:nvPicPr>
                    <p:blipFill>
                      <a:blip r:embed="rId7"/>
                      <a:srcRect/>
                      <a:stretch>
                        <a:fillRect/>
                      </a:stretch>
                    </p:blipFill>
                    <p:spPr bwMode="auto">
                      <a:xfrm>
                        <a:off x="615783" y="3644800"/>
                        <a:ext cx="4422775"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343053" name="Rectangle 13"/>
              <p:cNvSpPr>
                <a:spLocks noChangeArrowheads="1"/>
              </p:cNvSpPr>
              <p:nvPr/>
            </p:nvSpPr>
            <p:spPr bwMode="auto">
              <a:xfrm>
                <a:off x="221615" y="3014345"/>
                <a:ext cx="8956040" cy="43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marL="457200" indent="-4572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a:r>
                  <a:rPr lang="en-US" altLang="zh-CN" b="1" dirty="0" smtClean="0">
                    <a:solidFill>
                      <a:srgbClr val="FF0000"/>
                    </a:solidFill>
                  </a:rPr>
                  <a:t>2</a:t>
                </a:r>
                <a:r>
                  <a:rPr lang="zh-CN" altLang="en-US" b="1" dirty="0">
                    <a:solidFill>
                      <a:srgbClr val="FF0000"/>
                    </a:solidFill>
                  </a:rPr>
                  <a:t>、确定所需残余预紧力（有紧密性</a:t>
                </a:r>
                <a:r>
                  <a:rPr lang="zh-CN" altLang="en-US" b="1" dirty="0" smtClean="0">
                    <a:solidFill>
                      <a:srgbClr val="FF0000"/>
                    </a:solidFill>
                  </a:rPr>
                  <a:t>要求</a:t>
                </a:r>
                <a14:m>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b="1" i="1" smtClean="0">
                            <a:solidFill>
                              <a:srgbClr val="FF0000"/>
                            </a:solidFill>
                            <a:latin typeface="Cambria Math" panose="02040503050406030204" pitchFamily="18" charset="0"/>
                          </a:rPr>
                          <m:t>𝑭</m:t>
                        </m:r>
                      </m:e>
                      <m:sub>
                        <m:r>
                          <a:rPr lang="en-US" altLang="zh-CN" b="1" i="1" smtClean="0">
                            <a:solidFill>
                              <a:srgbClr val="FF0000"/>
                            </a:solidFill>
                            <a:latin typeface="Cambria Math" panose="02040503050406030204" pitchFamily="18" charset="0"/>
                          </a:rPr>
                          <m:t>𝟏</m:t>
                        </m:r>
                      </m:sub>
                    </m:sSub>
                  </m:oMath>
                </a14:m>
                <a:r>
                  <a:rPr lang="en-US" altLang="zh-CN" b="1" dirty="0" smtClean="0">
                    <a:solidFill>
                      <a:srgbClr val="FF0000"/>
                    </a:solidFill>
                    <a:cs typeface="Times New Roman" panose="02020603050405020304" pitchFamily="18" charset="0"/>
                  </a:rPr>
                  <a:t>=</a:t>
                </a:r>
                <a:r>
                  <a:rPr lang="en-US" altLang="zh-CN" b="1" dirty="0" smtClean="0">
                    <a:solidFill>
                      <a:srgbClr val="FF0000"/>
                    </a:solidFill>
                  </a:rPr>
                  <a:t>1.5~1.8</a:t>
                </a:r>
                <a14:m>
                  <m:oMath xmlns:m="http://schemas.openxmlformats.org/officeDocument/2006/math">
                    <m:r>
                      <a:rPr lang="en-US" altLang="zh-CN" b="1" i="1" dirty="0" smtClean="0">
                        <a:solidFill>
                          <a:srgbClr val="FF0000"/>
                        </a:solidFill>
                        <a:latin typeface="Cambria Math" panose="02040503050406030204" pitchFamily="18" charset="0"/>
                      </a:rPr>
                      <m:t>𝑭</m:t>
                    </m:r>
                  </m:oMath>
                </a14:m>
                <a:r>
                  <a:rPr lang="zh-CN" altLang="en-US" b="1" dirty="0">
                    <a:solidFill>
                      <a:srgbClr val="FF0000"/>
                    </a:solidFill>
                  </a:rPr>
                  <a:t>）</a:t>
                </a:r>
                <a:r>
                  <a:rPr lang="zh-CN" altLang="en-US" dirty="0">
                    <a:solidFill>
                      <a:srgbClr val="FF0000"/>
                    </a:solidFill>
                  </a:rPr>
                  <a:t> </a:t>
                </a:r>
                <a:endParaRPr lang="zh-CN" altLang="en-US" dirty="0">
                  <a:solidFill>
                    <a:srgbClr val="FF0000"/>
                  </a:solidFill>
                </a:endParaRPr>
              </a:p>
            </p:txBody>
          </p:sp>
        </mc:Choice>
        <mc:Fallback>
          <p:sp>
            <p:nvSpPr>
              <p:cNvPr id="343053" name="Rectangle 13"/>
              <p:cNvSpPr>
                <a:spLocks noRot="1" noChangeAspect="1" noMove="1" noResize="1" noEditPoints="1" noAdjustHandles="1" noChangeArrowheads="1" noChangeShapeType="1" noTextEdit="1"/>
              </p:cNvSpPr>
              <p:nvPr/>
            </p:nvSpPr>
            <p:spPr bwMode="auto">
              <a:xfrm>
                <a:off x="221615" y="3014345"/>
                <a:ext cx="8956040" cy="431165"/>
              </a:xfrm>
              <a:prstGeom prst="rect">
                <a:avLst/>
              </a:prstGeom>
              <a:blipFill rotWithShape="1">
                <a:blip r:embed="rId8"/>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343054" name="Object 14"/>
          <p:cNvGraphicFramePr>
            <a:graphicFrameLocks noChangeAspect="1"/>
          </p:cNvGraphicFramePr>
          <p:nvPr/>
        </p:nvGraphicFramePr>
        <p:xfrm>
          <a:off x="836930" y="6170930"/>
          <a:ext cx="5001895" cy="426085"/>
        </p:xfrm>
        <a:graphic>
          <a:graphicData uri="http://schemas.openxmlformats.org/presentationml/2006/ole">
            <mc:AlternateContent xmlns:mc="http://schemas.openxmlformats.org/markup-compatibility/2006">
              <mc:Choice xmlns:v="urn:schemas-microsoft-com:vml" Requires="v">
                <p:oleObj spid="_x0000_s38115" name="公式" r:id="rId9" imgW="2438400" imgH="215900" progId="Equation.3">
                  <p:embed/>
                </p:oleObj>
              </mc:Choice>
              <mc:Fallback>
                <p:oleObj name="公式" r:id="rId9" imgW="2438400" imgH="215900" progId="Equation.3">
                  <p:embed/>
                  <p:pic>
                    <p:nvPicPr>
                      <p:cNvPr id="0" name="图片 38114"/>
                      <p:cNvPicPr>
                        <a:picLocks noChangeAspect="1" noChangeArrowheads="1"/>
                      </p:cNvPicPr>
                      <p:nvPr/>
                    </p:nvPicPr>
                    <p:blipFill>
                      <a:blip r:embed="rId10"/>
                      <a:srcRect/>
                      <a:stretch>
                        <a:fillRect/>
                      </a:stretch>
                    </p:blipFill>
                    <p:spPr bwMode="auto">
                      <a:xfrm>
                        <a:off x="836930" y="6170930"/>
                        <a:ext cx="5001895" cy="426085"/>
                      </a:xfrm>
                      <a:prstGeom prst="rect">
                        <a:avLst/>
                      </a:prstGeom>
                      <a:noFill/>
                    </p:spPr>
                  </p:pic>
                </p:oleObj>
              </mc:Fallback>
            </mc:AlternateContent>
          </a:graphicData>
        </a:graphic>
      </p:graphicFrame>
      <p:sp>
        <p:nvSpPr>
          <p:cNvPr id="343055" name="Rectangle 15"/>
          <p:cNvSpPr>
            <a:spLocks noChangeArrowheads="1"/>
          </p:cNvSpPr>
          <p:nvPr/>
        </p:nvSpPr>
        <p:spPr bwMode="auto">
          <a:xfrm>
            <a:off x="357187" y="5673410"/>
            <a:ext cx="3060181"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marL="457200" indent="-4572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a:r>
              <a:rPr lang="en-US" altLang="zh-CN" b="1" dirty="0">
                <a:solidFill>
                  <a:srgbClr val="FF0000"/>
                </a:solidFill>
                <a:latin typeface="宋体" panose="02010600030101010101" pitchFamily="2" charset="-122"/>
              </a:rPr>
              <a:t>4</a:t>
            </a:r>
            <a:r>
              <a:rPr lang="zh-CN" altLang="en-US" b="1" dirty="0">
                <a:solidFill>
                  <a:srgbClr val="FF0000"/>
                </a:solidFill>
                <a:latin typeface="宋体" panose="02010600030101010101" pitchFamily="2" charset="-122"/>
              </a:rPr>
              <a:t>、螺栓的总载荷</a:t>
            </a:r>
            <a:endParaRPr lang="zh-CN" altLang="en-US" b="1" dirty="0">
              <a:solidFill>
                <a:srgbClr val="FF0000"/>
              </a:solidFill>
              <a:latin typeface="宋体" panose="02010600030101010101" pitchFamily="2" charset="-122"/>
            </a:endParaRPr>
          </a:p>
        </p:txBody>
      </p:sp>
      <p:grpSp>
        <p:nvGrpSpPr>
          <p:cNvPr id="4" name="Group 16"/>
          <p:cNvGrpSpPr/>
          <p:nvPr/>
        </p:nvGrpSpPr>
        <p:grpSpPr bwMode="auto">
          <a:xfrm>
            <a:off x="221682" y="4069925"/>
            <a:ext cx="5381625" cy="822325"/>
            <a:chOff x="207" y="1491"/>
            <a:chExt cx="3390" cy="518"/>
          </a:xfrm>
        </p:grpSpPr>
        <p:graphicFrame>
          <p:nvGraphicFramePr>
            <p:cNvPr id="1029" name="Object 17"/>
            <p:cNvGraphicFramePr>
              <a:graphicFrameLocks noChangeAspect="1"/>
            </p:cNvGraphicFramePr>
            <p:nvPr/>
          </p:nvGraphicFramePr>
          <p:xfrm>
            <a:off x="2929" y="1607"/>
            <a:ext cx="668" cy="402"/>
          </p:xfrm>
          <a:graphic>
            <a:graphicData uri="http://schemas.openxmlformats.org/presentationml/2006/ole">
              <mc:AlternateContent xmlns:mc="http://schemas.openxmlformats.org/markup-compatibility/2006">
                <mc:Choice xmlns:v="urn:schemas-microsoft-com:vml" Requires="v">
                  <p:oleObj spid="_x0000_s38116" name="公式" r:id="rId11" imgW="850900" imgH="431800" progId="Equation.3">
                    <p:embed/>
                  </p:oleObj>
                </mc:Choice>
                <mc:Fallback>
                  <p:oleObj name="公式" r:id="rId11" imgW="850900" imgH="431800" progId="Equation.3">
                    <p:embed/>
                    <p:pic>
                      <p:nvPicPr>
                        <p:cNvPr id="0" name="图片 38115"/>
                        <p:cNvPicPr>
                          <a:picLocks noChangeAspect="1" noChangeArrowheads="1"/>
                        </p:cNvPicPr>
                        <p:nvPr/>
                      </p:nvPicPr>
                      <p:blipFill>
                        <a:blip r:embed="rId12"/>
                        <a:srcRect/>
                        <a:stretch>
                          <a:fillRect/>
                        </a:stretch>
                      </p:blipFill>
                      <p:spPr bwMode="auto">
                        <a:xfrm>
                          <a:off x="2929" y="1607"/>
                          <a:ext cx="668" cy="402"/>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1040" name="Rectangle 18"/>
                <p:cNvSpPr>
                  <a:spLocks noChangeArrowheads="1"/>
                </p:cNvSpPr>
                <p:nvPr/>
              </p:nvSpPr>
              <p:spPr bwMode="auto">
                <a:xfrm>
                  <a:off x="207" y="1491"/>
                  <a:ext cx="3383"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marL="457200" indent="-4572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smtClean="0">
                      <a:solidFill>
                        <a:srgbClr val="FF0000"/>
                      </a:solidFill>
                    </a:rPr>
                    <a:t>3</a:t>
                  </a:r>
                  <a:r>
                    <a:rPr lang="zh-CN" altLang="en-US" b="1" dirty="0">
                      <a:solidFill>
                        <a:srgbClr val="FF0000"/>
                      </a:solidFill>
                    </a:rPr>
                    <a:t>、保证</a:t>
                  </a:r>
                  <a14:m>
                    <m:oMath xmlns:m="http://schemas.openxmlformats.org/officeDocument/2006/math">
                      <m:sSub>
                        <m:sSubPr>
                          <m:ctrlPr>
                            <a:rPr lang="en-US" altLang="zh-CN" b="1" i="1" dirty="0" smtClean="0">
                              <a:solidFill>
                                <a:srgbClr val="FF0000"/>
                              </a:solidFill>
                              <a:latin typeface="Cambria Math" panose="02040503050406030204" pitchFamily="18" charset="0"/>
                            </a:rPr>
                          </m:ctrlPr>
                        </m:sSubPr>
                        <m:e>
                          <m:r>
                            <a:rPr lang="en-US" altLang="zh-CN" b="1" i="1" dirty="0" smtClean="0">
                              <a:solidFill>
                                <a:srgbClr val="FF0000"/>
                              </a:solidFill>
                              <a:latin typeface="Cambria Math" panose="02040503050406030204" pitchFamily="18" charset="0"/>
                            </a:rPr>
                            <m:t>𝑭</m:t>
                          </m:r>
                        </m:e>
                        <m:sub>
                          <m:r>
                            <a:rPr lang="en-US" altLang="zh-CN" b="1" i="1" dirty="0" smtClean="0">
                              <a:solidFill>
                                <a:srgbClr val="FF0000"/>
                              </a:solidFill>
                              <a:latin typeface="Cambria Math" panose="02040503050406030204" pitchFamily="18" charset="0"/>
                            </a:rPr>
                            <m:t>𝟏</m:t>
                          </m:r>
                        </m:sub>
                      </m:sSub>
                    </m:oMath>
                  </a14:m>
                  <a:r>
                    <a:rPr lang="zh-CN" altLang="en-US" b="1" dirty="0" smtClean="0">
                      <a:solidFill>
                        <a:srgbClr val="FF0000"/>
                      </a:solidFill>
                    </a:rPr>
                    <a:t>所</a:t>
                  </a:r>
                  <a:r>
                    <a:rPr lang="zh-CN" altLang="en-US" b="1" dirty="0">
                      <a:solidFill>
                        <a:srgbClr val="FF0000"/>
                      </a:solidFill>
                    </a:rPr>
                    <a:t>需的预紧</a:t>
                  </a:r>
                  <a:r>
                    <a:rPr lang="zh-CN" altLang="en-US" b="1" dirty="0" smtClean="0">
                      <a:solidFill>
                        <a:srgbClr val="FF0000"/>
                      </a:solidFill>
                    </a:rPr>
                    <a:t>力</a:t>
                  </a:r>
                  <a14:m>
                    <m:oMath xmlns:m="http://schemas.openxmlformats.org/officeDocument/2006/math">
                      <m:sSub>
                        <m:sSubPr>
                          <m:ctrlPr>
                            <a:rPr lang="en-US" altLang="zh-CN" b="1" i="1" dirty="0" smtClean="0">
                              <a:solidFill>
                                <a:srgbClr val="FF0000"/>
                              </a:solidFill>
                              <a:latin typeface="Cambria Math" panose="02040503050406030204" pitchFamily="18" charset="0"/>
                            </a:rPr>
                          </m:ctrlPr>
                        </m:sSubPr>
                        <m:e>
                          <m:r>
                            <a:rPr lang="en-US" altLang="zh-CN" b="1" i="1" dirty="0" smtClean="0">
                              <a:solidFill>
                                <a:srgbClr val="FF0000"/>
                              </a:solidFill>
                              <a:latin typeface="Cambria Math" panose="02040503050406030204" pitchFamily="18" charset="0"/>
                            </a:rPr>
                            <m:t>𝑭</m:t>
                          </m:r>
                        </m:e>
                        <m:sub>
                          <m:r>
                            <a:rPr lang="en-US" altLang="zh-CN" b="1" i="1" dirty="0" smtClean="0">
                              <a:solidFill>
                                <a:srgbClr val="FF0000"/>
                              </a:solidFill>
                              <a:latin typeface="Cambria Math" panose="02040503050406030204" pitchFamily="18" charset="0"/>
                            </a:rPr>
                            <m:t>𝟎</m:t>
                          </m:r>
                        </m:sub>
                      </m:sSub>
                    </m:oMath>
                  </a14:m>
                  <a:endParaRPr lang="en-US" altLang="zh-CN" dirty="0">
                    <a:solidFill>
                      <a:srgbClr val="FF0000"/>
                    </a:solidFill>
                  </a:endParaRPr>
                </a:p>
                <a:p>
                  <a:pPr algn="l" eaLnBrk="1" hangingPunct="1"/>
                  <a:r>
                    <a:rPr lang="zh-CN" altLang="en-US" b="1" dirty="0" smtClean="0">
                      <a:solidFill>
                        <a:schemeClr val="tx1"/>
                      </a:solidFill>
                    </a:rPr>
                    <a:t>        铜</a:t>
                  </a:r>
                  <a:r>
                    <a:rPr lang="zh-CN" altLang="en-US" b="1" dirty="0">
                      <a:solidFill>
                        <a:schemeClr val="tx1"/>
                      </a:solidFill>
                    </a:rPr>
                    <a:t>皮石棉垫片时，相对刚度</a:t>
                  </a:r>
                  <a:endParaRPr lang="zh-CN" altLang="en-US" b="1" dirty="0">
                    <a:solidFill>
                      <a:schemeClr val="tx1"/>
                    </a:solidFill>
                  </a:endParaRPr>
                </a:p>
              </p:txBody>
            </p:sp>
          </mc:Choice>
          <mc:Fallback>
            <p:sp>
              <p:nvSpPr>
                <p:cNvPr id="1040" name="Rectangle 18"/>
                <p:cNvSpPr>
                  <a:spLocks noRot="1" noChangeAspect="1" noMove="1" noResize="1" noEditPoints="1" noAdjustHandles="1" noChangeArrowheads="1" noChangeShapeType="1" noTextEdit="1"/>
                </p:cNvSpPr>
                <p:nvPr/>
              </p:nvSpPr>
              <p:spPr bwMode="auto">
                <a:xfrm>
                  <a:off x="207" y="1491"/>
                  <a:ext cx="3383" cy="486"/>
                </a:xfrm>
                <a:prstGeom prst="rect">
                  <a:avLst/>
                </a:prstGeom>
                <a:blipFill rotWithShape="1">
                  <a:blip r:embed="rId13"/>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graphicFrame>
        <p:nvGraphicFramePr>
          <p:cNvPr id="343059" name="Object 19"/>
          <p:cNvGraphicFramePr>
            <a:graphicFrameLocks noChangeAspect="1"/>
          </p:cNvGraphicFramePr>
          <p:nvPr/>
        </p:nvGraphicFramePr>
        <p:xfrm>
          <a:off x="758190" y="4898390"/>
          <a:ext cx="6283325" cy="785495"/>
        </p:xfrm>
        <a:graphic>
          <a:graphicData uri="http://schemas.openxmlformats.org/presentationml/2006/ole">
            <mc:AlternateContent xmlns:mc="http://schemas.openxmlformats.org/markup-compatibility/2006">
              <mc:Choice xmlns:v="urn:schemas-microsoft-com:vml" Requires="v">
                <p:oleObj spid="_x0000_s38117" name="公式" r:id="rId14" imgW="3771900" imgH="431800" progId="Equation.3">
                  <p:embed/>
                </p:oleObj>
              </mc:Choice>
              <mc:Fallback>
                <p:oleObj name="公式" r:id="rId14" imgW="3771900" imgH="431800" progId="Equation.3">
                  <p:embed/>
                  <p:pic>
                    <p:nvPicPr>
                      <p:cNvPr id="0" name="图片 38116"/>
                      <p:cNvPicPr>
                        <a:picLocks noChangeAspect="1" noChangeArrowheads="1"/>
                      </p:cNvPicPr>
                      <p:nvPr/>
                    </p:nvPicPr>
                    <p:blipFill>
                      <a:blip r:embed="rId15"/>
                      <a:srcRect/>
                      <a:stretch>
                        <a:fillRect/>
                      </a:stretch>
                    </p:blipFill>
                    <p:spPr bwMode="auto">
                      <a:xfrm>
                        <a:off x="758190" y="4898390"/>
                        <a:ext cx="6283325" cy="785495"/>
                      </a:xfrm>
                      <a:prstGeom prst="rect">
                        <a:avLst/>
                      </a:prstGeom>
                      <a:noFill/>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4"/>
                                        </p:tgtEl>
                                        <p:attrNameLst>
                                          <p:attrName>style.visibility</p:attrName>
                                        </p:attrNameLst>
                                      </p:cBhvr>
                                      <p:to>
                                        <p:strVal val="visible"/>
                                      </p:to>
                                    </p:set>
                                    <p:animEffect transition="in" filter="wipe(left)">
                                      <p:cBhvr>
                                        <p:cTn id="7" dur="500"/>
                                        <p:tgtEl>
                                          <p:spTgt spid="10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33"/>
                                        </p:tgtEl>
                                        <p:attrNameLst>
                                          <p:attrName>style.visibility</p:attrName>
                                        </p:attrNameLst>
                                      </p:cBhvr>
                                      <p:to>
                                        <p:strVal val="visible"/>
                                      </p:to>
                                    </p:set>
                                    <p:animEffect transition="in" filter="wipe(left)">
                                      <p:cBhvr>
                                        <p:cTn id="12" dur="500"/>
                                        <p:tgtEl>
                                          <p:spTgt spid="10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35"/>
                                        </p:tgtEl>
                                        <p:attrNameLst>
                                          <p:attrName>style.visibility</p:attrName>
                                        </p:attrNameLst>
                                      </p:cBhvr>
                                      <p:to>
                                        <p:strVal val="visible"/>
                                      </p:to>
                                    </p:set>
                                    <p:animEffect transition="in" filter="wipe(left)">
                                      <p:cBhvr>
                                        <p:cTn id="17" dur="500"/>
                                        <p:tgtEl>
                                          <p:spTgt spid="10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43053"/>
                                        </p:tgtEl>
                                        <p:attrNameLst>
                                          <p:attrName>style.visibility</p:attrName>
                                        </p:attrNameLst>
                                      </p:cBhvr>
                                      <p:to>
                                        <p:strVal val="visible"/>
                                      </p:to>
                                    </p:set>
                                    <p:animEffect transition="in" filter="wipe(up)">
                                      <p:cBhvr>
                                        <p:cTn id="22" dur="1000"/>
                                        <p:tgtEl>
                                          <p:spTgt spid="343053"/>
                                        </p:tgtEl>
                                      </p:cBhvr>
                                    </p:animEffec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343052"/>
                                        </p:tgtEl>
                                        <p:attrNameLst>
                                          <p:attrName>style.visibility</p:attrName>
                                        </p:attrNameLst>
                                      </p:cBhvr>
                                      <p:to>
                                        <p:strVal val="visible"/>
                                      </p:to>
                                    </p:set>
                                    <p:animEffect transition="in" filter="wipe(up)">
                                      <p:cBhvr>
                                        <p:cTn id="26" dur="1000"/>
                                        <p:tgtEl>
                                          <p:spTgt spid="34305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up)">
                                      <p:cBhvr>
                                        <p:cTn id="31" dur="1000"/>
                                        <p:tgtEl>
                                          <p:spTgt spid="4"/>
                                        </p:tgtEl>
                                      </p:cBhvr>
                                    </p:animEffect>
                                  </p:childTnLst>
                                </p:cTn>
                              </p:par>
                            </p:childTnLst>
                          </p:cTn>
                        </p:par>
                        <p:par>
                          <p:cTn id="32" fill="hold">
                            <p:stCondLst>
                              <p:cond delay="1000"/>
                            </p:stCondLst>
                            <p:childTnLst>
                              <p:par>
                                <p:cTn id="33" presetID="22" presetClass="entr" presetSubtype="1" fill="hold" nodeType="afterEffect">
                                  <p:stCondLst>
                                    <p:cond delay="0"/>
                                  </p:stCondLst>
                                  <p:childTnLst>
                                    <p:set>
                                      <p:cBhvr>
                                        <p:cTn id="34" dur="1" fill="hold">
                                          <p:stCondLst>
                                            <p:cond delay="0"/>
                                          </p:stCondLst>
                                        </p:cTn>
                                        <p:tgtEl>
                                          <p:spTgt spid="343059"/>
                                        </p:tgtEl>
                                        <p:attrNameLst>
                                          <p:attrName>style.visibility</p:attrName>
                                        </p:attrNameLst>
                                      </p:cBhvr>
                                      <p:to>
                                        <p:strVal val="visible"/>
                                      </p:to>
                                    </p:set>
                                    <p:animEffect transition="in" filter="wipe(up)">
                                      <p:cBhvr>
                                        <p:cTn id="35" dur="1000"/>
                                        <p:tgtEl>
                                          <p:spTgt spid="34305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343055"/>
                                        </p:tgtEl>
                                        <p:attrNameLst>
                                          <p:attrName>style.visibility</p:attrName>
                                        </p:attrNameLst>
                                      </p:cBhvr>
                                      <p:to>
                                        <p:strVal val="visible"/>
                                      </p:to>
                                    </p:set>
                                    <p:animEffect transition="in" filter="wipe(up)">
                                      <p:cBhvr>
                                        <p:cTn id="40" dur="1000"/>
                                        <p:tgtEl>
                                          <p:spTgt spid="343055"/>
                                        </p:tgtEl>
                                      </p:cBhvr>
                                    </p:animEffect>
                                  </p:childTnLst>
                                </p:cTn>
                              </p:par>
                            </p:childTnLst>
                          </p:cTn>
                        </p:par>
                        <p:par>
                          <p:cTn id="41" fill="hold">
                            <p:stCondLst>
                              <p:cond delay="1000"/>
                            </p:stCondLst>
                            <p:childTnLst>
                              <p:par>
                                <p:cTn id="42" presetID="22" presetClass="entr" presetSubtype="1" fill="hold" nodeType="afterEffect">
                                  <p:stCondLst>
                                    <p:cond delay="0"/>
                                  </p:stCondLst>
                                  <p:childTnLst>
                                    <p:set>
                                      <p:cBhvr>
                                        <p:cTn id="43" dur="1" fill="hold">
                                          <p:stCondLst>
                                            <p:cond delay="0"/>
                                          </p:stCondLst>
                                        </p:cTn>
                                        <p:tgtEl>
                                          <p:spTgt spid="343054"/>
                                        </p:tgtEl>
                                        <p:attrNameLst>
                                          <p:attrName>style.visibility</p:attrName>
                                        </p:attrNameLst>
                                      </p:cBhvr>
                                      <p:to>
                                        <p:strVal val="visible"/>
                                      </p:to>
                                    </p:set>
                                    <p:animEffect transition="in" filter="wipe(up)">
                                      <p:cBhvr>
                                        <p:cTn id="44" dur="1000"/>
                                        <p:tgtEl>
                                          <p:spTgt spid="343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53" grpId="0" bldLvl="0" animBg="1"/>
      <p:bldP spid="343055" grpId="0"/>
      <p:bldP spid="103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7"/>
          <p:cNvGraphicFramePr>
            <a:graphicFrameLocks noChangeAspect="1"/>
          </p:cNvGraphicFramePr>
          <p:nvPr/>
        </p:nvGraphicFramePr>
        <p:xfrm>
          <a:off x="776404" y="1872925"/>
          <a:ext cx="3887788" cy="384175"/>
        </p:xfrm>
        <a:graphic>
          <a:graphicData uri="http://schemas.openxmlformats.org/presentationml/2006/ole">
            <mc:AlternateContent xmlns:mc="http://schemas.openxmlformats.org/markup-compatibility/2006">
              <mc:Choice xmlns:v="urn:schemas-microsoft-com:vml" Requires="v">
                <p:oleObj spid="_x0000_s39118" name="公式" r:id="rId1" imgW="2413000" imgH="228600" progId="Equation.3">
                  <p:embed/>
                </p:oleObj>
              </mc:Choice>
              <mc:Fallback>
                <p:oleObj name="公式" r:id="rId1" imgW="2413000" imgH="228600" progId="Equation.3">
                  <p:embed/>
                  <p:pic>
                    <p:nvPicPr>
                      <p:cNvPr id="0" name="图片 391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404" y="1872925"/>
                        <a:ext cx="3887788"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6"/>
          <p:cNvGraphicFramePr>
            <a:graphicFrameLocks noChangeAspect="1"/>
          </p:cNvGraphicFramePr>
          <p:nvPr/>
        </p:nvGraphicFramePr>
        <p:xfrm>
          <a:off x="755567" y="1464437"/>
          <a:ext cx="3816350" cy="360363"/>
        </p:xfrm>
        <a:graphic>
          <a:graphicData uri="http://schemas.openxmlformats.org/presentationml/2006/ole">
            <mc:AlternateContent xmlns:mc="http://schemas.openxmlformats.org/markup-compatibility/2006">
              <mc:Choice xmlns:v="urn:schemas-microsoft-com:vml" Requires="v">
                <p:oleObj spid="_x0000_s39119" name="公式" r:id="rId3" imgW="2311400" imgH="215900" progId="Equation.3">
                  <p:embed/>
                </p:oleObj>
              </mc:Choice>
              <mc:Fallback>
                <p:oleObj name="公式" r:id="rId3" imgW="2311400" imgH="215900" progId="Equation.3">
                  <p:embed/>
                  <p:pic>
                    <p:nvPicPr>
                      <p:cNvPr id="0" name="图片 391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67" y="1464437"/>
                        <a:ext cx="3816350"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4"/>
          <p:cNvGraphicFramePr>
            <a:graphicFrameLocks noChangeAspect="1"/>
          </p:cNvGraphicFramePr>
          <p:nvPr/>
        </p:nvGraphicFramePr>
        <p:xfrm>
          <a:off x="1623929" y="2736933"/>
          <a:ext cx="3041316" cy="649287"/>
        </p:xfrm>
        <a:graphic>
          <a:graphicData uri="http://schemas.openxmlformats.org/presentationml/2006/ole">
            <mc:AlternateContent xmlns:mc="http://schemas.openxmlformats.org/markup-compatibility/2006">
              <mc:Choice xmlns:v="urn:schemas-microsoft-com:vml" Requires="v">
                <p:oleObj spid="_x0000_s39120" name="公式" r:id="rId5" imgW="51511200" imgH="9753600" progId="Equation.3">
                  <p:embed/>
                </p:oleObj>
              </mc:Choice>
              <mc:Fallback>
                <p:oleObj name="公式" r:id="rId5" imgW="51511200" imgH="9753600" progId="Equation.3">
                  <p:embed/>
                  <p:pic>
                    <p:nvPicPr>
                      <p:cNvPr id="0" name="图片 39119"/>
                      <p:cNvPicPr>
                        <a:picLocks noChangeAspect="1" noChangeArrowheads="1"/>
                      </p:cNvPicPr>
                      <p:nvPr/>
                    </p:nvPicPr>
                    <p:blipFill>
                      <a:blip r:embed="rId6"/>
                      <a:srcRect/>
                      <a:stretch>
                        <a:fillRect/>
                      </a:stretch>
                    </p:blipFill>
                    <p:spPr bwMode="auto">
                      <a:xfrm>
                        <a:off x="1623929" y="2736933"/>
                        <a:ext cx="3041316" cy="649287"/>
                      </a:xfrm>
                      <a:prstGeom prst="rect">
                        <a:avLst/>
                      </a:prstGeom>
                      <a:noFill/>
                    </p:spPr>
                  </p:pic>
                </p:oleObj>
              </mc:Fallback>
            </mc:AlternateContent>
          </a:graphicData>
        </a:graphic>
      </p:graphicFrame>
      <p:sp>
        <p:nvSpPr>
          <p:cNvPr id="2056" name="Rectangle 8"/>
          <p:cNvSpPr>
            <a:spLocks noChangeArrowheads="1"/>
          </p:cNvSpPr>
          <p:nvPr/>
        </p:nvSpPr>
        <p:spPr bwMode="auto">
          <a:xfrm>
            <a:off x="314910" y="553355"/>
            <a:ext cx="8617334"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0000FF"/>
                </a:solidFill>
                <a:latin typeface="宋体" panose="02010600030101010101" pitchFamily="2" charset="-122"/>
                <a:cs typeface="Times New Roman" panose="02020603050405020304" pitchFamily="18" charset="0"/>
              </a:rPr>
              <a:t>三、计算螺栓直径</a:t>
            </a:r>
            <a:endParaRPr lang="zh-CN" altLang="en-US" dirty="0">
              <a:solidFill>
                <a:srgbClr val="0000FF"/>
              </a:solidFill>
              <a:latin typeface="宋体" panose="02010600030101010101" pitchFamily="2" charset="-122"/>
            </a:endParaRPr>
          </a:p>
          <a:p>
            <a:pPr algn="l"/>
            <a:r>
              <a:rPr lang="en-US" altLang="zh-CN" b="1" dirty="0">
                <a:solidFill>
                  <a:srgbClr val="FF0000"/>
                </a:solidFill>
                <a:latin typeface="宋体" panose="02010600030101010101" pitchFamily="2" charset="-122"/>
                <a:cs typeface="Times New Roman" panose="02020603050405020304" pitchFamily="18" charset="0"/>
              </a:rPr>
              <a:t>1.</a:t>
            </a:r>
            <a:r>
              <a:rPr lang="zh-CN" altLang="en-US" b="1" dirty="0">
                <a:solidFill>
                  <a:srgbClr val="FF0000"/>
                </a:solidFill>
                <a:latin typeface="宋体" panose="02010600030101010101" pitchFamily="2" charset="-122"/>
                <a:cs typeface="Times New Roman" panose="02020603050405020304" pitchFamily="18" charset="0"/>
              </a:rPr>
              <a:t>确定许用应力</a:t>
            </a:r>
            <a:r>
              <a:rPr lang="en-US" altLang="zh-CN" b="1" dirty="0">
                <a:solidFill>
                  <a:srgbClr val="FF0000"/>
                </a:solidFill>
                <a:latin typeface="宋体" panose="02010600030101010101" pitchFamily="2" charset="-122"/>
                <a:cs typeface="Times New Roman" panose="02020603050405020304" pitchFamily="18" charset="0"/>
              </a:rPr>
              <a:t>:  </a:t>
            </a:r>
            <a:r>
              <a:rPr lang="zh-CN" altLang="en-US" b="1" dirty="0">
                <a:solidFill>
                  <a:srgbClr val="FF0000"/>
                </a:solidFill>
                <a:latin typeface="宋体" panose="02010600030101010101" pitchFamily="2" charset="-122"/>
                <a:cs typeface="Times New Roman" panose="02020603050405020304" pitchFamily="18" charset="0"/>
              </a:rPr>
              <a:t>采用六角头螺栓（</a:t>
            </a:r>
            <a:r>
              <a:rPr lang="en-US" altLang="zh-CN" b="1" dirty="0">
                <a:solidFill>
                  <a:srgbClr val="FF0000"/>
                </a:solidFill>
                <a:latin typeface="宋体" panose="02010600030101010101" pitchFamily="2" charset="-122"/>
                <a:cs typeface="Times New Roman" panose="02020603050405020304" pitchFamily="18" charset="0"/>
              </a:rPr>
              <a:t>GB5782-2000</a:t>
            </a:r>
            <a:r>
              <a:rPr lang="zh-CN" altLang="en-US" b="1" dirty="0">
                <a:solidFill>
                  <a:srgbClr val="FF0000"/>
                </a:solidFill>
                <a:latin typeface="宋体" panose="02010600030101010101" pitchFamily="2" charset="-122"/>
                <a:cs typeface="Times New Roman" panose="02020603050405020304" pitchFamily="18" charset="0"/>
              </a:rPr>
              <a:t>）</a:t>
            </a:r>
            <a:r>
              <a:rPr lang="en-US" altLang="zh-CN" b="1" dirty="0">
                <a:solidFill>
                  <a:srgbClr val="FF0000"/>
                </a:solidFill>
                <a:latin typeface="宋体" panose="02010600030101010101" pitchFamily="2" charset="-122"/>
                <a:cs typeface="Times New Roman" panose="02020603050405020304" pitchFamily="18" charset="0"/>
              </a:rPr>
              <a:t>,</a:t>
            </a:r>
            <a:r>
              <a:rPr lang="zh-CN" altLang="en-US" b="1" dirty="0">
                <a:solidFill>
                  <a:srgbClr val="FF0000"/>
                </a:solidFill>
                <a:latin typeface="宋体" panose="02010600030101010101" pitchFamily="2" charset="-122"/>
                <a:cs typeface="Times New Roman" panose="02020603050405020304" pitchFamily="18" charset="0"/>
              </a:rPr>
              <a:t>性能等级</a:t>
            </a:r>
            <a:r>
              <a:rPr lang="en-US" altLang="zh-CN" b="1" dirty="0">
                <a:solidFill>
                  <a:srgbClr val="FF0000"/>
                </a:solidFill>
                <a:latin typeface="宋体" panose="02010600030101010101" pitchFamily="2" charset="-122"/>
                <a:cs typeface="Times New Roman" panose="02020603050405020304" pitchFamily="18" charset="0"/>
              </a:rPr>
              <a:t>8.8</a:t>
            </a:r>
            <a:endParaRPr lang="en-US" altLang="zh-CN" b="1" dirty="0">
              <a:solidFill>
                <a:srgbClr val="FF0000"/>
              </a:solidFill>
              <a:latin typeface="宋体" panose="02010600030101010101" pitchFamily="2" charset="-122"/>
              <a:cs typeface="Times New Roman" panose="02020603050405020304" pitchFamily="18" charset="0"/>
            </a:endParaRPr>
          </a:p>
        </p:txBody>
      </p:sp>
      <p:sp>
        <p:nvSpPr>
          <p:cNvPr id="2057" name="Rectangle 10"/>
          <p:cNvSpPr>
            <a:spLocks noChangeArrowheads="1"/>
          </p:cNvSpPr>
          <p:nvPr/>
        </p:nvSpPr>
        <p:spPr bwMode="auto">
          <a:xfrm>
            <a:off x="468313" y="2304650"/>
            <a:ext cx="8675687" cy="43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按最大应力计算时的许用应力（</a:t>
            </a:r>
            <a:r>
              <a:rPr lang="zh-CN" altLang="en-US" b="1" dirty="0" smtClean="0">
                <a:solidFill>
                  <a:schemeClr val="tx1"/>
                </a:solidFill>
                <a:latin typeface="宋体" panose="02010600030101010101" pitchFamily="2" charset="-122"/>
                <a:cs typeface="Times New Roman" panose="02020603050405020304" pitchFamily="18" charset="0"/>
              </a:rPr>
              <a:t>表</a:t>
            </a:r>
            <a:r>
              <a:rPr lang="en-US" altLang="zh-CN" b="1" dirty="0" smtClean="0">
                <a:solidFill>
                  <a:schemeClr val="tx1"/>
                </a:solidFill>
                <a:latin typeface="宋体" panose="02010600030101010101" pitchFamily="2" charset="-122"/>
                <a:cs typeface="Times New Roman" panose="02020603050405020304" pitchFamily="18" charset="0"/>
              </a:rPr>
              <a:t>2.3</a:t>
            </a:r>
            <a:r>
              <a:rPr lang="en-US" altLang="zh-CN" b="1" dirty="0" smtClean="0">
                <a:solidFill>
                  <a:schemeClr val="tx1"/>
                </a:solidFill>
                <a:latin typeface="宋体" panose="02010600030101010101" pitchFamily="2" charset="-122"/>
                <a:cs typeface="Times New Roman" panose="02020603050405020304" pitchFamily="18" charset="0"/>
              </a:rPr>
              <a:t>-9</a:t>
            </a:r>
            <a:r>
              <a:rPr lang="zh-CN" altLang="en-US" b="1" dirty="0" smtClean="0">
                <a:solidFill>
                  <a:schemeClr val="tx1"/>
                </a:solidFill>
                <a:latin typeface="宋体" panose="02010600030101010101" pitchFamily="2" charset="-122"/>
                <a:cs typeface="Times New Roman" panose="02020603050405020304" pitchFamily="18" charset="0"/>
              </a:rPr>
              <a:t>）</a:t>
            </a:r>
            <a:r>
              <a:rPr lang="en-US" altLang="zh-CN" b="1" dirty="0">
                <a:solidFill>
                  <a:schemeClr val="tx1"/>
                </a:solidFill>
                <a:latin typeface="宋体" panose="02010600030101010101" pitchFamily="2" charset="-122"/>
                <a:cs typeface="Times New Roman" panose="02020603050405020304" pitchFamily="18" charset="0"/>
              </a:rPr>
              <a:t>,</a:t>
            </a:r>
            <a:r>
              <a:rPr lang="zh-CN" altLang="en-US" b="1" dirty="0">
                <a:solidFill>
                  <a:schemeClr val="tx1"/>
                </a:solidFill>
                <a:latin typeface="宋体" panose="02010600030101010101" pitchFamily="2" charset="-122"/>
                <a:cs typeface="Times New Roman" panose="02020603050405020304" pitchFamily="18" charset="0"/>
              </a:rPr>
              <a:t>取安全系数：</a:t>
            </a:r>
            <a:r>
              <a:rPr lang="en-US" altLang="zh-CN" b="1" dirty="0">
                <a:solidFill>
                  <a:schemeClr val="tx1"/>
                </a:solidFill>
                <a:latin typeface="宋体" panose="02010600030101010101" pitchFamily="2" charset="-122"/>
                <a:cs typeface="Times New Roman" panose="02020603050405020304" pitchFamily="18" charset="0"/>
              </a:rPr>
              <a:t>S=1.5</a:t>
            </a:r>
            <a:endParaRPr lang="en-US" altLang="zh-CN" dirty="0">
              <a:solidFill>
                <a:schemeClr val="tx1"/>
              </a:solidFill>
              <a:latin typeface="宋体" panose="02010600030101010101" pitchFamily="2" charset="-122"/>
            </a:endParaRPr>
          </a:p>
        </p:txBody>
      </p:sp>
      <p:graphicFrame>
        <p:nvGraphicFramePr>
          <p:cNvPr id="320526" name="Object 14"/>
          <p:cNvGraphicFramePr>
            <a:graphicFrameLocks noChangeAspect="1"/>
          </p:cNvGraphicFramePr>
          <p:nvPr/>
        </p:nvGraphicFramePr>
        <p:xfrm>
          <a:off x="1270635" y="3957955"/>
          <a:ext cx="5050790" cy="873760"/>
        </p:xfrm>
        <a:graphic>
          <a:graphicData uri="http://schemas.openxmlformats.org/presentationml/2006/ole">
            <mc:AlternateContent xmlns:mc="http://schemas.openxmlformats.org/markup-compatibility/2006">
              <mc:Choice xmlns:v="urn:schemas-microsoft-com:vml" Requires="v">
                <p:oleObj spid="_x0000_s39121" name="公式" r:id="rId7" imgW="2870200" imgH="495300" progId="Equation.3">
                  <p:embed/>
                </p:oleObj>
              </mc:Choice>
              <mc:Fallback>
                <p:oleObj name="公式" r:id="rId7" imgW="2870200" imgH="495300" progId="Equation.3">
                  <p:embed/>
                  <p:pic>
                    <p:nvPicPr>
                      <p:cNvPr id="0" name="图片 39120"/>
                      <p:cNvPicPr>
                        <a:picLocks noChangeAspect="1" noChangeArrowheads="1"/>
                      </p:cNvPicPr>
                      <p:nvPr/>
                    </p:nvPicPr>
                    <p:blipFill>
                      <a:blip r:embed="rId8"/>
                      <a:srcRect/>
                      <a:stretch>
                        <a:fillRect/>
                      </a:stretch>
                    </p:blipFill>
                    <p:spPr bwMode="auto">
                      <a:xfrm>
                        <a:off x="1270635" y="3957955"/>
                        <a:ext cx="5050790" cy="8737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0527" name="Rectangle 15"/>
          <p:cNvSpPr>
            <a:spLocks noChangeArrowheads="1"/>
          </p:cNvSpPr>
          <p:nvPr/>
        </p:nvSpPr>
        <p:spPr bwMode="auto">
          <a:xfrm>
            <a:off x="395288" y="3468848"/>
            <a:ext cx="295275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sz="2400" b="1" dirty="0">
                <a:solidFill>
                  <a:srgbClr val="FF0000"/>
                </a:solidFill>
                <a:latin typeface="宋体" panose="02010600030101010101" pitchFamily="2" charset="-122"/>
                <a:cs typeface="Times New Roman" panose="02020603050405020304" pitchFamily="18" charset="0"/>
              </a:rPr>
              <a:t>2.</a:t>
            </a:r>
            <a:r>
              <a:rPr lang="zh-CN" altLang="en-US" sz="2400" b="1" dirty="0">
                <a:solidFill>
                  <a:srgbClr val="FF0000"/>
                </a:solidFill>
                <a:latin typeface="宋体" panose="02010600030101010101" pitchFamily="2" charset="-122"/>
                <a:cs typeface="Times New Roman" panose="02020603050405020304" pitchFamily="18" charset="0"/>
              </a:rPr>
              <a:t>计算螺栓直径</a:t>
            </a:r>
            <a:endParaRPr lang="zh-CN" altLang="en-US" sz="2400" b="1" dirty="0">
              <a:solidFill>
                <a:srgbClr val="FF0000"/>
              </a:solidFill>
              <a:latin typeface="宋体" panose="02010600030101010101" pitchFamily="2" charset="-122"/>
              <a:cs typeface="Times New Roman" panose="02020603050405020304" pitchFamily="18" charset="0"/>
            </a:endParaRPr>
          </a:p>
        </p:txBody>
      </p:sp>
      <p:grpSp>
        <p:nvGrpSpPr>
          <p:cNvPr id="2" name="Group 69"/>
          <p:cNvGrpSpPr/>
          <p:nvPr/>
        </p:nvGrpSpPr>
        <p:grpSpPr bwMode="auto">
          <a:xfrm>
            <a:off x="755567" y="5043932"/>
            <a:ext cx="4535487" cy="1193800"/>
            <a:chOff x="385" y="2372"/>
            <a:chExt cx="2857" cy="752"/>
          </a:xfrm>
        </p:grpSpPr>
        <p:graphicFrame>
          <p:nvGraphicFramePr>
            <p:cNvPr id="2054" name="Object 13"/>
            <p:cNvGraphicFramePr>
              <a:graphicFrameLocks noChangeAspect="1"/>
            </p:cNvGraphicFramePr>
            <p:nvPr/>
          </p:nvGraphicFramePr>
          <p:xfrm>
            <a:off x="430" y="2651"/>
            <a:ext cx="2767" cy="224"/>
          </p:xfrm>
          <a:graphic>
            <a:graphicData uri="http://schemas.openxmlformats.org/presentationml/2006/ole">
              <mc:AlternateContent xmlns:mc="http://schemas.openxmlformats.org/markup-compatibility/2006">
                <mc:Choice xmlns:v="urn:schemas-microsoft-com:vml" Requires="v">
                  <p:oleObj spid="_x0000_s39122" name="公式" r:id="rId9" imgW="2819400" imgH="228600" progId="Equation.3">
                    <p:embed/>
                  </p:oleObj>
                </mc:Choice>
                <mc:Fallback>
                  <p:oleObj name="公式" r:id="rId9" imgW="2819400" imgH="228600" progId="Equation.3">
                    <p:embed/>
                    <p:pic>
                      <p:nvPicPr>
                        <p:cNvPr id="0" name="图片 391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0" y="2651"/>
                          <a:ext cx="2767" cy="2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5" name="Object 12"/>
            <p:cNvGraphicFramePr>
              <a:graphicFrameLocks noChangeAspect="1"/>
            </p:cNvGraphicFramePr>
            <p:nvPr/>
          </p:nvGraphicFramePr>
          <p:xfrm>
            <a:off x="385" y="2889"/>
            <a:ext cx="2857" cy="235"/>
          </p:xfrm>
          <a:graphic>
            <a:graphicData uri="http://schemas.openxmlformats.org/presentationml/2006/ole">
              <mc:AlternateContent xmlns:mc="http://schemas.openxmlformats.org/markup-compatibility/2006">
                <mc:Choice xmlns:v="urn:schemas-microsoft-com:vml" Requires="v">
                  <p:oleObj spid="_x0000_s39123" name="公式" r:id="rId11" imgW="2768600" imgH="228600" progId="Equation.3">
                    <p:embed/>
                  </p:oleObj>
                </mc:Choice>
                <mc:Fallback>
                  <p:oleObj name="公式" r:id="rId11" imgW="2768600" imgH="228600" progId="Equation.3">
                    <p:embed/>
                    <p:pic>
                      <p:nvPicPr>
                        <p:cNvPr id="0" name="图片 391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5" y="2889"/>
                          <a:ext cx="2857" cy="2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60" name="Rectangle 16"/>
            <p:cNvSpPr>
              <a:spLocks noChangeArrowheads="1"/>
            </p:cNvSpPr>
            <p:nvPr/>
          </p:nvSpPr>
          <p:spPr bwMode="auto">
            <a:xfrm>
              <a:off x="430" y="2372"/>
              <a:ext cx="2808"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查标准，得到当螺栓大径：</a:t>
              </a:r>
              <a:endParaRPr lang="zh-CN" altLang="en-US" dirty="0">
                <a:solidFill>
                  <a:schemeClr val="tx1"/>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0527"/>
                                        </p:tgtEl>
                                        <p:attrNameLst>
                                          <p:attrName>style.visibility</p:attrName>
                                        </p:attrNameLst>
                                      </p:cBhvr>
                                      <p:to>
                                        <p:strVal val="visible"/>
                                      </p:to>
                                    </p:set>
                                    <p:animEffect transition="in" filter="wipe(up)">
                                      <p:cBhvr>
                                        <p:cTn id="7" dur="1000"/>
                                        <p:tgtEl>
                                          <p:spTgt spid="32052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320526"/>
                                        </p:tgtEl>
                                        <p:attrNameLst>
                                          <p:attrName>style.visibility</p:attrName>
                                        </p:attrNameLst>
                                      </p:cBhvr>
                                      <p:to>
                                        <p:strVal val="visible"/>
                                      </p:to>
                                    </p:set>
                                    <p:animEffect transition="in" filter="wipe(up)">
                                      <p:cBhvr>
                                        <p:cTn id="11" dur="1000"/>
                                        <p:tgtEl>
                                          <p:spTgt spid="3205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2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4" name="Rectangle 13"/>
          <p:cNvSpPr>
            <a:spLocks noChangeArrowheads="1"/>
          </p:cNvSpPr>
          <p:nvPr/>
        </p:nvSpPr>
        <p:spPr bwMode="auto">
          <a:xfrm>
            <a:off x="472290" y="212385"/>
            <a:ext cx="4032250"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0000FF"/>
                </a:solidFill>
                <a:latin typeface="宋体" panose="02010600030101010101" pitchFamily="2" charset="-122"/>
                <a:cs typeface="Times New Roman" panose="02020603050405020304" pitchFamily="18" charset="0"/>
              </a:rPr>
              <a:t>四、验算螺栓疲劳强度</a:t>
            </a:r>
            <a:endParaRPr lang="zh-CN" altLang="en-US" dirty="0">
              <a:solidFill>
                <a:schemeClr val="tx1"/>
              </a:solidFill>
              <a:latin typeface="宋体" panose="02010600030101010101" pitchFamily="2" charset="-122"/>
            </a:endParaRPr>
          </a:p>
          <a:p>
            <a:pPr algn="l"/>
            <a:r>
              <a:rPr lang="en-US" altLang="zh-CN" b="1" dirty="0">
                <a:solidFill>
                  <a:srgbClr val="FF0000"/>
                </a:solidFill>
                <a:latin typeface="宋体" panose="02010600030101010101" pitchFamily="2" charset="-122"/>
                <a:cs typeface="Times New Roman" panose="02020603050405020304" pitchFamily="18" charset="0"/>
              </a:rPr>
              <a:t>1.</a:t>
            </a:r>
            <a:r>
              <a:rPr lang="zh-CN" altLang="en-US" b="1" dirty="0">
                <a:solidFill>
                  <a:srgbClr val="FF0000"/>
                </a:solidFill>
                <a:latin typeface="宋体" panose="02010600030101010101" pitchFamily="2" charset="-122"/>
                <a:cs typeface="Times New Roman" panose="02020603050405020304" pitchFamily="18" charset="0"/>
              </a:rPr>
              <a:t>螺栓所受拉力幅变化量</a:t>
            </a:r>
            <a:r>
              <a:rPr lang="el-GR" altLang="zh-CN" b="1" dirty="0">
                <a:solidFill>
                  <a:srgbClr val="FF0000"/>
                </a:solidFill>
                <a:latin typeface="宋体" panose="02010600030101010101" pitchFamily="2" charset="-122"/>
                <a:cs typeface="Times New Roman" panose="02020603050405020304" pitchFamily="18" charset="0"/>
              </a:rPr>
              <a:t>Δ</a:t>
            </a:r>
            <a:r>
              <a:rPr lang="en-US" altLang="zh-CN" b="1" dirty="0">
                <a:solidFill>
                  <a:srgbClr val="FF0000"/>
                </a:solidFill>
                <a:latin typeface="宋体" panose="02010600030101010101" pitchFamily="2" charset="-122"/>
                <a:cs typeface="Times New Roman" panose="02020603050405020304" pitchFamily="18" charset="0"/>
              </a:rPr>
              <a:t>F</a:t>
            </a:r>
            <a:endParaRPr lang="en-US" altLang="zh-CN" b="1" dirty="0">
              <a:solidFill>
                <a:srgbClr val="FF0000"/>
              </a:solidFill>
              <a:latin typeface="宋体" panose="02010600030101010101" pitchFamily="2" charset="-122"/>
              <a:cs typeface="Times New Roman" panose="02020603050405020304" pitchFamily="18" charset="0"/>
            </a:endParaRPr>
          </a:p>
        </p:txBody>
      </p:sp>
      <p:sp>
        <p:nvSpPr>
          <p:cNvPr id="3085" name="Rectangle 14"/>
          <p:cNvSpPr>
            <a:spLocks noChangeArrowheads="1"/>
          </p:cNvSpPr>
          <p:nvPr/>
        </p:nvSpPr>
        <p:spPr bwMode="auto">
          <a:xfrm>
            <a:off x="827990" y="1613737"/>
            <a:ext cx="2952750"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工作载荷波动：</a:t>
            </a:r>
            <a:r>
              <a:rPr lang="en-US" altLang="zh-CN" b="1" dirty="0">
                <a:solidFill>
                  <a:schemeClr val="tx1"/>
                </a:solidFill>
                <a:latin typeface="宋体" panose="02010600030101010101" pitchFamily="2" charset="-122"/>
                <a:cs typeface="Times New Roman" panose="02020603050405020304" pitchFamily="18" charset="0"/>
              </a:rPr>
              <a:t>0~F</a:t>
            </a:r>
            <a:endParaRPr lang="en-US" altLang="zh-CN" dirty="0">
              <a:solidFill>
                <a:schemeClr val="tx1"/>
              </a:solidFill>
              <a:latin typeface="宋体" panose="02010600030101010101" pitchFamily="2" charset="-122"/>
            </a:endParaRPr>
          </a:p>
        </p:txBody>
      </p:sp>
      <p:sp>
        <p:nvSpPr>
          <p:cNvPr id="3086" name="Rectangle 15"/>
          <p:cNvSpPr>
            <a:spLocks noChangeArrowheads="1"/>
          </p:cNvSpPr>
          <p:nvPr/>
        </p:nvSpPr>
        <p:spPr bwMode="auto">
          <a:xfrm>
            <a:off x="925446" y="2077889"/>
            <a:ext cx="3313112"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螺栓拉力波动</a:t>
            </a:r>
            <a:r>
              <a:rPr lang="zh-CN" altLang="en-US" b="1" dirty="0" smtClean="0">
                <a:solidFill>
                  <a:schemeClr val="tx1"/>
                </a:solidFill>
                <a:latin typeface="宋体" panose="02010600030101010101" pitchFamily="2" charset="-122"/>
                <a:cs typeface="Times New Roman" panose="02020603050405020304" pitchFamily="18" charset="0"/>
              </a:rPr>
              <a:t>：</a:t>
            </a:r>
            <a:r>
              <a:rPr lang="en-US" altLang="zh-CN" b="1" dirty="0" smtClean="0">
                <a:solidFill>
                  <a:schemeClr val="tx1"/>
                </a:solidFill>
                <a:latin typeface="宋体" panose="02010600030101010101" pitchFamily="2" charset="-122"/>
                <a:cs typeface="Times New Roman" panose="02020603050405020304" pitchFamily="18" charset="0"/>
              </a:rPr>
              <a:t>F</a:t>
            </a:r>
            <a:r>
              <a:rPr lang="en-US" altLang="zh-CN" b="1" baseline="-25000" dirty="0" smtClean="0">
                <a:solidFill>
                  <a:schemeClr val="tx1"/>
                </a:solidFill>
                <a:latin typeface="宋体" panose="02010600030101010101" pitchFamily="2" charset="-122"/>
                <a:cs typeface="Times New Roman" panose="02020603050405020304" pitchFamily="18" charset="0"/>
              </a:rPr>
              <a:t>0</a:t>
            </a:r>
            <a:r>
              <a:rPr lang="en-US" altLang="zh-CN" b="1" dirty="0" smtClean="0">
                <a:solidFill>
                  <a:schemeClr val="tx1"/>
                </a:solidFill>
                <a:latin typeface="宋体" panose="02010600030101010101" pitchFamily="2" charset="-122"/>
                <a:cs typeface="Times New Roman" panose="02020603050405020304" pitchFamily="18" charset="0"/>
              </a:rPr>
              <a:t>~F2</a:t>
            </a:r>
            <a:endParaRPr lang="en-US" altLang="zh-CN" dirty="0">
              <a:solidFill>
                <a:schemeClr val="tx1"/>
              </a:solidFill>
              <a:latin typeface="宋体" panose="02010600030101010101" pitchFamily="2" charset="-122"/>
            </a:endParaRPr>
          </a:p>
        </p:txBody>
      </p:sp>
      <p:grpSp>
        <p:nvGrpSpPr>
          <p:cNvPr id="3087" name="Group 74"/>
          <p:cNvGrpSpPr/>
          <p:nvPr/>
        </p:nvGrpSpPr>
        <p:grpSpPr bwMode="auto">
          <a:xfrm>
            <a:off x="456902" y="2604578"/>
            <a:ext cx="7076678" cy="812800"/>
            <a:chOff x="330" y="782"/>
            <a:chExt cx="4258" cy="512"/>
          </a:xfrm>
        </p:grpSpPr>
        <p:graphicFrame>
          <p:nvGraphicFramePr>
            <p:cNvPr id="3083" name="Object 9"/>
            <p:cNvGraphicFramePr>
              <a:graphicFrameLocks noChangeAspect="1"/>
            </p:cNvGraphicFramePr>
            <p:nvPr/>
          </p:nvGraphicFramePr>
          <p:xfrm>
            <a:off x="1747" y="798"/>
            <a:ext cx="2841" cy="496"/>
          </p:xfrm>
          <a:graphic>
            <a:graphicData uri="http://schemas.openxmlformats.org/presentationml/2006/ole">
              <mc:AlternateContent xmlns:mc="http://schemas.openxmlformats.org/markup-compatibility/2006">
                <mc:Choice xmlns:v="urn:schemas-microsoft-com:vml" Requires="v">
                  <p:oleObj spid="_x0000_s40148" name="公式" r:id="rId1" imgW="2920365" imgH="431800" progId="Equation.3">
                    <p:embed/>
                  </p:oleObj>
                </mc:Choice>
                <mc:Fallback>
                  <p:oleObj name="公式" r:id="rId1" imgW="2920365" imgH="431800" progId="Equation.3">
                    <p:embed/>
                    <p:pic>
                      <p:nvPicPr>
                        <p:cNvPr id="0" name="图片 40147"/>
                        <p:cNvPicPr>
                          <a:picLocks noChangeAspect="1" noChangeArrowheads="1"/>
                        </p:cNvPicPr>
                        <p:nvPr/>
                      </p:nvPicPr>
                      <p:blipFill>
                        <a:blip r:embed="rId2"/>
                        <a:srcRect/>
                        <a:stretch>
                          <a:fillRect/>
                        </a:stretch>
                      </p:blipFill>
                      <p:spPr bwMode="auto">
                        <a:xfrm>
                          <a:off x="1747" y="798"/>
                          <a:ext cx="2841" cy="4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40" name="Rectangle 16"/>
            <p:cNvSpPr>
              <a:spLocks noChangeArrowheads="1"/>
            </p:cNvSpPr>
            <p:nvPr/>
          </p:nvSpPr>
          <p:spPr bwMode="auto">
            <a:xfrm>
              <a:off x="330" y="782"/>
              <a:ext cx="1544"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螺栓拉力变化量：</a:t>
              </a:r>
              <a:endParaRPr lang="zh-CN" altLang="en-US" dirty="0">
                <a:solidFill>
                  <a:schemeClr val="tx1"/>
                </a:solidFill>
                <a:latin typeface="宋体" panose="02010600030101010101" pitchFamily="2" charset="-122"/>
              </a:endParaRPr>
            </a:p>
          </p:txBody>
        </p:sp>
      </p:grpSp>
      <p:sp>
        <p:nvSpPr>
          <p:cNvPr id="321553" name="Rectangle 17"/>
          <p:cNvSpPr>
            <a:spLocks noChangeArrowheads="1"/>
          </p:cNvSpPr>
          <p:nvPr/>
        </p:nvSpPr>
        <p:spPr bwMode="auto">
          <a:xfrm>
            <a:off x="362585" y="3595688"/>
            <a:ext cx="8383270" cy="43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rgbClr val="FF0000"/>
                </a:solidFill>
                <a:latin typeface="宋体" panose="02010600030101010101" pitchFamily="2" charset="-122"/>
                <a:cs typeface="Times New Roman" panose="02020603050405020304" pitchFamily="18" charset="0"/>
              </a:rPr>
              <a:t>2.</a:t>
            </a:r>
            <a:r>
              <a:rPr lang="zh-CN" altLang="en-US" b="1" dirty="0">
                <a:solidFill>
                  <a:srgbClr val="FF0000"/>
                </a:solidFill>
                <a:latin typeface="宋体" panose="02010600030101010101" pitchFamily="2" charset="-122"/>
                <a:cs typeface="Times New Roman" panose="02020603050405020304" pitchFamily="18" charset="0"/>
              </a:rPr>
              <a:t>螺栓许用应力幅</a:t>
            </a:r>
            <a:r>
              <a:rPr lang="zh-CN" altLang="en-US" b="1" dirty="0">
                <a:solidFill>
                  <a:schemeClr val="tx1"/>
                </a:solidFill>
                <a:latin typeface="宋体" panose="02010600030101010101" pitchFamily="2" charset="-122"/>
                <a:cs typeface="Times New Roman" panose="02020603050405020304" pitchFamily="18" charset="0"/>
              </a:rPr>
              <a:t> 由</a:t>
            </a:r>
            <a:r>
              <a:rPr lang="zh-CN" altLang="en-US" b="1" dirty="0" smtClean="0">
                <a:solidFill>
                  <a:schemeClr val="tx1"/>
                </a:solidFill>
                <a:latin typeface="宋体" panose="02010600030101010101" pitchFamily="2" charset="-122"/>
                <a:cs typeface="Times New Roman" panose="02020603050405020304" pitchFamily="18" charset="0"/>
              </a:rPr>
              <a:t>表</a:t>
            </a:r>
            <a:r>
              <a:rPr lang="en-US" altLang="zh-CN" b="1" dirty="0" smtClean="0">
                <a:solidFill>
                  <a:schemeClr val="tx1"/>
                </a:solidFill>
                <a:latin typeface="宋体" panose="02010600030101010101" pitchFamily="2" charset="-122"/>
                <a:cs typeface="Times New Roman" panose="02020603050405020304" pitchFamily="18" charset="0"/>
              </a:rPr>
              <a:t>2.3</a:t>
            </a:r>
            <a:r>
              <a:rPr lang="en-US" altLang="zh-CN" b="1" dirty="0" smtClean="0">
                <a:solidFill>
                  <a:schemeClr val="tx1"/>
                </a:solidFill>
                <a:latin typeface="宋体" panose="02010600030101010101" pitchFamily="2" charset="-122"/>
                <a:cs typeface="Times New Roman" panose="02020603050405020304" pitchFamily="18" charset="0"/>
              </a:rPr>
              <a:t>-9,</a:t>
            </a:r>
            <a:r>
              <a:rPr lang="zh-CN" altLang="en-US" b="1" dirty="0">
                <a:solidFill>
                  <a:schemeClr val="tx1"/>
                </a:solidFill>
                <a:latin typeface="宋体" panose="02010600030101010101" pitchFamily="2" charset="-122"/>
                <a:cs typeface="Times New Roman" panose="02020603050405020304" pitchFamily="18" charset="0"/>
              </a:rPr>
              <a:t>取应力幅计算安全系数 </a:t>
            </a:r>
            <a:r>
              <a:rPr lang="en-US" altLang="zh-CN" b="1" dirty="0" smtClean="0">
                <a:solidFill>
                  <a:schemeClr val="tx1"/>
                </a:solidFill>
                <a:latin typeface="宋体" panose="02010600030101010101" pitchFamily="2" charset="-122"/>
                <a:cs typeface="Times New Roman" panose="02020603050405020304" pitchFamily="18" charset="0"/>
              </a:rPr>
              <a:t>S</a:t>
            </a:r>
            <a:r>
              <a:rPr lang="en-US" altLang="zh-CN" b="1" baseline="-25000" dirty="0" smtClean="0">
                <a:solidFill>
                  <a:schemeClr val="tx1"/>
                </a:solidFill>
                <a:latin typeface="宋体" panose="02010600030101010101" pitchFamily="2" charset="-122"/>
                <a:cs typeface="Times New Roman" panose="02020603050405020304" pitchFamily="18" charset="0"/>
              </a:rPr>
              <a:t>a</a:t>
            </a:r>
            <a:r>
              <a:rPr lang="en-US" altLang="zh-CN" b="1" dirty="0" smtClean="0">
                <a:solidFill>
                  <a:schemeClr val="tx1"/>
                </a:solidFill>
                <a:latin typeface="宋体" panose="02010600030101010101" pitchFamily="2" charset="-122"/>
                <a:cs typeface="Times New Roman" panose="02020603050405020304" pitchFamily="18" charset="0"/>
              </a:rPr>
              <a:t>=2.5</a:t>
            </a:r>
            <a:endParaRPr lang="en-US" altLang="zh-CN" dirty="0">
              <a:solidFill>
                <a:schemeClr val="tx1"/>
              </a:solidFill>
              <a:latin typeface="宋体" panose="02010600030101010101" pitchFamily="2" charset="-122"/>
            </a:endParaRPr>
          </a:p>
        </p:txBody>
      </p:sp>
      <p:grpSp>
        <p:nvGrpSpPr>
          <p:cNvPr id="3" name="Group 75"/>
          <p:cNvGrpSpPr/>
          <p:nvPr/>
        </p:nvGrpSpPr>
        <p:grpSpPr bwMode="auto">
          <a:xfrm>
            <a:off x="385312" y="4205436"/>
            <a:ext cx="7617113" cy="431083"/>
            <a:chOff x="268" y="1685"/>
            <a:chExt cx="4866" cy="276"/>
          </a:xfrm>
        </p:grpSpPr>
        <p:graphicFrame>
          <p:nvGraphicFramePr>
            <p:cNvPr id="3082" name="Object 7"/>
            <p:cNvGraphicFramePr>
              <a:graphicFrameLocks noChangeAspect="1"/>
            </p:cNvGraphicFramePr>
            <p:nvPr/>
          </p:nvGraphicFramePr>
          <p:xfrm>
            <a:off x="3138" y="1701"/>
            <a:ext cx="1996" cy="244"/>
          </p:xfrm>
          <a:graphic>
            <a:graphicData uri="http://schemas.openxmlformats.org/presentationml/2006/ole">
              <mc:AlternateContent xmlns:mc="http://schemas.openxmlformats.org/markup-compatibility/2006">
                <mc:Choice xmlns:v="urn:schemas-microsoft-com:vml" Requires="v">
                  <p:oleObj spid="_x0000_s40149" name="公式" r:id="rId3" imgW="1866900" imgH="228600" progId="Equation.3">
                    <p:embed/>
                  </p:oleObj>
                </mc:Choice>
                <mc:Fallback>
                  <p:oleObj name="公式" r:id="rId3" imgW="1866900" imgH="228600" progId="Equation.3">
                    <p:embed/>
                    <p:pic>
                      <p:nvPicPr>
                        <p:cNvPr id="0" name="图片 401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8" y="1701"/>
                          <a:ext cx="1996"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39" name="Rectangle 18"/>
            <p:cNvSpPr>
              <a:spLocks noChangeArrowheads="1"/>
            </p:cNvSpPr>
            <p:nvPr/>
          </p:nvSpPr>
          <p:spPr bwMode="auto">
            <a:xfrm>
              <a:off x="268" y="1685"/>
              <a:ext cx="280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smtClean="0">
                  <a:solidFill>
                    <a:schemeClr val="tx1"/>
                  </a:solidFill>
                  <a:latin typeface="宋体" panose="02010600030101010101" pitchFamily="2" charset="-122"/>
                  <a:cs typeface="Times New Roman" panose="02020603050405020304" pitchFamily="18" charset="0"/>
                </a:rPr>
                <a:t>由附表</a:t>
              </a:r>
              <a:r>
                <a:rPr lang="en-US" altLang="zh-CN" b="1" dirty="0" smtClean="0">
                  <a:solidFill>
                    <a:schemeClr val="tx1"/>
                  </a:solidFill>
                  <a:latin typeface="宋体" panose="02010600030101010101" pitchFamily="2" charset="-122"/>
                  <a:cs typeface="Times New Roman" panose="02020603050405020304" pitchFamily="18" charset="0"/>
                </a:rPr>
                <a:t>1.</a:t>
              </a:r>
              <a:r>
                <a:rPr lang="en-US" altLang="zh-CN" b="1" dirty="0" smtClean="0">
                  <a:solidFill>
                    <a:schemeClr val="tx1"/>
                  </a:solidFill>
                  <a:latin typeface="宋体" panose="02010600030101010101" pitchFamily="2" charset="-122"/>
                  <a:cs typeface="Times New Roman" panose="02020603050405020304" pitchFamily="18" charset="0"/>
                </a:rPr>
                <a:t>3-6,</a:t>
              </a:r>
              <a:r>
                <a:rPr lang="zh-CN" altLang="en-US" b="1" dirty="0">
                  <a:solidFill>
                    <a:schemeClr val="tx1"/>
                  </a:solidFill>
                  <a:latin typeface="宋体" panose="02010600030101010101" pitchFamily="2" charset="-122"/>
                  <a:cs typeface="Times New Roman" panose="02020603050405020304" pitchFamily="18" charset="0"/>
                </a:rPr>
                <a:t>取有效应力集中系数 </a:t>
              </a:r>
              <a:endParaRPr lang="zh-CN" altLang="en-US" dirty="0">
                <a:solidFill>
                  <a:schemeClr val="tx1"/>
                </a:solidFill>
                <a:latin typeface="宋体" panose="02010600030101010101" pitchFamily="2" charset="-122"/>
              </a:endParaRPr>
            </a:p>
          </p:txBody>
        </p:sp>
      </p:grpSp>
      <p:grpSp>
        <p:nvGrpSpPr>
          <p:cNvPr id="4" name="Group 76"/>
          <p:cNvGrpSpPr/>
          <p:nvPr/>
        </p:nvGrpSpPr>
        <p:grpSpPr bwMode="auto">
          <a:xfrm>
            <a:off x="441960" y="4732020"/>
            <a:ext cx="4248436" cy="457200"/>
            <a:chOff x="249" y="1994"/>
            <a:chExt cx="2278" cy="288"/>
          </a:xfrm>
        </p:grpSpPr>
        <p:graphicFrame>
          <p:nvGraphicFramePr>
            <p:cNvPr id="3081" name="Object 6"/>
            <p:cNvGraphicFramePr>
              <a:graphicFrameLocks noChangeAspect="1"/>
            </p:cNvGraphicFramePr>
            <p:nvPr/>
          </p:nvGraphicFramePr>
          <p:xfrm>
            <a:off x="2064" y="1994"/>
            <a:ext cx="463" cy="288"/>
          </p:xfrm>
          <a:graphic>
            <a:graphicData uri="http://schemas.openxmlformats.org/presentationml/2006/ole">
              <mc:AlternateContent xmlns:mc="http://schemas.openxmlformats.org/markup-compatibility/2006">
                <mc:Choice xmlns:v="urn:schemas-microsoft-com:vml" Requires="v">
                  <p:oleObj spid="_x0000_s40150" name="公式" r:id="rId5" imgW="11887200" imgH="5791200" progId="Equation.3">
                    <p:embed/>
                  </p:oleObj>
                </mc:Choice>
                <mc:Fallback>
                  <p:oleObj name="公式" r:id="rId5" imgW="11887200" imgH="5791200" progId="Equation.3">
                    <p:embed/>
                    <p:pic>
                      <p:nvPicPr>
                        <p:cNvPr id="0" name="图片 40149"/>
                        <p:cNvPicPr>
                          <a:picLocks noChangeAspect="1" noChangeArrowheads="1"/>
                        </p:cNvPicPr>
                        <p:nvPr/>
                      </p:nvPicPr>
                      <p:blipFill>
                        <a:blip r:embed="rId6"/>
                        <a:srcRect/>
                        <a:stretch>
                          <a:fillRect/>
                        </a:stretch>
                      </p:blipFill>
                      <p:spPr bwMode="auto">
                        <a:xfrm>
                          <a:off x="2064" y="1994"/>
                          <a:ext cx="463"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38" name="Rectangle 19"/>
            <p:cNvSpPr>
              <a:spLocks noChangeArrowheads="1"/>
            </p:cNvSpPr>
            <p:nvPr/>
          </p:nvSpPr>
          <p:spPr bwMode="auto">
            <a:xfrm>
              <a:off x="249" y="2010"/>
              <a:ext cx="20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smtClean="0">
                  <a:solidFill>
                    <a:schemeClr val="tx1"/>
                  </a:solidFill>
                  <a:latin typeface="宋体" panose="02010600030101010101" pitchFamily="2" charset="-122"/>
                  <a:cs typeface="Times New Roman" panose="02020603050405020304" pitchFamily="18" charset="0"/>
                </a:rPr>
                <a:t>由附表</a:t>
              </a:r>
              <a:r>
                <a:rPr lang="en-US" altLang="zh-CN" b="1" dirty="0" smtClean="0">
                  <a:solidFill>
                    <a:schemeClr val="tx1"/>
                  </a:solidFill>
                  <a:latin typeface="宋体" panose="02010600030101010101" pitchFamily="2" charset="-122"/>
                  <a:cs typeface="Times New Roman" panose="02020603050405020304" pitchFamily="18" charset="0"/>
                </a:rPr>
                <a:t>1.</a:t>
              </a:r>
              <a:r>
                <a:rPr lang="en-US" altLang="zh-CN" b="1" dirty="0" smtClean="0">
                  <a:solidFill>
                    <a:schemeClr val="tx1"/>
                  </a:solidFill>
                  <a:latin typeface="宋体" panose="02010600030101010101" pitchFamily="2" charset="-122"/>
                  <a:cs typeface="Times New Roman" panose="02020603050405020304" pitchFamily="18" charset="0"/>
                </a:rPr>
                <a:t>3-7,</a:t>
              </a:r>
              <a:r>
                <a:rPr lang="zh-CN" altLang="en-US" b="1" dirty="0">
                  <a:solidFill>
                    <a:schemeClr val="tx1"/>
                  </a:solidFill>
                  <a:latin typeface="宋体" panose="02010600030101010101" pitchFamily="2" charset="-122"/>
                  <a:cs typeface="Times New Roman" panose="02020603050405020304" pitchFamily="18" charset="0"/>
                </a:rPr>
                <a:t>取尺寸系数 </a:t>
              </a:r>
              <a:endParaRPr lang="zh-CN" altLang="en-US" dirty="0">
                <a:solidFill>
                  <a:schemeClr val="tx1"/>
                </a:solidFill>
                <a:latin typeface="宋体" panose="02010600030101010101" pitchFamily="2" charset="-122"/>
              </a:endParaRPr>
            </a:p>
          </p:txBody>
        </p:sp>
      </p:grpSp>
      <p:graphicFrame>
        <p:nvGraphicFramePr>
          <p:cNvPr id="321541" name="Object 5"/>
          <p:cNvGraphicFramePr>
            <a:graphicFrameLocks noChangeAspect="1"/>
          </p:cNvGraphicFramePr>
          <p:nvPr/>
        </p:nvGraphicFramePr>
        <p:xfrm>
          <a:off x="1078230" y="6029960"/>
          <a:ext cx="6066790" cy="431800"/>
        </p:xfrm>
        <a:graphic>
          <a:graphicData uri="http://schemas.openxmlformats.org/presentationml/2006/ole">
            <mc:AlternateContent xmlns:mc="http://schemas.openxmlformats.org/markup-compatibility/2006">
              <mc:Choice xmlns:v="urn:schemas-microsoft-com:vml" Requires="v">
                <p:oleObj spid="_x0000_s40151" name="公式" r:id="rId7" imgW="3288665" imgH="228600" progId="Equation.3">
                  <p:embed/>
                </p:oleObj>
              </mc:Choice>
              <mc:Fallback>
                <p:oleObj name="公式" r:id="rId7" imgW="3288665" imgH="228600" progId="Equation.3">
                  <p:embed/>
                  <p:pic>
                    <p:nvPicPr>
                      <p:cNvPr id="0" name="图片 40150"/>
                      <p:cNvPicPr>
                        <a:picLocks noChangeAspect="1" noChangeArrowheads="1"/>
                      </p:cNvPicPr>
                      <p:nvPr/>
                    </p:nvPicPr>
                    <p:blipFill>
                      <a:blip r:embed="rId8"/>
                      <a:srcRect/>
                      <a:stretch>
                        <a:fillRect/>
                      </a:stretch>
                    </p:blipFill>
                    <p:spPr bwMode="auto">
                      <a:xfrm>
                        <a:off x="1078230" y="6029960"/>
                        <a:ext cx="606679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1556" name="Rectangle 20"/>
          <p:cNvSpPr>
            <a:spLocks noChangeArrowheads="1"/>
          </p:cNvSpPr>
          <p:nvPr/>
        </p:nvSpPr>
        <p:spPr bwMode="auto">
          <a:xfrm>
            <a:off x="424165" y="5393357"/>
            <a:ext cx="4176711"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拉压对称循环疲劳极限：</a:t>
            </a:r>
            <a:endParaRPr lang="zh-CN" altLang="en-US" dirty="0">
              <a:solidFill>
                <a:schemeClr val="tx1"/>
              </a:solidFill>
              <a:latin typeface="宋体" panose="02010600030101010101" pitchFamily="2" charset="-122"/>
            </a:endParaRPr>
          </a:p>
        </p:txBody>
      </p:sp>
      <p:sp>
        <p:nvSpPr>
          <p:cNvPr id="3093" name="Rectangle 73"/>
          <p:cNvSpPr>
            <a:spLocks noChangeArrowheads="1"/>
          </p:cNvSpPr>
          <p:nvPr/>
        </p:nvSpPr>
        <p:spPr bwMode="auto">
          <a:xfrm>
            <a:off x="414539" y="977985"/>
            <a:ext cx="3887787"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a:r>
              <a:rPr lang="zh-CN" altLang="en-US" b="1" dirty="0">
                <a:solidFill>
                  <a:schemeClr val="tx1"/>
                </a:solidFill>
                <a:latin typeface="宋体" panose="02010600030101010101" pitchFamily="2" charset="-122"/>
                <a:cs typeface="Times New Roman" panose="02020603050405020304" pitchFamily="18" charset="0"/>
              </a:rPr>
              <a:t>工作汽压波动：</a:t>
            </a:r>
            <a:r>
              <a:rPr lang="en-US" altLang="zh-CN" b="1" dirty="0">
                <a:solidFill>
                  <a:schemeClr val="tx1"/>
                </a:solidFill>
                <a:latin typeface="宋体" panose="02010600030101010101" pitchFamily="2" charset="-122"/>
                <a:cs typeface="Times New Roman" panose="02020603050405020304" pitchFamily="18" charset="0"/>
              </a:rPr>
              <a:t>p=0~0.89 </a:t>
            </a:r>
            <a:r>
              <a:rPr lang="en-US" altLang="zh-CN" b="1" dirty="0" err="1">
                <a:solidFill>
                  <a:schemeClr val="tx1"/>
                </a:solidFill>
                <a:latin typeface="宋体" panose="02010600030101010101" pitchFamily="2" charset="-122"/>
                <a:cs typeface="Times New Roman" panose="02020603050405020304" pitchFamily="18" charset="0"/>
              </a:rPr>
              <a:t>MPa</a:t>
            </a:r>
            <a:endParaRPr lang="en-US" altLang="zh-CN" dirty="0">
              <a:solidFill>
                <a:schemeClr val="tx1"/>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1553"/>
                                        </p:tgtEl>
                                        <p:attrNameLst>
                                          <p:attrName>style.visibility</p:attrName>
                                        </p:attrNameLst>
                                      </p:cBhvr>
                                      <p:to>
                                        <p:strVal val="visible"/>
                                      </p:to>
                                    </p:set>
                                    <p:animEffect transition="in" filter="wipe(up)">
                                      <p:cBhvr>
                                        <p:cTn id="7" dur="1000"/>
                                        <p:tgtEl>
                                          <p:spTgt spid="321553"/>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1000"/>
                                        <p:tgtEl>
                                          <p:spTgt spid="3"/>
                                        </p:tgtEl>
                                      </p:cBhvr>
                                    </p:animEffect>
                                  </p:childTnLst>
                                </p:cTn>
                              </p:par>
                            </p:childTnLst>
                          </p:cTn>
                        </p:par>
                        <p:par>
                          <p:cTn id="12" fill="hold">
                            <p:stCondLst>
                              <p:cond delay="20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1000"/>
                                        <p:tgtEl>
                                          <p:spTgt spid="4"/>
                                        </p:tgtEl>
                                      </p:cBhvr>
                                    </p:animEffect>
                                  </p:childTnLst>
                                </p:cTn>
                              </p:par>
                            </p:childTnLst>
                          </p:cTn>
                        </p:par>
                        <p:par>
                          <p:cTn id="16" fill="hold">
                            <p:stCondLst>
                              <p:cond delay="3000"/>
                            </p:stCondLst>
                            <p:childTnLst>
                              <p:par>
                                <p:cTn id="17" presetID="22" presetClass="entr" presetSubtype="1" fill="hold" grpId="0" nodeType="afterEffect">
                                  <p:stCondLst>
                                    <p:cond delay="0"/>
                                  </p:stCondLst>
                                  <p:childTnLst>
                                    <p:set>
                                      <p:cBhvr>
                                        <p:cTn id="18" dur="1" fill="hold">
                                          <p:stCondLst>
                                            <p:cond delay="0"/>
                                          </p:stCondLst>
                                        </p:cTn>
                                        <p:tgtEl>
                                          <p:spTgt spid="321556"/>
                                        </p:tgtEl>
                                        <p:attrNameLst>
                                          <p:attrName>style.visibility</p:attrName>
                                        </p:attrNameLst>
                                      </p:cBhvr>
                                      <p:to>
                                        <p:strVal val="visible"/>
                                      </p:to>
                                    </p:set>
                                    <p:animEffect transition="in" filter="wipe(up)">
                                      <p:cBhvr>
                                        <p:cTn id="19" dur="1000"/>
                                        <p:tgtEl>
                                          <p:spTgt spid="321556"/>
                                        </p:tgtEl>
                                      </p:cBhvr>
                                    </p:animEffect>
                                  </p:childTnLst>
                                </p:cTn>
                              </p:par>
                            </p:childTnLst>
                          </p:cTn>
                        </p:par>
                        <p:par>
                          <p:cTn id="20" fill="hold">
                            <p:stCondLst>
                              <p:cond delay="4000"/>
                            </p:stCondLst>
                            <p:childTnLst>
                              <p:par>
                                <p:cTn id="21" presetID="22" presetClass="entr" presetSubtype="1" fill="hold" nodeType="afterEffect">
                                  <p:stCondLst>
                                    <p:cond delay="0"/>
                                  </p:stCondLst>
                                  <p:childTnLst>
                                    <p:set>
                                      <p:cBhvr>
                                        <p:cTn id="22" dur="1" fill="hold">
                                          <p:stCondLst>
                                            <p:cond delay="0"/>
                                          </p:stCondLst>
                                        </p:cTn>
                                        <p:tgtEl>
                                          <p:spTgt spid="321541"/>
                                        </p:tgtEl>
                                        <p:attrNameLst>
                                          <p:attrName>style.visibility</p:attrName>
                                        </p:attrNameLst>
                                      </p:cBhvr>
                                      <p:to>
                                        <p:strVal val="visible"/>
                                      </p:to>
                                    </p:set>
                                    <p:animEffect transition="in" filter="wipe(up)">
                                      <p:cBhvr>
                                        <p:cTn id="23" dur="1000"/>
                                        <p:tgtEl>
                                          <p:spTgt spid="321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53" grpId="0"/>
      <p:bldP spid="32155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3"/>
          <p:cNvGraphicFramePr>
            <a:graphicFrameLocks noChangeAspect="1"/>
          </p:cNvGraphicFramePr>
          <p:nvPr/>
        </p:nvGraphicFramePr>
        <p:xfrm>
          <a:off x="1346200" y="2429510"/>
          <a:ext cx="5063490" cy="1374140"/>
        </p:xfrm>
        <a:graphic>
          <a:graphicData uri="http://schemas.openxmlformats.org/presentationml/2006/ole">
            <mc:AlternateContent xmlns:mc="http://schemas.openxmlformats.org/markup-compatibility/2006">
              <mc:Choice xmlns:v="urn:schemas-microsoft-com:vml" Requires="v">
                <p:oleObj spid="_x0000_s41046" name="公式" r:id="rId1" imgW="2794000" imgH="774065" progId="Equation.3">
                  <p:embed/>
                </p:oleObj>
              </mc:Choice>
              <mc:Fallback>
                <p:oleObj name="公式" r:id="rId1" imgW="2794000" imgH="774065" progId="Equation.3">
                  <p:embed/>
                  <p:pic>
                    <p:nvPicPr>
                      <p:cNvPr id="0" name="图片 41045"/>
                      <p:cNvPicPr>
                        <a:picLocks noChangeAspect="1" noChangeArrowheads="1"/>
                      </p:cNvPicPr>
                      <p:nvPr/>
                    </p:nvPicPr>
                    <p:blipFill>
                      <a:blip r:embed="rId2"/>
                      <a:srcRect/>
                      <a:stretch>
                        <a:fillRect/>
                      </a:stretch>
                    </p:blipFill>
                    <p:spPr bwMode="auto">
                      <a:xfrm>
                        <a:off x="1346200" y="2429510"/>
                        <a:ext cx="5063490" cy="1374140"/>
                      </a:xfrm>
                      <a:prstGeom prst="rect">
                        <a:avLst/>
                      </a:prstGeom>
                      <a:noFill/>
                    </p:spPr>
                  </p:pic>
                </p:oleObj>
              </mc:Fallback>
            </mc:AlternateContent>
          </a:graphicData>
        </a:graphic>
      </p:graphicFrame>
      <p:sp>
        <p:nvSpPr>
          <p:cNvPr id="4100" name="Rectangle 4"/>
          <p:cNvSpPr>
            <a:spLocks noChangeArrowheads="1"/>
          </p:cNvSpPr>
          <p:nvPr/>
        </p:nvSpPr>
        <p:spPr bwMode="auto">
          <a:xfrm>
            <a:off x="693839" y="1858915"/>
            <a:ext cx="2663825"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rgbClr val="FF0000"/>
                </a:solidFill>
                <a:latin typeface="宋体" panose="02010600030101010101" pitchFamily="2" charset="-122"/>
                <a:cs typeface="Times New Roman" panose="02020603050405020304" pitchFamily="18" charset="0"/>
              </a:rPr>
              <a:t>3.</a:t>
            </a:r>
            <a:r>
              <a:rPr lang="zh-CN" altLang="en-US" b="1" dirty="0">
                <a:solidFill>
                  <a:srgbClr val="FF0000"/>
                </a:solidFill>
                <a:latin typeface="宋体" panose="02010600030101010101" pitchFamily="2" charset="-122"/>
                <a:cs typeface="Times New Roman" panose="02020603050405020304" pitchFamily="18" charset="0"/>
              </a:rPr>
              <a:t>螺栓计算应力幅</a:t>
            </a:r>
            <a:endParaRPr lang="zh-CN" altLang="en-US" b="1" dirty="0">
              <a:solidFill>
                <a:srgbClr val="FF0000"/>
              </a:solidFill>
              <a:latin typeface="宋体" panose="02010600030101010101" pitchFamily="2" charset="-122"/>
              <a:cs typeface="Times New Roman" panose="02020603050405020304" pitchFamily="18" charset="0"/>
            </a:endParaRPr>
          </a:p>
        </p:txBody>
      </p:sp>
      <p:sp>
        <p:nvSpPr>
          <p:cNvPr id="324613" name="Rectangle 5"/>
          <p:cNvSpPr>
            <a:spLocks noChangeArrowheads="1"/>
          </p:cNvSpPr>
          <p:nvPr/>
        </p:nvSpPr>
        <p:spPr bwMode="auto">
          <a:xfrm>
            <a:off x="493980" y="3942347"/>
            <a:ext cx="8155923" cy="2122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latinLnBrk="0" hangingPunct="1">
              <a:lnSpc>
                <a:spcPct val="120000"/>
              </a:lnSpc>
            </a:pPr>
            <a:r>
              <a:rPr lang="en-US" altLang="zh-CN" b="1" dirty="0">
                <a:solidFill>
                  <a:srgbClr val="FF0000"/>
                </a:solidFill>
                <a:latin typeface="宋体" panose="02010600030101010101" pitchFamily="2" charset="-122"/>
                <a:cs typeface="Times New Roman" panose="02020603050405020304" pitchFamily="18" charset="0"/>
              </a:rPr>
              <a:t>4.</a:t>
            </a:r>
            <a:r>
              <a:rPr lang="zh-CN" altLang="en-US" b="1" dirty="0">
                <a:solidFill>
                  <a:srgbClr val="FF0000"/>
                </a:solidFill>
                <a:latin typeface="宋体" panose="02010600030101010101" pitchFamily="2" charset="-122"/>
                <a:cs typeface="Times New Roman" panose="02020603050405020304" pitchFamily="18" charset="0"/>
              </a:rPr>
              <a:t>若</a:t>
            </a:r>
            <a:r>
              <a:rPr lang="el-GR" altLang="zh-CN" b="1" dirty="0">
                <a:solidFill>
                  <a:srgbClr val="FF0000"/>
                </a:solidFill>
                <a:latin typeface="宋体" panose="02010600030101010101" pitchFamily="2" charset="-122"/>
              </a:rPr>
              <a:t>σ</a:t>
            </a:r>
            <a:r>
              <a:rPr lang="en-US" altLang="zh-CN" b="1" baseline="-25000" dirty="0">
                <a:solidFill>
                  <a:srgbClr val="FF0000"/>
                </a:solidFill>
                <a:latin typeface="宋体" panose="02010600030101010101" pitchFamily="2" charset="-122"/>
              </a:rPr>
              <a:t>a</a:t>
            </a:r>
            <a:r>
              <a:rPr lang="en-US" altLang="zh-CN" b="1" dirty="0">
                <a:solidFill>
                  <a:srgbClr val="FF0000"/>
                </a:solidFill>
                <a:latin typeface="宋体" panose="02010600030101010101" pitchFamily="2" charset="-122"/>
              </a:rPr>
              <a:t>&gt;[</a:t>
            </a:r>
            <a:r>
              <a:rPr lang="el-GR" altLang="zh-CN" b="1" dirty="0">
                <a:solidFill>
                  <a:srgbClr val="FF0000"/>
                </a:solidFill>
                <a:latin typeface="宋体" panose="02010600030101010101" pitchFamily="2" charset="-122"/>
              </a:rPr>
              <a:t>σ</a:t>
            </a:r>
            <a:r>
              <a:rPr lang="en-US" altLang="zh-CN" b="1" baseline="-25000" dirty="0">
                <a:solidFill>
                  <a:srgbClr val="FF0000"/>
                </a:solidFill>
                <a:latin typeface="宋体" panose="02010600030101010101" pitchFamily="2" charset="-122"/>
              </a:rPr>
              <a:t>a</a:t>
            </a:r>
            <a:r>
              <a:rPr lang="en-US" altLang="zh-CN" b="1" dirty="0">
                <a:solidFill>
                  <a:srgbClr val="FF0000"/>
                </a:solidFill>
                <a:latin typeface="宋体" panose="02010600030101010101" pitchFamily="2" charset="-122"/>
              </a:rPr>
              <a:t>]</a:t>
            </a:r>
            <a:r>
              <a:rPr lang="zh-CN" altLang="en-US" b="1" dirty="0">
                <a:solidFill>
                  <a:srgbClr val="FF0000"/>
                </a:solidFill>
                <a:latin typeface="宋体" panose="02010600030101010101" pitchFamily="2" charset="-122"/>
              </a:rPr>
              <a:t>时，采取以下措施可降低螺栓应力幅：</a:t>
            </a:r>
            <a:endParaRPr lang="zh-CN" altLang="en-US" b="1" dirty="0">
              <a:solidFill>
                <a:schemeClr val="tx1"/>
              </a:solidFill>
              <a:latin typeface="宋体" panose="02010600030101010101" pitchFamily="2" charset="-122"/>
            </a:endParaRPr>
          </a:p>
          <a:p>
            <a:pPr algn="l" eaLnBrk="1" latinLnBrk="0" hangingPunct="1">
              <a:lnSpc>
                <a:spcPct val="120000"/>
              </a:lnSpc>
            </a:pPr>
            <a:r>
              <a:rPr lang="zh-CN" altLang="en-US" b="1" dirty="0">
                <a:solidFill>
                  <a:schemeClr val="tx1"/>
                </a:solidFill>
                <a:latin typeface="宋体" panose="02010600030101010101" pitchFamily="2" charset="-122"/>
              </a:rPr>
              <a:t> （</a:t>
            </a:r>
            <a:r>
              <a:rPr lang="en-US" altLang="zh-CN" b="1" dirty="0">
                <a:solidFill>
                  <a:schemeClr val="tx1"/>
                </a:solidFill>
                <a:latin typeface="宋体" panose="02010600030101010101" pitchFamily="2" charset="-122"/>
              </a:rPr>
              <a:t>1</a:t>
            </a:r>
            <a:r>
              <a:rPr lang="zh-CN" altLang="en-US" b="1" dirty="0">
                <a:solidFill>
                  <a:schemeClr val="tx1"/>
                </a:solidFill>
                <a:latin typeface="宋体" panose="02010600030101010101" pitchFamily="2" charset="-122"/>
              </a:rPr>
              <a:t>）降低螺栓刚度，采用柔性螺栓；</a:t>
            </a:r>
            <a:endParaRPr lang="zh-CN" altLang="en-US" dirty="0">
              <a:solidFill>
                <a:schemeClr val="tx1"/>
              </a:solidFill>
              <a:latin typeface="宋体" panose="02010600030101010101" pitchFamily="2" charset="-122"/>
            </a:endParaRPr>
          </a:p>
          <a:p>
            <a:pPr algn="l" eaLnBrk="1" latinLnBrk="0" hangingPunct="1">
              <a:lnSpc>
                <a:spcPct val="120000"/>
              </a:lnSpc>
            </a:pPr>
            <a:r>
              <a:rPr lang="zh-CN" altLang="en-US" b="1" dirty="0">
                <a:solidFill>
                  <a:schemeClr val="tx1"/>
                </a:solidFill>
                <a:latin typeface="宋体" panose="02010600030101010101" pitchFamily="2" charset="-122"/>
              </a:rPr>
              <a:t> （</a:t>
            </a:r>
            <a:r>
              <a:rPr lang="en-US" altLang="zh-CN" b="1" dirty="0">
                <a:solidFill>
                  <a:schemeClr val="tx1"/>
                </a:solidFill>
                <a:latin typeface="宋体" panose="02010600030101010101" pitchFamily="2" charset="-122"/>
              </a:rPr>
              <a:t>2</a:t>
            </a:r>
            <a:r>
              <a:rPr lang="zh-CN" altLang="en-US" b="1" dirty="0">
                <a:solidFill>
                  <a:schemeClr val="tx1"/>
                </a:solidFill>
                <a:latin typeface="宋体" panose="02010600030101010101" pitchFamily="2" charset="-122"/>
              </a:rPr>
              <a:t>）提高被联接件刚度，采用刚性大的垫片，</a:t>
            </a:r>
            <a:endParaRPr lang="zh-CN" altLang="en-US" b="1" dirty="0">
              <a:solidFill>
                <a:schemeClr val="tx1"/>
              </a:solidFill>
              <a:latin typeface="宋体" panose="02010600030101010101" pitchFamily="2" charset="-122"/>
            </a:endParaRPr>
          </a:p>
          <a:p>
            <a:pPr algn="l" eaLnBrk="1" latinLnBrk="0" hangingPunct="1">
              <a:lnSpc>
                <a:spcPct val="120000"/>
              </a:lnSpc>
            </a:pPr>
            <a:r>
              <a:rPr lang="zh-CN" altLang="en-US" b="1" dirty="0">
                <a:solidFill>
                  <a:schemeClr val="tx1"/>
                </a:solidFill>
                <a:latin typeface="宋体" panose="02010600030101010101" pitchFamily="2" charset="-122"/>
              </a:rPr>
              <a:t>       如：采用密封圈嵌入式结构，结合面无垫片</a:t>
            </a:r>
            <a:r>
              <a:rPr lang="en-US" altLang="zh-CN" b="1" dirty="0">
                <a:solidFill>
                  <a:schemeClr val="tx1"/>
                </a:solidFill>
                <a:latin typeface="宋体" panose="02010600030101010101" pitchFamily="2" charset="-122"/>
              </a:rPr>
              <a:t>;</a:t>
            </a:r>
            <a:endParaRPr lang="en-US" altLang="zh-CN" dirty="0">
              <a:solidFill>
                <a:schemeClr val="tx1"/>
              </a:solidFill>
              <a:latin typeface="宋体" panose="02010600030101010101" pitchFamily="2" charset="-122"/>
            </a:endParaRPr>
          </a:p>
          <a:p>
            <a:pPr algn="l" eaLnBrk="1" latinLnBrk="0" hangingPunct="1">
              <a:lnSpc>
                <a:spcPct val="120000"/>
              </a:lnSpc>
            </a:pPr>
            <a:r>
              <a:rPr lang="zh-CN" altLang="en-US" b="1" dirty="0">
                <a:solidFill>
                  <a:schemeClr val="tx1"/>
                </a:solidFill>
                <a:latin typeface="宋体" panose="02010600030101010101" pitchFamily="2" charset="-122"/>
              </a:rPr>
              <a:t> （</a:t>
            </a:r>
            <a:r>
              <a:rPr lang="en-US" altLang="zh-CN" b="1" dirty="0">
                <a:solidFill>
                  <a:schemeClr val="tx1"/>
                </a:solidFill>
                <a:latin typeface="宋体" panose="02010600030101010101" pitchFamily="2" charset="-122"/>
              </a:rPr>
              <a:t>3</a:t>
            </a:r>
            <a:r>
              <a:rPr lang="zh-CN" altLang="en-US" b="1" dirty="0">
                <a:solidFill>
                  <a:schemeClr val="tx1"/>
                </a:solidFill>
                <a:latin typeface="宋体" panose="02010600030101010101" pitchFamily="2" charset="-122"/>
              </a:rPr>
              <a:t>）增加螺栓直径。</a:t>
            </a:r>
            <a:endParaRPr lang="zh-CN" altLang="en-US" b="1" dirty="0">
              <a:solidFill>
                <a:schemeClr val="tx1"/>
              </a:solidFill>
              <a:latin typeface="宋体" panose="02010600030101010101" pitchFamily="2" charset="-122"/>
            </a:endParaRPr>
          </a:p>
        </p:txBody>
      </p:sp>
      <p:graphicFrame>
        <p:nvGraphicFramePr>
          <p:cNvPr id="4099" name="Object 9"/>
          <p:cNvGraphicFramePr>
            <a:graphicFrameLocks noChangeAspect="1"/>
          </p:cNvGraphicFramePr>
          <p:nvPr/>
        </p:nvGraphicFramePr>
        <p:xfrm>
          <a:off x="1473200" y="861060"/>
          <a:ext cx="3561715" cy="725170"/>
        </p:xfrm>
        <a:graphic>
          <a:graphicData uri="http://schemas.openxmlformats.org/presentationml/2006/ole">
            <mc:AlternateContent xmlns:mc="http://schemas.openxmlformats.org/markup-compatibility/2006">
              <mc:Choice xmlns:v="urn:schemas-microsoft-com:vml" Requires="v">
                <p:oleObj spid="_x0000_s41047" name="公式" r:id="rId3" imgW="2387600" imgH="431800" progId="Equation.3">
                  <p:embed/>
                </p:oleObj>
              </mc:Choice>
              <mc:Fallback>
                <p:oleObj name="公式" r:id="rId3" imgW="2387600" imgH="431800" progId="Equation.3">
                  <p:embed/>
                  <p:pic>
                    <p:nvPicPr>
                      <p:cNvPr id="0" name="图片 41046"/>
                      <p:cNvPicPr>
                        <a:picLocks noChangeAspect="1" noChangeArrowheads="1"/>
                      </p:cNvPicPr>
                      <p:nvPr/>
                    </p:nvPicPr>
                    <p:blipFill>
                      <a:blip r:embed="rId4"/>
                      <a:srcRect/>
                      <a:stretch>
                        <a:fillRect/>
                      </a:stretch>
                    </p:blipFill>
                    <p:spPr bwMode="auto">
                      <a:xfrm>
                        <a:off x="1473200" y="861060"/>
                        <a:ext cx="3561715" cy="7251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2" name="Rectangle 10"/>
          <p:cNvSpPr>
            <a:spLocks noChangeArrowheads="1"/>
          </p:cNvSpPr>
          <p:nvPr/>
        </p:nvSpPr>
        <p:spPr bwMode="auto">
          <a:xfrm>
            <a:off x="630922" y="428393"/>
            <a:ext cx="2266282"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许用应力幅：</a:t>
            </a:r>
            <a:endParaRPr lang="zh-CN" altLang="en-US" dirty="0">
              <a:solidFill>
                <a:schemeClr val="tx1"/>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4613"/>
                                        </p:tgtEl>
                                        <p:attrNameLst>
                                          <p:attrName>style.visibility</p:attrName>
                                        </p:attrNameLst>
                                      </p:cBhvr>
                                      <p:to>
                                        <p:strVal val="visible"/>
                                      </p:to>
                                    </p:set>
                                    <p:animEffect transition="in" filter="wipe(up)">
                                      <p:cBhvr>
                                        <p:cTn id="7" dur="1000"/>
                                        <p:tgtEl>
                                          <p:spTgt spid="324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02590" y="1345565"/>
            <a:ext cx="8301990" cy="768350"/>
          </a:xfrm>
          <a:prstGeom prst="rect">
            <a:avLst/>
          </a:prstGeom>
          <a:noFill/>
        </p:spPr>
        <p:txBody>
          <a:bodyPr wrap="square" rtlCol="0" anchor="t">
            <a:spAutoFit/>
          </a:bodyPr>
          <a:p>
            <a:pPr>
              <a:spcBef>
                <a:spcPct val="50000"/>
              </a:spcBef>
            </a:pPr>
            <a:r>
              <a:rPr lang="en-US" altLang="zh-CN" dirty="0">
                <a:solidFill>
                  <a:srgbClr val="002060"/>
                </a:solidFill>
                <a:latin typeface="华文中宋" panose="02010600040101010101" pitchFamily="2" charset="-122"/>
                <a:sym typeface="+mn-ea"/>
              </a:rPr>
              <a:t>1</a:t>
            </a:r>
            <a:r>
              <a:rPr lang="zh-CN" altLang="en-US" dirty="0">
                <a:solidFill>
                  <a:srgbClr val="002060"/>
                </a:solidFill>
                <a:latin typeface="华文中宋" panose="02010600040101010101" pitchFamily="2" charset="-122"/>
                <a:sym typeface="+mn-ea"/>
              </a:rPr>
              <a:t>．当两个被联接件之一太厚，不宜制成通孔，且联接不需要经常拆卸时，往往采用什么螺纹联接？</a:t>
            </a:r>
            <a:endParaRPr lang="zh-CN" altLang="en-US"/>
          </a:p>
        </p:txBody>
      </p:sp>
      <p:sp>
        <p:nvSpPr>
          <p:cNvPr id="23556" name="Rectangle 6"/>
          <p:cNvSpPr/>
          <p:nvPr/>
        </p:nvSpPr>
        <p:spPr>
          <a:xfrm>
            <a:off x="466090" y="2245995"/>
            <a:ext cx="7848600" cy="759460"/>
          </a:xfrm>
          <a:prstGeom prst="rect">
            <a:avLst/>
          </a:prstGeom>
          <a:noFill/>
          <a:ln w="9525">
            <a:noFill/>
          </a:ln>
        </p:spPr>
        <p:txBody>
          <a:bodyPr wrap="square" lIns="83284" tIns="41641" rIns="83284" bIns="41641">
            <a:spAutoFit/>
          </a:bodyPr>
          <a:p>
            <a:pPr algn="l">
              <a:lnSpc>
                <a:spcPct val="100000"/>
              </a:lnSpc>
              <a:spcBef>
                <a:spcPct val="50000"/>
              </a:spcBef>
              <a:buClrTx/>
              <a:buSzTx/>
              <a:buNone/>
            </a:pPr>
            <a:r>
              <a:rPr lang="zh-CN" altLang="en-US" sz="2200" dirty="0">
                <a:solidFill>
                  <a:srgbClr val="002060"/>
                </a:solidFill>
                <a:latin typeface="华文中宋" panose="02010600040101010101" pitchFamily="2" charset="-122"/>
                <a:ea typeface="华文中宋" panose="02010600040101010101" pitchFamily="2" charset="-122"/>
              </a:rPr>
              <a:t>2.两被联接件之一较厚，盲孔且经常拆卸时，易采用什么螺纹联接？</a:t>
            </a:r>
            <a:endParaRPr lang="zh-CN" altLang="en-US" sz="2200" dirty="0">
              <a:solidFill>
                <a:srgbClr val="002060"/>
              </a:solidFill>
              <a:latin typeface="华文中宋" panose="02010600040101010101" pitchFamily="2" charset="-122"/>
              <a:ea typeface="华文中宋" panose="02010600040101010101" pitchFamily="2" charset="-122"/>
            </a:endParaRPr>
          </a:p>
        </p:txBody>
      </p:sp>
      <p:sp>
        <p:nvSpPr>
          <p:cNvPr id="3" name="文本框 2"/>
          <p:cNvSpPr txBox="1"/>
          <p:nvPr/>
        </p:nvSpPr>
        <p:spPr>
          <a:xfrm>
            <a:off x="403225" y="3005455"/>
            <a:ext cx="8179435" cy="598805"/>
          </a:xfrm>
          <a:prstGeom prst="rect">
            <a:avLst/>
          </a:prstGeom>
          <a:noFill/>
        </p:spPr>
        <p:txBody>
          <a:bodyPr wrap="none" rtlCol="0" anchor="t">
            <a:spAutoFit/>
          </a:bodyPr>
          <a:p>
            <a:pPr eaLnBrk="1" latinLnBrk="0" hangingPunct="1">
              <a:lnSpc>
                <a:spcPct val="150000"/>
              </a:lnSpc>
            </a:pPr>
            <a:r>
              <a:rPr lang="zh-CN" altLang="en-US" dirty="0">
                <a:solidFill>
                  <a:srgbClr val="002060"/>
                </a:solidFill>
                <a:latin typeface="华文中宋" panose="02010600040101010101" pitchFamily="2" charset="-122"/>
                <a:sym typeface="+mn-ea"/>
              </a:rPr>
              <a:t>3．承受横向载荷的紧螺栓联接，联接中的螺栓受什么应力作用？</a:t>
            </a:r>
            <a:endParaRPr lang="zh-CN" altLang="en-US" dirty="0">
              <a:solidFill>
                <a:srgbClr val="002060"/>
              </a:solidFill>
              <a:latin typeface="华文中宋" panose="02010600040101010101" pitchFamily="2" charset="-122"/>
            </a:endParaRPr>
          </a:p>
        </p:txBody>
      </p:sp>
      <p:sp>
        <p:nvSpPr>
          <p:cNvPr id="4" name="文本框 3"/>
          <p:cNvSpPr txBox="1"/>
          <p:nvPr/>
        </p:nvSpPr>
        <p:spPr>
          <a:xfrm>
            <a:off x="3016568" y="304800"/>
            <a:ext cx="2621280" cy="460375"/>
          </a:xfrm>
          <a:prstGeom prst="rect">
            <a:avLst/>
          </a:prstGeom>
          <a:noFill/>
        </p:spPr>
        <p:txBody>
          <a:bodyPr wrap="none" rtlCol="0" anchor="t">
            <a:spAutoFit/>
          </a:bodyPr>
          <a:p>
            <a:pPr marL="0" indent="0" algn="ctr" eaLnBrk="1" hangingPunct="1">
              <a:buFontTx/>
              <a:buNone/>
            </a:pPr>
            <a:r>
              <a:rPr lang="zh-CN" altLang="en-US" sz="2400" dirty="0" smtClean="0">
                <a:solidFill>
                  <a:srgbClr val="0000FF"/>
                </a:solidFill>
                <a:latin typeface="黑体" panose="02010609060101010101" pitchFamily="49" charset="-122"/>
                <a:ea typeface="黑体" panose="02010609060101010101" pitchFamily="49" charset="-122"/>
                <a:cs typeface="黑体" panose="02010609060101010101" pitchFamily="49" charset="-122"/>
                <a:sym typeface="+mn-ea"/>
              </a:rPr>
              <a:t>第</a:t>
            </a:r>
            <a:r>
              <a:rPr lang="en-US" altLang="zh-CN" sz="2400" dirty="0" smtClean="0">
                <a:solidFill>
                  <a:srgbClr val="0000FF"/>
                </a:solidFill>
                <a:latin typeface="黑体" panose="02010609060101010101" pitchFamily="49" charset="-122"/>
                <a:ea typeface="黑体" panose="02010609060101010101" pitchFamily="49" charset="-122"/>
                <a:cs typeface="黑体" panose="02010609060101010101" pitchFamily="49" charset="-122"/>
                <a:sym typeface="+mn-ea"/>
              </a:rPr>
              <a:t>2.3</a:t>
            </a:r>
            <a:r>
              <a:rPr lang="zh-CN" altLang="en-US" sz="2400" dirty="0" smtClean="0">
                <a:solidFill>
                  <a:srgbClr val="0000FF"/>
                </a:solidFill>
                <a:latin typeface="黑体" panose="02010609060101010101" pitchFamily="49" charset="-122"/>
                <a:ea typeface="黑体" panose="02010609060101010101" pitchFamily="49" charset="-122"/>
                <a:cs typeface="黑体" panose="02010609060101010101" pitchFamily="49" charset="-122"/>
                <a:sym typeface="+mn-ea"/>
              </a:rPr>
              <a:t>章 </a:t>
            </a:r>
            <a:r>
              <a:rPr lang="zh-CN" altLang="en-US" sz="2400" dirty="0">
                <a:solidFill>
                  <a:srgbClr val="0000FF"/>
                </a:solidFill>
                <a:latin typeface="黑体" panose="02010609060101010101" pitchFamily="49" charset="-122"/>
                <a:ea typeface="黑体" panose="02010609060101010101" pitchFamily="49" charset="-122"/>
                <a:cs typeface="黑体" panose="02010609060101010101" pitchFamily="49" charset="-122"/>
                <a:sym typeface="+mn-ea"/>
              </a:rPr>
              <a:t>螺纹连接</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nvSpPr>
        <p:spPr>
          <a:xfrm>
            <a:off x="241935" y="885190"/>
            <a:ext cx="3372485" cy="460375"/>
          </a:xfrm>
          <a:prstGeom prst="rect">
            <a:avLst/>
          </a:prstGeom>
          <a:noFill/>
        </p:spPr>
        <p:txBody>
          <a:bodyPr wrap="square" rtlCol="0">
            <a:spAutoFit/>
          </a:bodyPr>
          <a:p>
            <a:r>
              <a:rPr lang="zh-CN" altLang="en-US" sz="2400">
                <a:solidFill>
                  <a:srgbClr val="C00000"/>
                </a:solidFill>
                <a:latin typeface="黑体" panose="02010609060101010101" pitchFamily="49" charset="-122"/>
                <a:ea typeface="黑体" panose="02010609060101010101" pitchFamily="49" charset="-122"/>
              </a:rPr>
              <a:t>一、思考题</a:t>
            </a:r>
            <a:endParaRPr lang="zh-CN" altLang="en-US" sz="2400">
              <a:solidFill>
                <a:srgbClr val="C00000"/>
              </a:solidFill>
              <a:latin typeface="黑体" panose="02010609060101010101" pitchFamily="49" charset="-122"/>
              <a:ea typeface="黑体" panose="02010609060101010101" pitchFamily="49" charset="-122"/>
            </a:endParaRPr>
          </a:p>
        </p:txBody>
      </p:sp>
      <p:sp>
        <p:nvSpPr>
          <p:cNvPr id="24578" name="Rectangle 20"/>
          <p:cNvSpPr/>
          <p:nvPr/>
        </p:nvSpPr>
        <p:spPr>
          <a:xfrm>
            <a:off x="465773" y="3729831"/>
            <a:ext cx="7561262" cy="389890"/>
          </a:xfrm>
          <a:prstGeom prst="rect">
            <a:avLst/>
          </a:prstGeom>
          <a:noFill/>
          <a:ln w="9525">
            <a:noFill/>
          </a:ln>
        </p:spPr>
        <p:txBody>
          <a:bodyPr lIns="83284" tIns="41641" rIns="83284" bIns="41641" anchor="ctr">
            <a:spAutoFit/>
          </a:bodyPr>
          <a:p>
            <a:pPr algn="l">
              <a:spcBef>
                <a:spcPct val="50000"/>
              </a:spcBef>
              <a:buClrTx/>
              <a:buSzTx/>
              <a:buFontTx/>
            </a:pPr>
            <a:r>
              <a:rPr lang="en-US" altLang="zh-CN" sz="2000" dirty="0">
                <a:solidFill>
                  <a:srgbClr val="002060"/>
                </a:solidFill>
                <a:latin typeface="华文中宋" panose="02010600040101010101" pitchFamily="2" charset="-122"/>
                <a:ea typeface="华文中宋" panose="02010600040101010101" pitchFamily="2" charset="-122"/>
              </a:rPr>
              <a:t>4．采用凸台或沉头座作为螺栓头或螺母的支撑面的目的是什么？</a:t>
            </a:r>
            <a:endParaRPr lang="en-US" altLang="zh-CN" sz="2000" dirty="0">
              <a:solidFill>
                <a:srgbClr val="002060"/>
              </a:solidFill>
              <a:latin typeface="华文中宋" panose="02010600040101010101" pitchFamily="2" charset="-122"/>
              <a:ea typeface="华文中宋" panose="02010600040101010101" pitchFamily="2" charset="-122"/>
            </a:endParaRPr>
          </a:p>
        </p:txBody>
      </p:sp>
      <p:sp>
        <p:nvSpPr>
          <p:cNvPr id="6" name="文本框 5"/>
          <p:cNvSpPr txBox="1"/>
          <p:nvPr/>
        </p:nvSpPr>
        <p:spPr>
          <a:xfrm>
            <a:off x="466090" y="4234815"/>
            <a:ext cx="8571865" cy="768350"/>
          </a:xfrm>
          <a:prstGeom prst="rect">
            <a:avLst/>
          </a:prstGeom>
          <a:noFill/>
        </p:spPr>
        <p:txBody>
          <a:bodyPr wrap="square" rtlCol="0" anchor="t">
            <a:spAutoFit/>
          </a:bodyPr>
          <a:p>
            <a:pPr algn="l">
              <a:spcBef>
                <a:spcPct val="50000"/>
              </a:spcBef>
              <a:buClrTx/>
              <a:buSzTx/>
              <a:buFontTx/>
            </a:pPr>
            <a:r>
              <a:rPr lang="en-US" altLang="zh-CN" dirty="0">
                <a:solidFill>
                  <a:srgbClr val="002060"/>
                </a:solidFill>
                <a:latin typeface="华文中宋" panose="02010600040101010101" pitchFamily="2" charset="-122"/>
                <a:sym typeface="+mn-ea"/>
              </a:rPr>
              <a:t>5.在确定紧螺栓联接的强度计算时，将预紧力F</a:t>
            </a:r>
            <a:r>
              <a:rPr lang="en-US" altLang="zh-CN" baseline="-25000" dirty="0">
                <a:solidFill>
                  <a:srgbClr val="002060"/>
                </a:solidFill>
                <a:latin typeface="华文中宋" panose="02010600040101010101" pitchFamily="2" charset="-122"/>
                <a:sym typeface="+mn-ea"/>
              </a:rPr>
              <a:t>0</a:t>
            </a:r>
            <a:r>
              <a:rPr lang="en-US" altLang="zh-CN" dirty="0">
                <a:solidFill>
                  <a:srgbClr val="002060"/>
                </a:solidFill>
                <a:latin typeface="华文中宋" panose="02010600040101010101" pitchFamily="2" charset="-122"/>
                <a:sym typeface="+mn-ea"/>
              </a:rPr>
              <a:t>增大30%是考虑什么问题？</a:t>
            </a:r>
            <a:endParaRPr lang="zh-CN" altLang="en-US"/>
          </a:p>
        </p:txBody>
      </p:sp>
      <p:sp>
        <p:nvSpPr>
          <p:cNvPr id="24580" name="矩形 5"/>
          <p:cNvSpPr/>
          <p:nvPr/>
        </p:nvSpPr>
        <p:spPr>
          <a:xfrm>
            <a:off x="402908" y="5149850"/>
            <a:ext cx="7848600" cy="398780"/>
          </a:xfrm>
          <a:prstGeom prst="rect">
            <a:avLst/>
          </a:prstGeom>
          <a:noFill/>
          <a:ln w="9525">
            <a:noFill/>
          </a:ln>
        </p:spPr>
        <p:txBody>
          <a:bodyPr>
            <a:spAutoFit/>
          </a:bodyPr>
          <a:p>
            <a:pPr algn="l">
              <a:spcBef>
                <a:spcPct val="50000"/>
              </a:spcBef>
              <a:buClrTx/>
              <a:buSzTx/>
              <a:buFontTx/>
            </a:pPr>
            <a:r>
              <a:rPr lang="en-US" altLang="zh-CN" sz="2000" dirty="0">
                <a:solidFill>
                  <a:srgbClr val="002060"/>
                </a:solidFill>
                <a:latin typeface="华文中宋" panose="02010600040101010101" pitchFamily="2" charset="-122"/>
                <a:ea typeface="华文中宋" panose="02010600040101010101" pitchFamily="2" charset="-122"/>
              </a:rPr>
              <a:t> 6.受轴向工作载荷的紧螺栓连接，其螺栓所受总的载荷如何计算？</a:t>
            </a:r>
            <a:endParaRPr lang="en-US" altLang="zh-CN" sz="2000" dirty="0">
              <a:solidFill>
                <a:srgbClr val="002060"/>
              </a:solidFill>
              <a:latin typeface="华文中宋" panose="02010600040101010101" pitchFamily="2" charset="-122"/>
              <a:ea typeface="华文中宋" panose="02010600040101010101" pitchFamily="2" charset="-122"/>
            </a:endParaRPr>
          </a:p>
        </p:txBody>
      </p:sp>
      <p:sp>
        <p:nvSpPr>
          <p:cNvPr id="25602" name="Rectangle 4"/>
          <p:cNvSpPr/>
          <p:nvPr/>
        </p:nvSpPr>
        <p:spPr>
          <a:xfrm>
            <a:off x="599758" y="5704841"/>
            <a:ext cx="7785100" cy="389890"/>
          </a:xfrm>
          <a:prstGeom prst="rect">
            <a:avLst/>
          </a:prstGeom>
          <a:noFill/>
          <a:ln w="9525">
            <a:noFill/>
          </a:ln>
        </p:spPr>
        <p:txBody>
          <a:bodyPr lIns="83284" tIns="41641" rIns="83284" bIns="41641" anchor="ctr">
            <a:spAutoFit/>
          </a:bodyPr>
          <a:p>
            <a:pPr algn="l">
              <a:lnSpc>
                <a:spcPct val="100000"/>
              </a:lnSpc>
              <a:spcBef>
                <a:spcPct val="50000"/>
              </a:spcBef>
              <a:buClrTx/>
              <a:buSzTx/>
              <a:buFontTx/>
            </a:pPr>
            <a:r>
              <a:rPr lang="en-US" altLang="zh-CN" sz="2000" dirty="0">
                <a:solidFill>
                  <a:srgbClr val="002060"/>
                </a:solidFill>
                <a:latin typeface="华文中宋" panose="02010600040101010101" pitchFamily="2" charset="-122"/>
                <a:ea typeface="华文中宋" panose="02010600040101010101" pitchFamily="2" charset="-122"/>
              </a:rPr>
              <a:t>7.简述提高螺纹联接强度的四种措施。</a:t>
            </a:r>
            <a:endParaRPr lang="en-US" altLang="zh-CN" sz="2000" dirty="0">
              <a:solidFill>
                <a:srgbClr val="002060"/>
              </a:solidFill>
              <a:latin typeface="华文中宋" panose="02010600040101010101" pitchFamily="2" charset="-122"/>
              <a:ea typeface="华文中宋" panose="02010600040101010101" pitchFamily="2" charset="-122"/>
            </a:endParaRPr>
          </a:p>
        </p:txBody>
      </p:sp>
      <p:sp>
        <p:nvSpPr>
          <p:cNvPr id="31752" name="直接连接符 6"/>
          <p:cNvSpPr>
            <a:spLocks noChangeShapeType="1"/>
          </p:cNvSpPr>
          <p:nvPr/>
        </p:nvSpPr>
        <p:spPr bwMode="auto">
          <a:xfrm>
            <a:off x="-18415"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p>
            <a:endParaRPr lang="zh-CN" alt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Rectangle 5"/>
          <p:cNvSpPr>
            <a:spLocks noGrp="1" noChangeArrowheads="1"/>
          </p:cNvSpPr>
          <p:nvPr>
            <p:ph type="body" idx="4294967295"/>
          </p:nvPr>
        </p:nvSpPr>
        <p:spPr>
          <a:xfrm>
            <a:off x="619760" y="775970"/>
            <a:ext cx="7772400" cy="5523230"/>
          </a:xfrm>
          <a:prstGeom prst="rect">
            <a:avLst/>
          </a:prstGeom>
        </p:spPr>
        <p:txBody>
          <a:bodyPr/>
          <a:lstStyle/>
          <a:p>
            <a:pPr marL="0" indent="0" algn="just" eaLnBrk="1" hangingPunct="1">
              <a:buFontTx/>
              <a:buNone/>
            </a:pPr>
            <a:r>
              <a:rPr lang="zh-CN" altLang="en-US" sz="2400" dirty="0">
                <a:solidFill>
                  <a:srgbClr val="C00000"/>
                </a:solidFill>
                <a:latin typeface="黑体" panose="02010609060101010101" pitchFamily="49" charset="-122"/>
                <a:ea typeface="黑体" panose="02010609060101010101" pitchFamily="49" charset="-122"/>
              </a:rPr>
              <a:t>二、选择题（单选）</a:t>
            </a:r>
            <a:endParaRPr lang="zh-CN" altLang="en-US" sz="2400" dirty="0">
              <a:latin typeface="黑体" panose="02010609060101010101" pitchFamily="49" charset="-122"/>
              <a:ea typeface="黑体" panose="02010609060101010101" pitchFamily="49" charset="-122"/>
            </a:endParaRPr>
          </a:p>
          <a:p>
            <a:pPr marL="0" indent="0" algn="just" eaLnBrk="1" hangingPunct="1">
              <a:lnSpc>
                <a:spcPct val="130000"/>
              </a:lnSpc>
              <a:buFontTx/>
              <a:buNone/>
            </a:pPr>
            <a:r>
              <a:rPr lang="en-US" sz="2000" b="1" dirty="0" smtClean="0"/>
              <a:t>2</a:t>
            </a:r>
            <a:r>
              <a:rPr lang="zh-CN" altLang="en-US" sz="2000" b="1" dirty="0" smtClean="0"/>
              <a:t>、</a:t>
            </a:r>
            <a:r>
              <a:rPr lang="en-US" sz="2000" b="1" dirty="0" smtClean="0"/>
              <a:t>  </a:t>
            </a:r>
            <a:r>
              <a:rPr lang="zh-CN" altLang="en-US" sz="2000" b="1" dirty="0"/>
              <a:t>承受横向载荷或旋转力矩的紧螺栓联接，该联接中的螺栓</a:t>
            </a:r>
            <a:r>
              <a:rPr lang="zh-CN" altLang="en-US" sz="2000" b="1" u="sng" dirty="0"/>
              <a:t>          </a:t>
            </a:r>
            <a:r>
              <a:rPr lang="zh-CN" altLang="en-US" sz="2000" b="1" dirty="0"/>
              <a:t>。</a:t>
            </a:r>
            <a:endParaRPr lang="zh-CN" altLang="en-US" sz="2000" b="1" dirty="0"/>
          </a:p>
          <a:p>
            <a:pPr marL="0" indent="0" algn="just" eaLnBrk="1" hangingPunct="1">
              <a:lnSpc>
                <a:spcPct val="130000"/>
              </a:lnSpc>
              <a:buFontTx/>
              <a:buNone/>
            </a:pPr>
            <a:r>
              <a:rPr lang="zh-CN" altLang="en-US" sz="2000" b="1" dirty="0"/>
              <a:t>（</a:t>
            </a:r>
            <a:r>
              <a:rPr lang="en-US" sz="2000" b="1" dirty="0"/>
              <a:t>1</a:t>
            </a:r>
            <a:r>
              <a:rPr lang="zh-CN" altLang="en-US" sz="2000" b="1" dirty="0"/>
              <a:t>）受剪切作用；（</a:t>
            </a:r>
            <a:r>
              <a:rPr lang="en-US" sz="2000" b="1" dirty="0"/>
              <a:t>2</a:t>
            </a:r>
            <a:r>
              <a:rPr lang="zh-CN" altLang="en-US" sz="2000" b="1" dirty="0"/>
              <a:t>）受拉伸作用；（</a:t>
            </a:r>
            <a:r>
              <a:rPr lang="en-US" sz="2000" b="1" dirty="0"/>
              <a:t>3</a:t>
            </a:r>
            <a:r>
              <a:rPr lang="zh-CN" altLang="en-US" sz="2000" b="1" dirty="0"/>
              <a:t>）受剪切和拉伸作用；（</a:t>
            </a:r>
            <a:r>
              <a:rPr lang="en-US" sz="2000" b="1" dirty="0"/>
              <a:t>4</a:t>
            </a:r>
            <a:r>
              <a:rPr lang="zh-CN" altLang="en-US" sz="2000" b="1" dirty="0"/>
              <a:t>）既可能受剪切又可能受拉伸作用；</a:t>
            </a:r>
            <a:endParaRPr lang="zh-CN" altLang="en-US" sz="2000" b="1" dirty="0"/>
          </a:p>
          <a:p>
            <a:pPr marL="0" indent="0" algn="just" eaLnBrk="1" hangingPunct="1">
              <a:lnSpc>
                <a:spcPct val="130000"/>
              </a:lnSpc>
              <a:buFontTx/>
              <a:buNone/>
            </a:pPr>
            <a:endParaRPr lang="zh-CN" altLang="en-US" sz="1000" b="1" dirty="0"/>
          </a:p>
          <a:p>
            <a:pPr marL="0" indent="0" eaLnBrk="1" hangingPunct="1">
              <a:buFontTx/>
              <a:buNone/>
            </a:pPr>
            <a:endParaRPr lang="en-US" b="1" dirty="0"/>
          </a:p>
        </p:txBody>
      </p:sp>
      <p:sp>
        <p:nvSpPr>
          <p:cNvPr id="139272" name="Text Box 11"/>
          <p:cNvSpPr txBox="1">
            <a:spLocks noChangeArrowheads="1"/>
          </p:cNvSpPr>
          <p:nvPr/>
        </p:nvSpPr>
        <p:spPr bwMode="auto">
          <a:xfrm>
            <a:off x="1177657" y="1616443"/>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4</a:t>
            </a:r>
            <a:endParaRPr lang="en-US" dirty="0">
              <a:solidFill>
                <a:srgbClr val="FF33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iterate type="lt">
                                    <p:tmPct val="100000"/>
                                  </p:iterate>
                                  <p:childTnLst>
                                    <p:set>
                                      <p:cBhvr>
                                        <p:cTn id="6" dur="100" fill="hold">
                                          <p:stCondLst>
                                            <p:cond delay="0"/>
                                          </p:stCondLst>
                                        </p:cTn>
                                        <p:tgtEl>
                                          <p:spTgt spid="139272">
                                            <p:txEl>
                                              <p:pRg st="0" end="0"/>
                                            </p:txEl>
                                          </p:spTgt>
                                        </p:tgtEl>
                                        <p:attrNameLst>
                                          <p:attrName>style.visibility</p:attrName>
                                        </p:attrNameLst>
                                      </p:cBhvr>
                                      <p:to>
                                        <p:strVal val="visible"/>
                                      </p:to>
                                    </p:set>
                                    <p:anim calcmode="lin" valueType="num">
                                      <p:cBhvr additive="base">
                                        <p:cTn id="7" dur="100" fill="hold"/>
                                        <p:tgtEl>
                                          <p:spTgt spid="139272">
                                            <p:txEl>
                                              <p:pRg st="0" end="0"/>
                                            </p:txEl>
                                          </p:spTgt>
                                        </p:tgtEl>
                                        <p:attrNameLst>
                                          <p:attrName>ppt_x</p:attrName>
                                        </p:attrNameLst>
                                      </p:cBhvr>
                                      <p:tavLst>
                                        <p:tav tm="0">
                                          <p:val>
                                            <p:strVal val="1+#ppt_w/2"/>
                                          </p:val>
                                        </p:tav>
                                        <p:tav tm="100000">
                                          <p:val>
                                            <p:strVal val="#ppt_x"/>
                                          </p:val>
                                        </p:tav>
                                      </p:tavLst>
                                    </p:anim>
                                    <p:anim calcmode="lin" valueType="num">
                                      <p:cBhvr additive="base">
                                        <p:cTn id="8" dur="100" fill="hold"/>
                                        <p:tgtEl>
                                          <p:spTgt spid="139272">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2" grpId="0" autoUpdateAnimBg="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290" name="Rectangle 7"/>
          <p:cNvSpPr>
            <a:spLocks noGrp="1" noChangeArrowheads="1"/>
          </p:cNvSpPr>
          <p:nvPr>
            <p:ph type="body" idx="4294967295"/>
          </p:nvPr>
        </p:nvSpPr>
        <p:spPr>
          <a:xfrm>
            <a:off x="685800" y="228600"/>
            <a:ext cx="7772400" cy="6324600"/>
          </a:xfrm>
          <a:prstGeom prst="rect">
            <a:avLst/>
          </a:prstGeom>
        </p:spPr>
        <p:txBody>
          <a:bodyPr/>
          <a:lstStyle/>
          <a:p>
            <a:pPr marL="0" indent="0" algn="just" eaLnBrk="1" hangingPunct="1">
              <a:lnSpc>
                <a:spcPct val="150000"/>
              </a:lnSpc>
              <a:buFontTx/>
              <a:buNone/>
            </a:pPr>
            <a:r>
              <a:rPr lang="en-US" sz="2000" dirty="0" smtClean="0"/>
              <a:t>3</a:t>
            </a:r>
            <a:r>
              <a:rPr lang="zh-CN" altLang="en-US" sz="2000" dirty="0" smtClean="0"/>
              <a:t>、</a:t>
            </a:r>
            <a:r>
              <a:rPr lang="zh-CN" altLang="en-US" sz="2000" b="1" dirty="0"/>
              <a:t>现有一单个螺栓联接，要求被联接件的结合面不分离，假定螺栓的刚度</a:t>
            </a:r>
            <a:r>
              <a:rPr lang="en-US" sz="2000" b="1" dirty="0" err="1"/>
              <a:t>C</a:t>
            </a:r>
            <a:r>
              <a:rPr lang="en-US" sz="2000" b="1" baseline="-25000" dirty="0" err="1"/>
              <a:t>1</a:t>
            </a:r>
            <a:r>
              <a:rPr lang="zh-CN" altLang="en-US" sz="2000" b="1" dirty="0"/>
              <a:t>与被联接的刚度</a:t>
            </a:r>
            <a:r>
              <a:rPr lang="en-US" sz="2000" b="1" dirty="0"/>
              <a:t>C</a:t>
            </a:r>
            <a:r>
              <a:rPr lang="en-US" sz="2000" b="1" baseline="-25000" dirty="0"/>
              <a:t>2</a:t>
            </a:r>
            <a:r>
              <a:rPr lang="zh-CN" altLang="en-US" sz="2000" b="1" dirty="0"/>
              <a:t>相等，联接的预紧力为</a:t>
            </a:r>
            <a:r>
              <a:rPr lang="en-US" sz="2000" b="1" dirty="0"/>
              <a:t>F</a:t>
            </a:r>
            <a:r>
              <a:rPr lang="en-US" sz="2000" b="1" baseline="-25000" dirty="0">
                <a:sym typeface="Symbol" panose="05050102010706020507" pitchFamily="18" charset="2"/>
              </a:rPr>
              <a:t>0</a:t>
            </a:r>
            <a:r>
              <a:rPr lang="zh-CN" altLang="en-US" sz="2000" b="1" dirty="0"/>
              <a:t>，现开始对联接施加轴向载荷，当外载荷达到与预紧力</a:t>
            </a:r>
            <a:r>
              <a:rPr lang="en-US" sz="2000" b="1" dirty="0"/>
              <a:t>F</a:t>
            </a:r>
            <a:r>
              <a:rPr lang="en-US" sz="2000" b="1" baseline="-25000" dirty="0">
                <a:sym typeface="Symbol" panose="05050102010706020507" pitchFamily="18" charset="2"/>
              </a:rPr>
              <a:t>0</a:t>
            </a:r>
            <a:r>
              <a:rPr lang="zh-CN" altLang="en-US" sz="2000" b="1" dirty="0"/>
              <a:t>的大小相等时，则</a:t>
            </a:r>
            <a:r>
              <a:rPr lang="zh-CN" altLang="en-US" sz="2000" b="1" u="sng" dirty="0"/>
              <a:t>    </a:t>
            </a:r>
            <a:r>
              <a:rPr lang="zh-CN" altLang="en-US" sz="2000" b="1" dirty="0"/>
              <a:t>。</a:t>
            </a:r>
            <a:endParaRPr lang="zh-CN" altLang="en-US" b="1" dirty="0"/>
          </a:p>
          <a:p>
            <a:pPr marL="0" indent="0" algn="just" eaLnBrk="1" hangingPunct="1">
              <a:lnSpc>
                <a:spcPct val="130000"/>
              </a:lnSpc>
              <a:buFontTx/>
              <a:buNone/>
            </a:pPr>
            <a:r>
              <a:rPr lang="zh-CN" altLang="en-US" sz="2000" b="1" dirty="0"/>
              <a:t>（</a:t>
            </a:r>
            <a:r>
              <a:rPr lang="en-US" sz="2000" b="1" dirty="0"/>
              <a:t>1</a:t>
            </a:r>
            <a:r>
              <a:rPr lang="zh-CN" altLang="en-US" sz="2000" b="1" dirty="0"/>
              <a:t>）被联接件发生分离，联结失效；</a:t>
            </a:r>
            <a:endParaRPr lang="zh-CN" altLang="en-US" sz="2000" b="1" dirty="0"/>
          </a:p>
          <a:p>
            <a:pPr marL="0" indent="0" algn="just" eaLnBrk="1" hangingPunct="1">
              <a:lnSpc>
                <a:spcPct val="130000"/>
              </a:lnSpc>
              <a:buFontTx/>
              <a:buNone/>
            </a:pPr>
            <a:r>
              <a:rPr lang="zh-CN" altLang="en-US" sz="2000" b="1" dirty="0"/>
              <a:t>（</a:t>
            </a:r>
            <a:r>
              <a:rPr lang="en-US" sz="2000" b="1" dirty="0"/>
              <a:t>2</a:t>
            </a:r>
            <a:r>
              <a:rPr lang="zh-CN" altLang="en-US" sz="2000" b="1" dirty="0"/>
              <a:t>）被联接件即将发生分离，联接不可靠；</a:t>
            </a:r>
            <a:endParaRPr lang="zh-CN" altLang="en-US" sz="2000" b="1" dirty="0"/>
          </a:p>
          <a:p>
            <a:pPr marL="0" indent="0" algn="just" eaLnBrk="1" hangingPunct="1">
              <a:lnSpc>
                <a:spcPct val="130000"/>
              </a:lnSpc>
              <a:buFontTx/>
              <a:buNone/>
            </a:pPr>
            <a:r>
              <a:rPr lang="zh-CN" altLang="en-US" sz="2000" b="1" dirty="0"/>
              <a:t>（</a:t>
            </a:r>
            <a:r>
              <a:rPr lang="en-US" sz="2000" b="1" dirty="0"/>
              <a:t>3</a:t>
            </a:r>
            <a:r>
              <a:rPr lang="zh-CN" altLang="en-US" sz="2000" b="1" dirty="0"/>
              <a:t>）联接可靠，但不能再继续加载；</a:t>
            </a:r>
            <a:endParaRPr lang="zh-CN" altLang="en-US" sz="2000" b="1" dirty="0"/>
          </a:p>
          <a:p>
            <a:pPr marL="0" indent="0" algn="just" eaLnBrk="1" hangingPunct="1">
              <a:lnSpc>
                <a:spcPct val="130000"/>
              </a:lnSpc>
              <a:buFontTx/>
              <a:buNone/>
            </a:pPr>
            <a:r>
              <a:rPr lang="zh-CN" altLang="en-US" sz="2000" b="1" dirty="0"/>
              <a:t>（</a:t>
            </a:r>
            <a:r>
              <a:rPr lang="en-US" sz="2000" b="1" dirty="0"/>
              <a:t>4</a:t>
            </a:r>
            <a:r>
              <a:rPr lang="zh-CN" altLang="en-US" sz="2000" b="1" dirty="0"/>
              <a:t>）联接可靠，只要螺栓强度足够，外载荷</a:t>
            </a:r>
            <a:r>
              <a:rPr lang="en-US" sz="2000" b="1" dirty="0"/>
              <a:t>F</a:t>
            </a:r>
            <a:r>
              <a:rPr lang="zh-CN" altLang="en-US" sz="2000" b="1" dirty="0"/>
              <a:t>还可继续增加到接近预紧力</a:t>
            </a:r>
            <a:r>
              <a:rPr lang="en-US" sz="2000" b="1" dirty="0"/>
              <a:t>F</a:t>
            </a:r>
            <a:r>
              <a:rPr lang="en-US" sz="2000" b="1" baseline="-25000" dirty="0">
                <a:sym typeface="Symbol" panose="05050102010706020507" pitchFamily="18" charset="2"/>
              </a:rPr>
              <a:t>0</a:t>
            </a:r>
            <a:r>
              <a:rPr lang="zh-CN" altLang="en-US" sz="2000" b="1" dirty="0"/>
              <a:t>的两倍；</a:t>
            </a:r>
            <a:endParaRPr lang="en-US" sz="2000" b="1" dirty="0" smtClean="0"/>
          </a:p>
          <a:p>
            <a:pPr marL="0" indent="0" algn="just" eaLnBrk="1" hangingPunct="1">
              <a:lnSpc>
                <a:spcPct val="140000"/>
              </a:lnSpc>
              <a:buFontTx/>
              <a:buNone/>
            </a:pPr>
            <a:r>
              <a:rPr lang="en-US" sz="2000" dirty="0" smtClean="0"/>
              <a:t>4</a:t>
            </a:r>
            <a:r>
              <a:rPr lang="zh-CN" altLang="en-US" sz="2000" dirty="0" smtClean="0"/>
              <a:t>、</a:t>
            </a:r>
            <a:r>
              <a:rPr lang="zh-CN" altLang="en-US" sz="2000" b="1" dirty="0"/>
              <a:t>被联接件受横向载荷作用时，若采用一组普通螺栓联接，则载荷靠</a:t>
            </a:r>
            <a:r>
              <a:rPr lang="zh-CN" altLang="en-US" sz="2000" b="1" u="sng" dirty="0"/>
              <a:t>          </a:t>
            </a:r>
            <a:r>
              <a:rPr lang="zh-CN" altLang="en-US" sz="2000" b="1" dirty="0"/>
              <a:t>来传递。</a:t>
            </a:r>
            <a:endParaRPr lang="zh-CN" altLang="en-US" b="1" dirty="0"/>
          </a:p>
          <a:p>
            <a:pPr marL="0" indent="0" algn="just" eaLnBrk="1" hangingPunct="1">
              <a:lnSpc>
                <a:spcPct val="130000"/>
              </a:lnSpc>
              <a:buFontTx/>
              <a:buNone/>
            </a:pPr>
            <a:r>
              <a:rPr lang="zh-CN" altLang="en-US" sz="2000" b="1" dirty="0"/>
              <a:t>（</a:t>
            </a:r>
            <a:r>
              <a:rPr lang="en-US" sz="2000" b="1" dirty="0"/>
              <a:t>1</a:t>
            </a:r>
            <a:r>
              <a:rPr lang="zh-CN" altLang="en-US" sz="2000" b="1" dirty="0"/>
              <a:t>）结合面之间的摩擦力；（</a:t>
            </a:r>
            <a:r>
              <a:rPr lang="en-US" sz="2000" b="1" dirty="0"/>
              <a:t>2</a:t>
            </a:r>
            <a:r>
              <a:rPr lang="zh-CN" altLang="en-US" sz="2000" b="1" dirty="0"/>
              <a:t>）螺栓的剪切和挤压；（</a:t>
            </a:r>
            <a:r>
              <a:rPr lang="en-US" sz="2000" b="1" dirty="0"/>
              <a:t>3</a:t>
            </a:r>
            <a:r>
              <a:rPr lang="zh-CN" altLang="en-US" sz="2000" b="1" dirty="0"/>
              <a:t>）螺栓的剪切和被联接件的挤压；</a:t>
            </a:r>
            <a:endParaRPr lang="zh-CN" altLang="en-US" b="1" dirty="0"/>
          </a:p>
        </p:txBody>
      </p:sp>
      <p:sp>
        <p:nvSpPr>
          <p:cNvPr id="140291" name="Text Box 8"/>
          <p:cNvSpPr txBox="1">
            <a:spLocks noChangeArrowheads="1"/>
          </p:cNvSpPr>
          <p:nvPr/>
        </p:nvSpPr>
        <p:spPr bwMode="auto">
          <a:xfrm>
            <a:off x="7240504" y="1246739"/>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4</a:t>
            </a:r>
            <a:endParaRPr lang="en-US" dirty="0">
              <a:solidFill>
                <a:srgbClr val="FF3300"/>
              </a:solidFill>
            </a:endParaRPr>
          </a:p>
        </p:txBody>
      </p:sp>
      <p:sp>
        <p:nvSpPr>
          <p:cNvPr id="140293" name="Text Box 10"/>
          <p:cNvSpPr txBox="1">
            <a:spLocks noChangeArrowheads="1"/>
          </p:cNvSpPr>
          <p:nvPr/>
        </p:nvSpPr>
        <p:spPr bwMode="auto">
          <a:xfrm>
            <a:off x="1259304" y="4383455"/>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1</a:t>
            </a:r>
            <a:endParaRPr lang="en-US" dirty="0">
              <a:solidFill>
                <a:srgbClr val="FF33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iterate type="lt">
                                    <p:tmPct val="100000"/>
                                  </p:iterate>
                                  <p:childTnLst>
                                    <p:set>
                                      <p:cBhvr>
                                        <p:cTn id="6" dur="100" fill="hold">
                                          <p:stCondLst>
                                            <p:cond delay="0"/>
                                          </p:stCondLst>
                                        </p:cTn>
                                        <p:tgtEl>
                                          <p:spTgt spid="140291">
                                            <p:txEl>
                                              <p:pRg st="0" end="0"/>
                                            </p:txEl>
                                          </p:spTgt>
                                        </p:tgtEl>
                                        <p:attrNameLst>
                                          <p:attrName>style.visibility</p:attrName>
                                        </p:attrNameLst>
                                      </p:cBhvr>
                                      <p:to>
                                        <p:strVal val="visible"/>
                                      </p:to>
                                    </p:set>
                                    <p:anim calcmode="lin" valueType="num">
                                      <p:cBhvr additive="base">
                                        <p:cTn id="7" dur="100" fill="hold"/>
                                        <p:tgtEl>
                                          <p:spTgt spid="140291">
                                            <p:txEl>
                                              <p:pRg st="0" end="0"/>
                                            </p:txEl>
                                          </p:spTgt>
                                        </p:tgtEl>
                                        <p:attrNameLst>
                                          <p:attrName>ppt_x</p:attrName>
                                        </p:attrNameLst>
                                      </p:cBhvr>
                                      <p:tavLst>
                                        <p:tav tm="0">
                                          <p:val>
                                            <p:strVal val="1+#ppt_w/2"/>
                                          </p:val>
                                        </p:tav>
                                        <p:tav tm="100000">
                                          <p:val>
                                            <p:strVal val="#ppt_x"/>
                                          </p:val>
                                        </p:tav>
                                      </p:tavLst>
                                    </p:anim>
                                    <p:anim calcmode="lin" valueType="num">
                                      <p:cBhvr additive="base">
                                        <p:cTn id="8" dur="100" fill="hold"/>
                                        <p:tgtEl>
                                          <p:spTgt spid="140291">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grpId="0" nodeType="clickEffect">
                                  <p:stCondLst>
                                    <p:cond delay="0"/>
                                  </p:stCondLst>
                                  <p:iterate type="lt">
                                    <p:tmPct val="100000"/>
                                  </p:iterate>
                                  <p:childTnLst>
                                    <p:set>
                                      <p:cBhvr>
                                        <p:cTn id="12" dur="100" fill="hold">
                                          <p:stCondLst>
                                            <p:cond delay="0"/>
                                          </p:stCondLst>
                                        </p:cTn>
                                        <p:tgtEl>
                                          <p:spTgt spid="140293">
                                            <p:txEl>
                                              <p:pRg st="0" end="0"/>
                                            </p:txEl>
                                          </p:spTgt>
                                        </p:tgtEl>
                                        <p:attrNameLst>
                                          <p:attrName>style.visibility</p:attrName>
                                        </p:attrNameLst>
                                      </p:cBhvr>
                                      <p:to>
                                        <p:strVal val="visible"/>
                                      </p:to>
                                    </p:set>
                                    <p:anim calcmode="lin" valueType="num">
                                      <p:cBhvr additive="base">
                                        <p:cTn id="13" dur="100" fill="hold"/>
                                        <p:tgtEl>
                                          <p:spTgt spid="140293">
                                            <p:txEl>
                                              <p:pRg st="0" end="0"/>
                                            </p:txEl>
                                          </p:spTgt>
                                        </p:tgtEl>
                                        <p:attrNameLst>
                                          <p:attrName>ppt_x</p:attrName>
                                        </p:attrNameLst>
                                      </p:cBhvr>
                                      <p:tavLst>
                                        <p:tav tm="0">
                                          <p:val>
                                            <p:strVal val="1+#ppt_w/2"/>
                                          </p:val>
                                        </p:tav>
                                        <p:tav tm="100000">
                                          <p:val>
                                            <p:strVal val="#ppt_x"/>
                                          </p:val>
                                        </p:tav>
                                      </p:tavLst>
                                    </p:anim>
                                    <p:anim calcmode="lin" valueType="num">
                                      <p:cBhvr additive="base">
                                        <p:cTn id="14" dur="100" fill="hold"/>
                                        <p:tgtEl>
                                          <p:spTgt spid="140293">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autoUpdateAnimBg="0" build="p"/>
      <p:bldP spid="140293" grpId="0" autoUpdateAnimBg="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3"/>
          <p:cNvSpPr>
            <a:spLocks noGrp="1" noChangeArrowheads="1"/>
          </p:cNvSpPr>
          <p:nvPr>
            <p:ph type="body" idx="4294967295"/>
          </p:nvPr>
        </p:nvSpPr>
        <p:spPr>
          <a:xfrm>
            <a:off x="733927" y="580724"/>
            <a:ext cx="7772400" cy="5791200"/>
          </a:xfrm>
          <a:prstGeom prst="rect">
            <a:avLst/>
          </a:prstGeom>
        </p:spPr>
        <p:txBody>
          <a:bodyPr/>
          <a:lstStyle/>
          <a:p>
            <a:pPr marL="0" indent="0" algn="just" eaLnBrk="1" hangingPunct="1">
              <a:lnSpc>
                <a:spcPct val="150000"/>
              </a:lnSpc>
              <a:buFontTx/>
              <a:buNone/>
            </a:pPr>
            <a:r>
              <a:rPr lang="en-US" sz="2000" b="1" dirty="0" smtClean="0"/>
              <a:t>5</a:t>
            </a:r>
            <a:r>
              <a:rPr lang="zh-CN" altLang="en-US" sz="2000" b="1" dirty="0" smtClean="0"/>
              <a:t>、</a:t>
            </a:r>
            <a:r>
              <a:rPr lang="zh-CN" altLang="en-US" sz="2000" b="1" dirty="0"/>
              <a:t>设计螺栓组联接时，虽然每个螺栓的受力不一定相等，但对该组螺栓仍均采用相同的材料、直径和长度，这主要是为了</a:t>
            </a:r>
            <a:r>
              <a:rPr lang="zh-CN" altLang="en-US" sz="2000" b="1" u="sng" dirty="0"/>
              <a:t>            </a:t>
            </a:r>
            <a:r>
              <a:rPr lang="zh-CN" altLang="en-US" sz="2000" b="1" dirty="0"/>
              <a:t>。</a:t>
            </a:r>
            <a:endParaRPr lang="zh-CN" altLang="en-US" sz="2000" b="1" dirty="0"/>
          </a:p>
          <a:p>
            <a:pPr marL="0" indent="0" algn="just" eaLnBrk="1" hangingPunct="1">
              <a:lnSpc>
                <a:spcPct val="150000"/>
              </a:lnSpc>
              <a:buFontTx/>
              <a:buNone/>
            </a:pPr>
            <a:r>
              <a:rPr lang="zh-CN" altLang="en-US" sz="2000" b="1" dirty="0"/>
              <a:t>（</a:t>
            </a:r>
            <a:r>
              <a:rPr lang="en-US" sz="2000" b="1" dirty="0"/>
              <a:t>1</a:t>
            </a:r>
            <a:r>
              <a:rPr lang="zh-CN" altLang="en-US" sz="2000" b="1" dirty="0"/>
              <a:t>）外形美观；（</a:t>
            </a:r>
            <a:r>
              <a:rPr lang="en-US" sz="2000" b="1" dirty="0"/>
              <a:t>2</a:t>
            </a:r>
            <a:r>
              <a:rPr lang="zh-CN" altLang="en-US" sz="2000" b="1" dirty="0"/>
              <a:t>）购买方便；（</a:t>
            </a:r>
            <a:r>
              <a:rPr lang="en-US" sz="2000" b="1" dirty="0"/>
              <a:t>3</a:t>
            </a:r>
            <a:r>
              <a:rPr lang="zh-CN" altLang="en-US" sz="2000" b="1" dirty="0"/>
              <a:t>）便于加工和安装；</a:t>
            </a:r>
            <a:endParaRPr lang="zh-CN" altLang="en-US" b="1" dirty="0"/>
          </a:p>
          <a:p>
            <a:pPr marL="0" indent="0" algn="just" eaLnBrk="1" hangingPunct="1">
              <a:lnSpc>
                <a:spcPct val="150000"/>
              </a:lnSpc>
              <a:buFontTx/>
              <a:buNone/>
            </a:pPr>
            <a:r>
              <a:rPr lang="en-US" sz="2000" b="1" dirty="0" smtClean="0"/>
              <a:t>6</a:t>
            </a:r>
            <a:r>
              <a:rPr lang="zh-CN" altLang="en-US" sz="2000" b="1" dirty="0" smtClean="0"/>
              <a:t>、</a:t>
            </a:r>
            <a:r>
              <a:rPr lang="zh-CN" altLang="en-US" sz="2000" b="1" dirty="0"/>
              <a:t>确定紧螺栓联接中拉伸和扭转复合载荷作用下的当量应力时，通常是按</a:t>
            </a:r>
            <a:r>
              <a:rPr lang="zh-CN" altLang="en-US" sz="2000" b="1" u="sng" dirty="0"/>
              <a:t>            </a:t>
            </a:r>
            <a:r>
              <a:rPr lang="zh-CN" altLang="en-US" sz="2000" b="1" dirty="0"/>
              <a:t>来进行计算的。</a:t>
            </a:r>
            <a:endParaRPr lang="zh-CN" altLang="en-US" sz="2000" b="1" dirty="0"/>
          </a:p>
          <a:p>
            <a:pPr marL="0" indent="0" algn="just" eaLnBrk="1" hangingPunct="1">
              <a:lnSpc>
                <a:spcPct val="150000"/>
              </a:lnSpc>
              <a:buFontTx/>
              <a:buNone/>
            </a:pPr>
            <a:r>
              <a:rPr lang="zh-CN" altLang="en-US" sz="2000" b="1" dirty="0"/>
              <a:t>（</a:t>
            </a:r>
            <a:r>
              <a:rPr lang="en-US" sz="2000" b="1" dirty="0"/>
              <a:t>1</a:t>
            </a:r>
            <a:r>
              <a:rPr lang="zh-CN" altLang="en-US" sz="2000" b="1" dirty="0"/>
              <a:t>）第一强度理论；（</a:t>
            </a:r>
            <a:r>
              <a:rPr lang="en-US" sz="2000" b="1" dirty="0"/>
              <a:t>2</a:t>
            </a:r>
            <a:r>
              <a:rPr lang="zh-CN" altLang="en-US" sz="2000" b="1" dirty="0"/>
              <a:t>）第二强度理论；（</a:t>
            </a:r>
            <a:r>
              <a:rPr lang="en-US" sz="2000" b="1" dirty="0"/>
              <a:t>3</a:t>
            </a:r>
            <a:r>
              <a:rPr lang="zh-CN" altLang="en-US" sz="2000" b="1" dirty="0"/>
              <a:t>）第三强度理论；（</a:t>
            </a:r>
            <a:r>
              <a:rPr lang="en-US" sz="2000" b="1" dirty="0"/>
              <a:t>4</a:t>
            </a:r>
            <a:r>
              <a:rPr lang="zh-CN" altLang="en-US" sz="2000" b="1" dirty="0"/>
              <a:t>）第四强度理论；</a:t>
            </a:r>
            <a:endParaRPr lang="zh-CN" altLang="en-US" b="1" dirty="0"/>
          </a:p>
          <a:p>
            <a:pPr marL="0" indent="0" algn="just" eaLnBrk="1" hangingPunct="1">
              <a:lnSpc>
                <a:spcPct val="150000"/>
              </a:lnSpc>
              <a:buFontTx/>
              <a:buNone/>
            </a:pPr>
            <a:r>
              <a:rPr lang="en-US" sz="2000" b="1" dirty="0" smtClean="0"/>
              <a:t>7</a:t>
            </a:r>
            <a:r>
              <a:rPr lang="zh-CN" altLang="en-US" sz="2000" b="1" dirty="0" smtClean="0"/>
              <a:t>、</a:t>
            </a:r>
            <a:r>
              <a:rPr lang="zh-CN" altLang="en-US" sz="2000" b="1" dirty="0"/>
              <a:t>当采用铰制孔用螺栓联接承受横向载荷时，螺栓杆受到</a:t>
            </a:r>
            <a:r>
              <a:rPr lang="zh-CN" altLang="en-US" sz="2000" b="1" u="sng" dirty="0"/>
              <a:t>        </a:t>
            </a:r>
            <a:r>
              <a:rPr lang="zh-CN" altLang="en-US" sz="2000" b="1" dirty="0"/>
              <a:t>作用。</a:t>
            </a:r>
            <a:endParaRPr lang="zh-CN" altLang="en-US" b="1" dirty="0"/>
          </a:p>
          <a:p>
            <a:pPr marL="0" indent="0" algn="just" eaLnBrk="1" hangingPunct="1">
              <a:lnSpc>
                <a:spcPct val="150000"/>
              </a:lnSpc>
              <a:buFontTx/>
              <a:buNone/>
            </a:pPr>
            <a:r>
              <a:rPr lang="zh-CN" altLang="en-US" sz="2000" b="1" dirty="0"/>
              <a:t>（</a:t>
            </a:r>
            <a:r>
              <a:rPr lang="en-US" sz="2000" b="1" dirty="0"/>
              <a:t>1</a:t>
            </a:r>
            <a:r>
              <a:rPr lang="zh-CN" altLang="en-US" sz="2000" b="1" dirty="0"/>
              <a:t>）弯曲和挤压；（</a:t>
            </a:r>
            <a:r>
              <a:rPr lang="en-US" sz="2000" b="1" dirty="0"/>
              <a:t>2</a:t>
            </a:r>
            <a:r>
              <a:rPr lang="zh-CN" altLang="en-US" sz="2000" b="1" dirty="0"/>
              <a:t>）拉伸和剪切；（</a:t>
            </a:r>
            <a:r>
              <a:rPr lang="en-US" sz="2000" b="1" dirty="0"/>
              <a:t>3</a:t>
            </a:r>
            <a:r>
              <a:rPr lang="zh-CN" altLang="en-US" sz="2000" b="1" dirty="0"/>
              <a:t>）剪切和挤压；（</a:t>
            </a:r>
            <a:r>
              <a:rPr lang="en-US" sz="2000" b="1" dirty="0"/>
              <a:t>4</a:t>
            </a:r>
            <a:r>
              <a:rPr lang="zh-CN" altLang="en-US" sz="2000" b="1" dirty="0"/>
              <a:t>）扭转和弯曲；</a:t>
            </a:r>
            <a:endParaRPr lang="zh-CN" altLang="en-US" b="1" dirty="0"/>
          </a:p>
        </p:txBody>
      </p:sp>
      <p:sp>
        <p:nvSpPr>
          <p:cNvPr id="141315" name="Text Box 4"/>
          <p:cNvSpPr txBox="1">
            <a:spLocks noChangeArrowheads="1"/>
          </p:cNvSpPr>
          <p:nvPr/>
        </p:nvSpPr>
        <p:spPr bwMode="auto">
          <a:xfrm>
            <a:off x="7229375" y="988996"/>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3</a:t>
            </a:r>
            <a:endParaRPr lang="en-US" dirty="0">
              <a:solidFill>
                <a:srgbClr val="FF3300"/>
              </a:solidFill>
            </a:endParaRPr>
          </a:p>
        </p:txBody>
      </p:sp>
      <p:sp>
        <p:nvSpPr>
          <p:cNvPr id="141316" name="Text Box 5"/>
          <p:cNvSpPr txBox="1">
            <a:spLocks noChangeArrowheads="1"/>
          </p:cNvSpPr>
          <p:nvPr/>
        </p:nvSpPr>
        <p:spPr bwMode="auto">
          <a:xfrm>
            <a:off x="1981200" y="2590800"/>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4</a:t>
            </a:r>
            <a:endParaRPr lang="en-US" dirty="0">
              <a:solidFill>
                <a:srgbClr val="FF3300"/>
              </a:solidFill>
            </a:endParaRPr>
          </a:p>
        </p:txBody>
      </p:sp>
      <p:sp>
        <p:nvSpPr>
          <p:cNvPr id="141317" name="Text Box 6"/>
          <p:cNvSpPr txBox="1">
            <a:spLocks noChangeArrowheads="1"/>
          </p:cNvSpPr>
          <p:nvPr/>
        </p:nvSpPr>
        <p:spPr bwMode="auto">
          <a:xfrm>
            <a:off x="7543800" y="4038600"/>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3</a:t>
            </a:r>
            <a:endParaRPr lang="en-US" dirty="0">
              <a:solidFill>
                <a:srgbClr val="FF33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iterate type="lt">
                                    <p:tmPct val="100000"/>
                                  </p:iterate>
                                  <p:childTnLst>
                                    <p:set>
                                      <p:cBhvr>
                                        <p:cTn id="6" dur="100" fill="hold">
                                          <p:stCondLst>
                                            <p:cond delay="0"/>
                                          </p:stCondLst>
                                        </p:cTn>
                                        <p:tgtEl>
                                          <p:spTgt spid="141315">
                                            <p:txEl>
                                              <p:pRg st="0" end="0"/>
                                            </p:txEl>
                                          </p:spTgt>
                                        </p:tgtEl>
                                        <p:attrNameLst>
                                          <p:attrName>style.visibility</p:attrName>
                                        </p:attrNameLst>
                                      </p:cBhvr>
                                      <p:to>
                                        <p:strVal val="visible"/>
                                      </p:to>
                                    </p:set>
                                    <p:anim calcmode="lin" valueType="num">
                                      <p:cBhvr additive="base">
                                        <p:cTn id="7" dur="100" fill="hold"/>
                                        <p:tgtEl>
                                          <p:spTgt spid="141315">
                                            <p:txEl>
                                              <p:pRg st="0" end="0"/>
                                            </p:txEl>
                                          </p:spTgt>
                                        </p:tgtEl>
                                        <p:attrNameLst>
                                          <p:attrName>ppt_x</p:attrName>
                                        </p:attrNameLst>
                                      </p:cBhvr>
                                      <p:tavLst>
                                        <p:tav tm="0">
                                          <p:val>
                                            <p:strVal val="1+#ppt_w/2"/>
                                          </p:val>
                                        </p:tav>
                                        <p:tav tm="100000">
                                          <p:val>
                                            <p:strVal val="#ppt_x"/>
                                          </p:val>
                                        </p:tav>
                                      </p:tavLst>
                                    </p:anim>
                                    <p:anim calcmode="lin" valueType="num">
                                      <p:cBhvr additive="base">
                                        <p:cTn id="8" dur="100" fill="hold"/>
                                        <p:tgtEl>
                                          <p:spTgt spid="14131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grpId="0" nodeType="clickEffect">
                                  <p:stCondLst>
                                    <p:cond delay="0"/>
                                  </p:stCondLst>
                                  <p:iterate type="lt">
                                    <p:tmPct val="100000"/>
                                  </p:iterate>
                                  <p:childTnLst>
                                    <p:set>
                                      <p:cBhvr>
                                        <p:cTn id="12" dur="100" fill="hold">
                                          <p:stCondLst>
                                            <p:cond delay="0"/>
                                          </p:stCondLst>
                                        </p:cTn>
                                        <p:tgtEl>
                                          <p:spTgt spid="141316">
                                            <p:txEl>
                                              <p:pRg st="0" end="0"/>
                                            </p:txEl>
                                          </p:spTgt>
                                        </p:tgtEl>
                                        <p:attrNameLst>
                                          <p:attrName>style.visibility</p:attrName>
                                        </p:attrNameLst>
                                      </p:cBhvr>
                                      <p:to>
                                        <p:strVal val="visible"/>
                                      </p:to>
                                    </p:set>
                                    <p:anim calcmode="lin" valueType="num">
                                      <p:cBhvr additive="base">
                                        <p:cTn id="13" dur="100" fill="hold"/>
                                        <p:tgtEl>
                                          <p:spTgt spid="141316">
                                            <p:txEl>
                                              <p:pRg st="0" end="0"/>
                                            </p:txEl>
                                          </p:spTgt>
                                        </p:tgtEl>
                                        <p:attrNameLst>
                                          <p:attrName>ppt_x</p:attrName>
                                        </p:attrNameLst>
                                      </p:cBhvr>
                                      <p:tavLst>
                                        <p:tav tm="0">
                                          <p:val>
                                            <p:strVal val="1+#ppt_w/2"/>
                                          </p:val>
                                        </p:tav>
                                        <p:tav tm="100000">
                                          <p:val>
                                            <p:strVal val="#ppt_x"/>
                                          </p:val>
                                        </p:tav>
                                      </p:tavLst>
                                    </p:anim>
                                    <p:anim calcmode="lin" valueType="num">
                                      <p:cBhvr additive="base">
                                        <p:cTn id="14" dur="100" fill="hold"/>
                                        <p:tgtEl>
                                          <p:spTgt spid="141316">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3" fill="hold" grpId="0" nodeType="clickEffect">
                                  <p:stCondLst>
                                    <p:cond delay="0"/>
                                  </p:stCondLst>
                                  <p:iterate type="lt">
                                    <p:tmPct val="100000"/>
                                  </p:iterate>
                                  <p:childTnLst>
                                    <p:set>
                                      <p:cBhvr>
                                        <p:cTn id="18" dur="100" fill="hold">
                                          <p:stCondLst>
                                            <p:cond delay="0"/>
                                          </p:stCondLst>
                                        </p:cTn>
                                        <p:tgtEl>
                                          <p:spTgt spid="141317">
                                            <p:txEl>
                                              <p:pRg st="0" end="0"/>
                                            </p:txEl>
                                          </p:spTgt>
                                        </p:tgtEl>
                                        <p:attrNameLst>
                                          <p:attrName>style.visibility</p:attrName>
                                        </p:attrNameLst>
                                      </p:cBhvr>
                                      <p:to>
                                        <p:strVal val="visible"/>
                                      </p:to>
                                    </p:set>
                                    <p:anim calcmode="lin" valueType="num">
                                      <p:cBhvr additive="base">
                                        <p:cTn id="19" dur="100" fill="hold"/>
                                        <p:tgtEl>
                                          <p:spTgt spid="141317">
                                            <p:txEl>
                                              <p:pRg st="0" end="0"/>
                                            </p:txEl>
                                          </p:spTgt>
                                        </p:tgtEl>
                                        <p:attrNameLst>
                                          <p:attrName>ppt_x</p:attrName>
                                        </p:attrNameLst>
                                      </p:cBhvr>
                                      <p:tavLst>
                                        <p:tav tm="0">
                                          <p:val>
                                            <p:strVal val="1+#ppt_w/2"/>
                                          </p:val>
                                        </p:tav>
                                        <p:tav tm="100000">
                                          <p:val>
                                            <p:strVal val="#ppt_x"/>
                                          </p:val>
                                        </p:tav>
                                      </p:tavLst>
                                    </p:anim>
                                    <p:anim calcmode="lin" valueType="num">
                                      <p:cBhvr additive="base">
                                        <p:cTn id="20" dur="100" fill="hold"/>
                                        <p:tgtEl>
                                          <p:spTgt spid="141317">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autoUpdateAnimBg="0" build="p"/>
      <p:bldP spid="141316" grpId="0" autoUpdateAnimBg="0" build="p"/>
      <p:bldP spid="141317" grpId="0" autoUpdateAnimBg="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smtClean="0"/>
              <a:t>教材</a:t>
            </a:r>
            <a:r>
              <a:rPr lang="en-US" altLang="zh-CN" sz="2800" dirty="0" smtClean="0"/>
              <a:t>P108 </a:t>
            </a:r>
            <a:r>
              <a:rPr lang="en-US" sz="2800" dirty="0" smtClean="0"/>
              <a:t>2.3-10</a:t>
            </a:r>
            <a:endParaRPr lang="en-US" sz="28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b="21680"/>
          <a:stretch>
            <a:fillRect/>
          </a:stretch>
        </p:blipFill>
        <p:spPr>
          <a:xfrm>
            <a:off x="0" y="1136015"/>
            <a:ext cx="9144000" cy="1284605"/>
          </a:xfrm>
          <a:prstGeom prst="rect">
            <a:avLst/>
          </a:prstGeom>
        </p:spPr>
      </p:pic>
      <mc:AlternateContent xmlns:mc="http://schemas.openxmlformats.org/markup-compatibility/2006">
        <mc:Choice xmlns:a14="http://schemas.microsoft.com/office/drawing/2010/main" Requires="a14">
          <p:sp>
            <p:nvSpPr>
              <p:cNvPr id="5" name="文本框 4"/>
              <p:cNvSpPr txBox="1"/>
              <p:nvPr/>
            </p:nvSpPr>
            <p:spPr>
              <a:xfrm>
                <a:off x="1001029" y="3801978"/>
                <a:ext cx="4851133" cy="461665"/>
              </a:xfrm>
              <a:prstGeom prst="rect">
                <a:avLst/>
              </a:prstGeom>
              <a:noFill/>
            </p:spPr>
            <p:txBody>
              <a:bodyPr wrap="square" rtlCol="0">
                <a:spAutoFit/>
              </a:bodyPr>
              <a:lstStyle/>
              <a:p>
                <a:r>
                  <a:rPr lang="zh-CN" altLang="en-US" sz="2400" dirty="0" smtClean="0"/>
                  <a:t>拉杆材料为</a:t>
                </a:r>
                <a:r>
                  <a:rPr lang="en-US" altLang="zh-CN" sz="2400" dirty="0" smtClean="0"/>
                  <a:t>Q235</a:t>
                </a:r>
                <a:r>
                  <a:rPr lang="zh-CN" altLang="en-US" sz="2400" dirty="0" smtClean="0"/>
                  <a:t>，</a:t>
                </a:r>
                <a14:m>
                  <m:oMath xmlns:m="http://schemas.openxmlformats.org/officeDocument/2006/math">
                    <m:d>
                      <m:dPr>
                        <m:begChr m:val="["/>
                        <m:endChr m:val="]"/>
                        <m:ctrlPr>
                          <a:rPr lang="en-US" altLang="zh-CN" sz="2400" b="0" i="1" smtClean="0">
                            <a:latin typeface="Cambria Math" panose="02040503050406030204" pitchFamily="18" charset="0"/>
                          </a:rPr>
                        </m:ctrlPr>
                      </m:dPr>
                      <m:e>
                        <m:r>
                          <a:rPr lang="zh-CN" altLang="en-US" sz="2400" b="0" i="1" smtClean="0">
                            <a:latin typeface="Cambria Math" panose="02040503050406030204" pitchFamily="18" charset="0"/>
                          </a:rPr>
                          <m:t>𝜎</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95</m:t>
                    </m:r>
                    <m:r>
                      <a:rPr lang="en-US" altLang="zh-CN" sz="2400" b="0" i="1" smtClean="0">
                        <a:latin typeface="Cambria Math" panose="02040503050406030204" pitchFamily="18" charset="0"/>
                      </a:rPr>
                      <m:t>𝑀𝑃𝑎</m:t>
                    </m:r>
                  </m:oMath>
                </a14:m>
                <a:endParaRPr lang="zh-CN" altLang="en-US" sz="2400" dirty="0"/>
              </a:p>
            </p:txBody>
          </p:sp>
        </mc:Choice>
        <mc:Fallback>
          <p:sp>
            <p:nvSpPr>
              <p:cNvPr id="5" name="文本框 4"/>
              <p:cNvSpPr txBox="1">
                <a:spLocks noRot="1" noChangeAspect="1" noMove="1" noResize="1" noEditPoints="1" noAdjustHandles="1" noChangeArrowheads="1" noChangeShapeType="1" noTextEdit="1"/>
              </p:cNvSpPr>
              <p:nvPr/>
            </p:nvSpPr>
            <p:spPr>
              <a:xfrm>
                <a:off x="1001029" y="3801978"/>
                <a:ext cx="4851133" cy="461665"/>
              </a:xfrm>
              <a:prstGeom prst="rect">
                <a:avLst/>
              </a:prstGeom>
              <a:blipFill rotWithShape="1">
                <a:blip r:embed="rId2"/>
                <a:stretch>
                  <a:fillRect l="-6" t="-50" b="55"/>
                </a:stretch>
              </a:blipFill>
            </p:spPr>
            <p:txBody>
              <a:bodyPr/>
              <a:lstStyle/>
              <a:p>
                <a:r>
                  <a:rPr lang="zh-CN" altLang="en-US">
                    <a:noFill/>
                  </a:rPr>
                  <a:t> </a:t>
                </a:r>
              </a:p>
            </p:txBody>
          </p:sp>
        </mc:Fallback>
      </mc:AlternateContent>
      <p:sp>
        <p:nvSpPr>
          <p:cNvPr id="6" name="文本框 5"/>
          <p:cNvSpPr txBox="1"/>
          <p:nvPr/>
        </p:nvSpPr>
        <p:spPr>
          <a:xfrm>
            <a:off x="875898" y="3070459"/>
            <a:ext cx="4639377" cy="461665"/>
          </a:xfrm>
          <a:prstGeom prst="rect">
            <a:avLst/>
          </a:prstGeom>
          <a:noFill/>
        </p:spPr>
        <p:txBody>
          <a:bodyPr wrap="square" rtlCol="0">
            <a:spAutoFit/>
          </a:bodyPr>
          <a:lstStyle/>
          <a:p>
            <a:r>
              <a:rPr lang="zh-CN" altLang="en-US" sz="2400" b="1" dirty="0" smtClean="0"/>
              <a:t>松螺栓连接</a:t>
            </a:r>
            <a:endParaRPr lang="zh-CN" altLang="en-US" sz="2400" b="1" dirty="0"/>
          </a:p>
        </p:txBody>
      </p:sp>
      <mc:AlternateContent xmlns:mc="http://schemas.openxmlformats.org/markup-compatibility/2006">
        <mc:Choice xmlns:a14="http://schemas.microsoft.com/office/drawing/2010/main" Requires="a14">
          <p:sp>
            <p:nvSpPr>
              <p:cNvPr id="7" name="文本框 6"/>
              <p:cNvSpPr txBox="1"/>
              <p:nvPr/>
            </p:nvSpPr>
            <p:spPr>
              <a:xfrm>
                <a:off x="471638" y="4552748"/>
                <a:ext cx="3696101" cy="88171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𝜎</m:t>
                      </m:r>
                      <m:r>
                        <a:rPr lang="en-US" altLang="zh-CN" i="1">
                          <a:latin typeface="Cambria Math" panose="02040503050406030204" pitchFamily="18" charset="0"/>
                        </a:rPr>
                        <m:t>=</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𝐹</m:t>
                          </m:r>
                        </m:num>
                        <m:den>
                          <m:f>
                            <m:fPr>
                              <m:ctrlPr>
                                <a:rPr lang="en-US" altLang="zh-CN" i="1" smtClean="0">
                                  <a:latin typeface="Cambria Math" panose="02040503050406030204" pitchFamily="18" charset="0"/>
                                </a:rPr>
                              </m:ctrlPr>
                            </m:fPr>
                            <m:num>
                              <m:r>
                                <a:rPr lang="zh-CN" altLang="en-US" i="1" smtClean="0">
                                  <a:latin typeface="Cambria Math" panose="02040503050406030204" pitchFamily="18" charset="0"/>
                                </a:rPr>
                                <m:t>𝜋</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𝑑</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2</m:t>
                                  </m:r>
                                </m:sup>
                              </m:sSubSup>
                            </m:num>
                            <m:den>
                              <m:r>
                                <a:rPr lang="en-US" altLang="zh-CN" b="0" i="1" smtClean="0">
                                  <a:latin typeface="Cambria Math" panose="02040503050406030204" pitchFamily="18" charset="0"/>
                                </a:rPr>
                                <m:t>4</m:t>
                              </m:r>
                            </m:den>
                          </m:f>
                        </m:den>
                      </m:f>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𝜎</m:t>
                      </m:r>
                      <m:r>
                        <a:rPr lang="en-US" altLang="zh-CN" b="0"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7" name="文本框 6"/>
              <p:cNvSpPr txBox="1">
                <a:spLocks noRot="1" noChangeAspect="1" noMove="1" noResize="1" noEditPoints="1" noAdjustHandles="1" noChangeArrowheads="1" noChangeShapeType="1" noTextEdit="1"/>
              </p:cNvSpPr>
              <p:nvPr/>
            </p:nvSpPr>
            <p:spPr>
              <a:xfrm>
                <a:off x="471638" y="4552748"/>
                <a:ext cx="3696101" cy="881716"/>
              </a:xfrm>
              <a:prstGeom prst="rect">
                <a:avLst/>
              </a:prstGeom>
              <a:blipFill rotWithShape="1">
                <a:blip r:embed="rId3"/>
                <a:stretch>
                  <a:fillRect l="-13" t="-49" r="6" b="-122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3715351" y="4697128"/>
                <a:ext cx="5188017" cy="843885"/>
              </a:xfrm>
              <a:prstGeom prst="rect">
                <a:avLst/>
              </a:prstGeom>
              <a:noFill/>
            </p:spPr>
            <p:txBody>
              <a:bodyPr wrap="square" rtlCol="0">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𝑑</m:t>
                        </m:r>
                      </m:e>
                      <m:sub>
                        <m:r>
                          <a:rPr lang="en-US" altLang="zh-CN" sz="2400" b="0" i="1" smtClean="0">
                            <a:latin typeface="Cambria Math" panose="02040503050406030204" pitchFamily="18" charset="0"/>
                          </a:rPr>
                          <m:t>1</m:t>
                        </m:r>
                      </m:sub>
                    </m:sSub>
                    <m:r>
                      <a:rPr lang="en-US" altLang="zh-CN" sz="2400" i="1" smtClean="0">
                        <a:latin typeface="Cambria Math" panose="02040503050406030204" pitchFamily="18" charset="0"/>
                        <a:ea typeface="Cambria Math" panose="02040503050406030204" pitchFamily="18" charset="0"/>
                      </a:rPr>
                      <m:t>≥</m:t>
                    </m:r>
                    <m:rad>
                      <m:radPr>
                        <m:degHide m:val="on"/>
                        <m:ctrlPr>
                          <a:rPr lang="en-US" altLang="zh-CN" sz="2400" i="1" smtClean="0">
                            <a:latin typeface="Cambria Math" panose="02040503050406030204" pitchFamily="18" charset="0"/>
                            <a:ea typeface="Cambria Math" panose="02040503050406030204" pitchFamily="18" charset="0"/>
                          </a:rPr>
                        </m:ctrlPr>
                      </m:radPr>
                      <m:deg/>
                      <m:e>
                        <m:f>
                          <m:fPr>
                            <m:ctrlPr>
                              <a:rPr lang="en-US" altLang="zh-CN" sz="240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4</m:t>
                            </m:r>
                            <m:r>
                              <a:rPr lang="en-US" altLang="zh-CN" sz="2400" b="0" i="1" smtClean="0">
                                <a:latin typeface="Cambria Math" panose="02040503050406030204" pitchFamily="18" charset="0"/>
                                <a:ea typeface="Cambria Math" panose="02040503050406030204" pitchFamily="18" charset="0"/>
                              </a:rPr>
                              <m:t>𝐹</m:t>
                            </m:r>
                          </m:num>
                          <m:den>
                            <m:r>
                              <a:rPr lang="zh-CN" altLang="en-US" sz="2400" i="1" smtClean="0">
                                <a:latin typeface="Cambria Math" panose="02040503050406030204" pitchFamily="18" charset="0"/>
                                <a:ea typeface="Cambria Math" panose="02040503050406030204" pitchFamily="18" charset="0"/>
                              </a:rPr>
                              <m:t>𝜋</m:t>
                            </m:r>
                            <m:r>
                              <a:rPr lang="en-US" altLang="zh-CN" sz="2400" b="0" i="1" smtClean="0">
                                <a:latin typeface="Cambria Math" panose="02040503050406030204" pitchFamily="18" charset="0"/>
                                <a:ea typeface="Cambria Math" panose="02040503050406030204" pitchFamily="18" charset="0"/>
                              </a:rPr>
                              <m:t>[</m:t>
                            </m:r>
                            <m:r>
                              <a:rPr lang="zh-CN" altLang="en-US" sz="2400" b="0" i="1" smtClean="0">
                                <a:latin typeface="Cambria Math" panose="02040503050406030204" pitchFamily="18" charset="0"/>
                                <a:ea typeface="Cambria Math" panose="02040503050406030204" pitchFamily="18" charset="0"/>
                              </a:rPr>
                              <m:t>𝜎</m:t>
                            </m:r>
                            <m:r>
                              <a:rPr lang="en-US" altLang="zh-CN" sz="2400" b="0" i="1" smtClean="0">
                                <a:latin typeface="Cambria Math" panose="02040503050406030204" pitchFamily="18" charset="0"/>
                                <a:ea typeface="Cambria Math" panose="02040503050406030204" pitchFamily="18" charset="0"/>
                              </a:rPr>
                              <m:t>]</m:t>
                            </m:r>
                          </m:den>
                        </m:f>
                      </m:e>
                    </m:rad>
                  </m:oMath>
                </a14:m>
                <a:r>
                  <a:rPr lang="en-US" altLang="zh-CN" sz="2400" dirty="0" smtClean="0"/>
                  <a:t>=</a:t>
                </a:r>
                <a14:m>
                  <m:oMath xmlns:m="http://schemas.openxmlformats.org/officeDocument/2006/math">
                    <m:rad>
                      <m:radPr>
                        <m:degHide m:val="on"/>
                        <m:ctrlPr>
                          <a:rPr lang="en-US" altLang="zh-CN" sz="2400" i="1" dirty="0" smtClean="0">
                            <a:latin typeface="Cambria Math" panose="02040503050406030204" pitchFamily="18" charset="0"/>
                          </a:rPr>
                        </m:ctrlPr>
                      </m:radPr>
                      <m:deg/>
                      <m:e>
                        <m:f>
                          <m:fPr>
                            <m:ctrlPr>
                              <a:rPr lang="en-US" altLang="zh-CN" sz="2400" i="1" dirty="0" smtClean="0">
                                <a:latin typeface="Cambria Math" panose="02040503050406030204" pitchFamily="18" charset="0"/>
                              </a:rPr>
                            </m:ctrlPr>
                          </m:fPr>
                          <m:num>
                            <m:r>
                              <a:rPr lang="en-US" altLang="zh-CN" sz="2400" b="0" i="1" dirty="0" smtClean="0">
                                <a:latin typeface="Cambria Math" panose="02040503050406030204" pitchFamily="18" charset="0"/>
                              </a:rPr>
                              <m:t>4</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rPr>
                              <m:t>56</m:t>
                            </m:r>
                            <m:r>
                              <a:rPr lang="en-US" altLang="zh-CN" sz="2400" b="0" i="1" dirty="0" smtClean="0">
                                <a:latin typeface="Cambria Math" panose="02040503050406030204" pitchFamily="18" charset="0"/>
                                <a:ea typeface="Cambria Math" panose="02040503050406030204" pitchFamily="18" charset="0"/>
                              </a:rPr>
                              <m:t>×</m:t>
                            </m:r>
                            <m:sSup>
                              <m:sSupPr>
                                <m:ctrlPr>
                                  <a:rPr lang="en-US" altLang="zh-CN" sz="2400" b="0" i="1" dirty="0" smtClean="0">
                                    <a:latin typeface="Cambria Math" panose="02040503050406030204" pitchFamily="18" charset="0"/>
                                    <a:ea typeface="Cambria Math" panose="02040503050406030204" pitchFamily="18" charset="0"/>
                                  </a:rPr>
                                </m:ctrlPr>
                              </m:sSupPr>
                              <m:e>
                                <m:r>
                                  <a:rPr lang="en-US" altLang="zh-CN" sz="2400" b="0" i="1" dirty="0" smtClean="0">
                                    <a:latin typeface="Cambria Math" panose="02040503050406030204" pitchFamily="18" charset="0"/>
                                    <a:ea typeface="Cambria Math" panose="02040503050406030204" pitchFamily="18" charset="0"/>
                                  </a:rPr>
                                  <m:t>10</m:t>
                                </m:r>
                              </m:e>
                              <m:sup>
                                <m:r>
                                  <a:rPr lang="en-US" altLang="zh-CN" sz="2400" b="0" i="1" dirty="0" smtClean="0">
                                    <a:latin typeface="Cambria Math" panose="02040503050406030204" pitchFamily="18" charset="0"/>
                                    <a:ea typeface="Cambria Math" panose="02040503050406030204" pitchFamily="18" charset="0"/>
                                  </a:rPr>
                                  <m:t>3</m:t>
                                </m:r>
                              </m:sup>
                            </m:sSup>
                          </m:num>
                          <m:den>
                            <m:r>
                              <a:rPr lang="en-US" altLang="zh-CN" sz="2400" b="0" i="1" dirty="0" smtClean="0">
                                <a:latin typeface="Cambria Math" panose="02040503050406030204" pitchFamily="18" charset="0"/>
                              </a:rPr>
                              <m:t>3</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14</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95</m:t>
                            </m:r>
                            <m:r>
                              <a:rPr lang="en-US" altLang="zh-CN" sz="2400" b="0" i="1" dirty="0" smtClean="0">
                                <a:latin typeface="Cambria Math" panose="02040503050406030204" pitchFamily="18" charset="0"/>
                                <a:ea typeface="Cambria Math" panose="02040503050406030204" pitchFamily="18" charset="0"/>
                              </a:rPr>
                              <m:t>×</m:t>
                            </m:r>
                            <m:sSup>
                              <m:sSupPr>
                                <m:ctrlPr>
                                  <a:rPr lang="en-US" altLang="zh-CN" sz="2400" b="0" i="1" dirty="0" smtClean="0">
                                    <a:latin typeface="Cambria Math" panose="02040503050406030204" pitchFamily="18" charset="0"/>
                                    <a:ea typeface="Cambria Math" panose="02040503050406030204" pitchFamily="18" charset="0"/>
                                  </a:rPr>
                                </m:ctrlPr>
                              </m:sSupPr>
                              <m:e>
                                <m:r>
                                  <a:rPr lang="en-US" altLang="zh-CN" sz="2400" b="0" i="1" dirty="0" smtClean="0">
                                    <a:latin typeface="Cambria Math" panose="02040503050406030204" pitchFamily="18" charset="0"/>
                                    <a:ea typeface="Cambria Math" panose="02040503050406030204" pitchFamily="18" charset="0"/>
                                  </a:rPr>
                                  <m:t>10</m:t>
                                </m:r>
                              </m:e>
                              <m:sup>
                                <m:r>
                                  <a:rPr lang="en-US" altLang="zh-CN" sz="2400" b="0" i="1" dirty="0" smtClean="0">
                                    <a:latin typeface="Cambria Math" panose="02040503050406030204" pitchFamily="18" charset="0"/>
                                    <a:ea typeface="Cambria Math" panose="02040503050406030204" pitchFamily="18" charset="0"/>
                                  </a:rPr>
                                  <m:t>6</m:t>
                                </m:r>
                              </m:sup>
                            </m:sSup>
                          </m:den>
                        </m:f>
                      </m:e>
                    </m:rad>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27</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4</m:t>
                    </m:r>
                    <m:r>
                      <m:rPr>
                        <m:sty m:val="p"/>
                      </m:rPr>
                      <a:rPr lang="en-US" altLang="zh-CN" sz="2400" i="1" dirty="0">
                        <a:latin typeface="Cambria Math" panose="02040503050406030204" pitchFamily="18" charset="0"/>
                      </a:rPr>
                      <m:t>mm</m:t>
                    </m:r>
                  </m:oMath>
                </a14:m>
                <a:endParaRPr lang="zh-CN" altLang="en-US" sz="2400" dirty="0"/>
              </a:p>
            </p:txBody>
          </p:sp>
        </mc:Choice>
        <mc:Fallback>
          <p:sp>
            <p:nvSpPr>
              <p:cNvPr id="8" name="文本框 7"/>
              <p:cNvSpPr txBox="1">
                <a:spLocks noRot="1" noChangeAspect="1" noMove="1" noResize="1" noEditPoints="1" noAdjustHandles="1" noChangeArrowheads="1" noChangeShapeType="1" noTextEdit="1"/>
              </p:cNvSpPr>
              <p:nvPr/>
            </p:nvSpPr>
            <p:spPr>
              <a:xfrm>
                <a:off x="3715351" y="4697128"/>
                <a:ext cx="5188017" cy="843885"/>
              </a:xfrm>
              <a:prstGeom prst="rect">
                <a:avLst/>
              </a:prstGeom>
              <a:blipFill rotWithShape="1">
                <a:blip r:embed="rId4"/>
                <a:stretch>
                  <a:fillRect l="-12" t="-4" r="1" b="-4815"/>
                </a:stretch>
              </a:blipFill>
            </p:spPr>
            <p:txBody>
              <a:bodyPr/>
              <a:lstStyle/>
              <a:p>
                <a:r>
                  <a:rPr lang="zh-CN" altLang="en-US">
                    <a:noFill/>
                  </a:rPr>
                  <a:t> </a:t>
                </a:r>
              </a:p>
            </p:txBody>
          </p:sp>
        </mc:Fallback>
      </mc:AlternateContent>
      <p:sp>
        <p:nvSpPr>
          <p:cNvPr id="9" name="文本框 8"/>
          <p:cNvSpPr txBox="1"/>
          <p:nvPr/>
        </p:nvSpPr>
        <p:spPr>
          <a:xfrm>
            <a:off x="1241659" y="5871409"/>
            <a:ext cx="6035040" cy="461665"/>
          </a:xfrm>
          <a:prstGeom prst="rect">
            <a:avLst/>
          </a:prstGeom>
          <a:noFill/>
        </p:spPr>
        <p:txBody>
          <a:bodyPr wrap="square" rtlCol="0">
            <a:spAutoFit/>
          </a:bodyPr>
          <a:lstStyle/>
          <a:p>
            <a:r>
              <a:rPr lang="zh-CN" altLang="en-US" sz="2400" dirty="0" smtClean="0"/>
              <a:t>按标准取螺栓的直径为</a:t>
            </a:r>
            <a:r>
              <a:rPr lang="en-US" altLang="zh-CN" sz="2400" dirty="0" smtClean="0"/>
              <a:t>d=30mm</a:t>
            </a:r>
            <a:endParaRPr lang="zh-CN" altLang="en-US" sz="2400" dirty="0"/>
          </a:p>
        </p:txBody>
      </p:sp>
      <p:sp>
        <p:nvSpPr>
          <p:cNvPr id="3" name="文本框 2"/>
          <p:cNvSpPr txBox="1"/>
          <p:nvPr/>
        </p:nvSpPr>
        <p:spPr>
          <a:xfrm>
            <a:off x="3460750" y="2370455"/>
            <a:ext cx="2610485" cy="429895"/>
          </a:xfrm>
          <a:prstGeom prst="rect">
            <a:avLst/>
          </a:prstGeom>
          <a:noFill/>
        </p:spPr>
        <p:txBody>
          <a:bodyPr wrap="square" rtlCol="0">
            <a:spAutoFit/>
          </a:bodyPr>
          <a:p>
            <a:r>
              <a:rPr lang="zh-CN" altLang="en-US"/>
              <a:t>螺纹拉紧装置</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p:bldP spid="7" grpId="0" bldLvl="0" animBg="1"/>
      <p:bldP spid="8" grpId="0" bldLvl="0" animBg="1"/>
      <p:bldP spid="9" grpId="0"/>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3"/>
          <p:cNvPicPr>
            <a:picLocks noChangeAspect="1"/>
          </p:cNvPicPr>
          <p:nvPr>
            <p:custDataLst>
              <p:tags r:id="rId1"/>
            </p:custDataLst>
          </p:nvPr>
        </p:nvPicPr>
        <p:blipFill>
          <a:blip r:embed="rId2"/>
          <a:srcRect l="1634" t="-250" r="4715" b="1472"/>
          <a:stretch>
            <a:fillRect/>
          </a:stretch>
        </p:blipFill>
        <p:spPr>
          <a:xfrm>
            <a:off x="790575" y="41910"/>
            <a:ext cx="4730115" cy="6774180"/>
          </a:xfrm>
          <a:prstGeom prst="rect">
            <a:avLst/>
          </a:prstGeom>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lum bright="6000" contrast="6000"/>
          </a:blip>
          <a:stretch>
            <a:fillRect/>
          </a:stretch>
        </p:blipFill>
        <p:spPr>
          <a:xfrm>
            <a:off x="995680" y="562610"/>
            <a:ext cx="3403600" cy="3378200"/>
          </a:xfrm>
          <a:prstGeom prst="rect">
            <a:avLst/>
          </a:prstGeom>
        </p:spPr>
      </p:pic>
      <p:pic>
        <p:nvPicPr>
          <p:cNvPr id="5" name="图片 4"/>
          <p:cNvPicPr>
            <a:picLocks noChangeAspect="1"/>
          </p:cNvPicPr>
          <p:nvPr/>
        </p:nvPicPr>
        <p:blipFill>
          <a:blip r:embed="rId3"/>
          <a:stretch>
            <a:fillRect/>
          </a:stretch>
        </p:blipFill>
        <p:spPr>
          <a:xfrm>
            <a:off x="4592320" y="300355"/>
            <a:ext cx="4254500" cy="4241800"/>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2172335" y="334645"/>
            <a:ext cx="4799965" cy="6342380"/>
          </a:xfrm>
          <a:prstGeom prst="rect">
            <a:avLst/>
          </a:prstGeom>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186940" y="127635"/>
            <a:ext cx="4529455" cy="6603365"/>
          </a:xfrm>
          <a:prstGeom prst="rect">
            <a:avLst/>
          </a:prstGeom>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784350" y="416560"/>
            <a:ext cx="5575300" cy="5842000"/>
          </a:xfrm>
          <a:prstGeom prst="rect">
            <a:avLst/>
          </a:prstGeom>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37320" y="1511166"/>
            <a:ext cx="3157087" cy="584775"/>
          </a:xfrm>
          <a:prstGeom prst="rect">
            <a:avLst/>
          </a:prstGeom>
          <a:noFill/>
          <a:ln>
            <a:solidFill>
              <a:srgbClr val="40498C"/>
            </a:solidFill>
          </a:ln>
        </p:spPr>
        <p:txBody>
          <a:bodyPr wrap="square" rtlCol="0">
            <a:spAutoFit/>
          </a:bodyPr>
          <a:lstStyle/>
          <a:p>
            <a:pPr algn="ctr"/>
            <a:r>
              <a:rPr lang="zh-CN" altLang="en-US" sz="3200" dirty="0" smtClean="0">
                <a:solidFill>
                  <a:srgbClr val="C00000"/>
                </a:solidFill>
                <a:latin typeface="黑体" panose="02010609060101010101" pitchFamily="49" charset="-122"/>
                <a:ea typeface="黑体" panose="02010609060101010101" pitchFamily="49" charset="-122"/>
              </a:rPr>
              <a:t>本章作业</a:t>
            </a:r>
            <a:endParaRPr lang="zh-CN" altLang="en-US" sz="32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589915" y="2962275"/>
            <a:ext cx="7463155" cy="1383665"/>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p:spPr>
        <p:txBody>
          <a:bodyPr wrap="square" rtlCol="0">
            <a:spAutoFit/>
          </a:bodyPr>
          <a:lstStyle/>
          <a:p>
            <a:pPr>
              <a:lnSpc>
                <a:spcPct val="150000"/>
              </a:lnSpc>
            </a:pPr>
            <a:r>
              <a:rPr lang="en-US" altLang="zh-CN" sz="2800" dirty="0" smtClean="0">
                <a:solidFill>
                  <a:srgbClr val="C00000"/>
                </a:solidFill>
                <a:latin typeface="黑体" panose="02010609060101010101" pitchFamily="49" charset="-122"/>
                <a:ea typeface="黑体" panose="02010609060101010101" pitchFamily="49" charset="-122"/>
              </a:rPr>
              <a:t>P107~108</a:t>
            </a:r>
            <a:r>
              <a:rPr lang="zh-CN" altLang="en-US" sz="2800" dirty="0" smtClean="0">
                <a:solidFill>
                  <a:srgbClr val="C00000"/>
                </a:solidFill>
                <a:latin typeface="黑体" panose="02010609060101010101" pitchFamily="49" charset="-122"/>
                <a:ea typeface="黑体" panose="02010609060101010101" pitchFamily="49" charset="-122"/>
              </a:rPr>
              <a:t>：</a:t>
            </a:r>
            <a:endParaRPr lang="en-US" altLang="zh-CN" sz="2800" dirty="0" smtClean="0">
              <a:solidFill>
                <a:srgbClr val="C00000"/>
              </a:solidFill>
              <a:latin typeface="黑体" panose="02010609060101010101" pitchFamily="49" charset="-122"/>
              <a:ea typeface="黑体" panose="02010609060101010101" pitchFamily="49" charset="-122"/>
            </a:endParaRPr>
          </a:p>
          <a:p>
            <a:pPr>
              <a:lnSpc>
                <a:spcPct val="150000"/>
              </a:lnSpc>
            </a:pPr>
            <a:r>
              <a:rPr lang="en-US" altLang="zh-CN" sz="2800" dirty="0" smtClean="0">
                <a:latin typeface="黑体" panose="02010609060101010101" pitchFamily="49" charset="-122"/>
                <a:ea typeface="黑体" panose="02010609060101010101" pitchFamily="49" charset="-122"/>
              </a:rPr>
              <a:t>     2.3-5, 2.3-6 ,2.3-7, 2.3-10</a:t>
            </a:r>
            <a:r>
              <a:rPr lang="zh-CN" altLang="en-US"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2.3-11</a:t>
            </a:r>
            <a:endParaRPr lang="en-US" altLang="zh-CN" sz="2800" dirty="0" smtClean="0">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Bullet"/>
  <p:tag name="RAINPROBLEMTYPE" val="MultipleChoice"/>
  <p:tag name="RAINBULLET" val="Correct"/>
</p:tagLst>
</file>

<file path=ppt/tags/tag6.xml><?xml version="1.0" encoding="utf-8"?>
<p:tagLst xmlns:p="http://schemas.openxmlformats.org/presentationml/2006/main">
  <p:tag name="RAINPROBLEM" val="ProblemBullet"/>
  <p:tag name="RAINPROBLEMTYPE" val="MultipleChoice"/>
  <p:tag name="RAINBULLET" val="Wrong"/>
</p:tagLst>
</file>

<file path=ppt/tags/tag7.xml><?xml version="1.0" encoding="utf-8"?>
<p:tagLst xmlns:p="http://schemas.openxmlformats.org/presentationml/2006/main">
  <p:tag name="RAINPROBLEM" val="ProblemBullet"/>
  <p:tag name="RAINPROBLEMTYPE" val="MultipleChoice"/>
  <p:tag name="RAINBULLET" val="Wrong"/>
</p:tagLst>
</file>

<file path=ppt/tags/tag8.xml><?xml version="1.0" encoding="utf-8"?>
<p:tagLst xmlns:p="http://schemas.openxmlformats.org/presentationml/2006/main">
  <p:tag name="RAINPROBLEM" val="ProblemSubmit"/>
  <p:tag name="RAINPROBLEMTYPE" val="MultipleChoice"/>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RAINPROBLEMTYPE" val="ProblemTypeMarker"/>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 val="ProblemSetting"/>
  <p:tag name="RAINPROBLEMTYPE" val="MultipleChoice"/>
</p:tagLst>
</file>

<file path=ppt/tags/tag16.xml><?xml version="1.0" encoding="utf-8"?>
<p:tagLst xmlns:p="http://schemas.openxmlformats.org/presentationml/2006/main">
  <p:tag name="RAINPROBLEM" val="MultipleChoice"/>
  <p:tag name="PROBLEMSCORE" val="2.0"/>
</p:tagLst>
</file>

<file path=ppt/tags/tag17.xml><?xml version="1.0" encoding="utf-8"?>
<p:tagLst xmlns:p="http://schemas.openxmlformats.org/presentationml/2006/main">
  <p:tag name="RAINPROBLEM" val="ProblemBody"/>
</p:tagLst>
</file>

<file path=ppt/tags/tag18.xml><?xml version="1.0" encoding="utf-8"?>
<p:tagLst xmlns:p="http://schemas.openxmlformats.org/presentationml/2006/main">
  <p:tag name="RAINPROBLEM" val="ProblemItem"/>
</p:tagLst>
</file>

<file path=ppt/tags/tag19.xml><?xml version="1.0" encoding="utf-8"?>
<p:tagLst xmlns:p="http://schemas.openxmlformats.org/presentationml/2006/main">
  <p:tag name="RAINPROBLEM" val="ProblemItem"/>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Bullet"/>
  <p:tag name="RAINPROBLEMTYPE" val="MultipleChoice"/>
  <p:tag name="RAINBULLET" val="Wrong"/>
</p:tagLst>
</file>

<file path=ppt/tags/tag23.xml><?xml version="1.0" encoding="utf-8"?>
<p:tagLst xmlns:p="http://schemas.openxmlformats.org/presentationml/2006/main">
  <p:tag name="RAINPROBLEM" val="ProblemBullet"/>
  <p:tag name="RAINPROBLEMTYPE" val="MultipleChoice"/>
  <p:tag name="RAINBULLET" val="Wrong"/>
</p:tagLst>
</file>

<file path=ppt/tags/tag24.xml><?xml version="1.0" encoding="utf-8"?>
<p:tagLst xmlns:p="http://schemas.openxmlformats.org/presentationml/2006/main">
  <p:tag name="RAINPROBLEM" val="ProblemBullet"/>
  <p:tag name="RAINPROBLEMTYPE" val="MultipleChoice"/>
  <p:tag name="RAINBULLET" val="Wrong"/>
</p:tagLst>
</file>

<file path=ppt/tags/tag25.xml><?xml version="1.0" encoding="utf-8"?>
<p:tagLst xmlns:p="http://schemas.openxmlformats.org/presentationml/2006/main">
  <p:tag name="RAINPROBLEM" val="ProblemBullet"/>
  <p:tag name="RAINPROBLEMTYPE" val="MultipleChoice"/>
  <p:tag name="RAINBULLET" val="Correct"/>
</p:tagLst>
</file>

<file path=ppt/tags/tag26.xml><?xml version="1.0" encoding="utf-8"?>
<p:tagLst xmlns:p="http://schemas.openxmlformats.org/presentationml/2006/main">
  <p:tag name="RAINPROBLEM" val="ProblemSubmit"/>
  <p:tag name="RAINPROBLEMTYPE" val="MultipleChoice"/>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RAINPROBLEMTYPE" val="ProblemTypeMarker"/>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 val="ProblemSetting"/>
  <p:tag name="RAINPROBLEMTYPE" val="MultipleChoice"/>
</p:tagLst>
</file>

<file path=ppt/tags/tag34.xml><?xml version="1.0" encoding="utf-8"?>
<p:tagLst xmlns:p="http://schemas.openxmlformats.org/presentationml/2006/main">
  <p:tag name="RAINPROBLEM" val="MultipleChoice"/>
  <p:tag name="PROBLEMSCORE" val="2.0"/>
</p:tagLst>
</file>

<file path=ppt/tags/tag35.xml><?xml version="1.0" encoding="utf-8"?>
<p:tagLst xmlns:p="http://schemas.openxmlformats.org/presentationml/2006/main">
  <p:tag name="RAINPROBLEM" val="ProblemBody"/>
</p:tagLst>
</file>

<file path=ppt/tags/tag36.xml><?xml version="1.0" encoding="utf-8"?>
<p:tagLst xmlns:p="http://schemas.openxmlformats.org/presentationml/2006/main">
  <p:tag name="RAINPROBLEM" val="ProblemItem"/>
</p:tagLst>
</file>

<file path=ppt/tags/tag37.xml><?xml version="1.0" encoding="utf-8"?>
<p:tagLst xmlns:p="http://schemas.openxmlformats.org/presentationml/2006/main">
  <p:tag name="RAINPROBLEM" val="ProblemItem"/>
</p:tagLst>
</file>

<file path=ppt/tags/tag38.xml><?xml version="1.0" encoding="utf-8"?>
<p:tagLst xmlns:p="http://schemas.openxmlformats.org/presentationml/2006/main">
  <p:tag name="RAINPROBLEM" val="ProblemItem"/>
</p:tagLst>
</file>

<file path=ppt/tags/tag39.xml><?xml version="1.0" encoding="utf-8"?>
<p:tagLst xmlns:p="http://schemas.openxmlformats.org/presentationml/2006/main">
  <p:tag name="RAINPROBLEM" val="ProblemBullet"/>
  <p:tag name="RAINPROBLEMTYPE" val="MultipleChoice"/>
  <p:tag name="RAINBULLET" val="Wrong"/>
</p:tagLst>
</file>

<file path=ppt/tags/tag40.xml><?xml version="1.0" encoding="utf-8"?>
<p:tagLst xmlns:p="http://schemas.openxmlformats.org/presentationml/2006/main">
  <p:tag name="RAINPROBLEM" val="ProblemBullet"/>
  <p:tag name="RAINPROBLEMTYPE" val="MultipleChoice"/>
  <p:tag name="RAINBULLET" val="Wrong"/>
</p:tagLst>
</file>

<file path=ppt/tags/tag41.xml><?xml version="1.0" encoding="utf-8"?>
<p:tagLst xmlns:p="http://schemas.openxmlformats.org/presentationml/2006/main">
  <p:tag name="RAINPROBLEM" val="ProblemBullet"/>
  <p:tag name="RAINPROBLEMTYPE" val="MultipleChoice"/>
  <p:tag name="RAINBULLET" val="Correct"/>
</p:tagLst>
</file>

<file path=ppt/tags/tag42.xml><?xml version="1.0" encoding="utf-8"?>
<p:tagLst xmlns:p="http://schemas.openxmlformats.org/presentationml/2006/main">
  <p:tag name="RAINPROBLEM" val="ProblemSubmit"/>
  <p:tag name="RAINPROBLEMTYPE" val="MultipleChoice"/>
</p:tagLst>
</file>

<file path=ppt/tags/tag43.xml><?xml version="1.0" encoding="utf-8"?>
<p:tagLst xmlns:p="http://schemas.openxmlformats.org/presentationml/2006/main">
  <p:tag name="RAINPROBLEMTYPE" val="ProblemTypeMarker"/>
</p:tagLst>
</file>

<file path=ppt/tags/tag44.xml><?xml version="1.0" encoding="utf-8"?>
<p:tagLst xmlns:p="http://schemas.openxmlformats.org/presentationml/2006/main">
  <p:tag name="RAINPROBLEMTYPE" val="ProblemTypeMarker"/>
</p:tagLst>
</file>

<file path=ppt/tags/tag45.xml><?xml version="1.0" encoding="utf-8"?>
<p:tagLst xmlns:p="http://schemas.openxmlformats.org/presentationml/2006/main">
  <p:tag name="RAINPROBLEMTYPE" val="ProblemTypeMarker"/>
</p:tagLst>
</file>

<file path=ppt/tags/tag46.xml><?xml version="1.0" encoding="utf-8"?>
<p:tagLst xmlns:p="http://schemas.openxmlformats.org/presentationml/2006/main">
  <p:tag name="RAINPROBLEMTYPE" val="ProblemTypeMarker"/>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 val="ProblemSetting"/>
  <p:tag name="RAINPROBLEMTYPE" val="MultipleChoice"/>
</p:tagLst>
</file>

<file path=ppt/tags/tag49.xml><?xml version="1.0" encoding="utf-8"?>
<p:tagLst xmlns:p="http://schemas.openxmlformats.org/presentationml/2006/main">
  <p:tag name="RAINPROBLEM" val="MultipleChoice"/>
  <p:tag name="PROBLEMSCORE" val="2.0"/>
</p:tagLst>
</file>

<file path=ppt/tags/tag50.xml><?xml version="1.0" encoding="utf-8"?>
<p:tagLst xmlns:p="http://schemas.openxmlformats.org/presentationml/2006/main">
  <p:tag name="KSO_WM_UNIT_TABLE_BEAUTIFY" val="smartTable{b6d35bb1-a9cc-4575-82af-308a3abbda39}"/>
</p:tagLst>
</file>

<file path=ppt/tags/tag51.xml><?xml version="1.0" encoding="utf-8"?>
<p:tagLst xmlns:p="http://schemas.openxmlformats.org/presentationml/2006/main">
  <p:tag name="KSO_WM_UNIT_PLACING_PICTURE_USER_VIEWPORT" val="{&quot;height&quot;:1600,&quot;width&quot;:6605}"/>
</p:tagLst>
</file>

<file path=ppt/tags/tag52.xml><?xml version="1.0" encoding="utf-8"?>
<p:tagLst xmlns:p="http://schemas.openxmlformats.org/presentationml/2006/main">
  <p:tag name="KSO_WM_UNIT_PLACING_PICTURE_USER_VIEWPORT" val="{&quot;height&quot;:10800,&quot;width&quot;:7954}"/>
</p:tagLst>
</file>

<file path=ppt/tags/tag53.xml><?xml version="1.0" encoding="utf-8"?>
<p:tagLst xmlns:p="http://schemas.openxmlformats.org/presentationml/2006/main">
  <p:tag name="KSO_WM_UNIT_PLACING_PICTURE_USER_VIEWPORT" val="{&quot;height&quot;:5320,&quot;width&quot;:5360}"/>
</p:tagLst>
</file>

<file path=ppt/tags/tag54.xml><?xml version="1.0" encoding="utf-8"?>
<p:tagLst xmlns:p="http://schemas.openxmlformats.org/presentationml/2006/main">
  <p:tag name="COMMONDATA" val="eyJoZGlkIjoiZmYwY2UxNzI0ODdjMTkzYTM2NmQ4OTdkNGYwMzJlYmMifQ=="/>
</p:tagLst>
</file>

<file path=ppt/theme/theme1.xml><?xml version="1.0" encoding="utf-8"?>
<a:theme xmlns:a="http://schemas.openxmlformats.org/drawingml/2006/main" name="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8380</Words>
  <Application>WPS 演示</Application>
  <PresentationFormat>全屏显示(4:3)</PresentationFormat>
  <Paragraphs>994</Paragraphs>
  <Slides>56</Slides>
  <Notes>3</Notes>
  <HiddenSlides>0</HiddenSlides>
  <MMClips>0</MMClips>
  <ScaleCrop>false</ScaleCrop>
  <HeadingPairs>
    <vt:vector size="8" baseType="variant">
      <vt:variant>
        <vt:lpstr>已用的字体</vt:lpstr>
      </vt:variant>
      <vt:variant>
        <vt:i4>17</vt:i4>
      </vt:variant>
      <vt:variant>
        <vt:lpstr>主题</vt:lpstr>
      </vt:variant>
      <vt:variant>
        <vt:i4>3</vt:i4>
      </vt:variant>
      <vt:variant>
        <vt:lpstr>嵌入 OLE 服务器</vt:lpstr>
      </vt:variant>
      <vt:variant>
        <vt:i4>82</vt:i4>
      </vt:variant>
      <vt:variant>
        <vt:lpstr>幻灯片标题</vt:lpstr>
      </vt:variant>
      <vt:variant>
        <vt:i4>56</vt:i4>
      </vt:variant>
    </vt:vector>
  </HeadingPairs>
  <TitlesOfParts>
    <vt:vector size="158" baseType="lpstr">
      <vt:lpstr>Arial</vt:lpstr>
      <vt:lpstr>宋体</vt:lpstr>
      <vt:lpstr>Wingdings</vt:lpstr>
      <vt:lpstr>Tahoma</vt:lpstr>
      <vt:lpstr>华文中宋</vt:lpstr>
      <vt:lpstr>黑体</vt:lpstr>
      <vt:lpstr>Times New Roman</vt:lpstr>
      <vt:lpstr>Cambria Math</vt:lpstr>
      <vt:lpstr>Symbol</vt:lpstr>
      <vt:lpstr>微软雅黑</vt:lpstr>
      <vt:lpstr>Arial Unicode MS</vt:lpstr>
      <vt:lpstr>Calibri</vt:lpstr>
      <vt:lpstr>方正大黑简体</vt:lpstr>
      <vt:lpstr>楷体_GB2312</vt:lpstr>
      <vt:lpstr>楷体_GB2312</vt:lpstr>
      <vt:lpstr>Plotter</vt:lpstr>
      <vt:lpstr>新宋体</vt:lpstr>
      <vt:lpstr>Blueprint</vt:lpstr>
      <vt:lpstr>1_Blueprint</vt:lpstr>
      <vt:lpstr>4_Blueprint</vt:lpstr>
      <vt:lpstr>Flash.Movie</vt:lpstr>
      <vt:lpstr>Equation.3</vt:lpstr>
      <vt:lpstr>Equation.3</vt:lpstr>
      <vt:lpstr>Equation.3</vt:lpstr>
      <vt:lpstr>Equation.3</vt:lpstr>
      <vt:lpstr>Equation.3</vt:lpstr>
      <vt:lpstr>Equation.KSEE3</vt:lpstr>
      <vt:lpstr>Equation.KSEE3</vt:lpstr>
      <vt:lpstr>Equation.KSEE3</vt:lpstr>
      <vt:lpstr>Equation.3</vt:lpstr>
      <vt:lpstr>Equation.DSMT4</vt:lpstr>
      <vt:lpstr>Equation.3</vt:lpstr>
      <vt:lpstr>Equation.3</vt:lpstr>
      <vt:lpstr>Equation.3</vt:lpstr>
      <vt:lpstr>Equation.3</vt:lpstr>
      <vt:lpstr>Equation.3</vt:lpstr>
      <vt:lpstr>Equation.DSMT4</vt:lpstr>
      <vt:lpstr>Equation.KSEE3</vt:lpstr>
      <vt:lpstr>Equation.KSEE3</vt:lpstr>
      <vt:lpstr>Equation.KSEE3</vt:lpstr>
      <vt:lpstr>Equation.KSEE3</vt:lpstr>
      <vt:lpstr>Equation.KSEE3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第2.3章 螺纹连接</vt:lpstr>
      <vt:lpstr>螺纹连接组的设计2</vt:lpstr>
      <vt:lpstr>螺纹连接组的设计3</vt:lpstr>
      <vt:lpstr>螺纹连接组的设计4</vt:lpstr>
      <vt:lpstr>PowerPoint 演示文稿</vt:lpstr>
      <vt:lpstr>螺纹连接组的设计5</vt:lpstr>
      <vt:lpstr>螺纹连接组的设计6</vt:lpstr>
      <vt:lpstr>螺纹连接组的设计7</vt:lpstr>
      <vt:lpstr>PowerPoint 演示文稿</vt:lpstr>
      <vt:lpstr>PowerPoint 演示文稿</vt:lpstr>
      <vt:lpstr>PowerPoint 演示文稿</vt:lpstr>
      <vt:lpstr>PowerPoint 演示文稿</vt:lpstr>
      <vt:lpstr>PowerPoint 演示文稿</vt:lpstr>
      <vt:lpstr>PowerPoint 演示文稿</vt:lpstr>
      <vt:lpstr>螺纹连接的强度计算1</vt:lpstr>
      <vt:lpstr>螺纹连接的强度计算1</vt:lpstr>
      <vt:lpstr>螺纹连接的强度计算2 </vt:lpstr>
      <vt:lpstr>减载措施</vt:lpstr>
      <vt:lpstr>PowerPoint 演示文稿</vt:lpstr>
      <vt:lpstr>PowerPoint 演示文稿</vt:lpstr>
      <vt:lpstr>螺纹连接的强度计算3</vt:lpstr>
      <vt:lpstr>螺纹连接的强度计算3</vt:lpstr>
      <vt:lpstr>螺纹连接的强度计算4</vt:lpstr>
      <vt:lpstr>螺纹连接件的材料与许用应力</vt:lpstr>
      <vt:lpstr>PowerPoint 演示文稿</vt:lpstr>
      <vt:lpstr>螺纹连接件的材料与许用应力</vt:lpstr>
      <vt:lpstr>螺纹连接件的安全系数</vt:lpstr>
      <vt:lpstr>提高螺纹连接强度的措施</vt:lpstr>
      <vt:lpstr>降低影响螺栓疲劳强度的应力幅</vt:lpstr>
      <vt:lpstr>改善螺纹牙载荷分布不均的现象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教材P108 2.3-10</vt:lpstr>
      <vt:lpstr>PowerPoint 演示文稿</vt:lpstr>
      <vt:lpstr>PowerPoint 演示文稿</vt:lpstr>
      <vt:lpstr>PowerPoint 演示文稿</vt:lpstr>
      <vt:lpstr>PowerPoint 演示文稿</vt:lpstr>
      <vt:lpstr>PowerPoint 演示文稿</vt:lpstr>
      <vt:lpstr>PowerPoint 演示文稿</vt:lpstr>
    </vt:vector>
  </TitlesOfParts>
  <Company>nwpu209</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wuliyan</dc:creator>
  <cp:lastModifiedBy>DQH</cp:lastModifiedBy>
  <cp:revision>609</cp:revision>
  <dcterms:created xsi:type="dcterms:W3CDTF">2002-03-15T12:39:00Z</dcterms:created>
  <dcterms:modified xsi:type="dcterms:W3CDTF">2024-09-13T04:31:40Z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E44A14782BB14F5EA9875E897137325D</vt:lpwstr>
  </property>
  <property fmtid="{D5CDD505-2E9C-101B-9397-08002B2CF9AE}" pid="3" name="KSOProductBuildVer">
    <vt:lpwstr>2052-12.1.0.17140</vt:lpwstr>
  </property>
</Properties>
</file>