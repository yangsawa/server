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 id="2147483697" r:id="rId6"/>
    <p:sldMasterId id="2147483709" r:id="rId7"/>
    <p:sldMasterId id="2147483721" r:id="rId8"/>
    <p:sldMasterId id="2147483733" r:id="rId9"/>
    <p:sldMasterId id="2147483745" r:id="rId10"/>
    <p:sldMasterId id="2147483758" r:id="rId11"/>
    <p:sldMasterId id="2147483770" r:id="rId12"/>
    <p:sldMasterId id="2147483782" r:id="rId13"/>
    <p:sldMasterId id="2147483795" r:id="rId14"/>
    <p:sldMasterId id="2147483807" r:id="rId15"/>
  </p:sldMasterIdLst>
  <p:notesMasterIdLst>
    <p:notesMasterId r:id="rId18"/>
  </p:notesMasterIdLst>
  <p:sldIdLst>
    <p:sldId id="256" r:id="rId16"/>
    <p:sldId id="322" r:id="rId17"/>
    <p:sldId id="575" r:id="rId19"/>
    <p:sldId id="512" r:id="rId20"/>
    <p:sldId id="552" r:id="rId21"/>
    <p:sldId id="553" r:id="rId22"/>
    <p:sldId id="554" r:id="rId23"/>
    <p:sldId id="555" r:id="rId24"/>
    <p:sldId id="556" r:id="rId25"/>
    <p:sldId id="557" r:id="rId26"/>
    <p:sldId id="457" r:id="rId27"/>
    <p:sldId id="458" r:id="rId28"/>
    <p:sldId id="522" r:id="rId29"/>
    <p:sldId id="430" r:id="rId30"/>
    <p:sldId id="559" r:id="rId31"/>
    <p:sldId id="462" r:id="rId32"/>
    <p:sldId id="560" r:id="rId33"/>
    <p:sldId id="561" r:id="rId34"/>
    <p:sldId id="562" r:id="rId35"/>
    <p:sldId id="563" r:id="rId36"/>
    <p:sldId id="564" r:id="rId37"/>
    <p:sldId id="565" r:id="rId38"/>
    <p:sldId id="566" r:id="rId39"/>
    <p:sldId id="567" r:id="rId40"/>
    <p:sldId id="419" r:id="rId41"/>
    <p:sldId id="513" r:id="rId42"/>
    <p:sldId id="511" r:id="rId43"/>
    <p:sldId id="514" r:id="rId44"/>
    <p:sldId id="459" r:id="rId45"/>
    <p:sldId id="418" r:id="rId46"/>
    <p:sldId id="465" r:id="rId47"/>
    <p:sldId id="515" r:id="rId48"/>
    <p:sldId id="568" r:id="rId49"/>
    <p:sldId id="569" r:id="rId50"/>
    <p:sldId id="570" r:id="rId51"/>
    <p:sldId id="571" r:id="rId52"/>
    <p:sldId id="572" r:id="rId53"/>
    <p:sldId id="573" r:id="rId54"/>
    <p:sldId id="626" r:id="rId55"/>
    <p:sldId id="516" r:id="rId56"/>
    <p:sldId id="517" r:id="rId57"/>
    <p:sldId id="518" r:id="rId58"/>
    <p:sldId id="519" r:id="rId59"/>
    <p:sldId id="520" r:id="rId60"/>
    <p:sldId id="521" r:id="rId61"/>
    <p:sldId id="313" r:id="rId62"/>
    <p:sldId id="467" r:id="rId63"/>
    <p:sldId id="426" r:id="rId64"/>
    <p:sldId id="411" r:id="rId65"/>
    <p:sldId id="505" r:id="rId66"/>
    <p:sldId id="506" r:id="rId67"/>
    <p:sldId id="507" r:id="rId68"/>
    <p:sldId id="508" r:id="rId69"/>
    <p:sldId id="509" r:id="rId70"/>
  </p:sldIdLst>
  <p:sldSz cx="9144000" cy="6858000" type="screen4x3"/>
  <p:notesSz cx="6858000" cy="9144000"/>
  <p:custDataLst>
    <p:tags r:id="rId74"/>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9pPr>
  </p:defaultTextStyle>
  <p:extLst>
    <p:ext uri="{EFAFB233-063F-42B5-8137-9DF3F51BA10A}">
      <p15:sldGuideLst xmlns:p15="http://schemas.microsoft.com/office/powerpoint/2012/main">
        <p15:guide id="1" orient="horz" pos="2024" userDrawn="1">
          <p15:clr>
            <a:srgbClr val="A4A3A4"/>
          </p15:clr>
        </p15:guide>
        <p15:guide id="2" pos="26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FF3300"/>
    <a:srgbClr val="CC3300"/>
    <a:srgbClr val="000099"/>
    <a:srgbClr val="000000"/>
    <a:srgbClr val="003399"/>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4"/>
    <p:restoredTop sz="95615"/>
  </p:normalViewPr>
  <p:slideViewPr>
    <p:cSldViewPr showGuides="1">
      <p:cViewPr varScale="1">
        <p:scale>
          <a:sx n="66" d="100"/>
          <a:sy n="66" d="100"/>
        </p:scale>
        <p:origin x="1296" y="40"/>
      </p:cViewPr>
      <p:guideLst>
        <p:guide orient="horz" pos="2024"/>
        <p:guide pos="2683"/>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4" Type="http://schemas.openxmlformats.org/officeDocument/2006/relationships/tags" Target="tags/tag19.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54.xml"/><Relationship Id="rId7" Type="http://schemas.openxmlformats.org/officeDocument/2006/relationships/slideMaster" Target="slideMasters/slideMaster6.xml"/><Relationship Id="rId69" Type="http://schemas.openxmlformats.org/officeDocument/2006/relationships/slide" Target="slides/slide53.xml"/><Relationship Id="rId68" Type="http://schemas.openxmlformats.org/officeDocument/2006/relationships/slide" Target="slides/slide52.xml"/><Relationship Id="rId67" Type="http://schemas.openxmlformats.org/officeDocument/2006/relationships/slide" Target="slides/slide51.xml"/><Relationship Id="rId66" Type="http://schemas.openxmlformats.org/officeDocument/2006/relationships/slide" Target="slides/slide50.xml"/><Relationship Id="rId65" Type="http://schemas.openxmlformats.org/officeDocument/2006/relationships/slide" Target="slides/slide49.xml"/><Relationship Id="rId64" Type="http://schemas.openxmlformats.org/officeDocument/2006/relationships/slide" Target="slides/slide48.xml"/><Relationship Id="rId63" Type="http://schemas.openxmlformats.org/officeDocument/2006/relationships/slide" Target="slides/slide47.xml"/><Relationship Id="rId62" Type="http://schemas.openxmlformats.org/officeDocument/2006/relationships/slide" Target="slides/slide46.xml"/><Relationship Id="rId61" Type="http://schemas.openxmlformats.org/officeDocument/2006/relationships/slide" Target="slides/slide45.xml"/><Relationship Id="rId60" Type="http://schemas.openxmlformats.org/officeDocument/2006/relationships/slide" Target="slides/slide44.xml"/><Relationship Id="rId6" Type="http://schemas.openxmlformats.org/officeDocument/2006/relationships/slideMaster" Target="slideMasters/slideMaster5.xml"/><Relationship Id="rId59" Type="http://schemas.openxmlformats.org/officeDocument/2006/relationships/slide" Target="slides/slide43.xml"/><Relationship Id="rId58" Type="http://schemas.openxmlformats.org/officeDocument/2006/relationships/slide" Target="slides/slide42.xml"/><Relationship Id="rId57" Type="http://schemas.openxmlformats.org/officeDocument/2006/relationships/slide" Target="slides/slide41.xml"/><Relationship Id="rId56" Type="http://schemas.openxmlformats.org/officeDocument/2006/relationships/slide" Target="slides/slide40.xml"/><Relationship Id="rId55" Type="http://schemas.openxmlformats.org/officeDocument/2006/relationships/slide" Target="slides/slide39.xml"/><Relationship Id="rId54" Type="http://schemas.openxmlformats.org/officeDocument/2006/relationships/slide" Target="slides/slide38.xml"/><Relationship Id="rId53" Type="http://schemas.openxmlformats.org/officeDocument/2006/relationships/slide" Target="slides/slide37.xml"/><Relationship Id="rId52" Type="http://schemas.openxmlformats.org/officeDocument/2006/relationships/slide" Target="slides/slide36.xml"/><Relationship Id="rId51" Type="http://schemas.openxmlformats.org/officeDocument/2006/relationships/slide" Target="slides/slide35.xml"/><Relationship Id="rId50" Type="http://schemas.openxmlformats.org/officeDocument/2006/relationships/slide" Target="slides/slide34.xml"/><Relationship Id="rId5" Type="http://schemas.openxmlformats.org/officeDocument/2006/relationships/slideMaster" Target="slideMasters/slideMaster4.xml"/><Relationship Id="rId49" Type="http://schemas.openxmlformats.org/officeDocument/2006/relationships/slide" Target="slides/slide33.xml"/><Relationship Id="rId48" Type="http://schemas.openxmlformats.org/officeDocument/2006/relationships/slide" Target="slides/slide32.xml"/><Relationship Id="rId47" Type="http://schemas.openxmlformats.org/officeDocument/2006/relationships/slide" Target="slides/slide31.xml"/><Relationship Id="rId46" Type="http://schemas.openxmlformats.org/officeDocument/2006/relationships/slide" Target="slides/slide30.xml"/><Relationship Id="rId45" Type="http://schemas.openxmlformats.org/officeDocument/2006/relationships/slide" Target="slides/slide29.xml"/><Relationship Id="rId44" Type="http://schemas.openxmlformats.org/officeDocument/2006/relationships/slide" Target="slides/slide28.xml"/><Relationship Id="rId43" Type="http://schemas.openxmlformats.org/officeDocument/2006/relationships/slide" Target="slides/slide27.xml"/><Relationship Id="rId42" Type="http://schemas.openxmlformats.org/officeDocument/2006/relationships/slide" Target="slides/slide26.xml"/><Relationship Id="rId41" Type="http://schemas.openxmlformats.org/officeDocument/2006/relationships/slide" Target="slides/slide25.xml"/><Relationship Id="rId40" Type="http://schemas.openxmlformats.org/officeDocument/2006/relationships/slide" Target="slides/slide24.xml"/><Relationship Id="rId4" Type="http://schemas.openxmlformats.org/officeDocument/2006/relationships/slideMaster" Target="slideMasters/slideMaster3.xml"/><Relationship Id="rId39" Type="http://schemas.openxmlformats.org/officeDocument/2006/relationships/slide" Target="slides/slide23.xml"/><Relationship Id="rId38" Type="http://schemas.openxmlformats.org/officeDocument/2006/relationships/slide" Target="slides/slide22.xml"/><Relationship Id="rId37" Type="http://schemas.openxmlformats.org/officeDocument/2006/relationships/slide" Target="slides/slide21.xml"/><Relationship Id="rId36" Type="http://schemas.openxmlformats.org/officeDocument/2006/relationships/slide" Target="slides/slide20.xml"/><Relationship Id="rId35" Type="http://schemas.openxmlformats.org/officeDocument/2006/relationships/slide" Target="slides/slide19.xml"/><Relationship Id="rId34" Type="http://schemas.openxmlformats.org/officeDocument/2006/relationships/slide" Target="slides/slide18.xml"/><Relationship Id="rId33" Type="http://schemas.openxmlformats.org/officeDocument/2006/relationships/slide" Target="slides/slide17.xml"/><Relationship Id="rId32" Type="http://schemas.openxmlformats.org/officeDocument/2006/relationships/slide" Target="slides/slide16.xml"/><Relationship Id="rId31" Type="http://schemas.openxmlformats.org/officeDocument/2006/relationships/slide" Target="slides/slide15.xml"/><Relationship Id="rId30" Type="http://schemas.openxmlformats.org/officeDocument/2006/relationships/slide" Target="slides/slide14.xml"/><Relationship Id="rId3" Type="http://schemas.openxmlformats.org/officeDocument/2006/relationships/slideMaster" Target="slideMasters/slideMaster2.xml"/><Relationship Id="rId29" Type="http://schemas.openxmlformats.org/officeDocument/2006/relationships/slide" Target="slides/slide13.xml"/><Relationship Id="rId28" Type="http://schemas.openxmlformats.org/officeDocument/2006/relationships/slide" Target="slides/slide12.xml"/><Relationship Id="rId27" Type="http://schemas.openxmlformats.org/officeDocument/2006/relationships/slide" Target="slides/slide11.xml"/><Relationship Id="rId26" Type="http://schemas.openxmlformats.org/officeDocument/2006/relationships/slide" Target="slides/slide10.xml"/><Relationship Id="rId25" Type="http://schemas.openxmlformats.org/officeDocument/2006/relationships/slide" Target="slides/slide9.xml"/><Relationship Id="rId24" Type="http://schemas.openxmlformats.org/officeDocument/2006/relationships/slide" Target="slides/slide8.xml"/><Relationship Id="rId23" Type="http://schemas.openxmlformats.org/officeDocument/2006/relationships/slide" Target="slides/slide7.xml"/><Relationship Id="rId22" Type="http://schemas.openxmlformats.org/officeDocument/2006/relationships/slide" Target="slides/slide6.xml"/><Relationship Id="rId21" Type="http://schemas.openxmlformats.org/officeDocument/2006/relationships/slide" Target="slides/slide5.xml"/><Relationship Id="rId20" Type="http://schemas.openxmlformats.org/officeDocument/2006/relationships/slide" Target="slides/slide4.xml"/><Relationship Id="rId2" Type="http://schemas.openxmlformats.org/officeDocument/2006/relationships/theme" Target="theme/theme1.xml"/><Relationship Id="rId19" Type="http://schemas.openxmlformats.org/officeDocument/2006/relationships/slide" Target="slides/slide3.xml"/><Relationship Id="rId18" Type="http://schemas.openxmlformats.org/officeDocument/2006/relationships/notesMaster" Target="notesMasters/notesMaster1.xml"/><Relationship Id="rId17" Type="http://schemas.openxmlformats.org/officeDocument/2006/relationships/slide" Target="slides/slide2.xml"/><Relationship Id="rId16" Type="http://schemas.openxmlformats.org/officeDocument/2006/relationships/slide" Target="slides/slide1.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42.wmf"/><Relationship Id="rId7" Type="http://schemas.openxmlformats.org/officeDocument/2006/relationships/image" Target="../media/image41.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2.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2.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9.vml.rels><?xml version="1.0" encoding="UTF-8" standalone="yes"?>
<Relationships xmlns="http://schemas.openxmlformats.org/package/2006/relationships"><Relationship Id="rId6" Type="http://schemas.openxmlformats.org/officeDocument/2006/relationships/image" Target="../media/image80.wmf"/><Relationship Id="rId5" Type="http://schemas.openxmlformats.org/officeDocument/2006/relationships/image" Target="../media/image79.wmf"/><Relationship Id="rId4" Type="http://schemas.openxmlformats.org/officeDocument/2006/relationships/image" Target="../media/image78.wmf"/><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02.wmf"/><Relationship Id="rId8" Type="http://schemas.openxmlformats.org/officeDocument/2006/relationships/image" Target="../media/image101.wmf"/><Relationship Id="rId7" Type="http://schemas.openxmlformats.org/officeDocument/2006/relationships/image" Target="../media/image100.wmf"/><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97.wmf"/><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111.wmf"/><Relationship Id="rId8" Type="http://schemas.openxmlformats.org/officeDocument/2006/relationships/image" Target="../media/image110.wmf"/><Relationship Id="rId7" Type="http://schemas.openxmlformats.org/officeDocument/2006/relationships/image" Target="../media/image109.wmf"/><Relationship Id="rId6" Type="http://schemas.openxmlformats.org/officeDocument/2006/relationships/image" Target="../media/image108.wmf"/><Relationship Id="rId5" Type="http://schemas.openxmlformats.org/officeDocument/2006/relationships/image" Target="../media/image107.wmf"/><Relationship Id="rId4" Type="http://schemas.openxmlformats.org/officeDocument/2006/relationships/image" Target="../media/image106.wmf"/><Relationship Id="rId3" Type="http://schemas.openxmlformats.org/officeDocument/2006/relationships/image" Target="../media/image105.wmf"/><Relationship Id="rId2" Type="http://schemas.openxmlformats.org/officeDocument/2006/relationships/image" Target="../media/image104.wmf"/><Relationship Id="rId12" Type="http://schemas.openxmlformats.org/officeDocument/2006/relationships/image" Target="../media/image114.wmf"/><Relationship Id="rId11" Type="http://schemas.openxmlformats.org/officeDocument/2006/relationships/image" Target="../media/image113.wmf"/><Relationship Id="rId10" Type="http://schemas.openxmlformats.org/officeDocument/2006/relationships/image" Target="../media/image112.wmf"/><Relationship Id="rId1" Type="http://schemas.openxmlformats.org/officeDocument/2006/relationships/image" Target="../media/image10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kumimoji="1" sz="1200" b="1">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50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kumimoji="1" sz="1200" b="1">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98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150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51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kumimoji="1" sz="1200" b="1">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1"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51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1" dirty="0">
                <a:ea typeface="宋体" panose="02010600030101010101" pitchFamily="2" charset="-122"/>
              </a:rPr>
            </a:fld>
            <a:endParaRPr lang="en-US" altLang="zh-CN" sz="1200" b="1"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p:sp>
      <p:sp>
        <p:nvSpPr>
          <p:cNvPr id="43011"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p:sp>
      <p:sp>
        <p:nvSpPr>
          <p:cNvPr id="47107"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p:sp>
      <p:sp>
        <p:nvSpPr>
          <p:cNvPr id="49155"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文本占位符 2"/>
          <p:cNvSpPr>
            <a:spLocks noGrp="1"/>
          </p:cNvSpPr>
          <p:nvPr>
            <p:ph type="body"/>
          </p:nvPr>
        </p:nvSpPr>
        <p:spPr/>
        <p:txBody>
          <a:bodyPr wrap="square" lIns="91440" tIns="45720" rIns="91440" bIns="45720" anchor="t"/>
          <a:lstStyle/>
          <a:p>
            <a:pPr lvl="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oleObject" Target="../embeddings/oleObject2.bin"/><Relationship Id="rId4" Type="http://schemas.openxmlformats.org/officeDocument/2006/relationships/image" Target="../media/image2.jpeg"/><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0242" name="Group 2"/>
          <p:cNvGrpSpPr/>
          <p:nvPr/>
        </p:nvGrpSpPr>
        <p:grpSpPr>
          <a:xfrm>
            <a:off x="0" y="0"/>
            <a:ext cx="9144000" cy="6858000"/>
            <a:chOff x="0" y="0"/>
            <a:chExt cx="5760" cy="4320"/>
          </a:xfrm>
        </p:grpSpPr>
        <p:grpSp>
          <p:nvGrpSpPr>
            <p:cNvPr id="10246"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0257" name="Group 5"/>
              <p:cNvGrpSpPr/>
              <p:nvPr userDrawn="1"/>
            </p:nvGrpSpPr>
            <p:grpSpPr>
              <a:xfrm>
                <a:off x="0" y="0"/>
                <a:ext cx="5760" cy="4320"/>
                <a:chOff x="0" y="0"/>
                <a:chExt cx="5760" cy="4320"/>
              </a:xfrm>
            </p:grpSpPr>
            <p:sp>
              <p:nvSpPr>
                <p:cNvPr id="10259"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0"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1"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2"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3"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4"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5"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6"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7"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8"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69"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0"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1"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2"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3"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4"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5"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6"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7"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8"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79"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0"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1"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2"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3"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4"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5"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6"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7"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8"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89"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0"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1"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2"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3"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4"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5"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6"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7"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8"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299"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0"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1"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2"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3"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4"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5"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6"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7"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8"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0309"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0247"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0" y="84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0248"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2" y="3334"/>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showMasterSp="0">
  <p:cSld name="内容">
    <p:spTree>
      <p:nvGrpSpPr>
        <p:cNvPr id="1" name=""/>
        <p:cNvGrpSpPr/>
        <p:nvPr/>
      </p:nvGrpSpPr>
      <p:grpSpPr>
        <a:xfrm>
          <a:off x="0" y="0"/>
          <a:ext cx="0" cy="0"/>
          <a:chOff x="0" y="0"/>
          <a:chExt cx="0" cy="0"/>
        </a:xfrm>
      </p:grpSpPr>
      <p:graphicFrame>
        <p:nvGraphicFramePr>
          <p:cNvPr id="3" name="Object 80"/>
          <p:cNvGraphicFramePr>
            <a:graphicFrameLocks noChangeAspect="1"/>
          </p:cNvGraphicFramePr>
          <p:nvPr userDrawn="1"/>
        </p:nvGraphicFramePr>
        <p:xfrm>
          <a:off x="-12700" y="7938"/>
          <a:ext cx="9144000" cy="612775"/>
        </p:xfrm>
        <a:graphic>
          <a:graphicData uri="http://schemas.openxmlformats.org/presentationml/2006/ole">
            <mc:AlternateContent xmlns:mc="http://schemas.openxmlformats.org/markup-compatibility/2006">
              <mc:Choice xmlns:v="urn:schemas-microsoft-com:vml" Requires="v">
                <p:oleObj spid="_x0000_s50180" name="Image" r:id="rId2" imgW="10160000" imgH="1574800" progId="">
                  <p:embed/>
                </p:oleObj>
              </mc:Choice>
              <mc:Fallback>
                <p:oleObj name="Image" r:id="rId2" imgW="10160000" imgH="1574800" progId="">
                  <p:embed/>
                  <p:pic>
                    <p:nvPicPr>
                      <p:cNvPr id="0" name="图片 50179"/>
                      <p:cNvPicPr>
                        <a:picLocks noChangeAspect="1" noChangeArrowheads="1"/>
                      </p:cNvPicPr>
                      <p:nvPr/>
                    </p:nvPicPr>
                    <p:blipFill>
                      <a:blip r:embed="rId3">
                        <a:extLst>
                          <a:ext uri="{28A0092B-C50C-407E-A947-70E740481C1C}">
                            <a14:useLocalDpi xmlns:a14="http://schemas.microsoft.com/office/drawing/2010/main" val="0"/>
                          </a:ext>
                        </a:extLst>
                      </a:blip>
                      <a:srcRect r="32674"/>
                      <a:stretch>
                        <a:fillRect/>
                      </a:stretch>
                    </p:blipFill>
                    <p:spPr bwMode="auto">
                      <a:xfrm>
                        <a:off x="-12700" y="7938"/>
                        <a:ext cx="9144000" cy="612775"/>
                      </a:xfrm>
                      <a:prstGeom prst="rect">
                        <a:avLst/>
                      </a:prstGeom>
                      <a:solidFill>
                        <a:srgbClr val="3399FF">
                          <a:alpha val="54901"/>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 name="图片 6"/>
          <p:cNvPicPr>
            <a:picLocks noChangeAspect="1"/>
          </p:cNvPicPr>
          <p:nvPr userDrawn="1"/>
        </p:nvPicPr>
        <p:blipFill>
          <a:blip r:embed="rId4">
            <a:clrChange>
              <a:clrFrom>
                <a:srgbClr val="2177CE"/>
              </a:clrFrom>
              <a:clrTo>
                <a:srgbClr val="2177CE">
                  <a:alpha val="0"/>
                </a:srgbClr>
              </a:clrTo>
            </a:clrChange>
            <a:extLst>
              <a:ext uri="{28A0092B-C50C-407E-A947-70E740481C1C}">
                <a14:useLocalDpi xmlns:a14="http://schemas.microsoft.com/office/drawing/2010/main" val="0"/>
              </a:ext>
            </a:extLst>
          </a:blip>
          <a:srcRect/>
          <a:stretch>
            <a:fillRect/>
          </a:stretch>
        </p:blipFill>
        <p:spPr bwMode="auto">
          <a:xfrm>
            <a:off x="107950" y="3175"/>
            <a:ext cx="6477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10"/>
          <p:cNvGraphicFramePr>
            <a:graphicFrameLocks noChangeAspect="1"/>
          </p:cNvGraphicFramePr>
          <p:nvPr userDrawn="1"/>
        </p:nvGraphicFramePr>
        <p:xfrm>
          <a:off x="6461125" y="0"/>
          <a:ext cx="2670175" cy="766763"/>
        </p:xfrm>
        <a:graphic>
          <a:graphicData uri="http://schemas.openxmlformats.org/presentationml/2006/ole">
            <mc:AlternateContent xmlns:mc="http://schemas.openxmlformats.org/markup-compatibility/2006">
              <mc:Choice xmlns:v="urn:schemas-microsoft-com:vml" Requires="v">
                <p:oleObj spid="_x0000_s50181" name="Photo Editor 照片" r:id="rId5" imgW="2962275" imgH="971550" progId="">
                  <p:embed/>
                </p:oleObj>
              </mc:Choice>
              <mc:Fallback>
                <p:oleObj name="Photo Editor 照片" r:id="rId5" imgW="2962275" imgH="971550" progId="">
                  <p:embed/>
                  <p:pic>
                    <p:nvPicPr>
                      <p:cNvPr id="0" name="图片 50180"/>
                      <p:cNvPicPr>
                        <a:picLocks noChangeAspect="1" noChangeArrowheads="1"/>
                      </p:cNvPicPr>
                      <p:nvPr/>
                    </p:nvPicPr>
                    <p:blipFill>
                      <a:blip r:embed="rId6">
                        <a:extLst>
                          <a:ext uri="{28A0092B-C50C-407E-A947-70E740481C1C}">
                            <a14:useLocalDpi xmlns:a14="http://schemas.microsoft.com/office/drawing/2010/main" val="0"/>
                          </a:ext>
                        </a:extLst>
                      </a:blip>
                      <a:srcRect l="23897" b="-22844"/>
                      <a:stretch>
                        <a:fillRect/>
                      </a:stretch>
                    </p:blipFill>
                    <p:spPr bwMode="auto">
                      <a:xfrm>
                        <a:off x="6461125" y="0"/>
                        <a:ext cx="2670175"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userDrawn="1"/>
        </p:nvSpPr>
        <p:spPr bwMode="auto">
          <a:xfrm>
            <a:off x="0" y="6475413"/>
            <a:ext cx="9144000" cy="431800"/>
          </a:xfrm>
          <a:prstGeom prst="rect">
            <a:avLst/>
          </a:prstGeom>
          <a:gradFill flip="none" rotWithShape="1">
            <a:gsLst>
              <a:gs pos="0">
                <a:srgbClr val="003399"/>
              </a:gs>
              <a:gs pos="100000">
                <a:schemeClr val="accent3">
                  <a:lumMod val="97000"/>
                  <a:lumOff val="3000"/>
                </a:schemeClr>
              </a:gs>
              <a:gs pos="100000">
                <a:schemeClr val="bg1"/>
              </a:gs>
            </a:gsLst>
            <a:lin ang="16200000" scaled="1"/>
            <a:tileRect/>
          </a:gradFill>
          <a:ln w="9525" cap="flat" cmpd="sng" algn="ctr">
            <a:noFill/>
            <a:prstDash val="solid"/>
            <a:round/>
            <a:headEnd type="none" w="med" len="med"/>
            <a:tailEnd type="none" w="med" len="med"/>
          </a:ln>
          <a:effectLst/>
        </p:spPr>
        <p:txBody>
          <a:bodyPr wrap="none"/>
          <a:lstStyle/>
          <a:p>
            <a:pPr eaLnBrk="1" hangingPunct="1">
              <a:defRPr/>
            </a:pPr>
            <a:endParaRPr lang="zh-CN" altLang="en-US"/>
          </a:p>
        </p:txBody>
      </p:sp>
      <p:sp>
        <p:nvSpPr>
          <p:cNvPr id="2" name="内容占位符 1"/>
          <p:cNvSpPr>
            <a:spLocks noGrp="1"/>
          </p:cNvSpPr>
          <p:nvPr>
            <p:ph hasCustomPrompt="1"/>
          </p:nvPr>
        </p:nvSpPr>
        <p:spPr>
          <a:xfrm>
            <a:off x="685800" y="609600"/>
            <a:ext cx="7772400" cy="54864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a:xfrm>
            <a:off x="0" y="0"/>
            <a:ext cx="0" cy="0"/>
          </a:xfrm>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xfrm>
            <a:off x="0" y="0"/>
            <a:ext cx="0" cy="0"/>
          </a:xfrm>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xfrm>
            <a:off x="0" y="0"/>
            <a:ext cx="0" cy="0"/>
          </a:xfrm>
        </p:spPr>
        <p:txBody>
          <a:bodyPr/>
          <a:lstStyle>
            <a:lvl1pPr>
              <a:defRPr/>
            </a:lvl1pPr>
          </a:lstStyle>
          <a:p>
            <a:pPr>
              <a:defRPr/>
            </a:pPr>
            <a:fld id="{ADE4BDC5-1BD4-4D9B-B741-5BC3C4E8C781}" type="slidenum">
              <a:rPr lang="en-US" altLang="zh-CN"/>
            </a:fld>
            <a:endParaRPr lang="en-US" altLang="zh-CN"/>
          </a:p>
        </p:txBody>
      </p:sp>
    </p:spTree>
  </p:cSld>
  <p:clrMapOvr>
    <a:masterClrMapping/>
  </p:clrMapOvr>
  <p:transition>
    <p:zoom dir="in"/>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2290" name="Group 2"/>
          <p:cNvGrpSpPr/>
          <p:nvPr/>
        </p:nvGrpSpPr>
        <p:grpSpPr>
          <a:xfrm>
            <a:off x="0" y="0"/>
            <a:ext cx="9144000" cy="6858000"/>
            <a:chOff x="0" y="0"/>
            <a:chExt cx="5760" cy="4320"/>
          </a:xfrm>
        </p:grpSpPr>
        <p:grpSp>
          <p:nvGrpSpPr>
            <p:cNvPr id="12294"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2305" name="Group 5"/>
              <p:cNvGrpSpPr/>
              <p:nvPr userDrawn="1"/>
            </p:nvGrpSpPr>
            <p:grpSpPr>
              <a:xfrm>
                <a:off x="0" y="0"/>
                <a:ext cx="5760" cy="4320"/>
                <a:chOff x="0" y="0"/>
                <a:chExt cx="5760" cy="4320"/>
              </a:xfrm>
            </p:grpSpPr>
            <p:sp>
              <p:nvSpPr>
                <p:cNvPr id="1230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0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0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1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2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3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4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235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2295"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0" y="8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2296"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3"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3314" name="Group 2"/>
          <p:cNvGrpSpPr/>
          <p:nvPr/>
        </p:nvGrpSpPr>
        <p:grpSpPr>
          <a:xfrm>
            <a:off x="0" y="0"/>
            <a:ext cx="9144000" cy="6858000"/>
            <a:chOff x="0" y="0"/>
            <a:chExt cx="5760" cy="4320"/>
          </a:xfrm>
        </p:grpSpPr>
        <p:grpSp>
          <p:nvGrpSpPr>
            <p:cNvPr id="13318"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3329" name="Group 5"/>
              <p:cNvGrpSpPr/>
              <p:nvPr userDrawn="1"/>
            </p:nvGrpSpPr>
            <p:grpSpPr>
              <a:xfrm>
                <a:off x="0" y="0"/>
                <a:ext cx="5760" cy="4320"/>
                <a:chOff x="0" y="0"/>
                <a:chExt cx="5760" cy="4320"/>
              </a:xfrm>
            </p:grpSpPr>
            <p:sp>
              <p:nvSpPr>
                <p:cNvPr id="13331"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2"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3"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4"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5"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6"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7"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8"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39"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0"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1"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2"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3"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4"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5"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6"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7"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8"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49"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0"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1"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2"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3"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4"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5"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6"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7"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8"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59"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0"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1"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2"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3"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4"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5"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6"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7"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8"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69"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0"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1"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2"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3"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4"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5"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6"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7"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8"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79"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80"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3381"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3319"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0" y="8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3320"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3"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4338" name="Group 2"/>
          <p:cNvGrpSpPr/>
          <p:nvPr/>
        </p:nvGrpSpPr>
        <p:grpSpPr>
          <a:xfrm>
            <a:off x="0" y="0"/>
            <a:ext cx="9144000" cy="6858000"/>
            <a:chOff x="0" y="0"/>
            <a:chExt cx="5760" cy="4320"/>
          </a:xfrm>
        </p:grpSpPr>
        <p:grpSp>
          <p:nvGrpSpPr>
            <p:cNvPr id="14342"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4353" name="Group 5"/>
              <p:cNvGrpSpPr/>
              <p:nvPr userDrawn="1"/>
            </p:nvGrpSpPr>
            <p:grpSpPr>
              <a:xfrm>
                <a:off x="0" y="0"/>
                <a:ext cx="5760" cy="4320"/>
                <a:chOff x="0" y="0"/>
                <a:chExt cx="5760" cy="4320"/>
              </a:xfrm>
            </p:grpSpPr>
            <p:sp>
              <p:nvSpPr>
                <p:cNvPr id="14355"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56"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57"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58"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59"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0"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1"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2"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3"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4"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5"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6"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7"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8"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69"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0"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1"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2"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3"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4"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5"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6"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7"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8"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79"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0"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1"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2"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3"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4"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5"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6"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7"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8"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89"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0"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1"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2"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3"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4"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5"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6"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7"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8"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399"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400"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401"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402"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403"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404"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4405"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4343"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0" y="8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4344"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3"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5362" name="Group 2"/>
          <p:cNvGrpSpPr/>
          <p:nvPr/>
        </p:nvGrpSpPr>
        <p:grpSpPr>
          <a:xfrm>
            <a:off x="0" y="0"/>
            <a:ext cx="9144000" cy="6858000"/>
            <a:chOff x="0" y="0"/>
            <a:chExt cx="5760" cy="4320"/>
          </a:xfrm>
        </p:grpSpPr>
        <p:grpSp>
          <p:nvGrpSpPr>
            <p:cNvPr id="15366"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5377" name="Group 5"/>
              <p:cNvGrpSpPr/>
              <p:nvPr userDrawn="1"/>
            </p:nvGrpSpPr>
            <p:grpSpPr>
              <a:xfrm>
                <a:off x="0" y="0"/>
                <a:ext cx="5760" cy="4320"/>
                <a:chOff x="0" y="0"/>
                <a:chExt cx="5760" cy="4320"/>
              </a:xfrm>
            </p:grpSpPr>
            <p:sp>
              <p:nvSpPr>
                <p:cNvPr id="15379"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0"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1"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2"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3"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4"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5"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6"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7"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8"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89"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0"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1"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2"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3"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4"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5"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6"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7"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8"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399"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0"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1"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2"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3"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4"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5"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6"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7"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8"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09"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0"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1"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2"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3"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4"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5"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6"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7"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8"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19"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0"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1"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2"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3"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4"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5"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6"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7"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8"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5429"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5367"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0" y="8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5368"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3"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6386" name="Group 2"/>
          <p:cNvGrpSpPr/>
          <p:nvPr/>
        </p:nvGrpSpPr>
        <p:grpSpPr>
          <a:xfrm>
            <a:off x="0" y="0"/>
            <a:ext cx="9144000" cy="6858000"/>
            <a:chOff x="0" y="0"/>
            <a:chExt cx="5760" cy="4320"/>
          </a:xfrm>
        </p:grpSpPr>
        <p:grpSp>
          <p:nvGrpSpPr>
            <p:cNvPr id="16390"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6401" name="Group 5"/>
              <p:cNvGrpSpPr/>
              <p:nvPr userDrawn="1"/>
            </p:nvGrpSpPr>
            <p:grpSpPr>
              <a:xfrm>
                <a:off x="0" y="0"/>
                <a:ext cx="5760" cy="4320"/>
                <a:chOff x="0" y="0"/>
                <a:chExt cx="5760" cy="4320"/>
              </a:xfrm>
            </p:grpSpPr>
            <p:sp>
              <p:nvSpPr>
                <p:cNvPr id="16403"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04"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05"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06"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07"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08"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09"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0"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1"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2"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3"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4"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5"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6"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7"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8"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19"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0"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1"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2"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3"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4"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5"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6"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7"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8"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29"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0"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1"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2"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3"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4"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5"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6"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7"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8"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39"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0"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1"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2"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3"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4"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5"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6"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7"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8"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49"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50"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51"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52"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6453"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6391"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0" y="8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6392"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3"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7410" name="Group 2"/>
          <p:cNvGrpSpPr/>
          <p:nvPr/>
        </p:nvGrpSpPr>
        <p:grpSpPr>
          <a:xfrm>
            <a:off x="0" y="0"/>
            <a:ext cx="9144000" cy="6858000"/>
            <a:chOff x="0" y="0"/>
            <a:chExt cx="5760" cy="4320"/>
          </a:xfrm>
        </p:grpSpPr>
        <p:grpSp>
          <p:nvGrpSpPr>
            <p:cNvPr id="17414"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7425" name="Group 5"/>
              <p:cNvGrpSpPr/>
              <p:nvPr userDrawn="1"/>
            </p:nvGrpSpPr>
            <p:grpSpPr>
              <a:xfrm>
                <a:off x="0" y="0"/>
                <a:ext cx="5760" cy="4320"/>
                <a:chOff x="0" y="0"/>
                <a:chExt cx="5760" cy="4320"/>
              </a:xfrm>
            </p:grpSpPr>
            <p:sp>
              <p:nvSpPr>
                <p:cNvPr id="17427"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28"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29"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0"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1"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2"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3"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4"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5"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6"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7"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8"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39"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0"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1"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2"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3"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4"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5"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6"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7"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8"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49"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0"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1"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2"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3"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4"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5"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6"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7"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8"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59"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0"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1"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2"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3"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4"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5"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6"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7"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8"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69"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0"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1"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2"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3"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4"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5"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6"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7477"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7415"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0" y="8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7416"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3"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8434" name="Group 2"/>
          <p:cNvGrpSpPr/>
          <p:nvPr/>
        </p:nvGrpSpPr>
        <p:grpSpPr>
          <a:xfrm>
            <a:off x="0" y="0"/>
            <a:ext cx="9144000" cy="6858000"/>
            <a:chOff x="0" y="0"/>
            <a:chExt cx="5760" cy="4320"/>
          </a:xfrm>
        </p:grpSpPr>
        <p:grpSp>
          <p:nvGrpSpPr>
            <p:cNvPr id="18438"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8449" name="Group 5"/>
              <p:cNvGrpSpPr/>
              <p:nvPr userDrawn="1"/>
            </p:nvGrpSpPr>
            <p:grpSpPr>
              <a:xfrm>
                <a:off x="0" y="0"/>
                <a:ext cx="5760" cy="4320"/>
                <a:chOff x="0" y="0"/>
                <a:chExt cx="5760" cy="4320"/>
              </a:xfrm>
            </p:grpSpPr>
            <p:sp>
              <p:nvSpPr>
                <p:cNvPr id="18451"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2"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3"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4"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5"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6"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7"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8"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59"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0"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1"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2"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3"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4"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5"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6"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7"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8"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69"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0"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1"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2"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3"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4"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5"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6"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7"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8"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79"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0"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1"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2"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3"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4"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5"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6"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7"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8"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89"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0"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1"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2"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3"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4"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5"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6"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7"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8"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499"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500"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8501"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8439"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8440"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4"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19458" name="Group 2"/>
          <p:cNvGrpSpPr/>
          <p:nvPr/>
        </p:nvGrpSpPr>
        <p:grpSpPr>
          <a:xfrm>
            <a:off x="0" y="0"/>
            <a:ext cx="9144000" cy="6858000"/>
            <a:chOff x="0" y="0"/>
            <a:chExt cx="5760" cy="4320"/>
          </a:xfrm>
        </p:grpSpPr>
        <p:grpSp>
          <p:nvGrpSpPr>
            <p:cNvPr id="19462"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19473" name="Group 5"/>
              <p:cNvGrpSpPr/>
              <p:nvPr userDrawn="1"/>
            </p:nvGrpSpPr>
            <p:grpSpPr>
              <a:xfrm>
                <a:off x="0" y="0"/>
                <a:ext cx="5760" cy="4320"/>
                <a:chOff x="0" y="0"/>
                <a:chExt cx="5760" cy="4320"/>
              </a:xfrm>
            </p:grpSpPr>
            <p:sp>
              <p:nvSpPr>
                <p:cNvPr id="19475"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76"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77"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78"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79"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0"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1"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2"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3"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4"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5"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6"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7"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8"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89"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0"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1"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2"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3"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4"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5"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6"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7"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8"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499"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0"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1"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2"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3"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4"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5"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6"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7"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8"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09"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0"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1"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2"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3"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4"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5"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6"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7"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8"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19"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20"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21"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22"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23"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24"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19525"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9463"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19464"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4"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609600"/>
            <a:ext cx="77724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981200"/>
            <a:ext cx="3810000" cy="19812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3810000" cy="19812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4114800"/>
            <a:ext cx="3810000" cy="19812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4114800"/>
            <a:ext cx="3810000" cy="19812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8" name="页脚占位符 7"/>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9" name="灯片编号占位符 8"/>
          <p:cNvSpPr>
            <a:spLocks noGrp="1"/>
          </p:cNvSpPr>
          <p:nvPr>
            <p:ph type="sldNum" sz="quarter" idx="12"/>
          </p:nvPr>
        </p:nvSpPr>
        <p:spPr>
          <a:xfrm>
            <a:off x="6553200" y="6248400"/>
            <a:ext cx="1905000" cy="457200"/>
          </a:xfrm>
          <a:prstGeom prst="rect">
            <a:avLst/>
          </a:prstGeom>
        </p:spPr>
        <p:txBody>
          <a:bodyPr/>
          <a:lstStyle>
            <a:lvl1pPr>
              <a:defRPr/>
            </a:lvl1pPr>
          </a:lstStyle>
          <a:p>
            <a:fld id="{CE196B08-7BFC-4B16-B52C-DC5D1B2FA344}" type="slidenum">
              <a:rPr lang="zh-CN" altLang="en-US"/>
            </a:fld>
            <a:endParaRPr lang="en-US" altLang="zh-CN"/>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482" name="Group 2"/>
          <p:cNvGrpSpPr/>
          <p:nvPr/>
        </p:nvGrpSpPr>
        <p:grpSpPr>
          <a:xfrm>
            <a:off x="0" y="0"/>
            <a:ext cx="9144000" cy="6858000"/>
            <a:chOff x="0" y="0"/>
            <a:chExt cx="5760" cy="4320"/>
          </a:xfrm>
        </p:grpSpPr>
        <p:grpSp>
          <p:nvGrpSpPr>
            <p:cNvPr id="20486"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20497" name="Group 5"/>
              <p:cNvGrpSpPr/>
              <p:nvPr userDrawn="1"/>
            </p:nvGrpSpPr>
            <p:grpSpPr>
              <a:xfrm>
                <a:off x="0" y="0"/>
                <a:ext cx="5760" cy="4320"/>
                <a:chOff x="0" y="0"/>
                <a:chExt cx="5760" cy="4320"/>
              </a:xfrm>
            </p:grpSpPr>
            <p:sp>
              <p:nvSpPr>
                <p:cNvPr id="20499"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0"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1"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2"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3"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4"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5"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6"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7"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8"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09"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0"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1"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2"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3"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4"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5"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6"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7"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8"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19"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0"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1"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2"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3"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4"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5"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6"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7"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8"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29"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0"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1"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2"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3"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4"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5"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6"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7"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8"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39"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0"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1"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2"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3"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4"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5"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6"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7"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8"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0549"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0487"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0488"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4"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1506" name="Group 2"/>
          <p:cNvGrpSpPr/>
          <p:nvPr/>
        </p:nvGrpSpPr>
        <p:grpSpPr>
          <a:xfrm>
            <a:off x="0" y="0"/>
            <a:ext cx="9144000" cy="6858000"/>
            <a:chOff x="0" y="0"/>
            <a:chExt cx="5760" cy="4320"/>
          </a:xfrm>
        </p:grpSpPr>
        <p:grpSp>
          <p:nvGrpSpPr>
            <p:cNvPr id="21510"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21521" name="Group 5"/>
              <p:cNvGrpSpPr/>
              <p:nvPr userDrawn="1"/>
            </p:nvGrpSpPr>
            <p:grpSpPr>
              <a:xfrm>
                <a:off x="0" y="0"/>
                <a:ext cx="5760" cy="4320"/>
                <a:chOff x="0" y="0"/>
                <a:chExt cx="5760" cy="4320"/>
              </a:xfrm>
            </p:grpSpPr>
            <p:sp>
              <p:nvSpPr>
                <p:cNvPr id="21523"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24"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25"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26"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27"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28"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29"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0"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1"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2"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3"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4"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5"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6"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7"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8"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39"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0"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1"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2"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3"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4"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5"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6"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7"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8"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49"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0"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1"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2"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3"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4"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5"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6"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7"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8"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59"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0"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1"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2"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3"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4"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5"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6"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7"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8"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69"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70"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71"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72"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1573"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1511"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1512"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4"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3554" name="Group 2"/>
          <p:cNvGrpSpPr/>
          <p:nvPr/>
        </p:nvGrpSpPr>
        <p:grpSpPr>
          <a:xfrm>
            <a:off x="0" y="0"/>
            <a:ext cx="9144000" cy="6858000"/>
            <a:chOff x="0" y="0"/>
            <a:chExt cx="5760" cy="4320"/>
          </a:xfrm>
        </p:grpSpPr>
        <p:grpSp>
          <p:nvGrpSpPr>
            <p:cNvPr id="23558"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23569" name="Group 5"/>
              <p:cNvGrpSpPr/>
              <p:nvPr userDrawn="1"/>
            </p:nvGrpSpPr>
            <p:grpSpPr>
              <a:xfrm>
                <a:off x="0" y="0"/>
                <a:ext cx="5760" cy="4320"/>
                <a:chOff x="0" y="0"/>
                <a:chExt cx="5760" cy="4320"/>
              </a:xfrm>
            </p:grpSpPr>
            <p:sp>
              <p:nvSpPr>
                <p:cNvPr id="23571"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2"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3"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4"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5"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6"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7"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8"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79"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0"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1"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2"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3"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4"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5"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6"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7"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8"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89"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0"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1"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2"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3"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4"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5"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6"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7"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8"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599"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0"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1"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2"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3"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4"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5"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6"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7"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8"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09"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0"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1"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2"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3"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4"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5"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6"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7"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8"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19"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20"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3621"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3559"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3560"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4"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a:xfrm>
            <a:off x="685800" y="6248400"/>
            <a:ext cx="1905000" cy="457200"/>
          </a:xfrm>
          <a:prstGeom prst="rect">
            <a:avLst/>
          </a:prstGeom>
        </p:spPr>
        <p:txBody>
          <a:bodyPr/>
          <a:lstStyle>
            <a:lvl1pPr>
              <a:defRPr/>
            </a:lvl1pPr>
          </a:lstStyle>
          <a:p>
            <a:endParaRPr lang="en-US" altLang="zh-CN"/>
          </a:p>
        </p:txBody>
      </p:sp>
      <p:sp>
        <p:nvSpPr>
          <p:cNvPr id="4" name="页脚占位符 3"/>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zh-CN"/>
          </a:p>
        </p:txBody>
      </p:sp>
      <p:sp>
        <p:nvSpPr>
          <p:cNvPr id="5" name="灯片编号占位符 4"/>
          <p:cNvSpPr>
            <a:spLocks noGrp="1"/>
          </p:cNvSpPr>
          <p:nvPr>
            <p:ph type="sldNum" sz="quarter" idx="12"/>
          </p:nvPr>
        </p:nvSpPr>
        <p:spPr>
          <a:xfrm>
            <a:off x="6553200" y="6248400"/>
            <a:ext cx="1905000" cy="457200"/>
          </a:xfrm>
          <a:prstGeom prst="rect">
            <a:avLst/>
          </a:prstGeom>
        </p:spPr>
        <p:txBody>
          <a:bodyPr/>
          <a:lstStyle>
            <a:lvl1pPr>
              <a:defRPr/>
            </a:lvl1pPr>
          </a:lstStyle>
          <a:p>
            <a:fld id="{6E4A3336-3E20-42D0-A987-CC0C3F0168A6}" type="slidenum">
              <a:rPr lang="zh-CN" altLang="en-US"/>
            </a:fld>
            <a:endParaRPr lang="en-US" altLang="zh-CN"/>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4578" name="Group 2"/>
          <p:cNvGrpSpPr/>
          <p:nvPr/>
        </p:nvGrpSpPr>
        <p:grpSpPr>
          <a:xfrm>
            <a:off x="0" y="0"/>
            <a:ext cx="9144000" cy="6858000"/>
            <a:chOff x="0" y="0"/>
            <a:chExt cx="5760" cy="4320"/>
          </a:xfrm>
        </p:grpSpPr>
        <p:grpSp>
          <p:nvGrpSpPr>
            <p:cNvPr id="24582"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24593" name="Group 5"/>
              <p:cNvGrpSpPr/>
              <p:nvPr userDrawn="1"/>
            </p:nvGrpSpPr>
            <p:grpSpPr>
              <a:xfrm>
                <a:off x="0" y="0"/>
                <a:ext cx="5760" cy="4320"/>
                <a:chOff x="0" y="0"/>
                <a:chExt cx="5760" cy="4320"/>
              </a:xfrm>
            </p:grpSpPr>
            <p:sp>
              <p:nvSpPr>
                <p:cNvPr id="24595"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596"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597"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598"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599"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0"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1"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2"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3"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4"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5"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6"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7"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8"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09"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0"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1"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2"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3"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4"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5"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6"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7"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8"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19"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0"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1"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2"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3"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4"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5"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6"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7"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8"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29"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0"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1"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2"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3"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4"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5"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6"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7"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8"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39"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40"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41"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42"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43"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44"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4645"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4583"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4584"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4"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5602" name="Group 2"/>
          <p:cNvGrpSpPr/>
          <p:nvPr/>
        </p:nvGrpSpPr>
        <p:grpSpPr>
          <a:xfrm>
            <a:off x="0" y="0"/>
            <a:ext cx="9144000" cy="6858000"/>
            <a:chOff x="0" y="0"/>
            <a:chExt cx="5760" cy="4320"/>
          </a:xfrm>
        </p:grpSpPr>
        <p:grpSp>
          <p:nvGrpSpPr>
            <p:cNvPr id="25606" name="Group 3"/>
            <p:cNvGrpSpPr/>
            <p:nvPr/>
          </p:nvGrpSpPr>
          <p:grpSpPr>
            <a:xfrm>
              <a:off x="0" y="0"/>
              <a:ext cx="5760" cy="4320"/>
              <a:chOff x="0" y="0"/>
              <a:chExt cx="5760" cy="4320"/>
            </a:xfrm>
          </p:grpSpPr>
          <p:sp>
            <p:nvSpPr>
              <p:cNvPr id="13" name="Rectangle 4"/>
              <p:cNvSpPr>
                <a:spLocks noChangeArrowheads="1"/>
              </p:cNvSpPr>
              <p:nvPr/>
            </p:nvSpPr>
            <p:spPr bwMode="ltGray">
              <a:xfrm>
                <a:off x="2112" y="0"/>
                <a:ext cx="3648" cy="96"/>
              </a:xfrm>
              <a:prstGeom prst="rect">
                <a:avLst/>
              </a:prstGeom>
              <a:solidFill>
                <a:schemeClr val="folHlink"/>
              </a:soli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nvGrpSpPr>
              <p:cNvPr id="25617" name="Group 5"/>
              <p:cNvGrpSpPr/>
              <p:nvPr userDrawn="1"/>
            </p:nvGrpSpPr>
            <p:grpSpPr>
              <a:xfrm>
                <a:off x="0" y="0"/>
                <a:ext cx="5760" cy="4320"/>
                <a:chOff x="0" y="0"/>
                <a:chExt cx="5760" cy="4320"/>
              </a:xfrm>
            </p:grpSpPr>
            <p:sp>
              <p:nvSpPr>
                <p:cNvPr id="25619" name="Line 6"/>
                <p:cNvSpPr/>
                <p:nvPr/>
              </p:nvSpPr>
              <p:spPr>
                <a:xfrm>
                  <a:off x="0" y="19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0" name="Line 7"/>
                <p:cNvSpPr/>
                <p:nvPr/>
              </p:nvSpPr>
              <p:spPr>
                <a:xfrm>
                  <a:off x="0" y="38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1" name="Line 8"/>
                <p:cNvSpPr/>
                <p:nvPr/>
              </p:nvSpPr>
              <p:spPr>
                <a:xfrm>
                  <a:off x="0" y="57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2" name="Line 9"/>
                <p:cNvSpPr/>
                <p:nvPr/>
              </p:nvSpPr>
              <p:spPr>
                <a:xfrm>
                  <a:off x="0" y="76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3" name="Line 10"/>
                <p:cNvSpPr/>
                <p:nvPr/>
              </p:nvSpPr>
              <p:spPr>
                <a:xfrm>
                  <a:off x="0" y="96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4" name="Line 11"/>
                <p:cNvSpPr/>
                <p:nvPr/>
              </p:nvSpPr>
              <p:spPr>
                <a:xfrm>
                  <a:off x="0" y="115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5" name="Line 12"/>
                <p:cNvSpPr/>
                <p:nvPr/>
              </p:nvSpPr>
              <p:spPr>
                <a:xfrm>
                  <a:off x="0" y="134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6" name="Line 13"/>
                <p:cNvSpPr/>
                <p:nvPr/>
              </p:nvSpPr>
              <p:spPr>
                <a:xfrm>
                  <a:off x="0" y="153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7" name="Line 14"/>
                <p:cNvSpPr/>
                <p:nvPr/>
              </p:nvSpPr>
              <p:spPr>
                <a:xfrm>
                  <a:off x="0" y="172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8" name="Line 15"/>
                <p:cNvSpPr/>
                <p:nvPr/>
              </p:nvSpPr>
              <p:spPr>
                <a:xfrm>
                  <a:off x="0" y="192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29" name="Line 16"/>
                <p:cNvSpPr/>
                <p:nvPr/>
              </p:nvSpPr>
              <p:spPr>
                <a:xfrm>
                  <a:off x="0" y="211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0" name="Line 17"/>
                <p:cNvSpPr/>
                <p:nvPr/>
              </p:nvSpPr>
              <p:spPr>
                <a:xfrm>
                  <a:off x="0" y="230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1" name="Line 18"/>
                <p:cNvSpPr/>
                <p:nvPr/>
              </p:nvSpPr>
              <p:spPr>
                <a:xfrm>
                  <a:off x="0" y="249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2" name="Line 19"/>
                <p:cNvSpPr/>
                <p:nvPr/>
              </p:nvSpPr>
              <p:spPr>
                <a:xfrm>
                  <a:off x="0" y="268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3" name="Line 20"/>
                <p:cNvSpPr/>
                <p:nvPr/>
              </p:nvSpPr>
              <p:spPr>
                <a:xfrm>
                  <a:off x="0" y="288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4" name="Line 21"/>
                <p:cNvSpPr/>
                <p:nvPr/>
              </p:nvSpPr>
              <p:spPr>
                <a:xfrm>
                  <a:off x="0" y="307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5" name="Line 22"/>
                <p:cNvSpPr/>
                <p:nvPr/>
              </p:nvSpPr>
              <p:spPr>
                <a:xfrm>
                  <a:off x="0" y="326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6" name="Line 23"/>
                <p:cNvSpPr/>
                <p:nvPr/>
              </p:nvSpPr>
              <p:spPr>
                <a:xfrm>
                  <a:off x="0" y="3456"/>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7" name="Line 24"/>
                <p:cNvSpPr/>
                <p:nvPr/>
              </p:nvSpPr>
              <p:spPr>
                <a:xfrm>
                  <a:off x="0" y="3648"/>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8" name="Line 25"/>
                <p:cNvSpPr/>
                <p:nvPr/>
              </p:nvSpPr>
              <p:spPr>
                <a:xfrm>
                  <a:off x="0" y="3840"/>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39" name="Line 26"/>
                <p:cNvSpPr/>
                <p:nvPr/>
              </p:nvSpPr>
              <p:spPr>
                <a:xfrm>
                  <a:off x="0" y="4032"/>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0" name="Line 27"/>
                <p:cNvSpPr/>
                <p:nvPr/>
              </p:nvSpPr>
              <p:spPr>
                <a:xfrm>
                  <a:off x="0" y="4224"/>
                  <a:ext cx="5760" cy="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1" name="Line 28"/>
                <p:cNvSpPr/>
                <p:nvPr/>
              </p:nvSpPr>
              <p:spPr>
                <a:xfrm>
                  <a:off x="1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2" name="Line 29"/>
                <p:cNvSpPr/>
                <p:nvPr/>
              </p:nvSpPr>
              <p:spPr>
                <a:xfrm>
                  <a:off x="3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3" name="Line 30"/>
                <p:cNvSpPr/>
                <p:nvPr/>
              </p:nvSpPr>
              <p:spPr>
                <a:xfrm>
                  <a:off x="5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4" name="Line 31"/>
                <p:cNvSpPr/>
                <p:nvPr/>
              </p:nvSpPr>
              <p:spPr>
                <a:xfrm>
                  <a:off x="7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5" name="Line 32"/>
                <p:cNvSpPr/>
                <p:nvPr/>
              </p:nvSpPr>
              <p:spPr>
                <a:xfrm>
                  <a:off x="96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6" name="Line 33"/>
                <p:cNvSpPr/>
                <p:nvPr/>
              </p:nvSpPr>
              <p:spPr>
                <a:xfrm>
                  <a:off x="115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7" name="Line 34"/>
                <p:cNvSpPr/>
                <p:nvPr/>
              </p:nvSpPr>
              <p:spPr>
                <a:xfrm>
                  <a:off x="134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8" name="Line 35"/>
                <p:cNvSpPr/>
                <p:nvPr/>
              </p:nvSpPr>
              <p:spPr>
                <a:xfrm>
                  <a:off x="153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49" name="Line 36"/>
                <p:cNvSpPr/>
                <p:nvPr/>
              </p:nvSpPr>
              <p:spPr>
                <a:xfrm>
                  <a:off x="172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0" name="Line 37"/>
                <p:cNvSpPr/>
                <p:nvPr/>
              </p:nvSpPr>
              <p:spPr>
                <a:xfrm>
                  <a:off x="192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1" name="Line 38"/>
                <p:cNvSpPr/>
                <p:nvPr/>
              </p:nvSpPr>
              <p:spPr>
                <a:xfrm>
                  <a:off x="211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2" name="Line 39"/>
                <p:cNvSpPr/>
                <p:nvPr/>
              </p:nvSpPr>
              <p:spPr>
                <a:xfrm>
                  <a:off x="230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3" name="Line 40"/>
                <p:cNvSpPr/>
                <p:nvPr/>
              </p:nvSpPr>
              <p:spPr>
                <a:xfrm>
                  <a:off x="249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4" name="Line 41"/>
                <p:cNvSpPr/>
                <p:nvPr/>
              </p:nvSpPr>
              <p:spPr>
                <a:xfrm>
                  <a:off x="268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5" name="Line 42"/>
                <p:cNvSpPr/>
                <p:nvPr/>
              </p:nvSpPr>
              <p:spPr>
                <a:xfrm>
                  <a:off x="288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6" name="Line 43"/>
                <p:cNvSpPr/>
                <p:nvPr/>
              </p:nvSpPr>
              <p:spPr>
                <a:xfrm>
                  <a:off x="307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7" name="Line 44"/>
                <p:cNvSpPr/>
                <p:nvPr/>
              </p:nvSpPr>
              <p:spPr>
                <a:xfrm>
                  <a:off x="326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8" name="Line 45"/>
                <p:cNvSpPr/>
                <p:nvPr/>
              </p:nvSpPr>
              <p:spPr>
                <a:xfrm>
                  <a:off x="345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59" name="Line 46"/>
                <p:cNvSpPr/>
                <p:nvPr/>
              </p:nvSpPr>
              <p:spPr>
                <a:xfrm>
                  <a:off x="364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0" name="Line 47"/>
                <p:cNvSpPr/>
                <p:nvPr/>
              </p:nvSpPr>
              <p:spPr>
                <a:xfrm>
                  <a:off x="384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1" name="Line 48"/>
                <p:cNvSpPr/>
                <p:nvPr/>
              </p:nvSpPr>
              <p:spPr>
                <a:xfrm>
                  <a:off x="403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2" name="Line 49"/>
                <p:cNvSpPr/>
                <p:nvPr/>
              </p:nvSpPr>
              <p:spPr>
                <a:xfrm>
                  <a:off x="422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3" name="Line 50"/>
                <p:cNvSpPr/>
                <p:nvPr/>
              </p:nvSpPr>
              <p:spPr>
                <a:xfrm>
                  <a:off x="441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4" name="Line 51"/>
                <p:cNvSpPr/>
                <p:nvPr/>
              </p:nvSpPr>
              <p:spPr>
                <a:xfrm>
                  <a:off x="460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5" name="Line 52"/>
                <p:cNvSpPr/>
                <p:nvPr/>
              </p:nvSpPr>
              <p:spPr>
                <a:xfrm>
                  <a:off x="4800"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6" name="Line 53"/>
                <p:cNvSpPr/>
                <p:nvPr/>
              </p:nvSpPr>
              <p:spPr>
                <a:xfrm>
                  <a:off x="4992"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7" name="Line 54"/>
                <p:cNvSpPr/>
                <p:nvPr/>
              </p:nvSpPr>
              <p:spPr>
                <a:xfrm>
                  <a:off x="5184"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8" name="Line 55"/>
                <p:cNvSpPr/>
                <p:nvPr/>
              </p:nvSpPr>
              <p:spPr>
                <a:xfrm>
                  <a:off x="5376"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sp>
              <p:nvSpPr>
                <p:cNvPr id="25669" name="Line 56"/>
                <p:cNvSpPr/>
                <p:nvPr/>
              </p:nvSpPr>
              <p:spPr>
                <a:xfrm>
                  <a:off x="5568" y="0"/>
                  <a:ext cx="0" cy="4320"/>
                </a:xfrm>
                <a:prstGeom prst="line">
                  <a:avLst/>
                </a:prstGeom>
                <a:ln w="9525" cap="flat" cmpd="sng">
                  <a:pattFill prst="pct30">
                    <a:fgClr>
                      <a:schemeClr val="folHlink"/>
                    </a:fgClr>
                    <a:bgClr>
                      <a:schemeClr val="bg1"/>
                    </a:bgClr>
                  </a:pattFill>
                  <a:prstDash val="solid"/>
                  <a:headEnd type="none" w="med" len="med"/>
                  <a:tailEnd type="none" w="med" len="med"/>
                </a:ln>
              </p:spPr>
            </p:sp>
          </p:grpSp>
          <p:sp>
            <p:nvSpPr>
              <p:cNvPr id="15" name="Line 57"/>
              <p:cNvSpPr>
                <a:spLocks noChangeShapeType="1"/>
              </p:cNvSpPr>
              <p:nvPr/>
            </p:nvSpPr>
            <p:spPr bwMode="ltGray">
              <a:xfrm>
                <a:off x="5568" y="0"/>
                <a:ext cx="0" cy="1488"/>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5607" name="Group 58"/>
            <p:cNvGrpSpPr/>
            <p:nvPr userDrawn="1"/>
          </p:nvGrpSpPr>
          <p:grpSpPr>
            <a:xfrm>
              <a:off x="3" y="559"/>
              <a:ext cx="4192" cy="1796"/>
              <a:chOff x="3" y="559"/>
              <a:chExt cx="4192" cy="1796"/>
            </a:xfrm>
          </p:grpSpPr>
          <p:sp>
            <p:nvSpPr>
              <p:cNvPr id="9" name="Line 59"/>
              <p:cNvSpPr>
                <a:spLocks noChangeShapeType="1"/>
              </p:cNvSpPr>
              <p:nvPr/>
            </p:nvSpPr>
            <p:spPr bwMode="ltGray">
              <a:xfrm>
                <a:off x="506" y="559"/>
                <a:ext cx="0" cy="1796"/>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0" name="Line 60"/>
              <p:cNvSpPr>
                <a:spLocks noChangeShapeType="1"/>
              </p:cNvSpPr>
              <p:nvPr/>
            </p:nvSpPr>
            <p:spPr bwMode="ltGray">
              <a:xfrm flipH="1" flipV="1">
                <a:off x="3" y="1924"/>
                <a:ext cx="32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1" name="Line 61"/>
              <p:cNvSpPr>
                <a:spLocks noChangeShapeType="1"/>
              </p:cNvSpPr>
              <p:nvPr/>
            </p:nvSpPr>
            <p:spPr bwMode="ltGray">
              <a:xfrm flipH="1" flipV="1">
                <a:off x="384" y="938"/>
                <a:ext cx="3811" cy="1"/>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12" name="Arc 62"/>
              <p:cNvSpPr/>
              <p:nvPr/>
            </p:nvSpPr>
            <p:spPr bwMode="ltGray">
              <a:xfrm rot="16200000" flipH="1">
                <a:off x="412" y="848"/>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nvGrpSpPr>
            <p:cNvPr id="25608" name="Group 63"/>
            <p:cNvGrpSpPr/>
            <p:nvPr userDrawn="1"/>
          </p:nvGrpSpPr>
          <p:grpSpPr>
            <a:xfrm>
              <a:off x="1480" y="1952"/>
              <a:ext cx="3808" cy="1812"/>
              <a:chOff x="1480" y="1952"/>
              <a:chExt cx="3808" cy="1812"/>
            </a:xfrm>
          </p:grpSpPr>
          <p:sp>
            <p:nvSpPr>
              <p:cNvPr id="6" name="Line 64"/>
              <p:cNvSpPr>
                <a:spLocks noChangeShapeType="1"/>
              </p:cNvSpPr>
              <p:nvPr/>
            </p:nvSpPr>
            <p:spPr bwMode="ltGray">
              <a:xfrm flipV="1">
                <a:off x="1480" y="3442"/>
                <a:ext cx="3808" cy="0"/>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7" name="Line 65"/>
              <p:cNvSpPr>
                <a:spLocks noChangeShapeType="1"/>
              </p:cNvSpPr>
              <p:nvPr/>
            </p:nvSpPr>
            <p:spPr bwMode="ltGray">
              <a:xfrm flipH="1">
                <a:off x="5172" y="1952"/>
                <a:ext cx="0" cy="1812"/>
              </a:xfrm>
              <a:prstGeom prst="line">
                <a:avLst/>
              </a:pr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sp>
            <p:nvSpPr>
              <p:cNvPr id="8" name="Arc 66"/>
              <p:cNvSpPr/>
              <p:nvPr/>
            </p:nvSpPr>
            <p:spPr bwMode="ltGray">
              <a:xfrm rot="5400000">
                <a:off x="5084" y="333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200" b="0" i="0" u="none" strike="noStrike" kern="1200" cap="none" spc="0" normalizeH="0" baseline="0" noProof="0">
                  <a:ln>
                    <a:noFill/>
                  </a:ln>
                  <a:solidFill>
                    <a:schemeClr val="tx1"/>
                  </a:solidFill>
                  <a:effectLst/>
                  <a:uLnTx/>
                  <a:uFillTx/>
                  <a:latin typeface="Tahoma" panose="020B0604030504040204" pitchFamily="34" charset="0"/>
                  <a:ea typeface="华文中宋" panose="02010600040101010101" pitchFamily="2" charset="-122"/>
                  <a:cs typeface="+mn-cs"/>
                </a:endParaRPr>
              </a:p>
            </p:txBody>
          </p:sp>
        </p:grpSp>
      </p:grpSp>
      <p:sp>
        <p:nvSpPr>
          <p:cNvPr id="6211" name="Rectangle 67"/>
          <p:cNvSpPr>
            <a:spLocks noGrp="1" noChangeArrowheads="1"/>
          </p:cNvSpPr>
          <p:nvPr>
            <p:ph type="ctrTitle"/>
          </p:nvPr>
        </p:nvSpPr>
        <p:spPr bwMode="auto">
          <a:xfrm>
            <a:off x="990600" y="1752600"/>
            <a:ext cx="7772400" cy="1143000"/>
          </a:xfrm>
          <a:prstGeom prst="rect">
            <a:avLst/>
          </a:prstGeom>
          <a:noFill/>
          <a:ln>
            <a:miter lim="800000"/>
          </a:ln>
        </p:spPr>
        <p:txBody>
          <a:bodyPr vert="horz" wrap="square" lIns="91440" tIns="45720" rIns="91440" bIns="45720" numCol="1" anchor="b" anchorCtr="0" compatLnSpc="1"/>
          <a:lstStyle>
            <a:lvl1pPr>
              <a:defRPr/>
            </a:lvl1pPr>
          </a:lstStyle>
          <a:p>
            <a:r>
              <a:rPr lang="zh-CN" altLang="en-US" noProof="1"/>
              <a:t>单击此处编辑母版标题样式</a:t>
            </a:r>
            <a:endParaRPr lang="zh-CN" altLang="en-US" noProof="1"/>
          </a:p>
        </p:txBody>
      </p:sp>
      <p:sp>
        <p:nvSpPr>
          <p:cNvPr id="6212" name="Rectangle 68" descr="Rectangle: Click to edit Master text styles&#10;Second level&#10;Third level&#10;Fourth level&#10;Fifth level"/>
          <p:cNvSpPr>
            <a:spLocks noGrp="1" noChangeArrowheads="1"/>
          </p:cNvSpPr>
          <p:nvPr>
            <p:ph type="subTitle" idx="1"/>
          </p:nvPr>
        </p:nvSpPr>
        <p:spPr bwMode="auto">
          <a:xfrm>
            <a:off x="990600" y="3309938"/>
            <a:ext cx="6400800" cy="1752600"/>
          </a:xfrm>
          <a:prstGeom prst="rect">
            <a:avLst/>
          </a:prstGeom>
          <a:noFill/>
          <a:ln>
            <a:miter lim="800000"/>
          </a:ln>
        </p:spPr>
        <p:txBody>
          <a:bodyPr vert="horz" wrap="square" lIns="91440" tIns="45720" rIns="91440" bIns="45720" numCol="1" anchor="t" anchorCtr="0" compatLnSpc="1"/>
          <a:lstStyle>
            <a:lvl1pPr marL="0" indent="0">
              <a:buFont typeface="Wingdings" panose="05000000000000000000" pitchFamily="2" charset="2"/>
              <a:buNone/>
              <a:defRPr/>
            </a:lvl1pPr>
          </a:lstStyle>
          <a:p>
            <a:r>
              <a:rPr lang="zh-CN" altLang="en-US" noProof="1"/>
              <a:t>单击此处编辑母版副标题样式</a:t>
            </a:r>
            <a:endParaRPr lang="zh-CN" altLang="en-US" noProof="1"/>
          </a:p>
        </p:txBody>
      </p:sp>
      <p:sp>
        <p:nvSpPr>
          <p:cNvPr id="67" name="Rectangle 69"/>
          <p:cNvSpPr>
            <a:spLocks noGrp="1" noChangeArrowheads="1"/>
          </p:cNvSpPr>
          <p:nvPr>
            <p:ph type="dt" sz="quarter" idx="2"/>
          </p:nvPr>
        </p:nvSpPr>
        <p:spPr bwMode="auto">
          <a:xfrm>
            <a:off x="685800" y="6248400"/>
            <a:ext cx="1905000" cy="457200"/>
          </a:xfrm>
          <a:prstGeom prst="rect">
            <a:avLst/>
          </a:prstGeom>
          <a:ln>
            <a:miter lim="800000"/>
          </a:ln>
        </p:spPr>
        <p:txBody>
          <a:bodyPr vert="horz" wrap="square" lIns="91440" tIns="45720" rIns="91440" bIns="45720" numCol="1" anchor="b" anchorCtr="0" compatLnSpc="1"/>
          <a:lstStyle>
            <a:lvl1pPr>
              <a:buFontTx/>
              <a:buNone/>
              <a:defRPr kumimoji="0" sz="1400">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8" name="Rectangle 70"/>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b" anchorCtr="0" compatLnSpc="1"/>
          <a:lstStyle>
            <a:lvl1pPr algn="ctr">
              <a:buFontTx/>
              <a:buNone/>
              <a:defRPr kumimoji="0" sz="1400">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mn-ea"/>
              <a:cs typeface="+mn-cs"/>
            </a:endParaRPr>
          </a:p>
        </p:txBody>
      </p:sp>
      <p:sp>
        <p:nvSpPr>
          <p:cNvPr id="69" name="Rectangle 71"/>
          <p:cNvSpPr>
            <a:spLocks noGrp="1" noChangeArrowheads="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b" anchorCtr="0" compatLnSpc="1"/>
          <a:lstStyle/>
          <a:p>
            <a:pPr lvl="0" algn="r" eaLnBrk="1" hangingPunct="1">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110000"/>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4.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4.pn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3" Type="http://schemas.openxmlformats.org/officeDocument/2006/relationships/theme" Target="../theme/theme3.xml"/><Relationship Id="rId12" Type="http://schemas.openxmlformats.org/officeDocument/2006/relationships/image" Target="../media/image4.pn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3" Type="http://schemas.openxmlformats.org/officeDocument/2006/relationships/theme" Target="../theme/theme4.xml"/><Relationship Id="rId12" Type="http://schemas.openxmlformats.org/officeDocument/2006/relationships/image" Target="../media/image4.png"/><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3" Type="http://schemas.openxmlformats.org/officeDocument/2006/relationships/theme" Target="../theme/theme5.xml"/><Relationship Id="rId12" Type="http://schemas.openxmlformats.org/officeDocument/2006/relationships/image" Target="../media/image4.png"/><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5.xml"/><Relationship Id="rId8" Type="http://schemas.openxmlformats.org/officeDocument/2006/relationships/slideLayout" Target="../slideLayouts/slideLayout64.xml"/><Relationship Id="rId7" Type="http://schemas.openxmlformats.org/officeDocument/2006/relationships/slideLayout" Target="../slideLayouts/slideLayout63.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3" Type="http://schemas.openxmlformats.org/officeDocument/2006/relationships/theme" Target="../theme/theme6.xml"/><Relationship Id="rId12" Type="http://schemas.openxmlformats.org/officeDocument/2006/relationships/image" Target="../media/image4.png"/><Relationship Id="rId11" Type="http://schemas.openxmlformats.org/officeDocument/2006/relationships/slideLayout" Target="../slideLayouts/slideLayout67.xml"/><Relationship Id="rId10" Type="http://schemas.openxmlformats.org/officeDocument/2006/relationships/slideLayout" Target="../slideLayouts/slideLayout66.xml"/><Relationship Id="rId1"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6.xml"/><Relationship Id="rId8" Type="http://schemas.openxmlformats.org/officeDocument/2006/relationships/slideLayout" Target="../slideLayouts/slideLayout75.xml"/><Relationship Id="rId7" Type="http://schemas.openxmlformats.org/officeDocument/2006/relationships/slideLayout" Target="../slideLayouts/slideLayout74.xml"/><Relationship Id="rId6" Type="http://schemas.openxmlformats.org/officeDocument/2006/relationships/slideLayout" Target="../slideLayouts/slideLayout73.xml"/><Relationship Id="rId5" Type="http://schemas.openxmlformats.org/officeDocument/2006/relationships/slideLayout" Target="../slideLayouts/slideLayout72.xml"/><Relationship Id="rId4" Type="http://schemas.openxmlformats.org/officeDocument/2006/relationships/slideLayout" Target="../slideLayouts/slideLayout71.xml"/><Relationship Id="rId3" Type="http://schemas.openxmlformats.org/officeDocument/2006/relationships/slideLayout" Target="../slideLayouts/slideLayout70.xml"/><Relationship Id="rId2" Type="http://schemas.openxmlformats.org/officeDocument/2006/relationships/slideLayout" Target="../slideLayouts/slideLayout69.xml"/><Relationship Id="rId13" Type="http://schemas.openxmlformats.org/officeDocument/2006/relationships/theme" Target="../theme/theme7.xml"/><Relationship Id="rId12" Type="http://schemas.openxmlformats.org/officeDocument/2006/relationships/image" Target="../media/image4.png"/><Relationship Id="rId11" Type="http://schemas.openxmlformats.org/officeDocument/2006/relationships/slideLayout" Target="../slideLayouts/slideLayout78.xml"/><Relationship Id="rId10" Type="http://schemas.openxmlformats.org/officeDocument/2006/relationships/slideLayout" Target="../slideLayouts/slideLayout77.xml"/><Relationship Id="rId1"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7.xml"/><Relationship Id="rId8" Type="http://schemas.openxmlformats.org/officeDocument/2006/relationships/slideLayout" Target="../slideLayouts/slideLayout86.xml"/><Relationship Id="rId7" Type="http://schemas.openxmlformats.org/officeDocument/2006/relationships/slideLayout" Target="../slideLayouts/slideLayout85.xml"/><Relationship Id="rId6" Type="http://schemas.openxmlformats.org/officeDocument/2006/relationships/slideLayout" Target="../slideLayouts/slideLayout84.xml"/><Relationship Id="rId5" Type="http://schemas.openxmlformats.org/officeDocument/2006/relationships/slideLayout" Target="../slideLayouts/slideLayout83.xml"/><Relationship Id="rId4" Type="http://schemas.openxmlformats.org/officeDocument/2006/relationships/slideLayout" Target="../slideLayouts/slideLayout82.xml"/><Relationship Id="rId3" Type="http://schemas.openxmlformats.org/officeDocument/2006/relationships/slideLayout" Target="../slideLayouts/slideLayout81.xml"/><Relationship Id="rId2" Type="http://schemas.openxmlformats.org/officeDocument/2006/relationships/slideLayout" Target="../slideLayouts/slideLayout80.xml"/><Relationship Id="rId13" Type="http://schemas.openxmlformats.org/officeDocument/2006/relationships/theme" Target="../theme/theme8.xml"/><Relationship Id="rId12" Type="http://schemas.openxmlformats.org/officeDocument/2006/relationships/image" Target="../media/image4.png"/><Relationship Id="rId11" Type="http://schemas.openxmlformats.org/officeDocument/2006/relationships/slideLayout" Target="../slideLayouts/slideLayout89.xml"/><Relationship Id="rId10" Type="http://schemas.openxmlformats.org/officeDocument/2006/relationships/slideLayout" Target="../slideLayouts/slideLayout88.xml"/><Relationship Id="rId1" Type="http://schemas.openxmlformats.org/officeDocument/2006/relationships/slideLayout" Target="../slideLayouts/slideLayout79.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8.xml"/><Relationship Id="rId8" Type="http://schemas.openxmlformats.org/officeDocument/2006/relationships/slideLayout" Target="../slideLayouts/slideLayout97.xml"/><Relationship Id="rId7" Type="http://schemas.openxmlformats.org/officeDocument/2006/relationships/slideLayout" Target="../slideLayouts/slideLayout96.xml"/><Relationship Id="rId6" Type="http://schemas.openxmlformats.org/officeDocument/2006/relationships/slideLayout" Target="../slideLayouts/slideLayout95.xml"/><Relationship Id="rId5" Type="http://schemas.openxmlformats.org/officeDocument/2006/relationships/slideLayout" Target="../slideLayouts/slideLayout94.xml"/><Relationship Id="rId4" Type="http://schemas.openxmlformats.org/officeDocument/2006/relationships/slideLayout" Target="../slideLayouts/slideLayout93.xml"/><Relationship Id="rId3" Type="http://schemas.openxmlformats.org/officeDocument/2006/relationships/slideLayout" Target="../slideLayouts/slideLayout92.xml"/><Relationship Id="rId2" Type="http://schemas.openxmlformats.org/officeDocument/2006/relationships/slideLayout" Target="../slideLayouts/slideLayout91.xml"/><Relationship Id="rId14" Type="http://schemas.openxmlformats.org/officeDocument/2006/relationships/theme" Target="../theme/theme9.xml"/><Relationship Id="rId13" Type="http://schemas.openxmlformats.org/officeDocument/2006/relationships/image" Target="../media/image4.png"/><Relationship Id="rId12" Type="http://schemas.openxmlformats.org/officeDocument/2006/relationships/slideLayout" Target="../slideLayouts/slideLayout101.xml"/><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 Type="http://schemas.openxmlformats.org/officeDocument/2006/relationships/slideLayout" Target="../slideLayouts/slideLayout90.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10.xml"/><Relationship Id="rId8" Type="http://schemas.openxmlformats.org/officeDocument/2006/relationships/slideLayout" Target="../slideLayouts/slideLayout109.xml"/><Relationship Id="rId7" Type="http://schemas.openxmlformats.org/officeDocument/2006/relationships/slideLayout" Target="../slideLayouts/slideLayout108.xml"/><Relationship Id="rId6" Type="http://schemas.openxmlformats.org/officeDocument/2006/relationships/slideLayout" Target="../slideLayouts/slideLayout107.xml"/><Relationship Id="rId5" Type="http://schemas.openxmlformats.org/officeDocument/2006/relationships/slideLayout" Target="../slideLayouts/slideLayout106.xml"/><Relationship Id="rId4" Type="http://schemas.openxmlformats.org/officeDocument/2006/relationships/slideLayout" Target="../slideLayouts/slideLayout105.xml"/><Relationship Id="rId3" Type="http://schemas.openxmlformats.org/officeDocument/2006/relationships/slideLayout" Target="../slideLayouts/slideLayout104.xml"/><Relationship Id="rId2" Type="http://schemas.openxmlformats.org/officeDocument/2006/relationships/slideLayout" Target="../slideLayouts/slideLayout103.xml"/><Relationship Id="rId13" Type="http://schemas.openxmlformats.org/officeDocument/2006/relationships/theme" Target="../theme/theme10.xml"/><Relationship Id="rId12" Type="http://schemas.openxmlformats.org/officeDocument/2006/relationships/image" Target="../media/image4.png"/><Relationship Id="rId11" Type="http://schemas.openxmlformats.org/officeDocument/2006/relationships/slideLayout" Target="../slideLayouts/slideLayout112.xml"/><Relationship Id="rId10" Type="http://schemas.openxmlformats.org/officeDocument/2006/relationships/slideLayout" Target="../slideLayouts/slideLayout111.xml"/><Relationship Id="rId1" Type="http://schemas.openxmlformats.org/officeDocument/2006/relationships/slideLayout" Target="../slideLayouts/slideLayout102.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21.xml"/><Relationship Id="rId8" Type="http://schemas.openxmlformats.org/officeDocument/2006/relationships/slideLayout" Target="../slideLayouts/slideLayout120.xml"/><Relationship Id="rId7" Type="http://schemas.openxmlformats.org/officeDocument/2006/relationships/slideLayout" Target="../slideLayouts/slideLayout119.xml"/><Relationship Id="rId6" Type="http://schemas.openxmlformats.org/officeDocument/2006/relationships/slideLayout" Target="../slideLayouts/slideLayout118.xml"/><Relationship Id="rId5" Type="http://schemas.openxmlformats.org/officeDocument/2006/relationships/slideLayout" Target="../slideLayouts/slideLayout117.xml"/><Relationship Id="rId4" Type="http://schemas.openxmlformats.org/officeDocument/2006/relationships/slideLayout" Target="../slideLayouts/slideLayout116.xml"/><Relationship Id="rId3" Type="http://schemas.openxmlformats.org/officeDocument/2006/relationships/slideLayout" Target="../slideLayouts/slideLayout115.xml"/><Relationship Id="rId2" Type="http://schemas.openxmlformats.org/officeDocument/2006/relationships/slideLayout" Target="../slideLayouts/slideLayout114.xml"/><Relationship Id="rId13" Type="http://schemas.openxmlformats.org/officeDocument/2006/relationships/theme" Target="../theme/theme11.xml"/><Relationship Id="rId12" Type="http://schemas.openxmlformats.org/officeDocument/2006/relationships/image" Target="../media/image4.png"/><Relationship Id="rId11" Type="http://schemas.openxmlformats.org/officeDocument/2006/relationships/slideLayout" Target="../slideLayouts/slideLayout123.xml"/><Relationship Id="rId10" Type="http://schemas.openxmlformats.org/officeDocument/2006/relationships/slideLayout" Target="../slideLayouts/slideLayout122.xml"/><Relationship Id="rId1" Type="http://schemas.openxmlformats.org/officeDocument/2006/relationships/slideLayout" Target="../slideLayouts/slideLayout113.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2.xml"/><Relationship Id="rId8" Type="http://schemas.openxmlformats.org/officeDocument/2006/relationships/slideLayout" Target="../slideLayouts/slideLayout131.xml"/><Relationship Id="rId7" Type="http://schemas.openxmlformats.org/officeDocument/2006/relationships/slideLayout" Target="../slideLayouts/slideLayout130.xml"/><Relationship Id="rId6" Type="http://schemas.openxmlformats.org/officeDocument/2006/relationships/slideLayout" Target="../slideLayouts/slideLayout129.xml"/><Relationship Id="rId5" Type="http://schemas.openxmlformats.org/officeDocument/2006/relationships/slideLayout" Target="../slideLayouts/slideLayout128.xml"/><Relationship Id="rId4" Type="http://schemas.openxmlformats.org/officeDocument/2006/relationships/slideLayout" Target="../slideLayouts/slideLayout127.xml"/><Relationship Id="rId3" Type="http://schemas.openxmlformats.org/officeDocument/2006/relationships/slideLayout" Target="../slideLayouts/slideLayout126.xml"/><Relationship Id="rId2" Type="http://schemas.openxmlformats.org/officeDocument/2006/relationships/slideLayout" Target="../slideLayouts/slideLayout125.xml"/><Relationship Id="rId14" Type="http://schemas.openxmlformats.org/officeDocument/2006/relationships/theme" Target="../theme/theme12.xml"/><Relationship Id="rId13" Type="http://schemas.openxmlformats.org/officeDocument/2006/relationships/image" Target="../media/image4.png"/><Relationship Id="rId12" Type="http://schemas.openxmlformats.org/officeDocument/2006/relationships/slideLayout" Target="../slideLayouts/slideLayout135.xml"/><Relationship Id="rId11" Type="http://schemas.openxmlformats.org/officeDocument/2006/relationships/slideLayout" Target="../slideLayouts/slideLayout134.xml"/><Relationship Id="rId10" Type="http://schemas.openxmlformats.org/officeDocument/2006/relationships/slideLayout" Target="../slideLayouts/slideLayout133.xml"/><Relationship Id="rId1" Type="http://schemas.openxmlformats.org/officeDocument/2006/relationships/slideLayout" Target="../slideLayouts/slideLayout124.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4.xml"/><Relationship Id="rId8" Type="http://schemas.openxmlformats.org/officeDocument/2006/relationships/slideLayout" Target="../slideLayouts/slideLayout143.xml"/><Relationship Id="rId7" Type="http://schemas.openxmlformats.org/officeDocument/2006/relationships/slideLayout" Target="../slideLayouts/slideLayout142.xml"/><Relationship Id="rId6" Type="http://schemas.openxmlformats.org/officeDocument/2006/relationships/slideLayout" Target="../slideLayouts/slideLayout141.xml"/><Relationship Id="rId5" Type="http://schemas.openxmlformats.org/officeDocument/2006/relationships/slideLayout" Target="../slideLayouts/slideLayout140.xml"/><Relationship Id="rId4" Type="http://schemas.openxmlformats.org/officeDocument/2006/relationships/slideLayout" Target="../slideLayouts/slideLayout139.xml"/><Relationship Id="rId3" Type="http://schemas.openxmlformats.org/officeDocument/2006/relationships/slideLayout" Target="../slideLayouts/slideLayout138.xml"/><Relationship Id="rId2" Type="http://schemas.openxmlformats.org/officeDocument/2006/relationships/slideLayout" Target="../slideLayouts/slideLayout137.xml"/><Relationship Id="rId13" Type="http://schemas.openxmlformats.org/officeDocument/2006/relationships/theme" Target="../theme/theme13.xml"/><Relationship Id="rId12" Type="http://schemas.openxmlformats.org/officeDocument/2006/relationships/image" Target="../media/image4.png"/><Relationship Id="rId11" Type="http://schemas.openxmlformats.org/officeDocument/2006/relationships/slideLayout" Target="../slideLayouts/slideLayout146.xml"/><Relationship Id="rId10" Type="http://schemas.openxmlformats.org/officeDocument/2006/relationships/slideLayout" Target="../slideLayouts/slideLayout145.xml"/><Relationship Id="rId1" Type="http://schemas.openxmlformats.org/officeDocument/2006/relationships/slideLayout" Target="../slideLayouts/slideLayout136.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5.xml"/><Relationship Id="rId8" Type="http://schemas.openxmlformats.org/officeDocument/2006/relationships/slideLayout" Target="../slideLayouts/slideLayout154.xml"/><Relationship Id="rId7" Type="http://schemas.openxmlformats.org/officeDocument/2006/relationships/slideLayout" Target="../slideLayouts/slideLayout153.xml"/><Relationship Id="rId6" Type="http://schemas.openxmlformats.org/officeDocument/2006/relationships/slideLayout" Target="../slideLayouts/slideLayout152.xml"/><Relationship Id="rId5" Type="http://schemas.openxmlformats.org/officeDocument/2006/relationships/slideLayout" Target="../slideLayouts/slideLayout151.xml"/><Relationship Id="rId4" Type="http://schemas.openxmlformats.org/officeDocument/2006/relationships/slideLayout" Target="../slideLayouts/slideLayout150.xml"/><Relationship Id="rId3" Type="http://schemas.openxmlformats.org/officeDocument/2006/relationships/slideLayout" Target="../slideLayouts/slideLayout149.xml"/><Relationship Id="rId2" Type="http://schemas.openxmlformats.org/officeDocument/2006/relationships/slideLayout" Target="../slideLayouts/slideLayout148.xml"/><Relationship Id="rId13" Type="http://schemas.openxmlformats.org/officeDocument/2006/relationships/theme" Target="../theme/theme14.xml"/><Relationship Id="rId12" Type="http://schemas.openxmlformats.org/officeDocument/2006/relationships/image" Target="../media/image4.png"/><Relationship Id="rId11" Type="http://schemas.openxmlformats.org/officeDocument/2006/relationships/slideLayout" Target="../slideLayouts/slideLayout157.xml"/><Relationship Id="rId10" Type="http://schemas.openxmlformats.org/officeDocument/2006/relationships/slideLayout" Target="../slideLayouts/slideLayout156.xml"/><Relationship Id="rId1" Type="http://schemas.openxmlformats.org/officeDocument/2006/relationships/slideLayout" Target="../slideLayouts/slideLayout1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anose="05000000000000000000" pitchFamily="2" charset="2"/>
        <a:buBlip>
          <a:blip r:embed="rId1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anose="05000000000000000000" pitchFamily="2" charset="2"/>
        <a:buChar char="w"/>
        <a:defRPr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slide" Target="slide46.xml"/><Relationship Id="rId3" Type="http://schemas.openxmlformats.org/officeDocument/2006/relationships/slide" Target="slide2.xml"/><Relationship Id="rId2" Type="http://schemas.openxmlformats.org/officeDocument/2006/relationships/slide" Target="slide14.xml"/><Relationship Id="rId1" Type="http://schemas.openxmlformats.org/officeDocument/2006/relationships/slide" Target="slide1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slide" Target="slide49.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jpe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slide" Target="slide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5.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6.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5.wmf"/></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7.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8.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9.png"/><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png"/><Relationship Id="rId3" Type="http://schemas.openxmlformats.org/officeDocument/2006/relationships/slide" Target="slide9.xml"/><Relationship Id="rId2" Type="http://schemas.openxmlformats.org/officeDocument/2006/relationships/image" Target="../media/image10.png"/><Relationship Id="rId1" Type="http://schemas.openxmlformats.org/officeDocument/2006/relationships/image" Target="../media/image20.wmf"/></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0.xml"/><Relationship Id="rId2" Type="http://schemas.openxmlformats.org/officeDocument/2006/relationships/slide" Target="slide51.xml"/><Relationship Id="rId1" Type="http://schemas.openxmlformats.org/officeDocument/2006/relationships/slide" Target="slide50.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91.xml"/><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 Target="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69.xml"/><Relationship Id="rId7" Type="http://schemas.openxmlformats.org/officeDocument/2006/relationships/image" Target="../media/image23.png"/><Relationship Id="rId6" Type="http://schemas.openxmlformats.org/officeDocument/2006/relationships/image" Target="../media/image22.wmf"/><Relationship Id="rId5" Type="http://schemas.openxmlformats.org/officeDocument/2006/relationships/oleObject" Target="../embeddings/oleObject3.bin"/><Relationship Id="rId4" Type="http://schemas.openxmlformats.org/officeDocument/2006/relationships/image" Target="../media/image21.png"/><Relationship Id="rId3" Type="http://schemas.openxmlformats.org/officeDocument/2006/relationships/image" Target="../media/image11.png"/><Relationship Id="rId2" Type="http://schemas.openxmlformats.org/officeDocument/2006/relationships/image" Target="../media/image10.png"/><Relationship Id="rId10" Type="http://schemas.openxmlformats.org/officeDocument/2006/relationships/notesSlide" Target="../notesSlides/notesSlide2.xml"/><Relationship Id="rId1" Type="http://schemas.openxmlformats.org/officeDocument/2006/relationships/slide" Target="slide1.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91.xml"/><Relationship Id="rId7" Type="http://schemas.openxmlformats.org/officeDocument/2006/relationships/image" Target="../media/image26.png"/><Relationship Id="rId6" Type="http://schemas.openxmlformats.org/officeDocument/2006/relationships/image" Target="../media/image12.png"/><Relationship Id="rId5" Type="http://schemas.openxmlformats.org/officeDocument/2006/relationships/slide" Target="slide13.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1.png"/><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91.xml"/><Relationship Id="rId5" Type="http://schemas.openxmlformats.org/officeDocument/2006/relationships/image" Target="../media/image29.png"/><Relationship Id="rId4" Type="http://schemas.openxmlformats.org/officeDocument/2006/relationships/image" Target="../media/image12.png"/><Relationship Id="rId3" Type="http://schemas.openxmlformats.org/officeDocument/2006/relationships/slide" Target="slide13.xml"/><Relationship Id="rId2" Type="http://schemas.openxmlformats.org/officeDocument/2006/relationships/image" Target="../media/image11.png"/><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9" Type="http://schemas.openxmlformats.org/officeDocument/2006/relationships/image" Target="../media/image31.wmf"/><Relationship Id="rId8" Type="http://schemas.openxmlformats.org/officeDocument/2006/relationships/oleObject" Target="../embeddings/oleObject4.bin"/><Relationship Id="rId7" Type="http://schemas.openxmlformats.org/officeDocument/2006/relationships/slide" Target="slide52.xml"/><Relationship Id="rId6" Type="http://schemas.openxmlformats.org/officeDocument/2006/relationships/slide" Target="slide53.xml"/><Relationship Id="rId5" Type="http://schemas.openxmlformats.org/officeDocument/2006/relationships/image" Target="../media/image30.png"/><Relationship Id="rId4" Type="http://schemas.openxmlformats.org/officeDocument/2006/relationships/image" Target="../media/image12.png"/><Relationship Id="rId3" Type="http://schemas.openxmlformats.org/officeDocument/2006/relationships/slide" Target="slide15.xml"/><Relationship Id="rId2" Type="http://schemas.openxmlformats.org/officeDocument/2006/relationships/image" Target="../media/image11.png"/><Relationship Id="rId12" Type="http://schemas.openxmlformats.org/officeDocument/2006/relationships/notesSlide" Target="../notesSlides/notesSlide4.xml"/><Relationship Id="rId11" Type="http://schemas.openxmlformats.org/officeDocument/2006/relationships/vmlDrawing" Target="../drawings/vmlDrawing3.vml"/><Relationship Id="rId10" Type="http://schemas.openxmlformats.org/officeDocument/2006/relationships/slideLayout" Target="../slideLayouts/slideLayout91.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91.xml"/><Relationship Id="rId5" Type="http://schemas.openxmlformats.org/officeDocument/2006/relationships/image" Target="../media/image32.wmf"/><Relationship Id="rId4" Type="http://schemas.openxmlformats.org/officeDocument/2006/relationships/image" Target="../media/image12.png"/><Relationship Id="rId3" Type="http://schemas.openxmlformats.org/officeDocument/2006/relationships/slide" Target="slide17.xml"/><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91.xml"/><Relationship Id="rId5" Type="http://schemas.openxmlformats.org/officeDocument/2006/relationships/image" Target="../media/image32.wmf"/><Relationship Id="rId4" Type="http://schemas.openxmlformats.org/officeDocument/2006/relationships/image" Target="../media/image12.png"/><Relationship Id="rId3" Type="http://schemas.openxmlformats.org/officeDocument/2006/relationships/slide" Target="slide18.xml"/><Relationship Id="rId2" Type="http://schemas.openxmlformats.org/officeDocument/2006/relationships/image" Target="../media/image11.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91.xml"/><Relationship Id="rId5" Type="http://schemas.openxmlformats.org/officeDocument/2006/relationships/image" Target="../media/image32.wmf"/><Relationship Id="rId4" Type="http://schemas.openxmlformats.org/officeDocument/2006/relationships/image" Target="../media/image12.png"/><Relationship Id="rId3" Type="http://schemas.openxmlformats.org/officeDocument/2006/relationships/slide" Target="slide19.xml"/><Relationship Id="rId2" Type="http://schemas.openxmlformats.org/officeDocument/2006/relationships/image" Target="../media/image11.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91.xml"/><Relationship Id="rId5" Type="http://schemas.openxmlformats.org/officeDocument/2006/relationships/image" Target="../media/image33.wmf"/><Relationship Id="rId4" Type="http://schemas.openxmlformats.org/officeDocument/2006/relationships/image" Target="../media/image12.png"/><Relationship Id="rId3" Type="http://schemas.openxmlformats.org/officeDocument/2006/relationships/slide" Target="slide20.xml"/><Relationship Id="rId2" Type="http://schemas.openxmlformats.org/officeDocument/2006/relationships/image" Target="../media/image11.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91.xml"/><Relationship Id="rId5" Type="http://schemas.openxmlformats.org/officeDocument/2006/relationships/image" Target="../media/image33.wmf"/><Relationship Id="rId4" Type="http://schemas.openxmlformats.org/officeDocument/2006/relationships/image" Target="../media/image12.png"/><Relationship Id="rId3" Type="http://schemas.openxmlformats.org/officeDocument/2006/relationships/slide" Target="slide21.xml"/><Relationship Id="rId2" Type="http://schemas.openxmlformats.org/officeDocument/2006/relationships/image" Target="../media/image11.png"/><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5.xml"/><Relationship Id="rId5" Type="http://schemas.openxmlformats.org/officeDocument/2006/relationships/image" Target="../media/image34.jpeg"/><Relationship Id="rId4" Type="http://schemas.openxmlformats.org/officeDocument/2006/relationships/image" Target="../media/image12.png"/><Relationship Id="rId3" Type="http://schemas.openxmlformats.org/officeDocument/2006/relationships/slide" Target="slide21.xml"/><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38.wmf"/><Relationship Id="rId7" Type="http://schemas.openxmlformats.org/officeDocument/2006/relationships/oleObject" Target="../embeddings/oleObject8.bin"/><Relationship Id="rId6" Type="http://schemas.openxmlformats.org/officeDocument/2006/relationships/image" Target="../media/image37.wmf"/><Relationship Id="rId5" Type="http://schemas.openxmlformats.org/officeDocument/2006/relationships/oleObject" Target="../embeddings/oleObject7.bin"/><Relationship Id="rId4" Type="http://schemas.openxmlformats.org/officeDocument/2006/relationships/image" Target="../media/image36.wmf"/><Relationship Id="rId3" Type="http://schemas.openxmlformats.org/officeDocument/2006/relationships/oleObject" Target="../embeddings/oleObject6.bin"/><Relationship Id="rId2" Type="http://schemas.openxmlformats.org/officeDocument/2006/relationships/image" Target="../media/image35.wmf"/><Relationship Id="rId19" Type="http://schemas.openxmlformats.org/officeDocument/2006/relationships/notesSlide" Target="../notesSlides/notesSlide5.xml"/><Relationship Id="rId18" Type="http://schemas.openxmlformats.org/officeDocument/2006/relationships/vmlDrawing" Target="../drawings/vmlDrawing4.vml"/><Relationship Id="rId17" Type="http://schemas.openxmlformats.org/officeDocument/2006/relationships/slideLayout" Target="../slideLayouts/slideLayout47.xml"/><Relationship Id="rId16" Type="http://schemas.openxmlformats.org/officeDocument/2006/relationships/image" Target="../media/image42.wmf"/><Relationship Id="rId15" Type="http://schemas.openxmlformats.org/officeDocument/2006/relationships/oleObject" Target="../embeddings/oleObject12.bin"/><Relationship Id="rId14" Type="http://schemas.openxmlformats.org/officeDocument/2006/relationships/image" Target="../media/image41.wmf"/><Relationship Id="rId13" Type="http://schemas.openxmlformats.org/officeDocument/2006/relationships/oleObject" Target="../embeddings/oleObject11.bin"/><Relationship Id="rId12" Type="http://schemas.openxmlformats.org/officeDocument/2006/relationships/image" Target="../media/image40.wmf"/><Relationship Id="rId11" Type="http://schemas.openxmlformats.org/officeDocument/2006/relationships/oleObject" Target="../embeddings/oleObject10.bin"/><Relationship Id="rId10" Type="http://schemas.openxmlformats.org/officeDocument/2006/relationships/image" Target="../media/image39.wmf"/><Relationship Id="rId1" Type="http://schemas.openxmlformats.org/officeDocument/2006/relationships/oleObject" Target="../embeddings/oleObject5.bin"/></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5.vml"/><Relationship Id="rId5" Type="http://schemas.openxmlformats.org/officeDocument/2006/relationships/slideLayout" Target="../slideLayouts/slideLayout47.xml"/><Relationship Id="rId4" Type="http://schemas.openxmlformats.org/officeDocument/2006/relationships/image" Target="../media/image42.wmf"/><Relationship Id="rId3" Type="http://schemas.openxmlformats.org/officeDocument/2006/relationships/oleObject" Target="../embeddings/oleObject14.bin"/><Relationship Id="rId2" Type="http://schemas.openxmlformats.org/officeDocument/2006/relationships/image" Target="../media/image43.wmf"/><Relationship Id="rId1"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vmlDrawing" Target="../drawings/vmlDrawing6.vml"/><Relationship Id="rId7" Type="http://schemas.openxmlformats.org/officeDocument/2006/relationships/slideLayout" Target="../slideLayouts/slideLayout148.xml"/><Relationship Id="rId6" Type="http://schemas.openxmlformats.org/officeDocument/2006/relationships/image" Target="../media/image46.wmf"/><Relationship Id="rId5" Type="http://schemas.openxmlformats.org/officeDocument/2006/relationships/oleObject" Target="../embeddings/oleObject17.bin"/><Relationship Id="rId4" Type="http://schemas.openxmlformats.org/officeDocument/2006/relationships/image" Target="../media/image45.wmf"/><Relationship Id="rId3" Type="http://schemas.openxmlformats.org/officeDocument/2006/relationships/oleObject" Target="../embeddings/oleObject16.bin"/><Relationship Id="rId2" Type="http://schemas.openxmlformats.org/officeDocument/2006/relationships/image" Target="../media/image44.wmf"/><Relationship Id="rId1"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vmlDrawing" Target="../drawings/vmlDrawing7.vml"/><Relationship Id="rId7" Type="http://schemas.openxmlformats.org/officeDocument/2006/relationships/slideLayout" Target="../slideLayouts/slideLayout148.xml"/><Relationship Id="rId6" Type="http://schemas.openxmlformats.org/officeDocument/2006/relationships/image" Target="../media/image47.wmf"/><Relationship Id="rId5" Type="http://schemas.openxmlformats.org/officeDocument/2006/relationships/oleObject" Target="../embeddings/oleObject18.bin"/><Relationship Id="rId4" Type="http://schemas.openxmlformats.org/officeDocument/2006/relationships/image" Target="../media/image11.png"/><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 Target="slide1.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03.xml"/><Relationship Id="rId4" Type="http://schemas.openxmlformats.org/officeDocument/2006/relationships/image" Target="../media/image11.png"/><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vmlDrawing" Target="../drawings/vmlDrawing8.vml"/><Relationship Id="rId7" Type="http://schemas.openxmlformats.org/officeDocument/2006/relationships/slideLayout" Target="../slideLayouts/slideLayout36.xml"/><Relationship Id="rId6" Type="http://schemas.openxmlformats.org/officeDocument/2006/relationships/image" Target="../media/image50.wmf"/><Relationship Id="rId5" Type="http://schemas.openxmlformats.org/officeDocument/2006/relationships/oleObject" Target="../embeddings/oleObject21.bin"/><Relationship Id="rId4" Type="http://schemas.openxmlformats.org/officeDocument/2006/relationships/image" Target="../media/image49.wmf"/><Relationship Id="rId3" Type="http://schemas.openxmlformats.org/officeDocument/2006/relationships/oleObject" Target="../embeddings/oleObject20.bin"/><Relationship Id="rId2" Type="http://schemas.openxmlformats.org/officeDocument/2006/relationships/image" Target="../media/image48.wmf"/><Relationship Id="rId1" Type="http://schemas.openxmlformats.org/officeDocument/2006/relationships/oleObject" Target="../embeddings/oleObject19.bin"/></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5.xml"/><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 Target="slide1.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5.xml"/><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 Target="slide1.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125.xml"/><Relationship Id="rId5" Type="http://schemas.openxmlformats.org/officeDocument/2006/relationships/image" Target="../media/image12.png"/><Relationship Id="rId4" Type="http://schemas.openxmlformats.org/officeDocument/2006/relationships/slide" Target="slide29.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51.wmf"/></Relationships>
</file>

<file path=ppt/slides/_rels/slide34.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tags" Target="../tags/tag1.xml"/><Relationship Id="rId7" Type="http://schemas.openxmlformats.org/officeDocument/2006/relationships/hyperlink" Target="&#34920;3.12-2.JPG" TargetMode="External"/><Relationship Id="rId6" Type="http://schemas.openxmlformats.org/officeDocument/2006/relationships/hyperlink" Target="&#34920;3.12-3.JPG" TargetMode="External"/><Relationship Id="rId5" Type="http://schemas.openxmlformats.org/officeDocument/2006/relationships/image" Target="../media/image52.png"/><Relationship Id="rId4" Type="http://schemas.openxmlformats.org/officeDocument/2006/relationships/image" Target="../media/image12.png"/><Relationship Id="rId3" Type="http://schemas.openxmlformats.org/officeDocument/2006/relationships/slide" Target="slide30.xml"/><Relationship Id="rId2" Type="http://schemas.openxmlformats.org/officeDocument/2006/relationships/image" Target="../media/image11.png"/><Relationship Id="rId11" Type="http://schemas.openxmlformats.org/officeDocument/2006/relationships/notesSlide" Target="../notesSlides/notesSlide13.xml"/><Relationship Id="rId10" Type="http://schemas.openxmlformats.org/officeDocument/2006/relationships/slideLayout" Target="../slideLayouts/slideLayout125.xml"/><Relationship Id="rId1" Type="http://schemas.openxmlformats.org/officeDocument/2006/relationships/image" Target="../media/image10.png"/></Relationships>
</file>

<file path=ppt/slides/_rels/slide35.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125.xml"/><Relationship Id="rId7" Type="http://schemas.openxmlformats.org/officeDocument/2006/relationships/image" Target="../media/image55.png"/><Relationship Id="rId6" Type="http://schemas.openxmlformats.org/officeDocument/2006/relationships/image" Target="../media/image12.png"/><Relationship Id="rId5" Type="http://schemas.openxmlformats.org/officeDocument/2006/relationships/slide" Target="slide3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54.wmf"/><Relationship Id="rId1" Type="http://schemas.openxmlformats.org/officeDocument/2006/relationships/oleObject" Target="../embeddings/oleObject22.bin"/></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25.xml"/><Relationship Id="rId8" Type="http://schemas.openxmlformats.org/officeDocument/2006/relationships/image" Target="../media/image12.png"/><Relationship Id="rId7" Type="http://schemas.openxmlformats.org/officeDocument/2006/relationships/slide" Target="slide3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7.wmf"/><Relationship Id="rId3" Type="http://schemas.openxmlformats.org/officeDocument/2006/relationships/oleObject" Target="../embeddings/oleObject24.bin"/><Relationship Id="rId2" Type="http://schemas.openxmlformats.org/officeDocument/2006/relationships/image" Target="../media/image56.wmf"/><Relationship Id="rId10" Type="http://schemas.openxmlformats.org/officeDocument/2006/relationships/vmlDrawing" Target="../drawings/vmlDrawing10.vml"/><Relationship Id="rId1" Type="http://schemas.openxmlformats.org/officeDocument/2006/relationships/oleObject" Target="../embeddings/oleObject23.bin"/></Relationships>
</file>

<file path=ppt/slides/_rels/slide37.xml.rels><?xml version="1.0" encoding="UTF-8" standalone="yes"?>
<Relationships xmlns="http://schemas.openxmlformats.org/package/2006/relationships"><Relationship Id="rId9" Type="http://schemas.openxmlformats.org/officeDocument/2006/relationships/slide" Target="slide33.xml"/><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60.wmf"/><Relationship Id="rId5" Type="http://schemas.openxmlformats.org/officeDocument/2006/relationships/oleObject" Target="../embeddings/oleObject27.bin"/><Relationship Id="rId4" Type="http://schemas.openxmlformats.org/officeDocument/2006/relationships/image" Target="../media/image59.wmf"/><Relationship Id="rId3" Type="http://schemas.openxmlformats.org/officeDocument/2006/relationships/oleObject" Target="../embeddings/oleObject26.bin"/><Relationship Id="rId2" Type="http://schemas.openxmlformats.org/officeDocument/2006/relationships/image" Target="../media/image58.wmf"/><Relationship Id="rId12" Type="http://schemas.openxmlformats.org/officeDocument/2006/relationships/vmlDrawing" Target="../drawings/vmlDrawing11.vml"/><Relationship Id="rId11" Type="http://schemas.openxmlformats.org/officeDocument/2006/relationships/slideLayout" Target="../slideLayouts/slideLayout125.xml"/><Relationship Id="rId10" Type="http://schemas.openxmlformats.org/officeDocument/2006/relationships/image" Target="../media/image12.png"/><Relationship Id="rId1" Type="http://schemas.openxmlformats.org/officeDocument/2006/relationships/oleObject" Target="../embeddings/oleObject25.bin"/></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25.xml"/><Relationship Id="rId4" Type="http://schemas.openxmlformats.org/officeDocument/2006/relationships/image" Target="../media/image12.png"/><Relationship Id="rId3" Type="http://schemas.openxmlformats.org/officeDocument/2006/relationships/slide" Target="slide34.xml"/><Relationship Id="rId2" Type="http://schemas.openxmlformats.org/officeDocument/2006/relationships/image" Target="../media/image10.png"/><Relationship Id="rId1" Type="http://schemas.openxmlformats.org/officeDocument/2006/relationships/image" Target="../media/image61.wmf"/></Relationships>
</file>

<file path=ppt/slides/_rels/slide39.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7" Type="http://schemas.openxmlformats.org/officeDocument/2006/relationships/notesSlide" Target="../notesSlides/notesSlide14.xml"/><Relationship Id="rId16" Type="http://schemas.openxmlformats.org/officeDocument/2006/relationships/slideLayout" Target="../slideLayouts/slideLayout130.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135.xml"/><Relationship Id="rId6" Type="http://schemas.openxmlformats.org/officeDocument/2006/relationships/image" Target="../media/image65.wmf"/><Relationship Id="rId5" Type="http://schemas.openxmlformats.org/officeDocument/2006/relationships/oleObject" Target="../embeddings/oleObject29.bin"/><Relationship Id="rId4" Type="http://schemas.openxmlformats.org/officeDocument/2006/relationships/image" Target="../media/image64.emf"/><Relationship Id="rId3" Type="http://schemas.openxmlformats.org/officeDocument/2006/relationships/image" Target="../media/image63.emf"/><Relationship Id="rId2" Type="http://schemas.openxmlformats.org/officeDocument/2006/relationships/image" Target="../media/image62.png"/><Relationship Id="rId1" Type="http://schemas.openxmlformats.org/officeDocument/2006/relationships/oleObject" Target="../embeddings/oleObject28.bin"/></Relationships>
</file>

<file path=ppt/slides/_rels/slide41.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135.xml"/><Relationship Id="rId3" Type="http://schemas.openxmlformats.org/officeDocument/2006/relationships/image" Target="../media/image66.emf"/><Relationship Id="rId2" Type="http://schemas.openxmlformats.org/officeDocument/2006/relationships/image" Target="../media/image62.png"/><Relationship Id="rId1" Type="http://schemas.openxmlformats.org/officeDocument/2006/relationships/oleObject" Target="../embeddings/oleObject30.bin"/></Relationships>
</file>

<file path=ppt/slides/_rels/slide42.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135.xml"/><Relationship Id="rId4" Type="http://schemas.openxmlformats.org/officeDocument/2006/relationships/image" Target="../media/image68.emf"/><Relationship Id="rId3" Type="http://schemas.openxmlformats.org/officeDocument/2006/relationships/image" Target="../media/image67.emf"/><Relationship Id="rId2" Type="http://schemas.openxmlformats.org/officeDocument/2006/relationships/image" Target="../media/image62.png"/><Relationship Id="rId1" Type="http://schemas.openxmlformats.org/officeDocument/2006/relationships/oleObject" Target="../embeddings/oleObject31.bin"/></Relationships>
</file>

<file path=ppt/slides/_rels/slide43.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135.xml"/><Relationship Id="rId3" Type="http://schemas.openxmlformats.org/officeDocument/2006/relationships/image" Target="../media/image69.emf"/><Relationship Id="rId2" Type="http://schemas.openxmlformats.org/officeDocument/2006/relationships/image" Target="../media/image62.png"/><Relationship Id="rId1" Type="http://schemas.openxmlformats.org/officeDocument/2006/relationships/oleObject" Target="../embeddings/oleObject32.bin"/></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135.xml"/><Relationship Id="rId4" Type="http://schemas.openxmlformats.org/officeDocument/2006/relationships/image" Target="../media/image71.emf"/><Relationship Id="rId3" Type="http://schemas.openxmlformats.org/officeDocument/2006/relationships/image" Target="../media/image70.emf"/><Relationship Id="rId2" Type="http://schemas.openxmlformats.org/officeDocument/2006/relationships/image" Target="../media/image62.png"/><Relationship Id="rId1" Type="http://schemas.openxmlformats.org/officeDocument/2006/relationships/oleObject" Target="../embeddings/oleObject33.bin"/></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135.xml"/><Relationship Id="rId4" Type="http://schemas.openxmlformats.org/officeDocument/2006/relationships/slide" Target="slide2.xml"/><Relationship Id="rId3" Type="http://schemas.openxmlformats.org/officeDocument/2006/relationships/image" Target="../media/image72.emf"/><Relationship Id="rId2" Type="http://schemas.openxmlformats.org/officeDocument/2006/relationships/image" Target="../media/image62.png"/><Relationship Id="rId1" Type="http://schemas.openxmlformats.org/officeDocument/2006/relationships/oleObject" Target="../embeddings/oleObject34.bin"/></Relationships>
</file>

<file path=ppt/slides/_rels/slide46.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2.xml"/><Relationship Id="rId3" Type="http://schemas.openxmlformats.org/officeDocument/2006/relationships/image" Target="../media/image74.png"/><Relationship Id="rId2" Type="http://schemas.openxmlformats.org/officeDocument/2006/relationships/image" Target="../media/image73.wmf"/><Relationship Id="rId1" Type="http://schemas.openxmlformats.org/officeDocument/2006/relationships/oleObject" Target="../embeddings/oleObject35.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76.wmf"/><Relationship Id="rId7" Type="http://schemas.openxmlformats.org/officeDocument/2006/relationships/oleObject" Target="../embeddings/oleObject37.bin"/><Relationship Id="rId6" Type="http://schemas.openxmlformats.org/officeDocument/2006/relationships/image" Target="../media/image75.wmf"/><Relationship Id="rId5" Type="http://schemas.openxmlformats.org/officeDocument/2006/relationships/oleObject" Target="../embeddings/oleObject36.bin"/><Relationship Id="rId4" Type="http://schemas.openxmlformats.org/officeDocument/2006/relationships/image" Target="../media/image11.png"/><Relationship Id="rId3" Type="http://schemas.openxmlformats.org/officeDocument/2006/relationships/image" Target="../media/image12.png"/><Relationship Id="rId2" Type="http://schemas.openxmlformats.org/officeDocument/2006/relationships/image" Target="../media/image10.png"/><Relationship Id="rId19" Type="http://schemas.openxmlformats.org/officeDocument/2006/relationships/vmlDrawing" Target="../drawings/vmlDrawing19.vml"/><Relationship Id="rId18" Type="http://schemas.openxmlformats.org/officeDocument/2006/relationships/slideLayout" Target="../slideLayouts/slideLayout137.xml"/><Relationship Id="rId17" Type="http://schemas.openxmlformats.org/officeDocument/2006/relationships/image" Target="../media/image81.png"/><Relationship Id="rId16" Type="http://schemas.openxmlformats.org/officeDocument/2006/relationships/image" Target="../media/image80.wmf"/><Relationship Id="rId15" Type="http://schemas.openxmlformats.org/officeDocument/2006/relationships/oleObject" Target="../embeddings/oleObject41.bin"/><Relationship Id="rId14" Type="http://schemas.openxmlformats.org/officeDocument/2006/relationships/image" Target="../media/image79.wmf"/><Relationship Id="rId13" Type="http://schemas.openxmlformats.org/officeDocument/2006/relationships/oleObject" Target="../embeddings/oleObject40.bin"/><Relationship Id="rId12" Type="http://schemas.openxmlformats.org/officeDocument/2006/relationships/image" Target="../media/image78.wmf"/><Relationship Id="rId11" Type="http://schemas.openxmlformats.org/officeDocument/2006/relationships/oleObject" Target="../embeddings/oleObject39.bin"/><Relationship Id="rId10" Type="http://schemas.openxmlformats.org/officeDocument/2006/relationships/image" Target="../media/image77.wmf"/><Relationship Id="rId1" Type="http://schemas.openxmlformats.org/officeDocument/2006/relationships/slide" Target="slide1.xml"/></Relationships>
</file>

<file path=ppt/slides/_rels/slide48.xml.rels><?xml version="1.0" encoding="UTF-8" standalone="yes"?>
<Relationships xmlns="http://schemas.openxmlformats.org/package/2006/relationships"><Relationship Id="rId9" Type="http://schemas.openxmlformats.org/officeDocument/2006/relationships/vmlDrawing" Target="../drawings/vmlDrawing20.vml"/><Relationship Id="rId8" Type="http://schemas.openxmlformats.org/officeDocument/2006/relationships/slideLayout" Target="../slideLayouts/slideLayout58.xml"/><Relationship Id="rId7" Type="http://schemas.openxmlformats.org/officeDocument/2006/relationships/image" Target="../media/image83.wmf"/><Relationship Id="rId6" Type="http://schemas.openxmlformats.org/officeDocument/2006/relationships/oleObject" Target="../embeddings/oleObject43.bin"/><Relationship Id="rId5" Type="http://schemas.openxmlformats.org/officeDocument/2006/relationships/image" Target="../media/image82.wmf"/><Relationship Id="rId4" Type="http://schemas.openxmlformats.org/officeDocument/2006/relationships/oleObject" Target="../embeddings/oleObject42.bin"/><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 Target="slide1.xml"/></Relationships>
</file>

<file path=ppt/slides/_rels/slide49.xml.rels><?xml version="1.0" encoding="UTF-8" standalone="yes"?>
<Relationships xmlns="http://schemas.openxmlformats.org/package/2006/relationships"><Relationship Id="rId9" Type="http://schemas.openxmlformats.org/officeDocument/2006/relationships/image" Target="../media/image89.png"/><Relationship Id="rId8" Type="http://schemas.openxmlformats.org/officeDocument/2006/relationships/image" Target="../media/image88.png"/><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10.png"/><Relationship Id="rId2" Type="http://schemas.openxmlformats.org/officeDocument/2006/relationships/slide" Target="slide1.xml"/><Relationship Id="rId13" Type="http://schemas.openxmlformats.org/officeDocument/2006/relationships/slideLayout" Target="../slideLayouts/slideLayout14.xml"/><Relationship Id="rId12" Type="http://schemas.openxmlformats.org/officeDocument/2006/relationships/image" Target="../media/image92.png"/><Relationship Id="rId11" Type="http://schemas.openxmlformats.org/officeDocument/2006/relationships/image" Target="../media/image91.png"/><Relationship Id="rId10" Type="http://schemas.openxmlformats.org/officeDocument/2006/relationships/image" Target="../media/image90.png"/><Relationship Id="rId1" Type="http://schemas.openxmlformats.org/officeDocument/2006/relationships/slide" Target="slide2.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10.png"/><Relationship Id="rId3" Type="http://schemas.openxmlformats.org/officeDocument/2006/relationships/slide" Target="slide1.xml"/><Relationship Id="rId2" Type="http://schemas.openxmlformats.org/officeDocument/2006/relationships/slide" Target="slide11.xml"/><Relationship Id="rId1" Type="http://schemas.openxmlformats.org/officeDocument/2006/relationships/tags" Target="../tags/tag17.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slide" Target="slide11.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10.png"/><Relationship Id="rId2" Type="http://schemas.openxmlformats.org/officeDocument/2006/relationships/slide" Target="slide1.xml"/><Relationship Id="rId1" Type="http://schemas.openxmlformats.org/officeDocument/2006/relationships/tags" Target="../tags/tag18.xml"/></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95.wmf"/><Relationship Id="rId7" Type="http://schemas.openxmlformats.org/officeDocument/2006/relationships/oleObject" Target="../embeddings/oleObject45.bin"/><Relationship Id="rId6" Type="http://schemas.openxmlformats.org/officeDocument/2006/relationships/image" Target="../media/image94.wmf"/><Relationship Id="rId5" Type="http://schemas.openxmlformats.org/officeDocument/2006/relationships/oleObject" Target="../embeddings/oleObject44.bin"/><Relationship Id="rId4" Type="http://schemas.openxmlformats.org/officeDocument/2006/relationships/image" Target="../media/image93.png"/><Relationship Id="rId3" Type="http://schemas.openxmlformats.org/officeDocument/2006/relationships/image" Target="../media/image11.png"/><Relationship Id="rId24" Type="http://schemas.openxmlformats.org/officeDocument/2006/relationships/vmlDrawing" Target="../drawings/vmlDrawing21.vml"/><Relationship Id="rId23" Type="http://schemas.openxmlformats.org/officeDocument/2006/relationships/slideLayout" Target="../slideLayouts/slideLayout14.xml"/><Relationship Id="rId22" Type="http://schemas.openxmlformats.org/officeDocument/2006/relationships/image" Target="../media/image102.wmf"/><Relationship Id="rId21" Type="http://schemas.openxmlformats.org/officeDocument/2006/relationships/oleObject" Target="../embeddings/oleObject52.bin"/><Relationship Id="rId20" Type="http://schemas.openxmlformats.org/officeDocument/2006/relationships/image" Target="../media/image101.wmf"/><Relationship Id="rId2" Type="http://schemas.openxmlformats.org/officeDocument/2006/relationships/image" Target="../media/image10.png"/><Relationship Id="rId19" Type="http://schemas.openxmlformats.org/officeDocument/2006/relationships/oleObject" Target="../embeddings/oleObject51.bin"/><Relationship Id="rId18" Type="http://schemas.openxmlformats.org/officeDocument/2006/relationships/image" Target="../media/image100.wmf"/><Relationship Id="rId17" Type="http://schemas.openxmlformats.org/officeDocument/2006/relationships/oleObject" Target="../embeddings/oleObject50.bin"/><Relationship Id="rId16" Type="http://schemas.openxmlformats.org/officeDocument/2006/relationships/image" Target="../media/image99.wmf"/><Relationship Id="rId15" Type="http://schemas.openxmlformats.org/officeDocument/2006/relationships/oleObject" Target="../embeddings/oleObject49.bin"/><Relationship Id="rId14" Type="http://schemas.openxmlformats.org/officeDocument/2006/relationships/image" Target="../media/image98.wmf"/><Relationship Id="rId13" Type="http://schemas.openxmlformats.org/officeDocument/2006/relationships/oleObject" Target="../embeddings/oleObject48.bin"/><Relationship Id="rId12" Type="http://schemas.openxmlformats.org/officeDocument/2006/relationships/image" Target="../media/image97.wmf"/><Relationship Id="rId11" Type="http://schemas.openxmlformats.org/officeDocument/2006/relationships/oleObject" Target="../embeddings/oleObject47.bin"/><Relationship Id="rId10" Type="http://schemas.openxmlformats.org/officeDocument/2006/relationships/image" Target="../media/image96.wmf"/><Relationship Id="rId1" Type="http://schemas.openxmlformats.org/officeDocument/2006/relationships/slide" Target="slide1.xml"/></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55.bin"/><Relationship Id="rId8" Type="http://schemas.openxmlformats.org/officeDocument/2006/relationships/image" Target="../media/image104.wmf"/><Relationship Id="rId7" Type="http://schemas.openxmlformats.org/officeDocument/2006/relationships/oleObject" Target="../embeddings/oleObject54.bin"/><Relationship Id="rId6" Type="http://schemas.openxmlformats.org/officeDocument/2006/relationships/image" Target="../media/image103.wmf"/><Relationship Id="rId5" Type="http://schemas.openxmlformats.org/officeDocument/2006/relationships/oleObject" Target="../embeddings/oleObject53.bin"/><Relationship Id="rId4" Type="http://schemas.openxmlformats.org/officeDocument/2006/relationships/image" Target="../media/image93.png"/><Relationship Id="rId30" Type="http://schemas.openxmlformats.org/officeDocument/2006/relationships/vmlDrawing" Target="../drawings/vmlDrawing22.vml"/><Relationship Id="rId3" Type="http://schemas.openxmlformats.org/officeDocument/2006/relationships/image" Target="../media/image11.png"/><Relationship Id="rId29" Type="http://schemas.openxmlformats.org/officeDocument/2006/relationships/slideLayout" Target="../slideLayouts/slideLayout14.xml"/><Relationship Id="rId28" Type="http://schemas.openxmlformats.org/officeDocument/2006/relationships/image" Target="../media/image114.wmf"/><Relationship Id="rId27" Type="http://schemas.openxmlformats.org/officeDocument/2006/relationships/oleObject" Target="../embeddings/oleObject64.bin"/><Relationship Id="rId26" Type="http://schemas.openxmlformats.org/officeDocument/2006/relationships/image" Target="../media/image113.wmf"/><Relationship Id="rId25" Type="http://schemas.openxmlformats.org/officeDocument/2006/relationships/oleObject" Target="../embeddings/oleObject63.bin"/><Relationship Id="rId24" Type="http://schemas.openxmlformats.org/officeDocument/2006/relationships/image" Target="../media/image112.wmf"/><Relationship Id="rId23" Type="http://schemas.openxmlformats.org/officeDocument/2006/relationships/oleObject" Target="../embeddings/oleObject62.bin"/><Relationship Id="rId22" Type="http://schemas.openxmlformats.org/officeDocument/2006/relationships/image" Target="../media/image111.wmf"/><Relationship Id="rId21" Type="http://schemas.openxmlformats.org/officeDocument/2006/relationships/oleObject" Target="../embeddings/oleObject61.bin"/><Relationship Id="rId20" Type="http://schemas.openxmlformats.org/officeDocument/2006/relationships/image" Target="../media/image110.wmf"/><Relationship Id="rId2" Type="http://schemas.openxmlformats.org/officeDocument/2006/relationships/image" Target="../media/image10.png"/><Relationship Id="rId19" Type="http://schemas.openxmlformats.org/officeDocument/2006/relationships/oleObject" Target="../embeddings/oleObject60.bin"/><Relationship Id="rId18" Type="http://schemas.openxmlformats.org/officeDocument/2006/relationships/image" Target="../media/image109.wmf"/><Relationship Id="rId17" Type="http://schemas.openxmlformats.org/officeDocument/2006/relationships/oleObject" Target="../embeddings/oleObject59.bin"/><Relationship Id="rId16" Type="http://schemas.openxmlformats.org/officeDocument/2006/relationships/image" Target="../media/image108.wmf"/><Relationship Id="rId15" Type="http://schemas.openxmlformats.org/officeDocument/2006/relationships/oleObject" Target="../embeddings/oleObject58.bin"/><Relationship Id="rId14" Type="http://schemas.openxmlformats.org/officeDocument/2006/relationships/image" Target="../media/image107.wmf"/><Relationship Id="rId13" Type="http://schemas.openxmlformats.org/officeDocument/2006/relationships/oleObject" Target="../embeddings/oleObject57.bin"/><Relationship Id="rId12" Type="http://schemas.openxmlformats.org/officeDocument/2006/relationships/image" Target="../media/image106.wmf"/><Relationship Id="rId11" Type="http://schemas.openxmlformats.org/officeDocument/2006/relationships/oleObject" Target="../embeddings/oleObject56.bin"/><Relationship Id="rId10" Type="http://schemas.openxmlformats.org/officeDocument/2006/relationships/image" Target="../media/image105.wmf"/><Relationship Id="rId1"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6"/>
          <p:cNvSpPr>
            <a:spLocks noGrp="1"/>
          </p:cNvSpPr>
          <p:nvPr>
            <p:ph type="title"/>
          </p:nvPr>
        </p:nvSpPr>
        <p:spPr>
          <a:xfrm>
            <a:off x="2762568" y="383223"/>
            <a:ext cx="2957512" cy="533400"/>
          </a:xfrm>
          <a:prstGeom prst="rect">
            <a:avLst/>
          </a:prstGeom>
          <a:noFill/>
          <a:ln w="9525">
            <a:noFill/>
          </a:ln>
        </p:spPr>
        <p:txBody>
          <a:bodyPr/>
          <a:lstStyle/>
          <a:p>
            <a:pPr eaLnBrk="1" hangingPunct="1"/>
            <a:r>
              <a:rPr lang="zh-CN" altLang="en-US" sz="3200" dirty="0">
                <a:solidFill>
                  <a:srgbClr val="A50021"/>
                </a:solidFill>
                <a:latin typeface="黑体" panose="02010609060101010101" pitchFamily="49" charset="-122"/>
                <a:ea typeface="黑体" panose="02010609060101010101" pitchFamily="49" charset="-122"/>
              </a:rPr>
              <a:t>第</a:t>
            </a:r>
            <a:r>
              <a:rPr lang="en-US" altLang="zh-CN" sz="3200" dirty="0">
                <a:solidFill>
                  <a:srgbClr val="A50021"/>
                </a:solidFill>
                <a:latin typeface="黑体" panose="02010609060101010101" pitchFamily="49" charset="-122"/>
                <a:ea typeface="黑体" panose="02010609060101010101" pitchFamily="49" charset="-122"/>
              </a:rPr>
              <a:t>3.12</a:t>
            </a:r>
            <a:r>
              <a:rPr lang="zh-CN" altLang="en-US" sz="3200" dirty="0">
                <a:solidFill>
                  <a:srgbClr val="A50021"/>
                </a:solidFill>
                <a:latin typeface="黑体" panose="02010609060101010101" pitchFamily="49" charset="-122"/>
                <a:ea typeface="黑体" panose="02010609060101010101" pitchFamily="49" charset="-122"/>
              </a:rPr>
              <a:t>章 弹簧</a:t>
            </a:r>
            <a:endParaRPr lang="zh-CN" altLang="en-US" sz="3200" dirty="0">
              <a:solidFill>
                <a:srgbClr val="A50021"/>
              </a:solidFill>
              <a:latin typeface="黑体" panose="02010609060101010101" pitchFamily="49" charset="-122"/>
              <a:ea typeface="黑体" panose="02010609060101010101" pitchFamily="49" charset="-122"/>
            </a:endParaRPr>
          </a:p>
        </p:txBody>
      </p:sp>
      <p:sp>
        <p:nvSpPr>
          <p:cNvPr id="26627" name="Rectangle 22"/>
          <p:cNvSpPr/>
          <p:nvPr/>
        </p:nvSpPr>
        <p:spPr>
          <a:xfrm>
            <a:off x="827584" y="2348880"/>
            <a:ext cx="7416824" cy="737235"/>
          </a:xfrm>
          <a:prstGeom prst="rect">
            <a:avLst/>
          </a:prstGeom>
          <a:noFill/>
          <a:ln w="9525">
            <a:noFill/>
          </a:ln>
        </p:spPr>
        <p:txBody>
          <a:bodyPr wrap="square">
            <a:spAutoFit/>
          </a:bodyPr>
          <a:lstStyle/>
          <a:p>
            <a:pPr>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rPr>
              <a:t>3.12-2 </a:t>
            </a:r>
            <a:r>
              <a:rPr lang="zh-CN" altLang="en-US" sz="2800" dirty="0" smtClean="0">
                <a:solidFill>
                  <a:srgbClr val="000099"/>
                </a:solidFill>
                <a:latin typeface="黑体" panose="02010609060101010101" pitchFamily="49" charset="-122"/>
                <a:ea typeface="黑体" panose="02010609060101010101" pitchFamily="49" charset="-122"/>
                <a:cs typeface="黑体" panose="02010609060101010101" pitchFamily="49" charset="-122"/>
                <a:hlinkClick r:id="rId1" action="ppaction://hlinksldjump"/>
              </a:rPr>
              <a:t>圆柱螺旋弹簧的材料</a:t>
            </a:r>
            <a:r>
              <a:rPr lang="zh-CN" altLang="en-US" sz="2800" dirty="0" smtClean="0">
                <a:solidFill>
                  <a:srgbClr val="000099"/>
                </a:solidFill>
                <a:latin typeface="黑体" panose="02010609060101010101" pitchFamily="49" charset="-122"/>
                <a:ea typeface="黑体" panose="02010609060101010101" pitchFamily="49" charset="-122"/>
                <a:cs typeface="黑体" panose="02010609060101010101" pitchFamily="49" charset="-122"/>
              </a:rPr>
              <a:t>和</a:t>
            </a:r>
            <a:r>
              <a:rPr lang="zh-CN" altLang="en-US" sz="2800" dirty="0" smtClean="0">
                <a:solidFill>
                  <a:srgbClr val="000099"/>
                </a:solidFill>
                <a:latin typeface="黑体" panose="02010609060101010101" pitchFamily="49" charset="-122"/>
                <a:ea typeface="黑体" panose="02010609060101010101" pitchFamily="49" charset="-122"/>
                <a:cs typeface="黑体" panose="02010609060101010101" pitchFamily="49" charset="-122"/>
                <a:hlinkClick r:id="rId1" action="ppaction://hlinksldjump"/>
              </a:rPr>
              <a:t>制造</a:t>
            </a:r>
            <a:endPar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26628" name="Rectangle 23"/>
          <p:cNvSpPr/>
          <p:nvPr/>
        </p:nvSpPr>
        <p:spPr>
          <a:xfrm>
            <a:off x="827584" y="3212976"/>
            <a:ext cx="7828280" cy="737235"/>
          </a:xfrm>
          <a:prstGeom prst="rect">
            <a:avLst/>
          </a:prstGeom>
          <a:noFill/>
          <a:ln w="9525">
            <a:noFill/>
          </a:ln>
        </p:spPr>
        <p:txBody>
          <a:bodyPr wrap="none">
            <a:spAutoFit/>
          </a:bodyPr>
          <a:lstStyle/>
          <a:p>
            <a:pPr>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rPr>
              <a:t>3.12-3 </a:t>
            </a:r>
            <a:r>
              <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hlinkClick r:id="rId2" tooltip="机械零件的疲劳强度计算" action="ppaction://hlinksldjump"/>
              </a:rPr>
              <a:t>普通圆柱螺旋压缩和拉伸弹簧的设计计算</a:t>
            </a:r>
            <a:endPar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26629" name="Rectangle 24"/>
          <p:cNvSpPr/>
          <p:nvPr/>
        </p:nvSpPr>
        <p:spPr>
          <a:xfrm>
            <a:off x="827584" y="1628800"/>
            <a:ext cx="2138680" cy="737235"/>
          </a:xfrm>
          <a:prstGeom prst="rect">
            <a:avLst/>
          </a:prstGeom>
          <a:noFill/>
          <a:ln w="9525">
            <a:noFill/>
          </a:ln>
        </p:spPr>
        <p:txBody>
          <a:bodyPr wrap="none">
            <a:spAutoFit/>
          </a:bodyPr>
          <a:lstStyle/>
          <a:p>
            <a:pPr>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rPr>
              <a:t>3.12-1 </a:t>
            </a:r>
            <a:r>
              <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hlinkClick r:id="rId3" tooltip="机械零件的抗断裂强度" action="ppaction://hlinksldjump"/>
              </a:rPr>
              <a:t>概述</a:t>
            </a:r>
            <a:endPar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endParaRPr>
          </a:p>
        </p:txBody>
      </p:sp>
      <p:sp>
        <p:nvSpPr>
          <p:cNvPr id="26630" name="Rectangle 25"/>
          <p:cNvSpPr/>
          <p:nvPr/>
        </p:nvSpPr>
        <p:spPr>
          <a:xfrm>
            <a:off x="899592" y="4149080"/>
            <a:ext cx="4272280" cy="737235"/>
          </a:xfrm>
          <a:prstGeom prst="rect">
            <a:avLst/>
          </a:prstGeom>
          <a:noFill/>
          <a:ln w="9525">
            <a:noFill/>
          </a:ln>
        </p:spPr>
        <p:txBody>
          <a:bodyPr wrap="none">
            <a:spAutoFit/>
          </a:bodyPr>
          <a:lstStyle/>
          <a:p>
            <a:pPr>
              <a:lnSpc>
                <a:spcPct val="150000"/>
              </a:lnSpc>
              <a:spcBef>
                <a:spcPct val="20000"/>
              </a:spcBef>
              <a:buClr>
                <a:schemeClr val="hlink"/>
              </a:buClr>
              <a:buSzPct val="110000"/>
              <a:buFont typeface="Wingdings" panose="05000000000000000000" pitchFamily="2" charset="2"/>
            </a:pPr>
            <a:r>
              <a:rPr lang="en-US" altLang="zh-CN" sz="2800" dirty="0">
                <a:solidFill>
                  <a:srgbClr val="000099"/>
                </a:solidFill>
                <a:latin typeface="黑体" panose="02010609060101010101" pitchFamily="49" charset="-122"/>
                <a:ea typeface="黑体" panose="02010609060101010101" pitchFamily="49" charset="-122"/>
                <a:cs typeface="黑体" panose="02010609060101010101" pitchFamily="49" charset="-122"/>
              </a:rPr>
              <a:t>3.12-4 </a:t>
            </a:r>
            <a:r>
              <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hlinkClick r:id="rId4" tooltip="机械零件的接触疲劳强度" action="ppaction://hlinksldjump"/>
              </a:rPr>
              <a:t>圆柱螺旋扭曲弹簧</a:t>
            </a:r>
            <a:endParaRPr lang="zh-CN" altLang="en-US" sz="2800" dirty="0">
              <a:solidFill>
                <a:srgbClr val="000099"/>
              </a:solidFill>
              <a:latin typeface="黑体" panose="02010609060101010101" pitchFamily="49" charset="-122"/>
              <a:ea typeface="黑体" panose="02010609060101010101" pitchFamily="49" charset="-122"/>
              <a:cs typeface="黑体" panose="02010609060101010101" pitchFamily="49" charset="-122"/>
              <a:hlinkClick r:id="rId4" tooltip="机械零件的接触疲劳强度" action="ppaction://hlinksldjump"/>
            </a:endParaRPr>
          </a:p>
        </p:txBody>
      </p:sp>
      <p:sp>
        <p:nvSpPr>
          <p:cNvPr id="26635" name="直接连接符 6"/>
          <p:cNvSpPr/>
          <p:nvPr/>
        </p:nvSpPr>
        <p:spPr>
          <a:xfrm>
            <a:off x="0" y="1083945"/>
            <a:ext cx="9144000" cy="0"/>
          </a:xfrm>
          <a:prstGeom prst="line">
            <a:avLst/>
          </a:prstGeom>
          <a:ln w="28575" cap="flat" cmpd="sng">
            <a:solidFill>
              <a:srgbClr val="CC3300"/>
            </a:solidFill>
            <a:prstDash val="solid"/>
            <a:miter/>
            <a:headEnd type="none" w="med" len="med"/>
            <a:tailEnd type="none" w="med" len="med"/>
          </a:ln>
        </p:spPr>
      </p:sp>
      <p:grpSp>
        <p:nvGrpSpPr>
          <p:cNvPr id="7" name="组合 1"/>
          <p:cNvGrpSpPr/>
          <p:nvPr/>
        </p:nvGrpSpPr>
        <p:grpSpPr>
          <a:xfrm>
            <a:off x="6185377" y="6030437"/>
            <a:ext cx="2630487" cy="827087"/>
            <a:chOff x="10088" y="9497"/>
            <a:chExt cx="4141" cy="1302"/>
          </a:xfrm>
        </p:grpSpPr>
        <p:sp>
          <p:nvSpPr>
            <p:cNvPr id="8" name="文本框 1073742869"/>
            <p:cNvSpPr txBox="1">
              <a:spLocks noChangeAspect="1"/>
            </p:cNvSpPr>
            <p:nvPr/>
          </p:nvSpPr>
          <p:spPr>
            <a:xfrm>
              <a:off x="11247" y="9745"/>
              <a:ext cx="2983" cy="479"/>
            </a:xfrm>
            <a:prstGeom prst="rect">
              <a:avLst/>
            </a:prstGeom>
            <a:noFill/>
            <a:ln w="9525">
              <a:noFill/>
            </a:ln>
          </p:spPr>
          <p:txBody>
            <a:bodyPr wrap="square" anchor="t"/>
            <a:lstStyle>
              <a:defPPr>
                <a:defRPr lang="zh-CN"/>
              </a:defPPr>
              <a:lvl1pPr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1pPr>
              <a:lvl2pPr marL="4572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2pPr>
              <a:lvl3pPr marL="9144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3pPr>
              <a:lvl4pPr marL="13716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4pPr>
              <a:lvl5pPr marL="1828800" algn="l" rtl="0" fontAlgn="base">
                <a:spcBef>
                  <a:spcPct val="0"/>
                </a:spcBef>
                <a:spcAft>
                  <a:spcPct val="0"/>
                </a:spcAft>
                <a:defRPr kumimoji="1" sz="2000" kern="1200">
                  <a:solidFill>
                    <a:srgbClr val="000099"/>
                  </a:solidFill>
                  <a:latin typeface="Times New Roman" panose="02020603050405020304" pitchFamily="18" charset="0"/>
                  <a:ea typeface="华文中宋" panose="02010600040101010101" pitchFamily="2" charset="-122"/>
                  <a:cs typeface="+mn-cs"/>
                </a:defRPr>
              </a:lvl5pPr>
              <a:lvl6pPr marL="22860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6pPr>
              <a:lvl7pPr marL="27432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7pPr>
              <a:lvl8pPr marL="32004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8pPr>
              <a:lvl9pPr marL="3657600" algn="l" defTabSz="914400" rtl="0" eaLnBrk="1" latinLnBrk="0" hangingPunct="1">
                <a:defRPr kumimoji="1" sz="2000" kern="1200">
                  <a:solidFill>
                    <a:srgbClr val="000099"/>
                  </a:solidFill>
                  <a:latin typeface="Times New Roman" panose="02020603050405020304" pitchFamily="18" charset="0"/>
                  <a:ea typeface="华文中宋" panose="02010600040101010101" pitchFamily="2" charset="-122"/>
                  <a:cs typeface="+mn-cs"/>
                </a:defRPr>
              </a:lvl9pPr>
            </a:lstStyle>
            <a:p>
              <a:pPr algn="ctr">
                <a:buNone/>
              </a:pPr>
              <a:r>
                <a:rPr lang="zh-CN" altLang="en-US" sz="1200" dirty="0">
                  <a:latin typeface="Times New Roman" panose="02020603050405020304" pitchFamily="18" charset="0"/>
                </a:rPr>
                <a:t>China University of Mining &amp; Technology-Beijing</a:t>
              </a:r>
              <a:endParaRPr lang="zh-CN" altLang="en-US" sz="1200" dirty="0">
                <a:latin typeface="Times New Roman" panose="02020603050405020304" pitchFamily="18" charset="0"/>
              </a:endParaRPr>
            </a:p>
            <a:p>
              <a:endParaRPr lang="zh-CN" altLang="en-US" sz="1200" dirty="0">
                <a:latin typeface="Times New Roman" panose="02020603050405020304" pitchFamily="18" charset="0"/>
              </a:endParaRPr>
            </a:p>
          </p:txBody>
        </p:sp>
        <p:pic>
          <p:nvPicPr>
            <p:cNvPr id="9" name="图片 1073742872" descr="44303071dc0a1f9688d599dbc999570副本"/>
            <p:cNvPicPr>
              <a:picLocks noChangeAspect="1"/>
            </p:cNvPicPr>
            <p:nvPr/>
          </p:nvPicPr>
          <p:blipFill>
            <a:blip r:embed="rId5"/>
            <a:stretch>
              <a:fillRect/>
            </a:stretch>
          </p:blipFill>
          <p:spPr>
            <a:xfrm>
              <a:off x="10088" y="9497"/>
              <a:ext cx="1435" cy="1303"/>
            </a:xfrm>
            <a:prstGeom prst="rect">
              <a:avLst/>
            </a:prstGeom>
            <a:noFill/>
            <a:ln w="9525">
              <a:noFill/>
            </a:ln>
          </p:spPr>
        </p:pic>
      </p:grpSp>
    </p:spTree>
  </p:cSld>
  <p:clrMapOvr>
    <a:masterClrMapping/>
  </p:clrMapOvr>
  <p:transition advClick="0">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62"/>
          <p:cNvSpPr txBox="1"/>
          <p:nvPr/>
        </p:nvSpPr>
        <p:spPr>
          <a:xfrm>
            <a:off x="6081713" y="61579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14338" name="Rectangle 2"/>
          <p:cNvSpPr>
            <a:spLocks noGrp="1" noChangeArrowheads="1"/>
          </p:cNvSpPr>
          <p:nvPr>
            <p:ph type="title"/>
          </p:nvPr>
        </p:nvSpPr>
        <p:spPr bwMode="auto">
          <a:xfrm>
            <a:off x="6081713" y="198438"/>
            <a:ext cx="29860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3.12-1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7654" name="标题 26625"/>
          <p:cNvSpPr>
            <a:spLocks noGrp="1"/>
          </p:cNvSpPr>
          <p:nvPr/>
        </p:nvSpPr>
        <p:spPr>
          <a:xfrm>
            <a:off x="5410200" y="762000"/>
            <a:ext cx="2590800" cy="228600"/>
          </a:xfrm>
          <a:prstGeom prst="rect">
            <a:avLst/>
          </a:prstGeom>
          <a:noFill/>
          <a:ln w="9525">
            <a:noFill/>
          </a:ln>
        </p:spPr>
        <p:txBody>
          <a:bodyPr/>
          <a:lstStyle/>
          <a:p>
            <a:r>
              <a:rPr lang="zh-CN" altLang="en-US" sz="700" dirty="0">
                <a:solidFill>
                  <a:schemeClr val="bg1"/>
                </a:solidFill>
                <a:latin typeface="Tahoma" panose="020B0604030504040204" pitchFamily="34" charset="0"/>
                <a:ea typeface="黑体" panose="02010609060101010101" pitchFamily="49" charset="-122"/>
              </a:rPr>
              <a:t>概述</a:t>
            </a:r>
            <a:endParaRPr lang="zh-CN" altLang="en-US" sz="700" dirty="0">
              <a:solidFill>
                <a:schemeClr val="bg1"/>
              </a:solidFill>
              <a:latin typeface="Tahoma" panose="020B0604030504040204" pitchFamily="34" charset="0"/>
              <a:ea typeface="黑体" panose="02010609060101010101" pitchFamily="49" charset="-122"/>
            </a:endParaRPr>
          </a:p>
        </p:txBody>
      </p:sp>
      <p:sp>
        <p:nvSpPr>
          <p:cNvPr id="48134" name="文本框 3"/>
          <p:cNvSpPr txBox="1"/>
          <p:nvPr/>
        </p:nvSpPr>
        <p:spPr>
          <a:xfrm>
            <a:off x="251520" y="836712"/>
            <a:ext cx="8610600" cy="904863"/>
          </a:xfrm>
          <a:prstGeom prst="rect">
            <a:avLst/>
          </a:prstGeom>
          <a:noFill/>
          <a:ln w="9525">
            <a:noFill/>
          </a:ln>
        </p:spPr>
        <p:txBody>
          <a:bodyPr>
            <a:spAutoFit/>
          </a:bodyPr>
          <a:lstStyle/>
          <a:p>
            <a:pPr>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　</a:t>
            </a:r>
            <a:r>
              <a:rPr lang="zh-CN" altLang="en-US" dirty="0">
                <a:solidFill>
                  <a:srgbClr val="002060"/>
                </a:solidFill>
                <a:latin typeface="Times New Roman" panose="02020603050405020304" pitchFamily="18" charset="0"/>
              </a:rPr>
              <a:t>弹簧是一种弹性元件，由于它可以在载荷作用下产生较大的弹性变形，因此，被广泛应用于各类机械中。</a:t>
            </a:r>
            <a:endParaRPr lang="zh-CN" altLang="en-US" dirty="0">
              <a:solidFill>
                <a:srgbClr val="002060"/>
              </a:solidFill>
              <a:latin typeface="Times New Roman" panose="02020603050405020304" pitchFamily="18" charset="0"/>
            </a:endParaRPr>
          </a:p>
        </p:txBody>
      </p:sp>
      <p:sp>
        <p:nvSpPr>
          <p:cNvPr id="48135" name="文本框 5"/>
          <p:cNvSpPr txBox="1"/>
          <p:nvPr/>
        </p:nvSpPr>
        <p:spPr>
          <a:xfrm>
            <a:off x="683260" y="3140710"/>
            <a:ext cx="4792980" cy="429895"/>
          </a:xfrm>
          <a:prstGeom prst="rect">
            <a:avLst/>
          </a:prstGeom>
          <a:noFill/>
          <a:ln w="9525">
            <a:noFill/>
          </a:ln>
        </p:spPr>
        <p:txBody>
          <a:bodyPr wrap="square">
            <a:spAutoFit/>
          </a:bodyPr>
          <a:lstStyle/>
          <a:p>
            <a:r>
              <a:rPr lang="en-US" altLang="zh-CN" dirty="0">
                <a:solidFill>
                  <a:srgbClr val="0000FF"/>
                </a:solidFill>
                <a:uFillTx/>
                <a:latin typeface="Times New Roman" panose="02020603050405020304" pitchFamily="18" charset="0"/>
              </a:rPr>
              <a:t>1</a:t>
            </a:r>
            <a:r>
              <a:rPr lang="zh-CN" altLang="en-US" dirty="0">
                <a:solidFill>
                  <a:srgbClr val="0000FF"/>
                </a:solidFill>
                <a:uFillTx/>
                <a:latin typeface="Times New Roman" panose="02020603050405020304" pitchFamily="18" charset="0"/>
              </a:rPr>
              <a:t>、按弹簧承受载荷的性质分：</a:t>
            </a:r>
            <a:endParaRPr lang="zh-CN" altLang="en-US" dirty="0">
              <a:solidFill>
                <a:srgbClr val="0000FF"/>
              </a:solidFill>
              <a:uFillTx/>
              <a:latin typeface="Times New Roman" panose="02020603050405020304" pitchFamily="18" charset="0"/>
            </a:endParaRPr>
          </a:p>
        </p:txBody>
      </p:sp>
      <p:grpSp>
        <p:nvGrpSpPr>
          <p:cNvPr id="2" name="组合 6"/>
          <p:cNvGrpSpPr/>
          <p:nvPr/>
        </p:nvGrpSpPr>
        <p:grpSpPr>
          <a:xfrm>
            <a:off x="1259632" y="3717032"/>
            <a:ext cx="5942013" cy="400050"/>
            <a:chOff x="1146" y="2427"/>
            <a:chExt cx="3743" cy="252"/>
          </a:xfrm>
          <a:solidFill>
            <a:srgbClr val="FFFF00"/>
          </a:solidFill>
        </p:grpSpPr>
        <p:sp>
          <p:nvSpPr>
            <p:cNvPr id="27671" name="文本框 7"/>
            <p:cNvSpPr txBox="1"/>
            <p:nvPr/>
          </p:nvSpPr>
          <p:spPr>
            <a:xfrm>
              <a:off x="1146" y="2428"/>
              <a:ext cx="755" cy="25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w="9525">
              <a:noFill/>
            </a:ln>
          </p:spPr>
          <p:txBody>
            <a:bodyPr wrap="none">
              <a:spAutoFit/>
            </a:bodyPr>
            <a:lstStyle/>
            <a:p>
              <a:r>
                <a:rPr lang="zh-CN" altLang="en-US" sz="2000" dirty="0">
                  <a:solidFill>
                    <a:srgbClr val="000099"/>
                  </a:solidFill>
                  <a:latin typeface="Times New Roman" panose="02020603050405020304" pitchFamily="18" charset="0"/>
                </a:rPr>
                <a:t>拉伸弹簧</a:t>
              </a:r>
              <a:endParaRPr lang="zh-CN" altLang="en-US" sz="2000" dirty="0">
                <a:solidFill>
                  <a:srgbClr val="000099"/>
                </a:solidFill>
                <a:latin typeface="Times New Roman" panose="02020603050405020304" pitchFamily="18" charset="0"/>
              </a:endParaRPr>
            </a:p>
          </p:txBody>
        </p:sp>
        <p:sp>
          <p:nvSpPr>
            <p:cNvPr id="27672" name="文本框 8"/>
            <p:cNvSpPr txBox="1"/>
            <p:nvPr/>
          </p:nvSpPr>
          <p:spPr>
            <a:xfrm>
              <a:off x="2142" y="2427"/>
              <a:ext cx="755" cy="251"/>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w="9525">
              <a:noFill/>
            </a:ln>
          </p:spPr>
          <p:txBody>
            <a:bodyPr wrap="none">
              <a:spAutoFit/>
            </a:bodyPr>
            <a:lstStyle/>
            <a:p>
              <a:r>
                <a:rPr lang="zh-CN" altLang="en-US" sz="2000" dirty="0">
                  <a:solidFill>
                    <a:srgbClr val="000099"/>
                  </a:solidFill>
                  <a:latin typeface="Times New Roman" panose="02020603050405020304" pitchFamily="18" charset="0"/>
                </a:rPr>
                <a:t>压缩弹簧</a:t>
              </a:r>
              <a:endParaRPr lang="zh-CN" altLang="en-US" sz="2000" dirty="0">
                <a:solidFill>
                  <a:srgbClr val="000099"/>
                </a:solidFill>
                <a:latin typeface="Times New Roman" panose="02020603050405020304" pitchFamily="18" charset="0"/>
              </a:endParaRPr>
            </a:p>
          </p:txBody>
        </p:sp>
        <p:sp>
          <p:nvSpPr>
            <p:cNvPr id="27673" name="文本框 9"/>
            <p:cNvSpPr txBox="1"/>
            <p:nvPr/>
          </p:nvSpPr>
          <p:spPr>
            <a:xfrm>
              <a:off x="3138" y="2427"/>
              <a:ext cx="755" cy="25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1"/>
              <a:tileRect/>
            </a:gradFill>
            <a:ln w="9525">
              <a:noFill/>
            </a:ln>
          </p:spPr>
          <p:txBody>
            <a:bodyPr wrap="none">
              <a:spAutoFit/>
            </a:bodyPr>
            <a:lstStyle/>
            <a:p>
              <a:r>
                <a:rPr lang="zh-CN" altLang="en-US" sz="2000" dirty="0">
                  <a:solidFill>
                    <a:srgbClr val="000099"/>
                  </a:solidFill>
                  <a:latin typeface="Times New Roman" panose="02020603050405020304" pitchFamily="18" charset="0"/>
                </a:rPr>
                <a:t>扭转弹簧</a:t>
              </a:r>
              <a:endParaRPr lang="zh-CN" altLang="en-US" sz="2000" dirty="0">
                <a:solidFill>
                  <a:srgbClr val="000099"/>
                </a:solidFill>
                <a:latin typeface="Times New Roman" panose="02020603050405020304" pitchFamily="18" charset="0"/>
              </a:endParaRPr>
            </a:p>
          </p:txBody>
        </p:sp>
        <p:sp>
          <p:nvSpPr>
            <p:cNvPr id="27674" name="文本框 10"/>
            <p:cNvSpPr txBox="1"/>
            <p:nvPr/>
          </p:nvSpPr>
          <p:spPr>
            <a:xfrm>
              <a:off x="4134" y="2428"/>
              <a:ext cx="755" cy="251"/>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8100000" scaled="1"/>
              <a:tileRect/>
            </a:gradFill>
            <a:ln w="9525">
              <a:noFill/>
            </a:ln>
          </p:spPr>
          <p:txBody>
            <a:bodyPr wrap="none">
              <a:spAutoFit/>
            </a:bodyPr>
            <a:lstStyle/>
            <a:p>
              <a:r>
                <a:rPr lang="zh-CN" altLang="en-US" sz="2000" dirty="0">
                  <a:solidFill>
                    <a:srgbClr val="000099"/>
                  </a:solidFill>
                  <a:latin typeface="Times New Roman" panose="02020603050405020304" pitchFamily="18" charset="0"/>
                </a:rPr>
                <a:t>弯曲弹簧</a:t>
              </a:r>
              <a:endParaRPr lang="zh-CN" altLang="en-US" sz="2000" dirty="0">
                <a:solidFill>
                  <a:srgbClr val="000099"/>
                </a:solidFill>
                <a:latin typeface="Times New Roman" panose="02020603050405020304" pitchFamily="18" charset="0"/>
              </a:endParaRPr>
            </a:p>
          </p:txBody>
        </p:sp>
      </p:grpSp>
      <p:sp>
        <p:nvSpPr>
          <p:cNvPr id="48141" name="文本框 11"/>
          <p:cNvSpPr txBox="1"/>
          <p:nvPr/>
        </p:nvSpPr>
        <p:spPr>
          <a:xfrm>
            <a:off x="539750" y="4149090"/>
            <a:ext cx="3942080" cy="429895"/>
          </a:xfrm>
          <a:prstGeom prst="rect">
            <a:avLst/>
          </a:prstGeom>
          <a:noFill/>
          <a:ln w="9525">
            <a:noFill/>
          </a:ln>
        </p:spPr>
        <p:txBody>
          <a:bodyPr wrap="square">
            <a:spAutoFit/>
          </a:bodyPr>
          <a:lstStyle/>
          <a:p>
            <a:r>
              <a:rPr lang="en-US" altLang="zh-CN" dirty="0">
                <a:solidFill>
                  <a:srgbClr val="0000FF"/>
                </a:solidFill>
                <a:latin typeface="Times New Roman" panose="02020603050405020304" pitchFamily="18" charset="0"/>
              </a:rPr>
              <a:t> 2</a:t>
            </a:r>
            <a:r>
              <a:rPr lang="zh-CN" altLang="en-US" dirty="0">
                <a:solidFill>
                  <a:srgbClr val="0000FF"/>
                </a:solidFill>
                <a:latin typeface="Times New Roman" panose="02020603050405020304" pitchFamily="18" charset="0"/>
              </a:rPr>
              <a:t>、按照弹簧的形状分：</a:t>
            </a:r>
            <a:endParaRPr lang="zh-CN" altLang="en-US" dirty="0">
              <a:solidFill>
                <a:srgbClr val="0000FF"/>
              </a:solidFill>
              <a:latin typeface="Times New Roman" panose="02020603050405020304" pitchFamily="18" charset="0"/>
            </a:endParaRPr>
          </a:p>
        </p:txBody>
      </p:sp>
      <p:sp>
        <p:nvSpPr>
          <p:cNvPr id="48142" name="文本框 12"/>
          <p:cNvSpPr txBox="1"/>
          <p:nvPr/>
        </p:nvSpPr>
        <p:spPr>
          <a:xfrm>
            <a:off x="251520" y="5589240"/>
            <a:ext cx="8764588" cy="870110"/>
          </a:xfrm>
          <a:prstGeom prst="rect">
            <a:avLst/>
          </a:prstGeom>
          <a:noFill/>
          <a:ln w="9525">
            <a:noFill/>
          </a:ln>
        </p:spPr>
        <p:txBody>
          <a:bodyPr>
            <a:spAutoFit/>
          </a:bodyPr>
          <a:lstStyle/>
          <a:p>
            <a:pPr>
              <a:lnSpc>
                <a:spcPct val="120000"/>
              </a:lnSpc>
            </a:pPr>
            <a:r>
              <a:rPr lang="zh-CN" altLang="en-US" sz="2000" dirty="0">
                <a:solidFill>
                  <a:srgbClr val="000099"/>
                </a:solidFill>
                <a:latin typeface="Times New Roman" panose="02020603050405020304" pitchFamily="18" charset="0"/>
              </a:rPr>
              <a:t>　</a:t>
            </a:r>
            <a:r>
              <a:rPr lang="zh-CN" altLang="en-US" sz="2000" dirty="0">
                <a:solidFill>
                  <a:srgbClr val="002060"/>
                </a:solidFill>
                <a:latin typeface="Times New Roman" panose="02020603050405020304" pitchFamily="18" charset="0"/>
              </a:rPr>
              <a:t>　</a:t>
            </a:r>
            <a:r>
              <a:rPr lang="zh-CN" altLang="en-US" dirty="0">
                <a:solidFill>
                  <a:srgbClr val="002060"/>
                </a:solidFill>
                <a:latin typeface="Times New Roman" panose="02020603050405020304" pitchFamily="18" charset="0"/>
              </a:rPr>
              <a:t>螺旋弹簧是用弹簧丝卷绕制成的，由于制造简便，所以应用最广。在一般机械中，最常用的是圆柱螺旋弹簧。 </a:t>
            </a:r>
            <a:endParaRPr lang="zh-CN" altLang="en-US" dirty="0">
              <a:solidFill>
                <a:srgbClr val="002060"/>
              </a:solidFill>
              <a:latin typeface="Times New Roman" panose="02020603050405020304" pitchFamily="18" charset="0"/>
            </a:endParaRPr>
          </a:p>
        </p:txBody>
      </p:sp>
      <p:sp>
        <p:nvSpPr>
          <p:cNvPr id="48143" name="文本框 13"/>
          <p:cNvSpPr txBox="1"/>
          <p:nvPr/>
        </p:nvSpPr>
        <p:spPr>
          <a:xfrm>
            <a:off x="323528" y="1772816"/>
            <a:ext cx="8610600" cy="904863"/>
          </a:xfrm>
          <a:prstGeom prst="rect">
            <a:avLst/>
          </a:prstGeom>
          <a:noFill/>
          <a:ln w="9525">
            <a:noFill/>
          </a:ln>
        </p:spPr>
        <p:txBody>
          <a:bodyPr anchor="ctr">
            <a:spAutoFit/>
          </a:bodyPr>
          <a:lstStyle/>
          <a:p>
            <a:pPr fontAlgn="t">
              <a:lnSpc>
                <a:spcPct val="12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　　</a:t>
            </a:r>
            <a:r>
              <a:rPr lang="zh-CN" altLang="en-US" dirty="0">
                <a:solidFill>
                  <a:srgbClr val="FF0000"/>
                </a:solidFill>
                <a:latin typeface="黑体" panose="02010609060101010101" pitchFamily="49" charset="-122"/>
                <a:ea typeface="黑体" panose="02010609060101010101" pitchFamily="49" charset="-122"/>
              </a:rPr>
              <a:t>弹簧的主要功用有：</a:t>
            </a:r>
            <a:r>
              <a:rPr lang="zh-CN" altLang="en-US" dirty="0">
                <a:solidFill>
                  <a:srgbClr val="002060"/>
                </a:solidFill>
                <a:latin typeface="Times New Roman" panose="02020603050405020304" pitchFamily="18" charset="0"/>
              </a:rPr>
              <a:t>控制机械运动、缓冲和吸振、储存及输出能量、测量力的大小。</a:t>
            </a:r>
            <a:endParaRPr lang="zh-CN" altLang="en-US" dirty="0">
              <a:solidFill>
                <a:srgbClr val="002060"/>
              </a:solidFill>
              <a:latin typeface="Times New Roman" panose="02020603050405020304" pitchFamily="18" charset="0"/>
            </a:endParaRPr>
          </a:p>
        </p:txBody>
      </p:sp>
      <p:grpSp>
        <p:nvGrpSpPr>
          <p:cNvPr id="3" name="组合 14"/>
          <p:cNvGrpSpPr/>
          <p:nvPr/>
        </p:nvGrpSpPr>
        <p:grpSpPr>
          <a:xfrm>
            <a:off x="1187624" y="4725144"/>
            <a:ext cx="7680325" cy="398462"/>
            <a:chOff x="922" y="3006"/>
            <a:chExt cx="4838" cy="251"/>
          </a:xfr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5400000" scaled="1"/>
            <a:tileRect/>
          </a:gradFill>
        </p:grpSpPr>
        <p:sp>
          <p:nvSpPr>
            <p:cNvPr id="27665" name="文本框 15"/>
            <p:cNvSpPr txBox="1"/>
            <p:nvPr/>
          </p:nvSpPr>
          <p:spPr>
            <a:xfrm>
              <a:off x="922" y="3006"/>
              <a:ext cx="755" cy="251"/>
            </a:xfrm>
            <a:prstGeom prst="rect">
              <a:avLst/>
            </a:prstGeom>
            <a:grpFill/>
            <a:ln w="9525">
              <a:noFill/>
            </a:ln>
          </p:spPr>
          <p:txBody>
            <a:bodyPr wrap="none">
              <a:spAutoFit/>
            </a:bodyPr>
            <a:lstStyle/>
            <a:p>
              <a:r>
                <a:rPr lang="zh-CN" altLang="en-US" sz="2000" dirty="0">
                  <a:solidFill>
                    <a:srgbClr val="000099"/>
                  </a:solidFill>
                  <a:latin typeface="Times New Roman" panose="02020603050405020304" pitchFamily="18" charset="0"/>
                </a:rPr>
                <a:t>螺旋弹簧</a:t>
              </a:r>
              <a:endParaRPr lang="zh-CN" altLang="en-US" sz="2000" dirty="0">
                <a:solidFill>
                  <a:srgbClr val="000099"/>
                </a:solidFill>
                <a:latin typeface="Times New Roman" panose="02020603050405020304" pitchFamily="18" charset="0"/>
              </a:endParaRPr>
            </a:p>
          </p:txBody>
        </p:sp>
        <p:sp>
          <p:nvSpPr>
            <p:cNvPr id="27666" name="文本框 16"/>
            <p:cNvSpPr txBox="1"/>
            <p:nvPr/>
          </p:nvSpPr>
          <p:spPr>
            <a:xfrm>
              <a:off x="2704" y="3006"/>
              <a:ext cx="755" cy="251"/>
            </a:xfrm>
            <a:prstGeom prst="rect">
              <a:avLst/>
            </a:prstGeom>
            <a:grpFill/>
            <a:ln w="9525">
              <a:noFill/>
            </a:ln>
          </p:spPr>
          <p:txBody>
            <a:bodyPr wrap="none">
              <a:spAutoFit/>
            </a:bodyPr>
            <a:lstStyle/>
            <a:p>
              <a:r>
                <a:rPr lang="zh-CN" altLang="en-US" sz="2000" dirty="0">
                  <a:solidFill>
                    <a:srgbClr val="000099"/>
                  </a:solidFill>
                  <a:latin typeface="Times New Roman" panose="02020603050405020304" pitchFamily="18" charset="0"/>
                </a:rPr>
                <a:t>碟形弹簧</a:t>
              </a:r>
              <a:endParaRPr lang="zh-CN" altLang="en-US" sz="2000" dirty="0">
                <a:solidFill>
                  <a:srgbClr val="000099"/>
                </a:solidFill>
                <a:latin typeface="Times New Roman" panose="02020603050405020304" pitchFamily="18" charset="0"/>
              </a:endParaRPr>
            </a:p>
          </p:txBody>
        </p:sp>
        <p:sp>
          <p:nvSpPr>
            <p:cNvPr id="27667" name="文本框 17"/>
            <p:cNvSpPr txBox="1"/>
            <p:nvPr/>
          </p:nvSpPr>
          <p:spPr>
            <a:xfrm>
              <a:off x="3595" y="3006"/>
              <a:ext cx="435" cy="251"/>
            </a:xfrm>
            <a:prstGeom prst="rect">
              <a:avLst/>
            </a:prstGeom>
            <a:grpFill/>
            <a:ln w="9525">
              <a:noFill/>
            </a:ln>
          </p:spPr>
          <p:txBody>
            <a:bodyPr wrap="none">
              <a:spAutoFit/>
            </a:bodyPr>
            <a:lstStyle/>
            <a:p>
              <a:r>
                <a:rPr lang="zh-CN" altLang="en-US" sz="2000" dirty="0">
                  <a:solidFill>
                    <a:srgbClr val="000099"/>
                  </a:solidFill>
                  <a:latin typeface="Times New Roman" panose="02020603050405020304" pitchFamily="18" charset="0"/>
                </a:rPr>
                <a:t>板簧</a:t>
              </a:r>
              <a:endParaRPr lang="zh-CN" altLang="en-US" sz="2000" dirty="0">
                <a:solidFill>
                  <a:srgbClr val="000099"/>
                </a:solidFill>
                <a:latin typeface="Times New Roman" panose="02020603050405020304" pitchFamily="18" charset="0"/>
              </a:endParaRPr>
            </a:p>
          </p:txBody>
        </p:sp>
        <p:sp>
          <p:nvSpPr>
            <p:cNvPr id="27668" name="文本框 18"/>
            <p:cNvSpPr txBox="1"/>
            <p:nvPr/>
          </p:nvSpPr>
          <p:spPr>
            <a:xfrm>
              <a:off x="4166" y="3006"/>
              <a:ext cx="435" cy="251"/>
            </a:xfrm>
            <a:prstGeom prst="rect">
              <a:avLst/>
            </a:prstGeom>
            <a:grpFill/>
            <a:ln w="9525">
              <a:noFill/>
            </a:ln>
          </p:spPr>
          <p:txBody>
            <a:bodyPr wrap="none">
              <a:spAutoFit/>
            </a:bodyPr>
            <a:lstStyle/>
            <a:p>
              <a:r>
                <a:rPr lang="zh-CN" altLang="en-US" sz="2000" dirty="0">
                  <a:solidFill>
                    <a:srgbClr val="000099"/>
                  </a:solidFill>
                  <a:latin typeface="Times New Roman" panose="02020603050405020304" pitchFamily="18" charset="0"/>
                </a:rPr>
                <a:t>盘簧</a:t>
              </a:r>
              <a:endParaRPr lang="zh-CN" altLang="en-US" sz="2000" dirty="0">
                <a:solidFill>
                  <a:srgbClr val="000099"/>
                </a:solidFill>
                <a:latin typeface="Times New Roman" panose="02020603050405020304" pitchFamily="18" charset="0"/>
              </a:endParaRPr>
            </a:p>
          </p:txBody>
        </p:sp>
        <p:sp>
          <p:nvSpPr>
            <p:cNvPr id="27669" name="文本框 19"/>
            <p:cNvSpPr txBox="1"/>
            <p:nvPr/>
          </p:nvSpPr>
          <p:spPr>
            <a:xfrm>
              <a:off x="4738" y="3006"/>
              <a:ext cx="1022" cy="251"/>
            </a:xfrm>
            <a:prstGeom prst="rect">
              <a:avLst/>
            </a:prstGeom>
            <a:grpFill/>
            <a:ln w="9525">
              <a:noFill/>
            </a:ln>
          </p:spPr>
          <p:txBody>
            <a:bodyPr>
              <a:spAutoFit/>
            </a:bodyPr>
            <a:lstStyle/>
            <a:p>
              <a:r>
                <a:rPr lang="zh-CN" altLang="en-US" sz="2000" dirty="0">
                  <a:solidFill>
                    <a:srgbClr val="000099"/>
                  </a:solidFill>
                  <a:latin typeface="Times New Roman" panose="02020603050405020304" pitchFamily="18" charset="0"/>
                </a:rPr>
                <a:t>异型弹簧</a:t>
              </a:r>
              <a:endParaRPr lang="zh-CN" altLang="en-US" sz="2000" dirty="0">
                <a:solidFill>
                  <a:srgbClr val="000099"/>
                </a:solidFill>
                <a:latin typeface="Times New Roman" panose="02020603050405020304" pitchFamily="18" charset="0"/>
              </a:endParaRPr>
            </a:p>
          </p:txBody>
        </p:sp>
        <p:sp>
          <p:nvSpPr>
            <p:cNvPr id="27670" name="文本框 20"/>
            <p:cNvSpPr txBox="1"/>
            <p:nvPr/>
          </p:nvSpPr>
          <p:spPr>
            <a:xfrm>
              <a:off x="1813" y="3006"/>
              <a:ext cx="755" cy="251"/>
            </a:xfrm>
            <a:prstGeom prst="rect">
              <a:avLst/>
            </a:prstGeom>
            <a:grpFill/>
            <a:ln w="9525">
              <a:noFill/>
            </a:ln>
          </p:spPr>
          <p:txBody>
            <a:bodyPr wrap="none">
              <a:spAutoFit/>
            </a:bodyPr>
            <a:lstStyle/>
            <a:p>
              <a:r>
                <a:rPr lang="zh-CN" altLang="en-US" sz="2000" dirty="0">
                  <a:solidFill>
                    <a:srgbClr val="000099"/>
                  </a:solidFill>
                  <a:latin typeface="Times New Roman" panose="02020603050405020304" pitchFamily="18" charset="0"/>
                </a:rPr>
                <a:t>环形弹簧</a:t>
              </a:r>
              <a:endParaRPr lang="zh-CN" altLang="en-US" sz="2000" dirty="0">
                <a:solidFill>
                  <a:srgbClr val="000099"/>
                </a:solidFill>
                <a:latin typeface="Times New Roman" panose="02020603050405020304" pitchFamily="18" charset="0"/>
              </a:endParaRPr>
            </a:p>
          </p:txBody>
        </p:sp>
      </p:grpSp>
      <p:sp>
        <p:nvSpPr>
          <p:cNvPr id="48151" name="文本框 23"/>
          <p:cNvSpPr txBox="1"/>
          <p:nvPr/>
        </p:nvSpPr>
        <p:spPr>
          <a:xfrm>
            <a:off x="5796136" y="5157192"/>
            <a:ext cx="2281237" cy="398463"/>
          </a:xfrm>
          <a:prstGeom prst="rect">
            <a:avLst/>
          </a:prstGeom>
          <a:noFill/>
          <a:ln w="9525">
            <a:noFill/>
          </a:ln>
        </p:spPr>
        <p:txBody>
          <a:bodyPr>
            <a:spAutoFit/>
          </a:bodyPr>
          <a:lstStyle/>
          <a:p>
            <a:r>
              <a:rPr lang="zh-CN" altLang="en-US" sz="2000" dirty="0">
                <a:solidFill>
                  <a:srgbClr val="A50021"/>
                </a:solidFill>
                <a:latin typeface="Tahoma" panose="020B0604030504040204" pitchFamily="34" charset="0"/>
                <a:hlinkClick r:id="rId1" action="ppaction://hlinksldjump"/>
              </a:rPr>
              <a:t>各类弹簧及应用</a:t>
            </a:r>
            <a:r>
              <a:rPr lang="en-US" altLang="zh-CN" sz="2000" dirty="0">
                <a:solidFill>
                  <a:srgbClr val="A50021"/>
                </a:solidFill>
                <a:latin typeface="Tahoma" panose="020B0604030504040204" pitchFamily="34" charset="0"/>
                <a:hlinkClick r:id="rId1" action="ppaction://hlinksldjump"/>
              </a:rPr>
              <a:t>→</a:t>
            </a:r>
            <a:endParaRPr lang="en-US" altLang="zh-CN" sz="2000" dirty="0">
              <a:solidFill>
                <a:srgbClr val="A50021"/>
              </a:solidFill>
              <a:latin typeface="Tahoma" panose="020B0604030504040204" pitchFamily="34" charset="0"/>
              <a:hlinkClick r:id="rId1" action="ppaction://hlinksldjump"/>
            </a:endParaRPr>
          </a:p>
        </p:txBody>
      </p:sp>
      <p:sp>
        <p:nvSpPr>
          <p:cNvPr id="48152" name="文本框 1"/>
          <p:cNvSpPr txBox="1"/>
          <p:nvPr/>
        </p:nvSpPr>
        <p:spPr>
          <a:xfrm>
            <a:off x="342265" y="2723833"/>
            <a:ext cx="3313113" cy="429895"/>
          </a:xfrm>
          <a:prstGeom prst="rect">
            <a:avLst/>
          </a:prstGeom>
          <a:noFill/>
          <a:ln w="9525">
            <a:noFill/>
          </a:ln>
        </p:spPr>
        <p:txBody>
          <a:bodyPr>
            <a:spAutoFit/>
          </a:bodyPr>
          <a:lstStyle/>
          <a:p>
            <a:r>
              <a:rPr lang="zh-CN" altLang="en-US" dirty="0">
                <a:solidFill>
                  <a:srgbClr val="FF0000"/>
                </a:solidFill>
                <a:latin typeface="黑体" panose="02010609060101010101" pitchFamily="49" charset="-122"/>
                <a:ea typeface="黑体" panose="02010609060101010101" pitchFamily="49" charset="-122"/>
              </a:rPr>
              <a:t>一、弹簧分类：</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276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143"/>
                                        </p:tgtEl>
                                        <p:attrNameLst>
                                          <p:attrName>style.visibility</p:attrName>
                                        </p:attrNameLst>
                                      </p:cBhvr>
                                      <p:to>
                                        <p:strVal val="visible"/>
                                      </p:to>
                                    </p:set>
                                    <p:animEffect transition="in" filter="wipe(left)">
                                      <p:cBhvr>
                                        <p:cTn id="7" dur="500"/>
                                        <p:tgtEl>
                                          <p:spTgt spid="481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48152"/>
                                        </p:tgtEl>
                                        <p:attrNameLst>
                                          <p:attrName>style.visibility</p:attrName>
                                        </p:attrNameLst>
                                      </p:cBhvr>
                                      <p:to>
                                        <p:strVal val="visible"/>
                                      </p:to>
                                    </p:set>
                                    <p:animEffect transition="in" filter="wipe(left)">
                                      <p:cBhvr>
                                        <p:cTn id="12" dur="500"/>
                                        <p:tgtEl>
                                          <p:spTgt spid="481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1" nodeType="clickEffect">
                                  <p:stCondLst>
                                    <p:cond delay="0"/>
                                  </p:stCondLst>
                                  <p:childTnLst>
                                    <p:set>
                                      <p:cBhvr>
                                        <p:cTn id="16" dur="1" fill="hold">
                                          <p:stCondLst>
                                            <p:cond delay="0"/>
                                          </p:stCondLst>
                                        </p:cTn>
                                        <p:tgtEl>
                                          <p:spTgt spid="48135"/>
                                        </p:tgtEl>
                                        <p:attrNameLst>
                                          <p:attrName>style.visibility</p:attrName>
                                        </p:attrNameLst>
                                      </p:cBhvr>
                                      <p:to>
                                        <p:strVal val="visible"/>
                                      </p:to>
                                    </p:set>
                                    <p:animEffect transition="in" filter="wipe(down)">
                                      <p:cBhvr>
                                        <p:cTn id="17" dur="500"/>
                                        <p:tgtEl>
                                          <p:spTgt spid="48135"/>
                                        </p:tgtEl>
                                      </p:cBhvr>
                                    </p:animEffect>
                                  </p:childTnLst>
                                </p:cTn>
                              </p:par>
                            </p:childTnLst>
                          </p:cTn>
                        </p:par>
                      </p:childTnLst>
                    </p:cTn>
                  </p:par>
                  <p:par>
                    <p:cTn id="18" fill="hold">
                      <p:stCondLst>
                        <p:cond delay="indefinite"/>
                      </p:stCondLst>
                      <p:childTnLst>
                        <p:par>
                          <p:cTn id="19" fill="hold">
                            <p:stCondLst>
                              <p:cond delay="0"/>
                            </p:stCondLst>
                            <p:childTnLst>
                              <p:par>
                                <p:cTn id="20" presetID="0" presetClass="entr" presetSubtype="0" accel="5000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Scale>
                                      <p:cBhvr>
                                        <p:cTn id="22" dur="500" fill="hold">
                                          <p:stCondLst>
                                            <p:cond delay="0"/>
                                          </p:stCondLst>
                                        </p:cTn>
                                        <p:tgtEl>
                                          <p:spTgt spid="2"/>
                                        </p:tgtEl>
                                      </p:cBhvr>
                                      <p:from x="0" y="0"/>
                                      <p:to x="100000" y="100000"/>
                                    </p:animScale>
                                    <p:anim to="" calcmode="lin" valueType="num">
                                      <p:cBhvr>
                                        <p:cTn id="23" dur="500" fill="hold">
                                          <p:stCondLst>
                                            <p:cond delay="0"/>
                                          </p:stCondLst>
                                        </p:cTn>
                                        <p:tgtEl>
                                          <p:spTgt spid="2"/>
                                        </p:tgtEl>
                                        <p:attrNameLst>
                                          <p:attrName>ppt_y</p:attrName>
                                        </p:attrNameLst>
                                      </p:cBhvr>
                                      <p:tavLst>
                                        <p:tav tm="0">
                                          <p:val>
                                            <p:strVal val="#ppt_y-0.5"/>
                                          </p:val>
                                        </p:tav>
                                        <p:tav tm="100000">
                                          <p:val>
                                            <p:fltVal val="0.54005"/>
                                          </p:val>
                                        </p:tav>
                                      </p:tavLst>
                                    </p:anim>
                                    <p:animEffect filter="fade">
                                      <p:cBhvr>
                                        <p:cTn id="24" dur="500">
                                          <p:stCondLst>
                                            <p:cond delay="0"/>
                                          </p:stCondLst>
                                        </p:cTn>
                                        <p:tgtEl>
                                          <p:spTgt spid="2"/>
                                        </p:tgtEl>
                                      </p:cBhvr>
                                    </p:animEffect>
                                    <p:anim to="" calcmode="lin" valueType="num">
                                      <p:cBhvr>
                                        <p:cTn id="25" dur="500" fill="hold">
                                          <p:stCondLst>
                                            <p:cond delay="0"/>
                                          </p:stCondLst>
                                        </p:cTn>
                                        <p:tgtEl>
                                          <p:spTgt spid="2"/>
                                        </p:tgtEl>
                                        <p:attrNameLst>
                                          <p:attrName>ppt_x</p:attrName>
                                        </p:attrNameLst>
                                      </p:cBhvr>
                                      <p:tavLst>
                                        <p:tav tm="0">
                                          <p:val>
                                            <p:fltVal val="0.578"/>
                                          </p:val>
                                        </p:tav>
                                        <p:tav tm="100000">
                                          <p:val>
                                            <p:fltVal val="0.46137"/>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8141"/>
                                        </p:tgtEl>
                                        <p:attrNameLst>
                                          <p:attrName>style.visibility</p:attrName>
                                        </p:attrNameLst>
                                      </p:cBhvr>
                                      <p:to>
                                        <p:strVal val="visible"/>
                                      </p:to>
                                    </p:set>
                                    <p:anim calcmode="lin" valueType="num">
                                      <p:cBhvr additive="base">
                                        <p:cTn id="30" dur="500" fill="hold"/>
                                        <p:tgtEl>
                                          <p:spTgt spid="48141"/>
                                        </p:tgtEl>
                                        <p:attrNameLst>
                                          <p:attrName>ppt_x</p:attrName>
                                        </p:attrNameLst>
                                      </p:cBhvr>
                                      <p:tavLst>
                                        <p:tav tm="0">
                                          <p:val>
                                            <p:strVal val="#ppt_x"/>
                                          </p:val>
                                        </p:tav>
                                        <p:tav tm="100000">
                                          <p:val>
                                            <p:strVal val="#ppt_x"/>
                                          </p:val>
                                        </p:tav>
                                      </p:tavLst>
                                    </p:anim>
                                    <p:anim calcmode="lin" valueType="num">
                                      <p:cBhvr additive="base">
                                        <p:cTn id="31" dur="500" fill="hold"/>
                                        <p:tgtEl>
                                          <p:spTgt spid="4814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par>
                          <p:cTn id="37" fill="hold">
                            <p:stCondLst>
                              <p:cond delay="500"/>
                            </p:stCondLst>
                            <p:childTnLst>
                              <p:par>
                                <p:cTn id="38" presetID="2" presetClass="entr" presetSubtype="4" fill="hold" grpId="0" nodeType="afterEffect">
                                  <p:stCondLst>
                                    <p:cond delay="0"/>
                                  </p:stCondLst>
                                  <p:childTnLst>
                                    <p:set>
                                      <p:cBhvr>
                                        <p:cTn id="39" dur="1" fill="hold">
                                          <p:stCondLst>
                                            <p:cond delay="0"/>
                                          </p:stCondLst>
                                        </p:cTn>
                                        <p:tgtEl>
                                          <p:spTgt spid="48151"/>
                                        </p:tgtEl>
                                        <p:attrNameLst>
                                          <p:attrName>style.visibility</p:attrName>
                                        </p:attrNameLst>
                                      </p:cBhvr>
                                      <p:to>
                                        <p:strVal val="visible"/>
                                      </p:to>
                                    </p:set>
                                    <p:anim calcmode="lin" valueType="num">
                                      <p:cBhvr additive="base">
                                        <p:cTn id="40" dur="500" fill="hold"/>
                                        <p:tgtEl>
                                          <p:spTgt spid="48151"/>
                                        </p:tgtEl>
                                        <p:attrNameLst>
                                          <p:attrName>ppt_x</p:attrName>
                                        </p:attrNameLst>
                                      </p:cBhvr>
                                      <p:tavLst>
                                        <p:tav tm="0">
                                          <p:val>
                                            <p:strVal val="#ppt_x"/>
                                          </p:val>
                                        </p:tav>
                                        <p:tav tm="100000">
                                          <p:val>
                                            <p:strVal val="#ppt_x"/>
                                          </p:val>
                                        </p:tav>
                                      </p:tavLst>
                                    </p:anim>
                                    <p:anim calcmode="lin" valueType="num">
                                      <p:cBhvr additive="base">
                                        <p:cTn id="41" dur="500" fill="hold"/>
                                        <p:tgtEl>
                                          <p:spTgt spid="48151"/>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48142"/>
                                        </p:tgtEl>
                                        <p:attrNameLst>
                                          <p:attrName>style.visibility</p:attrName>
                                        </p:attrNameLst>
                                      </p:cBhvr>
                                      <p:to>
                                        <p:strVal val="visible"/>
                                      </p:to>
                                    </p:set>
                                    <p:anim calcmode="lin" valueType="num">
                                      <p:cBhvr additive="base">
                                        <p:cTn id="46" dur="500" fill="hold"/>
                                        <p:tgtEl>
                                          <p:spTgt spid="48142"/>
                                        </p:tgtEl>
                                        <p:attrNameLst>
                                          <p:attrName>ppt_x</p:attrName>
                                        </p:attrNameLst>
                                      </p:cBhvr>
                                      <p:tavLst>
                                        <p:tav tm="0">
                                          <p:val>
                                            <p:strVal val="#ppt_x"/>
                                          </p:val>
                                        </p:tav>
                                        <p:tav tm="100000">
                                          <p:val>
                                            <p:strVal val="#ppt_x"/>
                                          </p:val>
                                        </p:tav>
                                      </p:tavLst>
                                    </p:anim>
                                    <p:anim calcmode="lin" valueType="num">
                                      <p:cBhvr additive="base">
                                        <p:cTn id="47" dur="500" fill="hold"/>
                                        <p:tgtEl>
                                          <p:spTgt spid="481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1"/>
      <p:bldP spid="48135" grpId="1"/>
      <p:bldP spid="48141" grpId="0"/>
      <p:bldP spid="48142" grpId="0"/>
      <p:bldP spid="48143" grpId="0"/>
      <p:bldP spid="48151" grpId="0"/>
      <p:bldP spid="48152"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23850" y="764540"/>
            <a:ext cx="7873365" cy="3690620"/>
          </a:xfrm>
          <a:prstGeom prst="rect">
            <a:avLst/>
          </a:prstGeom>
        </p:spPr>
      </p:pic>
      <p:pic>
        <p:nvPicPr>
          <p:cNvPr id="3" name="图片 2"/>
          <p:cNvPicPr>
            <a:picLocks noChangeAspect="1"/>
          </p:cNvPicPr>
          <p:nvPr/>
        </p:nvPicPr>
        <p:blipFill>
          <a:blip r:embed="rId2"/>
          <a:stretch>
            <a:fillRect/>
          </a:stretch>
        </p:blipFill>
        <p:spPr>
          <a:xfrm>
            <a:off x="539750" y="4509135"/>
            <a:ext cx="7772400" cy="1943100"/>
          </a:xfrm>
          <a:prstGeom prst="rect">
            <a:avLst/>
          </a:prstGeom>
        </p:spPr>
      </p:pic>
      <p:sp>
        <p:nvSpPr>
          <p:cNvPr id="4" name="文本框 3"/>
          <p:cNvSpPr txBox="1"/>
          <p:nvPr/>
        </p:nvSpPr>
        <p:spPr>
          <a:xfrm>
            <a:off x="1691640" y="404495"/>
            <a:ext cx="5492115" cy="429895"/>
          </a:xfrm>
          <a:prstGeom prst="rect">
            <a:avLst/>
          </a:prstGeom>
          <a:noFill/>
        </p:spPr>
        <p:txBody>
          <a:bodyPr wrap="square" rtlCol="0">
            <a:spAutoFit/>
          </a:bodyPr>
          <a:p>
            <a:r>
              <a:rPr lang="zh-CN" altLang="en-US"/>
              <a:t>普通圆柱螺旋压缩弹簧（</a:t>
            </a:r>
            <a:r>
              <a:rPr lang="en-US" altLang="zh-CN"/>
              <a:t>GB/T 2089-2009</a:t>
            </a:r>
            <a:r>
              <a:rPr lang="zh-CN" altLang="en-US"/>
              <a:t>）</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51520" y="836841"/>
            <a:ext cx="8401050" cy="5753100"/>
          </a:xfrm>
          <a:prstGeom prst="rect">
            <a:avLst/>
          </a:prstGeom>
        </p:spPr>
      </p:pic>
      <p:sp>
        <p:nvSpPr>
          <p:cNvPr id="14338" name="Rectangle 2"/>
          <p:cNvSpPr>
            <a:spLocks noGrp="1" noChangeArrowheads="1"/>
          </p:cNvSpPr>
          <p:nvPr/>
        </p:nvSpPr>
        <p:spPr bwMode="auto">
          <a:xfrm>
            <a:off x="6081713" y="198438"/>
            <a:ext cx="29860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3.12-1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76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ChangeArrowheads="1"/>
          </p:cNvSpPr>
          <p:nvPr/>
        </p:nvSpPr>
        <p:spPr bwMode="auto">
          <a:xfrm>
            <a:off x="1752600" y="3011488"/>
            <a:ext cx="52768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kumimoji="0" lang="en-US" altLang="zh-CN" sz="8000">
                <a:solidFill>
                  <a:srgbClr val="FF3300"/>
                </a:solidFill>
                <a:effectLst>
                  <a:outerShdw blurRad="38100" dist="38100" dir="2700000" algn="tl">
                    <a:srgbClr val="000000"/>
                  </a:outerShdw>
                </a:effectLst>
                <a:latin typeface="宋体" panose="02010600030101010101" pitchFamily="2" charset="-122"/>
                <a:ea typeface="宋体" panose="02010600030101010101" pitchFamily="2" charset="-122"/>
              </a:rPr>
              <a:t> </a:t>
            </a:r>
            <a:endParaRPr kumimoji="0" lang="en-US" altLang="zh-CN" sz="2800">
              <a:effectLst>
                <a:outerShdw blurRad="38100" dist="38100" dir="2700000" algn="tl">
                  <a:srgbClr val="FFFFFF"/>
                </a:outerShdw>
              </a:effectLst>
              <a:latin typeface="宋体" panose="02010600030101010101" pitchFamily="2" charset="-122"/>
              <a:ea typeface="宋体" panose="02010600030101010101" pitchFamily="2" charset="-122"/>
            </a:endParaRPr>
          </a:p>
        </p:txBody>
      </p:sp>
      <p:sp>
        <p:nvSpPr>
          <p:cNvPr id="8195" name="Rectangle 3"/>
          <p:cNvSpPr>
            <a:spLocks noChangeArrowheads="1"/>
          </p:cNvSpPr>
          <p:nvPr/>
        </p:nvSpPr>
        <p:spPr bwMode="auto">
          <a:xfrm>
            <a:off x="497833" y="791807"/>
            <a:ext cx="8045450" cy="603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ts val="4000"/>
              </a:lnSpc>
              <a:spcBef>
                <a:spcPct val="50000"/>
              </a:spcBef>
            </a:pPr>
            <a:r>
              <a:rPr kumimoji="0" lang="zh-CN" altLang="en-US" sz="2400" b="1" dirty="0">
                <a:solidFill>
                  <a:srgbClr val="C00000"/>
                </a:solidFill>
                <a:latin typeface="华文中宋" panose="02010600040101010101" pitchFamily="2" charset="-122"/>
              </a:rPr>
              <a:t>二、弹簧的特性曲线</a:t>
            </a:r>
            <a:r>
              <a:rPr kumimoji="0" lang="en-US" altLang="zh-CN" sz="2400" b="1" dirty="0">
                <a:solidFill>
                  <a:srgbClr val="C00000"/>
                </a:solidFill>
                <a:latin typeface="华文中宋" panose="02010600040101010101" pitchFamily="2" charset="-122"/>
              </a:rPr>
              <a:t>:</a:t>
            </a:r>
            <a:endParaRPr kumimoji="0" lang="en-US" altLang="zh-CN" sz="2400" b="1" dirty="0">
              <a:solidFill>
                <a:srgbClr val="C00000"/>
              </a:solidFill>
              <a:latin typeface="华文中宋" panose="02010600040101010101" pitchFamily="2" charset="-122"/>
            </a:endParaRPr>
          </a:p>
        </p:txBody>
      </p:sp>
      <p:sp>
        <p:nvSpPr>
          <p:cNvPr id="8196" name="Text Box 4"/>
          <p:cNvSpPr txBox="1">
            <a:spLocks noChangeArrowheads="1"/>
          </p:cNvSpPr>
          <p:nvPr/>
        </p:nvSpPr>
        <p:spPr bwMode="auto">
          <a:xfrm>
            <a:off x="298768" y="1340168"/>
            <a:ext cx="8456612" cy="1576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ts val="4000"/>
              </a:lnSpc>
            </a:pPr>
            <a:r>
              <a:rPr kumimoji="0" lang="zh-CN" altLang="en-US" sz="2400">
                <a:latin typeface="仿宋_GB2312"/>
                <a:ea typeface="仿宋_GB2312"/>
                <a:cs typeface="仿宋_GB2312"/>
              </a:rPr>
              <a:t>　　 </a:t>
            </a:r>
            <a:r>
              <a:rPr kumimoji="0" lang="zh-CN" altLang="en-US" sz="2400" b="1">
                <a:latin typeface="华文中宋" panose="02010600040101010101" pitchFamily="2" charset="-122"/>
              </a:rPr>
              <a:t>弹簧的载荷－变形曲线称为</a:t>
            </a:r>
            <a:r>
              <a:rPr kumimoji="0" lang="zh-CN" altLang="en-US" sz="2400" b="1">
                <a:solidFill>
                  <a:srgbClr val="C92B0B"/>
                </a:solidFill>
                <a:latin typeface="华文中宋" panose="02010600040101010101" pitchFamily="2" charset="-122"/>
              </a:rPr>
              <a:t>弹簧特性曲线</a:t>
            </a:r>
            <a:r>
              <a:rPr kumimoji="0" lang="zh-CN" altLang="en-US" sz="2400" b="1">
                <a:latin typeface="华文中宋" panose="02010600040101010101" pitchFamily="2" charset="-122"/>
              </a:rPr>
              <a:t>，特性曲线的形式与弹簧的结构有关。</a:t>
            </a:r>
            <a:endParaRPr kumimoji="0" lang="zh-CN" altLang="en-US" sz="2400" b="1">
              <a:latin typeface="华文中宋" panose="02010600040101010101" pitchFamily="2" charset="-122"/>
            </a:endParaRPr>
          </a:p>
          <a:p>
            <a:pPr eaLnBrk="1" hangingPunct="1">
              <a:lnSpc>
                <a:spcPts val="4000"/>
              </a:lnSpc>
            </a:pPr>
            <a:r>
              <a:rPr kumimoji="0" lang="zh-CN" altLang="en-US" sz="2400" b="1">
                <a:latin typeface="仿宋_GB2312"/>
                <a:ea typeface="仿宋_GB2312"/>
                <a:cs typeface="仿宋_GB2312"/>
              </a:rPr>
              <a:t>       </a:t>
            </a:r>
            <a:endParaRPr kumimoji="0" lang="zh-CN" altLang="en-US" sz="2400" b="1">
              <a:solidFill>
                <a:schemeClr val="tx2"/>
              </a:solidFill>
              <a:ea typeface="宋体" panose="02010600030101010101" pitchFamily="2" charset="-122"/>
            </a:endParaRPr>
          </a:p>
        </p:txBody>
      </p:sp>
      <p:pic>
        <p:nvPicPr>
          <p:cNvPr id="11269" name="Picture 5" descr="P333"/>
          <p:cNvPicPr>
            <a:picLocks noGrp="1" noChangeAspect="1" noChangeArrowheads="1"/>
          </p:cNvPicPr>
          <p:nvPr>
            <p:ph/>
          </p:nvPr>
        </p:nvPicPr>
        <p:blipFill>
          <a:blip r:embed="rId1">
            <a:extLst>
              <a:ext uri="{28A0092B-C50C-407E-A947-70E740481C1C}">
                <a14:useLocalDpi xmlns:a14="http://schemas.microsoft.com/office/drawing/2010/main" val="0"/>
              </a:ext>
            </a:extLst>
          </a:blip>
          <a:srcRect/>
          <a:stretch>
            <a:fillRect/>
          </a:stretch>
        </p:blipFill>
        <p:spPr>
          <a:xfrm>
            <a:off x="715963" y="2598738"/>
            <a:ext cx="7772400" cy="30178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198" name="Text Box 7"/>
          <p:cNvSpPr txBox="1">
            <a:spLocks noChangeArrowheads="1"/>
          </p:cNvSpPr>
          <p:nvPr/>
        </p:nvSpPr>
        <p:spPr bwMode="auto">
          <a:xfrm>
            <a:off x="1020763" y="5662613"/>
            <a:ext cx="7527925"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dirty="0">
                <a:latin typeface="华文中宋" panose="02010600040101010101" pitchFamily="2" charset="-122"/>
              </a:rPr>
              <a:t>特性曲线有直线的</a:t>
            </a:r>
            <a:r>
              <a:rPr lang="en-US" altLang="zh-CN" sz="2400" dirty="0">
                <a:latin typeface="华文中宋" panose="02010600040101010101" pitchFamily="2" charset="-122"/>
              </a:rPr>
              <a:t>,</a:t>
            </a:r>
            <a:r>
              <a:rPr lang="zh-CN" altLang="en-US" sz="2400" dirty="0">
                <a:latin typeface="华文中宋" panose="02010600040101010101" pitchFamily="2" charset="-122"/>
              </a:rPr>
              <a:t>也有曲线的</a:t>
            </a:r>
            <a:r>
              <a:rPr lang="en-US" altLang="zh-CN" sz="2400" dirty="0">
                <a:latin typeface="华文中宋" panose="02010600040101010101" pitchFamily="2" charset="-122"/>
              </a:rPr>
              <a:t>(a)</a:t>
            </a:r>
            <a:endParaRPr lang="en-US" altLang="zh-CN" sz="2400" dirty="0">
              <a:latin typeface="华文中宋" panose="02010600040101010101" pitchFamily="2" charset="-122"/>
            </a:endParaRPr>
          </a:p>
        </p:txBody>
      </p:sp>
      <p:pic>
        <p:nvPicPr>
          <p:cNvPr id="7" name="Picture 5" descr="P33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982980" y="2457133"/>
            <a:ext cx="7772400" cy="30178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01" name="矩形 5"/>
          <p:cNvSpPr>
            <a:spLocks noChangeArrowheads="1"/>
          </p:cNvSpPr>
          <p:nvPr/>
        </p:nvSpPr>
        <p:spPr bwMode="auto">
          <a:xfrm>
            <a:off x="898525" y="38100"/>
            <a:ext cx="1004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3200">
                <a:solidFill>
                  <a:schemeClr val="bg1"/>
                </a:solidFill>
                <a:latin typeface="Tahoma" panose="020B0604030504040204" pitchFamily="34" charset="0"/>
                <a:ea typeface="黑体" panose="02010609060101010101" pitchFamily="49" charset="-122"/>
              </a:rPr>
              <a:t>概述</a:t>
            </a:r>
            <a:endParaRPr lang="zh-CN" altLang="en-US" sz="3200">
              <a:solidFill>
                <a:schemeClr val="bg1"/>
              </a:solidFill>
              <a:latin typeface="Tahoma" panose="020B0604030504040204" pitchFamily="34" charset="0"/>
              <a:ea typeface="黑体" panose="02010609060101010101" pitchFamily="49" charset="-122"/>
            </a:endParaRPr>
          </a:p>
        </p:txBody>
      </p:sp>
      <p:pic>
        <p:nvPicPr>
          <p:cNvPr id="8202" name="Picture 48"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54975" y="6550025"/>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3" name="Picture 49"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55063" y="6537325"/>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4" name="Picture 50" descr="back1">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04225" y="6550025"/>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6569075"/>
            <a:ext cx="3492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kumimoji="0" lang="en-US" altLang="zh-CN" sz="1100">
                <a:solidFill>
                  <a:srgbClr val="000000"/>
                </a:solidFill>
                <a:ea typeface="宋体" panose="02010600030101010101" pitchFamily="2" charset="-122"/>
              </a:rPr>
              <a:t> </a:t>
            </a:r>
            <a:endParaRPr kumimoji="0" lang="en-US" altLang="zh-CN" sz="3200">
              <a:latin typeface="Arial" panose="020B0604020202020204" pitchFamily="34" charset="0"/>
              <a:ea typeface="宋体" panose="02010600030101010101" pitchFamily="2" charset="-122"/>
            </a:endParaRPr>
          </a:p>
        </p:txBody>
      </p:sp>
      <p:pic>
        <p:nvPicPr>
          <p:cNvPr id="92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8238" y="2446338"/>
            <a:ext cx="1668462"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8550" y="2805113"/>
            <a:ext cx="4772025"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 Box 6"/>
          <p:cNvSpPr txBox="1">
            <a:spLocks noChangeArrowheads="1"/>
          </p:cNvSpPr>
          <p:nvPr/>
        </p:nvSpPr>
        <p:spPr bwMode="auto">
          <a:xfrm>
            <a:off x="304800" y="727075"/>
            <a:ext cx="8761413" cy="157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lnSpc>
                <a:spcPts val="4000"/>
              </a:lnSpc>
            </a:pPr>
            <a:r>
              <a:rPr kumimoji="0" lang="en-US" altLang="zh-CN" sz="2400" b="1" dirty="0">
                <a:latin typeface="华文中宋" panose="02010600040101010101" pitchFamily="2" charset="-122"/>
              </a:rPr>
              <a:t>       </a:t>
            </a:r>
            <a:r>
              <a:rPr kumimoji="0" lang="en-US" altLang="zh-CN" sz="2400" b="1" dirty="0">
                <a:solidFill>
                  <a:srgbClr val="C00000"/>
                </a:solidFill>
                <a:latin typeface="华文中宋" panose="02010600040101010101" pitchFamily="2" charset="-122"/>
              </a:rPr>
              <a:t>1</a:t>
            </a:r>
            <a:r>
              <a:rPr kumimoji="0" lang="zh-CN" altLang="en-US" sz="2400" b="1" dirty="0">
                <a:solidFill>
                  <a:srgbClr val="C00000"/>
                </a:solidFill>
                <a:latin typeface="华文中宋" panose="02010600040101010101" pitchFamily="2" charset="-122"/>
              </a:rPr>
              <a:t>、等节距圆柱螺旋弹簧</a:t>
            </a:r>
            <a:endParaRPr kumimoji="0" lang="zh-CN" altLang="en-US" sz="2400" dirty="0">
              <a:solidFill>
                <a:srgbClr val="C00000"/>
              </a:solidFill>
              <a:latin typeface="华文中宋" panose="02010600040101010101" pitchFamily="2" charset="-122"/>
              <a:cs typeface="Times New Roman" panose="02020603050405020304" pitchFamily="18" charset="0"/>
            </a:endParaRPr>
          </a:p>
          <a:p>
            <a:pPr eaLnBrk="1" hangingPunct="1">
              <a:lnSpc>
                <a:spcPts val="4000"/>
              </a:lnSpc>
            </a:pPr>
            <a:r>
              <a:rPr kumimoji="0" lang="zh-CN" altLang="en-US" sz="2800" dirty="0">
                <a:latin typeface="Arial" panose="020B0604020202020204" pitchFamily="34" charset="0"/>
                <a:ea typeface="仿宋_GB2312"/>
                <a:cs typeface="仿宋_GB2312"/>
              </a:rPr>
              <a:t>       </a:t>
            </a:r>
            <a:r>
              <a:rPr kumimoji="0" lang="zh-CN" altLang="en-US" sz="2400" dirty="0">
                <a:latin typeface="华文中宋" panose="02010600040101010101" pitchFamily="2" charset="-122"/>
              </a:rPr>
              <a:t>此种圆截面簧丝的圆柱形弹簧结构简单，制造方便。特性曲线呈线性，刚度稳定，应用最为广泛。 </a:t>
            </a:r>
            <a:endParaRPr kumimoji="0" lang="zh-CN" altLang="en-US" sz="2400" dirty="0">
              <a:latin typeface="华文中宋" panose="02010600040101010101" pitchFamily="2" charset="-122"/>
            </a:endParaRPr>
          </a:p>
        </p:txBody>
      </p:sp>
      <p:pic>
        <p:nvPicPr>
          <p:cNvPr id="9223" name="Picture 48"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78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49"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10613" y="65532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Picture 50" descr="back1">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534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2"/>
          <p:cNvSpPr>
            <a:spLocks noGrp="1" noChangeArrowheads="1"/>
          </p:cNvSpPr>
          <p:nvPr>
            <p:ph type="title"/>
          </p:nvPr>
        </p:nvSpPr>
        <p:spPr bwMode="auto">
          <a:xfrm>
            <a:off x="6081713" y="198438"/>
            <a:ext cx="29860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3.12-1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76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82638" y="2892425"/>
            <a:ext cx="7761287"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3" name="Text Box 4"/>
          <p:cNvSpPr txBox="1">
            <a:spLocks noChangeArrowheads="1"/>
          </p:cNvSpPr>
          <p:nvPr/>
        </p:nvSpPr>
        <p:spPr bwMode="auto">
          <a:xfrm>
            <a:off x="847725" y="1042988"/>
            <a:ext cx="678180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sz="2400" b="1" dirty="0">
                <a:latin typeface="华文中宋" panose="02010600040101010101" pitchFamily="2" charset="-122"/>
              </a:rPr>
              <a:t> </a:t>
            </a:r>
            <a:r>
              <a:rPr kumimoji="0" lang="en-US" altLang="zh-CN" sz="2400" b="1" dirty="0">
                <a:solidFill>
                  <a:srgbClr val="C00000"/>
                </a:solidFill>
                <a:latin typeface="华文中宋" panose="02010600040101010101" pitchFamily="2" charset="-122"/>
              </a:rPr>
              <a:t>2</a:t>
            </a:r>
            <a:r>
              <a:rPr kumimoji="0" lang="zh-CN" altLang="en-US" sz="2400" b="1" dirty="0">
                <a:solidFill>
                  <a:srgbClr val="C00000"/>
                </a:solidFill>
                <a:latin typeface="华文中宋" panose="02010600040101010101" pitchFamily="2" charset="-122"/>
              </a:rPr>
              <a:t>、扭转圆柱螺旋弹簧</a:t>
            </a:r>
            <a:endParaRPr kumimoji="0" lang="zh-CN" altLang="en-US" sz="2400" dirty="0">
              <a:solidFill>
                <a:srgbClr val="C00000"/>
              </a:solidFill>
              <a:latin typeface="华文中宋" panose="02010600040101010101" pitchFamily="2" charset="-122"/>
              <a:cs typeface="Times New Roman" panose="02020603050405020304" pitchFamily="18" charset="0"/>
            </a:endParaRPr>
          </a:p>
          <a:p>
            <a:pPr eaLnBrk="1" hangingPunct="1">
              <a:spcBef>
                <a:spcPct val="50000"/>
              </a:spcBef>
            </a:pPr>
            <a:r>
              <a:rPr kumimoji="0" lang="zh-CN" altLang="en-US" sz="2400" dirty="0">
                <a:latin typeface="华文中宋" panose="02010600040101010101" pitchFamily="2" charset="-122"/>
              </a:rPr>
              <a:t> 主要用于各种装置中的压紧和蓄能。 </a:t>
            </a:r>
            <a:endParaRPr kumimoji="0" lang="zh-CN" altLang="en-US" sz="2400" dirty="0">
              <a:latin typeface="华文中宋" panose="02010600040101010101" pitchFamily="2" charset="-122"/>
            </a:endParaRPr>
          </a:p>
        </p:txBody>
      </p:sp>
      <p:pic>
        <p:nvPicPr>
          <p:cNvPr id="10245" name="Picture 48"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978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49"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0613" y="65532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50" descr="back1">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534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2"/>
          <p:cNvSpPr>
            <a:spLocks noGrp="1" noChangeArrowheads="1"/>
          </p:cNvSpPr>
          <p:nvPr>
            <p:ph type="title"/>
          </p:nvPr>
        </p:nvSpPr>
        <p:spPr bwMode="auto">
          <a:xfrm>
            <a:off x="6081713" y="198438"/>
            <a:ext cx="29860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3.12-1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76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0" y="6946900"/>
            <a:ext cx="2794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kumimoji="0" lang="en-US" altLang="zh-CN" sz="3400">
                <a:solidFill>
                  <a:srgbClr val="000000"/>
                </a:solidFill>
                <a:ea typeface="宋体" panose="02010600030101010101" pitchFamily="2" charset="-122"/>
              </a:rPr>
              <a:t> </a:t>
            </a:r>
            <a:endParaRPr kumimoji="0" lang="en-US" altLang="zh-CN" sz="3200">
              <a:latin typeface="Arial" panose="020B0604020202020204" pitchFamily="34" charset="0"/>
              <a:ea typeface="宋体" panose="02010600030101010101" pitchFamily="2" charset="-122"/>
            </a:endParaRPr>
          </a:p>
        </p:txBody>
      </p:sp>
      <p:pic>
        <p:nvPicPr>
          <p:cNvPr id="1126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06475" y="2944813"/>
            <a:ext cx="1931988"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4438" y="2976563"/>
            <a:ext cx="4530725" cy="30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Box 5"/>
          <p:cNvSpPr txBox="1">
            <a:spLocks noChangeArrowheads="1"/>
          </p:cNvSpPr>
          <p:nvPr/>
        </p:nvSpPr>
        <p:spPr bwMode="auto">
          <a:xfrm>
            <a:off x="381000" y="833438"/>
            <a:ext cx="83820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lnSpc>
                <a:spcPts val="4000"/>
              </a:lnSpc>
            </a:pPr>
            <a:r>
              <a:rPr kumimoji="0" lang="en-US" altLang="zh-CN" sz="2400" b="1" dirty="0">
                <a:latin typeface="华文中宋" panose="02010600040101010101" pitchFamily="2" charset="-122"/>
              </a:rPr>
              <a:t>      </a:t>
            </a:r>
            <a:r>
              <a:rPr kumimoji="0" lang="en-US" altLang="zh-CN" sz="2400" b="1" dirty="0">
                <a:solidFill>
                  <a:srgbClr val="C00000"/>
                </a:solidFill>
                <a:latin typeface="华文中宋" panose="02010600040101010101" pitchFamily="2" charset="-122"/>
              </a:rPr>
              <a:t>3</a:t>
            </a:r>
            <a:r>
              <a:rPr kumimoji="0" lang="zh-CN" altLang="en-US" sz="2400" b="1" dirty="0">
                <a:solidFill>
                  <a:srgbClr val="C00000"/>
                </a:solidFill>
                <a:latin typeface="华文中宋" panose="02010600040101010101" pitchFamily="2" charset="-122"/>
              </a:rPr>
              <a:t>、圆锥螺旋弹簧</a:t>
            </a:r>
            <a:endParaRPr kumimoji="0" lang="zh-CN" altLang="en-US" sz="2400" dirty="0">
              <a:solidFill>
                <a:srgbClr val="C00000"/>
              </a:solidFill>
              <a:latin typeface="华文中宋" panose="02010600040101010101" pitchFamily="2" charset="-122"/>
              <a:cs typeface="Times New Roman" panose="02020603050405020304" pitchFamily="18" charset="0"/>
            </a:endParaRPr>
          </a:p>
          <a:p>
            <a:pPr eaLnBrk="1" hangingPunct="1">
              <a:lnSpc>
                <a:spcPts val="4000"/>
              </a:lnSpc>
            </a:pPr>
            <a:r>
              <a:rPr kumimoji="0" lang="zh-CN" altLang="en-US" sz="2400" dirty="0">
                <a:latin typeface="华文中宋" panose="02010600040101010101" pitchFamily="2" charset="-122"/>
              </a:rPr>
              <a:t>      结构紧凑、稳定性好、多用于承受较大载荷和减振，其防共振能力比不等节距圆柱螺旋弹簧好。</a:t>
            </a:r>
            <a:r>
              <a:rPr kumimoji="0" lang="zh-CN" altLang="en-US" sz="2400" dirty="0">
                <a:latin typeface="Arial" panose="020B0604020202020204" pitchFamily="34" charset="0"/>
                <a:ea typeface="宋体" panose="02010600030101010101" pitchFamily="2" charset="-122"/>
              </a:rPr>
              <a:t> </a:t>
            </a:r>
            <a:endParaRPr kumimoji="0" lang="zh-CN" altLang="en-US" sz="2400" dirty="0">
              <a:latin typeface="Arial" panose="020B0604020202020204" pitchFamily="34" charset="0"/>
              <a:ea typeface="宋体" panose="02010600030101010101" pitchFamily="2" charset="-122"/>
            </a:endParaRPr>
          </a:p>
        </p:txBody>
      </p:sp>
      <p:pic>
        <p:nvPicPr>
          <p:cNvPr id="11270" name="Picture 48"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78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49"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10613" y="65532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2" name="Picture 50" descr="back1">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534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2"/>
          <p:cNvSpPr>
            <a:spLocks noGrp="1" noChangeArrowheads="1"/>
          </p:cNvSpPr>
          <p:nvPr>
            <p:ph type="title"/>
          </p:nvPr>
        </p:nvSpPr>
        <p:spPr bwMode="auto">
          <a:xfrm>
            <a:off x="6081713" y="198438"/>
            <a:ext cx="29860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3.12-1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76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6927850"/>
            <a:ext cx="2413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kumimoji="0" lang="en-US" altLang="zh-CN" sz="2800">
                <a:solidFill>
                  <a:srgbClr val="000000"/>
                </a:solidFill>
                <a:ea typeface="宋体" panose="02010600030101010101" pitchFamily="2" charset="-122"/>
              </a:rPr>
              <a:t> </a:t>
            </a:r>
            <a:endParaRPr kumimoji="0" lang="en-US" altLang="zh-CN" sz="3200">
              <a:latin typeface="Arial" panose="020B0604020202020204" pitchFamily="34" charset="0"/>
              <a:ea typeface="宋体" panose="02010600030101010101" pitchFamily="2" charset="-122"/>
            </a:endParaRPr>
          </a:p>
        </p:txBody>
      </p:sp>
      <p:pic>
        <p:nvPicPr>
          <p:cNvPr id="1229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1663" y="3306763"/>
            <a:ext cx="3513137" cy="232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386138"/>
            <a:ext cx="3567113"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381000" y="914400"/>
            <a:ext cx="8382000" cy="1672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sz="2400" b="1" dirty="0">
                <a:latin typeface="华文中宋" panose="02010600040101010101" pitchFamily="2" charset="-122"/>
              </a:rPr>
              <a:t>      </a:t>
            </a:r>
            <a:r>
              <a:rPr kumimoji="0" lang="en-US" altLang="zh-CN" sz="2400" b="1" dirty="0">
                <a:solidFill>
                  <a:srgbClr val="C00000"/>
                </a:solidFill>
                <a:latin typeface="华文中宋" panose="02010600040101010101" pitchFamily="2" charset="-122"/>
              </a:rPr>
              <a:t>4</a:t>
            </a:r>
            <a:r>
              <a:rPr kumimoji="0" lang="zh-CN" altLang="en-US" sz="2400" b="1" dirty="0">
                <a:solidFill>
                  <a:srgbClr val="C00000"/>
                </a:solidFill>
                <a:latin typeface="华文中宋" panose="02010600040101010101" pitchFamily="2" charset="-122"/>
              </a:rPr>
              <a:t>、碟形弹簧</a:t>
            </a:r>
            <a:endParaRPr kumimoji="0" lang="zh-CN" altLang="en-US" sz="2400" dirty="0">
              <a:solidFill>
                <a:srgbClr val="C00000"/>
              </a:solidFill>
              <a:latin typeface="华文中宋" panose="02010600040101010101" pitchFamily="2" charset="-122"/>
              <a:cs typeface="Times New Roman" panose="02020603050405020304" pitchFamily="18" charset="0"/>
            </a:endParaRPr>
          </a:p>
          <a:p>
            <a:pPr eaLnBrk="1" hangingPunct="1">
              <a:lnSpc>
                <a:spcPts val="4000"/>
              </a:lnSpc>
              <a:spcBef>
                <a:spcPct val="50000"/>
              </a:spcBef>
            </a:pPr>
            <a:r>
              <a:rPr kumimoji="0" lang="zh-CN" altLang="en-US" sz="2400" dirty="0">
                <a:latin typeface="华文中宋" panose="02010600040101010101" pitchFamily="2" charset="-122"/>
              </a:rPr>
              <a:t>      缓冲及减振能力强。采用不同的组合可能得到不同的特性曲线。常用于重型机械的缓冲及减振装置。 </a:t>
            </a:r>
            <a:endParaRPr kumimoji="0" lang="zh-CN" altLang="en-US" sz="2400" dirty="0">
              <a:latin typeface="华文中宋" panose="02010600040101010101" pitchFamily="2" charset="-122"/>
            </a:endParaRPr>
          </a:p>
        </p:txBody>
      </p:sp>
      <p:pic>
        <p:nvPicPr>
          <p:cNvPr id="12294" name="Picture 48"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978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49"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10613" y="6553200"/>
            <a:ext cx="2873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6" name="Picture 50" descr="back1">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53425" y="6553200"/>
            <a:ext cx="2873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2"/>
          <p:cNvSpPr>
            <a:spLocks noGrp="1" noChangeArrowheads="1"/>
          </p:cNvSpPr>
          <p:nvPr>
            <p:ph type="title"/>
          </p:nvPr>
        </p:nvSpPr>
        <p:spPr bwMode="auto">
          <a:xfrm>
            <a:off x="6081713" y="198438"/>
            <a:ext cx="29860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3.12-1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76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92163" y="3098800"/>
            <a:ext cx="7848600" cy="293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5" name="Text Box 4"/>
          <p:cNvSpPr txBox="1">
            <a:spLocks noChangeArrowheads="1"/>
          </p:cNvSpPr>
          <p:nvPr/>
        </p:nvSpPr>
        <p:spPr bwMode="auto">
          <a:xfrm>
            <a:off x="363538" y="1033463"/>
            <a:ext cx="8421687"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sz="2400" b="1" dirty="0">
                <a:solidFill>
                  <a:srgbClr val="C00000"/>
                </a:solidFill>
                <a:latin typeface="华文中宋" panose="02010600040101010101" pitchFamily="2" charset="-122"/>
              </a:rPr>
              <a:t>      5</a:t>
            </a:r>
            <a:r>
              <a:rPr kumimoji="0" lang="zh-CN" altLang="en-US" sz="2400" b="1" dirty="0">
                <a:solidFill>
                  <a:srgbClr val="C00000"/>
                </a:solidFill>
                <a:latin typeface="华文中宋" panose="02010600040101010101" pitchFamily="2" charset="-122"/>
              </a:rPr>
              <a:t>、环形弹簧</a:t>
            </a:r>
            <a:endParaRPr kumimoji="0" lang="zh-CN" altLang="en-US" sz="2400" dirty="0">
              <a:solidFill>
                <a:srgbClr val="C00000"/>
              </a:solidFill>
              <a:latin typeface="华文中宋" panose="02010600040101010101" pitchFamily="2" charset="-122"/>
              <a:cs typeface="Times New Roman" panose="02020603050405020304" pitchFamily="18" charset="0"/>
            </a:endParaRPr>
          </a:p>
          <a:p>
            <a:pPr eaLnBrk="1" hangingPunct="1">
              <a:lnSpc>
                <a:spcPts val="4000"/>
              </a:lnSpc>
              <a:spcBef>
                <a:spcPct val="50000"/>
              </a:spcBef>
            </a:pPr>
            <a:r>
              <a:rPr kumimoji="0" lang="zh-CN" altLang="en-US" sz="2400" dirty="0">
                <a:latin typeface="华文中宋" panose="02010600040101010101" pitchFamily="2" charset="-122"/>
              </a:rPr>
              <a:t>      具有很高的消振能力，是最强力的缓冲弹簧。常用在铁路车辆、飞机着陆装置的缓冲装置中。 </a:t>
            </a:r>
            <a:endParaRPr kumimoji="0" lang="zh-CN" altLang="en-US" sz="2400" dirty="0">
              <a:latin typeface="华文中宋" panose="02010600040101010101" pitchFamily="2" charset="-122"/>
            </a:endParaRPr>
          </a:p>
        </p:txBody>
      </p:sp>
      <p:pic>
        <p:nvPicPr>
          <p:cNvPr id="13316" name="Picture 48"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1213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0763"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2"/>
          <p:cNvSpPr>
            <a:spLocks noGrp="1" noChangeArrowheads="1"/>
          </p:cNvSpPr>
          <p:nvPr>
            <p:ph type="title"/>
          </p:nvPr>
        </p:nvSpPr>
        <p:spPr bwMode="auto">
          <a:xfrm>
            <a:off x="6081713" y="198438"/>
            <a:ext cx="29860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3.12-1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76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auto">
          <a:xfrm>
            <a:off x="3929063" y="195263"/>
            <a:ext cx="4691063"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3.12-2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弹簧的材料和制造</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8677" name="标题 126977"/>
          <p:cNvSpPr>
            <a:spLocks noGrp="1"/>
          </p:cNvSpPr>
          <p:nvPr/>
        </p:nvSpPr>
        <p:spPr>
          <a:xfrm>
            <a:off x="6553200" y="666750"/>
            <a:ext cx="1905000" cy="266700"/>
          </a:xfrm>
          <a:prstGeom prst="rect">
            <a:avLst/>
          </a:prstGeom>
          <a:noFill/>
          <a:ln w="9525">
            <a:noFill/>
          </a:ln>
        </p:spPr>
        <p:txBody>
          <a:bodyPr/>
          <a:lstStyle/>
          <a:p>
            <a:r>
              <a:rPr lang="zh-CN" altLang="en-US" sz="700" dirty="0">
                <a:solidFill>
                  <a:schemeClr val="bg1"/>
                </a:solidFill>
                <a:latin typeface="华文中宋" panose="02010600040101010101" pitchFamily="2" charset="-122"/>
              </a:rPr>
              <a:t>圆柱螺旋弹簧的结构制造材料</a:t>
            </a:r>
            <a:r>
              <a:rPr lang="en-US" altLang="zh-CN" sz="700" dirty="0">
                <a:solidFill>
                  <a:schemeClr val="bg1"/>
                </a:solidFill>
                <a:latin typeface="华文中宋" panose="02010600040101010101" pitchFamily="2" charset="-122"/>
              </a:rPr>
              <a:t>2</a:t>
            </a:r>
            <a:endParaRPr lang="en-US" altLang="zh-CN" sz="700" dirty="0">
              <a:solidFill>
                <a:schemeClr val="bg1"/>
              </a:solidFill>
              <a:latin typeface="华文中宋" panose="02010600040101010101" pitchFamily="2" charset="-122"/>
            </a:endParaRPr>
          </a:p>
        </p:txBody>
      </p:sp>
      <p:sp>
        <p:nvSpPr>
          <p:cNvPr id="49158" name="文本框 126980"/>
          <p:cNvSpPr txBox="1"/>
          <p:nvPr/>
        </p:nvSpPr>
        <p:spPr>
          <a:xfrm>
            <a:off x="251520" y="908720"/>
            <a:ext cx="2159566" cy="430887"/>
          </a:xfrm>
          <a:prstGeom prst="rect">
            <a:avLst/>
          </a:prstGeom>
          <a:noFill/>
          <a:ln w="9525">
            <a:noFill/>
          </a:ln>
        </p:spPr>
        <p:txBody>
          <a:bodyPr wrap="none">
            <a:spAutoFit/>
          </a:bodyPr>
          <a:lstStyle/>
          <a:p>
            <a:r>
              <a:rPr lang="zh-CN" altLang="en-US" dirty="0">
                <a:solidFill>
                  <a:srgbClr val="C00000"/>
                </a:solidFill>
                <a:latin typeface="黑体" panose="02010609060101010101" pitchFamily="49" charset="-122"/>
                <a:ea typeface="黑体" panose="02010609060101010101" pitchFamily="49" charset="-122"/>
              </a:rPr>
              <a:t>一、弹簧的材料</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49159" name="文本框 126981"/>
          <p:cNvSpPr txBox="1"/>
          <p:nvPr/>
        </p:nvSpPr>
        <p:spPr>
          <a:xfrm>
            <a:off x="229870" y="1330325"/>
            <a:ext cx="8811260" cy="475615"/>
          </a:xfrm>
          <a:prstGeom prst="rect">
            <a:avLst/>
          </a:prstGeom>
          <a:noFill/>
          <a:ln w="9525">
            <a:noFill/>
          </a:ln>
        </p:spPr>
        <p:txBody>
          <a:bodyPr wrap="square">
            <a:spAutoFit/>
          </a:bodyPr>
          <a:lstStyle/>
          <a:p>
            <a:pPr>
              <a:lnSpc>
                <a:spcPct val="125000"/>
              </a:lnSpc>
            </a:pPr>
            <a:r>
              <a:rPr lang="zh-CN" altLang="en-US" sz="2000" dirty="0">
                <a:solidFill>
                  <a:srgbClr val="000099"/>
                </a:solidFill>
                <a:latin typeface="华文中宋" panose="02010600040101010101" pitchFamily="2" charset="-122"/>
              </a:rPr>
              <a:t>　</a:t>
            </a:r>
            <a:r>
              <a:rPr lang="zh-CN" altLang="en-US" sz="2000" dirty="0">
                <a:solidFill>
                  <a:srgbClr val="002060"/>
                </a:solidFill>
                <a:latin typeface="华文中宋" panose="02010600040101010101" pitchFamily="2" charset="-122"/>
              </a:rPr>
              <a:t>弹簧材料必须具有高的弹性极限、疲劳极限、冲击韧性和良好的热处理性。　</a:t>
            </a:r>
            <a:endParaRPr lang="zh-CN" altLang="en-US" sz="2000" dirty="0">
              <a:solidFill>
                <a:srgbClr val="002060"/>
              </a:solidFill>
              <a:latin typeface="华文中宋" panose="02010600040101010101" pitchFamily="2" charset="-122"/>
            </a:endParaRPr>
          </a:p>
        </p:txBody>
      </p:sp>
      <p:sp>
        <p:nvSpPr>
          <p:cNvPr id="49160" name="文本框 126982"/>
          <p:cNvSpPr txBox="1"/>
          <p:nvPr/>
        </p:nvSpPr>
        <p:spPr>
          <a:xfrm>
            <a:off x="284158" y="2996823"/>
            <a:ext cx="2141538" cy="430887"/>
          </a:xfrm>
          <a:prstGeom prst="rect">
            <a:avLst/>
          </a:prstGeom>
          <a:solidFill>
            <a:srgbClr val="FFFF00"/>
          </a:solidFill>
          <a:ln w="9525">
            <a:noFill/>
          </a:ln>
        </p:spPr>
        <p:txBody>
          <a:bodyPr>
            <a:spAutoFit/>
          </a:bodyPr>
          <a:lstStyle/>
          <a:p>
            <a:r>
              <a:rPr lang="zh-CN" altLang="en-US" dirty="0" smtClean="0">
                <a:solidFill>
                  <a:srgbClr val="002060"/>
                </a:solidFill>
                <a:latin typeface="华文中宋" panose="02010600040101010101" pitchFamily="2" charset="-122"/>
              </a:rPr>
              <a:t>常用</a:t>
            </a:r>
            <a:r>
              <a:rPr lang="zh-CN" altLang="en-US" dirty="0">
                <a:solidFill>
                  <a:srgbClr val="002060"/>
                </a:solidFill>
                <a:latin typeface="华文中宋" panose="02010600040101010101" pitchFamily="2" charset="-122"/>
              </a:rPr>
              <a:t>弹簧钢： </a:t>
            </a:r>
            <a:endParaRPr lang="zh-CN" altLang="en-US" dirty="0">
              <a:solidFill>
                <a:srgbClr val="002060"/>
              </a:solidFill>
              <a:latin typeface="华文中宋" panose="02010600040101010101" pitchFamily="2" charset="-122"/>
            </a:endParaRPr>
          </a:p>
        </p:txBody>
      </p:sp>
      <p:sp>
        <p:nvSpPr>
          <p:cNvPr id="49161" name="文本框 126990"/>
          <p:cNvSpPr txBox="1"/>
          <p:nvPr/>
        </p:nvSpPr>
        <p:spPr>
          <a:xfrm>
            <a:off x="179512" y="1989093"/>
            <a:ext cx="8861425" cy="844550"/>
          </a:xfrm>
          <a:prstGeom prst="rect">
            <a:avLst/>
          </a:prstGeom>
          <a:noFill/>
          <a:ln w="9525">
            <a:noFill/>
          </a:ln>
        </p:spPr>
        <p:txBody>
          <a:bodyPr>
            <a:spAutoFit/>
          </a:bodyPr>
          <a:lstStyle/>
          <a:p>
            <a:pPr>
              <a:lnSpc>
                <a:spcPct val="125000"/>
              </a:lnSpc>
            </a:pPr>
            <a:r>
              <a:rPr lang="zh-CN" altLang="en-US" sz="2000" dirty="0">
                <a:solidFill>
                  <a:srgbClr val="000099"/>
                </a:solidFill>
                <a:latin typeface="华文中宋" panose="02010600040101010101" pitchFamily="2" charset="-122"/>
              </a:rPr>
              <a:t>　　</a:t>
            </a:r>
            <a:r>
              <a:rPr lang="zh-CN" altLang="en-US" sz="2000" dirty="0">
                <a:solidFill>
                  <a:srgbClr val="002060"/>
                </a:solidFill>
                <a:latin typeface="华文中宋" panose="02010600040101010101" pitchFamily="2" charset="-122"/>
              </a:rPr>
              <a:t>选择弹簧材料时，应考虑其用途、使用条件</a:t>
            </a:r>
            <a:r>
              <a:rPr lang="en-US" altLang="zh-CN" sz="2000" dirty="0">
                <a:solidFill>
                  <a:srgbClr val="002060"/>
                </a:solidFill>
                <a:latin typeface="华文中宋" panose="02010600040101010101" pitchFamily="2" charset="-122"/>
              </a:rPr>
              <a:t>(</a:t>
            </a:r>
            <a:r>
              <a:rPr lang="zh-CN" altLang="en-US" sz="2000" dirty="0">
                <a:solidFill>
                  <a:srgbClr val="002060"/>
                </a:solidFill>
                <a:latin typeface="华文中宋" panose="02010600040101010101" pitchFamily="2" charset="-122"/>
              </a:rPr>
              <a:t>载荷性质、大小及循环特性、</a:t>
            </a:r>
            <a:endParaRPr lang="zh-CN" altLang="en-US" sz="2000" dirty="0">
              <a:solidFill>
                <a:srgbClr val="002060"/>
              </a:solidFill>
              <a:latin typeface="华文中宋" panose="02010600040101010101" pitchFamily="2" charset="-122"/>
            </a:endParaRPr>
          </a:p>
          <a:p>
            <a:pPr>
              <a:lnSpc>
                <a:spcPct val="120000"/>
              </a:lnSpc>
            </a:pPr>
            <a:r>
              <a:rPr lang="zh-CN" altLang="en-US" sz="2000" dirty="0">
                <a:solidFill>
                  <a:srgbClr val="002060"/>
                </a:solidFill>
                <a:latin typeface="华文中宋" panose="02010600040101010101" pitchFamily="2" charset="-122"/>
              </a:rPr>
              <a:t>工作持续时间、工作温度等</a:t>
            </a:r>
            <a:r>
              <a:rPr lang="en-US" altLang="zh-CN" sz="2000" dirty="0">
                <a:solidFill>
                  <a:srgbClr val="002060"/>
                </a:solidFill>
                <a:latin typeface="华文中宋" panose="02010600040101010101" pitchFamily="2" charset="-122"/>
              </a:rPr>
              <a:t>)</a:t>
            </a:r>
            <a:r>
              <a:rPr lang="zh-CN" altLang="en-US" sz="2000" dirty="0">
                <a:solidFill>
                  <a:srgbClr val="002060"/>
                </a:solidFill>
                <a:latin typeface="华文中宋" panose="02010600040101010101" pitchFamily="2" charset="-122"/>
              </a:rPr>
              <a:t>以及加工、热处理和经济性等因素。</a:t>
            </a:r>
            <a:endParaRPr lang="zh-CN" altLang="en-US" sz="2000" dirty="0">
              <a:solidFill>
                <a:srgbClr val="002060"/>
              </a:solidFill>
              <a:latin typeface="华文中宋" panose="02010600040101010101" pitchFamily="2" charset="-122"/>
            </a:endParaRPr>
          </a:p>
        </p:txBody>
      </p:sp>
      <p:sp>
        <p:nvSpPr>
          <p:cNvPr id="49162" name="文本框 126993"/>
          <p:cNvSpPr txBox="1"/>
          <p:nvPr/>
        </p:nvSpPr>
        <p:spPr>
          <a:xfrm>
            <a:off x="549275" y="3690938"/>
            <a:ext cx="7972425" cy="398462"/>
          </a:xfrm>
          <a:prstGeom prst="rect">
            <a:avLst/>
          </a:prstGeom>
          <a:noFill/>
          <a:ln w="9525">
            <a:noFill/>
          </a:ln>
        </p:spPr>
        <p:txBody>
          <a:bodyPr wrap="none">
            <a:spAutoFit/>
          </a:bodyPr>
          <a:lstStyle/>
          <a:p>
            <a:r>
              <a:rPr lang="zh-CN" altLang="en-US" sz="2000" dirty="0">
                <a:solidFill>
                  <a:srgbClr val="C00000"/>
                </a:solidFill>
                <a:latin typeface="Times New Roman" panose="02020603050405020304" pitchFamily="18" charset="0"/>
              </a:rPr>
              <a:t>优质碳素弹簧钢</a:t>
            </a:r>
            <a:r>
              <a:rPr lang="en-US" altLang="zh-CN" sz="2000" dirty="0">
                <a:solidFill>
                  <a:srgbClr val="C00000"/>
                </a:solidFill>
                <a:latin typeface="Times New Roman" panose="02020603050405020304" pitchFamily="18" charset="0"/>
              </a:rPr>
              <a:t>(</a:t>
            </a:r>
            <a:r>
              <a:rPr lang="zh-CN" altLang="en-US" sz="2000" dirty="0">
                <a:solidFill>
                  <a:srgbClr val="C00000"/>
                </a:solidFill>
                <a:latin typeface="Times New Roman" panose="02020603050405020304" pitchFamily="18" charset="0"/>
              </a:rPr>
              <a:t>如</a:t>
            </a:r>
            <a:r>
              <a:rPr lang="en-US" altLang="zh-CN" sz="2000" dirty="0">
                <a:solidFill>
                  <a:srgbClr val="C00000"/>
                </a:solidFill>
                <a:latin typeface="Times New Roman" panose="02020603050405020304" pitchFamily="18" charset="0"/>
              </a:rPr>
              <a:t>65</a:t>
            </a:r>
            <a:r>
              <a:rPr lang="zh-CN" altLang="en-US" sz="2000" dirty="0">
                <a:solidFill>
                  <a:srgbClr val="C00000"/>
                </a:solidFill>
                <a:latin typeface="Times New Roman" panose="02020603050405020304" pitchFamily="18" charset="0"/>
              </a:rPr>
              <a:t>、</a:t>
            </a:r>
            <a:r>
              <a:rPr lang="en-US" altLang="zh-CN" sz="2000" dirty="0">
                <a:solidFill>
                  <a:srgbClr val="C00000"/>
                </a:solidFill>
                <a:latin typeface="Times New Roman" panose="02020603050405020304" pitchFamily="18" charset="0"/>
              </a:rPr>
              <a:t>70</a:t>
            </a:r>
            <a:r>
              <a:rPr lang="zh-CN" altLang="en-US" sz="2000" dirty="0">
                <a:solidFill>
                  <a:srgbClr val="C00000"/>
                </a:solidFill>
                <a:latin typeface="Times New Roman" panose="02020603050405020304" pitchFamily="18" charset="0"/>
              </a:rPr>
              <a:t>钢</a:t>
            </a:r>
            <a:r>
              <a:rPr lang="en-US" altLang="zh-CN" sz="2000" dirty="0">
                <a:solidFill>
                  <a:srgbClr val="C00000"/>
                </a:solidFill>
                <a:latin typeface="Times New Roman" panose="02020603050405020304" pitchFamily="18" charset="0"/>
              </a:rPr>
              <a:t>)</a:t>
            </a:r>
            <a:r>
              <a:rPr lang="zh-CN" altLang="en-US" sz="2000" dirty="0">
                <a:solidFill>
                  <a:srgbClr val="C00000"/>
                </a:solidFill>
                <a:latin typeface="Times New Roman" panose="02020603050405020304" pitchFamily="18" charset="0"/>
              </a:rPr>
              <a:t>：</a:t>
            </a:r>
            <a:r>
              <a:rPr lang="zh-CN" altLang="en-US" sz="2000" dirty="0">
                <a:solidFill>
                  <a:srgbClr val="000099"/>
                </a:solidFill>
                <a:latin typeface="Times New Roman" panose="02020603050405020304" pitchFamily="18" charset="0"/>
              </a:rPr>
              <a:t>价格便宜、供应方便，但弹性极限低；</a:t>
            </a:r>
            <a:endParaRPr lang="zh-CN" altLang="en-US" sz="2000" dirty="0">
              <a:solidFill>
                <a:srgbClr val="000099"/>
              </a:solidFill>
              <a:latin typeface="Times New Roman" panose="02020603050405020304" pitchFamily="18" charset="0"/>
            </a:endParaRPr>
          </a:p>
        </p:txBody>
      </p:sp>
      <p:sp>
        <p:nvSpPr>
          <p:cNvPr id="49163" name="文本框 126994"/>
          <p:cNvSpPr txBox="1"/>
          <p:nvPr/>
        </p:nvSpPr>
        <p:spPr>
          <a:xfrm>
            <a:off x="549275" y="4187825"/>
            <a:ext cx="7562850" cy="398463"/>
          </a:xfrm>
          <a:prstGeom prst="rect">
            <a:avLst/>
          </a:prstGeom>
          <a:noFill/>
          <a:ln w="9525">
            <a:noFill/>
          </a:ln>
        </p:spPr>
        <p:txBody>
          <a:bodyPr wrap="none">
            <a:spAutoFit/>
          </a:bodyPr>
          <a:lstStyle/>
          <a:p>
            <a:r>
              <a:rPr lang="zh-CN" altLang="en-US" sz="2000" dirty="0">
                <a:solidFill>
                  <a:srgbClr val="C00000"/>
                </a:solidFill>
                <a:latin typeface="Times New Roman" panose="02020603050405020304" pitchFamily="18" charset="0"/>
              </a:rPr>
              <a:t>低锰弹簧钢</a:t>
            </a:r>
            <a:r>
              <a:rPr lang="en-US" altLang="zh-CN" sz="2000" dirty="0">
                <a:solidFill>
                  <a:srgbClr val="C00000"/>
                </a:solidFill>
                <a:latin typeface="Times New Roman" panose="02020603050405020304" pitchFamily="18" charset="0"/>
              </a:rPr>
              <a:t>(</a:t>
            </a:r>
            <a:r>
              <a:rPr lang="zh-CN" altLang="en-US" sz="2000" dirty="0">
                <a:solidFill>
                  <a:srgbClr val="C00000"/>
                </a:solidFill>
                <a:latin typeface="Times New Roman" panose="02020603050405020304" pitchFamily="18" charset="0"/>
              </a:rPr>
              <a:t>如</a:t>
            </a:r>
            <a:r>
              <a:rPr lang="en-US" altLang="zh-CN" sz="2000" dirty="0">
                <a:solidFill>
                  <a:srgbClr val="C00000"/>
                </a:solidFill>
                <a:latin typeface="Times New Roman" panose="02020603050405020304" pitchFamily="18" charset="0"/>
              </a:rPr>
              <a:t>65Mn)</a:t>
            </a:r>
            <a:r>
              <a:rPr lang="zh-CN" altLang="en-US" sz="2000" dirty="0">
                <a:solidFill>
                  <a:srgbClr val="C00000"/>
                </a:solidFill>
                <a:latin typeface="Times New Roman" panose="02020603050405020304" pitchFamily="18" charset="0"/>
              </a:rPr>
              <a:t>：</a:t>
            </a:r>
            <a:r>
              <a:rPr lang="zh-CN" altLang="en-US" sz="2000" dirty="0">
                <a:solidFill>
                  <a:srgbClr val="000099"/>
                </a:solidFill>
                <a:latin typeface="Times New Roman" panose="02020603050405020304" pitchFamily="18" charset="0"/>
              </a:rPr>
              <a:t>淬透性好、强度较高，淬火后易产生裂纹；</a:t>
            </a:r>
            <a:endParaRPr lang="zh-CN" altLang="en-US" sz="2000" dirty="0">
              <a:solidFill>
                <a:srgbClr val="000099"/>
              </a:solidFill>
              <a:latin typeface="Times New Roman" panose="02020603050405020304" pitchFamily="18" charset="0"/>
            </a:endParaRPr>
          </a:p>
        </p:txBody>
      </p:sp>
      <p:sp>
        <p:nvSpPr>
          <p:cNvPr id="49164" name="文本框 126995"/>
          <p:cNvSpPr txBox="1"/>
          <p:nvPr/>
        </p:nvSpPr>
        <p:spPr>
          <a:xfrm>
            <a:off x="549275" y="4684713"/>
            <a:ext cx="8339138" cy="398462"/>
          </a:xfrm>
          <a:prstGeom prst="rect">
            <a:avLst/>
          </a:prstGeom>
          <a:noFill/>
          <a:ln w="9525">
            <a:noFill/>
          </a:ln>
        </p:spPr>
        <p:txBody>
          <a:bodyPr wrap="none">
            <a:spAutoFit/>
          </a:bodyPr>
          <a:lstStyle/>
          <a:p>
            <a:r>
              <a:rPr lang="zh-CN" altLang="en-US" sz="2000" dirty="0">
                <a:solidFill>
                  <a:srgbClr val="C00000"/>
                </a:solidFill>
                <a:latin typeface="Times New Roman" panose="02020603050405020304" pitchFamily="18" charset="0"/>
              </a:rPr>
              <a:t>硅锰弹簧钢</a:t>
            </a:r>
            <a:r>
              <a:rPr lang="en-US" altLang="zh-CN" sz="2000" dirty="0">
                <a:solidFill>
                  <a:srgbClr val="C00000"/>
                </a:solidFill>
                <a:latin typeface="Times New Roman" panose="02020603050405020304" pitchFamily="18" charset="0"/>
              </a:rPr>
              <a:t>(</a:t>
            </a:r>
            <a:r>
              <a:rPr lang="zh-CN" altLang="en-US" sz="2000" dirty="0">
                <a:solidFill>
                  <a:srgbClr val="C00000"/>
                </a:solidFill>
                <a:latin typeface="Times New Roman" panose="02020603050405020304" pitchFamily="18" charset="0"/>
              </a:rPr>
              <a:t>如</a:t>
            </a:r>
            <a:r>
              <a:rPr lang="en-US" altLang="zh-CN" sz="2000" dirty="0">
                <a:solidFill>
                  <a:srgbClr val="C00000"/>
                </a:solidFill>
                <a:latin typeface="Times New Roman" panose="02020603050405020304" pitchFamily="18" charset="0"/>
              </a:rPr>
              <a:t>60Si2MnA)</a:t>
            </a:r>
            <a:r>
              <a:rPr lang="zh-CN" altLang="en-US" sz="2000" dirty="0">
                <a:solidFill>
                  <a:srgbClr val="C00000"/>
                </a:solidFill>
                <a:latin typeface="Times New Roman" panose="02020603050405020304" pitchFamily="18" charset="0"/>
              </a:rPr>
              <a:t>：</a:t>
            </a:r>
            <a:r>
              <a:rPr lang="zh-CN" altLang="en-US" sz="2000" dirty="0">
                <a:solidFill>
                  <a:srgbClr val="000099"/>
                </a:solidFill>
                <a:latin typeface="Times New Roman" panose="02020603050405020304" pitchFamily="18" charset="0"/>
              </a:rPr>
              <a:t>弹性极限高，回火稳定性好，力学性能良好；</a:t>
            </a:r>
            <a:endParaRPr lang="zh-CN" altLang="en-US" sz="2000" dirty="0">
              <a:solidFill>
                <a:srgbClr val="000099"/>
              </a:solidFill>
              <a:latin typeface="Times New Roman" panose="02020603050405020304" pitchFamily="18" charset="0"/>
            </a:endParaRPr>
          </a:p>
        </p:txBody>
      </p:sp>
      <p:sp>
        <p:nvSpPr>
          <p:cNvPr id="49165" name="文本框 126996"/>
          <p:cNvSpPr txBox="1"/>
          <p:nvPr/>
        </p:nvSpPr>
        <p:spPr>
          <a:xfrm>
            <a:off x="549330" y="5202530"/>
            <a:ext cx="8644289" cy="400110"/>
          </a:xfrm>
          <a:prstGeom prst="rect">
            <a:avLst/>
          </a:prstGeom>
          <a:noFill/>
          <a:ln w="9525">
            <a:noFill/>
          </a:ln>
        </p:spPr>
        <p:txBody>
          <a:bodyPr wrap="none">
            <a:spAutoFit/>
          </a:bodyPr>
          <a:lstStyle/>
          <a:p>
            <a:r>
              <a:rPr lang="zh-CN" altLang="en-US" sz="2000" dirty="0">
                <a:solidFill>
                  <a:srgbClr val="C00000"/>
                </a:solidFill>
                <a:latin typeface="Times New Roman" panose="02020603050405020304" pitchFamily="18" charset="0"/>
              </a:rPr>
              <a:t>铬钒钢</a:t>
            </a:r>
            <a:r>
              <a:rPr lang="en-US" altLang="zh-CN" sz="2000" dirty="0">
                <a:solidFill>
                  <a:srgbClr val="C00000"/>
                </a:solidFill>
                <a:latin typeface="Times New Roman" panose="02020603050405020304" pitchFamily="18" charset="0"/>
              </a:rPr>
              <a:t>(</a:t>
            </a:r>
            <a:r>
              <a:rPr lang="zh-CN" altLang="en-US" sz="2000" dirty="0">
                <a:solidFill>
                  <a:srgbClr val="C00000"/>
                </a:solidFill>
                <a:latin typeface="Times New Roman" panose="02020603050405020304" pitchFamily="18" charset="0"/>
              </a:rPr>
              <a:t>如</a:t>
            </a:r>
            <a:r>
              <a:rPr lang="en-US" altLang="zh-CN" sz="2000" dirty="0">
                <a:solidFill>
                  <a:srgbClr val="C00000"/>
                </a:solidFill>
                <a:latin typeface="Times New Roman" panose="02020603050405020304" pitchFamily="18" charset="0"/>
              </a:rPr>
              <a:t>50CrVA)</a:t>
            </a:r>
            <a:r>
              <a:rPr lang="zh-CN" altLang="en-US" sz="2000" dirty="0">
                <a:solidFill>
                  <a:srgbClr val="000099"/>
                </a:solidFill>
                <a:latin typeface="Times New Roman" panose="02020603050405020304" pitchFamily="18" charset="0"/>
              </a:rPr>
              <a:t>：耐疲劳和抗冲击性能好，价格贵，用于要求高的场合。</a:t>
            </a:r>
            <a:endParaRPr lang="zh-CN" altLang="en-US" sz="2000" dirty="0">
              <a:solidFill>
                <a:srgbClr val="000099"/>
              </a:solidFill>
              <a:latin typeface="Times New Roman" panose="02020603050405020304" pitchFamily="18" charset="0"/>
            </a:endParaRPr>
          </a:p>
        </p:txBody>
      </p:sp>
      <p:sp>
        <p:nvSpPr>
          <p:cNvPr id="49166" name="文本框 117824"/>
          <p:cNvSpPr txBox="1"/>
          <p:nvPr/>
        </p:nvSpPr>
        <p:spPr>
          <a:xfrm>
            <a:off x="2196113" y="6020782"/>
            <a:ext cx="2428875" cy="398462"/>
          </a:xfrm>
          <a:prstGeom prst="rect">
            <a:avLst/>
          </a:prstGeom>
          <a:noFill/>
          <a:ln w="9525">
            <a:noFill/>
          </a:ln>
        </p:spPr>
        <p:txBody>
          <a:bodyPr>
            <a:spAutoFit/>
          </a:bodyPr>
          <a:lstStyle/>
          <a:p>
            <a:r>
              <a:rPr lang="zh-CN" altLang="en-US" sz="2000" dirty="0">
                <a:solidFill>
                  <a:srgbClr val="000099"/>
                </a:solidFill>
                <a:latin typeface="Times New Roman" panose="02020603050405020304" pitchFamily="18" charset="0"/>
                <a:hlinkClick r:id="rId1" action="ppaction://hlinksldjump"/>
              </a:rPr>
              <a:t>弹簧材料及性能</a:t>
            </a:r>
            <a:r>
              <a:rPr lang="en-US" altLang="zh-CN" sz="2000" dirty="0">
                <a:solidFill>
                  <a:srgbClr val="000099"/>
                </a:solidFill>
                <a:latin typeface="Times New Roman" panose="02020603050405020304" pitchFamily="18" charset="0"/>
                <a:hlinkClick r:id="rId1" action="ppaction://hlinksldjump"/>
              </a:rPr>
              <a:t>→</a:t>
            </a:r>
            <a:endParaRPr lang="en-US" altLang="zh-CN" sz="2000" dirty="0">
              <a:solidFill>
                <a:srgbClr val="000099"/>
              </a:solidFill>
              <a:latin typeface="Times New Roman" panose="02020603050405020304" pitchFamily="18" charset="0"/>
            </a:endParaRPr>
          </a:p>
        </p:txBody>
      </p:sp>
      <p:sp>
        <p:nvSpPr>
          <p:cNvPr id="49167" name="文本框 117824"/>
          <p:cNvSpPr txBox="1"/>
          <p:nvPr/>
        </p:nvSpPr>
        <p:spPr>
          <a:xfrm>
            <a:off x="5508228" y="6021035"/>
            <a:ext cx="2519363" cy="398462"/>
          </a:xfrm>
          <a:prstGeom prst="rect">
            <a:avLst/>
          </a:prstGeom>
          <a:noFill/>
          <a:ln w="9525">
            <a:noFill/>
          </a:ln>
        </p:spPr>
        <p:txBody>
          <a:bodyPr>
            <a:spAutoFit/>
          </a:bodyPr>
          <a:lstStyle/>
          <a:p>
            <a:r>
              <a:rPr lang="zh-CN" altLang="en-US" sz="2000" dirty="0">
                <a:solidFill>
                  <a:srgbClr val="000099"/>
                </a:solidFill>
                <a:latin typeface="Times New Roman" panose="02020603050405020304" pitchFamily="18" charset="0"/>
                <a:hlinkClick r:id="rId2" action="ppaction://hlinksldjump"/>
              </a:rPr>
              <a:t>弹簧钢丝抗拉强度</a:t>
            </a:r>
            <a:r>
              <a:rPr lang="en-US" altLang="zh-CN" sz="2000" dirty="0">
                <a:solidFill>
                  <a:srgbClr val="000099"/>
                </a:solidFill>
                <a:latin typeface="Times New Roman" panose="02020603050405020304" pitchFamily="18" charset="0"/>
                <a:hlinkClick r:id="rId2" action="ppaction://hlinksldjump"/>
              </a:rPr>
              <a:t>→</a:t>
            </a:r>
            <a:endParaRPr lang="en-US" altLang="zh-CN" sz="2000" dirty="0">
              <a:solidFill>
                <a:srgbClr val="000099"/>
              </a:solidFill>
              <a:latin typeface="Times New Roman" panose="02020603050405020304" pitchFamily="18" charset="0"/>
            </a:endParaRPr>
          </a:p>
        </p:txBody>
      </p:sp>
      <p:sp>
        <p:nvSpPr>
          <p:cNvPr id="28688"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8"/>
                                        </p:tgtEl>
                                        <p:attrNameLst>
                                          <p:attrName>style.visibility</p:attrName>
                                        </p:attrNameLst>
                                      </p:cBhvr>
                                      <p:to>
                                        <p:strVal val="visible"/>
                                      </p:to>
                                    </p:set>
                                    <p:animEffect transition="in" filter="wipe(left)">
                                      <p:cBhvr>
                                        <p:cTn id="7" dur="500"/>
                                        <p:tgtEl>
                                          <p:spTgt spid="491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9"/>
                                        </p:tgtEl>
                                        <p:attrNameLst>
                                          <p:attrName>style.visibility</p:attrName>
                                        </p:attrNameLst>
                                      </p:cBhvr>
                                      <p:to>
                                        <p:strVal val="visible"/>
                                      </p:to>
                                    </p:set>
                                    <p:animEffect transition="in" filter="wipe(left)">
                                      <p:cBhvr>
                                        <p:cTn id="12" dur="500"/>
                                        <p:tgtEl>
                                          <p:spTgt spid="491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161"/>
                                        </p:tgtEl>
                                        <p:attrNameLst>
                                          <p:attrName>style.visibility</p:attrName>
                                        </p:attrNameLst>
                                      </p:cBhvr>
                                      <p:to>
                                        <p:strVal val="visible"/>
                                      </p:to>
                                    </p:set>
                                    <p:animEffect transition="in" filter="wipe(left)">
                                      <p:cBhvr>
                                        <p:cTn id="17" dur="500"/>
                                        <p:tgtEl>
                                          <p:spTgt spid="491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160"/>
                                        </p:tgtEl>
                                        <p:attrNameLst>
                                          <p:attrName>style.visibility</p:attrName>
                                        </p:attrNameLst>
                                      </p:cBhvr>
                                      <p:to>
                                        <p:strVal val="visible"/>
                                      </p:to>
                                    </p:set>
                                    <p:animEffect transition="in" filter="wipe(left)">
                                      <p:cBhvr>
                                        <p:cTn id="22" dur="500"/>
                                        <p:tgtEl>
                                          <p:spTgt spid="491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162"/>
                                        </p:tgtEl>
                                        <p:attrNameLst>
                                          <p:attrName>style.visibility</p:attrName>
                                        </p:attrNameLst>
                                      </p:cBhvr>
                                      <p:to>
                                        <p:strVal val="visible"/>
                                      </p:to>
                                    </p:set>
                                    <p:animEffect transition="in" filter="wipe(left)">
                                      <p:cBhvr>
                                        <p:cTn id="27" dur="500"/>
                                        <p:tgtEl>
                                          <p:spTgt spid="4916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49163"/>
                                        </p:tgtEl>
                                        <p:attrNameLst>
                                          <p:attrName>style.visibility</p:attrName>
                                        </p:attrNameLst>
                                      </p:cBhvr>
                                      <p:to>
                                        <p:strVal val="visible"/>
                                      </p:to>
                                    </p:set>
                                    <p:animEffect transition="in" filter="wipe(left)">
                                      <p:cBhvr>
                                        <p:cTn id="30" dur="500"/>
                                        <p:tgtEl>
                                          <p:spTgt spid="49163"/>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49164"/>
                                        </p:tgtEl>
                                        <p:attrNameLst>
                                          <p:attrName>style.visibility</p:attrName>
                                        </p:attrNameLst>
                                      </p:cBhvr>
                                      <p:to>
                                        <p:strVal val="visible"/>
                                      </p:to>
                                    </p:set>
                                    <p:animEffect transition="in" filter="wipe(left)">
                                      <p:cBhvr>
                                        <p:cTn id="34" dur="500"/>
                                        <p:tgtEl>
                                          <p:spTgt spid="49164"/>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49165"/>
                                        </p:tgtEl>
                                        <p:attrNameLst>
                                          <p:attrName>style.visibility</p:attrName>
                                        </p:attrNameLst>
                                      </p:cBhvr>
                                      <p:to>
                                        <p:strVal val="visible"/>
                                      </p:to>
                                    </p:set>
                                    <p:animEffect transition="in" filter="wipe(left)">
                                      <p:cBhvr>
                                        <p:cTn id="38" dur="500"/>
                                        <p:tgtEl>
                                          <p:spTgt spid="49165"/>
                                        </p:tgtEl>
                                      </p:cBhvr>
                                    </p:animEffect>
                                  </p:childTnLst>
                                </p:cTn>
                              </p:par>
                            </p:childTnLst>
                          </p:cTn>
                        </p:par>
                        <p:par>
                          <p:cTn id="39" fill="hold">
                            <p:stCondLst>
                              <p:cond delay="1500"/>
                            </p:stCondLst>
                            <p:childTnLst>
                              <p:par>
                                <p:cTn id="40" presetID="2" presetClass="entr" presetSubtype="4" fill="hold" grpId="0" nodeType="afterEffect">
                                  <p:stCondLst>
                                    <p:cond delay="0"/>
                                  </p:stCondLst>
                                  <p:childTnLst>
                                    <p:set>
                                      <p:cBhvr>
                                        <p:cTn id="41" dur="1" fill="hold">
                                          <p:stCondLst>
                                            <p:cond delay="0"/>
                                          </p:stCondLst>
                                        </p:cTn>
                                        <p:tgtEl>
                                          <p:spTgt spid="49166"/>
                                        </p:tgtEl>
                                        <p:attrNameLst>
                                          <p:attrName>style.visibility</p:attrName>
                                        </p:attrNameLst>
                                      </p:cBhvr>
                                      <p:to>
                                        <p:strVal val="visible"/>
                                      </p:to>
                                    </p:set>
                                    <p:anim calcmode="lin" valueType="num">
                                      <p:cBhvr additive="base">
                                        <p:cTn id="42" dur="500" fill="hold"/>
                                        <p:tgtEl>
                                          <p:spTgt spid="49166"/>
                                        </p:tgtEl>
                                        <p:attrNameLst>
                                          <p:attrName>ppt_x</p:attrName>
                                        </p:attrNameLst>
                                      </p:cBhvr>
                                      <p:tavLst>
                                        <p:tav tm="0">
                                          <p:val>
                                            <p:strVal val="#ppt_x"/>
                                          </p:val>
                                        </p:tav>
                                        <p:tav tm="100000">
                                          <p:val>
                                            <p:strVal val="#ppt_x"/>
                                          </p:val>
                                        </p:tav>
                                      </p:tavLst>
                                    </p:anim>
                                    <p:anim calcmode="lin" valueType="num">
                                      <p:cBhvr additive="base">
                                        <p:cTn id="43" dur="500" fill="hold"/>
                                        <p:tgtEl>
                                          <p:spTgt spid="49166"/>
                                        </p:tgtEl>
                                        <p:attrNameLst>
                                          <p:attrName>ppt_y</p:attrName>
                                        </p:attrNameLst>
                                      </p:cBhvr>
                                      <p:tavLst>
                                        <p:tav tm="0">
                                          <p:val>
                                            <p:strVal val="1+#ppt_h/2"/>
                                          </p:val>
                                        </p:tav>
                                        <p:tav tm="100000">
                                          <p:val>
                                            <p:strVal val="#ppt_y"/>
                                          </p:val>
                                        </p:tav>
                                      </p:tavLst>
                                    </p:anim>
                                  </p:childTnLst>
                                </p:cTn>
                              </p:par>
                            </p:childTnLst>
                          </p:cTn>
                        </p:par>
                        <p:par>
                          <p:cTn id="44" fill="hold">
                            <p:stCondLst>
                              <p:cond delay="2000"/>
                            </p:stCondLst>
                            <p:childTnLst>
                              <p:par>
                                <p:cTn id="45" presetID="2" presetClass="entr" presetSubtype="4" fill="hold" grpId="0" nodeType="afterEffect">
                                  <p:stCondLst>
                                    <p:cond delay="0"/>
                                  </p:stCondLst>
                                  <p:childTnLst>
                                    <p:set>
                                      <p:cBhvr>
                                        <p:cTn id="46" dur="1" fill="hold">
                                          <p:stCondLst>
                                            <p:cond delay="0"/>
                                          </p:stCondLst>
                                        </p:cTn>
                                        <p:tgtEl>
                                          <p:spTgt spid="49167"/>
                                        </p:tgtEl>
                                        <p:attrNameLst>
                                          <p:attrName>style.visibility</p:attrName>
                                        </p:attrNameLst>
                                      </p:cBhvr>
                                      <p:to>
                                        <p:strVal val="visible"/>
                                      </p:to>
                                    </p:set>
                                    <p:anim calcmode="lin" valueType="num">
                                      <p:cBhvr additive="base">
                                        <p:cTn id="47" dur="500" fill="hold"/>
                                        <p:tgtEl>
                                          <p:spTgt spid="49167"/>
                                        </p:tgtEl>
                                        <p:attrNameLst>
                                          <p:attrName>ppt_x</p:attrName>
                                        </p:attrNameLst>
                                      </p:cBhvr>
                                      <p:tavLst>
                                        <p:tav tm="0">
                                          <p:val>
                                            <p:strVal val="#ppt_x"/>
                                          </p:val>
                                        </p:tav>
                                        <p:tav tm="100000">
                                          <p:val>
                                            <p:strVal val="#ppt_x"/>
                                          </p:val>
                                        </p:tav>
                                      </p:tavLst>
                                    </p:anim>
                                    <p:anim calcmode="lin" valueType="num">
                                      <p:cBhvr additive="base">
                                        <p:cTn id="48" dur="500" fill="hold"/>
                                        <p:tgtEl>
                                          <p:spTgt spid="491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p:bldP spid="49159" grpId="0"/>
      <p:bldP spid="49160" grpId="0" bldLvl="0" animBg="1"/>
      <p:bldP spid="49161" grpId="0"/>
      <p:bldP spid="49162" grpId="0"/>
      <p:bldP spid="49163" grpId="0"/>
      <p:bldP spid="49164" grpId="0"/>
      <p:bldP spid="49165" grpId="0"/>
      <p:bldP spid="49166" grpId="0"/>
      <p:bldP spid="4916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62"/>
          <p:cNvSpPr txBox="1"/>
          <p:nvPr/>
        </p:nvSpPr>
        <p:spPr>
          <a:xfrm>
            <a:off x="6081713" y="59420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7" name="Rectangle 2"/>
          <p:cNvSpPr>
            <a:spLocks noGrp="1" noChangeArrowheads="1"/>
          </p:cNvSpPr>
          <p:nvPr>
            <p:ph type="title"/>
          </p:nvPr>
        </p:nvSpPr>
        <p:spPr bwMode="auto">
          <a:xfrm>
            <a:off x="3857625" y="195263"/>
            <a:ext cx="4762500"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3.12-2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弹簧的材料和制造</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pic>
        <p:nvPicPr>
          <p:cNvPr id="29700" name="Picture 34" descr="rewind1">
            <a:hlinkClick r:id="rId1" action="ppaction://hlinksldjump"/>
          </p:cNvPr>
          <p:cNvPicPr>
            <a:picLocks noChangeAspect="1"/>
          </p:cNvPicPr>
          <p:nvPr/>
        </p:nvPicPr>
        <p:blipFill>
          <a:blip r:embed="rId2"/>
          <a:stretch>
            <a:fillRect/>
          </a:stretch>
        </p:blipFill>
        <p:spPr>
          <a:xfrm>
            <a:off x="8355013" y="6523038"/>
            <a:ext cx="287337" cy="287337"/>
          </a:xfrm>
          <a:prstGeom prst="rect">
            <a:avLst/>
          </a:prstGeom>
          <a:noFill/>
          <a:ln w="9525">
            <a:noFill/>
          </a:ln>
        </p:spPr>
      </p:pic>
      <p:pic>
        <p:nvPicPr>
          <p:cNvPr id="29701" name="Picture 35" descr="back1">
            <a:hlinkClick r:id="" action="ppaction://hlinkshowjump?jump=previousslide"/>
          </p:cNvPr>
          <p:cNvPicPr>
            <a:picLocks noChangeAspect="1"/>
          </p:cNvPicPr>
          <p:nvPr/>
        </p:nvPicPr>
        <p:blipFill>
          <a:blip r:embed="rId3"/>
          <a:stretch>
            <a:fillRect/>
          </a:stretch>
        </p:blipFill>
        <p:spPr>
          <a:xfrm>
            <a:off x="8763000" y="6523038"/>
            <a:ext cx="287338" cy="287337"/>
          </a:xfrm>
          <a:prstGeom prst="rect">
            <a:avLst/>
          </a:prstGeom>
          <a:noFill/>
          <a:ln w="9525">
            <a:noFill/>
          </a:ln>
        </p:spPr>
      </p:pic>
      <p:sp>
        <p:nvSpPr>
          <p:cNvPr id="29702" name="标题 126977"/>
          <p:cNvSpPr>
            <a:spLocks noGrp="1"/>
          </p:cNvSpPr>
          <p:nvPr/>
        </p:nvSpPr>
        <p:spPr>
          <a:xfrm>
            <a:off x="6553200" y="666750"/>
            <a:ext cx="1905000" cy="266700"/>
          </a:xfrm>
          <a:prstGeom prst="rect">
            <a:avLst/>
          </a:prstGeom>
          <a:noFill/>
          <a:ln w="9525">
            <a:noFill/>
          </a:ln>
        </p:spPr>
        <p:txBody>
          <a:bodyPr/>
          <a:lstStyle/>
          <a:p>
            <a:r>
              <a:rPr lang="zh-CN" altLang="en-US" sz="700" dirty="0">
                <a:solidFill>
                  <a:schemeClr val="bg1"/>
                </a:solidFill>
                <a:latin typeface="华文中宋" panose="02010600040101010101" pitchFamily="2" charset="-122"/>
              </a:rPr>
              <a:t>圆柱螺旋弹簧的结构制造材料</a:t>
            </a:r>
            <a:r>
              <a:rPr lang="en-US" altLang="zh-CN" sz="700" dirty="0">
                <a:solidFill>
                  <a:schemeClr val="bg1"/>
                </a:solidFill>
                <a:latin typeface="华文中宋" panose="02010600040101010101" pitchFamily="2" charset="-122"/>
              </a:rPr>
              <a:t>2</a:t>
            </a:r>
            <a:endParaRPr lang="en-US" altLang="zh-CN" sz="700" dirty="0">
              <a:solidFill>
                <a:schemeClr val="bg1"/>
              </a:solidFill>
              <a:latin typeface="华文中宋" panose="02010600040101010101" pitchFamily="2" charset="-122"/>
            </a:endParaRPr>
          </a:p>
        </p:txBody>
      </p:sp>
      <p:sp>
        <p:nvSpPr>
          <p:cNvPr id="50183" name="文本框 34823"/>
          <p:cNvSpPr txBox="1"/>
          <p:nvPr/>
        </p:nvSpPr>
        <p:spPr>
          <a:xfrm>
            <a:off x="146050" y="933450"/>
            <a:ext cx="3744913" cy="430887"/>
          </a:xfrm>
          <a:prstGeom prst="rect">
            <a:avLst/>
          </a:prstGeom>
          <a:noFill/>
          <a:ln w="9525">
            <a:noFill/>
          </a:ln>
        </p:spPr>
        <p:txBody>
          <a:bodyPr>
            <a:spAutoFit/>
          </a:bodyPr>
          <a:lstStyle/>
          <a:p>
            <a:r>
              <a:rPr lang="zh-CN" altLang="en-US" dirty="0">
                <a:solidFill>
                  <a:srgbClr val="C00000"/>
                </a:solidFill>
                <a:latin typeface="黑体" panose="02010609060101010101" pitchFamily="49" charset="-122"/>
                <a:ea typeface="黑体" panose="02010609060101010101" pitchFamily="49" charset="-122"/>
              </a:rPr>
              <a:t>二、弹簧的制造</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50184" name="文本框 34857"/>
          <p:cNvSpPr txBox="1"/>
          <p:nvPr/>
        </p:nvSpPr>
        <p:spPr>
          <a:xfrm>
            <a:off x="2915920" y="1341120"/>
            <a:ext cx="5850890" cy="2461260"/>
          </a:xfrm>
          <a:prstGeom prst="rect">
            <a:avLst/>
          </a:prstGeom>
          <a:noFill/>
          <a:ln w="9525">
            <a:noFill/>
          </a:ln>
        </p:spPr>
        <p:txBody>
          <a:bodyPr wrap="square">
            <a:spAutoFit/>
          </a:bodyPr>
          <a:lstStyle/>
          <a:p>
            <a:pPr algn="ctr"/>
            <a:r>
              <a:rPr lang="zh-CN" altLang="en-US" dirty="0">
                <a:solidFill>
                  <a:srgbClr val="000099"/>
                </a:solidFill>
                <a:latin typeface="华文中宋" panose="02010600040101010101" pitchFamily="2" charset="-122"/>
              </a:rPr>
              <a:t>弹簧丝的卷制成形</a:t>
            </a:r>
            <a:endParaRPr lang="en-US" altLang="zh-CN" dirty="0">
              <a:solidFill>
                <a:srgbClr val="000099"/>
              </a:solidFill>
              <a:latin typeface="华文中宋" panose="02010600040101010101" pitchFamily="2" charset="-122"/>
            </a:endParaRPr>
          </a:p>
          <a:p>
            <a:pPr algn="ctr"/>
            <a:r>
              <a:rPr lang="en-US" altLang="zh-CN" dirty="0">
                <a:solidFill>
                  <a:srgbClr val="000099"/>
                </a:solidFill>
                <a:latin typeface="华文中宋" panose="02010600040101010101" pitchFamily="2" charset="-122"/>
              </a:rPr>
              <a:t>↓</a:t>
            </a:r>
            <a:endParaRPr lang="en-US" altLang="zh-CN" dirty="0">
              <a:solidFill>
                <a:srgbClr val="000099"/>
              </a:solidFill>
              <a:latin typeface="华文中宋" panose="02010600040101010101" pitchFamily="2" charset="-122"/>
            </a:endParaRPr>
          </a:p>
          <a:p>
            <a:pPr algn="ctr"/>
            <a:r>
              <a:rPr lang="zh-CN" altLang="en-US" dirty="0">
                <a:solidFill>
                  <a:srgbClr val="000099"/>
                </a:solidFill>
                <a:latin typeface="华文中宋" panose="02010600040101010101" pitchFamily="2" charset="-122"/>
              </a:rPr>
              <a:t>挂钩的制作或端面圈的精加工</a:t>
            </a:r>
            <a:endParaRPr lang="zh-CN" altLang="en-US" dirty="0">
              <a:solidFill>
                <a:srgbClr val="000099"/>
              </a:solidFill>
              <a:latin typeface="华文中宋" panose="02010600040101010101" pitchFamily="2" charset="-122"/>
            </a:endParaRPr>
          </a:p>
          <a:p>
            <a:pPr algn="ctr"/>
            <a:r>
              <a:rPr lang="en-US" altLang="zh-CN" dirty="0">
                <a:solidFill>
                  <a:srgbClr val="000099"/>
                </a:solidFill>
                <a:latin typeface="华文中宋" panose="02010600040101010101" pitchFamily="2" charset="-122"/>
              </a:rPr>
              <a:t>↓</a:t>
            </a:r>
            <a:endParaRPr lang="en-US" altLang="zh-CN" dirty="0">
              <a:solidFill>
                <a:srgbClr val="000099"/>
              </a:solidFill>
              <a:latin typeface="华文中宋" panose="02010600040101010101" pitchFamily="2" charset="-122"/>
            </a:endParaRPr>
          </a:p>
          <a:p>
            <a:pPr algn="ctr"/>
            <a:r>
              <a:rPr lang="zh-CN" altLang="en-US" dirty="0">
                <a:solidFill>
                  <a:srgbClr val="000099"/>
                </a:solidFill>
                <a:latin typeface="华文中宋" panose="02010600040101010101" pitchFamily="2" charset="-122"/>
              </a:rPr>
              <a:t>热处理</a:t>
            </a:r>
            <a:endParaRPr lang="zh-CN" altLang="en-US" dirty="0">
              <a:solidFill>
                <a:srgbClr val="000099"/>
              </a:solidFill>
              <a:latin typeface="华文中宋" panose="02010600040101010101" pitchFamily="2" charset="-122"/>
            </a:endParaRPr>
          </a:p>
          <a:p>
            <a:pPr algn="ctr"/>
            <a:r>
              <a:rPr lang="en-US" altLang="zh-CN" dirty="0">
                <a:solidFill>
                  <a:srgbClr val="000099"/>
                </a:solidFill>
                <a:latin typeface="华文中宋" panose="02010600040101010101" pitchFamily="2" charset="-122"/>
              </a:rPr>
              <a:t>↓</a:t>
            </a:r>
            <a:endParaRPr lang="en-US" altLang="zh-CN" dirty="0">
              <a:solidFill>
                <a:srgbClr val="000099"/>
              </a:solidFill>
              <a:latin typeface="华文中宋" panose="02010600040101010101" pitchFamily="2" charset="-122"/>
            </a:endParaRPr>
          </a:p>
          <a:p>
            <a:pPr algn="ctr"/>
            <a:r>
              <a:rPr lang="zh-CN" altLang="en-US" dirty="0">
                <a:solidFill>
                  <a:srgbClr val="000099"/>
                </a:solidFill>
                <a:latin typeface="华文中宋" panose="02010600040101010101" pitchFamily="2" charset="-122"/>
              </a:rPr>
              <a:t>工艺试验及强压处理。 </a:t>
            </a:r>
            <a:endParaRPr lang="zh-CN" altLang="en-US" dirty="0">
              <a:solidFill>
                <a:srgbClr val="000099"/>
              </a:solidFill>
              <a:latin typeface="华文中宋" panose="02010600040101010101" pitchFamily="2" charset="-122"/>
            </a:endParaRPr>
          </a:p>
        </p:txBody>
      </p:sp>
      <p:sp>
        <p:nvSpPr>
          <p:cNvPr id="50185" name="文本框 34858"/>
          <p:cNvSpPr txBox="1"/>
          <p:nvPr/>
        </p:nvSpPr>
        <p:spPr>
          <a:xfrm>
            <a:off x="683568" y="1556792"/>
            <a:ext cx="3230563" cy="400050"/>
          </a:xfrm>
          <a:prstGeom prst="rect">
            <a:avLst/>
          </a:prstGeom>
          <a:noFill/>
          <a:ln w="9525">
            <a:noFill/>
          </a:ln>
        </p:spPr>
        <p:txBody>
          <a:bodyPr wrap="none">
            <a:spAutoFit/>
          </a:bodyPr>
          <a:lstStyle/>
          <a:p>
            <a:r>
              <a:rPr lang="zh-CN" altLang="en-US" sz="2000" dirty="0">
                <a:solidFill>
                  <a:srgbClr val="000099"/>
                </a:solidFill>
                <a:latin typeface="华文中宋" panose="02010600040101010101" pitchFamily="2" charset="-122"/>
              </a:rPr>
              <a:t>螺旋弹簧的制造工艺包括：</a:t>
            </a:r>
            <a:endParaRPr lang="zh-CN" altLang="en-US" sz="2000" dirty="0">
              <a:solidFill>
                <a:srgbClr val="000099"/>
              </a:solidFill>
              <a:latin typeface="华文中宋" panose="02010600040101010101" pitchFamily="2" charset="-122"/>
            </a:endParaRPr>
          </a:p>
        </p:txBody>
      </p:sp>
      <p:sp>
        <p:nvSpPr>
          <p:cNvPr id="50186" name="文本框 99"/>
          <p:cNvSpPr txBox="1"/>
          <p:nvPr/>
        </p:nvSpPr>
        <p:spPr>
          <a:xfrm>
            <a:off x="612140" y="4653280"/>
            <a:ext cx="6647180" cy="1614805"/>
          </a:xfrm>
          <a:prstGeom prst="rect">
            <a:avLst/>
          </a:prstGeom>
          <a:noFill/>
          <a:ln w="9525">
            <a:noFill/>
          </a:ln>
        </p:spPr>
        <p:txBody>
          <a:bodyPr wrap="square">
            <a:spAutoFit/>
          </a:bodyPr>
          <a:lstStyle/>
          <a:p>
            <a:pPr>
              <a:lnSpc>
                <a:spcPct val="150000"/>
              </a:lnSpc>
            </a:pPr>
            <a:r>
              <a:rPr lang="zh-CN" altLang="en-US" sz="2000" dirty="0">
                <a:solidFill>
                  <a:srgbClr val="000099"/>
                </a:solidFill>
                <a:latin typeface="宋体" panose="02010600030101010101" pitchFamily="2" charset="-122"/>
              </a:rPr>
              <a:t>    </a:t>
            </a:r>
            <a:r>
              <a:rPr lang="zh-CN" altLang="en-US" dirty="0">
                <a:solidFill>
                  <a:srgbClr val="000099"/>
                </a:solidFill>
                <a:latin typeface="宋体" panose="02010600030101010101" pitchFamily="2" charset="-122"/>
              </a:rPr>
              <a:t>弹簧的</a:t>
            </a:r>
            <a:r>
              <a:rPr lang="zh-CN" altLang="en-US" dirty="0">
                <a:solidFill>
                  <a:srgbClr val="FF0000"/>
                </a:solidFill>
                <a:latin typeface="宋体" panose="02010600030101010101" pitchFamily="2" charset="-122"/>
              </a:rPr>
              <a:t>卷制方法</a:t>
            </a:r>
            <a:r>
              <a:rPr lang="zh-CN" altLang="en-US" dirty="0">
                <a:solidFill>
                  <a:srgbClr val="000099"/>
                </a:solidFill>
                <a:latin typeface="宋体" panose="02010600030101010101" pitchFamily="2" charset="-122"/>
              </a:rPr>
              <a:t>有</a:t>
            </a:r>
            <a:r>
              <a:rPr lang="zh-CN" altLang="en-US" dirty="0">
                <a:solidFill>
                  <a:srgbClr val="FF0000"/>
                </a:solidFill>
                <a:latin typeface="宋体" panose="02010600030101010101" pitchFamily="2" charset="-122"/>
              </a:rPr>
              <a:t>冷卷法</a:t>
            </a:r>
            <a:r>
              <a:rPr lang="zh-CN" altLang="en-US" dirty="0">
                <a:solidFill>
                  <a:srgbClr val="000099"/>
                </a:solidFill>
                <a:latin typeface="宋体" panose="02010600030101010101" pitchFamily="2" charset="-122"/>
              </a:rPr>
              <a:t>和</a:t>
            </a:r>
            <a:r>
              <a:rPr lang="zh-CN" altLang="en-US" dirty="0">
                <a:solidFill>
                  <a:srgbClr val="FF0000"/>
                </a:solidFill>
                <a:latin typeface="宋体" panose="02010600030101010101" pitchFamily="2" charset="-122"/>
              </a:rPr>
              <a:t>热卷法</a:t>
            </a:r>
            <a:r>
              <a:rPr lang="zh-CN" altLang="en-US" dirty="0">
                <a:solidFill>
                  <a:srgbClr val="000099"/>
                </a:solidFill>
                <a:latin typeface="宋体" panose="02010600030101010101" pitchFamily="2" charset="-122"/>
              </a:rPr>
              <a:t>两种：</a:t>
            </a:r>
            <a:endParaRPr lang="zh-CN" altLang="en-US" dirty="0">
              <a:solidFill>
                <a:srgbClr val="000099"/>
              </a:solidFill>
              <a:latin typeface="宋体" panose="02010600030101010101" pitchFamily="2" charset="-122"/>
            </a:endParaRPr>
          </a:p>
          <a:p>
            <a:pPr>
              <a:lnSpc>
                <a:spcPct val="150000"/>
              </a:lnSpc>
            </a:pPr>
            <a:r>
              <a:rPr lang="en-US" altLang="zh-CN" dirty="0">
                <a:solidFill>
                  <a:srgbClr val="000099"/>
                </a:solidFill>
                <a:latin typeface="宋体" panose="02010600030101010101" pitchFamily="2" charset="-122"/>
              </a:rPr>
              <a:t>     </a:t>
            </a:r>
            <a:r>
              <a:rPr lang="zh-CN" altLang="en-US" dirty="0">
                <a:solidFill>
                  <a:srgbClr val="000099"/>
                </a:solidFill>
                <a:latin typeface="宋体" panose="02010600030101010101" pitchFamily="2" charset="-122"/>
              </a:rPr>
              <a:t>弹簧丝直径在8～10mm以下的用</a:t>
            </a:r>
            <a:r>
              <a:rPr lang="zh-CN" altLang="en-US" dirty="0">
                <a:solidFill>
                  <a:srgbClr val="FF0000"/>
                </a:solidFill>
                <a:latin typeface="宋体" panose="02010600030101010101" pitchFamily="2" charset="-122"/>
              </a:rPr>
              <a:t>冷卷法</a:t>
            </a:r>
            <a:r>
              <a:rPr lang="zh-CN" altLang="en-US" dirty="0">
                <a:solidFill>
                  <a:srgbClr val="000099"/>
                </a:solidFill>
                <a:latin typeface="宋体" panose="02010600030101010101" pitchFamily="2" charset="-122"/>
              </a:rPr>
              <a:t>，</a:t>
            </a:r>
            <a:endParaRPr lang="zh-CN" altLang="en-US" dirty="0">
              <a:solidFill>
                <a:srgbClr val="000099"/>
              </a:solidFill>
              <a:latin typeface="宋体" panose="02010600030101010101" pitchFamily="2" charset="-122"/>
            </a:endParaRPr>
          </a:p>
          <a:p>
            <a:pPr>
              <a:lnSpc>
                <a:spcPct val="150000"/>
              </a:lnSpc>
            </a:pPr>
            <a:r>
              <a:rPr lang="en-US" altLang="zh-CN" dirty="0">
                <a:solidFill>
                  <a:srgbClr val="000099"/>
                </a:solidFill>
                <a:latin typeface="宋体" panose="02010600030101010101" pitchFamily="2" charset="-122"/>
              </a:rPr>
              <a:t>     </a:t>
            </a:r>
            <a:r>
              <a:rPr lang="zh-CN" altLang="en-US" dirty="0">
                <a:solidFill>
                  <a:srgbClr val="000099"/>
                </a:solidFill>
                <a:latin typeface="宋体" panose="02010600030101010101" pitchFamily="2" charset="-122"/>
              </a:rPr>
              <a:t>制造直径较大的强力弹簧时常用</a:t>
            </a:r>
            <a:r>
              <a:rPr lang="zh-CN" altLang="en-US" dirty="0">
                <a:solidFill>
                  <a:srgbClr val="FF0000"/>
                </a:solidFill>
                <a:latin typeface="宋体" panose="02010600030101010101" pitchFamily="2" charset="-122"/>
              </a:rPr>
              <a:t>热卷法</a:t>
            </a:r>
            <a:r>
              <a:rPr lang="zh-CN" altLang="en-US" dirty="0">
                <a:solidFill>
                  <a:srgbClr val="000099"/>
                </a:solidFill>
                <a:latin typeface="宋体" panose="02010600030101010101" pitchFamily="2" charset="-122"/>
              </a:rPr>
              <a:t>。</a:t>
            </a:r>
            <a:endParaRPr lang="zh-CN" altLang="en-US" dirty="0">
              <a:solidFill>
                <a:srgbClr val="000099"/>
              </a:solidFill>
              <a:latin typeface="宋体" panose="02010600030101010101" pitchFamily="2" charset="-122"/>
            </a:endParaRPr>
          </a:p>
        </p:txBody>
      </p:sp>
      <p:sp>
        <p:nvSpPr>
          <p:cNvPr id="29707"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3" name="矩形标注 2"/>
          <p:cNvSpPr/>
          <p:nvPr/>
        </p:nvSpPr>
        <p:spPr>
          <a:xfrm>
            <a:off x="3420110" y="4293235"/>
            <a:ext cx="718185" cy="360045"/>
          </a:xfrm>
          <a:prstGeom prst="wedgeRectCallout">
            <a:avLst>
              <a:gd name="adj1" fmla="val -3050"/>
              <a:gd name="adj2" fmla="val 125837"/>
            </a:avLst>
          </a:prstGeom>
          <a:noFill/>
          <a:ln w="9525" cap="flat" cmpd="sng" algn="ctr">
            <a:solidFill>
              <a:srgbClr val="C00000"/>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退火</a:t>
            </a:r>
            <a:endParaRPr kumimoji="1" lang="zh-CN" altLang="en-US" sz="20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p:txBody>
      </p:sp>
      <p:sp>
        <p:nvSpPr>
          <p:cNvPr id="4" name="矩形标注 3"/>
          <p:cNvSpPr/>
          <p:nvPr/>
        </p:nvSpPr>
        <p:spPr>
          <a:xfrm>
            <a:off x="4500245" y="4293235"/>
            <a:ext cx="1524635" cy="360045"/>
          </a:xfrm>
          <a:prstGeom prst="wedgeRectCallout">
            <a:avLst>
              <a:gd name="adj1" fmla="val -25389"/>
              <a:gd name="adj2" fmla="val 115784"/>
            </a:avLst>
          </a:prstGeom>
          <a:noFill/>
          <a:ln w="9525" cap="flat" cmpd="sng" algn="ctr">
            <a:solidFill>
              <a:srgbClr val="C00000"/>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rPr>
              <a:t>淬火回火</a:t>
            </a:r>
            <a:endParaRPr kumimoji="1" lang="zh-CN" altLang="en-US" sz="2000" b="0" i="0" u="none" strike="noStrike" cap="none" normalizeH="0" baseline="0" smtClean="0">
              <a:ln>
                <a:noFill/>
              </a:ln>
              <a:solidFill>
                <a:schemeClr val="tx1"/>
              </a:solidFill>
              <a:effectLst/>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0183"/>
                                        </p:tgtEl>
                                        <p:attrNameLst>
                                          <p:attrName>style.visibility</p:attrName>
                                        </p:attrNameLst>
                                      </p:cBhvr>
                                      <p:to>
                                        <p:strVal val="visible"/>
                                      </p:to>
                                    </p:set>
                                    <p:anim calcmode="lin" valueType="num">
                                      <p:cBhvr additive="base">
                                        <p:cTn id="7" dur="500" fill="hold"/>
                                        <p:tgtEl>
                                          <p:spTgt spid="50183"/>
                                        </p:tgtEl>
                                        <p:attrNameLst>
                                          <p:attrName>ppt_x</p:attrName>
                                        </p:attrNameLst>
                                      </p:cBhvr>
                                      <p:tavLst>
                                        <p:tav tm="0">
                                          <p:val>
                                            <p:strVal val="#ppt_x"/>
                                          </p:val>
                                        </p:tav>
                                        <p:tav tm="100000">
                                          <p:val>
                                            <p:strVal val="#ppt_x"/>
                                          </p:val>
                                        </p:tav>
                                      </p:tavLst>
                                    </p:anim>
                                    <p:anim calcmode="lin" valueType="num">
                                      <p:cBhvr additive="base">
                                        <p:cTn id="8" dur="500" fill="hold"/>
                                        <p:tgtEl>
                                          <p:spTgt spid="5018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85"/>
                                        </p:tgtEl>
                                        <p:attrNameLst>
                                          <p:attrName>style.visibility</p:attrName>
                                        </p:attrNameLst>
                                      </p:cBhvr>
                                      <p:to>
                                        <p:strVal val="visible"/>
                                      </p:to>
                                    </p:set>
                                    <p:anim calcmode="lin" valueType="num">
                                      <p:cBhvr additive="base">
                                        <p:cTn id="13" dur="500" fill="hold"/>
                                        <p:tgtEl>
                                          <p:spTgt spid="50185"/>
                                        </p:tgtEl>
                                        <p:attrNameLst>
                                          <p:attrName>ppt_x</p:attrName>
                                        </p:attrNameLst>
                                      </p:cBhvr>
                                      <p:tavLst>
                                        <p:tav tm="0">
                                          <p:val>
                                            <p:strVal val="#ppt_x"/>
                                          </p:val>
                                        </p:tav>
                                        <p:tav tm="100000">
                                          <p:val>
                                            <p:strVal val="#ppt_x"/>
                                          </p:val>
                                        </p:tav>
                                      </p:tavLst>
                                    </p:anim>
                                    <p:anim calcmode="lin" valueType="num">
                                      <p:cBhvr additive="base">
                                        <p:cTn id="14" dur="500" fill="hold"/>
                                        <p:tgtEl>
                                          <p:spTgt spid="5018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50184">
                                            <p:txEl>
                                              <p:pRg st="0" end="0"/>
                                            </p:txEl>
                                          </p:spTgt>
                                        </p:tgtEl>
                                        <p:attrNameLst>
                                          <p:attrName>style.visibility</p:attrName>
                                        </p:attrNameLst>
                                      </p:cBhvr>
                                      <p:to>
                                        <p:strVal val="visible"/>
                                      </p:to>
                                    </p:set>
                                    <p:animEffect transition="in" filter="wipe(left)">
                                      <p:cBhvr>
                                        <p:cTn id="19" dur="500"/>
                                        <p:tgtEl>
                                          <p:spTgt spid="50184">
                                            <p:txEl>
                                              <p:pRg st="0" end="0"/>
                                            </p:txEl>
                                          </p:spTgt>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50184">
                                            <p:txEl>
                                              <p:pRg st="1" end="1"/>
                                            </p:txEl>
                                          </p:spTgt>
                                        </p:tgtEl>
                                        <p:attrNameLst>
                                          <p:attrName>style.visibility</p:attrName>
                                        </p:attrNameLst>
                                      </p:cBhvr>
                                      <p:to>
                                        <p:strVal val="visible"/>
                                      </p:to>
                                    </p:set>
                                    <p:animEffect transition="in" filter="wipe(up)">
                                      <p:cBhvr>
                                        <p:cTn id="23" dur="500"/>
                                        <p:tgtEl>
                                          <p:spTgt spid="50184">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0184">
                                            <p:txEl>
                                              <p:pRg st="2" end="2"/>
                                            </p:txEl>
                                          </p:spTgt>
                                        </p:tgtEl>
                                        <p:attrNameLst>
                                          <p:attrName>style.visibility</p:attrName>
                                        </p:attrNameLst>
                                      </p:cBhvr>
                                      <p:to>
                                        <p:strVal val="visible"/>
                                      </p:to>
                                    </p:set>
                                    <p:animEffect transition="in" filter="wipe(left)">
                                      <p:cBhvr>
                                        <p:cTn id="28" dur="500"/>
                                        <p:tgtEl>
                                          <p:spTgt spid="50184">
                                            <p:txEl>
                                              <p:pRg st="2" end="2"/>
                                            </p:txEl>
                                          </p:spTgt>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50184">
                                            <p:txEl>
                                              <p:pRg st="3" end="3"/>
                                            </p:txEl>
                                          </p:spTgt>
                                        </p:tgtEl>
                                        <p:attrNameLst>
                                          <p:attrName>style.visibility</p:attrName>
                                        </p:attrNameLst>
                                      </p:cBhvr>
                                      <p:to>
                                        <p:strVal val="visible"/>
                                      </p:to>
                                    </p:set>
                                    <p:animEffect transition="in" filter="wipe(up)">
                                      <p:cBhvr>
                                        <p:cTn id="32" dur="500"/>
                                        <p:tgtEl>
                                          <p:spTgt spid="5018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0184">
                                            <p:txEl>
                                              <p:pRg st="4" end="4"/>
                                            </p:txEl>
                                          </p:spTgt>
                                        </p:tgtEl>
                                        <p:attrNameLst>
                                          <p:attrName>style.visibility</p:attrName>
                                        </p:attrNameLst>
                                      </p:cBhvr>
                                      <p:to>
                                        <p:strVal val="visible"/>
                                      </p:to>
                                    </p:set>
                                    <p:animEffect transition="in" filter="wipe(left)">
                                      <p:cBhvr>
                                        <p:cTn id="37" dur="500"/>
                                        <p:tgtEl>
                                          <p:spTgt spid="50184">
                                            <p:txEl>
                                              <p:pRg st="4" end="4"/>
                                            </p:txEl>
                                          </p:spTgt>
                                        </p:tgtEl>
                                      </p:cBhvr>
                                    </p:animEffect>
                                  </p:childTnLst>
                                </p:cTn>
                              </p:par>
                            </p:childTnLst>
                          </p:cTn>
                        </p:par>
                        <p:par>
                          <p:cTn id="38" fill="hold">
                            <p:stCondLst>
                              <p:cond delay="500"/>
                            </p:stCondLst>
                            <p:childTnLst>
                              <p:par>
                                <p:cTn id="39" presetID="22" presetClass="entr" presetSubtype="1" fill="hold" nodeType="afterEffect">
                                  <p:stCondLst>
                                    <p:cond delay="0"/>
                                  </p:stCondLst>
                                  <p:childTnLst>
                                    <p:set>
                                      <p:cBhvr>
                                        <p:cTn id="40" dur="1" fill="hold">
                                          <p:stCondLst>
                                            <p:cond delay="0"/>
                                          </p:stCondLst>
                                        </p:cTn>
                                        <p:tgtEl>
                                          <p:spTgt spid="50184">
                                            <p:txEl>
                                              <p:pRg st="5" end="5"/>
                                            </p:txEl>
                                          </p:spTgt>
                                        </p:tgtEl>
                                        <p:attrNameLst>
                                          <p:attrName>style.visibility</p:attrName>
                                        </p:attrNameLst>
                                      </p:cBhvr>
                                      <p:to>
                                        <p:strVal val="visible"/>
                                      </p:to>
                                    </p:set>
                                    <p:animEffect transition="in" filter="wipe(up)">
                                      <p:cBhvr>
                                        <p:cTn id="41" dur="500"/>
                                        <p:tgtEl>
                                          <p:spTgt spid="50184">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50184">
                                            <p:txEl>
                                              <p:pRg st="6" end="6"/>
                                            </p:txEl>
                                          </p:spTgt>
                                        </p:tgtEl>
                                        <p:attrNameLst>
                                          <p:attrName>style.visibility</p:attrName>
                                        </p:attrNameLst>
                                      </p:cBhvr>
                                      <p:to>
                                        <p:strVal val="visible"/>
                                      </p:to>
                                    </p:set>
                                    <p:animEffect transition="in" filter="wipe(up)">
                                      <p:cBhvr>
                                        <p:cTn id="46" dur="500"/>
                                        <p:tgtEl>
                                          <p:spTgt spid="50184">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0186">
                                            <p:txEl>
                                              <p:pRg st="0" end="0"/>
                                            </p:txEl>
                                          </p:spTgt>
                                        </p:tgtEl>
                                        <p:attrNameLst>
                                          <p:attrName>style.visibility</p:attrName>
                                        </p:attrNameLst>
                                      </p:cBhvr>
                                      <p:to>
                                        <p:strVal val="visible"/>
                                      </p:to>
                                    </p:set>
                                    <p:animEffect transition="in" filter="wipe(left)">
                                      <p:cBhvr>
                                        <p:cTn id="51" dur="500"/>
                                        <p:tgtEl>
                                          <p:spTgt spid="5018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0186">
                                            <p:txEl>
                                              <p:pRg st="1" end="1"/>
                                            </p:txEl>
                                          </p:spTgt>
                                        </p:tgtEl>
                                        <p:attrNameLst>
                                          <p:attrName>style.visibility</p:attrName>
                                        </p:attrNameLst>
                                      </p:cBhvr>
                                      <p:to>
                                        <p:strVal val="visible"/>
                                      </p:to>
                                    </p:set>
                                    <p:animEffect transition="in" filter="wipe(left)">
                                      <p:cBhvr>
                                        <p:cTn id="56" dur="500"/>
                                        <p:tgtEl>
                                          <p:spTgt spid="50186">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50186">
                                            <p:txEl>
                                              <p:pRg st="2" end="2"/>
                                            </p:txEl>
                                          </p:spTgt>
                                        </p:tgtEl>
                                        <p:attrNameLst>
                                          <p:attrName>style.visibility</p:attrName>
                                        </p:attrNameLst>
                                      </p:cBhvr>
                                      <p:to>
                                        <p:strVal val="visible"/>
                                      </p:to>
                                    </p:set>
                                    <p:animEffect transition="in" filter="wipe(left)">
                                      <p:cBhvr>
                                        <p:cTn id="61" dur="500"/>
                                        <p:tgtEl>
                                          <p:spTgt spid="50186">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wipe(down)">
                                      <p:cBhvr>
                                        <p:cTn id="66" dur="500"/>
                                        <p:tgtEl>
                                          <p:spTgt spid="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wipe(down)">
                                      <p:cBhvr>
                                        <p:cTn id="7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p:bldP spid="50185" grpId="0"/>
      <p:bldP spid="3" grpId="0" bldLvl="0" animBg="1"/>
      <p:bldP spid="4"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0946" name="Text Box 2"/>
          <p:cNvSpPr txBox="1">
            <a:spLocks noChangeArrowheads="1"/>
          </p:cNvSpPr>
          <p:nvPr/>
        </p:nvSpPr>
        <p:spPr bwMode="auto">
          <a:xfrm>
            <a:off x="251649" y="980728"/>
            <a:ext cx="8843963" cy="531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10000"/>
              </a:lnSpc>
              <a:spcAft>
                <a:spcPct val="10000"/>
              </a:spcAft>
            </a:pPr>
            <a:r>
              <a:rPr kumimoji="1" lang="zh-CN" altLang="en-US" dirty="0" smtClean="0">
                <a:solidFill>
                  <a:srgbClr val="C00000"/>
                </a:solidFill>
                <a:latin typeface="黑体" panose="02010609060101010101" pitchFamily="49" charset="-122"/>
                <a:ea typeface="黑体" panose="02010609060101010101" pitchFamily="49" charset="-122"/>
              </a:rPr>
              <a:t>三、弹簧</a:t>
            </a:r>
            <a:r>
              <a:rPr kumimoji="1" lang="zh-CN" altLang="en-US" dirty="0">
                <a:solidFill>
                  <a:srgbClr val="C00000"/>
                </a:solidFill>
                <a:latin typeface="黑体" panose="02010609060101010101" pitchFamily="49" charset="-122"/>
                <a:ea typeface="黑体" panose="02010609060101010101" pitchFamily="49" charset="-122"/>
              </a:rPr>
              <a:t>的许用应力 </a:t>
            </a:r>
            <a:endParaRPr kumimoji="1" lang="zh-CN" altLang="en-US" dirty="0">
              <a:solidFill>
                <a:srgbClr val="C00000"/>
              </a:solidFill>
              <a:latin typeface="黑体" panose="02010609060101010101" pitchFamily="49" charset="-122"/>
              <a:ea typeface="黑体" panose="02010609060101010101" pitchFamily="49" charset="-122"/>
            </a:endParaRPr>
          </a:p>
          <a:p>
            <a:pPr algn="just" eaLnBrk="1" hangingPunct="1">
              <a:lnSpc>
                <a:spcPct val="120000"/>
              </a:lnSpc>
              <a:spcAft>
                <a:spcPct val="10000"/>
              </a:spcAft>
            </a:pPr>
            <a:r>
              <a:rPr kumimoji="1" lang="zh-CN" altLang="en-US" b="1" dirty="0">
                <a:ea typeface="宋体" panose="02010600030101010101" pitchFamily="2" charset="-122"/>
              </a:rPr>
              <a:t>        </a:t>
            </a:r>
            <a:r>
              <a:rPr kumimoji="1" lang="zh-CN" altLang="en-US" dirty="0">
                <a:solidFill>
                  <a:srgbClr val="002060"/>
                </a:solidFill>
                <a:latin typeface="黑体" panose="02010609060101010101" pitchFamily="49" charset="-122"/>
                <a:ea typeface="黑体" panose="02010609060101010101" pitchFamily="49" charset="-122"/>
              </a:rPr>
              <a:t>影响弹簧许用应力的因素很多，除了材料种类外，还有材料质量、热处理方法、载荷性质、工作条件、重要程度以及弹簧丝的直径等，都是确定许用应力时应该考虑的因素。</a:t>
            </a:r>
            <a:endParaRPr kumimoji="1" lang="zh-CN" altLang="en-US" dirty="0">
              <a:solidFill>
                <a:srgbClr val="002060"/>
              </a:solidFill>
              <a:latin typeface="黑体" panose="02010609060101010101" pitchFamily="49" charset="-122"/>
              <a:ea typeface="黑体" panose="02010609060101010101" pitchFamily="49" charset="-122"/>
            </a:endParaRPr>
          </a:p>
          <a:p>
            <a:pPr algn="just" eaLnBrk="1" hangingPunct="1">
              <a:lnSpc>
                <a:spcPct val="120000"/>
              </a:lnSpc>
              <a:spcBef>
                <a:spcPct val="10000"/>
              </a:spcBef>
              <a:spcAft>
                <a:spcPct val="10000"/>
              </a:spcAft>
            </a:pPr>
            <a:r>
              <a:rPr kumimoji="1" lang="zh-CN" altLang="en-US" b="1" dirty="0">
                <a:solidFill>
                  <a:srgbClr val="0000FF"/>
                </a:solidFill>
                <a:ea typeface="宋体" panose="02010600030101010101" pitchFamily="2" charset="-122"/>
              </a:rPr>
              <a:t>        通常，</a:t>
            </a:r>
            <a:r>
              <a:rPr kumimoji="1" lang="zh-CN" altLang="en-US" b="1" dirty="0">
                <a:solidFill>
                  <a:srgbClr val="A50021"/>
                </a:solidFill>
                <a:ea typeface="宋体" panose="02010600030101010101" pitchFamily="2" charset="-122"/>
              </a:rPr>
              <a:t>按载荷性质弹簧可分为三类</a:t>
            </a:r>
            <a:r>
              <a:rPr kumimoji="1" lang="zh-CN" altLang="en-US" b="1" dirty="0">
                <a:solidFill>
                  <a:srgbClr val="0000FF"/>
                </a:solidFill>
                <a:ea typeface="宋体" panose="02010600030101010101" pitchFamily="2" charset="-122"/>
              </a:rPr>
              <a:t>：</a:t>
            </a:r>
            <a:endParaRPr kumimoji="1" lang="zh-CN" altLang="en-US" b="1" dirty="0">
              <a:solidFill>
                <a:srgbClr val="0000FF"/>
              </a:solidFill>
              <a:ea typeface="宋体" panose="02010600030101010101" pitchFamily="2" charset="-122"/>
            </a:endParaRPr>
          </a:p>
          <a:p>
            <a:pPr algn="just" eaLnBrk="1" hangingPunct="1">
              <a:lnSpc>
                <a:spcPct val="120000"/>
              </a:lnSpc>
              <a:spcAft>
                <a:spcPct val="10000"/>
              </a:spcAft>
            </a:pPr>
            <a:r>
              <a:rPr kumimoji="1" lang="en-US" altLang="zh-CN" b="1" dirty="0">
                <a:solidFill>
                  <a:srgbClr val="0000FF"/>
                </a:solidFill>
                <a:ea typeface="宋体" panose="02010600030101010101" pitchFamily="2" charset="-122"/>
              </a:rPr>
              <a:t>I</a:t>
            </a:r>
            <a:r>
              <a:rPr kumimoji="1" lang="zh-CN" altLang="en-US" b="1" dirty="0">
                <a:solidFill>
                  <a:srgbClr val="0000FF"/>
                </a:solidFill>
                <a:ea typeface="宋体" panose="02010600030101010101" pitchFamily="2" charset="-122"/>
              </a:rPr>
              <a:t>类</a:t>
            </a:r>
            <a:r>
              <a:rPr kumimoji="1" lang="en-US" altLang="zh-CN" b="1" dirty="0">
                <a:solidFill>
                  <a:srgbClr val="0000FF"/>
                </a:solidFill>
                <a:ea typeface="宋体" panose="02010600030101010101" pitchFamily="2" charset="-122"/>
              </a:rPr>
              <a:t>——  </a:t>
            </a:r>
            <a:r>
              <a:rPr kumimoji="1" lang="zh-CN" altLang="en-US" b="1" dirty="0">
                <a:solidFill>
                  <a:schemeClr val="accent4">
                    <a:lumMod val="50000"/>
                  </a:schemeClr>
                </a:solidFill>
                <a:ea typeface="宋体" panose="02010600030101010101" pitchFamily="2" charset="-122"/>
              </a:rPr>
              <a:t>受变载荷作用次数在</a:t>
            </a:r>
            <a:r>
              <a:rPr kumimoji="1" lang="en-US" altLang="zh-CN" b="1" dirty="0">
                <a:solidFill>
                  <a:schemeClr val="accent4">
                    <a:lumMod val="50000"/>
                  </a:schemeClr>
                </a:solidFill>
                <a:ea typeface="宋体" panose="02010600030101010101" pitchFamily="2" charset="-122"/>
              </a:rPr>
              <a:t>10</a:t>
            </a:r>
            <a:r>
              <a:rPr kumimoji="1" lang="en-US" altLang="zh-CN" b="1" baseline="30000" dirty="0">
                <a:solidFill>
                  <a:schemeClr val="accent4">
                    <a:lumMod val="50000"/>
                  </a:schemeClr>
                </a:solidFill>
                <a:ea typeface="宋体" panose="02010600030101010101" pitchFamily="2" charset="-122"/>
              </a:rPr>
              <a:t>6</a:t>
            </a:r>
            <a:r>
              <a:rPr kumimoji="1" lang="zh-CN" altLang="en-US" b="1" dirty="0">
                <a:solidFill>
                  <a:schemeClr val="accent4">
                    <a:lumMod val="50000"/>
                  </a:schemeClr>
                </a:solidFill>
                <a:ea typeface="宋体" panose="02010600030101010101" pitchFamily="2" charset="-122"/>
              </a:rPr>
              <a:t>次以上或很重要的弹簧，如内燃</a:t>
            </a:r>
            <a:endParaRPr kumimoji="1" lang="zh-CN" altLang="en-US" b="1" dirty="0">
              <a:solidFill>
                <a:schemeClr val="accent4">
                  <a:lumMod val="50000"/>
                </a:schemeClr>
              </a:solidFill>
              <a:ea typeface="宋体" panose="02010600030101010101" pitchFamily="2" charset="-122"/>
            </a:endParaRPr>
          </a:p>
          <a:p>
            <a:pPr algn="just" eaLnBrk="1" hangingPunct="1">
              <a:lnSpc>
                <a:spcPct val="120000"/>
              </a:lnSpc>
              <a:spcAft>
                <a:spcPct val="10000"/>
              </a:spcAft>
            </a:pPr>
            <a:r>
              <a:rPr kumimoji="1" lang="zh-CN" altLang="en-US" b="1" dirty="0">
                <a:solidFill>
                  <a:schemeClr val="accent4">
                    <a:lumMod val="50000"/>
                  </a:schemeClr>
                </a:solidFill>
                <a:ea typeface="宋体" panose="02010600030101010101" pitchFamily="2" charset="-122"/>
              </a:rPr>
              <a:t>                机气门弹簧、电磁闸瓦制动器弹簧；</a:t>
            </a:r>
            <a:endParaRPr kumimoji="1" lang="zh-CN" altLang="en-US" b="1" dirty="0">
              <a:solidFill>
                <a:schemeClr val="accent4">
                  <a:lumMod val="50000"/>
                </a:schemeClr>
              </a:solidFill>
              <a:ea typeface="宋体" panose="02010600030101010101" pitchFamily="2" charset="-122"/>
            </a:endParaRPr>
          </a:p>
          <a:p>
            <a:pPr algn="just" eaLnBrk="1" hangingPunct="1">
              <a:lnSpc>
                <a:spcPct val="120000"/>
              </a:lnSpc>
              <a:spcAft>
                <a:spcPct val="10000"/>
              </a:spcAft>
            </a:pPr>
            <a:r>
              <a:rPr kumimoji="1" lang="en-US" altLang="zh-CN" b="1" dirty="0">
                <a:solidFill>
                  <a:srgbClr val="0000FF"/>
                </a:solidFill>
                <a:ea typeface="宋体" panose="02010600030101010101" pitchFamily="2" charset="-122"/>
              </a:rPr>
              <a:t>Ⅱ</a:t>
            </a:r>
            <a:r>
              <a:rPr kumimoji="1" lang="zh-CN" altLang="en-US" b="1" dirty="0">
                <a:solidFill>
                  <a:srgbClr val="0000FF"/>
                </a:solidFill>
                <a:ea typeface="宋体" panose="02010600030101010101" pitchFamily="2" charset="-122"/>
              </a:rPr>
              <a:t>类</a:t>
            </a:r>
            <a:r>
              <a:rPr kumimoji="1" lang="en-US" altLang="zh-CN" b="1" dirty="0">
                <a:solidFill>
                  <a:srgbClr val="0000FF"/>
                </a:solidFill>
                <a:ea typeface="宋体" panose="02010600030101010101" pitchFamily="2" charset="-122"/>
              </a:rPr>
              <a:t>——</a:t>
            </a:r>
            <a:r>
              <a:rPr kumimoji="1" lang="zh-CN" altLang="en-US" b="1" dirty="0">
                <a:solidFill>
                  <a:schemeClr val="accent4">
                    <a:lumMod val="50000"/>
                  </a:schemeClr>
                </a:solidFill>
                <a:ea typeface="宋体" panose="02010600030101010101" pitchFamily="2" charset="-122"/>
              </a:rPr>
              <a:t>受变载荷作用次数在</a:t>
            </a:r>
            <a:r>
              <a:rPr kumimoji="1" lang="en-US" altLang="zh-CN" b="1" dirty="0">
                <a:solidFill>
                  <a:schemeClr val="accent4">
                    <a:lumMod val="50000"/>
                  </a:schemeClr>
                </a:solidFill>
                <a:ea typeface="宋体" panose="02010600030101010101" pitchFamily="2" charset="-122"/>
              </a:rPr>
              <a:t>10</a:t>
            </a:r>
            <a:r>
              <a:rPr kumimoji="1" lang="en-US" altLang="zh-CN" b="1" baseline="30000" dirty="0">
                <a:solidFill>
                  <a:schemeClr val="accent4">
                    <a:lumMod val="50000"/>
                  </a:schemeClr>
                </a:solidFill>
                <a:ea typeface="宋体" panose="02010600030101010101" pitchFamily="2" charset="-122"/>
              </a:rPr>
              <a:t>3</a:t>
            </a:r>
            <a:r>
              <a:rPr kumimoji="1" lang="zh-CN" altLang="en-US" b="1" dirty="0">
                <a:solidFill>
                  <a:schemeClr val="accent4">
                    <a:lumMod val="50000"/>
                  </a:schemeClr>
                </a:solidFill>
                <a:ea typeface="宋体" panose="02010600030101010101" pitchFamily="2" charset="-122"/>
              </a:rPr>
              <a:t>～</a:t>
            </a:r>
            <a:r>
              <a:rPr kumimoji="1" lang="en-US" altLang="zh-CN" b="1" dirty="0">
                <a:solidFill>
                  <a:schemeClr val="accent4">
                    <a:lumMod val="50000"/>
                  </a:schemeClr>
                </a:solidFill>
                <a:ea typeface="宋体" panose="02010600030101010101" pitchFamily="2" charset="-122"/>
              </a:rPr>
              <a:t>10</a:t>
            </a:r>
            <a:r>
              <a:rPr kumimoji="1" lang="en-US" altLang="zh-CN" b="1" baseline="30000" dirty="0">
                <a:solidFill>
                  <a:schemeClr val="accent4">
                    <a:lumMod val="50000"/>
                  </a:schemeClr>
                </a:solidFill>
                <a:ea typeface="宋体" panose="02010600030101010101" pitchFamily="2" charset="-122"/>
              </a:rPr>
              <a:t>5</a:t>
            </a:r>
            <a:r>
              <a:rPr kumimoji="1" lang="zh-CN" altLang="en-US" b="1" dirty="0">
                <a:solidFill>
                  <a:schemeClr val="accent4">
                    <a:lumMod val="50000"/>
                  </a:schemeClr>
                </a:solidFill>
                <a:ea typeface="宋体" panose="02010600030101010101" pitchFamily="2" charset="-122"/>
              </a:rPr>
              <a:t>次及受冲击载荷的弹簧，</a:t>
            </a:r>
            <a:endParaRPr kumimoji="1" lang="zh-CN" altLang="en-US" b="1" dirty="0">
              <a:solidFill>
                <a:schemeClr val="accent4">
                  <a:lumMod val="50000"/>
                </a:schemeClr>
              </a:solidFill>
              <a:ea typeface="宋体" panose="02010600030101010101" pitchFamily="2" charset="-122"/>
            </a:endParaRPr>
          </a:p>
          <a:p>
            <a:pPr algn="just" eaLnBrk="1" hangingPunct="1">
              <a:lnSpc>
                <a:spcPct val="120000"/>
              </a:lnSpc>
              <a:spcAft>
                <a:spcPct val="10000"/>
              </a:spcAft>
            </a:pPr>
            <a:r>
              <a:rPr kumimoji="1" lang="zh-CN" altLang="en-US" b="1" dirty="0">
                <a:solidFill>
                  <a:schemeClr val="accent4">
                    <a:lumMod val="50000"/>
                  </a:schemeClr>
                </a:solidFill>
                <a:ea typeface="宋体" panose="02010600030101010101" pitchFamily="2" charset="-122"/>
              </a:rPr>
              <a:t>                如调速器弹簧、一般车辆弹簧等；</a:t>
            </a:r>
            <a:endParaRPr kumimoji="1" lang="zh-CN" altLang="en-US" b="1" dirty="0">
              <a:solidFill>
                <a:schemeClr val="accent4">
                  <a:lumMod val="50000"/>
                </a:schemeClr>
              </a:solidFill>
              <a:ea typeface="宋体" panose="02010600030101010101" pitchFamily="2" charset="-122"/>
            </a:endParaRPr>
          </a:p>
          <a:p>
            <a:pPr algn="just" eaLnBrk="1" hangingPunct="1">
              <a:lnSpc>
                <a:spcPct val="120000"/>
              </a:lnSpc>
              <a:spcAft>
                <a:spcPct val="10000"/>
              </a:spcAft>
            </a:pPr>
            <a:r>
              <a:rPr kumimoji="1" lang="en-US" altLang="zh-CN" b="1" dirty="0">
                <a:solidFill>
                  <a:srgbClr val="0000FF"/>
                </a:solidFill>
                <a:ea typeface="宋体" panose="02010600030101010101" pitchFamily="2" charset="-122"/>
              </a:rPr>
              <a:t>Ⅲ</a:t>
            </a:r>
            <a:r>
              <a:rPr kumimoji="1" lang="zh-CN" altLang="en-US" b="1" dirty="0">
                <a:solidFill>
                  <a:srgbClr val="0000FF"/>
                </a:solidFill>
                <a:ea typeface="宋体" panose="02010600030101010101" pitchFamily="2" charset="-122"/>
              </a:rPr>
              <a:t>类</a:t>
            </a:r>
            <a:r>
              <a:rPr kumimoji="1" lang="en-US" altLang="zh-CN" b="1" dirty="0">
                <a:solidFill>
                  <a:srgbClr val="0000FF"/>
                </a:solidFill>
                <a:ea typeface="宋体" panose="02010600030101010101" pitchFamily="2" charset="-122"/>
              </a:rPr>
              <a:t>——</a:t>
            </a:r>
            <a:r>
              <a:rPr kumimoji="1" lang="zh-CN" altLang="en-US" b="1" dirty="0">
                <a:solidFill>
                  <a:schemeClr val="accent4">
                    <a:lumMod val="50000"/>
                  </a:schemeClr>
                </a:solidFill>
                <a:ea typeface="宋体" panose="02010600030101010101" pitchFamily="2" charset="-122"/>
              </a:rPr>
              <a:t>受变载荷作用次数在</a:t>
            </a:r>
            <a:r>
              <a:rPr kumimoji="1" lang="en-US" altLang="zh-CN" b="1" dirty="0">
                <a:solidFill>
                  <a:schemeClr val="accent4">
                    <a:lumMod val="50000"/>
                  </a:schemeClr>
                </a:solidFill>
                <a:ea typeface="宋体" panose="02010600030101010101" pitchFamily="2" charset="-122"/>
              </a:rPr>
              <a:t>10</a:t>
            </a:r>
            <a:r>
              <a:rPr kumimoji="1" lang="en-US" altLang="zh-CN" b="1" baseline="30000" dirty="0">
                <a:solidFill>
                  <a:schemeClr val="accent4">
                    <a:lumMod val="50000"/>
                  </a:schemeClr>
                </a:solidFill>
                <a:ea typeface="宋体" panose="02010600030101010101" pitchFamily="2" charset="-122"/>
              </a:rPr>
              <a:t>3</a:t>
            </a:r>
            <a:r>
              <a:rPr kumimoji="1" lang="zh-CN" altLang="en-US" b="1" dirty="0">
                <a:solidFill>
                  <a:schemeClr val="accent4">
                    <a:lumMod val="50000"/>
                  </a:schemeClr>
                </a:solidFill>
                <a:ea typeface="宋体" panose="02010600030101010101" pitchFamily="2" charset="-122"/>
              </a:rPr>
              <a:t>次以下，即基本上受静载荷的</a:t>
            </a:r>
            <a:endParaRPr kumimoji="1" lang="zh-CN" altLang="en-US" b="1" dirty="0">
              <a:solidFill>
                <a:schemeClr val="accent4">
                  <a:lumMod val="50000"/>
                </a:schemeClr>
              </a:solidFill>
              <a:ea typeface="宋体" panose="02010600030101010101" pitchFamily="2" charset="-122"/>
            </a:endParaRPr>
          </a:p>
          <a:p>
            <a:pPr algn="just" eaLnBrk="1" hangingPunct="1">
              <a:lnSpc>
                <a:spcPct val="120000"/>
              </a:lnSpc>
              <a:spcAft>
                <a:spcPct val="10000"/>
              </a:spcAft>
            </a:pPr>
            <a:r>
              <a:rPr kumimoji="1" lang="zh-CN" altLang="en-US" b="1" dirty="0">
                <a:solidFill>
                  <a:schemeClr val="accent4">
                    <a:lumMod val="50000"/>
                  </a:schemeClr>
                </a:solidFill>
                <a:ea typeface="宋体" panose="02010600030101010101" pitchFamily="2" charset="-122"/>
              </a:rPr>
              <a:t>                弹簧，</a:t>
            </a:r>
            <a:r>
              <a:rPr kumimoji="1" lang="zh-CN" altLang="en-US" b="1" dirty="0">
                <a:solidFill>
                  <a:schemeClr val="accent4">
                    <a:lumMod val="50000"/>
                  </a:schemeClr>
                </a:solidFill>
                <a:ea typeface="宋体" panose="02010600030101010101" pitchFamily="2" charset="-122"/>
              </a:rPr>
              <a:t>如一般安全阀门弹簧、摩擦式安全离合器弹簧等。</a:t>
            </a:r>
            <a:endParaRPr kumimoji="1" lang="en-US" altLang="zh-CN" b="1" dirty="0">
              <a:solidFill>
                <a:schemeClr val="accent4">
                  <a:lumMod val="50000"/>
                </a:schemeClr>
              </a:solidFill>
              <a:ea typeface="宋体" panose="02010600030101010101" pitchFamily="2" charset="-122"/>
            </a:endParaRPr>
          </a:p>
          <a:p>
            <a:pPr algn="just" eaLnBrk="1" hangingPunct="1">
              <a:lnSpc>
                <a:spcPct val="120000"/>
              </a:lnSpc>
              <a:spcAft>
                <a:spcPct val="10000"/>
              </a:spcAft>
            </a:pPr>
            <a:r>
              <a:rPr kumimoji="1" lang="zh-CN" altLang="en-US" b="1" dirty="0">
                <a:solidFill>
                  <a:schemeClr val="accent4">
                    <a:lumMod val="50000"/>
                  </a:schemeClr>
                </a:solidFill>
                <a:ea typeface="宋体" panose="02010600030101010101" pitchFamily="2" charset="-122"/>
              </a:rPr>
              <a:t>        各类弹簧的许用应力分别列于</a:t>
            </a:r>
            <a:r>
              <a:rPr kumimoji="1" lang="zh-CN" altLang="en-US" b="1" dirty="0">
                <a:solidFill>
                  <a:srgbClr val="FF0000"/>
                </a:solidFill>
                <a:ea typeface="宋体" panose="02010600030101010101" pitchFamily="2" charset="-122"/>
              </a:rPr>
              <a:t>表</a:t>
            </a:r>
            <a:r>
              <a:rPr kumimoji="1" lang="en-US" altLang="zh-CN" b="1" dirty="0" smtClean="0">
                <a:solidFill>
                  <a:srgbClr val="FF0000"/>
                </a:solidFill>
                <a:ea typeface="宋体" panose="02010600030101010101" pitchFamily="2" charset="-122"/>
              </a:rPr>
              <a:t>3.12-2</a:t>
            </a:r>
            <a:r>
              <a:rPr kumimoji="1" lang="zh-CN" altLang="en-US" b="1" dirty="0" smtClean="0">
                <a:solidFill>
                  <a:schemeClr val="accent4">
                    <a:lumMod val="50000"/>
                  </a:schemeClr>
                </a:solidFill>
                <a:ea typeface="宋体" panose="02010600030101010101" pitchFamily="2" charset="-122"/>
              </a:rPr>
              <a:t>中</a:t>
            </a:r>
            <a:r>
              <a:rPr kumimoji="1" lang="zh-CN" altLang="en-US" b="1" dirty="0">
                <a:solidFill>
                  <a:schemeClr val="accent4">
                    <a:lumMod val="50000"/>
                  </a:schemeClr>
                </a:solidFill>
                <a:ea typeface="宋体" panose="02010600030101010101" pitchFamily="2" charset="-122"/>
              </a:rPr>
              <a:t>。</a:t>
            </a:r>
            <a:r>
              <a:rPr kumimoji="1" lang="zh-CN" altLang="en-US" dirty="0">
                <a:solidFill>
                  <a:schemeClr val="accent4">
                    <a:lumMod val="50000"/>
                  </a:schemeClr>
                </a:solidFill>
                <a:ea typeface="宋体" panose="02010600030101010101" pitchFamily="2" charset="-122"/>
              </a:rPr>
              <a:t> </a:t>
            </a:r>
            <a:r>
              <a:rPr kumimoji="1" lang="zh-CN" altLang="en-US" b="1" dirty="0">
                <a:solidFill>
                  <a:schemeClr val="accent4">
                    <a:lumMod val="50000"/>
                  </a:schemeClr>
                </a:solidFill>
                <a:ea typeface="宋体" panose="02010600030101010101" pitchFamily="2" charset="-122"/>
              </a:rPr>
              <a:t> </a:t>
            </a:r>
            <a:endParaRPr kumimoji="1" lang="zh-CN" altLang="en-US" b="1" dirty="0">
              <a:solidFill>
                <a:schemeClr val="accent4">
                  <a:lumMod val="50000"/>
                </a:schemeClr>
              </a:solidFill>
              <a:ea typeface="宋体" panose="02010600030101010101" pitchFamily="2" charset="-122"/>
            </a:endParaRPr>
          </a:p>
        </p:txBody>
      </p:sp>
      <p:sp>
        <p:nvSpPr>
          <p:cNvPr id="9" name="Rectangle 2"/>
          <p:cNvSpPr>
            <a:spLocks noGrp="1" noChangeArrowheads="1"/>
          </p:cNvSpPr>
          <p:nvPr>
            <p:ph type="title"/>
          </p:nvPr>
        </p:nvSpPr>
        <p:spPr bwMode="auto">
          <a:xfrm>
            <a:off x="3929063" y="195263"/>
            <a:ext cx="4691063"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3.12-2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弹簧的材料和制造</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50946">
                                            <p:txEl>
                                              <p:pRg st="4294967295" end="4294967295"/>
                                            </p:txEl>
                                          </p:spTgt>
                                        </p:tgtEl>
                                        <p:attrNameLst>
                                          <p:attrName>style.visibility</p:attrName>
                                        </p:attrNameLst>
                                      </p:cBhvr>
                                      <p:to>
                                        <p:strVal val="visible"/>
                                      </p:to>
                                    </p:set>
                                    <p:animEffect transition="in" filter="strips(downRight)">
                                      <p:cBhvr>
                                        <p:cTn id="7" dur="500"/>
                                        <p:tgtEl>
                                          <p:spTgt spid="850946">
                                            <p:txEl>
                                              <p:pRg st="4294967295" end="4294967295"/>
                                            </p:txEl>
                                          </p:spTgt>
                                        </p:tgtEl>
                                      </p:cBhvr>
                                    </p:animEffect>
                                  </p:childTnLst>
                                </p:cTn>
                              </p:par>
                            </p:childTnLst>
                          </p:cTn>
                        </p:par>
                        <p:par>
                          <p:cTn id="8" fill="hold">
                            <p:stCondLst>
                              <p:cond delay="500"/>
                            </p:stCondLst>
                            <p:childTnLst>
                              <p:par>
                                <p:cTn id="9" presetID="18" presetClass="entr" presetSubtype="6" fill="hold" grpId="0" nodeType="afterEffect">
                                  <p:stCondLst>
                                    <p:cond delay="0"/>
                                  </p:stCondLst>
                                  <p:childTnLst>
                                    <p:set>
                                      <p:cBhvr>
                                        <p:cTn id="10" dur="1" fill="hold">
                                          <p:stCondLst>
                                            <p:cond delay="0"/>
                                          </p:stCondLst>
                                        </p:cTn>
                                        <p:tgtEl>
                                          <p:spTgt spid="850946">
                                            <p:txEl>
                                              <p:pRg st="4294967295" end="4294967295"/>
                                            </p:txEl>
                                          </p:spTgt>
                                        </p:tgtEl>
                                        <p:attrNameLst>
                                          <p:attrName>style.visibility</p:attrName>
                                        </p:attrNameLst>
                                      </p:cBhvr>
                                      <p:to>
                                        <p:strVal val="visible"/>
                                      </p:to>
                                    </p:set>
                                    <p:animEffect transition="in" filter="strips(downRight)">
                                      <p:cBhvr>
                                        <p:cTn id="11" dur="500"/>
                                        <p:tgtEl>
                                          <p:spTgt spid="850946">
                                            <p:txEl>
                                              <p:pRg st="4294967295" end="4294967295"/>
                                            </p:txEl>
                                          </p:spTgt>
                                        </p:tgtEl>
                                      </p:cBhvr>
                                    </p:animEffect>
                                  </p:childTnLst>
                                </p:cTn>
                              </p:par>
                            </p:childTnLst>
                          </p:cTn>
                        </p:par>
                        <p:par>
                          <p:cTn id="12" fill="hold">
                            <p:stCondLst>
                              <p:cond delay="1000"/>
                            </p:stCondLst>
                            <p:childTnLst>
                              <p:par>
                                <p:cTn id="13" presetID="18" presetClass="entr" presetSubtype="6" fill="hold" grpId="0" nodeType="afterEffect">
                                  <p:stCondLst>
                                    <p:cond delay="0"/>
                                  </p:stCondLst>
                                  <p:childTnLst>
                                    <p:set>
                                      <p:cBhvr>
                                        <p:cTn id="14" dur="1" fill="hold">
                                          <p:stCondLst>
                                            <p:cond delay="0"/>
                                          </p:stCondLst>
                                        </p:cTn>
                                        <p:tgtEl>
                                          <p:spTgt spid="850946">
                                            <p:txEl>
                                              <p:pRg st="4294967295" end="4294967295"/>
                                            </p:txEl>
                                          </p:spTgt>
                                        </p:tgtEl>
                                        <p:attrNameLst>
                                          <p:attrName>style.visibility</p:attrName>
                                        </p:attrNameLst>
                                      </p:cBhvr>
                                      <p:to>
                                        <p:strVal val="visible"/>
                                      </p:to>
                                    </p:set>
                                    <p:animEffect transition="in" filter="strips(downRight)">
                                      <p:cBhvr>
                                        <p:cTn id="15" dur="500"/>
                                        <p:tgtEl>
                                          <p:spTgt spid="850946">
                                            <p:txEl>
                                              <p:pRg st="4294967295" end="4294967295"/>
                                            </p:txEl>
                                          </p:spTgt>
                                        </p:tgtEl>
                                      </p:cBhvr>
                                    </p:animEffect>
                                  </p:childTnLst>
                                </p:cTn>
                              </p:par>
                            </p:childTnLst>
                          </p:cTn>
                        </p:par>
                        <p:par>
                          <p:cTn id="16" fill="hold">
                            <p:stCondLst>
                              <p:cond delay="1500"/>
                            </p:stCondLst>
                            <p:childTnLst>
                              <p:par>
                                <p:cTn id="17" presetID="18" presetClass="entr" presetSubtype="6" fill="hold" grpId="0" nodeType="afterEffect">
                                  <p:stCondLst>
                                    <p:cond delay="0"/>
                                  </p:stCondLst>
                                  <p:childTnLst>
                                    <p:set>
                                      <p:cBhvr>
                                        <p:cTn id="18" dur="1" fill="hold">
                                          <p:stCondLst>
                                            <p:cond delay="0"/>
                                          </p:stCondLst>
                                        </p:cTn>
                                        <p:tgtEl>
                                          <p:spTgt spid="850946">
                                            <p:txEl>
                                              <p:pRg st="0" end="0"/>
                                            </p:txEl>
                                          </p:spTgt>
                                        </p:tgtEl>
                                        <p:attrNameLst>
                                          <p:attrName>style.visibility</p:attrName>
                                        </p:attrNameLst>
                                      </p:cBhvr>
                                      <p:to>
                                        <p:strVal val="visible"/>
                                      </p:to>
                                    </p:set>
                                    <p:animEffect transition="in" filter="strips(downRight)">
                                      <p:cBhvr>
                                        <p:cTn id="19" dur="500"/>
                                        <p:tgtEl>
                                          <p:spTgt spid="850946">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grpId="0" nodeType="clickEffect">
                                  <p:stCondLst>
                                    <p:cond delay="0"/>
                                  </p:stCondLst>
                                  <p:childTnLst>
                                    <p:set>
                                      <p:cBhvr>
                                        <p:cTn id="23" dur="1" fill="hold">
                                          <p:stCondLst>
                                            <p:cond delay="0"/>
                                          </p:stCondLst>
                                        </p:cTn>
                                        <p:tgtEl>
                                          <p:spTgt spid="850946">
                                            <p:txEl>
                                              <p:pRg st="1" end="1"/>
                                            </p:txEl>
                                          </p:spTgt>
                                        </p:tgtEl>
                                        <p:attrNameLst>
                                          <p:attrName>style.visibility</p:attrName>
                                        </p:attrNameLst>
                                      </p:cBhvr>
                                      <p:to>
                                        <p:strVal val="visible"/>
                                      </p:to>
                                    </p:set>
                                    <p:animEffect transition="in" filter="strips(downRight)">
                                      <p:cBhvr>
                                        <p:cTn id="24" dur="500"/>
                                        <p:tgtEl>
                                          <p:spTgt spid="85094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grpId="0" nodeType="clickEffect">
                                  <p:stCondLst>
                                    <p:cond delay="0"/>
                                  </p:stCondLst>
                                  <p:childTnLst>
                                    <p:set>
                                      <p:cBhvr>
                                        <p:cTn id="28" dur="1" fill="hold">
                                          <p:stCondLst>
                                            <p:cond delay="0"/>
                                          </p:stCondLst>
                                        </p:cTn>
                                        <p:tgtEl>
                                          <p:spTgt spid="850946">
                                            <p:txEl>
                                              <p:pRg st="2" end="2"/>
                                            </p:txEl>
                                          </p:spTgt>
                                        </p:tgtEl>
                                        <p:attrNameLst>
                                          <p:attrName>style.visibility</p:attrName>
                                        </p:attrNameLst>
                                      </p:cBhvr>
                                      <p:to>
                                        <p:strVal val="visible"/>
                                      </p:to>
                                    </p:set>
                                    <p:animEffect transition="in" filter="strips(downRight)">
                                      <p:cBhvr>
                                        <p:cTn id="29" dur="500"/>
                                        <p:tgtEl>
                                          <p:spTgt spid="850946">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6" fill="hold" grpId="0" nodeType="clickEffect">
                                  <p:stCondLst>
                                    <p:cond delay="0"/>
                                  </p:stCondLst>
                                  <p:childTnLst>
                                    <p:set>
                                      <p:cBhvr>
                                        <p:cTn id="33" dur="1" fill="hold">
                                          <p:stCondLst>
                                            <p:cond delay="0"/>
                                          </p:stCondLst>
                                        </p:cTn>
                                        <p:tgtEl>
                                          <p:spTgt spid="850946">
                                            <p:txEl>
                                              <p:pRg st="3" end="3"/>
                                            </p:txEl>
                                          </p:spTgt>
                                        </p:tgtEl>
                                        <p:attrNameLst>
                                          <p:attrName>style.visibility</p:attrName>
                                        </p:attrNameLst>
                                      </p:cBhvr>
                                      <p:to>
                                        <p:strVal val="visible"/>
                                      </p:to>
                                    </p:set>
                                    <p:animEffect transition="in" filter="strips(downRight)">
                                      <p:cBhvr>
                                        <p:cTn id="34" dur="500"/>
                                        <p:tgtEl>
                                          <p:spTgt spid="850946">
                                            <p:txEl>
                                              <p:pRg st="3" end="3"/>
                                            </p:txEl>
                                          </p:spTgt>
                                        </p:tgtEl>
                                      </p:cBhvr>
                                    </p:animEffect>
                                  </p:childTnLst>
                                </p:cTn>
                              </p:par>
                            </p:childTnLst>
                          </p:cTn>
                        </p:par>
                        <p:par>
                          <p:cTn id="35" fill="hold">
                            <p:stCondLst>
                              <p:cond delay="500"/>
                            </p:stCondLst>
                            <p:childTnLst>
                              <p:par>
                                <p:cTn id="36" presetID="18" presetClass="entr" presetSubtype="6" fill="hold" grpId="0" nodeType="afterEffect">
                                  <p:stCondLst>
                                    <p:cond delay="0"/>
                                  </p:stCondLst>
                                  <p:childTnLst>
                                    <p:set>
                                      <p:cBhvr>
                                        <p:cTn id="37" dur="1" fill="hold">
                                          <p:stCondLst>
                                            <p:cond delay="0"/>
                                          </p:stCondLst>
                                        </p:cTn>
                                        <p:tgtEl>
                                          <p:spTgt spid="850946">
                                            <p:txEl>
                                              <p:pRg st="4" end="4"/>
                                            </p:txEl>
                                          </p:spTgt>
                                        </p:tgtEl>
                                        <p:attrNameLst>
                                          <p:attrName>style.visibility</p:attrName>
                                        </p:attrNameLst>
                                      </p:cBhvr>
                                      <p:to>
                                        <p:strVal val="visible"/>
                                      </p:to>
                                    </p:set>
                                    <p:animEffect transition="in" filter="strips(downRight)">
                                      <p:cBhvr>
                                        <p:cTn id="38" dur="500"/>
                                        <p:tgtEl>
                                          <p:spTgt spid="850946">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8" presetClass="entr" presetSubtype="6" fill="hold" grpId="0" nodeType="clickEffect">
                                  <p:stCondLst>
                                    <p:cond delay="0"/>
                                  </p:stCondLst>
                                  <p:childTnLst>
                                    <p:set>
                                      <p:cBhvr>
                                        <p:cTn id="42" dur="1" fill="hold">
                                          <p:stCondLst>
                                            <p:cond delay="0"/>
                                          </p:stCondLst>
                                        </p:cTn>
                                        <p:tgtEl>
                                          <p:spTgt spid="850946">
                                            <p:txEl>
                                              <p:pRg st="5" end="5"/>
                                            </p:txEl>
                                          </p:spTgt>
                                        </p:tgtEl>
                                        <p:attrNameLst>
                                          <p:attrName>style.visibility</p:attrName>
                                        </p:attrNameLst>
                                      </p:cBhvr>
                                      <p:to>
                                        <p:strVal val="visible"/>
                                      </p:to>
                                    </p:set>
                                    <p:animEffect transition="in" filter="strips(downRight)">
                                      <p:cBhvr>
                                        <p:cTn id="43" dur="500"/>
                                        <p:tgtEl>
                                          <p:spTgt spid="850946">
                                            <p:txEl>
                                              <p:pRg st="5" end="5"/>
                                            </p:txEl>
                                          </p:spTgt>
                                        </p:tgtEl>
                                      </p:cBhvr>
                                    </p:animEffect>
                                  </p:childTnLst>
                                </p:cTn>
                              </p:par>
                            </p:childTnLst>
                          </p:cTn>
                        </p:par>
                        <p:par>
                          <p:cTn id="44" fill="hold">
                            <p:stCondLst>
                              <p:cond delay="500"/>
                            </p:stCondLst>
                            <p:childTnLst>
                              <p:par>
                                <p:cTn id="45" presetID="18" presetClass="entr" presetSubtype="6" fill="hold" grpId="0" nodeType="afterEffect">
                                  <p:stCondLst>
                                    <p:cond delay="0"/>
                                  </p:stCondLst>
                                  <p:childTnLst>
                                    <p:set>
                                      <p:cBhvr>
                                        <p:cTn id="46" dur="1" fill="hold">
                                          <p:stCondLst>
                                            <p:cond delay="0"/>
                                          </p:stCondLst>
                                        </p:cTn>
                                        <p:tgtEl>
                                          <p:spTgt spid="850946">
                                            <p:txEl>
                                              <p:pRg st="6" end="6"/>
                                            </p:txEl>
                                          </p:spTgt>
                                        </p:tgtEl>
                                        <p:attrNameLst>
                                          <p:attrName>style.visibility</p:attrName>
                                        </p:attrNameLst>
                                      </p:cBhvr>
                                      <p:to>
                                        <p:strVal val="visible"/>
                                      </p:to>
                                    </p:set>
                                    <p:animEffect transition="in" filter="strips(downRight)">
                                      <p:cBhvr>
                                        <p:cTn id="47" dur="500"/>
                                        <p:tgtEl>
                                          <p:spTgt spid="850946">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grpId="0" nodeType="clickEffect">
                                  <p:stCondLst>
                                    <p:cond delay="0"/>
                                  </p:stCondLst>
                                  <p:childTnLst>
                                    <p:set>
                                      <p:cBhvr>
                                        <p:cTn id="51" dur="1" fill="hold">
                                          <p:stCondLst>
                                            <p:cond delay="0"/>
                                          </p:stCondLst>
                                        </p:cTn>
                                        <p:tgtEl>
                                          <p:spTgt spid="850946">
                                            <p:txEl>
                                              <p:pRg st="7" end="7"/>
                                            </p:txEl>
                                          </p:spTgt>
                                        </p:tgtEl>
                                        <p:attrNameLst>
                                          <p:attrName>style.visibility</p:attrName>
                                        </p:attrNameLst>
                                      </p:cBhvr>
                                      <p:to>
                                        <p:strVal val="visible"/>
                                      </p:to>
                                    </p:set>
                                    <p:animEffect transition="in" filter="strips(downRight)">
                                      <p:cBhvr>
                                        <p:cTn id="52" dur="500"/>
                                        <p:tgtEl>
                                          <p:spTgt spid="850946">
                                            <p:txEl>
                                              <p:pRg st="7" end="7"/>
                                            </p:txEl>
                                          </p:spTgt>
                                        </p:tgtEl>
                                      </p:cBhvr>
                                    </p:animEffect>
                                  </p:childTnLst>
                                </p:cTn>
                              </p:par>
                            </p:childTnLst>
                          </p:cTn>
                        </p:par>
                        <p:par>
                          <p:cTn id="53" fill="hold">
                            <p:stCondLst>
                              <p:cond delay="500"/>
                            </p:stCondLst>
                            <p:childTnLst>
                              <p:par>
                                <p:cTn id="54" presetID="18" presetClass="entr" presetSubtype="6" fill="hold" grpId="0" nodeType="afterEffect">
                                  <p:stCondLst>
                                    <p:cond delay="0"/>
                                  </p:stCondLst>
                                  <p:childTnLst>
                                    <p:set>
                                      <p:cBhvr>
                                        <p:cTn id="55" dur="1" fill="hold">
                                          <p:stCondLst>
                                            <p:cond delay="0"/>
                                          </p:stCondLst>
                                        </p:cTn>
                                        <p:tgtEl>
                                          <p:spTgt spid="850946">
                                            <p:txEl>
                                              <p:pRg st="8" end="8"/>
                                            </p:txEl>
                                          </p:spTgt>
                                        </p:tgtEl>
                                        <p:attrNameLst>
                                          <p:attrName>style.visibility</p:attrName>
                                        </p:attrNameLst>
                                      </p:cBhvr>
                                      <p:to>
                                        <p:strVal val="visible"/>
                                      </p:to>
                                    </p:set>
                                    <p:animEffect transition="in" filter="strips(downRight)">
                                      <p:cBhvr>
                                        <p:cTn id="56" dur="500"/>
                                        <p:tgtEl>
                                          <p:spTgt spid="850946">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grpId="0" nodeType="clickEffect">
                                  <p:stCondLst>
                                    <p:cond delay="0"/>
                                  </p:stCondLst>
                                  <p:childTnLst>
                                    <p:set>
                                      <p:cBhvr>
                                        <p:cTn id="60" dur="1" fill="hold">
                                          <p:stCondLst>
                                            <p:cond delay="0"/>
                                          </p:stCondLst>
                                        </p:cTn>
                                        <p:tgtEl>
                                          <p:spTgt spid="850946">
                                            <p:txEl>
                                              <p:pRg st="9" end="9"/>
                                            </p:txEl>
                                          </p:spTgt>
                                        </p:tgtEl>
                                        <p:attrNameLst>
                                          <p:attrName>style.visibility</p:attrName>
                                        </p:attrNameLst>
                                      </p:cBhvr>
                                      <p:to>
                                        <p:strVal val="visible"/>
                                      </p:to>
                                    </p:set>
                                    <p:animEffect transition="in" filter="strips(downRight)">
                                      <p:cBhvr>
                                        <p:cTn id="61" dur="500"/>
                                        <p:tgtEl>
                                          <p:spTgt spid="85094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ext Box 28"/>
          <p:cNvSpPr txBox="1"/>
          <p:nvPr/>
        </p:nvSpPr>
        <p:spPr>
          <a:xfrm>
            <a:off x="6538913" y="62341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1029"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1030"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785813" y="214313"/>
            <a:ext cx="83581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pic>
        <p:nvPicPr>
          <p:cNvPr id="1032" name="Picture 34" descr="rewind1">
            <a:hlinkClick r:id="rId1" action="ppaction://hlinksldjump"/>
          </p:cNvPr>
          <p:cNvPicPr>
            <a:picLocks noChangeAspect="1"/>
          </p:cNvPicPr>
          <p:nvPr/>
        </p:nvPicPr>
        <p:blipFill>
          <a:blip r:embed="rId2"/>
          <a:stretch>
            <a:fillRect/>
          </a:stretch>
        </p:blipFill>
        <p:spPr>
          <a:xfrm>
            <a:off x="8355013" y="6523038"/>
            <a:ext cx="287337" cy="287337"/>
          </a:xfrm>
          <a:prstGeom prst="rect">
            <a:avLst/>
          </a:prstGeom>
          <a:noFill/>
          <a:ln w="9525">
            <a:noFill/>
          </a:ln>
        </p:spPr>
      </p:pic>
      <p:pic>
        <p:nvPicPr>
          <p:cNvPr id="1033" name="Picture 36" descr="NEXT1">
            <a:hlinkClick r:id="" action="ppaction://hlinkshowjump?jump=nextslide"/>
          </p:cNvPr>
          <p:cNvPicPr>
            <a:picLocks noChangeAspect="1"/>
          </p:cNvPicPr>
          <p:nvPr/>
        </p:nvPicPr>
        <p:blipFill>
          <a:blip r:embed="rId3"/>
          <a:stretch>
            <a:fillRect/>
          </a:stretch>
        </p:blipFill>
        <p:spPr>
          <a:xfrm>
            <a:off x="8742363" y="6523038"/>
            <a:ext cx="287337" cy="287337"/>
          </a:xfrm>
          <a:prstGeom prst="rect">
            <a:avLst/>
          </a:prstGeom>
          <a:noFill/>
          <a:ln w="9525">
            <a:noFill/>
          </a:ln>
        </p:spPr>
      </p:pic>
      <p:sp>
        <p:nvSpPr>
          <p:cNvPr id="51208" name="文本框 34820"/>
          <p:cNvSpPr txBox="1"/>
          <p:nvPr/>
        </p:nvSpPr>
        <p:spPr>
          <a:xfrm>
            <a:off x="395605" y="764540"/>
            <a:ext cx="4416594" cy="430887"/>
          </a:xfrm>
          <a:prstGeom prst="rect">
            <a:avLst/>
          </a:prstGeom>
          <a:noFill/>
          <a:ln w="9525">
            <a:noFill/>
          </a:ln>
        </p:spPr>
        <p:txBody>
          <a:bodyPr wrap="none">
            <a:spAutoFit/>
          </a:bodyPr>
          <a:lstStyle/>
          <a:p>
            <a:r>
              <a:rPr lang="zh-CN" altLang="en-US" dirty="0">
                <a:solidFill>
                  <a:srgbClr val="C00000"/>
                </a:solidFill>
                <a:latin typeface="黑体" panose="02010609060101010101" pitchFamily="49" charset="-122"/>
                <a:ea typeface="黑体" panose="02010609060101010101" pitchFamily="49" charset="-122"/>
              </a:rPr>
              <a:t>一、普通圆柱螺旋弹簧的结构形式</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51209" name="文本框 1"/>
          <p:cNvSpPr txBox="1"/>
          <p:nvPr/>
        </p:nvSpPr>
        <p:spPr>
          <a:xfrm>
            <a:off x="539750" y="1268730"/>
            <a:ext cx="2898550" cy="43088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w="9525">
            <a:noFill/>
          </a:ln>
        </p:spPr>
        <p:txBody>
          <a:bodyPr wrap="none">
            <a:spAutoFit/>
          </a:bodyPr>
          <a:lstStyle/>
          <a:p>
            <a:r>
              <a:rPr lang="en-US" altLang="zh-CN" dirty="0">
                <a:solidFill>
                  <a:srgbClr val="002060"/>
                </a:solidFill>
                <a:latin typeface="华文中宋" panose="02010600040101010101" pitchFamily="2" charset="-122"/>
              </a:rPr>
              <a:t>1</a:t>
            </a:r>
            <a:r>
              <a:rPr lang="zh-CN" altLang="en-US" dirty="0">
                <a:solidFill>
                  <a:srgbClr val="002060"/>
                </a:solidFill>
                <a:latin typeface="华文中宋" panose="02010600040101010101" pitchFamily="2" charset="-122"/>
              </a:rPr>
              <a:t>、圆柱螺旋压缩弹簧</a:t>
            </a:r>
            <a:endParaRPr lang="zh-CN" altLang="en-US" dirty="0">
              <a:solidFill>
                <a:srgbClr val="002060"/>
              </a:solidFill>
              <a:latin typeface="华文中宋" panose="02010600040101010101" pitchFamily="2" charset="-122"/>
            </a:endParaRPr>
          </a:p>
        </p:txBody>
      </p:sp>
      <p:pic>
        <p:nvPicPr>
          <p:cNvPr id="51211" name="图片 130051"/>
          <p:cNvPicPr>
            <a:picLocks noChangeAspect="1"/>
          </p:cNvPicPr>
          <p:nvPr/>
        </p:nvPicPr>
        <p:blipFill>
          <a:blip r:embed="rId4"/>
          <a:srcRect l="48703" t="17181" r="13075" b="38232"/>
          <a:stretch>
            <a:fillRect/>
          </a:stretch>
        </p:blipFill>
        <p:spPr>
          <a:xfrm>
            <a:off x="6064250" y="1352550"/>
            <a:ext cx="2555875" cy="1863725"/>
          </a:xfrm>
          <a:prstGeom prst="rect">
            <a:avLst/>
          </a:prstGeom>
          <a:noFill/>
          <a:ln w="9525">
            <a:noFill/>
          </a:ln>
        </p:spPr>
      </p:pic>
      <p:sp>
        <p:nvSpPr>
          <p:cNvPr id="51212" name="文本框 99"/>
          <p:cNvSpPr txBox="1"/>
          <p:nvPr/>
        </p:nvSpPr>
        <p:spPr>
          <a:xfrm>
            <a:off x="395789" y="2924959"/>
            <a:ext cx="5503862" cy="2491740"/>
          </a:xfrm>
          <a:prstGeom prst="rect">
            <a:avLst/>
          </a:prstGeom>
          <a:noFill/>
          <a:ln w="9525">
            <a:noFill/>
          </a:ln>
        </p:spPr>
        <p:txBody>
          <a:bodyPr>
            <a:spAutoFit/>
          </a:bodyPr>
          <a:lstStyle/>
          <a:p>
            <a:pPr>
              <a:lnSpc>
                <a:spcPct val="13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弹簧的</a:t>
            </a:r>
            <a:r>
              <a:rPr lang="zh-CN" altLang="en-US" sz="2000" dirty="0">
                <a:solidFill>
                  <a:srgbClr val="FF0000"/>
                </a:solidFill>
                <a:latin typeface="Times New Roman" panose="02020603050405020304" pitchFamily="18" charset="0"/>
              </a:rPr>
              <a:t>节距为</a:t>
            </a:r>
            <a:r>
              <a:rPr lang="en-US" altLang="zh-CN" sz="2000" i="1" dirty="0">
                <a:solidFill>
                  <a:srgbClr val="FF0000"/>
                </a:solidFill>
                <a:latin typeface="Times New Roman" panose="02020603050405020304" pitchFamily="18" charset="0"/>
              </a:rPr>
              <a:t>p</a:t>
            </a:r>
            <a:r>
              <a:rPr lang="zh-CN" altLang="en-US" sz="2000" dirty="0">
                <a:solidFill>
                  <a:srgbClr val="000099"/>
                </a:solidFill>
                <a:latin typeface="Times New Roman" panose="02020603050405020304" pitchFamily="18" charset="0"/>
              </a:rPr>
              <a:t>，在自由状态下，各圈之间应有适当的间距</a:t>
            </a:r>
            <a:r>
              <a:rPr lang="en-US" altLang="zh-CN" sz="2000" dirty="0">
                <a:solidFill>
                  <a:srgbClr val="FF0000"/>
                </a:solidFill>
                <a:latin typeface="Times New Roman" panose="02020603050405020304" pitchFamily="18" charset="0"/>
              </a:rPr>
              <a:t>δ</a:t>
            </a:r>
            <a:r>
              <a:rPr lang="zh-CN" altLang="en-US" sz="2000" dirty="0">
                <a:solidFill>
                  <a:srgbClr val="000099"/>
                </a:solidFill>
                <a:latin typeface="Times New Roman" panose="02020603050405020304" pitchFamily="18" charset="0"/>
              </a:rPr>
              <a:t>，以便弹簧受压时，有产生相应变形的空间。</a:t>
            </a:r>
            <a:endParaRPr lang="zh-CN" altLang="en-US" sz="2000" dirty="0">
              <a:solidFill>
                <a:srgbClr val="000099"/>
              </a:solidFill>
              <a:latin typeface="Times New Roman" panose="02020603050405020304" pitchFamily="18" charset="0"/>
            </a:endParaRPr>
          </a:p>
          <a:p>
            <a:pPr>
              <a:lnSpc>
                <a:spcPct val="130000"/>
              </a:lnSpc>
            </a:pPr>
            <a:r>
              <a:rPr lang="zh-CN" altLang="en-US" sz="2000" dirty="0">
                <a:solidFill>
                  <a:srgbClr val="000099"/>
                </a:solidFill>
                <a:latin typeface="Times New Roman" panose="02020603050405020304" pitchFamily="18" charset="0"/>
              </a:rPr>
              <a:t>        为了使弹簧在压缩后仍能保持一定的弹性，设计时还应考虑在最大载荷作用下，各圈之间仍需保留一定的间距</a:t>
            </a:r>
            <a:r>
              <a:rPr lang="en-US" altLang="zh-CN" sz="2000" dirty="0">
                <a:solidFill>
                  <a:srgbClr val="FF0000"/>
                </a:solidFill>
                <a:latin typeface="Times New Roman" panose="02020603050405020304" pitchFamily="18" charset="0"/>
              </a:rPr>
              <a:t>δ</a:t>
            </a:r>
            <a:r>
              <a:rPr lang="en-US" altLang="zh-CN" sz="2000" baseline="-25000" dirty="0">
                <a:solidFill>
                  <a:srgbClr val="FF0000"/>
                </a:solidFill>
                <a:latin typeface="Times New Roman" panose="02020603050405020304" pitchFamily="18" charset="0"/>
              </a:rPr>
              <a:t>1</a:t>
            </a:r>
            <a:r>
              <a:rPr lang="zh-CN" altLang="en-US" sz="2000" dirty="0">
                <a:solidFill>
                  <a:srgbClr val="000099"/>
                </a:solidFill>
                <a:latin typeface="Times New Roman" panose="02020603050405020304" pitchFamily="18" charset="0"/>
              </a:rPr>
              <a:t>。</a:t>
            </a:r>
            <a:r>
              <a:rPr lang="en-US" altLang="zh-CN" sz="2000" dirty="0">
                <a:solidFill>
                  <a:srgbClr val="000099"/>
                </a:solidFill>
                <a:latin typeface="Times New Roman" panose="02020603050405020304" pitchFamily="18" charset="0"/>
              </a:rPr>
              <a:t>δ</a:t>
            </a:r>
            <a:r>
              <a:rPr lang="en-US" altLang="zh-CN" sz="2000" baseline="-25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的计算式为</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graphicFrame>
        <p:nvGraphicFramePr>
          <p:cNvPr id="51213" name="对象 -2147482605"/>
          <p:cNvGraphicFramePr>
            <a:graphicFrameLocks noChangeAspect="1"/>
          </p:cNvGraphicFramePr>
          <p:nvPr/>
        </p:nvGraphicFramePr>
        <p:xfrm>
          <a:off x="1836073" y="5589002"/>
          <a:ext cx="2370138" cy="436562"/>
        </p:xfrm>
        <a:graphic>
          <a:graphicData uri="http://schemas.openxmlformats.org/presentationml/2006/ole">
            <mc:AlternateContent xmlns:mc="http://schemas.openxmlformats.org/markup-compatibility/2006">
              <mc:Choice xmlns:v="urn:schemas-microsoft-com:vml" Requires="v">
                <p:oleObj spid="_x0000_s3096" name="" r:id="rId5" imgW="1168400" imgH="215900" progId="Equation.3">
                  <p:embed/>
                </p:oleObj>
              </mc:Choice>
              <mc:Fallback>
                <p:oleObj name="" r:id="rId5" imgW="1168400" imgH="215900" progId="Equation.3">
                  <p:embed/>
                  <p:pic>
                    <p:nvPicPr>
                      <p:cNvPr id="0" name="图片 3075"/>
                      <p:cNvPicPr/>
                      <p:nvPr/>
                    </p:nvPicPr>
                    <p:blipFill>
                      <a:blip r:embed="rId6"/>
                      <a:stretch>
                        <a:fillRect/>
                      </a:stretch>
                    </p:blipFill>
                    <p:spPr>
                      <a:xfrm>
                        <a:off x="1836073" y="5589002"/>
                        <a:ext cx="2370138" cy="436562"/>
                      </a:xfrm>
                      <a:prstGeom prst="rect">
                        <a:avLst/>
                      </a:prstGeom>
                      <a:noFill/>
                      <a:ln w="38100">
                        <a:noFill/>
                        <a:miter/>
                      </a:ln>
                    </p:spPr>
                  </p:pic>
                </p:oleObj>
              </mc:Fallback>
            </mc:AlternateContent>
          </a:graphicData>
        </a:graphic>
      </p:graphicFrame>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2" name="文本框 1"/>
          <p:cNvSpPr txBox="1"/>
          <p:nvPr/>
        </p:nvSpPr>
        <p:spPr>
          <a:xfrm>
            <a:off x="411480" y="1772285"/>
            <a:ext cx="5650230" cy="1106805"/>
          </a:xfrm>
          <a:prstGeom prst="rect">
            <a:avLst/>
          </a:prstGeom>
          <a:noFill/>
          <a:ln>
            <a:solidFill>
              <a:srgbClr val="00B050"/>
            </a:solidFill>
          </a:ln>
        </p:spPr>
        <p:txBody>
          <a:bodyPr wrap="square" rtlCol="0" anchor="t">
            <a:spAutoFit/>
          </a:bodyPr>
          <a:p>
            <a:r>
              <a:rPr lang="zh-CN" altLang="en-US" dirty="0">
                <a:sym typeface="+mn-ea"/>
              </a:rPr>
              <a:t>普通圆柱螺旋弹簧的主要几何尺寸：外径</a:t>
            </a:r>
            <a:r>
              <a:rPr lang="en-US" altLang="zh-CN" i="1" dirty="0">
                <a:sym typeface="+mn-ea"/>
              </a:rPr>
              <a:t>D </a:t>
            </a:r>
            <a:r>
              <a:rPr lang="en-US" altLang="zh-CN" baseline="-25000" dirty="0">
                <a:sym typeface="+mn-ea"/>
              </a:rPr>
              <a:t>2</a:t>
            </a:r>
            <a:r>
              <a:rPr lang="zh-CN" altLang="en-US" dirty="0">
                <a:sym typeface="+mn-ea"/>
              </a:rPr>
              <a:t>、中径</a:t>
            </a:r>
            <a:r>
              <a:rPr lang="en-US" altLang="zh-CN" i="1" dirty="0">
                <a:sym typeface="+mn-ea"/>
              </a:rPr>
              <a:t>D</a:t>
            </a:r>
            <a:r>
              <a:rPr lang="zh-CN" altLang="en-US" dirty="0">
                <a:sym typeface="+mn-ea"/>
              </a:rPr>
              <a:t>、内径</a:t>
            </a:r>
            <a:r>
              <a:rPr lang="en-US" altLang="zh-CN" i="1" dirty="0">
                <a:sym typeface="+mn-ea"/>
              </a:rPr>
              <a:t>D</a:t>
            </a:r>
            <a:r>
              <a:rPr lang="en-US" altLang="zh-CN" baseline="-25000" dirty="0">
                <a:sym typeface="+mn-ea"/>
              </a:rPr>
              <a:t>1</a:t>
            </a:r>
            <a:r>
              <a:rPr lang="zh-CN" altLang="en-US" dirty="0">
                <a:sym typeface="+mn-ea"/>
              </a:rPr>
              <a:t>、节距</a:t>
            </a:r>
            <a:r>
              <a:rPr lang="en-US" altLang="zh-CN" i="1" dirty="0">
                <a:sym typeface="+mn-ea"/>
              </a:rPr>
              <a:t>p</a:t>
            </a:r>
            <a:r>
              <a:rPr lang="zh-CN" altLang="en-US" dirty="0">
                <a:sym typeface="+mn-ea"/>
              </a:rPr>
              <a:t>、螺旋升角</a:t>
            </a:r>
            <a:r>
              <a:rPr lang="zh-CN" altLang="en-US" i="1" dirty="0">
                <a:latin typeface="Webdings" panose="05030102010509060703" pitchFamily="18" charset="2"/>
                <a:sym typeface="Symbol" panose="05050102010706020507" pitchFamily="18" charset="2"/>
              </a:rPr>
              <a:t></a:t>
            </a:r>
            <a:r>
              <a:rPr lang="zh-CN" altLang="en-US" dirty="0">
                <a:latin typeface="Webdings" panose="05030102010509060703" pitchFamily="18" charset="2"/>
                <a:sym typeface="Symbol" panose="05050102010706020507" pitchFamily="18" charset="2"/>
              </a:rPr>
              <a:t> </a:t>
            </a:r>
            <a:r>
              <a:rPr lang="zh-CN" altLang="en-US" dirty="0">
                <a:sym typeface="+mn-ea"/>
              </a:rPr>
              <a:t>、弹簧丝直径</a:t>
            </a:r>
            <a:r>
              <a:rPr lang="en-US" altLang="zh-CN" i="1" dirty="0">
                <a:sym typeface="+mn-ea"/>
              </a:rPr>
              <a:t>d</a:t>
            </a:r>
            <a:r>
              <a:rPr lang="zh-CN" altLang="en-US" dirty="0">
                <a:sym typeface="+mn-ea"/>
              </a:rPr>
              <a:t>。</a:t>
            </a:r>
            <a:endParaRPr lang="zh-CN" altLang="en-US"/>
          </a:p>
        </p:txBody>
      </p:sp>
      <p:grpSp>
        <p:nvGrpSpPr>
          <p:cNvPr id="5" name="组合 4"/>
          <p:cNvGrpSpPr/>
          <p:nvPr/>
        </p:nvGrpSpPr>
        <p:grpSpPr>
          <a:xfrm>
            <a:off x="6228080" y="3068955"/>
            <a:ext cx="2357120" cy="3412490"/>
            <a:chOff x="9808" y="4833"/>
            <a:chExt cx="3712" cy="5374"/>
          </a:xfrm>
        </p:grpSpPr>
        <p:pic>
          <p:nvPicPr>
            <p:cNvPr id="47119" name="Picture 15"/>
            <p:cNvPicPr>
              <a:picLocks noChangeAspect="1"/>
            </p:cNvPicPr>
            <p:nvPr/>
          </p:nvPicPr>
          <p:blipFill>
            <a:blip r:embed="rId7"/>
            <a:stretch>
              <a:fillRect/>
            </a:stretch>
          </p:blipFill>
          <p:spPr>
            <a:xfrm>
              <a:off x="9808" y="4833"/>
              <a:ext cx="3712" cy="5375"/>
            </a:xfrm>
            <a:prstGeom prst="rect">
              <a:avLst/>
            </a:prstGeom>
            <a:noFill/>
            <a:ln w="9525">
              <a:noFill/>
            </a:ln>
          </p:spPr>
        </p:pic>
        <p:sp>
          <p:nvSpPr>
            <p:cNvPr id="4" name="文本框 3"/>
            <p:cNvSpPr txBox="1"/>
            <p:nvPr/>
          </p:nvSpPr>
          <p:spPr>
            <a:xfrm rot="16020000">
              <a:off x="10128" y="6239"/>
              <a:ext cx="414" cy="580"/>
            </a:xfrm>
            <a:prstGeom prst="rect">
              <a:avLst/>
            </a:prstGeom>
            <a:noFill/>
          </p:spPr>
          <p:txBody>
            <a:bodyPr wrap="square" rtlCol="0">
              <a:spAutoFit/>
            </a:bodyPr>
            <a:p>
              <a:r>
                <a:rPr lang="en-US" altLang="zh-CN" sz="1800" i="1">
                  <a:solidFill>
                    <a:srgbClr val="0070C0"/>
                  </a:solidFill>
                </a:rPr>
                <a:t>p</a:t>
              </a:r>
              <a:endParaRPr lang="en-US" altLang="zh-CN" sz="1800" i="1">
                <a:solidFill>
                  <a:srgbClr val="0070C0"/>
                </a:solidFill>
              </a:endParaRPr>
            </a:p>
          </p:txBody>
        </p:sp>
      </p:gr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1208"/>
                                        </p:tgtEl>
                                        <p:attrNameLst>
                                          <p:attrName>style.visibility</p:attrName>
                                        </p:attrNameLst>
                                      </p:cBhvr>
                                      <p:to>
                                        <p:strVal val="visible"/>
                                      </p:to>
                                    </p:set>
                                    <p:anim calcmode="lin" valueType="num">
                                      <p:cBhvr additive="base">
                                        <p:cTn id="7" dur="500" fill="hold"/>
                                        <p:tgtEl>
                                          <p:spTgt spid="51208"/>
                                        </p:tgtEl>
                                        <p:attrNameLst>
                                          <p:attrName>ppt_x</p:attrName>
                                        </p:attrNameLst>
                                      </p:cBhvr>
                                      <p:tavLst>
                                        <p:tav tm="0">
                                          <p:val>
                                            <p:strVal val="#ppt_x"/>
                                          </p:val>
                                        </p:tav>
                                        <p:tav tm="100000">
                                          <p:val>
                                            <p:strVal val="#ppt_x"/>
                                          </p:val>
                                        </p:tav>
                                      </p:tavLst>
                                    </p:anim>
                                    <p:anim calcmode="lin" valueType="num">
                                      <p:cBhvr additive="base">
                                        <p:cTn id="8" dur="500" fill="hold"/>
                                        <p:tgtEl>
                                          <p:spTgt spid="512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9"/>
                                        </p:tgtEl>
                                        <p:attrNameLst>
                                          <p:attrName>style.visibility</p:attrName>
                                        </p:attrNameLst>
                                      </p:cBhvr>
                                      <p:to>
                                        <p:strVal val="visible"/>
                                      </p:to>
                                    </p:set>
                                    <p:anim calcmode="lin" valueType="num">
                                      <p:cBhvr additive="base">
                                        <p:cTn id="13" dur="500" fill="hold"/>
                                        <p:tgtEl>
                                          <p:spTgt spid="51209"/>
                                        </p:tgtEl>
                                        <p:attrNameLst>
                                          <p:attrName>ppt_x</p:attrName>
                                        </p:attrNameLst>
                                      </p:cBhvr>
                                      <p:tavLst>
                                        <p:tav tm="0">
                                          <p:val>
                                            <p:strVal val="#ppt_x"/>
                                          </p:val>
                                        </p:tav>
                                        <p:tav tm="100000">
                                          <p:val>
                                            <p:strVal val="#ppt_x"/>
                                          </p:val>
                                        </p:tav>
                                      </p:tavLst>
                                    </p:anim>
                                    <p:anim calcmode="lin" valueType="num">
                                      <p:cBhvr additive="base">
                                        <p:cTn id="14" dur="500" fill="hold"/>
                                        <p:tgtEl>
                                          <p:spTgt spid="5120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1212"/>
                                        </p:tgtEl>
                                        <p:attrNameLst>
                                          <p:attrName>style.visibility</p:attrName>
                                        </p:attrNameLst>
                                      </p:cBhvr>
                                      <p:to>
                                        <p:strVal val="visible"/>
                                      </p:to>
                                    </p:set>
                                    <p:anim calcmode="lin" valueType="num">
                                      <p:cBhvr additive="base">
                                        <p:cTn id="24" dur="500" fill="hold"/>
                                        <p:tgtEl>
                                          <p:spTgt spid="51212"/>
                                        </p:tgtEl>
                                        <p:attrNameLst>
                                          <p:attrName>ppt_x</p:attrName>
                                        </p:attrNameLst>
                                      </p:cBhvr>
                                      <p:tavLst>
                                        <p:tav tm="0">
                                          <p:val>
                                            <p:strVal val="#ppt_x"/>
                                          </p:val>
                                        </p:tav>
                                        <p:tav tm="100000">
                                          <p:val>
                                            <p:strVal val="#ppt_x"/>
                                          </p:val>
                                        </p:tav>
                                      </p:tavLst>
                                    </p:anim>
                                    <p:anim calcmode="lin" valueType="num">
                                      <p:cBhvr additive="base">
                                        <p:cTn id="25" dur="500" fill="hold"/>
                                        <p:tgtEl>
                                          <p:spTgt spid="512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par>
                                <p:cTn id="31" presetID="2" presetClass="entr" presetSubtype="4" fill="hold" nodeType="withEffect">
                                  <p:stCondLst>
                                    <p:cond delay="0"/>
                                  </p:stCondLst>
                                  <p:childTnLst>
                                    <p:set>
                                      <p:cBhvr>
                                        <p:cTn id="32" dur="1" fill="hold">
                                          <p:stCondLst>
                                            <p:cond delay="0"/>
                                          </p:stCondLst>
                                        </p:cTn>
                                        <p:tgtEl>
                                          <p:spTgt spid="51211"/>
                                        </p:tgtEl>
                                        <p:attrNameLst>
                                          <p:attrName>style.visibility</p:attrName>
                                        </p:attrNameLst>
                                      </p:cBhvr>
                                      <p:to>
                                        <p:strVal val="visible"/>
                                      </p:to>
                                    </p:set>
                                    <p:anim calcmode="lin" valueType="num">
                                      <p:cBhvr additive="base">
                                        <p:cTn id="33" dur="500" fill="hold"/>
                                        <p:tgtEl>
                                          <p:spTgt spid="51211"/>
                                        </p:tgtEl>
                                        <p:attrNameLst>
                                          <p:attrName>ppt_x</p:attrName>
                                        </p:attrNameLst>
                                      </p:cBhvr>
                                      <p:tavLst>
                                        <p:tav tm="0">
                                          <p:val>
                                            <p:strVal val="#ppt_x"/>
                                          </p:val>
                                        </p:tav>
                                        <p:tav tm="100000">
                                          <p:val>
                                            <p:strVal val="#ppt_x"/>
                                          </p:val>
                                        </p:tav>
                                      </p:tavLst>
                                    </p:anim>
                                    <p:anim calcmode="lin" valueType="num">
                                      <p:cBhvr additive="base">
                                        <p:cTn id="34" dur="500" fill="hold"/>
                                        <p:tgtEl>
                                          <p:spTgt spid="512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1213"/>
                                        </p:tgtEl>
                                        <p:attrNameLst>
                                          <p:attrName>style.visibility</p:attrName>
                                        </p:attrNameLst>
                                      </p:cBhvr>
                                      <p:to>
                                        <p:strVal val="visible"/>
                                      </p:to>
                                    </p:set>
                                    <p:anim calcmode="lin" valueType="num">
                                      <p:cBhvr additive="base">
                                        <p:cTn id="39" dur="500" fill="hold"/>
                                        <p:tgtEl>
                                          <p:spTgt spid="51213"/>
                                        </p:tgtEl>
                                        <p:attrNameLst>
                                          <p:attrName>ppt_x</p:attrName>
                                        </p:attrNameLst>
                                      </p:cBhvr>
                                      <p:tavLst>
                                        <p:tav tm="0">
                                          <p:val>
                                            <p:strVal val="#ppt_x"/>
                                          </p:val>
                                        </p:tav>
                                        <p:tav tm="100000">
                                          <p:val>
                                            <p:strVal val="#ppt_x"/>
                                          </p:val>
                                        </p:tav>
                                      </p:tavLst>
                                    </p:anim>
                                    <p:anim calcmode="lin" valueType="num">
                                      <p:cBhvr additive="base">
                                        <p:cTn id="40" dur="500" fill="hold"/>
                                        <p:tgtEl>
                                          <p:spTgt spid="512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 grpId="0"/>
      <p:bldP spid="51209" grpId="0" bldLvl="0" animBg="1"/>
      <p:bldP spid="51212" grpId="0"/>
      <p:bldP spid="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17411"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828"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sp>
        <p:nvSpPr>
          <p:cNvPr id="2" name="文本框 1"/>
          <p:cNvSpPr txBox="1">
            <a:spLocks noRot="1" noChangeAspect="1" noMove="1" noResize="1" noEditPoints="1" noAdjustHandles="1" noChangeArrowheads="1" noChangeShapeType="1" noTextEdit="1"/>
          </p:cNvSpPr>
          <p:nvPr/>
        </p:nvSpPr>
        <p:spPr>
          <a:xfrm>
            <a:off x="513028" y="908685"/>
            <a:ext cx="8117633" cy="1836208"/>
          </a:xfrm>
          <a:prstGeom prst="rect">
            <a:avLst/>
          </a:prstGeom>
          <a:blipFill>
            <a:blip r:embed="rId3"/>
            <a:stretch>
              <a:fillRect l="-751" b="-4983"/>
            </a:stretch>
          </a:blipFill>
        </p:spPr>
        <p:txBody>
          <a:bodyPr/>
          <a:lstStyle/>
          <a:p>
            <a:r>
              <a:rPr lang="zh-CN" altLang="en-US">
                <a:noFill/>
              </a:rPr>
              <a:t> </a:t>
            </a:r>
            <a:endParaRPr lang="zh-CN" altLang="en-US">
              <a:noFill/>
            </a:endParaRPr>
          </a:p>
        </p:txBody>
      </p:sp>
      <p:pic>
        <p:nvPicPr>
          <p:cNvPr id="17416" name="图片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753" y="2888298"/>
            <a:ext cx="7680325"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50" descr="back1">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a:spLocks noRot="1" noChangeAspect="1" noMove="1" noResize="1" noEditPoints="1" noAdjustHandles="1" noChangeArrowheads="1" noChangeShapeType="1" noTextEdit="1"/>
          </p:cNvSpPr>
          <p:nvPr/>
        </p:nvSpPr>
        <p:spPr>
          <a:xfrm>
            <a:off x="468023" y="4764256"/>
            <a:ext cx="8041353" cy="1387367"/>
          </a:xfrm>
          <a:prstGeom prst="rect">
            <a:avLst/>
          </a:prstGeom>
          <a:blipFill>
            <a:blip r:embed="rId7"/>
            <a:stretch>
              <a:fillRect l="-834" b="-7018"/>
            </a:stretch>
          </a:blipFill>
        </p:spPr>
        <p:txBody>
          <a:bodyPr/>
          <a:lstStyle/>
          <a:p>
            <a:r>
              <a:rPr lang="zh-CN" altLang="en-US">
                <a:noFill/>
              </a:rPr>
              <a:t> </a:t>
            </a:r>
            <a:endParaRPr lang="zh-CN" altLang="en-US">
              <a:noFill/>
            </a:endParaRPr>
          </a:p>
        </p:txBody>
      </p:sp>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828"/>
                                        </p:tgtEl>
                                        <p:attrNameLst>
                                          <p:attrName>style.visibility</p:attrName>
                                        </p:attrNameLst>
                                      </p:cBhvr>
                                      <p:to>
                                        <p:strVal val="visible"/>
                                      </p:to>
                                    </p:set>
                                    <p:anim calcmode="lin" valueType="num">
                                      <p:cBhvr additive="base">
                                        <p:cTn id="7" dur="500" fill="hold"/>
                                        <p:tgtEl>
                                          <p:spTgt spid="117828"/>
                                        </p:tgtEl>
                                        <p:attrNameLst>
                                          <p:attrName>ppt_x</p:attrName>
                                        </p:attrNameLst>
                                      </p:cBhvr>
                                      <p:tavLst>
                                        <p:tav tm="0">
                                          <p:val>
                                            <p:strVal val="0-#ppt_w/2"/>
                                          </p:val>
                                        </p:tav>
                                        <p:tav tm="100000">
                                          <p:val>
                                            <p:strVal val="#ppt_x"/>
                                          </p:val>
                                        </p:tav>
                                      </p:tavLst>
                                    </p:anim>
                                    <p:anim calcmode="lin" valueType="num">
                                      <p:cBhvr additive="base">
                                        <p:cTn id="8" dur="500" fill="hold"/>
                                        <p:tgtEl>
                                          <p:spTgt spid="1178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2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8"/>
          <p:cNvSpPr txBox="1"/>
          <p:nvPr/>
        </p:nvSpPr>
        <p:spPr>
          <a:xfrm>
            <a:off x="6538913" y="62341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30723"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0724"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642938" y="214313"/>
            <a:ext cx="8501063"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普通圆柱螺旋压缩和拉伸弹簧的设计计算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pic>
        <p:nvPicPr>
          <p:cNvPr id="30726"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30727"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30728"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53256" name="文本框 3"/>
          <p:cNvSpPr txBox="1"/>
          <p:nvPr/>
        </p:nvSpPr>
        <p:spPr>
          <a:xfrm>
            <a:off x="467995" y="1483360"/>
            <a:ext cx="2898550" cy="43088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w="9525">
            <a:noFill/>
          </a:ln>
        </p:spPr>
        <p:txBody>
          <a:bodyPr wrap="none">
            <a:spAutoFit/>
          </a:bodyPr>
          <a:lstStyle/>
          <a:p>
            <a:r>
              <a:rPr lang="en-US" altLang="zh-CN" dirty="0">
                <a:solidFill>
                  <a:srgbClr val="002060"/>
                </a:solidFill>
                <a:latin typeface="华文中宋" panose="02010600040101010101" pitchFamily="2" charset="-122"/>
              </a:rPr>
              <a:t>2</a:t>
            </a:r>
            <a:r>
              <a:rPr lang="zh-CN" altLang="en-US" dirty="0">
                <a:solidFill>
                  <a:srgbClr val="002060"/>
                </a:solidFill>
                <a:latin typeface="华文中宋" panose="02010600040101010101" pitchFamily="2" charset="-122"/>
              </a:rPr>
              <a:t>、圆柱螺旋拉伸弹簧</a:t>
            </a:r>
            <a:endParaRPr lang="zh-CN" altLang="en-US" dirty="0">
              <a:solidFill>
                <a:srgbClr val="002060"/>
              </a:solidFill>
              <a:latin typeface="华文中宋" panose="02010600040101010101" pitchFamily="2" charset="-122"/>
            </a:endParaRPr>
          </a:p>
        </p:txBody>
      </p:sp>
      <p:pic>
        <p:nvPicPr>
          <p:cNvPr id="53258" name="图片 131076"/>
          <p:cNvPicPr>
            <a:picLocks noChangeAspect="1"/>
          </p:cNvPicPr>
          <p:nvPr/>
        </p:nvPicPr>
        <p:blipFill>
          <a:blip r:embed="rId5"/>
          <a:srcRect l="44524" t="15350" r="17992" b="39664"/>
          <a:stretch>
            <a:fillRect/>
          </a:stretch>
        </p:blipFill>
        <p:spPr>
          <a:xfrm>
            <a:off x="6143625" y="1352550"/>
            <a:ext cx="2598738" cy="1949450"/>
          </a:xfrm>
          <a:prstGeom prst="rect">
            <a:avLst/>
          </a:prstGeom>
          <a:noFill/>
          <a:ln w="9525">
            <a:noFill/>
          </a:ln>
        </p:spPr>
      </p:pic>
      <p:sp>
        <p:nvSpPr>
          <p:cNvPr id="53259" name="文本框 1"/>
          <p:cNvSpPr txBox="1"/>
          <p:nvPr/>
        </p:nvSpPr>
        <p:spPr>
          <a:xfrm>
            <a:off x="323528" y="908720"/>
            <a:ext cx="4416594" cy="430887"/>
          </a:xfrm>
          <a:prstGeom prst="rect">
            <a:avLst/>
          </a:prstGeom>
          <a:noFill/>
          <a:ln w="9525">
            <a:noFill/>
          </a:ln>
        </p:spPr>
        <p:txBody>
          <a:bodyPr wrap="none">
            <a:spAutoFit/>
          </a:bodyPr>
          <a:lstStyle/>
          <a:p>
            <a:r>
              <a:rPr lang="zh-CN" altLang="en-US" dirty="0">
                <a:solidFill>
                  <a:srgbClr val="C00000"/>
                </a:solidFill>
                <a:latin typeface="黑体" panose="02010609060101010101" pitchFamily="49" charset="-122"/>
                <a:ea typeface="黑体" panose="02010609060101010101" pitchFamily="49" charset="-122"/>
              </a:rPr>
              <a:t>一、普通圆柱螺旋弹簧的结构形式</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53260" name="文本框 99"/>
          <p:cNvSpPr txBox="1"/>
          <p:nvPr/>
        </p:nvSpPr>
        <p:spPr>
          <a:xfrm>
            <a:off x="641668" y="1988820"/>
            <a:ext cx="4757737" cy="2092325"/>
          </a:xfrm>
          <a:prstGeom prst="rect">
            <a:avLst/>
          </a:prstGeom>
          <a:noFill/>
          <a:ln w="9525">
            <a:noFill/>
          </a:ln>
        </p:spPr>
        <p:txBody>
          <a:bodyPr>
            <a:spAutoFit/>
          </a:bodyPr>
          <a:lstStyle/>
          <a:p>
            <a:pPr>
              <a:lnSpc>
                <a:spcPct val="130000"/>
              </a:lnSpc>
            </a:pPr>
            <a:r>
              <a:rPr lang="en-US" altLang="zh-CN" sz="2000" dirty="0">
                <a:solidFill>
                  <a:srgbClr val="000099"/>
                </a:solidFill>
                <a:latin typeface="Times New Roman" panose="02020603050405020304" pitchFamily="18" charset="0"/>
              </a:rPr>
              <a:t>        </a:t>
            </a:r>
            <a:r>
              <a:rPr lang="zh-CN" altLang="en-US" sz="2000" dirty="0">
                <a:solidFill>
                  <a:srgbClr val="000099"/>
                </a:solidFill>
                <a:latin typeface="Times New Roman" panose="02020603050405020304" pitchFamily="18" charset="0"/>
              </a:rPr>
              <a:t>拉伸弹簧分为无预应力和有预应力两种。拉伸弹簧空载时，各圈应相互压紧。若压紧的弹簧各圈之间具有一定的压紧力，使弹簧丝中也产生了一定的预应力，这就是有预应力的拉伸弹簧。</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sp>
        <p:nvSpPr>
          <p:cNvPr id="53262" name="文本框 7"/>
          <p:cNvSpPr txBox="1"/>
          <p:nvPr/>
        </p:nvSpPr>
        <p:spPr>
          <a:xfrm>
            <a:off x="611813" y="4365109"/>
            <a:ext cx="4756150" cy="1292225"/>
          </a:xfrm>
          <a:prstGeom prst="rect">
            <a:avLst/>
          </a:prstGeom>
          <a:noFill/>
          <a:ln w="9525">
            <a:noFill/>
          </a:ln>
        </p:spPr>
        <p:txBody>
          <a:bodyPr>
            <a:spAutoFit/>
          </a:bodyPr>
          <a:lstStyle/>
          <a:p>
            <a:pPr>
              <a:lnSpc>
                <a:spcPct val="130000"/>
              </a:lnSpc>
            </a:pPr>
            <a:r>
              <a:rPr lang="zh-CN" altLang="en-US" sz="2000" dirty="0">
                <a:solidFill>
                  <a:srgbClr val="000099"/>
                </a:solidFill>
                <a:latin typeface="Times New Roman" panose="02020603050405020304" pitchFamily="18" charset="0"/>
              </a:rPr>
              <a:t>        这种弹簧一定要在外加的拉力大于初拉力</a:t>
            </a:r>
            <a:r>
              <a:rPr lang="en-US" altLang="zh-CN" sz="2000" i="1" dirty="0">
                <a:solidFill>
                  <a:srgbClr val="000099"/>
                </a:solidFill>
                <a:latin typeface="Times New Roman" panose="02020603050405020304" pitchFamily="18" charset="0"/>
              </a:rPr>
              <a:t>F</a:t>
            </a:r>
            <a:r>
              <a:rPr lang="en-US" altLang="zh-CN" sz="2000" baseline="-25000" dirty="0">
                <a:solidFill>
                  <a:srgbClr val="000099"/>
                </a:solidFill>
                <a:latin typeface="Times New Roman" panose="02020603050405020304" pitchFamily="18" charset="0"/>
              </a:rPr>
              <a:t>0</a:t>
            </a:r>
            <a:r>
              <a:rPr lang="zh-CN" altLang="en-US" sz="2000" dirty="0">
                <a:solidFill>
                  <a:srgbClr val="000099"/>
                </a:solidFill>
                <a:latin typeface="Times New Roman" panose="02020603050405020304" pitchFamily="18" charset="0"/>
              </a:rPr>
              <a:t>后，各圈才开始分离，因此，比无预应力的拉伸弹簧节省轴向的工作空间。</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pic>
        <p:nvPicPr>
          <p:cNvPr id="49167" name="Picture 15"/>
          <p:cNvPicPr>
            <a:picLocks noChangeAspect="1"/>
          </p:cNvPicPr>
          <p:nvPr/>
        </p:nvPicPr>
        <p:blipFill>
          <a:blip r:embed="rId6"/>
          <a:stretch>
            <a:fillRect/>
          </a:stretch>
        </p:blipFill>
        <p:spPr>
          <a:xfrm>
            <a:off x="6572250" y="3286125"/>
            <a:ext cx="1585913" cy="3286125"/>
          </a:xfrm>
          <a:prstGeom prst="rect">
            <a:avLst/>
          </a:prstGeom>
          <a:noFill/>
          <a:ln w="9525">
            <a:noFill/>
          </a:ln>
        </p:spPr>
      </p:pic>
      <p:sp>
        <p:nvSpPr>
          <p:cNvPr id="30736"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3259"/>
                                        </p:tgtEl>
                                        <p:attrNameLst>
                                          <p:attrName>style.visibility</p:attrName>
                                        </p:attrNameLst>
                                      </p:cBhvr>
                                      <p:to>
                                        <p:strVal val="visible"/>
                                      </p:to>
                                    </p:set>
                                    <p:anim calcmode="lin" valueType="num">
                                      <p:cBhvr additive="base">
                                        <p:cTn id="7" dur="500" fill="hold"/>
                                        <p:tgtEl>
                                          <p:spTgt spid="53259"/>
                                        </p:tgtEl>
                                        <p:attrNameLst>
                                          <p:attrName>ppt_x</p:attrName>
                                        </p:attrNameLst>
                                      </p:cBhvr>
                                      <p:tavLst>
                                        <p:tav tm="0">
                                          <p:val>
                                            <p:strVal val="#ppt_x"/>
                                          </p:val>
                                        </p:tav>
                                        <p:tav tm="100000">
                                          <p:val>
                                            <p:strVal val="#ppt_x"/>
                                          </p:val>
                                        </p:tav>
                                      </p:tavLst>
                                    </p:anim>
                                    <p:anim calcmode="lin" valueType="num">
                                      <p:cBhvr additive="base">
                                        <p:cTn id="8" dur="500" fill="hold"/>
                                        <p:tgtEl>
                                          <p:spTgt spid="5325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6"/>
                                        </p:tgtEl>
                                        <p:attrNameLst>
                                          <p:attrName>style.visibility</p:attrName>
                                        </p:attrNameLst>
                                      </p:cBhvr>
                                      <p:to>
                                        <p:strVal val="visible"/>
                                      </p:to>
                                    </p:set>
                                    <p:anim calcmode="lin" valueType="num">
                                      <p:cBhvr additive="base">
                                        <p:cTn id="13" dur="500" fill="hold"/>
                                        <p:tgtEl>
                                          <p:spTgt spid="53256"/>
                                        </p:tgtEl>
                                        <p:attrNameLst>
                                          <p:attrName>ppt_x</p:attrName>
                                        </p:attrNameLst>
                                      </p:cBhvr>
                                      <p:tavLst>
                                        <p:tav tm="0">
                                          <p:val>
                                            <p:strVal val="#ppt_x"/>
                                          </p:val>
                                        </p:tav>
                                        <p:tav tm="100000">
                                          <p:val>
                                            <p:strVal val="#ppt_x"/>
                                          </p:val>
                                        </p:tav>
                                      </p:tavLst>
                                    </p:anim>
                                    <p:anim calcmode="lin" valueType="num">
                                      <p:cBhvr additive="base">
                                        <p:cTn id="14" dur="500" fill="hold"/>
                                        <p:tgtEl>
                                          <p:spTgt spid="5325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3260"/>
                                        </p:tgtEl>
                                        <p:attrNameLst>
                                          <p:attrName>style.visibility</p:attrName>
                                        </p:attrNameLst>
                                      </p:cBhvr>
                                      <p:to>
                                        <p:strVal val="visible"/>
                                      </p:to>
                                    </p:set>
                                    <p:anim calcmode="lin" valueType="num">
                                      <p:cBhvr additive="base">
                                        <p:cTn id="19" dur="500" fill="hold"/>
                                        <p:tgtEl>
                                          <p:spTgt spid="53260"/>
                                        </p:tgtEl>
                                        <p:attrNameLst>
                                          <p:attrName>ppt_x</p:attrName>
                                        </p:attrNameLst>
                                      </p:cBhvr>
                                      <p:tavLst>
                                        <p:tav tm="0">
                                          <p:val>
                                            <p:strVal val="#ppt_x"/>
                                          </p:val>
                                        </p:tav>
                                        <p:tav tm="100000">
                                          <p:val>
                                            <p:strVal val="#ppt_x"/>
                                          </p:val>
                                        </p:tav>
                                      </p:tavLst>
                                    </p:anim>
                                    <p:anim calcmode="lin" valueType="num">
                                      <p:cBhvr additive="base">
                                        <p:cTn id="20" dur="500" fill="hold"/>
                                        <p:tgtEl>
                                          <p:spTgt spid="5326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3258"/>
                                        </p:tgtEl>
                                        <p:attrNameLst>
                                          <p:attrName>style.visibility</p:attrName>
                                        </p:attrNameLst>
                                      </p:cBhvr>
                                      <p:to>
                                        <p:strVal val="visible"/>
                                      </p:to>
                                    </p:set>
                                    <p:anim calcmode="lin" valueType="num">
                                      <p:cBhvr additive="base">
                                        <p:cTn id="23" dur="500" fill="hold"/>
                                        <p:tgtEl>
                                          <p:spTgt spid="53258"/>
                                        </p:tgtEl>
                                        <p:attrNameLst>
                                          <p:attrName>ppt_x</p:attrName>
                                        </p:attrNameLst>
                                      </p:cBhvr>
                                      <p:tavLst>
                                        <p:tav tm="0">
                                          <p:val>
                                            <p:strVal val="#ppt_x"/>
                                          </p:val>
                                        </p:tav>
                                        <p:tav tm="100000">
                                          <p:val>
                                            <p:strVal val="#ppt_x"/>
                                          </p:val>
                                        </p:tav>
                                      </p:tavLst>
                                    </p:anim>
                                    <p:anim calcmode="lin" valueType="num">
                                      <p:cBhvr additive="base">
                                        <p:cTn id="24" dur="500" fill="hold"/>
                                        <p:tgtEl>
                                          <p:spTgt spid="53258"/>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0"/>
                                          </p:stCondLst>
                                        </p:cTn>
                                        <p:tgtEl>
                                          <p:spTgt spid="4916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53262"/>
                                        </p:tgtEl>
                                        <p:attrNameLst>
                                          <p:attrName>style.visibility</p:attrName>
                                        </p:attrNameLst>
                                      </p:cBhvr>
                                      <p:to>
                                        <p:strVal val="visible"/>
                                      </p:to>
                                    </p:set>
                                    <p:anim calcmode="lin" valueType="num">
                                      <p:cBhvr additive="base">
                                        <p:cTn id="32" dur="500" fill="hold"/>
                                        <p:tgtEl>
                                          <p:spTgt spid="53262"/>
                                        </p:tgtEl>
                                        <p:attrNameLst>
                                          <p:attrName>ppt_x</p:attrName>
                                        </p:attrNameLst>
                                      </p:cBhvr>
                                      <p:tavLst>
                                        <p:tav tm="0">
                                          <p:val>
                                            <p:strVal val="#ppt_x"/>
                                          </p:val>
                                        </p:tav>
                                        <p:tav tm="100000">
                                          <p:val>
                                            <p:strVal val="#ppt_x"/>
                                          </p:val>
                                        </p:tav>
                                      </p:tavLst>
                                    </p:anim>
                                    <p:anim calcmode="lin" valueType="num">
                                      <p:cBhvr additive="base">
                                        <p:cTn id="33" dur="500" fill="hold"/>
                                        <p:tgtEl>
                                          <p:spTgt spid="532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6" grpId="0" bldLvl="0" animBg="1"/>
      <p:bldP spid="53259" grpId="0"/>
      <p:bldP spid="53260" grpId="0"/>
      <p:bldP spid="5326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18435"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 Box 59"/>
          <p:cNvSpPr txBox="1">
            <a:spLocks noChangeArrowheads="1"/>
          </p:cNvSpPr>
          <p:nvPr/>
        </p:nvSpPr>
        <p:spPr bwMode="auto">
          <a:xfrm>
            <a:off x="919163" y="103188"/>
            <a:ext cx="5038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a:solidFill>
                  <a:schemeClr val="bg1"/>
                </a:solidFill>
                <a:latin typeface="Tahoma" panose="020B0604030504040204" pitchFamily="34" charset="0"/>
                <a:ea typeface="黑体" panose="02010609060101010101" pitchFamily="49" charset="-122"/>
              </a:rPr>
              <a:t>圆柱螺旋压缩</a:t>
            </a:r>
            <a:r>
              <a:rPr lang="en-US" altLang="zh-CN" sz="2400">
                <a:solidFill>
                  <a:schemeClr val="bg1"/>
                </a:solidFill>
                <a:latin typeface="Tahoma" panose="020B0604030504040204" pitchFamily="34" charset="0"/>
                <a:ea typeface="黑体" panose="02010609060101010101" pitchFamily="49" charset="-122"/>
              </a:rPr>
              <a:t>(</a:t>
            </a:r>
            <a:r>
              <a:rPr lang="zh-CN" altLang="en-US" sz="2400">
                <a:solidFill>
                  <a:schemeClr val="bg1"/>
                </a:solidFill>
                <a:latin typeface="Tahoma" panose="020B0604030504040204" pitchFamily="34" charset="0"/>
                <a:ea typeface="黑体" panose="02010609060101010101" pitchFamily="49" charset="-122"/>
              </a:rPr>
              <a:t>拉伸</a:t>
            </a:r>
            <a:r>
              <a:rPr lang="en-US" altLang="zh-CN" sz="2400">
                <a:solidFill>
                  <a:schemeClr val="bg1"/>
                </a:solidFill>
                <a:latin typeface="Tahoma" panose="020B0604030504040204" pitchFamily="34" charset="0"/>
                <a:ea typeface="黑体" panose="02010609060101010101" pitchFamily="49" charset="-122"/>
              </a:rPr>
              <a:t>)</a:t>
            </a:r>
            <a:r>
              <a:rPr lang="zh-CN" altLang="en-US" sz="2400">
                <a:solidFill>
                  <a:schemeClr val="bg1"/>
                </a:solidFill>
                <a:latin typeface="Tahoma" panose="020B0604030504040204" pitchFamily="34" charset="0"/>
                <a:ea typeface="黑体" panose="02010609060101010101" pitchFamily="49" charset="-122"/>
              </a:rPr>
              <a:t>弹簧的设计计算</a:t>
            </a:r>
            <a:endParaRPr lang="zh-CN" altLang="en-US" sz="2400">
              <a:solidFill>
                <a:schemeClr val="bg1"/>
              </a:solidFill>
              <a:latin typeface="Tahoma" panose="020B0604030504040204" pitchFamily="34" charset="0"/>
              <a:ea typeface="黑体" panose="02010609060101010101" pitchFamily="49" charset="-122"/>
            </a:endParaRPr>
          </a:p>
        </p:txBody>
      </p:sp>
      <p:sp>
        <p:nvSpPr>
          <p:cNvPr id="18438"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sp>
        <p:nvSpPr>
          <p:cNvPr id="18439" name="文本框 1"/>
          <p:cNvSpPr txBox="1">
            <a:spLocks noChangeArrowheads="1"/>
          </p:cNvSpPr>
          <p:nvPr/>
        </p:nvSpPr>
        <p:spPr bwMode="auto">
          <a:xfrm>
            <a:off x="395605" y="980440"/>
            <a:ext cx="8501063"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000"/>
              </a:lnSpc>
            </a:pPr>
            <a:r>
              <a:rPr lang="en-US" altLang="zh-CN"/>
              <a:t>        </a:t>
            </a:r>
            <a:r>
              <a:rPr lang="zh-CN" altLang="zh-CN">
                <a:solidFill>
                  <a:srgbClr val="FF0000"/>
                </a:solidFill>
              </a:rPr>
              <a:t>拉伸弹簧</a:t>
            </a:r>
            <a:r>
              <a:rPr lang="zh-CN" altLang="zh-CN"/>
              <a:t>的端部制有挂钩</a:t>
            </a:r>
            <a:r>
              <a:rPr lang="zh-CN" altLang="en-US"/>
              <a:t>，</a:t>
            </a:r>
            <a:r>
              <a:rPr lang="zh-CN" altLang="zh-CN"/>
              <a:t>以便安装和加载。挂钩的形式如</a:t>
            </a:r>
            <a:r>
              <a:rPr lang="zh-CN" altLang="en-US"/>
              <a:t>下</a:t>
            </a:r>
            <a:r>
              <a:rPr lang="zh-CN" altLang="zh-CN"/>
              <a:t>图所示。其中</a:t>
            </a:r>
            <a:r>
              <a:rPr lang="en-US" altLang="zh-CN"/>
              <a:t>L</a:t>
            </a:r>
            <a:r>
              <a:rPr lang="zh-CN" altLang="zh-CN"/>
              <a:t>Ⅰ型</a:t>
            </a:r>
            <a:r>
              <a:rPr lang="en-US" altLang="zh-CN"/>
              <a:t>(</a:t>
            </a:r>
            <a:r>
              <a:rPr lang="zh-CN" altLang="zh-CN"/>
              <a:t>半圆钩环</a:t>
            </a:r>
            <a:r>
              <a:rPr lang="en-US" altLang="zh-CN"/>
              <a:t>)</a:t>
            </a:r>
            <a:r>
              <a:rPr lang="zh-CN" altLang="zh-CN"/>
              <a:t>和</a:t>
            </a:r>
            <a:r>
              <a:rPr lang="en-US" altLang="zh-CN"/>
              <a:t>L</a:t>
            </a:r>
            <a:r>
              <a:rPr lang="zh-CN" altLang="zh-CN"/>
              <a:t>Ⅱ型（圆钩环）制造方便</a:t>
            </a:r>
            <a:r>
              <a:rPr lang="zh-CN" altLang="en-US"/>
              <a:t>，</a:t>
            </a:r>
            <a:r>
              <a:rPr lang="zh-CN" altLang="zh-CN"/>
              <a:t>应用很广。但因在挂钩过渡处产生很大的弯曲应力</a:t>
            </a:r>
            <a:r>
              <a:rPr lang="zh-CN" altLang="en-US"/>
              <a:t>，</a:t>
            </a:r>
            <a:r>
              <a:rPr lang="zh-CN" altLang="zh-CN"/>
              <a:t>故只宜用于弹簧丝直径</a:t>
            </a:r>
            <a:r>
              <a:rPr lang="en-US" altLang="zh-CN"/>
              <a:t>d≤10mm</a:t>
            </a:r>
            <a:r>
              <a:rPr lang="zh-CN" altLang="zh-CN"/>
              <a:t>的弹簧中。</a:t>
            </a:r>
            <a:r>
              <a:rPr lang="en-US" altLang="zh-CN"/>
              <a:t>LⅦ</a:t>
            </a:r>
            <a:r>
              <a:rPr lang="zh-CN" altLang="zh-CN"/>
              <a:t>、</a:t>
            </a:r>
            <a:r>
              <a:rPr lang="en-US" altLang="zh-CN"/>
              <a:t>LⅧ</a:t>
            </a:r>
            <a:r>
              <a:rPr lang="zh-CN" altLang="zh-CN"/>
              <a:t>型挂钩不与弹簧丝连一体</a:t>
            </a:r>
            <a:r>
              <a:rPr lang="zh-CN" altLang="en-US"/>
              <a:t>，</a:t>
            </a:r>
            <a:r>
              <a:rPr lang="zh-CN" altLang="zh-CN"/>
              <a:t>适用于受力较大的场合。</a:t>
            </a:r>
            <a:endParaRPr lang="zh-CN" altLang="zh-CN"/>
          </a:p>
        </p:txBody>
      </p:sp>
      <p:pic>
        <p:nvPicPr>
          <p:cNvPr id="18440"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图片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8700" y="2649538"/>
            <a:ext cx="4691063"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7171" name="Text Box 4"/>
          <p:cNvSpPr txBox="1">
            <a:spLocks noChangeArrowheads="1"/>
          </p:cNvSpPr>
          <p:nvPr/>
        </p:nvSpPr>
        <p:spPr bwMode="auto">
          <a:xfrm>
            <a:off x="251143" y="980123"/>
            <a:ext cx="4145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a:solidFill>
                  <a:srgbClr val="C00000"/>
                </a:solidFill>
                <a:latin typeface="黑体" panose="02010609060101010101" pitchFamily="49" charset="-122"/>
                <a:ea typeface="黑体" panose="02010609060101010101" pitchFamily="49" charset="-122"/>
              </a:rPr>
              <a:t>二、圆柱螺旋弹簧的几何参数</a:t>
            </a:r>
            <a:endParaRPr lang="zh-CN" altLang="en-US" sz="2400">
              <a:solidFill>
                <a:srgbClr val="C00000"/>
              </a:solidFill>
              <a:latin typeface="黑体" panose="02010609060101010101" pitchFamily="49" charset="-122"/>
              <a:ea typeface="黑体" panose="02010609060101010101" pitchFamily="49" charset="-122"/>
            </a:endParaRPr>
          </a:p>
        </p:txBody>
      </p:sp>
      <p:pic>
        <p:nvPicPr>
          <p:cNvPr id="19460"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pic>
        <p:nvPicPr>
          <p:cNvPr id="19464"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a:spLocks noRot="1" noChangeAspect="1" noMove="1" noResize="1" noEditPoints="1" noAdjustHandles="1" noChangeArrowheads="1" noChangeShapeType="1" noTextEdit="1"/>
          </p:cNvSpPr>
          <p:nvPr/>
        </p:nvSpPr>
        <p:spPr>
          <a:xfrm>
            <a:off x="439174" y="3572197"/>
            <a:ext cx="8214608" cy="400110"/>
          </a:xfrm>
          <a:prstGeom prst="rect">
            <a:avLst/>
          </a:prstGeom>
          <a:blipFill>
            <a:blip r:embed="rId5"/>
            <a:stretch>
              <a:fillRect l="-817" t="-9231" b="-27692"/>
            </a:stretch>
          </a:blipFill>
        </p:spPr>
        <p:txBody>
          <a:bodyPr/>
          <a:lstStyle/>
          <a:p>
            <a:r>
              <a:rPr lang="zh-CN" altLang="en-US">
                <a:noFill/>
              </a:rPr>
              <a:t> </a:t>
            </a:r>
            <a:endParaRPr lang="zh-CN" altLang="en-US">
              <a:noFill/>
            </a:endParaRPr>
          </a:p>
        </p:txBody>
      </p:sp>
      <p:sp>
        <p:nvSpPr>
          <p:cNvPr id="6" name="文本框 5"/>
          <p:cNvSpPr txBox="1">
            <a:spLocks noChangeArrowheads="1"/>
          </p:cNvSpPr>
          <p:nvPr/>
        </p:nvSpPr>
        <p:spPr bwMode="auto">
          <a:xfrm>
            <a:off x="251143" y="4184968"/>
            <a:ext cx="81692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en-US" altLang="zh-CN"/>
              <a:t>        </a:t>
            </a:r>
            <a:r>
              <a:rPr lang="zh-CN" altLang="zh-CN"/>
              <a:t>弹簧的旋向可以是右旋或左旋，但无特殊要求时，一般都用右旋。</a:t>
            </a:r>
            <a:endParaRPr lang="zh-CN" altLang="zh-CN"/>
          </a:p>
        </p:txBody>
      </p:sp>
      <p:sp>
        <p:nvSpPr>
          <p:cNvPr id="7" name="文本框 6"/>
          <p:cNvSpPr txBox="1">
            <a:spLocks noChangeArrowheads="1"/>
          </p:cNvSpPr>
          <p:nvPr/>
        </p:nvSpPr>
        <p:spPr bwMode="auto">
          <a:xfrm>
            <a:off x="341313" y="4725035"/>
            <a:ext cx="8375650"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lang="en-US" altLang="zh-CN"/>
              <a:t>        </a:t>
            </a:r>
            <a:r>
              <a:rPr lang="zh-CN" altLang="zh-CN"/>
              <a:t>普通圆柱螺旋压缩及拉伸弹簧的结构尺寸计算公式见</a:t>
            </a:r>
            <a:r>
              <a:rPr lang="zh-CN" altLang="zh-CN">
                <a:solidFill>
                  <a:srgbClr val="C00000"/>
                </a:solidFill>
                <a:hlinkClick r:id="rId6" action="ppaction://hlinksldjump"/>
              </a:rPr>
              <a:t>表</a:t>
            </a:r>
            <a:r>
              <a:rPr lang="en-US" altLang="zh-CN">
                <a:solidFill>
                  <a:srgbClr val="C00000"/>
                </a:solidFill>
                <a:hlinkClick r:id="rId6" action="ppaction://hlinksldjump"/>
              </a:rPr>
              <a:t>3.12-5</a:t>
            </a:r>
            <a:r>
              <a:rPr lang="zh-CN" altLang="zh-CN"/>
              <a:t>。计算出的弹簧丝直径</a:t>
            </a:r>
            <a:r>
              <a:rPr lang="en-US" altLang="zh-CN"/>
              <a:t>d</a:t>
            </a:r>
            <a:r>
              <a:rPr lang="zh-CN" altLang="zh-CN"/>
              <a:t>及弹簧中径</a:t>
            </a:r>
            <a:r>
              <a:rPr lang="en-US" altLang="zh-CN"/>
              <a:t>D</a:t>
            </a:r>
            <a:r>
              <a:rPr lang="zh-CN" altLang="zh-CN"/>
              <a:t>等按</a:t>
            </a:r>
            <a:r>
              <a:rPr lang="zh-CN" altLang="zh-CN">
                <a:solidFill>
                  <a:srgbClr val="C00000"/>
                </a:solidFill>
                <a:hlinkClick r:id="rId7" action="ppaction://hlinksldjump"/>
              </a:rPr>
              <a:t>表</a:t>
            </a:r>
            <a:r>
              <a:rPr lang="en-US" altLang="zh-CN">
                <a:solidFill>
                  <a:srgbClr val="C00000"/>
                </a:solidFill>
                <a:hlinkClick r:id="rId7" action="ppaction://hlinksldjump"/>
              </a:rPr>
              <a:t>3.12-6</a:t>
            </a:r>
            <a:r>
              <a:rPr lang="zh-CN" altLang="zh-CN"/>
              <a:t>的数值圆整。</a:t>
            </a:r>
            <a:endParaRPr lang="zh-CN" altLang="zh-CN"/>
          </a:p>
        </p:txBody>
      </p:sp>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8" name="文本框 7"/>
          <p:cNvSpPr txBox="1"/>
          <p:nvPr/>
        </p:nvSpPr>
        <p:spPr>
          <a:xfrm>
            <a:off x="650240" y="1533525"/>
            <a:ext cx="7738745" cy="937260"/>
          </a:xfrm>
          <a:prstGeom prst="rect">
            <a:avLst/>
          </a:prstGeom>
          <a:noFill/>
        </p:spPr>
        <p:txBody>
          <a:bodyPr wrap="square" rtlCol="0">
            <a:spAutoFit/>
          </a:bodyPr>
          <a:p>
            <a:pPr>
              <a:lnSpc>
                <a:spcPts val="3300"/>
              </a:lnSpc>
            </a:pPr>
            <a:r>
              <a:rPr lang="zh-CN" altLang="en-US"/>
              <a:t>普通圆柱螺旋弹簧的主要几何参数有：外径</a:t>
            </a:r>
            <a:r>
              <a:rPr lang="en-US" altLang="zh-CN"/>
              <a:t>D</a:t>
            </a:r>
            <a:r>
              <a:rPr lang="en-US" altLang="zh-CN" baseline="-25000"/>
              <a:t>2</a:t>
            </a:r>
            <a:r>
              <a:rPr lang="zh-CN" altLang="en-US"/>
              <a:t>、中径</a:t>
            </a:r>
            <a:r>
              <a:rPr lang="en-US" altLang="zh-CN"/>
              <a:t>D</a:t>
            </a:r>
            <a:r>
              <a:rPr lang="zh-CN" altLang="en-US"/>
              <a:t>、内径</a:t>
            </a:r>
            <a:r>
              <a:rPr lang="en-US" altLang="zh-CN"/>
              <a:t>D</a:t>
            </a:r>
            <a:r>
              <a:rPr lang="en-US" altLang="zh-CN" baseline="-25000"/>
              <a:t>1</a:t>
            </a:r>
            <a:r>
              <a:rPr lang="zh-CN" altLang="en-US"/>
              <a:t>、节距</a:t>
            </a:r>
            <a:r>
              <a:rPr lang="en-US" altLang="zh-CN"/>
              <a:t>p</a:t>
            </a:r>
            <a:r>
              <a:rPr lang="zh-CN" altLang="en-US"/>
              <a:t>、螺旋升角</a:t>
            </a:r>
            <a:r>
              <a:rPr lang="zh-CN" altLang="en-US">
                <a:latin typeface="Arial" panose="020B0604020202020204" pitchFamily="34" charset="0"/>
                <a:cs typeface="Arial" panose="020B0604020202020204" pitchFamily="34" charset="0"/>
              </a:rPr>
              <a:t>α</a:t>
            </a:r>
            <a:r>
              <a:rPr lang="zh-CN" altLang="en-US"/>
              <a:t>和弹簧丝直径</a:t>
            </a:r>
            <a:r>
              <a:rPr lang="en-US" altLang="zh-CN"/>
              <a:t>d</a:t>
            </a:r>
            <a:r>
              <a:rPr lang="zh-CN" altLang="en-US"/>
              <a:t>。它们之间的关系为：</a:t>
            </a:r>
            <a:endParaRPr lang="zh-CN" altLang="en-US"/>
          </a:p>
        </p:txBody>
      </p:sp>
      <p:graphicFrame>
        <p:nvGraphicFramePr>
          <p:cNvPr id="2" name="对象 1">
            <a:hlinkClick r:id="" action="ppaction://ole?verb="/>
          </p:cNvPr>
          <p:cNvGraphicFramePr>
            <a:graphicFrameLocks noChangeAspect="1"/>
          </p:cNvGraphicFramePr>
          <p:nvPr/>
        </p:nvGraphicFramePr>
        <p:xfrm>
          <a:off x="3060065" y="2636520"/>
          <a:ext cx="1801495" cy="786765"/>
        </p:xfrm>
        <a:graphic>
          <a:graphicData uri="http://schemas.openxmlformats.org/presentationml/2006/ole">
            <mc:AlternateContent xmlns:mc="http://schemas.openxmlformats.org/markup-compatibility/2006">
              <mc:Choice xmlns:v="urn:schemas-microsoft-com:vml" Requires="v">
                <p:oleObj spid="_x0000_s1025" name="" r:id="rId8" imgW="901700" imgH="393700" progId="Equation.KSEE3">
                  <p:embed/>
                </p:oleObj>
              </mc:Choice>
              <mc:Fallback>
                <p:oleObj name="" r:id="rId8" imgW="901700" imgH="393700" progId="Equation.KSEE3">
                  <p:embed/>
                  <p:pic>
                    <p:nvPicPr>
                      <p:cNvPr id="0" name="图片 1024"/>
                      <p:cNvPicPr/>
                      <p:nvPr/>
                    </p:nvPicPr>
                    <p:blipFill>
                      <a:blip r:embed="rId9"/>
                      <a:stretch>
                        <a:fillRect/>
                      </a:stretch>
                    </p:blipFill>
                    <p:spPr>
                      <a:xfrm>
                        <a:off x="3060065" y="2636520"/>
                        <a:ext cx="1801495" cy="78676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7171" name="Text Box 4"/>
          <p:cNvSpPr txBox="1">
            <a:spLocks noChangeArrowheads="1"/>
          </p:cNvSpPr>
          <p:nvPr/>
        </p:nvSpPr>
        <p:spPr bwMode="auto">
          <a:xfrm>
            <a:off x="611505" y="908368"/>
            <a:ext cx="4145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dirty="0">
                <a:solidFill>
                  <a:srgbClr val="C00000"/>
                </a:solidFill>
                <a:latin typeface="黑体" panose="02010609060101010101" pitchFamily="49" charset="-122"/>
                <a:ea typeface="黑体" panose="02010609060101010101" pitchFamily="49" charset="-122"/>
              </a:rPr>
              <a:t>三、圆柱螺旋弹簧的特性曲线</a:t>
            </a:r>
            <a:endParaRPr lang="zh-CN" altLang="en-US" sz="2400" dirty="0">
              <a:solidFill>
                <a:srgbClr val="C00000"/>
              </a:solidFill>
              <a:latin typeface="黑体" panose="02010609060101010101" pitchFamily="49" charset="-122"/>
              <a:ea typeface="黑体" panose="02010609060101010101" pitchFamily="49" charset="-122"/>
            </a:endParaRPr>
          </a:p>
        </p:txBody>
      </p:sp>
      <p:pic>
        <p:nvPicPr>
          <p:cNvPr id="20484"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pic>
        <p:nvPicPr>
          <p:cNvPr id="20488"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a:spLocks noChangeArrowheads="1"/>
          </p:cNvSpPr>
          <p:nvPr/>
        </p:nvSpPr>
        <p:spPr bwMode="auto">
          <a:xfrm>
            <a:off x="467678" y="1484630"/>
            <a:ext cx="8264525"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kumimoji="0" lang="zh-CN" altLang="en-US">
                <a:latin typeface="Arial" panose="020B0604020202020204" pitchFamily="34" charset="0"/>
              </a:rPr>
              <a:t>       等节距圆柱螺旋压缩（拉伸）弹簧，</a:t>
            </a:r>
            <a:r>
              <a:rPr kumimoji="0" lang="en-US" altLang="zh-CN">
                <a:latin typeface="Times" panose="02020603050405020304" pitchFamily="18" charset="0"/>
              </a:rPr>
              <a:t>F</a:t>
            </a:r>
            <a:r>
              <a:rPr kumimoji="0" lang="zh-CN" altLang="en-US">
                <a:latin typeface="Arial" panose="020B0604020202020204" pitchFamily="34" charset="0"/>
              </a:rPr>
              <a:t>与</a:t>
            </a:r>
            <a:r>
              <a:rPr kumimoji="0" lang="en-US" altLang="zh-CN">
                <a:solidFill>
                  <a:srgbClr val="FF0000"/>
                </a:solidFill>
                <a:latin typeface="Times" panose="02020603050405020304" pitchFamily="18" charset="0"/>
              </a:rPr>
              <a:t>λ</a:t>
            </a:r>
            <a:r>
              <a:rPr kumimoji="0" lang="zh-CN" altLang="en-US">
                <a:latin typeface="Times" panose="02020603050405020304" pitchFamily="18" charset="0"/>
              </a:rPr>
              <a:t>呈线性变化，其特性曲线为一直线。压缩弹簧的特性曲线如图所示。</a:t>
            </a:r>
            <a:endParaRPr lang="zh-CN" altLang="en-US"/>
          </a:p>
        </p:txBody>
      </p:sp>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grpSp>
        <p:nvGrpSpPr>
          <p:cNvPr id="7" name="组合 6"/>
          <p:cNvGrpSpPr/>
          <p:nvPr/>
        </p:nvGrpSpPr>
        <p:grpSpPr>
          <a:xfrm>
            <a:off x="2554605" y="2689225"/>
            <a:ext cx="4034790" cy="3462020"/>
            <a:chOff x="4023" y="4235"/>
            <a:chExt cx="6354" cy="5452"/>
          </a:xfrm>
        </p:grpSpPr>
        <p:pic>
          <p:nvPicPr>
            <p:cNvPr id="1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23" y="4235"/>
              <a:ext cx="6355" cy="5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rot="16020000">
              <a:off x="6585" y="7972"/>
              <a:ext cx="496" cy="598"/>
            </a:xfrm>
            <a:prstGeom prst="rect">
              <a:avLst/>
            </a:prstGeom>
            <a:solidFill>
              <a:schemeClr val="bg1"/>
            </a:solidFill>
          </p:spPr>
          <p:txBody>
            <a:bodyPr wrap="square" rtlCol="0">
              <a:noAutofit/>
            </a:bodyPr>
            <a:p>
              <a:r>
                <a:rPr lang="en-US" altLang="zh-CN" sz="2000" i="1">
                  <a:solidFill>
                    <a:srgbClr val="FF0000"/>
                  </a:solidFill>
                  <a:latin typeface="黑体" panose="02010609060101010101" pitchFamily="49" charset="-122"/>
                  <a:ea typeface="黑体" panose="02010609060101010101" pitchFamily="49" charset="-122"/>
                </a:rPr>
                <a:t>D</a:t>
              </a:r>
              <a:endParaRPr lang="en-US" altLang="zh-CN" sz="2000" i="1">
                <a:solidFill>
                  <a:srgbClr val="FF0000"/>
                </a:solidFill>
                <a:latin typeface="黑体" panose="02010609060101010101" pitchFamily="49" charset="-122"/>
                <a:ea typeface="黑体" panose="02010609060101010101" pitchFamily="49" charset="-122"/>
              </a:endParaRPr>
            </a:p>
          </p:txBody>
        </p:sp>
        <p:sp>
          <p:nvSpPr>
            <p:cNvPr id="5" name="文本框 4"/>
            <p:cNvSpPr txBox="1"/>
            <p:nvPr/>
          </p:nvSpPr>
          <p:spPr>
            <a:xfrm rot="16200000">
              <a:off x="6010" y="8040"/>
              <a:ext cx="634" cy="561"/>
            </a:xfrm>
            <a:prstGeom prst="rect">
              <a:avLst/>
            </a:prstGeom>
            <a:solidFill>
              <a:schemeClr val="bg1"/>
            </a:solidFill>
          </p:spPr>
          <p:txBody>
            <a:bodyPr wrap="square" rtlCol="0">
              <a:noAutofit/>
            </a:bodyPr>
            <a:p>
              <a:r>
                <a:rPr lang="en-US" altLang="zh-CN" sz="2000" i="1">
                  <a:solidFill>
                    <a:srgbClr val="FF0000"/>
                  </a:solidFill>
                  <a:latin typeface="黑体" panose="02010609060101010101" pitchFamily="49" charset="-122"/>
                  <a:ea typeface="黑体" panose="02010609060101010101" pitchFamily="49" charset="-122"/>
                </a:rPr>
                <a:t>D</a:t>
              </a:r>
              <a:r>
                <a:rPr lang="en-US" altLang="zh-CN" sz="2000" i="1" baseline="-25000">
                  <a:solidFill>
                    <a:srgbClr val="FF0000"/>
                  </a:solidFill>
                  <a:latin typeface="黑体" panose="02010609060101010101" pitchFamily="49" charset="-122"/>
                  <a:ea typeface="黑体" panose="02010609060101010101" pitchFamily="49" charset="-122"/>
                </a:rPr>
                <a:t>2</a:t>
              </a:r>
              <a:endParaRPr lang="en-US" altLang="zh-CN" sz="2000" i="1" baseline="-25000">
                <a:solidFill>
                  <a:srgbClr val="FF0000"/>
                </a:solidFill>
                <a:latin typeface="黑体" panose="02010609060101010101" pitchFamily="49" charset="-122"/>
                <a:ea typeface="黑体" panose="02010609060101010101" pitchFamily="49" charset="-122"/>
              </a:endParaRPr>
            </a:p>
          </p:txBody>
        </p:sp>
        <p:sp>
          <p:nvSpPr>
            <p:cNvPr id="6" name="文本框 5"/>
            <p:cNvSpPr txBox="1"/>
            <p:nvPr/>
          </p:nvSpPr>
          <p:spPr>
            <a:xfrm rot="16200000">
              <a:off x="5467" y="8039"/>
              <a:ext cx="624" cy="561"/>
            </a:xfrm>
            <a:prstGeom prst="rect">
              <a:avLst/>
            </a:prstGeom>
            <a:solidFill>
              <a:schemeClr val="bg1"/>
            </a:solidFill>
          </p:spPr>
          <p:txBody>
            <a:bodyPr wrap="square" rtlCol="0">
              <a:noAutofit/>
            </a:bodyPr>
            <a:p>
              <a:r>
                <a:rPr lang="en-US" altLang="zh-CN" sz="2000" i="1">
                  <a:solidFill>
                    <a:srgbClr val="FF0000"/>
                  </a:solidFill>
                  <a:latin typeface="黑体" panose="02010609060101010101" pitchFamily="49" charset="-122"/>
                  <a:ea typeface="黑体" panose="02010609060101010101" pitchFamily="49" charset="-122"/>
                </a:rPr>
                <a:t>D</a:t>
              </a:r>
              <a:r>
                <a:rPr lang="en-US" altLang="zh-CN" sz="2000" i="1" baseline="-25000">
                  <a:solidFill>
                    <a:srgbClr val="FF0000"/>
                  </a:solidFill>
                  <a:latin typeface="黑体" panose="02010609060101010101" pitchFamily="49" charset="-122"/>
                  <a:ea typeface="黑体" panose="02010609060101010101" pitchFamily="49" charset="-122"/>
                </a:rPr>
                <a:t>1</a:t>
              </a:r>
              <a:endParaRPr lang="en-US" altLang="zh-CN" sz="2000" i="1" baseline="-25000">
                <a:solidFill>
                  <a:srgbClr val="FF0000"/>
                </a:solidFill>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wipe(left)">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21507"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828"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pic>
        <p:nvPicPr>
          <p:cNvPr id="21511"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4225" y="2511425"/>
            <a:ext cx="4216400" cy="361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13" name="文本框 1"/>
          <p:cNvSpPr txBox="1">
            <a:spLocks noChangeArrowheads="1"/>
          </p:cNvSpPr>
          <p:nvPr/>
        </p:nvSpPr>
        <p:spPr bwMode="auto">
          <a:xfrm>
            <a:off x="425450" y="914400"/>
            <a:ext cx="8293100" cy="1438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kumimoji="0" lang="en-US" altLang="zh-CN" dirty="0">
                <a:latin typeface="Arial" panose="020B0604020202020204" pitchFamily="34" charset="0"/>
              </a:rPr>
              <a:t>       </a:t>
            </a:r>
            <a:r>
              <a:rPr kumimoji="0" lang="zh-CN" altLang="en-US" dirty="0">
                <a:latin typeface="Arial" panose="020B0604020202020204" pitchFamily="34" charset="0"/>
              </a:rPr>
              <a:t>图中</a:t>
            </a:r>
            <a:r>
              <a:rPr kumimoji="0" lang="en-US" altLang="zh-CN" dirty="0">
                <a:solidFill>
                  <a:srgbClr val="C00000"/>
                </a:solidFill>
                <a:latin typeface="Times" panose="02020603050405020304" pitchFamily="18" charset="0"/>
              </a:rPr>
              <a:t>F</a:t>
            </a:r>
            <a:r>
              <a:rPr kumimoji="0" lang="en-US" altLang="zh-CN" baseline="-30000" dirty="0">
                <a:solidFill>
                  <a:srgbClr val="C00000"/>
                </a:solidFill>
                <a:latin typeface="Times" panose="02020603050405020304" pitchFamily="18" charset="0"/>
              </a:rPr>
              <a:t>1</a:t>
            </a:r>
            <a:r>
              <a:rPr kumimoji="0" lang="zh-CN" altLang="en-US" dirty="0">
                <a:latin typeface="Arial" panose="020B0604020202020204" pitchFamily="34" charset="0"/>
              </a:rPr>
              <a:t>为最小工作载荷，它是弹簧安装时所预加的初始载荷。在</a:t>
            </a:r>
            <a:r>
              <a:rPr kumimoji="0" lang="en-US" altLang="zh-CN" dirty="0">
                <a:latin typeface="Times" panose="02020603050405020304" pitchFamily="18" charset="0"/>
              </a:rPr>
              <a:t>F</a:t>
            </a:r>
            <a:r>
              <a:rPr kumimoji="0" lang="en-US" altLang="zh-CN" baseline="-30000" dirty="0">
                <a:latin typeface="Times" panose="02020603050405020304" pitchFamily="18" charset="0"/>
              </a:rPr>
              <a:t>1</a:t>
            </a:r>
            <a:r>
              <a:rPr kumimoji="0" lang="zh-CN" altLang="en-US" dirty="0">
                <a:latin typeface="Arial" panose="020B0604020202020204" pitchFamily="34" charset="0"/>
              </a:rPr>
              <a:t>的作用下，弹簧产生最小变形</a:t>
            </a:r>
            <a:r>
              <a:rPr kumimoji="0" lang="en-US" altLang="zh-CN" dirty="0">
                <a:solidFill>
                  <a:srgbClr val="C00000"/>
                </a:solidFill>
                <a:latin typeface="Times" panose="02020603050405020304" pitchFamily="18" charset="0"/>
              </a:rPr>
              <a:t>λ</a:t>
            </a:r>
            <a:r>
              <a:rPr kumimoji="0" lang="en-US" altLang="zh-CN" baseline="-30000" dirty="0">
                <a:solidFill>
                  <a:srgbClr val="C00000"/>
                </a:solidFill>
                <a:latin typeface="Times" panose="02020603050405020304" pitchFamily="18" charset="0"/>
              </a:rPr>
              <a:t>1 </a:t>
            </a:r>
            <a:r>
              <a:rPr kumimoji="0" lang="zh-CN" altLang="en-US" dirty="0">
                <a:latin typeface="Times" panose="02020603050405020304" pitchFamily="18" charset="0"/>
              </a:rPr>
              <a:t>，其高度由自由高度</a:t>
            </a:r>
            <a:r>
              <a:rPr kumimoji="0" lang="en-US" altLang="zh-CN" dirty="0">
                <a:latin typeface="Times" panose="02020603050405020304" pitchFamily="18" charset="0"/>
              </a:rPr>
              <a:t>H</a:t>
            </a:r>
            <a:r>
              <a:rPr kumimoji="0" lang="en-US" altLang="zh-CN" baseline="-30000" dirty="0">
                <a:latin typeface="Times" panose="02020603050405020304" pitchFamily="18" charset="0"/>
              </a:rPr>
              <a:t>0</a:t>
            </a:r>
            <a:r>
              <a:rPr kumimoji="0" lang="zh-CN" altLang="en-US" dirty="0">
                <a:latin typeface="Times" panose="02020603050405020304" pitchFamily="18" charset="0"/>
              </a:rPr>
              <a:t>压缩到</a:t>
            </a:r>
            <a:r>
              <a:rPr kumimoji="0" lang="en-US" altLang="zh-CN" dirty="0">
                <a:latin typeface="Times" panose="02020603050405020304" pitchFamily="18" charset="0"/>
              </a:rPr>
              <a:t>H</a:t>
            </a:r>
            <a:r>
              <a:rPr kumimoji="0" lang="en-US" altLang="zh-CN" baseline="-30000" dirty="0">
                <a:latin typeface="Times" panose="02020603050405020304" pitchFamily="18" charset="0"/>
              </a:rPr>
              <a:t>1 </a:t>
            </a:r>
            <a:r>
              <a:rPr kumimoji="0" lang="zh-CN" altLang="en-US" dirty="0">
                <a:latin typeface="Times" panose="02020603050405020304" pitchFamily="18" charset="0"/>
              </a:rPr>
              <a:t>。</a:t>
            </a:r>
            <a:r>
              <a:rPr kumimoji="0" lang="en-US" altLang="zh-CN" dirty="0">
                <a:solidFill>
                  <a:srgbClr val="C00000"/>
                </a:solidFill>
                <a:latin typeface="Times" panose="02020603050405020304" pitchFamily="18" charset="0"/>
              </a:rPr>
              <a:t>F</a:t>
            </a:r>
            <a:r>
              <a:rPr kumimoji="0" lang="en-US" altLang="zh-CN" baseline="-30000" dirty="0">
                <a:solidFill>
                  <a:srgbClr val="C00000"/>
                </a:solidFill>
                <a:latin typeface="Times" panose="02020603050405020304" pitchFamily="18" charset="0"/>
              </a:rPr>
              <a:t>2</a:t>
            </a:r>
            <a:r>
              <a:rPr kumimoji="0" lang="zh-CN" altLang="en-US" dirty="0">
                <a:latin typeface="Times" panose="02020603050405020304" pitchFamily="18" charset="0"/>
              </a:rPr>
              <a:t>为最大工作载荷，在</a:t>
            </a:r>
            <a:r>
              <a:rPr kumimoji="0" lang="en-US" altLang="zh-CN" dirty="0">
                <a:latin typeface="Times" panose="02020603050405020304" pitchFamily="18" charset="0"/>
              </a:rPr>
              <a:t>F</a:t>
            </a:r>
            <a:r>
              <a:rPr kumimoji="0" lang="en-US" altLang="zh-CN" baseline="-30000" dirty="0">
                <a:latin typeface="Times" panose="02020603050405020304" pitchFamily="18" charset="0"/>
              </a:rPr>
              <a:t>2</a:t>
            </a:r>
            <a:r>
              <a:rPr kumimoji="0" lang="zh-CN" altLang="en-US" dirty="0">
                <a:latin typeface="Times" panose="02020603050405020304" pitchFamily="18" charset="0"/>
              </a:rPr>
              <a:t>的作用下，弹簧变形增加到</a:t>
            </a:r>
            <a:r>
              <a:rPr kumimoji="0" lang="en-US" altLang="zh-CN" dirty="0">
                <a:solidFill>
                  <a:srgbClr val="C00000"/>
                </a:solidFill>
                <a:latin typeface="Times" panose="02020603050405020304" pitchFamily="18" charset="0"/>
              </a:rPr>
              <a:t>λ</a:t>
            </a:r>
            <a:r>
              <a:rPr kumimoji="0" lang="en-US" altLang="zh-CN" baseline="-30000" dirty="0">
                <a:solidFill>
                  <a:srgbClr val="C00000"/>
                </a:solidFill>
                <a:latin typeface="Times" panose="02020603050405020304" pitchFamily="18" charset="0"/>
              </a:rPr>
              <a:t>2</a:t>
            </a:r>
            <a:r>
              <a:rPr kumimoji="0" lang="en-US" altLang="zh-CN" baseline="-30000" dirty="0">
                <a:latin typeface="Times" panose="02020603050405020304" pitchFamily="18" charset="0"/>
              </a:rPr>
              <a:t> </a:t>
            </a:r>
            <a:r>
              <a:rPr kumimoji="0" lang="zh-CN" altLang="en-US" dirty="0">
                <a:latin typeface="Times" panose="02020603050405020304" pitchFamily="18" charset="0"/>
              </a:rPr>
              <a:t>，此时高度为</a:t>
            </a:r>
            <a:r>
              <a:rPr kumimoji="0" lang="en-US" altLang="zh-CN" dirty="0">
                <a:solidFill>
                  <a:srgbClr val="C00000"/>
                </a:solidFill>
                <a:latin typeface="Times" panose="02020603050405020304" pitchFamily="18" charset="0"/>
              </a:rPr>
              <a:t>H</a:t>
            </a:r>
            <a:r>
              <a:rPr kumimoji="0" lang="en-US" altLang="zh-CN" baseline="-30000" dirty="0">
                <a:solidFill>
                  <a:srgbClr val="C00000"/>
                </a:solidFill>
                <a:latin typeface="Times" panose="02020603050405020304" pitchFamily="18" charset="0"/>
              </a:rPr>
              <a:t>2</a:t>
            </a:r>
            <a:r>
              <a:rPr kumimoji="0" lang="en-US" altLang="zh-CN" baseline="-30000" dirty="0">
                <a:latin typeface="Times" panose="02020603050405020304" pitchFamily="18" charset="0"/>
              </a:rPr>
              <a:t> </a:t>
            </a:r>
            <a:r>
              <a:rPr kumimoji="0" lang="zh-CN" altLang="en-US" dirty="0">
                <a:latin typeface="Times" panose="02020603050405020304" pitchFamily="18" charset="0"/>
              </a:rPr>
              <a:t>。</a:t>
            </a:r>
            <a:endParaRPr lang="zh-CN" altLang="en-US" dirty="0"/>
          </a:p>
        </p:txBody>
      </p:sp>
      <p:sp>
        <p:nvSpPr>
          <p:cNvPr id="21514" name="文本框 3"/>
          <p:cNvSpPr txBox="1">
            <a:spLocks noChangeArrowheads="1"/>
          </p:cNvSpPr>
          <p:nvPr/>
        </p:nvSpPr>
        <p:spPr bwMode="auto">
          <a:xfrm>
            <a:off x="5504309" y="2462872"/>
            <a:ext cx="2752725"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kumimoji="0" lang="en-US" altLang="zh-CN" dirty="0">
                <a:latin typeface="Times" panose="02020603050405020304" pitchFamily="18" charset="0"/>
              </a:rPr>
              <a:t>        </a:t>
            </a:r>
            <a:r>
              <a:rPr kumimoji="0" lang="en-US" altLang="zh-CN" dirty="0" err="1">
                <a:latin typeface="Times" panose="02020603050405020304" pitchFamily="18" charset="0"/>
              </a:rPr>
              <a:t>F</a:t>
            </a:r>
            <a:r>
              <a:rPr kumimoji="0" lang="en-US" altLang="zh-CN" baseline="-30000" dirty="0" err="1">
                <a:latin typeface="Times" panose="02020603050405020304" pitchFamily="18" charset="0"/>
              </a:rPr>
              <a:t>lim</a:t>
            </a:r>
            <a:r>
              <a:rPr kumimoji="0" lang="zh-CN" altLang="en-US" dirty="0">
                <a:latin typeface="Times" panose="02020603050405020304" pitchFamily="18" charset="0"/>
              </a:rPr>
              <a:t>是弹簧的极限工作载荷，在</a:t>
            </a:r>
            <a:r>
              <a:rPr kumimoji="0" lang="en-US" altLang="zh-CN" dirty="0" err="1">
                <a:latin typeface="Times" panose="02020603050405020304" pitchFamily="18" charset="0"/>
              </a:rPr>
              <a:t>F</a:t>
            </a:r>
            <a:r>
              <a:rPr kumimoji="0" lang="en-US" altLang="zh-CN" baseline="-30000" dirty="0" err="1">
                <a:latin typeface="Times" panose="02020603050405020304" pitchFamily="18" charset="0"/>
              </a:rPr>
              <a:t>lim</a:t>
            </a:r>
            <a:r>
              <a:rPr kumimoji="0" lang="zh-CN" altLang="en-US" dirty="0">
                <a:latin typeface="Times" panose="02020603050405020304" pitchFamily="18" charset="0"/>
              </a:rPr>
              <a:t>的作用下，弹簧变形增加到</a:t>
            </a:r>
            <a:r>
              <a:rPr kumimoji="0" lang="en-US" altLang="zh-CN" dirty="0" err="1">
                <a:latin typeface="Times" panose="02020603050405020304" pitchFamily="18" charset="0"/>
              </a:rPr>
              <a:t>λ</a:t>
            </a:r>
            <a:r>
              <a:rPr kumimoji="0" lang="en-US" altLang="zh-CN" baseline="-30000" dirty="0" err="1">
                <a:latin typeface="Times" panose="02020603050405020304" pitchFamily="18" charset="0"/>
              </a:rPr>
              <a:t>lim</a:t>
            </a:r>
            <a:r>
              <a:rPr kumimoji="0" lang="en-US" altLang="zh-CN" baseline="-30000" dirty="0">
                <a:latin typeface="Times" panose="02020603050405020304" pitchFamily="18" charset="0"/>
              </a:rPr>
              <a:t> </a:t>
            </a:r>
            <a:r>
              <a:rPr kumimoji="0" lang="zh-CN" altLang="en-US" dirty="0">
                <a:latin typeface="Times" panose="02020603050405020304" pitchFamily="18" charset="0"/>
              </a:rPr>
              <a:t>，这时其高度为</a:t>
            </a:r>
            <a:r>
              <a:rPr kumimoji="0" lang="en-US" altLang="zh-CN" dirty="0" err="1">
                <a:latin typeface="Times" panose="02020603050405020304" pitchFamily="18" charset="0"/>
              </a:rPr>
              <a:t>H</a:t>
            </a:r>
            <a:r>
              <a:rPr kumimoji="0" lang="en-US" altLang="zh-CN" baseline="-30000" dirty="0" err="1">
                <a:latin typeface="Times" panose="02020603050405020304" pitchFamily="18" charset="0"/>
              </a:rPr>
              <a:t>lim</a:t>
            </a:r>
            <a:r>
              <a:rPr kumimoji="0" lang="en-US" altLang="zh-CN" baseline="-30000" dirty="0">
                <a:latin typeface="Times" panose="02020603050405020304" pitchFamily="18" charset="0"/>
              </a:rPr>
              <a:t> </a:t>
            </a:r>
            <a:r>
              <a:rPr kumimoji="0" lang="zh-CN" altLang="en-US" dirty="0">
                <a:latin typeface="Times" panose="02020603050405020304" pitchFamily="18" charset="0"/>
              </a:rPr>
              <a:t>，弹簧丝的应力达到材料的屈服极限。令</a:t>
            </a:r>
            <a:r>
              <a:rPr kumimoji="0" lang="en-US" altLang="zh-CN" dirty="0">
                <a:latin typeface="Times" panose="02020603050405020304" pitchFamily="18" charset="0"/>
              </a:rPr>
              <a:t>h=λ</a:t>
            </a:r>
            <a:r>
              <a:rPr kumimoji="0" lang="en-US" altLang="zh-CN" baseline="-30000" dirty="0">
                <a:latin typeface="Times" panose="02020603050405020304" pitchFamily="18" charset="0"/>
              </a:rPr>
              <a:t>2</a:t>
            </a:r>
            <a:r>
              <a:rPr kumimoji="0" lang="zh-CN" altLang="en-US" dirty="0">
                <a:latin typeface="Times" panose="02020603050405020304" pitchFamily="18" charset="0"/>
              </a:rPr>
              <a:t>－</a:t>
            </a:r>
            <a:r>
              <a:rPr kumimoji="0" lang="en-US" altLang="zh-CN" dirty="0">
                <a:latin typeface="Times" panose="02020603050405020304" pitchFamily="18" charset="0"/>
              </a:rPr>
              <a:t>λ</a:t>
            </a:r>
            <a:r>
              <a:rPr kumimoji="0" lang="en-US" altLang="zh-CN" baseline="-30000" dirty="0">
                <a:latin typeface="Times" panose="02020603050405020304" pitchFamily="18" charset="0"/>
              </a:rPr>
              <a:t>1 </a:t>
            </a:r>
            <a:r>
              <a:rPr kumimoji="0" lang="zh-CN" altLang="en-US" dirty="0">
                <a:latin typeface="Times" panose="02020603050405020304" pitchFamily="18" charset="0"/>
              </a:rPr>
              <a:t>，</a:t>
            </a:r>
            <a:r>
              <a:rPr kumimoji="0" lang="en-US" altLang="zh-CN" dirty="0">
                <a:latin typeface="Times" panose="02020603050405020304" pitchFamily="18" charset="0"/>
              </a:rPr>
              <a:t>h</a:t>
            </a:r>
            <a:r>
              <a:rPr kumimoji="0" lang="zh-CN" altLang="en-US" dirty="0">
                <a:latin typeface="Times" panose="02020603050405020304" pitchFamily="18" charset="0"/>
              </a:rPr>
              <a:t>称为弹簧的工作行程。</a:t>
            </a:r>
            <a:endParaRPr lang="zh-CN" altLang="en-US" dirty="0"/>
          </a:p>
        </p:txBody>
      </p:sp>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828"/>
                                        </p:tgtEl>
                                        <p:attrNameLst>
                                          <p:attrName>style.visibility</p:attrName>
                                        </p:attrNameLst>
                                      </p:cBhvr>
                                      <p:to>
                                        <p:strVal val="visible"/>
                                      </p:to>
                                    </p:set>
                                    <p:anim calcmode="lin" valueType="num">
                                      <p:cBhvr additive="base">
                                        <p:cTn id="7" dur="500" fill="hold"/>
                                        <p:tgtEl>
                                          <p:spTgt spid="117828"/>
                                        </p:tgtEl>
                                        <p:attrNameLst>
                                          <p:attrName>ppt_x</p:attrName>
                                        </p:attrNameLst>
                                      </p:cBhvr>
                                      <p:tavLst>
                                        <p:tav tm="0">
                                          <p:val>
                                            <p:strVal val="0-#ppt_w/2"/>
                                          </p:val>
                                        </p:tav>
                                        <p:tav tm="100000">
                                          <p:val>
                                            <p:strVal val="#ppt_x"/>
                                          </p:val>
                                        </p:tav>
                                      </p:tavLst>
                                    </p:anim>
                                    <p:anim calcmode="lin" valueType="num">
                                      <p:cBhvr additive="base">
                                        <p:cTn id="8" dur="500" fill="hold"/>
                                        <p:tgtEl>
                                          <p:spTgt spid="1178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2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22531"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828"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pic>
        <p:nvPicPr>
          <p:cNvPr id="22535"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25713" y="3003550"/>
            <a:ext cx="3962400"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7" name="文本框 1"/>
          <p:cNvSpPr txBox="1">
            <a:spLocks noChangeArrowheads="1"/>
          </p:cNvSpPr>
          <p:nvPr/>
        </p:nvSpPr>
        <p:spPr bwMode="auto">
          <a:xfrm>
            <a:off x="360363" y="869950"/>
            <a:ext cx="82931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kumimoji="0" lang="en-US" altLang="zh-CN" dirty="0">
                <a:latin typeface="Arial" panose="020B0604020202020204" pitchFamily="34" charset="0"/>
              </a:rPr>
              <a:t>       </a:t>
            </a:r>
            <a:r>
              <a:rPr kumimoji="0" lang="en-US" altLang="zh-CN" dirty="0"/>
              <a:t> </a:t>
            </a:r>
            <a:r>
              <a:rPr kumimoji="0" lang="zh-CN" altLang="en-US" dirty="0"/>
              <a:t>弹簧的最大工作载荷由工作条件所确定。</a:t>
            </a:r>
            <a:endParaRPr lang="zh-CN" altLang="en-US" dirty="0"/>
          </a:p>
        </p:txBody>
      </p:sp>
      <p:sp>
        <p:nvSpPr>
          <p:cNvPr id="22538" name="文本框 2"/>
          <p:cNvSpPr txBox="1">
            <a:spLocks noChangeArrowheads="1"/>
          </p:cNvSpPr>
          <p:nvPr/>
        </p:nvSpPr>
        <p:spPr bwMode="auto">
          <a:xfrm>
            <a:off x="361950" y="1406525"/>
            <a:ext cx="8355013"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kumimoji="0" lang="zh-CN" altLang="en-US" dirty="0">
                <a:latin typeface="Arial" panose="020B0604020202020204" pitchFamily="34" charset="0"/>
              </a:rPr>
              <a:t>        一般情况下，最小工作载荷可取</a:t>
            </a:r>
            <a:r>
              <a:rPr kumimoji="0" lang="en-US" altLang="zh-CN" dirty="0">
                <a:latin typeface="Times" panose="02020603050405020304" pitchFamily="18" charset="0"/>
              </a:rPr>
              <a:t>F</a:t>
            </a:r>
            <a:r>
              <a:rPr kumimoji="0" lang="en-US" altLang="zh-CN" baseline="-30000" dirty="0">
                <a:latin typeface="Times" panose="02020603050405020304" pitchFamily="18" charset="0"/>
              </a:rPr>
              <a:t>1</a:t>
            </a:r>
            <a:r>
              <a:rPr kumimoji="0" lang="zh-CN" altLang="en-US" dirty="0">
                <a:latin typeface="Times" panose="02020603050405020304" pitchFamily="18" charset="0"/>
              </a:rPr>
              <a:t>＝（</a:t>
            </a:r>
            <a:r>
              <a:rPr kumimoji="0" lang="en-US" altLang="zh-CN" dirty="0">
                <a:latin typeface="Times" panose="02020603050405020304" pitchFamily="18" charset="0"/>
              </a:rPr>
              <a:t>0.3</a:t>
            </a:r>
            <a:r>
              <a:rPr kumimoji="0" lang="zh-CN" altLang="en-US" dirty="0">
                <a:latin typeface="Times" panose="02020603050405020304" pitchFamily="18" charset="0"/>
              </a:rPr>
              <a:t>～</a:t>
            </a:r>
            <a:r>
              <a:rPr kumimoji="0" lang="en-US" altLang="zh-CN" dirty="0">
                <a:latin typeface="Times" panose="02020603050405020304" pitchFamily="18" charset="0"/>
              </a:rPr>
              <a:t>0.5</a:t>
            </a:r>
            <a:r>
              <a:rPr kumimoji="0" lang="zh-CN" altLang="en-US" dirty="0">
                <a:latin typeface="Times" panose="02020603050405020304" pitchFamily="18" charset="0"/>
              </a:rPr>
              <a:t>）</a:t>
            </a:r>
            <a:r>
              <a:rPr kumimoji="0" lang="en-US" altLang="zh-CN" dirty="0">
                <a:latin typeface="Times" panose="02020603050405020304" pitchFamily="18" charset="0"/>
              </a:rPr>
              <a:t>F</a:t>
            </a:r>
            <a:r>
              <a:rPr kumimoji="0" lang="en-US" altLang="zh-CN" baseline="-30000" dirty="0">
                <a:latin typeface="Times" panose="02020603050405020304" pitchFamily="18" charset="0"/>
              </a:rPr>
              <a:t>2</a:t>
            </a:r>
            <a:r>
              <a:rPr kumimoji="0" lang="en-US" altLang="zh-CN" dirty="0">
                <a:latin typeface="Times" panose="02020603050405020304" pitchFamily="18" charset="0"/>
              </a:rPr>
              <a:t> </a:t>
            </a:r>
            <a:r>
              <a:rPr kumimoji="0" lang="zh-CN" altLang="en-US" dirty="0">
                <a:latin typeface="Times" panose="02020603050405020304" pitchFamily="18" charset="0"/>
              </a:rPr>
              <a:t>，而工作极限载荷</a:t>
            </a:r>
            <a:r>
              <a:rPr kumimoji="0" lang="en-US" altLang="zh-CN" dirty="0" err="1">
                <a:latin typeface="Times" panose="02020603050405020304" pitchFamily="18" charset="0"/>
              </a:rPr>
              <a:t>F</a:t>
            </a:r>
            <a:r>
              <a:rPr kumimoji="0" lang="en-US" altLang="zh-CN" baseline="-30000" dirty="0" err="1">
                <a:latin typeface="Times" panose="02020603050405020304" pitchFamily="18" charset="0"/>
              </a:rPr>
              <a:t>lim</a:t>
            </a:r>
            <a:r>
              <a:rPr kumimoji="0" lang="zh-CN" altLang="en-US" dirty="0">
                <a:latin typeface="Times" panose="02020603050405020304" pitchFamily="18" charset="0"/>
              </a:rPr>
              <a:t>可按极限工作应力</a:t>
            </a:r>
            <a:r>
              <a:rPr kumimoji="0" lang="en-US" altLang="zh-CN" dirty="0" err="1">
                <a:latin typeface="Times" panose="02020603050405020304" pitchFamily="18" charset="0"/>
                <a:ea typeface="隶书" panose="02010509060101010101" pitchFamily="49" charset="-122"/>
              </a:rPr>
              <a:t>τ</a:t>
            </a:r>
            <a:r>
              <a:rPr kumimoji="0" lang="en-US" altLang="zh-CN" baseline="-30000" dirty="0" err="1">
                <a:latin typeface="Times" panose="02020603050405020304" pitchFamily="18" charset="0"/>
              </a:rPr>
              <a:t>lim</a:t>
            </a:r>
            <a:r>
              <a:rPr kumimoji="0" lang="zh-CN" altLang="en-US" dirty="0">
                <a:latin typeface="Times" panose="02020603050405020304" pitchFamily="18" charset="0"/>
              </a:rPr>
              <a:t>求出。</a:t>
            </a:r>
            <a:r>
              <a:rPr kumimoji="0" lang="en-US" altLang="zh-CN" dirty="0" err="1">
                <a:latin typeface="Times" panose="02020603050405020304" pitchFamily="18" charset="0"/>
                <a:ea typeface="隶书" panose="02010509060101010101" pitchFamily="49" charset="-122"/>
              </a:rPr>
              <a:t>τ</a:t>
            </a:r>
            <a:r>
              <a:rPr kumimoji="0" lang="en-US" altLang="zh-CN" baseline="-30000" dirty="0" err="1">
                <a:latin typeface="Times" panose="02020603050405020304" pitchFamily="18" charset="0"/>
              </a:rPr>
              <a:t>lim</a:t>
            </a:r>
            <a:r>
              <a:rPr kumimoji="0" lang="zh-CN" altLang="en-US" dirty="0">
                <a:latin typeface="Times" panose="02020603050405020304" pitchFamily="18" charset="0"/>
              </a:rPr>
              <a:t>不应超过材料的剪切屈服极限。为了使弹簧能在屈服极限内工作，通常取</a:t>
            </a:r>
            <a:r>
              <a:rPr kumimoji="0" lang="en-US" altLang="zh-CN" dirty="0">
                <a:latin typeface="Times" panose="02020603050405020304" pitchFamily="18" charset="0"/>
              </a:rPr>
              <a:t>F</a:t>
            </a:r>
            <a:r>
              <a:rPr kumimoji="0" lang="en-US" altLang="zh-CN" baseline="-30000" dirty="0">
                <a:latin typeface="Times" panose="02020603050405020304" pitchFamily="18" charset="0"/>
              </a:rPr>
              <a:t>2</a:t>
            </a:r>
            <a:r>
              <a:rPr kumimoji="0" lang="en-US" altLang="zh-CN" dirty="0">
                <a:latin typeface="Times" panose="02020603050405020304" pitchFamily="18" charset="0"/>
              </a:rPr>
              <a:t>≤F</a:t>
            </a:r>
            <a:r>
              <a:rPr kumimoji="0" lang="en-US" altLang="zh-CN" baseline="-30000" dirty="0">
                <a:latin typeface="Times" panose="02020603050405020304" pitchFamily="18" charset="0"/>
              </a:rPr>
              <a:t>lim </a:t>
            </a:r>
            <a:r>
              <a:rPr kumimoji="0" lang="zh-CN" altLang="en-US" dirty="0">
                <a:latin typeface="Times" panose="02020603050405020304" pitchFamily="18" charset="0"/>
              </a:rPr>
              <a:t>。</a:t>
            </a:r>
            <a:endParaRPr lang="zh-CN" altLang="en-US" dirty="0"/>
          </a:p>
        </p:txBody>
      </p:sp>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828"/>
                                        </p:tgtEl>
                                        <p:attrNameLst>
                                          <p:attrName>style.visibility</p:attrName>
                                        </p:attrNameLst>
                                      </p:cBhvr>
                                      <p:to>
                                        <p:strVal val="visible"/>
                                      </p:to>
                                    </p:set>
                                    <p:anim calcmode="lin" valueType="num">
                                      <p:cBhvr additive="base">
                                        <p:cTn id="7" dur="500" fill="hold"/>
                                        <p:tgtEl>
                                          <p:spTgt spid="117828"/>
                                        </p:tgtEl>
                                        <p:attrNameLst>
                                          <p:attrName>ppt_x</p:attrName>
                                        </p:attrNameLst>
                                      </p:cBhvr>
                                      <p:tavLst>
                                        <p:tav tm="0">
                                          <p:val>
                                            <p:strVal val="0-#ppt_w/2"/>
                                          </p:val>
                                        </p:tav>
                                        <p:tav tm="100000">
                                          <p:val>
                                            <p:strVal val="#ppt_x"/>
                                          </p:val>
                                        </p:tav>
                                      </p:tavLst>
                                    </p:anim>
                                    <p:anim calcmode="lin" valueType="num">
                                      <p:cBhvr additive="base">
                                        <p:cTn id="8" dur="500" fill="hold"/>
                                        <p:tgtEl>
                                          <p:spTgt spid="1178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2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23555"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828"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pic>
        <p:nvPicPr>
          <p:cNvPr id="23559"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94200" y="984250"/>
            <a:ext cx="3908425" cy="503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61" name="文本框 3"/>
          <p:cNvSpPr txBox="1">
            <a:spLocks noChangeArrowheads="1"/>
          </p:cNvSpPr>
          <p:nvPr/>
        </p:nvSpPr>
        <p:spPr bwMode="auto">
          <a:xfrm>
            <a:off x="965200" y="1520825"/>
            <a:ext cx="3040063" cy="423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lnSpc>
                <a:spcPts val="3500"/>
              </a:lnSpc>
              <a:spcBef>
                <a:spcPct val="50000"/>
              </a:spcBef>
            </a:pPr>
            <a:r>
              <a:rPr kumimoji="0" lang="zh-CN" altLang="en-US" dirty="0"/>
              <a:t>        拉伸弹簧的特性曲线如图所示。</a:t>
            </a:r>
            <a:endParaRPr kumimoji="0" lang="zh-CN" altLang="en-US" dirty="0">
              <a:ea typeface="宋体" panose="02010600030101010101" pitchFamily="2" charset="-122"/>
              <a:cs typeface="Times New Roman" panose="02020603050405020304" pitchFamily="18" charset="0"/>
            </a:endParaRPr>
          </a:p>
          <a:p>
            <a:pPr eaLnBrk="1" hangingPunct="1">
              <a:lnSpc>
                <a:spcPts val="3500"/>
              </a:lnSpc>
              <a:spcBef>
                <a:spcPct val="50000"/>
              </a:spcBef>
            </a:pPr>
            <a:r>
              <a:rPr kumimoji="0" lang="zh-CN" altLang="en-US" dirty="0">
                <a:latin typeface="Arial" panose="020B0604020202020204" pitchFamily="34" charset="0"/>
              </a:rPr>
              <a:t>        由于卷绕方法不同，可以分为</a:t>
            </a:r>
            <a:r>
              <a:rPr kumimoji="0" lang="zh-CN" altLang="en-US" dirty="0">
                <a:solidFill>
                  <a:srgbClr val="C00000"/>
                </a:solidFill>
                <a:latin typeface="Arial" panose="020B0604020202020204" pitchFamily="34" charset="0"/>
              </a:rPr>
              <a:t>无初应力</a:t>
            </a:r>
            <a:r>
              <a:rPr kumimoji="0" lang="zh-CN" altLang="en-US" dirty="0">
                <a:latin typeface="Arial" panose="020B0604020202020204" pitchFamily="34" charset="0"/>
              </a:rPr>
              <a:t>和</a:t>
            </a:r>
            <a:r>
              <a:rPr kumimoji="0" lang="zh-CN" altLang="en-US" dirty="0">
                <a:solidFill>
                  <a:srgbClr val="C00000"/>
                </a:solidFill>
                <a:latin typeface="Arial" panose="020B0604020202020204" pitchFamily="34" charset="0"/>
              </a:rPr>
              <a:t>有初应力</a:t>
            </a:r>
            <a:r>
              <a:rPr kumimoji="0" lang="zh-CN" altLang="en-US" dirty="0">
                <a:latin typeface="Arial" panose="020B0604020202020204" pitchFamily="34" charset="0"/>
              </a:rPr>
              <a:t>两种情况。前者在卷绕时，弹簧仅并拢，弹簧没有初应力，其特性曲线与压缩弹簧的特性曲线类似。</a:t>
            </a:r>
            <a:r>
              <a:rPr kumimoji="0" lang="zh-CN" altLang="en-US" dirty="0">
                <a:latin typeface="Arial" panose="020B0604020202020204" pitchFamily="34" charset="0"/>
                <a:ea typeface="宋体" panose="02010600030101010101" pitchFamily="2" charset="-122"/>
              </a:rPr>
              <a:t> </a:t>
            </a:r>
            <a:endParaRPr kumimoji="0" lang="zh-CN" altLang="en-US" dirty="0">
              <a:latin typeface="Arial" panose="020B0604020202020204" pitchFamily="34" charset="0"/>
              <a:ea typeface="宋体" panose="02010600030101010101" pitchFamily="2" charset="-122"/>
            </a:endParaRPr>
          </a:p>
        </p:txBody>
      </p:sp>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828"/>
                                        </p:tgtEl>
                                        <p:attrNameLst>
                                          <p:attrName>style.visibility</p:attrName>
                                        </p:attrNameLst>
                                      </p:cBhvr>
                                      <p:to>
                                        <p:strVal val="visible"/>
                                      </p:to>
                                    </p:set>
                                    <p:anim calcmode="lin" valueType="num">
                                      <p:cBhvr additive="base">
                                        <p:cTn id="7" dur="500" fill="hold"/>
                                        <p:tgtEl>
                                          <p:spTgt spid="117828"/>
                                        </p:tgtEl>
                                        <p:attrNameLst>
                                          <p:attrName>ppt_x</p:attrName>
                                        </p:attrNameLst>
                                      </p:cBhvr>
                                      <p:tavLst>
                                        <p:tav tm="0">
                                          <p:val>
                                            <p:strVal val="0-#ppt_w/2"/>
                                          </p:val>
                                        </p:tav>
                                        <p:tav tm="100000">
                                          <p:val>
                                            <p:strVal val="#ppt_x"/>
                                          </p:val>
                                        </p:tav>
                                      </p:tavLst>
                                    </p:anim>
                                    <p:anim calcmode="lin" valueType="num">
                                      <p:cBhvr additive="base">
                                        <p:cTn id="8" dur="500" fill="hold"/>
                                        <p:tgtEl>
                                          <p:spTgt spid="1178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2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pic>
        <p:nvPicPr>
          <p:cNvPr id="24579"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0"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828"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pic>
        <p:nvPicPr>
          <p:cNvPr id="24583"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94200" y="984250"/>
            <a:ext cx="3908425" cy="503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5" name="文本框 3"/>
          <p:cNvSpPr txBox="1">
            <a:spLocks noChangeArrowheads="1"/>
          </p:cNvSpPr>
          <p:nvPr/>
        </p:nvSpPr>
        <p:spPr bwMode="auto">
          <a:xfrm>
            <a:off x="1011238" y="1566863"/>
            <a:ext cx="3040062" cy="407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lnSpc>
                <a:spcPts val="3500"/>
              </a:lnSpc>
              <a:spcBef>
                <a:spcPct val="50000"/>
              </a:spcBef>
            </a:pPr>
            <a:r>
              <a:rPr kumimoji="0" lang="zh-CN" altLang="en-US" dirty="0">
                <a:latin typeface="Arial" panose="020B0604020202020204" pitchFamily="34" charset="0"/>
              </a:rPr>
              <a:t>        后者在卷绕时，边卷绕边使弹簧绕本身轴线产生扭转，各圈相互间即具有一定的压紧力，弹簧丝中也产生一定的初拉力。弹簧工作时，必须以载荷的一部分</a:t>
            </a:r>
            <a:r>
              <a:rPr kumimoji="0" lang="en-US" altLang="zh-CN" dirty="0">
                <a:latin typeface="Times" panose="02020603050405020304" pitchFamily="18" charset="0"/>
              </a:rPr>
              <a:t>F</a:t>
            </a:r>
            <a:r>
              <a:rPr kumimoji="0" lang="en-US" altLang="zh-CN" baseline="-30000" dirty="0">
                <a:latin typeface="Times" panose="02020603050405020304" pitchFamily="18" charset="0"/>
              </a:rPr>
              <a:t>0</a:t>
            </a:r>
            <a:r>
              <a:rPr kumimoji="0" lang="zh-CN" altLang="en-US" dirty="0">
                <a:latin typeface="Times" panose="02020603050405020304" pitchFamily="18" charset="0"/>
              </a:rPr>
              <a:t>克服弹簧圈之间的压紧力，弹簧采开始伸长。</a:t>
            </a:r>
            <a:endParaRPr kumimoji="0" lang="zh-CN" altLang="en-US" dirty="0">
              <a:latin typeface="Arial" panose="020B0604020202020204" pitchFamily="34" charset="0"/>
              <a:ea typeface="宋体" panose="02010600030101010101" pitchFamily="2" charset="-122"/>
            </a:endParaRPr>
          </a:p>
        </p:txBody>
      </p:sp>
      <p:sp>
        <p:nvSpPr>
          <p:cNvPr id="3" name="Rectangle 2"/>
          <p:cNvSpPr>
            <a:spLocks noGrp="1" noChangeArrowheads="1"/>
          </p:cNvSpPr>
          <p:nvPr/>
        </p:nvSpPr>
        <p:spPr bwMode="auto">
          <a:xfrm>
            <a:off x="785813" y="214313"/>
            <a:ext cx="8358188"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拉伸</a:t>
            </a:r>
            <a:r>
              <a:rPr kumimoji="0"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4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828"/>
                                        </p:tgtEl>
                                        <p:attrNameLst>
                                          <p:attrName>style.visibility</p:attrName>
                                        </p:attrNameLst>
                                      </p:cBhvr>
                                      <p:to>
                                        <p:strVal val="visible"/>
                                      </p:to>
                                    </p:set>
                                    <p:anim calcmode="lin" valueType="num">
                                      <p:cBhvr additive="base">
                                        <p:cTn id="7" dur="500" fill="hold"/>
                                        <p:tgtEl>
                                          <p:spTgt spid="117828"/>
                                        </p:tgtEl>
                                        <p:attrNameLst>
                                          <p:attrName>ppt_x</p:attrName>
                                        </p:attrNameLst>
                                      </p:cBhvr>
                                      <p:tavLst>
                                        <p:tav tm="0">
                                          <p:val>
                                            <p:strVal val="0-#ppt_w/2"/>
                                          </p:val>
                                        </p:tav>
                                        <p:tav tm="100000">
                                          <p:val>
                                            <p:strVal val="#ppt_x"/>
                                          </p:val>
                                        </p:tav>
                                      </p:tavLst>
                                    </p:anim>
                                    <p:anim calcmode="lin" valueType="num">
                                      <p:cBhvr additive="base">
                                        <p:cTn id="8" dur="500" fill="hold"/>
                                        <p:tgtEl>
                                          <p:spTgt spid="1178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828"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bwMode="auto">
          <a:xfrm>
            <a:off x="6267450" y="704850"/>
            <a:ext cx="1314450" cy="209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r>
              <a:rPr lang="zh-CN" altLang="en-US" sz="800" smtClean="0">
                <a:solidFill>
                  <a:schemeClr val="bg1"/>
                </a:solidFill>
                <a:latin typeface="华文中宋" panose="02010600040101010101" pitchFamily="2" charset="-122"/>
                <a:ea typeface="华文中宋" panose="02010600040101010101" pitchFamily="2" charset="-122"/>
              </a:rPr>
              <a:t>圆柱螺旋拉压弹簧计算</a:t>
            </a:r>
            <a:r>
              <a:rPr lang="en-US" altLang="zh-CN" sz="800" smtClean="0">
                <a:solidFill>
                  <a:schemeClr val="bg1"/>
                </a:solidFill>
                <a:latin typeface="华文中宋" panose="02010600040101010101" pitchFamily="2" charset="-122"/>
                <a:ea typeface="华文中宋" panose="02010600040101010101" pitchFamily="2" charset="-122"/>
              </a:rPr>
              <a:t>1</a:t>
            </a:r>
            <a:endParaRPr lang="en-US" altLang="zh-CN" sz="800" smtClean="0">
              <a:solidFill>
                <a:schemeClr val="bg1"/>
              </a:solidFill>
              <a:latin typeface="华文中宋" panose="02010600040101010101" pitchFamily="2" charset="-122"/>
              <a:ea typeface="华文中宋" panose="02010600040101010101" pitchFamily="2" charset="-122"/>
            </a:endParaRPr>
          </a:p>
        </p:txBody>
      </p:sp>
      <p:sp>
        <p:nvSpPr>
          <p:cNvPr id="7171" name="Text Box 4"/>
          <p:cNvSpPr txBox="1">
            <a:spLocks noChangeArrowheads="1"/>
          </p:cNvSpPr>
          <p:nvPr/>
        </p:nvSpPr>
        <p:spPr bwMode="auto">
          <a:xfrm>
            <a:off x="467678" y="980123"/>
            <a:ext cx="4145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a:solidFill>
                  <a:srgbClr val="C00000"/>
                </a:solidFill>
                <a:latin typeface="黑体" panose="02010609060101010101" pitchFamily="49" charset="-122"/>
                <a:ea typeface="黑体" panose="02010609060101010101" pitchFamily="49" charset="-122"/>
              </a:rPr>
              <a:t>四、圆柱螺旋弹簧的强度计算</a:t>
            </a:r>
            <a:endParaRPr lang="zh-CN" altLang="en-US" sz="2400">
              <a:solidFill>
                <a:srgbClr val="C00000"/>
              </a:solidFill>
              <a:latin typeface="黑体" panose="02010609060101010101" pitchFamily="49" charset="-122"/>
              <a:ea typeface="黑体" panose="02010609060101010101" pitchFamily="49" charset="-122"/>
            </a:endParaRPr>
          </a:p>
        </p:txBody>
      </p:sp>
      <p:pic>
        <p:nvPicPr>
          <p:cNvPr id="25604"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6" name="Text Box 59"/>
          <p:cNvSpPr txBox="1">
            <a:spLocks noChangeArrowheads="1"/>
          </p:cNvSpPr>
          <p:nvPr/>
        </p:nvSpPr>
        <p:spPr bwMode="auto">
          <a:xfrm>
            <a:off x="919163" y="103188"/>
            <a:ext cx="5038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r>
              <a:rPr lang="zh-CN" altLang="en-US" sz="2400">
                <a:solidFill>
                  <a:schemeClr val="bg1"/>
                </a:solidFill>
                <a:latin typeface="Tahoma" panose="020B0604030504040204" pitchFamily="34" charset="0"/>
                <a:ea typeface="黑体" panose="02010609060101010101" pitchFamily="49" charset="-122"/>
              </a:rPr>
              <a:t>圆柱螺旋压缩</a:t>
            </a:r>
            <a:r>
              <a:rPr lang="en-US" altLang="zh-CN" sz="2400">
                <a:solidFill>
                  <a:schemeClr val="bg1"/>
                </a:solidFill>
                <a:latin typeface="Tahoma" panose="020B0604030504040204" pitchFamily="34" charset="0"/>
                <a:ea typeface="黑体" panose="02010609060101010101" pitchFamily="49" charset="-122"/>
              </a:rPr>
              <a:t>(</a:t>
            </a:r>
            <a:r>
              <a:rPr lang="zh-CN" altLang="en-US" sz="2400">
                <a:solidFill>
                  <a:schemeClr val="bg1"/>
                </a:solidFill>
                <a:latin typeface="Tahoma" panose="020B0604030504040204" pitchFamily="34" charset="0"/>
                <a:ea typeface="黑体" panose="02010609060101010101" pitchFamily="49" charset="-122"/>
              </a:rPr>
              <a:t>拉伸</a:t>
            </a:r>
            <a:r>
              <a:rPr lang="en-US" altLang="zh-CN" sz="2400">
                <a:solidFill>
                  <a:schemeClr val="bg1"/>
                </a:solidFill>
                <a:latin typeface="Tahoma" panose="020B0604030504040204" pitchFamily="34" charset="0"/>
                <a:ea typeface="黑体" panose="02010609060101010101" pitchFamily="49" charset="-122"/>
              </a:rPr>
              <a:t>)</a:t>
            </a:r>
            <a:r>
              <a:rPr lang="zh-CN" altLang="en-US" sz="2400">
                <a:solidFill>
                  <a:schemeClr val="bg1"/>
                </a:solidFill>
                <a:latin typeface="Tahoma" panose="020B0604030504040204" pitchFamily="34" charset="0"/>
                <a:ea typeface="黑体" panose="02010609060101010101" pitchFamily="49" charset="-122"/>
              </a:rPr>
              <a:t>弹簧的设计计算</a:t>
            </a:r>
            <a:endParaRPr lang="zh-CN" altLang="en-US" sz="2400">
              <a:solidFill>
                <a:schemeClr val="bg1"/>
              </a:solidFill>
              <a:latin typeface="Tahoma" panose="020B0604030504040204" pitchFamily="34" charset="0"/>
              <a:ea typeface="黑体" panose="02010609060101010101" pitchFamily="49" charset="-122"/>
            </a:endParaRPr>
          </a:p>
        </p:txBody>
      </p:sp>
      <p:sp>
        <p:nvSpPr>
          <p:cNvPr id="25607" name="Text Box 68"/>
          <p:cNvSpPr txBox="1">
            <a:spLocks noChangeArrowheads="1"/>
          </p:cNvSpPr>
          <p:nvPr/>
        </p:nvSpPr>
        <p:spPr bwMode="auto">
          <a:xfrm>
            <a:off x="7913688" y="57546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ctr" eaLnBrk="1" hangingPunct="1">
              <a:spcBef>
                <a:spcPct val="50000"/>
              </a:spcBef>
            </a:pPr>
            <a:r>
              <a:rPr lang="en-US" altLang="zh-CN"/>
              <a:t>  </a:t>
            </a:r>
            <a:endParaRPr lang="en-US" altLang="zh-CN"/>
          </a:p>
        </p:txBody>
      </p:sp>
      <p:pic>
        <p:nvPicPr>
          <p:cNvPr id="25608"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ChangeArrowheads="1"/>
          </p:cNvSpPr>
          <p:nvPr/>
        </p:nvSpPr>
        <p:spPr bwMode="auto">
          <a:xfrm>
            <a:off x="571183" y="1988503"/>
            <a:ext cx="8410575" cy="188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lang="en-US" altLang="zh-CN" dirty="0"/>
              <a:t>        </a:t>
            </a:r>
            <a:r>
              <a:rPr lang="zh-CN" altLang="zh-CN" dirty="0"/>
              <a:t>圆柱螺旋弹簧受压或受拉时，弹簧材料的应力状态完全相同，现以压缩弹簧为例进行应力分析。</a:t>
            </a:r>
            <a:r>
              <a:rPr kumimoji="0" lang="zh-CN" altLang="en-US" dirty="0">
                <a:latin typeface="Arial" panose="020B0604020202020204" pitchFamily="34" charset="0"/>
              </a:rPr>
              <a:t>在通过其轴线的剖面上，直径为</a:t>
            </a:r>
            <a:r>
              <a:rPr kumimoji="0" lang="en-US" altLang="zh-CN" dirty="0">
                <a:latin typeface="Times" panose="02020603050405020304" pitchFamily="18" charset="0"/>
              </a:rPr>
              <a:t>d</a:t>
            </a:r>
            <a:r>
              <a:rPr kumimoji="0" lang="zh-CN" altLang="en-US" dirty="0">
                <a:latin typeface="Arial" panose="020B0604020202020204" pitchFamily="34" charset="0"/>
              </a:rPr>
              <a:t>的弹簧丝剖面是椭圆形的。</a:t>
            </a:r>
            <a:r>
              <a:rPr kumimoji="0" lang="zh-CN" altLang="en-US" dirty="0">
                <a:latin typeface="Arial" panose="020B0604020202020204" pitchFamily="34" charset="0"/>
                <a:ea typeface="宋体" panose="02010600030101010101" pitchFamily="2" charset="-122"/>
              </a:rPr>
              <a:t> </a:t>
            </a:r>
            <a:r>
              <a:rPr kumimoji="0" lang="zh-CN" altLang="en-US" dirty="0">
                <a:latin typeface="华文中宋" panose="02010600040101010101" pitchFamily="2" charset="-122"/>
              </a:rPr>
              <a:t>但</a:t>
            </a:r>
            <a:r>
              <a:rPr kumimoji="0" lang="zh-CN" altLang="en-US" dirty="0">
                <a:latin typeface="Arial" panose="020B0604020202020204" pitchFamily="34" charset="0"/>
              </a:rPr>
              <a:t>由于螺旋升角很小</a:t>
            </a:r>
            <a:r>
              <a:rPr kumimoji="0" lang="en-US" altLang="zh-CN" dirty="0">
                <a:latin typeface="Arial" panose="020B0604020202020204" pitchFamily="34" charset="0"/>
              </a:rPr>
              <a:t>(</a:t>
            </a:r>
            <a:r>
              <a:rPr kumimoji="0" lang="en-US" altLang="zh-CN" dirty="0">
                <a:latin typeface="Arial" panose="020B0604020202020204" pitchFamily="34" charset="0"/>
                <a:ea typeface="隶书" panose="02010509060101010101" pitchFamily="49" charset="-122"/>
              </a:rPr>
              <a:t>α</a:t>
            </a:r>
            <a:r>
              <a:rPr kumimoji="0" lang="en-US" altLang="zh-CN" dirty="0">
                <a:latin typeface="Times" panose="02020603050405020304" pitchFamily="18" charset="0"/>
              </a:rPr>
              <a:t>≤</a:t>
            </a:r>
            <a:r>
              <a:rPr kumimoji="0" lang="en-US" altLang="zh-CN" dirty="0">
                <a:latin typeface="Arial" panose="020B0604020202020204" pitchFamily="34" charset="0"/>
              </a:rPr>
              <a:t>9º)</a:t>
            </a:r>
            <a:r>
              <a:rPr kumimoji="0" lang="zh-CN" altLang="en-US" dirty="0">
                <a:latin typeface="Arial" panose="020B0604020202020204" pitchFamily="34" charset="0"/>
              </a:rPr>
              <a:t>，工程上可以近</a:t>
            </a:r>
            <a:r>
              <a:rPr kumimoji="0" lang="en-US" altLang="zh-CN" dirty="0">
                <a:latin typeface="Arial" panose="020B0604020202020204" pitchFamily="34" charset="0"/>
              </a:rPr>
              <a:t> </a:t>
            </a:r>
            <a:r>
              <a:rPr kumimoji="0" lang="zh-CN" altLang="en-US" dirty="0">
                <a:latin typeface="Arial" panose="020B0604020202020204" pitchFamily="34" charset="0"/>
              </a:rPr>
              <a:t>似地看作圆剖面。</a:t>
            </a:r>
            <a:r>
              <a:rPr kumimoji="0" lang="zh-CN" altLang="en-US" dirty="0">
                <a:latin typeface="Arial" panose="020B0604020202020204" pitchFamily="34" charset="0"/>
                <a:ea typeface="宋体" panose="02010600030101010101" pitchFamily="2" charset="-122"/>
              </a:rPr>
              <a:t> </a:t>
            </a:r>
            <a:endParaRPr lang="zh-CN" altLang="zh-CN" dirty="0"/>
          </a:p>
        </p:txBody>
      </p:sp>
      <p:sp>
        <p:nvSpPr>
          <p:cNvPr id="8" name="文本框 7"/>
          <p:cNvSpPr txBox="1">
            <a:spLocks noChangeArrowheads="1"/>
          </p:cNvSpPr>
          <p:nvPr/>
        </p:nvSpPr>
        <p:spPr bwMode="auto">
          <a:xfrm>
            <a:off x="611505" y="1528445"/>
            <a:ext cx="20789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en-US" altLang="zh-CN" sz="2400">
                <a:solidFill>
                  <a:schemeClr val="accent4">
                    <a:lumMod val="50000"/>
                  </a:schemeClr>
                </a:solidFill>
              </a:rPr>
              <a:t>1. </a:t>
            </a:r>
            <a:r>
              <a:rPr lang="zh-CN" altLang="en-US" sz="2400">
                <a:solidFill>
                  <a:schemeClr val="accent4">
                    <a:lumMod val="50000"/>
                  </a:schemeClr>
                </a:solidFill>
              </a:rPr>
              <a:t>应力分析</a:t>
            </a:r>
            <a:endParaRPr lang="zh-CN" altLang="en-US" sz="2400">
              <a:solidFill>
                <a:schemeClr val="accent4">
                  <a:lumMod val="50000"/>
                </a:schemeClr>
              </a:solidFill>
            </a:endParaRPr>
          </a:p>
        </p:txBody>
      </p:sp>
      <p:pic>
        <p:nvPicPr>
          <p:cNvPr id="17" name="图片 16"/>
          <p:cNvPicPr>
            <a:picLocks noChangeAspect="1" noChangeArrowheads="1"/>
          </p:cNvPicPr>
          <p:nvPr/>
        </p:nvPicPr>
        <p:blipFill>
          <a:blip r:embed="rId5">
            <a:lum contrast="66000"/>
            <a:extLst>
              <a:ext uri="{28A0092B-C50C-407E-A947-70E740481C1C}">
                <a14:useLocalDpi xmlns:a14="http://schemas.microsoft.com/office/drawing/2010/main" val="0"/>
              </a:ext>
            </a:extLst>
          </a:blip>
          <a:srcRect/>
          <a:stretch>
            <a:fillRect/>
          </a:stretch>
        </p:blipFill>
        <p:spPr bwMode="auto">
          <a:xfrm>
            <a:off x="1912938" y="3622040"/>
            <a:ext cx="5103812"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Grp="1" noChangeArrowheads="1"/>
          </p:cNvSpPr>
          <p:nvPr/>
        </p:nvSpPr>
        <p:spPr bwMode="auto">
          <a:xfrm>
            <a:off x="571500" y="214313"/>
            <a:ext cx="8572500"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278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wipe(left)">
                                      <p:cBhvr>
                                        <p:cTn id="7" dur="500"/>
                                        <p:tgtEl>
                                          <p:spTgt spid="717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par>
                                <p:cTn id="18" presetID="22" presetClass="entr" presetSubtype="8"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P spid="3"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Text Box 28"/>
          <p:cNvSpPr txBox="1"/>
          <p:nvPr/>
        </p:nvSpPr>
        <p:spPr>
          <a:xfrm>
            <a:off x="6538913" y="62341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2060"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2061"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571500" y="214313"/>
            <a:ext cx="8572500"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grpSp>
        <p:nvGrpSpPr>
          <p:cNvPr id="2" name="组合 15"/>
          <p:cNvGrpSpPr/>
          <p:nvPr/>
        </p:nvGrpSpPr>
        <p:grpSpPr>
          <a:xfrm>
            <a:off x="395536" y="908844"/>
            <a:ext cx="8193087" cy="1717402"/>
            <a:chOff x="578" y="1554"/>
            <a:chExt cx="12902" cy="2706"/>
          </a:xfrm>
        </p:grpSpPr>
        <p:sp>
          <p:nvSpPr>
            <p:cNvPr id="2095" name="文本框 99"/>
            <p:cNvSpPr txBox="1"/>
            <p:nvPr/>
          </p:nvSpPr>
          <p:spPr>
            <a:xfrm>
              <a:off x="578" y="1554"/>
              <a:ext cx="12902" cy="2706"/>
            </a:xfrm>
            <a:prstGeom prst="rect">
              <a:avLst/>
            </a:prstGeom>
            <a:noFill/>
            <a:ln w="9525">
              <a:noFill/>
            </a:ln>
          </p:spPr>
          <p:txBody>
            <a:bodyPr>
              <a:spAutoFit/>
            </a:bodyPr>
            <a:lstStyle/>
            <a:p>
              <a:pPr indent="311150">
                <a:lnSpc>
                  <a:spcPct val="120000"/>
                </a:lnSpc>
              </a:pPr>
              <a:r>
                <a:rPr lang="zh-CN" altLang="en-US" dirty="0">
                  <a:solidFill>
                    <a:srgbClr val="000099"/>
                  </a:solidFill>
                  <a:latin typeface="Times New Roman" panose="02020603050405020304" pitchFamily="18" charset="0"/>
                </a:rPr>
                <a:t>由于弹簧具有螺旋角</a:t>
              </a:r>
              <a:r>
                <a:rPr lang="en-US" altLang="zh-CN" i="1" dirty="0">
                  <a:solidFill>
                    <a:srgbClr val="000099"/>
                  </a:solidFill>
                  <a:latin typeface="Times New Roman" panose="02020603050405020304" pitchFamily="18" charset="0"/>
                </a:rPr>
                <a:t>α</a:t>
              </a:r>
              <a:r>
                <a:rPr lang="zh-CN" altLang="en-US" dirty="0">
                  <a:solidFill>
                    <a:srgbClr val="000099"/>
                  </a:solidFill>
                  <a:latin typeface="Times New Roman" panose="02020603050405020304" pitchFamily="18" charset="0"/>
                </a:rPr>
                <a:t>，在轴向载荷</a:t>
              </a:r>
              <a:r>
                <a:rPr lang="en-US" altLang="zh-CN" dirty="0">
                  <a:solidFill>
                    <a:srgbClr val="000099"/>
                  </a:solidFill>
                  <a:latin typeface="Times New Roman" panose="02020603050405020304" pitchFamily="18" charset="0"/>
                </a:rPr>
                <a:t>F</a:t>
              </a:r>
              <a:r>
                <a:rPr lang="zh-CN" altLang="en-US" dirty="0">
                  <a:solidFill>
                    <a:srgbClr val="000099"/>
                  </a:solidFill>
                  <a:latin typeface="Times New Roman" panose="02020603050405020304" pitchFamily="18" charset="0"/>
                </a:rPr>
                <a:t>的作用下，通过弹簧轴线的截面上作用着</a:t>
              </a:r>
              <a:r>
                <a:rPr lang="zh-CN" altLang="en-US" dirty="0">
                  <a:solidFill>
                    <a:srgbClr val="FF0000"/>
                  </a:solidFill>
                  <a:latin typeface="Times New Roman" panose="02020603050405020304" pitchFamily="18" charset="0"/>
                </a:rPr>
                <a:t>载荷</a:t>
              </a:r>
              <a:r>
                <a:rPr lang="en-US" altLang="zh-CN" i="1" dirty="0">
                  <a:solidFill>
                    <a:srgbClr val="FF0000"/>
                  </a:solidFill>
                  <a:latin typeface="Times New Roman" panose="02020603050405020304" pitchFamily="18" charset="0"/>
                </a:rPr>
                <a:t>F</a:t>
              </a:r>
              <a:r>
                <a:rPr lang="zh-CN" altLang="en-US" dirty="0">
                  <a:solidFill>
                    <a:srgbClr val="000099"/>
                  </a:solidFill>
                  <a:latin typeface="Times New Roman" panose="02020603050405020304" pitchFamily="18" charset="0"/>
                </a:rPr>
                <a:t>及扭矩</a:t>
              </a:r>
              <a:r>
                <a:rPr lang="en-US" altLang="zh-CN" i="1" dirty="0">
                  <a:solidFill>
                    <a:srgbClr val="FF0000"/>
                  </a:solidFill>
                  <a:latin typeface="Times New Roman" panose="02020603050405020304" pitchFamily="18" charset="0"/>
                </a:rPr>
                <a:t>T</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FD</a:t>
              </a:r>
              <a:r>
                <a:rPr lang="en-US" altLang="zh-CN" dirty="0">
                  <a:solidFill>
                    <a:srgbClr val="FF0000"/>
                  </a:solidFill>
                  <a:latin typeface="Times New Roman" panose="02020603050405020304" pitchFamily="18" charset="0"/>
                </a:rPr>
                <a:t>/2</a:t>
              </a:r>
              <a:r>
                <a:rPr lang="zh-CN" altLang="en-US" dirty="0">
                  <a:solidFill>
                    <a:srgbClr val="000099"/>
                  </a:solidFill>
                  <a:latin typeface="Times New Roman" panose="02020603050405020304" pitchFamily="18" charset="0"/>
                </a:rPr>
                <a:t>。在弹簧丝的法向截面</a:t>
              </a:r>
              <a:r>
                <a:rPr lang="en-US" altLang="zh-CN" i="1" dirty="0">
                  <a:solidFill>
                    <a:srgbClr val="000099"/>
                  </a:solidFill>
                  <a:latin typeface="Times New Roman" panose="02020603050405020304" pitchFamily="18" charset="0"/>
                </a:rPr>
                <a:t>B</a:t>
              </a:r>
              <a:r>
                <a:rPr lang="en-US" altLang="zh-CN" dirty="0">
                  <a:solidFill>
                    <a:srgbClr val="000099"/>
                  </a:solidFill>
                  <a:latin typeface="Times New Roman" panose="02020603050405020304" pitchFamily="18" charset="0"/>
                  <a:ea typeface="Times New Roman" panose="02020603050405020304" pitchFamily="18" charset="0"/>
                </a:rPr>
                <a:t>—</a:t>
              </a:r>
              <a:r>
                <a:rPr lang="en-US" altLang="zh-CN" i="1" dirty="0">
                  <a:solidFill>
                    <a:srgbClr val="000099"/>
                  </a:solidFill>
                  <a:latin typeface="Times New Roman" panose="02020603050405020304" pitchFamily="18" charset="0"/>
                </a:rPr>
                <a:t>B</a:t>
              </a:r>
              <a:r>
                <a:rPr lang="zh-CN" altLang="en-US" dirty="0">
                  <a:solidFill>
                    <a:srgbClr val="000099"/>
                  </a:solidFill>
                  <a:latin typeface="Times New Roman" panose="02020603050405020304" pitchFamily="18" charset="0"/>
                </a:rPr>
                <a:t>上作用有剪切力      </a:t>
              </a:r>
              <a:r>
                <a:rPr lang="en-US" altLang="zh-CN"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、轴向力      </a:t>
              </a:r>
              <a:r>
                <a:rPr lang="en-US" altLang="zh-CN" dirty="0">
                  <a:solidFill>
                    <a:srgbClr val="000099"/>
                  </a:solidFill>
                  <a:latin typeface="Times New Roman" panose="02020603050405020304" pitchFamily="18" charset="0"/>
                </a:rPr>
                <a:t>      </a:t>
              </a:r>
              <a:r>
                <a:rPr lang="en-US" altLang="zh-CN" dirty="0" smtClean="0">
                  <a:solidFill>
                    <a:srgbClr val="000099"/>
                  </a:solidFill>
                  <a:latin typeface="Times New Roman" panose="02020603050405020304" pitchFamily="18" charset="0"/>
                </a:rPr>
                <a:t>   </a:t>
              </a:r>
              <a:r>
                <a:rPr lang="zh-CN" altLang="en-US" dirty="0" smtClean="0">
                  <a:solidFill>
                    <a:srgbClr val="000099"/>
                  </a:solidFill>
                  <a:latin typeface="Times New Roman" panose="02020603050405020304" pitchFamily="18" charset="0"/>
                </a:rPr>
                <a:t>、</a:t>
              </a:r>
              <a:r>
                <a:rPr lang="zh-CN" altLang="en-US" dirty="0">
                  <a:solidFill>
                    <a:srgbClr val="000099"/>
                  </a:solidFill>
                  <a:latin typeface="Times New Roman" panose="02020603050405020304" pitchFamily="18" charset="0"/>
                </a:rPr>
                <a:t>弯矩 </a:t>
              </a:r>
              <a:r>
                <a:rPr lang="en-US" altLang="zh-CN"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及轴向</a:t>
              </a:r>
              <a:r>
                <a:rPr lang="zh-CN" altLang="en-US" dirty="0" smtClean="0">
                  <a:solidFill>
                    <a:srgbClr val="000099"/>
                  </a:solidFill>
                  <a:latin typeface="Times New Roman" panose="02020603050405020304" pitchFamily="18" charset="0"/>
                </a:rPr>
                <a:t>扭矩</a:t>
              </a:r>
              <a:r>
                <a:rPr lang="en-US" altLang="zh-CN" dirty="0" smtClean="0">
                  <a:solidFill>
                    <a:srgbClr val="000099"/>
                  </a:solidFill>
                  <a:latin typeface="Times New Roman" panose="02020603050405020304" pitchFamily="18" charset="0"/>
                </a:rPr>
                <a:t>                   </a:t>
              </a:r>
              <a:r>
                <a:rPr lang="zh-CN" altLang="en-US" dirty="0" smtClean="0">
                  <a:solidFill>
                    <a:srgbClr val="000099"/>
                  </a:solidFill>
                  <a:latin typeface="Times New Roman" panose="02020603050405020304" pitchFamily="18" charset="0"/>
                </a:rPr>
                <a:t>。</a:t>
              </a:r>
              <a:endParaRPr lang="zh-CN" altLang="en-US" dirty="0">
                <a:solidFill>
                  <a:srgbClr val="000099"/>
                </a:solidFill>
                <a:latin typeface="Times New Roman" panose="02020603050405020304" pitchFamily="18" charset="0"/>
                <a:ea typeface="Times New Roman" panose="02020603050405020304" pitchFamily="18" charset="0"/>
              </a:endParaRPr>
            </a:p>
          </p:txBody>
        </p:sp>
        <p:graphicFrame>
          <p:nvGraphicFramePr>
            <p:cNvPr id="2055" name="对象 -2147482571"/>
            <p:cNvGraphicFramePr>
              <a:graphicFrameLocks noChangeAspect="1"/>
            </p:cNvGraphicFramePr>
            <p:nvPr/>
          </p:nvGraphicFramePr>
          <p:xfrm>
            <a:off x="3867" y="3074"/>
            <a:ext cx="1146" cy="400"/>
          </p:xfrm>
          <a:graphic>
            <a:graphicData uri="http://schemas.openxmlformats.org/presentationml/2006/ole">
              <mc:AlternateContent xmlns:mc="http://schemas.openxmlformats.org/markup-compatibility/2006">
                <mc:Choice xmlns:v="urn:schemas-microsoft-com:vml" Requires="v">
                  <p:oleObj spid="_x0000_s4166" name="" r:id="rId1" imgW="508000" imgH="177800" progId="Equation.3">
                    <p:embed/>
                  </p:oleObj>
                </mc:Choice>
                <mc:Fallback>
                  <p:oleObj name="" r:id="rId1" imgW="508000" imgH="177800" progId="Equation.3">
                    <p:embed/>
                    <p:pic>
                      <p:nvPicPr>
                        <p:cNvPr id="0" name="图片 3079"/>
                        <p:cNvPicPr/>
                        <p:nvPr/>
                      </p:nvPicPr>
                      <p:blipFill>
                        <a:blip r:embed="rId2"/>
                        <a:stretch>
                          <a:fillRect/>
                        </a:stretch>
                      </p:blipFill>
                      <p:spPr>
                        <a:xfrm>
                          <a:off x="3867" y="3074"/>
                          <a:ext cx="1146" cy="40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38100">
                          <a:noFill/>
                          <a:miter/>
                        </a:ln>
                      </p:spPr>
                    </p:pic>
                  </p:oleObj>
                </mc:Fallback>
              </mc:AlternateContent>
            </a:graphicData>
          </a:graphic>
        </p:graphicFrame>
        <p:graphicFrame>
          <p:nvGraphicFramePr>
            <p:cNvPr id="2056" name="对象 -2147482574"/>
            <p:cNvGraphicFramePr>
              <a:graphicFrameLocks noChangeAspect="1"/>
            </p:cNvGraphicFramePr>
            <p:nvPr/>
          </p:nvGraphicFramePr>
          <p:xfrm>
            <a:off x="6928" y="3028"/>
            <a:ext cx="1236" cy="454"/>
          </p:xfrm>
          <a:graphic>
            <a:graphicData uri="http://schemas.openxmlformats.org/presentationml/2006/ole">
              <mc:AlternateContent xmlns:mc="http://schemas.openxmlformats.org/markup-compatibility/2006">
                <mc:Choice xmlns:v="urn:schemas-microsoft-com:vml" Requires="v">
                  <p:oleObj spid="_x0000_s4167" name="" r:id="rId3" imgW="483235" imgH="177800" progId="Equation.3">
                    <p:embed/>
                  </p:oleObj>
                </mc:Choice>
                <mc:Fallback>
                  <p:oleObj name="" r:id="rId3" imgW="483235" imgH="177800" progId="Equation.3">
                    <p:embed/>
                    <p:pic>
                      <p:nvPicPr>
                        <p:cNvPr id="0" name="图片 3080"/>
                        <p:cNvPicPr/>
                        <p:nvPr/>
                      </p:nvPicPr>
                      <p:blipFill>
                        <a:blip r:embed="rId4"/>
                        <a:stretch>
                          <a:fillRect/>
                        </a:stretch>
                      </p:blipFill>
                      <p:spPr>
                        <a:xfrm>
                          <a:off x="6928" y="3028"/>
                          <a:ext cx="1236" cy="45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38100">
                          <a:noFill/>
                          <a:miter/>
                        </a:ln>
                      </p:spPr>
                    </p:pic>
                  </p:oleObj>
                </mc:Fallback>
              </mc:AlternateContent>
            </a:graphicData>
          </a:graphic>
        </p:graphicFrame>
        <p:graphicFrame>
          <p:nvGraphicFramePr>
            <p:cNvPr id="2057" name="对象 -2147482573"/>
            <p:cNvGraphicFramePr>
              <a:graphicFrameLocks noChangeAspect="1"/>
            </p:cNvGraphicFramePr>
            <p:nvPr/>
          </p:nvGraphicFramePr>
          <p:xfrm>
            <a:off x="9876" y="3029"/>
            <a:ext cx="1749" cy="400"/>
          </p:xfrm>
          <a:graphic>
            <a:graphicData uri="http://schemas.openxmlformats.org/presentationml/2006/ole">
              <mc:AlternateContent xmlns:mc="http://schemas.openxmlformats.org/markup-compatibility/2006">
                <mc:Choice xmlns:v="urn:schemas-microsoft-com:vml" Requires="v">
                  <p:oleObj spid="_x0000_s4168" name="" r:id="rId5" imgW="774065" imgH="177800" progId="Equation.3">
                    <p:embed/>
                  </p:oleObj>
                </mc:Choice>
                <mc:Fallback>
                  <p:oleObj name="" r:id="rId5" imgW="774065" imgH="177800" progId="Equation.3">
                    <p:embed/>
                    <p:pic>
                      <p:nvPicPr>
                        <p:cNvPr id="0" name="图片 3081"/>
                        <p:cNvPicPr/>
                        <p:nvPr/>
                      </p:nvPicPr>
                      <p:blipFill>
                        <a:blip r:embed="rId6"/>
                        <a:stretch>
                          <a:fillRect/>
                        </a:stretch>
                      </p:blipFill>
                      <p:spPr>
                        <a:xfrm>
                          <a:off x="9876" y="3029"/>
                          <a:ext cx="1749" cy="40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8100000" scaled="1"/>
                          <a:tileRect/>
                        </a:gradFill>
                        <a:ln w="38100">
                          <a:noFill/>
                          <a:miter/>
                        </a:ln>
                      </p:spPr>
                    </p:pic>
                  </p:oleObj>
                </mc:Fallback>
              </mc:AlternateContent>
            </a:graphicData>
          </a:graphic>
        </p:graphicFrame>
        <p:graphicFrame>
          <p:nvGraphicFramePr>
            <p:cNvPr id="2058" name="对象 -2147482572"/>
            <p:cNvGraphicFramePr>
              <a:graphicFrameLocks noChangeAspect="1"/>
            </p:cNvGraphicFramePr>
            <p:nvPr/>
          </p:nvGraphicFramePr>
          <p:xfrm>
            <a:off x="1712" y="3710"/>
            <a:ext cx="2051" cy="470"/>
          </p:xfrm>
          <a:graphic>
            <a:graphicData uri="http://schemas.openxmlformats.org/presentationml/2006/ole">
              <mc:AlternateContent xmlns:mc="http://schemas.openxmlformats.org/markup-compatibility/2006">
                <mc:Choice xmlns:v="urn:schemas-microsoft-com:vml" Requires="v">
                  <p:oleObj spid="_x0000_s4169" name="" r:id="rId7" imgW="774065" imgH="177800" progId="Equation.3">
                    <p:embed/>
                  </p:oleObj>
                </mc:Choice>
                <mc:Fallback>
                  <p:oleObj name="" r:id="rId7" imgW="774065" imgH="177800" progId="Equation.3">
                    <p:embed/>
                    <p:pic>
                      <p:nvPicPr>
                        <p:cNvPr id="0" name="图片 3086"/>
                        <p:cNvPicPr/>
                        <p:nvPr/>
                      </p:nvPicPr>
                      <p:blipFill>
                        <a:blip r:embed="rId8"/>
                        <a:stretch>
                          <a:fillRect/>
                        </a:stretch>
                      </p:blipFill>
                      <p:spPr>
                        <a:xfrm>
                          <a:off x="1712" y="3710"/>
                          <a:ext cx="2051" cy="47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w="38100">
                          <a:noFill/>
                          <a:miter/>
                        </a:ln>
                      </p:spPr>
                    </p:pic>
                  </p:oleObj>
                </mc:Fallback>
              </mc:AlternateContent>
            </a:graphicData>
          </a:graphic>
        </p:graphicFrame>
      </p:grpSp>
      <p:grpSp>
        <p:nvGrpSpPr>
          <p:cNvPr id="4" name="组合 16"/>
          <p:cNvGrpSpPr/>
          <p:nvPr/>
        </p:nvGrpSpPr>
        <p:grpSpPr>
          <a:xfrm>
            <a:off x="395665" y="2637413"/>
            <a:ext cx="8375650" cy="1308678"/>
            <a:chOff x="623" y="3812"/>
            <a:chExt cx="13191" cy="2062"/>
          </a:xfrm>
        </p:grpSpPr>
        <p:sp>
          <p:nvSpPr>
            <p:cNvPr id="2094" name="文本框 7"/>
            <p:cNvSpPr txBox="1"/>
            <p:nvPr/>
          </p:nvSpPr>
          <p:spPr>
            <a:xfrm>
              <a:off x="623" y="3812"/>
              <a:ext cx="13191" cy="2062"/>
            </a:xfrm>
            <a:prstGeom prst="rect">
              <a:avLst/>
            </a:prstGeom>
            <a:noFill/>
            <a:ln w="9525">
              <a:noFill/>
            </a:ln>
          </p:spPr>
          <p:txBody>
            <a:bodyPr>
              <a:spAutoFit/>
            </a:bodyPr>
            <a:lstStyle/>
            <a:p>
              <a:pPr indent="311150">
                <a:lnSpc>
                  <a:spcPct val="120000"/>
                </a:lnSpc>
              </a:pPr>
              <a:r>
                <a:rPr lang="zh-CN" altLang="en-US" dirty="0">
                  <a:solidFill>
                    <a:srgbClr val="000099"/>
                  </a:solidFill>
                  <a:latin typeface="Times New Roman" panose="02020603050405020304" pitchFamily="18" charset="0"/>
                </a:rPr>
                <a:t>由于压缩弹簧螺旋角</a:t>
              </a:r>
              <a:r>
                <a:rPr lang="en-US" altLang="zh-CN" dirty="0">
                  <a:solidFill>
                    <a:srgbClr val="000099"/>
                  </a:solidFill>
                  <a:latin typeface="Times New Roman" panose="02020603050405020304" pitchFamily="18" charset="0"/>
                </a:rPr>
                <a:t>α</a:t>
              </a:r>
              <a:r>
                <a:rPr lang="zh-CN" altLang="en-US" dirty="0">
                  <a:solidFill>
                    <a:srgbClr val="000099"/>
                  </a:solidFill>
                  <a:latin typeface="Times New Roman" panose="02020603050405020304" pitchFamily="18" charset="0"/>
                </a:rPr>
                <a:t>很小（一般取为</a:t>
              </a:r>
              <a:r>
                <a:rPr lang="en-US" altLang="zh-CN" dirty="0">
                  <a:solidFill>
                    <a:srgbClr val="000099"/>
                  </a:solidFill>
                  <a:latin typeface="Times New Roman" panose="02020603050405020304" pitchFamily="18" charset="0"/>
                </a:rPr>
                <a:t>5º~ 9º</a:t>
              </a:r>
              <a:r>
                <a:rPr lang="zh-CN" altLang="en-US" dirty="0">
                  <a:solidFill>
                    <a:srgbClr val="000099"/>
                  </a:solidFill>
                  <a:latin typeface="Times New Roman" panose="02020603050405020304" pitchFamily="18" charset="0"/>
                </a:rPr>
                <a:t>），故             ，             ，因此，在截面</a:t>
              </a:r>
              <a:r>
                <a:rPr lang="en-US" altLang="zh-CN" i="1" dirty="0">
                  <a:solidFill>
                    <a:srgbClr val="000099"/>
                  </a:solidFill>
                  <a:latin typeface="Times New Roman" panose="02020603050405020304" pitchFamily="18" charset="0"/>
                </a:rPr>
                <a:t>B</a:t>
              </a:r>
              <a:r>
                <a:rPr lang="en-US" altLang="zh-CN" dirty="0">
                  <a:solidFill>
                    <a:srgbClr val="000099"/>
                  </a:solidFill>
                  <a:latin typeface="Times New Roman" panose="02020603050405020304" pitchFamily="18" charset="0"/>
                  <a:ea typeface="Times New Roman" panose="02020603050405020304" pitchFamily="18" charset="0"/>
                </a:rPr>
                <a:t>—</a:t>
              </a:r>
              <a:r>
                <a:rPr lang="en-US" altLang="zh-CN" i="1" dirty="0">
                  <a:solidFill>
                    <a:srgbClr val="000099"/>
                  </a:solidFill>
                  <a:latin typeface="Times New Roman" panose="02020603050405020304" pitchFamily="18" charset="0"/>
                </a:rPr>
                <a:t>B</a:t>
              </a:r>
              <a:r>
                <a:rPr lang="zh-CN" altLang="en-US" dirty="0">
                  <a:solidFill>
                    <a:srgbClr val="000099"/>
                  </a:solidFill>
                  <a:latin typeface="Times New Roman" panose="02020603050405020304" pitchFamily="18" charset="0"/>
                </a:rPr>
                <a:t>上的应力仅考虑</a:t>
              </a:r>
              <a:r>
                <a:rPr lang="zh-CN" altLang="en-US" dirty="0">
                  <a:solidFill>
                    <a:srgbClr val="FF0000"/>
                  </a:solidFill>
                  <a:latin typeface="Times New Roman" panose="02020603050405020304" pitchFamily="18" charset="0"/>
                </a:rPr>
                <a:t>剪切力</a:t>
              </a:r>
              <a:r>
                <a:rPr lang="en-US" altLang="zh-CN" dirty="0">
                  <a:solidFill>
                    <a:srgbClr val="FF0000"/>
                  </a:solidFill>
                  <a:latin typeface="Times New Roman" panose="02020603050405020304" pitchFamily="18" charset="0"/>
                </a:rPr>
                <a:t>F</a:t>
              </a:r>
              <a:r>
                <a:rPr lang="zh-CN" altLang="en-US" dirty="0">
                  <a:solidFill>
                    <a:schemeClr val="accent4">
                      <a:lumMod val="50000"/>
                    </a:schemeClr>
                  </a:solidFill>
                  <a:latin typeface="Times New Roman" panose="02020603050405020304" pitchFamily="18" charset="0"/>
                </a:rPr>
                <a:t>和</a:t>
              </a:r>
              <a:r>
                <a:rPr lang="zh-CN" altLang="en-US" dirty="0">
                  <a:solidFill>
                    <a:srgbClr val="FF0000"/>
                  </a:solidFill>
                  <a:latin typeface="Times New Roman" panose="02020603050405020304" pitchFamily="18" charset="0"/>
                </a:rPr>
                <a:t>轴向扭矩</a:t>
              </a:r>
              <a:r>
                <a:rPr lang="en-US" altLang="zh-CN" dirty="0">
                  <a:solidFill>
                    <a:srgbClr val="FF0000"/>
                  </a:solidFill>
                  <a:latin typeface="Times New Roman" panose="02020603050405020304" pitchFamily="18" charset="0"/>
                </a:rPr>
                <a:t>T</a:t>
              </a:r>
              <a:r>
                <a:rPr lang="zh-CN" altLang="en-US" dirty="0">
                  <a:solidFill>
                    <a:srgbClr val="000099"/>
                  </a:solidFill>
                  <a:latin typeface="Times New Roman" panose="02020603050405020304" pitchFamily="18" charset="0"/>
                </a:rPr>
                <a:t>产生的</a:t>
              </a:r>
              <a:r>
                <a:rPr lang="zh-CN" altLang="en-US" dirty="0">
                  <a:solidFill>
                    <a:srgbClr val="C00000"/>
                  </a:solidFill>
                  <a:latin typeface="Times New Roman" panose="02020603050405020304" pitchFamily="18" charset="0"/>
                </a:rPr>
                <a:t>剪切应力</a:t>
              </a:r>
              <a:r>
                <a:rPr lang="zh-CN" altLang="en-US" dirty="0">
                  <a:solidFill>
                    <a:srgbClr val="000099"/>
                  </a:solidFill>
                  <a:latin typeface="Times New Roman" panose="02020603050405020304" pitchFamily="18" charset="0"/>
                </a:rPr>
                <a:t>，应力值可近似取为：</a:t>
              </a:r>
              <a:endParaRPr lang="zh-CN" altLang="en-US" dirty="0">
                <a:solidFill>
                  <a:srgbClr val="000099"/>
                </a:solidFill>
                <a:latin typeface="Times New Roman" panose="02020603050405020304" pitchFamily="18" charset="0"/>
                <a:ea typeface="Times New Roman" panose="02020603050405020304" pitchFamily="18" charset="0"/>
              </a:endParaRPr>
            </a:p>
          </p:txBody>
        </p:sp>
        <p:graphicFrame>
          <p:nvGraphicFramePr>
            <p:cNvPr id="2053" name="对象 -2147482614"/>
            <p:cNvGraphicFramePr>
              <a:graphicFrameLocks noChangeAspect="1"/>
            </p:cNvGraphicFramePr>
            <p:nvPr/>
          </p:nvGraphicFramePr>
          <p:xfrm>
            <a:off x="1303" y="4720"/>
            <a:ext cx="1377" cy="427"/>
          </p:xfrm>
          <a:graphic>
            <a:graphicData uri="http://schemas.openxmlformats.org/presentationml/2006/ole">
              <mc:AlternateContent xmlns:mc="http://schemas.openxmlformats.org/markup-compatibility/2006">
                <mc:Choice xmlns:v="urn:schemas-microsoft-com:vml" Requires="v">
                  <p:oleObj spid="_x0000_s4170" name="" r:id="rId9" imgW="570230" imgH="177800" progId="Equation.KSEE3">
                    <p:embed/>
                  </p:oleObj>
                </mc:Choice>
                <mc:Fallback>
                  <p:oleObj name="" r:id="rId9" imgW="570230" imgH="177800" progId="Equation.KSEE3">
                    <p:embed/>
                    <p:pic>
                      <p:nvPicPr>
                        <p:cNvPr id="0" name="图片 3082"/>
                        <p:cNvPicPr/>
                        <p:nvPr/>
                      </p:nvPicPr>
                      <p:blipFill>
                        <a:blip r:embed="rId10"/>
                        <a:stretch>
                          <a:fillRect/>
                        </a:stretch>
                      </p:blipFill>
                      <p:spPr>
                        <a:xfrm>
                          <a:off x="1303" y="4720"/>
                          <a:ext cx="1377" cy="427"/>
                        </a:xfrm>
                        <a:prstGeom prst="rect">
                          <a:avLst/>
                        </a:prstGeom>
                        <a:noFill/>
                        <a:ln w="38100">
                          <a:noFill/>
                          <a:miter/>
                        </a:ln>
                      </p:spPr>
                    </p:pic>
                  </p:oleObj>
                </mc:Fallback>
              </mc:AlternateContent>
            </a:graphicData>
          </a:graphic>
        </p:graphicFrame>
        <p:graphicFrame>
          <p:nvGraphicFramePr>
            <p:cNvPr id="2054" name="对象 -2147482613"/>
            <p:cNvGraphicFramePr>
              <a:graphicFrameLocks noChangeAspect="1"/>
            </p:cNvGraphicFramePr>
            <p:nvPr/>
          </p:nvGraphicFramePr>
          <p:xfrm>
            <a:off x="2891" y="4720"/>
            <a:ext cx="1426" cy="442"/>
          </p:xfrm>
          <a:graphic>
            <a:graphicData uri="http://schemas.openxmlformats.org/presentationml/2006/ole">
              <mc:AlternateContent xmlns:mc="http://schemas.openxmlformats.org/markup-compatibility/2006">
                <mc:Choice xmlns:v="urn:schemas-microsoft-com:vml" Requires="v">
                  <p:oleObj spid="_x0000_s4171" name="" r:id="rId11" imgW="570230" imgH="177800" progId="Equation.KSEE3">
                    <p:embed/>
                  </p:oleObj>
                </mc:Choice>
                <mc:Fallback>
                  <p:oleObj name="" r:id="rId11" imgW="570230" imgH="177800" progId="Equation.KSEE3">
                    <p:embed/>
                    <p:pic>
                      <p:nvPicPr>
                        <p:cNvPr id="0" name="图片 3087"/>
                        <p:cNvPicPr/>
                        <p:nvPr/>
                      </p:nvPicPr>
                      <p:blipFill>
                        <a:blip r:embed="rId12"/>
                        <a:stretch>
                          <a:fillRect/>
                        </a:stretch>
                      </p:blipFill>
                      <p:spPr>
                        <a:xfrm>
                          <a:off x="2891" y="4720"/>
                          <a:ext cx="1426" cy="442"/>
                        </a:xfrm>
                        <a:prstGeom prst="rect">
                          <a:avLst/>
                        </a:prstGeom>
                        <a:noFill/>
                        <a:ln w="38100">
                          <a:noFill/>
                          <a:miter/>
                        </a:ln>
                      </p:spPr>
                    </p:pic>
                  </p:oleObj>
                </mc:Fallback>
              </mc:AlternateContent>
            </a:graphicData>
          </a:graphic>
        </p:graphicFrame>
      </p:grpSp>
      <p:graphicFrame>
        <p:nvGraphicFramePr>
          <p:cNvPr id="55314" name="对象 -2147482607"/>
          <p:cNvGraphicFramePr>
            <a:graphicFrameLocks noChangeAspect="1"/>
          </p:cNvGraphicFramePr>
          <p:nvPr/>
        </p:nvGraphicFramePr>
        <p:xfrm>
          <a:off x="755966" y="4007457"/>
          <a:ext cx="6926580" cy="1511935"/>
        </p:xfrm>
        <a:graphic>
          <a:graphicData uri="http://schemas.openxmlformats.org/presentationml/2006/ole">
            <mc:AlternateContent xmlns:mc="http://schemas.openxmlformats.org/markup-compatibility/2006">
              <mc:Choice xmlns:v="urn:schemas-microsoft-com:vml" Requires="v">
                <p:oleObj spid="_x0000_s4172" name="" r:id="rId13" imgW="3543300" imgH="774065" progId="Equation.KSEE3">
                  <p:embed/>
                </p:oleObj>
              </mc:Choice>
              <mc:Fallback>
                <p:oleObj name="" r:id="rId13" imgW="3543300" imgH="774065" progId="Equation.KSEE3">
                  <p:embed/>
                  <p:pic>
                    <p:nvPicPr>
                      <p:cNvPr id="0" name="图片 3083"/>
                      <p:cNvPicPr/>
                      <p:nvPr/>
                    </p:nvPicPr>
                    <p:blipFill>
                      <a:blip r:embed="rId14"/>
                      <a:stretch>
                        <a:fillRect/>
                      </a:stretch>
                    </p:blipFill>
                    <p:spPr>
                      <a:xfrm>
                        <a:off x="755966" y="4007457"/>
                        <a:ext cx="6926580" cy="1511935"/>
                      </a:xfrm>
                      <a:prstGeom prst="rect">
                        <a:avLst/>
                      </a:prstGeom>
                      <a:noFill/>
                      <a:ln w="38100">
                        <a:noFill/>
                        <a:miter/>
                      </a:ln>
                    </p:spPr>
                  </p:pic>
                </p:oleObj>
              </mc:Fallback>
            </mc:AlternateContent>
          </a:graphicData>
        </a:graphic>
      </p:graphicFrame>
      <p:sp>
        <p:nvSpPr>
          <p:cNvPr id="2092"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graphicFrame>
        <p:nvGraphicFramePr>
          <p:cNvPr id="2052" name="Object 21"/>
          <p:cNvGraphicFramePr>
            <a:graphicFrameLocks noChangeAspect="1"/>
          </p:cNvGraphicFramePr>
          <p:nvPr/>
        </p:nvGraphicFramePr>
        <p:xfrm>
          <a:off x="5220411" y="5487948"/>
          <a:ext cx="929975" cy="582257"/>
        </p:xfrm>
        <a:graphic>
          <a:graphicData uri="http://schemas.openxmlformats.org/presentationml/2006/ole">
            <mc:AlternateContent xmlns:mc="http://schemas.openxmlformats.org/markup-compatibility/2006">
              <mc:Choice xmlns:v="urn:schemas-microsoft-com:vml" Requires="v">
                <p:oleObj spid="_x0000_s12304" name="" r:id="rId15" imgW="457200" imgH="393700" progId="Equation.KSEE3">
                  <p:embed/>
                </p:oleObj>
              </mc:Choice>
              <mc:Fallback>
                <p:oleObj name="" r:id="rId15" imgW="457200" imgH="393700" progId="Equation.KSEE3">
                  <p:embed/>
                  <p:pic>
                    <p:nvPicPr>
                      <p:cNvPr id="0" name="图片 12303"/>
                      <p:cNvPicPr/>
                      <p:nvPr/>
                    </p:nvPicPr>
                    <p:blipFill>
                      <a:blip r:embed="rId16"/>
                      <a:stretch>
                        <a:fillRect/>
                      </a:stretch>
                    </p:blipFill>
                    <p:spPr>
                      <a:xfrm>
                        <a:off x="5220411" y="5487948"/>
                        <a:ext cx="929975" cy="582257"/>
                      </a:xfrm>
                      <a:prstGeom prst="rect">
                        <a:avLst/>
                      </a:prstGeom>
                      <a:solidFill>
                        <a:srgbClr val="FFFF00">
                          <a:alpha val="54000"/>
                        </a:srgbClr>
                      </a:solidFill>
                      <a:ln w="19050">
                        <a:solidFill>
                          <a:srgbClr val="FFC000"/>
                        </a:solidFill>
                        <a:miter/>
                      </a:ln>
                    </p:spPr>
                  </p:pic>
                </p:oleObj>
              </mc:Fallback>
            </mc:AlternateContent>
          </a:graphicData>
        </a:graphic>
      </p:graphicFrame>
      <p:sp>
        <p:nvSpPr>
          <p:cNvPr id="5" name="文本框 4"/>
          <p:cNvSpPr txBox="1"/>
          <p:nvPr/>
        </p:nvSpPr>
        <p:spPr>
          <a:xfrm>
            <a:off x="6300470" y="5581015"/>
            <a:ext cx="2546985" cy="429895"/>
          </a:xfrm>
          <a:prstGeom prst="rect">
            <a:avLst/>
          </a:prstGeom>
          <a:noFill/>
        </p:spPr>
        <p:txBody>
          <a:bodyPr wrap="square" rtlCol="0">
            <a:spAutoFit/>
          </a:bodyPr>
          <a:p>
            <a:r>
              <a:rPr lang="zh-CN" altLang="en-US">
                <a:solidFill>
                  <a:srgbClr val="FF0000"/>
                </a:solidFill>
              </a:rPr>
              <a:t>旋绕比或弹簧指数</a:t>
            </a:r>
            <a:endParaRPr lang="zh-CN" altLang="en-US">
              <a:solidFill>
                <a:srgbClr val="FF00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5314"/>
                                        </p:tgtEl>
                                        <p:attrNameLst>
                                          <p:attrName>style.visibility</p:attrName>
                                        </p:attrNameLst>
                                      </p:cBhvr>
                                      <p:to>
                                        <p:strVal val="visible"/>
                                      </p:to>
                                    </p:set>
                                    <p:anim calcmode="lin" valueType="num">
                                      <p:cBhvr additive="base">
                                        <p:cTn id="19" dur="500" fill="hold"/>
                                        <p:tgtEl>
                                          <p:spTgt spid="55314"/>
                                        </p:tgtEl>
                                        <p:attrNameLst>
                                          <p:attrName>ppt_x</p:attrName>
                                        </p:attrNameLst>
                                      </p:cBhvr>
                                      <p:tavLst>
                                        <p:tav tm="0">
                                          <p:val>
                                            <p:strVal val="#ppt_x"/>
                                          </p:val>
                                        </p:tav>
                                        <p:tav tm="100000">
                                          <p:val>
                                            <p:strVal val="#ppt_x"/>
                                          </p:val>
                                        </p:tav>
                                      </p:tavLst>
                                    </p:anim>
                                    <p:anim calcmode="lin" valueType="num">
                                      <p:cBhvr additive="base">
                                        <p:cTn id="20" dur="500" fill="hold"/>
                                        <p:tgtEl>
                                          <p:spTgt spid="553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052"/>
                                        </p:tgtEl>
                                        <p:attrNameLst>
                                          <p:attrName>style.visibility</p:attrName>
                                        </p:attrNameLst>
                                      </p:cBhvr>
                                      <p:to>
                                        <p:strVal val="visible"/>
                                      </p:to>
                                    </p:set>
                                    <p:animEffect transition="in" filter="wipe(left)">
                                      <p:cBhvr>
                                        <p:cTn id="25" dur="500"/>
                                        <p:tgtEl>
                                          <p:spTgt spid="205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Text Box 28"/>
          <p:cNvSpPr txBox="1"/>
          <p:nvPr/>
        </p:nvSpPr>
        <p:spPr>
          <a:xfrm>
            <a:off x="6538913" y="62341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2060"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2061"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571500" y="214313"/>
            <a:ext cx="8572500"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2093" name="文本框 10"/>
          <p:cNvSpPr txBox="1"/>
          <p:nvPr/>
        </p:nvSpPr>
        <p:spPr>
          <a:xfrm>
            <a:off x="486410" y="1556385"/>
            <a:ext cx="7920990" cy="1614805"/>
          </a:xfrm>
          <a:prstGeom prst="rect">
            <a:avLst/>
          </a:prstGeom>
          <a:noFill/>
          <a:ln w="9525">
            <a:noFill/>
          </a:ln>
        </p:spPr>
        <p:txBody>
          <a:bodyPr>
            <a:spAutoFit/>
          </a:bodyPr>
          <a:lstStyle/>
          <a:p>
            <a:pPr>
              <a:lnSpc>
                <a:spcPct val="150000"/>
              </a:lnSpc>
            </a:pPr>
            <a:r>
              <a:rPr lang="zh-CN" altLang="en-US" dirty="0" smtClean="0">
                <a:solidFill>
                  <a:srgbClr val="000099"/>
                </a:solidFill>
                <a:latin typeface="Times New Roman" panose="02020603050405020304" pitchFamily="18" charset="0"/>
              </a:rPr>
              <a:t>为了使弹簧本身较为稳定，不致颤动和过软，</a:t>
            </a:r>
            <a:r>
              <a:rPr lang="en-US" altLang="zh-CN" dirty="0" smtClean="0">
                <a:solidFill>
                  <a:srgbClr val="000099"/>
                </a:solidFill>
                <a:latin typeface="Times New Roman" panose="02020603050405020304" pitchFamily="18" charset="0"/>
              </a:rPr>
              <a:t>C</a:t>
            </a:r>
            <a:r>
              <a:rPr lang="zh-CN" altLang="en-US" dirty="0" smtClean="0">
                <a:solidFill>
                  <a:srgbClr val="000099"/>
                </a:solidFill>
                <a:latin typeface="Times New Roman" panose="02020603050405020304" pitchFamily="18" charset="0"/>
              </a:rPr>
              <a:t>值不能太大；但为避免卷绕时弹簧丝受到强烈弯曲，</a:t>
            </a:r>
            <a:r>
              <a:rPr lang="en-US" altLang="zh-CN" dirty="0" smtClean="0">
                <a:solidFill>
                  <a:srgbClr val="000099"/>
                </a:solidFill>
                <a:latin typeface="Times New Roman" panose="02020603050405020304" pitchFamily="18" charset="0"/>
              </a:rPr>
              <a:t>C</a:t>
            </a:r>
            <a:r>
              <a:rPr lang="zh-CN" altLang="en-US" dirty="0" smtClean="0">
                <a:solidFill>
                  <a:srgbClr val="000099"/>
                </a:solidFill>
                <a:latin typeface="Times New Roman" panose="02020603050405020304" pitchFamily="18" charset="0"/>
              </a:rPr>
              <a:t>值又不应太小。</a:t>
            </a:r>
            <a:r>
              <a:rPr lang="en-US" altLang="zh-CN" dirty="0" smtClean="0">
                <a:solidFill>
                  <a:srgbClr val="000099"/>
                </a:solidFill>
                <a:latin typeface="Times New Roman" panose="02020603050405020304" pitchFamily="18" charset="0"/>
              </a:rPr>
              <a:t>C</a:t>
            </a:r>
            <a:r>
              <a:rPr lang="zh-CN" altLang="en-US" dirty="0" smtClean="0">
                <a:solidFill>
                  <a:srgbClr val="000099"/>
                </a:solidFill>
                <a:latin typeface="Times New Roman" panose="02020603050405020304" pitchFamily="18" charset="0"/>
              </a:rPr>
              <a:t>值得范围是</a:t>
            </a:r>
            <a:r>
              <a:rPr lang="en-US" altLang="zh-CN" dirty="0" smtClean="0">
                <a:solidFill>
                  <a:srgbClr val="000099"/>
                </a:solidFill>
                <a:latin typeface="Times New Roman" panose="02020603050405020304" pitchFamily="18" charset="0"/>
              </a:rPr>
              <a:t>4~16</a:t>
            </a:r>
            <a:r>
              <a:rPr lang="zh-CN" altLang="en-US" dirty="0" smtClean="0">
                <a:solidFill>
                  <a:srgbClr val="000099"/>
                </a:solidFill>
                <a:latin typeface="Times New Roman" panose="02020603050405020304" pitchFamily="18" charset="0"/>
              </a:rPr>
              <a:t>，常用值为</a:t>
            </a:r>
            <a:r>
              <a:rPr lang="en-US" altLang="zh-CN" dirty="0" smtClean="0">
                <a:solidFill>
                  <a:srgbClr val="000099"/>
                </a:solidFill>
                <a:latin typeface="Times New Roman" panose="02020603050405020304" pitchFamily="18" charset="0"/>
              </a:rPr>
              <a:t>5~8.</a:t>
            </a:r>
            <a:endParaRPr lang="zh-CN" altLang="en-US" dirty="0">
              <a:solidFill>
                <a:srgbClr val="000099"/>
              </a:solidFill>
              <a:latin typeface="Times New Roman" panose="02020603050405020304" pitchFamily="18" charset="0"/>
              <a:ea typeface="Times New Roman" panose="02020603050405020304" pitchFamily="18" charset="0"/>
            </a:endParaRPr>
          </a:p>
        </p:txBody>
      </p:sp>
      <p:graphicFrame>
        <p:nvGraphicFramePr>
          <p:cNvPr id="3093" name="表格 3092"/>
          <p:cNvGraphicFramePr>
            <a:graphicFrameLocks noGrp="1"/>
          </p:cNvGraphicFramePr>
          <p:nvPr/>
        </p:nvGraphicFramePr>
        <p:xfrm>
          <a:off x="1475656" y="4149080"/>
          <a:ext cx="5359400" cy="1206500"/>
        </p:xfrm>
        <a:graphic>
          <a:graphicData uri="http://schemas.openxmlformats.org/drawingml/2006/table">
            <a:tbl>
              <a:tblPr/>
              <a:tblGrid>
                <a:gridCol w="893763"/>
                <a:gridCol w="892175"/>
                <a:gridCol w="893762"/>
                <a:gridCol w="893763"/>
                <a:gridCol w="892175"/>
                <a:gridCol w="893762"/>
              </a:tblGrid>
              <a:tr h="498475">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1"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rPr>
                        <a:t>d</a:t>
                      </a:r>
                      <a:r>
                        <a:rPr kumimoji="0" lang="en-US" altLang="zh-CN" sz="2000" b="0" i="0"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rPr>
                        <a:t>/mm</a:t>
                      </a:r>
                      <a:endParaRPr kumimoji="0" lang="en-US" altLang="zh-CN" sz="2000" b="0" i="1"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rPr>
                        <a:t>0.2~0.4</a:t>
                      </a:r>
                      <a:endParaRPr kumimoji="0"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rPr>
                        <a:t>0.45~1</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rPr>
                        <a:t>2.5~6</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rPr>
                        <a:t>7~16</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rPr>
                        <a:t>18~42</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905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r>
              <a:tr h="708025">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horzOverflow="overflow">
                    <a:lnL w="9525" cap="flat" cmpd="sng" algn="ctr">
                      <a:solidFill>
                        <a:srgbClr val="00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rPr>
                        <a:t>7~14</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rPr>
                        <a:t>5~12</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rPr>
                        <a:t>4~9</a:t>
                      </a:r>
                      <a:endParaRPr kumimoji="0"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smtClean="0">
                          <a:ln>
                            <a:noFill/>
                          </a:ln>
                          <a:solidFill>
                            <a:srgbClr val="000099"/>
                          </a:solidFill>
                          <a:effectLst/>
                          <a:latin typeface="Times New Roman" panose="02020603050405020304" pitchFamily="18" charset="0"/>
                          <a:ea typeface="宋体" panose="02010600030101010101" pitchFamily="2" charset="-122"/>
                        </a:rPr>
                        <a:t>4~8</a:t>
                      </a:r>
                      <a:endParaRPr kumimoji="0" lang="en-US" altLang="zh-CN" sz="2000" b="0" i="0" u="none" strike="noStrike" cap="none" normalizeH="0" baseline="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12700" cap="flat" cmpd="sng" algn="ctr">
                      <a:solidFill>
                        <a:srgbClr val="08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smtClean="0">
                          <a:ln>
                            <a:noFill/>
                          </a:ln>
                          <a:solidFill>
                            <a:srgbClr val="000099"/>
                          </a:solidFill>
                          <a:effectLst/>
                          <a:latin typeface="Times New Roman" panose="02020603050405020304" pitchFamily="18" charset="0"/>
                          <a:ea typeface="宋体" panose="02010600030101010101" pitchFamily="2" charset="-122"/>
                        </a:rPr>
                        <a:t>4~6</a:t>
                      </a:r>
                      <a:endParaRPr kumimoji="0" lang="en-US" altLang="zh-CN" sz="2000" b="0" i="0" u="none" strike="noStrike" cap="none" normalizeH="0" baseline="0" dirty="0" smtClean="0">
                        <a:ln>
                          <a:noFill/>
                        </a:ln>
                        <a:solidFill>
                          <a:srgbClr val="000099"/>
                        </a:solidFill>
                        <a:effectLst/>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horzOverflow="overflow">
                    <a:lnL w="12700" cap="flat" cmpd="sng" algn="ctr">
                      <a:solidFill>
                        <a:srgbClr val="08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80000"/>
                      </a:solidFill>
                      <a:prstDash val="solid"/>
                      <a:round/>
                      <a:headEnd type="none" w="med" len="med"/>
                      <a:tailEnd type="none" w="med" len="med"/>
                    </a:lnT>
                    <a:lnB w="19050" cap="flat" cmpd="sng" algn="ctr">
                      <a:solidFill>
                        <a:srgbClr val="080000"/>
                      </a:solidFill>
                      <a:prstDash val="solid"/>
                      <a:round/>
                      <a:headEnd type="none" w="med" len="med"/>
                      <a:tailEnd type="none" w="med" len="med"/>
                    </a:lnB>
                    <a:lnTlToBr>
                      <a:noFill/>
                    </a:lnTlToBr>
                    <a:lnBlToTr>
                      <a:noFill/>
                    </a:lnBlToTr>
                    <a:noFill/>
                  </a:tcPr>
                </a:tc>
              </a:tr>
            </a:tbl>
          </a:graphicData>
        </a:graphic>
      </p:graphicFrame>
      <p:graphicFrame>
        <p:nvGraphicFramePr>
          <p:cNvPr id="13" name="对象 -2147482606"/>
          <p:cNvGraphicFramePr>
            <a:graphicFrameLocks noChangeAspect="1"/>
          </p:cNvGraphicFramePr>
          <p:nvPr/>
        </p:nvGraphicFramePr>
        <p:xfrm>
          <a:off x="1547664" y="4653136"/>
          <a:ext cx="638175" cy="550863"/>
        </p:xfrm>
        <a:graphic>
          <a:graphicData uri="http://schemas.openxmlformats.org/presentationml/2006/ole">
            <mc:AlternateContent xmlns:mc="http://schemas.openxmlformats.org/markup-compatibility/2006">
              <mc:Choice xmlns:v="urn:schemas-microsoft-com:vml" Requires="v">
                <p:oleObj spid="_x0000_s12305" name="" r:id="rId1" imgW="459740" imgH="395605" progId="Equation.KSEE3">
                  <p:embed/>
                </p:oleObj>
              </mc:Choice>
              <mc:Fallback>
                <p:oleObj name="" r:id="rId1" imgW="459740" imgH="395605" progId="Equation.KSEE3">
                  <p:embed/>
                  <p:pic>
                    <p:nvPicPr>
                      <p:cNvPr id="0" name="图片 12304"/>
                      <p:cNvPicPr/>
                      <p:nvPr/>
                    </p:nvPicPr>
                    <p:blipFill>
                      <a:blip r:embed="rId2"/>
                      <a:stretch>
                        <a:fillRect/>
                      </a:stretch>
                    </p:blipFill>
                    <p:spPr>
                      <a:xfrm>
                        <a:off x="1547664" y="4653136"/>
                        <a:ext cx="638175" cy="550863"/>
                      </a:xfrm>
                      <a:prstGeom prst="rect">
                        <a:avLst/>
                      </a:prstGeom>
                      <a:noFill/>
                      <a:ln w="38100">
                        <a:noFill/>
                        <a:miter/>
                      </a:ln>
                    </p:spPr>
                  </p:pic>
                </p:oleObj>
              </mc:Fallback>
            </mc:AlternateContent>
          </a:graphicData>
        </a:graphic>
      </p:graphicFrame>
      <p:sp>
        <p:nvSpPr>
          <p:cNvPr id="2092"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2" name="文本框 1"/>
          <p:cNvSpPr txBox="1"/>
          <p:nvPr/>
        </p:nvSpPr>
        <p:spPr>
          <a:xfrm>
            <a:off x="2339975" y="3500755"/>
            <a:ext cx="4213225" cy="429895"/>
          </a:xfrm>
          <a:prstGeom prst="rect">
            <a:avLst/>
          </a:prstGeom>
          <a:noFill/>
        </p:spPr>
        <p:txBody>
          <a:bodyPr wrap="square" rtlCol="0" anchor="t">
            <a:spAutoFit/>
          </a:bodyPr>
          <a:p>
            <a:r>
              <a:rPr lang="zh-CN" altLang="en-US" dirty="0" smtClean="0">
                <a:solidFill>
                  <a:srgbClr val="000099"/>
                </a:solidFill>
                <a:latin typeface="Times New Roman" panose="02020603050405020304" pitchFamily="18" charset="0"/>
                <a:sym typeface="+mn-ea"/>
              </a:rPr>
              <a:t>表</a:t>
            </a:r>
            <a:r>
              <a:rPr lang="en-US" altLang="zh-CN" sz="2000" dirty="0" smtClean="0">
                <a:solidFill>
                  <a:srgbClr val="000099"/>
                </a:solidFill>
                <a:latin typeface="Times New Roman" panose="02020603050405020304" pitchFamily="18" charset="0"/>
                <a:sym typeface="+mn-ea"/>
              </a:rPr>
              <a:t>3.12-7    </a:t>
            </a:r>
            <a:r>
              <a:rPr lang="zh-CN" altLang="en-US" sz="2000" dirty="0" smtClean="0">
                <a:solidFill>
                  <a:srgbClr val="000099"/>
                </a:solidFill>
                <a:latin typeface="Times New Roman" panose="02020603050405020304" pitchFamily="18" charset="0"/>
                <a:sym typeface="+mn-ea"/>
              </a:rPr>
              <a:t>常用</a:t>
            </a:r>
            <a:r>
              <a:rPr lang="zh-CN" altLang="en-US" sz="2000" dirty="0">
                <a:solidFill>
                  <a:srgbClr val="000099"/>
                </a:solidFill>
                <a:latin typeface="Times New Roman" panose="02020603050405020304" pitchFamily="18" charset="0"/>
                <a:sym typeface="+mn-ea"/>
              </a:rPr>
              <a:t>旋绕比</a:t>
            </a:r>
            <a:r>
              <a:rPr lang="en-US" altLang="zh-CN" sz="2000" dirty="0">
                <a:solidFill>
                  <a:srgbClr val="000099"/>
                </a:solidFill>
                <a:latin typeface="Times New Roman" panose="02020603050405020304" pitchFamily="18" charset="0"/>
                <a:sym typeface="+mn-ea"/>
              </a:rPr>
              <a:t>C</a:t>
            </a:r>
            <a:r>
              <a:rPr lang="zh-CN" altLang="en-US" sz="2000" dirty="0">
                <a:solidFill>
                  <a:srgbClr val="000099"/>
                </a:solidFill>
                <a:latin typeface="Times New Roman" panose="02020603050405020304" pitchFamily="18" charset="0"/>
                <a:sym typeface="+mn-ea"/>
              </a:rPr>
              <a:t>值</a:t>
            </a:r>
            <a:endParaRPr lang="zh-CN" altLang="en-US" sz="2000" dirty="0">
              <a:solidFill>
                <a:srgbClr val="000099"/>
              </a:solidFill>
              <a:latin typeface="Times New Roman" panose="02020603050405020304" pitchFamily="18" charset="0"/>
              <a:sym typeface="+mn-ea"/>
            </a:endParaRPr>
          </a:p>
        </p:txBody>
      </p:sp>
      <p:graphicFrame>
        <p:nvGraphicFramePr>
          <p:cNvPr id="2052" name="Object 21"/>
          <p:cNvGraphicFramePr>
            <a:graphicFrameLocks noChangeAspect="1"/>
          </p:cNvGraphicFramePr>
          <p:nvPr/>
        </p:nvGraphicFramePr>
        <p:xfrm>
          <a:off x="1409776" y="919758"/>
          <a:ext cx="929975" cy="582257"/>
        </p:xfrm>
        <a:graphic>
          <a:graphicData uri="http://schemas.openxmlformats.org/presentationml/2006/ole">
            <mc:AlternateContent xmlns:mc="http://schemas.openxmlformats.org/markup-compatibility/2006">
              <mc:Choice xmlns:v="urn:schemas-microsoft-com:vml" Requires="v">
                <p:oleObj spid="_x0000_s12304" name="" r:id="rId3" imgW="457200" imgH="393700" progId="Equation.KSEE3">
                  <p:embed/>
                </p:oleObj>
              </mc:Choice>
              <mc:Fallback>
                <p:oleObj name="" r:id="rId3" imgW="457200" imgH="393700" progId="Equation.KSEE3">
                  <p:embed/>
                  <p:pic>
                    <p:nvPicPr>
                      <p:cNvPr id="0" name="图片 12303"/>
                      <p:cNvPicPr/>
                      <p:nvPr/>
                    </p:nvPicPr>
                    <p:blipFill>
                      <a:blip r:embed="rId4"/>
                      <a:stretch>
                        <a:fillRect/>
                      </a:stretch>
                    </p:blipFill>
                    <p:spPr>
                      <a:xfrm>
                        <a:off x="1409776" y="919758"/>
                        <a:ext cx="929975" cy="582257"/>
                      </a:xfrm>
                      <a:prstGeom prst="rect">
                        <a:avLst/>
                      </a:prstGeom>
                      <a:solidFill>
                        <a:srgbClr val="FFFF00">
                          <a:alpha val="54000"/>
                        </a:srgbClr>
                      </a:solidFill>
                      <a:ln w="19050">
                        <a:solidFill>
                          <a:srgbClr val="FFC000"/>
                        </a:solid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093"/>
                                        </p:tgtEl>
                                        <p:attrNameLst>
                                          <p:attrName>style.visibility</p:attrName>
                                        </p:attrNameLst>
                                      </p:cBhvr>
                                      <p:to>
                                        <p:strVal val="visible"/>
                                      </p:to>
                                    </p:set>
                                    <p:anim calcmode="lin" valueType="num">
                                      <p:cBhvr additive="base">
                                        <p:cTn id="12" dur="500" fill="hold"/>
                                        <p:tgtEl>
                                          <p:spTgt spid="3093"/>
                                        </p:tgtEl>
                                        <p:attrNameLst>
                                          <p:attrName>ppt_x</p:attrName>
                                        </p:attrNameLst>
                                      </p:cBhvr>
                                      <p:tavLst>
                                        <p:tav tm="0">
                                          <p:val>
                                            <p:strVal val="#ppt_x"/>
                                          </p:val>
                                        </p:tav>
                                        <p:tav tm="100000">
                                          <p:val>
                                            <p:strVal val="#ppt_x"/>
                                          </p:val>
                                        </p:tav>
                                      </p:tavLst>
                                    </p:anim>
                                    <p:anim calcmode="lin" valueType="num">
                                      <p:cBhvr additive="base">
                                        <p:cTn id="13" dur="500" fill="hold"/>
                                        <p:tgtEl>
                                          <p:spTgt spid="3093"/>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52"/>
                                        </p:tgtEl>
                                        <p:attrNameLst>
                                          <p:attrName>style.visibility</p:attrName>
                                        </p:attrNameLst>
                                      </p:cBhvr>
                                      <p:to>
                                        <p:strVal val="visible"/>
                                      </p:to>
                                    </p:set>
                                    <p:animEffect transition="in" filter="wipe(left)">
                                      <p:cBhvr>
                                        <p:cTn id="22"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Text Box 28"/>
          <p:cNvSpPr txBox="1"/>
          <p:nvPr/>
        </p:nvSpPr>
        <p:spPr>
          <a:xfrm>
            <a:off x="6538913" y="6234113"/>
            <a:ext cx="252412" cy="433387"/>
          </a:xfrm>
          <a:prstGeom prst="rect">
            <a:avLst/>
          </a:prstGeom>
          <a:noFill/>
          <a:ln w="9525">
            <a:noFill/>
          </a:ln>
        </p:spPr>
        <p:txBody>
          <a:bodyPr wrap="none" lIns="90000" tIns="46800" rIns="90000" bIns="46800">
            <a:spAutoFit/>
          </a:bodyPr>
          <a:lstStyle/>
          <a:p>
            <a:r>
              <a:rPr lang="en-US" altLang="zh-CN" dirty="0">
                <a:solidFill>
                  <a:srgbClr val="000099"/>
                </a:solidFill>
                <a:latin typeface="Times New Roman" panose="02020603050405020304" pitchFamily="18" charset="0"/>
              </a:rPr>
              <a:t> </a:t>
            </a:r>
            <a:endParaRPr lang="en-US" altLang="zh-CN" dirty="0">
              <a:solidFill>
                <a:srgbClr val="000099"/>
              </a:solidFill>
              <a:latin typeface="Times New Roman" panose="02020603050405020304" pitchFamily="18" charset="0"/>
              <a:ea typeface="Times New Roman" panose="02020603050405020304" pitchFamily="18" charset="0"/>
            </a:endParaRPr>
          </a:p>
        </p:txBody>
      </p:sp>
      <p:sp>
        <p:nvSpPr>
          <p:cNvPr id="3079" name="Rectangle 6"/>
          <p:cNvSpPr/>
          <p:nvPr/>
        </p:nvSpPr>
        <p:spPr>
          <a:xfrm>
            <a:off x="0" y="-215900"/>
            <a:ext cx="182563" cy="431800"/>
          </a:xfrm>
          <a:prstGeom prst="rect">
            <a:avLst/>
          </a:prstGeom>
          <a:noFill/>
          <a:ln w="9525">
            <a:noFill/>
          </a:ln>
        </p:spPr>
        <p:txBody>
          <a:bodyPr wrap="none" lIns="90000" tIns="46800" rIns="90000" bIns="46800" anchor="ctr">
            <a:spAutoFit/>
          </a:bodyPr>
          <a:lstStyle/>
          <a:p>
            <a:endParaRPr lang="zh-CN" altLang="en-US" dirty="0">
              <a:solidFill>
                <a:srgbClr val="000099"/>
              </a:solidFill>
              <a:latin typeface="Times New Roman" panose="02020603050405020304" pitchFamily="18" charset="0"/>
              <a:ea typeface="Times New Roman" panose="02020603050405020304" pitchFamily="18" charset="0"/>
            </a:endParaRPr>
          </a:p>
        </p:txBody>
      </p:sp>
      <p:sp>
        <p:nvSpPr>
          <p:cNvPr id="3080" name="Rectangle 8"/>
          <p:cNvSpPr/>
          <p:nvPr/>
        </p:nvSpPr>
        <p:spPr>
          <a:xfrm>
            <a:off x="0" y="-215900"/>
            <a:ext cx="182563" cy="431800"/>
          </a:xfrm>
          <a:prstGeom prst="rect">
            <a:avLst/>
          </a:prstGeom>
          <a:noFill/>
          <a:ln w="9525">
            <a:noFill/>
          </a:ln>
        </p:spPr>
        <p:txBody>
          <a:bodyPr wrap="none" lIns="90000" tIns="46800" rIns="90000" bIns="46800" anchor="ctr">
            <a:spAutoFit/>
          </a:bodyPr>
          <a:lstStyle/>
          <a:p>
            <a:endParaRPr lang="zh-CN" altLang="en-US" dirty="0">
              <a:solidFill>
                <a:srgbClr val="000099"/>
              </a:solidFill>
              <a:latin typeface="Times New Roman" panose="02020603050405020304" pitchFamily="18" charset="0"/>
              <a:ea typeface="Times New Roman" panose="02020603050405020304" pitchFamily="18" charset="0"/>
            </a:endParaRPr>
          </a:p>
        </p:txBody>
      </p:sp>
      <p:sp>
        <p:nvSpPr>
          <p:cNvPr id="3" name="Rectangle 2"/>
          <p:cNvSpPr>
            <a:spLocks noGrp="1" noChangeArrowheads="1"/>
          </p:cNvSpPr>
          <p:nvPr>
            <p:ph type="title"/>
          </p:nvPr>
        </p:nvSpPr>
        <p:spPr bwMode="auto">
          <a:xfrm>
            <a:off x="571500" y="214313"/>
            <a:ext cx="8572500"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00" name="文本框 99"/>
          <p:cNvSpPr txBox="1"/>
          <p:nvPr/>
        </p:nvSpPr>
        <p:spPr>
          <a:xfrm>
            <a:off x="395536" y="980728"/>
            <a:ext cx="8267700" cy="902970"/>
          </a:xfrm>
          <a:prstGeom prst="rect">
            <a:avLst/>
          </a:prstGeom>
          <a:noFill/>
          <a:ln w="9525">
            <a:noFill/>
          </a:ln>
        </p:spPr>
        <p:txBody>
          <a:bodyPr>
            <a:spAutoFit/>
          </a:bodyPr>
          <a:lstStyle/>
          <a:p>
            <a:pPr indent="508000">
              <a:lnSpc>
                <a:spcPct val="120000"/>
              </a:lnSpc>
            </a:pPr>
            <a:r>
              <a:rPr lang="zh-CN" altLang="en-US" dirty="0" smtClean="0">
                <a:solidFill>
                  <a:srgbClr val="000099"/>
                </a:solidFill>
                <a:latin typeface="Times New Roman" panose="02020603050405020304" pitchFamily="18" charset="0"/>
              </a:rPr>
              <a:t>考虑弹簧丝作用和曲率对弹簧丝中应力的影响，引入</a:t>
            </a:r>
            <a:r>
              <a:rPr lang="zh-CN" altLang="en-US" dirty="0" smtClean="0">
                <a:solidFill>
                  <a:srgbClr val="C00000"/>
                </a:solidFill>
                <a:latin typeface="Times New Roman" panose="02020603050405020304" pitchFamily="18" charset="0"/>
              </a:rPr>
              <a:t>弹簧曲度系数</a:t>
            </a:r>
            <a:r>
              <a:rPr lang="en-US" altLang="zh-CN" i="1" dirty="0">
                <a:solidFill>
                  <a:srgbClr val="C00000"/>
                </a:solidFill>
                <a:latin typeface="Times New Roman" panose="02020603050405020304" pitchFamily="18" charset="0"/>
              </a:rPr>
              <a:t>K</a:t>
            </a:r>
            <a:r>
              <a:rPr lang="zh-CN" altLang="en-US" dirty="0">
                <a:solidFill>
                  <a:srgbClr val="000099"/>
                </a:solidFill>
                <a:latin typeface="Times New Roman" panose="02020603050405020304" pitchFamily="18" charset="0"/>
              </a:rPr>
              <a:t>对上式进行修正，故弹簧丝截面上的最大切应力计算式</a:t>
            </a:r>
            <a:r>
              <a:rPr lang="zh-CN" altLang="en-US" dirty="0" smtClean="0">
                <a:solidFill>
                  <a:srgbClr val="000099"/>
                </a:solidFill>
                <a:latin typeface="Times New Roman" panose="02020603050405020304" pitchFamily="18" charset="0"/>
              </a:rPr>
              <a:t>为：</a:t>
            </a:r>
            <a:endParaRPr lang="zh-CN" altLang="en-US" dirty="0">
              <a:solidFill>
                <a:srgbClr val="000099"/>
              </a:solidFill>
              <a:latin typeface="Times New Roman" panose="02020603050405020304" pitchFamily="18" charset="0"/>
              <a:ea typeface="Times New Roman" panose="02020603050405020304" pitchFamily="18" charset="0"/>
            </a:endParaRPr>
          </a:p>
        </p:txBody>
      </p:sp>
      <p:graphicFrame>
        <p:nvGraphicFramePr>
          <p:cNvPr id="57353" name="对象 -2147482599"/>
          <p:cNvGraphicFramePr>
            <a:graphicFrameLocks noChangeAspect="1"/>
          </p:cNvGraphicFramePr>
          <p:nvPr/>
        </p:nvGraphicFramePr>
        <p:xfrm>
          <a:off x="2700045" y="1900198"/>
          <a:ext cx="2711860" cy="792088"/>
        </p:xfrm>
        <a:graphic>
          <a:graphicData uri="http://schemas.openxmlformats.org/presentationml/2006/ole">
            <mc:AlternateContent xmlns:mc="http://schemas.openxmlformats.org/markup-compatibility/2006">
              <mc:Choice xmlns:v="urn:schemas-microsoft-com:vml" Requires="v">
                <p:oleObj spid="_x0000_s5150" name="" r:id="rId1" imgW="1345565" imgH="393700" progId="Equation.KSEE3">
                  <p:embed/>
                </p:oleObj>
              </mc:Choice>
              <mc:Fallback>
                <p:oleObj name="" r:id="rId1" imgW="1345565" imgH="393700" progId="Equation.KSEE3">
                  <p:embed/>
                  <p:pic>
                    <p:nvPicPr>
                      <p:cNvPr id="0" name="图片 7"/>
                      <p:cNvPicPr/>
                      <p:nvPr/>
                    </p:nvPicPr>
                    <p:blipFill>
                      <a:blip r:embed="rId2"/>
                      <a:stretch>
                        <a:fillRect/>
                      </a:stretch>
                    </p:blipFill>
                    <p:spPr>
                      <a:xfrm>
                        <a:off x="2700045" y="1900198"/>
                        <a:ext cx="2711860" cy="792088"/>
                      </a:xfrm>
                      <a:prstGeom prst="rect">
                        <a:avLst/>
                      </a:prstGeom>
                      <a:noFill/>
                      <a:ln w="38100">
                        <a:noFill/>
                        <a:miter/>
                      </a:ln>
                    </p:spPr>
                  </p:pic>
                </p:oleObj>
              </mc:Fallback>
            </mc:AlternateContent>
          </a:graphicData>
        </a:graphic>
      </p:graphicFrame>
      <p:sp>
        <p:nvSpPr>
          <p:cNvPr id="2" name="文本框 1"/>
          <p:cNvSpPr txBox="1"/>
          <p:nvPr/>
        </p:nvSpPr>
        <p:spPr>
          <a:xfrm>
            <a:off x="395789" y="2852177"/>
            <a:ext cx="5640388" cy="398462"/>
          </a:xfrm>
          <a:prstGeom prst="rect">
            <a:avLst/>
          </a:prstGeom>
          <a:noFill/>
          <a:ln w="9525">
            <a:noFill/>
          </a:ln>
        </p:spPr>
        <p:txBody>
          <a:bodyPr>
            <a:spAutoFit/>
          </a:bodyPr>
          <a:lstStyle/>
          <a:p>
            <a:pPr indent="508000"/>
            <a:r>
              <a:rPr lang="zh-CN" altLang="en-US" sz="2000" dirty="0">
                <a:solidFill>
                  <a:srgbClr val="000099"/>
                </a:solidFill>
                <a:latin typeface="Times New Roman" panose="02020603050405020304" pitchFamily="18" charset="0"/>
              </a:rPr>
              <a:t>式中，</a:t>
            </a:r>
            <a:r>
              <a:rPr lang="en-US" altLang="zh-CN" sz="2000" i="1" dirty="0">
                <a:solidFill>
                  <a:srgbClr val="000099"/>
                </a:solidFill>
                <a:latin typeface="Times New Roman" panose="02020603050405020304" pitchFamily="18" charset="0"/>
              </a:rPr>
              <a:t>K</a:t>
            </a:r>
            <a:r>
              <a:rPr lang="zh-CN" altLang="en-US" sz="2000" dirty="0" smtClean="0">
                <a:solidFill>
                  <a:srgbClr val="000099"/>
                </a:solidFill>
                <a:latin typeface="Times New Roman" panose="02020603050405020304" pitchFamily="18" charset="0"/>
              </a:rPr>
              <a:t>为</a:t>
            </a:r>
            <a:r>
              <a:rPr lang="zh-CN" altLang="en-US" sz="2000" dirty="0">
                <a:solidFill>
                  <a:srgbClr val="C00000"/>
                </a:solidFill>
                <a:latin typeface="Times New Roman" panose="02020603050405020304" pitchFamily="18" charset="0"/>
              </a:rPr>
              <a:t>弹簧</a:t>
            </a:r>
            <a:r>
              <a:rPr lang="zh-CN" altLang="en-US" sz="2000" dirty="0" smtClean="0">
                <a:solidFill>
                  <a:srgbClr val="C00000"/>
                </a:solidFill>
                <a:latin typeface="Times New Roman" panose="02020603050405020304" pitchFamily="18" charset="0"/>
              </a:rPr>
              <a:t>曲度系数</a:t>
            </a:r>
            <a:r>
              <a:rPr lang="zh-CN" altLang="en-US" sz="2000" dirty="0">
                <a:solidFill>
                  <a:srgbClr val="000099"/>
                </a:solidFill>
                <a:latin typeface="Times New Roman" panose="02020603050405020304" pitchFamily="18" charset="0"/>
              </a:rPr>
              <a:t>，可按下式计算</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graphicFrame>
        <p:nvGraphicFramePr>
          <p:cNvPr id="57355" name="对象 -2147482598"/>
          <p:cNvGraphicFramePr>
            <a:graphicFrameLocks noChangeAspect="1"/>
          </p:cNvGraphicFramePr>
          <p:nvPr/>
        </p:nvGraphicFramePr>
        <p:xfrm>
          <a:off x="2987695" y="3356486"/>
          <a:ext cx="1980884" cy="627311"/>
        </p:xfrm>
        <a:graphic>
          <a:graphicData uri="http://schemas.openxmlformats.org/presentationml/2006/ole">
            <mc:AlternateContent xmlns:mc="http://schemas.openxmlformats.org/markup-compatibility/2006">
              <mc:Choice xmlns:v="urn:schemas-microsoft-com:vml" Requires="v">
                <p:oleObj spid="_x0000_s5151" name="" r:id="rId3" imgW="1247775" imgH="394335" progId="Equation.KSEE3">
                  <p:embed/>
                </p:oleObj>
              </mc:Choice>
              <mc:Fallback>
                <p:oleObj name="" r:id="rId3" imgW="1247775" imgH="394335" progId="Equation.KSEE3">
                  <p:embed/>
                  <p:pic>
                    <p:nvPicPr>
                      <p:cNvPr id="0" name="图片 3"/>
                      <p:cNvPicPr/>
                      <p:nvPr/>
                    </p:nvPicPr>
                    <p:blipFill>
                      <a:blip r:embed="rId4"/>
                      <a:stretch>
                        <a:fillRect/>
                      </a:stretch>
                    </p:blipFill>
                    <p:spPr>
                      <a:xfrm>
                        <a:off x="2987695" y="3356486"/>
                        <a:ext cx="1980884" cy="627311"/>
                      </a:xfrm>
                      <a:prstGeom prst="rect">
                        <a:avLst/>
                      </a:prstGeom>
                      <a:noFill/>
                      <a:ln w="38100">
                        <a:noFill/>
                        <a:miter/>
                      </a:ln>
                    </p:spPr>
                  </p:pic>
                </p:oleObj>
              </mc:Fallback>
            </mc:AlternateContent>
          </a:graphicData>
        </a:graphic>
      </p:graphicFrame>
      <p:sp>
        <p:nvSpPr>
          <p:cNvPr id="5" name="文本框 4"/>
          <p:cNvSpPr txBox="1"/>
          <p:nvPr/>
        </p:nvSpPr>
        <p:spPr>
          <a:xfrm>
            <a:off x="251520" y="4010397"/>
            <a:ext cx="8267700" cy="904863"/>
          </a:xfrm>
          <a:prstGeom prst="rect">
            <a:avLst/>
          </a:prstGeom>
          <a:noFill/>
          <a:ln w="9525">
            <a:noFill/>
          </a:ln>
        </p:spPr>
        <p:txBody>
          <a:bodyPr>
            <a:spAutoFit/>
          </a:bodyPr>
          <a:lstStyle/>
          <a:p>
            <a:pPr indent="508000">
              <a:lnSpc>
                <a:spcPct val="120000"/>
              </a:lnSpc>
            </a:pPr>
            <a:r>
              <a:rPr lang="zh-CN" altLang="en-US" dirty="0">
                <a:solidFill>
                  <a:srgbClr val="000099"/>
                </a:solidFill>
                <a:latin typeface="Times New Roman" panose="02020603050405020304" pitchFamily="18" charset="0"/>
              </a:rPr>
              <a:t>圆柱螺旋压缩或拉伸弹簧受载后的</a:t>
            </a:r>
            <a:r>
              <a:rPr lang="zh-CN" altLang="en-US" dirty="0">
                <a:solidFill>
                  <a:srgbClr val="C00000"/>
                </a:solidFill>
                <a:latin typeface="Times New Roman" panose="02020603050405020304" pitchFamily="18" charset="0"/>
              </a:rPr>
              <a:t>轴向变形量</a:t>
            </a:r>
            <a:r>
              <a:rPr lang="en-US" altLang="zh-CN" dirty="0">
                <a:solidFill>
                  <a:srgbClr val="C00000"/>
                </a:solidFill>
                <a:latin typeface="Times New Roman" panose="02020603050405020304" pitchFamily="18" charset="0"/>
              </a:rPr>
              <a:t>λ</a:t>
            </a:r>
            <a:r>
              <a:rPr lang="zh-CN" altLang="en-US" dirty="0">
                <a:solidFill>
                  <a:srgbClr val="000099"/>
                </a:solidFill>
                <a:latin typeface="Times New Roman" panose="02020603050405020304" pitchFamily="18" charset="0"/>
              </a:rPr>
              <a:t>，可根据材料力学关于圆柱螺旋弹簧变形量的公式求得，即</a:t>
            </a:r>
            <a:endParaRPr lang="zh-CN" altLang="en-US" dirty="0">
              <a:solidFill>
                <a:srgbClr val="000099"/>
              </a:solidFill>
              <a:latin typeface="Times New Roman" panose="02020603050405020304" pitchFamily="18" charset="0"/>
              <a:ea typeface="Times New Roman" panose="02020603050405020304" pitchFamily="18" charset="0"/>
            </a:endParaRPr>
          </a:p>
        </p:txBody>
      </p:sp>
      <p:graphicFrame>
        <p:nvGraphicFramePr>
          <p:cNvPr id="57357" name="对象 -2147482596"/>
          <p:cNvGraphicFramePr>
            <a:graphicFrameLocks noChangeAspect="1"/>
          </p:cNvGraphicFramePr>
          <p:nvPr/>
        </p:nvGraphicFramePr>
        <p:xfrm>
          <a:off x="1331764" y="5085055"/>
          <a:ext cx="3159125" cy="917575"/>
        </p:xfrm>
        <a:graphic>
          <a:graphicData uri="http://schemas.openxmlformats.org/presentationml/2006/ole">
            <mc:AlternateContent xmlns:mc="http://schemas.openxmlformats.org/markup-compatibility/2006">
              <mc:Choice xmlns:v="urn:schemas-microsoft-com:vml" Requires="v">
                <p:oleObj spid="_x0000_s5152" name="公式" r:id="rId5" imgW="34747200" imgH="10058400" progId="Equation.3">
                  <p:embed/>
                </p:oleObj>
              </mc:Choice>
              <mc:Fallback>
                <p:oleObj name="公式" r:id="rId5" imgW="34747200" imgH="10058400" progId="Equation.3">
                  <p:embed/>
                  <p:pic>
                    <p:nvPicPr>
                      <p:cNvPr id="0" name="图片 5"/>
                      <p:cNvPicPr/>
                      <p:nvPr/>
                    </p:nvPicPr>
                    <p:blipFill>
                      <a:blip r:embed="rId6"/>
                      <a:stretch>
                        <a:fillRect/>
                      </a:stretch>
                    </p:blipFill>
                    <p:spPr>
                      <a:xfrm>
                        <a:off x="1331764" y="5085055"/>
                        <a:ext cx="3159125" cy="917575"/>
                      </a:xfrm>
                      <a:prstGeom prst="rect">
                        <a:avLst/>
                      </a:prstGeom>
                      <a:noFill/>
                      <a:ln w="38100">
                        <a:noFill/>
                        <a:miter/>
                      </a:ln>
                    </p:spPr>
                  </p:pic>
                </p:oleObj>
              </mc:Fallback>
            </mc:AlternateContent>
          </a:graphicData>
        </a:graphic>
      </p:graphicFrame>
      <p:sp>
        <p:nvSpPr>
          <p:cNvPr id="3089"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4" name="文本框 3"/>
          <p:cNvSpPr txBox="1"/>
          <p:nvPr/>
        </p:nvSpPr>
        <p:spPr>
          <a:xfrm>
            <a:off x="5292080" y="5229200"/>
            <a:ext cx="3168352" cy="1046312"/>
          </a:xfrm>
          <a:prstGeom prst="rect">
            <a:avLst/>
          </a:prstGeom>
          <a:noFill/>
        </p:spPr>
        <p:txBody>
          <a:bodyPr wrap="square" rtlCol="0">
            <a:spAutoFit/>
          </a:bodyPr>
          <a:lstStyle/>
          <a:p>
            <a:pPr>
              <a:lnSpc>
                <a:spcPct val="150000"/>
              </a:lnSpc>
            </a:pPr>
            <a:r>
              <a:rPr lang="en-US" altLang="zh-CN" i="1" dirty="0" smtClean="0">
                <a:solidFill>
                  <a:srgbClr val="FF0000"/>
                </a:solidFill>
              </a:rPr>
              <a:t>n</a:t>
            </a:r>
            <a:r>
              <a:rPr lang="en-US" altLang="zh-CN" dirty="0" smtClean="0"/>
              <a:t>—</a:t>
            </a:r>
            <a:r>
              <a:rPr lang="zh-CN" altLang="en-US" dirty="0" smtClean="0"/>
              <a:t>弹簧的有效圈数</a:t>
            </a:r>
            <a:endParaRPr lang="en-US" altLang="zh-CN" dirty="0" smtClean="0"/>
          </a:p>
          <a:p>
            <a:pPr>
              <a:lnSpc>
                <a:spcPct val="150000"/>
              </a:lnSpc>
            </a:pPr>
            <a:r>
              <a:rPr lang="en-US" altLang="zh-CN" i="1" dirty="0" smtClean="0">
                <a:solidFill>
                  <a:srgbClr val="FF0000"/>
                </a:solidFill>
              </a:rPr>
              <a:t>G</a:t>
            </a:r>
            <a:r>
              <a:rPr lang="en-US" altLang="zh-CN" dirty="0" smtClean="0"/>
              <a:t>—</a:t>
            </a:r>
            <a:r>
              <a:rPr lang="zh-CN" altLang="en-US" dirty="0" smtClean="0"/>
              <a:t>弹簧材料的切变模量</a:t>
            </a:r>
            <a:endParaRPr lang="zh-CN" altLang="en-US"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7353"/>
                                        </p:tgtEl>
                                        <p:attrNameLst>
                                          <p:attrName>style.visibility</p:attrName>
                                        </p:attrNameLst>
                                      </p:cBhvr>
                                      <p:to>
                                        <p:strVal val="visible"/>
                                      </p:to>
                                    </p:set>
                                    <p:anim calcmode="lin" valueType="num">
                                      <p:cBhvr additive="base">
                                        <p:cTn id="13" dur="500" fill="hold"/>
                                        <p:tgtEl>
                                          <p:spTgt spid="57353"/>
                                        </p:tgtEl>
                                        <p:attrNameLst>
                                          <p:attrName>ppt_x</p:attrName>
                                        </p:attrNameLst>
                                      </p:cBhvr>
                                      <p:tavLst>
                                        <p:tav tm="0">
                                          <p:val>
                                            <p:strVal val="#ppt_x"/>
                                          </p:val>
                                        </p:tav>
                                        <p:tav tm="100000">
                                          <p:val>
                                            <p:strVal val="#ppt_x"/>
                                          </p:val>
                                        </p:tav>
                                      </p:tavLst>
                                    </p:anim>
                                    <p:anim calcmode="lin" valueType="num">
                                      <p:cBhvr additive="base">
                                        <p:cTn id="14" dur="500" fill="hold"/>
                                        <p:tgtEl>
                                          <p:spTgt spid="573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7355"/>
                                        </p:tgtEl>
                                        <p:attrNameLst>
                                          <p:attrName>style.visibility</p:attrName>
                                        </p:attrNameLst>
                                      </p:cBhvr>
                                      <p:to>
                                        <p:strVal val="visible"/>
                                      </p:to>
                                    </p:set>
                                    <p:anim calcmode="lin" valueType="num">
                                      <p:cBhvr additive="base">
                                        <p:cTn id="25" dur="500" fill="hold"/>
                                        <p:tgtEl>
                                          <p:spTgt spid="57355"/>
                                        </p:tgtEl>
                                        <p:attrNameLst>
                                          <p:attrName>ppt_x</p:attrName>
                                        </p:attrNameLst>
                                      </p:cBhvr>
                                      <p:tavLst>
                                        <p:tav tm="0">
                                          <p:val>
                                            <p:strVal val="#ppt_x"/>
                                          </p:val>
                                        </p:tav>
                                        <p:tav tm="100000">
                                          <p:val>
                                            <p:strVal val="#ppt_x"/>
                                          </p:val>
                                        </p:tav>
                                      </p:tavLst>
                                    </p:anim>
                                    <p:anim calcmode="lin" valueType="num">
                                      <p:cBhvr additive="base">
                                        <p:cTn id="26" dur="500" fill="hold"/>
                                        <p:tgtEl>
                                          <p:spTgt spid="5735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7357"/>
                                        </p:tgtEl>
                                        <p:attrNameLst>
                                          <p:attrName>style.visibility</p:attrName>
                                        </p:attrNameLst>
                                      </p:cBhvr>
                                      <p:to>
                                        <p:strVal val="visible"/>
                                      </p:to>
                                    </p:set>
                                    <p:anim calcmode="lin" valueType="num">
                                      <p:cBhvr additive="base">
                                        <p:cTn id="37" dur="500" fill="hold"/>
                                        <p:tgtEl>
                                          <p:spTgt spid="57357"/>
                                        </p:tgtEl>
                                        <p:attrNameLst>
                                          <p:attrName>ppt_x</p:attrName>
                                        </p:attrNameLst>
                                      </p:cBhvr>
                                      <p:tavLst>
                                        <p:tav tm="0">
                                          <p:val>
                                            <p:strVal val="#ppt_x"/>
                                          </p:val>
                                        </p:tav>
                                        <p:tav tm="100000">
                                          <p:val>
                                            <p:strVal val="#ppt_x"/>
                                          </p:val>
                                        </p:tav>
                                      </p:tavLst>
                                    </p:anim>
                                    <p:anim calcmode="lin" valueType="num">
                                      <p:cBhvr additive="base">
                                        <p:cTn id="38" dur="500" fill="hold"/>
                                        <p:tgtEl>
                                          <p:spTgt spid="5735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left)">
                                      <p:cBhvr>
                                        <p:cTn id="4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2" grpId="0"/>
      <p:bldP spid="5"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8"/>
          <p:cNvSpPr txBox="1"/>
          <p:nvPr/>
        </p:nvSpPr>
        <p:spPr>
          <a:xfrm>
            <a:off x="6538913" y="62341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33795"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3796"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642938" y="214313"/>
            <a:ext cx="8501063"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pic>
        <p:nvPicPr>
          <p:cNvPr id="33798"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33799"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33800"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100" name="文本框 99"/>
          <p:cNvSpPr txBox="1"/>
          <p:nvPr/>
        </p:nvSpPr>
        <p:spPr>
          <a:xfrm>
            <a:off x="395536" y="2672591"/>
            <a:ext cx="7997825" cy="3138170"/>
          </a:xfrm>
          <a:prstGeom prst="rect">
            <a:avLst/>
          </a:prstGeom>
          <a:noFill/>
          <a:ln w="9525">
            <a:noFill/>
          </a:ln>
        </p:spPr>
        <p:txBody>
          <a:bodyPr>
            <a:spAutoFit/>
          </a:bodyPr>
          <a:lstStyle/>
          <a:p>
            <a:pPr indent="508000">
              <a:lnSpc>
                <a:spcPct val="150000"/>
              </a:lnSpc>
            </a:pPr>
            <a:r>
              <a:rPr lang="zh-CN" altLang="en-US" dirty="0">
                <a:solidFill>
                  <a:srgbClr val="000099"/>
                </a:solidFill>
                <a:latin typeface="Times New Roman" panose="02020603050405020304" pitchFamily="18" charset="0"/>
              </a:rPr>
              <a:t>弹簧刚度是表征弹簧性能的主要参数之一。</a:t>
            </a:r>
            <a:endParaRPr lang="zh-CN" altLang="en-US" dirty="0">
              <a:solidFill>
                <a:srgbClr val="000099"/>
              </a:solidFill>
              <a:latin typeface="Times New Roman" panose="02020603050405020304" pitchFamily="18" charset="0"/>
            </a:endParaRPr>
          </a:p>
          <a:p>
            <a:pPr indent="508000">
              <a:lnSpc>
                <a:spcPct val="150000"/>
              </a:lnSpc>
            </a:pPr>
            <a:r>
              <a:rPr lang="zh-CN" altLang="en-US" dirty="0">
                <a:solidFill>
                  <a:srgbClr val="C00000"/>
                </a:solidFill>
                <a:latin typeface="Times New Roman" panose="02020603050405020304" pitchFamily="18" charset="0"/>
              </a:rPr>
              <a:t>它表示使弹簧产生单位变形时所需的力</a:t>
            </a:r>
            <a:r>
              <a:rPr lang="zh-CN" altLang="en-US" dirty="0">
                <a:solidFill>
                  <a:srgbClr val="000099"/>
                </a:solidFill>
                <a:latin typeface="Times New Roman" panose="02020603050405020304" pitchFamily="18" charset="0"/>
              </a:rPr>
              <a:t>，在同样变形条件下，刚度愈大，需要的力愈大，则弹簧的弹力就愈大。</a:t>
            </a:r>
            <a:endParaRPr lang="zh-CN" altLang="en-US" dirty="0">
              <a:solidFill>
                <a:srgbClr val="000099"/>
              </a:solidFill>
              <a:latin typeface="Times New Roman" panose="02020603050405020304" pitchFamily="18" charset="0"/>
            </a:endParaRPr>
          </a:p>
          <a:p>
            <a:pPr indent="508000">
              <a:lnSpc>
                <a:spcPct val="150000"/>
              </a:lnSpc>
            </a:pPr>
            <a:r>
              <a:rPr lang="zh-CN" altLang="en-US" dirty="0">
                <a:solidFill>
                  <a:srgbClr val="000099"/>
                </a:solidFill>
                <a:latin typeface="Times New Roman" panose="02020603050405020304" pitchFamily="18" charset="0"/>
              </a:rPr>
              <a:t>影响弹簧刚度的因素很多，</a:t>
            </a:r>
            <a:r>
              <a:rPr lang="en-US" altLang="zh-CN" i="1" dirty="0">
                <a:solidFill>
                  <a:srgbClr val="000099"/>
                </a:solidFill>
                <a:latin typeface="Times New Roman" panose="02020603050405020304" pitchFamily="18" charset="0"/>
              </a:rPr>
              <a:t>C</a:t>
            </a:r>
            <a:r>
              <a:rPr lang="zh-CN" altLang="en-US" dirty="0">
                <a:solidFill>
                  <a:srgbClr val="000099"/>
                </a:solidFill>
                <a:latin typeface="Times New Roman" panose="02020603050405020304" pitchFamily="18" charset="0"/>
              </a:rPr>
              <a:t>值</a:t>
            </a:r>
            <a:r>
              <a:rPr lang="zh-CN" altLang="en-US" dirty="0" smtClean="0">
                <a:solidFill>
                  <a:srgbClr val="000099"/>
                </a:solidFill>
                <a:latin typeface="Times New Roman" panose="02020603050405020304" pitchFamily="18" charset="0"/>
              </a:rPr>
              <a:t>对</a:t>
            </a:r>
            <a:r>
              <a:rPr lang="en-US" altLang="zh-CN" i="1" dirty="0" err="1" smtClean="0">
                <a:solidFill>
                  <a:srgbClr val="000099"/>
                </a:solidFill>
                <a:latin typeface="Times New Roman" panose="02020603050405020304" pitchFamily="18" charset="0"/>
              </a:rPr>
              <a:t>k</a:t>
            </a:r>
            <a:r>
              <a:rPr lang="en-US" altLang="zh-CN" i="1" baseline="-25000" dirty="0" err="1" smtClean="0">
                <a:solidFill>
                  <a:srgbClr val="000099"/>
                </a:solidFill>
                <a:latin typeface="Times New Roman" panose="02020603050405020304" pitchFamily="18" charset="0"/>
              </a:rPr>
              <a:t>F</a:t>
            </a:r>
            <a:r>
              <a:rPr lang="zh-CN" altLang="en-US" dirty="0" smtClean="0">
                <a:solidFill>
                  <a:srgbClr val="000099"/>
                </a:solidFill>
                <a:latin typeface="Times New Roman" panose="02020603050405020304" pitchFamily="18" charset="0"/>
              </a:rPr>
              <a:t>的</a:t>
            </a:r>
            <a:r>
              <a:rPr lang="zh-CN" altLang="en-US" dirty="0">
                <a:solidFill>
                  <a:srgbClr val="000099"/>
                </a:solidFill>
                <a:latin typeface="Times New Roman" panose="02020603050405020304" pitchFamily="18" charset="0"/>
              </a:rPr>
              <a:t>影响很大，</a:t>
            </a:r>
            <a:r>
              <a:rPr lang="en-US" altLang="zh-CN" i="1" dirty="0">
                <a:solidFill>
                  <a:srgbClr val="000099"/>
                </a:solidFill>
                <a:latin typeface="Times New Roman" panose="02020603050405020304" pitchFamily="18" charset="0"/>
              </a:rPr>
              <a:t>C</a:t>
            </a:r>
            <a:r>
              <a:rPr lang="zh-CN" altLang="en-US" dirty="0">
                <a:solidFill>
                  <a:srgbClr val="000099"/>
                </a:solidFill>
                <a:latin typeface="Times New Roman" panose="02020603050405020304" pitchFamily="18" charset="0"/>
              </a:rPr>
              <a:t>值小则弹簧刚度大，弹簧硬，卷制成型困难</a:t>
            </a:r>
            <a:r>
              <a:rPr lang="zh-CN" altLang="en-US" dirty="0" smtClean="0">
                <a:solidFill>
                  <a:srgbClr val="000099"/>
                </a:solidFill>
                <a:latin typeface="Times New Roman" panose="02020603050405020304" pitchFamily="18" charset="0"/>
              </a:rPr>
              <a:t>。</a:t>
            </a:r>
            <a:r>
              <a:rPr lang="en-US" altLang="zh-CN" i="1" dirty="0" err="1" smtClean="0">
                <a:solidFill>
                  <a:srgbClr val="000099"/>
                </a:solidFill>
                <a:latin typeface="Times New Roman" panose="02020603050405020304" pitchFamily="18" charset="0"/>
              </a:rPr>
              <a:t>k</a:t>
            </a:r>
            <a:r>
              <a:rPr lang="en-US" altLang="zh-CN" i="1" baseline="-25000" dirty="0" err="1" smtClean="0">
                <a:solidFill>
                  <a:srgbClr val="000099"/>
                </a:solidFill>
                <a:latin typeface="Times New Roman" panose="02020603050405020304" pitchFamily="18" charset="0"/>
              </a:rPr>
              <a:t>F</a:t>
            </a:r>
            <a:r>
              <a:rPr lang="zh-CN" altLang="en-US" dirty="0" smtClean="0">
                <a:solidFill>
                  <a:srgbClr val="000099"/>
                </a:solidFill>
                <a:latin typeface="Times New Roman" panose="02020603050405020304" pitchFamily="18" charset="0"/>
              </a:rPr>
              <a:t>还</a:t>
            </a:r>
            <a:r>
              <a:rPr lang="zh-CN" altLang="en-US" dirty="0">
                <a:solidFill>
                  <a:srgbClr val="000099"/>
                </a:solidFill>
                <a:latin typeface="Times New Roman" panose="02020603050405020304" pitchFamily="18" charset="0"/>
              </a:rPr>
              <a:t>和</a:t>
            </a:r>
            <a:r>
              <a:rPr lang="en-US" altLang="zh-CN" i="1" dirty="0">
                <a:solidFill>
                  <a:srgbClr val="000099"/>
                </a:solidFill>
                <a:latin typeface="Times New Roman" panose="02020603050405020304" pitchFamily="18" charset="0"/>
              </a:rPr>
              <a:t>G</a:t>
            </a:r>
            <a:r>
              <a:rPr lang="zh-CN" altLang="en-US" dirty="0">
                <a:solidFill>
                  <a:srgbClr val="000099"/>
                </a:solidFill>
                <a:latin typeface="Times New Roman" panose="02020603050405020304" pitchFamily="18" charset="0"/>
              </a:rPr>
              <a:t>、</a:t>
            </a:r>
            <a:r>
              <a:rPr lang="en-US" altLang="zh-CN" i="1" dirty="0">
                <a:solidFill>
                  <a:srgbClr val="000099"/>
                </a:solidFill>
                <a:latin typeface="Times New Roman" panose="02020603050405020304" pitchFamily="18" charset="0"/>
              </a:rPr>
              <a:t>d</a:t>
            </a:r>
            <a:r>
              <a:rPr lang="zh-CN" altLang="en-US" dirty="0">
                <a:solidFill>
                  <a:srgbClr val="000099"/>
                </a:solidFill>
                <a:latin typeface="Times New Roman" panose="02020603050405020304" pitchFamily="18" charset="0"/>
              </a:rPr>
              <a:t>、</a:t>
            </a:r>
            <a:r>
              <a:rPr lang="en-US" altLang="zh-CN" i="1" dirty="0">
                <a:solidFill>
                  <a:srgbClr val="000099"/>
                </a:solidFill>
                <a:latin typeface="Times New Roman" panose="02020603050405020304" pitchFamily="18" charset="0"/>
              </a:rPr>
              <a:t>n</a:t>
            </a:r>
            <a:r>
              <a:rPr lang="zh-CN" altLang="en-US" dirty="0">
                <a:solidFill>
                  <a:srgbClr val="000099"/>
                </a:solidFill>
                <a:latin typeface="Times New Roman" panose="02020603050405020304" pitchFamily="18" charset="0"/>
              </a:rPr>
              <a:t>有关。</a:t>
            </a:r>
            <a:endParaRPr lang="zh-CN" altLang="en-US" dirty="0">
              <a:solidFill>
                <a:srgbClr val="000099"/>
              </a:solidFill>
              <a:latin typeface="Times New Roman" panose="02020603050405020304" pitchFamily="18" charset="0"/>
            </a:endParaRPr>
          </a:p>
          <a:p>
            <a:pPr indent="508000">
              <a:lnSpc>
                <a:spcPct val="150000"/>
              </a:lnSpc>
            </a:pPr>
            <a:r>
              <a:rPr lang="zh-CN" altLang="en-US" dirty="0">
                <a:solidFill>
                  <a:srgbClr val="000099"/>
                </a:solidFill>
                <a:latin typeface="Times New Roman" panose="02020603050405020304" pitchFamily="18" charset="0"/>
              </a:rPr>
              <a:t>在调整</a:t>
            </a:r>
            <a:r>
              <a:rPr lang="zh-CN" altLang="en-US" dirty="0" smtClean="0">
                <a:solidFill>
                  <a:srgbClr val="C00000"/>
                </a:solidFill>
                <a:latin typeface="Times New Roman" panose="02020603050405020304" pitchFamily="18" charset="0"/>
              </a:rPr>
              <a:t>弹簧刚度</a:t>
            </a:r>
            <a:r>
              <a:rPr lang="en-US" altLang="zh-CN" i="1" dirty="0" err="1" smtClean="0">
                <a:solidFill>
                  <a:srgbClr val="C00000"/>
                </a:solidFill>
                <a:latin typeface="Times New Roman" panose="02020603050405020304" pitchFamily="18" charset="0"/>
              </a:rPr>
              <a:t>k</a:t>
            </a:r>
            <a:r>
              <a:rPr lang="en-US" altLang="zh-CN" i="1" baseline="-25000" dirty="0" err="1" smtClean="0">
                <a:solidFill>
                  <a:srgbClr val="C00000"/>
                </a:solidFill>
                <a:latin typeface="Times New Roman" panose="02020603050405020304" pitchFamily="18" charset="0"/>
              </a:rPr>
              <a:t>F</a:t>
            </a:r>
            <a:r>
              <a:rPr lang="zh-CN" altLang="en-US" dirty="0" smtClean="0">
                <a:solidFill>
                  <a:srgbClr val="000099"/>
                </a:solidFill>
                <a:latin typeface="Times New Roman" panose="02020603050405020304" pitchFamily="18" charset="0"/>
              </a:rPr>
              <a:t>时</a:t>
            </a:r>
            <a:r>
              <a:rPr lang="zh-CN" altLang="en-US" dirty="0">
                <a:solidFill>
                  <a:srgbClr val="000099"/>
                </a:solidFill>
                <a:latin typeface="Times New Roman" panose="02020603050405020304" pitchFamily="18" charset="0"/>
              </a:rPr>
              <a:t>，应综合考虑这些因素的影响。</a:t>
            </a:r>
            <a:endParaRPr lang="zh-CN" altLang="en-US" dirty="0">
              <a:solidFill>
                <a:srgbClr val="000099"/>
              </a:solidFill>
              <a:latin typeface="Times New Roman" panose="02020603050405020304" pitchFamily="18" charset="0"/>
              <a:ea typeface="Times New Roman" panose="02020603050405020304" pitchFamily="18" charset="0"/>
            </a:endParaRPr>
          </a:p>
        </p:txBody>
      </p:sp>
      <p:sp>
        <p:nvSpPr>
          <p:cNvPr id="3380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14" name="文本框 13"/>
          <p:cNvSpPr txBox="1"/>
          <p:nvPr/>
        </p:nvSpPr>
        <p:spPr>
          <a:xfrm>
            <a:off x="323781" y="1124610"/>
            <a:ext cx="7200800" cy="430887"/>
          </a:xfrm>
          <a:prstGeom prst="rect">
            <a:avLst/>
          </a:prstGeom>
          <a:noFill/>
          <a:ln w="9525">
            <a:noFill/>
          </a:ln>
        </p:spPr>
        <p:txBody>
          <a:bodyPr wrap="square">
            <a:spAutoFit/>
          </a:bodyPr>
          <a:lstStyle/>
          <a:p>
            <a:pPr indent="508000"/>
            <a:r>
              <a:rPr lang="zh-CN" altLang="en-US" dirty="0">
                <a:solidFill>
                  <a:srgbClr val="000099"/>
                </a:solidFill>
                <a:latin typeface="Times New Roman" panose="02020603050405020304" pitchFamily="18" charset="0"/>
              </a:rPr>
              <a:t>使弹簧产生单位变形所需的载荷称为</a:t>
            </a:r>
            <a:r>
              <a:rPr lang="zh-CN" altLang="en-US" dirty="0">
                <a:solidFill>
                  <a:srgbClr val="C00000"/>
                </a:solidFill>
                <a:latin typeface="Times New Roman" panose="02020603050405020304" pitchFamily="18" charset="0"/>
              </a:rPr>
              <a:t>弹簧刚度</a:t>
            </a:r>
            <a:r>
              <a:rPr lang="zh-CN" altLang="en-US" dirty="0">
                <a:solidFill>
                  <a:srgbClr val="000099"/>
                </a:solidFill>
                <a:latin typeface="Times New Roman" panose="02020603050405020304" pitchFamily="18" charset="0"/>
              </a:rPr>
              <a:t>，即</a:t>
            </a:r>
            <a:endParaRPr lang="zh-CN" altLang="en-US" dirty="0">
              <a:solidFill>
                <a:srgbClr val="000099"/>
              </a:solidFill>
              <a:latin typeface="Times New Roman" panose="02020603050405020304" pitchFamily="18" charset="0"/>
              <a:ea typeface="Times New Roman" panose="02020603050405020304" pitchFamily="18" charset="0"/>
            </a:endParaRPr>
          </a:p>
        </p:txBody>
      </p:sp>
      <p:graphicFrame>
        <p:nvGraphicFramePr>
          <p:cNvPr id="15" name="对象 -2147482593"/>
          <p:cNvGraphicFramePr>
            <a:graphicFrameLocks noChangeAspect="1"/>
          </p:cNvGraphicFramePr>
          <p:nvPr/>
        </p:nvGraphicFramePr>
        <p:xfrm>
          <a:off x="2051720" y="1628919"/>
          <a:ext cx="3420852" cy="792088"/>
        </p:xfrm>
        <a:graphic>
          <a:graphicData uri="http://schemas.openxmlformats.org/presentationml/2006/ole">
            <mc:AlternateContent xmlns:mc="http://schemas.openxmlformats.org/markup-compatibility/2006">
              <mc:Choice xmlns:v="urn:schemas-microsoft-com:vml" Requires="v">
                <p:oleObj spid="_x0000_s13322" name="公式" r:id="rId5" imgW="43586400" imgH="10058400" progId="Equation.3">
                  <p:embed/>
                </p:oleObj>
              </mc:Choice>
              <mc:Fallback>
                <p:oleObj name="公式" r:id="rId5" imgW="43586400" imgH="10058400" progId="Equation.3">
                  <p:embed/>
                  <p:pic>
                    <p:nvPicPr>
                      <p:cNvPr id="0" name="图片 13321"/>
                      <p:cNvPicPr/>
                      <p:nvPr/>
                    </p:nvPicPr>
                    <p:blipFill>
                      <a:blip r:embed="rId6"/>
                      <a:stretch>
                        <a:fillRect/>
                      </a:stretch>
                    </p:blipFill>
                    <p:spPr>
                      <a:xfrm>
                        <a:off x="2051720" y="1628919"/>
                        <a:ext cx="3420852" cy="792088"/>
                      </a:xfrm>
                      <a:prstGeom prst="rect">
                        <a:avLst/>
                      </a:prstGeom>
                      <a:no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wipe(up)">
                                      <p:cBhvr>
                                        <p:cTn id="1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8"/>
          <p:cNvSpPr txBox="1"/>
          <p:nvPr/>
        </p:nvSpPr>
        <p:spPr>
          <a:xfrm>
            <a:off x="6538913" y="62341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33795"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3796"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642938" y="214313"/>
            <a:ext cx="8501063"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pic>
        <p:nvPicPr>
          <p:cNvPr id="33798"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33799"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33800"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67592" name="文本框 3"/>
          <p:cNvSpPr txBox="1"/>
          <p:nvPr/>
        </p:nvSpPr>
        <p:spPr>
          <a:xfrm>
            <a:off x="395536" y="1196752"/>
            <a:ext cx="3720281" cy="429895"/>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ln w="9525">
            <a:noFill/>
          </a:ln>
        </p:spPr>
        <p:txBody>
          <a:bodyPr wrap="square">
            <a:spAutoFit/>
          </a:bodyPr>
          <a:lstStyle/>
          <a:p>
            <a:r>
              <a:rPr lang="en-US" altLang="zh-CN" sz="2000" dirty="0">
                <a:solidFill>
                  <a:srgbClr val="000099"/>
                </a:solidFill>
                <a:latin typeface="华文中宋" panose="02010600040101010101" pitchFamily="2" charset="-122"/>
              </a:rPr>
              <a:t>2</a:t>
            </a:r>
            <a:r>
              <a:rPr lang="zh-CN" altLang="en-US" dirty="0">
                <a:solidFill>
                  <a:srgbClr val="002060"/>
                </a:solidFill>
                <a:latin typeface="华文中宋" panose="02010600040101010101" pitchFamily="2" charset="-122"/>
              </a:rPr>
              <a:t>、失效形式及设计准则</a:t>
            </a:r>
            <a:endParaRPr lang="zh-CN" altLang="en-US" dirty="0">
              <a:solidFill>
                <a:srgbClr val="002060"/>
              </a:solidFill>
              <a:latin typeface="华文中宋" panose="02010600040101010101" pitchFamily="2" charset="-122"/>
            </a:endParaRPr>
          </a:p>
        </p:txBody>
      </p:sp>
      <p:sp>
        <p:nvSpPr>
          <p:cNvPr id="67593" name="文本框 99"/>
          <p:cNvSpPr txBox="1"/>
          <p:nvPr/>
        </p:nvSpPr>
        <p:spPr>
          <a:xfrm>
            <a:off x="323657" y="1772434"/>
            <a:ext cx="6873875" cy="972574"/>
          </a:xfrm>
          <a:prstGeom prst="rect">
            <a:avLst/>
          </a:prstGeom>
          <a:noFill/>
          <a:ln w="9525">
            <a:noFill/>
          </a:ln>
        </p:spPr>
        <p:txBody>
          <a:bodyPr>
            <a:spAutoFit/>
          </a:bodyPr>
          <a:lstStyle/>
          <a:p>
            <a:pPr>
              <a:lnSpc>
                <a:spcPct val="130000"/>
              </a:lnSpc>
            </a:pPr>
            <a:r>
              <a:rPr lang="en-US" altLang="zh-CN" sz="2000" dirty="0">
                <a:solidFill>
                  <a:srgbClr val="000099"/>
                </a:solidFill>
                <a:latin typeface="Times New Roman" panose="02020603050405020304" pitchFamily="18" charset="0"/>
              </a:rPr>
              <a:t>        </a:t>
            </a:r>
            <a:r>
              <a:rPr lang="zh-CN" altLang="en-US" dirty="0">
                <a:solidFill>
                  <a:srgbClr val="0000FF"/>
                </a:solidFill>
                <a:latin typeface="Times New Roman" panose="02020603050405020304" pitchFamily="18" charset="0"/>
              </a:rPr>
              <a:t>弹簧失效</a:t>
            </a:r>
            <a:r>
              <a:rPr lang="zh-CN" altLang="en-US" dirty="0" smtClean="0">
                <a:solidFill>
                  <a:srgbClr val="0000FF"/>
                </a:solidFill>
                <a:latin typeface="Times New Roman" panose="02020603050405020304" pitchFamily="18" charset="0"/>
              </a:rPr>
              <a:t>形式</a:t>
            </a:r>
            <a:r>
              <a:rPr lang="en-US" altLang="zh-CN" dirty="0" smtClean="0">
                <a:solidFill>
                  <a:srgbClr val="0000FF"/>
                </a:solidFill>
                <a:latin typeface="Times New Roman" panose="02020603050405020304" pitchFamily="18" charset="0"/>
              </a:rPr>
              <a:t>:</a:t>
            </a:r>
            <a:endParaRPr lang="en-US" altLang="zh-CN" dirty="0" smtClean="0">
              <a:solidFill>
                <a:srgbClr val="0000FF"/>
              </a:solidFill>
              <a:latin typeface="Times New Roman" panose="02020603050405020304" pitchFamily="18" charset="0"/>
            </a:endParaRPr>
          </a:p>
          <a:p>
            <a:pPr>
              <a:lnSpc>
                <a:spcPct val="130000"/>
              </a:lnSpc>
            </a:pPr>
            <a:r>
              <a:rPr lang="en-US" altLang="zh-CN" dirty="0">
                <a:solidFill>
                  <a:srgbClr val="0000FF"/>
                </a:solidFill>
                <a:latin typeface="Times New Roman" panose="02020603050405020304" pitchFamily="18" charset="0"/>
              </a:rPr>
              <a:t> </a:t>
            </a:r>
            <a:r>
              <a:rPr lang="en-US" altLang="zh-CN" dirty="0" smtClean="0">
                <a:solidFill>
                  <a:srgbClr val="0000FF"/>
                </a:solidFill>
                <a:latin typeface="Times New Roman" panose="02020603050405020304" pitchFamily="18" charset="0"/>
              </a:rPr>
              <a:t>                </a:t>
            </a:r>
            <a:r>
              <a:rPr lang="zh-CN" altLang="en-US" dirty="0" smtClean="0">
                <a:solidFill>
                  <a:srgbClr val="002060"/>
                </a:solidFill>
                <a:latin typeface="Times New Roman" panose="02020603050405020304" pitchFamily="18" charset="0"/>
              </a:rPr>
              <a:t>可</a:t>
            </a:r>
            <a:r>
              <a:rPr lang="zh-CN" altLang="en-US" dirty="0">
                <a:solidFill>
                  <a:srgbClr val="002060"/>
                </a:solidFill>
                <a:latin typeface="Times New Roman" panose="02020603050405020304" pitchFamily="18" charset="0"/>
              </a:rPr>
              <a:t>分为</a:t>
            </a:r>
            <a:r>
              <a:rPr lang="zh-CN" altLang="en-US" dirty="0">
                <a:solidFill>
                  <a:srgbClr val="C00000"/>
                </a:solidFill>
                <a:latin typeface="Times New Roman" panose="02020603050405020304" pitchFamily="18" charset="0"/>
              </a:rPr>
              <a:t>断裂失效</a:t>
            </a:r>
            <a:r>
              <a:rPr lang="zh-CN" altLang="en-US" dirty="0">
                <a:solidFill>
                  <a:srgbClr val="002060"/>
                </a:solidFill>
                <a:latin typeface="Times New Roman" panose="02020603050405020304" pitchFamily="18" charset="0"/>
              </a:rPr>
              <a:t>和</a:t>
            </a:r>
            <a:r>
              <a:rPr lang="zh-CN" altLang="en-US" dirty="0">
                <a:solidFill>
                  <a:srgbClr val="C00000"/>
                </a:solidFill>
                <a:latin typeface="Times New Roman" panose="02020603050405020304" pitchFamily="18" charset="0"/>
              </a:rPr>
              <a:t>过量变形失效</a:t>
            </a:r>
            <a:r>
              <a:rPr lang="zh-CN" altLang="en-US" dirty="0">
                <a:solidFill>
                  <a:srgbClr val="002060"/>
                </a:solidFill>
                <a:latin typeface="Times New Roman" panose="02020603050405020304" pitchFamily="18" charset="0"/>
              </a:rPr>
              <a:t>。</a:t>
            </a:r>
            <a:endParaRPr lang="zh-CN" altLang="en-US" dirty="0">
              <a:solidFill>
                <a:srgbClr val="002060"/>
              </a:solidFill>
              <a:latin typeface="Times New Roman" panose="02020603050405020304" pitchFamily="18" charset="0"/>
              <a:ea typeface="Times New Roman" panose="02020603050405020304" pitchFamily="18" charset="0"/>
            </a:endParaRPr>
          </a:p>
        </p:txBody>
      </p:sp>
      <p:sp>
        <p:nvSpPr>
          <p:cNvPr id="67594" name="文本框 1"/>
          <p:cNvSpPr txBox="1"/>
          <p:nvPr/>
        </p:nvSpPr>
        <p:spPr>
          <a:xfrm>
            <a:off x="643563" y="2996823"/>
            <a:ext cx="8120063" cy="2055947"/>
          </a:xfrm>
          <a:prstGeom prst="rect">
            <a:avLst/>
          </a:prstGeom>
          <a:noFill/>
          <a:ln w="9525">
            <a:noFill/>
          </a:ln>
        </p:spPr>
        <p:txBody>
          <a:bodyPr>
            <a:spAutoFit/>
          </a:bodyPr>
          <a:lstStyle/>
          <a:p>
            <a:pPr>
              <a:lnSpc>
                <a:spcPct val="130000"/>
              </a:lnSpc>
            </a:pPr>
            <a:r>
              <a:rPr lang="zh-CN" altLang="en-US" dirty="0" smtClean="0">
                <a:solidFill>
                  <a:srgbClr val="0000FF"/>
                </a:solidFill>
                <a:latin typeface="Times New Roman" panose="02020603050405020304" pitchFamily="18" charset="0"/>
              </a:rPr>
              <a:t>设计</a:t>
            </a:r>
            <a:r>
              <a:rPr lang="zh-CN" altLang="en-US" dirty="0">
                <a:solidFill>
                  <a:srgbClr val="0000FF"/>
                </a:solidFill>
                <a:latin typeface="Times New Roman" panose="02020603050405020304" pitchFamily="18" charset="0"/>
              </a:rPr>
              <a:t>准则 </a:t>
            </a:r>
            <a:r>
              <a:rPr lang="en-US" altLang="zh-CN" dirty="0" smtClean="0">
                <a:solidFill>
                  <a:srgbClr val="0000FF"/>
                </a:solidFill>
                <a:latin typeface="Times New Roman" panose="02020603050405020304" pitchFamily="18" charset="0"/>
              </a:rPr>
              <a:t>:</a:t>
            </a:r>
            <a:endParaRPr lang="en-US" altLang="zh-CN" dirty="0" smtClean="0">
              <a:solidFill>
                <a:srgbClr val="0000FF"/>
              </a:solidFill>
              <a:latin typeface="Times New Roman" panose="02020603050405020304" pitchFamily="18" charset="0"/>
            </a:endParaRPr>
          </a:p>
          <a:p>
            <a:pPr>
              <a:lnSpc>
                <a:spcPct val="150000"/>
              </a:lnSpc>
            </a:pPr>
            <a:r>
              <a:rPr lang="zh-CN" altLang="en-US" dirty="0" smtClean="0">
                <a:solidFill>
                  <a:srgbClr val="000099"/>
                </a:solidFill>
                <a:latin typeface="Times New Roman" panose="02020603050405020304" pitchFamily="18" charset="0"/>
              </a:rPr>
              <a:t>      </a:t>
            </a:r>
            <a:r>
              <a:rPr lang="zh-CN" altLang="en-US" dirty="0" smtClean="0">
                <a:solidFill>
                  <a:srgbClr val="C00000"/>
                </a:solidFill>
                <a:latin typeface="Times New Roman" panose="02020603050405020304" pitchFamily="18" charset="0"/>
              </a:rPr>
              <a:t>对于</a:t>
            </a:r>
            <a:r>
              <a:rPr lang="zh-CN" altLang="en-US" dirty="0">
                <a:solidFill>
                  <a:srgbClr val="C00000"/>
                </a:solidFill>
                <a:latin typeface="Times New Roman" panose="02020603050405020304" pitchFamily="18" charset="0"/>
              </a:rPr>
              <a:t>一般弹簧</a:t>
            </a:r>
            <a:r>
              <a:rPr lang="zh-CN" altLang="en-US" dirty="0">
                <a:solidFill>
                  <a:srgbClr val="000099"/>
                </a:solidFill>
                <a:latin typeface="Times New Roman" panose="02020603050405020304" pitchFamily="18" charset="0"/>
              </a:rPr>
              <a:t>，在设计时需要进行强度计算和刚度计算</a:t>
            </a:r>
            <a:r>
              <a:rPr lang="zh-CN" altLang="en-US" dirty="0" smtClean="0">
                <a:solidFill>
                  <a:srgbClr val="000099"/>
                </a:solidFill>
                <a:latin typeface="Times New Roman" panose="02020603050405020304" pitchFamily="18" charset="0"/>
              </a:rPr>
              <a:t>；</a:t>
            </a:r>
            <a:endParaRPr lang="en-US" altLang="zh-CN" dirty="0" smtClean="0">
              <a:solidFill>
                <a:srgbClr val="000099"/>
              </a:solidFill>
              <a:latin typeface="Times New Roman" panose="02020603050405020304" pitchFamily="18" charset="0"/>
            </a:endParaRPr>
          </a:p>
          <a:p>
            <a:pPr>
              <a:lnSpc>
                <a:spcPct val="150000"/>
              </a:lnSpc>
            </a:pPr>
            <a:r>
              <a:rPr lang="zh-CN" altLang="en-US" dirty="0" smtClean="0">
                <a:solidFill>
                  <a:srgbClr val="000099"/>
                </a:solidFill>
                <a:latin typeface="Times New Roman" panose="02020603050405020304" pitchFamily="18" charset="0"/>
              </a:rPr>
              <a:t>      </a:t>
            </a:r>
            <a:r>
              <a:rPr lang="zh-CN" altLang="en-US" dirty="0" smtClean="0">
                <a:solidFill>
                  <a:srgbClr val="C00000"/>
                </a:solidFill>
                <a:latin typeface="Times New Roman" panose="02020603050405020304" pitchFamily="18" charset="0"/>
              </a:rPr>
              <a:t>对于</a:t>
            </a:r>
            <a:r>
              <a:rPr lang="zh-CN" altLang="en-US" dirty="0">
                <a:solidFill>
                  <a:srgbClr val="C00000"/>
                </a:solidFill>
                <a:latin typeface="Times New Roman" panose="02020603050405020304" pitchFamily="18" charset="0"/>
              </a:rPr>
              <a:t>细长比值较大的压缩弹簧</a:t>
            </a:r>
            <a:r>
              <a:rPr lang="zh-CN" altLang="en-US" dirty="0">
                <a:solidFill>
                  <a:srgbClr val="000099"/>
                </a:solidFill>
                <a:latin typeface="Times New Roman" panose="02020603050405020304" pitchFamily="18" charset="0"/>
              </a:rPr>
              <a:t>，还要进行稳定性校核</a:t>
            </a:r>
            <a:r>
              <a:rPr lang="zh-CN" altLang="en-US" dirty="0" smtClean="0">
                <a:solidFill>
                  <a:srgbClr val="000099"/>
                </a:solidFill>
                <a:latin typeface="Times New Roman" panose="02020603050405020304" pitchFamily="18" charset="0"/>
              </a:rPr>
              <a:t>；</a:t>
            </a:r>
            <a:endParaRPr lang="en-US" altLang="zh-CN" dirty="0" smtClean="0">
              <a:solidFill>
                <a:srgbClr val="000099"/>
              </a:solidFill>
              <a:latin typeface="Times New Roman" panose="02020603050405020304" pitchFamily="18" charset="0"/>
            </a:endParaRPr>
          </a:p>
          <a:p>
            <a:pPr>
              <a:lnSpc>
                <a:spcPct val="150000"/>
              </a:lnSpc>
            </a:pPr>
            <a:r>
              <a:rPr lang="zh-CN" altLang="en-US" dirty="0" smtClean="0">
                <a:solidFill>
                  <a:srgbClr val="000099"/>
                </a:solidFill>
                <a:latin typeface="Times New Roman" panose="02020603050405020304" pitchFamily="18" charset="0"/>
              </a:rPr>
              <a:t>      </a:t>
            </a:r>
            <a:r>
              <a:rPr lang="zh-CN" altLang="en-US" dirty="0" smtClean="0">
                <a:solidFill>
                  <a:srgbClr val="C00000"/>
                </a:solidFill>
                <a:latin typeface="Times New Roman" panose="02020603050405020304" pitchFamily="18" charset="0"/>
              </a:rPr>
              <a:t>对于</a:t>
            </a:r>
            <a:r>
              <a:rPr lang="zh-CN" altLang="en-US" dirty="0">
                <a:solidFill>
                  <a:srgbClr val="C00000"/>
                </a:solidFill>
                <a:latin typeface="Times New Roman" panose="02020603050405020304" pitchFamily="18" charset="0"/>
              </a:rPr>
              <a:t>承受变载荷的重要弹簧</a:t>
            </a:r>
            <a:r>
              <a:rPr lang="zh-CN" altLang="en-US" dirty="0">
                <a:solidFill>
                  <a:srgbClr val="000099"/>
                </a:solidFill>
                <a:latin typeface="Times New Roman" panose="02020603050405020304" pitchFamily="18" charset="0"/>
              </a:rPr>
              <a:t>，还应校核其疲劳强度。</a:t>
            </a:r>
            <a:endParaRPr lang="zh-CN" altLang="en-US" dirty="0">
              <a:solidFill>
                <a:srgbClr val="000099"/>
              </a:solidFill>
              <a:latin typeface="Times New Roman" panose="02020603050405020304" pitchFamily="18" charset="0"/>
              <a:ea typeface="Times New Roman" panose="02020603050405020304" pitchFamily="18" charset="0"/>
            </a:endParaRPr>
          </a:p>
        </p:txBody>
      </p:sp>
      <p:sp>
        <p:nvSpPr>
          <p:cNvPr id="3380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92"/>
                                        </p:tgtEl>
                                        <p:attrNameLst>
                                          <p:attrName>style.visibility</p:attrName>
                                        </p:attrNameLst>
                                      </p:cBhvr>
                                      <p:to>
                                        <p:strVal val="visible"/>
                                      </p:to>
                                    </p:set>
                                    <p:anim calcmode="lin" valueType="num">
                                      <p:cBhvr additive="base">
                                        <p:cTn id="7" dur="500" fill="hold"/>
                                        <p:tgtEl>
                                          <p:spTgt spid="67592"/>
                                        </p:tgtEl>
                                        <p:attrNameLst>
                                          <p:attrName>ppt_x</p:attrName>
                                        </p:attrNameLst>
                                      </p:cBhvr>
                                      <p:tavLst>
                                        <p:tav tm="0">
                                          <p:val>
                                            <p:strVal val="#ppt_x"/>
                                          </p:val>
                                        </p:tav>
                                        <p:tav tm="100000">
                                          <p:val>
                                            <p:strVal val="#ppt_x"/>
                                          </p:val>
                                        </p:tav>
                                      </p:tavLst>
                                    </p:anim>
                                    <p:anim calcmode="lin" valueType="num">
                                      <p:cBhvr additive="base">
                                        <p:cTn id="8" dur="500" fill="hold"/>
                                        <p:tgtEl>
                                          <p:spTgt spid="675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593"/>
                                        </p:tgtEl>
                                        <p:attrNameLst>
                                          <p:attrName>style.visibility</p:attrName>
                                        </p:attrNameLst>
                                      </p:cBhvr>
                                      <p:to>
                                        <p:strVal val="visible"/>
                                      </p:to>
                                    </p:set>
                                    <p:anim calcmode="lin" valueType="num">
                                      <p:cBhvr additive="base">
                                        <p:cTn id="13" dur="500" fill="hold"/>
                                        <p:tgtEl>
                                          <p:spTgt spid="67593"/>
                                        </p:tgtEl>
                                        <p:attrNameLst>
                                          <p:attrName>ppt_x</p:attrName>
                                        </p:attrNameLst>
                                      </p:cBhvr>
                                      <p:tavLst>
                                        <p:tav tm="0">
                                          <p:val>
                                            <p:strVal val="#ppt_x"/>
                                          </p:val>
                                        </p:tav>
                                        <p:tav tm="100000">
                                          <p:val>
                                            <p:strVal val="#ppt_x"/>
                                          </p:val>
                                        </p:tav>
                                      </p:tavLst>
                                    </p:anim>
                                    <p:anim calcmode="lin" valueType="num">
                                      <p:cBhvr additive="base">
                                        <p:cTn id="14" dur="500" fill="hold"/>
                                        <p:tgtEl>
                                          <p:spTgt spid="675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7594"/>
                                        </p:tgtEl>
                                        <p:attrNameLst>
                                          <p:attrName>style.visibility</p:attrName>
                                        </p:attrNameLst>
                                      </p:cBhvr>
                                      <p:to>
                                        <p:strVal val="visible"/>
                                      </p:to>
                                    </p:set>
                                    <p:anim calcmode="lin" valueType="num">
                                      <p:cBhvr additive="base">
                                        <p:cTn id="19" dur="500" fill="hold"/>
                                        <p:tgtEl>
                                          <p:spTgt spid="67594"/>
                                        </p:tgtEl>
                                        <p:attrNameLst>
                                          <p:attrName>ppt_x</p:attrName>
                                        </p:attrNameLst>
                                      </p:cBhvr>
                                      <p:tavLst>
                                        <p:tav tm="0">
                                          <p:val>
                                            <p:strVal val="#ppt_x"/>
                                          </p:val>
                                        </p:tav>
                                        <p:tav tm="100000">
                                          <p:val>
                                            <p:strVal val="#ppt_x"/>
                                          </p:val>
                                        </p:tav>
                                      </p:tavLst>
                                    </p:anim>
                                    <p:anim calcmode="lin" valueType="num">
                                      <p:cBhvr additive="base">
                                        <p:cTn id="20" dur="500" fill="hold"/>
                                        <p:tgtEl>
                                          <p:spTgt spid="675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2" grpId="0" bldLvl="0" animBg="1"/>
      <p:bldP spid="67593" grpId="0"/>
      <p:bldP spid="6759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Text Box 28"/>
          <p:cNvSpPr txBox="1"/>
          <p:nvPr/>
        </p:nvSpPr>
        <p:spPr>
          <a:xfrm>
            <a:off x="6538913" y="62341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4102"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4103"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500063" y="214313"/>
            <a:ext cx="864393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116763" name="文本框 116762"/>
          <p:cNvSpPr txBox="1"/>
          <p:nvPr/>
        </p:nvSpPr>
        <p:spPr>
          <a:xfrm>
            <a:off x="284163" y="890588"/>
            <a:ext cx="6140450" cy="430887"/>
          </a:xfrm>
          <a:prstGeom prst="rect">
            <a:avLst/>
          </a:prstGeom>
          <a:noFill/>
          <a:ln w="9525">
            <a:noFill/>
          </a:ln>
        </p:spPr>
        <p:txBody>
          <a:bodyPr>
            <a:spAutoFit/>
          </a:bodyPr>
          <a:lstStyle/>
          <a:p>
            <a:r>
              <a:rPr lang="zh-CN" altLang="en-US" dirty="0">
                <a:solidFill>
                  <a:srgbClr val="C00000"/>
                </a:solidFill>
                <a:latin typeface="黑体" panose="02010609060101010101" pitchFamily="49" charset="-122"/>
                <a:ea typeface="黑体" panose="02010609060101010101" pitchFamily="49" charset="-122"/>
              </a:rPr>
              <a:t>四、圆柱螺旋压缩和拉伸弹簧的设计</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116764" name="文本框 116763"/>
          <p:cNvSpPr txBox="1"/>
          <p:nvPr/>
        </p:nvSpPr>
        <p:spPr>
          <a:xfrm>
            <a:off x="1162050" y="1290638"/>
            <a:ext cx="7081838" cy="830262"/>
          </a:xfrm>
          <a:prstGeom prst="rect">
            <a:avLst/>
          </a:prstGeom>
          <a:noFill/>
          <a:ln w="9525">
            <a:noFill/>
          </a:ln>
        </p:spPr>
        <p:txBody>
          <a:bodyPr>
            <a:spAutoFit/>
          </a:bodyPr>
          <a:lstStyle/>
          <a:p>
            <a:pPr>
              <a:lnSpc>
                <a:spcPct val="120000"/>
              </a:lnSpc>
            </a:pPr>
            <a:r>
              <a:rPr lang="zh-CN" altLang="en-US" sz="2000" dirty="0">
                <a:solidFill>
                  <a:srgbClr val="000099"/>
                </a:solidFill>
                <a:latin typeface="华文中宋" panose="02010600040101010101" pitchFamily="2" charset="-122"/>
              </a:rPr>
              <a:t>已知：弹簧的最大载荷、最大变形量等</a:t>
            </a:r>
            <a:endParaRPr lang="zh-CN" altLang="en-US" sz="2000" dirty="0">
              <a:solidFill>
                <a:srgbClr val="000099"/>
              </a:solidFill>
              <a:latin typeface="华文中宋" panose="02010600040101010101" pitchFamily="2" charset="-122"/>
            </a:endParaRPr>
          </a:p>
          <a:p>
            <a:pPr>
              <a:lnSpc>
                <a:spcPct val="120000"/>
              </a:lnSpc>
            </a:pPr>
            <a:r>
              <a:rPr lang="zh-CN" altLang="en-US" sz="2000" dirty="0">
                <a:solidFill>
                  <a:srgbClr val="000099"/>
                </a:solidFill>
                <a:latin typeface="华文中宋" panose="02010600040101010101" pitchFamily="2" charset="-122"/>
              </a:rPr>
              <a:t>确定：线径、弹簧中径、有效圈数、螺旋角和长度等。</a:t>
            </a:r>
            <a:endParaRPr lang="en-US" altLang="zh-CN" sz="2000" dirty="0">
              <a:solidFill>
                <a:srgbClr val="000099"/>
              </a:solidFill>
              <a:latin typeface="华文中宋" panose="02010600040101010101" pitchFamily="2" charset="-122"/>
            </a:endParaRPr>
          </a:p>
        </p:txBody>
      </p:sp>
      <p:sp>
        <p:nvSpPr>
          <p:cNvPr id="116767" name="文本框 116766"/>
          <p:cNvSpPr txBox="1"/>
          <p:nvPr/>
        </p:nvSpPr>
        <p:spPr>
          <a:xfrm>
            <a:off x="467544" y="2204864"/>
            <a:ext cx="1595309" cy="400110"/>
          </a:xfrm>
          <a:prstGeom prst="rect">
            <a:avLst/>
          </a:prstGeom>
          <a:solidFill>
            <a:srgbClr val="FFFF00"/>
          </a:solidFill>
          <a:ln w="9525">
            <a:noFill/>
          </a:ln>
        </p:spPr>
        <p:txBody>
          <a:bodyPr wrap="none">
            <a:spAutoFit/>
          </a:bodyPr>
          <a:lstStyle/>
          <a:p>
            <a:r>
              <a:rPr lang="en-US" altLang="zh-CN" sz="2000" dirty="0">
                <a:solidFill>
                  <a:srgbClr val="002060"/>
                </a:solidFill>
                <a:latin typeface="Times New Roman" panose="02020603050405020304" pitchFamily="18" charset="0"/>
              </a:rPr>
              <a:t>1</a:t>
            </a:r>
            <a:r>
              <a:rPr lang="zh-CN" altLang="en-US" sz="2000" dirty="0">
                <a:solidFill>
                  <a:srgbClr val="002060"/>
                </a:solidFill>
                <a:latin typeface="Times New Roman" panose="02020603050405020304" pitchFamily="18" charset="0"/>
              </a:rPr>
              <a:t>、强度计算</a:t>
            </a:r>
            <a:endParaRPr lang="zh-CN" altLang="en-US" sz="2000" dirty="0">
              <a:solidFill>
                <a:srgbClr val="002060"/>
              </a:solidFill>
              <a:latin typeface="Times New Roman" panose="02020603050405020304" pitchFamily="18" charset="0"/>
            </a:endParaRPr>
          </a:p>
        </p:txBody>
      </p:sp>
      <p:sp>
        <p:nvSpPr>
          <p:cNvPr id="116768" name="文本框 116767"/>
          <p:cNvSpPr txBox="1"/>
          <p:nvPr/>
        </p:nvSpPr>
        <p:spPr>
          <a:xfrm>
            <a:off x="908050" y="2622550"/>
            <a:ext cx="3887788" cy="460375"/>
          </a:xfrm>
          <a:prstGeom prst="rect">
            <a:avLst/>
          </a:prstGeom>
          <a:noFill/>
          <a:ln w="9525">
            <a:noFill/>
          </a:ln>
        </p:spPr>
        <p:txBody>
          <a:bodyPr>
            <a:spAutoFit/>
          </a:bodyPr>
          <a:lstStyle/>
          <a:p>
            <a:pPr>
              <a:lnSpc>
                <a:spcPct val="120000"/>
              </a:lnSpc>
            </a:pPr>
            <a:r>
              <a:rPr lang="zh-CN" altLang="zh-CN" sz="2000" dirty="0">
                <a:solidFill>
                  <a:srgbClr val="000099"/>
                </a:solidFill>
                <a:latin typeface="Times New Roman" panose="02020603050405020304" pitchFamily="18" charset="0"/>
              </a:rPr>
              <a:t>弹簧丝的最大应力及强度条件为</a:t>
            </a:r>
            <a:endParaRPr lang="zh-CN" altLang="zh-CN" sz="2000" dirty="0">
              <a:solidFill>
                <a:srgbClr val="000099"/>
              </a:solidFill>
              <a:latin typeface="Times New Roman" panose="02020603050405020304" pitchFamily="18" charset="0"/>
            </a:endParaRPr>
          </a:p>
        </p:txBody>
      </p:sp>
      <p:sp>
        <p:nvSpPr>
          <p:cNvPr id="116770" name="文本框 116769"/>
          <p:cNvSpPr txBox="1"/>
          <p:nvPr/>
        </p:nvSpPr>
        <p:spPr>
          <a:xfrm>
            <a:off x="908050" y="3448050"/>
            <a:ext cx="2976563" cy="398463"/>
          </a:xfrm>
          <a:prstGeom prst="rect">
            <a:avLst/>
          </a:prstGeom>
          <a:noFill/>
          <a:ln w="9525">
            <a:noFill/>
          </a:ln>
        </p:spPr>
        <p:txBody>
          <a:bodyPr wrap="none">
            <a:spAutoFit/>
          </a:bodyPr>
          <a:lstStyle/>
          <a:p>
            <a:r>
              <a:rPr lang="zh-CN" altLang="en-US" sz="2000" dirty="0">
                <a:solidFill>
                  <a:srgbClr val="000099"/>
                </a:solidFill>
                <a:latin typeface="华文中宋" panose="02010600040101010101" pitchFamily="2" charset="-122"/>
              </a:rPr>
              <a:t>弹簧丝直径的设计公式为</a:t>
            </a:r>
            <a:endParaRPr lang="en-US" altLang="zh-CN" sz="2000" i="1" dirty="0">
              <a:solidFill>
                <a:srgbClr val="000099"/>
              </a:solidFill>
              <a:latin typeface="华文中宋" panose="02010600040101010101" pitchFamily="2" charset="-122"/>
            </a:endParaRPr>
          </a:p>
        </p:txBody>
      </p:sp>
      <p:sp>
        <p:nvSpPr>
          <p:cNvPr id="116771" name="文本框 116770"/>
          <p:cNvSpPr txBox="1"/>
          <p:nvPr/>
        </p:nvSpPr>
        <p:spPr>
          <a:xfrm>
            <a:off x="437515" y="3950018"/>
            <a:ext cx="1625766" cy="400110"/>
          </a:xfrm>
          <a:prstGeom prst="rect">
            <a:avLst/>
          </a:prstGeom>
          <a:solidFill>
            <a:srgbClr val="FFFF00"/>
          </a:solidFill>
          <a:ln w="9525">
            <a:noFill/>
          </a:ln>
        </p:spPr>
        <p:txBody>
          <a:bodyPr wrap="none">
            <a:spAutoFit/>
          </a:bodyPr>
          <a:lstStyle/>
          <a:p>
            <a:r>
              <a:rPr lang="en-US" altLang="zh-CN" sz="2000" dirty="0">
                <a:solidFill>
                  <a:srgbClr val="002060"/>
                </a:solidFill>
                <a:latin typeface="华文中宋" panose="02010600040101010101" pitchFamily="2" charset="-122"/>
              </a:rPr>
              <a:t>2</a:t>
            </a:r>
            <a:r>
              <a:rPr lang="zh-CN" altLang="en-US" sz="2000" dirty="0">
                <a:solidFill>
                  <a:srgbClr val="002060"/>
                </a:solidFill>
                <a:latin typeface="华文中宋" panose="02010600040101010101" pitchFamily="2" charset="-122"/>
              </a:rPr>
              <a:t>、刚度计算</a:t>
            </a:r>
            <a:endParaRPr lang="zh-CN" altLang="en-US" sz="2000" dirty="0">
              <a:solidFill>
                <a:srgbClr val="002060"/>
              </a:solidFill>
              <a:latin typeface="华文中宋" panose="02010600040101010101" pitchFamily="2" charset="-122"/>
            </a:endParaRPr>
          </a:p>
        </p:txBody>
      </p:sp>
      <p:sp>
        <p:nvSpPr>
          <p:cNvPr id="116774" name="文本框 116773"/>
          <p:cNvSpPr txBox="1"/>
          <p:nvPr/>
        </p:nvSpPr>
        <p:spPr>
          <a:xfrm>
            <a:off x="899592" y="5661248"/>
            <a:ext cx="7904163" cy="892175"/>
          </a:xfrm>
          <a:prstGeom prst="rect">
            <a:avLst/>
          </a:prstGeom>
          <a:noFill/>
          <a:ln w="9525">
            <a:noFill/>
          </a:ln>
        </p:spPr>
        <p:txBody>
          <a:bodyPr>
            <a:spAutoFit/>
          </a:bodyPr>
          <a:lstStyle/>
          <a:p>
            <a:pPr>
              <a:lnSpc>
                <a:spcPct val="130000"/>
              </a:lnSpc>
            </a:pPr>
            <a:r>
              <a:rPr lang="zh-CN" altLang="zh-CN" sz="2000" dirty="0">
                <a:solidFill>
                  <a:srgbClr val="000099"/>
                </a:solidFill>
                <a:latin typeface="Times New Roman" panose="02020603050405020304" pitchFamily="18" charset="0"/>
              </a:rPr>
              <a:t>当求出的n&lt;15时，取n为0.5的倍数；当n&gt;15圈时，则取n为整数。</a:t>
            </a:r>
            <a:endParaRPr lang="zh-CN" altLang="zh-CN" sz="2000" dirty="0">
              <a:solidFill>
                <a:srgbClr val="000099"/>
              </a:solidFill>
              <a:latin typeface="Times New Roman" panose="02020603050405020304" pitchFamily="18" charset="0"/>
            </a:endParaRPr>
          </a:p>
          <a:p>
            <a:pPr>
              <a:lnSpc>
                <a:spcPct val="130000"/>
              </a:lnSpc>
            </a:pPr>
            <a:r>
              <a:rPr lang="zh-CN" altLang="zh-CN" sz="2000" dirty="0">
                <a:solidFill>
                  <a:srgbClr val="000099"/>
                </a:solidFill>
                <a:latin typeface="Times New Roman" panose="02020603050405020304" pitchFamily="18" charset="0"/>
              </a:rPr>
              <a:t>弹簧的有效圈数最少不得少于2圈。</a:t>
            </a:r>
            <a:endParaRPr lang="zh-CN" altLang="zh-CN" sz="2000" dirty="0">
              <a:solidFill>
                <a:srgbClr val="000099"/>
              </a:solidFill>
              <a:latin typeface="Times New Roman" panose="02020603050405020304" pitchFamily="18" charset="0"/>
            </a:endParaRPr>
          </a:p>
        </p:txBody>
      </p:sp>
      <p:graphicFrame>
        <p:nvGraphicFramePr>
          <p:cNvPr id="69648" name="对象 -2147482481"/>
          <p:cNvGraphicFramePr>
            <a:graphicFrameLocks noChangeAspect="1"/>
          </p:cNvGraphicFramePr>
          <p:nvPr/>
        </p:nvGraphicFramePr>
        <p:xfrm>
          <a:off x="4761389" y="2406650"/>
          <a:ext cx="2372360" cy="784225"/>
        </p:xfrm>
        <a:graphic>
          <a:graphicData uri="http://schemas.openxmlformats.org/presentationml/2006/ole">
            <mc:AlternateContent xmlns:mc="http://schemas.openxmlformats.org/markup-compatibility/2006">
              <mc:Choice xmlns:v="urn:schemas-microsoft-com:vml" Requires="v">
                <p:oleObj spid="_x0000_s6172" name="" r:id="rId1" imgW="1193800" imgH="393700" progId="Equation.KSEE3">
                  <p:embed/>
                </p:oleObj>
              </mc:Choice>
              <mc:Fallback>
                <p:oleObj name="" r:id="rId1" imgW="1193800" imgH="393700" progId="Equation.KSEE3">
                  <p:embed/>
                  <p:pic>
                    <p:nvPicPr>
                      <p:cNvPr id="0" name="图片 3076"/>
                      <p:cNvPicPr/>
                      <p:nvPr/>
                    </p:nvPicPr>
                    <p:blipFill>
                      <a:blip r:embed="rId2"/>
                      <a:stretch>
                        <a:fillRect/>
                      </a:stretch>
                    </p:blipFill>
                    <p:spPr>
                      <a:xfrm>
                        <a:off x="4761389" y="2406650"/>
                        <a:ext cx="2372360" cy="784225"/>
                      </a:xfrm>
                      <a:prstGeom prst="rect">
                        <a:avLst/>
                      </a:prstGeom>
                      <a:noFill/>
                      <a:ln w="38100">
                        <a:noFill/>
                        <a:miter/>
                      </a:ln>
                    </p:spPr>
                  </p:pic>
                </p:oleObj>
              </mc:Fallback>
            </mc:AlternateContent>
          </a:graphicData>
        </a:graphic>
      </p:graphicFrame>
      <p:graphicFrame>
        <p:nvGraphicFramePr>
          <p:cNvPr id="69649" name="对象 -2147482480"/>
          <p:cNvGraphicFramePr>
            <a:graphicFrameLocks noChangeAspect="1"/>
          </p:cNvGraphicFramePr>
          <p:nvPr/>
        </p:nvGraphicFramePr>
        <p:xfrm>
          <a:off x="3922713" y="3228975"/>
          <a:ext cx="2727325" cy="803275"/>
        </p:xfrm>
        <a:graphic>
          <a:graphicData uri="http://schemas.openxmlformats.org/presentationml/2006/ole">
            <mc:AlternateContent xmlns:mc="http://schemas.openxmlformats.org/markup-compatibility/2006">
              <mc:Choice xmlns:v="urn:schemas-microsoft-com:vml" Requires="v">
                <p:oleObj spid="_x0000_s6173" name="" r:id="rId3" imgW="1600200" imgH="469900" progId="Equation.KSEE3">
                  <p:embed/>
                </p:oleObj>
              </mc:Choice>
              <mc:Fallback>
                <p:oleObj name="" r:id="rId3" imgW="1600200" imgH="469900" progId="Equation.KSEE3">
                  <p:embed/>
                  <p:pic>
                    <p:nvPicPr>
                      <p:cNvPr id="0" name="图片 3075"/>
                      <p:cNvPicPr/>
                      <p:nvPr/>
                    </p:nvPicPr>
                    <p:blipFill>
                      <a:blip r:embed="rId4"/>
                      <a:stretch>
                        <a:fillRect/>
                      </a:stretch>
                    </p:blipFill>
                    <p:spPr>
                      <a:xfrm>
                        <a:off x="3922713" y="3228975"/>
                        <a:ext cx="2727325" cy="803275"/>
                      </a:xfrm>
                      <a:prstGeom prst="rect">
                        <a:avLst/>
                      </a:prstGeom>
                      <a:noFill/>
                      <a:ln w="38100">
                        <a:noFill/>
                        <a:miter/>
                      </a:ln>
                    </p:spPr>
                  </p:pic>
                </p:oleObj>
              </mc:Fallback>
            </mc:AlternateContent>
          </a:graphicData>
        </a:graphic>
      </p:graphicFrame>
      <p:sp>
        <p:nvSpPr>
          <p:cNvPr id="9" name="文本框 8"/>
          <p:cNvSpPr txBox="1"/>
          <p:nvPr/>
        </p:nvSpPr>
        <p:spPr>
          <a:xfrm>
            <a:off x="909638" y="4454525"/>
            <a:ext cx="7302500" cy="400050"/>
          </a:xfrm>
          <a:prstGeom prst="rect">
            <a:avLst/>
          </a:prstGeom>
          <a:noFill/>
          <a:ln w="9525">
            <a:noFill/>
          </a:ln>
        </p:spPr>
        <p:txBody>
          <a:bodyPr>
            <a:spAutoFit/>
          </a:bodyPr>
          <a:lstStyle/>
          <a:p>
            <a:r>
              <a:rPr lang="zh-CN" altLang="zh-CN" sz="2000" dirty="0">
                <a:solidFill>
                  <a:srgbClr val="000099"/>
                </a:solidFill>
                <a:latin typeface="华文中宋" panose="02010600040101010101" pitchFamily="2" charset="-122"/>
              </a:rPr>
              <a:t>弹簧的刚度计算是为了求出满足变形量要求的</a:t>
            </a:r>
            <a:r>
              <a:rPr lang="zh-CN" altLang="en-US" sz="2000" dirty="0">
                <a:solidFill>
                  <a:srgbClr val="000099"/>
                </a:solidFill>
                <a:latin typeface="华文中宋" panose="02010600040101010101" pitchFamily="2" charset="-122"/>
              </a:rPr>
              <a:t>弹簧有效圈数</a:t>
            </a:r>
            <a:r>
              <a:rPr lang="en-US" altLang="zh-CN" sz="2000" dirty="0">
                <a:solidFill>
                  <a:srgbClr val="000099"/>
                </a:solidFill>
                <a:latin typeface="华文中宋" panose="02010600040101010101" pitchFamily="2" charset="-122"/>
              </a:rPr>
              <a:t>n</a:t>
            </a:r>
            <a:r>
              <a:rPr lang="zh-CN" altLang="en-US" sz="2000" dirty="0">
                <a:solidFill>
                  <a:srgbClr val="000099"/>
                </a:solidFill>
                <a:latin typeface="华文中宋" panose="02010600040101010101" pitchFamily="2" charset="-122"/>
              </a:rPr>
              <a:t>：</a:t>
            </a:r>
            <a:endParaRPr lang="zh-CN" altLang="en-US" sz="2000" dirty="0">
              <a:solidFill>
                <a:srgbClr val="000099"/>
              </a:solidFill>
              <a:latin typeface="华文中宋" panose="02010600040101010101" pitchFamily="2" charset="-122"/>
            </a:endParaRPr>
          </a:p>
        </p:txBody>
      </p:sp>
      <p:graphicFrame>
        <p:nvGraphicFramePr>
          <p:cNvPr id="69651" name="对象 -2147482472"/>
          <p:cNvGraphicFramePr>
            <a:graphicFrameLocks noChangeAspect="1"/>
          </p:cNvGraphicFramePr>
          <p:nvPr/>
        </p:nvGraphicFramePr>
        <p:xfrm>
          <a:off x="3600450" y="4854575"/>
          <a:ext cx="2101850" cy="730250"/>
        </p:xfrm>
        <a:graphic>
          <a:graphicData uri="http://schemas.openxmlformats.org/presentationml/2006/ole">
            <mc:AlternateContent xmlns:mc="http://schemas.openxmlformats.org/markup-compatibility/2006">
              <mc:Choice xmlns:v="urn:schemas-microsoft-com:vml" Requires="v">
                <p:oleObj spid="_x0000_s6174" name="" r:id="rId5" imgW="1206500" imgH="419100" progId="Equation.KSEE3">
                  <p:embed/>
                </p:oleObj>
              </mc:Choice>
              <mc:Fallback>
                <p:oleObj name="" r:id="rId5" imgW="1206500" imgH="419100" progId="Equation.KSEE3">
                  <p:embed/>
                  <p:pic>
                    <p:nvPicPr>
                      <p:cNvPr id="0" name="图片 3077"/>
                      <p:cNvPicPr/>
                      <p:nvPr/>
                    </p:nvPicPr>
                    <p:blipFill>
                      <a:blip r:embed="rId6"/>
                      <a:stretch>
                        <a:fillRect/>
                      </a:stretch>
                    </p:blipFill>
                    <p:spPr>
                      <a:xfrm>
                        <a:off x="3600450" y="4854575"/>
                        <a:ext cx="2101850" cy="730250"/>
                      </a:xfrm>
                      <a:prstGeom prst="rect">
                        <a:avLst/>
                      </a:prstGeom>
                      <a:noFill/>
                      <a:ln w="38100">
                        <a:noFill/>
                        <a:miter/>
                      </a:ln>
                    </p:spPr>
                  </p:pic>
                </p:oleObj>
              </mc:Fallback>
            </mc:AlternateContent>
          </a:graphicData>
        </a:graphic>
      </p:graphicFrame>
      <p:sp>
        <p:nvSpPr>
          <p:cNvPr id="4116"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6763"/>
                                        </p:tgtEl>
                                        <p:attrNameLst>
                                          <p:attrName>style.visibility</p:attrName>
                                        </p:attrNameLst>
                                      </p:cBhvr>
                                      <p:to>
                                        <p:strVal val="visible"/>
                                      </p:to>
                                    </p:set>
                                    <p:anim calcmode="lin" valueType="num">
                                      <p:cBhvr additive="base">
                                        <p:cTn id="7" dur="500" fill="hold"/>
                                        <p:tgtEl>
                                          <p:spTgt spid="116763"/>
                                        </p:tgtEl>
                                        <p:attrNameLst>
                                          <p:attrName>ppt_x</p:attrName>
                                        </p:attrNameLst>
                                      </p:cBhvr>
                                      <p:tavLst>
                                        <p:tav tm="0">
                                          <p:val>
                                            <p:strVal val="#ppt_x"/>
                                          </p:val>
                                        </p:tav>
                                        <p:tav tm="100000">
                                          <p:val>
                                            <p:strVal val="#ppt_x"/>
                                          </p:val>
                                        </p:tav>
                                      </p:tavLst>
                                    </p:anim>
                                    <p:anim calcmode="lin" valueType="num">
                                      <p:cBhvr additive="base">
                                        <p:cTn id="8" dur="500" fill="hold"/>
                                        <p:tgtEl>
                                          <p:spTgt spid="1167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6764"/>
                                        </p:tgtEl>
                                        <p:attrNameLst>
                                          <p:attrName>style.visibility</p:attrName>
                                        </p:attrNameLst>
                                      </p:cBhvr>
                                      <p:to>
                                        <p:strVal val="visible"/>
                                      </p:to>
                                    </p:set>
                                    <p:anim calcmode="lin" valueType="num">
                                      <p:cBhvr additive="base">
                                        <p:cTn id="13" dur="500" fill="hold"/>
                                        <p:tgtEl>
                                          <p:spTgt spid="116764"/>
                                        </p:tgtEl>
                                        <p:attrNameLst>
                                          <p:attrName>ppt_x</p:attrName>
                                        </p:attrNameLst>
                                      </p:cBhvr>
                                      <p:tavLst>
                                        <p:tav tm="0">
                                          <p:val>
                                            <p:strVal val="#ppt_x"/>
                                          </p:val>
                                        </p:tav>
                                        <p:tav tm="100000">
                                          <p:val>
                                            <p:strVal val="#ppt_x"/>
                                          </p:val>
                                        </p:tav>
                                      </p:tavLst>
                                    </p:anim>
                                    <p:anim calcmode="lin" valueType="num">
                                      <p:cBhvr additive="base">
                                        <p:cTn id="14" dur="500" fill="hold"/>
                                        <p:tgtEl>
                                          <p:spTgt spid="11676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6767"/>
                                        </p:tgtEl>
                                        <p:attrNameLst>
                                          <p:attrName>style.visibility</p:attrName>
                                        </p:attrNameLst>
                                      </p:cBhvr>
                                      <p:to>
                                        <p:strVal val="visible"/>
                                      </p:to>
                                    </p:set>
                                    <p:anim calcmode="lin" valueType="num">
                                      <p:cBhvr additive="base">
                                        <p:cTn id="19" dur="500" fill="hold"/>
                                        <p:tgtEl>
                                          <p:spTgt spid="116767"/>
                                        </p:tgtEl>
                                        <p:attrNameLst>
                                          <p:attrName>ppt_x</p:attrName>
                                        </p:attrNameLst>
                                      </p:cBhvr>
                                      <p:tavLst>
                                        <p:tav tm="0">
                                          <p:val>
                                            <p:strVal val="#ppt_x"/>
                                          </p:val>
                                        </p:tav>
                                        <p:tav tm="100000">
                                          <p:val>
                                            <p:strVal val="#ppt_x"/>
                                          </p:val>
                                        </p:tav>
                                      </p:tavLst>
                                    </p:anim>
                                    <p:anim calcmode="lin" valueType="num">
                                      <p:cBhvr additive="base">
                                        <p:cTn id="20" dur="500" fill="hold"/>
                                        <p:tgtEl>
                                          <p:spTgt spid="11676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6768"/>
                                        </p:tgtEl>
                                        <p:attrNameLst>
                                          <p:attrName>style.visibility</p:attrName>
                                        </p:attrNameLst>
                                      </p:cBhvr>
                                      <p:to>
                                        <p:strVal val="visible"/>
                                      </p:to>
                                    </p:set>
                                    <p:anim calcmode="lin" valueType="num">
                                      <p:cBhvr additive="base">
                                        <p:cTn id="25" dur="500" fill="hold"/>
                                        <p:tgtEl>
                                          <p:spTgt spid="116768"/>
                                        </p:tgtEl>
                                        <p:attrNameLst>
                                          <p:attrName>ppt_x</p:attrName>
                                        </p:attrNameLst>
                                      </p:cBhvr>
                                      <p:tavLst>
                                        <p:tav tm="0">
                                          <p:val>
                                            <p:strVal val="#ppt_x"/>
                                          </p:val>
                                        </p:tav>
                                        <p:tav tm="100000">
                                          <p:val>
                                            <p:strVal val="#ppt_x"/>
                                          </p:val>
                                        </p:tav>
                                      </p:tavLst>
                                    </p:anim>
                                    <p:anim calcmode="lin" valueType="num">
                                      <p:cBhvr additive="base">
                                        <p:cTn id="26" dur="500" fill="hold"/>
                                        <p:tgtEl>
                                          <p:spTgt spid="11676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9648"/>
                                        </p:tgtEl>
                                        <p:attrNameLst>
                                          <p:attrName>style.visibility</p:attrName>
                                        </p:attrNameLst>
                                      </p:cBhvr>
                                      <p:to>
                                        <p:strVal val="visible"/>
                                      </p:to>
                                    </p:set>
                                    <p:anim calcmode="lin" valueType="num">
                                      <p:cBhvr additive="base">
                                        <p:cTn id="29" dur="500" fill="hold"/>
                                        <p:tgtEl>
                                          <p:spTgt spid="69648"/>
                                        </p:tgtEl>
                                        <p:attrNameLst>
                                          <p:attrName>ppt_x</p:attrName>
                                        </p:attrNameLst>
                                      </p:cBhvr>
                                      <p:tavLst>
                                        <p:tav tm="0">
                                          <p:val>
                                            <p:strVal val="#ppt_x"/>
                                          </p:val>
                                        </p:tav>
                                        <p:tav tm="100000">
                                          <p:val>
                                            <p:strVal val="#ppt_x"/>
                                          </p:val>
                                        </p:tav>
                                      </p:tavLst>
                                    </p:anim>
                                    <p:anim calcmode="lin" valueType="num">
                                      <p:cBhvr additive="base">
                                        <p:cTn id="30" dur="500" fill="hold"/>
                                        <p:tgtEl>
                                          <p:spTgt spid="6964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6770"/>
                                        </p:tgtEl>
                                        <p:attrNameLst>
                                          <p:attrName>style.visibility</p:attrName>
                                        </p:attrNameLst>
                                      </p:cBhvr>
                                      <p:to>
                                        <p:strVal val="visible"/>
                                      </p:to>
                                    </p:set>
                                    <p:anim calcmode="lin" valueType="num">
                                      <p:cBhvr additive="base">
                                        <p:cTn id="35" dur="500" fill="hold"/>
                                        <p:tgtEl>
                                          <p:spTgt spid="116770"/>
                                        </p:tgtEl>
                                        <p:attrNameLst>
                                          <p:attrName>ppt_x</p:attrName>
                                        </p:attrNameLst>
                                      </p:cBhvr>
                                      <p:tavLst>
                                        <p:tav tm="0">
                                          <p:val>
                                            <p:strVal val="#ppt_x"/>
                                          </p:val>
                                        </p:tav>
                                        <p:tav tm="100000">
                                          <p:val>
                                            <p:strVal val="#ppt_x"/>
                                          </p:val>
                                        </p:tav>
                                      </p:tavLst>
                                    </p:anim>
                                    <p:anim calcmode="lin" valueType="num">
                                      <p:cBhvr additive="base">
                                        <p:cTn id="36" dur="500" fill="hold"/>
                                        <p:tgtEl>
                                          <p:spTgt spid="11677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9649"/>
                                        </p:tgtEl>
                                        <p:attrNameLst>
                                          <p:attrName>style.visibility</p:attrName>
                                        </p:attrNameLst>
                                      </p:cBhvr>
                                      <p:to>
                                        <p:strVal val="visible"/>
                                      </p:to>
                                    </p:set>
                                    <p:anim calcmode="lin" valueType="num">
                                      <p:cBhvr additive="base">
                                        <p:cTn id="39" dur="500" fill="hold"/>
                                        <p:tgtEl>
                                          <p:spTgt spid="69649"/>
                                        </p:tgtEl>
                                        <p:attrNameLst>
                                          <p:attrName>ppt_x</p:attrName>
                                        </p:attrNameLst>
                                      </p:cBhvr>
                                      <p:tavLst>
                                        <p:tav tm="0">
                                          <p:val>
                                            <p:strVal val="#ppt_x"/>
                                          </p:val>
                                        </p:tav>
                                        <p:tav tm="100000">
                                          <p:val>
                                            <p:strVal val="#ppt_x"/>
                                          </p:val>
                                        </p:tav>
                                      </p:tavLst>
                                    </p:anim>
                                    <p:anim calcmode="lin" valueType="num">
                                      <p:cBhvr additive="base">
                                        <p:cTn id="40" dur="500" fill="hold"/>
                                        <p:tgtEl>
                                          <p:spTgt spid="6964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16771"/>
                                        </p:tgtEl>
                                        <p:attrNameLst>
                                          <p:attrName>style.visibility</p:attrName>
                                        </p:attrNameLst>
                                      </p:cBhvr>
                                      <p:to>
                                        <p:strVal val="visible"/>
                                      </p:to>
                                    </p:set>
                                    <p:anim calcmode="lin" valueType="num">
                                      <p:cBhvr additive="base">
                                        <p:cTn id="45" dur="500" fill="hold"/>
                                        <p:tgtEl>
                                          <p:spTgt spid="116771"/>
                                        </p:tgtEl>
                                        <p:attrNameLst>
                                          <p:attrName>ppt_x</p:attrName>
                                        </p:attrNameLst>
                                      </p:cBhvr>
                                      <p:tavLst>
                                        <p:tav tm="0">
                                          <p:val>
                                            <p:strVal val="#ppt_x"/>
                                          </p:val>
                                        </p:tav>
                                        <p:tav tm="100000">
                                          <p:val>
                                            <p:strVal val="#ppt_x"/>
                                          </p:val>
                                        </p:tav>
                                      </p:tavLst>
                                    </p:anim>
                                    <p:anim calcmode="lin" valueType="num">
                                      <p:cBhvr additive="base">
                                        <p:cTn id="46" dur="500" fill="hold"/>
                                        <p:tgtEl>
                                          <p:spTgt spid="116771"/>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additive="base">
                                        <p:cTn id="51" dur="500" fill="hold"/>
                                        <p:tgtEl>
                                          <p:spTgt spid="9"/>
                                        </p:tgtEl>
                                        <p:attrNameLst>
                                          <p:attrName>ppt_x</p:attrName>
                                        </p:attrNameLst>
                                      </p:cBhvr>
                                      <p:tavLst>
                                        <p:tav tm="0">
                                          <p:val>
                                            <p:strVal val="#ppt_x"/>
                                          </p:val>
                                        </p:tav>
                                        <p:tav tm="100000">
                                          <p:val>
                                            <p:strVal val="#ppt_x"/>
                                          </p:val>
                                        </p:tav>
                                      </p:tavLst>
                                    </p:anim>
                                    <p:anim calcmode="lin" valueType="num">
                                      <p:cBhvr additive="base">
                                        <p:cTn id="52" dur="500" fill="hold"/>
                                        <p:tgtEl>
                                          <p:spTgt spid="9"/>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69651"/>
                                        </p:tgtEl>
                                        <p:attrNameLst>
                                          <p:attrName>style.visibility</p:attrName>
                                        </p:attrNameLst>
                                      </p:cBhvr>
                                      <p:to>
                                        <p:strVal val="visible"/>
                                      </p:to>
                                    </p:set>
                                    <p:anim calcmode="lin" valueType="num">
                                      <p:cBhvr additive="base">
                                        <p:cTn id="55" dur="500" fill="hold"/>
                                        <p:tgtEl>
                                          <p:spTgt spid="69651"/>
                                        </p:tgtEl>
                                        <p:attrNameLst>
                                          <p:attrName>ppt_x</p:attrName>
                                        </p:attrNameLst>
                                      </p:cBhvr>
                                      <p:tavLst>
                                        <p:tav tm="0">
                                          <p:val>
                                            <p:strVal val="#ppt_x"/>
                                          </p:val>
                                        </p:tav>
                                        <p:tav tm="100000">
                                          <p:val>
                                            <p:strVal val="#ppt_x"/>
                                          </p:val>
                                        </p:tav>
                                      </p:tavLst>
                                    </p:anim>
                                    <p:anim calcmode="lin" valueType="num">
                                      <p:cBhvr additive="base">
                                        <p:cTn id="56" dur="500" fill="hold"/>
                                        <p:tgtEl>
                                          <p:spTgt spid="6965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16774"/>
                                        </p:tgtEl>
                                        <p:attrNameLst>
                                          <p:attrName>style.visibility</p:attrName>
                                        </p:attrNameLst>
                                      </p:cBhvr>
                                      <p:to>
                                        <p:strVal val="visible"/>
                                      </p:to>
                                    </p:set>
                                    <p:anim calcmode="lin" valueType="num">
                                      <p:cBhvr additive="base">
                                        <p:cTn id="61" dur="500" fill="hold"/>
                                        <p:tgtEl>
                                          <p:spTgt spid="116774"/>
                                        </p:tgtEl>
                                        <p:attrNameLst>
                                          <p:attrName>ppt_x</p:attrName>
                                        </p:attrNameLst>
                                      </p:cBhvr>
                                      <p:tavLst>
                                        <p:tav tm="0">
                                          <p:val>
                                            <p:strVal val="#ppt_x"/>
                                          </p:val>
                                        </p:tav>
                                        <p:tav tm="100000">
                                          <p:val>
                                            <p:strVal val="#ppt_x"/>
                                          </p:val>
                                        </p:tav>
                                      </p:tavLst>
                                    </p:anim>
                                    <p:anim calcmode="lin" valueType="num">
                                      <p:cBhvr additive="base">
                                        <p:cTn id="62" dur="500" fill="hold"/>
                                        <p:tgtEl>
                                          <p:spTgt spid="1167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3" grpId="0"/>
      <p:bldP spid="116764" grpId="0"/>
      <p:bldP spid="116767" grpId="0" animBg="1"/>
      <p:bldP spid="116768" grpId="0"/>
      <p:bldP spid="116770" grpId="0"/>
      <p:bldP spid="116771" grpId="0" bldLvl="0" animBg="1"/>
      <p:bldP spid="116774"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4819"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428625" y="214313"/>
            <a:ext cx="8715375"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pic>
        <p:nvPicPr>
          <p:cNvPr id="34821" name="Picture 34" descr="rewind1">
            <a:hlinkClick r:id="rId1" action="ppaction://hlinksldjump"/>
          </p:cNvPr>
          <p:cNvPicPr>
            <a:picLocks noChangeAspect="1"/>
          </p:cNvPicPr>
          <p:nvPr/>
        </p:nvPicPr>
        <p:blipFill>
          <a:blip r:embed="rId2"/>
          <a:stretch>
            <a:fillRect/>
          </a:stretch>
        </p:blipFill>
        <p:spPr>
          <a:xfrm>
            <a:off x="8355013" y="6523038"/>
            <a:ext cx="287337" cy="287337"/>
          </a:xfrm>
          <a:prstGeom prst="rect">
            <a:avLst/>
          </a:prstGeom>
          <a:noFill/>
          <a:ln w="9525">
            <a:noFill/>
          </a:ln>
        </p:spPr>
      </p:pic>
      <p:pic>
        <p:nvPicPr>
          <p:cNvPr id="34822" name="Picture 35" descr="back1">
            <a:hlinkClick r:id="" action="ppaction://hlinkshowjump?jump=previousslide"/>
          </p:cNvPr>
          <p:cNvPicPr>
            <a:picLocks noChangeAspect="1"/>
          </p:cNvPicPr>
          <p:nvPr/>
        </p:nvPicPr>
        <p:blipFill>
          <a:blip r:embed="rId3"/>
          <a:stretch>
            <a:fillRect/>
          </a:stretch>
        </p:blipFill>
        <p:spPr>
          <a:xfrm>
            <a:off x="8763000" y="6523038"/>
            <a:ext cx="287338" cy="287337"/>
          </a:xfrm>
          <a:prstGeom prst="rect">
            <a:avLst/>
          </a:prstGeom>
          <a:noFill/>
          <a:ln w="9525">
            <a:noFill/>
          </a:ln>
        </p:spPr>
      </p:pic>
      <p:sp>
        <p:nvSpPr>
          <p:cNvPr id="116766" name="文本框 116765"/>
          <p:cNvSpPr txBox="1"/>
          <p:nvPr/>
        </p:nvSpPr>
        <p:spPr>
          <a:xfrm>
            <a:off x="395536" y="980728"/>
            <a:ext cx="2736304" cy="430887"/>
          </a:xfrm>
          <a:prstGeom prst="rect">
            <a:avLst/>
          </a:prstGeom>
          <a:solidFill>
            <a:srgbClr val="FFFF00"/>
          </a:solidFill>
          <a:ln w="9525">
            <a:noFill/>
          </a:ln>
        </p:spPr>
        <p:txBody>
          <a:bodyPr wrap="square">
            <a:spAutoFit/>
          </a:bodyPr>
          <a:lstStyle/>
          <a:p>
            <a:r>
              <a:rPr lang="en-US" altLang="zh-CN" dirty="0">
                <a:solidFill>
                  <a:srgbClr val="002060"/>
                </a:solidFill>
                <a:latin typeface="华文中宋" panose="02010600040101010101" pitchFamily="2" charset="-122"/>
              </a:rPr>
              <a:t>3</a:t>
            </a:r>
            <a:r>
              <a:rPr lang="zh-CN" altLang="en-US" dirty="0">
                <a:solidFill>
                  <a:srgbClr val="002060"/>
                </a:solidFill>
                <a:latin typeface="华文中宋" panose="02010600040101010101" pitchFamily="2" charset="-122"/>
              </a:rPr>
              <a:t>、稳定性计算</a:t>
            </a:r>
            <a:endParaRPr lang="zh-CN" altLang="en-US" dirty="0">
              <a:solidFill>
                <a:srgbClr val="002060"/>
              </a:solidFill>
              <a:latin typeface="华文中宋" panose="02010600040101010101" pitchFamily="2" charset="-122"/>
            </a:endParaRPr>
          </a:p>
        </p:txBody>
      </p:sp>
      <p:sp>
        <p:nvSpPr>
          <p:cNvPr id="71690" name="文本框 9"/>
          <p:cNvSpPr txBox="1"/>
          <p:nvPr/>
        </p:nvSpPr>
        <p:spPr>
          <a:xfrm>
            <a:off x="395536" y="1772434"/>
            <a:ext cx="8424936" cy="1311128"/>
          </a:xfrm>
          <a:prstGeom prst="rect">
            <a:avLst/>
          </a:prstGeom>
          <a:noFill/>
          <a:ln w="9525">
            <a:noFill/>
          </a:ln>
        </p:spPr>
        <p:txBody>
          <a:bodyPr wrap="square">
            <a:spAutoFit/>
          </a:bodyPr>
          <a:lstStyle/>
          <a:p>
            <a:pPr indent="319405">
              <a:lnSpc>
                <a:spcPct val="120000"/>
              </a:lnSpc>
            </a:pPr>
            <a:r>
              <a:rPr lang="en-US" altLang="zh-CN" sz="2000" dirty="0">
                <a:solidFill>
                  <a:srgbClr val="000099"/>
                </a:solidFill>
                <a:latin typeface="Times New Roman" panose="02020603050405020304" pitchFamily="18" charset="0"/>
              </a:rPr>
              <a:t>  </a:t>
            </a:r>
            <a:r>
              <a:rPr lang="zh-CN" altLang="en-US" dirty="0">
                <a:solidFill>
                  <a:srgbClr val="000099"/>
                </a:solidFill>
                <a:latin typeface="Times New Roman" panose="02020603050405020304" pitchFamily="18" charset="0"/>
              </a:rPr>
              <a:t>对于圈数较多的压缩弹簧，当</a:t>
            </a:r>
            <a:r>
              <a:rPr lang="zh-CN" altLang="en-US" dirty="0">
                <a:solidFill>
                  <a:srgbClr val="C00000"/>
                </a:solidFill>
                <a:latin typeface="Times New Roman" panose="02020603050405020304" pitchFamily="18" charset="0"/>
              </a:rPr>
              <a:t>细长比</a:t>
            </a:r>
            <a:r>
              <a:rPr lang="en-US" altLang="zh-CN" dirty="0">
                <a:solidFill>
                  <a:srgbClr val="C00000"/>
                </a:solidFill>
                <a:latin typeface="Times New Roman" panose="02020603050405020304" pitchFamily="18" charset="0"/>
              </a:rPr>
              <a:t>b=H</a:t>
            </a:r>
            <a:r>
              <a:rPr lang="en-US" altLang="zh-CN" baseline="-25000" dirty="0">
                <a:solidFill>
                  <a:srgbClr val="C00000"/>
                </a:solidFill>
                <a:latin typeface="Times New Roman" panose="02020603050405020304" pitchFamily="18" charset="0"/>
              </a:rPr>
              <a:t>0</a:t>
            </a:r>
            <a:r>
              <a:rPr lang="en-US" altLang="zh-CN" dirty="0">
                <a:solidFill>
                  <a:srgbClr val="C00000"/>
                </a:solidFill>
                <a:latin typeface="Times New Roman" panose="02020603050405020304" pitchFamily="18" charset="0"/>
              </a:rPr>
              <a:t>/D</a:t>
            </a:r>
            <a:r>
              <a:rPr lang="zh-CN" altLang="en-US" dirty="0">
                <a:solidFill>
                  <a:srgbClr val="000099"/>
                </a:solidFill>
                <a:latin typeface="Times New Roman" panose="02020603050405020304" pitchFamily="18" charset="0"/>
              </a:rPr>
              <a:t>较大，且</a:t>
            </a:r>
            <a:r>
              <a:rPr lang="zh-CN" altLang="en-US" dirty="0">
                <a:solidFill>
                  <a:srgbClr val="C00000"/>
                </a:solidFill>
                <a:latin typeface="Times New Roman" panose="02020603050405020304" pitchFamily="18" charset="0"/>
              </a:rPr>
              <a:t>载荷</a:t>
            </a:r>
            <a:r>
              <a:rPr lang="en-US" altLang="zh-CN" i="1" dirty="0">
                <a:solidFill>
                  <a:srgbClr val="C00000"/>
                </a:solidFill>
                <a:latin typeface="Times New Roman" panose="02020603050405020304" pitchFamily="18" charset="0"/>
              </a:rPr>
              <a:t>F</a:t>
            </a:r>
            <a:r>
              <a:rPr lang="zh-CN" altLang="en-US" dirty="0">
                <a:solidFill>
                  <a:srgbClr val="000099"/>
                </a:solidFill>
                <a:latin typeface="Times New Roman" panose="02020603050405020304" pitchFamily="18" charset="0"/>
              </a:rPr>
              <a:t>又达到一定值时，弹簧就会发生侧向弯曲而丧失稳定性，为此应检验其稳定性指标。</a:t>
            </a:r>
            <a:endParaRPr lang="zh-CN" altLang="en-US" dirty="0">
              <a:solidFill>
                <a:srgbClr val="000099"/>
              </a:solidFill>
              <a:latin typeface="Times New Roman" panose="02020603050405020304" pitchFamily="18" charset="0"/>
              <a:ea typeface="Times New Roman" panose="02020603050405020304" pitchFamily="18" charset="0"/>
            </a:endParaRPr>
          </a:p>
        </p:txBody>
      </p:sp>
      <p:sp>
        <p:nvSpPr>
          <p:cNvPr id="71691" name="文本框 10"/>
          <p:cNvSpPr txBox="1"/>
          <p:nvPr/>
        </p:nvSpPr>
        <p:spPr>
          <a:xfrm>
            <a:off x="324163" y="3155826"/>
            <a:ext cx="8352928" cy="2063514"/>
          </a:xfrm>
          <a:prstGeom prst="rect">
            <a:avLst/>
          </a:prstGeom>
          <a:noFill/>
          <a:ln w="9525">
            <a:noFill/>
          </a:ln>
        </p:spPr>
        <p:txBody>
          <a:bodyPr wrap="square">
            <a:spAutoFit/>
          </a:bodyPr>
          <a:lstStyle/>
          <a:p>
            <a:pPr indent="319405">
              <a:lnSpc>
                <a:spcPct val="150000"/>
              </a:lnSpc>
            </a:pPr>
            <a:r>
              <a:rPr lang="en-US" altLang="zh-CN" sz="2000" dirty="0">
                <a:solidFill>
                  <a:srgbClr val="000099"/>
                </a:solidFill>
                <a:latin typeface="Times New Roman" panose="02020603050405020304" pitchFamily="18" charset="0"/>
                <a:ea typeface="Times New Roman" panose="02020603050405020304" pitchFamily="18" charset="0"/>
              </a:rPr>
              <a:t>·</a:t>
            </a:r>
            <a:r>
              <a:rPr lang="zh-CN" altLang="en-US" dirty="0">
                <a:solidFill>
                  <a:srgbClr val="000099"/>
                </a:solidFill>
                <a:latin typeface="Times New Roman" panose="02020603050405020304" pitchFamily="18" charset="0"/>
              </a:rPr>
              <a:t>当两端固定时，取</a:t>
            </a:r>
            <a:r>
              <a:rPr lang="en-US" altLang="zh-CN" i="1" dirty="0">
                <a:solidFill>
                  <a:srgbClr val="000099"/>
                </a:solidFill>
                <a:latin typeface="Times New Roman" panose="02020603050405020304" pitchFamily="18" charset="0"/>
              </a:rPr>
              <a:t>b≤</a:t>
            </a:r>
            <a:r>
              <a:rPr lang="en-US" altLang="zh-CN" dirty="0">
                <a:solidFill>
                  <a:srgbClr val="000099"/>
                </a:solidFill>
                <a:latin typeface="Times New Roman" panose="02020603050405020304" pitchFamily="18" charset="0"/>
              </a:rPr>
              <a:t>5.3</a:t>
            </a:r>
            <a:r>
              <a:rPr lang="zh-CN" altLang="en-US" dirty="0">
                <a:solidFill>
                  <a:srgbClr val="000099"/>
                </a:solidFill>
                <a:latin typeface="Times New Roman" panose="02020603050405020304" pitchFamily="18" charset="0"/>
              </a:rPr>
              <a:t>；</a:t>
            </a:r>
            <a:endParaRPr lang="zh-CN" altLang="en-US" dirty="0">
              <a:solidFill>
                <a:srgbClr val="000099"/>
              </a:solidFill>
              <a:latin typeface="Times New Roman" panose="02020603050405020304" pitchFamily="18" charset="0"/>
            </a:endParaRPr>
          </a:p>
          <a:p>
            <a:pPr indent="319405">
              <a:lnSpc>
                <a:spcPct val="150000"/>
              </a:lnSpc>
            </a:pPr>
            <a:r>
              <a:rPr lang="en-US" altLang="zh-CN" dirty="0">
                <a:solidFill>
                  <a:srgbClr val="000099"/>
                </a:solidFill>
                <a:latin typeface="Times New Roman" panose="02020603050405020304" pitchFamily="18" charset="0"/>
                <a:ea typeface="Times New Roman" panose="02020603050405020304" pitchFamily="18" charset="0"/>
              </a:rPr>
              <a:t>·</a:t>
            </a:r>
            <a:r>
              <a:rPr lang="zh-CN" altLang="en-US" dirty="0">
                <a:solidFill>
                  <a:srgbClr val="000099"/>
                </a:solidFill>
                <a:latin typeface="Times New Roman" panose="02020603050405020304" pitchFamily="18" charset="0"/>
              </a:rPr>
              <a:t>当一端固定，一端自由转动时，取</a:t>
            </a:r>
            <a:r>
              <a:rPr lang="en-US" altLang="zh-CN" i="1" dirty="0">
                <a:solidFill>
                  <a:srgbClr val="000099"/>
                </a:solidFill>
                <a:latin typeface="Times New Roman" panose="02020603050405020304" pitchFamily="18" charset="0"/>
              </a:rPr>
              <a:t>b≤</a:t>
            </a:r>
            <a:r>
              <a:rPr lang="en-US" altLang="zh-CN" dirty="0">
                <a:solidFill>
                  <a:srgbClr val="000099"/>
                </a:solidFill>
                <a:latin typeface="Times New Roman" panose="02020603050405020304" pitchFamily="18" charset="0"/>
              </a:rPr>
              <a:t>3.7</a:t>
            </a:r>
            <a:r>
              <a:rPr lang="zh-CN" altLang="en-US" dirty="0">
                <a:solidFill>
                  <a:srgbClr val="000099"/>
                </a:solidFill>
                <a:latin typeface="Times New Roman" panose="02020603050405020304" pitchFamily="18" charset="0"/>
              </a:rPr>
              <a:t>；</a:t>
            </a:r>
            <a:endParaRPr lang="zh-CN" altLang="en-US" dirty="0">
              <a:solidFill>
                <a:srgbClr val="000099"/>
              </a:solidFill>
              <a:latin typeface="Times New Roman" panose="02020603050405020304" pitchFamily="18" charset="0"/>
            </a:endParaRPr>
          </a:p>
          <a:p>
            <a:pPr indent="319405">
              <a:lnSpc>
                <a:spcPct val="150000"/>
              </a:lnSpc>
            </a:pPr>
            <a:r>
              <a:rPr lang="en-US" altLang="zh-CN" dirty="0">
                <a:solidFill>
                  <a:srgbClr val="000099"/>
                </a:solidFill>
                <a:latin typeface="Times New Roman" panose="02020603050405020304" pitchFamily="18" charset="0"/>
                <a:ea typeface="Times New Roman" panose="02020603050405020304" pitchFamily="18" charset="0"/>
              </a:rPr>
              <a:t>·</a:t>
            </a:r>
            <a:r>
              <a:rPr lang="zh-CN" altLang="en-US" dirty="0">
                <a:solidFill>
                  <a:srgbClr val="000099"/>
                </a:solidFill>
                <a:latin typeface="Times New Roman" panose="02020603050405020304" pitchFamily="18" charset="0"/>
              </a:rPr>
              <a:t>当两端自由转动时，取</a:t>
            </a:r>
            <a:r>
              <a:rPr lang="en-US" altLang="zh-CN" i="1" dirty="0">
                <a:solidFill>
                  <a:srgbClr val="000099"/>
                </a:solidFill>
                <a:latin typeface="Times New Roman" panose="02020603050405020304" pitchFamily="18" charset="0"/>
              </a:rPr>
              <a:t>b≤</a:t>
            </a:r>
            <a:r>
              <a:rPr lang="en-US" altLang="zh-CN" dirty="0">
                <a:solidFill>
                  <a:srgbClr val="000099"/>
                </a:solidFill>
                <a:latin typeface="Times New Roman" panose="02020603050405020304" pitchFamily="18" charset="0"/>
              </a:rPr>
              <a:t>2.6</a:t>
            </a:r>
            <a:r>
              <a:rPr lang="zh-CN" altLang="en-US" dirty="0">
                <a:solidFill>
                  <a:srgbClr val="000099"/>
                </a:solidFill>
                <a:latin typeface="Times New Roman" panose="02020603050405020304" pitchFamily="18" charset="0"/>
              </a:rPr>
              <a:t>。</a:t>
            </a:r>
            <a:endParaRPr lang="zh-CN" altLang="en-US" dirty="0">
              <a:solidFill>
                <a:srgbClr val="000099"/>
              </a:solidFill>
              <a:latin typeface="Times New Roman" panose="02020603050405020304" pitchFamily="18" charset="0"/>
            </a:endParaRPr>
          </a:p>
          <a:p>
            <a:pPr indent="319405">
              <a:lnSpc>
                <a:spcPct val="150000"/>
              </a:lnSpc>
            </a:pPr>
            <a:r>
              <a:rPr lang="en-US" altLang="zh-CN" dirty="0">
                <a:solidFill>
                  <a:srgbClr val="000099"/>
                </a:solidFill>
                <a:latin typeface="Times New Roman" panose="02020603050405020304" pitchFamily="18" charset="0"/>
                <a:ea typeface="Times New Roman" panose="02020603050405020304" pitchFamily="18" charset="0"/>
              </a:rPr>
              <a:t>·</a:t>
            </a:r>
            <a:r>
              <a:rPr lang="zh-CN" altLang="en-US" dirty="0">
                <a:solidFill>
                  <a:srgbClr val="000099"/>
                </a:solidFill>
                <a:latin typeface="Times New Roman" panose="02020603050405020304" pitchFamily="18" charset="0"/>
              </a:rPr>
              <a:t>如果</a:t>
            </a:r>
            <a:r>
              <a:rPr lang="en-US" altLang="zh-CN" i="1" dirty="0">
                <a:solidFill>
                  <a:srgbClr val="000099"/>
                </a:solidFill>
                <a:latin typeface="Times New Roman" panose="02020603050405020304" pitchFamily="18" charset="0"/>
              </a:rPr>
              <a:t>b</a:t>
            </a:r>
            <a:r>
              <a:rPr lang="zh-CN" altLang="en-US" dirty="0">
                <a:solidFill>
                  <a:srgbClr val="000099"/>
                </a:solidFill>
                <a:latin typeface="Times New Roman" panose="02020603050405020304" pitchFamily="18" charset="0"/>
              </a:rPr>
              <a:t>超过规定范围，则应设置导杆或导套以保持弹簧的稳定性。</a:t>
            </a:r>
            <a:endParaRPr lang="zh-CN" altLang="en-US" dirty="0">
              <a:solidFill>
                <a:srgbClr val="000099"/>
              </a:solidFill>
              <a:latin typeface="Times New Roman" panose="02020603050405020304" pitchFamily="18" charset="0"/>
              <a:ea typeface="Times New Roman" panose="02020603050405020304" pitchFamily="18" charset="0"/>
            </a:endParaRPr>
          </a:p>
        </p:txBody>
      </p:sp>
      <p:sp>
        <p:nvSpPr>
          <p:cNvPr id="3483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6766"/>
                                        </p:tgtEl>
                                        <p:attrNameLst>
                                          <p:attrName>style.visibility</p:attrName>
                                        </p:attrNameLst>
                                      </p:cBhvr>
                                      <p:to>
                                        <p:strVal val="visible"/>
                                      </p:to>
                                    </p:set>
                                    <p:anim calcmode="lin" valueType="num">
                                      <p:cBhvr additive="base">
                                        <p:cTn id="7" dur="500" fill="hold"/>
                                        <p:tgtEl>
                                          <p:spTgt spid="116766"/>
                                        </p:tgtEl>
                                        <p:attrNameLst>
                                          <p:attrName>ppt_x</p:attrName>
                                        </p:attrNameLst>
                                      </p:cBhvr>
                                      <p:tavLst>
                                        <p:tav tm="0">
                                          <p:val>
                                            <p:strVal val="#ppt_x"/>
                                          </p:val>
                                        </p:tav>
                                        <p:tav tm="100000">
                                          <p:val>
                                            <p:strVal val="#ppt_x"/>
                                          </p:val>
                                        </p:tav>
                                      </p:tavLst>
                                    </p:anim>
                                    <p:anim calcmode="lin" valueType="num">
                                      <p:cBhvr additive="base">
                                        <p:cTn id="8" dur="500" fill="hold"/>
                                        <p:tgtEl>
                                          <p:spTgt spid="1167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690"/>
                                        </p:tgtEl>
                                        <p:attrNameLst>
                                          <p:attrName>style.visibility</p:attrName>
                                        </p:attrNameLst>
                                      </p:cBhvr>
                                      <p:to>
                                        <p:strVal val="visible"/>
                                      </p:to>
                                    </p:set>
                                    <p:anim calcmode="lin" valueType="num">
                                      <p:cBhvr additive="base">
                                        <p:cTn id="13" dur="500" fill="hold"/>
                                        <p:tgtEl>
                                          <p:spTgt spid="71690"/>
                                        </p:tgtEl>
                                        <p:attrNameLst>
                                          <p:attrName>ppt_x</p:attrName>
                                        </p:attrNameLst>
                                      </p:cBhvr>
                                      <p:tavLst>
                                        <p:tav tm="0">
                                          <p:val>
                                            <p:strVal val="#ppt_x"/>
                                          </p:val>
                                        </p:tav>
                                        <p:tav tm="100000">
                                          <p:val>
                                            <p:strVal val="#ppt_x"/>
                                          </p:val>
                                        </p:tav>
                                      </p:tavLst>
                                    </p:anim>
                                    <p:anim calcmode="lin" valueType="num">
                                      <p:cBhvr additive="base">
                                        <p:cTn id="14" dur="500" fill="hold"/>
                                        <p:tgtEl>
                                          <p:spTgt spid="7169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691"/>
                                        </p:tgtEl>
                                        <p:attrNameLst>
                                          <p:attrName>style.visibility</p:attrName>
                                        </p:attrNameLst>
                                      </p:cBhvr>
                                      <p:to>
                                        <p:strVal val="visible"/>
                                      </p:to>
                                    </p:set>
                                    <p:anim calcmode="lin" valueType="num">
                                      <p:cBhvr additive="base">
                                        <p:cTn id="19" dur="500" fill="hold"/>
                                        <p:tgtEl>
                                          <p:spTgt spid="71691"/>
                                        </p:tgtEl>
                                        <p:attrNameLst>
                                          <p:attrName>ppt_x</p:attrName>
                                        </p:attrNameLst>
                                      </p:cBhvr>
                                      <p:tavLst>
                                        <p:tav tm="0">
                                          <p:val>
                                            <p:strVal val="#ppt_x"/>
                                          </p:val>
                                        </p:tav>
                                        <p:tav tm="100000">
                                          <p:val>
                                            <p:strVal val="#ppt_x"/>
                                          </p:val>
                                        </p:tav>
                                      </p:tavLst>
                                    </p:anim>
                                    <p:anim calcmode="lin" valueType="num">
                                      <p:cBhvr additive="base">
                                        <p:cTn id="20" dur="500" fill="hold"/>
                                        <p:tgtEl>
                                          <p:spTgt spid="716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66" grpId="0" animBg="1"/>
      <p:bldP spid="71690" grpId="0"/>
      <p:bldP spid="7169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4819" name="Rectangle 8"/>
          <p:cNvSpPr/>
          <p:nvPr/>
        </p:nvSpPr>
        <p:spPr>
          <a:xfrm>
            <a:off x="0" y="0"/>
            <a:ext cx="9144000" cy="0"/>
          </a:xfrm>
          <a:prstGeom prst="rect">
            <a:avLst/>
          </a:prstGeom>
          <a:noFill/>
          <a:ln w="9525">
            <a:noFill/>
          </a:ln>
        </p:spPr>
        <p:txBody>
          <a:bodyPr wrap="none" lIns="90000" tIns="46800" rIns="90000" bIns="46800" anchor="ctr">
            <a:spAutoFit/>
          </a:bodyPr>
          <a:lstStyle/>
          <a:p>
            <a:endParaRPr lang="zh-CN" altLang="en-US" dirty="0">
              <a:latin typeface="Tahoma" panose="020B0604030504040204" pitchFamily="34" charset="0"/>
            </a:endParaRPr>
          </a:p>
        </p:txBody>
      </p:sp>
      <p:sp>
        <p:nvSpPr>
          <p:cNvPr id="3" name="Rectangle 2"/>
          <p:cNvSpPr>
            <a:spLocks noGrp="1" noChangeArrowheads="1"/>
          </p:cNvSpPr>
          <p:nvPr>
            <p:ph type="title"/>
          </p:nvPr>
        </p:nvSpPr>
        <p:spPr bwMode="auto">
          <a:xfrm>
            <a:off x="539750" y="188278"/>
            <a:ext cx="8715375"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pic>
        <p:nvPicPr>
          <p:cNvPr id="34821" name="Picture 34" descr="rewind1">
            <a:hlinkClick r:id="rId1" action="ppaction://hlinksldjump"/>
          </p:cNvPr>
          <p:cNvPicPr>
            <a:picLocks noChangeAspect="1"/>
          </p:cNvPicPr>
          <p:nvPr/>
        </p:nvPicPr>
        <p:blipFill>
          <a:blip r:embed="rId2"/>
          <a:stretch>
            <a:fillRect/>
          </a:stretch>
        </p:blipFill>
        <p:spPr>
          <a:xfrm>
            <a:off x="8355013" y="6523038"/>
            <a:ext cx="287337" cy="287337"/>
          </a:xfrm>
          <a:prstGeom prst="rect">
            <a:avLst/>
          </a:prstGeom>
          <a:noFill/>
          <a:ln w="9525">
            <a:noFill/>
          </a:ln>
        </p:spPr>
      </p:pic>
      <p:pic>
        <p:nvPicPr>
          <p:cNvPr id="34822" name="Picture 35" descr="back1">
            <a:hlinkClick r:id="" action="ppaction://hlinkshowjump?jump=previousslide"/>
          </p:cNvPr>
          <p:cNvPicPr>
            <a:picLocks noChangeAspect="1"/>
          </p:cNvPicPr>
          <p:nvPr/>
        </p:nvPicPr>
        <p:blipFill>
          <a:blip r:embed="rId3"/>
          <a:stretch>
            <a:fillRect/>
          </a:stretch>
        </p:blipFill>
        <p:spPr>
          <a:xfrm>
            <a:off x="8763000" y="6523038"/>
            <a:ext cx="287338" cy="287337"/>
          </a:xfrm>
          <a:prstGeom prst="rect">
            <a:avLst/>
          </a:prstGeom>
          <a:noFill/>
          <a:ln w="9525">
            <a:noFill/>
          </a:ln>
        </p:spPr>
      </p:pic>
      <p:sp>
        <p:nvSpPr>
          <p:cNvPr id="8" name="文本框 7"/>
          <p:cNvSpPr txBox="1"/>
          <p:nvPr/>
        </p:nvSpPr>
        <p:spPr>
          <a:xfrm>
            <a:off x="395536" y="980728"/>
            <a:ext cx="3576638" cy="430887"/>
          </a:xfrm>
          <a:prstGeom prst="rect">
            <a:avLst/>
          </a:prstGeom>
          <a:solidFill>
            <a:srgbClr val="FFFF00"/>
          </a:solidFill>
          <a:ln w="9525">
            <a:noFill/>
          </a:ln>
        </p:spPr>
        <p:txBody>
          <a:bodyPr>
            <a:spAutoFit/>
          </a:bodyPr>
          <a:lstStyle/>
          <a:p>
            <a:r>
              <a:rPr lang="en-US" altLang="zh-CN" dirty="0">
                <a:solidFill>
                  <a:srgbClr val="002060"/>
                </a:solidFill>
                <a:latin typeface="华文中宋" panose="02010600040101010101" pitchFamily="2" charset="-122"/>
              </a:rPr>
              <a:t>4</a:t>
            </a:r>
            <a:r>
              <a:rPr lang="zh-CN" altLang="en-US" dirty="0">
                <a:solidFill>
                  <a:srgbClr val="002060"/>
                </a:solidFill>
                <a:latin typeface="华文中宋" panose="02010600040101010101" pitchFamily="2" charset="-122"/>
              </a:rPr>
              <a:t>、设计步骤及实例</a:t>
            </a:r>
            <a:endParaRPr lang="zh-CN" altLang="en-US" dirty="0">
              <a:solidFill>
                <a:srgbClr val="002060"/>
              </a:solidFill>
              <a:latin typeface="华文中宋" panose="02010600040101010101" pitchFamily="2" charset="-122"/>
            </a:endParaRPr>
          </a:p>
        </p:txBody>
      </p:sp>
      <p:sp>
        <p:nvSpPr>
          <p:cNvPr id="12" name="文本框 11"/>
          <p:cNvSpPr txBox="1"/>
          <p:nvPr/>
        </p:nvSpPr>
        <p:spPr>
          <a:xfrm>
            <a:off x="611505" y="2277110"/>
            <a:ext cx="7463155" cy="462915"/>
          </a:xfrm>
          <a:prstGeom prst="rect">
            <a:avLst/>
          </a:prstGeom>
          <a:noFill/>
          <a:ln w="9525">
            <a:noFill/>
          </a:ln>
        </p:spPr>
        <p:txBody>
          <a:bodyPr wrap="square">
            <a:spAutoFit/>
          </a:bodyPr>
          <a:lstStyle/>
          <a:p>
            <a:pPr>
              <a:lnSpc>
                <a:spcPct val="110000"/>
              </a:lnSpc>
            </a:pPr>
            <a:r>
              <a:rPr lang="en-US" altLang="zh-CN" dirty="0">
                <a:solidFill>
                  <a:srgbClr val="002060"/>
                </a:solidFill>
                <a:latin typeface="Times New Roman" panose="02020603050405020304" pitchFamily="18" charset="0"/>
              </a:rPr>
              <a:t>2)  </a:t>
            </a:r>
            <a:r>
              <a:rPr lang="zh-CN" altLang="en-US" dirty="0" smtClean="0">
                <a:solidFill>
                  <a:srgbClr val="002060"/>
                </a:solidFill>
                <a:latin typeface="Times New Roman" panose="02020603050405020304" pitchFamily="18" charset="0"/>
              </a:rPr>
              <a:t>选定</a:t>
            </a:r>
            <a:r>
              <a:rPr lang="zh-CN" altLang="en-US" dirty="0">
                <a:solidFill>
                  <a:srgbClr val="FF0000"/>
                </a:solidFill>
                <a:latin typeface="Times New Roman" panose="02020603050405020304" pitchFamily="18" charset="0"/>
              </a:rPr>
              <a:t>旋绕比（弹簧指数）</a:t>
            </a:r>
            <a:r>
              <a:rPr lang="en-US" altLang="zh-CN" i="1" dirty="0" smtClean="0">
                <a:solidFill>
                  <a:srgbClr val="FF0000"/>
                </a:solidFill>
                <a:latin typeface="Times New Roman" panose="02020603050405020304" pitchFamily="18" charset="0"/>
              </a:rPr>
              <a:t>C</a:t>
            </a:r>
            <a:r>
              <a:rPr lang="zh-CN" altLang="en-US" dirty="0">
                <a:solidFill>
                  <a:srgbClr val="002060"/>
                </a:solidFill>
                <a:latin typeface="Times New Roman" panose="02020603050405020304" pitchFamily="18" charset="0"/>
              </a:rPr>
              <a:t>，并算</a:t>
            </a:r>
            <a:r>
              <a:rPr lang="zh-CN" altLang="en-US" dirty="0" smtClean="0">
                <a:solidFill>
                  <a:srgbClr val="002060"/>
                </a:solidFill>
                <a:latin typeface="Times New Roman" panose="02020603050405020304" pitchFamily="18" charset="0"/>
              </a:rPr>
              <a:t>出弹簧</a:t>
            </a:r>
            <a:r>
              <a:rPr lang="zh-CN" altLang="en-US" dirty="0">
                <a:solidFill>
                  <a:srgbClr val="002060"/>
                </a:solidFill>
                <a:latin typeface="Times New Roman" panose="02020603050405020304" pitchFamily="18" charset="0"/>
              </a:rPr>
              <a:t>曲度</a:t>
            </a:r>
            <a:r>
              <a:rPr lang="zh-CN" altLang="en-US" dirty="0" smtClean="0">
                <a:solidFill>
                  <a:srgbClr val="002060"/>
                </a:solidFill>
                <a:latin typeface="Times New Roman" panose="02020603050405020304" pitchFamily="18" charset="0"/>
              </a:rPr>
              <a:t>系数</a:t>
            </a:r>
            <a:r>
              <a:rPr lang="en-US" altLang="zh-CN" i="1" dirty="0">
                <a:solidFill>
                  <a:srgbClr val="002060"/>
                </a:solidFill>
                <a:latin typeface="Times New Roman" panose="02020603050405020304" pitchFamily="18" charset="0"/>
              </a:rPr>
              <a:t>K</a:t>
            </a:r>
            <a:r>
              <a:rPr lang="zh-CN" altLang="en-US" dirty="0">
                <a:solidFill>
                  <a:srgbClr val="002060"/>
                </a:solidFill>
                <a:latin typeface="Times New Roman" panose="02020603050405020304" pitchFamily="18" charset="0"/>
              </a:rPr>
              <a:t>；</a:t>
            </a:r>
            <a:endParaRPr lang="zh-CN" altLang="en-US" dirty="0">
              <a:solidFill>
                <a:srgbClr val="002060"/>
              </a:solidFill>
              <a:latin typeface="Times New Roman" panose="02020603050405020304" pitchFamily="18" charset="0"/>
            </a:endParaRPr>
          </a:p>
        </p:txBody>
      </p:sp>
      <p:sp>
        <p:nvSpPr>
          <p:cNvPr id="13" name="文本框 12"/>
          <p:cNvSpPr txBox="1"/>
          <p:nvPr/>
        </p:nvSpPr>
        <p:spPr>
          <a:xfrm>
            <a:off x="611560" y="2780928"/>
            <a:ext cx="7848872" cy="462915"/>
          </a:xfrm>
          <a:prstGeom prst="rect">
            <a:avLst/>
          </a:prstGeom>
          <a:noFill/>
          <a:ln w="9525">
            <a:noFill/>
          </a:ln>
        </p:spPr>
        <p:txBody>
          <a:bodyPr wrap="square">
            <a:spAutoFit/>
          </a:bodyPr>
          <a:lstStyle/>
          <a:p>
            <a:pPr>
              <a:lnSpc>
                <a:spcPct val="110000"/>
              </a:lnSpc>
            </a:pPr>
            <a:r>
              <a:rPr lang="en-US" altLang="zh-CN" dirty="0">
                <a:solidFill>
                  <a:srgbClr val="002060"/>
                </a:solidFill>
                <a:latin typeface="Times New Roman" panose="02020603050405020304" pitchFamily="18" charset="0"/>
              </a:rPr>
              <a:t>3)  </a:t>
            </a:r>
            <a:r>
              <a:rPr lang="zh-CN" altLang="en-US" dirty="0">
                <a:solidFill>
                  <a:srgbClr val="002060"/>
                </a:solidFill>
                <a:latin typeface="Times New Roman" panose="02020603050405020304" pitchFamily="18" charset="0"/>
              </a:rPr>
              <a:t>根据</a:t>
            </a:r>
            <a:r>
              <a:rPr lang="zh-CN" altLang="en-US" dirty="0">
                <a:solidFill>
                  <a:srgbClr val="FF0000"/>
                </a:solidFill>
                <a:latin typeface="Times New Roman" panose="02020603050405020304" pitchFamily="18" charset="0"/>
              </a:rPr>
              <a:t>旋绕比</a:t>
            </a:r>
            <a:r>
              <a:rPr lang="en-US" altLang="zh-CN" i="1" dirty="0">
                <a:solidFill>
                  <a:srgbClr val="FF0000"/>
                </a:solidFill>
                <a:latin typeface="Times New Roman" panose="02020603050405020304" pitchFamily="18" charset="0"/>
              </a:rPr>
              <a:t>C</a:t>
            </a:r>
            <a:r>
              <a:rPr lang="zh-CN" altLang="en-US" i="1" dirty="0">
                <a:solidFill>
                  <a:srgbClr val="002060"/>
                </a:solidFill>
                <a:latin typeface="Times New Roman" panose="02020603050405020304" pitchFamily="18" charset="0"/>
              </a:rPr>
              <a:t>，</a:t>
            </a:r>
            <a:r>
              <a:rPr lang="zh-CN" altLang="en-US" dirty="0">
                <a:solidFill>
                  <a:srgbClr val="002060"/>
                </a:solidFill>
                <a:latin typeface="Times New Roman" panose="02020603050405020304" pitchFamily="18" charset="0"/>
              </a:rPr>
              <a:t>估取线径</a:t>
            </a:r>
            <a:r>
              <a:rPr lang="en-US" altLang="zh-CN" i="1" dirty="0">
                <a:solidFill>
                  <a:srgbClr val="002060"/>
                </a:solidFill>
                <a:latin typeface="Times New Roman" panose="02020603050405020304" pitchFamily="18" charset="0"/>
              </a:rPr>
              <a:t>d</a:t>
            </a:r>
            <a:r>
              <a:rPr lang="en-US" altLang="zh-CN" i="1" baseline="-25000" dirty="0">
                <a:solidFill>
                  <a:srgbClr val="002060"/>
                </a:solidFill>
                <a:latin typeface="Times New Roman" panose="02020603050405020304" pitchFamily="18" charset="0"/>
              </a:rPr>
              <a:t>0</a:t>
            </a:r>
            <a:r>
              <a:rPr lang="zh-CN" altLang="en-US" dirty="0">
                <a:solidFill>
                  <a:srgbClr val="002060"/>
                </a:solidFill>
                <a:latin typeface="Times New Roman" panose="02020603050405020304" pitchFamily="18" charset="0"/>
              </a:rPr>
              <a:t>，并</a:t>
            </a:r>
            <a:r>
              <a:rPr lang="zh-CN" altLang="en-US" dirty="0" smtClean="0">
                <a:solidFill>
                  <a:srgbClr val="002060"/>
                </a:solidFill>
                <a:latin typeface="Times New Roman" panose="02020603050405020304" pitchFamily="18" charset="0"/>
              </a:rPr>
              <a:t>查取</a:t>
            </a:r>
            <a:r>
              <a:rPr lang="zh-CN" altLang="en-US" dirty="0">
                <a:solidFill>
                  <a:srgbClr val="002060"/>
                </a:solidFill>
                <a:latin typeface="Times New Roman" panose="02020603050405020304" pitchFamily="18" charset="0"/>
              </a:rPr>
              <a:t>弹簧丝的许用应力；</a:t>
            </a:r>
            <a:endParaRPr lang="zh-CN" altLang="en-US" dirty="0">
              <a:solidFill>
                <a:srgbClr val="002060"/>
              </a:solidFill>
              <a:latin typeface="Times New Roman" panose="02020603050405020304" pitchFamily="18" charset="0"/>
            </a:endParaRPr>
          </a:p>
        </p:txBody>
      </p:sp>
      <p:sp>
        <p:nvSpPr>
          <p:cNvPr id="14" name="文本框 13"/>
          <p:cNvSpPr txBox="1"/>
          <p:nvPr/>
        </p:nvSpPr>
        <p:spPr>
          <a:xfrm>
            <a:off x="611560" y="3356992"/>
            <a:ext cx="1803699" cy="438453"/>
          </a:xfrm>
          <a:prstGeom prst="rect">
            <a:avLst/>
          </a:prstGeom>
          <a:noFill/>
          <a:ln w="9525">
            <a:noFill/>
          </a:ln>
        </p:spPr>
        <p:txBody>
          <a:bodyPr wrap="none">
            <a:spAutoFit/>
          </a:bodyPr>
          <a:lstStyle/>
          <a:p>
            <a:pPr>
              <a:lnSpc>
                <a:spcPct val="110000"/>
              </a:lnSpc>
            </a:pPr>
            <a:r>
              <a:rPr lang="en-US" altLang="zh-CN" dirty="0">
                <a:solidFill>
                  <a:srgbClr val="002060"/>
                </a:solidFill>
                <a:latin typeface="华文中宋" panose="02010600040101010101" pitchFamily="2" charset="-122"/>
              </a:rPr>
              <a:t>4) </a:t>
            </a:r>
            <a:r>
              <a:rPr lang="zh-CN" altLang="en-US" dirty="0">
                <a:solidFill>
                  <a:srgbClr val="002060"/>
                </a:solidFill>
                <a:latin typeface="华文中宋" panose="02010600040101010101" pitchFamily="2" charset="-122"/>
              </a:rPr>
              <a:t>试算线径</a:t>
            </a:r>
            <a:r>
              <a:rPr lang="en-US" altLang="zh-CN" i="1" dirty="0">
                <a:solidFill>
                  <a:srgbClr val="002060"/>
                </a:solidFill>
                <a:latin typeface="Times New Roman" panose="02020603050405020304" pitchFamily="18" charset="0"/>
              </a:rPr>
              <a:t>d</a:t>
            </a:r>
            <a:endParaRPr lang="en-US" altLang="zh-CN" i="1" dirty="0">
              <a:solidFill>
                <a:srgbClr val="002060"/>
              </a:solidFill>
              <a:latin typeface="华文中宋" panose="02010600040101010101" pitchFamily="2" charset="-122"/>
            </a:endParaRPr>
          </a:p>
        </p:txBody>
      </p:sp>
      <p:sp>
        <p:nvSpPr>
          <p:cNvPr id="15" name="文本框 14"/>
          <p:cNvSpPr txBox="1"/>
          <p:nvPr/>
        </p:nvSpPr>
        <p:spPr>
          <a:xfrm>
            <a:off x="611560" y="3933056"/>
            <a:ext cx="8676456" cy="464743"/>
          </a:xfrm>
          <a:prstGeom prst="rect">
            <a:avLst/>
          </a:prstGeom>
          <a:noFill/>
          <a:ln w="9525">
            <a:noFill/>
          </a:ln>
        </p:spPr>
        <p:txBody>
          <a:bodyPr wrap="square">
            <a:spAutoFit/>
          </a:bodyPr>
          <a:lstStyle/>
          <a:p>
            <a:pPr>
              <a:lnSpc>
                <a:spcPct val="110000"/>
              </a:lnSpc>
            </a:pPr>
            <a:r>
              <a:rPr lang="en-US" altLang="zh-CN" dirty="0">
                <a:solidFill>
                  <a:srgbClr val="002060"/>
                </a:solidFill>
                <a:latin typeface="华文中宋" panose="02010600040101010101" pitchFamily="2" charset="-122"/>
              </a:rPr>
              <a:t>5) </a:t>
            </a:r>
            <a:r>
              <a:rPr lang="zh-CN" altLang="zh-CN" dirty="0">
                <a:solidFill>
                  <a:srgbClr val="002060"/>
                </a:solidFill>
                <a:latin typeface="华文中宋" panose="02010600040101010101" pitchFamily="2" charset="-122"/>
              </a:rPr>
              <a:t>根据变形条件求出弹簧</a:t>
            </a:r>
            <a:r>
              <a:rPr lang="zh-CN" altLang="zh-CN" dirty="0" smtClean="0">
                <a:solidFill>
                  <a:srgbClr val="002060"/>
                </a:solidFill>
                <a:latin typeface="华文中宋" panose="02010600040101010101" pitchFamily="2" charset="-122"/>
              </a:rPr>
              <a:t>有效</a:t>
            </a:r>
            <a:r>
              <a:rPr lang="zh-CN" altLang="zh-CN" dirty="0">
                <a:solidFill>
                  <a:srgbClr val="002060"/>
                </a:solidFill>
                <a:latin typeface="华文中宋" panose="02010600040101010101" pitchFamily="2" charset="-122"/>
              </a:rPr>
              <a:t>有效圈数n和总圈数n</a:t>
            </a:r>
            <a:r>
              <a:rPr lang="zh-CN" altLang="zh-CN" baseline="-25000" dirty="0">
                <a:solidFill>
                  <a:srgbClr val="002060"/>
                </a:solidFill>
                <a:latin typeface="华文中宋" panose="02010600040101010101" pitchFamily="2" charset="-122"/>
              </a:rPr>
              <a:t>1</a:t>
            </a:r>
            <a:r>
              <a:rPr lang="zh-CN" altLang="en-US" dirty="0">
                <a:solidFill>
                  <a:srgbClr val="002060"/>
                </a:solidFill>
                <a:latin typeface="华文中宋" panose="02010600040101010101" pitchFamily="2" charset="-122"/>
              </a:rPr>
              <a:t>；</a:t>
            </a:r>
            <a:endParaRPr lang="zh-CN" altLang="en-US" dirty="0">
              <a:solidFill>
                <a:srgbClr val="002060"/>
              </a:solidFill>
              <a:latin typeface="华文中宋" panose="02010600040101010101" pitchFamily="2" charset="-122"/>
            </a:endParaRPr>
          </a:p>
        </p:txBody>
      </p:sp>
      <p:sp>
        <p:nvSpPr>
          <p:cNvPr id="16" name="文本框 15"/>
          <p:cNvSpPr txBox="1"/>
          <p:nvPr/>
        </p:nvSpPr>
        <p:spPr>
          <a:xfrm>
            <a:off x="611813" y="4536043"/>
            <a:ext cx="3876382" cy="438453"/>
          </a:xfrm>
          <a:prstGeom prst="rect">
            <a:avLst/>
          </a:prstGeom>
          <a:noFill/>
          <a:ln w="9525">
            <a:noFill/>
          </a:ln>
        </p:spPr>
        <p:txBody>
          <a:bodyPr wrap="none">
            <a:spAutoFit/>
          </a:bodyPr>
          <a:lstStyle/>
          <a:p>
            <a:pPr>
              <a:lnSpc>
                <a:spcPct val="110000"/>
              </a:lnSpc>
            </a:pPr>
            <a:r>
              <a:rPr lang="en-US" altLang="zh-CN" dirty="0">
                <a:solidFill>
                  <a:srgbClr val="002060"/>
                </a:solidFill>
                <a:latin typeface="Times New Roman" panose="02020603050405020304" pitchFamily="18" charset="0"/>
              </a:rPr>
              <a:t>6) </a:t>
            </a:r>
            <a:r>
              <a:rPr lang="zh-CN" altLang="en-US" dirty="0">
                <a:solidFill>
                  <a:srgbClr val="002060"/>
                </a:solidFill>
                <a:latin typeface="Times New Roman" panose="02020603050405020304" pitchFamily="18" charset="0"/>
              </a:rPr>
              <a:t>计算弹簧的其他几何尺寸；</a:t>
            </a:r>
            <a:endParaRPr lang="zh-CN" altLang="en-US" dirty="0">
              <a:solidFill>
                <a:srgbClr val="002060"/>
              </a:solidFill>
              <a:latin typeface="Times New Roman" panose="02020603050405020304" pitchFamily="18" charset="0"/>
            </a:endParaRPr>
          </a:p>
        </p:txBody>
      </p:sp>
      <p:sp>
        <p:nvSpPr>
          <p:cNvPr id="17" name="文本框 16"/>
          <p:cNvSpPr txBox="1"/>
          <p:nvPr/>
        </p:nvSpPr>
        <p:spPr>
          <a:xfrm>
            <a:off x="611307" y="5228565"/>
            <a:ext cx="3637534" cy="438646"/>
          </a:xfrm>
          <a:prstGeom prst="rect">
            <a:avLst/>
          </a:prstGeom>
          <a:noFill/>
          <a:ln w="9525">
            <a:noFill/>
          </a:ln>
        </p:spPr>
        <p:txBody>
          <a:bodyPr wrap="none">
            <a:spAutoFit/>
          </a:bodyPr>
          <a:lstStyle/>
          <a:p>
            <a:pPr>
              <a:lnSpc>
                <a:spcPct val="110000"/>
              </a:lnSpc>
            </a:pPr>
            <a:r>
              <a:rPr lang="en-US" altLang="zh-CN" dirty="0">
                <a:solidFill>
                  <a:srgbClr val="002060"/>
                </a:solidFill>
                <a:latin typeface="华文中宋" panose="02010600040101010101" pitchFamily="2" charset="-122"/>
              </a:rPr>
              <a:t>7) </a:t>
            </a:r>
            <a:r>
              <a:rPr lang="zh-CN" altLang="en-US" dirty="0">
                <a:solidFill>
                  <a:srgbClr val="002060"/>
                </a:solidFill>
                <a:latin typeface="华文中宋" panose="02010600040101010101" pitchFamily="2" charset="-122"/>
              </a:rPr>
              <a:t>验算压缩弹簧的稳定性；</a:t>
            </a:r>
            <a:endParaRPr lang="zh-CN" altLang="en-US" dirty="0">
              <a:solidFill>
                <a:srgbClr val="002060"/>
              </a:solidFill>
              <a:latin typeface="华文中宋" panose="02010600040101010101" pitchFamily="2" charset="-122"/>
            </a:endParaRPr>
          </a:p>
        </p:txBody>
      </p:sp>
      <p:sp>
        <p:nvSpPr>
          <p:cNvPr id="18" name="文本框 17"/>
          <p:cNvSpPr txBox="1"/>
          <p:nvPr/>
        </p:nvSpPr>
        <p:spPr>
          <a:xfrm>
            <a:off x="611560" y="1700808"/>
            <a:ext cx="7920880" cy="438646"/>
          </a:xfrm>
          <a:prstGeom prst="rect">
            <a:avLst/>
          </a:prstGeom>
          <a:noFill/>
          <a:ln w="9525">
            <a:noFill/>
          </a:ln>
        </p:spPr>
        <p:txBody>
          <a:bodyPr wrap="square">
            <a:spAutoFit/>
          </a:bodyPr>
          <a:lstStyle/>
          <a:p>
            <a:pPr>
              <a:lnSpc>
                <a:spcPct val="110000"/>
              </a:lnSpc>
            </a:pPr>
            <a:r>
              <a:rPr lang="en-US" altLang="zh-CN" dirty="0">
                <a:solidFill>
                  <a:srgbClr val="002060"/>
                </a:solidFill>
                <a:latin typeface="华文中宋" panose="02010600040101010101" pitchFamily="2" charset="-122"/>
              </a:rPr>
              <a:t>1) </a:t>
            </a:r>
            <a:r>
              <a:rPr lang="zh-CN" altLang="en-US" dirty="0">
                <a:solidFill>
                  <a:srgbClr val="002060"/>
                </a:solidFill>
                <a:latin typeface="华文中宋" panose="02010600040101010101" pitchFamily="2" charset="-122"/>
              </a:rPr>
              <a:t>根据工作条件选定材料并确定</a:t>
            </a:r>
            <a:r>
              <a:rPr lang="zh-CN" altLang="en-US" dirty="0" smtClean="0">
                <a:solidFill>
                  <a:srgbClr val="002060"/>
                </a:solidFill>
                <a:latin typeface="华文中宋" panose="02010600040101010101" pitchFamily="2" charset="-122"/>
              </a:rPr>
              <a:t>许用应力</a:t>
            </a:r>
            <a:r>
              <a:rPr lang="en-US" altLang="zh-CN" dirty="0">
                <a:solidFill>
                  <a:srgbClr val="002060"/>
                </a:solidFill>
                <a:latin typeface="华文中宋" panose="02010600040101010101" pitchFamily="2" charset="-122"/>
              </a:rPr>
              <a:t>[τ]</a:t>
            </a:r>
            <a:r>
              <a:rPr lang="zh-CN" altLang="en-US" dirty="0">
                <a:solidFill>
                  <a:srgbClr val="002060"/>
                </a:solidFill>
                <a:latin typeface="华文中宋" panose="02010600040101010101" pitchFamily="2" charset="-122"/>
              </a:rPr>
              <a:t>和剪切弹性模量</a:t>
            </a:r>
            <a:r>
              <a:rPr lang="en-US" altLang="zh-CN" dirty="0">
                <a:solidFill>
                  <a:srgbClr val="002060"/>
                </a:solidFill>
                <a:latin typeface="华文中宋" panose="02010600040101010101" pitchFamily="2" charset="-122"/>
              </a:rPr>
              <a:t>G</a:t>
            </a:r>
            <a:r>
              <a:rPr lang="zh-CN" altLang="en-US" dirty="0">
                <a:solidFill>
                  <a:srgbClr val="002060"/>
                </a:solidFill>
                <a:latin typeface="华文中宋" panose="02010600040101010101" pitchFamily="2" charset="-122"/>
              </a:rPr>
              <a:t>；</a:t>
            </a:r>
            <a:endParaRPr lang="zh-CN" altLang="en-US" dirty="0">
              <a:solidFill>
                <a:srgbClr val="002060"/>
              </a:solidFill>
              <a:latin typeface="华文中宋" panose="02010600040101010101" pitchFamily="2" charset="-122"/>
            </a:endParaRPr>
          </a:p>
        </p:txBody>
      </p:sp>
      <p:sp>
        <p:nvSpPr>
          <p:cNvPr id="19" name="文本框 18"/>
          <p:cNvSpPr txBox="1"/>
          <p:nvPr/>
        </p:nvSpPr>
        <p:spPr>
          <a:xfrm>
            <a:off x="611813" y="5805011"/>
            <a:ext cx="3073277" cy="438646"/>
          </a:xfrm>
          <a:prstGeom prst="rect">
            <a:avLst/>
          </a:prstGeom>
          <a:noFill/>
          <a:ln w="9525">
            <a:noFill/>
          </a:ln>
        </p:spPr>
        <p:txBody>
          <a:bodyPr wrap="none">
            <a:spAutoFit/>
          </a:bodyPr>
          <a:lstStyle/>
          <a:p>
            <a:pPr>
              <a:lnSpc>
                <a:spcPct val="110000"/>
              </a:lnSpc>
            </a:pPr>
            <a:r>
              <a:rPr lang="en-US" altLang="zh-CN" dirty="0">
                <a:solidFill>
                  <a:srgbClr val="002060"/>
                </a:solidFill>
                <a:latin typeface="华文中宋" panose="02010600040101010101" pitchFamily="2" charset="-122"/>
              </a:rPr>
              <a:t>8) </a:t>
            </a:r>
            <a:r>
              <a:rPr lang="zh-CN" altLang="en-US" dirty="0">
                <a:solidFill>
                  <a:srgbClr val="002060"/>
                </a:solidFill>
                <a:latin typeface="华文中宋" panose="02010600040101010101" pitchFamily="2" charset="-122"/>
              </a:rPr>
              <a:t>绘制弹簧的工作图。</a:t>
            </a:r>
            <a:endParaRPr lang="zh-CN" altLang="en-US" dirty="0">
              <a:solidFill>
                <a:srgbClr val="002060"/>
              </a:solidFill>
              <a:latin typeface="华文中宋" panose="02010600040101010101" pitchFamily="2" charset="-122"/>
            </a:endParaRPr>
          </a:p>
        </p:txBody>
      </p:sp>
      <p:sp>
        <p:nvSpPr>
          <p:cNvPr id="3483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p:bldP spid="13" grpId="0"/>
      <p:bldP spid="14" grpId="0"/>
      <p:bldP spid="15" grpId="0"/>
      <p:bldP spid="16" grpId="0"/>
      <p:bldP spid="17" grpId="0"/>
      <p:bldP spid="18" grpId="0"/>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03413" y="2465388"/>
            <a:ext cx="5591175" cy="372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5" name="Text Box 3"/>
          <p:cNvSpPr txBox="1">
            <a:spLocks noChangeArrowheads="1"/>
          </p:cNvSpPr>
          <p:nvPr/>
        </p:nvSpPr>
        <p:spPr bwMode="auto">
          <a:xfrm>
            <a:off x="533400" y="820738"/>
            <a:ext cx="8331200" cy="1438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lnSpc>
                <a:spcPts val="3500"/>
              </a:lnSpc>
              <a:spcBef>
                <a:spcPct val="50000"/>
              </a:spcBef>
            </a:pPr>
            <a:r>
              <a:rPr kumimoji="0" lang="en-US" altLang="zh-CN" dirty="0">
                <a:solidFill>
                  <a:srgbClr val="C00000"/>
                </a:solidFill>
                <a:latin typeface="Arial" panose="020B0604020202020204" pitchFamily="34" charset="0"/>
                <a:ea typeface="仿宋_GB2312"/>
                <a:cs typeface="仿宋_GB2312"/>
              </a:rPr>
              <a:t>     </a:t>
            </a:r>
            <a:r>
              <a:rPr kumimoji="0" lang="en-US" altLang="zh-CN" dirty="0" smtClean="0">
                <a:solidFill>
                  <a:srgbClr val="C00000"/>
                </a:solidFill>
                <a:latin typeface="黑体" panose="02010609060101010101" pitchFamily="49" charset="-122"/>
                <a:ea typeface="黑体" panose="02010609060101010101" pitchFamily="49" charset="-122"/>
                <a:cs typeface="仿宋_GB2312"/>
              </a:rPr>
              <a:t>[</a:t>
            </a:r>
            <a:r>
              <a:rPr kumimoji="0" lang="zh-CN" altLang="en-US" dirty="0" smtClean="0">
                <a:solidFill>
                  <a:srgbClr val="C00000"/>
                </a:solidFill>
                <a:latin typeface="黑体" panose="02010609060101010101" pitchFamily="49" charset="-122"/>
                <a:ea typeface="黑体" panose="02010609060101010101" pitchFamily="49" charset="-122"/>
                <a:cs typeface="仿宋_GB2312"/>
              </a:rPr>
              <a:t>例</a:t>
            </a:r>
            <a:r>
              <a:rPr kumimoji="0" lang="en-US" altLang="zh-CN" dirty="0" smtClean="0">
                <a:solidFill>
                  <a:srgbClr val="C00000"/>
                </a:solidFill>
                <a:latin typeface="黑体" panose="02010609060101010101" pitchFamily="49" charset="-122"/>
                <a:ea typeface="黑体" panose="02010609060101010101" pitchFamily="49" charset="-122"/>
                <a:cs typeface="仿宋_GB2312"/>
              </a:rPr>
              <a:t>] </a:t>
            </a:r>
            <a:r>
              <a:rPr kumimoji="0" lang="zh-CN" altLang="en-US" dirty="0" smtClean="0">
                <a:latin typeface="黑体" panose="02010609060101010101" pitchFamily="49" charset="-122"/>
                <a:ea typeface="黑体" panose="02010609060101010101" pitchFamily="49" charset="-122"/>
                <a:cs typeface="仿宋_GB2312"/>
              </a:rPr>
              <a:t>某</a:t>
            </a:r>
            <a:r>
              <a:rPr kumimoji="0" lang="zh-CN" altLang="en-US" dirty="0">
                <a:latin typeface="黑体" panose="02010609060101010101" pitchFamily="49" charset="-122"/>
                <a:ea typeface="黑体" panose="02010609060101010101" pitchFamily="49" charset="-122"/>
                <a:cs typeface="仿宋_GB2312"/>
              </a:rPr>
              <a:t>发动机以凸轮机构控制阀门的启闭。当阀门关闭时弹簧受力为</a:t>
            </a:r>
            <a:r>
              <a:rPr kumimoji="0" lang="en-US" altLang="zh-CN" dirty="0">
                <a:latin typeface="黑体" panose="02010609060101010101" pitchFamily="49" charset="-122"/>
                <a:ea typeface="黑体" panose="02010609060101010101" pitchFamily="49" charset="-122"/>
                <a:cs typeface="仿宋_GB2312"/>
              </a:rPr>
              <a:t>100N</a:t>
            </a:r>
            <a:r>
              <a:rPr kumimoji="0" lang="zh-CN" altLang="en-US" dirty="0">
                <a:latin typeface="黑体" panose="02010609060101010101" pitchFamily="49" charset="-122"/>
                <a:ea typeface="黑体" panose="02010609060101010101" pitchFamily="49" charset="-122"/>
                <a:cs typeface="仿宋_GB2312"/>
              </a:rPr>
              <a:t>，阀门开启时弹簧受力为</a:t>
            </a:r>
            <a:r>
              <a:rPr kumimoji="0" lang="en-US" altLang="zh-CN" dirty="0">
                <a:latin typeface="黑体" panose="02010609060101010101" pitchFamily="49" charset="-122"/>
                <a:ea typeface="黑体" panose="02010609060101010101" pitchFamily="49" charset="-122"/>
                <a:cs typeface="仿宋_GB2312"/>
              </a:rPr>
              <a:t>150N</a:t>
            </a:r>
            <a:r>
              <a:rPr kumimoji="0" lang="zh-CN" altLang="en-US" dirty="0">
                <a:latin typeface="黑体" panose="02010609060101010101" pitchFamily="49" charset="-122"/>
                <a:ea typeface="黑体" panose="02010609060101010101" pitchFamily="49" charset="-122"/>
                <a:cs typeface="仿宋_GB2312"/>
              </a:rPr>
              <a:t>。凸轮升程，即弹簧的工作行程为</a:t>
            </a:r>
            <a:r>
              <a:rPr kumimoji="0" lang="en-US" altLang="zh-CN" dirty="0">
                <a:latin typeface="黑体" panose="02010609060101010101" pitchFamily="49" charset="-122"/>
                <a:ea typeface="黑体" panose="02010609060101010101" pitchFamily="49" charset="-122"/>
                <a:cs typeface="仿宋_GB2312"/>
              </a:rPr>
              <a:t>7.5mm</a:t>
            </a:r>
            <a:r>
              <a:rPr kumimoji="0" lang="zh-CN" altLang="en-US" dirty="0">
                <a:latin typeface="黑体" panose="02010609060101010101" pitchFamily="49" charset="-122"/>
                <a:ea typeface="黑体" panose="02010609060101010101" pitchFamily="49" charset="-122"/>
                <a:cs typeface="仿宋_GB2312"/>
              </a:rPr>
              <a:t>，如图所示。试设计此弹簧。</a:t>
            </a:r>
            <a:r>
              <a:rPr kumimoji="0" lang="zh-CN" altLang="en-US" dirty="0">
                <a:latin typeface="黑体" panose="02010609060101010101" pitchFamily="49" charset="-122"/>
                <a:ea typeface="黑体" panose="02010609060101010101" pitchFamily="49" charset="-122"/>
              </a:rPr>
              <a:t> </a:t>
            </a:r>
            <a:endParaRPr kumimoji="0" lang="zh-CN" altLang="en-US" dirty="0">
              <a:latin typeface="黑体" panose="02010609060101010101" pitchFamily="49" charset="-122"/>
              <a:ea typeface="黑体" panose="02010609060101010101" pitchFamily="49" charset="-122"/>
            </a:endParaRPr>
          </a:p>
        </p:txBody>
      </p:sp>
      <p:pic>
        <p:nvPicPr>
          <p:cNvPr id="33797" name="Picture 39"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41" descr="NEXT1">
            <a:hlinkClick r:id="" action="ppaction://hlinkshowjump?jump=nex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Picture 50" descr="back1">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Grp="1" noChangeArrowheads="1"/>
          </p:cNvSpPr>
          <p:nvPr/>
        </p:nvSpPr>
        <p:spPr bwMode="auto">
          <a:xfrm>
            <a:off x="571500" y="214313"/>
            <a:ext cx="8572500"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278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98463" y="715963"/>
            <a:ext cx="8534400" cy="1886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lnSpc>
                <a:spcPts val="3500"/>
              </a:lnSpc>
            </a:pPr>
            <a:r>
              <a:rPr kumimoji="0" lang="en-US" altLang="zh-CN" dirty="0">
                <a:solidFill>
                  <a:srgbClr val="C00000"/>
                </a:solidFill>
                <a:ea typeface="仿宋_GB2312"/>
                <a:cs typeface="仿宋_GB2312"/>
              </a:rPr>
              <a:t>        </a:t>
            </a:r>
            <a:r>
              <a:rPr kumimoji="0" lang="en-US" altLang="zh-CN" dirty="0" smtClean="0">
                <a:solidFill>
                  <a:srgbClr val="C00000"/>
                </a:solidFill>
                <a:ea typeface="仿宋_GB2312"/>
                <a:cs typeface="仿宋_GB2312"/>
              </a:rPr>
              <a:t>[</a:t>
            </a:r>
            <a:r>
              <a:rPr kumimoji="0" lang="zh-CN" altLang="en-US" dirty="0" smtClean="0">
                <a:solidFill>
                  <a:srgbClr val="C00000"/>
                </a:solidFill>
                <a:ea typeface="仿宋_GB2312"/>
                <a:cs typeface="仿宋_GB2312"/>
              </a:rPr>
              <a:t>解</a:t>
            </a:r>
            <a:r>
              <a:rPr kumimoji="0" lang="en-US" altLang="zh-CN" dirty="0" smtClean="0">
                <a:solidFill>
                  <a:srgbClr val="C00000"/>
                </a:solidFill>
                <a:ea typeface="仿宋_GB2312"/>
                <a:cs typeface="仿宋_GB2312"/>
              </a:rPr>
              <a:t>]</a:t>
            </a:r>
            <a:endParaRPr kumimoji="0" lang="en-US" altLang="zh-CN" dirty="0">
              <a:solidFill>
                <a:srgbClr val="C00000"/>
              </a:solidFill>
              <a:ea typeface="仿宋_GB2312"/>
              <a:cs typeface="仿宋_GB2312"/>
            </a:endParaRPr>
          </a:p>
          <a:p>
            <a:pPr algn="just" eaLnBrk="1" hangingPunct="1">
              <a:lnSpc>
                <a:spcPts val="3500"/>
              </a:lnSpc>
            </a:pPr>
            <a:r>
              <a:rPr kumimoji="0" lang="en-US" altLang="zh-CN" dirty="0">
                <a:ea typeface="仿宋_GB2312"/>
                <a:cs typeface="仿宋_GB2312"/>
              </a:rPr>
              <a:t>       </a:t>
            </a:r>
            <a:r>
              <a:rPr kumimoji="0" lang="en-US" altLang="zh-CN" b="1" dirty="0">
                <a:latin typeface="黑体" panose="02010609060101010101" pitchFamily="49" charset="-122"/>
                <a:ea typeface="黑体" panose="02010609060101010101" pitchFamily="49" charset="-122"/>
                <a:cs typeface="黑体" panose="02010609060101010101" pitchFamily="49" charset="-122"/>
              </a:rPr>
              <a:t>  </a:t>
            </a:r>
            <a:r>
              <a:rPr kumimoji="0" lang="en-US" altLang="zh-CN" dirty="0">
                <a:latin typeface="黑体" panose="02010609060101010101" pitchFamily="49" charset="-122"/>
                <a:ea typeface="黑体" panose="02010609060101010101" pitchFamily="49" charset="-122"/>
                <a:cs typeface="黑体" panose="02010609060101010101" pitchFamily="49" charset="-122"/>
              </a:rPr>
              <a:t>1</a:t>
            </a:r>
            <a:r>
              <a:rPr kumimoji="0" lang="zh-CN" altLang="en-US" dirty="0">
                <a:latin typeface="黑体" panose="02010609060101010101" pitchFamily="49" charset="-122"/>
                <a:ea typeface="黑体" panose="02010609060101010101" pitchFamily="49" charset="-122"/>
                <a:cs typeface="黑体" panose="02010609060101010101" pitchFamily="49" charset="-122"/>
              </a:rPr>
              <a:t>）选择材料</a:t>
            </a:r>
            <a:endParaRPr kumimoji="0" lang="zh-CN" altLang="en-US"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lnSpc>
                <a:spcPts val="3500"/>
              </a:lnSpc>
            </a:pPr>
            <a:r>
              <a:rPr kumimoji="0" lang="zh-CN" altLang="en-US" dirty="0">
                <a:latin typeface="黑体" panose="02010609060101010101" pitchFamily="49" charset="-122"/>
                <a:ea typeface="黑体" panose="02010609060101010101" pitchFamily="49" charset="-122"/>
                <a:cs typeface="黑体" panose="02010609060101010101" pitchFamily="49" charset="-122"/>
              </a:rPr>
              <a:t>          阀门弹簧虽为重要弹簧，但因没有尺寸限制，故选用碳素弹簧钢丝，</a:t>
            </a:r>
            <a:r>
              <a:rPr kumimoji="0" lang="en-US" altLang="zh-CN" dirty="0">
                <a:latin typeface="黑体" panose="02010609060101010101" pitchFamily="49" charset="-122"/>
                <a:ea typeface="黑体" panose="02010609060101010101" pitchFamily="49" charset="-122"/>
                <a:cs typeface="黑体" panose="02010609060101010101" pitchFamily="49" charset="-122"/>
              </a:rPr>
              <a:t>DM</a:t>
            </a:r>
            <a:r>
              <a:rPr kumimoji="0" lang="zh-CN" altLang="en-US" dirty="0">
                <a:latin typeface="黑体" panose="02010609060101010101" pitchFamily="49" charset="-122"/>
                <a:ea typeface="黑体" panose="02010609060101010101" pitchFamily="49" charset="-122"/>
                <a:cs typeface="黑体" panose="02010609060101010101" pitchFamily="49" charset="-122"/>
              </a:rPr>
              <a:t>型。</a:t>
            </a:r>
            <a:endParaRPr kumimoji="0" lang="zh-CN" altLang="en-US" dirty="0">
              <a:latin typeface="黑体" panose="02010609060101010101" pitchFamily="49" charset="-122"/>
              <a:ea typeface="黑体" panose="02010609060101010101" pitchFamily="49" charset="-122"/>
              <a:cs typeface="黑体" panose="02010609060101010101" pitchFamily="49" charset="-122"/>
            </a:endParaRPr>
          </a:p>
        </p:txBody>
      </p:sp>
      <p:pic>
        <p:nvPicPr>
          <p:cNvPr id="34820" name="Picture 39" descr="rewind1">
            <a:hlinkClick r:id="" action="ppaction://hlinkshowjump?jump=firstslide"/>
          </p:cNvPr>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Picture 41" descr="NEXT1">
            <a:hlinkClick r:id="" action="ppaction://hlinkshowjump?jump=nex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a:spLocks noRot="1" noChangeAspect="1" noMove="1" noResize="1" noEditPoints="1" noAdjustHandles="1" noChangeArrowheads="1" noChangeShapeType="1" noTextEdit="1"/>
          </p:cNvSpPr>
          <p:nvPr/>
        </p:nvSpPr>
        <p:spPr>
          <a:xfrm>
            <a:off x="2785187" y="5902621"/>
            <a:ext cx="508519" cy="307777"/>
          </a:xfrm>
          <a:prstGeom prst="rect">
            <a:avLst/>
          </a:prstGeom>
          <a:blipFill>
            <a:blip r:embed="rId5"/>
            <a:stretch>
              <a:fillRect b="-17647"/>
            </a:stretch>
          </a:blipFill>
        </p:spPr>
        <p:txBody>
          <a:bodyPr/>
          <a:lstStyle/>
          <a:p>
            <a:r>
              <a:rPr lang="zh-CN" altLang="en-US">
                <a:noFill/>
              </a:rPr>
              <a:t> </a:t>
            </a:r>
            <a:endParaRPr lang="zh-CN" altLang="en-US">
              <a:noFill/>
            </a:endParaRPr>
          </a:p>
        </p:txBody>
      </p:sp>
      <p:sp>
        <p:nvSpPr>
          <p:cNvPr id="4" name="文本框 3"/>
          <p:cNvSpPr txBox="1">
            <a:spLocks noChangeArrowheads="1"/>
          </p:cNvSpPr>
          <p:nvPr/>
        </p:nvSpPr>
        <p:spPr bwMode="auto">
          <a:xfrm>
            <a:off x="998538" y="4440238"/>
            <a:ext cx="7185025" cy="1886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lnSpc>
                <a:spcPts val="3500"/>
              </a:lnSpc>
            </a:pPr>
            <a:r>
              <a:rPr kumimoji="0" lang="zh-CN" altLang="en-US" dirty="0"/>
              <a:t>初估簧丝直径</a:t>
            </a:r>
            <a:r>
              <a:rPr kumimoji="0" lang="en-US" altLang="zh-CN" dirty="0">
                <a:latin typeface="Times" panose="02020603050405020304" pitchFamily="18" charset="0"/>
              </a:rPr>
              <a:t>d</a:t>
            </a:r>
            <a:r>
              <a:rPr kumimoji="0" lang="zh-CN" altLang="en-US" dirty="0">
                <a:latin typeface="Times" panose="02020603050405020304" pitchFamily="18" charset="0"/>
              </a:rPr>
              <a:t>＝</a:t>
            </a:r>
            <a:r>
              <a:rPr kumimoji="0" lang="en-US" altLang="zh-CN" dirty="0">
                <a:latin typeface="Times" panose="02020603050405020304" pitchFamily="18" charset="0"/>
              </a:rPr>
              <a:t>3mm</a:t>
            </a:r>
            <a:r>
              <a:rPr kumimoji="0" lang="zh-CN" altLang="en-US" dirty="0"/>
              <a:t>，</a:t>
            </a:r>
            <a:endParaRPr kumimoji="0" lang="en-US" altLang="zh-CN" dirty="0"/>
          </a:p>
          <a:p>
            <a:pPr algn="just" eaLnBrk="1" hangingPunct="1">
              <a:lnSpc>
                <a:spcPts val="3500"/>
              </a:lnSpc>
            </a:pPr>
            <a:r>
              <a:rPr kumimoji="0" lang="en-US" altLang="zh-CN" dirty="0"/>
              <a:t>         </a:t>
            </a:r>
            <a:r>
              <a:rPr kumimoji="0" lang="zh-CN" altLang="en-US" dirty="0"/>
              <a:t>由</a:t>
            </a:r>
            <a:r>
              <a:rPr kumimoji="0" lang="zh-CN" altLang="en-US" dirty="0">
                <a:hlinkClick r:id="rId6" action="ppaction://hlinkfile"/>
              </a:rPr>
              <a:t>表</a:t>
            </a:r>
            <a:r>
              <a:rPr kumimoji="0" lang="en-US" altLang="zh-CN" dirty="0">
                <a:hlinkClick r:id="rId6" action="ppaction://hlinkfile"/>
              </a:rPr>
              <a:t>3.12-3 </a:t>
            </a:r>
            <a:r>
              <a:rPr kumimoji="0" lang="zh-CN" altLang="en-US" dirty="0"/>
              <a:t>按</a:t>
            </a:r>
            <a:r>
              <a:rPr kumimoji="0" lang="en-US" altLang="zh-CN" dirty="0"/>
              <a:t>DM</a:t>
            </a:r>
            <a:r>
              <a:rPr kumimoji="0" lang="zh-CN" altLang="en-US" dirty="0"/>
              <a:t>型 取  </a:t>
            </a:r>
            <a:r>
              <a:rPr kumimoji="0" lang="en-US" altLang="zh-CN" dirty="0" err="1"/>
              <a:t>σ</a:t>
            </a:r>
            <a:r>
              <a:rPr kumimoji="0" lang="en-US" altLang="zh-CN" baseline="-30000" dirty="0" err="1"/>
              <a:t>B</a:t>
            </a:r>
            <a:r>
              <a:rPr kumimoji="0" lang="zh-CN" altLang="en-US" dirty="0"/>
              <a:t>＝</a:t>
            </a:r>
            <a:r>
              <a:rPr kumimoji="0" lang="en-US" altLang="zh-CN" dirty="0"/>
              <a:t>1740</a:t>
            </a:r>
            <a:r>
              <a:rPr kumimoji="0" lang="zh-CN" altLang="en-US" dirty="0"/>
              <a:t>（</a:t>
            </a:r>
            <a:r>
              <a:rPr kumimoji="0" lang="en-US" altLang="zh-CN" dirty="0" err="1">
                <a:latin typeface="Times" panose="02020603050405020304" pitchFamily="18" charset="0"/>
              </a:rPr>
              <a:t>MPa</a:t>
            </a:r>
            <a:r>
              <a:rPr kumimoji="0" lang="zh-CN" altLang="en-US" dirty="0">
                <a:latin typeface="Times" panose="02020603050405020304" pitchFamily="18" charset="0"/>
              </a:rPr>
              <a:t>）；</a:t>
            </a:r>
            <a:endParaRPr kumimoji="0" lang="zh-CN" altLang="en-US" dirty="0">
              <a:ea typeface="宋体" panose="02010600030101010101" pitchFamily="2" charset="-122"/>
            </a:endParaRPr>
          </a:p>
          <a:p>
            <a:pPr eaLnBrk="1" hangingPunct="1">
              <a:lnSpc>
                <a:spcPts val="3500"/>
              </a:lnSpc>
            </a:pPr>
            <a:r>
              <a:rPr kumimoji="0" lang="zh-CN" altLang="en-US" dirty="0">
                <a:latin typeface="Times" panose="02020603050405020304" pitchFamily="18" charset="0"/>
              </a:rPr>
              <a:t>         由</a:t>
            </a:r>
            <a:r>
              <a:rPr kumimoji="0" lang="zh-CN" altLang="en-US" dirty="0">
                <a:latin typeface="Times" panose="02020603050405020304" pitchFamily="18" charset="0"/>
                <a:hlinkClick r:id="rId7" action="ppaction://hlinkfile"/>
              </a:rPr>
              <a:t>表</a:t>
            </a:r>
            <a:r>
              <a:rPr kumimoji="0" lang="en-US" altLang="zh-CN" dirty="0">
                <a:latin typeface="Times" panose="02020603050405020304" pitchFamily="18" charset="0"/>
                <a:hlinkClick r:id="rId7" action="ppaction://hlinkfile"/>
              </a:rPr>
              <a:t>3.12-2 </a:t>
            </a:r>
            <a:r>
              <a:rPr kumimoji="0" lang="en-US" altLang="zh-CN" dirty="0">
                <a:latin typeface="Times" panose="02020603050405020304" pitchFamily="18" charset="0"/>
              </a:rPr>
              <a:t>I</a:t>
            </a:r>
            <a:r>
              <a:rPr kumimoji="0" lang="zh-CN" altLang="en-US" dirty="0">
                <a:latin typeface="Times" panose="02020603050405020304" pitchFamily="18" charset="0"/>
              </a:rPr>
              <a:t>类弹簧</a:t>
            </a:r>
            <a:endParaRPr kumimoji="0" lang="zh-CN" altLang="en-US" dirty="0">
              <a:latin typeface="Times" panose="02020603050405020304" pitchFamily="18" charset="0"/>
            </a:endParaRPr>
          </a:p>
          <a:p>
            <a:pPr eaLnBrk="1" hangingPunct="1">
              <a:lnSpc>
                <a:spcPts val="3500"/>
              </a:lnSpc>
            </a:pPr>
            <a:r>
              <a:rPr kumimoji="0" lang="zh-CN" altLang="en-US" dirty="0">
                <a:latin typeface="Times" panose="02020603050405020304" pitchFamily="18" charset="0"/>
              </a:rPr>
              <a:t>                                 ＝</a:t>
            </a:r>
            <a:r>
              <a:rPr kumimoji="0" lang="en-US" altLang="zh-CN" dirty="0">
                <a:latin typeface="Times" panose="02020603050405020304" pitchFamily="18" charset="0"/>
              </a:rPr>
              <a:t>0.3</a:t>
            </a:r>
            <a:r>
              <a:rPr kumimoji="0" lang="en-US" altLang="zh-CN" dirty="0">
                <a:latin typeface="Arial" panose="020B0604020202020204" pitchFamily="34" charset="0"/>
              </a:rPr>
              <a:t>σ</a:t>
            </a:r>
            <a:r>
              <a:rPr kumimoji="0" lang="en-US" altLang="zh-CN" baseline="-30000" dirty="0">
                <a:latin typeface="Arial" panose="020B0604020202020204" pitchFamily="34" charset="0"/>
              </a:rPr>
              <a:t>B</a:t>
            </a:r>
            <a:r>
              <a:rPr kumimoji="0" lang="zh-CN" altLang="en-US" dirty="0">
                <a:latin typeface="Arial" panose="020B0604020202020204" pitchFamily="34" charset="0"/>
              </a:rPr>
              <a:t>＝</a:t>
            </a:r>
            <a:r>
              <a:rPr kumimoji="0" lang="en-US" altLang="zh-CN" dirty="0">
                <a:latin typeface="Arial" panose="020B0604020202020204" pitchFamily="34" charset="0"/>
              </a:rPr>
              <a:t>0.3</a:t>
            </a:r>
            <a:r>
              <a:rPr kumimoji="0" lang="en-US" altLang="zh-CN" dirty="0">
                <a:latin typeface="Arial" panose="020B0604020202020204" pitchFamily="34" charset="0"/>
                <a:ea typeface="隶书" panose="02010509060101010101" pitchFamily="49" charset="-122"/>
              </a:rPr>
              <a:t>×</a:t>
            </a:r>
            <a:r>
              <a:rPr kumimoji="0" lang="en-US" altLang="zh-CN" dirty="0">
                <a:latin typeface="Arial" panose="020B0604020202020204" pitchFamily="34" charset="0"/>
              </a:rPr>
              <a:t>1740</a:t>
            </a:r>
            <a:r>
              <a:rPr kumimoji="0" lang="zh-CN" altLang="en-US" dirty="0">
                <a:latin typeface="Arial" panose="020B0604020202020204" pitchFamily="34" charset="0"/>
              </a:rPr>
              <a:t>＝</a:t>
            </a:r>
            <a:r>
              <a:rPr kumimoji="0" lang="en-US" altLang="zh-CN" dirty="0">
                <a:latin typeface="Arial" panose="020B0604020202020204" pitchFamily="34" charset="0"/>
              </a:rPr>
              <a:t>522</a:t>
            </a:r>
            <a:r>
              <a:rPr kumimoji="0" lang="zh-CN" altLang="en-US" dirty="0">
                <a:latin typeface="Arial" panose="020B0604020202020204" pitchFamily="34" charset="0"/>
              </a:rPr>
              <a:t>（</a:t>
            </a:r>
            <a:r>
              <a:rPr kumimoji="0" lang="en-US" altLang="zh-CN" dirty="0" err="1">
                <a:latin typeface="Times" panose="02020603050405020304" pitchFamily="18" charset="0"/>
              </a:rPr>
              <a:t>MPa</a:t>
            </a:r>
            <a:r>
              <a:rPr kumimoji="0" lang="zh-CN" altLang="en-US" dirty="0">
                <a:latin typeface="Arial" panose="020B0604020202020204" pitchFamily="34" charset="0"/>
              </a:rPr>
              <a:t>）</a:t>
            </a:r>
            <a:r>
              <a:rPr kumimoji="0" lang="zh-CN" altLang="en-US" sz="3200" dirty="0">
                <a:latin typeface="Arial" panose="020B0604020202020204" pitchFamily="34" charset="0"/>
                <a:ea typeface="宋体" panose="02010600030101010101" pitchFamily="2" charset="-122"/>
              </a:rPr>
              <a:t> </a:t>
            </a:r>
            <a:endParaRPr lang="zh-CN" altLang="en-US" dirty="0"/>
          </a:p>
        </p:txBody>
      </p:sp>
      <p:sp>
        <p:nvSpPr>
          <p:cNvPr id="8" name="文本框 7"/>
          <p:cNvSpPr txBox="1">
            <a:spLocks noRot="1" noChangeAspect="1" noMove="1" noResize="1" noEditPoints="1" noAdjustHandles="1" noChangeArrowheads="1" noChangeShapeType="1" noTextEdit="1"/>
          </p:cNvSpPr>
          <p:nvPr>
            <p:custDataLst>
              <p:tags r:id="rId8"/>
            </p:custDataLst>
          </p:nvPr>
        </p:nvSpPr>
        <p:spPr>
          <a:xfrm>
            <a:off x="998376" y="2551967"/>
            <a:ext cx="6587412" cy="1887696"/>
          </a:xfrm>
          <a:prstGeom prst="rect">
            <a:avLst/>
          </a:prstGeom>
          <a:blipFill>
            <a:blip r:embed="rId9"/>
            <a:stretch>
              <a:fillRect l="-1019" r="-1019" b="-1294"/>
            </a:stretch>
          </a:blipFill>
        </p:spPr>
        <p:txBody>
          <a:bodyPr/>
          <a:lstStyle/>
          <a:p>
            <a:r>
              <a:rPr lang="zh-CN" altLang="en-US">
                <a:noFill/>
              </a:rPr>
              <a:t> </a:t>
            </a:r>
            <a:endParaRPr lang="zh-CN" altLang="en-US">
              <a:noFill/>
            </a:endParaRPr>
          </a:p>
        </p:txBody>
      </p:sp>
      <p:sp>
        <p:nvSpPr>
          <p:cNvPr id="2" name="Rectangle 2"/>
          <p:cNvSpPr>
            <a:spLocks noGrp="1" noChangeArrowheads="1"/>
          </p:cNvSpPr>
          <p:nvPr/>
        </p:nvSpPr>
        <p:spPr bwMode="auto">
          <a:xfrm>
            <a:off x="571500" y="214313"/>
            <a:ext cx="8572500"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278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Effect transition="in" filter="wipe(left)">
                                      <p:cBhvr>
                                        <p:cTn id="7" dur="500"/>
                                        <p:tgtEl>
                                          <p:spTgt spid="532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left)">
                                      <p:cBhvr>
                                        <p:cTn id="20" dur="500"/>
                                        <p:tgtEl>
                                          <p:spTgt spid="4">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wipe(left)">
                                      <p:cBhvr>
                                        <p:cTn id="23" dur="500"/>
                                        <p:tgtEl>
                                          <p:spTgt spid="4">
                                            <p:txEl>
                                              <p:pRg st="0" end="0"/>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wipe(left)">
                                      <p:cBhvr>
                                        <p:cTn id="26" dur="500"/>
                                        <p:tgtEl>
                                          <p:spTgt spid="4">
                                            <p:txEl>
                                              <p:pRg st="1" end="1"/>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animEffect transition="in" filter="wipe(left)">
                                      <p:cBhvr>
                                        <p:cTn id="29" dur="500"/>
                                        <p:tgtEl>
                                          <p:spTgt spid="4">
                                            <p:txEl>
                                              <p:pRg st="2" end="2"/>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ldLvl="0" animBg="1"/>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503238" y="908685"/>
            <a:ext cx="85344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dirty="0">
                <a:latin typeface="黑体" panose="02010609060101010101" pitchFamily="49" charset="-122"/>
                <a:ea typeface="黑体" panose="02010609060101010101" pitchFamily="49" charset="-122"/>
                <a:cs typeface="黑体" panose="02010609060101010101" pitchFamily="49" charset="-122"/>
              </a:rPr>
              <a:t>3</a:t>
            </a:r>
            <a:r>
              <a:rPr kumimoji="0" lang="zh-CN" altLang="en-US" dirty="0">
                <a:latin typeface="黑体" panose="02010609060101010101" pitchFamily="49" charset="-122"/>
                <a:ea typeface="黑体" panose="02010609060101010101" pitchFamily="49" charset="-122"/>
                <a:cs typeface="黑体" panose="02010609060101010101" pitchFamily="49" charset="-122"/>
              </a:rPr>
              <a:t>）按强度条件确定簧丝直径</a:t>
            </a:r>
            <a:r>
              <a:rPr kumimoji="0" lang="en-US" altLang="zh-CN" dirty="0">
                <a:latin typeface="黑体" panose="02010609060101010101" pitchFamily="49" charset="-122"/>
                <a:ea typeface="黑体" panose="02010609060101010101" pitchFamily="49" charset="-122"/>
                <a:cs typeface="黑体" panose="02010609060101010101" pitchFamily="49" charset="-122"/>
              </a:rPr>
              <a:t>d</a:t>
            </a:r>
            <a:endParaRPr kumimoji="0" lang="en-US" altLang="zh-CN" dirty="0">
              <a:latin typeface="黑体" panose="02010609060101010101" pitchFamily="49" charset="-122"/>
              <a:ea typeface="黑体" panose="02010609060101010101" pitchFamily="49" charset="-122"/>
              <a:cs typeface="黑体" panose="02010609060101010101" pitchFamily="49" charset="-122"/>
            </a:endParaRPr>
          </a:p>
          <a:p>
            <a:pPr algn="just" eaLnBrk="1" hangingPunct="1">
              <a:spcBef>
                <a:spcPct val="50000"/>
              </a:spcBef>
            </a:pPr>
            <a:r>
              <a:rPr kumimoji="0" lang="zh-CN" altLang="en-US" dirty="0">
                <a:latin typeface="黑体" panose="02010609060101010101" pitchFamily="49" charset="-122"/>
                <a:ea typeface="黑体" panose="02010609060101010101" pitchFamily="49" charset="-122"/>
                <a:cs typeface="黑体" panose="02010609060101010101" pitchFamily="49" charset="-122"/>
              </a:rPr>
              <a:t>阀门弹簧所承受的最大工作载荷</a:t>
            </a:r>
            <a:r>
              <a:rPr kumimoji="0" lang="en-US" altLang="zh-CN" dirty="0">
                <a:latin typeface="黑体" panose="02010609060101010101" pitchFamily="49" charset="-122"/>
                <a:ea typeface="黑体" panose="02010609060101010101" pitchFamily="49" charset="-122"/>
                <a:cs typeface="黑体" panose="02010609060101010101" pitchFamily="49" charset="-122"/>
              </a:rPr>
              <a:t>F</a:t>
            </a:r>
            <a:r>
              <a:rPr kumimoji="0" lang="en-US" altLang="zh-CN" baseline="-30000" dirty="0">
                <a:latin typeface="黑体" panose="02010609060101010101" pitchFamily="49" charset="-122"/>
                <a:ea typeface="黑体" panose="02010609060101010101" pitchFamily="49" charset="-122"/>
                <a:cs typeface="黑体" panose="02010609060101010101" pitchFamily="49" charset="-122"/>
              </a:rPr>
              <a:t>2</a:t>
            </a:r>
            <a:r>
              <a:rPr kumimoji="0" lang="en-US" altLang="zh-CN" dirty="0">
                <a:latin typeface="黑体" panose="02010609060101010101" pitchFamily="49" charset="-122"/>
                <a:ea typeface="黑体" panose="02010609060101010101" pitchFamily="49" charset="-122"/>
                <a:cs typeface="黑体" panose="02010609060101010101" pitchFamily="49" charset="-122"/>
              </a:rPr>
              <a:t>=150</a:t>
            </a:r>
            <a:r>
              <a:rPr kumimoji="0" lang="zh-CN" altLang="en-US" dirty="0">
                <a:latin typeface="黑体" panose="02010609060101010101" pitchFamily="49" charset="-122"/>
                <a:ea typeface="黑体" panose="02010609060101010101" pitchFamily="49" charset="-122"/>
                <a:cs typeface="黑体" panose="02010609060101010101" pitchFamily="49" charset="-122"/>
              </a:rPr>
              <a:t>（</a:t>
            </a:r>
            <a:r>
              <a:rPr kumimoji="0" lang="en-US" altLang="zh-CN" dirty="0">
                <a:latin typeface="黑体" panose="02010609060101010101" pitchFamily="49" charset="-122"/>
                <a:ea typeface="黑体" panose="02010609060101010101" pitchFamily="49" charset="-122"/>
                <a:cs typeface="黑体" panose="02010609060101010101" pitchFamily="49" charset="-122"/>
              </a:rPr>
              <a:t>N</a:t>
            </a:r>
            <a:r>
              <a:rPr kumimoji="0" lang="zh-CN" altLang="en-US" dirty="0">
                <a:latin typeface="黑体" panose="02010609060101010101" pitchFamily="49" charset="-122"/>
                <a:ea typeface="黑体" panose="02010609060101010101" pitchFamily="49" charset="-122"/>
                <a:cs typeface="黑体" panose="02010609060101010101" pitchFamily="49" charset="-122"/>
              </a:rPr>
              <a:t>），由公式 </a:t>
            </a:r>
            <a:endParaRPr kumimoji="0" lang="zh-CN" altLang="en-US" dirty="0">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4275" name="Object 3"/>
          <p:cNvGraphicFramePr>
            <a:graphicFrameLocks noChangeAspect="1"/>
          </p:cNvGraphicFramePr>
          <p:nvPr/>
        </p:nvGraphicFramePr>
        <p:xfrm>
          <a:off x="3491548" y="2060258"/>
          <a:ext cx="1762125" cy="890587"/>
        </p:xfrm>
        <a:graphic>
          <a:graphicData uri="http://schemas.openxmlformats.org/presentationml/2006/ole">
            <mc:AlternateContent xmlns:mc="http://schemas.openxmlformats.org/markup-compatibility/2006">
              <mc:Choice xmlns:v="urn:schemas-microsoft-com:vml" Requires="v">
                <p:oleObj spid="_x0000_s35852" name="" r:id="rId1" imgW="927100" imgH="469900" progId="Equation.3">
                  <p:embed/>
                </p:oleObj>
              </mc:Choice>
              <mc:Fallback>
                <p:oleObj name="" r:id="rId1" imgW="927100" imgH="469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548" y="2060258"/>
                        <a:ext cx="1762125"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2"/>
          <p:cNvSpPr txBox="1">
            <a:spLocks noChangeArrowheads="1"/>
          </p:cNvSpPr>
          <p:nvPr/>
        </p:nvSpPr>
        <p:spPr bwMode="auto">
          <a:xfrm>
            <a:off x="503238" y="4997450"/>
            <a:ext cx="8154987" cy="93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nSpc>
                <a:spcPts val="3500"/>
              </a:lnSpc>
            </a:pPr>
            <a:r>
              <a:rPr kumimoji="0" lang="zh-CN" altLang="en-US">
                <a:latin typeface="Arial" panose="020B0604020202020204" pitchFamily="34" charset="0"/>
              </a:rPr>
              <a:t>       计算结果与初估直径误差为</a:t>
            </a:r>
            <a:r>
              <a:rPr kumimoji="0" lang="en-US" altLang="zh-CN">
                <a:latin typeface="Arial" panose="020B0604020202020204" pitchFamily="34" charset="0"/>
              </a:rPr>
              <a:t>3.3</a:t>
            </a:r>
            <a:r>
              <a:rPr kumimoji="0" lang="zh-CN" altLang="en-US">
                <a:latin typeface="Arial" panose="020B0604020202020204" pitchFamily="34" charset="0"/>
              </a:rPr>
              <a:t>％，误差较小。但</a:t>
            </a:r>
            <a:r>
              <a:rPr kumimoji="0" lang="en-US" altLang="zh-CN">
                <a:latin typeface="Arial" panose="020B0604020202020204" pitchFamily="34" charset="0"/>
              </a:rPr>
              <a:t>2.9mm</a:t>
            </a:r>
            <a:r>
              <a:rPr kumimoji="0" lang="zh-CN" altLang="en-US">
                <a:latin typeface="Arial" panose="020B0604020202020204" pitchFamily="34" charset="0"/>
              </a:rPr>
              <a:t>的钢丝非标准，故取</a:t>
            </a:r>
            <a:r>
              <a:rPr kumimoji="0" lang="en-US" altLang="zh-CN">
                <a:latin typeface="Times" panose="02020603050405020304" pitchFamily="18" charset="0"/>
              </a:rPr>
              <a:t>d</a:t>
            </a:r>
            <a:r>
              <a:rPr kumimoji="0" lang="zh-CN" altLang="en-US">
                <a:latin typeface="Times" panose="02020603050405020304" pitchFamily="18" charset="0"/>
              </a:rPr>
              <a:t>＝</a:t>
            </a:r>
            <a:r>
              <a:rPr kumimoji="0" lang="en-US" altLang="zh-CN">
                <a:latin typeface="Times" panose="02020603050405020304" pitchFamily="18" charset="0"/>
              </a:rPr>
              <a:t>3mm </a:t>
            </a:r>
            <a:r>
              <a:rPr kumimoji="0" lang="zh-CN" altLang="en-US">
                <a:latin typeface="Times" panose="02020603050405020304" pitchFamily="18" charset="0"/>
              </a:rPr>
              <a:t>。</a:t>
            </a:r>
            <a:r>
              <a:rPr kumimoji="0" lang="zh-CN" altLang="en-US">
                <a:latin typeface="Arial" panose="020B0604020202020204" pitchFamily="34" charset="0"/>
                <a:ea typeface="宋体" panose="02010600030101010101" pitchFamily="2" charset="-122"/>
              </a:rPr>
              <a:t> </a:t>
            </a:r>
            <a:endParaRPr lang="zh-CN" altLang="en-US"/>
          </a:p>
        </p:txBody>
      </p:sp>
      <p:sp>
        <p:nvSpPr>
          <p:cNvPr id="4" name="文本框 3"/>
          <p:cNvSpPr txBox="1">
            <a:spLocks noChangeArrowheads="1"/>
          </p:cNvSpPr>
          <p:nvPr/>
        </p:nvSpPr>
        <p:spPr bwMode="auto">
          <a:xfrm>
            <a:off x="966788" y="3141663"/>
            <a:ext cx="27987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zh-CN" altLang="en-US"/>
              <a:t>可以求得钢丝直径：</a:t>
            </a:r>
            <a:endParaRPr kumimoji="0" lang="zh-CN" altLang="en-US"/>
          </a:p>
        </p:txBody>
      </p:sp>
      <p:pic>
        <p:nvPicPr>
          <p:cNvPr id="35847" name="Picture 39" descr="rewind1">
            <a:hlinkClick r:id="" action="ppaction://hlinkshowjump?jump=firstslid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8" name="Picture 41" descr="NEXT1">
            <a:hlinkClick r:id="" action="ppaction://hlinkshowjump?jump=nextslid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9" name="Picture 50" descr="back1">
            <a:hlinkClick r:id="rId5" action="ppaction://hlinksldjump"/>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a:spLocks noRot="1" noChangeAspect="1" noMove="1" noResize="1" noEditPoints="1" noAdjustHandles="1" noChangeArrowheads="1" noChangeShapeType="1" noTextEdit="1"/>
          </p:cNvSpPr>
          <p:nvPr/>
        </p:nvSpPr>
        <p:spPr>
          <a:xfrm>
            <a:off x="2606837" y="4040222"/>
            <a:ext cx="5253135" cy="643446"/>
          </a:xfrm>
          <a:prstGeom prst="rect">
            <a:avLst/>
          </a:prstGeom>
          <a:blipFill>
            <a:blip r:embed="rId7"/>
            <a:stretch>
              <a:fillRect/>
            </a:stretch>
          </a:blipFill>
        </p:spPr>
        <p:txBody>
          <a:bodyPr/>
          <a:lstStyle/>
          <a:p>
            <a:r>
              <a:rPr lang="zh-CN" altLang="en-US">
                <a:noFill/>
              </a:rPr>
              <a:t> </a:t>
            </a:r>
            <a:endParaRPr lang="zh-CN" altLang="en-US">
              <a:noFill/>
            </a:endParaRPr>
          </a:p>
        </p:txBody>
      </p:sp>
      <p:sp>
        <p:nvSpPr>
          <p:cNvPr id="2" name="Rectangle 2"/>
          <p:cNvSpPr>
            <a:spLocks noGrp="1" noChangeArrowheads="1"/>
          </p:cNvSpPr>
          <p:nvPr/>
        </p:nvSpPr>
        <p:spPr bwMode="auto">
          <a:xfrm>
            <a:off x="571500" y="214313"/>
            <a:ext cx="8572500"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278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wipe(left)">
                                      <p:cBhvr>
                                        <p:cTn id="7" dur="500"/>
                                        <p:tgtEl>
                                          <p:spTgt spid="542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4275"/>
                                        </p:tgtEl>
                                        <p:attrNameLst>
                                          <p:attrName>style.visibility</p:attrName>
                                        </p:attrNameLst>
                                      </p:cBhvr>
                                      <p:to>
                                        <p:strVal val="visible"/>
                                      </p:to>
                                    </p:set>
                                    <p:animEffect transition="in" filter="wipe(left)">
                                      <p:cBhvr>
                                        <p:cTn id="12" dur="500"/>
                                        <p:tgtEl>
                                          <p:spTgt spid="542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bldLvl="0" animBg="1"/>
      <p:bldP spid="3"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299" name="Object 3"/>
          <p:cNvGraphicFramePr>
            <a:graphicFrameLocks noChangeAspect="1"/>
          </p:cNvGraphicFramePr>
          <p:nvPr/>
        </p:nvGraphicFramePr>
        <p:xfrm>
          <a:off x="3230563" y="1712913"/>
          <a:ext cx="1866900" cy="622300"/>
        </p:xfrm>
        <a:graphic>
          <a:graphicData uri="http://schemas.openxmlformats.org/presentationml/2006/ole">
            <mc:AlternateContent xmlns:mc="http://schemas.openxmlformats.org/markup-compatibility/2006">
              <mc:Choice xmlns:v="urn:schemas-microsoft-com:vml" Requires="v">
                <p:oleObj spid="_x0000_s36880" name="" r:id="rId1" imgW="1167765" imgH="393700" progId="Equation.3">
                  <p:embed/>
                </p:oleObj>
              </mc:Choice>
              <mc:Fallback>
                <p:oleObj name="" r:id="rId1" imgW="1167765" imgH="39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0563" y="1712913"/>
                        <a:ext cx="18669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文本框 2"/>
          <p:cNvSpPr txBox="1">
            <a:spLocks noChangeArrowheads="1"/>
          </p:cNvSpPr>
          <p:nvPr/>
        </p:nvSpPr>
        <p:spPr bwMode="auto">
          <a:xfrm>
            <a:off x="1038225" y="828675"/>
            <a:ext cx="4891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a:t>4</a:t>
            </a:r>
            <a:r>
              <a:rPr kumimoji="0" lang="zh-CN" altLang="en-US"/>
              <a:t>）按刚度条件确定弹簧的圈数</a:t>
            </a:r>
            <a:r>
              <a:rPr kumimoji="0" lang="en-US" altLang="zh-CN">
                <a:latin typeface="Times" panose="02020603050405020304" pitchFamily="18" charset="0"/>
              </a:rPr>
              <a:t>n</a:t>
            </a:r>
            <a:endParaRPr kumimoji="0" lang="en-US" altLang="zh-CN">
              <a:ea typeface="宋体" panose="02010600030101010101" pitchFamily="2" charset="-122"/>
              <a:cs typeface="Times New Roman" panose="02020603050405020304" pitchFamily="18" charset="0"/>
            </a:endParaRPr>
          </a:p>
        </p:txBody>
      </p:sp>
      <p:sp>
        <p:nvSpPr>
          <p:cNvPr id="4" name="文本框 3"/>
          <p:cNvSpPr txBox="1">
            <a:spLocks noChangeArrowheads="1"/>
          </p:cNvSpPr>
          <p:nvPr/>
        </p:nvSpPr>
        <p:spPr bwMode="auto">
          <a:xfrm>
            <a:off x="1038225" y="13747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lang="zh-CN" altLang="en-US"/>
              <a:t>由公式</a:t>
            </a:r>
            <a:endParaRPr lang="zh-CN" altLang="en-US"/>
          </a:p>
        </p:txBody>
      </p:sp>
      <p:sp>
        <p:nvSpPr>
          <p:cNvPr id="5" name="文本框 4"/>
          <p:cNvSpPr txBox="1">
            <a:spLocks noChangeArrowheads="1"/>
          </p:cNvSpPr>
          <p:nvPr/>
        </p:nvSpPr>
        <p:spPr bwMode="auto">
          <a:xfrm>
            <a:off x="971550" y="2564448"/>
            <a:ext cx="7042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kumimoji="0" lang="zh-CN" altLang="en-US"/>
              <a:t>可以求得</a:t>
            </a:r>
            <a:r>
              <a:rPr kumimoji="0" lang="en-US" altLang="zh-CN">
                <a:latin typeface="Times" panose="02020603050405020304" pitchFamily="18" charset="0"/>
              </a:rPr>
              <a:t>n = 4.5</a:t>
            </a:r>
            <a:r>
              <a:rPr kumimoji="0" lang="zh-CN" altLang="en-US">
                <a:latin typeface="Times" panose="02020603050405020304" pitchFamily="18" charset="0"/>
              </a:rPr>
              <a:t>。</a:t>
            </a:r>
            <a:r>
              <a:rPr kumimoji="0" lang="zh-CN" altLang="en-US"/>
              <a:t>两端死圈各取为</a:t>
            </a:r>
            <a:r>
              <a:rPr kumimoji="0" lang="en-US" altLang="zh-CN"/>
              <a:t>1</a:t>
            </a:r>
            <a:r>
              <a:rPr kumimoji="0" lang="zh-CN" altLang="en-US"/>
              <a:t>，所以弹簧总圈数为</a:t>
            </a:r>
            <a:r>
              <a:rPr kumimoji="0" lang="en-US" altLang="zh-CN"/>
              <a:t>6.5</a:t>
            </a:r>
            <a:r>
              <a:rPr kumimoji="0" lang="zh-CN" altLang="en-US"/>
              <a:t>。</a:t>
            </a:r>
            <a:endParaRPr kumimoji="0" lang="en-US" altLang="zh-CN">
              <a:ea typeface="宋体" panose="02010600030101010101" pitchFamily="2" charset="-122"/>
            </a:endParaRPr>
          </a:p>
        </p:txBody>
      </p:sp>
      <p:sp>
        <p:nvSpPr>
          <p:cNvPr id="7" name="文本框 6"/>
          <p:cNvSpPr txBox="1">
            <a:spLocks noChangeArrowheads="1"/>
          </p:cNvSpPr>
          <p:nvPr/>
        </p:nvSpPr>
        <p:spPr bwMode="auto">
          <a:xfrm>
            <a:off x="971550" y="3140393"/>
            <a:ext cx="6253163"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a:t>5</a:t>
            </a:r>
            <a:r>
              <a:rPr kumimoji="0" lang="zh-CN" altLang="en-US"/>
              <a:t>）计算弹簧的其它尺寸</a:t>
            </a:r>
            <a:endParaRPr kumimoji="0" lang="zh-CN" altLang="en-US">
              <a:ea typeface="宋体" panose="02010600030101010101" pitchFamily="2" charset="-122"/>
            </a:endParaRPr>
          </a:p>
          <a:p>
            <a:pPr algn="just" eaLnBrk="1" hangingPunct="1">
              <a:spcBef>
                <a:spcPct val="50000"/>
              </a:spcBef>
            </a:pPr>
            <a:r>
              <a:rPr kumimoji="0" lang="zh-CN" altLang="en-US"/>
              <a:t>中径  </a:t>
            </a:r>
            <a:r>
              <a:rPr kumimoji="0" lang="en-US" altLang="zh-CN">
                <a:latin typeface="Times" panose="02020603050405020304" pitchFamily="18" charset="0"/>
              </a:rPr>
              <a:t>D</a:t>
            </a:r>
            <a:r>
              <a:rPr kumimoji="0" lang="zh-CN" altLang="en-US">
                <a:latin typeface="Times" panose="02020603050405020304" pitchFamily="18" charset="0"/>
              </a:rPr>
              <a:t>＝</a:t>
            </a:r>
            <a:r>
              <a:rPr kumimoji="0" lang="en-US" altLang="zh-CN">
                <a:latin typeface="Times" panose="02020603050405020304" pitchFamily="18" charset="0"/>
              </a:rPr>
              <a:t>Cd=10</a:t>
            </a:r>
            <a:r>
              <a:rPr kumimoji="0" lang="en-US" altLang="zh-CN">
                <a:latin typeface="Times" panose="02020603050405020304" pitchFamily="18" charset="0"/>
                <a:ea typeface="隶书" panose="02010509060101010101" pitchFamily="49" charset="-122"/>
              </a:rPr>
              <a:t>×</a:t>
            </a:r>
            <a:r>
              <a:rPr kumimoji="0" lang="en-US" altLang="zh-CN">
                <a:latin typeface="Times" panose="02020603050405020304" pitchFamily="18" charset="0"/>
              </a:rPr>
              <a:t>3=30 </a:t>
            </a:r>
            <a:r>
              <a:rPr kumimoji="0" lang="zh-CN" altLang="en-US">
                <a:latin typeface="Times" panose="02020603050405020304" pitchFamily="18" charset="0"/>
              </a:rPr>
              <a:t>（</a:t>
            </a:r>
            <a:r>
              <a:rPr kumimoji="0" lang="en-US" altLang="zh-CN">
                <a:latin typeface="Times" panose="02020603050405020304" pitchFamily="18" charset="0"/>
              </a:rPr>
              <a:t>mm</a:t>
            </a:r>
            <a:r>
              <a:rPr kumimoji="0" lang="zh-CN" altLang="en-US">
                <a:latin typeface="Times" panose="02020603050405020304" pitchFamily="18" charset="0"/>
              </a:rPr>
              <a:t>）</a:t>
            </a:r>
            <a:endParaRPr kumimoji="0" lang="zh-CN" altLang="en-US">
              <a:ea typeface="宋体" panose="02010600030101010101" pitchFamily="2" charset="-122"/>
            </a:endParaRPr>
          </a:p>
          <a:p>
            <a:pPr eaLnBrk="1" hangingPunct="1">
              <a:spcBef>
                <a:spcPct val="50000"/>
              </a:spcBef>
            </a:pPr>
            <a:r>
              <a:rPr kumimoji="0" lang="zh-CN" altLang="en-US">
                <a:latin typeface="Times" panose="02020603050405020304" pitchFamily="18" charset="0"/>
              </a:rPr>
              <a:t>外径  </a:t>
            </a:r>
            <a:r>
              <a:rPr kumimoji="0" lang="en-US" altLang="zh-CN">
                <a:latin typeface="Times" panose="02020603050405020304" pitchFamily="18" charset="0"/>
              </a:rPr>
              <a:t>D</a:t>
            </a:r>
            <a:r>
              <a:rPr kumimoji="0" lang="en-US" altLang="zh-CN" baseline="-25000">
                <a:latin typeface="Times" panose="02020603050405020304" pitchFamily="18" charset="0"/>
              </a:rPr>
              <a:t>2</a:t>
            </a:r>
            <a:r>
              <a:rPr kumimoji="0" lang="zh-CN" altLang="en-US">
                <a:latin typeface="Times" panose="02020603050405020304" pitchFamily="18" charset="0"/>
              </a:rPr>
              <a:t>＝</a:t>
            </a:r>
            <a:r>
              <a:rPr kumimoji="0" lang="en-US" altLang="zh-CN">
                <a:latin typeface="Times" panose="02020603050405020304" pitchFamily="18" charset="0"/>
              </a:rPr>
              <a:t>D</a:t>
            </a:r>
            <a:r>
              <a:rPr kumimoji="0" lang="zh-CN" altLang="en-US">
                <a:latin typeface="Times" panose="02020603050405020304" pitchFamily="18" charset="0"/>
              </a:rPr>
              <a:t>＋</a:t>
            </a:r>
            <a:r>
              <a:rPr kumimoji="0" lang="en-US" altLang="zh-CN">
                <a:latin typeface="Times" panose="02020603050405020304" pitchFamily="18" charset="0"/>
              </a:rPr>
              <a:t>d=10</a:t>
            </a:r>
            <a:r>
              <a:rPr kumimoji="0" lang="en-US" altLang="zh-CN">
                <a:latin typeface="Times" panose="02020603050405020304" pitchFamily="18" charset="0"/>
                <a:ea typeface="隶书" panose="02010509060101010101" pitchFamily="49" charset="-122"/>
              </a:rPr>
              <a:t>×</a:t>
            </a:r>
            <a:r>
              <a:rPr kumimoji="0" lang="en-US" altLang="zh-CN">
                <a:latin typeface="Times" panose="02020603050405020304" pitchFamily="18" charset="0"/>
              </a:rPr>
              <a:t>3</a:t>
            </a:r>
            <a:r>
              <a:rPr kumimoji="0" lang="zh-CN" altLang="en-US">
                <a:latin typeface="Times" panose="02020603050405020304" pitchFamily="18" charset="0"/>
              </a:rPr>
              <a:t>＋</a:t>
            </a:r>
            <a:r>
              <a:rPr kumimoji="0" lang="en-US" altLang="zh-CN">
                <a:latin typeface="Times" panose="02020603050405020304" pitchFamily="18" charset="0"/>
              </a:rPr>
              <a:t>3=33 </a:t>
            </a:r>
            <a:r>
              <a:rPr kumimoji="0" lang="zh-CN" altLang="en-US">
                <a:latin typeface="Times" panose="02020603050405020304" pitchFamily="18" charset="0"/>
              </a:rPr>
              <a:t>（</a:t>
            </a:r>
            <a:r>
              <a:rPr kumimoji="0" lang="en-US" altLang="zh-CN">
                <a:latin typeface="Times" panose="02020603050405020304" pitchFamily="18" charset="0"/>
              </a:rPr>
              <a:t>mm</a:t>
            </a:r>
            <a:r>
              <a:rPr kumimoji="0" lang="zh-CN" altLang="en-US">
                <a:latin typeface="Times" panose="02020603050405020304" pitchFamily="18" charset="0"/>
              </a:rPr>
              <a:t>）</a:t>
            </a:r>
            <a:endParaRPr kumimoji="0" lang="en-US" altLang="zh-CN">
              <a:latin typeface="Times" panose="02020603050405020304" pitchFamily="18" charset="0"/>
            </a:endParaRPr>
          </a:p>
          <a:p>
            <a:pPr eaLnBrk="1" hangingPunct="1">
              <a:spcBef>
                <a:spcPct val="50000"/>
              </a:spcBef>
            </a:pPr>
            <a:r>
              <a:rPr kumimoji="0" lang="zh-CN" altLang="en-US">
                <a:latin typeface="Times" panose="02020603050405020304" pitchFamily="18" charset="0"/>
              </a:rPr>
              <a:t>内径  </a:t>
            </a:r>
            <a:r>
              <a:rPr kumimoji="0" lang="en-US" altLang="zh-CN">
                <a:latin typeface="Times" panose="02020603050405020304" pitchFamily="18" charset="0"/>
              </a:rPr>
              <a:t>D</a:t>
            </a:r>
            <a:r>
              <a:rPr kumimoji="0" lang="en-US" altLang="zh-CN" baseline="-30000">
                <a:latin typeface="Times" panose="02020603050405020304" pitchFamily="18" charset="0"/>
              </a:rPr>
              <a:t>1</a:t>
            </a:r>
            <a:r>
              <a:rPr kumimoji="0" lang="zh-CN" altLang="en-US">
                <a:latin typeface="Times" panose="02020603050405020304" pitchFamily="18" charset="0"/>
              </a:rPr>
              <a:t>＝</a:t>
            </a:r>
            <a:r>
              <a:rPr kumimoji="0" lang="en-US" altLang="zh-CN">
                <a:latin typeface="Times" panose="02020603050405020304" pitchFamily="18" charset="0"/>
              </a:rPr>
              <a:t>D</a:t>
            </a:r>
            <a:r>
              <a:rPr kumimoji="0" lang="zh-CN" altLang="en-US">
                <a:latin typeface="Times" panose="02020603050405020304" pitchFamily="18" charset="0"/>
              </a:rPr>
              <a:t>－</a:t>
            </a:r>
            <a:r>
              <a:rPr kumimoji="0" lang="en-US" altLang="zh-CN">
                <a:latin typeface="Times" panose="02020603050405020304" pitchFamily="18" charset="0"/>
              </a:rPr>
              <a:t>d=10</a:t>
            </a:r>
            <a:r>
              <a:rPr kumimoji="0" lang="en-US" altLang="zh-CN">
                <a:latin typeface="Times" panose="02020603050405020304" pitchFamily="18" charset="0"/>
                <a:ea typeface="隶书" panose="02010509060101010101" pitchFamily="49" charset="-122"/>
              </a:rPr>
              <a:t>×</a:t>
            </a:r>
            <a:r>
              <a:rPr kumimoji="0" lang="en-US" altLang="zh-CN">
                <a:latin typeface="Times" panose="02020603050405020304" pitchFamily="18" charset="0"/>
              </a:rPr>
              <a:t>3</a:t>
            </a:r>
            <a:r>
              <a:rPr kumimoji="0" lang="zh-CN" altLang="en-US">
                <a:latin typeface="Times" panose="02020603050405020304" pitchFamily="18" charset="0"/>
              </a:rPr>
              <a:t>－</a:t>
            </a:r>
            <a:r>
              <a:rPr kumimoji="0" lang="en-US" altLang="zh-CN">
                <a:latin typeface="Times" panose="02020603050405020304" pitchFamily="18" charset="0"/>
              </a:rPr>
              <a:t>3=27 </a:t>
            </a:r>
            <a:r>
              <a:rPr kumimoji="0" lang="zh-CN" altLang="en-US">
                <a:latin typeface="Times" panose="02020603050405020304" pitchFamily="18" charset="0"/>
              </a:rPr>
              <a:t>（</a:t>
            </a:r>
            <a:r>
              <a:rPr kumimoji="0" lang="en-US" altLang="zh-CN">
                <a:latin typeface="Times" panose="02020603050405020304" pitchFamily="18" charset="0"/>
              </a:rPr>
              <a:t>mm</a:t>
            </a:r>
            <a:r>
              <a:rPr kumimoji="0" lang="zh-CN" altLang="en-US">
                <a:latin typeface="Times" panose="02020603050405020304" pitchFamily="18" charset="0"/>
              </a:rPr>
              <a:t>）</a:t>
            </a:r>
            <a:endParaRPr kumimoji="0" lang="en-US" altLang="zh-CN">
              <a:latin typeface="Times" panose="02020603050405020304" pitchFamily="18" charset="0"/>
            </a:endParaRPr>
          </a:p>
          <a:p>
            <a:pPr eaLnBrk="1" hangingPunct="1">
              <a:spcBef>
                <a:spcPct val="50000"/>
              </a:spcBef>
            </a:pPr>
            <a:r>
              <a:rPr kumimoji="0" lang="zh-CN" altLang="en-US">
                <a:latin typeface="Arial" panose="020B0604020202020204" pitchFamily="34" charset="0"/>
                <a:ea typeface="宋体" panose="02010600030101010101" pitchFamily="2" charset="-122"/>
              </a:rPr>
              <a:t> </a:t>
            </a:r>
            <a:endParaRPr kumimoji="0" lang="zh-CN" altLang="en-US">
              <a:latin typeface="Arial" panose="020B0604020202020204" pitchFamily="34" charset="0"/>
              <a:ea typeface="宋体" panose="02010600030101010101" pitchFamily="2" charset="-122"/>
            </a:endParaRPr>
          </a:p>
        </p:txBody>
      </p:sp>
      <p:sp>
        <p:nvSpPr>
          <p:cNvPr id="8" name="文本框 7"/>
          <p:cNvSpPr txBox="1">
            <a:spLocks noChangeArrowheads="1"/>
          </p:cNvSpPr>
          <p:nvPr/>
        </p:nvSpPr>
        <p:spPr bwMode="auto">
          <a:xfrm>
            <a:off x="1038225" y="5214938"/>
            <a:ext cx="781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zh-CN" altLang="en-US">
                <a:latin typeface="Times" panose="02020603050405020304" pitchFamily="18" charset="0"/>
              </a:rPr>
              <a:t>间距</a:t>
            </a:r>
            <a:r>
              <a:rPr kumimoji="0" lang="en-US" altLang="zh-CN"/>
              <a:t>δ:  δ ≥                                </a:t>
            </a:r>
            <a:r>
              <a:rPr kumimoji="0" lang="zh-CN" altLang="en-US">
                <a:latin typeface="Arial" panose="020B0604020202020204" pitchFamily="34" charset="0"/>
              </a:rPr>
              <a:t>＝</a:t>
            </a:r>
            <a:r>
              <a:rPr kumimoji="0" lang="en-US" altLang="zh-CN"/>
              <a:t>6.25</a:t>
            </a:r>
            <a:r>
              <a:rPr kumimoji="0" lang="zh-CN" altLang="en-US">
                <a:latin typeface="Arial" panose="020B0604020202020204" pitchFamily="34" charset="0"/>
              </a:rPr>
              <a:t>（</a:t>
            </a:r>
            <a:r>
              <a:rPr kumimoji="0" lang="en-US" altLang="zh-CN"/>
              <a:t>mm</a:t>
            </a:r>
            <a:r>
              <a:rPr kumimoji="0" lang="zh-CN" altLang="en-US">
                <a:latin typeface="Arial" panose="020B0604020202020204" pitchFamily="34" charset="0"/>
              </a:rPr>
              <a:t>），取</a:t>
            </a:r>
            <a:r>
              <a:rPr kumimoji="0" lang="en-US" altLang="zh-CN"/>
              <a:t>δ</a:t>
            </a:r>
            <a:r>
              <a:rPr kumimoji="0" lang="zh-CN" altLang="en-US">
                <a:latin typeface="Arial" panose="020B0604020202020204" pitchFamily="34" charset="0"/>
              </a:rPr>
              <a:t>＝</a:t>
            </a:r>
            <a:r>
              <a:rPr kumimoji="0" lang="en-US" altLang="zh-CN"/>
              <a:t>7</a:t>
            </a:r>
            <a:r>
              <a:rPr kumimoji="0" lang="zh-CN" altLang="en-US">
                <a:latin typeface="Arial" panose="020B0604020202020204" pitchFamily="34" charset="0"/>
              </a:rPr>
              <a:t>（</a:t>
            </a:r>
            <a:r>
              <a:rPr kumimoji="0" lang="en-US" altLang="zh-CN"/>
              <a:t>mm</a:t>
            </a:r>
            <a:r>
              <a:rPr kumimoji="0" lang="zh-CN" altLang="en-US">
                <a:latin typeface="Arial" panose="020B0604020202020204" pitchFamily="34" charset="0"/>
              </a:rPr>
              <a:t>）。</a:t>
            </a:r>
            <a:endParaRPr kumimoji="0" lang="zh-CN" altLang="en-US">
              <a:ea typeface="宋体" panose="02010600030101010101" pitchFamily="2" charset="-122"/>
            </a:endParaRPr>
          </a:p>
        </p:txBody>
      </p:sp>
      <p:graphicFrame>
        <p:nvGraphicFramePr>
          <p:cNvPr id="11" name="Object 3"/>
          <p:cNvGraphicFramePr>
            <a:graphicFrameLocks noChangeAspect="1"/>
          </p:cNvGraphicFramePr>
          <p:nvPr/>
        </p:nvGraphicFramePr>
        <p:xfrm>
          <a:off x="2382838" y="5135563"/>
          <a:ext cx="1920875" cy="555625"/>
        </p:xfrm>
        <a:graphic>
          <a:graphicData uri="http://schemas.openxmlformats.org/presentationml/2006/ole">
            <mc:AlternateContent xmlns:mc="http://schemas.openxmlformats.org/markup-compatibility/2006">
              <mc:Choice xmlns:v="urn:schemas-microsoft-com:vml" Requires="v">
                <p:oleObj spid="_x0000_s36881" name="" r:id="rId3" imgW="1422400" imgH="406400" progId="Equation.3">
                  <p:embed/>
                </p:oleObj>
              </mc:Choice>
              <mc:Fallback>
                <p:oleObj name="" r:id="rId3" imgW="1422400" imgH="406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2838" y="5135563"/>
                        <a:ext cx="192087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文本框 8"/>
          <p:cNvSpPr txBox="1">
            <a:spLocks noChangeArrowheads="1"/>
          </p:cNvSpPr>
          <p:nvPr/>
        </p:nvSpPr>
        <p:spPr bwMode="auto">
          <a:xfrm>
            <a:off x="971550" y="5876925"/>
            <a:ext cx="668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zh-CN" altLang="en-US">
                <a:latin typeface="Times" panose="02020603050405020304" pitchFamily="18" charset="0"/>
              </a:rPr>
              <a:t>节距</a:t>
            </a:r>
            <a:r>
              <a:rPr kumimoji="0" lang="en-US" altLang="zh-CN">
                <a:latin typeface="Times" panose="02020603050405020304" pitchFamily="18" charset="0"/>
              </a:rPr>
              <a:t>p:   p=</a:t>
            </a:r>
            <a:r>
              <a:rPr kumimoji="0" lang="en-US" altLang="zh-CN"/>
              <a:t>δ+d=7+3=10 (mm)</a:t>
            </a:r>
            <a:endParaRPr kumimoji="0" lang="en-US" altLang="zh-CN">
              <a:ea typeface="宋体" panose="02010600030101010101" pitchFamily="2" charset="-122"/>
            </a:endParaRPr>
          </a:p>
        </p:txBody>
      </p:sp>
      <p:pic>
        <p:nvPicPr>
          <p:cNvPr id="36875" name="Picture 39" descr="rewind1">
            <a:hlinkClick r:id="" action="ppaction://hlinkshowjump?jump=firstslid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6" name="Picture 41" descr="NEXT1">
            <a:hlinkClick r:id="" action="ppaction://hlinkshowjump?jump=nextslide"/>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7" name="Picture 50" descr="back1">
            <a:hlinkClick r:id="rId7" action="ppaction://hlinksldjump"/>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Grp="1" noChangeArrowheads="1"/>
          </p:cNvSpPr>
          <p:nvPr/>
        </p:nvSpPr>
        <p:spPr bwMode="auto">
          <a:xfrm>
            <a:off x="571500" y="214313"/>
            <a:ext cx="8572500"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278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5299"/>
                                        </p:tgtEl>
                                        <p:attrNameLst>
                                          <p:attrName>style.visibility</p:attrName>
                                        </p:attrNameLst>
                                      </p:cBhvr>
                                      <p:to>
                                        <p:strVal val="visible"/>
                                      </p:to>
                                    </p:set>
                                    <p:animEffect transition="in" filter="wipe(left)">
                                      <p:cBhvr>
                                        <p:cTn id="17" dur="500"/>
                                        <p:tgtEl>
                                          <p:spTgt spid="552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par>
                                <p:cTn id="33" presetID="22" presetClass="entr" presetSubtype="8"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8" grpId="0"/>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971550" y="3288665"/>
            <a:ext cx="80772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a:latin typeface="黑体" panose="02010609060101010101" pitchFamily="49" charset="-122"/>
                <a:ea typeface="黑体" panose="02010609060101010101" pitchFamily="49" charset="-122"/>
                <a:cs typeface="黑体" panose="02010609060101010101" pitchFamily="49" charset="-122"/>
              </a:rPr>
              <a:t>6</a:t>
            </a:r>
            <a:r>
              <a:rPr kumimoji="0" lang="zh-CN" altLang="en-US">
                <a:latin typeface="黑体" panose="02010609060101010101" pitchFamily="49" charset="-122"/>
                <a:ea typeface="黑体" panose="02010609060101010101" pitchFamily="49" charset="-122"/>
                <a:cs typeface="黑体" panose="02010609060101010101" pitchFamily="49" charset="-122"/>
              </a:rPr>
              <a:t>）验算弹簧的稳定性 </a:t>
            </a:r>
            <a:endParaRPr kumimoji="0" lang="zh-CN" altLang="en-US">
              <a:latin typeface="黑体" panose="02010609060101010101" pitchFamily="49" charset="-122"/>
              <a:ea typeface="黑体" panose="02010609060101010101" pitchFamily="49" charset="-122"/>
              <a:cs typeface="黑体" panose="02010609060101010101" pitchFamily="49" charset="-122"/>
            </a:endParaRPr>
          </a:p>
          <a:p>
            <a:pPr algn="just" eaLnBrk="1" hangingPunct="1">
              <a:spcBef>
                <a:spcPct val="50000"/>
              </a:spcBef>
            </a:pPr>
            <a:r>
              <a:rPr kumimoji="0" lang="zh-CN" altLang="en-US">
                <a:latin typeface="黑体" panose="02010609060101010101" pitchFamily="49" charset="-122"/>
                <a:ea typeface="黑体" panose="02010609060101010101" pitchFamily="49" charset="-122"/>
                <a:cs typeface="黑体" panose="02010609060101010101" pitchFamily="49" charset="-122"/>
              </a:rPr>
              <a:t>此弹簧为两端固定，其高径比</a:t>
            </a:r>
            <a:r>
              <a:rPr kumimoji="0" lang="en-US" altLang="zh-CN">
                <a:latin typeface="黑体" panose="02010609060101010101" pitchFamily="49" charset="-122"/>
                <a:ea typeface="黑体" panose="02010609060101010101" pitchFamily="49" charset="-122"/>
                <a:cs typeface="黑体" panose="02010609060101010101" pitchFamily="49" charset="-122"/>
              </a:rPr>
              <a:t>b</a:t>
            </a:r>
            <a:r>
              <a:rPr kumimoji="0" lang="zh-CN" altLang="en-US">
                <a:latin typeface="黑体" panose="02010609060101010101" pitchFamily="49" charset="-122"/>
                <a:ea typeface="黑体" panose="02010609060101010101" pitchFamily="49" charset="-122"/>
                <a:cs typeface="黑体" panose="02010609060101010101" pitchFamily="49" charset="-122"/>
              </a:rPr>
              <a:t>为：</a:t>
            </a:r>
            <a:endParaRPr kumimoji="0" lang="zh-CN" altLang="en-US">
              <a:latin typeface="黑体" panose="02010609060101010101" pitchFamily="49" charset="-122"/>
              <a:ea typeface="黑体" panose="02010609060101010101" pitchFamily="49" charset="-122"/>
              <a:cs typeface="黑体" panose="02010609060101010101" pitchFamily="49" charset="-122"/>
            </a:endParaRPr>
          </a:p>
        </p:txBody>
      </p:sp>
      <p:graphicFrame>
        <p:nvGraphicFramePr>
          <p:cNvPr id="57347" name="Object 3"/>
          <p:cNvGraphicFramePr>
            <a:graphicFrameLocks noChangeAspect="1"/>
          </p:cNvGraphicFramePr>
          <p:nvPr/>
        </p:nvGraphicFramePr>
        <p:xfrm>
          <a:off x="3128963" y="4476750"/>
          <a:ext cx="2027237" cy="722313"/>
        </p:xfrm>
        <a:graphic>
          <a:graphicData uri="http://schemas.openxmlformats.org/presentationml/2006/ole">
            <mc:AlternateContent xmlns:mc="http://schemas.openxmlformats.org/markup-compatibility/2006">
              <mc:Choice xmlns:v="urn:schemas-microsoft-com:vml" Requires="v">
                <p:oleObj spid="_x0000_s37905" name="" r:id="rId1" imgW="1256665" imgH="444500" progId="Equation.3">
                  <p:embed/>
                </p:oleObj>
              </mc:Choice>
              <mc:Fallback>
                <p:oleObj name="" r:id="rId1" imgW="1256665" imgH="4445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8963" y="4476750"/>
                        <a:ext cx="2027237"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文本框 5"/>
          <p:cNvSpPr txBox="1">
            <a:spLocks noChangeArrowheads="1"/>
          </p:cNvSpPr>
          <p:nvPr/>
        </p:nvSpPr>
        <p:spPr bwMode="auto">
          <a:xfrm>
            <a:off x="1017588" y="1658938"/>
            <a:ext cx="579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zh-CN" altLang="en-US">
                <a:latin typeface="Times" panose="02020603050405020304" pitchFamily="18" charset="0"/>
              </a:rPr>
              <a:t>螺旋升角</a:t>
            </a:r>
            <a:r>
              <a:rPr kumimoji="0" lang="en-US" altLang="zh-CN">
                <a:ea typeface="隶书" panose="02010509060101010101" pitchFamily="49" charset="-122"/>
              </a:rPr>
              <a:t>α:                         </a:t>
            </a:r>
            <a:r>
              <a:rPr kumimoji="0" lang="en-US" altLang="zh-CN">
                <a:latin typeface="Times" panose="02020603050405020304" pitchFamily="18" charset="0"/>
              </a:rPr>
              <a:t>   </a:t>
            </a:r>
            <a:r>
              <a:rPr kumimoji="0" lang="zh-CN" altLang="en-US">
                <a:latin typeface="Times" panose="02020603050405020304" pitchFamily="18" charset="0"/>
              </a:rPr>
              <a:t>＝</a:t>
            </a:r>
            <a:r>
              <a:rPr kumimoji="0" lang="en-US" altLang="zh-CN">
                <a:latin typeface="Times" panose="02020603050405020304" pitchFamily="18" charset="0"/>
              </a:rPr>
              <a:t>6.06</a:t>
            </a:r>
            <a:r>
              <a:rPr kumimoji="0" lang="en-US" altLang="zh-CN">
                <a:latin typeface="Arial" panose="020B0604020202020204" pitchFamily="34" charset="0"/>
              </a:rPr>
              <a:t>º</a:t>
            </a:r>
            <a:endParaRPr kumimoji="0" lang="en-US" altLang="zh-CN">
              <a:ea typeface="宋体" panose="02010600030101010101" pitchFamily="2" charset="-122"/>
            </a:endParaRPr>
          </a:p>
        </p:txBody>
      </p:sp>
      <p:graphicFrame>
        <p:nvGraphicFramePr>
          <p:cNvPr id="7" name="Object 4"/>
          <p:cNvGraphicFramePr>
            <a:graphicFrameLocks noChangeAspect="1"/>
          </p:cNvGraphicFramePr>
          <p:nvPr/>
        </p:nvGraphicFramePr>
        <p:xfrm>
          <a:off x="2557463" y="1560513"/>
          <a:ext cx="1449387" cy="633412"/>
        </p:xfrm>
        <a:graphic>
          <a:graphicData uri="http://schemas.openxmlformats.org/presentationml/2006/ole">
            <mc:AlternateContent xmlns:mc="http://schemas.openxmlformats.org/markup-compatibility/2006">
              <mc:Choice xmlns:v="urn:schemas-microsoft-com:vml" Requires="v">
                <p:oleObj spid="_x0000_s37906" name="" r:id="rId3" imgW="977900" imgH="431800" progId="Equation.3">
                  <p:embed/>
                </p:oleObj>
              </mc:Choice>
              <mc:Fallback>
                <p:oleObj name="" r:id="rId3" imgW="9779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7463" y="1560513"/>
                        <a:ext cx="1449387"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矩形 4"/>
          <p:cNvSpPr>
            <a:spLocks noChangeArrowheads="1"/>
          </p:cNvSpPr>
          <p:nvPr/>
        </p:nvSpPr>
        <p:spPr bwMode="auto">
          <a:xfrm>
            <a:off x="1017588" y="2471738"/>
            <a:ext cx="5118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eaLnBrk="1" hangingPunct="1">
              <a:spcBef>
                <a:spcPct val="50000"/>
              </a:spcBef>
            </a:pPr>
            <a:r>
              <a:rPr kumimoji="0" lang="zh-CN" altLang="en-US">
                <a:latin typeface="Times" panose="02020603050405020304" pitchFamily="18" charset="0"/>
              </a:rPr>
              <a:t>弹簧丝展开长度</a:t>
            </a:r>
            <a:r>
              <a:rPr kumimoji="0" lang="en-US" altLang="zh-CN">
                <a:latin typeface="Times" panose="02020603050405020304" pitchFamily="18" charset="0"/>
              </a:rPr>
              <a:t>L :                   =  616</a:t>
            </a:r>
            <a:r>
              <a:rPr kumimoji="0" lang="zh-CN" altLang="en-US">
                <a:latin typeface="Times" panose="02020603050405020304" pitchFamily="18" charset="0"/>
              </a:rPr>
              <a:t>（</a:t>
            </a:r>
            <a:r>
              <a:rPr kumimoji="0" lang="en-US" altLang="zh-CN">
                <a:latin typeface="Times" panose="02020603050405020304" pitchFamily="18" charset="0"/>
              </a:rPr>
              <a:t>mm</a:t>
            </a:r>
            <a:r>
              <a:rPr kumimoji="0" lang="zh-CN" altLang="en-US">
                <a:latin typeface="Times" panose="02020603050405020304" pitchFamily="18" charset="0"/>
              </a:rPr>
              <a:t>）</a:t>
            </a:r>
            <a:r>
              <a:rPr kumimoji="0" lang="zh-CN" altLang="en-US">
                <a:latin typeface="Arial" panose="020B0604020202020204" pitchFamily="34" charset="0"/>
                <a:ea typeface="宋体" panose="02010600030101010101" pitchFamily="2" charset="-122"/>
              </a:rPr>
              <a:t> </a:t>
            </a:r>
            <a:endParaRPr kumimoji="0" lang="zh-CN" altLang="en-US">
              <a:latin typeface="Arial" panose="020B0604020202020204" pitchFamily="34" charset="0"/>
              <a:ea typeface="宋体" panose="02010600030101010101" pitchFamily="2" charset="-122"/>
            </a:endParaRPr>
          </a:p>
        </p:txBody>
      </p:sp>
      <p:graphicFrame>
        <p:nvGraphicFramePr>
          <p:cNvPr id="10" name="Object 5"/>
          <p:cNvGraphicFramePr>
            <a:graphicFrameLocks noChangeAspect="1"/>
          </p:cNvGraphicFramePr>
          <p:nvPr/>
        </p:nvGraphicFramePr>
        <p:xfrm>
          <a:off x="3238500" y="2360613"/>
          <a:ext cx="1019175" cy="600075"/>
        </p:xfrm>
        <a:graphic>
          <a:graphicData uri="http://schemas.openxmlformats.org/presentationml/2006/ole">
            <mc:AlternateContent xmlns:mc="http://schemas.openxmlformats.org/markup-compatibility/2006">
              <mc:Choice xmlns:v="urn:schemas-microsoft-com:vml" Requires="v">
                <p:oleObj spid="_x0000_s37907" name="" r:id="rId5" imgW="698500" imgH="406400" progId="Equation.3">
                  <p:embed/>
                </p:oleObj>
              </mc:Choice>
              <mc:Fallback>
                <p:oleObj name="" r:id="rId5" imgW="698500" imgH="406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0" y="2360613"/>
                        <a:ext cx="10191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7"/>
          <p:cNvSpPr txBox="1">
            <a:spLocks noChangeArrowheads="1"/>
          </p:cNvSpPr>
          <p:nvPr/>
        </p:nvSpPr>
        <p:spPr bwMode="auto">
          <a:xfrm>
            <a:off x="1117600" y="5305425"/>
            <a:ext cx="3424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r>
              <a:rPr kumimoji="0" lang="zh-CN" altLang="en-US">
                <a:latin typeface="Times" panose="02020603050405020304" pitchFamily="18" charset="0"/>
              </a:rPr>
              <a:t> 故满足稳定要求。</a:t>
            </a:r>
            <a:endParaRPr lang="zh-CN" altLang="en-US"/>
          </a:p>
        </p:txBody>
      </p:sp>
      <p:sp>
        <p:nvSpPr>
          <p:cNvPr id="12" name="文本框 11"/>
          <p:cNvSpPr txBox="1">
            <a:spLocks noChangeArrowheads="1"/>
          </p:cNvSpPr>
          <p:nvPr/>
        </p:nvSpPr>
        <p:spPr bwMode="auto">
          <a:xfrm>
            <a:off x="1017588" y="992188"/>
            <a:ext cx="7524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zh-CN" altLang="en-US">
                <a:latin typeface="Times" panose="02020603050405020304" pitchFamily="18" charset="0"/>
              </a:rPr>
              <a:t>自由高度</a:t>
            </a:r>
            <a:r>
              <a:rPr kumimoji="0" lang="en-US" altLang="zh-CN">
                <a:latin typeface="Times" panose="02020603050405020304" pitchFamily="18" charset="0"/>
              </a:rPr>
              <a:t>H</a:t>
            </a:r>
            <a:r>
              <a:rPr kumimoji="0" lang="en-US" altLang="zh-CN" baseline="-30000">
                <a:latin typeface="Times" panose="02020603050405020304" pitchFamily="18" charset="0"/>
              </a:rPr>
              <a:t>0 </a:t>
            </a:r>
            <a:r>
              <a:rPr kumimoji="0" lang="en-US" altLang="zh-CN">
                <a:latin typeface="Times" panose="02020603050405020304" pitchFamily="18" charset="0"/>
              </a:rPr>
              <a:t> </a:t>
            </a:r>
            <a:r>
              <a:rPr kumimoji="0" lang="zh-CN" altLang="en-US">
                <a:latin typeface="Times" panose="02020603050405020304" pitchFamily="18" charset="0"/>
              </a:rPr>
              <a:t>端部采用</a:t>
            </a:r>
            <a:r>
              <a:rPr kumimoji="0" lang="en-US" altLang="zh-CN">
                <a:latin typeface="Times" panose="02020603050405020304" pitchFamily="18" charset="0"/>
              </a:rPr>
              <a:t>YI</a:t>
            </a:r>
            <a:r>
              <a:rPr kumimoji="0" lang="zh-CN" altLang="en-US">
                <a:latin typeface="Times" panose="02020603050405020304" pitchFamily="18" charset="0"/>
              </a:rPr>
              <a:t>型结构，所以</a:t>
            </a:r>
            <a:r>
              <a:rPr kumimoji="0" lang="en-US" altLang="zh-CN">
                <a:latin typeface="Times" panose="02020603050405020304" pitchFamily="18" charset="0"/>
              </a:rPr>
              <a:t>H</a:t>
            </a:r>
            <a:r>
              <a:rPr kumimoji="0" lang="en-US" altLang="zh-CN" baseline="-30000">
                <a:latin typeface="Times" panose="02020603050405020304" pitchFamily="18" charset="0"/>
              </a:rPr>
              <a:t>0</a:t>
            </a:r>
            <a:r>
              <a:rPr kumimoji="0" lang="zh-CN" altLang="en-US">
                <a:latin typeface="Times" panose="02020603050405020304" pitchFamily="18" charset="0"/>
              </a:rPr>
              <a:t>＝</a:t>
            </a:r>
            <a:r>
              <a:rPr kumimoji="0" lang="en-US" altLang="zh-CN">
                <a:latin typeface="Times" panose="02020603050405020304" pitchFamily="18" charset="0"/>
              </a:rPr>
              <a:t>n</a:t>
            </a:r>
            <a:r>
              <a:rPr kumimoji="0" lang="en-US" altLang="zh-CN"/>
              <a:t>δ+(n</a:t>
            </a:r>
            <a:r>
              <a:rPr kumimoji="0" lang="en-US" altLang="zh-CN" baseline="-30000"/>
              <a:t>1</a:t>
            </a:r>
            <a:r>
              <a:rPr kumimoji="0" lang="en-US" altLang="zh-CN"/>
              <a:t>-0.5)d=49.5</a:t>
            </a:r>
            <a:r>
              <a:rPr kumimoji="0" lang="zh-CN" altLang="en-US">
                <a:latin typeface="Arial" panose="020B0604020202020204" pitchFamily="34" charset="0"/>
              </a:rPr>
              <a:t>（</a:t>
            </a:r>
            <a:r>
              <a:rPr kumimoji="0" lang="en-US" altLang="zh-CN"/>
              <a:t>mm</a:t>
            </a:r>
            <a:r>
              <a:rPr kumimoji="0" lang="zh-CN" altLang="en-US">
                <a:latin typeface="Arial" panose="020B0604020202020204" pitchFamily="34" charset="0"/>
              </a:rPr>
              <a:t>）</a:t>
            </a:r>
            <a:endParaRPr kumimoji="0" lang="zh-CN" altLang="en-US">
              <a:ea typeface="宋体" panose="02010600030101010101" pitchFamily="2" charset="-122"/>
            </a:endParaRPr>
          </a:p>
        </p:txBody>
      </p:sp>
      <p:pic>
        <p:nvPicPr>
          <p:cNvPr id="37899" name="Picture 39" descr="rewind1">
            <a:hlinkClick r:id="" action="ppaction://hlinkshowjump?jump=firstslid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15288" y="6570663"/>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Picture 41" descr="NEXT1">
            <a:hlinkClick r:id="" action="ppaction://hlinkshowjump?jump=nextslide"/>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716963" y="6570663"/>
            <a:ext cx="2857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1" name="Picture 50" descr="back1">
            <a:hlinkClick r:id="rId9" action="ppaction://hlinksldjump"/>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366125"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Grp="1" noChangeArrowheads="1"/>
          </p:cNvSpPr>
          <p:nvPr/>
        </p:nvSpPr>
        <p:spPr bwMode="auto">
          <a:xfrm>
            <a:off x="571500" y="214313"/>
            <a:ext cx="8572500"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278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par>
                                <p:cTn id="21" presetID="22" presetClass="entr" presetSubtype="8"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57346"/>
                                        </p:tgtEl>
                                        <p:attrNameLst>
                                          <p:attrName>style.visibility</p:attrName>
                                        </p:attrNameLst>
                                      </p:cBhvr>
                                      <p:to>
                                        <p:strVal val="visible"/>
                                      </p:to>
                                    </p:set>
                                    <p:animEffect transition="in" filter="wipe(left)">
                                      <p:cBhvr>
                                        <p:cTn id="28" dur="500"/>
                                        <p:tgtEl>
                                          <p:spTgt spid="5734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7347"/>
                                        </p:tgtEl>
                                        <p:attrNameLst>
                                          <p:attrName>style.visibility</p:attrName>
                                        </p:attrNameLst>
                                      </p:cBhvr>
                                      <p:to>
                                        <p:strVal val="visible"/>
                                      </p:to>
                                    </p:set>
                                    <p:animEffect transition="in" filter="wipe(left)">
                                      <p:cBhvr>
                                        <p:cTn id="33" dur="500"/>
                                        <p:tgtEl>
                                          <p:spTgt spid="5734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ldLvl="0" animBg="1"/>
      <p:bldP spid="6" grpId="0"/>
      <p:bldP spid="5" grpId="0"/>
      <p:bldP spid="8"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933450" y="906463"/>
            <a:ext cx="762000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000">
                <a:solidFill>
                  <a:schemeClr val="tx1"/>
                </a:solidFill>
                <a:latin typeface="Times New Roman" panose="02020603050405020304" pitchFamily="18" charset="0"/>
                <a:ea typeface="华文中宋" panose="02010600040101010101" pitchFamily="2" charset="-122"/>
              </a:defRPr>
            </a:lvl1pPr>
            <a:lvl2pPr marL="742950" indent="-285750">
              <a:defRPr kumimoji="1" sz="2000">
                <a:solidFill>
                  <a:schemeClr val="tx1"/>
                </a:solidFill>
                <a:latin typeface="Times New Roman" panose="02020603050405020304" pitchFamily="18" charset="0"/>
                <a:ea typeface="华文中宋" panose="02010600040101010101" pitchFamily="2" charset="-122"/>
              </a:defRPr>
            </a:lvl2pPr>
            <a:lvl3pPr marL="1143000" indent="-228600">
              <a:defRPr kumimoji="1" sz="2000">
                <a:solidFill>
                  <a:schemeClr val="tx1"/>
                </a:solidFill>
                <a:latin typeface="Times New Roman" panose="02020603050405020304" pitchFamily="18" charset="0"/>
                <a:ea typeface="华文中宋" panose="02010600040101010101" pitchFamily="2" charset="-122"/>
              </a:defRPr>
            </a:lvl3pPr>
            <a:lvl4pPr marL="1600200" indent="-228600">
              <a:defRPr kumimoji="1" sz="2000">
                <a:solidFill>
                  <a:schemeClr val="tx1"/>
                </a:solidFill>
                <a:latin typeface="Times New Roman" panose="02020603050405020304" pitchFamily="18" charset="0"/>
                <a:ea typeface="华文中宋" panose="02010600040101010101" pitchFamily="2" charset="-122"/>
              </a:defRPr>
            </a:lvl4pPr>
            <a:lvl5pPr marL="2057400" indent="-228600">
              <a:defRPr kumimoji="1" sz="2000">
                <a:solidFill>
                  <a:schemeClr val="tx1"/>
                </a:solidFill>
                <a:latin typeface="Times New Roman" panose="02020603050405020304" pitchFamily="18" charset="0"/>
                <a:ea typeface="华文中宋" panose="0201060004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华文中宋" panose="02010600040101010101" pitchFamily="2" charset="-122"/>
              </a:defRPr>
            </a:lvl9pPr>
          </a:lstStyle>
          <a:p>
            <a:pPr algn="just" eaLnBrk="1" hangingPunct="1">
              <a:spcBef>
                <a:spcPct val="50000"/>
              </a:spcBef>
            </a:pPr>
            <a:r>
              <a:rPr kumimoji="0" lang="en-US" altLang="zh-CN">
                <a:ea typeface="仿宋_GB2312"/>
                <a:cs typeface="仿宋_GB2312"/>
              </a:rPr>
              <a:t>7</a:t>
            </a:r>
            <a:r>
              <a:rPr kumimoji="0" lang="zh-CN" altLang="en-US">
                <a:ea typeface="仿宋_GB2312"/>
                <a:cs typeface="仿宋_GB2312"/>
              </a:rPr>
              <a:t>）绘制弹簧工作图（如图所示）。</a:t>
            </a:r>
            <a:endParaRPr kumimoji="0" lang="zh-CN" altLang="en-US">
              <a:latin typeface="Arial" panose="020B0604020202020204" pitchFamily="34" charset="0"/>
              <a:ea typeface="宋体" panose="02010600030101010101" pitchFamily="2" charset="-122"/>
            </a:endParaRPr>
          </a:p>
        </p:txBody>
      </p:sp>
      <p:pic>
        <p:nvPicPr>
          <p:cNvPr id="38915"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01713" y="1311275"/>
            <a:ext cx="7172325" cy="497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7" name="Picture 39" descr="rewind1">
            <a:hlinkClick r:id="" action="ppaction://hlinkshowjump?jump=firstslide"/>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35938" y="6567488"/>
            <a:ext cx="28733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Picture 50" descr="back1">
            <a:hlinkClick r:id="rId3" action="ppaction://hlinksldjump"/>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53450" y="6570663"/>
            <a:ext cx="287338"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Grp="1" noChangeArrowheads="1"/>
          </p:cNvSpPr>
          <p:nvPr/>
        </p:nvSpPr>
        <p:spPr bwMode="auto">
          <a:xfrm>
            <a:off x="571500" y="214313"/>
            <a:ext cx="8572500" cy="490538"/>
          </a:xfrm>
          <a:prstGeom prst="rect">
            <a:avLst/>
          </a:prstGeom>
          <a:ln>
            <a:noFill/>
            <a:miter lim="800000"/>
          </a:ln>
        </p:spPr>
        <p:txBody>
          <a:bodyPr vert="horz" wrap="square" lIns="91440" tIns="45720" rIns="91440" bIns="45720" numCol="1" anchor="t" anchorCtr="0" compatLnSpc="1"/>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3.12-3 </a:t>
            </a:r>
            <a:r>
              <a:rPr kumimoji="0"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sym typeface="+mn-ea"/>
              </a:rPr>
              <a:t>圆柱螺旋压缩和拉伸弹簧的设计计算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2785"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386080" y="417830"/>
            <a:ext cx="7988935" cy="398780"/>
          </a:xfrm>
          <a:prstGeom prst="rect">
            <a:avLst/>
          </a:prstGeom>
          <a:noFill/>
        </p:spPr>
        <p:txBody>
          <a:bodyPr wrap="square" rtlCol="0">
            <a:spAutoFit/>
          </a:bodyPr>
          <a:p>
            <a:r>
              <a:rPr lang="en-US" altLang="zh-CN" sz="2000" b="0">
                <a:latin typeface="黑体" panose="02010609060101010101" pitchFamily="49" charset="-122"/>
                <a:ea typeface="黑体" panose="02010609060101010101" pitchFamily="49" charset="-122"/>
                <a:cs typeface="黑体" panose="02010609060101010101" pitchFamily="49" charset="-122"/>
              </a:rPr>
              <a:t>1</a:t>
            </a:r>
            <a:r>
              <a:rPr lang="zh-CN" altLang="en-US" sz="2000" b="0">
                <a:latin typeface="黑体" panose="02010609060101010101" pitchFamily="49" charset="-122"/>
                <a:ea typeface="黑体" panose="02010609060101010101" pitchFamily="49" charset="-122"/>
                <a:cs typeface="黑体" panose="02010609060101010101" pitchFamily="49" charset="-122"/>
              </a:rPr>
              <a:t>、自行车后座上的弹簧的作用是：</a:t>
            </a:r>
            <a:r>
              <a:rPr lang="en-US" altLang="zh-CN" sz="2000" b="0" u="sng">
                <a:latin typeface="黑体" panose="02010609060101010101" pitchFamily="49" charset="-122"/>
                <a:ea typeface="黑体" panose="02010609060101010101" pitchFamily="49" charset="-122"/>
                <a:cs typeface="黑体" panose="02010609060101010101" pitchFamily="49" charset="-122"/>
              </a:rPr>
              <a:t>        </a:t>
            </a:r>
            <a:r>
              <a:rPr lang="en-US" altLang="zh-CN" sz="2000" b="0" u="sng"/>
              <a:t>   </a:t>
            </a:r>
            <a:r>
              <a:rPr lang="zh-CN" altLang="en-US" sz="2000" b="0"/>
              <a:t>；</a:t>
            </a:r>
            <a:r>
              <a:rPr lang="en-US" altLang="zh-CN" sz="2000" b="0"/>
              <a:t> </a:t>
            </a:r>
            <a:r>
              <a:rPr lang="en-US" altLang="zh-CN" sz="2000" b="0" u="sng"/>
              <a:t>     </a:t>
            </a:r>
            <a:r>
              <a:rPr lang="en-US" altLang="zh-CN" sz="2000" b="0"/>
              <a:t>   </a:t>
            </a:r>
            <a:endParaRPr lang="en-US" altLang="zh-CN" sz="2000" b="0" u="sng"/>
          </a:p>
        </p:txBody>
      </p:sp>
      <p:sp>
        <p:nvSpPr>
          <p:cNvPr id="4" name="文本框 3"/>
          <p:cNvSpPr txBox="1"/>
          <p:nvPr>
            <p:custDataLst>
              <p:tags r:id="rId2"/>
            </p:custDataLst>
          </p:nvPr>
        </p:nvSpPr>
        <p:spPr>
          <a:xfrm>
            <a:off x="471805" y="940435"/>
            <a:ext cx="8353425" cy="398780"/>
          </a:xfrm>
          <a:prstGeom prst="rect">
            <a:avLst/>
          </a:prstGeom>
          <a:noFill/>
        </p:spPr>
        <p:txBody>
          <a:bodyPr wrap="square" rtlCol="0">
            <a:spAutoFit/>
          </a:bodyPr>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A. 缓冲吸振   B  储存能量    C 测量载荷   D 控制运动</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p:txBody>
      </p:sp>
      <p:sp>
        <p:nvSpPr>
          <p:cNvPr id="5" name="文本框 4"/>
          <p:cNvSpPr txBox="1"/>
          <p:nvPr>
            <p:custDataLst>
              <p:tags r:id="rId3"/>
            </p:custDataLst>
          </p:nvPr>
        </p:nvSpPr>
        <p:spPr>
          <a:xfrm>
            <a:off x="471805" y="1544320"/>
            <a:ext cx="8499475" cy="706755"/>
          </a:xfrm>
          <a:prstGeom prst="rect">
            <a:avLst/>
          </a:prstGeom>
          <a:noFill/>
        </p:spPr>
        <p:txBody>
          <a:bodyPr wrap="square" rtlCol="0">
            <a:spAutoFit/>
          </a:bodyPr>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2、圆柱螺旋压缩弹簧在载荷作用下，弹簧丝截面上受到的是 （      ）应力；         </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p:txBody>
      </p:sp>
      <p:sp>
        <p:nvSpPr>
          <p:cNvPr id="6" name="文本框 5"/>
          <p:cNvSpPr txBox="1"/>
          <p:nvPr>
            <p:custDataLst>
              <p:tags r:id="rId4"/>
            </p:custDataLst>
          </p:nvPr>
        </p:nvSpPr>
        <p:spPr>
          <a:xfrm>
            <a:off x="832485" y="2288540"/>
            <a:ext cx="7826375" cy="398780"/>
          </a:xfrm>
          <a:prstGeom prst="rect">
            <a:avLst/>
          </a:prstGeom>
          <a:noFill/>
        </p:spPr>
        <p:txBody>
          <a:bodyPr wrap="square" rtlCol="0">
            <a:spAutoFit/>
          </a:bodyPr>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A. 拉       B  压        C 切        D 弯曲</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p:txBody>
      </p:sp>
      <p:sp>
        <p:nvSpPr>
          <p:cNvPr id="7" name="文本框 6"/>
          <p:cNvSpPr txBox="1"/>
          <p:nvPr>
            <p:custDataLst>
              <p:tags r:id="rId5"/>
            </p:custDataLst>
          </p:nvPr>
        </p:nvSpPr>
        <p:spPr>
          <a:xfrm>
            <a:off x="287655" y="4155440"/>
            <a:ext cx="8091170" cy="398780"/>
          </a:xfrm>
          <a:prstGeom prst="rect">
            <a:avLst/>
          </a:prstGeom>
          <a:noFill/>
        </p:spPr>
        <p:txBody>
          <a:bodyPr wrap="square" rtlCol="0">
            <a:spAutoFit/>
          </a:bodyPr>
          <a:p>
            <a:r>
              <a:rPr lang="en-US" altLang="zh-CN" sz="2000" b="0">
                <a:latin typeface="黑体" panose="02010609060101010101" pitchFamily="49" charset="-122"/>
                <a:ea typeface="黑体" panose="02010609060101010101" pitchFamily="49" charset="-122"/>
                <a:cs typeface="黑体" panose="02010609060101010101" pitchFamily="49" charset="-122"/>
              </a:rPr>
              <a:t>4</a:t>
            </a:r>
            <a:r>
              <a:rPr lang="zh-CN" altLang="en-US" sz="2000" b="0">
                <a:latin typeface="黑体" panose="02010609060101010101" pitchFamily="49" charset="-122"/>
                <a:ea typeface="黑体" panose="02010609060101010101" pitchFamily="49" charset="-122"/>
                <a:cs typeface="黑体" panose="02010609060101010101" pitchFamily="49" charset="-122"/>
              </a:rPr>
              <a:t>、采用冷卷制成的弹簧，其热处理方法为（</a:t>
            </a:r>
            <a:r>
              <a:rPr lang="en-US" altLang="zh-CN" sz="2000" b="0">
                <a:latin typeface="黑体" panose="02010609060101010101" pitchFamily="49" charset="-122"/>
                <a:ea typeface="黑体" panose="02010609060101010101" pitchFamily="49" charset="-122"/>
                <a:cs typeface="黑体" panose="02010609060101010101" pitchFamily="49" charset="-122"/>
              </a:rPr>
              <a:t>           </a:t>
            </a:r>
            <a:r>
              <a:rPr lang="zh-CN" altLang="en-US" sz="2000" b="0">
                <a:latin typeface="黑体" panose="02010609060101010101" pitchFamily="49" charset="-122"/>
                <a:ea typeface="黑体" panose="02010609060101010101" pitchFamily="49" charset="-122"/>
                <a:cs typeface="黑体" panose="02010609060101010101" pitchFamily="49" charset="-122"/>
              </a:rPr>
              <a:t>）；</a:t>
            </a:r>
            <a:r>
              <a:rPr lang="en-US" altLang="zh-CN" sz="2000" b="0">
                <a:latin typeface="黑体" panose="02010609060101010101" pitchFamily="49" charset="-122"/>
                <a:ea typeface="黑体" panose="02010609060101010101" pitchFamily="49" charset="-122"/>
                <a:cs typeface="黑体" panose="02010609060101010101" pitchFamily="49" charset="-122"/>
              </a:rPr>
              <a:t> </a:t>
            </a:r>
            <a:r>
              <a:rPr lang="en-US" altLang="zh-CN" sz="2000" b="0" u="sng">
                <a:latin typeface="黑体" panose="02010609060101010101" pitchFamily="49" charset="-122"/>
                <a:ea typeface="黑体" panose="02010609060101010101" pitchFamily="49" charset="-122"/>
                <a:cs typeface="黑体" panose="02010609060101010101" pitchFamily="49" charset="-122"/>
              </a:rPr>
              <a:t>     </a:t>
            </a:r>
            <a:r>
              <a:rPr lang="en-US" altLang="zh-CN" sz="2000" b="0">
                <a:latin typeface="黑体" panose="02010609060101010101" pitchFamily="49" charset="-122"/>
                <a:ea typeface="黑体" panose="02010609060101010101" pitchFamily="49" charset="-122"/>
                <a:cs typeface="黑体" panose="02010609060101010101" pitchFamily="49" charset="-122"/>
              </a:rPr>
              <a:t>   </a:t>
            </a:r>
            <a:endParaRPr lang="en-US" altLang="zh-CN" sz="2000" b="0" u="sng">
              <a:latin typeface="黑体" panose="02010609060101010101" pitchFamily="49" charset="-122"/>
              <a:ea typeface="黑体" panose="02010609060101010101" pitchFamily="49" charset="-122"/>
              <a:cs typeface="黑体" panose="02010609060101010101" pitchFamily="49" charset="-122"/>
            </a:endParaRPr>
          </a:p>
        </p:txBody>
      </p:sp>
      <p:sp>
        <p:nvSpPr>
          <p:cNvPr id="8" name="文本框 7"/>
          <p:cNvSpPr txBox="1"/>
          <p:nvPr>
            <p:custDataLst>
              <p:tags r:id="rId6"/>
            </p:custDataLst>
          </p:nvPr>
        </p:nvSpPr>
        <p:spPr>
          <a:xfrm>
            <a:off x="584200" y="4639945"/>
            <a:ext cx="7826375" cy="398780"/>
          </a:xfrm>
          <a:prstGeom prst="rect">
            <a:avLst/>
          </a:prstGeom>
          <a:noFill/>
        </p:spPr>
        <p:txBody>
          <a:bodyPr wrap="square" rtlCol="0">
            <a:spAutoFit/>
          </a:bodyPr>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A. </a:t>
            </a:r>
            <a:r>
              <a:rPr lang="zh-CN" altLang="en-US" sz="2000" b="0">
                <a:latin typeface="黑体" panose="02010609060101010101" pitchFamily="49" charset="-122"/>
                <a:ea typeface="黑体" panose="02010609060101010101" pitchFamily="49" charset="-122"/>
                <a:cs typeface="黑体" panose="02010609060101010101" pitchFamily="49" charset="-122"/>
              </a:rPr>
              <a:t>退</a:t>
            </a:r>
            <a:r>
              <a:rPr lang="en-US" altLang="zh-CN" sz="2000" b="0">
                <a:latin typeface="黑体" panose="02010609060101010101" pitchFamily="49" charset="-122"/>
                <a:ea typeface="黑体" panose="02010609060101010101" pitchFamily="49" charset="-122"/>
                <a:cs typeface="黑体" panose="02010609060101010101" pitchFamily="49" charset="-122"/>
              </a:rPr>
              <a:t>火       B  淬火       C 淬火后回火        D 渗碳淬火</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p:txBody>
      </p:sp>
      <p:sp>
        <p:nvSpPr>
          <p:cNvPr id="10" name="文本框 9"/>
          <p:cNvSpPr txBox="1"/>
          <p:nvPr>
            <p:custDataLst>
              <p:tags r:id="rId7"/>
            </p:custDataLst>
          </p:nvPr>
        </p:nvSpPr>
        <p:spPr>
          <a:xfrm>
            <a:off x="269240" y="2745740"/>
            <a:ext cx="8391525" cy="398780"/>
          </a:xfrm>
          <a:prstGeom prst="rect">
            <a:avLst/>
          </a:prstGeom>
          <a:noFill/>
        </p:spPr>
        <p:txBody>
          <a:bodyPr wrap="square" rtlCol="0">
            <a:spAutoFit/>
          </a:bodyPr>
          <a:p>
            <a:pPr algn="l">
              <a:buClrTx/>
              <a:buSzTx/>
              <a:buFontTx/>
            </a:pPr>
            <a:r>
              <a:rPr lang="en-US" altLang="zh-CN" sz="2000" b="0"/>
              <a:t>3</a:t>
            </a:r>
            <a:r>
              <a:rPr lang="en-US" altLang="zh-CN" sz="2000" b="0">
                <a:latin typeface="黑体" panose="02010609060101010101" pitchFamily="49" charset="-122"/>
                <a:ea typeface="黑体" panose="02010609060101010101" pitchFamily="49" charset="-122"/>
                <a:cs typeface="黑体" panose="02010609060101010101" pitchFamily="49" charset="-122"/>
              </a:rPr>
              <a:t>、</a:t>
            </a:r>
            <a:r>
              <a:rPr lang="zh-CN" altLang="en-US" sz="2000" b="0">
                <a:latin typeface="黑体" panose="02010609060101010101" pitchFamily="49" charset="-122"/>
                <a:ea typeface="黑体" panose="02010609060101010101" pitchFamily="49" charset="-122"/>
                <a:cs typeface="黑体" panose="02010609060101010101" pitchFamily="49" charset="-122"/>
              </a:rPr>
              <a:t>圆柱螺旋弹簧的旋绕比</a:t>
            </a:r>
            <a:r>
              <a:rPr lang="en-US" altLang="zh-CN" sz="2000" b="0">
                <a:latin typeface="黑体" panose="02010609060101010101" pitchFamily="49" charset="-122"/>
                <a:ea typeface="黑体" panose="02010609060101010101" pitchFamily="49" charset="-122"/>
                <a:cs typeface="黑体" panose="02010609060101010101" pitchFamily="49" charset="-122"/>
              </a:rPr>
              <a:t>C</a:t>
            </a:r>
            <a:r>
              <a:rPr lang="zh-CN" altLang="en-US" sz="2000" b="0">
                <a:latin typeface="黑体" panose="02010609060101010101" pitchFamily="49" charset="-122"/>
                <a:ea typeface="黑体" panose="02010609060101010101" pitchFamily="49" charset="-122"/>
                <a:cs typeface="黑体" panose="02010609060101010101" pitchFamily="49" charset="-122"/>
              </a:rPr>
              <a:t>是</a:t>
            </a:r>
            <a:r>
              <a:rPr lang="en-US" altLang="zh-CN" sz="2000" b="0" u="sng">
                <a:latin typeface="黑体" panose="02010609060101010101" pitchFamily="49" charset="-122"/>
                <a:ea typeface="黑体" panose="02010609060101010101" pitchFamily="49" charset="-122"/>
                <a:cs typeface="黑体" panose="02010609060101010101" pitchFamily="49" charset="-122"/>
              </a:rPr>
              <a:t>      </a:t>
            </a:r>
            <a:r>
              <a:rPr lang="zh-CN" altLang="en-US" sz="2000" b="0">
                <a:latin typeface="黑体" panose="02010609060101010101" pitchFamily="49" charset="-122"/>
                <a:ea typeface="黑体" panose="02010609060101010101" pitchFamily="49" charset="-122"/>
                <a:cs typeface="黑体" panose="02010609060101010101" pitchFamily="49" charset="-122"/>
              </a:rPr>
              <a:t>的比值</a:t>
            </a:r>
            <a:r>
              <a:rPr lang="en-US" altLang="zh-CN" sz="2000" b="0">
                <a:latin typeface="黑体" panose="02010609060101010101" pitchFamily="49" charset="-122"/>
                <a:ea typeface="黑体" panose="02010609060101010101" pitchFamily="49" charset="-122"/>
                <a:cs typeface="黑体" panose="02010609060101010101" pitchFamily="49" charset="-122"/>
              </a:rPr>
              <a:t>；         </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p:txBody>
      </p:sp>
      <p:sp>
        <p:nvSpPr>
          <p:cNvPr id="11" name="文本框 10"/>
          <p:cNvSpPr txBox="1"/>
          <p:nvPr>
            <p:custDataLst>
              <p:tags r:id="rId8"/>
            </p:custDataLst>
          </p:nvPr>
        </p:nvSpPr>
        <p:spPr>
          <a:xfrm>
            <a:off x="386080" y="3284855"/>
            <a:ext cx="8064500" cy="706755"/>
          </a:xfrm>
          <a:prstGeom prst="rect">
            <a:avLst/>
          </a:prstGeom>
          <a:noFill/>
        </p:spPr>
        <p:txBody>
          <a:bodyPr wrap="square" rtlCol="0">
            <a:spAutoFit/>
          </a:bodyPr>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 A. </a:t>
            </a:r>
            <a:r>
              <a:rPr lang="zh-CN" altLang="en-US" sz="2000" b="0">
                <a:latin typeface="黑体" panose="02010609060101010101" pitchFamily="49" charset="-122"/>
                <a:ea typeface="黑体" panose="02010609060101010101" pitchFamily="49" charset="-122"/>
                <a:cs typeface="黑体" panose="02010609060101010101" pitchFamily="49" charset="-122"/>
              </a:rPr>
              <a:t>弹簧丝直径</a:t>
            </a:r>
            <a:r>
              <a:rPr lang="en-US" altLang="zh-CN" sz="2000" b="0">
                <a:latin typeface="黑体" panose="02010609060101010101" pitchFamily="49" charset="-122"/>
                <a:ea typeface="黑体" panose="02010609060101010101" pitchFamily="49" charset="-122"/>
                <a:cs typeface="黑体" panose="02010609060101010101" pitchFamily="49" charset="-122"/>
              </a:rPr>
              <a:t>d</a:t>
            </a:r>
            <a:r>
              <a:rPr lang="zh-CN" altLang="en-US" sz="2000" b="0">
                <a:latin typeface="黑体" panose="02010609060101010101" pitchFamily="49" charset="-122"/>
                <a:ea typeface="黑体" panose="02010609060101010101" pitchFamily="49" charset="-122"/>
                <a:cs typeface="黑体" panose="02010609060101010101" pitchFamily="49" charset="-122"/>
              </a:rPr>
              <a:t>与中径</a:t>
            </a:r>
            <a:r>
              <a:rPr lang="en-US" altLang="zh-CN" sz="2000" b="0">
                <a:latin typeface="黑体" panose="02010609060101010101" pitchFamily="49" charset="-122"/>
                <a:ea typeface="黑体" panose="02010609060101010101" pitchFamily="49" charset="-122"/>
                <a:cs typeface="黑体" panose="02010609060101010101" pitchFamily="49" charset="-122"/>
              </a:rPr>
              <a:t>D              B  </a:t>
            </a:r>
            <a:r>
              <a:rPr lang="zh-CN" altLang="en-US" sz="2000">
                <a:latin typeface="黑体" panose="02010609060101010101" pitchFamily="49" charset="-122"/>
                <a:ea typeface="黑体" panose="02010609060101010101" pitchFamily="49" charset="-122"/>
                <a:cs typeface="黑体" panose="02010609060101010101" pitchFamily="49" charset="-122"/>
                <a:sym typeface="+mn-ea"/>
              </a:rPr>
              <a:t>中径</a:t>
            </a:r>
            <a:r>
              <a:rPr lang="en-US" altLang="zh-CN" sz="2000">
                <a:latin typeface="黑体" panose="02010609060101010101" pitchFamily="49" charset="-122"/>
                <a:ea typeface="黑体" panose="02010609060101010101" pitchFamily="49" charset="-122"/>
                <a:cs typeface="黑体" panose="02010609060101010101" pitchFamily="49" charset="-122"/>
                <a:sym typeface="+mn-ea"/>
              </a:rPr>
              <a:t>D</a:t>
            </a:r>
            <a:r>
              <a:rPr lang="zh-CN" altLang="en-US" sz="2000">
                <a:latin typeface="黑体" panose="02010609060101010101" pitchFamily="49" charset="-122"/>
                <a:ea typeface="黑体" panose="02010609060101010101" pitchFamily="49" charset="-122"/>
                <a:cs typeface="黑体" panose="02010609060101010101" pitchFamily="49" charset="-122"/>
                <a:sym typeface="+mn-ea"/>
              </a:rPr>
              <a:t>与</a:t>
            </a:r>
            <a:r>
              <a:rPr lang="zh-CN" altLang="en-US" sz="2000">
                <a:latin typeface="黑体" panose="02010609060101010101" pitchFamily="49" charset="-122"/>
                <a:ea typeface="黑体" panose="02010609060101010101" pitchFamily="49" charset="-122"/>
                <a:cs typeface="黑体" panose="02010609060101010101" pitchFamily="49" charset="-122"/>
                <a:sym typeface="+mn-ea"/>
              </a:rPr>
              <a:t>弹簧丝直径</a:t>
            </a:r>
            <a:r>
              <a:rPr lang="en-US" altLang="zh-CN" sz="2000">
                <a:latin typeface="黑体" panose="02010609060101010101" pitchFamily="49" charset="-122"/>
                <a:ea typeface="黑体" panose="02010609060101010101" pitchFamily="49" charset="-122"/>
                <a:cs typeface="黑体" panose="02010609060101010101" pitchFamily="49" charset="-122"/>
                <a:sym typeface="+mn-ea"/>
              </a:rPr>
              <a:t>d</a:t>
            </a:r>
            <a:r>
              <a:rPr lang="en-US" altLang="zh-CN" sz="2000" b="0">
                <a:latin typeface="黑体" panose="02010609060101010101" pitchFamily="49" charset="-122"/>
                <a:ea typeface="黑体" panose="02010609060101010101" pitchFamily="49" charset="-122"/>
                <a:cs typeface="黑体" panose="02010609060101010101" pitchFamily="49" charset="-122"/>
              </a:rPr>
              <a:t>   </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 C </a:t>
            </a:r>
            <a:r>
              <a:rPr lang="zh-CN" altLang="en-US" sz="2000">
                <a:latin typeface="黑体" panose="02010609060101010101" pitchFamily="49" charset="-122"/>
                <a:ea typeface="黑体" panose="02010609060101010101" pitchFamily="49" charset="-122"/>
                <a:cs typeface="黑体" panose="02010609060101010101" pitchFamily="49" charset="-122"/>
                <a:sym typeface="+mn-ea"/>
              </a:rPr>
              <a:t>弹簧丝直径</a:t>
            </a:r>
            <a:r>
              <a:rPr lang="en-US" altLang="zh-CN" sz="2000">
                <a:latin typeface="黑体" panose="02010609060101010101" pitchFamily="49" charset="-122"/>
                <a:ea typeface="黑体" panose="02010609060101010101" pitchFamily="49" charset="-122"/>
                <a:cs typeface="黑体" panose="02010609060101010101" pitchFamily="49" charset="-122"/>
                <a:sym typeface="+mn-ea"/>
              </a:rPr>
              <a:t>d</a:t>
            </a:r>
            <a:r>
              <a:rPr lang="zh-CN" altLang="en-US" sz="2000">
                <a:latin typeface="黑体" panose="02010609060101010101" pitchFamily="49" charset="-122"/>
                <a:ea typeface="黑体" panose="02010609060101010101" pitchFamily="49" charset="-122"/>
                <a:cs typeface="黑体" panose="02010609060101010101" pitchFamily="49" charset="-122"/>
                <a:sym typeface="+mn-ea"/>
              </a:rPr>
              <a:t>与</a:t>
            </a:r>
            <a:r>
              <a:rPr lang="zh-CN" sz="2000">
                <a:latin typeface="黑体" panose="02010609060101010101" pitchFamily="49" charset="-122"/>
                <a:ea typeface="黑体" panose="02010609060101010101" pitchFamily="49" charset="-122"/>
                <a:cs typeface="黑体" panose="02010609060101010101" pitchFamily="49" charset="-122"/>
                <a:sym typeface="+mn-ea"/>
              </a:rPr>
              <a:t>自由高度</a:t>
            </a:r>
            <a:r>
              <a:rPr lang="en-US" altLang="zh-CN" sz="2000">
                <a:latin typeface="黑体" panose="02010609060101010101" pitchFamily="49" charset="-122"/>
                <a:ea typeface="黑体" panose="02010609060101010101" pitchFamily="49" charset="-122"/>
                <a:cs typeface="黑体" panose="02010609060101010101" pitchFamily="49" charset="-122"/>
                <a:sym typeface="+mn-ea"/>
              </a:rPr>
              <a:t>H</a:t>
            </a:r>
            <a:r>
              <a:rPr lang="en-US" altLang="zh-CN" sz="2000" baseline="-25000">
                <a:latin typeface="黑体" panose="02010609060101010101" pitchFamily="49" charset="-122"/>
                <a:ea typeface="黑体" panose="02010609060101010101" pitchFamily="49" charset="-122"/>
                <a:cs typeface="黑体" panose="02010609060101010101" pitchFamily="49" charset="-122"/>
                <a:sym typeface="+mn-ea"/>
              </a:rPr>
              <a:t>0</a:t>
            </a:r>
            <a:r>
              <a:rPr lang="en-US" altLang="zh-CN" sz="2000" b="0">
                <a:latin typeface="黑体" panose="02010609060101010101" pitchFamily="49" charset="-122"/>
                <a:ea typeface="黑体" panose="02010609060101010101" pitchFamily="49" charset="-122"/>
                <a:cs typeface="黑体" panose="02010609060101010101" pitchFamily="49" charset="-122"/>
              </a:rPr>
              <a:t>         D  </a:t>
            </a:r>
            <a:r>
              <a:rPr lang="zh-CN" sz="2000">
                <a:latin typeface="黑体" panose="02010609060101010101" pitchFamily="49" charset="-122"/>
                <a:ea typeface="黑体" panose="02010609060101010101" pitchFamily="49" charset="-122"/>
                <a:cs typeface="黑体" panose="02010609060101010101" pitchFamily="49" charset="-122"/>
                <a:sym typeface="+mn-ea"/>
              </a:rPr>
              <a:t>自由高度</a:t>
            </a:r>
            <a:r>
              <a:rPr lang="en-US" altLang="zh-CN" sz="2000">
                <a:latin typeface="黑体" panose="02010609060101010101" pitchFamily="49" charset="-122"/>
                <a:ea typeface="黑体" panose="02010609060101010101" pitchFamily="49" charset="-122"/>
                <a:cs typeface="黑体" panose="02010609060101010101" pitchFamily="49" charset="-122"/>
                <a:sym typeface="+mn-ea"/>
              </a:rPr>
              <a:t>H</a:t>
            </a:r>
            <a:r>
              <a:rPr lang="en-US" altLang="zh-CN" sz="2000" baseline="-25000">
                <a:latin typeface="黑体" panose="02010609060101010101" pitchFamily="49" charset="-122"/>
                <a:ea typeface="黑体" panose="02010609060101010101" pitchFamily="49" charset="-122"/>
                <a:cs typeface="黑体" panose="02010609060101010101" pitchFamily="49" charset="-122"/>
                <a:sym typeface="+mn-ea"/>
              </a:rPr>
              <a:t>0</a:t>
            </a:r>
            <a:r>
              <a:rPr lang="zh-CN" altLang="en-US" sz="2000">
                <a:latin typeface="黑体" panose="02010609060101010101" pitchFamily="49" charset="-122"/>
                <a:ea typeface="黑体" panose="02010609060101010101" pitchFamily="49" charset="-122"/>
                <a:cs typeface="黑体" panose="02010609060101010101" pitchFamily="49" charset="-122"/>
                <a:sym typeface="+mn-ea"/>
              </a:rPr>
              <a:t>与弹簧丝直径</a:t>
            </a:r>
            <a:r>
              <a:rPr lang="en-US" altLang="zh-CN" sz="2000">
                <a:latin typeface="黑体" panose="02010609060101010101" pitchFamily="49" charset="-122"/>
                <a:ea typeface="黑体" panose="02010609060101010101" pitchFamily="49" charset="-122"/>
                <a:cs typeface="黑体" panose="02010609060101010101" pitchFamily="49" charset="-122"/>
                <a:sym typeface="+mn-ea"/>
              </a:rPr>
              <a:t>d</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p:txBody>
      </p:sp>
      <p:sp>
        <p:nvSpPr>
          <p:cNvPr id="12" name="文本框 11"/>
          <p:cNvSpPr txBox="1"/>
          <p:nvPr>
            <p:custDataLst>
              <p:tags r:id="rId9"/>
            </p:custDataLst>
          </p:nvPr>
        </p:nvSpPr>
        <p:spPr>
          <a:xfrm>
            <a:off x="251460" y="5073650"/>
            <a:ext cx="8091170" cy="460375"/>
          </a:xfrm>
          <a:prstGeom prst="rect">
            <a:avLst/>
          </a:prstGeom>
          <a:noFill/>
        </p:spPr>
        <p:txBody>
          <a:bodyPr wrap="square" rtlCol="0">
            <a:spAutoFit/>
          </a:bodyPr>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5、下列材料中不能用来制作弹簧的是（           ）；        </a:t>
            </a:r>
            <a:r>
              <a:rPr lang="en-US" altLang="zh-CN" sz="2400">
                <a:latin typeface="黑体" panose="02010609060101010101" pitchFamily="49" charset="-122"/>
                <a:ea typeface="黑体" panose="02010609060101010101" pitchFamily="49" charset="-122"/>
                <a:cs typeface="黑体" panose="02010609060101010101" pitchFamily="49" charset="-122"/>
              </a:rPr>
              <a:t> </a:t>
            </a:r>
            <a:endParaRPr lang="en-US" altLang="zh-CN" sz="2400">
              <a:latin typeface="黑体" panose="02010609060101010101" pitchFamily="49" charset="-122"/>
              <a:ea typeface="黑体" panose="02010609060101010101" pitchFamily="49" charset="-122"/>
              <a:cs typeface="黑体" panose="02010609060101010101" pitchFamily="49" charset="-122"/>
            </a:endParaRPr>
          </a:p>
        </p:txBody>
      </p:sp>
      <p:sp>
        <p:nvSpPr>
          <p:cNvPr id="13" name="文本框 12"/>
          <p:cNvSpPr txBox="1"/>
          <p:nvPr>
            <p:custDataLst>
              <p:tags r:id="rId10"/>
            </p:custDataLst>
          </p:nvPr>
        </p:nvSpPr>
        <p:spPr>
          <a:xfrm>
            <a:off x="407670" y="5617845"/>
            <a:ext cx="7826375" cy="398780"/>
          </a:xfrm>
          <a:prstGeom prst="rect">
            <a:avLst/>
          </a:prstGeom>
          <a:noFill/>
        </p:spPr>
        <p:txBody>
          <a:bodyPr wrap="square" rtlCol="0">
            <a:spAutoFit/>
          </a:bodyPr>
          <a:p>
            <a:pPr algn="l">
              <a:buClrTx/>
              <a:buSzTx/>
              <a:buFontTx/>
            </a:pPr>
            <a:r>
              <a:rPr lang="en-US" altLang="zh-CN" sz="2000" b="0">
                <a:latin typeface="黑体" panose="02010609060101010101" pitchFamily="49" charset="-122"/>
                <a:ea typeface="黑体" panose="02010609060101010101" pitchFamily="49" charset="-122"/>
                <a:cs typeface="黑体" panose="02010609060101010101" pitchFamily="49" charset="-122"/>
              </a:rPr>
              <a:t>A. 70          B  65Mn           C  HT150         D 50CrVA</a:t>
            </a:r>
            <a:endParaRPr lang="en-US" altLang="zh-CN" sz="2000" b="0">
              <a:latin typeface="黑体" panose="02010609060101010101" pitchFamily="49" charset="-122"/>
              <a:ea typeface="黑体" panose="02010609060101010101" pitchFamily="49" charset="-122"/>
              <a:cs typeface="黑体" panose="02010609060101010101" pitchFamily="49" charset="-122"/>
            </a:endParaRPr>
          </a:p>
        </p:txBody>
      </p:sp>
      <p:sp>
        <p:nvSpPr>
          <p:cNvPr id="2" name="文本框 1"/>
          <p:cNvSpPr txBox="1"/>
          <p:nvPr>
            <p:custDataLst>
              <p:tags r:id="rId11"/>
            </p:custDataLst>
          </p:nvPr>
        </p:nvSpPr>
        <p:spPr>
          <a:xfrm>
            <a:off x="4860290" y="386715"/>
            <a:ext cx="440690" cy="429895"/>
          </a:xfrm>
          <a:prstGeom prst="rect">
            <a:avLst/>
          </a:prstGeom>
          <a:noFill/>
        </p:spPr>
        <p:txBody>
          <a:bodyPr wrap="square" rtlCol="0">
            <a:spAutoFit/>
          </a:bodyPr>
          <a:p>
            <a:r>
              <a:rPr lang="en-US" altLang="zh-CN">
                <a:solidFill>
                  <a:srgbClr val="FF0000"/>
                </a:solidFill>
              </a:rPr>
              <a:t>A</a:t>
            </a:r>
            <a:endParaRPr lang="en-US" altLang="zh-CN">
              <a:solidFill>
                <a:srgbClr val="FF0000"/>
              </a:solidFill>
            </a:endParaRPr>
          </a:p>
        </p:txBody>
      </p:sp>
      <p:sp>
        <p:nvSpPr>
          <p:cNvPr id="9" name="文本框 8"/>
          <p:cNvSpPr txBox="1"/>
          <p:nvPr>
            <p:custDataLst>
              <p:tags r:id="rId12"/>
            </p:custDataLst>
          </p:nvPr>
        </p:nvSpPr>
        <p:spPr>
          <a:xfrm>
            <a:off x="7812405" y="1544320"/>
            <a:ext cx="440690" cy="429895"/>
          </a:xfrm>
          <a:prstGeom prst="rect">
            <a:avLst/>
          </a:prstGeom>
          <a:noFill/>
        </p:spPr>
        <p:txBody>
          <a:bodyPr wrap="square" rtlCol="0">
            <a:spAutoFit/>
          </a:bodyPr>
          <a:p>
            <a:r>
              <a:rPr lang="en-US" altLang="zh-CN">
                <a:solidFill>
                  <a:srgbClr val="FF0000"/>
                </a:solidFill>
              </a:rPr>
              <a:t>C</a:t>
            </a:r>
            <a:endParaRPr lang="en-US" altLang="zh-CN">
              <a:solidFill>
                <a:srgbClr val="FF0000"/>
              </a:solidFill>
            </a:endParaRPr>
          </a:p>
        </p:txBody>
      </p:sp>
      <p:sp>
        <p:nvSpPr>
          <p:cNvPr id="14" name="文本框 13"/>
          <p:cNvSpPr txBox="1"/>
          <p:nvPr>
            <p:custDataLst>
              <p:tags r:id="rId13"/>
            </p:custDataLst>
          </p:nvPr>
        </p:nvSpPr>
        <p:spPr>
          <a:xfrm>
            <a:off x="3707765" y="2691130"/>
            <a:ext cx="440690" cy="429895"/>
          </a:xfrm>
          <a:prstGeom prst="rect">
            <a:avLst/>
          </a:prstGeom>
          <a:noFill/>
        </p:spPr>
        <p:txBody>
          <a:bodyPr wrap="square" rtlCol="0">
            <a:spAutoFit/>
          </a:bodyPr>
          <a:p>
            <a:r>
              <a:rPr lang="en-US" altLang="zh-CN">
                <a:solidFill>
                  <a:srgbClr val="FF0000"/>
                </a:solidFill>
              </a:rPr>
              <a:t>B</a:t>
            </a:r>
            <a:endParaRPr lang="en-US" altLang="zh-CN">
              <a:solidFill>
                <a:srgbClr val="FF0000"/>
              </a:solidFill>
            </a:endParaRPr>
          </a:p>
        </p:txBody>
      </p:sp>
      <p:sp>
        <p:nvSpPr>
          <p:cNvPr id="15" name="文本框 14"/>
          <p:cNvSpPr txBox="1"/>
          <p:nvPr>
            <p:custDataLst>
              <p:tags r:id="rId14"/>
            </p:custDataLst>
          </p:nvPr>
        </p:nvSpPr>
        <p:spPr>
          <a:xfrm>
            <a:off x="5724525" y="4149090"/>
            <a:ext cx="440690" cy="429895"/>
          </a:xfrm>
          <a:prstGeom prst="rect">
            <a:avLst/>
          </a:prstGeom>
          <a:noFill/>
        </p:spPr>
        <p:txBody>
          <a:bodyPr wrap="square" rtlCol="0">
            <a:spAutoFit/>
          </a:bodyPr>
          <a:p>
            <a:r>
              <a:rPr lang="en-US" altLang="zh-CN">
                <a:solidFill>
                  <a:srgbClr val="FF0000"/>
                </a:solidFill>
              </a:rPr>
              <a:t>A</a:t>
            </a:r>
            <a:endParaRPr lang="en-US" altLang="zh-CN">
              <a:solidFill>
                <a:srgbClr val="FF0000"/>
              </a:solidFill>
            </a:endParaRPr>
          </a:p>
        </p:txBody>
      </p:sp>
      <p:sp>
        <p:nvSpPr>
          <p:cNvPr id="16" name="文本框 15"/>
          <p:cNvSpPr txBox="1"/>
          <p:nvPr>
            <p:custDataLst>
              <p:tags r:id="rId15"/>
            </p:custDataLst>
          </p:nvPr>
        </p:nvSpPr>
        <p:spPr>
          <a:xfrm>
            <a:off x="5292090" y="5113020"/>
            <a:ext cx="440690" cy="429895"/>
          </a:xfrm>
          <a:prstGeom prst="rect">
            <a:avLst/>
          </a:prstGeom>
          <a:noFill/>
        </p:spPr>
        <p:txBody>
          <a:bodyPr wrap="square" rtlCol="0">
            <a:spAutoFit/>
          </a:bodyPr>
          <a:p>
            <a:r>
              <a:rPr lang="en-US" altLang="zh-CN">
                <a:solidFill>
                  <a:srgbClr val="FF0000"/>
                </a:solidFill>
              </a:rPr>
              <a:t>C</a:t>
            </a:r>
            <a:endParaRPr lang="en-US" altLang="zh-C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left)">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wipe(left)">
                                      <p:cBhvr>
                                        <p:cTn id="17" dur="5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wipe(left)">
                                      <p:cBhvr>
                                        <p:cTn id="27"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29443" name="Group 3"/>
          <p:cNvGrpSpPr/>
          <p:nvPr/>
        </p:nvGrpSpPr>
        <p:grpSpPr bwMode="auto">
          <a:xfrm>
            <a:off x="6638925" y="6238875"/>
            <a:ext cx="2519363" cy="631825"/>
            <a:chOff x="4182" y="3930"/>
            <a:chExt cx="1587" cy="398"/>
          </a:xfrm>
        </p:grpSpPr>
        <p:sp>
          <p:nvSpPr>
            <p:cNvPr id="829444" name="Text Box 4"/>
            <p:cNvSpPr txBox="1">
              <a:spLocks noChangeArrowheads="1"/>
            </p:cNvSpPr>
            <p:nvPr/>
          </p:nvSpPr>
          <p:spPr bwMode="auto">
            <a:xfrm>
              <a:off x="4448" y="3943"/>
              <a:ext cx="1321"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990033"/>
                  </a:solidFill>
                  <a:latin typeface="华文行楷" panose="02010800040101010101" pitchFamily="2" charset="-122"/>
                  <a:ea typeface="华文行楷" panose="02010800040101010101" pitchFamily="2" charset="-122"/>
                </a:rPr>
                <a:t>中国矿业大学(北京)</a:t>
              </a:r>
              <a:endParaRPr lang="zh-CN" altLang="en-US" sz="1600" b="1">
                <a:solidFill>
                  <a:srgbClr val="990033"/>
                </a:solidFill>
                <a:latin typeface="华文行楷" panose="02010800040101010101" pitchFamily="2" charset="-122"/>
                <a:ea typeface="华文行楷" panose="02010800040101010101" pitchFamily="2" charset="-122"/>
              </a:endParaRPr>
            </a:p>
            <a:p>
              <a:pPr algn="ctr" eaLnBrk="1" hangingPunct="1"/>
              <a:r>
                <a:rPr lang="zh-CN" altLang="en-US" sz="1800" b="1">
                  <a:solidFill>
                    <a:srgbClr val="3333CC"/>
                  </a:solidFill>
                  <a:ea typeface="华文隶书" panose="02010800040101010101" pitchFamily="2" charset="-122"/>
                </a:rPr>
                <a:t>机械设计基础</a:t>
              </a:r>
              <a:endParaRPr lang="en-US" altLang="zh-CN" sz="1800" b="1">
                <a:solidFill>
                  <a:srgbClr val="3333CC"/>
                </a:solidFill>
                <a:ea typeface="华文隶书" panose="02010800040101010101" pitchFamily="2" charset="-122"/>
              </a:endParaRPr>
            </a:p>
          </p:txBody>
        </p:sp>
        <p:graphicFrame>
          <p:nvGraphicFramePr>
            <p:cNvPr id="829445" name="Object 5"/>
            <p:cNvGraphicFramePr>
              <a:graphicFrameLocks noChangeAspect="1"/>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14342" name="Photo Editor 照片" r:id="rId1" imgW="781050" imgH="781050" progId="MSPhotoEd.3">
                    <p:embed/>
                  </p:oleObj>
                </mc:Choice>
                <mc:Fallback>
                  <p:oleObj name="Photo Editor 照片" r:id="rId1" imgW="781050" imgH="781050" progId="MSPhotoEd.3">
                    <p:embed/>
                    <p:pic>
                      <p:nvPicPr>
                        <p:cNvPr id="0" name="图片 143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 y="3930"/>
                          <a:ext cx="38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29446" name="Line 6"/>
          <p:cNvSpPr>
            <a:spLocks noChangeShapeType="1"/>
          </p:cNvSpPr>
          <p:nvPr/>
        </p:nvSpPr>
        <p:spPr bwMode="auto">
          <a:xfrm>
            <a:off x="188913" y="836613"/>
            <a:ext cx="8766175" cy="0"/>
          </a:xfrm>
          <a:prstGeom prst="line">
            <a:avLst/>
          </a:prstGeom>
          <a:noFill/>
          <a:ln w="57150" cmpd="thinThick">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9448" name="Text Box 8"/>
          <p:cNvSpPr txBox="1">
            <a:spLocks noChangeArrowheads="1"/>
          </p:cNvSpPr>
          <p:nvPr/>
        </p:nvSpPr>
        <p:spPr bwMode="auto">
          <a:xfrm>
            <a:off x="33338" y="115888"/>
            <a:ext cx="904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600" b="1">
                <a:solidFill>
                  <a:srgbClr val="993300"/>
                </a:solidFill>
                <a:ea typeface="楷体_GB2312" pitchFamily="49" charset="-122"/>
              </a:rPr>
              <a:t>§15.3  </a:t>
            </a:r>
            <a:r>
              <a:rPr kumimoji="1" lang="zh-CN" altLang="en-US" sz="3600" b="1">
                <a:solidFill>
                  <a:srgbClr val="993300"/>
                </a:solidFill>
                <a:ea typeface="楷体_GB2312" pitchFamily="49" charset="-122"/>
              </a:rPr>
              <a:t>圆柱螺旋拉伸、压缩弹簧的设计计算</a:t>
            </a:r>
            <a:endParaRPr kumimoji="1" lang="zh-CN" altLang="en-US" sz="3600" b="1">
              <a:solidFill>
                <a:srgbClr val="993300"/>
              </a:solidFill>
              <a:ea typeface="楷体_GB2312" pitchFamily="49" charset="-122"/>
            </a:endParaRPr>
          </a:p>
        </p:txBody>
      </p:sp>
      <p:sp>
        <p:nvSpPr>
          <p:cNvPr id="829469" name="Rectangle 29"/>
          <p:cNvSpPr>
            <a:spLocks noChangeArrowheads="1"/>
          </p:cNvSpPr>
          <p:nvPr/>
        </p:nvSpPr>
        <p:spPr bwMode="auto">
          <a:xfrm>
            <a:off x="0" y="0"/>
            <a:ext cx="9158288" cy="686593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2945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28575"/>
            <a:ext cx="7913687" cy="459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29471" name="Group 31"/>
          <p:cNvGrpSpPr/>
          <p:nvPr/>
        </p:nvGrpSpPr>
        <p:grpSpPr bwMode="auto">
          <a:xfrm>
            <a:off x="541338" y="4583113"/>
            <a:ext cx="7967662" cy="2303462"/>
            <a:chOff x="341" y="2887"/>
            <a:chExt cx="5019" cy="1451"/>
          </a:xfrm>
        </p:grpSpPr>
        <p:pic>
          <p:nvPicPr>
            <p:cNvPr id="829468"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 y="2887"/>
              <a:ext cx="5019" cy="1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470" name="Rectangle 30"/>
            <p:cNvSpPr>
              <a:spLocks noChangeArrowheads="1"/>
            </p:cNvSpPr>
            <p:nvPr/>
          </p:nvSpPr>
          <p:spPr bwMode="auto">
            <a:xfrm>
              <a:off x="1701" y="3929"/>
              <a:ext cx="2313" cy="391"/>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29474" name="Object 34"/>
          <p:cNvGraphicFramePr>
            <a:graphicFrameLocks noChangeAspect="1"/>
          </p:cNvGraphicFramePr>
          <p:nvPr/>
        </p:nvGraphicFramePr>
        <p:xfrm>
          <a:off x="2794000" y="6053138"/>
          <a:ext cx="3416300" cy="722312"/>
        </p:xfrm>
        <a:graphic>
          <a:graphicData uri="http://schemas.openxmlformats.org/presentationml/2006/ole">
            <mc:AlternateContent xmlns:mc="http://schemas.openxmlformats.org/markup-compatibility/2006">
              <mc:Choice xmlns:v="urn:schemas-microsoft-com:vml" Requires="v">
                <p:oleObj spid="_x0000_s14343" name="公式" r:id="rId5" imgW="1981200" imgH="419100" progId="Equation.3">
                  <p:embed/>
                </p:oleObj>
              </mc:Choice>
              <mc:Fallback>
                <p:oleObj name="公式" r:id="rId5" imgW="1981200" imgH="419100" progId="Equation.3">
                  <p:embed/>
                  <p:pic>
                    <p:nvPicPr>
                      <p:cNvPr id="0" name="图片 143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4000" y="6053138"/>
                        <a:ext cx="3416300"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475" name="Text Box 35"/>
          <p:cNvSpPr txBox="1">
            <a:spLocks noChangeArrowheads="1"/>
          </p:cNvSpPr>
          <p:nvPr/>
        </p:nvSpPr>
        <p:spPr bwMode="auto">
          <a:xfrm>
            <a:off x="6443663" y="6237288"/>
            <a:ext cx="8651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a:ea typeface="宋体" panose="02010600030101010101" pitchFamily="2" charset="-122"/>
              </a:rPr>
              <a:t>mm</a:t>
            </a:r>
            <a:endParaRPr lang="en-US" altLang="zh-CN" sz="200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80642" name="Group 2"/>
          <p:cNvGrpSpPr/>
          <p:nvPr/>
        </p:nvGrpSpPr>
        <p:grpSpPr bwMode="auto">
          <a:xfrm>
            <a:off x="6638925" y="6238875"/>
            <a:ext cx="2519363" cy="631825"/>
            <a:chOff x="4182" y="3930"/>
            <a:chExt cx="1587" cy="398"/>
          </a:xfrm>
        </p:grpSpPr>
        <p:sp>
          <p:nvSpPr>
            <p:cNvPr id="880643" name="Text Box 3"/>
            <p:cNvSpPr txBox="1">
              <a:spLocks noChangeArrowheads="1"/>
            </p:cNvSpPr>
            <p:nvPr/>
          </p:nvSpPr>
          <p:spPr bwMode="auto">
            <a:xfrm>
              <a:off x="4448" y="3943"/>
              <a:ext cx="1321"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990033"/>
                  </a:solidFill>
                  <a:latin typeface="华文行楷" panose="02010800040101010101" pitchFamily="2" charset="-122"/>
                  <a:ea typeface="华文行楷" panose="02010800040101010101" pitchFamily="2" charset="-122"/>
                </a:rPr>
                <a:t>中国矿业大学(北京)</a:t>
              </a:r>
              <a:endParaRPr lang="zh-CN" altLang="en-US" sz="1600" b="1">
                <a:solidFill>
                  <a:srgbClr val="990033"/>
                </a:solidFill>
                <a:latin typeface="华文行楷" panose="02010800040101010101" pitchFamily="2" charset="-122"/>
                <a:ea typeface="华文行楷" panose="02010800040101010101" pitchFamily="2" charset="-122"/>
              </a:endParaRPr>
            </a:p>
            <a:p>
              <a:pPr algn="ctr" eaLnBrk="1" hangingPunct="1"/>
              <a:r>
                <a:rPr lang="zh-CN" altLang="en-US" sz="1800" b="1">
                  <a:solidFill>
                    <a:srgbClr val="3333CC"/>
                  </a:solidFill>
                  <a:ea typeface="华文隶书" panose="02010800040101010101" pitchFamily="2" charset="-122"/>
                </a:rPr>
                <a:t>机械设计基础</a:t>
              </a:r>
              <a:endParaRPr lang="en-US" altLang="zh-CN" sz="1800" b="1">
                <a:solidFill>
                  <a:srgbClr val="3333CC"/>
                </a:solidFill>
                <a:ea typeface="华文隶书" panose="02010800040101010101" pitchFamily="2" charset="-122"/>
              </a:endParaRPr>
            </a:p>
          </p:txBody>
        </p:sp>
        <p:graphicFrame>
          <p:nvGraphicFramePr>
            <p:cNvPr id="880644" name="Object 4"/>
            <p:cNvGraphicFramePr>
              <a:graphicFrameLocks noChangeAspect="1"/>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15364" name="Photo Editor 照片" r:id="rId1" imgW="781050" imgH="781050" progId="MSPhotoEd.3">
                    <p:embed/>
                  </p:oleObj>
                </mc:Choice>
                <mc:Fallback>
                  <p:oleObj name="Photo Editor 照片" r:id="rId1" imgW="781050" imgH="781050" progId="MSPhotoEd.3">
                    <p:embed/>
                    <p:pic>
                      <p:nvPicPr>
                        <p:cNvPr id="0" name="图片 153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 y="3930"/>
                          <a:ext cx="38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80645" name="Line 5"/>
          <p:cNvSpPr>
            <a:spLocks noChangeShapeType="1"/>
          </p:cNvSpPr>
          <p:nvPr/>
        </p:nvSpPr>
        <p:spPr bwMode="auto">
          <a:xfrm>
            <a:off x="188913" y="836613"/>
            <a:ext cx="8766175" cy="0"/>
          </a:xfrm>
          <a:prstGeom prst="line">
            <a:avLst/>
          </a:prstGeom>
          <a:noFill/>
          <a:ln w="57150" cmpd="thinThick">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646" name="Text Box 6"/>
          <p:cNvSpPr txBox="1">
            <a:spLocks noChangeArrowheads="1"/>
          </p:cNvSpPr>
          <p:nvPr/>
        </p:nvSpPr>
        <p:spPr bwMode="auto">
          <a:xfrm>
            <a:off x="33338" y="115888"/>
            <a:ext cx="904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600" b="1">
                <a:solidFill>
                  <a:srgbClr val="993300"/>
                </a:solidFill>
                <a:ea typeface="楷体_GB2312" pitchFamily="49" charset="-122"/>
              </a:rPr>
              <a:t>§15.3  </a:t>
            </a:r>
            <a:r>
              <a:rPr kumimoji="1" lang="zh-CN" altLang="en-US" sz="3600" b="1">
                <a:solidFill>
                  <a:srgbClr val="993300"/>
                </a:solidFill>
                <a:ea typeface="楷体_GB2312" pitchFamily="49" charset="-122"/>
              </a:rPr>
              <a:t>圆柱螺旋拉伸、压缩弹簧的设计计算</a:t>
            </a:r>
            <a:endParaRPr kumimoji="1" lang="zh-CN" altLang="en-US" sz="3600" b="1">
              <a:solidFill>
                <a:srgbClr val="993300"/>
              </a:solidFill>
              <a:ea typeface="楷体_GB2312" pitchFamily="49" charset="-122"/>
            </a:endParaRPr>
          </a:p>
        </p:txBody>
      </p:sp>
      <p:sp>
        <p:nvSpPr>
          <p:cNvPr id="880665" name="Rectangle 25"/>
          <p:cNvSpPr>
            <a:spLocks noChangeArrowheads="1"/>
          </p:cNvSpPr>
          <p:nvPr/>
        </p:nvSpPr>
        <p:spPr bwMode="auto">
          <a:xfrm>
            <a:off x="0" y="0"/>
            <a:ext cx="9158288" cy="686593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80666" name="Picture 26"/>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77788" y="158750"/>
            <a:ext cx="9004300" cy="6581775"/>
          </a:xfrm>
          <a:noFill/>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82690" name="Group 2"/>
          <p:cNvGrpSpPr/>
          <p:nvPr/>
        </p:nvGrpSpPr>
        <p:grpSpPr bwMode="auto">
          <a:xfrm>
            <a:off x="6638925" y="6238875"/>
            <a:ext cx="2519363" cy="631825"/>
            <a:chOff x="4182" y="3930"/>
            <a:chExt cx="1587" cy="398"/>
          </a:xfrm>
        </p:grpSpPr>
        <p:sp>
          <p:nvSpPr>
            <p:cNvPr id="882691" name="Text Box 3"/>
            <p:cNvSpPr txBox="1">
              <a:spLocks noChangeArrowheads="1"/>
            </p:cNvSpPr>
            <p:nvPr/>
          </p:nvSpPr>
          <p:spPr bwMode="auto">
            <a:xfrm>
              <a:off x="4448" y="3943"/>
              <a:ext cx="1321"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990033"/>
                  </a:solidFill>
                  <a:latin typeface="华文行楷" panose="02010800040101010101" pitchFamily="2" charset="-122"/>
                  <a:ea typeface="华文行楷" panose="02010800040101010101" pitchFamily="2" charset="-122"/>
                </a:rPr>
                <a:t>中国矿业大学(北京)</a:t>
              </a:r>
              <a:endParaRPr lang="zh-CN" altLang="en-US" sz="1600" b="1">
                <a:solidFill>
                  <a:srgbClr val="990033"/>
                </a:solidFill>
                <a:latin typeface="华文行楷" panose="02010800040101010101" pitchFamily="2" charset="-122"/>
                <a:ea typeface="华文行楷" panose="02010800040101010101" pitchFamily="2" charset="-122"/>
              </a:endParaRPr>
            </a:p>
            <a:p>
              <a:pPr algn="ctr" eaLnBrk="1" hangingPunct="1"/>
              <a:r>
                <a:rPr lang="zh-CN" altLang="en-US" sz="1800" b="1">
                  <a:solidFill>
                    <a:srgbClr val="3333CC"/>
                  </a:solidFill>
                  <a:ea typeface="华文隶书" panose="02010800040101010101" pitchFamily="2" charset="-122"/>
                </a:rPr>
                <a:t>机械设计基础</a:t>
              </a:r>
              <a:endParaRPr lang="en-US" altLang="zh-CN" sz="1800" b="1">
                <a:solidFill>
                  <a:srgbClr val="3333CC"/>
                </a:solidFill>
                <a:ea typeface="华文隶书" panose="02010800040101010101" pitchFamily="2" charset="-122"/>
              </a:endParaRPr>
            </a:p>
          </p:txBody>
        </p:sp>
        <p:graphicFrame>
          <p:nvGraphicFramePr>
            <p:cNvPr id="882692" name="Object 4"/>
            <p:cNvGraphicFramePr>
              <a:graphicFrameLocks noChangeAspect="1"/>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16388" name="Photo Editor 照片" r:id="rId1" imgW="781050" imgH="781050" progId="MSPhotoEd.3">
                    <p:embed/>
                  </p:oleObj>
                </mc:Choice>
                <mc:Fallback>
                  <p:oleObj name="Photo Editor 照片" r:id="rId1" imgW="781050" imgH="781050" progId="MSPhotoEd.3">
                    <p:embed/>
                    <p:pic>
                      <p:nvPicPr>
                        <p:cNvPr id="0" name="图片 163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 y="3930"/>
                          <a:ext cx="38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82693" name="Line 5"/>
          <p:cNvSpPr>
            <a:spLocks noChangeShapeType="1"/>
          </p:cNvSpPr>
          <p:nvPr/>
        </p:nvSpPr>
        <p:spPr bwMode="auto">
          <a:xfrm>
            <a:off x="188913" y="836613"/>
            <a:ext cx="8766175" cy="0"/>
          </a:xfrm>
          <a:prstGeom prst="line">
            <a:avLst/>
          </a:prstGeom>
          <a:noFill/>
          <a:ln w="57150" cmpd="thinThick">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2694" name="Text Box 6"/>
          <p:cNvSpPr txBox="1">
            <a:spLocks noChangeArrowheads="1"/>
          </p:cNvSpPr>
          <p:nvPr/>
        </p:nvSpPr>
        <p:spPr bwMode="auto">
          <a:xfrm>
            <a:off x="33338" y="115888"/>
            <a:ext cx="904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600" b="1">
                <a:solidFill>
                  <a:srgbClr val="993300"/>
                </a:solidFill>
                <a:ea typeface="楷体_GB2312" pitchFamily="49" charset="-122"/>
              </a:rPr>
              <a:t>§15.3  </a:t>
            </a:r>
            <a:r>
              <a:rPr kumimoji="1" lang="zh-CN" altLang="en-US" sz="3600" b="1">
                <a:solidFill>
                  <a:srgbClr val="993300"/>
                </a:solidFill>
                <a:ea typeface="楷体_GB2312" pitchFamily="49" charset="-122"/>
              </a:rPr>
              <a:t>圆柱螺旋拉伸、压缩弹簧的设计计算</a:t>
            </a:r>
            <a:endParaRPr kumimoji="1" lang="zh-CN" altLang="en-US" sz="3600" b="1">
              <a:solidFill>
                <a:srgbClr val="993300"/>
              </a:solidFill>
              <a:ea typeface="楷体_GB2312" pitchFamily="49" charset="-122"/>
            </a:endParaRPr>
          </a:p>
        </p:txBody>
      </p:sp>
      <p:sp>
        <p:nvSpPr>
          <p:cNvPr id="882695" name="Rectangle 7"/>
          <p:cNvSpPr>
            <a:spLocks noChangeArrowheads="1"/>
          </p:cNvSpPr>
          <p:nvPr/>
        </p:nvSpPr>
        <p:spPr bwMode="auto">
          <a:xfrm>
            <a:off x="0" y="0"/>
            <a:ext cx="9158288" cy="686593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82696" name="Picture 8"/>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249238" y="57150"/>
            <a:ext cx="8583612" cy="4073525"/>
          </a:xfrm>
          <a:noFill/>
        </p:spPr>
      </p:pic>
      <p:pic>
        <p:nvPicPr>
          <p:cNvPr id="88269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4" y="4125189"/>
            <a:ext cx="7666038" cy="2763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84738" name="Group 2"/>
          <p:cNvGrpSpPr/>
          <p:nvPr/>
        </p:nvGrpSpPr>
        <p:grpSpPr bwMode="auto">
          <a:xfrm>
            <a:off x="6638925" y="6238875"/>
            <a:ext cx="2519363" cy="631825"/>
            <a:chOff x="4182" y="3930"/>
            <a:chExt cx="1587" cy="398"/>
          </a:xfrm>
        </p:grpSpPr>
        <p:sp>
          <p:nvSpPr>
            <p:cNvPr id="884739" name="Text Box 3"/>
            <p:cNvSpPr txBox="1">
              <a:spLocks noChangeArrowheads="1"/>
            </p:cNvSpPr>
            <p:nvPr/>
          </p:nvSpPr>
          <p:spPr bwMode="auto">
            <a:xfrm>
              <a:off x="4448" y="3943"/>
              <a:ext cx="1321"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990033"/>
                  </a:solidFill>
                  <a:latin typeface="华文行楷" panose="02010800040101010101" pitchFamily="2" charset="-122"/>
                  <a:ea typeface="华文行楷" panose="02010800040101010101" pitchFamily="2" charset="-122"/>
                </a:rPr>
                <a:t>中国矿业大学(北京)</a:t>
              </a:r>
              <a:endParaRPr lang="zh-CN" altLang="en-US" sz="1600" b="1">
                <a:solidFill>
                  <a:srgbClr val="990033"/>
                </a:solidFill>
                <a:latin typeface="华文行楷" panose="02010800040101010101" pitchFamily="2" charset="-122"/>
                <a:ea typeface="华文行楷" panose="02010800040101010101" pitchFamily="2" charset="-122"/>
              </a:endParaRPr>
            </a:p>
            <a:p>
              <a:pPr algn="ctr" eaLnBrk="1" hangingPunct="1"/>
              <a:r>
                <a:rPr lang="zh-CN" altLang="en-US" sz="1800" b="1">
                  <a:solidFill>
                    <a:srgbClr val="3333CC"/>
                  </a:solidFill>
                  <a:ea typeface="华文隶书" panose="02010800040101010101" pitchFamily="2" charset="-122"/>
                </a:rPr>
                <a:t>机械设计基础</a:t>
              </a:r>
              <a:endParaRPr lang="en-US" altLang="zh-CN" sz="1800" b="1">
                <a:solidFill>
                  <a:srgbClr val="3333CC"/>
                </a:solidFill>
                <a:ea typeface="华文隶书" panose="02010800040101010101" pitchFamily="2" charset="-122"/>
              </a:endParaRPr>
            </a:p>
          </p:txBody>
        </p:sp>
        <p:graphicFrame>
          <p:nvGraphicFramePr>
            <p:cNvPr id="884740" name="Object 4"/>
            <p:cNvGraphicFramePr>
              <a:graphicFrameLocks noChangeAspect="1"/>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17412" name="Photo Editor 照片" r:id="rId1" imgW="781050" imgH="781050" progId="MSPhotoEd.3">
                    <p:embed/>
                  </p:oleObj>
                </mc:Choice>
                <mc:Fallback>
                  <p:oleObj name="Photo Editor 照片" r:id="rId1" imgW="781050" imgH="781050" progId="MSPhotoEd.3">
                    <p:embed/>
                    <p:pic>
                      <p:nvPicPr>
                        <p:cNvPr id="0" name="图片 174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 y="3930"/>
                          <a:ext cx="38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84741" name="Line 5"/>
          <p:cNvSpPr>
            <a:spLocks noChangeShapeType="1"/>
          </p:cNvSpPr>
          <p:nvPr/>
        </p:nvSpPr>
        <p:spPr bwMode="auto">
          <a:xfrm>
            <a:off x="188913" y="836613"/>
            <a:ext cx="8766175" cy="0"/>
          </a:xfrm>
          <a:prstGeom prst="line">
            <a:avLst/>
          </a:prstGeom>
          <a:noFill/>
          <a:ln w="57150" cmpd="thinThick">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4742" name="Text Box 6"/>
          <p:cNvSpPr txBox="1">
            <a:spLocks noChangeArrowheads="1"/>
          </p:cNvSpPr>
          <p:nvPr/>
        </p:nvSpPr>
        <p:spPr bwMode="auto">
          <a:xfrm>
            <a:off x="33338" y="115888"/>
            <a:ext cx="904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600" b="1">
                <a:solidFill>
                  <a:srgbClr val="993300"/>
                </a:solidFill>
                <a:ea typeface="楷体_GB2312" pitchFamily="49" charset="-122"/>
              </a:rPr>
              <a:t>§15.3  </a:t>
            </a:r>
            <a:r>
              <a:rPr kumimoji="1" lang="zh-CN" altLang="en-US" sz="3600" b="1">
                <a:solidFill>
                  <a:srgbClr val="993300"/>
                </a:solidFill>
                <a:ea typeface="楷体_GB2312" pitchFamily="49" charset="-122"/>
              </a:rPr>
              <a:t>圆柱螺旋拉伸、压缩弹簧的设计计算</a:t>
            </a:r>
            <a:endParaRPr kumimoji="1" lang="zh-CN" altLang="en-US" sz="3600" b="1">
              <a:solidFill>
                <a:srgbClr val="993300"/>
              </a:solidFill>
              <a:ea typeface="楷体_GB2312" pitchFamily="49" charset="-122"/>
            </a:endParaRPr>
          </a:p>
        </p:txBody>
      </p:sp>
      <p:sp>
        <p:nvSpPr>
          <p:cNvPr id="884743" name="Rectangle 7"/>
          <p:cNvSpPr>
            <a:spLocks noChangeArrowheads="1"/>
          </p:cNvSpPr>
          <p:nvPr/>
        </p:nvSpPr>
        <p:spPr bwMode="auto">
          <a:xfrm>
            <a:off x="0" y="0"/>
            <a:ext cx="9158288" cy="686593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84744" name="Picture 8"/>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14288" y="12700"/>
            <a:ext cx="7816850" cy="6861175"/>
          </a:xfrm>
          <a:noFill/>
        </p:spPr>
      </p:pic>
      <p:grpSp>
        <p:nvGrpSpPr>
          <p:cNvPr id="884832" name="Group 96"/>
          <p:cNvGrpSpPr/>
          <p:nvPr/>
        </p:nvGrpSpPr>
        <p:grpSpPr bwMode="auto">
          <a:xfrm>
            <a:off x="6292850" y="144463"/>
            <a:ext cx="3017838" cy="2841625"/>
            <a:chOff x="3479" y="1892"/>
            <a:chExt cx="2248" cy="2060"/>
          </a:xfrm>
        </p:grpSpPr>
        <p:grpSp>
          <p:nvGrpSpPr>
            <p:cNvPr id="884833" name="Group 97"/>
            <p:cNvGrpSpPr/>
            <p:nvPr/>
          </p:nvGrpSpPr>
          <p:grpSpPr bwMode="auto">
            <a:xfrm>
              <a:off x="3479" y="1892"/>
              <a:ext cx="2248" cy="2060"/>
              <a:chOff x="3479" y="1892"/>
              <a:chExt cx="2248" cy="2060"/>
            </a:xfrm>
          </p:grpSpPr>
          <p:sp>
            <p:nvSpPr>
              <p:cNvPr id="884834" name="Text Box 98"/>
              <p:cNvSpPr txBox="1">
                <a:spLocks noChangeArrowheads="1"/>
              </p:cNvSpPr>
              <p:nvPr/>
            </p:nvSpPr>
            <p:spPr bwMode="auto">
              <a:xfrm>
                <a:off x="3479" y="3687"/>
                <a:ext cx="2159" cy="2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solidFill>
                      <a:srgbClr val="990099"/>
                    </a:solidFill>
                    <a:ea typeface="宋体" panose="02010600030101010101" pitchFamily="2" charset="-122"/>
                  </a:rPr>
                  <a:t>图</a:t>
                </a:r>
                <a:r>
                  <a:rPr lang="en-US" altLang="zh-CN" sz="1800" b="1">
                    <a:solidFill>
                      <a:srgbClr val="990099"/>
                    </a:solidFill>
                    <a:ea typeface="宋体" panose="02010600030101010101" pitchFamily="2" charset="-122"/>
                  </a:rPr>
                  <a:t>15</a:t>
                </a:r>
                <a:r>
                  <a:rPr lang="zh-CN" altLang="en-US" sz="1800" b="1">
                    <a:solidFill>
                      <a:srgbClr val="990099"/>
                    </a:solidFill>
                    <a:ea typeface="宋体" panose="02010600030101010101" pitchFamily="2" charset="-122"/>
                  </a:rPr>
                  <a:t>－</a:t>
                </a:r>
                <a:r>
                  <a:rPr lang="en-US" altLang="zh-CN" sz="1800" b="1">
                    <a:solidFill>
                      <a:srgbClr val="990099"/>
                    </a:solidFill>
                    <a:ea typeface="宋体" panose="02010600030101010101" pitchFamily="2" charset="-122"/>
                  </a:rPr>
                  <a:t>6</a:t>
                </a:r>
                <a:endParaRPr lang="en-US" altLang="zh-CN" sz="1800" b="1">
                  <a:solidFill>
                    <a:srgbClr val="990099"/>
                  </a:solidFill>
                  <a:ea typeface="宋体" panose="02010600030101010101" pitchFamily="2" charset="-122"/>
                </a:endParaRPr>
              </a:p>
            </p:txBody>
          </p:sp>
          <p:grpSp>
            <p:nvGrpSpPr>
              <p:cNvPr id="884835" name="Group 99"/>
              <p:cNvGrpSpPr>
                <a:grpSpLocks noChangeAspect="1"/>
              </p:cNvGrpSpPr>
              <p:nvPr/>
            </p:nvGrpSpPr>
            <p:grpSpPr bwMode="auto">
              <a:xfrm>
                <a:off x="3489" y="1892"/>
                <a:ext cx="2238" cy="1878"/>
                <a:chOff x="3255" y="12660"/>
                <a:chExt cx="4230" cy="3540"/>
              </a:xfrm>
            </p:grpSpPr>
            <p:sp>
              <p:nvSpPr>
                <p:cNvPr id="884836" name="Line 100"/>
                <p:cNvSpPr>
                  <a:spLocks noChangeAspect="1" noChangeShapeType="1"/>
                </p:cNvSpPr>
                <p:nvPr/>
              </p:nvSpPr>
              <p:spPr bwMode="auto">
                <a:xfrm>
                  <a:off x="4710" y="13884"/>
                  <a:ext cx="0" cy="18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37" name="Line 101"/>
                <p:cNvSpPr>
                  <a:spLocks noChangeAspect="1" noChangeShapeType="1"/>
                </p:cNvSpPr>
                <p:nvPr/>
              </p:nvSpPr>
              <p:spPr bwMode="auto">
                <a:xfrm>
                  <a:off x="6030" y="13743"/>
                  <a:ext cx="0" cy="129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884838" name="Group 102"/>
                <p:cNvGrpSpPr>
                  <a:grpSpLocks noChangeAspect="1"/>
                </p:cNvGrpSpPr>
                <p:nvPr/>
              </p:nvGrpSpPr>
              <p:grpSpPr bwMode="auto">
                <a:xfrm>
                  <a:off x="3300" y="12672"/>
                  <a:ext cx="3885" cy="1923"/>
                  <a:chOff x="3330" y="13662"/>
                  <a:chExt cx="3885" cy="1923"/>
                </a:xfrm>
              </p:grpSpPr>
              <p:sp>
                <p:nvSpPr>
                  <p:cNvPr id="884839" name="Freeform 103" descr="10%"/>
                  <p:cNvSpPr>
                    <a:spLocks noChangeAspect="1"/>
                  </p:cNvSpPr>
                  <p:nvPr/>
                </p:nvSpPr>
                <p:spPr bwMode="auto">
                  <a:xfrm>
                    <a:off x="4995" y="13803"/>
                    <a:ext cx="1080" cy="1086"/>
                  </a:xfrm>
                  <a:custGeom>
                    <a:avLst/>
                    <a:gdLst>
                      <a:gd name="T0" fmla="*/ 0 w 1080"/>
                      <a:gd name="T1" fmla="*/ 0 h 1086"/>
                      <a:gd name="T2" fmla="*/ 0 w 1080"/>
                      <a:gd name="T3" fmla="*/ 1086 h 1086"/>
                      <a:gd name="T4" fmla="*/ 1080 w 1080"/>
                      <a:gd name="T5" fmla="*/ 1086 h 1086"/>
                      <a:gd name="T6" fmla="*/ 1080 w 1080"/>
                      <a:gd name="T7" fmla="*/ 534 h 1086"/>
                      <a:gd name="T8" fmla="*/ 0 w 1080"/>
                      <a:gd name="T9" fmla="*/ 0 h 1086"/>
                    </a:gdLst>
                    <a:ahLst/>
                    <a:cxnLst>
                      <a:cxn ang="0">
                        <a:pos x="T0" y="T1"/>
                      </a:cxn>
                      <a:cxn ang="0">
                        <a:pos x="T2" y="T3"/>
                      </a:cxn>
                      <a:cxn ang="0">
                        <a:pos x="T4" y="T5"/>
                      </a:cxn>
                      <a:cxn ang="0">
                        <a:pos x="T6" y="T7"/>
                      </a:cxn>
                      <a:cxn ang="0">
                        <a:pos x="T8" y="T9"/>
                      </a:cxn>
                    </a:cxnLst>
                    <a:rect l="0" t="0" r="r" b="b"/>
                    <a:pathLst>
                      <a:path w="1080" h="1086">
                        <a:moveTo>
                          <a:pt x="0" y="0"/>
                        </a:moveTo>
                        <a:lnTo>
                          <a:pt x="0" y="1086"/>
                        </a:lnTo>
                        <a:lnTo>
                          <a:pt x="1080" y="1086"/>
                        </a:lnTo>
                        <a:lnTo>
                          <a:pt x="1080" y="534"/>
                        </a:lnTo>
                        <a:lnTo>
                          <a:pt x="0" y="0"/>
                        </a:lnTo>
                        <a:close/>
                      </a:path>
                    </a:pathLst>
                  </a:custGeom>
                  <a:pattFill prst="pct10">
                    <a:fgClr>
                      <a:srgbClr val="000000"/>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84840" name="Line 104"/>
                  <p:cNvSpPr>
                    <a:spLocks noChangeAspect="1" noChangeShapeType="1"/>
                  </p:cNvSpPr>
                  <p:nvPr/>
                </p:nvSpPr>
                <p:spPr bwMode="auto">
                  <a:xfrm>
                    <a:off x="4725" y="13665"/>
                    <a:ext cx="2490" cy="123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41" name="Line 105"/>
                  <p:cNvSpPr>
                    <a:spLocks noChangeAspect="1" noChangeShapeType="1"/>
                  </p:cNvSpPr>
                  <p:nvPr/>
                </p:nvSpPr>
                <p:spPr bwMode="auto">
                  <a:xfrm flipH="1">
                    <a:off x="4725" y="14895"/>
                    <a:ext cx="249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42" name="Line 106"/>
                  <p:cNvSpPr>
                    <a:spLocks noChangeAspect="1" noChangeShapeType="1"/>
                  </p:cNvSpPr>
                  <p:nvPr/>
                </p:nvSpPr>
                <p:spPr bwMode="auto">
                  <a:xfrm>
                    <a:off x="4740" y="13662"/>
                    <a:ext cx="0" cy="123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43" name="Line 107"/>
                  <p:cNvSpPr>
                    <a:spLocks noChangeAspect="1" noChangeShapeType="1"/>
                  </p:cNvSpPr>
                  <p:nvPr/>
                </p:nvSpPr>
                <p:spPr bwMode="auto">
                  <a:xfrm>
                    <a:off x="4995" y="13794"/>
                    <a:ext cx="0" cy="111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44" name="Line 108"/>
                  <p:cNvSpPr>
                    <a:spLocks noChangeAspect="1" noChangeShapeType="1"/>
                  </p:cNvSpPr>
                  <p:nvPr/>
                </p:nvSpPr>
                <p:spPr bwMode="auto">
                  <a:xfrm>
                    <a:off x="6075" y="14340"/>
                    <a:ext cx="0" cy="55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45" name="Line 109"/>
                  <p:cNvSpPr>
                    <a:spLocks noChangeAspect="1" noChangeShapeType="1"/>
                  </p:cNvSpPr>
                  <p:nvPr/>
                </p:nvSpPr>
                <p:spPr bwMode="auto">
                  <a:xfrm flipH="1">
                    <a:off x="3330" y="15045"/>
                    <a:ext cx="388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46" name="Line 110"/>
                  <p:cNvSpPr>
                    <a:spLocks noChangeAspect="1" noChangeShapeType="1"/>
                  </p:cNvSpPr>
                  <p:nvPr/>
                </p:nvSpPr>
                <p:spPr bwMode="auto">
                  <a:xfrm>
                    <a:off x="3345" y="15585"/>
                    <a:ext cx="387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884847" name="Group 111"/>
                  <p:cNvGrpSpPr>
                    <a:grpSpLocks noChangeAspect="1"/>
                  </p:cNvGrpSpPr>
                  <p:nvPr/>
                </p:nvGrpSpPr>
                <p:grpSpPr bwMode="auto">
                  <a:xfrm>
                    <a:off x="3354" y="15045"/>
                    <a:ext cx="392" cy="540"/>
                    <a:chOff x="3384" y="15045"/>
                    <a:chExt cx="392" cy="540"/>
                  </a:xfrm>
                </p:grpSpPr>
                <p:grpSp>
                  <p:nvGrpSpPr>
                    <p:cNvPr id="884848" name="Group 112"/>
                    <p:cNvGrpSpPr>
                      <a:grpSpLocks noChangeAspect="1"/>
                    </p:cNvGrpSpPr>
                    <p:nvPr/>
                  </p:nvGrpSpPr>
                  <p:grpSpPr bwMode="auto">
                    <a:xfrm>
                      <a:off x="3384" y="15045"/>
                      <a:ext cx="120" cy="540"/>
                      <a:chOff x="3375" y="15045"/>
                      <a:chExt cx="120" cy="540"/>
                    </a:xfrm>
                  </p:grpSpPr>
                  <p:sp>
                    <p:nvSpPr>
                      <p:cNvPr id="884849" name="Line 113"/>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50" name="Line 114"/>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51" name="Group 115"/>
                    <p:cNvGrpSpPr>
                      <a:grpSpLocks noChangeAspect="1"/>
                    </p:cNvGrpSpPr>
                    <p:nvPr/>
                  </p:nvGrpSpPr>
                  <p:grpSpPr bwMode="auto">
                    <a:xfrm>
                      <a:off x="3504" y="15045"/>
                      <a:ext cx="120" cy="540"/>
                      <a:chOff x="3375" y="15045"/>
                      <a:chExt cx="120" cy="540"/>
                    </a:xfrm>
                  </p:grpSpPr>
                  <p:sp>
                    <p:nvSpPr>
                      <p:cNvPr id="884852" name="Line 116"/>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53" name="Line 117"/>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54" name="Group 118"/>
                    <p:cNvGrpSpPr>
                      <a:grpSpLocks noChangeAspect="1"/>
                    </p:cNvGrpSpPr>
                    <p:nvPr/>
                  </p:nvGrpSpPr>
                  <p:grpSpPr bwMode="auto">
                    <a:xfrm>
                      <a:off x="3624" y="15045"/>
                      <a:ext cx="120" cy="540"/>
                      <a:chOff x="3375" y="15045"/>
                      <a:chExt cx="120" cy="540"/>
                    </a:xfrm>
                  </p:grpSpPr>
                  <p:sp>
                    <p:nvSpPr>
                      <p:cNvPr id="884855" name="Line 119"/>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56" name="Line 120"/>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4857" name="Line 121"/>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58" name="Group 122"/>
                  <p:cNvGrpSpPr>
                    <a:grpSpLocks noChangeAspect="1"/>
                  </p:cNvGrpSpPr>
                  <p:nvPr/>
                </p:nvGrpSpPr>
                <p:grpSpPr bwMode="auto">
                  <a:xfrm flipH="1">
                    <a:off x="4344" y="15045"/>
                    <a:ext cx="392" cy="540"/>
                    <a:chOff x="3384" y="15045"/>
                    <a:chExt cx="392" cy="540"/>
                  </a:xfrm>
                </p:grpSpPr>
                <p:grpSp>
                  <p:nvGrpSpPr>
                    <p:cNvPr id="884859" name="Group 123"/>
                    <p:cNvGrpSpPr>
                      <a:grpSpLocks noChangeAspect="1"/>
                    </p:cNvGrpSpPr>
                    <p:nvPr/>
                  </p:nvGrpSpPr>
                  <p:grpSpPr bwMode="auto">
                    <a:xfrm>
                      <a:off x="3384" y="15045"/>
                      <a:ext cx="120" cy="540"/>
                      <a:chOff x="3375" y="15045"/>
                      <a:chExt cx="120" cy="540"/>
                    </a:xfrm>
                  </p:grpSpPr>
                  <p:sp>
                    <p:nvSpPr>
                      <p:cNvPr id="884860" name="Line 124"/>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61" name="Line 125"/>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62" name="Group 126"/>
                    <p:cNvGrpSpPr>
                      <a:grpSpLocks noChangeAspect="1"/>
                    </p:cNvGrpSpPr>
                    <p:nvPr/>
                  </p:nvGrpSpPr>
                  <p:grpSpPr bwMode="auto">
                    <a:xfrm>
                      <a:off x="3504" y="15045"/>
                      <a:ext cx="120" cy="540"/>
                      <a:chOff x="3375" y="15045"/>
                      <a:chExt cx="120" cy="540"/>
                    </a:xfrm>
                  </p:grpSpPr>
                  <p:sp>
                    <p:nvSpPr>
                      <p:cNvPr id="884863" name="Line 127"/>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64" name="Line 128"/>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65" name="Group 129"/>
                    <p:cNvGrpSpPr>
                      <a:grpSpLocks noChangeAspect="1"/>
                    </p:cNvGrpSpPr>
                    <p:nvPr/>
                  </p:nvGrpSpPr>
                  <p:grpSpPr bwMode="auto">
                    <a:xfrm>
                      <a:off x="3624" y="15045"/>
                      <a:ext cx="120" cy="540"/>
                      <a:chOff x="3375" y="15045"/>
                      <a:chExt cx="120" cy="540"/>
                    </a:xfrm>
                  </p:grpSpPr>
                  <p:sp>
                    <p:nvSpPr>
                      <p:cNvPr id="884866" name="Line 130"/>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67" name="Line 131"/>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4868" name="Line 132"/>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69" name="Group 133"/>
                  <p:cNvGrpSpPr>
                    <a:grpSpLocks noChangeAspect="1"/>
                  </p:cNvGrpSpPr>
                  <p:nvPr/>
                </p:nvGrpSpPr>
                <p:grpSpPr bwMode="auto">
                  <a:xfrm flipH="1">
                    <a:off x="5436" y="15045"/>
                    <a:ext cx="644" cy="540"/>
                    <a:chOff x="3384" y="15045"/>
                    <a:chExt cx="392" cy="540"/>
                  </a:xfrm>
                </p:grpSpPr>
                <p:grpSp>
                  <p:nvGrpSpPr>
                    <p:cNvPr id="884870" name="Group 134"/>
                    <p:cNvGrpSpPr>
                      <a:grpSpLocks noChangeAspect="1"/>
                    </p:cNvGrpSpPr>
                    <p:nvPr/>
                  </p:nvGrpSpPr>
                  <p:grpSpPr bwMode="auto">
                    <a:xfrm>
                      <a:off x="3384" y="15045"/>
                      <a:ext cx="120" cy="540"/>
                      <a:chOff x="3375" y="15045"/>
                      <a:chExt cx="120" cy="540"/>
                    </a:xfrm>
                  </p:grpSpPr>
                  <p:sp>
                    <p:nvSpPr>
                      <p:cNvPr id="884871" name="Line 135"/>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72" name="Line 136"/>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73" name="Group 137"/>
                    <p:cNvGrpSpPr>
                      <a:grpSpLocks noChangeAspect="1"/>
                    </p:cNvGrpSpPr>
                    <p:nvPr/>
                  </p:nvGrpSpPr>
                  <p:grpSpPr bwMode="auto">
                    <a:xfrm>
                      <a:off x="3504" y="15045"/>
                      <a:ext cx="120" cy="540"/>
                      <a:chOff x="3375" y="15045"/>
                      <a:chExt cx="120" cy="540"/>
                    </a:xfrm>
                  </p:grpSpPr>
                  <p:sp>
                    <p:nvSpPr>
                      <p:cNvPr id="884874" name="Line 138"/>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75" name="Line 139"/>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76" name="Group 140"/>
                    <p:cNvGrpSpPr>
                      <a:grpSpLocks noChangeAspect="1"/>
                    </p:cNvGrpSpPr>
                    <p:nvPr/>
                  </p:nvGrpSpPr>
                  <p:grpSpPr bwMode="auto">
                    <a:xfrm>
                      <a:off x="3624" y="15045"/>
                      <a:ext cx="120" cy="540"/>
                      <a:chOff x="3375" y="15045"/>
                      <a:chExt cx="120" cy="540"/>
                    </a:xfrm>
                  </p:grpSpPr>
                  <p:sp>
                    <p:nvSpPr>
                      <p:cNvPr id="884877" name="Line 141"/>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78" name="Line 142"/>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4879" name="Line 143"/>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80" name="Group 144"/>
                  <p:cNvGrpSpPr>
                    <a:grpSpLocks noChangeAspect="1"/>
                  </p:cNvGrpSpPr>
                  <p:nvPr/>
                </p:nvGrpSpPr>
                <p:grpSpPr bwMode="auto">
                  <a:xfrm flipH="1">
                    <a:off x="4809" y="15042"/>
                    <a:ext cx="191" cy="540"/>
                    <a:chOff x="4749" y="15042"/>
                    <a:chExt cx="149" cy="540"/>
                  </a:xfrm>
                </p:grpSpPr>
                <p:grpSp>
                  <p:nvGrpSpPr>
                    <p:cNvPr id="884881" name="Group 145"/>
                    <p:cNvGrpSpPr>
                      <a:grpSpLocks noChangeAspect="1"/>
                    </p:cNvGrpSpPr>
                    <p:nvPr/>
                  </p:nvGrpSpPr>
                  <p:grpSpPr bwMode="auto">
                    <a:xfrm>
                      <a:off x="4749" y="15042"/>
                      <a:ext cx="120" cy="540"/>
                      <a:chOff x="3375" y="15045"/>
                      <a:chExt cx="120" cy="540"/>
                    </a:xfrm>
                  </p:grpSpPr>
                  <p:sp>
                    <p:nvSpPr>
                      <p:cNvPr id="884882" name="Line 146"/>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83" name="Line 147"/>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4884" name="Line 148"/>
                    <p:cNvSpPr>
                      <a:spLocks noChangeAspect="1" noChangeShapeType="1"/>
                    </p:cNvSpPr>
                    <p:nvPr/>
                  </p:nvSpPr>
                  <p:spPr bwMode="auto">
                    <a:xfrm>
                      <a:off x="4866"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85" name="Group 149"/>
                  <p:cNvGrpSpPr>
                    <a:grpSpLocks noChangeAspect="1"/>
                  </p:cNvGrpSpPr>
                  <p:nvPr/>
                </p:nvGrpSpPr>
                <p:grpSpPr bwMode="auto">
                  <a:xfrm flipH="1">
                    <a:off x="6288" y="15042"/>
                    <a:ext cx="917" cy="540"/>
                    <a:chOff x="3384" y="15045"/>
                    <a:chExt cx="392" cy="540"/>
                  </a:xfrm>
                </p:grpSpPr>
                <p:grpSp>
                  <p:nvGrpSpPr>
                    <p:cNvPr id="884886" name="Group 150"/>
                    <p:cNvGrpSpPr>
                      <a:grpSpLocks noChangeAspect="1"/>
                    </p:cNvGrpSpPr>
                    <p:nvPr/>
                  </p:nvGrpSpPr>
                  <p:grpSpPr bwMode="auto">
                    <a:xfrm>
                      <a:off x="3384" y="15045"/>
                      <a:ext cx="120" cy="540"/>
                      <a:chOff x="3375" y="15045"/>
                      <a:chExt cx="120" cy="540"/>
                    </a:xfrm>
                  </p:grpSpPr>
                  <p:sp>
                    <p:nvSpPr>
                      <p:cNvPr id="884887" name="Line 151"/>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88" name="Line 152"/>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89" name="Group 153"/>
                    <p:cNvGrpSpPr>
                      <a:grpSpLocks noChangeAspect="1"/>
                    </p:cNvGrpSpPr>
                    <p:nvPr/>
                  </p:nvGrpSpPr>
                  <p:grpSpPr bwMode="auto">
                    <a:xfrm>
                      <a:off x="3504" y="15045"/>
                      <a:ext cx="120" cy="540"/>
                      <a:chOff x="3375" y="15045"/>
                      <a:chExt cx="120" cy="540"/>
                    </a:xfrm>
                  </p:grpSpPr>
                  <p:sp>
                    <p:nvSpPr>
                      <p:cNvPr id="884890" name="Line 154"/>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91" name="Line 155"/>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4892" name="Group 156"/>
                    <p:cNvGrpSpPr>
                      <a:grpSpLocks noChangeAspect="1"/>
                    </p:cNvGrpSpPr>
                    <p:nvPr/>
                  </p:nvGrpSpPr>
                  <p:grpSpPr bwMode="auto">
                    <a:xfrm>
                      <a:off x="3624" y="15045"/>
                      <a:ext cx="120" cy="540"/>
                      <a:chOff x="3375" y="15045"/>
                      <a:chExt cx="120" cy="540"/>
                    </a:xfrm>
                  </p:grpSpPr>
                  <p:sp>
                    <p:nvSpPr>
                      <p:cNvPr id="884893" name="Line 157"/>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94" name="Line 158"/>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4895" name="Line 159"/>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884896" name="Line 160"/>
                <p:cNvSpPr>
                  <a:spLocks noChangeAspect="1" noChangeShapeType="1"/>
                </p:cNvSpPr>
                <p:nvPr/>
              </p:nvSpPr>
              <p:spPr bwMode="auto">
                <a:xfrm>
                  <a:off x="7185" y="13908"/>
                  <a:ext cx="0" cy="216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97" name="Line 161"/>
                <p:cNvSpPr>
                  <a:spLocks noChangeAspect="1" noChangeShapeType="1"/>
                </p:cNvSpPr>
                <p:nvPr/>
              </p:nvSpPr>
              <p:spPr bwMode="auto">
                <a:xfrm>
                  <a:off x="4965" y="13875"/>
                  <a:ext cx="0" cy="15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98" name="Line 162"/>
                <p:cNvSpPr>
                  <a:spLocks noChangeAspect="1" noChangeShapeType="1"/>
                </p:cNvSpPr>
                <p:nvPr/>
              </p:nvSpPr>
              <p:spPr bwMode="auto">
                <a:xfrm>
                  <a:off x="3315" y="14055"/>
                  <a:ext cx="0" cy="199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899" name="Line 163"/>
                <p:cNvSpPr>
                  <a:spLocks noChangeAspect="1" noChangeShapeType="1"/>
                </p:cNvSpPr>
                <p:nvPr/>
              </p:nvSpPr>
              <p:spPr bwMode="auto">
                <a:xfrm>
                  <a:off x="3255" y="14325"/>
                  <a:ext cx="4035" cy="0"/>
                </a:xfrm>
                <a:prstGeom prst="line">
                  <a:avLst/>
                </a:prstGeom>
                <a:noFill/>
                <a:ln w="9525">
                  <a:solidFill>
                    <a:srgbClr val="000000"/>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884900" name="Line 164"/>
                <p:cNvSpPr>
                  <a:spLocks noChangeAspect="1" noChangeShapeType="1"/>
                </p:cNvSpPr>
                <p:nvPr/>
              </p:nvSpPr>
              <p:spPr bwMode="auto">
                <a:xfrm flipH="1">
                  <a:off x="3690" y="12660"/>
                  <a:ext cx="100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901" name="Line 165"/>
                <p:cNvSpPr>
                  <a:spLocks noChangeAspect="1" noChangeShapeType="1"/>
                </p:cNvSpPr>
                <p:nvPr/>
              </p:nvSpPr>
              <p:spPr bwMode="auto">
                <a:xfrm flipH="1">
                  <a:off x="3660" y="13905"/>
                  <a:ext cx="10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902" name="Line 166"/>
                <p:cNvSpPr>
                  <a:spLocks noChangeAspect="1" noChangeShapeType="1"/>
                </p:cNvSpPr>
                <p:nvPr/>
              </p:nvSpPr>
              <p:spPr bwMode="auto">
                <a:xfrm flipH="1">
                  <a:off x="4215" y="12810"/>
                  <a:ext cx="7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903" name="Line 167"/>
                <p:cNvSpPr>
                  <a:spLocks noChangeAspect="1" noChangeShapeType="1"/>
                </p:cNvSpPr>
                <p:nvPr/>
              </p:nvSpPr>
              <p:spPr bwMode="auto">
                <a:xfrm>
                  <a:off x="6030" y="13335"/>
                  <a:ext cx="79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4904" name="Line 168"/>
                <p:cNvSpPr>
                  <a:spLocks noChangeAspect="1" noChangeShapeType="1"/>
                </p:cNvSpPr>
                <p:nvPr/>
              </p:nvSpPr>
              <p:spPr bwMode="auto">
                <a:xfrm>
                  <a:off x="4410" y="12810"/>
                  <a:ext cx="0" cy="1095"/>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05" name="Line 169"/>
                <p:cNvSpPr>
                  <a:spLocks noChangeAspect="1" noChangeShapeType="1"/>
                </p:cNvSpPr>
                <p:nvPr/>
              </p:nvSpPr>
              <p:spPr bwMode="auto">
                <a:xfrm>
                  <a:off x="3825" y="12660"/>
                  <a:ext cx="0" cy="1245"/>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06" name="Line 170"/>
                <p:cNvSpPr>
                  <a:spLocks noChangeAspect="1" noChangeShapeType="1"/>
                </p:cNvSpPr>
                <p:nvPr/>
              </p:nvSpPr>
              <p:spPr bwMode="auto">
                <a:xfrm>
                  <a:off x="6570" y="13335"/>
                  <a:ext cx="0" cy="555"/>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07" name="Line 171"/>
                <p:cNvSpPr>
                  <a:spLocks noChangeAspect="1" noChangeShapeType="1"/>
                </p:cNvSpPr>
                <p:nvPr/>
              </p:nvSpPr>
              <p:spPr bwMode="auto">
                <a:xfrm>
                  <a:off x="6045" y="14955"/>
                  <a:ext cx="1140" cy="0"/>
                </a:xfrm>
                <a:prstGeom prst="line">
                  <a:avLst/>
                </a:prstGeom>
                <a:noFill/>
                <a:ln w="9525">
                  <a:solidFill>
                    <a:srgbClr val="0000FF"/>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08" name="Line 172"/>
                <p:cNvSpPr>
                  <a:spLocks noChangeAspect="1" noChangeShapeType="1"/>
                </p:cNvSpPr>
                <p:nvPr/>
              </p:nvSpPr>
              <p:spPr bwMode="auto">
                <a:xfrm flipH="1">
                  <a:off x="4965" y="14955"/>
                  <a:ext cx="1080" cy="0"/>
                </a:xfrm>
                <a:prstGeom prst="line">
                  <a:avLst/>
                </a:prstGeom>
                <a:noFill/>
                <a:ln w="9525">
                  <a:solidFill>
                    <a:srgbClr val="FF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09" name="Line 173"/>
                <p:cNvSpPr>
                  <a:spLocks noChangeAspect="1" noChangeShapeType="1"/>
                </p:cNvSpPr>
                <p:nvPr/>
              </p:nvSpPr>
              <p:spPr bwMode="auto">
                <a:xfrm>
                  <a:off x="4965" y="15300"/>
                  <a:ext cx="2220" cy="0"/>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10" name="Line 174"/>
                <p:cNvSpPr>
                  <a:spLocks noChangeAspect="1" noChangeShapeType="1"/>
                </p:cNvSpPr>
                <p:nvPr/>
              </p:nvSpPr>
              <p:spPr bwMode="auto">
                <a:xfrm>
                  <a:off x="4710" y="15645"/>
                  <a:ext cx="2475" cy="0"/>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11" name="Line 175"/>
                <p:cNvSpPr>
                  <a:spLocks noChangeAspect="1" noChangeShapeType="1"/>
                </p:cNvSpPr>
                <p:nvPr/>
              </p:nvSpPr>
              <p:spPr bwMode="auto">
                <a:xfrm>
                  <a:off x="3315" y="15990"/>
                  <a:ext cx="3870" cy="0"/>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4912" name="Text Box 176"/>
                <p:cNvSpPr txBox="1">
                  <a:spLocks noChangeAspect="1" noChangeArrowheads="1"/>
                </p:cNvSpPr>
                <p:nvPr/>
              </p:nvSpPr>
              <p:spPr bwMode="auto">
                <a:xfrm>
                  <a:off x="4995" y="1563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H</a:t>
                  </a:r>
                  <a:r>
                    <a:rPr lang="en-US" altLang="zh-CN" sz="1400" b="1" baseline="-25000">
                      <a:ea typeface="宋体" panose="02010600030101010101" pitchFamily="2" charset="-122"/>
                    </a:rPr>
                    <a:t>0</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4913" name="Text Box 177"/>
                <p:cNvSpPr txBox="1">
                  <a:spLocks noChangeAspect="1" noChangeArrowheads="1"/>
                </p:cNvSpPr>
                <p:nvPr/>
              </p:nvSpPr>
              <p:spPr bwMode="auto">
                <a:xfrm>
                  <a:off x="5490" y="1527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λ</a:t>
                  </a:r>
                  <a:r>
                    <a:rPr lang="en-US" altLang="zh-CN" sz="1400" b="1" baseline="-25000">
                      <a:ea typeface="宋体" panose="02010600030101010101" pitchFamily="2" charset="-122"/>
                    </a:rPr>
                    <a:t>lim</a:t>
                  </a:r>
                  <a:r>
                    <a:rPr lang="en-US" altLang="zh-CN" sz="1000">
                      <a:ea typeface="宋体" panose="02010600030101010101" pitchFamily="2" charset="-122"/>
                    </a:rPr>
                    <a:t> </a:t>
                  </a:r>
                  <a:endParaRPr lang="en-US" altLang="zh-CN">
                    <a:ea typeface="宋体" panose="02010600030101010101" pitchFamily="2" charset="-122"/>
                  </a:endParaRPr>
                </a:p>
              </p:txBody>
            </p:sp>
            <p:sp>
              <p:nvSpPr>
                <p:cNvPr id="884914" name="Text Box 178"/>
                <p:cNvSpPr txBox="1">
                  <a:spLocks noChangeAspect="1" noChangeArrowheads="1"/>
                </p:cNvSpPr>
                <p:nvPr/>
              </p:nvSpPr>
              <p:spPr bwMode="auto">
                <a:xfrm>
                  <a:off x="5700" y="1495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λ</a:t>
                  </a:r>
                  <a:r>
                    <a:rPr lang="en-US" altLang="zh-CN" sz="1400" b="1" baseline="-25000">
                      <a:ea typeface="宋体" panose="02010600030101010101" pitchFamily="2" charset="-122"/>
                    </a:rPr>
                    <a:t>2</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4915" name="Text Box 179"/>
                <p:cNvSpPr txBox="1">
                  <a:spLocks noChangeAspect="1" noChangeArrowheads="1"/>
                </p:cNvSpPr>
                <p:nvPr/>
              </p:nvSpPr>
              <p:spPr bwMode="auto">
                <a:xfrm>
                  <a:off x="6270" y="1458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0000FF"/>
                      </a:solidFill>
                      <a:ea typeface="宋体" panose="02010600030101010101" pitchFamily="2" charset="-122"/>
                    </a:rPr>
                    <a:t>λ</a:t>
                  </a:r>
                  <a:r>
                    <a:rPr lang="en-US" altLang="zh-CN" sz="1400" b="1" baseline="-25000">
                      <a:solidFill>
                        <a:srgbClr val="0000FF"/>
                      </a:solidFill>
                      <a:ea typeface="宋体" panose="02010600030101010101" pitchFamily="2" charset="-122"/>
                    </a:rPr>
                    <a:t>1</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4916" name="Text Box 180"/>
                <p:cNvSpPr txBox="1">
                  <a:spLocks noChangeAspect="1" noChangeArrowheads="1"/>
                </p:cNvSpPr>
                <p:nvPr/>
              </p:nvSpPr>
              <p:spPr bwMode="auto">
                <a:xfrm>
                  <a:off x="5220" y="1459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FF0000"/>
                      </a:solidFill>
                      <a:ea typeface="宋体" panose="02010600030101010101" pitchFamily="2" charset="-122"/>
                    </a:rPr>
                    <a:t>λ</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4917" name="Text Box 181"/>
                <p:cNvSpPr txBox="1">
                  <a:spLocks noChangeAspect="1" noChangeArrowheads="1"/>
                </p:cNvSpPr>
                <p:nvPr/>
              </p:nvSpPr>
              <p:spPr bwMode="auto">
                <a:xfrm>
                  <a:off x="4005" y="1312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FF0000"/>
                      </a:solidFill>
                      <a:ea typeface="宋体" panose="02010600030101010101" pitchFamily="2" charset="-122"/>
                    </a:rPr>
                    <a:t>F</a:t>
                  </a:r>
                  <a:r>
                    <a:rPr lang="en-US" altLang="zh-CN" sz="1400" b="1" baseline="-25000">
                      <a:solidFill>
                        <a:srgbClr val="FF0000"/>
                      </a:solidFill>
                      <a:ea typeface="宋体" panose="02010600030101010101" pitchFamily="2" charset="-122"/>
                    </a:rPr>
                    <a:t>2</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4918" name="Text Box 182"/>
                <p:cNvSpPr txBox="1">
                  <a:spLocks noChangeAspect="1" noChangeArrowheads="1"/>
                </p:cNvSpPr>
                <p:nvPr/>
              </p:nvSpPr>
              <p:spPr bwMode="auto">
                <a:xfrm>
                  <a:off x="3255" y="1302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F</a:t>
                  </a:r>
                  <a:r>
                    <a:rPr lang="en-US" altLang="zh-CN" sz="1400" b="1" baseline="-25000">
                      <a:ea typeface="宋体" panose="02010600030101010101" pitchFamily="2" charset="-122"/>
                    </a:rPr>
                    <a:t>lim</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4919" name="Text Box 183"/>
                <p:cNvSpPr txBox="1">
                  <a:spLocks noChangeAspect="1" noChangeArrowheads="1"/>
                </p:cNvSpPr>
                <p:nvPr/>
              </p:nvSpPr>
              <p:spPr bwMode="auto">
                <a:xfrm>
                  <a:off x="6570" y="1333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0000FF"/>
                      </a:solidFill>
                      <a:ea typeface="宋体" panose="02010600030101010101" pitchFamily="2" charset="-122"/>
                    </a:rPr>
                    <a:t>F</a:t>
                  </a:r>
                  <a:r>
                    <a:rPr lang="en-US" altLang="zh-CN" sz="1400" b="1" baseline="-25000">
                      <a:solidFill>
                        <a:srgbClr val="0000FF"/>
                      </a:solidFill>
                      <a:ea typeface="宋体" panose="02010600030101010101" pitchFamily="2" charset="-122"/>
                    </a:rPr>
                    <a:t>1</a:t>
                  </a:r>
                  <a:r>
                    <a:rPr lang="en-US" altLang="zh-CN" sz="1400" b="1">
                      <a:ea typeface="宋体" panose="02010600030101010101" pitchFamily="2" charset="-122"/>
                    </a:rPr>
                    <a:t> </a:t>
                  </a:r>
                  <a:endParaRPr lang="en-US" altLang="zh-CN" sz="1400" b="1">
                    <a:ea typeface="宋体" panose="02010600030101010101" pitchFamily="2" charset="-122"/>
                  </a:endParaRPr>
                </a:p>
              </p:txBody>
            </p:sp>
          </p:grpSp>
        </p:grpSp>
        <p:sp>
          <p:nvSpPr>
            <p:cNvPr id="884920" name="Line 184"/>
            <p:cNvSpPr>
              <a:spLocks noChangeShapeType="1"/>
            </p:cNvSpPr>
            <p:nvPr/>
          </p:nvSpPr>
          <p:spPr bwMode="auto">
            <a:xfrm flipV="1">
              <a:off x="3502" y="3163"/>
              <a:ext cx="1472" cy="1"/>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4921" name="Text Box 185"/>
            <p:cNvSpPr txBox="1">
              <a:spLocks noChangeArrowheads="1"/>
            </p:cNvSpPr>
            <p:nvPr/>
          </p:nvSpPr>
          <p:spPr bwMode="auto">
            <a:xfrm>
              <a:off x="3802" y="2934"/>
              <a:ext cx="303"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i="1">
                  <a:ea typeface="宋体" panose="02010600030101010101" pitchFamily="2" charset="-122"/>
                </a:rPr>
                <a:t>H</a:t>
              </a:r>
              <a:r>
                <a:rPr lang="en-US" altLang="zh-CN" sz="1200" b="1" baseline="-25000">
                  <a:ea typeface="宋体" panose="02010600030101010101" pitchFamily="2" charset="-122"/>
                </a:rPr>
                <a:t>1</a:t>
              </a:r>
              <a:endParaRPr lang="en-US" altLang="zh-CN" sz="1200" b="1" baseline="-25000">
                <a:ea typeface="宋体" panose="02010600030101010101" pitchFamily="2" charset="-122"/>
              </a:endParaRPr>
            </a:p>
          </p:txBody>
        </p:sp>
        <p:sp>
          <p:nvSpPr>
            <p:cNvPr id="884922" name="Line 186"/>
            <p:cNvSpPr>
              <a:spLocks noChangeShapeType="1"/>
            </p:cNvSpPr>
            <p:nvPr/>
          </p:nvSpPr>
          <p:spPr bwMode="auto">
            <a:xfrm flipV="1">
              <a:off x="3520" y="3301"/>
              <a:ext cx="914"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4923" name="Text Box 187"/>
            <p:cNvSpPr txBox="1">
              <a:spLocks noChangeArrowheads="1"/>
            </p:cNvSpPr>
            <p:nvPr/>
          </p:nvSpPr>
          <p:spPr bwMode="auto">
            <a:xfrm>
              <a:off x="3792" y="3115"/>
              <a:ext cx="302"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i="1">
                  <a:ea typeface="宋体" panose="02010600030101010101" pitchFamily="2" charset="-122"/>
                </a:rPr>
                <a:t>H</a:t>
              </a:r>
              <a:r>
                <a:rPr lang="en-US" altLang="zh-CN" sz="1200" b="1" baseline="-25000">
                  <a:ea typeface="宋体" panose="02010600030101010101" pitchFamily="2" charset="-122"/>
                </a:rPr>
                <a:t>2</a:t>
              </a:r>
              <a:endParaRPr lang="en-US" altLang="zh-CN" sz="1200" b="1" baseline="-25000">
                <a:ea typeface="宋体" panose="02010600030101010101" pitchFamily="2" charset="-122"/>
              </a:endParaRPr>
            </a:p>
          </p:txBody>
        </p:sp>
        <p:sp>
          <p:nvSpPr>
            <p:cNvPr id="884924" name="Line 188"/>
            <p:cNvSpPr>
              <a:spLocks noChangeShapeType="1"/>
            </p:cNvSpPr>
            <p:nvPr/>
          </p:nvSpPr>
          <p:spPr bwMode="auto">
            <a:xfrm flipV="1">
              <a:off x="3511" y="3483"/>
              <a:ext cx="759" cy="1"/>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4925" name="Text Box 189"/>
            <p:cNvSpPr txBox="1">
              <a:spLocks noChangeArrowheads="1"/>
            </p:cNvSpPr>
            <p:nvPr/>
          </p:nvSpPr>
          <p:spPr bwMode="auto">
            <a:xfrm>
              <a:off x="3763" y="3272"/>
              <a:ext cx="358"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i="1">
                  <a:ea typeface="宋体" panose="02010600030101010101" pitchFamily="2" charset="-122"/>
                </a:rPr>
                <a:t>H</a:t>
              </a:r>
              <a:r>
                <a:rPr lang="en-US" altLang="zh-CN" sz="1200" b="1" baseline="-25000">
                  <a:ea typeface="宋体" panose="02010600030101010101" pitchFamily="2" charset="-122"/>
                </a:rPr>
                <a:t>lim</a:t>
              </a:r>
              <a:endParaRPr lang="en-US" altLang="zh-CN" sz="1200" b="1" baseline="-25000">
                <a:ea typeface="宋体" panose="0201060003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84832"/>
                                        </p:tgtEl>
                                        <p:attrNameLst>
                                          <p:attrName>style.visibility</p:attrName>
                                        </p:attrNameLst>
                                      </p:cBhvr>
                                      <p:to>
                                        <p:strVal val="visible"/>
                                      </p:to>
                                    </p:set>
                                    <p:anim calcmode="lin" valueType="num">
                                      <p:cBhvr>
                                        <p:cTn id="7" dur="500" fill="hold"/>
                                        <p:tgtEl>
                                          <p:spTgt spid="884832"/>
                                        </p:tgtEl>
                                        <p:attrNameLst>
                                          <p:attrName>ppt_w</p:attrName>
                                        </p:attrNameLst>
                                      </p:cBhvr>
                                      <p:tavLst>
                                        <p:tav tm="0">
                                          <p:val>
                                            <p:fltVal val="0"/>
                                          </p:val>
                                        </p:tav>
                                        <p:tav tm="100000">
                                          <p:val>
                                            <p:strVal val="#ppt_w"/>
                                          </p:val>
                                        </p:tav>
                                      </p:tavLst>
                                    </p:anim>
                                    <p:anim calcmode="lin" valueType="num">
                                      <p:cBhvr>
                                        <p:cTn id="8" dur="500" fill="hold"/>
                                        <p:tgtEl>
                                          <p:spTgt spid="88483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85762" name="Group 2"/>
          <p:cNvGrpSpPr/>
          <p:nvPr/>
        </p:nvGrpSpPr>
        <p:grpSpPr bwMode="auto">
          <a:xfrm>
            <a:off x="6638925" y="6238875"/>
            <a:ext cx="2519363" cy="631825"/>
            <a:chOff x="4182" y="3930"/>
            <a:chExt cx="1587" cy="398"/>
          </a:xfrm>
        </p:grpSpPr>
        <p:sp>
          <p:nvSpPr>
            <p:cNvPr id="885763" name="Text Box 3"/>
            <p:cNvSpPr txBox="1">
              <a:spLocks noChangeArrowheads="1"/>
            </p:cNvSpPr>
            <p:nvPr/>
          </p:nvSpPr>
          <p:spPr bwMode="auto">
            <a:xfrm>
              <a:off x="4448" y="3943"/>
              <a:ext cx="1321"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990033"/>
                  </a:solidFill>
                  <a:latin typeface="华文行楷" panose="02010800040101010101" pitchFamily="2" charset="-122"/>
                  <a:ea typeface="华文行楷" panose="02010800040101010101" pitchFamily="2" charset="-122"/>
                </a:rPr>
                <a:t>中国矿业大学(北京)</a:t>
              </a:r>
              <a:endParaRPr lang="zh-CN" altLang="en-US" sz="1600" b="1">
                <a:solidFill>
                  <a:srgbClr val="990033"/>
                </a:solidFill>
                <a:latin typeface="华文行楷" panose="02010800040101010101" pitchFamily="2" charset="-122"/>
                <a:ea typeface="华文行楷" panose="02010800040101010101" pitchFamily="2" charset="-122"/>
              </a:endParaRPr>
            </a:p>
            <a:p>
              <a:pPr algn="ctr" eaLnBrk="1" hangingPunct="1"/>
              <a:r>
                <a:rPr lang="zh-CN" altLang="en-US" sz="1800" b="1">
                  <a:solidFill>
                    <a:srgbClr val="3333CC"/>
                  </a:solidFill>
                  <a:ea typeface="华文隶书" panose="02010800040101010101" pitchFamily="2" charset="-122"/>
                </a:rPr>
                <a:t>机械设计基础</a:t>
              </a:r>
              <a:endParaRPr lang="en-US" altLang="zh-CN" sz="1800" b="1">
                <a:solidFill>
                  <a:srgbClr val="3333CC"/>
                </a:solidFill>
                <a:ea typeface="华文隶书" panose="02010800040101010101" pitchFamily="2" charset="-122"/>
              </a:endParaRPr>
            </a:p>
          </p:txBody>
        </p:sp>
        <p:graphicFrame>
          <p:nvGraphicFramePr>
            <p:cNvPr id="885764" name="Object 4"/>
            <p:cNvGraphicFramePr>
              <a:graphicFrameLocks noChangeAspect="1"/>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18436" name="Photo Editor 照片" r:id="rId1" imgW="781050" imgH="781050" progId="MSPhotoEd.3">
                    <p:embed/>
                  </p:oleObj>
                </mc:Choice>
                <mc:Fallback>
                  <p:oleObj name="Photo Editor 照片" r:id="rId1" imgW="781050" imgH="781050" progId="MSPhotoEd.3">
                    <p:embed/>
                    <p:pic>
                      <p:nvPicPr>
                        <p:cNvPr id="0" name="图片 184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 y="3930"/>
                          <a:ext cx="38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85765" name="Line 5"/>
          <p:cNvSpPr>
            <a:spLocks noChangeShapeType="1"/>
          </p:cNvSpPr>
          <p:nvPr/>
        </p:nvSpPr>
        <p:spPr bwMode="auto">
          <a:xfrm>
            <a:off x="188913" y="836613"/>
            <a:ext cx="8766175" cy="0"/>
          </a:xfrm>
          <a:prstGeom prst="line">
            <a:avLst/>
          </a:prstGeom>
          <a:noFill/>
          <a:ln w="57150" cmpd="thinThick">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5766" name="Text Box 6"/>
          <p:cNvSpPr txBox="1">
            <a:spLocks noChangeArrowheads="1"/>
          </p:cNvSpPr>
          <p:nvPr/>
        </p:nvSpPr>
        <p:spPr bwMode="auto">
          <a:xfrm>
            <a:off x="33338" y="115888"/>
            <a:ext cx="904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600" b="1">
                <a:solidFill>
                  <a:srgbClr val="993300"/>
                </a:solidFill>
                <a:ea typeface="楷体_GB2312" pitchFamily="49" charset="-122"/>
              </a:rPr>
              <a:t>§15.3  </a:t>
            </a:r>
            <a:r>
              <a:rPr kumimoji="1" lang="zh-CN" altLang="en-US" sz="3600" b="1">
                <a:solidFill>
                  <a:srgbClr val="993300"/>
                </a:solidFill>
                <a:ea typeface="楷体_GB2312" pitchFamily="49" charset="-122"/>
              </a:rPr>
              <a:t>圆柱螺旋拉伸、压缩弹簧的设计计算</a:t>
            </a:r>
            <a:endParaRPr kumimoji="1" lang="zh-CN" altLang="en-US" sz="3600" b="1">
              <a:solidFill>
                <a:srgbClr val="993300"/>
              </a:solidFill>
              <a:ea typeface="楷体_GB2312" pitchFamily="49" charset="-122"/>
            </a:endParaRPr>
          </a:p>
        </p:txBody>
      </p:sp>
      <p:sp>
        <p:nvSpPr>
          <p:cNvPr id="885769" name="Rectangle 9"/>
          <p:cNvSpPr>
            <a:spLocks noChangeArrowheads="1"/>
          </p:cNvSpPr>
          <p:nvPr/>
        </p:nvSpPr>
        <p:spPr bwMode="auto">
          <a:xfrm>
            <a:off x="0" y="0"/>
            <a:ext cx="9158288" cy="686593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85770" name="Picture 10"/>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684213" y="0"/>
            <a:ext cx="6842125" cy="2732088"/>
          </a:xfrm>
          <a:noFill/>
        </p:spPr>
      </p:pic>
      <p:pic>
        <p:nvPicPr>
          <p:cNvPr id="885771"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25" y="2738438"/>
            <a:ext cx="7291388" cy="414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85772" name="Group 12"/>
          <p:cNvGrpSpPr/>
          <p:nvPr/>
        </p:nvGrpSpPr>
        <p:grpSpPr bwMode="auto">
          <a:xfrm>
            <a:off x="6292850" y="144463"/>
            <a:ext cx="3017838" cy="2841625"/>
            <a:chOff x="3479" y="1892"/>
            <a:chExt cx="2248" cy="2060"/>
          </a:xfrm>
        </p:grpSpPr>
        <p:grpSp>
          <p:nvGrpSpPr>
            <p:cNvPr id="885773" name="Group 13"/>
            <p:cNvGrpSpPr/>
            <p:nvPr/>
          </p:nvGrpSpPr>
          <p:grpSpPr bwMode="auto">
            <a:xfrm>
              <a:off x="3479" y="1892"/>
              <a:ext cx="2248" cy="2060"/>
              <a:chOff x="3479" y="1892"/>
              <a:chExt cx="2248" cy="2060"/>
            </a:xfrm>
          </p:grpSpPr>
          <p:sp>
            <p:nvSpPr>
              <p:cNvPr id="885774" name="Text Box 14"/>
              <p:cNvSpPr txBox="1">
                <a:spLocks noChangeArrowheads="1"/>
              </p:cNvSpPr>
              <p:nvPr/>
            </p:nvSpPr>
            <p:spPr bwMode="auto">
              <a:xfrm>
                <a:off x="3479" y="3687"/>
                <a:ext cx="2159" cy="2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a:solidFill>
                      <a:srgbClr val="990099"/>
                    </a:solidFill>
                    <a:ea typeface="宋体" panose="02010600030101010101" pitchFamily="2" charset="-122"/>
                  </a:rPr>
                  <a:t>图</a:t>
                </a:r>
                <a:r>
                  <a:rPr lang="en-US" altLang="zh-CN" sz="1800" b="1">
                    <a:solidFill>
                      <a:srgbClr val="990099"/>
                    </a:solidFill>
                    <a:ea typeface="宋体" panose="02010600030101010101" pitchFamily="2" charset="-122"/>
                  </a:rPr>
                  <a:t>15</a:t>
                </a:r>
                <a:r>
                  <a:rPr lang="zh-CN" altLang="en-US" sz="1800" b="1">
                    <a:solidFill>
                      <a:srgbClr val="990099"/>
                    </a:solidFill>
                    <a:ea typeface="宋体" panose="02010600030101010101" pitchFamily="2" charset="-122"/>
                  </a:rPr>
                  <a:t>－</a:t>
                </a:r>
                <a:r>
                  <a:rPr lang="en-US" altLang="zh-CN" sz="1800" b="1">
                    <a:solidFill>
                      <a:srgbClr val="990099"/>
                    </a:solidFill>
                    <a:ea typeface="宋体" panose="02010600030101010101" pitchFamily="2" charset="-122"/>
                  </a:rPr>
                  <a:t>6</a:t>
                </a:r>
                <a:endParaRPr lang="en-US" altLang="zh-CN" sz="1800" b="1">
                  <a:solidFill>
                    <a:srgbClr val="990099"/>
                  </a:solidFill>
                  <a:ea typeface="宋体" panose="02010600030101010101" pitchFamily="2" charset="-122"/>
                </a:endParaRPr>
              </a:p>
            </p:txBody>
          </p:sp>
          <p:grpSp>
            <p:nvGrpSpPr>
              <p:cNvPr id="885775" name="Group 15"/>
              <p:cNvGrpSpPr>
                <a:grpSpLocks noChangeAspect="1"/>
              </p:cNvGrpSpPr>
              <p:nvPr/>
            </p:nvGrpSpPr>
            <p:grpSpPr bwMode="auto">
              <a:xfrm>
                <a:off x="3489" y="1892"/>
                <a:ext cx="2238" cy="1878"/>
                <a:chOff x="3255" y="12660"/>
                <a:chExt cx="4230" cy="3540"/>
              </a:xfrm>
            </p:grpSpPr>
            <p:sp>
              <p:nvSpPr>
                <p:cNvPr id="885776" name="Line 16"/>
                <p:cNvSpPr>
                  <a:spLocks noChangeAspect="1" noChangeShapeType="1"/>
                </p:cNvSpPr>
                <p:nvPr/>
              </p:nvSpPr>
              <p:spPr bwMode="auto">
                <a:xfrm>
                  <a:off x="4710" y="13884"/>
                  <a:ext cx="0" cy="18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77" name="Line 17"/>
                <p:cNvSpPr>
                  <a:spLocks noChangeAspect="1" noChangeShapeType="1"/>
                </p:cNvSpPr>
                <p:nvPr/>
              </p:nvSpPr>
              <p:spPr bwMode="auto">
                <a:xfrm>
                  <a:off x="6030" y="13743"/>
                  <a:ext cx="0" cy="129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885778" name="Group 18"/>
                <p:cNvGrpSpPr>
                  <a:grpSpLocks noChangeAspect="1"/>
                </p:cNvGrpSpPr>
                <p:nvPr/>
              </p:nvGrpSpPr>
              <p:grpSpPr bwMode="auto">
                <a:xfrm>
                  <a:off x="3300" y="12672"/>
                  <a:ext cx="3885" cy="1923"/>
                  <a:chOff x="3330" y="13662"/>
                  <a:chExt cx="3885" cy="1923"/>
                </a:xfrm>
              </p:grpSpPr>
              <p:sp>
                <p:nvSpPr>
                  <p:cNvPr id="885779" name="Freeform 19" descr="10%"/>
                  <p:cNvSpPr>
                    <a:spLocks noChangeAspect="1"/>
                  </p:cNvSpPr>
                  <p:nvPr/>
                </p:nvSpPr>
                <p:spPr bwMode="auto">
                  <a:xfrm>
                    <a:off x="4995" y="13803"/>
                    <a:ext cx="1080" cy="1086"/>
                  </a:xfrm>
                  <a:custGeom>
                    <a:avLst/>
                    <a:gdLst>
                      <a:gd name="T0" fmla="*/ 0 w 1080"/>
                      <a:gd name="T1" fmla="*/ 0 h 1086"/>
                      <a:gd name="T2" fmla="*/ 0 w 1080"/>
                      <a:gd name="T3" fmla="*/ 1086 h 1086"/>
                      <a:gd name="T4" fmla="*/ 1080 w 1080"/>
                      <a:gd name="T5" fmla="*/ 1086 h 1086"/>
                      <a:gd name="T6" fmla="*/ 1080 w 1080"/>
                      <a:gd name="T7" fmla="*/ 534 h 1086"/>
                      <a:gd name="T8" fmla="*/ 0 w 1080"/>
                      <a:gd name="T9" fmla="*/ 0 h 1086"/>
                    </a:gdLst>
                    <a:ahLst/>
                    <a:cxnLst>
                      <a:cxn ang="0">
                        <a:pos x="T0" y="T1"/>
                      </a:cxn>
                      <a:cxn ang="0">
                        <a:pos x="T2" y="T3"/>
                      </a:cxn>
                      <a:cxn ang="0">
                        <a:pos x="T4" y="T5"/>
                      </a:cxn>
                      <a:cxn ang="0">
                        <a:pos x="T6" y="T7"/>
                      </a:cxn>
                      <a:cxn ang="0">
                        <a:pos x="T8" y="T9"/>
                      </a:cxn>
                    </a:cxnLst>
                    <a:rect l="0" t="0" r="r" b="b"/>
                    <a:pathLst>
                      <a:path w="1080" h="1086">
                        <a:moveTo>
                          <a:pt x="0" y="0"/>
                        </a:moveTo>
                        <a:lnTo>
                          <a:pt x="0" y="1086"/>
                        </a:lnTo>
                        <a:lnTo>
                          <a:pt x="1080" y="1086"/>
                        </a:lnTo>
                        <a:lnTo>
                          <a:pt x="1080" y="534"/>
                        </a:lnTo>
                        <a:lnTo>
                          <a:pt x="0" y="0"/>
                        </a:lnTo>
                        <a:close/>
                      </a:path>
                    </a:pathLst>
                  </a:custGeom>
                  <a:pattFill prst="pct10">
                    <a:fgClr>
                      <a:srgbClr val="000000"/>
                    </a:fgClr>
                    <a:bgClr>
                      <a:srgbClr val="FFFFFF"/>
                    </a:bgClr>
                  </a:patt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885780" name="Line 20"/>
                  <p:cNvSpPr>
                    <a:spLocks noChangeAspect="1" noChangeShapeType="1"/>
                  </p:cNvSpPr>
                  <p:nvPr/>
                </p:nvSpPr>
                <p:spPr bwMode="auto">
                  <a:xfrm>
                    <a:off x="4725" y="13665"/>
                    <a:ext cx="2490" cy="123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81" name="Line 21"/>
                  <p:cNvSpPr>
                    <a:spLocks noChangeAspect="1" noChangeShapeType="1"/>
                  </p:cNvSpPr>
                  <p:nvPr/>
                </p:nvSpPr>
                <p:spPr bwMode="auto">
                  <a:xfrm flipH="1">
                    <a:off x="4725" y="14895"/>
                    <a:ext cx="249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82" name="Line 22"/>
                  <p:cNvSpPr>
                    <a:spLocks noChangeAspect="1" noChangeShapeType="1"/>
                  </p:cNvSpPr>
                  <p:nvPr/>
                </p:nvSpPr>
                <p:spPr bwMode="auto">
                  <a:xfrm>
                    <a:off x="4740" y="13662"/>
                    <a:ext cx="0" cy="123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83" name="Line 23"/>
                  <p:cNvSpPr>
                    <a:spLocks noChangeAspect="1" noChangeShapeType="1"/>
                  </p:cNvSpPr>
                  <p:nvPr/>
                </p:nvSpPr>
                <p:spPr bwMode="auto">
                  <a:xfrm>
                    <a:off x="4995" y="13794"/>
                    <a:ext cx="0" cy="111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84" name="Line 24"/>
                  <p:cNvSpPr>
                    <a:spLocks noChangeAspect="1" noChangeShapeType="1"/>
                  </p:cNvSpPr>
                  <p:nvPr/>
                </p:nvSpPr>
                <p:spPr bwMode="auto">
                  <a:xfrm>
                    <a:off x="6075" y="14340"/>
                    <a:ext cx="0" cy="55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85" name="Line 25"/>
                  <p:cNvSpPr>
                    <a:spLocks noChangeAspect="1" noChangeShapeType="1"/>
                  </p:cNvSpPr>
                  <p:nvPr/>
                </p:nvSpPr>
                <p:spPr bwMode="auto">
                  <a:xfrm flipH="1">
                    <a:off x="3330" y="15045"/>
                    <a:ext cx="388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86" name="Line 26"/>
                  <p:cNvSpPr>
                    <a:spLocks noChangeAspect="1" noChangeShapeType="1"/>
                  </p:cNvSpPr>
                  <p:nvPr/>
                </p:nvSpPr>
                <p:spPr bwMode="auto">
                  <a:xfrm>
                    <a:off x="3345" y="15585"/>
                    <a:ext cx="387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885787" name="Group 27"/>
                  <p:cNvGrpSpPr>
                    <a:grpSpLocks noChangeAspect="1"/>
                  </p:cNvGrpSpPr>
                  <p:nvPr/>
                </p:nvGrpSpPr>
                <p:grpSpPr bwMode="auto">
                  <a:xfrm>
                    <a:off x="3354" y="15045"/>
                    <a:ext cx="392" cy="540"/>
                    <a:chOff x="3384" y="15045"/>
                    <a:chExt cx="392" cy="540"/>
                  </a:xfrm>
                </p:grpSpPr>
                <p:grpSp>
                  <p:nvGrpSpPr>
                    <p:cNvPr id="885788" name="Group 28"/>
                    <p:cNvGrpSpPr>
                      <a:grpSpLocks noChangeAspect="1"/>
                    </p:cNvGrpSpPr>
                    <p:nvPr/>
                  </p:nvGrpSpPr>
                  <p:grpSpPr bwMode="auto">
                    <a:xfrm>
                      <a:off x="3384" y="15045"/>
                      <a:ext cx="120" cy="540"/>
                      <a:chOff x="3375" y="15045"/>
                      <a:chExt cx="120" cy="540"/>
                    </a:xfrm>
                  </p:grpSpPr>
                  <p:sp>
                    <p:nvSpPr>
                      <p:cNvPr id="885789" name="Line 29"/>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90" name="Line 30"/>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791" name="Group 31"/>
                    <p:cNvGrpSpPr>
                      <a:grpSpLocks noChangeAspect="1"/>
                    </p:cNvGrpSpPr>
                    <p:nvPr/>
                  </p:nvGrpSpPr>
                  <p:grpSpPr bwMode="auto">
                    <a:xfrm>
                      <a:off x="3504" y="15045"/>
                      <a:ext cx="120" cy="540"/>
                      <a:chOff x="3375" y="15045"/>
                      <a:chExt cx="120" cy="540"/>
                    </a:xfrm>
                  </p:grpSpPr>
                  <p:sp>
                    <p:nvSpPr>
                      <p:cNvPr id="885792" name="Line 32"/>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93" name="Line 33"/>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794" name="Group 34"/>
                    <p:cNvGrpSpPr>
                      <a:grpSpLocks noChangeAspect="1"/>
                    </p:cNvGrpSpPr>
                    <p:nvPr/>
                  </p:nvGrpSpPr>
                  <p:grpSpPr bwMode="auto">
                    <a:xfrm>
                      <a:off x="3624" y="15045"/>
                      <a:ext cx="120" cy="540"/>
                      <a:chOff x="3375" y="15045"/>
                      <a:chExt cx="120" cy="540"/>
                    </a:xfrm>
                  </p:grpSpPr>
                  <p:sp>
                    <p:nvSpPr>
                      <p:cNvPr id="885795" name="Line 35"/>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796" name="Line 36"/>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5797" name="Line 37"/>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798" name="Group 38"/>
                  <p:cNvGrpSpPr>
                    <a:grpSpLocks noChangeAspect="1"/>
                  </p:cNvGrpSpPr>
                  <p:nvPr/>
                </p:nvGrpSpPr>
                <p:grpSpPr bwMode="auto">
                  <a:xfrm flipH="1">
                    <a:off x="4344" y="15045"/>
                    <a:ext cx="392" cy="540"/>
                    <a:chOff x="3384" y="15045"/>
                    <a:chExt cx="392" cy="540"/>
                  </a:xfrm>
                </p:grpSpPr>
                <p:grpSp>
                  <p:nvGrpSpPr>
                    <p:cNvPr id="885799" name="Group 39"/>
                    <p:cNvGrpSpPr>
                      <a:grpSpLocks noChangeAspect="1"/>
                    </p:cNvGrpSpPr>
                    <p:nvPr/>
                  </p:nvGrpSpPr>
                  <p:grpSpPr bwMode="auto">
                    <a:xfrm>
                      <a:off x="3384" y="15045"/>
                      <a:ext cx="120" cy="540"/>
                      <a:chOff x="3375" y="15045"/>
                      <a:chExt cx="120" cy="540"/>
                    </a:xfrm>
                  </p:grpSpPr>
                  <p:sp>
                    <p:nvSpPr>
                      <p:cNvPr id="885800" name="Line 40"/>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01" name="Line 41"/>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02" name="Group 42"/>
                    <p:cNvGrpSpPr>
                      <a:grpSpLocks noChangeAspect="1"/>
                    </p:cNvGrpSpPr>
                    <p:nvPr/>
                  </p:nvGrpSpPr>
                  <p:grpSpPr bwMode="auto">
                    <a:xfrm>
                      <a:off x="3504" y="15045"/>
                      <a:ext cx="120" cy="540"/>
                      <a:chOff x="3375" y="15045"/>
                      <a:chExt cx="120" cy="540"/>
                    </a:xfrm>
                  </p:grpSpPr>
                  <p:sp>
                    <p:nvSpPr>
                      <p:cNvPr id="885803" name="Line 43"/>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04" name="Line 44"/>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05" name="Group 45"/>
                    <p:cNvGrpSpPr>
                      <a:grpSpLocks noChangeAspect="1"/>
                    </p:cNvGrpSpPr>
                    <p:nvPr/>
                  </p:nvGrpSpPr>
                  <p:grpSpPr bwMode="auto">
                    <a:xfrm>
                      <a:off x="3624" y="15045"/>
                      <a:ext cx="120" cy="540"/>
                      <a:chOff x="3375" y="15045"/>
                      <a:chExt cx="120" cy="540"/>
                    </a:xfrm>
                  </p:grpSpPr>
                  <p:sp>
                    <p:nvSpPr>
                      <p:cNvPr id="885806" name="Line 46"/>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07" name="Line 47"/>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5808" name="Line 48"/>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09" name="Group 49"/>
                  <p:cNvGrpSpPr>
                    <a:grpSpLocks noChangeAspect="1"/>
                  </p:cNvGrpSpPr>
                  <p:nvPr/>
                </p:nvGrpSpPr>
                <p:grpSpPr bwMode="auto">
                  <a:xfrm flipH="1">
                    <a:off x="5436" y="15045"/>
                    <a:ext cx="644" cy="540"/>
                    <a:chOff x="3384" y="15045"/>
                    <a:chExt cx="392" cy="540"/>
                  </a:xfrm>
                </p:grpSpPr>
                <p:grpSp>
                  <p:nvGrpSpPr>
                    <p:cNvPr id="885810" name="Group 50"/>
                    <p:cNvGrpSpPr>
                      <a:grpSpLocks noChangeAspect="1"/>
                    </p:cNvGrpSpPr>
                    <p:nvPr/>
                  </p:nvGrpSpPr>
                  <p:grpSpPr bwMode="auto">
                    <a:xfrm>
                      <a:off x="3384" y="15045"/>
                      <a:ext cx="120" cy="540"/>
                      <a:chOff x="3375" y="15045"/>
                      <a:chExt cx="120" cy="540"/>
                    </a:xfrm>
                  </p:grpSpPr>
                  <p:sp>
                    <p:nvSpPr>
                      <p:cNvPr id="885811" name="Line 51"/>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12" name="Line 52"/>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13" name="Group 53"/>
                    <p:cNvGrpSpPr>
                      <a:grpSpLocks noChangeAspect="1"/>
                    </p:cNvGrpSpPr>
                    <p:nvPr/>
                  </p:nvGrpSpPr>
                  <p:grpSpPr bwMode="auto">
                    <a:xfrm>
                      <a:off x="3504" y="15045"/>
                      <a:ext cx="120" cy="540"/>
                      <a:chOff x="3375" y="15045"/>
                      <a:chExt cx="120" cy="540"/>
                    </a:xfrm>
                  </p:grpSpPr>
                  <p:sp>
                    <p:nvSpPr>
                      <p:cNvPr id="885814" name="Line 54"/>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15" name="Line 55"/>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16" name="Group 56"/>
                    <p:cNvGrpSpPr>
                      <a:grpSpLocks noChangeAspect="1"/>
                    </p:cNvGrpSpPr>
                    <p:nvPr/>
                  </p:nvGrpSpPr>
                  <p:grpSpPr bwMode="auto">
                    <a:xfrm>
                      <a:off x="3624" y="15045"/>
                      <a:ext cx="120" cy="540"/>
                      <a:chOff x="3375" y="15045"/>
                      <a:chExt cx="120" cy="540"/>
                    </a:xfrm>
                  </p:grpSpPr>
                  <p:sp>
                    <p:nvSpPr>
                      <p:cNvPr id="885817" name="Line 57"/>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18" name="Line 58"/>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5819" name="Line 59"/>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20" name="Group 60"/>
                  <p:cNvGrpSpPr>
                    <a:grpSpLocks noChangeAspect="1"/>
                  </p:cNvGrpSpPr>
                  <p:nvPr/>
                </p:nvGrpSpPr>
                <p:grpSpPr bwMode="auto">
                  <a:xfrm flipH="1">
                    <a:off x="4809" y="15042"/>
                    <a:ext cx="191" cy="540"/>
                    <a:chOff x="4749" y="15042"/>
                    <a:chExt cx="149" cy="540"/>
                  </a:xfrm>
                </p:grpSpPr>
                <p:grpSp>
                  <p:nvGrpSpPr>
                    <p:cNvPr id="885821" name="Group 61"/>
                    <p:cNvGrpSpPr>
                      <a:grpSpLocks noChangeAspect="1"/>
                    </p:cNvGrpSpPr>
                    <p:nvPr/>
                  </p:nvGrpSpPr>
                  <p:grpSpPr bwMode="auto">
                    <a:xfrm>
                      <a:off x="4749" y="15042"/>
                      <a:ext cx="120" cy="540"/>
                      <a:chOff x="3375" y="15045"/>
                      <a:chExt cx="120" cy="540"/>
                    </a:xfrm>
                  </p:grpSpPr>
                  <p:sp>
                    <p:nvSpPr>
                      <p:cNvPr id="885822" name="Line 62"/>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23" name="Line 63"/>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5824" name="Line 64"/>
                    <p:cNvSpPr>
                      <a:spLocks noChangeAspect="1" noChangeShapeType="1"/>
                    </p:cNvSpPr>
                    <p:nvPr/>
                  </p:nvSpPr>
                  <p:spPr bwMode="auto">
                    <a:xfrm>
                      <a:off x="4866"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25" name="Group 65"/>
                  <p:cNvGrpSpPr>
                    <a:grpSpLocks noChangeAspect="1"/>
                  </p:cNvGrpSpPr>
                  <p:nvPr/>
                </p:nvGrpSpPr>
                <p:grpSpPr bwMode="auto">
                  <a:xfrm flipH="1">
                    <a:off x="6288" y="15042"/>
                    <a:ext cx="917" cy="540"/>
                    <a:chOff x="3384" y="15045"/>
                    <a:chExt cx="392" cy="540"/>
                  </a:xfrm>
                </p:grpSpPr>
                <p:grpSp>
                  <p:nvGrpSpPr>
                    <p:cNvPr id="885826" name="Group 66"/>
                    <p:cNvGrpSpPr>
                      <a:grpSpLocks noChangeAspect="1"/>
                    </p:cNvGrpSpPr>
                    <p:nvPr/>
                  </p:nvGrpSpPr>
                  <p:grpSpPr bwMode="auto">
                    <a:xfrm>
                      <a:off x="3384" y="15045"/>
                      <a:ext cx="120" cy="540"/>
                      <a:chOff x="3375" y="15045"/>
                      <a:chExt cx="120" cy="540"/>
                    </a:xfrm>
                  </p:grpSpPr>
                  <p:sp>
                    <p:nvSpPr>
                      <p:cNvPr id="885827" name="Line 67"/>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28" name="Line 68"/>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29" name="Group 69"/>
                    <p:cNvGrpSpPr>
                      <a:grpSpLocks noChangeAspect="1"/>
                    </p:cNvGrpSpPr>
                    <p:nvPr/>
                  </p:nvGrpSpPr>
                  <p:grpSpPr bwMode="auto">
                    <a:xfrm>
                      <a:off x="3504" y="15045"/>
                      <a:ext cx="120" cy="540"/>
                      <a:chOff x="3375" y="15045"/>
                      <a:chExt cx="120" cy="540"/>
                    </a:xfrm>
                  </p:grpSpPr>
                  <p:sp>
                    <p:nvSpPr>
                      <p:cNvPr id="885830" name="Line 70"/>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31" name="Line 71"/>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85832" name="Group 72"/>
                    <p:cNvGrpSpPr>
                      <a:grpSpLocks noChangeAspect="1"/>
                    </p:cNvGrpSpPr>
                    <p:nvPr/>
                  </p:nvGrpSpPr>
                  <p:grpSpPr bwMode="auto">
                    <a:xfrm>
                      <a:off x="3624" y="15045"/>
                      <a:ext cx="120" cy="540"/>
                      <a:chOff x="3375" y="15045"/>
                      <a:chExt cx="120" cy="540"/>
                    </a:xfrm>
                  </p:grpSpPr>
                  <p:sp>
                    <p:nvSpPr>
                      <p:cNvPr id="885833" name="Line 73"/>
                      <p:cNvSpPr>
                        <a:spLocks noChangeAspect="1" noChangeShapeType="1"/>
                      </p:cNvSpPr>
                      <p:nvPr/>
                    </p:nvSpPr>
                    <p:spPr bwMode="auto">
                      <a:xfrm>
                        <a:off x="337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34" name="Line 74"/>
                      <p:cNvSpPr>
                        <a:spLocks noChangeAspect="1" noChangeShapeType="1"/>
                      </p:cNvSpPr>
                      <p:nvPr/>
                    </p:nvSpPr>
                    <p:spPr bwMode="auto">
                      <a:xfrm flipH="1">
                        <a:off x="3435" y="15045"/>
                        <a:ext cx="60" cy="54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85835" name="Line 75"/>
                    <p:cNvSpPr>
                      <a:spLocks noChangeAspect="1" noChangeShapeType="1"/>
                    </p:cNvSpPr>
                    <p:nvPr/>
                  </p:nvSpPr>
                  <p:spPr bwMode="auto">
                    <a:xfrm>
                      <a:off x="3744" y="15045"/>
                      <a:ext cx="32" cy="2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885836" name="Line 76"/>
                <p:cNvSpPr>
                  <a:spLocks noChangeAspect="1" noChangeShapeType="1"/>
                </p:cNvSpPr>
                <p:nvPr/>
              </p:nvSpPr>
              <p:spPr bwMode="auto">
                <a:xfrm>
                  <a:off x="7185" y="13908"/>
                  <a:ext cx="0" cy="216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37" name="Line 77"/>
                <p:cNvSpPr>
                  <a:spLocks noChangeAspect="1" noChangeShapeType="1"/>
                </p:cNvSpPr>
                <p:nvPr/>
              </p:nvSpPr>
              <p:spPr bwMode="auto">
                <a:xfrm>
                  <a:off x="4965" y="13875"/>
                  <a:ext cx="0" cy="15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38" name="Line 78"/>
                <p:cNvSpPr>
                  <a:spLocks noChangeAspect="1" noChangeShapeType="1"/>
                </p:cNvSpPr>
                <p:nvPr/>
              </p:nvSpPr>
              <p:spPr bwMode="auto">
                <a:xfrm>
                  <a:off x="3315" y="14055"/>
                  <a:ext cx="0" cy="199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39" name="Line 79"/>
                <p:cNvSpPr>
                  <a:spLocks noChangeAspect="1" noChangeShapeType="1"/>
                </p:cNvSpPr>
                <p:nvPr/>
              </p:nvSpPr>
              <p:spPr bwMode="auto">
                <a:xfrm>
                  <a:off x="3255" y="14325"/>
                  <a:ext cx="4035" cy="0"/>
                </a:xfrm>
                <a:prstGeom prst="line">
                  <a:avLst/>
                </a:prstGeom>
                <a:noFill/>
                <a:ln w="9525">
                  <a:solidFill>
                    <a:srgbClr val="000000"/>
                  </a:solidFill>
                  <a:prstDash val="lgDashDot"/>
                  <a:round/>
                </a:ln>
                <a:extLst>
                  <a:ext uri="{909E8E84-426E-40DD-AFC4-6F175D3DCCD1}">
                    <a14:hiddenFill xmlns:a14="http://schemas.microsoft.com/office/drawing/2010/main">
                      <a:noFill/>
                    </a14:hiddenFill>
                  </a:ext>
                </a:extLst>
              </p:spPr>
              <p:txBody>
                <a:bodyPr/>
                <a:lstStyle/>
                <a:p>
                  <a:endParaRPr lang="zh-CN" altLang="en-US"/>
                </a:p>
              </p:txBody>
            </p:sp>
            <p:sp>
              <p:nvSpPr>
                <p:cNvPr id="885840" name="Line 80"/>
                <p:cNvSpPr>
                  <a:spLocks noChangeAspect="1" noChangeShapeType="1"/>
                </p:cNvSpPr>
                <p:nvPr/>
              </p:nvSpPr>
              <p:spPr bwMode="auto">
                <a:xfrm flipH="1">
                  <a:off x="3690" y="12660"/>
                  <a:ext cx="100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41" name="Line 81"/>
                <p:cNvSpPr>
                  <a:spLocks noChangeAspect="1" noChangeShapeType="1"/>
                </p:cNvSpPr>
                <p:nvPr/>
              </p:nvSpPr>
              <p:spPr bwMode="auto">
                <a:xfrm flipH="1">
                  <a:off x="3660" y="13905"/>
                  <a:ext cx="10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42" name="Line 82"/>
                <p:cNvSpPr>
                  <a:spLocks noChangeAspect="1" noChangeShapeType="1"/>
                </p:cNvSpPr>
                <p:nvPr/>
              </p:nvSpPr>
              <p:spPr bwMode="auto">
                <a:xfrm flipH="1">
                  <a:off x="4215" y="12810"/>
                  <a:ext cx="7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43" name="Line 83"/>
                <p:cNvSpPr>
                  <a:spLocks noChangeAspect="1" noChangeShapeType="1"/>
                </p:cNvSpPr>
                <p:nvPr/>
              </p:nvSpPr>
              <p:spPr bwMode="auto">
                <a:xfrm>
                  <a:off x="6030" y="13335"/>
                  <a:ext cx="79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5844" name="Line 84"/>
                <p:cNvSpPr>
                  <a:spLocks noChangeAspect="1" noChangeShapeType="1"/>
                </p:cNvSpPr>
                <p:nvPr/>
              </p:nvSpPr>
              <p:spPr bwMode="auto">
                <a:xfrm>
                  <a:off x="4410" y="12810"/>
                  <a:ext cx="0" cy="1095"/>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45" name="Line 85"/>
                <p:cNvSpPr>
                  <a:spLocks noChangeAspect="1" noChangeShapeType="1"/>
                </p:cNvSpPr>
                <p:nvPr/>
              </p:nvSpPr>
              <p:spPr bwMode="auto">
                <a:xfrm>
                  <a:off x="3825" y="12660"/>
                  <a:ext cx="0" cy="1245"/>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46" name="Line 86"/>
                <p:cNvSpPr>
                  <a:spLocks noChangeAspect="1" noChangeShapeType="1"/>
                </p:cNvSpPr>
                <p:nvPr/>
              </p:nvSpPr>
              <p:spPr bwMode="auto">
                <a:xfrm>
                  <a:off x="6570" y="13335"/>
                  <a:ext cx="0" cy="555"/>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47" name="Line 87"/>
                <p:cNvSpPr>
                  <a:spLocks noChangeAspect="1" noChangeShapeType="1"/>
                </p:cNvSpPr>
                <p:nvPr/>
              </p:nvSpPr>
              <p:spPr bwMode="auto">
                <a:xfrm>
                  <a:off x="6045" y="14955"/>
                  <a:ext cx="1140" cy="0"/>
                </a:xfrm>
                <a:prstGeom prst="line">
                  <a:avLst/>
                </a:prstGeom>
                <a:noFill/>
                <a:ln w="9525">
                  <a:solidFill>
                    <a:srgbClr val="0000FF"/>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48" name="Line 88"/>
                <p:cNvSpPr>
                  <a:spLocks noChangeAspect="1" noChangeShapeType="1"/>
                </p:cNvSpPr>
                <p:nvPr/>
              </p:nvSpPr>
              <p:spPr bwMode="auto">
                <a:xfrm flipH="1">
                  <a:off x="4965" y="14955"/>
                  <a:ext cx="1080" cy="0"/>
                </a:xfrm>
                <a:prstGeom prst="line">
                  <a:avLst/>
                </a:prstGeom>
                <a:noFill/>
                <a:ln w="9525">
                  <a:solidFill>
                    <a:srgbClr val="FF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49" name="Line 89"/>
                <p:cNvSpPr>
                  <a:spLocks noChangeAspect="1" noChangeShapeType="1"/>
                </p:cNvSpPr>
                <p:nvPr/>
              </p:nvSpPr>
              <p:spPr bwMode="auto">
                <a:xfrm>
                  <a:off x="4965" y="15300"/>
                  <a:ext cx="2220" cy="0"/>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50" name="Line 90"/>
                <p:cNvSpPr>
                  <a:spLocks noChangeAspect="1" noChangeShapeType="1"/>
                </p:cNvSpPr>
                <p:nvPr/>
              </p:nvSpPr>
              <p:spPr bwMode="auto">
                <a:xfrm>
                  <a:off x="4710" y="15645"/>
                  <a:ext cx="2475" cy="0"/>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51" name="Line 91"/>
                <p:cNvSpPr>
                  <a:spLocks noChangeAspect="1" noChangeShapeType="1"/>
                </p:cNvSpPr>
                <p:nvPr/>
              </p:nvSpPr>
              <p:spPr bwMode="auto">
                <a:xfrm>
                  <a:off x="3315" y="15990"/>
                  <a:ext cx="3870" cy="0"/>
                </a:xfrm>
                <a:prstGeom prst="line">
                  <a:avLst/>
                </a:prstGeom>
                <a:noFill/>
                <a:ln w="9525">
                  <a:solidFill>
                    <a:srgbClr val="00000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885852" name="Text Box 92"/>
                <p:cNvSpPr txBox="1">
                  <a:spLocks noChangeAspect="1" noChangeArrowheads="1"/>
                </p:cNvSpPr>
                <p:nvPr/>
              </p:nvSpPr>
              <p:spPr bwMode="auto">
                <a:xfrm>
                  <a:off x="4995" y="1563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H</a:t>
                  </a:r>
                  <a:r>
                    <a:rPr lang="en-US" altLang="zh-CN" sz="1400" b="1" baseline="-25000">
                      <a:ea typeface="宋体" panose="02010600030101010101" pitchFamily="2" charset="-122"/>
                    </a:rPr>
                    <a:t>0</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5853" name="Text Box 93"/>
                <p:cNvSpPr txBox="1">
                  <a:spLocks noChangeAspect="1" noChangeArrowheads="1"/>
                </p:cNvSpPr>
                <p:nvPr/>
              </p:nvSpPr>
              <p:spPr bwMode="auto">
                <a:xfrm>
                  <a:off x="5490" y="1527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λ</a:t>
                  </a:r>
                  <a:r>
                    <a:rPr lang="en-US" altLang="zh-CN" sz="1400" b="1" baseline="-25000">
                      <a:ea typeface="宋体" panose="02010600030101010101" pitchFamily="2" charset="-122"/>
                    </a:rPr>
                    <a:t>lim</a:t>
                  </a:r>
                  <a:r>
                    <a:rPr lang="en-US" altLang="zh-CN" sz="1000">
                      <a:ea typeface="宋体" panose="02010600030101010101" pitchFamily="2" charset="-122"/>
                    </a:rPr>
                    <a:t> </a:t>
                  </a:r>
                  <a:endParaRPr lang="en-US" altLang="zh-CN">
                    <a:ea typeface="宋体" panose="02010600030101010101" pitchFamily="2" charset="-122"/>
                  </a:endParaRPr>
                </a:p>
              </p:txBody>
            </p:sp>
            <p:sp>
              <p:nvSpPr>
                <p:cNvPr id="885854" name="Text Box 94"/>
                <p:cNvSpPr txBox="1">
                  <a:spLocks noChangeAspect="1" noChangeArrowheads="1"/>
                </p:cNvSpPr>
                <p:nvPr/>
              </p:nvSpPr>
              <p:spPr bwMode="auto">
                <a:xfrm>
                  <a:off x="5700" y="1495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λ</a:t>
                  </a:r>
                  <a:r>
                    <a:rPr lang="en-US" altLang="zh-CN" sz="1400" b="1" baseline="-25000">
                      <a:ea typeface="宋体" panose="02010600030101010101" pitchFamily="2" charset="-122"/>
                    </a:rPr>
                    <a:t>2</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5855" name="Text Box 95"/>
                <p:cNvSpPr txBox="1">
                  <a:spLocks noChangeAspect="1" noChangeArrowheads="1"/>
                </p:cNvSpPr>
                <p:nvPr/>
              </p:nvSpPr>
              <p:spPr bwMode="auto">
                <a:xfrm>
                  <a:off x="6270" y="1458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0000FF"/>
                      </a:solidFill>
                      <a:ea typeface="宋体" panose="02010600030101010101" pitchFamily="2" charset="-122"/>
                    </a:rPr>
                    <a:t>λ</a:t>
                  </a:r>
                  <a:r>
                    <a:rPr lang="en-US" altLang="zh-CN" sz="1400" b="1" baseline="-25000">
                      <a:solidFill>
                        <a:srgbClr val="0000FF"/>
                      </a:solidFill>
                      <a:ea typeface="宋体" panose="02010600030101010101" pitchFamily="2" charset="-122"/>
                    </a:rPr>
                    <a:t>1</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5856" name="Text Box 96"/>
                <p:cNvSpPr txBox="1">
                  <a:spLocks noChangeAspect="1" noChangeArrowheads="1"/>
                </p:cNvSpPr>
                <p:nvPr/>
              </p:nvSpPr>
              <p:spPr bwMode="auto">
                <a:xfrm>
                  <a:off x="5220" y="1459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FF0000"/>
                      </a:solidFill>
                      <a:ea typeface="宋体" panose="02010600030101010101" pitchFamily="2" charset="-122"/>
                    </a:rPr>
                    <a:t>λ</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5857" name="Text Box 97"/>
                <p:cNvSpPr txBox="1">
                  <a:spLocks noChangeAspect="1" noChangeArrowheads="1"/>
                </p:cNvSpPr>
                <p:nvPr/>
              </p:nvSpPr>
              <p:spPr bwMode="auto">
                <a:xfrm>
                  <a:off x="4005" y="1312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FF0000"/>
                      </a:solidFill>
                      <a:ea typeface="宋体" panose="02010600030101010101" pitchFamily="2" charset="-122"/>
                    </a:rPr>
                    <a:t>F</a:t>
                  </a:r>
                  <a:r>
                    <a:rPr lang="en-US" altLang="zh-CN" sz="1400" b="1" baseline="-25000">
                      <a:solidFill>
                        <a:srgbClr val="FF0000"/>
                      </a:solidFill>
                      <a:ea typeface="宋体" panose="02010600030101010101" pitchFamily="2" charset="-122"/>
                    </a:rPr>
                    <a:t>2</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5858" name="Text Box 98"/>
                <p:cNvSpPr txBox="1">
                  <a:spLocks noChangeAspect="1" noChangeArrowheads="1"/>
                </p:cNvSpPr>
                <p:nvPr/>
              </p:nvSpPr>
              <p:spPr bwMode="auto">
                <a:xfrm>
                  <a:off x="3255" y="13020"/>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ea typeface="宋体" panose="02010600030101010101" pitchFamily="2" charset="-122"/>
                    </a:rPr>
                    <a:t>F</a:t>
                  </a:r>
                  <a:r>
                    <a:rPr lang="en-US" altLang="zh-CN" sz="1400" b="1" baseline="-25000">
                      <a:ea typeface="宋体" panose="02010600030101010101" pitchFamily="2" charset="-122"/>
                    </a:rPr>
                    <a:t>lim</a:t>
                  </a:r>
                  <a:r>
                    <a:rPr lang="en-US" altLang="zh-CN" sz="1400" b="1">
                      <a:ea typeface="宋体" panose="02010600030101010101" pitchFamily="2" charset="-122"/>
                    </a:rPr>
                    <a:t> </a:t>
                  </a:r>
                  <a:endParaRPr lang="en-US" altLang="zh-CN" sz="1400" b="1">
                    <a:ea typeface="宋体" panose="02010600030101010101" pitchFamily="2" charset="-122"/>
                  </a:endParaRPr>
                </a:p>
              </p:txBody>
            </p:sp>
            <p:sp>
              <p:nvSpPr>
                <p:cNvPr id="885859" name="Text Box 99"/>
                <p:cNvSpPr txBox="1">
                  <a:spLocks noChangeAspect="1" noChangeArrowheads="1"/>
                </p:cNvSpPr>
                <p:nvPr/>
              </p:nvSpPr>
              <p:spPr bwMode="auto">
                <a:xfrm>
                  <a:off x="6570" y="13335"/>
                  <a:ext cx="915"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spcBef>
                      <a:spcPts val="500"/>
                    </a:spcBef>
                    <a:spcAft>
                      <a:spcPts val="500"/>
                    </a:spcAft>
                  </a:pPr>
                  <a:r>
                    <a:rPr lang="en-US" altLang="zh-CN" sz="1400" b="1" i="1">
                      <a:solidFill>
                        <a:srgbClr val="0000FF"/>
                      </a:solidFill>
                      <a:ea typeface="宋体" panose="02010600030101010101" pitchFamily="2" charset="-122"/>
                    </a:rPr>
                    <a:t>F</a:t>
                  </a:r>
                  <a:r>
                    <a:rPr lang="en-US" altLang="zh-CN" sz="1400" b="1" baseline="-25000">
                      <a:solidFill>
                        <a:srgbClr val="0000FF"/>
                      </a:solidFill>
                      <a:ea typeface="宋体" panose="02010600030101010101" pitchFamily="2" charset="-122"/>
                    </a:rPr>
                    <a:t>1</a:t>
                  </a:r>
                  <a:r>
                    <a:rPr lang="en-US" altLang="zh-CN" sz="1400" b="1">
                      <a:ea typeface="宋体" panose="02010600030101010101" pitchFamily="2" charset="-122"/>
                    </a:rPr>
                    <a:t> </a:t>
                  </a:r>
                  <a:endParaRPr lang="en-US" altLang="zh-CN" sz="1400" b="1">
                    <a:ea typeface="宋体" panose="02010600030101010101" pitchFamily="2" charset="-122"/>
                  </a:endParaRPr>
                </a:p>
              </p:txBody>
            </p:sp>
          </p:grpSp>
        </p:grpSp>
        <p:sp>
          <p:nvSpPr>
            <p:cNvPr id="885860" name="Line 100"/>
            <p:cNvSpPr>
              <a:spLocks noChangeShapeType="1"/>
            </p:cNvSpPr>
            <p:nvPr/>
          </p:nvSpPr>
          <p:spPr bwMode="auto">
            <a:xfrm flipV="1">
              <a:off x="3502" y="3163"/>
              <a:ext cx="1472" cy="1"/>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5861" name="Text Box 101"/>
            <p:cNvSpPr txBox="1">
              <a:spLocks noChangeArrowheads="1"/>
            </p:cNvSpPr>
            <p:nvPr/>
          </p:nvSpPr>
          <p:spPr bwMode="auto">
            <a:xfrm>
              <a:off x="3802" y="2934"/>
              <a:ext cx="303"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i="1">
                  <a:ea typeface="宋体" panose="02010600030101010101" pitchFamily="2" charset="-122"/>
                </a:rPr>
                <a:t>H</a:t>
              </a:r>
              <a:r>
                <a:rPr lang="en-US" altLang="zh-CN" sz="1200" b="1" baseline="-25000">
                  <a:ea typeface="宋体" panose="02010600030101010101" pitchFamily="2" charset="-122"/>
                </a:rPr>
                <a:t>1</a:t>
              </a:r>
              <a:endParaRPr lang="en-US" altLang="zh-CN" sz="1200" b="1" baseline="-25000">
                <a:ea typeface="宋体" panose="02010600030101010101" pitchFamily="2" charset="-122"/>
              </a:endParaRPr>
            </a:p>
          </p:txBody>
        </p:sp>
        <p:sp>
          <p:nvSpPr>
            <p:cNvPr id="885862" name="Line 102"/>
            <p:cNvSpPr>
              <a:spLocks noChangeShapeType="1"/>
            </p:cNvSpPr>
            <p:nvPr/>
          </p:nvSpPr>
          <p:spPr bwMode="auto">
            <a:xfrm flipV="1">
              <a:off x="3520" y="3301"/>
              <a:ext cx="914"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5863" name="Text Box 103"/>
            <p:cNvSpPr txBox="1">
              <a:spLocks noChangeArrowheads="1"/>
            </p:cNvSpPr>
            <p:nvPr/>
          </p:nvSpPr>
          <p:spPr bwMode="auto">
            <a:xfrm>
              <a:off x="3792" y="3115"/>
              <a:ext cx="302"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i="1">
                  <a:ea typeface="宋体" panose="02010600030101010101" pitchFamily="2" charset="-122"/>
                </a:rPr>
                <a:t>H</a:t>
              </a:r>
              <a:r>
                <a:rPr lang="en-US" altLang="zh-CN" sz="1200" b="1" baseline="-25000">
                  <a:ea typeface="宋体" panose="02010600030101010101" pitchFamily="2" charset="-122"/>
                </a:rPr>
                <a:t>2</a:t>
              </a:r>
              <a:endParaRPr lang="en-US" altLang="zh-CN" sz="1200" b="1" baseline="-25000">
                <a:ea typeface="宋体" panose="02010600030101010101" pitchFamily="2" charset="-122"/>
              </a:endParaRPr>
            </a:p>
          </p:txBody>
        </p:sp>
        <p:sp>
          <p:nvSpPr>
            <p:cNvPr id="885864" name="Line 104"/>
            <p:cNvSpPr>
              <a:spLocks noChangeShapeType="1"/>
            </p:cNvSpPr>
            <p:nvPr/>
          </p:nvSpPr>
          <p:spPr bwMode="auto">
            <a:xfrm flipV="1">
              <a:off x="3511" y="3483"/>
              <a:ext cx="759" cy="1"/>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5865" name="Text Box 105"/>
            <p:cNvSpPr txBox="1">
              <a:spLocks noChangeArrowheads="1"/>
            </p:cNvSpPr>
            <p:nvPr/>
          </p:nvSpPr>
          <p:spPr bwMode="auto">
            <a:xfrm>
              <a:off x="3763" y="3272"/>
              <a:ext cx="358"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200" b="1" i="1">
                  <a:ea typeface="宋体" panose="02010600030101010101" pitchFamily="2" charset="-122"/>
                </a:rPr>
                <a:t>H</a:t>
              </a:r>
              <a:r>
                <a:rPr lang="en-US" altLang="zh-CN" sz="1200" b="1" baseline="-25000">
                  <a:ea typeface="宋体" panose="02010600030101010101" pitchFamily="2" charset="-122"/>
                </a:rPr>
                <a:t>lim</a:t>
              </a:r>
              <a:endParaRPr lang="en-US" altLang="zh-CN" sz="1200" b="1" baseline="-25000">
                <a:ea typeface="宋体" panose="02010600030101010101" pitchFamily="2" charset="-122"/>
              </a:endParaRPr>
            </a:p>
          </p:txBody>
        </p:sp>
      </p:gr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883714" name="Group 2"/>
          <p:cNvGrpSpPr/>
          <p:nvPr/>
        </p:nvGrpSpPr>
        <p:grpSpPr bwMode="auto">
          <a:xfrm>
            <a:off x="6638925" y="6238875"/>
            <a:ext cx="2519363" cy="631825"/>
            <a:chOff x="4182" y="3930"/>
            <a:chExt cx="1587" cy="398"/>
          </a:xfrm>
        </p:grpSpPr>
        <p:sp>
          <p:nvSpPr>
            <p:cNvPr id="883715" name="Text Box 3"/>
            <p:cNvSpPr txBox="1">
              <a:spLocks noChangeArrowheads="1"/>
            </p:cNvSpPr>
            <p:nvPr/>
          </p:nvSpPr>
          <p:spPr bwMode="auto">
            <a:xfrm>
              <a:off x="4448" y="3943"/>
              <a:ext cx="1321"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990033"/>
                  </a:solidFill>
                  <a:latin typeface="华文行楷" panose="02010800040101010101" pitchFamily="2" charset="-122"/>
                  <a:ea typeface="华文行楷" panose="02010800040101010101" pitchFamily="2" charset="-122"/>
                </a:rPr>
                <a:t>中国矿业大学(北京)</a:t>
              </a:r>
              <a:endParaRPr lang="zh-CN" altLang="en-US" sz="1600" b="1">
                <a:solidFill>
                  <a:srgbClr val="990033"/>
                </a:solidFill>
                <a:latin typeface="华文行楷" panose="02010800040101010101" pitchFamily="2" charset="-122"/>
                <a:ea typeface="华文行楷" panose="02010800040101010101" pitchFamily="2" charset="-122"/>
              </a:endParaRPr>
            </a:p>
            <a:p>
              <a:pPr algn="ctr" eaLnBrk="1" hangingPunct="1"/>
              <a:r>
                <a:rPr lang="zh-CN" altLang="en-US" sz="1800" b="1">
                  <a:solidFill>
                    <a:srgbClr val="3333CC"/>
                  </a:solidFill>
                  <a:ea typeface="华文隶书" panose="02010800040101010101" pitchFamily="2" charset="-122"/>
                </a:rPr>
                <a:t>机械设计基础</a:t>
              </a:r>
              <a:endParaRPr lang="en-US" altLang="zh-CN" sz="1800" b="1">
                <a:solidFill>
                  <a:srgbClr val="3333CC"/>
                </a:solidFill>
                <a:ea typeface="华文隶书" panose="02010800040101010101" pitchFamily="2" charset="-122"/>
              </a:endParaRPr>
            </a:p>
          </p:txBody>
        </p:sp>
        <p:graphicFrame>
          <p:nvGraphicFramePr>
            <p:cNvPr id="883716" name="Object 4"/>
            <p:cNvGraphicFramePr>
              <a:graphicFrameLocks noChangeAspect="1"/>
            </p:cNvGraphicFramePr>
            <p:nvPr/>
          </p:nvGraphicFramePr>
          <p:xfrm>
            <a:off x="4182" y="3930"/>
            <a:ext cx="385" cy="385"/>
          </p:xfrm>
          <a:graphic>
            <a:graphicData uri="http://schemas.openxmlformats.org/presentationml/2006/ole">
              <mc:AlternateContent xmlns:mc="http://schemas.openxmlformats.org/markup-compatibility/2006">
                <mc:Choice xmlns:v="urn:schemas-microsoft-com:vml" Requires="v">
                  <p:oleObj spid="_x0000_s19460" name="Photo Editor 照片" r:id="rId1" imgW="781050" imgH="781050" progId="MSPhotoEd.3">
                    <p:embed/>
                  </p:oleObj>
                </mc:Choice>
                <mc:Fallback>
                  <p:oleObj name="Photo Editor 照片" r:id="rId1" imgW="781050" imgH="781050" progId="MSPhotoEd.3">
                    <p:embed/>
                    <p:pic>
                      <p:nvPicPr>
                        <p:cNvPr id="0" name="图片 1945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 y="3930"/>
                          <a:ext cx="385" cy="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83717" name="Line 5"/>
          <p:cNvSpPr>
            <a:spLocks noChangeShapeType="1"/>
          </p:cNvSpPr>
          <p:nvPr/>
        </p:nvSpPr>
        <p:spPr bwMode="auto">
          <a:xfrm>
            <a:off x="188913" y="836613"/>
            <a:ext cx="8766175" cy="0"/>
          </a:xfrm>
          <a:prstGeom prst="line">
            <a:avLst/>
          </a:prstGeom>
          <a:noFill/>
          <a:ln w="57150" cmpd="thinThick">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3718" name="Text Box 6"/>
          <p:cNvSpPr txBox="1">
            <a:spLocks noChangeArrowheads="1"/>
          </p:cNvSpPr>
          <p:nvPr/>
        </p:nvSpPr>
        <p:spPr bwMode="auto">
          <a:xfrm>
            <a:off x="33338" y="115888"/>
            <a:ext cx="9048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3600" b="1">
                <a:solidFill>
                  <a:srgbClr val="993300"/>
                </a:solidFill>
                <a:ea typeface="楷体_GB2312" pitchFamily="49" charset="-122"/>
              </a:rPr>
              <a:t>§15.3  </a:t>
            </a:r>
            <a:r>
              <a:rPr kumimoji="1" lang="zh-CN" altLang="en-US" sz="3600" b="1">
                <a:solidFill>
                  <a:srgbClr val="993300"/>
                </a:solidFill>
                <a:ea typeface="楷体_GB2312" pitchFamily="49" charset="-122"/>
              </a:rPr>
              <a:t>圆柱螺旋拉伸、压缩弹簧的设计计算</a:t>
            </a:r>
            <a:endParaRPr kumimoji="1" lang="zh-CN" altLang="en-US" sz="3600" b="1">
              <a:solidFill>
                <a:srgbClr val="993300"/>
              </a:solidFill>
              <a:ea typeface="楷体_GB2312" pitchFamily="49" charset="-122"/>
            </a:endParaRPr>
          </a:p>
        </p:txBody>
      </p:sp>
      <p:sp>
        <p:nvSpPr>
          <p:cNvPr id="883719" name="Rectangle 7"/>
          <p:cNvSpPr>
            <a:spLocks noChangeArrowheads="1"/>
          </p:cNvSpPr>
          <p:nvPr/>
        </p:nvSpPr>
        <p:spPr bwMode="auto">
          <a:xfrm>
            <a:off x="0" y="0"/>
            <a:ext cx="9158288" cy="6865938"/>
          </a:xfrm>
          <a:prstGeom prst="rect">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883720" name="Picture 8"/>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377825" y="46038"/>
            <a:ext cx="8058150" cy="6816725"/>
          </a:xfrm>
          <a:noFill/>
        </p:spPr>
      </p:pic>
      <p:sp>
        <p:nvSpPr>
          <p:cNvPr id="883721" name="AutoShape 9">
            <a:hlinkClick r:id="rId4" action="ppaction://hlinksldjump" highlightClick="1"/>
          </p:cNvPr>
          <p:cNvSpPr>
            <a:spLocks noChangeArrowheads="1"/>
          </p:cNvSpPr>
          <p:nvPr/>
        </p:nvSpPr>
        <p:spPr bwMode="auto">
          <a:xfrm>
            <a:off x="222250" y="6338888"/>
            <a:ext cx="765175" cy="504825"/>
          </a:xfrm>
          <a:prstGeom prst="actionButtonEnd">
            <a:avLst/>
          </a:prstGeom>
          <a:gradFill rotWithShape="0">
            <a:gsLst>
              <a:gs pos="0">
                <a:schemeClr val="accent1">
                  <a:gamma/>
                  <a:shade val="46275"/>
                  <a:invGamma/>
                </a:schemeClr>
              </a:gs>
              <a:gs pos="100000">
                <a:schemeClr val="accent1"/>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37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2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1835785" y="188595"/>
            <a:ext cx="7575550" cy="490855"/>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3.12-4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圆柱螺旋扭曲弹簧的设计计算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8917" name="文本框 38916"/>
          <p:cNvSpPr txBox="1"/>
          <p:nvPr/>
        </p:nvSpPr>
        <p:spPr>
          <a:xfrm>
            <a:off x="251460" y="908368"/>
            <a:ext cx="3852337" cy="430887"/>
          </a:xfrm>
          <a:prstGeom prst="rect">
            <a:avLst/>
          </a:prstGeom>
          <a:noFill/>
          <a:ln w="9525">
            <a:noFill/>
          </a:ln>
        </p:spPr>
        <p:txBody>
          <a:bodyPr wrap="none">
            <a:spAutoFit/>
          </a:bodyPr>
          <a:lstStyle/>
          <a:p>
            <a:r>
              <a:rPr lang="zh-CN" altLang="en-US" dirty="0">
                <a:solidFill>
                  <a:srgbClr val="C00000"/>
                </a:solidFill>
                <a:latin typeface="黑体" panose="02010609060101010101" pitchFamily="49" charset="-122"/>
                <a:ea typeface="黑体" panose="02010609060101010101" pitchFamily="49" charset="-122"/>
              </a:rPr>
              <a:t>一、圆柱螺旋扭转弹簧的结构</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38921" name="文本框 38920"/>
          <p:cNvSpPr txBox="1"/>
          <p:nvPr/>
        </p:nvSpPr>
        <p:spPr>
          <a:xfrm>
            <a:off x="827584" y="1340515"/>
            <a:ext cx="5008563" cy="398463"/>
          </a:xfrm>
          <a:prstGeom prst="rect">
            <a:avLst/>
          </a:prstGeom>
          <a:noFill/>
          <a:ln w="9525">
            <a:noFill/>
          </a:ln>
        </p:spPr>
        <p:txBody>
          <a:bodyPr wrap="none">
            <a:spAutoFit/>
          </a:bodyPr>
          <a:lstStyle/>
          <a:p>
            <a:r>
              <a:rPr lang="zh-CN" altLang="en-US" sz="2000" dirty="0">
                <a:solidFill>
                  <a:srgbClr val="000099"/>
                </a:solidFill>
                <a:latin typeface="华文中宋" panose="02010600040101010101" pitchFamily="2" charset="-122"/>
              </a:rPr>
              <a:t>扭转弹簧常用于压紧、储能和传递扭矩等。</a:t>
            </a:r>
            <a:endParaRPr lang="zh-CN" altLang="en-US" sz="2000" dirty="0">
              <a:solidFill>
                <a:srgbClr val="000099"/>
              </a:solidFill>
              <a:latin typeface="华文中宋" panose="02010600040101010101" pitchFamily="2" charset="-122"/>
            </a:endParaRPr>
          </a:p>
        </p:txBody>
      </p:sp>
      <p:sp>
        <p:nvSpPr>
          <p:cNvPr id="38922" name="文本框 38921"/>
          <p:cNvSpPr txBox="1"/>
          <p:nvPr/>
        </p:nvSpPr>
        <p:spPr>
          <a:xfrm>
            <a:off x="1331913" y="4281488"/>
            <a:ext cx="6480175" cy="1014412"/>
          </a:xfrm>
          <a:prstGeom prst="rect">
            <a:avLst/>
          </a:prstGeom>
          <a:noFill/>
          <a:ln w="9525">
            <a:noFill/>
          </a:ln>
        </p:spPr>
        <p:txBody>
          <a:bodyPr>
            <a:spAutoFit/>
          </a:bodyPr>
          <a:lstStyle/>
          <a:p>
            <a:pPr>
              <a:lnSpc>
                <a:spcPct val="150000"/>
              </a:lnSpc>
            </a:pPr>
            <a:r>
              <a:rPr lang="en-US" altLang="zh-CN" sz="2000" dirty="0">
                <a:solidFill>
                  <a:srgbClr val="000099"/>
                </a:solidFill>
                <a:latin typeface="Times New Roman" panose="02020603050405020304" pitchFamily="18" charset="0"/>
              </a:rPr>
              <a:t>a)</a:t>
            </a:r>
            <a:r>
              <a:rPr lang="zh-CN" altLang="zh-CN" sz="2000" dirty="0">
                <a:solidFill>
                  <a:srgbClr val="000099"/>
                </a:solidFill>
                <a:latin typeface="Times New Roman" panose="02020603050405020304" pitchFamily="18" charset="0"/>
              </a:rPr>
              <a:t>NI型：外臂扭转弹簧           </a:t>
            </a:r>
            <a:r>
              <a:rPr lang="en-US" altLang="zh-CN" sz="2000" dirty="0">
                <a:solidFill>
                  <a:srgbClr val="000099"/>
                </a:solidFill>
                <a:latin typeface="Times New Roman" panose="02020603050405020304" pitchFamily="18" charset="0"/>
              </a:rPr>
              <a:t>b)</a:t>
            </a:r>
            <a:r>
              <a:rPr lang="zh-CN" altLang="zh-CN" sz="2000" dirty="0">
                <a:solidFill>
                  <a:srgbClr val="000099"/>
                </a:solidFill>
                <a:latin typeface="Times New Roman" panose="02020603050405020304" pitchFamily="18" charset="0"/>
              </a:rPr>
              <a:t>NⅡ型：内臂扭转弹簧</a:t>
            </a:r>
            <a:endParaRPr lang="zh-CN" altLang="zh-CN" sz="2000" dirty="0">
              <a:solidFill>
                <a:srgbClr val="000099"/>
              </a:solidFill>
              <a:latin typeface="Times New Roman" panose="02020603050405020304" pitchFamily="18" charset="0"/>
            </a:endParaRPr>
          </a:p>
          <a:p>
            <a:pPr>
              <a:lnSpc>
                <a:spcPct val="150000"/>
              </a:lnSpc>
            </a:pPr>
            <a:r>
              <a:rPr lang="en-US" altLang="zh-CN" sz="2000" dirty="0">
                <a:solidFill>
                  <a:srgbClr val="000099"/>
                </a:solidFill>
                <a:latin typeface="Times New Roman" panose="02020603050405020304" pitchFamily="18" charset="0"/>
              </a:rPr>
              <a:t>c)</a:t>
            </a:r>
            <a:r>
              <a:rPr lang="zh-CN" altLang="zh-CN" sz="2000" dirty="0">
                <a:solidFill>
                  <a:srgbClr val="000099"/>
                </a:solidFill>
                <a:latin typeface="Times New Roman" panose="02020603050405020304" pitchFamily="18" charset="0"/>
              </a:rPr>
              <a:t>NⅢ型：中心距扭转弹簧    </a:t>
            </a:r>
            <a:r>
              <a:rPr lang="en-US" altLang="zh-CN" sz="2000" dirty="0">
                <a:solidFill>
                  <a:srgbClr val="000099"/>
                </a:solidFill>
                <a:latin typeface="Times New Roman" panose="02020603050405020304" pitchFamily="18" charset="0"/>
              </a:rPr>
              <a:t>d)</a:t>
            </a:r>
            <a:r>
              <a:rPr lang="zh-CN" altLang="zh-CN" sz="2000" dirty="0">
                <a:solidFill>
                  <a:srgbClr val="000099"/>
                </a:solidFill>
                <a:latin typeface="Times New Roman" panose="02020603050405020304" pitchFamily="18" charset="0"/>
              </a:rPr>
              <a:t>NIV型：平列双扭簧</a:t>
            </a:r>
            <a:endParaRPr lang="zh-CN" altLang="zh-CN" sz="2000" dirty="0">
              <a:solidFill>
                <a:srgbClr val="000099"/>
              </a:solidFill>
              <a:latin typeface="Times New Roman" panose="02020603050405020304" pitchFamily="18" charset="0"/>
            </a:endParaRPr>
          </a:p>
        </p:txBody>
      </p:sp>
      <p:sp>
        <p:nvSpPr>
          <p:cNvPr id="38923" name="文本框 38922"/>
          <p:cNvSpPr txBox="1"/>
          <p:nvPr/>
        </p:nvSpPr>
        <p:spPr>
          <a:xfrm>
            <a:off x="771525" y="5445125"/>
            <a:ext cx="4004945" cy="398780"/>
          </a:xfrm>
          <a:prstGeom prst="rect">
            <a:avLst/>
          </a:prstGeom>
          <a:noFill/>
          <a:ln w="9525">
            <a:noFill/>
          </a:ln>
        </p:spPr>
        <p:txBody>
          <a:bodyPr wrap="none">
            <a:spAutoFit/>
          </a:bodyPr>
          <a:lstStyle/>
          <a:p>
            <a:r>
              <a:rPr lang="zh-CN" altLang="zh-CN" sz="2000" dirty="0">
                <a:solidFill>
                  <a:srgbClr val="000099"/>
                </a:solidFill>
                <a:latin typeface="Times New Roman" panose="02020603050405020304" pitchFamily="18" charset="0"/>
              </a:rPr>
              <a:t>扭转弹簧的自由长度H</a:t>
            </a:r>
            <a:r>
              <a:rPr lang="zh-CN" altLang="zh-CN" sz="2000" baseline="-25000" dirty="0">
                <a:solidFill>
                  <a:srgbClr val="000099"/>
                </a:solidFill>
                <a:latin typeface="Times New Roman" panose="02020603050405020304" pitchFamily="18" charset="0"/>
              </a:rPr>
              <a:t>0</a:t>
            </a:r>
            <a:r>
              <a:rPr lang="zh-CN" altLang="zh-CN" sz="2000" dirty="0">
                <a:solidFill>
                  <a:srgbClr val="000099"/>
                </a:solidFill>
                <a:latin typeface="Times New Roman" panose="02020603050405020304" pitchFamily="18" charset="0"/>
              </a:rPr>
              <a:t>计算公式为</a:t>
            </a:r>
            <a:endParaRPr lang="zh-CN" altLang="zh-CN" sz="2000" dirty="0">
              <a:solidFill>
                <a:srgbClr val="000099"/>
              </a:solidFill>
              <a:latin typeface="Times New Roman" panose="02020603050405020304" pitchFamily="18" charset="0"/>
            </a:endParaRPr>
          </a:p>
        </p:txBody>
      </p:sp>
      <p:graphicFrame>
        <p:nvGraphicFramePr>
          <p:cNvPr id="73738" name="对象 -2147482452"/>
          <p:cNvGraphicFramePr>
            <a:graphicFrameLocks noChangeAspect="1"/>
          </p:cNvGraphicFramePr>
          <p:nvPr/>
        </p:nvGraphicFramePr>
        <p:xfrm>
          <a:off x="5076190" y="5445125"/>
          <a:ext cx="2005965" cy="501015"/>
        </p:xfrm>
        <a:graphic>
          <a:graphicData uri="http://schemas.openxmlformats.org/presentationml/2006/ole">
            <mc:AlternateContent xmlns:mc="http://schemas.openxmlformats.org/markup-compatibility/2006">
              <mc:Choice xmlns:v="urn:schemas-microsoft-com:vml" Requires="v">
                <p:oleObj spid="_x0000_s7177" name="" r:id="rId1" imgW="2032000" imgH="504190" progId="Equation.3">
                  <p:embed/>
                </p:oleObj>
              </mc:Choice>
              <mc:Fallback>
                <p:oleObj name="" r:id="rId1" imgW="2032000" imgH="504190" progId="Equation.3">
                  <p:embed/>
                  <p:pic>
                    <p:nvPicPr>
                      <p:cNvPr id="0" name="图片 3079"/>
                      <p:cNvPicPr/>
                      <p:nvPr/>
                    </p:nvPicPr>
                    <p:blipFill>
                      <a:blip r:embed="rId2"/>
                      <a:stretch>
                        <a:fillRect/>
                      </a:stretch>
                    </p:blipFill>
                    <p:spPr>
                      <a:xfrm>
                        <a:off x="5076190" y="5445125"/>
                        <a:ext cx="2005965" cy="501015"/>
                      </a:xfrm>
                      <a:prstGeom prst="rect">
                        <a:avLst/>
                      </a:prstGeom>
                      <a:noFill/>
                      <a:ln w="38100">
                        <a:noFill/>
                        <a:miter/>
                      </a:ln>
                    </p:spPr>
                  </p:pic>
                </p:oleObj>
              </mc:Fallback>
            </mc:AlternateContent>
          </a:graphicData>
        </a:graphic>
      </p:graphicFrame>
      <p:sp>
        <p:nvSpPr>
          <p:cNvPr id="513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pic>
        <p:nvPicPr>
          <p:cNvPr id="5131" name="Picture 12"/>
          <p:cNvPicPr>
            <a:picLocks noChangeAspect="1"/>
          </p:cNvPicPr>
          <p:nvPr/>
        </p:nvPicPr>
        <p:blipFill>
          <a:blip r:embed="rId3"/>
          <a:stretch>
            <a:fillRect/>
          </a:stretch>
        </p:blipFill>
        <p:spPr>
          <a:xfrm>
            <a:off x="2267744" y="1844824"/>
            <a:ext cx="4600575" cy="2457450"/>
          </a:xfrm>
          <a:prstGeom prst="rect">
            <a:avLst/>
          </a:prstGeom>
          <a:noFill/>
          <a:ln w="9525">
            <a:noFill/>
          </a:ln>
        </p:spPr>
      </p:pic>
      <p:sp>
        <p:nvSpPr>
          <p:cNvPr id="3" name="圆角矩形标注 2"/>
          <p:cNvSpPr/>
          <p:nvPr/>
        </p:nvSpPr>
        <p:spPr>
          <a:xfrm>
            <a:off x="1979930" y="6093460"/>
            <a:ext cx="3900805" cy="695960"/>
          </a:xfrm>
          <a:prstGeom prst="wedgeRoundRectCallout">
            <a:avLst>
              <a:gd name="adj1" fmla="val 59571"/>
              <a:gd name="adj2" fmla="val -92883"/>
              <a:gd name="adj3" fmla="val 16667"/>
            </a:avLst>
          </a:prstGeom>
          <a:solidFill>
            <a:srgbClr val="FFFF00"/>
          </a:solidFill>
          <a:ln w="9525" cap="flat" cmpd="sng" algn="ctr">
            <a:solidFill>
              <a:srgbClr val="FFC000"/>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lang="zh-CN" altLang="en-US" sz="1800">
                <a:sym typeface="+mn-ea"/>
              </a:rPr>
              <a:t>弹簧相邻两圈间的轴向距离，一般为</a:t>
            </a:r>
            <a:r>
              <a:rPr lang="en-US" altLang="zh-CN" sz="1800">
                <a:sym typeface="+mn-ea"/>
              </a:rPr>
              <a:t>0.1~0.5mm</a:t>
            </a:r>
            <a:endParaRPr kumimoji="1" lang="zh-CN" altLang="en-US" sz="18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endParaRPr>
          </a:p>
        </p:txBody>
      </p:sp>
      <p:sp>
        <p:nvSpPr>
          <p:cNvPr id="5" name="圆角矩形标注 4"/>
          <p:cNvSpPr/>
          <p:nvPr/>
        </p:nvSpPr>
        <p:spPr>
          <a:xfrm>
            <a:off x="6876415" y="6165215"/>
            <a:ext cx="1835785" cy="575945"/>
          </a:xfrm>
          <a:prstGeom prst="wedgeRoundRectCallout">
            <a:avLst>
              <a:gd name="adj1" fmla="val -42563"/>
              <a:gd name="adj2" fmla="val -98291"/>
              <a:gd name="adj3" fmla="val 16667"/>
            </a:avLst>
          </a:prstGeom>
          <a:solidFill>
            <a:srgbClr val="92D050"/>
          </a:solidFill>
          <a:ln w="9525" cap="flat" cmpd="sng" algn="ctr">
            <a:solidFill>
              <a:srgbClr val="00B050"/>
            </a:solidFill>
            <a:prstDash val="solid"/>
            <a:round/>
            <a:headEnd type="none" w="med" len="med"/>
            <a:tailEnd type="none" w="med" len="med"/>
          </a:ln>
        </p:spPr>
        <p:txBody>
          <a:bodyPr vert="horz" wrap="square" lIns="90000" tIns="46800" rIns="90000" bIns="46800" numCol="1" anchor="t" anchorCtr="0" compatLnSpc="1"/>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smtClean="0">
                <a:ln>
                  <a:noFill/>
                </a:ln>
                <a:solidFill>
                  <a:schemeClr val="accent4">
                    <a:lumMod val="50000"/>
                  </a:schemeClr>
                </a:solidFill>
                <a:effectLst/>
                <a:latin typeface="Tahoma" panose="020B0604030504040204" pitchFamily="34" charset="0"/>
                <a:ea typeface="华文中宋" panose="02010600040101010101" pitchFamily="2" charset="-122"/>
              </a:rPr>
              <a:t>钩环沿弹簧轴向的长度</a:t>
            </a:r>
            <a:endParaRPr kumimoji="1" lang="zh-CN" altLang="en-US" sz="1800" b="0" i="0" u="none" strike="noStrike" cap="none" normalizeH="0" baseline="0" smtClean="0">
              <a:ln>
                <a:noFill/>
              </a:ln>
              <a:solidFill>
                <a:schemeClr val="accent4">
                  <a:lumMod val="50000"/>
                </a:schemeClr>
              </a:solidFill>
              <a:effectLst/>
              <a:latin typeface="Tahoma" panose="020B0604030504040204" pitchFamily="34" charset="0"/>
              <a:ea typeface="华文中宋" panose="0201060004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8917"/>
                                        </p:tgtEl>
                                        <p:attrNameLst>
                                          <p:attrName>style.visibility</p:attrName>
                                        </p:attrNameLst>
                                      </p:cBhvr>
                                      <p:to>
                                        <p:strVal val="visible"/>
                                      </p:to>
                                    </p:set>
                                    <p:anim calcmode="lin" valueType="num">
                                      <p:cBhvr additive="base">
                                        <p:cTn id="7" dur="500" fill="hold"/>
                                        <p:tgtEl>
                                          <p:spTgt spid="38917"/>
                                        </p:tgtEl>
                                        <p:attrNameLst>
                                          <p:attrName>ppt_x</p:attrName>
                                        </p:attrNameLst>
                                      </p:cBhvr>
                                      <p:tavLst>
                                        <p:tav tm="0">
                                          <p:val>
                                            <p:strVal val="#ppt_x"/>
                                          </p:val>
                                        </p:tav>
                                        <p:tav tm="100000">
                                          <p:val>
                                            <p:strVal val="#ppt_x"/>
                                          </p:val>
                                        </p:tav>
                                      </p:tavLst>
                                    </p:anim>
                                    <p:anim calcmode="lin" valueType="num">
                                      <p:cBhvr additive="base">
                                        <p:cTn id="8" dur="500" fill="hold"/>
                                        <p:tgtEl>
                                          <p:spTgt spid="389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921"/>
                                        </p:tgtEl>
                                        <p:attrNameLst>
                                          <p:attrName>style.visibility</p:attrName>
                                        </p:attrNameLst>
                                      </p:cBhvr>
                                      <p:to>
                                        <p:strVal val="visible"/>
                                      </p:to>
                                    </p:set>
                                    <p:anim calcmode="lin" valueType="num">
                                      <p:cBhvr additive="base">
                                        <p:cTn id="13" dur="500" fill="hold"/>
                                        <p:tgtEl>
                                          <p:spTgt spid="38921"/>
                                        </p:tgtEl>
                                        <p:attrNameLst>
                                          <p:attrName>ppt_x</p:attrName>
                                        </p:attrNameLst>
                                      </p:cBhvr>
                                      <p:tavLst>
                                        <p:tav tm="0">
                                          <p:val>
                                            <p:strVal val="#ppt_x"/>
                                          </p:val>
                                        </p:tav>
                                        <p:tav tm="100000">
                                          <p:val>
                                            <p:strVal val="#ppt_x"/>
                                          </p:val>
                                        </p:tav>
                                      </p:tavLst>
                                    </p:anim>
                                    <p:anim calcmode="lin" valueType="num">
                                      <p:cBhvr additive="base">
                                        <p:cTn id="14" dur="500" fill="hold"/>
                                        <p:tgtEl>
                                          <p:spTgt spid="38921"/>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8922"/>
                                        </p:tgtEl>
                                        <p:attrNameLst>
                                          <p:attrName>style.visibility</p:attrName>
                                        </p:attrNameLst>
                                      </p:cBhvr>
                                      <p:to>
                                        <p:strVal val="visible"/>
                                      </p:to>
                                    </p:set>
                                    <p:anim calcmode="lin" valueType="num">
                                      <p:cBhvr additive="base">
                                        <p:cTn id="17" dur="500" fill="hold"/>
                                        <p:tgtEl>
                                          <p:spTgt spid="38922"/>
                                        </p:tgtEl>
                                        <p:attrNameLst>
                                          <p:attrName>ppt_x</p:attrName>
                                        </p:attrNameLst>
                                      </p:cBhvr>
                                      <p:tavLst>
                                        <p:tav tm="0">
                                          <p:val>
                                            <p:strVal val="#ppt_x"/>
                                          </p:val>
                                        </p:tav>
                                        <p:tav tm="100000">
                                          <p:val>
                                            <p:strVal val="#ppt_x"/>
                                          </p:val>
                                        </p:tav>
                                      </p:tavLst>
                                    </p:anim>
                                    <p:anim calcmode="lin" valueType="num">
                                      <p:cBhvr additive="base">
                                        <p:cTn id="18" dur="500" fill="hold"/>
                                        <p:tgtEl>
                                          <p:spTgt spid="3892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8923"/>
                                        </p:tgtEl>
                                        <p:attrNameLst>
                                          <p:attrName>style.visibility</p:attrName>
                                        </p:attrNameLst>
                                      </p:cBhvr>
                                      <p:to>
                                        <p:strVal val="visible"/>
                                      </p:to>
                                    </p:set>
                                    <p:anim calcmode="lin" valueType="num">
                                      <p:cBhvr additive="base">
                                        <p:cTn id="23" dur="500" fill="hold"/>
                                        <p:tgtEl>
                                          <p:spTgt spid="38923"/>
                                        </p:tgtEl>
                                        <p:attrNameLst>
                                          <p:attrName>ppt_x</p:attrName>
                                        </p:attrNameLst>
                                      </p:cBhvr>
                                      <p:tavLst>
                                        <p:tav tm="0">
                                          <p:val>
                                            <p:strVal val="#ppt_x"/>
                                          </p:val>
                                        </p:tav>
                                        <p:tav tm="100000">
                                          <p:val>
                                            <p:strVal val="#ppt_x"/>
                                          </p:val>
                                        </p:tav>
                                      </p:tavLst>
                                    </p:anim>
                                    <p:anim calcmode="lin" valueType="num">
                                      <p:cBhvr additive="base">
                                        <p:cTn id="24" dur="500" fill="hold"/>
                                        <p:tgtEl>
                                          <p:spTgt spid="3892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3738"/>
                                        </p:tgtEl>
                                        <p:attrNameLst>
                                          <p:attrName>style.visibility</p:attrName>
                                        </p:attrNameLst>
                                      </p:cBhvr>
                                      <p:to>
                                        <p:strVal val="visible"/>
                                      </p:to>
                                    </p:set>
                                    <p:anim calcmode="lin" valueType="num">
                                      <p:cBhvr additive="base">
                                        <p:cTn id="27" dur="500" fill="hold"/>
                                        <p:tgtEl>
                                          <p:spTgt spid="73738"/>
                                        </p:tgtEl>
                                        <p:attrNameLst>
                                          <p:attrName>ppt_x</p:attrName>
                                        </p:attrNameLst>
                                      </p:cBhvr>
                                      <p:tavLst>
                                        <p:tav tm="0">
                                          <p:val>
                                            <p:strVal val="#ppt_x"/>
                                          </p:val>
                                        </p:tav>
                                        <p:tav tm="100000">
                                          <p:val>
                                            <p:strVal val="#ppt_x"/>
                                          </p:val>
                                        </p:tav>
                                      </p:tavLst>
                                    </p:anim>
                                    <p:anim calcmode="lin" valueType="num">
                                      <p:cBhvr additive="base">
                                        <p:cTn id="28" dur="500" fill="hold"/>
                                        <p:tgtEl>
                                          <p:spTgt spid="73738"/>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wipe(up)">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up)">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p:bldP spid="38921" grpId="0"/>
      <p:bldP spid="38922" grpId="0"/>
      <p:bldP spid="38923" grpId="0"/>
      <p:bldP spid="3"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Text Box 33"/>
          <p:cNvSpPr txBox="1"/>
          <p:nvPr/>
        </p:nvSpPr>
        <p:spPr>
          <a:xfrm>
            <a:off x="7377113" y="6162675"/>
            <a:ext cx="463550" cy="433388"/>
          </a:xfrm>
          <a:prstGeom prst="rect">
            <a:avLst/>
          </a:prstGeom>
          <a:noFill/>
          <a:ln w="9525">
            <a:noFill/>
          </a:ln>
        </p:spPr>
        <p:txBody>
          <a:bodyPr wrap="none" lIns="90000" tIns="46800" rIns="90000" bIns="46800">
            <a:spAutoFit/>
          </a:bodyPr>
          <a:lstStyle/>
          <a:p>
            <a:r>
              <a:rPr lang="zh-CN" altLang="en-US" dirty="0">
                <a:solidFill>
                  <a:srgbClr val="000099"/>
                </a:solidFill>
                <a:latin typeface="Times New Roman" panose="02020603050405020304" pitchFamily="18" charset="0"/>
              </a:rPr>
              <a:t>　</a:t>
            </a:r>
            <a:endParaRPr lang="zh-CN" altLang="en-US" dirty="0">
              <a:solidFill>
                <a:srgbClr val="000099"/>
              </a:solidFill>
              <a:latin typeface="Times New Roman" panose="02020603050405020304" pitchFamily="18" charset="0"/>
              <a:ea typeface="Times New Roman" panose="02020603050405020304" pitchFamily="18" charset="0"/>
            </a:endParaRPr>
          </a:p>
        </p:txBody>
      </p:sp>
      <p:pic>
        <p:nvPicPr>
          <p:cNvPr id="6153" name="Picture 34" descr="rewind1">
            <a:hlinkClick r:id="rId1" action="ppaction://hlinksldjump"/>
          </p:cNvPr>
          <p:cNvPicPr>
            <a:picLocks noChangeAspect="1"/>
          </p:cNvPicPr>
          <p:nvPr/>
        </p:nvPicPr>
        <p:blipFill>
          <a:blip r:embed="rId2"/>
          <a:stretch>
            <a:fillRect/>
          </a:stretch>
        </p:blipFill>
        <p:spPr>
          <a:xfrm>
            <a:off x="7924800" y="6523038"/>
            <a:ext cx="287338" cy="287337"/>
          </a:xfrm>
          <a:prstGeom prst="rect">
            <a:avLst/>
          </a:prstGeom>
          <a:noFill/>
          <a:ln w="9525">
            <a:noFill/>
          </a:ln>
        </p:spPr>
      </p:pic>
      <p:pic>
        <p:nvPicPr>
          <p:cNvPr id="6154" name="Picture 35" descr="back1">
            <a:hlinkClick r:id="" action="ppaction://hlinkshowjump?jump=previousslide"/>
          </p:cNvPr>
          <p:cNvPicPr>
            <a:picLocks noChangeAspect="1"/>
          </p:cNvPicPr>
          <p:nvPr/>
        </p:nvPicPr>
        <p:blipFill>
          <a:blip r:embed="rId3"/>
          <a:stretch>
            <a:fillRect/>
          </a:stretch>
        </p:blipFill>
        <p:spPr>
          <a:xfrm>
            <a:off x="8332788" y="6523038"/>
            <a:ext cx="287337" cy="287337"/>
          </a:xfrm>
          <a:prstGeom prst="rect">
            <a:avLst/>
          </a:prstGeom>
          <a:noFill/>
          <a:ln w="9525">
            <a:noFill/>
          </a:ln>
        </p:spPr>
      </p:pic>
      <p:pic>
        <p:nvPicPr>
          <p:cNvPr id="6155" name="Picture 36" descr="NEXT1">
            <a:hlinkClick r:id="" action="ppaction://hlinkshowjump?jump=nextslide"/>
          </p:cNvPr>
          <p:cNvPicPr>
            <a:picLocks noChangeAspect="1"/>
          </p:cNvPicPr>
          <p:nvPr/>
        </p:nvPicPr>
        <p:blipFill>
          <a:blip r:embed="rId4"/>
          <a:stretch>
            <a:fillRect/>
          </a:stretch>
        </p:blipFill>
        <p:spPr>
          <a:xfrm>
            <a:off x="8742363" y="6523038"/>
            <a:ext cx="287337" cy="287337"/>
          </a:xfrm>
          <a:prstGeom prst="rect">
            <a:avLst/>
          </a:prstGeom>
          <a:noFill/>
          <a:ln w="9525">
            <a:noFill/>
          </a:ln>
        </p:spPr>
      </p:pic>
      <p:sp>
        <p:nvSpPr>
          <p:cNvPr id="38918" name="文本框 38917"/>
          <p:cNvSpPr txBox="1"/>
          <p:nvPr/>
        </p:nvSpPr>
        <p:spPr>
          <a:xfrm>
            <a:off x="395288" y="836930"/>
            <a:ext cx="5545108" cy="430887"/>
          </a:xfrm>
          <a:prstGeom prst="rect">
            <a:avLst/>
          </a:prstGeom>
          <a:noFill/>
          <a:ln w="9525">
            <a:noFill/>
          </a:ln>
        </p:spPr>
        <p:txBody>
          <a:bodyPr wrap="none">
            <a:spAutoFit/>
          </a:bodyPr>
          <a:lstStyle/>
          <a:p>
            <a:r>
              <a:rPr lang="zh-CN" altLang="en-US" dirty="0">
                <a:solidFill>
                  <a:srgbClr val="C00000"/>
                </a:solidFill>
                <a:latin typeface="黑体" panose="02010609060101010101" pitchFamily="49" charset="-122"/>
                <a:ea typeface="黑体" panose="02010609060101010101" pitchFamily="49" charset="-122"/>
              </a:rPr>
              <a:t>二、圆柱螺旋扭转弹簧受载时的应力及变形</a:t>
            </a:r>
            <a:endParaRPr lang="zh-CN" altLang="en-US" dirty="0">
              <a:solidFill>
                <a:srgbClr val="C00000"/>
              </a:solidFill>
              <a:latin typeface="黑体" panose="02010609060101010101" pitchFamily="49" charset="-122"/>
              <a:ea typeface="黑体" panose="02010609060101010101" pitchFamily="49" charset="-122"/>
            </a:endParaRPr>
          </a:p>
        </p:txBody>
      </p:sp>
      <p:sp>
        <p:nvSpPr>
          <p:cNvPr id="74760" name="文本框 99"/>
          <p:cNvSpPr txBox="1"/>
          <p:nvPr/>
        </p:nvSpPr>
        <p:spPr>
          <a:xfrm>
            <a:off x="800100" y="2430463"/>
            <a:ext cx="6311900" cy="398462"/>
          </a:xfrm>
          <a:prstGeom prst="rect">
            <a:avLst/>
          </a:prstGeom>
          <a:noFill/>
          <a:ln w="9525">
            <a:noFill/>
          </a:ln>
        </p:spPr>
        <p:txBody>
          <a:bodyPr>
            <a:spAutoFit/>
          </a:bodyPr>
          <a:lstStyle/>
          <a:p>
            <a:r>
              <a:rPr lang="zh-CN" altLang="en-US" sz="2000" dirty="0">
                <a:solidFill>
                  <a:srgbClr val="000099"/>
                </a:solidFill>
                <a:latin typeface="Times New Roman" panose="02020603050405020304" pitchFamily="18" charset="0"/>
              </a:rPr>
              <a:t>在弹簧丝的任意圆形截面</a:t>
            </a:r>
            <a:r>
              <a:rPr lang="en-US" altLang="zh-CN" sz="2000" i="1" dirty="0">
                <a:solidFill>
                  <a:srgbClr val="000099"/>
                </a:solidFill>
                <a:latin typeface="Times New Roman" panose="02020603050405020304" pitchFamily="18" charset="0"/>
              </a:rPr>
              <a:t>B</a:t>
            </a:r>
            <a:r>
              <a:rPr lang="en-US" altLang="zh-CN" sz="2000" dirty="0">
                <a:solidFill>
                  <a:srgbClr val="000099"/>
                </a:solidFill>
                <a:latin typeface="Times New Roman" panose="02020603050405020304" pitchFamily="18" charset="0"/>
              </a:rPr>
              <a:t>-</a:t>
            </a:r>
            <a:r>
              <a:rPr lang="en-US" altLang="zh-CN" sz="2000" i="1" dirty="0">
                <a:solidFill>
                  <a:srgbClr val="000099"/>
                </a:solidFill>
                <a:latin typeface="Times New Roman" panose="02020603050405020304" pitchFamily="18" charset="0"/>
              </a:rPr>
              <a:t>B</a:t>
            </a:r>
            <a:r>
              <a:rPr lang="zh-CN" altLang="en-US" sz="2000" dirty="0">
                <a:solidFill>
                  <a:srgbClr val="000099"/>
                </a:solidFill>
                <a:latin typeface="Times New Roman" panose="02020603050405020304" pitchFamily="18" charset="0"/>
              </a:rPr>
              <a:t>上作用着弯矩及扭矩为</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graphicFrame>
        <p:nvGraphicFramePr>
          <p:cNvPr id="74761" name="对象 -2147482503"/>
          <p:cNvGraphicFramePr>
            <a:graphicFrameLocks noChangeAspect="1"/>
          </p:cNvGraphicFramePr>
          <p:nvPr/>
        </p:nvGraphicFramePr>
        <p:xfrm>
          <a:off x="3051175" y="2803525"/>
          <a:ext cx="1384300" cy="307975"/>
        </p:xfrm>
        <a:graphic>
          <a:graphicData uri="http://schemas.openxmlformats.org/presentationml/2006/ole">
            <mc:AlternateContent xmlns:mc="http://schemas.openxmlformats.org/markup-compatibility/2006">
              <mc:Choice xmlns:v="urn:schemas-microsoft-com:vml" Requires="v">
                <p:oleObj spid="_x0000_s8241" name="" r:id="rId5" imgW="787400" imgH="177800" progId="Equation.3">
                  <p:embed/>
                </p:oleObj>
              </mc:Choice>
              <mc:Fallback>
                <p:oleObj name="" r:id="rId5" imgW="787400" imgH="177800" progId="Equation.3">
                  <p:embed/>
                  <p:pic>
                    <p:nvPicPr>
                      <p:cNvPr id="0" name="图片 3080"/>
                      <p:cNvPicPr/>
                      <p:nvPr/>
                    </p:nvPicPr>
                    <p:blipFill>
                      <a:blip r:embed="rId6"/>
                      <a:stretch>
                        <a:fillRect/>
                      </a:stretch>
                    </p:blipFill>
                    <p:spPr>
                      <a:xfrm>
                        <a:off x="3051175" y="2803525"/>
                        <a:ext cx="1384300" cy="307975"/>
                      </a:xfrm>
                      <a:prstGeom prst="rect">
                        <a:avLst/>
                      </a:prstGeom>
                      <a:noFill/>
                      <a:ln w="38100">
                        <a:noFill/>
                        <a:miter/>
                      </a:ln>
                    </p:spPr>
                  </p:pic>
                </p:oleObj>
              </mc:Fallback>
            </mc:AlternateContent>
          </a:graphicData>
        </a:graphic>
      </p:graphicFrame>
      <p:graphicFrame>
        <p:nvGraphicFramePr>
          <p:cNvPr id="74762" name="对象 -2147482502"/>
          <p:cNvGraphicFramePr>
            <a:graphicFrameLocks noChangeAspect="1"/>
          </p:cNvGraphicFramePr>
          <p:nvPr/>
        </p:nvGraphicFramePr>
        <p:xfrm>
          <a:off x="4686300" y="2803525"/>
          <a:ext cx="1422400" cy="333375"/>
        </p:xfrm>
        <a:graphic>
          <a:graphicData uri="http://schemas.openxmlformats.org/presentationml/2006/ole">
            <mc:AlternateContent xmlns:mc="http://schemas.openxmlformats.org/markup-compatibility/2006">
              <mc:Choice xmlns:v="urn:schemas-microsoft-com:vml" Requires="v">
                <p:oleObj spid="_x0000_s8242" name="" r:id="rId7" imgW="749300" imgH="177800" progId="Equation.3">
                  <p:embed/>
                </p:oleObj>
              </mc:Choice>
              <mc:Fallback>
                <p:oleObj name="" r:id="rId7" imgW="749300" imgH="177800" progId="Equation.3">
                  <p:embed/>
                  <p:pic>
                    <p:nvPicPr>
                      <p:cNvPr id="0" name="图片 3078"/>
                      <p:cNvPicPr/>
                      <p:nvPr/>
                    </p:nvPicPr>
                    <p:blipFill>
                      <a:blip r:embed="rId8"/>
                      <a:stretch>
                        <a:fillRect/>
                      </a:stretch>
                    </p:blipFill>
                    <p:spPr>
                      <a:xfrm>
                        <a:off x="4686300" y="2803525"/>
                        <a:ext cx="1422400" cy="333375"/>
                      </a:xfrm>
                      <a:prstGeom prst="rect">
                        <a:avLst/>
                      </a:prstGeom>
                      <a:noFill/>
                      <a:ln w="38100">
                        <a:noFill/>
                        <a:miter/>
                      </a:ln>
                    </p:spPr>
                  </p:pic>
                </p:oleObj>
              </mc:Fallback>
            </mc:AlternateContent>
          </a:graphicData>
        </a:graphic>
      </p:graphicFrame>
      <p:sp>
        <p:nvSpPr>
          <p:cNvPr id="74763" name="文本框 101"/>
          <p:cNvSpPr txBox="1"/>
          <p:nvPr/>
        </p:nvSpPr>
        <p:spPr>
          <a:xfrm>
            <a:off x="485775" y="3152775"/>
            <a:ext cx="8543925" cy="708025"/>
          </a:xfrm>
          <a:prstGeom prst="rect">
            <a:avLst/>
          </a:prstGeom>
          <a:noFill/>
          <a:ln w="9525">
            <a:noFill/>
          </a:ln>
        </p:spPr>
        <p:txBody>
          <a:bodyPr>
            <a:spAutoFit/>
          </a:bodyPr>
          <a:lstStyle/>
          <a:p>
            <a:pPr indent="311150"/>
            <a:r>
              <a:rPr lang="zh-CN" altLang="en-US" sz="2000" dirty="0">
                <a:solidFill>
                  <a:srgbClr val="000099"/>
                </a:solidFill>
                <a:latin typeface="Times New Roman" panose="02020603050405020304" pitchFamily="18" charset="0"/>
              </a:rPr>
              <a:t>由于</a:t>
            </a:r>
            <a:r>
              <a:rPr lang="en-US" altLang="zh-CN" sz="2000" dirty="0">
                <a:solidFill>
                  <a:srgbClr val="000099"/>
                </a:solidFill>
                <a:latin typeface="Times New Roman" panose="02020603050405020304" pitchFamily="18" charset="0"/>
              </a:rPr>
              <a:t>α</a:t>
            </a:r>
            <a:r>
              <a:rPr lang="zh-CN" altLang="en-US" sz="2000" dirty="0">
                <a:solidFill>
                  <a:srgbClr val="000099"/>
                </a:solidFill>
                <a:latin typeface="Times New Roman" panose="02020603050405020304" pitchFamily="18" charset="0"/>
              </a:rPr>
              <a:t>很小，故</a:t>
            </a:r>
            <a:r>
              <a:rPr lang="en-US" altLang="zh-CN" sz="2000" dirty="0">
                <a:solidFill>
                  <a:srgbClr val="000099"/>
                </a:solidFill>
                <a:latin typeface="Times New Roman" panose="02020603050405020304" pitchFamily="18" charset="0"/>
              </a:rPr>
              <a:t>T´</a:t>
            </a:r>
            <a:r>
              <a:rPr lang="zh-CN" altLang="en-US" sz="2000" dirty="0">
                <a:solidFill>
                  <a:srgbClr val="000099"/>
                </a:solidFill>
                <a:latin typeface="Times New Roman" panose="02020603050405020304" pitchFamily="18" charset="0"/>
              </a:rPr>
              <a:t>可以忽略不计。而</a:t>
            </a:r>
            <a:r>
              <a:rPr lang="en-US" altLang="zh-CN" sz="2000" dirty="0">
                <a:solidFill>
                  <a:srgbClr val="000099"/>
                </a:solidFill>
                <a:latin typeface="Times New Roman" panose="02020603050405020304" pitchFamily="18" charset="0"/>
              </a:rPr>
              <a:t>M≈T</a:t>
            </a:r>
            <a:r>
              <a:rPr lang="zh-CN" altLang="en-US" sz="2000" dirty="0">
                <a:solidFill>
                  <a:srgbClr val="000099"/>
                </a:solidFill>
                <a:latin typeface="Times New Roman" panose="02020603050405020304" pitchFamily="18" charset="0"/>
              </a:rPr>
              <a:t>，因此，弹簧丝截面上的应力可近似地按受弯矩的梁来计算，其最大弯曲应力和强度条件为</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graphicFrame>
        <p:nvGraphicFramePr>
          <p:cNvPr id="74764" name="对象 -2147482522"/>
          <p:cNvGraphicFramePr>
            <a:graphicFrameLocks noChangeAspect="1"/>
          </p:cNvGraphicFramePr>
          <p:nvPr/>
        </p:nvGraphicFramePr>
        <p:xfrm>
          <a:off x="3006090" y="3902075"/>
          <a:ext cx="2760663" cy="639763"/>
        </p:xfrm>
        <a:graphic>
          <a:graphicData uri="http://schemas.openxmlformats.org/presentationml/2006/ole">
            <mc:AlternateContent xmlns:mc="http://schemas.openxmlformats.org/markup-compatibility/2006">
              <mc:Choice xmlns:v="urn:schemas-microsoft-com:vml" Requires="v">
                <p:oleObj spid="_x0000_s8243" name="" r:id="rId9" imgW="1713865" imgH="393700" progId="Equation.3">
                  <p:embed/>
                </p:oleObj>
              </mc:Choice>
              <mc:Fallback>
                <p:oleObj name="" r:id="rId9" imgW="1713865" imgH="393700" progId="Equation.3">
                  <p:embed/>
                  <p:pic>
                    <p:nvPicPr>
                      <p:cNvPr id="0" name="图片 3081"/>
                      <p:cNvPicPr/>
                      <p:nvPr/>
                    </p:nvPicPr>
                    <p:blipFill>
                      <a:blip r:embed="rId10"/>
                      <a:stretch>
                        <a:fillRect/>
                      </a:stretch>
                    </p:blipFill>
                    <p:spPr>
                      <a:xfrm>
                        <a:off x="3006090" y="3902075"/>
                        <a:ext cx="2760663" cy="639763"/>
                      </a:xfrm>
                      <a:prstGeom prst="rect">
                        <a:avLst/>
                      </a:prstGeom>
                      <a:noFill/>
                      <a:ln w="38100">
                        <a:noFill/>
                        <a:miter/>
                      </a:ln>
                    </p:spPr>
                  </p:pic>
                </p:oleObj>
              </mc:Fallback>
            </mc:AlternateContent>
          </a:graphicData>
        </a:graphic>
      </p:graphicFrame>
      <p:grpSp>
        <p:nvGrpSpPr>
          <p:cNvPr id="2" name="组合 12"/>
          <p:cNvGrpSpPr/>
          <p:nvPr/>
        </p:nvGrpSpPr>
        <p:grpSpPr>
          <a:xfrm>
            <a:off x="804863" y="4575175"/>
            <a:ext cx="7407275" cy="568325"/>
            <a:chOff x="1268" y="7430"/>
            <a:chExt cx="11664" cy="896"/>
          </a:xfrm>
        </p:grpSpPr>
        <p:sp>
          <p:nvSpPr>
            <p:cNvPr id="6167" name="文本框 6"/>
            <p:cNvSpPr txBox="1"/>
            <p:nvPr/>
          </p:nvSpPr>
          <p:spPr>
            <a:xfrm>
              <a:off x="1268" y="7539"/>
              <a:ext cx="11665" cy="628"/>
            </a:xfrm>
            <a:prstGeom prst="rect">
              <a:avLst/>
            </a:prstGeom>
            <a:noFill/>
            <a:ln w="9525">
              <a:noFill/>
            </a:ln>
          </p:spPr>
          <p:txBody>
            <a:bodyPr>
              <a:spAutoFit/>
            </a:bodyPr>
            <a:lstStyle/>
            <a:p>
              <a:pPr marL="625475" indent="-625475"/>
              <a:r>
                <a:rPr lang="zh-CN" altLang="en-US" sz="2000" dirty="0">
                  <a:solidFill>
                    <a:srgbClr val="000099"/>
                  </a:solidFill>
                  <a:latin typeface="Times New Roman" panose="02020603050405020304" pitchFamily="18" charset="0"/>
                </a:rPr>
                <a:t>式中</a:t>
              </a:r>
              <a:r>
                <a:rPr lang="en-US" altLang="zh-CN" sz="2000" dirty="0">
                  <a:solidFill>
                    <a:srgbClr val="000099"/>
                  </a:solidFill>
                  <a:latin typeface="Times New Roman" panose="02020603050405020304" pitchFamily="18" charset="0"/>
                </a:rPr>
                <a:t>K</a:t>
              </a:r>
              <a:r>
                <a:rPr lang="en-US" altLang="zh-CN" sz="2000" baseline="-25000" dirty="0">
                  <a:solidFill>
                    <a:srgbClr val="000099"/>
                  </a:solidFill>
                  <a:latin typeface="Times New Roman" panose="02020603050405020304" pitchFamily="18" charset="0"/>
                </a:rPr>
                <a:t>1</a:t>
              </a:r>
              <a:r>
                <a:rPr lang="zh-CN" altLang="en-US" sz="2000" dirty="0">
                  <a:solidFill>
                    <a:srgbClr val="000099"/>
                  </a:solidFill>
                  <a:latin typeface="Times New Roman" panose="02020603050405020304" pitchFamily="18" charset="0"/>
                </a:rPr>
                <a:t>是</a:t>
              </a:r>
              <a:r>
                <a:rPr lang="zh-CN" altLang="en-US" sz="2000" dirty="0">
                  <a:solidFill>
                    <a:srgbClr val="FF0000"/>
                  </a:solidFill>
                  <a:latin typeface="Times New Roman" panose="02020603050405020304" pitchFamily="18" charset="0"/>
                </a:rPr>
                <a:t>扭转弹簧的曲度系数</a:t>
              </a:r>
              <a:r>
                <a:rPr lang="zh-CN" altLang="en-US" sz="2000" dirty="0">
                  <a:solidFill>
                    <a:srgbClr val="000099"/>
                  </a:solidFill>
                  <a:latin typeface="Times New Roman" panose="02020603050405020304" pitchFamily="18" charset="0"/>
                </a:rPr>
                <a:t>，                 ，常取</a:t>
              </a:r>
              <a:r>
                <a:rPr lang="en-US" altLang="zh-CN" sz="2000" dirty="0">
                  <a:solidFill>
                    <a:srgbClr val="000099"/>
                  </a:solidFill>
                  <a:latin typeface="Times New Roman" panose="02020603050405020304" pitchFamily="18" charset="0"/>
                </a:rPr>
                <a:t>C=4~16</a:t>
              </a:r>
              <a:r>
                <a:rPr lang="zh-CN" altLang="en-US" sz="2000" dirty="0">
                  <a:solidFill>
                    <a:srgbClr val="000099"/>
                  </a:solidFill>
                  <a:latin typeface="Times New Roman" panose="02020603050405020304" pitchFamily="18" charset="0"/>
                </a:rPr>
                <a:t>。</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graphicFrame>
          <p:nvGraphicFramePr>
            <p:cNvPr id="6151" name="对象 -2147482505"/>
            <p:cNvGraphicFramePr>
              <a:graphicFrameLocks noChangeAspect="1"/>
            </p:cNvGraphicFramePr>
            <p:nvPr/>
          </p:nvGraphicFramePr>
          <p:xfrm>
            <a:off x="6874" y="7430"/>
            <a:ext cx="1777" cy="897"/>
          </p:xfrm>
          <a:graphic>
            <a:graphicData uri="http://schemas.openxmlformats.org/presentationml/2006/ole">
              <mc:AlternateContent xmlns:mc="http://schemas.openxmlformats.org/markup-compatibility/2006">
                <mc:Choice xmlns:v="urn:schemas-microsoft-com:vml" Requires="v">
                  <p:oleObj spid="_x0000_s8244" name="" r:id="rId11" imgW="787400" imgH="393700" progId="Equation.3">
                    <p:embed/>
                  </p:oleObj>
                </mc:Choice>
                <mc:Fallback>
                  <p:oleObj name="" r:id="rId11" imgW="787400" imgH="393700" progId="Equation.3">
                    <p:embed/>
                    <p:pic>
                      <p:nvPicPr>
                        <p:cNvPr id="0" name="图片 3082"/>
                        <p:cNvPicPr/>
                        <p:nvPr/>
                      </p:nvPicPr>
                      <p:blipFill>
                        <a:blip r:embed="rId12"/>
                        <a:stretch>
                          <a:fillRect/>
                        </a:stretch>
                      </p:blipFill>
                      <p:spPr>
                        <a:xfrm>
                          <a:off x="6874" y="7430"/>
                          <a:ext cx="1777" cy="897"/>
                        </a:xfrm>
                        <a:prstGeom prst="rect">
                          <a:avLst/>
                        </a:prstGeom>
                        <a:noFill/>
                        <a:ln w="38100">
                          <a:noFill/>
                          <a:miter/>
                        </a:ln>
                      </p:spPr>
                    </p:pic>
                  </p:oleObj>
                </mc:Fallback>
              </mc:AlternateContent>
            </a:graphicData>
          </a:graphic>
        </p:graphicFrame>
      </p:grpSp>
      <p:grpSp>
        <p:nvGrpSpPr>
          <p:cNvPr id="3" name="组合 13"/>
          <p:cNvGrpSpPr/>
          <p:nvPr/>
        </p:nvGrpSpPr>
        <p:grpSpPr>
          <a:xfrm>
            <a:off x="484188" y="5122863"/>
            <a:ext cx="7934325" cy="585787"/>
            <a:chOff x="763" y="7728"/>
            <a:chExt cx="12495" cy="923"/>
          </a:xfrm>
        </p:grpSpPr>
        <p:sp>
          <p:nvSpPr>
            <p:cNvPr id="6166" name="文本框 8"/>
            <p:cNvSpPr txBox="1"/>
            <p:nvPr/>
          </p:nvSpPr>
          <p:spPr>
            <a:xfrm>
              <a:off x="763" y="7875"/>
              <a:ext cx="12170" cy="628"/>
            </a:xfrm>
            <a:prstGeom prst="rect">
              <a:avLst/>
            </a:prstGeom>
            <a:noFill/>
            <a:ln w="9525">
              <a:noFill/>
            </a:ln>
          </p:spPr>
          <p:txBody>
            <a:bodyPr>
              <a:spAutoFit/>
            </a:bodyPr>
            <a:lstStyle/>
            <a:p>
              <a:pPr indent="311150"/>
              <a:r>
                <a:rPr lang="zh-CN" altLang="en-US" sz="2000" dirty="0">
                  <a:solidFill>
                    <a:srgbClr val="000099"/>
                  </a:solidFill>
                  <a:latin typeface="Times New Roman" panose="02020603050405020304" pitchFamily="18" charset="0"/>
                </a:rPr>
                <a:t>扭转弹簧受扭矩</a:t>
              </a:r>
              <a:r>
                <a:rPr lang="en-US" altLang="zh-CN" sz="2000" dirty="0">
                  <a:solidFill>
                    <a:srgbClr val="000099"/>
                  </a:solidFill>
                  <a:latin typeface="Times New Roman" panose="02020603050405020304" pitchFamily="18" charset="0"/>
                </a:rPr>
                <a:t>T</a:t>
              </a:r>
              <a:r>
                <a:rPr lang="zh-CN" altLang="en-US" sz="2000" dirty="0">
                  <a:solidFill>
                    <a:srgbClr val="000099"/>
                  </a:solidFill>
                  <a:latin typeface="Times New Roman" panose="02020603050405020304" pitchFamily="18" charset="0"/>
                </a:rPr>
                <a:t>作用后，因扭转变形而产生的扭转角</a:t>
              </a:r>
              <a:r>
                <a:rPr lang="en-US" altLang="zh-CN" sz="2000" dirty="0">
                  <a:solidFill>
                    <a:srgbClr val="000099"/>
                  </a:solidFill>
                  <a:latin typeface="Times New Roman" panose="02020603050405020304" pitchFamily="18" charset="0"/>
                </a:rPr>
                <a:t>φ</a:t>
              </a:r>
              <a:r>
                <a:rPr lang="zh-CN" altLang="en-US" sz="2000" dirty="0">
                  <a:solidFill>
                    <a:srgbClr val="000099"/>
                  </a:solidFill>
                  <a:latin typeface="Times New Roman" panose="02020603050405020304" pitchFamily="18" charset="0"/>
                </a:rPr>
                <a:t>为</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graphicFrame>
          <p:nvGraphicFramePr>
            <p:cNvPr id="6150" name="对象 -2147482513"/>
            <p:cNvGraphicFramePr>
              <a:graphicFrameLocks noChangeAspect="1"/>
            </p:cNvGraphicFramePr>
            <p:nvPr/>
          </p:nvGraphicFramePr>
          <p:xfrm>
            <a:off x="11396" y="7728"/>
            <a:ext cx="1862" cy="923"/>
          </p:xfrm>
          <a:graphic>
            <a:graphicData uri="http://schemas.openxmlformats.org/presentationml/2006/ole">
              <mc:AlternateContent xmlns:mc="http://schemas.openxmlformats.org/markup-compatibility/2006">
                <mc:Choice xmlns:v="urn:schemas-microsoft-com:vml" Requires="v">
                  <p:oleObj spid="_x0000_s8245" name="" r:id="rId13" imgW="799465" imgH="393700" progId="Equation.3">
                    <p:embed/>
                  </p:oleObj>
                </mc:Choice>
                <mc:Fallback>
                  <p:oleObj name="" r:id="rId13" imgW="799465" imgH="393700" progId="Equation.3">
                    <p:embed/>
                    <p:pic>
                      <p:nvPicPr>
                        <p:cNvPr id="0" name="图片 3084"/>
                        <p:cNvPicPr/>
                        <p:nvPr/>
                      </p:nvPicPr>
                      <p:blipFill>
                        <a:blip r:embed="rId14"/>
                        <a:stretch>
                          <a:fillRect/>
                        </a:stretch>
                      </p:blipFill>
                      <p:spPr>
                        <a:xfrm>
                          <a:off x="11396" y="7728"/>
                          <a:ext cx="1862" cy="923"/>
                        </a:xfrm>
                        <a:prstGeom prst="rect">
                          <a:avLst/>
                        </a:prstGeom>
                        <a:noFill/>
                        <a:ln w="38100">
                          <a:noFill/>
                          <a:miter/>
                        </a:ln>
                      </p:spPr>
                    </p:pic>
                  </p:oleObj>
                </mc:Fallback>
              </mc:AlternateContent>
            </a:graphicData>
          </a:graphic>
        </p:graphicFrame>
      </p:grpSp>
      <p:grpSp>
        <p:nvGrpSpPr>
          <p:cNvPr id="5" name="组合 14"/>
          <p:cNvGrpSpPr/>
          <p:nvPr/>
        </p:nvGrpSpPr>
        <p:grpSpPr>
          <a:xfrm>
            <a:off x="804863" y="5713413"/>
            <a:ext cx="3630612" cy="581025"/>
            <a:chOff x="1268" y="9336"/>
            <a:chExt cx="5716" cy="915"/>
          </a:xfrm>
        </p:grpSpPr>
        <p:sp>
          <p:nvSpPr>
            <p:cNvPr id="6165" name="文本框 10"/>
            <p:cNvSpPr txBox="1"/>
            <p:nvPr/>
          </p:nvSpPr>
          <p:spPr>
            <a:xfrm>
              <a:off x="1268" y="9479"/>
              <a:ext cx="3538" cy="628"/>
            </a:xfrm>
            <a:prstGeom prst="rect">
              <a:avLst/>
            </a:prstGeom>
            <a:noFill/>
            <a:ln w="9525">
              <a:noFill/>
            </a:ln>
          </p:spPr>
          <p:txBody>
            <a:bodyPr>
              <a:spAutoFit/>
            </a:bodyPr>
            <a:lstStyle/>
            <a:p>
              <a:r>
                <a:rPr lang="zh-CN" altLang="en-US" sz="2000" dirty="0">
                  <a:solidFill>
                    <a:srgbClr val="000099"/>
                  </a:solidFill>
                  <a:latin typeface="Times New Roman" panose="02020603050405020304" pitchFamily="18" charset="0"/>
                </a:rPr>
                <a:t>扭转弹簧的刚度为</a:t>
              </a:r>
              <a:endParaRPr lang="zh-CN" altLang="en-US" sz="2000" dirty="0">
                <a:solidFill>
                  <a:srgbClr val="000099"/>
                </a:solidFill>
                <a:latin typeface="Times New Roman" panose="02020603050405020304" pitchFamily="18" charset="0"/>
                <a:ea typeface="Times New Roman" panose="02020603050405020304" pitchFamily="18" charset="0"/>
              </a:endParaRPr>
            </a:p>
          </p:txBody>
        </p:sp>
        <p:graphicFrame>
          <p:nvGraphicFramePr>
            <p:cNvPr id="6149" name="对象 -2147482512"/>
            <p:cNvGraphicFramePr>
              <a:graphicFrameLocks noChangeAspect="1"/>
            </p:cNvGraphicFramePr>
            <p:nvPr/>
          </p:nvGraphicFramePr>
          <p:xfrm>
            <a:off x="4734" y="9336"/>
            <a:ext cx="2250" cy="915"/>
          </p:xfrm>
          <a:graphic>
            <a:graphicData uri="http://schemas.openxmlformats.org/presentationml/2006/ole">
              <mc:AlternateContent xmlns:mc="http://schemas.openxmlformats.org/markup-compatibility/2006">
                <mc:Choice xmlns:v="urn:schemas-microsoft-com:vml" Requires="v">
                  <p:oleObj spid="_x0000_s8246" name="" r:id="rId15" imgW="1028700" imgH="419100" progId="Equation.3">
                    <p:embed/>
                  </p:oleObj>
                </mc:Choice>
                <mc:Fallback>
                  <p:oleObj name="" r:id="rId15" imgW="1028700" imgH="419100" progId="Equation.3">
                    <p:embed/>
                    <p:pic>
                      <p:nvPicPr>
                        <p:cNvPr id="0" name="图片 3083"/>
                        <p:cNvPicPr/>
                        <p:nvPr/>
                      </p:nvPicPr>
                      <p:blipFill>
                        <a:blip r:embed="rId16"/>
                        <a:stretch>
                          <a:fillRect/>
                        </a:stretch>
                      </p:blipFill>
                      <p:spPr>
                        <a:xfrm>
                          <a:off x="4734" y="9336"/>
                          <a:ext cx="2250" cy="915"/>
                        </a:xfrm>
                        <a:prstGeom prst="rect">
                          <a:avLst/>
                        </a:prstGeom>
                        <a:noFill/>
                        <a:ln w="38100">
                          <a:noFill/>
                          <a:miter/>
                        </a:ln>
                      </p:spPr>
                    </p:pic>
                  </p:oleObj>
                </mc:Fallback>
              </mc:AlternateContent>
            </a:graphicData>
          </a:graphic>
        </p:graphicFrame>
      </p:grpSp>
      <p:pic>
        <p:nvPicPr>
          <p:cNvPr id="6163" name="Picture 22"/>
          <p:cNvPicPr>
            <a:picLocks noChangeAspect="1"/>
          </p:cNvPicPr>
          <p:nvPr/>
        </p:nvPicPr>
        <p:blipFill>
          <a:blip r:embed="rId17"/>
          <a:stretch>
            <a:fillRect/>
          </a:stretch>
        </p:blipFill>
        <p:spPr>
          <a:xfrm>
            <a:off x="2339658" y="1196975"/>
            <a:ext cx="4252912" cy="1295400"/>
          </a:xfrm>
          <a:prstGeom prst="rect">
            <a:avLst/>
          </a:prstGeom>
          <a:noFill/>
          <a:ln w="9525">
            <a:noFill/>
          </a:ln>
        </p:spPr>
      </p:pic>
      <p:sp>
        <p:nvSpPr>
          <p:cNvPr id="6164"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7" name="Rectangle 2"/>
          <p:cNvSpPr>
            <a:spLocks noGrp="1" noChangeArrowheads="1"/>
          </p:cNvSpPr>
          <p:nvPr>
            <p:ph type="title"/>
          </p:nvPr>
        </p:nvSpPr>
        <p:spPr bwMode="auto">
          <a:xfrm>
            <a:off x="1475740" y="188595"/>
            <a:ext cx="7575550" cy="490855"/>
          </a:xfrm>
          <a:ln>
            <a:noFill/>
            <a:miter lim="800000"/>
          </a:ln>
        </p:spPr>
        <p:txBody>
          <a:bodyPr vert="horz" wrap="square" lIns="91440" tIns="45720" rIns="91440" bIns="45720" numCol="1" anchor="t" anchorCtr="0" compatLnSpc="1"/>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3.12-4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圆柱螺旋扭曲弹簧的设计计算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60"/>
                                        </p:tgtEl>
                                        <p:attrNameLst>
                                          <p:attrName>style.visibility</p:attrName>
                                        </p:attrNameLst>
                                      </p:cBhvr>
                                      <p:to>
                                        <p:strVal val="visible"/>
                                      </p:to>
                                    </p:set>
                                    <p:anim calcmode="lin" valueType="num">
                                      <p:cBhvr additive="base">
                                        <p:cTn id="13" dur="500" fill="hold"/>
                                        <p:tgtEl>
                                          <p:spTgt spid="74760"/>
                                        </p:tgtEl>
                                        <p:attrNameLst>
                                          <p:attrName>ppt_x</p:attrName>
                                        </p:attrNameLst>
                                      </p:cBhvr>
                                      <p:tavLst>
                                        <p:tav tm="0">
                                          <p:val>
                                            <p:strVal val="#ppt_x"/>
                                          </p:val>
                                        </p:tav>
                                        <p:tav tm="100000">
                                          <p:val>
                                            <p:strVal val="#ppt_x"/>
                                          </p:val>
                                        </p:tav>
                                      </p:tavLst>
                                    </p:anim>
                                    <p:anim calcmode="lin" valueType="num">
                                      <p:cBhvr additive="base">
                                        <p:cTn id="14" dur="500" fill="hold"/>
                                        <p:tgtEl>
                                          <p:spTgt spid="74760"/>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74761"/>
                                        </p:tgtEl>
                                        <p:attrNameLst>
                                          <p:attrName>style.visibility</p:attrName>
                                        </p:attrNameLst>
                                      </p:cBhvr>
                                      <p:to>
                                        <p:strVal val="visible"/>
                                      </p:to>
                                    </p:set>
                                    <p:anim calcmode="lin" valueType="num">
                                      <p:cBhvr additive="base">
                                        <p:cTn id="18" dur="500" fill="hold"/>
                                        <p:tgtEl>
                                          <p:spTgt spid="74761"/>
                                        </p:tgtEl>
                                        <p:attrNameLst>
                                          <p:attrName>ppt_x</p:attrName>
                                        </p:attrNameLst>
                                      </p:cBhvr>
                                      <p:tavLst>
                                        <p:tav tm="0">
                                          <p:val>
                                            <p:strVal val="#ppt_x"/>
                                          </p:val>
                                        </p:tav>
                                        <p:tav tm="100000">
                                          <p:val>
                                            <p:strVal val="#ppt_x"/>
                                          </p:val>
                                        </p:tav>
                                      </p:tavLst>
                                    </p:anim>
                                    <p:anim calcmode="lin" valueType="num">
                                      <p:cBhvr additive="base">
                                        <p:cTn id="19" dur="500" fill="hold"/>
                                        <p:tgtEl>
                                          <p:spTgt spid="74761"/>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74762"/>
                                        </p:tgtEl>
                                        <p:attrNameLst>
                                          <p:attrName>style.visibility</p:attrName>
                                        </p:attrNameLst>
                                      </p:cBhvr>
                                      <p:to>
                                        <p:strVal val="visible"/>
                                      </p:to>
                                    </p:set>
                                    <p:anim calcmode="lin" valueType="num">
                                      <p:cBhvr additive="base">
                                        <p:cTn id="22" dur="500" fill="hold"/>
                                        <p:tgtEl>
                                          <p:spTgt spid="74762"/>
                                        </p:tgtEl>
                                        <p:attrNameLst>
                                          <p:attrName>ppt_x</p:attrName>
                                        </p:attrNameLst>
                                      </p:cBhvr>
                                      <p:tavLst>
                                        <p:tav tm="0">
                                          <p:val>
                                            <p:strVal val="#ppt_x"/>
                                          </p:val>
                                        </p:tav>
                                        <p:tav tm="100000">
                                          <p:val>
                                            <p:strVal val="#ppt_x"/>
                                          </p:val>
                                        </p:tav>
                                      </p:tavLst>
                                    </p:anim>
                                    <p:anim calcmode="lin" valueType="num">
                                      <p:cBhvr additive="base">
                                        <p:cTn id="23" dur="500" fill="hold"/>
                                        <p:tgtEl>
                                          <p:spTgt spid="7476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4763"/>
                                        </p:tgtEl>
                                        <p:attrNameLst>
                                          <p:attrName>style.visibility</p:attrName>
                                        </p:attrNameLst>
                                      </p:cBhvr>
                                      <p:to>
                                        <p:strVal val="visible"/>
                                      </p:to>
                                    </p:set>
                                    <p:anim calcmode="lin" valueType="num">
                                      <p:cBhvr additive="base">
                                        <p:cTn id="28" dur="500" fill="hold"/>
                                        <p:tgtEl>
                                          <p:spTgt spid="74763"/>
                                        </p:tgtEl>
                                        <p:attrNameLst>
                                          <p:attrName>ppt_x</p:attrName>
                                        </p:attrNameLst>
                                      </p:cBhvr>
                                      <p:tavLst>
                                        <p:tav tm="0">
                                          <p:val>
                                            <p:strVal val="#ppt_x"/>
                                          </p:val>
                                        </p:tav>
                                        <p:tav tm="100000">
                                          <p:val>
                                            <p:strVal val="#ppt_x"/>
                                          </p:val>
                                        </p:tav>
                                      </p:tavLst>
                                    </p:anim>
                                    <p:anim calcmode="lin" valueType="num">
                                      <p:cBhvr additive="base">
                                        <p:cTn id="29" dur="500" fill="hold"/>
                                        <p:tgtEl>
                                          <p:spTgt spid="74763"/>
                                        </p:tgtEl>
                                        <p:attrNameLst>
                                          <p:attrName>ppt_y</p:attrName>
                                        </p:attrNameLst>
                                      </p:cBhvr>
                                      <p:tavLst>
                                        <p:tav tm="0">
                                          <p:val>
                                            <p:strVal val="1+#ppt_h/2"/>
                                          </p:val>
                                        </p:tav>
                                        <p:tav tm="100000">
                                          <p:val>
                                            <p:strVal val="#ppt_y"/>
                                          </p:val>
                                        </p:tav>
                                      </p:tavLst>
                                    </p:anim>
                                  </p:childTnLst>
                                </p:cTn>
                              </p:par>
                            </p:childTnLst>
                          </p:cTn>
                        </p:par>
                        <p:par>
                          <p:cTn id="30" fill="hold">
                            <p:stCondLst>
                              <p:cond delay="500"/>
                            </p:stCondLst>
                            <p:childTnLst>
                              <p:par>
                                <p:cTn id="31" presetID="2" presetClass="entr" presetSubtype="4" fill="hold" nodeType="afterEffect">
                                  <p:stCondLst>
                                    <p:cond delay="0"/>
                                  </p:stCondLst>
                                  <p:childTnLst>
                                    <p:set>
                                      <p:cBhvr>
                                        <p:cTn id="32" dur="1" fill="hold">
                                          <p:stCondLst>
                                            <p:cond delay="0"/>
                                          </p:stCondLst>
                                        </p:cTn>
                                        <p:tgtEl>
                                          <p:spTgt spid="74764"/>
                                        </p:tgtEl>
                                        <p:attrNameLst>
                                          <p:attrName>style.visibility</p:attrName>
                                        </p:attrNameLst>
                                      </p:cBhvr>
                                      <p:to>
                                        <p:strVal val="visible"/>
                                      </p:to>
                                    </p:set>
                                    <p:anim calcmode="lin" valueType="num">
                                      <p:cBhvr additive="base">
                                        <p:cTn id="33" dur="500" fill="hold"/>
                                        <p:tgtEl>
                                          <p:spTgt spid="74764"/>
                                        </p:tgtEl>
                                        <p:attrNameLst>
                                          <p:attrName>ppt_x</p:attrName>
                                        </p:attrNameLst>
                                      </p:cBhvr>
                                      <p:tavLst>
                                        <p:tav tm="0">
                                          <p:val>
                                            <p:strVal val="#ppt_x"/>
                                          </p:val>
                                        </p:tav>
                                        <p:tav tm="100000">
                                          <p:val>
                                            <p:strVal val="#ppt_x"/>
                                          </p:val>
                                        </p:tav>
                                      </p:tavLst>
                                    </p:anim>
                                    <p:anim calcmode="lin" valueType="num">
                                      <p:cBhvr additive="base">
                                        <p:cTn id="34" dur="500" fill="hold"/>
                                        <p:tgtEl>
                                          <p:spTgt spid="7476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ppt_x"/>
                                          </p:val>
                                        </p:tav>
                                        <p:tav tm="100000">
                                          <p:val>
                                            <p:strVal val="#ppt_x"/>
                                          </p:val>
                                        </p:tav>
                                      </p:tavLst>
                                    </p:anim>
                                    <p:anim calcmode="lin" valueType="num">
                                      <p:cBhvr additive="base">
                                        <p:cTn id="4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 calcmode="lin" valueType="num">
                                      <p:cBhvr additive="base">
                                        <p:cTn id="45" dur="500" fill="hold"/>
                                        <p:tgtEl>
                                          <p:spTgt spid="3"/>
                                        </p:tgtEl>
                                        <p:attrNameLst>
                                          <p:attrName>ppt_x</p:attrName>
                                        </p:attrNameLst>
                                      </p:cBhvr>
                                      <p:tavLst>
                                        <p:tav tm="0">
                                          <p:val>
                                            <p:strVal val="#ppt_x"/>
                                          </p:val>
                                        </p:tav>
                                        <p:tav tm="100000">
                                          <p:val>
                                            <p:strVal val="#ppt_x"/>
                                          </p:val>
                                        </p:tav>
                                      </p:tavLst>
                                    </p:anim>
                                    <p:anim calcmode="lin" valueType="num">
                                      <p:cBhvr additive="base">
                                        <p:cTn id="4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additive="base">
                                        <p:cTn id="51" dur="500" fill="hold"/>
                                        <p:tgtEl>
                                          <p:spTgt spid="5"/>
                                        </p:tgtEl>
                                        <p:attrNameLst>
                                          <p:attrName>ppt_x</p:attrName>
                                        </p:attrNameLst>
                                      </p:cBhvr>
                                      <p:tavLst>
                                        <p:tav tm="0">
                                          <p:val>
                                            <p:strVal val="#ppt_x"/>
                                          </p:val>
                                        </p:tav>
                                        <p:tav tm="100000">
                                          <p:val>
                                            <p:strVal val="#ppt_x"/>
                                          </p:val>
                                        </p:tav>
                                      </p:tavLst>
                                    </p:anim>
                                    <p:anim calcmode="lin" valueType="num">
                                      <p:cBhvr additive="base">
                                        <p:cTn id="5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74760" grpId="0"/>
      <p:bldP spid="7476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34" descr="rewind1">
            <a:hlinkClick r:id="rId1" action="ppaction://hlinksldjump"/>
          </p:cNvPr>
          <p:cNvPicPr>
            <a:picLocks noChangeAspect="1"/>
          </p:cNvPicPr>
          <p:nvPr/>
        </p:nvPicPr>
        <p:blipFill>
          <a:blip r:embed="rId2"/>
          <a:stretch>
            <a:fillRect/>
          </a:stretch>
        </p:blipFill>
        <p:spPr>
          <a:xfrm>
            <a:off x="8355013" y="6523038"/>
            <a:ext cx="287337" cy="287337"/>
          </a:xfrm>
          <a:prstGeom prst="rect">
            <a:avLst/>
          </a:prstGeom>
          <a:noFill/>
          <a:ln w="9525">
            <a:noFill/>
          </a:ln>
        </p:spPr>
      </p:pic>
      <p:pic>
        <p:nvPicPr>
          <p:cNvPr id="7173" name="Picture 35" descr="back1">
            <a:hlinkClick r:id="" action="ppaction://hlinkshowjump?jump=previousslide"/>
          </p:cNvPr>
          <p:cNvPicPr>
            <a:picLocks noChangeAspect="1"/>
          </p:cNvPicPr>
          <p:nvPr/>
        </p:nvPicPr>
        <p:blipFill>
          <a:blip r:embed="rId3"/>
          <a:stretch>
            <a:fillRect/>
          </a:stretch>
        </p:blipFill>
        <p:spPr>
          <a:xfrm>
            <a:off x="8763000" y="6523038"/>
            <a:ext cx="287338" cy="287337"/>
          </a:xfrm>
          <a:prstGeom prst="rect">
            <a:avLst/>
          </a:prstGeom>
          <a:noFill/>
          <a:ln w="9525">
            <a:noFill/>
          </a:ln>
        </p:spPr>
      </p:pic>
      <p:sp>
        <p:nvSpPr>
          <p:cNvPr id="119815" name="文本框 119814"/>
          <p:cNvSpPr txBox="1"/>
          <p:nvPr/>
        </p:nvSpPr>
        <p:spPr>
          <a:xfrm>
            <a:off x="652463" y="1273175"/>
            <a:ext cx="1490662" cy="430887"/>
          </a:xfrm>
          <a:prstGeom prst="rect">
            <a:avLst/>
          </a:prstGeom>
          <a:noFill/>
          <a:ln w="9525">
            <a:noFill/>
          </a:ln>
        </p:spPr>
        <p:txBody>
          <a:bodyPr>
            <a:spAutoFit/>
          </a:bodyPr>
          <a:lstStyle/>
          <a:p>
            <a:pPr>
              <a:buClr>
                <a:srgbClr val="000099"/>
              </a:buClr>
              <a:buSzPct val="80000"/>
            </a:pPr>
            <a:r>
              <a:rPr lang="zh-CN" altLang="en-US" dirty="0">
                <a:solidFill>
                  <a:srgbClr val="000099"/>
                </a:solidFill>
                <a:latin typeface="华文中宋" panose="02010600040101010101" pitchFamily="2" charset="-122"/>
              </a:rPr>
              <a:t>设计步骤</a:t>
            </a:r>
            <a:r>
              <a:rPr lang="en-US" altLang="zh-CN" dirty="0">
                <a:solidFill>
                  <a:srgbClr val="000099"/>
                </a:solidFill>
                <a:latin typeface="华文中宋" panose="02010600040101010101" pitchFamily="2" charset="-122"/>
              </a:rPr>
              <a:t>: </a:t>
            </a:r>
            <a:endParaRPr lang="en-US" altLang="zh-CN" dirty="0">
              <a:solidFill>
                <a:srgbClr val="000099"/>
              </a:solidFill>
              <a:latin typeface="华文中宋" panose="02010600040101010101" pitchFamily="2" charset="-122"/>
            </a:endParaRPr>
          </a:p>
        </p:txBody>
      </p:sp>
      <p:sp>
        <p:nvSpPr>
          <p:cNvPr id="75783" name="文本框 119815"/>
          <p:cNvSpPr txBox="1"/>
          <p:nvPr/>
        </p:nvSpPr>
        <p:spPr>
          <a:xfrm>
            <a:off x="683568" y="1772816"/>
            <a:ext cx="5359697" cy="430887"/>
          </a:xfrm>
          <a:prstGeom prst="rect">
            <a:avLst/>
          </a:prstGeom>
          <a:noFill/>
          <a:ln w="9525">
            <a:noFill/>
          </a:ln>
        </p:spPr>
        <p:txBody>
          <a:bodyPr wrap="square">
            <a:spAutoFit/>
          </a:bodyPr>
          <a:lstStyle/>
          <a:p>
            <a:r>
              <a:rPr lang="en-US" altLang="zh-CN" dirty="0">
                <a:solidFill>
                  <a:srgbClr val="002060"/>
                </a:solidFill>
                <a:latin typeface="Times New Roman" panose="02020603050405020304" pitchFamily="18" charset="0"/>
              </a:rPr>
              <a:t>1) </a:t>
            </a:r>
            <a:r>
              <a:rPr lang="zh-CN" altLang="en-US" dirty="0">
                <a:solidFill>
                  <a:srgbClr val="002060"/>
                </a:solidFill>
                <a:latin typeface="Times New Roman" panose="02020603050405020304" pitchFamily="18" charset="0"/>
              </a:rPr>
              <a:t>首先，选定材料及许用弯曲应力；</a:t>
            </a:r>
            <a:endParaRPr lang="zh-CN" altLang="en-US" dirty="0">
              <a:solidFill>
                <a:srgbClr val="002060"/>
              </a:solidFill>
              <a:latin typeface="Times New Roman" panose="02020603050405020304" pitchFamily="18" charset="0"/>
            </a:endParaRPr>
          </a:p>
        </p:txBody>
      </p:sp>
      <p:sp>
        <p:nvSpPr>
          <p:cNvPr id="75784" name="文本框 119816"/>
          <p:cNvSpPr txBox="1"/>
          <p:nvPr/>
        </p:nvSpPr>
        <p:spPr>
          <a:xfrm>
            <a:off x="525935" y="2348880"/>
            <a:ext cx="8618065" cy="430887"/>
          </a:xfrm>
          <a:prstGeom prst="rect">
            <a:avLst/>
          </a:prstGeom>
          <a:noFill/>
          <a:ln w="9525">
            <a:noFill/>
          </a:ln>
        </p:spPr>
        <p:txBody>
          <a:bodyPr wrap="none">
            <a:spAutoFit/>
          </a:bodyPr>
          <a:lstStyle/>
          <a:p>
            <a:r>
              <a:rPr lang="en-US" altLang="zh-CN" dirty="0">
                <a:solidFill>
                  <a:srgbClr val="000099"/>
                </a:solidFill>
                <a:latin typeface="Times New Roman" panose="02020603050405020304" pitchFamily="18" charset="0"/>
              </a:rPr>
              <a:t>2) </a:t>
            </a:r>
            <a:r>
              <a:rPr lang="zh-CN" altLang="en-US" dirty="0">
                <a:solidFill>
                  <a:srgbClr val="000099"/>
                </a:solidFill>
                <a:latin typeface="Times New Roman" panose="02020603050405020304" pitchFamily="18" charset="0"/>
              </a:rPr>
              <a:t>初选旋绕比</a:t>
            </a:r>
            <a:r>
              <a:rPr lang="en-US" altLang="zh-CN" dirty="0">
                <a:solidFill>
                  <a:srgbClr val="000099"/>
                </a:solidFill>
                <a:latin typeface="Times New Roman" panose="02020603050405020304" pitchFamily="18" charset="0"/>
              </a:rPr>
              <a:t>C</a:t>
            </a:r>
            <a:r>
              <a:rPr lang="zh-CN" altLang="en-US" dirty="0">
                <a:solidFill>
                  <a:srgbClr val="000099"/>
                </a:solidFill>
                <a:latin typeface="Times New Roman" panose="02020603050405020304" pitchFamily="18" charset="0"/>
              </a:rPr>
              <a:t>，根据工作条件估取弹簧线径</a:t>
            </a:r>
            <a:r>
              <a:rPr lang="en-US" altLang="zh-CN" dirty="0">
                <a:solidFill>
                  <a:srgbClr val="000099"/>
                </a:solidFill>
                <a:latin typeface="Times New Roman" panose="02020603050405020304" pitchFamily="18" charset="0"/>
              </a:rPr>
              <a:t>d</a:t>
            </a:r>
            <a:r>
              <a:rPr lang="en-US" altLang="zh-CN" baseline="-25000" dirty="0">
                <a:solidFill>
                  <a:srgbClr val="000099"/>
                </a:solidFill>
                <a:latin typeface="Times New Roman" panose="02020603050405020304" pitchFamily="18" charset="0"/>
              </a:rPr>
              <a:t>0</a:t>
            </a:r>
            <a:r>
              <a:rPr lang="zh-CN" altLang="en-US" dirty="0">
                <a:solidFill>
                  <a:srgbClr val="000099"/>
                </a:solidFill>
                <a:latin typeface="Times New Roman" panose="02020603050405020304" pitchFamily="18" charset="0"/>
              </a:rPr>
              <a:t>，计算曲度系数</a:t>
            </a:r>
            <a:r>
              <a:rPr lang="en-US" altLang="zh-CN" dirty="0">
                <a:solidFill>
                  <a:srgbClr val="000099"/>
                </a:solidFill>
                <a:latin typeface="Times New Roman" panose="02020603050405020304" pitchFamily="18" charset="0"/>
              </a:rPr>
              <a:t>K</a:t>
            </a:r>
            <a:r>
              <a:rPr lang="en-US" altLang="zh-CN" baseline="-25000" dirty="0">
                <a:solidFill>
                  <a:srgbClr val="000099"/>
                </a:solidFill>
                <a:latin typeface="Times New Roman" panose="02020603050405020304" pitchFamily="18" charset="0"/>
              </a:rPr>
              <a:t>1</a:t>
            </a:r>
            <a:r>
              <a:rPr lang="zh-CN" altLang="en-US" dirty="0">
                <a:solidFill>
                  <a:srgbClr val="000099"/>
                </a:solidFill>
                <a:latin typeface="Times New Roman" panose="02020603050405020304" pitchFamily="18" charset="0"/>
              </a:rPr>
              <a:t>； </a:t>
            </a:r>
            <a:endParaRPr lang="zh-CN" altLang="en-US" dirty="0">
              <a:solidFill>
                <a:srgbClr val="000099"/>
              </a:solidFill>
              <a:latin typeface="Times New Roman" panose="02020603050405020304" pitchFamily="18" charset="0"/>
            </a:endParaRPr>
          </a:p>
        </p:txBody>
      </p:sp>
      <p:sp>
        <p:nvSpPr>
          <p:cNvPr id="75787" name="文本框 119822"/>
          <p:cNvSpPr txBox="1"/>
          <p:nvPr/>
        </p:nvSpPr>
        <p:spPr>
          <a:xfrm>
            <a:off x="827713" y="5156681"/>
            <a:ext cx="3711272" cy="430887"/>
          </a:xfrm>
          <a:prstGeom prst="rect">
            <a:avLst/>
          </a:prstGeom>
          <a:noFill/>
          <a:ln w="9525">
            <a:noFill/>
          </a:ln>
        </p:spPr>
        <p:txBody>
          <a:bodyPr wrap="none">
            <a:spAutoFit/>
          </a:bodyPr>
          <a:lstStyle/>
          <a:p>
            <a:r>
              <a:rPr lang="en-US" altLang="zh-CN" dirty="0">
                <a:solidFill>
                  <a:srgbClr val="002060"/>
                </a:solidFill>
                <a:latin typeface="Times New Roman" panose="02020603050405020304" pitchFamily="18" charset="0"/>
              </a:rPr>
              <a:t>5</a:t>
            </a:r>
            <a:r>
              <a:rPr lang="zh-CN" altLang="en-US" dirty="0">
                <a:solidFill>
                  <a:srgbClr val="002060"/>
                </a:solidFill>
                <a:latin typeface="Times New Roman" panose="02020603050405020304" pitchFamily="18" charset="0"/>
              </a:rPr>
              <a:t>）最后绘制弹簧的工作图。</a:t>
            </a:r>
            <a:endParaRPr lang="zh-CN" altLang="en-US" dirty="0">
              <a:solidFill>
                <a:srgbClr val="002060"/>
              </a:solidFill>
              <a:latin typeface="Times New Roman" panose="02020603050405020304" pitchFamily="18" charset="0"/>
            </a:endParaRPr>
          </a:p>
        </p:txBody>
      </p:sp>
      <p:sp>
        <p:nvSpPr>
          <p:cNvPr id="75788" name="文本框 119825"/>
          <p:cNvSpPr txBox="1"/>
          <p:nvPr/>
        </p:nvSpPr>
        <p:spPr>
          <a:xfrm>
            <a:off x="971600" y="4005064"/>
            <a:ext cx="3358612" cy="430887"/>
          </a:xfrm>
          <a:prstGeom prst="rect">
            <a:avLst/>
          </a:prstGeom>
          <a:noFill/>
          <a:ln w="9525">
            <a:noFill/>
          </a:ln>
        </p:spPr>
        <p:txBody>
          <a:bodyPr wrap="none">
            <a:spAutoFit/>
          </a:bodyPr>
          <a:lstStyle/>
          <a:p>
            <a:r>
              <a:rPr lang="zh-CN" altLang="en-US" dirty="0">
                <a:solidFill>
                  <a:srgbClr val="002060"/>
                </a:solidFill>
                <a:latin typeface="Times New Roman" panose="02020603050405020304" pitchFamily="18" charset="0"/>
              </a:rPr>
              <a:t>并检查各尺寸是否合适； </a:t>
            </a:r>
            <a:endParaRPr lang="zh-CN" altLang="en-US" dirty="0">
              <a:solidFill>
                <a:srgbClr val="002060"/>
              </a:solidFill>
              <a:latin typeface="Times New Roman" panose="02020603050405020304" pitchFamily="18" charset="0"/>
            </a:endParaRPr>
          </a:p>
        </p:txBody>
      </p:sp>
      <p:sp>
        <p:nvSpPr>
          <p:cNvPr id="119836" name="文本框 119835"/>
          <p:cNvSpPr txBox="1"/>
          <p:nvPr/>
        </p:nvSpPr>
        <p:spPr>
          <a:xfrm>
            <a:off x="251460" y="836613"/>
            <a:ext cx="3852337" cy="430887"/>
          </a:xfrm>
          <a:prstGeom prst="rect">
            <a:avLst/>
          </a:prstGeom>
          <a:noFill/>
          <a:ln w="9525">
            <a:noFill/>
          </a:ln>
        </p:spPr>
        <p:txBody>
          <a:bodyPr wrap="none">
            <a:spAutoFit/>
          </a:bodyPr>
          <a:lstStyle/>
          <a:p>
            <a:r>
              <a:rPr lang="zh-CN" altLang="en-US" dirty="0">
                <a:solidFill>
                  <a:srgbClr val="C00000"/>
                </a:solidFill>
                <a:latin typeface="黑体" panose="02010609060101010101" pitchFamily="49" charset="-122"/>
                <a:ea typeface="黑体" panose="02010609060101010101" pitchFamily="49" charset="-122"/>
              </a:rPr>
              <a:t>三、圆柱螺旋扭转弹簧的设计</a:t>
            </a:r>
            <a:endParaRPr lang="zh-CN" altLang="en-US" dirty="0">
              <a:solidFill>
                <a:srgbClr val="C00000"/>
              </a:solidFill>
              <a:latin typeface="黑体" panose="02010609060101010101" pitchFamily="49" charset="-122"/>
              <a:ea typeface="黑体" panose="02010609060101010101" pitchFamily="49" charset="-122"/>
            </a:endParaRPr>
          </a:p>
        </p:txBody>
      </p:sp>
      <p:grpSp>
        <p:nvGrpSpPr>
          <p:cNvPr id="2" name="组合 1"/>
          <p:cNvGrpSpPr/>
          <p:nvPr/>
        </p:nvGrpSpPr>
        <p:grpSpPr>
          <a:xfrm>
            <a:off x="651828" y="2925128"/>
            <a:ext cx="4177665" cy="844550"/>
            <a:chOff x="1027" y="4607"/>
            <a:chExt cx="6579" cy="1330"/>
          </a:xfrm>
        </p:grpSpPr>
        <p:sp>
          <p:nvSpPr>
            <p:cNvPr id="7185" name="文本框 119817"/>
            <p:cNvSpPr txBox="1"/>
            <p:nvPr/>
          </p:nvSpPr>
          <p:spPr>
            <a:xfrm>
              <a:off x="1027" y="4905"/>
              <a:ext cx="5105" cy="679"/>
            </a:xfrm>
            <a:prstGeom prst="rect">
              <a:avLst/>
            </a:prstGeom>
            <a:noFill/>
            <a:ln w="9525">
              <a:noFill/>
            </a:ln>
          </p:spPr>
          <p:txBody>
            <a:bodyPr>
              <a:spAutoFit/>
            </a:bodyPr>
            <a:lstStyle/>
            <a:p>
              <a:r>
                <a:rPr lang="en-US" altLang="zh-CN" dirty="0">
                  <a:solidFill>
                    <a:srgbClr val="002060"/>
                  </a:solidFill>
                  <a:latin typeface="Times New Roman" panose="02020603050405020304" pitchFamily="18" charset="0"/>
                </a:rPr>
                <a:t>3) </a:t>
              </a:r>
              <a:r>
                <a:rPr lang="zh-CN" altLang="en-US" dirty="0">
                  <a:solidFill>
                    <a:srgbClr val="002060"/>
                  </a:solidFill>
                  <a:latin typeface="Times New Roman" panose="02020603050405020304" pitchFamily="18" charset="0"/>
                </a:rPr>
                <a:t>试算弹簧线径</a:t>
              </a:r>
              <a:r>
                <a:rPr lang="en-US" altLang="zh-CN" i="1" dirty="0">
                  <a:solidFill>
                    <a:srgbClr val="002060"/>
                  </a:solidFill>
                  <a:latin typeface="Times New Roman" panose="02020603050405020304" pitchFamily="18" charset="0"/>
                </a:rPr>
                <a:t>d′</a:t>
              </a:r>
              <a:endParaRPr lang="en-US" altLang="zh-CN" i="1" dirty="0">
                <a:solidFill>
                  <a:srgbClr val="002060"/>
                </a:solidFill>
                <a:latin typeface="Times New Roman" panose="02020603050405020304" pitchFamily="18" charset="0"/>
              </a:endParaRPr>
            </a:p>
          </p:txBody>
        </p:sp>
        <p:graphicFrame>
          <p:nvGraphicFramePr>
            <p:cNvPr id="7171" name="对象 1">
              <a:hlinkClick r:id="" action="ppaction://ole?verb=0"/>
            </p:cNvPr>
            <p:cNvGraphicFramePr>
              <a:graphicFrameLocks noChangeAspect="1"/>
            </p:cNvGraphicFramePr>
            <p:nvPr/>
          </p:nvGraphicFramePr>
          <p:xfrm>
            <a:off x="5159" y="4607"/>
            <a:ext cx="2447" cy="1330"/>
          </p:xfrm>
          <a:graphic>
            <a:graphicData uri="http://schemas.openxmlformats.org/presentationml/2006/ole">
              <mc:AlternateContent xmlns:mc="http://schemas.openxmlformats.org/markup-compatibility/2006">
                <mc:Choice xmlns:v="urn:schemas-microsoft-com:vml" Requires="v">
                  <p:oleObj spid="_x0000_s9233" name="" r:id="rId4" imgW="889000" imgH="482600" progId="Equation.KSEE3">
                    <p:embed/>
                  </p:oleObj>
                </mc:Choice>
                <mc:Fallback>
                  <p:oleObj name="" r:id="rId4" imgW="889000" imgH="482600" progId="Equation.KSEE3">
                    <p:embed/>
                    <p:pic>
                      <p:nvPicPr>
                        <p:cNvPr id="0" name="图片 3086"/>
                        <p:cNvPicPr/>
                        <p:nvPr/>
                      </p:nvPicPr>
                      <p:blipFill>
                        <a:blip r:embed="rId5"/>
                        <a:stretch>
                          <a:fillRect/>
                        </a:stretch>
                      </p:blipFill>
                      <p:spPr>
                        <a:xfrm>
                          <a:off x="5159" y="4607"/>
                          <a:ext cx="2447" cy="1330"/>
                        </a:xfrm>
                        <a:prstGeom prst="rect">
                          <a:avLst/>
                        </a:prstGeom>
                        <a:noFill/>
                        <a:ln w="38100">
                          <a:noFill/>
                          <a:miter/>
                        </a:ln>
                      </p:spPr>
                    </p:pic>
                  </p:oleObj>
                </mc:Fallback>
              </mc:AlternateContent>
            </a:graphicData>
          </a:graphic>
        </p:graphicFrame>
      </p:grpSp>
      <p:grpSp>
        <p:nvGrpSpPr>
          <p:cNvPr id="3" name="组合 2"/>
          <p:cNvGrpSpPr/>
          <p:nvPr/>
        </p:nvGrpSpPr>
        <p:grpSpPr>
          <a:xfrm>
            <a:off x="683568" y="4437112"/>
            <a:ext cx="5892503" cy="636587"/>
            <a:chOff x="1027" y="6648"/>
            <a:chExt cx="9279" cy="1002"/>
          </a:xfrm>
        </p:grpSpPr>
        <p:sp>
          <p:nvSpPr>
            <p:cNvPr id="7184" name="文本框 119820"/>
            <p:cNvSpPr txBox="1"/>
            <p:nvPr/>
          </p:nvSpPr>
          <p:spPr>
            <a:xfrm>
              <a:off x="1027" y="6862"/>
              <a:ext cx="7417" cy="678"/>
            </a:xfrm>
            <a:prstGeom prst="rect">
              <a:avLst/>
            </a:prstGeom>
            <a:noFill/>
            <a:ln w="9525">
              <a:noFill/>
            </a:ln>
          </p:spPr>
          <p:txBody>
            <a:bodyPr wrap="none">
              <a:spAutoFit/>
            </a:bodyPr>
            <a:lstStyle/>
            <a:p>
              <a:r>
                <a:rPr lang="en-US" altLang="zh-CN" sz="2000" dirty="0">
                  <a:solidFill>
                    <a:srgbClr val="000099"/>
                  </a:solidFill>
                  <a:latin typeface="Times New Roman" panose="02020603050405020304" pitchFamily="18" charset="0"/>
                </a:rPr>
                <a:t>4</a:t>
              </a:r>
              <a:r>
                <a:rPr lang="en-US" altLang="zh-CN" dirty="0">
                  <a:solidFill>
                    <a:srgbClr val="002060"/>
                  </a:solidFill>
                  <a:latin typeface="Times New Roman" panose="02020603050405020304" pitchFamily="18" charset="0"/>
                </a:rPr>
                <a:t>) </a:t>
              </a:r>
              <a:r>
                <a:rPr lang="zh-CN" altLang="en-US" dirty="0">
                  <a:solidFill>
                    <a:srgbClr val="002060"/>
                  </a:solidFill>
                  <a:latin typeface="Times New Roman" panose="02020603050405020304" pitchFamily="18" charset="0"/>
                </a:rPr>
                <a:t>根据变形条件求出弹簧工作圈数：</a:t>
              </a:r>
              <a:endParaRPr lang="zh-CN" altLang="en-US" dirty="0">
                <a:solidFill>
                  <a:srgbClr val="002060"/>
                </a:solidFill>
                <a:latin typeface="Times New Roman" panose="02020603050405020304" pitchFamily="18" charset="0"/>
              </a:endParaRPr>
            </a:p>
          </p:txBody>
        </p:sp>
        <p:graphicFrame>
          <p:nvGraphicFramePr>
            <p:cNvPr id="7170" name="对象 2">
              <a:hlinkClick r:id="" action="ppaction://ole?verb=0"/>
            </p:cNvPr>
            <p:cNvGraphicFramePr>
              <a:graphicFrameLocks noChangeAspect="1"/>
            </p:cNvGraphicFramePr>
            <p:nvPr/>
          </p:nvGraphicFramePr>
          <p:xfrm>
            <a:off x="8334" y="6648"/>
            <a:ext cx="1972" cy="1002"/>
          </p:xfrm>
          <a:graphic>
            <a:graphicData uri="http://schemas.openxmlformats.org/presentationml/2006/ole">
              <mc:AlternateContent xmlns:mc="http://schemas.openxmlformats.org/markup-compatibility/2006">
                <mc:Choice xmlns:v="urn:schemas-microsoft-com:vml" Requires="v">
                  <p:oleObj spid="_x0000_s9234" name="" r:id="rId6" imgW="774065" imgH="393700" progId="Equation.KSEE3">
                    <p:embed/>
                  </p:oleObj>
                </mc:Choice>
                <mc:Fallback>
                  <p:oleObj name="" r:id="rId6" imgW="774065" imgH="393700" progId="Equation.KSEE3">
                    <p:embed/>
                    <p:pic>
                      <p:nvPicPr>
                        <p:cNvPr id="0" name="图片 3085"/>
                        <p:cNvPicPr/>
                        <p:nvPr/>
                      </p:nvPicPr>
                      <p:blipFill>
                        <a:blip r:embed="rId7"/>
                        <a:stretch>
                          <a:fillRect/>
                        </a:stretch>
                      </p:blipFill>
                      <p:spPr>
                        <a:xfrm>
                          <a:off x="8334" y="6648"/>
                          <a:ext cx="1972" cy="1002"/>
                        </a:xfrm>
                        <a:prstGeom prst="rect">
                          <a:avLst/>
                        </a:prstGeom>
                        <a:noFill/>
                        <a:ln w="38100">
                          <a:noFill/>
                          <a:miter/>
                        </a:ln>
                      </p:spPr>
                    </p:pic>
                  </p:oleObj>
                </mc:Fallback>
              </mc:AlternateContent>
            </a:graphicData>
          </a:graphic>
        </p:graphicFrame>
      </p:grpSp>
      <p:sp>
        <p:nvSpPr>
          <p:cNvPr id="7183"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
        <p:nvSpPr>
          <p:cNvPr id="6" name="Rectangle 2"/>
          <p:cNvSpPr>
            <a:spLocks noGrp="1" noChangeArrowheads="1"/>
          </p:cNvSpPr>
          <p:nvPr>
            <p:ph type="title"/>
          </p:nvPr>
        </p:nvSpPr>
        <p:spPr bwMode="auto">
          <a:xfrm>
            <a:off x="1835785" y="260350"/>
            <a:ext cx="7575550" cy="490855"/>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j-cs"/>
              </a:rPr>
              <a:t>3.12-4 </a:t>
            </a: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圆柱螺旋扭曲弹簧的设计计算</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7" name="文本框 6"/>
          <p:cNvSpPr txBox="1"/>
          <p:nvPr/>
        </p:nvSpPr>
        <p:spPr>
          <a:xfrm>
            <a:off x="853440" y="5932170"/>
            <a:ext cx="5446395" cy="429895"/>
          </a:xfrm>
          <a:prstGeom prst="rect">
            <a:avLst/>
          </a:prstGeom>
          <a:noFill/>
        </p:spPr>
        <p:txBody>
          <a:bodyPr wrap="square" rtlCol="0">
            <a:spAutoFit/>
          </a:bodyPr>
          <a:p>
            <a:r>
              <a:rPr lang="zh-CN" altLang="en-US">
                <a:solidFill>
                  <a:srgbClr val="C00000"/>
                </a:solidFill>
              </a:rPr>
              <a:t>教材</a:t>
            </a:r>
            <a:r>
              <a:rPr lang="en-US" altLang="zh-CN">
                <a:solidFill>
                  <a:srgbClr val="C00000"/>
                </a:solidFill>
              </a:rPr>
              <a:t>P408-410   </a:t>
            </a:r>
            <a:r>
              <a:rPr lang="zh-CN" altLang="en-US">
                <a:solidFill>
                  <a:srgbClr val="C00000"/>
                </a:solidFill>
              </a:rPr>
              <a:t>例</a:t>
            </a:r>
            <a:r>
              <a:rPr lang="en-US" altLang="zh-CN">
                <a:solidFill>
                  <a:srgbClr val="C00000"/>
                </a:solidFill>
              </a:rPr>
              <a:t>3.12-3</a:t>
            </a:r>
            <a:endParaRPr lang="en-US" altLang="zh-CN">
              <a:solidFill>
                <a:srgbClr val="C000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9836"/>
                                        </p:tgtEl>
                                        <p:attrNameLst>
                                          <p:attrName>style.visibility</p:attrName>
                                        </p:attrNameLst>
                                      </p:cBhvr>
                                      <p:to>
                                        <p:strVal val="visible"/>
                                      </p:to>
                                    </p:set>
                                    <p:anim calcmode="lin" valueType="num">
                                      <p:cBhvr additive="base">
                                        <p:cTn id="7" dur="500" fill="hold"/>
                                        <p:tgtEl>
                                          <p:spTgt spid="119836"/>
                                        </p:tgtEl>
                                        <p:attrNameLst>
                                          <p:attrName>ppt_x</p:attrName>
                                        </p:attrNameLst>
                                      </p:cBhvr>
                                      <p:tavLst>
                                        <p:tav tm="0">
                                          <p:val>
                                            <p:strVal val="#ppt_x"/>
                                          </p:val>
                                        </p:tav>
                                        <p:tav tm="100000">
                                          <p:val>
                                            <p:strVal val="#ppt_x"/>
                                          </p:val>
                                        </p:tav>
                                      </p:tavLst>
                                    </p:anim>
                                    <p:anim calcmode="lin" valueType="num">
                                      <p:cBhvr additive="base">
                                        <p:cTn id="8" dur="500" fill="hold"/>
                                        <p:tgtEl>
                                          <p:spTgt spid="1198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15"/>
                                        </p:tgtEl>
                                        <p:attrNameLst>
                                          <p:attrName>style.visibility</p:attrName>
                                        </p:attrNameLst>
                                      </p:cBhvr>
                                      <p:to>
                                        <p:strVal val="visible"/>
                                      </p:to>
                                    </p:set>
                                    <p:anim calcmode="lin" valueType="num">
                                      <p:cBhvr additive="base">
                                        <p:cTn id="13" dur="500" fill="hold"/>
                                        <p:tgtEl>
                                          <p:spTgt spid="119815"/>
                                        </p:tgtEl>
                                        <p:attrNameLst>
                                          <p:attrName>ppt_x</p:attrName>
                                        </p:attrNameLst>
                                      </p:cBhvr>
                                      <p:tavLst>
                                        <p:tav tm="0">
                                          <p:val>
                                            <p:strVal val="#ppt_x"/>
                                          </p:val>
                                        </p:tav>
                                        <p:tav tm="100000">
                                          <p:val>
                                            <p:strVal val="#ppt_x"/>
                                          </p:val>
                                        </p:tav>
                                      </p:tavLst>
                                    </p:anim>
                                    <p:anim calcmode="lin" valueType="num">
                                      <p:cBhvr additive="base">
                                        <p:cTn id="14" dur="500" fill="hold"/>
                                        <p:tgtEl>
                                          <p:spTgt spid="1198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783"/>
                                        </p:tgtEl>
                                        <p:attrNameLst>
                                          <p:attrName>style.visibility</p:attrName>
                                        </p:attrNameLst>
                                      </p:cBhvr>
                                      <p:to>
                                        <p:strVal val="visible"/>
                                      </p:to>
                                    </p:set>
                                    <p:anim calcmode="lin" valueType="num">
                                      <p:cBhvr additive="base">
                                        <p:cTn id="19" dur="500" fill="hold"/>
                                        <p:tgtEl>
                                          <p:spTgt spid="75783"/>
                                        </p:tgtEl>
                                        <p:attrNameLst>
                                          <p:attrName>ppt_x</p:attrName>
                                        </p:attrNameLst>
                                      </p:cBhvr>
                                      <p:tavLst>
                                        <p:tav tm="0">
                                          <p:val>
                                            <p:strVal val="#ppt_x"/>
                                          </p:val>
                                        </p:tav>
                                        <p:tav tm="100000">
                                          <p:val>
                                            <p:strVal val="#ppt_x"/>
                                          </p:val>
                                        </p:tav>
                                      </p:tavLst>
                                    </p:anim>
                                    <p:anim calcmode="lin" valueType="num">
                                      <p:cBhvr additive="base">
                                        <p:cTn id="20" dur="500" fill="hold"/>
                                        <p:tgtEl>
                                          <p:spTgt spid="75783"/>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grpId="0" nodeType="afterEffect">
                                  <p:stCondLst>
                                    <p:cond delay="0"/>
                                  </p:stCondLst>
                                  <p:childTnLst>
                                    <p:set>
                                      <p:cBhvr>
                                        <p:cTn id="23" dur="1" fill="hold">
                                          <p:stCondLst>
                                            <p:cond delay="0"/>
                                          </p:stCondLst>
                                        </p:cTn>
                                        <p:tgtEl>
                                          <p:spTgt spid="75784"/>
                                        </p:tgtEl>
                                        <p:attrNameLst>
                                          <p:attrName>style.visibility</p:attrName>
                                        </p:attrNameLst>
                                      </p:cBhvr>
                                      <p:to>
                                        <p:strVal val="visible"/>
                                      </p:to>
                                    </p:set>
                                    <p:anim calcmode="lin" valueType="num">
                                      <p:cBhvr additive="base">
                                        <p:cTn id="24" dur="500" fill="hold"/>
                                        <p:tgtEl>
                                          <p:spTgt spid="75784"/>
                                        </p:tgtEl>
                                        <p:attrNameLst>
                                          <p:attrName>ppt_x</p:attrName>
                                        </p:attrNameLst>
                                      </p:cBhvr>
                                      <p:tavLst>
                                        <p:tav tm="0">
                                          <p:val>
                                            <p:strVal val="#ppt_x"/>
                                          </p:val>
                                        </p:tav>
                                        <p:tav tm="100000">
                                          <p:val>
                                            <p:strVal val="#ppt_x"/>
                                          </p:val>
                                        </p:tav>
                                      </p:tavLst>
                                    </p:anim>
                                    <p:anim calcmode="lin" valueType="num">
                                      <p:cBhvr additive="base">
                                        <p:cTn id="25" dur="500" fill="hold"/>
                                        <p:tgtEl>
                                          <p:spTgt spid="75784"/>
                                        </p:tgtEl>
                                        <p:attrNameLst>
                                          <p:attrName>ppt_y</p:attrName>
                                        </p:attrNameLst>
                                      </p:cBhvr>
                                      <p:tavLst>
                                        <p:tav tm="0">
                                          <p:val>
                                            <p:strVal val="1+#ppt_h/2"/>
                                          </p:val>
                                        </p:tav>
                                        <p:tav tm="100000">
                                          <p:val>
                                            <p:strVal val="#ppt_y"/>
                                          </p:val>
                                        </p:tav>
                                      </p:tavLst>
                                    </p:anim>
                                  </p:childTnLst>
                                </p:cTn>
                              </p:par>
                            </p:childTnLst>
                          </p:cTn>
                        </p:par>
                        <p:par>
                          <p:cTn id="26" fill="hold">
                            <p:stCondLst>
                              <p:cond delay="1000"/>
                            </p:stCondLst>
                            <p:childTnLst>
                              <p:par>
                                <p:cTn id="27" presetID="2" presetClass="entr" presetSubtype="4" fill="hold" nodeType="after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1500"/>
                            </p:stCondLst>
                            <p:childTnLst>
                              <p:par>
                                <p:cTn id="32" presetID="2" presetClass="entr" presetSubtype="4" fill="hold" grpId="0" nodeType="afterEffect">
                                  <p:stCondLst>
                                    <p:cond delay="0"/>
                                  </p:stCondLst>
                                  <p:childTnLst>
                                    <p:set>
                                      <p:cBhvr>
                                        <p:cTn id="33" dur="1" fill="hold">
                                          <p:stCondLst>
                                            <p:cond delay="0"/>
                                          </p:stCondLst>
                                        </p:cTn>
                                        <p:tgtEl>
                                          <p:spTgt spid="75788"/>
                                        </p:tgtEl>
                                        <p:attrNameLst>
                                          <p:attrName>style.visibility</p:attrName>
                                        </p:attrNameLst>
                                      </p:cBhvr>
                                      <p:to>
                                        <p:strVal val="visible"/>
                                      </p:to>
                                    </p:set>
                                    <p:anim calcmode="lin" valueType="num">
                                      <p:cBhvr additive="base">
                                        <p:cTn id="34" dur="500" fill="hold"/>
                                        <p:tgtEl>
                                          <p:spTgt spid="75788"/>
                                        </p:tgtEl>
                                        <p:attrNameLst>
                                          <p:attrName>ppt_x</p:attrName>
                                        </p:attrNameLst>
                                      </p:cBhvr>
                                      <p:tavLst>
                                        <p:tav tm="0">
                                          <p:val>
                                            <p:strVal val="#ppt_x"/>
                                          </p:val>
                                        </p:tav>
                                        <p:tav tm="100000">
                                          <p:val>
                                            <p:strVal val="#ppt_x"/>
                                          </p:val>
                                        </p:tav>
                                      </p:tavLst>
                                    </p:anim>
                                    <p:anim calcmode="lin" valueType="num">
                                      <p:cBhvr additive="base">
                                        <p:cTn id="35" dur="500" fill="hold"/>
                                        <p:tgtEl>
                                          <p:spTgt spid="75788"/>
                                        </p:tgtEl>
                                        <p:attrNameLst>
                                          <p:attrName>ppt_y</p:attrName>
                                        </p:attrNameLst>
                                      </p:cBhvr>
                                      <p:tavLst>
                                        <p:tav tm="0">
                                          <p:val>
                                            <p:strVal val="1+#ppt_h/2"/>
                                          </p:val>
                                        </p:tav>
                                        <p:tav tm="100000">
                                          <p:val>
                                            <p:strVal val="#ppt_y"/>
                                          </p:val>
                                        </p:tav>
                                      </p:tavLst>
                                    </p:anim>
                                  </p:childTnLst>
                                </p:cTn>
                              </p:par>
                            </p:childTnLst>
                          </p:cTn>
                        </p:par>
                        <p:par>
                          <p:cTn id="36" fill="hold">
                            <p:stCondLst>
                              <p:cond delay="2000"/>
                            </p:stCondLst>
                            <p:childTnLst>
                              <p:par>
                                <p:cTn id="37" presetID="2" presetClass="entr" presetSubtype="4" fill="hold" nodeType="afterEffect">
                                  <p:stCondLst>
                                    <p:cond delay="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500" fill="hold"/>
                                        <p:tgtEl>
                                          <p:spTgt spid="3"/>
                                        </p:tgtEl>
                                        <p:attrNameLst>
                                          <p:attrName>ppt_x</p:attrName>
                                        </p:attrNameLst>
                                      </p:cBhvr>
                                      <p:tavLst>
                                        <p:tav tm="0">
                                          <p:val>
                                            <p:strVal val="#ppt_x"/>
                                          </p:val>
                                        </p:tav>
                                        <p:tav tm="100000">
                                          <p:val>
                                            <p:strVal val="#ppt_x"/>
                                          </p:val>
                                        </p:tav>
                                      </p:tavLst>
                                    </p:anim>
                                    <p:anim calcmode="lin" valueType="num">
                                      <p:cBhvr additive="base">
                                        <p:cTn id="40" dur="500" fill="hold"/>
                                        <p:tgtEl>
                                          <p:spTgt spid="3"/>
                                        </p:tgtEl>
                                        <p:attrNameLst>
                                          <p:attrName>ppt_y</p:attrName>
                                        </p:attrNameLst>
                                      </p:cBhvr>
                                      <p:tavLst>
                                        <p:tav tm="0">
                                          <p:val>
                                            <p:strVal val="1+#ppt_h/2"/>
                                          </p:val>
                                        </p:tav>
                                        <p:tav tm="100000">
                                          <p:val>
                                            <p:strVal val="#ppt_y"/>
                                          </p:val>
                                        </p:tav>
                                      </p:tavLst>
                                    </p:anim>
                                  </p:childTnLst>
                                </p:cTn>
                              </p:par>
                            </p:childTnLst>
                          </p:cTn>
                        </p:par>
                        <p:par>
                          <p:cTn id="41" fill="hold">
                            <p:stCondLst>
                              <p:cond delay="2500"/>
                            </p:stCondLst>
                            <p:childTnLst>
                              <p:par>
                                <p:cTn id="42" presetID="2" presetClass="entr" presetSubtype="4" fill="hold" grpId="0" nodeType="afterEffect">
                                  <p:stCondLst>
                                    <p:cond delay="0"/>
                                  </p:stCondLst>
                                  <p:childTnLst>
                                    <p:set>
                                      <p:cBhvr>
                                        <p:cTn id="43" dur="1" fill="hold">
                                          <p:stCondLst>
                                            <p:cond delay="0"/>
                                          </p:stCondLst>
                                        </p:cTn>
                                        <p:tgtEl>
                                          <p:spTgt spid="75787"/>
                                        </p:tgtEl>
                                        <p:attrNameLst>
                                          <p:attrName>style.visibility</p:attrName>
                                        </p:attrNameLst>
                                      </p:cBhvr>
                                      <p:to>
                                        <p:strVal val="visible"/>
                                      </p:to>
                                    </p:set>
                                    <p:anim calcmode="lin" valueType="num">
                                      <p:cBhvr additive="base">
                                        <p:cTn id="44" dur="500" fill="hold"/>
                                        <p:tgtEl>
                                          <p:spTgt spid="75787"/>
                                        </p:tgtEl>
                                        <p:attrNameLst>
                                          <p:attrName>ppt_x</p:attrName>
                                        </p:attrNameLst>
                                      </p:cBhvr>
                                      <p:tavLst>
                                        <p:tav tm="0">
                                          <p:val>
                                            <p:strVal val="#ppt_x"/>
                                          </p:val>
                                        </p:tav>
                                        <p:tav tm="100000">
                                          <p:val>
                                            <p:strVal val="#ppt_x"/>
                                          </p:val>
                                        </p:tav>
                                      </p:tavLst>
                                    </p:anim>
                                    <p:anim calcmode="lin" valueType="num">
                                      <p:cBhvr additive="base">
                                        <p:cTn id="45" dur="500" fill="hold"/>
                                        <p:tgtEl>
                                          <p:spTgt spid="75787"/>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7">
                                            <p:txEl>
                                              <p:pRg st="0" end="0"/>
                                            </p:txEl>
                                          </p:spTgt>
                                        </p:tgtEl>
                                        <p:attrNameLst>
                                          <p:attrName>style.visibility</p:attrName>
                                        </p:attrNameLst>
                                      </p:cBhvr>
                                      <p:to>
                                        <p:strVal val="visible"/>
                                      </p:to>
                                    </p:set>
                                    <p:animEffect transition="in" filter="wipe(left)">
                                      <p:cBhvr>
                                        <p:cTn id="50"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5" grpId="0"/>
      <p:bldP spid="75783" grpId="0"/>
      <p:bldP spid="75784" grpId="0"/>
      <p:bldP spid="75787" grpId="0"/>
      <p:bldP spid="75788" grpId="0"/>
      <p:bldP spid="119836" grpId="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Text Box 62"/>
          <p:cNvSpPr txBox="1"/>
          <p:nvPr/>
        </p:nvSpPr>
        <p:spPr>
          <a:xfrm>
            <a:off x="6081713" y="61579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14338" name="Rectangle 2"/>
          <p:cNvSpPr>
            <a:spLocks noGrp="1" noChangeArrowheads="1"/>
          </p:cNvSpPr>
          <p:nvPr>
            <p:ph type="title"/>
          </p:nvPr>
        </p:nvSpPr>
        <p:spPr bwMode="auto">
          <a:xfrm>
            <a:off x="6081713" y="55563"/>
            <a:ext cx="2986088" cy="490538"/>
          </a:xfrm>
          <a:ln>
            <a:noFill/>
            <a:miter lim="800000"/>
          </a:ln>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rPr>
              <a:t>概述</a:t>
            </a:r>
            <a:endParaRPr kumimoji="1" lang="zh-CN" altLang="en-US" sz="3000" b="0" i="0" u="none" strike="noStrike" kern="1200" cap="none" spc="0" normalizeH="0" baseline="0" noProof="0" dirty="0" smtClean="0">
              <a:ln>
                <a:noFill/>
              </a:ln>
              <a:solidFill>
                <a:srgbClr val="CC3300"/>
              </a:solidFill>
              <a:effectLst/>
              <a:uLnTx/>
              <a:uFillTx/>
              <a:latin typeface="黑体" panose="02010609060101010101" pitchFamily="49" charset="-122"/>
              <a:ea typeface="黑体" panose="02010609060101010101" pitchFamily="49" charset="-122"/>
              <a:cs typeface="+mn-cs"/>
            </a:endParaRPr>
          </a:p>
        </p:txBody>
      </p:sp>
      <p:sp>
        <p:nvSpPr>
          <p:cNvPr id="36868" name="文本框 1"/>
          <p:cNvSpPr txBox="1"/>
          <p:nvPr/>
        </p:nvSpPr>
        <p:spPr>
          <a:xfrm>
            <a:off x="6889750" y="6451600"/>
            <a:ext cx="690563" cy="398463"/>
          </a:xfrm>
          <a:prstGeom prst="rect">
            <a:avLst/>
          </a:prstGeom>
          <a:noFill/>
          <a:ln w="9525">
            <a:noFill/>
          </a:ln>
        </p:spPr>
        <p:txBody>
          <a:bodyPr wrap="none">
            <a:spAutoFit/>
          </a:bodyPr>
          <a:lstStyle/>
          <a:p>
            <a:r>
              <a:rPr lang="zh-CN" altLang="en-US" sz="2000" dirty="0">
                <a:latin typeface="Tahoma" panose="020B0604030504040204" pitchFamily="34" charset="0"/>
                <a:hlinkClick r:id="rId1" action="ppaction://hlinksldjump"/>
              </a:rPr>
              <a:t>返回</a:t>
            </a:r>
            <a:endParaRPr lang="zh-CN" altLang="en-US" sz="2000" dirty="0">
              <a:latin typeface="Tahoma" panose="020B0604030504040204" pitchFamily="34" charset="0"/>
              <a:hlinkClick r:id="rId1" action="ppaction://hlinksldjump"/>
            </a:endParaRPr>
          </a:p>
        </p:txBody>
      </p:sp>
      <p:sp>
        <p:nvSpPr>
          <p:cNvPr id="36869" name="文本框 99"/>
          <p:cNvSpPr txBox="1"/>
          <p:nvPr/>
        </p:nvSpPr>
        <p:spPr>
          <a:xfrm>
            <a:off x="2032000" y="579438"/>
            <a:ext cx="5080000" cy="398462"/>
          </a:xfrm>
          <a:prstGeom prst="rect">
            <a:avLst/>
          </a:prstGeom>
          <a:noFill/>
          <a:ln w="9525">
            <a:noFill/>
          </a:ln>
        </p:spPr>
        <p:txBody>
          <a:bodyPr>
            <a:spAutoFit/>
          </a:bodyPr>
          <a:lstStyle/>
          <a:p>
            <a:pPr algn="ctr"/>
            <a:r>
              <a:rPr lang="zh-CN" altLang="en-US" sz="2000" dirty="0">
                <a:solidFill>
                  <a:srgbClr val="000099"/>
                </a:solidFill>
                <a:latin typeface="宋体" panose="02010600030101010101" pitchFamily="2" charset="-122"/>
              </a:rPr>
              <a:t>弹簧的基本类型及应用</a:t>
            </a:r>
            <a:endParaRPr lang="zh-CN" altLang="en-US" sz="2000" dirty="0">
              <a:solidFill>
                <a:srgbClr val="000099"/>
              </a:solidFill>
              <a:latin typeface="宋体" panose="02010600030101010101" pitchFamily="2" charset="-122"/>
            </a:endParaRPr>
          </a:p>
        </p:txBody>
      </p:sp>
      <p:graphicFrame>
        <p:nvGraphicFramePr>
          <p:cNvPr id="16" name="表格 15"/>
          <p:cNvGraphicFramePr/>
          <p:nvPr/>
        </p:nvGraphicFramePr>
        <p:xfrm>
          <a:off x="4570095" y="1007744"/>
          <a:ext cx="4432300" cy="5207005"/>
        </p:xfrm>
        <a:graphic>
          <a:graphicData uri="http://schemas.openxmlformats.org/drawingml/2006/table">
            <a:tbl>
              <a:tblPr>
                <a:tableStyleId>{5940675A-B579-460E-94D1-54222C63F5DA}</a:tableStyleId>
              </a:tblPr>
              <a:tblGrid>
                <a:gridCol w="445770"/>
                <a:gridCol w="1290320"/>
                <a:gridCol w="2696210"/>
              </a:tblGrid>
              <a:tr h="330200">
                <a:tc>
                  <a:txBody>
                    <a:bodyPr/>
                    <a:lstStyle/>
                    <a:p>
                      <a:pPr indent="0" algn="ctr">
                        <a:buNone/>
                      </a:pPr>
                      <a:r>
                        <a:rPr lang="zh-CN" altLang="en-US" sz="1600" dirty="0">
                          <a:solidFill>
                            <a:srgbClr val="000099"/>
                          </a:solidFill>
                          <a:ea typeface="华文中宋" panose="02010600040101010101" pitchFamily="2" charset="-122"/>
                        </a:rPr>
                        <a:t>名称</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c>
                  <a:txBody>
                    <a:bodyPr/>
                    <a:lstStyle/>
                    <a:p>
                      <a:pPr indent="0" algn="ctr">
                        <a:buNone/>
                      </a:pPr>
                      <a:r>
                        <a:rPr lang="zh-CN" altLang="en-US" sz="1600">
                          <a:solidFill>
                            <a:srgbClr val="000099"/>
                          </a:solidFill>
                          <a:ea typeface="华文中宋" panose="02010600040101010101" pitchFamily="2" charset="-122"/>
                        </a:rPr>
                        <a:t>简图</a:t>
                      </a:r>
                      <a:endParaRPr lang="zh-CN" altLang="en-US" sz="1600" b="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c>
                  <a:txBody>
                    <a:bodyPr/>
                    <a:lstStyle/>
                    <a:p>
                      <a:pPr indent="0" algn="ctr">
                        <a:buNone/>
                      </a:pPr>
                      <a:r>
                        <a:rPr lang="zh-CN" altLang="en-US" sz="1600">
                          <a:solidFill>
                            <a:srgbClr val="000099"/>
                          </a:solidFill>
                          <a:ea typeface="华文中宋" panose="02010600040101010101" pitchFamily="2" charset="-122"/>
                        </a:rPr>
                        <a:t>说明</a:t>
                      </a:r>
                      <a:endParaRPr lang="zh-CN" altLang="en-US" sz="1600" b="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r>
              <a:tr h="722904">
                <a:tc>
                  <a:txBody>
                    <a:bodyPr/>
                    <a:lstStyle/>
                    <a:p>
                      <a:pPr indent="0" algn="ctr">
                        <a:buNone/>
                      </a:pPr>
                      <a:r>
                        <a:rPr lang="zh-CN" altLang="en-US" sz="1600">
                          <a:solidFill>
                            <a:srgbClr val="000099"/>
                          </a:solidFill>
                          <a:ea typeface="华文中宋" panose="02010600040101010101" pitchFamily="2" charset="-122"/>
                        </a:rPr>
                        <a:t>截锥螺旋弹簧</a:t>
                      </a:r>
                      <a:endParaRPr lang="zh-CN" altLang="en-US" sz="1600" b="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c>
                  <a:txBody>
                    <a:bodyPr/>
                    <a:lstStyle/>
                    <a:p>
                      <a:pPr indent="0" algn="l">
                        <a:buNone/>
                      </a:pPr>
                      <a:r>
                        <a:rPr lang="en-US" altLang="zh-CN" sz="1600" dirty="0">
                          <a:solidFill>
                            <a:srgbClr val="000099"/>
                          </a:solidFill>
                          <a:ea typeface="华文中宋" panose="02010600040101010101" pitchFamily="2" charset="-122"/>
                        </a:rPr>
                        <a:t> </a:t>
                      </a:r>
                      <a:r>
                        <a:rPr lang="zh-CN" altLang="en-US" sz="1600" dirty="0">
                          <a:solidFill>
                            <a:srgbClr val="000099"/>
                          </a:solidFill>
                          <a:ea typeface="华文中宋" panose="02010600040101010101" pitchFamily="2" charset="-122"/>
                        </a:rPr>
                        <a:t>圆截面压缩弹簧</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tc>
                <a:tc>
                  <a:txBody>
                    <a:bodyPr/>
                    <a:lstStyle/>
                    <a:p>
                      <a:pPr indent="0">
                        <a:buNone/>
                      </a:pPr>
                      <a:r>
                        <a:rPr lang="zh-CN" altLang="en-US" sz="1600" dirty="0">
                          <a:solidFill>
                            <a:srgbClr val="000099"/>
                          </a:solidFill>
                          <a:ea typeface="华文中宋" panose="02010600040101010101" pitchFamily="2" charset="-122"/>
                        </a:rPr>
                        <a:t>承受压力。弹簧圈从大端开始接触后特性线为非线性的。可防止共振，稳定性好，结构紧凑。多用于承受较大载荷和减振</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tcPr>
                </a:tc>
              </a:tr>
              <a:tr h="431800">
                <a:tc>
                  <a:txBody>
                    <a:bodyPr/>
                    <a:lstStyle/>
                    <a:p>
                      <a:pPr indent="0" algn="ctr">
                        <a:buNone/>
                      </a:pPr>
                      <a:r>
                        <a:rPr lang="zh-CN" altLang="en-US" sz="1600">
                          <a:solidFill>
                            <a:srgbClr val="000099"/>
                          </a:solidFill>
                          <a:ea typeface="华文中宋" panose="02010600040101010101" pitchFamily="2" charset="-122"/>
                        </a:rPr>
                        <a:t>碟形弹簧</a:t>
                      </a:r>
                      <a:endParaRPr lang="zh-CN" altLang="en-US" sz="1600" b="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c>
                  <a:txBody>
                    <a:bodyPr/>
                    <a:lstStyle/>
                    <a:p>
                      <a:pPr indent="0" algn="ctr">
                        <a:buNone/>
                      </a:pPr>
                      <a:r>
                        <a:rPr lang="en-US" altLang="zh-CN" sz="1600" dirty="0">
                          <a:solidFill>
                            <a:srgbClr val="000099"/>
                          </a:solidFill>
                          <a:ea typeface="华文中宋" panose="02010600040101010101" pitchFamily="2" charset="-122"/>
                        </a:rPr>
                        <a:t> </a:t>
                      </a:r>
                      <a:r>
                        <a:rPr lang="zh-CN" altLang="en-US" sz="1600" dirty="0">
                          <a:solidFill>
                            <a:srgbClr val="000099"/>
                          </a:solidFill>
                          <a:ea typeface="华文中宋" panose="02010600040101010101" pitchFamily="2" charset="-122"/>
                        </a:rPr>
                        <a:t>对置式</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tc>
                <a:tc>
                  <a:txBody>
                    <a:bodyPr/>
                    <a:lstStyle/>
                    <a:p>
                      <a:pPr indent="0">
                        <a:buNone/>
                      </a:pPr>
                      <a:r>
                        <a:rPr lang="en-US" altLang="zh-CN" sz="1600" dirty="0">
                          <a:solidFill>
                            <a:srgbClr val="000099"/>
                          </a:solidFill>
                          <a:ea typeface="华文中宋" panose="02010600040101010101" pitchFamily="2" charset="-122"/>
                        </a:rPr>
                        <a:t>  </a:t>
                      </a:r>
                      <a:r>
                        <a:rPr lang="zh-CN" altLang="en-US" sz="1600" dirty="0">
                          <a:solidFill>
                            <a:srgbClr val="000099"/>
                          </a:solidFill>
                          <a:ea typeface="华文中宋" panose="02010600040101010101" pitchFamily="2" charset="-122"/>
                        </a:rPr>
                        <a:t>能承受很大的冲击载荷，并具有良好的吸振能力，常用作缓冲弹簧。应用于载荷相当大和弹簧轴向尺寸受限制的地方</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tc>
              </a:tr>
              <a:tr h="431800">
                <a:tc>
                  <a:txBody>
                    <a:bodyPr/>
                    <a:lstStyle/>
                    <a:p>
                      <a:pPr indent="0" algn="ctr">
                        <a:buNone/>
                      </a:pPr>
                      <a:r>
                        <a:rPr lang="zh-CN" altLang="en-US" sz="1600">
                          <a:solidFill>
                            <a:srgbClr val="000099"/>
                          </a:solidFill>
                          <a:ea typeface="华文中宋" panose="02010600040101010101" pitchFamily="2" charset="-122"/>
                        </a:rPr>
                        <a:t>环形弹簧</a:t>
                      </a:r>
                      <a:endParaRPr lang="zh-CN" altLang="en-US" sz="1600" b="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c>
                  <a:txBody>
                    <a:bodyPr/>
                    <a:lstStyle/>
                    <a:p>
                      <a:pPr indent="0" algn="ctr">
                        <a:buNone/>
                      </a:pPr>
                      <a:r>
                        <a:rPr lang="en-US" altLang="zh-CN" sz="1600" dirty="0">
                          <a:solidFill>
                            <a:srgbClr val="000099"/>
                          </a:solidFill>
                          <a:ea typeface="华文中宋" panose="02010600040101010101" pitchFamily="2" charset="-122"/>
                        </a:rPr>
                        <a:t> </a:t>
                      </a:r>
                      <a:endParaRPr lang="en-US" altLang="zh-CN"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tc>
                <a:tc>
                  <a:txBody>
                    <a:bodyPr/>
                    <a:lstStyle/>
                    <a:p>
                      <a:pPr indent="0">
                        <a:buNone/>
                      </a:pPr>
                      <a:r>
                        <a:rPr lang="en-US" altLang="zh-CN" sz="1600" dirty="0">
                          <a:solidFill>
                            <a:srgbClr val="000099"/>
                          </a:solidFill>
                          <a:ea typeface="华文中宋" panose="02010600040101010101" pitchFamily="2" charset="-122"/>
                        </a:rPr>
                        <a:t>  </a:t>
                      </a:r>
                      <a:r>
                        <a:rPr lang="zh-CN" altLang="en-US" sz="1600" dirty="0">
                          <a:solidFill>
                            <a:srgbClr val="000099"/>
                          </a:solidFill>
                          <a:ea typeface="华文中宋" panose="02010600040101010101" pitchFamily="2" charset="-122"/>
                        </a:rPr>
                        <a:t>最强力的缓冲弹簧，近代重型列车、锻压设备和飞机着陆装置中用它作为缓冲零件</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tcPr>
                </a:tc>
              </a:tr>
              <a:tr h="431800">
                <a:tc>
                  <a:txBody>
                    <a:bodyPr/>
                    <a:lstStyle/>
                    <a:p>
                      <a:pPr indent="0" algn="ctr">
                        <a:buNone/>
                      </a:pPr>
                      <a:r>
                        <a:rPr lang="zh-CN" altLang="en-US" sz="1600">
                          <a:solidFill>
                            <a:srgbClr val="000099"/>
                          </a:solidFill>
                          <a:ea typeface="华文中宋" panose="02010600040101010101" pitchFamily="2" charset="-122"/>
                        </a:rPr>
                        <a:t>平面涡卷弹簧</a:t>
                      </a:r>
                      <a:endParaRPr lang="zh-CN" altLang="en-US" sz="1600" b="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c>
                  <a:txBody>
                    <a:bodyPr/>
                    <a:lstStyle/>
                    <a:p>
                      <a:pPr indent="0" algn="ctr">
                        <a:buNone/>
                      </a:pPr>
                      <a:r>
                        <a:rPr lang="en-US" altLang="zh-CN" sz="1600" dirty="0">
                          <a:solidFill>
                            <a:srgbClr val="000099"/>
                          </a:solidFill>
                          <a:ea typeface="华文中宋" panose="02010600040101010101" pitchFamily="2" charset="-122"/>
                        </a:rPr>
                        <a:t> </a:t>
                      </a:r>
                      <a:endParaRPr lang="en-US" altLang="zh-CN"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tc>
                <a:tc>
                  <a:txBody>
                    <a:bodyPr/>
                    <a:lstStyle/>
                    <a:p>
                      <a:pPr indent="0">
                        <a:buNone/>
                      </a:pPr>
                      <a:r>
                        <a:rPr lang="en-US" altLang="zh-CN" sz="1600" dirty="0">
                          <a:solidFill>
                            <a:srgbClr val="000099"/>
                          </a:solidFill>
                          <a:ea typeface="华文中宋" panose="02010600040101010101" pitchFamily="2" charset="-122"/>
                        </a:rPr>
                        <a:t>  </a:t>
                      </a:r>
                      <a:r>
                        <a:rPr lang="zh-CN" altLang="en-US" sz="1600" dirty="0">
                          <a:solidFill>
                            <a:srgbClr val="000099"/>
                          </a:solidFill>
                          <a:ea typeface="华文中宋" panose="02010600040101010101" pitchFamily="2" charset="-122"/>
                        </a:rPr>
                        <a:t>应用于受载不很大而轴向尺寸又很小时。在各种仪器中广泛地用作储能装置</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tc>
              </a:tr>
              <a:tr h="431800">
                <a:tc>
                  <a:txBody>
                    <a:bodyPr/>
                    <a:lstStyle/>
                    <a:p>
                      <a:pPr indent="0" algn="ctr">
                        <a:buNone/>
                      </a:pPr>
                      <a:r>
                        <a:rPr lang="zh-CN" altLang="en-US" sz="1600">
                          <a:solidFill>
                            <a:srgbClr val="000099"/>
                          </a:solidFill>
                          <a:ea typeface="华文中宋" panose="02010600040101010101" pitchFamily="2" charset="-122"/>
                          <a:sym typeface="+mn-ea"/>
                        </a:rPr>
                        <a:t>板弹簧</a:t>
                      </a:r>
                      <a:endParaRPr lang="zh-CN" altLang="en-US" sz="1600" b="0">
                        <a:solidFill>
                          <a:srgbClr val="000099"/>
                        </a:solidFill>
                        <a:highlight>
                          <a:srgbClr val="FFFF00"/>
                        </a:highlight>
                        <a:latin typeface="宋体" panose="02010600030101010101" pitchFamily="2" charset="-122"/>
                        <a:ea typeface="华文中宋" panose="02010600040101010101" pitchFamily="2" charset="-122"/>
                        <a:cs typeface="宋体" panose="02010600030101010101" pitchFamily="2" charset="-122"/>
                      </a:endParaRPr>
                    </a:p>
                  </a:txBody>
                  <a:tcPr marL="0" marR="0" marT="0" marB="1" anchor="ctr"/>
                </a:tc>
                <a:tc>
                  <a:txBody>
                    <a:bodyPr/>
                    <a:lstStyle/>
                    <a:p>
                      <a:pPr indent="0" algn="ctr">
                        <a:buNone/>
                      </a:pPr>
                      <a:r>
                        <a:rPr lang="en-US" altLang="zh-CN" sz="1600" dirty="0">
                          <a:solidFill>
                            <a:srgbClr val="000099"/>
                          </a:solidFill>
                          <a:ea typeface="华文中宋" panose="02010600040101010101" pitchFamily="2" charset="-122"/>
                        </a:rPr>
                        <a:t> </a:t>
                      </a:r>
                      <a:r>
                        <a:rPr lang="zh-CN" altLang="en-US" sz="1600" dirty="0">
                          <a:solidFill>
                            <a:srgbClr val="000099"/>
                          </a:solidFill>
                          <a:ea typeface="华文中宋" panose="02010600040101010101" pitchFamily="2" charset="-122"/>
                        </a:rPr>
                        <a:t>多板弹簧</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tc>
                <a:tc>
                  <a:txBody>
                    <a:bodyPr/>
                    <a:lstStyle/>
                    <a:p>
                      <a:pPr indent="0">
                        <a:buNone/>
                      </a:pPr>
                      <a:r>
                        <a:rPr lang="en-US" altLang="zh-CN" sz="1600" dirty="0">
                          <a:solidFill>
                            <a:srgbClr val="000099"/>
                          </a:solidFill>
                          <a:ea typeface="华文中宋" panose="02010600040101010101" pitchFamily="2" charset="-122"/>
                        </a:rPr>
                        <a:t>  </a:t>
                      </a:r>
                      <a:r>
                        <a:rPr lang="zh-CN" altLang="en-US" sz="1600" dirty="0">
                          <a:solidFill>
                            <a:srgbClr val="000099"/>
                          </a:solidFill>
                          <a:ea typeface="华文中宋" panose="02010600040101010101" pitchFamily="2" charset="-122"/>
                        </a:rPr>
                        <a:t>主要受弯曲作用，常用于受载方向尺寸有限制而变形量又较大的地方。由于有较好的消振能力，所以在汽车、铁路客货车等车辆中应用很普遍</a:t>
                      </a:r>
                      <a:endParaRPr lang="zh-CN" altLang="en-US" sz="1600" b="0" dirty="0">
                        <a:solidFill>
                          <a:srgbClr val="000099"/>
                        </a:solidFill>
                        <a:latin typeface="宋体" panose="02010600030101010101" pitchFamily="2" charset="-122"/>
                        <a:ea typeface="华文中宋" panose="02010600040101010101" pitchFamily="2" charset="-122"/>
                        <a:cs typeface="宋体" panose="02010600030101010101" pitchFamily="2" charset="-122"/>
                      </a:endParaRPr>
                    </a:p>
                  </a:txBody>
                  <a:tcPr marL="0" marR="0" marT="0" mar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tcPr>
                </a:tc>
              </a:tr>
            </a:tbl>
          </a:graphicData>
        </a:graphic>
      </p:graphicFrame>
      <p:graphicFrame>
        <p:nvGraphicFramePr>
          <p:cNvPr id="45068" name="表格 45067"/>
          <p:cNvGraphicFramePr/>
          <p:nvPr/>
        </p:nvGraphicFramePr>
        <p:xfrm>
          <a:off x="141288" y="1008063"/>
          <a:ext cx="4395788" cy="5200650"/>
        </p:xfrm>
        <a:graphic>
          <a:graphicData uri="http://schemas.openxmlformats.org/drawingml/2006/table">
            <a:tbl>
              <a:tblPr/>
              <a:tblGrid>
                <a:gridCol w="482600"/>
                <a:gridCol w="1590658"/>
                <a:gridCol w="2322530"/>
              </a:tblGrid>
              <a:tr h="331788">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600" dirty="0">
                          <a:solidFill>
                            <a:srgbClr val="000099"/>
                          </a:solidFill>
                          <a:latin typeface="Tahoma" panose="020B0604030504040204" pitchFamily="34" charset="0"/>
                        </a:rPr>
                        <a:t>名称</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600" dirty="0">
                          <a:solidFill>
                            <a:srgbClr val="000099"/>
                          </a:solidFill>
                          <a:latin typeface="Tahoma" panose="020B0604030504040204" pitchFamily="34" charset="0"/>
                        </a:rPr>
                        <a:t>简图</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600" dirty="0">
                          <a:solidFill>
                            <a:srgbClr val="000099"/>
                          </a:solidFill>
                          <a:latin typeface="Tahoma" panose="020B0604030504040204" pitchFamily="34" charset="0"/>
                        </a:rPr>
                        <a:t>说明</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122362">
                <a:tc rowSpan="4">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600" dirty="0">
                          <a:solidFill>
                            <a:srgbClr val="000099"/>
                          </a:solidFill>
                          <a:latin typeface="Tahoma" panose="020B0604030504040204" pitchFamily="34" charset="0"/>
                        </a:rPr>
                        <a:t>圆柱螺旋弹簧</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圆截面压缩弹簧</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6350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弹簧丝卷绕制成，承受压力。结构简单，制造方便，应用最广</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21920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矩形截面压缩弹簧</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承受压力。当空间尺寸相同时，矩形截面弹簧比圆形截面弹簧吸收能量大，刚度更接近常数</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tcPr>
                </a:tc>
              </a:tr>
              <a:tr h="125095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圆截面拉伸弹簧</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承受拉力。结构简单，制造方便，应用广泛</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276350">
                <a:tc vMerge="1">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chemeClr val="tx1"/>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圆截面扭转弹簧</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600" dirty="0">
                          <a:solidFill>
                            <a:srgbClr val="000099"/>
                          </a:solidFill>
                          <a:latin typeface="Tahoma" panose="020B0604030504040204" pitchFamily="34" charset="0"/>
                        </a:rPr>
                        <a:t>  </a:t>
                      </a:r>
                      <a:r>
                        <a:rPr lang="zh-CN" altLang="en-US" sz="1600" dirty="0">
                          <a:solidFill>
                            <a:srgbClr val="000099"/>
                          </a:solidFill>
                          <a:latin typeface="Tahoma" panose="020B0604030504040204" pitchFamily="34" charset="0"/>
                        </a:rPr>
                        <a:t>承受转矩，主要用于压紧和蓄力以及传动系统中的弹簧环节</a:t>
                      </a:r>
                      <a:endParaRPr lang="zh-CN" altLang="en-US" sz="1600" dirty="0">
                        <a:solidFill>
                          <a:srgbClr val="000099"/>
                        </a:solidFill>
                        <a:latin typeface="宋体" panose="02010600030101010101" pitchFamily="2" charset="-122"/>
                        <a:ea typeface="宋体" panose="02010600030101010101" pitchFamily="2" charset="-122"/>
                      </a:endParaRPr>
                    </a:p>
                  </a:txBody>
                  <a:tcPr marL="0" marR="0" marT="0" marB="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5400000" scaled="1"/>
                      <a:tileRect/>
                    </a:gradFill>
                  </a:tcPr>
                </a:tc>
              </a:tr>
            </a:tbl>
          </a:graphicData>
        </a:graphic>
      </p:graphicFrame>
      <p:pic>
        <p:nvPicPr>
          <p:cNvPr id="36894" name="Picture 34" descr="rewind1">
            <a:hlinkClick r:id="rId2" action="ppaction://hlinksldjump"/>
          </p:cNvPr>
          <p:cNvPicPr>
            <a:picLocks noChangeAspect="1"/>
          </p:cNvPicPr>
          <p:nvPr/>
        </p:nvPicPr>
        <p:blipFill>
          <a:blip r:embed="rId3"/>
          <a:stretch>
            <a:fillRect/>
          </a:stretch>
        </p:blipFill>
        <p:spPr>
          <a:xfrm>
            <a:off x="8713788" y="6523038"/>
            <a:ext cx="287337" cy="287337"/>
          </a:xfrm>
          <a:prstGeom prst="rect">
            <a:avLst/>
          </a:prstGeom>
          <a:noFill/>
          <a:ln w="9525">
            <a:noFill/>
          </a:ln>
        </p:spPr>
      </p:pic>
      <p:sp>
        <p:nvSpPr>
          <p:cNvPr id="36895" name="直接连接符 6"/>
          <p:cNvSpPr/>
          <p:nvPr/>
        </p:nvSpPr>
        <p:spPr>
          <a:xfrm>
            <a:off x="0" y="642938"/>
            <a:ext cx="9144000" cy="0"/>
          </a:xfrm>
          <a:prstGeom prst="line">
            <a:avLst/>
          </a:prstGeom>
          <a:ln w="28575" cap="flat" cmpd="sng">
            <a:solidFill>
              <a:srgbClr val="CC3300"/>
            </a:solidFill>
            <a:prstDash val="solid"/>
            <a:miter/>
            <a:headEnd type="none" w="med" len="med"/>
            <a:tailEnd type="none" w="med" len="med"/>
          </a:ln>
        </p:spPr>
      </p:sp>
      <p:pic>
        <p:nvPicPr>
          <p:cNvPr id="36896" name="Picture 42"/>
          <p:cNvPicPr>
            <a:picLocks noChangeAspect="1"/>
          </p:cNvPicPr>
          <p:nvPr/>
        </p:nvPicPr>
        <p:blipFill>
          <a:blip r:embed="rId4"/>
          <a:stretch>
            <a:fillRect/>
          </a:stretch>
        </p:blipFill>
        <p:spPr>
          <a:xfrm>
            <a:off x="1143000" y="1643063"/>
            <a:ext cx="650875" cy="785812"/>
          </a:xfrm>
          <a:prstGeom prst="rect">
            <a:avLst/>
          </a:prstGeom>
          <a:noFill/>
          <a:ln w="9525">
            <a:noFill/>
          </a:ln>
        </p:spPr>
      </p:pic>
      <p:pic>
        <p:nvPicPr>
          <p:cNvPr id="36897" name="Picture 43"/>
          <p:cNvPicPr>
            <a:picLocks noChangeAspect="1"/>
          </p:cNvPicPr>
          <p:nvPr/>
        </p:nvPicPr>
        <p:blipFill>
          <a:blip r:embed="rId5"/>
          <a:stretch>
            <a:fillRect/>
          </a:stretch>
        </p:blipFill>
        <p:spPr>
          <a:xfrm>
            <a:off x="1143000" y="2714625"/>
            <a:ext cx="642938" cy="914400"/>
          </a:xfrm>
          <a:prstGeom prst="rect">
            <a:avLst/>
          </a:prstGeom>
          <a:noFill/>
          <a:ln w="9525">
            <a:noFill/>
          </a:ln>
        </p:spPr>
      </p:pic>
      <p:pic>
        <p:nvPicPr>
          <p:cNvPr id="36898" name="Picture 44"/>
          <p:cNvPicPr>
            <a:picLocks noChangeAspect="1"/>
          </p:cNvPicPr>
          <p:nvPr/>
        </p:nvPicPr>
        <p:blipFill>
          <a:blip r:embed="rId6"/>
          <a:stretch>
            <a:fillRect/>
          </a:stretch>
        </p:blipFill>
        <p:spPr>
          <a:xfrm>
            <a:off x="1214438" y="3929063"/>
            <a:ext cx="531812" cy="952500"/>
          </a:xfrm>
          <a:prstGeom prst="rect">
            <a:avLst/>
          </a:prstGeom>
          <a:noFill/>
          <a:ln w="9525">
            <a:noFill/>
          </a:ln>
        </p:spPr>
      </p:pic>
      <p:pic>
        <p:nvPicPr>
          <p:cNvPr id="36899" name="Picture 45"/>
          <p:cNvPicPr>
            <a:picLocks noChangeAspect="1"/>
          </p:cNvPicPr>
          <p:nvPr/>
        </p:nvPicPr>
        <p:blipFill>
          <a:blip r:embed="rId7"/>
          <a:stretch>
            <a:fillRect/>
          </a:stretch>
        </p:blipFill>
        <p:spPr>
          <a:xfrm>
            <a:off x="1000125" y="5214938"/>
            <a:ext cx="1017588" cy="973137"/>
          </a:xfrm>
          <a:prstGeom prst="rect">
            <a:avLst/>
          </a:prstGeom>
          <a:noFill/>
          <a:ln w="9525">
            <a:noFill/>
          </a:ln>
        </p:spPr>
      </p:pic>
      <p:pic>
        <p:nvPicPr>
          <p:cNvPr id="36900" name="Picture 46"/>
          <p:cNvPicPr>
            <a:picLocks noChangeAspect="1"/>
          </p:cNvPicPr>
          <p:nvPr/>
        </p:nvPicPr>
        <p:blipFill>
          <a:blip r:embed="rId8"/>
          <a:stretch>
            <a:fillRect/>
          </a:stretch>
        </p:blipFill>
        <p:spPr>
          <a:xfrm>
            <a:off x="5357813" y="1643063"/>
            <a:ext cx="561975" cy="900112"/>
          </a:xfrm>
          <a:prstGeom prst="rect">
            <a:avLst/>
          </a:prstGeom>
          <a:noFill/>
          <a:ln w="9525">
            <a:noFill/>
          </a:ln>
        </p:spPr>
      </p:pic>
      <p:pic>
        <p:nvPicPr>
          <p:cNvPr id="36901" name="Picture 47"/>
          <p:cNvPicPr>
            <a:picLocks noChangeAspect="1"/>
          </p:cNvPicPr>
          <p:nvPr/>
        </p:nvPicPr>
        <p:blipFill>
          <a:blip r:embed="rId9"/>
          <a:stretch>
            <a:fillRect/>
          </a:stretch>
        </p:blipFill>
        <p:spPr>
          <a:xfrm>
            <a:off x="5214938" y="2857500"/>
            <a:ext cx="865187" cy="642938"/>
          </a:xfrm>
          <a:prstGeom prst="rect">
            <a:avLst/>
          </a:prstGeom>
          <a:noFill/>
          <a:ln w="9525">
            <a:noFill/>
          </a:ln>
        </p:spPr>
      </p:pic>
      <p:pic>
        <p:nvPicPr>
          <p:cNvPr id="36902" name="Picture 48"/>
          <p:cNvPicPr>
            <a:picLocks noChangeAspect="1"/>
          </p:cNvPicPr>
          <p:nvPr/>
        </p:nvPicPr>
        <p:blipFill>
          <a:blip r:embed="rId10"/>
          <a:stretch>
            <a:fillRect/>
          </a:stretch>
        </p:blipFill>
        <p:spPr>
          <a:xfrm>
            <a:off x="5286375" y="3571875"/>
            <a:ext cx="814388" cy="642938"/>
          </a:xfrm>
          <a:prstGeom prst="rect">
            <a:avLst/>
          </a:prstGeom>
          <a:noFill/>
          <a:ln w="9525">
            <a:noFill/>
          </a:ln>
        </p:spPr>
      </p:pic>
      <p:pic>
        <p:nvPicPr>
          <p:cNvPr id="36903" name="Picture 49"/>
          <p:cNvPicPr>
            <a:picLocks noChangeAspect="1"/>
          </p:cNvPicPr>
          <p:nvPr/>
        </p:nvPicPr>
        <p:blipFill>
          <a:blip r:embed="rId11"/>
          <a:stretch>
            <a:fillRect/>
          </a:stretch>
        </p:blipFill>
        <p:spPr>
          <a:xfrm>
            <a:off x="5357813" y="4357688"/>
            <a:ext cx="685800" cy="614362"/>
          </a:xfrm>
          <a:prstGeom prst="rect">
            <a:avLst/>
          </a:prstGeom>
          <a:noFill/>
          <a:ln w="9525">
            <a:noFill/>
          </a:ln>
        </p:spPr>
      </p:pic>
      <p:pic>
        <p:nvPicPr>
          <p:cNvPr id="36904" name="Picture 50"/>
          <p:cNvPicPr>
            <a:picLocks noChangeAspect="1"/>
          </p:cNvPicPr>
          <p:nvPr/>
        </p:nvPicPr>
        <p:blipFill>
          <a:blip r:embed="rId12"/>
          <a:stretch>
            <a:fillRect/>
          </a:stretch>
        </p:blipFill>
        <p:spPr>
          <a:xfrm>
            <a:off x="5072063" y="5357813"/>
            <a:ext cx="1166812" cy="609600"/>
          </a:xfrm>
          <a:prstGeom prst="rect">
            <a:avLst/>
          </a:prstGeom>
          <a:noFill/>
          <a:ln w="9525">
            <a:noFill/>
          </a:ln>
        </p:spPr>
      </p:pic>
    </p:spTree>
  </p:cSld>
  <p:clrMapOvr>
    <a:masterClrMapping/>
  </p:clrMapOvr>
  <p:transition>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90" name="Text Box 62"/>
          <p:cNvSpPr txBox="1"/>
          <p:nvPr/>
        </p:nvSpPr>
        <p:spPr>
          <a:xfrm>
            <a:off x="6081713" y="61579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37891" name="文本框 99"/>
          <p:cNvSpPr txBox="1"/>
          <p:nvPr/>
        </p:nvSpPr>
        <p:spPr>
          <a:xfrm>
            <a:off x="3131820" y="260033"/>
            <a:ext cx="5080000" cy="460375"/>
          </a:xfrm>
          <a:prstGeom prst="rect">
            <a:avLst/>
          </a:prstGeom>
          <a:noFill/>
          <a:ln w="9525">
            <a:noFill/>
          </a:ln>
        </p:spPr>
        <p:txBody>
          <a:bodyPr>
            <a:spAutoFit/>
          </a:bodyPr>
          <a:lstStyle/>
          <a:p>
            <a:pPr algn="ctr"/>
            <a:r>
              <a:rPr lang="zh-CN" altLang="en-US" sz="2400" dirty="0">
                <a:solidFill>
                  <a:srgbClr val="C00000"/>
                </a:solidFill>
                <a:latin typeface="黑体" panose="02010609060101010101" pitchFamily="49" charset="-122"/>
                <a:ea typeface="黑体" panose="02010609060101010101" pitchFamily="49" charset="-122"/>
              </a:rPr>
              <a:t>弹簧材料及其性能</a:t>
            </a:r>
            <a:endParaRPr lang="zh-CN" altLang="en-US" sz="2400" dirty="0">
              <a:solidFill>
                <a:srgbClr val="C00000"/>
              </a:solidFill>
              <a:latin typeface="黑体" panose="02010609060101010101" pitchFamily="49" charset="-122"/>
              <a:ea typeface="黑体" panose="02010609060101010101" pitchFamily="49" charset="-122"/>
            </a:endParaRPr>
          </a:p>
        </p:txBody>
      </p:sp>
      <p:graphicFrame>
        <p:nvGraphicFramePr>
          <p:cNvPr id="37892" name="表格 37891"/>
          <p:cNvGraphicFramePr/>
          <p:nvPr>
            <p:custDataLst>
              <p:tags r:id="rId1"/>
            </p:custDataLst>
          </p:nvPr>
        </p:nvGraphicFramePr>
        <p:xfrm>
          <a:off x="198438" y="1350963"/>
          <a:ext cx="8748713" cy="4666300"/>
        </p:xfrm>
        <a:graphic>
          <a:graphicData uri="http://schemas.openxmlformats.org/drawingml/2006/table">
            <a:tbl>
              <a:tblPr/>
              <a:tblGrid>
                <a:gridCol w="1031875"/>
                <a:gridCol w="574675"/>
                <a:gridCol w="581025"/>
                <a:gridCol w="625475"/>
                <a:gridCol w="608013"/>
                <a:gridCol w="676275"/>
                <a:gridCol w="1062037"/>
                <a:gridCol w="849313"/>
                <a:gridCol w="604837"/>
                <a:gridCol w="649288"/>
                <a:gridCol w="1485900"/>
              </a:tblGrid>
              <a:tr h="549275">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800" dirty="0">
                          <a:solidFill>
                            <a:srgbClr val="000099"/>
                          </a:solidFill>
                          <a:latin typeface="Times New Roman" panose="02020603050405020304" pitchFamily="18" charset="0"/>
                          <a:cs typeface="Times New Roman" panose="02020603050405020304" pitchFamily="18" charset="0"/>
                        </a:rPr>
                        <a:t>材料及代号</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3">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800" dirty="0">
                          <a:solidFill>
                            <a:srgbClr val="000099"/>
                          </a:solidFill>
                          <a:latin typeface="Times New Roman" panose="02020603050405020304" pitchFamily="18" charset="0"/>
                          <a:cs typeface="Times New Roman" panose="02020603050405020304" pitchFamily="18" charset="0"/>
                        </a:rPr>
                        <a:t>许用切应力</a:t>
                      </a:r>
                      <a:r>
                        <a:rPr lang="en-US" altLang="zh-CN" sz="1800" dirty="0">
                          <a:solidFill>
                            <a:srgbClr val="000099"/>
                          </a:solidFill>
                          <a:latin typeface="Times New Roman" panose="02020603050405020304" pitchFamily="18" charset="0"/>
                          <a:cs typeface="Times New Roman" panose="02020603050405020304" pitchFamily="18" charset="0"/>
                        </a:rPr>
                        <a:t>[</a:t>
                      </a:r>
                      <a:r>
                        <a:rPr lang="en-US" altLang="zh-CN" sz="1800" i="1" dirty="0">
                          <a:solidFill>
                            <a:srgbClr val="000099"/>
                          </a:solidFill>
                          <a:latin typeface="Times New Roman" panose="02020603050405020304" pitchFamily="18" charset="0"/>
                          <a:cs typeface="Times New Roman" panose="02020603050405020304" pitchFamily="18" charset="0"/>
                        </a:rPr>
                        <a:t>τ</a:t>
                      </a:r>
                      <a:r>
                        <a:rPr lang="en-US" altLang="zh-CN" sz="1800" dirty="0">
                          <a:solidFill>
                            <a:srgbClr val="000099"/>
                          </a:solidFill>
                          <a:latin typeface="Times New Roman" panose="02020603050405020304" pitchFamily="18" charset="0"/>
                          <a:cs typeface="Times New Roman" panose="02020603050405020304" pitchFamily="18" charset="0"/>
                        </a:rPr>
                        <a:t>]/MPa</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800" dirty="0">
                          <a:solidFill>
                            <a:srgbClr val="000099"/>
                          </a:solidFill>
                          <a:latin typeface="Times New Roman" panose="02020603050405020304" pitchFamily="18" charset="0"/>
                          <a:cs typeface="Times New Roman" panose="02020603050405020304" pitchFamily="18" charset="0"/>
                        </a:rPr>
                        <a:t>许用弯曲应力</a:t>
                      </a:r>
                      <a:r>
                        <a:rPr lang="en-US" altLang="zh-CN" sz="1800" dirty="0">
                          <a:solidFill>
                            <a:srgbClr val="000099"/>
                          </a:solidFill>
                          <a:latin typeface="Times New Roman" panose="02020603050405020304" pitchFamily="18" charset="0"/>
                          <a:cs typeface="Times New Roman" panose="02020603050405020304" pitchFamily="18" charset="0"/>
                        </a:rPr>
                        <a:t>[</a:t>
                      </a:r>
                      <a:r>
                        <a:rPr lang="en-US" altLang="zh-CN" sz="1800" i="1" dirty="0">
                          <a:solidFill>
                            <a:srgbClr val="000099"/>
                          </a:solidFill>
                          <a:latin typeface="Times New Roman" panose="02020603050405020304" pitchFamily="18" charset="0"/>
                          <a:cs typeface="Times New Roman" panose="02020603050405020304" pitchFamily="18" charset="0"/>
                        </a:rPr>
                        <a:t>σ</a:t>
                      </a:r>
                      <a:r>
                        <a:rPr lang="en-US" altLang="zh-CN" sz="1800" dirty="0">
                          <a:solidFill>
                            <a:srgbClr val="000099"/>
                          </a:solidFill>
                          <a:latin typeface="Times New Roman" panose="02020603050405020304" pitchFamily="18" charset="0"/>
                          <a:cs typeface="Times New Roman" panose="02020603050405020304" pitchFamily="18" charset="0"/>
                        </a:rPr>
                        <a:t>]/MPa</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 </a:t>
                      </a:r>
                      <a:r>
                        <a:rPr lang="zh-CN" altLang="en-US" sz="1800" dirty="0">
                          <a:solidFill>
                            <a:srgbClr val="000099"/>
                          </a:solidFill>
                          <a:latin typeface="Times New Roman" panose="02020603050405020304" pitchFamily="18" charset="0"/>
                          <a:cs typeface="Times New Roman" panose="02020603050405020304" pitchFamily="18" charset="0"/>
                        </a:rPr>
                        <a:t>弹性模量</a:t>
                      </a:r>
                      <a:r>
                        <a:rPr lang="en-US" altLang="zh-CN" sz="1800" i="1" dirty="0">
                          <a:solidFill>
                            <a:srgbClr val="000099"/>
                          </a:solidFill>
                          <a:latin typeface="Times New Roman" panose="02020603050405020304" pitchFamily="18" charset="0"/>
                          <a:cs typeface="Times New Roman" panose="02020603050405020304" pitchFamily="18" charset="0"/>
                        </a:rPr>
                        <a:t>E</a:t>
                      </a:r>
                      <a:r>
                        <a:rPr lang="en-US" altLang="zh-CN" sz="1800" dirty="0">
                          <a:solidFill>
                            <a:srgbClr val="000099"/>
                          </a:solidFill>
                          <a:latin typeface="Times New Roman" panose="02020603050405020304" pitchFamily="18" charset="0"/>
                          <a:cs typeface="Times New Roman" panose="02020603050405020304" pitchFamily="18" charset="0"/>
                        </a:rPr>
                        <a:t>/MPa</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 </a:t>
                      </a:r>
                      <a:r>
                        <a:rPr lang="zh-CN" altLang="en-US" sz="1800" dirty="0">
                          <a:solidFill>
                            <a:srgbClr val="000099"/>
                          </a:solidFill>
                          <a:latin typeface="Times New Roman" panose="02020603050405020304" pitchFamily="18" charset="0"/>
                          <a:cs typeface="Times New Roman" panose="02020603050405020304" pitchFamily="18" charset="0"/>
                        </a:rPr>
                        <a:t>切变模量</a:t>
                      </a:r>
                      <a:r>
                        <a:rPr lang="en-US" altLang="zh-CN" sz="1800" i="1" dirty="0">
                          <a:solidFill>
                            <a:srgbClr val="000099"/>
                          </a:solidFill>
                          <a:latin typeface="Times New Roman" panose="02020603050405020304" pitchFamily="18" charset="0"/>
                          <a:cs typeface="Times New Roman" panose="02020603050405020304" pitchFamily="18" charset="0"/>
                        </a:rPr>
                        <a:t>G</a:t>
                      </a:r>
                      <a:r>
                        <a:rPr lang="en-US" altLang="zh-CN" sz="1800" dirty="0">
                          <a:solidFill>
                            <a:srgbClr val="000099"/>
                          </a:solidFill>
                          <a:latin typeface="Times New Roman" panose="02020603050405020304" pitchFamily="18" charset="0"/>
                          <a:cs typeface="Times New Roman" panose="02020603050405020304" pitchFamily="18" charset="0"/>
                        </a:rPr>
                        <a:t>/MPa</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 </a:t>
                      </a:r>
                      <a:r>
                        <a:rPr lang="zh-CN" altLang="en-US" sz="1800" dirty="0">
                          <a:solidFill>
                            <a:srgbClr val="000099"/>
                          </a:solidFill>
                          <a:latin typeface="Times New Roman" panose="02020603050405020304" pitchFamily="18" charset="0"/>
                          <a:cs typeface="Times New Roman" panose="02020603050405020304" pitchFamily="18" charset="0"/>
                        </a:rPr>
                        <a:t>推荐温度</a:t>
                      </a:r>
                      <a:r>
                        <a:rPr lang="en-US" altLang="zh-CN" sz="1800" dirty="0">
                          <a:solidFill>
                            <a:srgbClr val="000099"/>
                          </a:solidFill>
                          <a:latin typeface="Times New Roman" panose="02020603050405020304" pitchFamily="18" charset="0"/>
                          <a:cs typeface="Times New Roman" panose="02020603050405020304" pitchFamily="18" charset="0"/>
                        </a:rPr>
                        <a:t>/℃</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 </a:t>
                      </a:r>
                      <a:r>
                        <a:rPr lang="zh-CN" altLang="en-US" sz="1800" dirty="0">
                          <a:solidFill>
                            <a:srgbClr val="000099"/>
                          </a:solidFill>
                          <a:latin typeface="Times New Roman" panose="02020603050405020304" pitchFamily="18" charset="0"/>
                          <a:cs typeface="Times New Roman" panose="02020603050405020304" pitchFamily="18" charset="0"/>
                        </a:rPr>
                        <a:t>推荐硬度</a:t>
                      </a:r>
                      <a:r>
                        <a:rPr lang="en-US" altLang="zh-CN" sz="1800" dirty="0">
                          <a:solidFill>
                            <a:srgbClr val="000099"/>
                          </a:solidFill>
                          <a:latin typeface="Times New Roman" panose="02020603050405020304" pitchFamily="18" charset="0"/>
                          <a:cs typeface="Times New Roman" panose="02020603050405020304" pitchFamily="18" charset="0"/>
                        </a:rPr>
                        <a:t>/HRC</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 </a:t>
                      </a:r>
                      <a:r>
                        <a:rPr lang="en-US" altLang="zh-CN" sz="1800" dirty="0">
                          <a:solidFill>
                            <a:srgbClr val="000099"/>
                          </a:solidFill>
                          <a:latin typeface="Times New Roman" panose="02020603050405020304" pitchFamily="18" charset="0"/>
                          <a:cs typeface="Times New Roman" panose="02020603050405020304" pitchFamily="18" charset="0"/>
                        </a:rPr>
                        <a:t> </a:t>
                      </a:r>
                      <a:r>
                        <a:rPr lang="zh-CN" altLang="en-US" sz="1800" dirty="0">
                          <a:solidFill>
                            <a:srgbClr val="000099"/>
                          </a:solidFill>
                          <a:latin typeface="Times New Roman" panose="02020603050405020304" pitchFamily="18" charset="0"/>
                          <a:cs typeface="Times New Roman" panose="02020603050405020304" pitchFamily="18" charset="0"/>
                        </a:rPr>
                        <a:t>特性及用途</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9275">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Ⅰ</a:t>
                      </a:r>
                      <a:r>
                        <a:rPr lang="zh-CN" altLang="en-US" sz="1800" dirty="0">
                          <a:solidFill>
                            <a:srgbClr val="000099"/>
                          </a:solidFill>
                          <a:latin typeface="Times New Roman" panose="02020603050405020304" pitchFamily="18" charset="0"/>
                          <a:cs typeface="Times New Roman" panose="02020603050405020304" pitchFamily="18" charset="0"/>
                        </a:rPr>
                        <a:t>类弹簧</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Ⅱ</a:t>
                      </a:r>
                      <a:r>
                        <a:rPr lang="zh-CN" altLang="en-US" sz="1800" dirty="0">
                          <a:solidFill>
                            <a:srgbClr val="000099"/>
                          </a:solidFill>
                          <a:latin typeface="Times New Roman" panose="02020603050405020304" pitchFamily="18" charset="0"/>
                          <a:cs typeface="Times New Roman" panose="02020603050405020304" pitchFamily="18" charset="0"/>
                        </a:rPr>
                        <a:t>类弹簧</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Ⅲ</a:t>
                      </a:r>
                      <a:r>
                        <a:rPr lang="zh-CN" altLang="en-US" sz="1800" dirty="0">
                          <a:solidFill>
                            <a:srgbClr val="000099"/>
                          </a:solidFill>
                          <a:latin typeface="Times New Roman" panose="02020603050405020304" pitchFamily="18" charset="0"/>
                          <a:cs typeface="Times New Roman" panose="02020603050405020304" pitchFamily="18" charset="0"/>
                        </a:rPr>
                        <a:t>类弹簧</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Ⅱ</a:t>
                      </a:r>
                      <a:r>
                        <a:rPr lang="zh-CN" altLang="en-US" sz="1800" dirty="0">
                          <a:solidFill>
                            <a:srgbClr val="000099"/>
                          </a:solidFill>
                          <a:latin typeface="Times New Roman" panose="02020603050405020304" pitchFamily="18" charset="0"/>
                          <a:cs typeface="Times New Roman" panose="02020603050405020304" pitchFamily="18" charset="0"/>
                        </a:rPr>
                        <a:t>类弹簧</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Ⅲ</a:t>
                      </a:r>
                      <a:r>
                        <a:rPr lang="zh-CN" altLang="en-US" sz="1800" dirty="0">
                          <a:solidFill>
                            <a:srgbClr val="000099"/>
                          </a:solidFill>
                          <a:latin typeface="Times New Roman" panose="02020603050405020304" pitchFamily="18" charset="0"/>
                          <a:cs typeface="Times New Roman" panose="02020603050405020304" pitchFamily="18" charset="0"/>
                        </a:rPr>
                        <a:t>类弹簧</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r>
              <a:tr h="1096963">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zh-CN" altLang="en-US" sz="1800" dirty="0">
                          <a:solidFill>
                            <a:srgbClr val="000099"/>
                          </a:solidFill>
                          <a:latin typeface="Times New Roman" panose="02020603050405020304" pitchFamily="18" charset="0"/>
                          <a:cs typeface="Times New Roman" panose="02020603050405020304" pitchFamily="18" charset="0"/>
                        </a:rPr>
                        <a:t>碳素弹簧钢丝</a:t>
                      </a:r>
                      <a:r>
                        <a:rPr lang="en-US" altLang="zh-CN" sz="1800" dirty="0">
                          <a:solidFill>
                            <a:srgbClr val="000099"/>
                          </a:solidFill>
                          <a:latin typeface="Times New Roman" panose="02020603050405020304" pitchFamily="18" charset="0"/>
                          <a:cs typeface="Times New Roman" panose="02020603050405020304" pitchFamily="18" charset="0"/>
                        </a:rPr>
                        <a:t>SL,SM,DM,SH,DH</a:t>
                      </a:r>
                      <a:r>
                        <a:rPr lang="zh-CN" altLang="en-US" sz="1800" dirty="0">
                          <a:solidFill>
                            <a:srgbClr val="000099"/>
                          </a:solidFill>
                          <a:latin typeface="Times New Roman" panose="02020603050405020304" pitchFamily="18" charset="0"/>
                          <a:cs typeface="Times New Roman" panose="02020603050405020304" pitchFamily="18" charset="0"/>
                        </a:rPr>
                        <a:t>型</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71119"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0.3R</a:t>
                      </a:r>
                      <a:r>
                        <a:rPr lang="en-US" altLang="zh-CN" sz="1800" baseline="-25000" dirty="0">
                          <a:solidFill>
                            <a:srgbClr val="000099"/>
                          </a:solidFill>
                          <a:latin typeface="宋体" panose="02010600030101010101" pitchFamily="2" charset="-122"/>
                          <a:ea typeface="宋体" panose="02010600030101010101" pitchFamily="2" charset="-122"/>
                        </a:rPr>
                        <a:t>m</a:t>
                      </a:r>
                      <a:endParaRPr lang="en-US" altLang="zh-CN" sz="1800" baseline="-250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0.4R</a:t>
                      </a:r>
                      <a:r>
                        <a:rPr lang="en-US" altLang="zh-CN" sz="1800" baseline="-25000" dirty="0">
                          <a:solidFill>
                            <a:srgbClr val="000099"/>
                          </a:solidFill>
                          <a:latin typeface="宋体" panose="02010600030101010101" pitchFamily="2" charset="-122"/>
                          <a:ea typeface="宋体" panose="02010600030101010101" pitchFamily="2" charset="-122"/>
                        </a:rPr>
                        <a:t>m</a:t>
                      </a:r>
                      <a:endParaRPr lang="en-US" altLang="zh-CN" sz="1800" baseline="-250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0.5R</a:t>
                      </a:r>
                      <a:r>
                        <a:rPr lang="en-US" altLang="zh-CN" sz="1800" baseline="-25000" dirty="0">
                          <a:solidFill>
                            <a:srgbClr val="000099"/>
                          </a:solidFill>
                          <a:latin typeface="宋体" panose="02010600030101010101" pitchFamily="2" charset="-122"/>
                          <a:ea typeface="宋体" panose="02010600030101010101" pitchFamily="2" charset="-122"/>
                        </a:rPr>
                        <a:t>m</a:t>
                      </a:r>
                      <a:endParaRPr lang="en-US" altLang="zh-CN" sz="1800" baseline="-250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0.5R</a:t>
                      </a:r>
                      <a:r>
                        <a:rPr lang="en-US" altLang="zh-CN" sz="1800" baseline="-25000" dirty="0">
                          <a:solidFill>
                            <a:srgbClr val="000099"/>
                          </a:solidFill>
                          <a:latin typeface="宋体" panose="02010600030101010101" pitchFamily="2" charset="-122"/>
                          <a:ea typeface="宋体" panose="02010600030101010101" pitchFamily="2" charset="-122"/>
                        </a:rPr>
                        <a:t>m</a:t>
                      </a:r>
                      <a:endParaRPr lang="en-US" altLang="zh-CN" sz="1800" baseline="-250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宋体" panose="02010600030101010101" pitchFamily="2" charset="-122"/>
                          <a:ea typeface="宋体" panose="02010600030101010101" pitchFamily="2" charset="-122"/>
                        </a:rPr>
                        <a:t>0.62R</a:t>
                      </a:r>
                      <a:r>
                        <a:rPr lang="en-US" altLang="zh-CN" sz="1800" baseline="-25000" dirty="0">
                          <a:solidFill>
                            <a:srgbClr val="000099"/>
                          </a:solidFill>
                          <a:latin typeface="宋体" panose="02010600030101010101" pitchFamily="2" charset="-122"/>
                          <a:ea typeface="宋体" panose="02010600030101010101" pitchFamily="2" charset="-122"/>
                        </a:rPr>
                        <a:t>m</a:t>
                      </a:r>
                      <a:endParaRPr lang="en-US" altLang="zh-CN" sz="1800" baseline="-25000" dirty="0">
                        <a:solidFill>
                          <a:srgbClr val="000099"/>
                        </a:solidFill>
                        <a:latin typeface="宋体" panose="02010600030101010101" pitchFamily="2" charset="-122"/>
                        <a:ea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0.5≤d≤4</a:t>
                      </a:r>
                      <a:endParaRPr lang="en-US" altLang="zh-CN" sz="1800" dirty="0">
                        <a:solidFill>
                          <a:srgbClr val="000099"/>
                        </a:solidFill>
                        <a:latin typeface="Times New Roman" panose="02020603050405020304" pitchFamily="18" charset="0"/>
                        <a:cs typeface="Times New Roman" panose="02020603050405020304" pitchFamily="18" charset="0"/>
                      </a:endParaRPr>
                    </a:p>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207500</a:t>
                      </a:r>
                      <a:r>
                        <a:rPr lang="zh-CN" altLang="en-US" sz="1800" dirty="0">
                          <a:solidFill>
                            <a:srgbClr val="000099"/>
                          </a:solidFill>
                          <a:latin typeface="Times New Roman" panose="02020603050405020304" pitchFamily="18" charset="0"/>
                          <a:cs typeface="Times New Roman" panose="02020603050405020304" pitchFamily="18" charset="0"/>
                        </a:rPr>
                        <a:t>～</a:t>
                      </a:r>
                      <a:r>
                        <a:rPr lang="en-US" altLang="zh-CN" sz="1800" dirty="0">
                          <a:solidFill>
                            <a:srgbClr val="000099"/>
                          </a:solidFill>
                          <a:latin typeface="Times New Roman" panose="02020603050405020304" pitchFamily="18" charset="0"/>
                          <a:cs typeface="Times New Roman" panose="02020603050405020304" pitchFamily="18" charset="0"/>
                        </a:rPr>
                        <a:t>205000</a:t>
                      </a:r>
                      <a:endParaRPr lang="en-US" altLang="zh-CN" sz="1800" dirty="0">
                        <a:solidFill>
                          <a:srgbClr val="000099"/>
                        </a:solidFill>
                        <a:latin typeface="Times New Roman" panose="02020603050405020304" pitchFamily="18" charset="0"/>
                        <a:cs typeface="Times New Roman" panose="02020603050405020304" pitchFamily="18" charset="0"/>
                      </a:endParaRPr>
                    </a:p>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d&gt;4</a:t>
                      </a:r>
                      <a:endParaRPr lang="en-US" altLang="zh-CN" sz="1800" dirty="0">
                        <a:solidFill>
                          <a:srgbClr val="000099"/>
                        </a:solidFill>
                        <a:latin typeface="宋体" panose="02010600030101010101" pitchFamily="2" charset="-122"/>
                        <a:ea typeface="宋体" panose="02010600030101010101" pitchFamily="2" charset="-122"/>
                      </a:endParaRPr>
                    </a:p>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200000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0.5≤d≤4</a:t>
                      </a:r>
                      <a:endParaRPr lang="en-US" altLang="zh-CN" sz="1800" dirty="0">
                        <a:solidFill>
                          <a:srgbClr val="000099"/>
                        </a:solidFill>
                        <a:latin typeface="Times New Roman" panose="02020603050405020304" pitchFamily="18" charset="0"/>
                        <a:cs typeface="Times New Roman" panose="02020603050405020304" pitchFamily="18" charset="0"/>
                      </a:endParaRPr>
                    </a:p>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83000</a:t>
                      </a:r>
                      <a:r>
                        <a:rPr lang="zh-CN" altLang="en-US" sz="1800" dirty="0">
                          <a:solidFill>
                            <a:srgbClr val="000099"/>
                          </a:solidFill>
                          <a:latin typeface="Times New Roman" panose="02020603050405020304" pitchFamily="18" charset="0"/>
                          <a:cs typeface="Times New Roman" panose="02020603050405020304" pitchFamily="18" charset="0"/>
                        </a:rPr>
                        <a:t>～</a:t>
                      </a:r>
                      <a:r>
                        <a:rPr lang="en-US" altLang="zh-CN" sz="1800" dirty="0">
                          <a:solidFill>
                            <a:srgbClr val="000099"/>
                          </a:solidFill>
                          <a:latin typeface="Times New Roman" panose="02020603050405020304" pitchFamily="18" charset="0"/>
                          <a:cs typeface="Times New Roman" panose="02020603050405020304" pitchFamily="18" charset="0"/>
                        </a:rPr>
                        <a:t>80000</a:t>
                      </a:r>
                      <a:endParaRPr lang="en-US" altLang="zh-CN" sz="1800" dirty="0">
                        <a:solidFill>
                          <a:srgbClr val="000099"/>
                        </a:solidFill>
                        <a:latin typeface="Times New Roman" panose="02020603050405020304" pitchFamily="18" charset="0"/>
                        <a:cs typeface="Times New Roman" panose="02020603050405020304" pitchFamily="18" charset="0"/>
                      </a:endParaRPr>
                    </a:p>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d&gt;4</a:t>
                      </a:r>
                      <a:endParaRPr lang="en-US" altLang="zh-CN" sz="1800" dirty="0">
                        <a:solidFill>
                          <a:srgbClr val="000099"/>
                        </a:solidFill>
                        <a:latin typeface="Times New Roman" panose="02020603050405020304" pitchFamily="18" charset="0"/>
                        <a:cs typeface="Times New Roman" panose="02020603050405020304" pitchFamily="18" charset="0"/>
                      </a:endParaRPr>
                    </a:p>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80000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16509" marR="-6985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-40</a:t>
                      </a:r>
                      <a:r>
                        <a:rPr lang="zh-CN" altLang="en-US" sz="1800" dirty="0">
                          <a:solidFill>
                            <a:srgbClr val="000099"/>
                          </a:solidFill>
                          <a:latin typeface="Times New Roman" panose="02020603050405020304" pitchFamily="18" charset="0"/>
                          <a:cs typeface="Times New Roman" panose="02020603050405020304" pitchFamily="18" charset="0"/>
                        </a:rPr>
                        <a:t>～</a:t>
                      </a:r>
                      <a:r>
                        <a:rPr lang="en-US" altLang="zh-CN" sz="1800" dirty="0">
                          <a:solidFill>
                            <a:srgbClr val="000099"/>
                          </a:solidFill>
                          <a:latin typeface="Times New Roman" panose="02020603050405020304" pitchFamily="18" charset="0"/>
                          <a:cs typeface="Times New Roman" panose="02020603050405020304" pitchFamily="18" charset="0"/>
                        </a:rPr>
                        <a:t>130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 </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 </a:t>
                      </a:r>
                      <a:r>
                        <a:rPr lang="zh-CN" altLang="en-US" sz="1800" dirty="0">
                          <a:solidFill>
                            <a:srgbClr val="000099"/>
                          </a:solidFill>
                          <a:latin typeface="Times New Roman" panose="02020603050405020304" pitchFamily="18" charset="0"/>
                          <a:cs typeface="Times New Roman" panose="02020603050405020304" pitchFamily="18" charset="0"/>
                        </a:rPr>
                        <a:t>强度高，加工性能好，适用于小尺寸弹簧  </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9275">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65Mn</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sym typeface="+mn-ea"/>
                        </a:rPr>
                        <a:t>65Mn</a:t>
                      </a:r>
                      <a:r>
                        <a:rPr lang="zh-CN" altLang="en-US" sz="1800" dirty="0">
                          <a:solidFill>
                            <a:srgbClr val="000099"/>
                          </a:solidFill>
                          <a:latin typeface="Times New Roman" panose="02020603050405020304" pitchFamily="18" charset="0"/>
                          <a:cs typeface="Times New Roman" panose="02020603050405020304" pitchFamily="18" charset="0"/>
                          <a:sym typeface="+mn-ea"/>
                        </a:rPr>
                        <a:t>弹簧钢丝用作重要弹簧</a:t>
                      </a:r>
                      <a:endParaRPr lang="zh-CN" altLang="en-US" sz="1800" dirty="0">
                        <a:solidFill>
                          <a:srgbClr val="000099"/>
                        </a:solidFill>
                        <a:latin typeface="Times New Roman" panose="02020603050405020304" pitchFamily="18" charset="0"/>
                        <a:ea typeface="Times New Roman" panose="02020603050405020304" pitchFamily="18" charset="0"/>
                        <a:sym typeface="+mn-ea"/>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096962">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60Si2Mn</a:t>
                      </a:r>
                      <a:endParaRPr lang="en-US" altLang="zh-CN" sz="1800" dirty="0">
                        <a:solidFill>
                          <a:srgbClr val="000099"/>
                        </a:solidFill>
                        <a:latin typeface="Times New Roman" panose="02020603050405020304" pitchFamily="18" charset="0"/>
                        <a:cs typeface="Times New Roman" panose="02020603050405020304" pitchFamily="18" charset="0"/>
                      </a:endParaRPr>
                    </a:p>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60Si2MnA</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635" marR="-71119"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480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640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800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800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1000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200000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80000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-40</a:t>
                      </a:r>
                      <a:r>
                        <a:rPr lang="zh-CN" altLang="en-US" sz="1800" dirty="0">
                          <a:solidFill>
                            <a:srgbClr val="000099"/>
                          </a:solidFill>
                          <a:latin typeface="Times New Roman" panose="02020603050405020304" pitchFamily="18" charset="0"/>
                          <a:cs typeface="Times New Roman" panose="02020603050405020304" pitchFamily="18" charset="0"/>
                        </a:rPr>
                        <a:t>～</a:t>
                      </a:r>
                      <a:r>
                        <a:rPr lang="en-US" altLang="zh-CN" sz="1800" dirty="0">
                          <a:solidFill>
                            <a:srgbClr val="000099"/>
                          </a:solidFill>
                          <a:latin typeface="Times New Roman" panose="02020603050405020304" pitchFamily="18" charset="0"/>
                          <a:cs typeface="Times New Roman" panose="02020603050405020304" pitchFamily="18" charset="0"/>
                        </a:rPr>
                        <a:t>200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45</a:t>
                      </a:r>
                      <a:r>
                        <a:rPr lang="zh-CN" altLang="en-US" sz="1800" dirty="0">
                          <a:solidFill>
                            <a:srgbClr val="000099"/>
                          </a:solidFill>
                          <a:latin typeface="Times New Roman" panose="02020603050405020304" pitchFamily="18" charset="0"/>
                          <a:cs typeface="Times New Roman" panose="02020603050405020304" pitchFamily="18" charset="0"/>
                        </a:rPr>
                        <a:t>～</a:t>
                      </a:r>
                      <a:r>
                        <a:rPr lang="en-US" altLang="zh-CN" sz="1800" dirty="0">
                          <a:solidFill>
                            <a:srgbClr val="000099"/>
                          </a:solidFill>
                          <a:latin typeface="Times New Roman" panose="02020603050405020304" pitchFamily="18" charset="0"/>
                          <a:cs typeface="Times New Roman" panose="02020603050405020304" pitchFamily="18" charset="0"/>
                        </a:rPr>
                        <a:t>50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zh-CN" altLang="en-US" sz="1800" dirty="0">
                          <a:solidFill>
                            <a:srgbClr val="000099"/>
                          </a:solidFill>
                          <a:latin typeface="Times New Roman" panose="02020603050405020304" pitchFamily="18" charset="0"/>
                          <a:cs typeface="Times New Roman" panose="02020603050405020304" pitchFamily="18" charset="0"/>
                        </a:rPr>
                        <a:t>弹性好，回火稳定性好，易脱碳，用于承受大载荷弹簧</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23913">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50CrVA</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450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600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750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750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940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algn="ctr"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-40</a:t>
                      </a:r>
                      <a:r>
                        <a:rPr lang="zh-CN" altLang="en-US" sz="1800" dirty="0">
                          <a:solidFill>
                            <a:srgbClr val="000099"/>
                          </a:solidFill>
                          <a:latin typeface="Times New Roman" panose="02020603050405020304" pitchFamily="18" charset="0"/>
                          <a:cs typeface="Times New Roman" panose="02020603050405020304" pitchFamily="18" charset="0"/>
                        </a:rPr>
                        <a:t>～</a:t>
                      </a:r>
                      <a:r>
                        <a:rPr lang="en-US" altLang="zh-CN" sz="1800" dirty="0">
                          <a:solidFill>
                            <a:srgbClr val="000099"/>
                          </a:solidFill>
                          <a:latin typeface="Times New Roman" panose="02020603050405020304" pitchFamily="18" charset="0"/>
                          <a:cs typeface="Times New Roman" panose="02020603050405020304" pitchFamily="18" charset="0"/>
                        </a:rPr>
                        <a:t>210</a:t>
                      </a:r>
                      <a:endParaRPr lang="en-US" altLang="zh-CN"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vMerge="1">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lvl="0" eaLnBrk="1" hangingPunct="1">
                        <a:buNone/>
                      </a:pPr>
                      <a:r>
                        <a:rPr lang="en-US" altLang="zh-CN" sz="1800" dirty="0">
                          <a:solidFill>
                            <a:srgbClr val="000099"/>
                          </a:solidFill>
                          <a:latin typeface="Times New Roman" panose="02020603050405020304" pitchFamily="18" charset="0"/>
                          <a:cs typeface="Times New Roman" panose="02020603050405020304" pitchFamily="18" charset="0"/>
                        </a:rPr>
                        <a:t>  </a:t>
                      </a:r>
                      <a:r>
                        <a:rPr lang="zh-CN" altLang="en-US" sz="1800" dirty="0">
                          <a:solidFill>
                            <a:srgbClr val="000099"/>
                          </a:solidFill>
                          <a:latin typeface="Times New Roman" panose="02020603050405020304" pitchFamily="18" charset="0"/>
                          <a:cs typeface="Times New Roman" panose="02020603050405020304" pitchFamily="18" charset="0"/>
                        </a:rPr>
                        <a:t>疲劳性能好，淬硬性、回火稳定性好</a:t>
                      </a:r>
                      <a:endParaRPr lang="zh-CN" altLang="en-US" sz="18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7965" name="文本框 1"/>
          <p:cNvSpPr txBox="1"/>
          <p:nvPr/>
        </p:nvSpPr>
        <p:spPr>
          <a:xfrm>
            <a:off x="6877050" y="6196013"/>
            <a:ext cx="690563" cy="398462"/>
          </a:xfrm>
          <a:prstGeom prst="rect">
            <a:avLst/>
          </a:prstGeom>
          <a:noFill/>
          <a:ln w="9525">
            <a:noFill/>
          </a:ln>
        </p:spPr>
        <p:txBody>
          <a:bodyPr wrap="none">
            <a:spAutoFit/>
          </a:bodyPr>
          <a:lstStyle/>
          <a:p>
            <a:r>
              <a:rPr lang="zh-CN" altLang="en-US" sz="2000" dirty="0">
                <a:latin typeface="Tahoma" panose="020B0604030504040204" pitchFamily="34" charset="0"/>
                <a:hlinkClick r:id="rId2" action="ppaction://hlinksldjump"/>
              </a:rPr>
              <a:t>返回</a:t>
            </a:r>
            <a:endParaRPr lang="zh-CN" altLang="en-US" sz="2000" dirty="0">
              <a:latin typeface="Tahoma" panose="020B0604030504040204" pitchFamily="34" charset="0"/>
              <a:hlinkClick r:id="rId2" action="ppaction://hlinksldjump"/>
            </a:endParaRPr>
          </a:p>
        </p:txBody>
      </p:sp>
      <p:pic>
        <p:nvPicPr>
          <p:cNvPr id="37966" name="Picture 34" descr="rewind1">
            <a:hlinkClick r:id="rId3" action="ppaction://hlinksldjump"/>
          </p:cNvPr>
          <p:cNvPicPr>
            <a:picLocks noChangeAspect="1"/>
          </p:cNvPicPr>
          <p:nvPr/>
        </p:nvPicPr>
        <p:blipFill>
          <a:blip r:embed="rId4"/>
          <a:stretch>
            <a:fillRect/>
          </a:stretch>
        </p:blipFill>
        <p:spPr>
          <a:xfrm>
            <a:off x="8713788" y="6523038"/>
            <a:ext cx="287337" cy="287337"/>
          </a:xfrm>
          <a:prstGeom prst="rect">
            <a:avLst/>
          </a:prstGeom>
          <a:noFill/>
          <a:ln w="9525">
            <a:noFill/>
          </a:ln>
        </p:spPr>
      </p:pic>
      <p:sp>
        <p:nvSpPr>
          <p:cNvPr id="37967"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Text Box 62"/>
          <p:cNvSpPr txBox="1"/>
          <p:nvPr/>
        </p:nvSpPr>
        <p:spPr>
          <a:xfrm>
            <a:off x="6081713" y="61579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38915" name="文本框 99"/>
          <p:cNvSpPr txBox="1"/>
          <p:nvPr/>
        </p:nvSpPr>
        <p:spPr>
          <a:xfrm>
            <a:off x="1717040" y="260350"/>
            <a:ext cx="6236335" cy="460375"/>
          </a:xfrm>
          <a:prstGeom prst="rect">
            <a:avLst/>
          </a:prstGeom>
          <a:noFill/>
          <a:ln w="9525">
            <a:noFill/>
          </a:ln>
        </p:spPr>
        <p:txBody>
          <a:bodyPr wrap="square">
            <a:spAutoFit/>
          </a:bodyPr>
          <a:lstStyle/>
          <a:p>
            <a:pPr algn="ctr"/>
            <a:r>
              <a:rPr lang="zh-CN" altLang="en-US" sz="2400" dirty="0">
                <a:solidFill>
                  <a:srgbClr val="C00000"/>
                </a:solidFill>
                <a:latin typeface="宋体" panose="02010600030101010101" pitchFamily="2" charset="-122"/>
              </a:rPr>
              <a:t>碳素弹簧钢丝及</a:t>
            </a:r>
            <a:r>
              <a:rPr lang="en-US" altLang="zh-CN" sz="2400" dirty="0">
                <a:solidFill>
                  <a:srgbClr val="C00000"/>
                </a:solidFill>
                <a:latin typeface="Times New Roman" panose="02020603050405020304" pitchFamily="18" charset="0"/>
                <a:cs typeface="Times New Roman" panose="02020603050405020304" pitchFamily="18" charset="0"/>
              </a:rPr>
              <a:t>65Mn</a:t>
            </a:r>
            <a:r>
              <a:rPr lang="zh-CN" altLang="en-US" sz="2400" dirty="0">
                <a:solidFill>
                  <a:srgbClr val="C00000"/>
                </a:solidFill>
                <a:latin typeface="宋体" panose="02010600030101010101" pitchFamily="2" charset="-122"/>
              </a:rPr>
              <a:t>弹簧钢丝的抗拉强度</a:t>
            </a:r>
            <a:r>
              <a:rPr lang="en-US" altLang="zh-CN" sz="2400" i="1" dirty="0">
                <a:solidFill>
                  <a:srgbClr val="C00000"/>
                </a:solidFill>
                <a:latin typeface="Times New Roman" panose="02020603050405020304" pitchFamily="18" charset="0"/>
                <a:cs typeface="Times New Roman" panose="02020603050405020304" pitchFamily="18" charset="0"/>
              </a:rPr>
              <a:t>R</a:t>
            </a:r>
            <a:r>
              <a:rPr lang="en-US" altLang="zh-CN" sz="2400" baseline="-25000" dirty="0">
                <a:solidFill>
                  <a:srgbClr val="C00000"/>
                </a:solidFill>
                <a:latin typeface="Times New Roman" panose="02020603050405020304" pitchFamily="18" charset="0"/>
                <a:cs typeface="Times New Roman" panose="02020603050405020304" pitchFamily="18" charset="0"/>
              </a:rPr>
              <a:t>m</a:t>
            </a:r>
            <a:r>
              <a:rPr lang="en-US" altLang="zh-CN" sz="2400" dirty="0">
                <a:solidFill>
                  <a:srgbClr val="C00000"/>
                </a:solidFill>
                <a:latin typeface="宋体" panose="02010600030101010101" pitchFamily="2" charset="-122"/>
              </a:rPr>
              <a:t> </a:t>
            </a:r>
            <a:endParaRPr lang="en-US" altLang="zh-CN" sz="2400" dirty="0">
              <a:solidFill>
                <a:srgbClr val="C00000"/>
              </a:solidFill>
              <a:latin typeface="宋体" panose="02010600030101010101" pitchFamily="2" charset="-122"/>
            </a:endParaRPr>
          </a:p>
        </p:txBody>
      </p:sp>
      <p:graphicFrame>
        <p:nvGraphicFramePr>
          <p:cNvPr id="2" name="表格 -1"/>
          <p:cNvGraphicFramePr/>
          <p:nvPr/>
        </p:nvGraphicFramePr>
        <p:xfrm>
          <a:off x="327025" y="1339850"/>
          <a:ext cx="8491855" cy="4674235"/>
        </p:xfrm>
        <a:graphic>
          <a:graphicData uri="http://schemas.openxmlformats.org/drawingml/2006/table">
            <a:tbl>
              <a:tblPr firstRow="1" bandRow="1">
                <a:tableStyleId>{5940675A-B579-460E-94D1-54222C63F5DA}</a:tableStyleId>
              </a:tblPr>
              <a:tblGrid>
                <a:gridCol w="1387475"/>
                <a:gridCol w="723900"/>
                <a:gridCol w="696976"/>
                <a:gridCol w="593725"/>
                <a:gridCol w="827151"/>
                <a:gridCol w="424180"/>
                <a:gridCol w="996696"/>
                <a:gridCol w="311150"/>
                <a:gridCol w="1109726"/>
                <a:gridCol w="143256"/>
                <a:gridCol w="1277620"/>
              </a:tblGrid>
              <a:tr h="302260">
                <a:tc rowSpan="2">
                  <a:txBody>
                    <a:bodyPr/>
                    <a:lstStyle/>
                    <a:p>
                      <a:pPr indent="0" algn="ctr">
                        <a:buNone/>
                      </a:pP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钢丝公称直径</a:t>
                      </a:r>
                      <a:r>
                        <a:rPr lang="en-US" altLang="zh-CN" sz="1800" b="0" i="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/mm</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10">
                  <a:txBody>
                    <a:bodyPr/>
                    <a:lstStyle/>
                    <a:p>
                      <a:pPr indent="0" algn="ctr">
                        <a:buNone/>
                      </a:pP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碳素弹簧钢丝抗拉强度</a:t>
                      </a:r>
                      <a:r>
                        <a:rPr lang="en-US" altLang="zh-CN" sz="1800" b="0" i="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800" b="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a:t>
                      </a:r>
                      <a:endParaRPr lang="en-US" altLang="zh-CN" sz="1800" b="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13690">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SL</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型</a:t>
                      </a:r>
                      <a:endPar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SM</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型</a:t>
                      </a:r>
                      <a:endPar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DM</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型</a:t>
                      </a:r>
                      <a:endPar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SH</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型</a:t>
                      </a:r>
                      <a:endPar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DH</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型</a:t>
                      </a:r>
                      <a:endPar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0355">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1670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1910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1920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2160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1920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2160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2170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2400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2170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2400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9720">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1590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1820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1830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1830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20500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2290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2290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9720">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1550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1780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1790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2010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1790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2010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2020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2240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2020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2240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7020">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1520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1970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1970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1980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1980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0355">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1680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1690</a:t>
                      </a:r>
                      <a:r>
                        <a:rPr lang="zh-CN" altLang="en-US" sz="18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1890</a:t>
                      </a:r>
                      <a:endParaRPr lang="en-US" altLang="zh-CN" sz="18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1690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1890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1900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2110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1900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2110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3055">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2.80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1420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1640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1650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1650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2070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2070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0355">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1410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1620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1630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1630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1840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2040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1840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2040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0355">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3.60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1350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1560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1570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1760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1570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1760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1770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1970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1770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1970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3055">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4.00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1320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1520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1530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1530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1740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1740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1930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99720">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5.00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1260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1660</a:t>
                      </a: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1830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3055">
                <a:tc gridSpan="11">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65Mn</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0">
                <a:tc gridSpan="2">
                  <a:txBody>
                    <a:bodyPr/>
                    <a:lstStyle/>
                    <a:p>
                      <a:pPr indent="0" algn="ctr">
                        <a:buNone/>
                      </a:pPr>
                      <a:r>
                        <a:rPr lang="zh-CN" altLang="en-US"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钢丝直径</a:t>
                      </a:r>
                      <a:r>
                        <a:rPr lang="en-US" altLang="zh-CN" sz="1800" b="0" i="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/mm</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sym typeface="+mn-ea"/>
                        </a:rPr>
                        <a:t>1~1.2</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sym typeface="+mn-ea"/>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1.4~1.6</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1.8~2</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2.2~2.5</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nchor="ct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2.8~3.4</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236855">
                <a:tc gridSpan="2">
                  <a:txBody>
                    <a:bodyPr/>
                    <a:lstStyle/>
                    <a:p>
                      <a:pPr indent="0" algn="ctr">
                        <a:buNone/>
                      </a:pPr>
                      <a:r>
                        <a:rPr lang="en-US" altLang="zh-CN" sz="1800" b="0" i="1">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R</a:t>
                      </a:r>
                      <a:r>
                        <a:rPr lang="en-US" altLang="zh-CN" sz="1800" b="0" baseline="-250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a:t>
                      </a: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(MPa)</a:t>
                      </a:r>
                      <a:endParaRPr lang="en-US" altLang="zh-CN" sz="1800" b="0" i="1">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a:solidFill>
                            <a:srgbClr val="000099"/>
                          </a:solidFill>
                          <a:latin typeface="Times New Roman" panose="02020603050405020304" pitchFamily="18" charset="0"/>
                          <a:ea typeface="华文中宋" panose="02010600040101010101" pitchFamily="2" charset="-122"/>
                          <a:cs typeface="Times New Roman" panose="02020603050405020304" pitchFamily="18" charset="0"/>
                          <a:sym typeface="+mn-ea"/>
                        </a:rPr>
                        <a:t>1800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sym typeface="+mn-ea"/>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hMerge="1">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1700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gridSpan="2">
                  <a:txBody>
                    <a:bodyPr/>
                    <a:lstStyle/>
                    <a:p>
                      <a:pPr indent="0" algn="ctr">
                        <a:buNone/>
                      </a:pPr>
                      <a:r>
                        <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1650</a:t>
                      </a:r>
                      <a:endParaRPr lang="en-US" altLang="zh-CN" sz="1800" b="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hMerge="1">
                  <a:tcPr anchor="ct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c>
                  <a:txBody>
                    <a:bodyPr/>
                    <a:lstStyle/>
                    <a:p>
                      <a:pPr indent="0" algn="ctr">
                        <a:buNone/>
                      </a:pPr>
                      <a:r>
                        <a:rPr lang="en-US" altLang="zh-CN" sz="18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rPr>
                        <a:t>1600</a:t>
                      </a:r>
                      <a:endParaRPr lang="en-US" altLang="zh-CN" sz="1800" b="0" dirty="0">
                        <a:solidFill>
                          <a:srgbClr val="000099"/>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tcPr>
                </a:tc>
              </a:tr>
            </a:tbl>
          </a:graphicData>
        </a:graphic>
      </p:graphicFrame>
      <p:sp>
        <p:nvSpPr>
          <p:cNvPr id="39028" name="文本框 1"/>
          <p:cNvSpPr txBox="1"/>
          <p:nvPr/>
        </p:nvSpPr>
        <p:spPr>
          <a:xfrm>
            <a:off x="6877050" y="6196013"/>
            <a:ext cx="690563" cy="398462"/>
          </a:xfrm>
          <a:prstGeom prst="rect">
            <a:avLst/>
          </a:prstGeom>
          <a:noFill/>
          <a:ln w="9525">
            <a:noFill/>
          </a:ln>
        </p:spPr>
        <p:txBody>
          <a:bodyPr wrap="none">
            <a:spAutoFit/>
          </a:bodyPr>
          <a:lstStyle/>
          <a:p>
            <a:r>
              <a:rPr lang="zh-CN" altLang="en-US" sz="2000" dirty="0">
                <a:latin typeface="Tahoma" panose="020B0604030504040204" pitchFamily="34" charset="0"/>
                <a:hlinkClick r:id="rId1" action="ppaction://hlinksldjump"/>
              </a:rPr>
              <a:t>返回</a:t>
            </a:r>
            <a:endParaRPr lang="zh-CN" altLang="en-US" sz="2000" dirty="0">
              <a:latin typeface="Tahoma" panose="020B0604030504040204" pitchFamily="34" charset="0"/>
              <a:hlinkClick r:id="rId1" action="ppaction://hlinksldjump"/>
            </a:endParaRPr>
          </a:p>
        </p:txBody>
      </p:sp>
      <p:pic>
        <p:nvPicPr>
          <p:cNvPr id="39029" name="Picture 34" descr="rewind1">
            <a:hlinkClick r:id="rId2" action="ppaction://hlinksldjump"/>
          </p:cNvPr>
          <p:cNvPicPr>
            <a:picLocks noChangeAspect="1"/>
          </p:cNvPicPr>
          <p:nvPr/>
        </p:nvPicPr>
        <p:blipFill>
          <a:blip r:embed="rId3"/>
          <a:stretch>
            <a:fillRect/>
          </a:stretch>
        </p:blipFill>
        <p:spPr>
          <a:xfrm>
            <a:off x="8713788" y="6523038"/>
            <a:ext cx="287337" cy="287337"/>
          </a:xfrm>
          <a:prstGeom prst="rect">
            <a:avLst/>
          </a:prstGeom>
          <a:noFill/>
          <a:ln w="9525">
            <a:noFill/>
          </a:ln>
        </p:spPr>
      </p:pic>
      <p:sp>
        <p:nvSpPr>
          <p:cNvPr id="39030"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Text Box 62"/>
          <p:cNvSpPr txBox="1"/>
          <p:nvPr/>
        </p:nvSpPr>
        <p:spPr>
          <a:xfrm>
            <a:off x="6081713" y="6157913"/>
            <a:ext cx="268287" cy="427037"/>
          </a:xfrm>
          <a:prstGeom prst="rect">
            <a:avLst/>
          </a:prstGeom>
          <a:noFill/>
          <a:ln w="9525">
            <a:noFill/>
          </a:ln>
        </p:spPr>
        <p:txBody>
          <a:bodyPr wrap="none" lIns="90000" tIns="46800" rIns="90000" bIns="46800">
            <a:spAutoFit/>
          </a:bodyPr>
          <a:lstStyle/>
          <a:p>
            <a:r>
              <a:rPr lang="en-US" altLang="zh-CN" dirty="0">
                <a:latin typeface="Tahoma" panose="020B0604030504040204" pitchFamily="34" charset="0"/>
              </a:rPr>
              <a:t> </a:t>
            </a:r>
            <a:endParaRPr lang="en-US" altLang="zh-CN" dirty="0">
              <a:latin typeface="Tahoma" panose="020B0604030504040204" pitchFamily="34" charset="0"/>
            </a:endParaRPr>
          </a:p>
        </p:txBody>
      </p:sp>
      <p:sp>
        <p:nvSpPr>
          <p:cNvPr id="39939" name="文本框 99"/>
          <p:cNvSpPr txBox="1"/>
          <p:nvPr/>
        </p:nvSpPr>
        <p:spPr>
          <a:xfrm>
            <a:off x="2987675" y="188595"/>
            <a:ext cx="5080000" cy="460375"/>
          </a:xfrm>
          <a:prstGeom prst="rect">
            <a:avLst/>
          </a:prstGeom>
          <a:noFill/>
          <a:ln w="9525">
            <a:noFill/>
          </a:ln>
        </p:spPr>
        <p:txBody>
          <a:bodyPr>
            <a:spAutoFit/>
          </a:bodyPr>
          <a:lstStyle/>
          <a:p>
            <a:pPr algn="ctr"/>
            <a:r>
              <a:rPr lang="zh-CN" altLang="en-US" sz="2400" dirty="0">
                <a:solidFill>
                  <a:srgbClr val="C00000"/>
                </a:solidFill>
                <a:latin typeface="黑体" panose="02010609060101010101" pitchFamily="49" charset="-122"/>
                <a:ea typeface="黑体" panose="02010609060101010101" pitchFamily="49" charset="-122"/>
              </a:rPr>
              <a:t>圆柱螺旋弹簧尺寸系列</a:t>
            </a:r>
            <a:endParaRPr lang="zh-CN" altLang="en-US" sz="2400" dirty="0">
              <a:solidFill>
                <a:srgbClr val="C00000"/>
              </a:solidFill>
              <a:latin typeface="黑体" panose="02010609060101010101" pitchFamily="49" charset="-122"/>
              <a:ea typeface="黑体" panose="02010609060101010101" pitchFamily="49" charset="-122"/>
            </a:endParaRPr>
          </a:p>
        </p:txBody>
      </p:sp>
      <p:graphicFrame>
        <p:nvGraphicFramePr>
          <p:cNvPr id="39940" name="表格 39939"/>
          <p:cNvGraphicFramePr/>
          <p:nvPr>
            <p:custDataLst>
              <p:tags r:id="rId1"/>
            </p:custDataLst>
          </p:nvPr>
        </p:nvGraphicFramePr>
        <p:xfrm>
          <a:off x="179705" y="1196658"/>
          <a:ext cx="8839200" cy="4973955"/>
        </p:xfrm>
        <a:graphic>
          <a:graphicData uri="http://schemas.openxmlformats.org/drawingml/2006/table">
            <a:tbl>
              <a:tblPr/>
              <a:tblGrid>
                <a:gridCol w="482600"/>
                <a:gridCol w="477838"/>
                <a:gridCol w="7878762"/>
              </a:tblGrid>
              <a:tr h="757555">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线径</a:t>
                      </a:r>
                      <a:r>
                        <a:rPr lang="en-US" altLang="zh-CN" sz="1600" i="1" dirty="0">
                          <a:solidFill>
                            <a:srgbClr val="000099"/>
                          </a:solidFill>
                          <a:latin typeface="Times New Roman" panose="02020603050405020304" pitchFamily="18" charset="0"/>
                          <a:cs typeface="Times New Roman" panose="02020603050405020304" pitchFamily="18" charset="0"/>
                        </a:rPr>
                        <a:t>d</a:t>
                      </a:r>
                      <a:r>
                        <a:rPr lang="en-US" altLang="zh-CN" sz="1600" dirty="0">
                          <a:solidFill>
                            <a:srgbClr val="000099"/>
                          </a:solidFill>
                          <a:latin typeface="Times New Roman" panose="02020603050405020304" pitchFamily="18" charset="0"/>
                          <a:cs typeface="Times New Roman" panose="02020603050405020304" pitchFamily="18" charset="0"/>
                        </a:rPr>
                        <a:t>/</a:t>
                      </a:r>
                      <a:endParaRPr lang="en-US" altLang="zh-CN" sz="1600" dirty="0">
                        <a:solidFill>
                          <a:srgbClr val="000099"/>
                        </a:solidFill>
                        <a:latin typeface="Times New Roman" panose="02020603050405020304" pitchFamily="18" charset="0"/>
                        <a:cs typeface="Times New Roman" panose="02020603050405020304" pitchFamily="18" charset="0"/>
                      </a:endParaRPr>
                    </a:p>
                    <a:p>
                      <a:pPr marL="3492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mm</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第一系列</a:t>
                      </a:r>
                      <a:endParaRPr lang="zh-CN" altLang="en-US"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7175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0.10  0.12  0.14  0.16  0.20  0.25  0.30  0.35  0.40  0.45  0.50  0.60  0.70  0.80  0.90  1.00  1.20  1.60  2.00  2.50  3.00  3.50  4.00  4.50  5.00  6.00  8.00  10.0  12.0  15.0  16.0  20.0  25.0  30.0  35.0  40.0  45.0  50.0  60.0  </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4675">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第二系列</a:t>
                      </a:r>
                      <a:endParaRPr lang="zh-CN" altLang="en-US"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7175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0.05  0.06  0.07  0.08  0.09  0.18  0.22  0.28  0.32  0.55  0.65  1.40  1.80  2.20  2.80  3.20  5.50  6.50  7.00  9.00  11.0  14.0  18.0  22.0  28.0  32.0  38.0  42.0  55.0 </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2192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弹簧中径</a:t>
                      </a:r>
                      <a:r>
                        <a:rPr lang="en-US" altLang="zh-CN" sz="1600" i="1" dirty="0">
                          <a:solidFill>
                            <a:srgbClr val="000099"/>
                          </a:solidFill>
                          <a:latin typeface="Times New Roman" panose="02020603050405020304" pitchFamily="18" charset="0"/>
                          <a:cs typeface="Times New Roman" panose="02020603050405020304" pitchFamily="18" charset="0"/>
                        </a:rPr>
                        <a:t>D</a:t>
                      </a:r>
                      <a:r>
                        <a:rPr lang="en-US" altLang="zh-CN" sz="1600" dirty="0">
                          <a:solidFill>
                            <a:srgbClr val="000099"/>
                          </a:solidFill>
                          <a:latin typeface="Times New Roman" panose="02020603050405020304" pitchFamily="18" charset="0"/>
                          <a:cs typeface="Times New Roman" panose="02020603050405020304" pitchFamily="18" charset="0"/>
                        </a:rPr>
                        <a:t>/</a:t>
                      </a:r>
                      <a:endParaRPr lang="en-US" altLang="zh-CN" sz="1600" dirty="0">
                        <a:solidFill>
                          <a:srgbClr val="000099"/>
                        </a:solidFill>
                        <a:latin typeface="Times New Roman" panose="02020603050405020304" pitchFamily="18" charset="0"/>
                        <a:cs typeface="Times New Roman" panose="02020603050405020304" pitchFamily="18" charset="0"/>
                      </a:endParaRPr>
                    </a:p>
                    <a:p>
                      <a:pPr marL="3492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mm</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 </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7175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0.3   0.4   0.5   0.6</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0.7</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0.8</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0.9</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1</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1.2 </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1.4</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1.6</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1.8</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2</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2.2</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2.5 </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2.8  </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3</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3.2   3.5   3.8    4</a:t>
                      </a:r>
                      <a:r>
                        <a:rPr lang="en-US" altLang="zh-CN" sz="1600" dirty="0">
                          <a:solidFill>
                            <a:srgbClr val="000099"/>
                          </a:solidFill>
                          <a:latin typeface="Times New Roman" panose="02020603050405020304" pitchFamily="18" charset="0"/>
                          <a:cs typeface="Times New Roman" panose="02020603050405020304" pitchFamily="18" charset="0"/>
                          <a:sym typeface="+mn-ea"/>
                        </a:rPr>
                        <a:t>     </a:t>
                      </a:r>
                      <a:r>
                        <a:rPr lang="en-US" altLang="zh-CN" sz="1600" dirty="0">
                          <a:solidFill>
                            <a:srgbClr val="000099"/>
                          </a:solidFill>
                          <a:latin typeface="Times New Roman" panose="02020603050405020304" pitchFamily="18" charset="0"/>
                          <a:cs typeface="Times New Roman" panose="02020603050405020304" pitchFamily="18" charset="0"/>
                        </a:rPr>
                        <a:t>4.2   4.5   4.8    5     5.5    6    6.5    7      7.5    8     8.5    9     10    12    14    16    18    20    22    25    28    30    32    38    42    45    48    50    52    55    58    60    65    70    75    80    85    90    95    100  105  110  115  120  125  130  135  140  145  150  160  170  180  190  200  210  220  230  240  250  260  270  280  290  300  320  340  360  380  400  450  500  550  600 </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66737">
                <a:tc rowSpan="2">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有效圈数</a:t>
                      </a:r>
                      <a:r>
                        <a:rPr lang="en-US" altLang="zh-CN" sz="1600" i="1" dirty="0">
                          <a:solidFill>
                            <a:srgbClr val="000099"/>
                          </a:solidFill>
                          <a:latin typeface="Times New Roman" panose="02020603050405020304" pitchFamily="18" charset="0"/>
                          <a:cs typeface="Times New Roman" panose="02020603050405020304" pitchFamily="18" charset="0"/>
                        </a:rPr>
                        <a:t>n</a:t>
                      </a:r>
                      <a:r>
                        <a:rPr lang="en-US" altLang="zh-CN" sz="1600" dirty="0">
                          <a:solidFill>
                            <a:srgbClr val="000099"/>
                          </a:solidFill>
                          <a:latin typeface="Times New Roman" panose="02020603050405020304" pitchFamily="18" charset="0"/>
                          <a:cs typeface="Times New Roman" panose="02020603050405020304" pitchFamily="18" charset="0"/>
                        </a:rPr>
                        <a:t>/</a:t>
                      </a:r>
                      <a:r>
                        <a:rPr lang="zh-CN" altLang="en-US" sz="1600" dirty="0">
                          <a:solidFill>
                            <a:srgbClr val="000099"/>
                          </a:solidFill>
                          <a:latin typeface="Times New Roman" panose="02020603050405020304" pitchFamily="18" charset="0"/>
                          <a:cs typeface="Times New Roman" panose="02020603050405020304" pitchFamily="18" charset="0"/>
                        </a:rPr>
                        <a:t>圈</a:t>
                      </a:r>
                      <a:endParaRPr lang="zh-CN" altLang="en-US"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压缩弹簧</a:t>
                      </a:r>
                      <a:endParaRPr lang="zh-CN" altLang="en-US"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7175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 2  2.25  2.5  2.75   3   3.25   3.5   3.75    4   4.25  4.5  4.75  5  5.5   6   6.5  7   7.5  8  8.5   9    9.5  10  10.5  11.5  12.5  13.5  14.5  15   16   18   20   22  25  28  30  </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34988">
                <a:tc vMerge="1">
                  <a:tcP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拉伸弹簧</a:t>
                      </a:r>
                      <a:endParaRPr lang="zh-CN" altLang="en-US"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7175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 2    3    4    5    6    7    8    9   10  11  12   13  14  15  16  17  18  19  20  22  25  28  30  35  40  45  50  55  60  65  70  80  90  100</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320800">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自由高度</a:t>
                      </a:r>
                      <a:r>
                        <a:rPr lang="en-US" altLang="zh-CN" sz="1600" i="1" dirty="0">
                          <a:solidFill>
                            <a:srgbClr val="000099"/>
                          </a:solidFill>
                          <a:latin typeface="Times New Roman" panose="02020603050405020304" pitchFamily="18" charset="0"/>
                          <a:cs typeface="Times New Roman" panose="02020603050405020304" pitchFamily="18" charset="0"/>
                        </a:rPr>
                        <a:t>H</a:t>
                      </a:r>
                      <a:r>
                        <a:rPr lang="en-US" altLang="zh-CN" sz="1600" i="1" baseline="-25000" dirty="0">
                          <a:solidFill>
                            <a:srgbClr val="000099"/>
                          </a:solidFill>
                          <a:latin typeface="Times New Roman" panose="02020603050405020304" pitchFamily="18" charset="0"/>
                          <a:cs typeface="Times New Roman" panose="02020603050405020304" pitchFamily="18" charset="0"/>
                        </a:rPr>
                        <a:t>0</a:t>
                      </a:r>
                      <a:r>
                        <a:rPr lang="en-US" altLang="zh-CN" sz="1600" i="1" dirty="0">
                          <a:solidFill>
                            <a:srgbClr val="000099"/>
                          </a:solidFill>
                          <a:latin typeface="Times New Roman" panose="02020603050405020304" pitchFamily="18" charset="0"/>
                          <a:cs typeface="Times New Roman" panose="02020603050405020304" pitchFamily="18" charset="0"/>
                        </a:rPr>
                        <a:t>/</a:t>
                      </a:r>
                      <a:endParaRPr lang="en-US" altLang="zh-CN" sz="1600" i="1" dirty="0">
                        <a:solidFill>
                          <a:srgbClr val="000099"/>
                        </a:solidFill>
                        <a:latin typeface="Times New Roman" panose="02020603050405020304" pitchFamily="18" charset="0"/>
                        <a:cs typeface="Times New Roman" panose="02020603050405020304" pitchFamily="18" charset="0"/>
                      </a:endParaRPr>
                    </a:p>
                    <a:p>
                      <a:pPr marL="34925" lvl="0" indent="0" eaLnBrk="1" hangingPunct="1">
                        <a:buNone/>
                      </a:pPr>
                      <a:r>
                        <a:rPr lang="en-US" altLang="zh-CN" sz="1600" i="1" dirty="0">
                          <a:solidFill>
                            <a:srgbClr val="000099"/>
                          </a:solidFill>
                          <a:latin typeface="Times New Roman" panose="02020603050405020304" pitchFamily="18" charset="0"/>
                          <a:cs typeface="Times New Roman" panose="02020603050405020304" pitchFamily="18" charset="0"/>
                        </a:rPr>
                        <a:t>mm</a:t>
                      </a:r>
                      <a:endParaRPr lang="en-US" altLang="zh-CN" sz="1600" i="1" dirty="0">
                        <a:solidFill>
                          <a:srgbClr val="000099"/>
                        </a:solidFill>
                        <a:latin typeface="Times New Roman" panose="02020603050405020304" pitchFamily="18" charset="0"/>
                        <a:ea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34925" lvl="0" indent="0" eaLnBrk="1" hangingPunct="1">
                        <a:buNone/>
                      </a:pPr>
                      <a:r>
                        <a:rPr lang="zh-CN" altLang="en-US" sz="1600" dirty="0">
                          <a:solidFill>
                            <a:srgbClr val="000099"/>
                          </a:solidFill>
                          <a:latin typeface="Times New Roman" panose="02020603050405020304" pitchFamily="18" charset="0"/>
                          <a:cs typeface="Times New Roman" panose="02020603050405020304" pitchFamily="18" charset="0"/>
                        </a:rPr>
                        <a:t>压缩弹簧</a:t>
                      </a:r>
                      <a:endParaRPr lang="zh-CN" altLang="en-US"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200" b="0" i="0" u="none" kern="1200" baseline="0">
                          <a:solidFill>
                            <a:schemeClr val="tx1"/>
                          </a:solidFill>
                          <a:latin typeface="Tahoma" panose="020B0604030504040204" pitchFamily="34" charset="0"/>
                          <a:ea typeface="华文中宋" panose="02010600040101010101" pitchFamily="2" charset="-122"/>
                          <a:cs typeface="+mn-cs"/>
                        </a:defRPr>
                      </a:lvl5pPr>
                    </a:lstStyle>
                    <a:p>
                      <a:pPr marL="71755" lvl="0" indent="0" eaLnBrk="1" hangingPunct="1">
                        <a:buNone/>
                      </a:pPr>
                      <a:r>
                        <a:rPr lang="en-US" altLang="zh-CN" sz="1600" dirty="0">
                          <a:solidFill>
                            <a:srgbClr val="000099"/>
                          </a:solidFill>
                          <a:latin typeface="Times New Roman" panose="02020603050405020304" pitchFamily="18" charset="0"/>
                          <a:cs typeface="Times New Roman" panose="02020603050405020304" pitchFamily="18" charset="0"/>
                        </a:rPr>
                        <a:t> 2      3      4      5      6      7      8      9     10    11    12    13    14    15    16    17    18   19    20    22    24    26    28    30    32    35    38    40    42    45    48    50    52    55   58    60    65    70    75    80    85    90    95    100  105  110  115  120  130  140  150  160  170  180  190  200  220  240  260  280  300  320  340  380  400  420  450  480  500  520  550  580  600  620  650  680  700  720  750  780  800  850  900  950  1000</a:t>
                      </a:r>
                      <a:endParaRPr lang="en-US" altLang="zh-CN" sz="1600" dirty="0">
                        <a:solidFill>
                          <a:srgbClr val="000099"/>
                        </a:solidFill>
                        <a:latin typeface="Times New Roman" panose="02020603050405020304" pitchFamily="18" charset="0"/>
                        <a:ea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39969" name="文本框 1"/>
          <p:cNvSpPr txBox="1"/>
          <p:nvPr/>
        </p:nvSpPr>
        <p:spPr>
          <a:xfrm>
            <a:off x="6877050" y="6340475"/>
            <a:ext cx="690563" cy="398463"/>
          </a:xfrm>
          <a:prstGeom prst="rect">
            <a:avLst/>
          </a:prstGeom>
          <a:noFill/>
          <a:ln w="9525">
            <a:noFill/>
          </a:ln>
        </p:spPr>
        <p:txBody>
          <a:bodyPr wrap="none">
            <a:spAutoFit/>
          </a:bodyPr>
          <a:lstStyle/>
          <a:p>
            <a:r>
              <a:rPr lang="zh-CN" altLang="en-US" sz="2000" dirty="0">
                <a:latin typeface="Tahoma" panose="020B0604030504040204" pitchFamily="34" charset="0"/>
                <a:hlinkClick r:id="rId2" action="ppaction://hlinksldjump"/>
              </a:rPr>
              <a:t>返回</a:t>
            </a:r>
            <a:endParaRPr lang="zh-CN" altLang="en-US" sz="2000" dirty="0">
              <a:latin typeface="Tahoma" panose="020B0604030504040204" pitchFamily="34" charset="0"/>
              <a:hlinkClick r:id="rId2" action="ppaction://hlinksldjump"/>
            </a:endParaRPr>
          </a:p>
        </p:txBody>
      </p:sp>
      <p:pic>
        <p:nvPicPr>
          <p:cNvPr id="39970" name="Picture 34" descr="rewind1">
            <a:hlinkClick r:id="rId2" action="ppaction://hlinksldjump"/>
          </p:cNvPr>
          <p:cNvPicPr>
            <a:picLocks noChangeAspect="1"/>
          </p:cNvPicPr>
          <p:nvPr/>
        </p:nvPicPr>
        <p:blipFill>
          <a:blip r:embed="rId3"/>
          <a:stretch>
            <a:fillRect/>
          </a:stretch>
        </p:blipFill>
        <p:spPr>
          <a:xfrm>
            <a:off x="8713788" y="6523038"/>
            <a:ext cx="287337" cy="287337"/>
          </a:xfrm>
          <a:prstGeom prst="rect">
            <a:avLst/>
          </a:prstGeom>
          <a:noFill/>
          <a:ln w="9525">
            <a:noFill/>
          </a:ln>
        </p:spPr>
      </p:pic>
      <p:sp>
        <p:nvSpPr>
          <p:cNvPr id="39971"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203" name="Picture 28" descr="rewind1">
            <a:hlinkClick r:id="rId1" action="ppaction://hlinksldjump"/>
          </p:cNvPr>
          <p:cNvPicPr>
            <a:picLocks noChangeAspect="1"/>
          </p:cNvPicPr>
          <p:nvPr/>
        </p:nvPicPr>
        <p:blipFill>
          <a:blip r:embed="rId2"/>
          <a:stretch>
            <a:fillRect/>
          </a:stretch>
        </p:blipFill>
        <p:spPr>
          <a:xfrm>
            <a:off x="8475663" y="6508750"/>
            <a:ext cx="287337" cy="287338"/>
          </a:xfrm>
          <a:prstGeom prst="rect">
            <a:avLst/>
          </a:prstGeom>
          <a:noFill/>
          <a:ln w="9525">
            <a:noFill/>
          </a:ln>
        </p:spPr>
      </p:pic>
      <p:pic>
        <p:nvPicPr>
          <p:cNvPr id="8204" name="Picture 30" descr="NEXT1">
            <a:hlinkClick r:id="" action="ppaction://hlinkshowjump?jump=nextslide"/>
          </p:cNvPr>
          <p:cNvPicPr>
            <a:picLocks noChangeAspect="1"/>
          </p:cNvPicPr>
          <p:nvPr/>
        </p:nvPicPr>
        <p:blipFill>
          <a:blip r:embed="rId3"/>
          <a:stretch>
            <a:fillRect/>
          </a:stretch>
        </p:blipFill>
        <p:spPr>
          <a:xfrm>
            <a:off x="8839200" y="6508750"/>
            <a:ext cx="287338" cy="287338"/>
          </a:xfrm>
          <a:prstGeom prst="rect">
            <a:avLst/>
          </a:prstGeom>
          <a:noFill/>
          <a:ln w="9525">
            <a:noFill/>
          </a:ln>
        </p:spPr>
      </p:pic>
      <p:sp>
        <p:nvSpPr>
          <p:cNvPr id="8206" name="文本框 99"/>
          <p:cNvSpPr txBox="1"/>
          <p:nvPr/>
        </p:nvSpPr>
        <p:spPr>
          <a:xfrm>
            <a:off x="611505" y="188595"/>
            <a:ext cx="7691120" cy="460375"/>
          </a:xfrm>
          <a:prstGeom prst="rect">
            <a:avLst/>
          </a:prstGeom>
          <a:noFill/>
          <a:ln w="9525">
            <a:noFill/>
          </a:ln>
        </p:spPr>
        <p:txBody>
          <a:bodyPr wrap="square">
            <a:spAutoFit/>
          </a:bodyPr>
          <a:lstStyle/>
          <a:p>
            <a:pPr algn="ctr"/>
            <a:r>
              <a:rPr lang="zh-CN" altLang="en-US" sz="2400" dirty="0">
                <a:solidFill>
                  <a:srgbClr val="C00000"/>
                </a:solidFill>
                <a:latin typeface="宋体" panose="02010600030101010101" pitchFamily="2" charset="-122"/>
              </a:rPr>
              <a:t>圆柱螺旋压缩及拉伸弹簧的基本几何参数计算公式</a:t>
            </a:r>
            <a:r>
              <a:rPr lang="en-US" altLang="zh-CN" sz="2400" dirty="0">
                <a:solidFill>
                  <a:srgbClr val="C00000"/>
                </a:solidFill>
                <a:latin typeface="宋体" panose="02010600030101010101" pitchFamily="2" charset="-122"/>
              </a:rPr>
              <a:t>(</a:t>
            </a:r>
            <a:r>
              <a:rPr lang="zh-CN" altLang="en-US" sz="2400" dirty="0">
                <a:solidFill>
                  <a:srgbClr val="C00000"/>
                </a:solidFill>
                <a:latin typeface="宋体" panose="02010600030101010101" pitchFamily="2" charset="-122"/>
              </a:rPr>
              <a:t>一</a:t>
            </a:r>
            <a:r>
              <a:rPr lang="en-US" altLang="zh-CN" sz="2400" dirty="0">
                <a:solidFill>
                  <a:srgbClr val="C00000"/>
                </a:solidFill>
                <a:latin typeface="宋体" panose="02010600030101010101" pitchFamily="2" charset="-122"/>
              </a:rPr>
              <a:t>)</a:t>
            </a:r>
            <a:endParaRPr lang="en-US" altLang="zh-CN" sz="2400" dirty="0">
              <a:solidFill>
                <a:srgbClr val="C00000"/>
              </a:solidFill>
              <a:latin typeface="宋体" panose="02010600030101010101" pitchFamily="2" charset="-122"/>
            </a:endParaRPr>
          </a:p>
        </p:txBody>
      </p:sp>
      <p:pic>
        <p:nvPicPr>
          <p:cNvPr id="8207" name="图片 37"/>
          <p:cNvPicPr/>
          <p:nvPr/>
        </p:nvPicPr>
        <p:blipFill>
          <a:blip r:embed="rId4"/>
          <a:stretch>
            <a:fillRect/>
          </a:stretch>
        </p:blipFill>
        <p:spPr>
          <a:xfrm>
            <a:off x="1647825" y="1279525"/>
            <a:ext cx="0" cy="0"/>
          </a:xfrm>
          <a:prstGeom prst="rect">
            <a:avLst/>
          </a:prstGeom>
          <a:noFill/>
          <a:ln w="9525">
            <a:noFill/>
          </a:ln>
        </p:spPr>
      </p:pic>
      <p:pic>
        <p:nvPicPr>
          <p:cNvPr id="8208" name="图片 38"/>
          <p:cNvPicPr/>
          <p:nvPr/>
        </p:nvPicPr>
        <p:blipFill>
          <a:blip r:embed="rId4"/>
          <a:stretch>
            <a:fillRect/>
          </a:stretch>
        </p:blipFill>
        <p:spPr>
          <a:xfrm>
            <a:off x="1647825" y="1279525"/>
            <a:ext cx="0" cy="0"/>
          </a:xfrm>
          <a:prstGeom prst="rect">
            <a:avLst/>
          </a:prstGeom>
          <a:noFill/>
          <a:ln w="9525">
            <a:noFill/>
          </a:ln>
        </p:spPr>
      </p:pic>
      <p:graphicFrame>
        <p:nvGraphicFramePr>
          <p:cNvPr id="129" name="表格 128"/>
          <p:cNvGraphicFramePr/>
          <p:nvPr/>
        </p:nvGraphicFramePr>
        <p:xfrm>
          <a:off x="352425" y="1387475"/>
          <a:ext cx="8486774" cy="4914902"/>
        </p:xfrm>
        <a:graphic>
          <a:graphicData uri="http://schemas.openxmlformats.org/drawingml/2006/table">
            <a:tbl>
              <a:tblPr firstRow="1" bandRow="1">
                <a:tableStyleId>{5940675A-B579-460E-94D1-54222C63F5DA}</a:tableStyleId>
              </a:tblPr>
              <a:tblGrid>
                <a:gridCol w="1377950"/>
                <a:gridCol w="4392295"/>
                <a:gridCol w="2716529"/>
              </a:tblGrid>
              <a:tr h="431800">
                <a:tc rowSpan="2">
                  <a:txBody>
                    <a:bodyPr/>
                    <a:lstStyle/>
                    <a:p>
                      <a:pPr indent="0" algn="ctr">
                        <a:buNone/>
                      </a:pPr>
                      <a:r>
                        <a:rPr lang="zh-CN" altLang="en-US" sz="2000" b="0" dirty="0">
                          <a:latin typeface="Times New Roman" panose="02020603050405020304" pitchFamily="18" charset="0"/>
                          <a:ea typeface="华文中宋" panose="02010600040101010101" pitchFamily="2" charset="-122"/>
                          <a:cs typeface="Times New Roman" panose="02020603050405020304" pitchFamily="18" charset="0"/>
                        </a:rPr>
                        <a:t>参数名称及代号</a:t>
                      </a:r>
                      <a:endParaRPr lang="en-US" altLang="zh-CN" sz="2000" b="0" dirty="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计算公式</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31800">
                <a:tc vMerge="1">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000" b="0" dirty="0">
                          <a:latin typeface="Times New Roman" panose="02020603050405020304" pitchFamily="18" charset="0"/>
                          <a:ea typeface="华文中宋" panose="02010600040101010101" pitchFamily="2" charset="-122"/>
                          <a:cs typeface="Times New Roman" panose="02020603050405020304" pitchFamily="18" charset="0"/>
                        </a:rPr>
                        <a:t>压缩弹簧</a:t>
                      </a:r>
                      <a:endParaRPr lang="zh-CN" altLang="en-US" sz="2000" b="0" dirty="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拉伸弹簧</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445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中径</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D</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按尺寸系列取标准值</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191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内径</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1</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191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外径</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D</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937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旋绕比</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C</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509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自由高度或长度</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0</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l">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两端并紧磨平：</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p>
                      <a:pPr indent="0" algn="l">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两端面圈并紧不磨平：</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2000" b="0" i="1">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为钩环轴向长度</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7620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工作高度或长度</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H</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n</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2000" b="0" i="1">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f</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为工作变形量</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2000" b="0" i="1">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f</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n</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为工作变形量</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07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压缩弹簧细长比</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b</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               b</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在</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1~5.3</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的范围内选取</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000" b="0" dirty="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pic>
        <p:nvPicPr>
          <p:cNvPr id="8246" name="图片 129"/>
          <p:cNvPicPr/>
          <p:nvPr/>
        </p:nvPicPr>
        <p:blipFill>
          <a:blip r:embed="rId4"/>
          <a:stretch>
            <a:fillRect/>
          </a:stretch>
        </p:blipFill>
        <p:spPr>
          <a:xfrm>
            <a:off x="1655763" y="1790700"/>
            <a:ext cx="0" cy="0"/>
          </a:xfrm>
          <a:prstGeom prst="rect">
            <a:avLst/>
          </a:prstGeom>
          <a:noFill/>
          <a:ln w="9525">
            <a:noFill/>
          </a:ln>
        </p:spPr>
      </p:pic>
      <p:pic>
        <p:nvPicPr>
          <p:cNvPr id="8247" name="图片 130"/>
          <p:cNvPicPr/>
          <p:nvPr/>
        </p:nvPicPr>
        <p:blipFill>
          <a:blip r:embed="rId4"/>
          <a:stretch>
            <a:fillRect/>
          </a:stretch>
        </p:blipFill>
        <p:spPr>
          <a:xfrm>
            <a:off x="1655763" y="1790700"/>
            <a:ext cx="0" cy="0"/>
          </a:xfrm>
          <a:prstGeom prst="rect">
            <a:avLst/>
          </a:prstGeom>
          <a:noFill/>
          <a:ln w="9525">
            <a:noFill/>
          </a:ln>
        </p:spPr>
      </p:pic>
      <p:graphicFrame>
        <p:nvGraphicFramePr>
          <p:cNvPr id="8194" name="对象 -2147482511"/>
          <p:cNvGraphicFramePr>
            <a:graphicFrameLocks noChangeAspect="1"/>
          </p:cNvGraphicFramePr>
          <p:nvPr/>
        </p:nvGraphicFramePr>
        <p:xfrm>
          <a:off x="4703763" y="2749550"/>
          <a:ext cx="1198562" cy="369888"/>
        </p:xfrm>
        <a:graphic>
          <a:graphicData uri="http://schemas.openxmlformats.org/presentationml/2006/ole">
            <mc:AlternateContent xmlns:mc="http://schemas.openxmlformats.org/markup-compatibility/2006">
              <mc:Choice xmlns:v="urn:schemas-microsoft-com:vml" Requires="v">
                <p:oleObj spid="_x0000_s10304" name="" r:id="rId5" imgW="698500" imgH="215900" progId="Equation.KSEE3">
                  <p:embed/>
                </p:oleObj>
              </mc:Choice>
              <mc:Fallback>
                <p:oleObj name="" r:id="rId5" imgW="698500" imgH="215900" progId="Equation.KSEE3">
                  <p:embed/>
                  <p:pic>
                    <p:nvPicPr>
                      <p:cNvPr id="0" name="图片 3095"/>
                      <p:cNvPicPr/>
                      <p:nvPr/>
                    </p:nvPicPr>
                    <p:blipFill>
                      <a:blip r:embed="rId6"/>
                      <a:stretch>
                        <a:fillRect/>
                      </a:stretch>
                    </p:blipFill>
                    <p:spPr>
                      <a:xfrm>
                        <a:off x="4703763" y="2749550"/>
                        <a:ext cx="1198562" cy="369888"/>
                      </a:xfrm>
                      <a:prstGeom prst="rect">
                        <a:avLst/>
                      </a:prstGeom>
                      <a:noFill/>
                      <a:ln w="38100">
                        <a:noFill/>
                        <a:miter/>
                      </a:ln>
                    </p:spPr>
                  </p:pic>
                </p:oleObj>
              </mc:Fallback>
            </mc:AlternateContent>
          </a:graphicData>
        </a:graphic>
      </p:graphicFrame>
      <p:graphicFrame>
        <p:nvGraphicFramePr>
          <p:cNvPr id="8195" name="对象 -2147482509"/>
          <p:cNvGraphicFramePr>
            <a:graphicFrameLocks noChangeAspect="1"/>
          </p:cNvGraphicFramePr>
          <p:nvPr/>
        </p:nvGraphicFramePr>
        <p:xfrm>
          <a:off x="4821238" y="3608388"/>
          <a:ext cx="963612" cy="366712"/>
        </p:xfrm>
        <a:graphic>
          <a:graphicData uri="http://schemas.openxmlformats.org/presentationml/2006/ole">
            <mc:AlternateContent xmlns:mc="http://schemas.openxmlformats.org/markup-compatibility/2006">
              <mc:Choice xmlns:v="urn:schemas-microsoft-com:vml" Requires="v">
                <p:oleObj spid="_x0000_s10305" name="" r:id="rId7" imgW="570865" imgH="215900" progId="Equation.KSEE3">
                  <p:embed/>
                </p:oleObj>
              </mc:Choice>
              <mc:Fallback>
                <p:oleObj name="" r:id="rId7" imgW="570865" imgH="215900" progId="Equation.KSEE3">
                  <p:embed/>
                  <p:pic>
                    <p:nvPicPr>
                      <p:cNvPr id="0" name="图片 3087"/>
                      <p:cNvPicPr/>
                      <p:nvPr/>
                    </p:nvPicPr>
                    <p:blipFill>
                      <a:blip r:embed="rId8"/>
                      <a:stretch>
                        <a:fillRect/>
                      </a:stretch>
                    </p:blipFill>
                    <p:spPr>
                      <a:xfrm>
                        <a:off x="4821238" y="3608388"/>
                        <a:ext cx="963612" cy="366712"/>
                      </a:xfrm>
                      <a:prstGeom prst="rect">
                        <a:avLst/>
                      </a:prstGeom>
                      <a:noFill/>
                      <a:ln w="38100">
                        <a:noFill/>
                        <a:miter/>
                      </a:ln>
                    </p:spPr>
                  </p:pic>
                </p:oleObj>
              </mc:Fallback>
            </mc:AlternateContent>
          </a:graphicData>
        </a:graphic>
      </p:graphicFrame>
      <p:graphicFrame>
        <p:nvGraphicFramePr>
          <p:cNvPr id="8196" name="对象 -2147482387"/>
          <p:cNvGraphicFramePr>
            <a:graphicFrameLocks noChangeAspect="1"/>
          </p:cNvGraphicFramePr>
          <p:nvPr/>
        </p:nvGraphicFramePr>
        <p:xfrm>
          <a:off x="3351213" y="4046538"/>
          <a:ext cx="2028825" cy="382587"/>
        </p:xfrm>
        <a:graphic>
          <a:graphicData uri="http://schemas.openxmlformats.org/presentationml/2006/ole">
            <mc:AlternateContent xmlns:mc="http://schemas.openxmlformats.org/markup-compatibility/2006">
              <mc:Choice xmlns:v="urn:schemas-microsoft-com:vml" Requires="v">
                <p:oleObj spid="_x0000_s10306" name="" r:id="rId9" imgW="1244600" imgH="228600" progId="Equation.KSEE3">
                  <p:embed/>
                </p:oleObj>
              </mc:Choice>
              <mc:Fallback>
                <p:oleObj name="" r:id="rId9" imgW="1244600" imgH="228600" progId="Equation.KSEE3">
                  <p:embed/>
                  <p:pic>
                    <p:nvPicPr>
                      <p:cNvPr id="0" name="图片 3090"/>
                      <p:cNvPicPr/>
                      <p:nvPr/>
                    </p:nvPicPr>
                    <p:blipFill>
                      <a:blip r:embed="rId10"/>
                      <a:stretch>
                        <a:fillRect/>
                      </a:stretch>
                    </p:blipFill>
                    <p:spPr>
                      <a:xfrm>
                        <a:off x="3351213" y="4046538"/>
                        <a:ext cx="2028825" cy="382587"/>
                      </a:xfrm>
                      <a:prstGeom prst="rect">
                        <a:avLst/>
                      </a:prstGeom>
                      <a:noFill/>
                      <a:ln w="38100">
                        <a:noFill/>
                        <a:miter/>
                      </a:ln>
                    </p:spPr>
                  </p:pic>
                </p:oleObj>
              </mc:Fallback>
            </mc:AlternateContent>
          </a:graphicData>
        </a:graphic>
      </p:graphicFrame>
      <p:graphicFrame>
        <p:nvGraphicFramePr>
          <p:cNvPr id="8197" name="对象 -2147482506"/>
          <p:cNvGraphicFramePr>
            <a:graphicFrameLocks noChangeAspect="1"/>
          </p:cNvGraphicFramePr>
          <p:nvPr/>
        </p:nvGraphicFramePr>
        <p:xfrm>
          <a:off x="6596063" y="4014788"/>
          <a:ext cx="1555750" cy="401637"/>
        </p:xfrm>
        <a:graphic>
          <a:graphicData uri="http://schemas.openxmlformats.org/presentationml/2006/ole">
            <mc:AlternateContent xmlns:mc="http://schemas.openxmlformats.org/markup-compatibility/2006">
              <mc:Choice xmlns:v="urn:schemas-microsoft-com:vml" Requires="v">
                <p:oleObj spid="_x0000_s10307" name="" r:id="rId11" imgW="901065" imgH="228600" progId="Equation.KSEE3">
                  <p:embed/>
                </p:oleObj>
              </mc:Choice>
              <mc:Fallback>
                <p:oleObj name="" r:id="rId11" imgW="901065" imgH="228600" progId="Equation.KSEE3">
                  <p:embed/>
                  <p:pic>
                    <p:nvPicPr>
                      <p:cNvPr id="0" name="图片 3088"/>
                      <p:cNvPicPr/>
                      <p:nvPr/>
                    </p:nvPicPr>
                    <p:blipFill>
                      <a:blip r:embed="rId12"/>
                      <a:stretch>
                        <a:fillRect/>
                      </a:stretch>
                    </p:blipFill>
                    <p:spPr>
                      <a:xfrm>
                        <a:off x="6596063" y="4014788"/>
                        <a:ext cx="1555750" cy="401637"/>
                      </a:xfrm>
                      <a:prstGeom prst="rect">
                        <a:avLst/>
                      </a:prstGeom>
                      <a:noFill/>
                      <a:ln w="38100">
                        <a:noFill/>
                        <a:miter/>
                      </a:ln>
                    </p:spPr>
                  </p:pic>
                </p:oleObj>
              </mc:Fallback>
            </mc:AlternateContent>
          </a:graphicData>
        </a:graphic>
      </p:graphicFrame>
      <p:graphicFrame>
        <p:nvGraphicFramePr>
          <p:cNvPr id="8198" name="对象 -2147482507"/>
          <p:cNvGraphicFramePr>
            <a:graphicFrameLocks noChangeAspect="1"/>
          </p:cNvGraphicFramePr>
          <p:nvPr/>
        </p:nvGraphicFramePr>
        <p:xfrm>
          <a:off x="4119563" y="4391025"/>
          <a:ext cx="1870075" cy="350838"/>
        </p:xfrm>
        <a:graphic>
          <a:graphicData uri="http://schemas.openxmlformats.org/presentationml/2006/ole">
            <mc:AlternateContent xmlns:mc="http://schemas.openxmlformats.org/markup-compatibility/2006">
              <mc:Choice xmlns:v="urn:schemas-microsoft-com:vml" Requires="v">
                <p:oleObj spid="_x0000_s10308" name="" r:id="rId13" imgW="1244600" imgH="228600" progId="Equation.KSEE3">
                  <p:embed/>
                </p:oleObj>
              </mc:Choice>
              <mc:Fallback>
                <p:oleObj name="" r:id="rId13" imgW="1244600" imgH="228600" progId="Equation.KSEE3">
                  <p:embed/>
                  <p:pic>
                    <p:nvPicPr>
                      <p:cNvPr id="0" name="图片 3093"/>
                      <p:cNvPicPr/>
                      <p:nvPr/>
                    </p:nvPicPr>
                    <p:blipFill>
                      <a:blip r:embed="rId14"/>
                      <a:stretch>
                        <a:fillRect/>
                      </a:stretch>
                    </p:blipFill>
                    <p:spPr>
                      <a:xfrm>
                        <a:off x="4119563" y="4391025"/>
                        <a:ext cx="1870075" cy="350838"/>
                      </a:xfrm>
                      <a:prstGeom prst="rect">
                        <a:avLst/>
                      </a:prstGeom>
                      <a:noFill/>
                      <a:ln w="38100">
                        <a:noFill/>
                        <a:miter/>
                      </a:ln>
                    </p:spPr>
                  </p:pic>
                </p:oleObj>
              </mc:Fallback>
            </mc:AlternateContent>
          </a:graphicData>
        </a:graphic>
      </p:graphicFrame>
      <p:graphicFrame>
        <p:nvGraphicFramePr>
          <p:cNvPr id="8199" name="对象 -2147482502"/>
          <p:cNvGraphicFramePr>
            <a:graphicFrameLocks noChangeAspect="1"/>
          </p:cNvGraphicFramePr>
          <p:nvPr/>
        </p:nvGraphicFramePr>
        <p:xfrm>
          <a:off x="3140075" y="4813300"/>
          <a:ext cx="1563688" cy="428625"/>
        </p:xfrm>
        <a:graphic>
          <a:graphicData uri="http://schemas.openxmlformats.org/presentationml/2006/ole">
            <mc:AlternateContent xmlns:mc="http://schemas.openxmlformats.org/markup-compatibility/2006">
              <mc:Choice xmlns:v="urn:schemas-microsoft-com:vml" Requires="v">
                <p:oleObj spid="_x0000_s10309" name="" r:id="rId15" imgW="850265" imgH="228600" progId="Equation.KSEE3">
                  <p:embed/>
                </p:oleObj>
              </mc:Choice>
              <mc:Fallback>
                <p:oleObj name="" r:id="rId15" imgW="850265" imgH="228600" progId="Equation.KSEE3">
                  <p:embed/>
                  <p:pic>
                    <p:nvPicPr>
                      <p:cNvPr id="0" name="图片 3089"/>
                      <p:cNvPicPr/>
                      <p:nvPr/>
                    </p:nvPicPr>
                    <p:blipFill>
                      <a:blip r:embed="rId16"/>
                      <a:stretch>
                        <a:fillRect/>
                      </a:stretch>
                    </p:blipFill>
                    <p:spPr>
                      <a:xfrm>
                        <a:off x="3140075" y="4813300"/>
                        <a:ext cx="1563688" cy="428625"/>
                      </a:xfrm>
                      <a:prstGeom prst="rect">
                        <a:avLst/>
                      </a:prstGeom>
                      <a:noFill/>
                      <a:ln w="38100">
                        <a:noFill/>
                        <a:miter/>
                      </a:ln>
                    </p:spPr>
                  </p:pic>
                </p:oleObj>
              </mc:Fallback>
            </mc:AlternateContent>
          </a:graphicData>
        </a:graphic>
      </p:graphicFrame>
      <p:graphicFrame>
        <p:nvGraphicFramePr>
          <p:cNvPr id="8200" name="对象 -2147482500"/>
          <p:cNvGraphicFramePr>
            <a:graphicFrameLocks noChangeAspect="1"/>
          </p:cNvGraphicFramePr>
          <p:nvPr/>
        </p:nvGraphicFramePr>
        <p:xfrm>
          <a:off x="6680200" y="4838700"/>
          <a:ext cx="1471613" cy="403225"/>
        </p:xfrm>
        <a:graphic>
          <a:graphicData uri="http://schemas.openxmlformats.org/presentationml/2006/ole">
            <mc:AlternateContent xmlns:mc="http://schemas.openxmlformats.org/markup-compatibility/2006">
              <mc:Choice xmlns:v="urn:schemas-microsoft-com:vml" Requires="v">
                <p:oleObj spid="_x0000_s10310" name="" r:id="rId17" imgW="850265" imgH="228600" progId="Equation.KSEE3">
                  <p:embed/>
                </p:oleObj>
              </mc:Choice>
              <mc:Fallback>
                <p:oleObj name="" r:id="rId17" imgW="850265" imgH="228600" progId="Equation.KSEE3">
                  <p:embed/>
                  <p:pic>
                    <p:nvPicPr>
                      <p:cNvPr id="0" name="图片 3094"/>
                      <p:cNvPicPr/>
                      <p:nvPr/>
                    </p:nvPicPr>
                    <p:blipFill>
                      <a:blip r:embed="rId18"/>
                      <a:stretch>
                        <a:fillRect/>
                      </a:stretch>
                    </p:blipFill>
                    <p:spPr>
                      <a:xfrm>
                        <a:off x="6680200" y="4838700"/>
                        <a:ext cx="1471613" cy="403225"/>
                      </a:xfrm>
                      <a:prstGeom prst="rect">
                        <a:avLst/>
                      </a:prstGeom>
                      <a:noFill/>
                      <a:ln w="38100">
                        <a:noFill/>
                        <a:miter/>
                      </a:ln>
                    </p:spPr>
                  </p:pic>
                </p:oleObj>
              </mc:Fallback>
            </mc:AlternateContent>
          </a:graphicData>
        </a:graphic>
      </p:graphicFrame>
      <p:graphicFrame>
        <p:nvGraphicFramePr>
          <p:cNvPr id="8201" name="对象 -2147482498"/>
          <p:cNvGraphicFramePr>
            <a:graphicFrameLocks noChangeAspect="1"/>
          </p:cNvGraphicFramePr>
          <p:nvPr/>
        </p:nvGraphicFramePr>
        <p:xfrm>
          <a:off x="1893888" y="5805488"/>
          <a:ext cx="1100137" cy="377825"/>
        </p:xfrm>
        <a:graphic>
          <a:graphicData uri="http://schemas.openxmlformats.org/presentationml/2006/ole">
            <mc:AlternateContent xmlns:mc="http://schemas.openxmlformats.org/markup-compatibility/2006">
              <mc:Choice xmlns:v="urn:schemas-microsoft-com:vml" Requires="v">
                <p:oleObj spid="_x0000_s10311" name="" r:id="rId19" imgW="673100" imgH="228600" progId="Equation.KSEE3">
                  <p:embed/>
                </p:oleObj>
              </mc:Choice>
              <mc:Fallback>
                <p:oleObj name="" r:id="rId19" imgW="673100" imgH="228600" progId="Equation.KSEE3">
                  <p:embed/>
                  <p:pic>
                    <p:nvPicPr>
                      <p:cNvPr id="0" name="图片 3091"/>
                      <p:cNvPicPr/>
                      <p:nvPr/>
                    </p:nvPicPr>
                    <p:blipFill>
                      <a:blip r:embed="rId20"/>
                      <a:stretch>
                        <a:fillRect/>
                      </a:stretch>
                    </p:blipFill>
                    <p:spPr>
                      <a:xfrm>
                        <a:off x="1893888" y="5805488"/>
                        <a:ext cx="1100137" cy="377825"/>
                      </a:xfrm>
                      <a:prstGeom prst="rect">
                        <a:avLst/>
                      </a:prstGeom>
                      <a:noFill/>
                      <a:ln w="38100">
                        <a:noFill/>
                        <a:miter/>
                      </a:ln>
                    </p:spPr>
                  </p:pic>
                </p:oleObj>
              </mc:Fallback>
            </mc:AlternateContent>
          </a:graphicData>
        </a:graphic>
      </p:graphicFrame>
      <p:graphicFrame>
        <p:nvGraphicFramePr>
          <p:cNvPr id="8202" name="对象 -2147482510"/>
          <p:cNvGraphicFramePr>
            <a:graphicFrameLocks noChangeAspect="1"/>
          </p:cNvGraphicFramePr>
          <p:nvPr/>
        </p:nvGraphicFramePr>
        <p:xfrm>
          <a:off x="4703763" y="3178175"/>
          <a:ext cx="1198562" cy="358775"/>
        </p:xfrm>
        <a:graphic>
          <a:graphicData uri="http://schemas.openxmlformats.org/presentationml/2006/ole">
            <mc:AlternateContent xmlns:mc="http://schemas.openxmlformats.org/markup-compatibility/2006">
              <mc:Choice xmlns:v="urn:schemas-microsoft-com:vml" Requires="v">
                <p:oleObj spid="_x0000_s10312" name="" r:id="rId21" imgW="723900" imgH="215900" progId="Equation.KSEE3">
                  <p:embed/>
                </p:oleObj>
              </mc:Choice>
              <mc:Fallback>
                <p:oleObj name="" r:id="rId21" imgW="723900" imgH="215900" progId="Equation.KSEE3">
                  <p:embed/>
                  <p:pic>
                    <p:nvPicPr>
                      <p:cNvPr id="0" name="图片 3092"/>
                      <p:cNvPicPr/>
                      <p:nvPr/>
                    </p:nvPicPr>
                    <p:blipFill>
                      <a:blip r:embed="rId22"/>
                      <a:stretch>
                        <a:fillRect/>
                      </a:stretch>
                    </p:blipFill>
                    <p:spPr>
                      <a:xfrm>
                        <a:off x="4703763" y="3178175"/>
                        <a:ext cx="1198562" cy="358775"/>
                      </a:xfrm>
                      <a:prstGeom prst="rect">
                        <a:avLst/>
                      </a:prstGeom>
                      <a:noFill/>
                      <a:ln w="38100">
                        <a:noFill/>
                        <a:miter/>
                      </a:ln>
                    </p:spPr>
                  </p:pic>
                </p:oleObj>
              </mc:Fallback>
            </mc:AlternateContent>
          </a:graphicData>
        </a:graphic>
      </p:graphicFrame>
      <p:sp>
        <p:nvSpPr>
          <p:cNvPr id="8248"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230" name="Picture 28" descr="rewind1">
            <a:hlinkClick r:id="rId1" action="ppaction://hlinksldjump"/>
          </p:cNvPr>
          <p:cNvPicPr>
            <a:picLocks noChangeAspect="1"/>
          </p:cNvPicPr>
          <p:nvPr/>
        </p:nvPicPr>
        <p:blipFill>
          <a:blip r:embed="rId2"/>
          <a:stretch>
            <a:fillRect/>
          </a:stretch>
        </p:blipFill>
        <p:spPr>
          <a:xfrm>
            <a:off x="8475663" y="6508750"/>
            <a:ext cx="287337" cy="287338"/>
          </a:xfrm>
          <a:prstGeom prst="rect">
            <a:avLst/>
          </a:prstGeom>
          <a:noFill/>
          <a:ln w="9525">
            <a:noFill/>
          </a:ln>
        </p:spPr>
      </p:pic>
      <p:pic>
        <p:nvPicPr>
          <p:cNvPr id="9231" name="Picture 30" descr="NEXT1">
            <a:hlinkClick r:id="" action="ppaction://hlinkshowjump?jump=nextslide"/>
          </p:cNvPr>
          <p:cNvPicPr>
            <a:picLocks noChangeAspect="1"/>
          </p:cNvPicPr>
          <p:nvPr/>
        </p:nvPicPr>
        <p:blipFill>
          <a:blip r:embed="rId3"/>
          <a:stretch>
            <a:fillRect/>
          </a:stretch>
        </p:blipFill>
        <p:spPr>
          <a:xfrm>
            <a:off x="8839200" y="6508750"/>
            <a:ext cx="287338" cy="287338"/>
          </a:xfrm>
          <a:prstGeom prst="rect">
            <a:avLst/>
          </a:prstGeom>
          <a:noFill/>
          <a:ln w="9525">
            <a:noFill/>
          </a:ln>
        </p:spPr>
      </p:pic>
      <p:sp>
        <p:nvSpPr>
          <p:cNvPr id="9233" name="文本框 1"/>
          <p:cNvSpPr txBox="1"/>
          <p:nvPr/>
        </p:nvSpPr>
        <p:spPr>
          <a:xfrm>
            <a:off x="6915150" y="6308725"/>
            <a:ext cx="690563" cy="398463"/>
          </a:xfrm>
          <a:prstGeom prst="rect">
            <a:avLst/>
          </a:prstGeom>
          <a:noFill/>
          <a:ln w="9525">
            <a:noFill/>
          </a:ln>
        </p:spPr>
        <p:txBody>
          <a:bodyPr wrap="none">
            <a:spAutoFit/>
          </a:bodyPr>
          <a:lstStyle/>
          <a:p>
            <a:r>
              <a:rPr lang="zh-CN" altLang="en-US" sz="2000" dirty="0">
                <a:latin typeface="Tahoma" panose="020B0604030504040204" pitchFamily="34" charset="0"/>
                <a:hlinkClick r:id="rId1" action="ppaction://hlinksldjump"/>
              </a:rPr>
              <a:t>返回</a:t>
            </a:r>
            <a:endParaRPr lang="zh-CN" altLang="en-US" sz="2000" dirty="0">
              <a:latin typeface="Tahoma" panose="020B0604030504040204" pitchFamily="34" charset="0"/>
              <a:hlinkClick r:id="rId1" action="ppaction://hlinksldjump"/>
            </a:endParaRPr>
          </a:p>
        </p:txBody>
      </p:sp>
      <p:sp>
        <p:nvSpPr>
          <p:cNvPr id="9234" name="文本框 99"/>
          <p:cNvSpPr txBox="1"/>
          <p:nvPr/>
        </p:nvSpPr>
        <p:spPr>
          <a:xfrm>
            <a:off x="391795" y="260350"/>
            <a:ext cx="8626475" cy="460375"/>
          </a:xfrm>
          <a:prstGeom prst="rect">
            <a:avLst/>
          </a:prstGeom>
          <a:noFill/>
          <a:ln w="9525">
            <a:noFill/>
          </a:ln>
        </p:spPr>
        <p:txBody>
          <a:bodyPr wrap="square">
            <a:spAutoFit/>
          </a:bodyPr>
          <a:lstStyle/>
          <a:p>
            <a:pPr algn="ctr"/>
            <a:r>
              <a:rPr lang="zh-CN" altLang="en-US" sz="2400" dirty="0">
                <a:solidFill>
                  <a:srgbClr val="C00000"/>
                </a:solidFill>
                <a:latin typeface="黑体" panose="02010609060101010101" pitchFamily="49" charset="-122"/>
                <a:ea typeface="黑体" panose="02010609060101010101" pitchFamily="49" charset="-122"/>
              </a:rPr>
              <a:t>普通圆柱螺旋压缩及拉伸弹簧的基本几何参数计算公式（二</a:t>
            </a:r>
            <a:r>
              <a:rPr lang="zh-CN" altLang="en-US" sz="2000" dirty="0">
                <a:solidFill>
                  <a:srgbClr val="000099"/>
                </a:solidFill>
                <a:latin typeface="宋体" panose="02010600030101010101" pitchFamily="2" charset="-122"/>
              </a:rPr>
              <a:t>）</a:t>
            </a:r>
            <a:endParaRPr lang="zh-CN" altLang="en-US" sz="2000" dirty="0">
              <a:solidFill>
                <a:srgbClr val="000099"/>
              </a:solidFill>
              <a:latin typeface="宋体" panose="02010600030101010101" pitchFamily="2" charset="-122"/>
            </a:endParaRPr>
          </a:p>
        </p:txBody>
      </p:sp>
      <p:pic>
        <p:nvPicPr>
          <p:cNvPr id="9235" name="图片 37"/>
          <p:cNvPicPr/>
          <p:nvPr/>
        </p:nvPicPr>
        <p:blipFill>
          <a:blip r:embed="rId4"/>
          <a:stretch>
            <a:fillRect/>
          </a:stretch>
        </p:blipFill>
        <p:spPr>
          <a:xfrm>
            <a:off x="1647825" y="1279525"/>
            <a:ext cx="0" cy="0"/>
          </a:xfrm>
          <a:prstGeom prst="rect">
            <a:avLst/>
          </a:prstGeom>
          <a:noFill/>
          <a:ln w="9525">
            <a:noFill/>
          </a:ln>
        </p:spPr>
      </p:pic>
      <p:pic>
        <p:nvPicPr>
          <p:cNvPr id="9236" name="图片 38"/>
          <p:cNvPicPr/>
          <p:nvPr/>
        </p:nvPicPr>
        <p:blipFill>
          <a:blip r:embed="rId4"/>
          <a:stretch>
            <a:fillRect/>
          </a:stretch>
        </p:blipFill>
        <p:spPr>
          <a:xfrm>
            <a:off x="1647825" y="1279525"/>
            <a:ext cx="0" cy="0"/>
          </a:xfrm>
          <a:prstGeom prst="rect">
            <a:avLst/>
          </a:prstGeom>
          <a:noFill/>
          <a:ln w="9525">
            <a:noFill/>
          </a:ln>
        </p:spPr>
      </p:pic>
      <p:graphicFrame>
        <p:nvGraphicFramePr>
          <p:cNvPr id="2" name="表格 -1"/>
          <p:cNvGraphicFramePr/>
          <p:nvPr/>
        </p:nvGraphicFramePr>
        <p:xfrm>
          <a:off x="328613" y="1335088"/>
          <a:ext cx="8486775" cy="4968875"/>
        </p:xfrm>
        <a:graphic>
          <a:graphicData uri="http://schemas.openxmlformats.org/drawingml/2006/table">
            <a:tbl>
              <a:tblPr firstRow="1" bandRow="1">
                <a:tableStyleId>{5940675A-B579-460E-94D1-54222C63F5DA}</a:tableStyleId>
              </a:tblPr>
              <a:tblGrid>
                <a:gridCol w="1327150"/>
                <a:gridCol w="3579812"/>
                <a:gridCol w="3579812"/>
              </a:tblGrid>
              <a:tr h="349250">
                <a:tc rowSpan="2">
                  <a:txBody>
                    <a:bodyPr/>
                    <a:lstStyle/>
                    <a:p>
                      <a:pPr indent="0" algn="ctr">
                        <a:buNone/>
                      </a:pPr>
                      <a:r>
                        <a:rPr lang="zh-CN" altLang="en-US" sz="2000" b="0" dirty="0">
                          <a:latin typeface="Times New Roman" panose="02020603050405020304" pitchFamily="18" charset="0"/>
                          <a:ea typeface="华文中宋" panose="02010600040101010101" pitchFamily="2" charset="-122"/>
                          <a:cs typeface="Times New Roman" panose="02020603050405020304" pitchFamily="18" charset="0"/>
                        </a:rPr>
                        <a:t>参数名称及代号</a:t>
                      </a:r>
                      <a:endParaRPr lang="zh-CN" altLang="en-US" sz="2000" b="0" dirty="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zh-CN" altLang="en-US" sz="2000" b="0" dirty="0">
                          <a:latin typeface="Times New Roman" panose="02020603050405020304" pitchFamily="18" charset="0"/>
                          <a:ea typeface="华文中宋" panose="02010600040101010101" pitchFamily="2" charset="-122"/>
                          <a:cs typeface="Times New Roman" panose="02020603050405020304" pitchFamily="18" charset="0"/>
                        </a:rPr>
                        <a:t>计算公式</a:t>
                      </a:r>
                      <a:endParaRPr lang="zh-CN" altLang="en-US" sz="2000" b="0" dirty="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90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49250">
                <a:tc vMerge="1">
                  <a:tcP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压缩弹簧</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拉伸弹簧</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83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有效圈数</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n</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根据要求变形量确定，</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≥2</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7747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总圈数</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n</a:t>
                      </a:r>
                      <a:r>
                        <a:rPr lang="en-US" altLang="zh-CN" sz="2000" b="0" i="1" baseline="-25000">
                          <a:latin typeface="Times New Roman" panose="02020603050405020304" pitchFamily="18" charset="0"/>
                          <a:ea typeface="华文中宋" panose="02010600040101010101" pitchFamily="2" charset="-122"/>
                          <a:cs typeface="Times New Roman" panose="02020603050405020304" pitchFamily="18" charset="0"/>
                        </a:rPr>
                        <a:t>1</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l">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冷卷：</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p>
                      <a:pPr indent="0" algn="l">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YⅡ</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型热卷：</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                n</a:t>
                      </a:r>
                      <a:r>
                        <a:rPr lang="en-US" altLang="zh-CN" sz="2000" b="0" i="1" baseline="-2500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尾数应为</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1/4</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1/2</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3/4</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或整圈，推荐用</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1/2</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圈</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191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节距</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t</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318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轴向间距</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δ</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 </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78994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展开长度</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L</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en-US" altLang="zh-CN" sz="2000" b="0" i="1">
                        <a:latin typeface="Times New Roman" panose="02020603050405020304" pitchFamily="18" charset="0"/>
                        <a:ea typeface="华文中宋" panose="02010600040101010101" pitchFamily="2" charset="-122"/>
                        <a:cs typeface="Times New Roman" panose="02020603050405020304" pitchFamily="18" charset="0"/>
                      </a:endParaRPr>
                    </a:p>
                    <a:p>
                      <a:pPr indent="0" algn="ctr">
                        <a:buNone/>
                      </a:pP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L</a:t>
                      </a:r>
                      <a:r>
                        <a:rPr lang="en-US" altLang="zh-CN" sz="2000" b="0" baseline="-25000">
                          <a:latin typeface="Times New Roman" panose="02020603050405020304" pitchFamily="18" charset="0"/>
                          <a:ea typeface="华文中宋" panose="02010600040101010101" pitchFamily="2" charset="-122"/>
                          <a:cs typeface="Times New Roman" panose="02020603050405020304" pitchFamily="18" charset="0"/>
                        </a:rPr>
                        <a:t>h</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为钩环展开长度</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604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螺旋角</a:t>
                      </a: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α</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推荐</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anchor="ctr">
                    <a:lnL w="9525" cap="flat" cmpd="sng" algn="ctr">
                      <a:solidFill>
                        <a:srgbClr val="00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825500">
                <a:tc>
                  <a:txBody>
                    <a:bodyPr/>
                    <a:lstStyle/>
                    <a:p>
                      <a:pPr indent="0" algn="ctr">
                        <a:buNone/>
                      </a:pPr>
                      <a:r>
                        <a:rPr lang="zh-CN" altLang="en-US" sz="2000" b="0">
                          <a:latin typeface="Times New Roman" panose="02020603050405020304" pitchFamily="18" charset="0"/>
                          <a:ea typeface="华文中宋" panose="02010600040101010101" pitchFamily="2" charset="-122"/>
                          <a:cs typeface="Times New Roman" panose="02020603050405020304" pitchFamily="18" charset="0"/>
                        </a:rPr>
                        <a:t>质量</a:t>
                      </a:r>
                      <a:r>
                        <a:rPr lang="en-US" altLang="zh-CN" sz="2000" b="0" i="1">
                          <a:latin typeface="Times New Roman" panose="02020603050405020304" pitchFamily="18" charset="0"/>
                          <a:ea typeface="华文中宋" panose="02010600040101010101" pitchFamily="2" charset="-122"/>
                          <a:cs typeface="Times New Roman" panose="02020603050405020304" pitchFamily="18" charset="0"/>
                        </a:rPr>
                        <a:t>m</a:t>
                      </a:r>
                      <a:r>
                        <a:rPr lang="en-US" altLang="zh-CN" sz="2000" b="0" i="1" baseline="-25000">
                          <a:latin typeface="Times New Roman" panose="02020603050405020304" pitchFamily="18" charset="0"/>
                          <a:ea typeface="华文中宋" panose="02010600040101010101" pitchFamily="2" charset="-122"/>
                          <a:cs typeface="Times New Roman" panose="02020603050405020304" pitchFamily="18" charset="0"/>
                        </a:rPr>
                        <a:t>s</a:t>
                      </a:r>
                      <a:endParaRPr lang="zh-CN" altLang="en-US" sz="2000" b="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404812" cap="flat" cmpd="sng">
                      <a:solidFill>
                        <a:srgbClr val="FFFFFF"/>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2000" b="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000" b="0" dirty="0" smtClean="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000" b="0" dirty="0">
                          <a:latin typeface="Times New Roman" panose="02020603050405020304" pitchFamily="18" charset="0"/>
                          <a:ea typeface="华文中宋" panose="02010600040101010101" pitchFamily="2" charset="-122"/>
                          <a:cs typeface="Times New Roman" panose="02020603050405020304" pitchFamily="18" charset="0"/>
                        </a:rPr>
                        <a:t>ρ</a:t>
                      </a:r>
                      <a:r>
                        <a:rPr lang="zh-CN" altLang="en-US" sz="2000" b="0" dirty="0">
                          <a:latin typeface="Times New Roman" panose="02020603050405020304" pitchFamily="18" charset="0"/>
                          <a:ea typeface="华文中宋" panose="02010600040101010101" pitchFamily="2" charset="-122"/>
                          <a:cs typeface="Times New Roman" panose="02020603050405020304" pitchFamily="18" charset="0"/>
                        </a:rPr>
                        <a:t>为材料的密度，对各种钢，</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sym typeface="+mn-ea"/>
                        </a:rPr>
                        <a:t>ρ=7700kg/m</a:t>
                      </a:r>
                      <a:r>
                        <a:rPr lang="en-US" altLang="zh-CN" sz="2000" baseline="30000" dirty="0">
                          <a:latin typeface="Times New Roman" panose="02020603050405020304" pitchFamily="18" charset="0"/>
                          <a:ea typeface="华文中宋" panose="02010600040101010101" pitchFamily="2" charset="-122"/>
                          <a:cs typeface="Times New Roman" panose="02020603050405020304" pitchFamily="18" charset="0"/>
                          <a:sym typeface="+mn-ea"/>
                        </a:rPr>
                        <a:t>3</a:t>
                      </a:r>
                      <a:r>
                        <a:rPr lang="zh-CN" altLang="en-US" sz="1050" b="0"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000" b="0" dirty="0">
                          <a:latin typeface="Times New Roman" panose="02020603050405020304" pitchFamily="18" charset="0"/>
                          <a:ea typeface="华文中宋" panose="02010600040101010101" pitchFamily="2" charset="-122"/>
                          <a:cs typeface="Times New Roman" panose="02020603050405020304" pitchFamily="18" charset="0"/>
                        </a:rPr>
                        <a:t>对铍青铜</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sym typeface="+mn-ea"/>
                        </a:rPr>
                        <a:t>ρ=8100kg/m</a:t>
                      </a:r>
                      <a:r>
                        <a:rPr lang="en-US" altLang="zh-CN" sz="2000" baseline="30000" dirty="0">
                          <a:latin typeface="Times New Roman" panose="02020603050405020304" pitchFamily="18" charset="0"/>
                          <a:ea typeface="华文中宋" panose="02010600040101010101" pitchFamily="2" charset="-122"/>
                          <a:cs typeface="Times New Roman" panose="02020603050405020304" pitchFamily="18" charset="0"/>
                          <a:sym typeface="+mn-ea"/>
                        </a:rPr>
                        <a:t>3</a:t>
                      </a:r>
                      <a:endParaRPr lang="zh-CN" altLang="en-US" sz="2000" b="0" dirty="0">
                        <a:latin typeface="Times New Roman" panose="02020603050405020304" pitchFamily="18" charset="0"/>
                        <a:ea typeface="华文中宋" panose="02010600040101010101" pitchFamily="2" charset="-122"/>
                        <a:cs typeface="Times New Roman" panose="02020603050405020304" pitchFamily="18" charset="0"/>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lnTlToBr>
                      <a:noFill/>
                    </a:lnTlToBr>
                    <a:lnBlToTr>
                      <a:noFill/>
                    </a:lnBlToTr>
                    <a:noFill/>
                  </a:tcPr>
                </a:tc>
                <a:tc hMerge="1">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9050" cap="flat" cmpd="sng">
                      <a:solidFill>
                        <a:srgbClr val="000000"/>
                      </a:solidFill>
                      <a:prstDash val="solid"/>
                      <a:headEnd type="none" w="med" len="med"/>
                      <a:tailEnd type="none" w="med" len="med"/>
                    </a:lnB>
                  </a:tcPr>
                </a:tc>
              </a:tr>
            </a:tbl>
          </a:graphicData>
        </a:graphic>
      </p:graphicFrame>
      <p:graphicFrame>
        <p:nvGraphicFramePr>
          <p:cNvPr id="9218" name="对象 -2147482494"/>
          <p:cNvGraphicFramePr>
            <a:graphicFrameLocks noChangeAspect="1"/>
          </p:cNvGraphicFramePr>
          <p:nvPr/>
        </p:nvGraphicFramePr>
        <p:xfrm>
          <a:off x="3105150" y="2805113"/>
          <a:ext cx="1679575" cy="352425"/>
        </p:xfrm>
        <a:graphic>
          <a:graphicData uri="http://schemas.openxmlformats.org/presentationml/2006/ole">
            <mc:AlternateContent xmlns:mc="http://schemas.openxmlformats.org/markup-compatibility/2006">
              <mc:Choice xmlns:v="urn:schemas-microsoft-com:vml" Requires="v">
                <p:oleObj spid="_x0000_s11349" name="" r:id="rId5" imgW="1028700" imgH="215900" progId="Equation.KSEE3">
                  <p:embed/>
                </p:oleObj>
              </mc:Choice>
              <mc:Fallback>
                <p:oleObj name="" r:id="rId5" imgW="1028700" imgH="215900" progId="Equation.KSEE3">
                  <p:embed/>
                  <p:pic>
                    <p:nvPicPr>
                      <p:cNvPr id="0" name="图片 3107"/>
                      <p:cNvPicPr/>
                      <p:nvPr/>
                    </p:nvPicPr>
                    <p:blipFill>
                      <a:blip r:embed="rId6"/>
                      <a:stretch>
                        <a:fillRect/>
                      </a:stretch>
                    </p:blipFill>
                    <p:spPr>
                      <a:xfrm>
                        <a:off x="3105150" y="2805113"/>
                        <a:ext cx="1679575" cy="352425"/>
                      </a:xfrm>
                      <a:prstGeom prst="rect">
                        <a:avLst/>
                      </a:prstGeom>
                      <a:noFill/>
                      <a:ln w="38100">
                        <a:noFill/>
                        <a:miter/>
                      </a:ln>
                    </p:spPr>
                  </p:pic>
                </p:oleObj>
              </mc:Fallback>
            </mc:AlternateContent>
          </a:graphicData>
        </a:graphic>
      </p:graphicFrame>
      <p:graphicFrame>
        <p:nvGraphicFramePr>
          <p:cNvPr id="9219" name="对象 -2147482495"/>
          <p:cNvGraphicFramePr>
            <a:graphicFrameLocks noChangeAspect="1"/>
          </p:cNvGraphicFramePr>
          <p:nvPr/>
        </p:nvGraphicFramePr>
        <p:xfrm>
          <a:off x="2349500" y="2444750"/>
          <a:ext cx="1739900" cy="360363"/>
        </p:xfrm>
        <a:graphic>
          <a:graphicData uri="http://schemas.openxmlformats.org/presentationml/2006/ole">
            <mc:AlternateContent xmlns:mc="http://schemas.openxmlformats.org/markup-compatibility/2006">
              <mc:Choice xmlns:v="urn:schemas-microsoft-com:vml" Requires="v">
                <p:oleObj spid="_x0000_s11350" name="" r:id="rId7" imgW="1041400" imgH="215900" progId="Equation.KSEE3">
                  <p:embed/>
                </p:oleObj>
              </mc:Choice>
              <mc:Fallback>
                <p:oleObj name="" r:id="rId7" imgW="1041400" imgH="215900" progId="Equation.KSEE3">
                  <p:embed/>
                  <p:pic>
                    <p:nvPicPr>
                      <p:cNvPr id="0" name="图片 3103"/>
                      <p:cNvPicPr/>
                      <p:nvPr/>
                    </p:nvPicPr>
                    <p:blipFill>
                      <a:blip r:embed="rId8"/>
                      <a:stretch>
                        <a:fillRect/>
                      </a:stretch>
                    </p:blipFill>
                    <p:spPr>
                      <a:xfrm>
                        <a:off x="2349500" y="2444750"/>
                        <a:ext cx="1739900" cy="360363"/>
                      </a:xfrm>
                      <a:prstGeom prst="rect">
                        <a:avLst/>
                      </a:prstGeom>
                      <a:noFill/>
                      <a:ln w="38100">
                        <a:noFill/>
                        <a:miter/>
                      </a:ln>
                    </p:spPr>
                  </p:pic>
                </p:oleObj>
              </mc:Fallback>
            </mc:AlternateContent>
          </a:graphicData>
        </a:graphic>
      </p:graphicFrame>
      <p:graphicFrame>
        <p:nvGraphicFramePr>
          <p:cNvPr id="9220" name="对象 -2147482491"/>
          <p:cNvGraphicFramePr>
            <a:graphicFrameLocks noChangeAspect="1"/>
          </p:cNvGraphicFramePr>
          <p:nvPr/>
        </p:nvGraphicFramePr>
        <p:xfrm>
          <a:off x="3100388" y="3225800"/>
          <a:ext cx="1525587" cy="311150"/>
        </p:xfrm>
        <a:graphic>
          <a:graphicData uri="http://schemas.openxmlformats.org/presentationml/2006/ole">
            <mc:AlternateContent xmlns:mc="http://schemas.openxmlformats.org/markup-compatibility/2006">
              <mc:Choice xmlns:v="urn:schemas-microsoft-com:vml" Requires="v">
                <p:oleObj spid="_x0000_s11351" name="" r:id="rId9" imgW="1078230" imgH="215900" progId="Equation.KSEE3">
                  <p:embed/>
                </p:oleObj>
              </mc:Choice>
              <mc:Fallback>
                <p:oleObj name="" r:id="rId9" imgW="1078230" imgH="215900" progId="Equation.KSEE3">
                  <p:embed/>
                  <p:pic>
                    <p:nvPicPr>
                      <p:cNvPr id="0" name="图片 3096"/>
                      <p:cNvPicPr/>
                      <p:nvPr/>
                    </p:nvPicPr>
                    <p:blipFill>
                      <a:blip r:embed="rId10"/>
                      <a:stretch>
                        <a:fillRect/>
                      </a:stretch>
                    </p:blipFill>
                    <p:spPr>
                      <a:xfrm>
                        <a:off x="3100388" y="3225800"/>
                        <a:ext cx="1525587" cy="311150"/>
                      </a:xfrm>
                      <a:prstGeom prst="rect">
                        <a:avLst/>
                      </a:prstGeom>
                      <a:noFill/>
                      <a:ln w="38100">
                        <a:noFill/>
                        <a:miter/>
                      </a:ln>
                    </p:spPr>
                  </p:pic>
                </p:oleObj>
              </mc:Fallback>
            </mc:AlternateContent>
          </a:graphicData>
        </a:graphic>
      </p:graphicFrame>
      <p:graphicFrame>
        <p:nvGraphicFramePr>
          <p:cNvPr id="9221" name="对象 -2147482489"/>
          <p:cNvGraphicFramePr>
            <a:graphicFrameLocks noChangeAspect="1"/>
          </p:cNvGraphicFramePr>
          <p:nvPr/>
        </p:nvGraphicFramePr>
        <p:xfrm>
          <a:off x="3243263" y="3656013"/>
          <a:ext cx="1049337" cy="325437"/>
        </p:xfrm>
        <a:graphic>
          <a:graphicData uri="http://schemas.openxmlformats.org/presentationml/2006/ole">
            <mc:AlternateContent xmlns:mc="http://schemas.openxmlformats.org/markup-compatibility/2006">
              <mc:Choice xmlns:v="urn:schemas-microsoft-com:vml" Requires="v">
                <p:oleObj spid="_x0000_s11352" name="" r:id="rId11" imgW="570230" imgH="177800" progId="Equation.KSEE3">
                  <p:embed/>
                </p:oleObj>
              </mc:Choice>
              <mc:Fallback>
                <p:oleObj name="" r:id="rId11" imgW="570230" imgH="177800" progId="Equation.KSEE3">
                  <p:embed/>
                  <p:pic>
                    <p:nvPicPr>
                      <p:cNvPr id="0" name="图片 3098"/>
                      <p:cNvPicPr/>
                      <p:nvPr/>
                    </p:nvPicPr>
                    <p:blipFill>
                      <a:blip r:embed="rId12"/>
                      <a:stretch>
                        <a:fillRect/>
                      </a:stretch>
                    </p:blipFill>
                    <p:spPr>
                      <a:xfrm>
                        <a:off x="3243263" y="3656013"/>
                        <a:ext cx="1049337" cy="325437"/>
                      </a:xfrm>
                      <a:prstGeom prst="rect">
                        <a:avLst/>
                      </a:prstGeom>
                      <a:noFill/>
                      <a:ln w="38100">
                        <a:noFill/>
                        <a:miter/>
                      </a:ln>
                    </p:spPr>
                  </p:pic>
                </p:oleObj>
              </mc:Fallback>
            </mc:AlternateContent>
          </a:graphicData>
        </a:graphic>
      </p:graphicFrame>
      <p:graphicFrame>
        <p:nvGraphicFramePr>
          <p:cNvPr id="9222" name="对象 -2147482488"/>
          <p:cNvGraphicFramePr>
            <a:graphicFrameLocks noChangeAspect="1"/>
          </p:cNvGraphicFramePr>
          <p:nvPr/>
        </p:nvGraphicFramePr>
        <p:xfrm>
          <a:off x="3243263" y="4070350"/>
          <a:ext cx="1050925" cy="639763"/>
        </p:xfrm>
        <a:graphic>
          <a:graphicData uri="http://schemas.openxmlformats.org/presentationml/2006/ole">
            <mc:AlternateContent xmlns:mc="http://schemas.openxmlformats.org/markup-compatibility/2006">
              <mc:Choice xmlns:v="urn:schemas-microsoft-com:vml" Requires="v">
                <p:oleObj spid="_x0000_s11353" name="" r:id="rId13" imgW="647700" imgH="393700" progId="Equation.KSEE3">
                  <p:embed/>
                </p:oleObj>
              </mc:Choice>
              <mc:Fallback>
                <p:oleObj name="" r:id="rId13" imgW="647700" imgH="393700" progId="Equation.KSEE3">
                  <p:embed/>
                  <p:pic>
                    <p:nvPicPr>
                      <p:cNvPr id="0" name="图片 3099"/>
                      <p:cNvPicPr/>
                      <p:nvPr/>
                    </p:nvPicPr>
                    <p:blipFill>
                      <a:blip r:embed="rId14"/>
                      <a:stretch>
                        <a:fillRect/>
                      </a:stretch>
                    </p:blipFill>
                    <p:spPr>
                      <a:xfrm>
                        <a:off x="3243263" y="4070350"/>
                        <a:ext cx="1050925" cy="639763"/>
                      </a:xfrm>
                      <a:prstGeom prst="rect">
                        <a:avLst/>
                      </a:prstGeom>
                      <a:noFill/>
                      <a:ln w="38100">
                        <a:noFill/>
                        <a:miter/>
                      </a:ln>
                    </p:spPr>
                  </p:pic>
                </p:oleObj>
              </mc:Fallback>
            </mc:AlternateContent>
          </a:graphicData>
        </a:graphic>
      </p:graphicFrame>
      <p:graphicFrame>
        <p:nvGraphicFramePr>
          <p:cNvPr id="9223" name="对象 -2147482484"/>
          <p:cNvGraphicFramePr>
            <a:graphicFrameLocks noChangeAspect="1"/>
          </p:cNvGraphicFramePr>
          <p:nvPr/>
        </p:nvGraphicFramePr>
        <p:xfrm>
          <a:off x="1771650" y="4806950"/>
          <a:ext cx="1471613" cy="630238"/>
        </p:xfrm>
        <a:graphic>
          <a:graphicData uri="http://schemas.openxmlformats.org/presentationml/2006/ole">
            <mc:AlternateContent xmlns:mc="http://schemas.openxmlformats.org/markup-compatibility/2006">
              <mc:Choice xmlns:v="urn:schemas-microsoft-com:vml" Requires="v">
                <p:oleObj spid="_x0000_s11354" name="" r:id="rId15" imgW="913765" imgH="393700" progId="Equation.KSEE3">
                  <p:embed/>
                </p:oleObj>
              </mc:Choice>
              <mc:Fallback>
                <p:oleObj name="" r:id="rId15" imgW="913765" imgH="393700" progId="Equation.KSEE3">
                  <p:embed/>
                  <p:pic>
                    <p:nvPicPr>
                      <p:cNvPr id="0" name="图片 3100"/>
                      <p:cNvPicPr/>
                      <p:nvPr/>
                    </p:nvPicPr>
                    <p:blipFill>
                      <a:blip r:embed="rId16"/>
                      <a:stretch>
                        <a:fillRect/>
                      </a:stretch>
                    </p:blipFill>
                    <p:spPr>
                      <a:xfrm>
                        <a:off x="1771650" y="4806950"/>
                        <a:ext cx="1471613" cy="630238"/>
                      </a:xfrm>
                      <a:prstGeom prst="rect">
                        <a:avLst/>
                      </a:prstGeom>
                      <a:noFill/>
                      <a:ln w="38100">
                        <a:noFill/>
                        <a:miter/>
                      </a:ln>
                    </p:spPr>
                  </p:pic>
                </p:oleObj>
              </mc:Fallback>
            </mc:AlternateContent>
          </a:graphicData>
        </a:graphic>
      </p:graphicFrame>
      <p:graphicFrame>
        <p:nvGraphicFramePr>
          <p:cNvPr id="9224" name="对象 -2147482483"/>
          <p:cNvGraphicFramePr>
            <a:graphicFrameLocks noChangeAspect="1"/>
          </p:cNvGraphicFramePr>
          <p:nvPr/>
        </p:nvGraphicFramePr>
        <p:xfrm>
          <a:off x="3960813" y="4965700"/>
          <a:ext cx="1222375" cy="352425"/>
        </p:xfrm>
        <a:graphic>
          <a:graphicData uri="http://schemas.openxmlformats.org/presentationml/2006/ole">
            <mc:AlternateContent xmlns:mc="http://schemas.openxmlformats.org/markup-compatibility/2006">
              <mc:Choice xmlns:v="urn:schemas-microsoft-com:vml" Requires="v">
                <p:oleObj spid="_x0000_s11355" name="" r:id="rId17" imgW="698500" imgH="203200" progId="Equation.KSEE3">
                  <p:embed/>
                </p:oleObj>
              </mc:Choice>
              <mc:Fallback>
                <p:oleObj name="" r:id="rId17" imgW="698500" imgH="203200" progId="Equation.KSEE3">
                  <p:embed/>
                  <p:pic>
                    <p:nvPicPr>
                      <p:cNvPr id="0" name="图片 3106"/>
                      <p:cNvPicPr/>
                      <p:nvPr/>
                    </p:nvPicPr>
                    <p:blipFill>
                      <a:blip r:embed="rId18"/>
                      <a:stretch>
                        <a:fillRect/>
                      </a:stretch>
                    </p:blipFill>
                    <p:spPr>
                      <a:xfrm>
                        <a:off x="3960813" y="4965700"/>
                        <a:ext cx="1222375" cy="352425"/>
                      </a:xfrm>
                      <a:prstGeom prst="rect">
                        <a:avLst/>
                      </a:prstGeom>
                      <a:noFill/>
                      <a:ln w="38100">
                        <a:noFill/>
                        <a:miter/>
                      </a:ln>
                    </p:spPr>
                  </p:pic>
                </p:oleObj>
              </mc:Fallback>
            </mc:AlternateContent>
          </a:graphicData>
        </a:graphic>
      </p:graphicFrame>
      <p:graphicFrame>
        <p:nvGraphicFramePr>
          <p:cNvPr id="9225" name="对象 -2147482388"/>
          <p:cNvGraphicFramePr>
            <a:graphicFrameLocks noChangeAspect="1"/>
          </p:cNvGraphicFramePr>
          <p:nvPr/>
        </p:nvGraphicFramePr>
        <p:xfrm>
          <a:off x="2339975" y="5516563"/>
          <a:ext cx="1322388" cy="673100"/>
        </p:xfrm>
        <a:graphic>
          <a:graphicData uri="http://schemas.openxmlformats.org/presentationml/2006/ole">
            <mc:AlternateContent xmlns:mc="http://schemas.openxmlformats.org/markup-compatibility/2006">
              <mc:Choice xmlns:v="urn:schemas-microsoft-com:vml" Requires="v">
                <p:oleObj spid="_x0000_s11356" name="" r:id="rId19" imgW="825500" imgH="419100" progId="Equation.KSEE3">
                  <p:embed/>
                </p:oleObj>
              </mc:Choice>
              <mc:Fallback>
                <p:oleObj name="" r:id="rId19" imgW="825500" imgH="419100" progId="Equation.KSEE3">
                  <p:embed/>
                  <p:pic>
                    <p:nvPicPr>
                      <p:cNvPr id="0" name="图片 3101"/>
                      <p:cNvPicPr/>
                      <p:nvPr/>
                    </p:nvPicPr>
                    <p:blipFill>
                      <a:blip r:embed="rId20"/>
                      <a:stretch>
                        <a:fillRect/>
                      </a:stretch>
                    </p:blipFill>
                    <p:spPr>
                      <a:xfrm>
                        <a:off x="2339975" y="5516563"/>
                        <a:ext cx="1322388" cy="673100"/>
                      </a:xfrm>
                      <a:prstGeom prst="rect">
                        <a:avLst/>
                      </a:prstGeom>
                      <a:noFill/>
                      <a:ln w="38100">
                        <a:noFill/>
                        <a:miter/>
                      </a:ln>
                    </p:spPr>
                  </p:pic>
                </p:oleObj>
              </mc:Fallback>
            </mc:AlternateContent>
          </a:graphicData>
        </a:graphic>
      </p:graphicFrame>
      <p:graphicFrame>
        <p:nvGraphicFramePr>
          <p:cNvPr id="9226" name="对象 -2147482390"/>
          <p:cNvGraphicFramePr>
            <a:graphicFrameLocks noChangeAspect="1"/>
          </p:cNvGraphicFramePr>
          <p:nvPr/>
        </p:nvGraphicFramePr>
        <p:xfrm>
          <a:off x="6397625" y="4837113"/>
          <a:ext cx="1395413" cy="608012"/>
        </p:xfrm>
        <a:graphic>
          <a:graphicData uri="http://schemas.openxmlformats.org/presentationml/2006/ole">
            <mc:AlternateContent xmlns:mc="http://schemas.openxmlformats.org/markup-compatibility/2006">
              <mc:Choice xmlns:v="urn:schemas-microsoft-com:vml" Requires="v">
                <p:oleObj spid="_x0000_s11357" name="" r:id="rId21" imgW="913765" imgH="393700" progId="Equation.KSEE3">
                  <p:embed/>
                </p:oleObj>
              </mc:Choice>
              <mc:Fallback>
                <p:oleObj name="" r:id="rId21" imgW="913765" imgH="393700" progId="Equation.KSEE3">
                  <p:embed/>
                  <p:pic>
                    <p:nvPicPr>
                      <p:cNvPr id="0" name="图片 3097"/>
                      <p:cNvPicPr/>
                      <p:nvPr/>
                    </p:nvPicPr>
                    <p:blipFill>
                      <a:blip r:embed="rId22"/>
                      <a:stretch>
                        <a:fillRect/>
                      </a:stretch>
                    </p:blipFill>
                    <p:spPr>
                      <a:xfrm>
                        <a:off x="6397625" y="4837113"/>
                        <a:ext cx="1395413" cy="608012"/>
                      </a:xfrm>
                      <a:prstGeom prst="rect">
                        <a:avLst/>
                      </a:prstGeom>
                      <a:noFill/>
                      <a:ln w="38100">
                        <a:noFill/>
                        <a:miter/>
                      </a:ln>
                    </p:spPr>
                  </p:pic>
                </p:oleObj>
              </mc:Fallback>
            </mc:AlternateContent>
          </a:graphicData>
        </a:graphic>
      </p:graphicFrame>
      <p:graphicFrame>
        <p:nvGraphicFramePr>
          <p:cNvPr id="9227" name="对象 -2147482487"/>
          <p:cNvGraphicFramePr>
            <a:graphicFrameLocks noChangeAspect="1"/>
          </p:cNvGraphicFramePr>
          <p:nvPr/>
        </p:nvGraphicFramePr>
        <p:xfrm>
          <a:off x="6332538" y="4070350"/>
          <a:ext cx="1395412" cy="361950"/>
        </p:xfrm>
        <a:graphic>
          <a:graphicData uri="http://schemas.openxmlformats.org/presentationml/2006/ole">
            <mc:AlternateContent xmlns:mc="http://schemas.openxmlformats.org/markup-compatibility/2006">
              <mc:Choice xmlns:v="urn:schemas-microsoft-com:vml" Requires="v">
                <p:oleObj spid="_x0000_s11358" name="" r:id="rId23" imgW="836930" imgH="215900" progId="Equation.KSEE3">
                  <p:embed/>
                </p:oleObj>
              </mc:Choice>
              <mc:Fallback>
                <p:oleObj name="" r:id="rId23" imgW="836930" imgH="215900" progId="Equation.KSEE3">
                  <p:embed/>
                  <p:pic>
                    <p:nvPicPr>
                      <p:cNvPr id="0" name="图片 3102"/>
                      <p:cNvPicPr/>
                      <p:nvPr/>
                    </p:nvPicPr>
                    <p:blipFill>
                      <a:blip r:embed="rId24"/>
                      <a:stretch>
                        <a:fillRect/>
                      </a:stretch>
                    </p:blipFill>
                    <p:spPr>
                      <a:xfrm>
                        <a:off x="6332538" y="4070350"/>
                        <a:ext cx="1395412" cy="361950"/>
                      </a:xfrm>
                      <a:prstGeom prst="rect">
                        <a:avLst/>
                      </a:prstGeom>
                      <a:noFill/>
                      <a:ln w="38100">
                        <a:noFill/>
                        <a:miter/>
                      </a:ln>
                    </p:spPr>
                  </p:pic>
                </p:oleObj>
              </mc:Fallback>
            </mc:AlternateContent>
          </a:graphicData>
        </a:graphic>
      </p:graphicFrame>
      <p:graphicFrame>
        <p:nvGraphicFramePr>
          <p:cNvPr id="9228" name="对象 -2147482490"/>
          <p:cNvGraphicFramePr>
            <a:graphicFrameLocks noChangeAspect="1"/>
          </p:cNvGraphicFramePr>
          <p:nvPr/>
        </p:nvGraphicFramePr>
        <p:xfrm>
          <a:off x="6767513" y="3209925"/>
          <a:ext cx="655637" cy="338138"/>
        </p:xfrm>
        <a:graphic>
          <a:graphicData uri="http://schemas.openxmlformats.org/presentationml/2006/ole">
            <mc:AlternateContent xmlns:mc="http://schemas.openxmlformats.org/markup-compatibility/2006">
              <mc:Choice xmlns:v="urn:schemas-microsoft-com:vml" Requires="v">
                <p:oleObj spid="_x0000_s11359" name="" r:id="rId25" imgW="342265" imgH="177800" progId="Equation.KSEE3">
                  <p:embed/>
                </p:oleObj>
              </mc:Choice>
              <mc:Fallback>
                <p:oleObj name="" r:id="rId25" imgW="342265" imgH="177800" progId="Equation.KSEE3">
                  <p:embed/>
                  <p:pic>
                    <p:nvPicPr>
                      <p:cNvPr id="0" name="图片 3105"/>
                      <p:cNvPicPr/>
                      <p:nvPr/>
                    </p:nvPicPr>
                    <p:blipFill>
                      <a:blip r:embed="rId26"/>
                      <a:stretch>
                        <a:fillRect/>
                      </a:stretch>
                    </p:blipFill>
                    <p:spPr>
                      <a:xfrm>
                        <a:off x="6767513" y="3209925"/>
                        <a:ext cx="655637" cy="338138"/>
                      </a:xfrm>
                      <a:prstGeom prst="rect">
                        <a:avLst/>
                      </a:prstGeom>
                      <a:noFill/>
                      <a:ln w="38100">
                        <a:noFill/>
                        <a:miter/>
                      </a:ln>
                    </p:spPr>
                  </p:pic>
                </p:oleObj>
              </mc:Fallback>
            </mc:AlternateContent>
          </a:graphicData>
        </a:graphic>
      </p:graphicFrame>
      <p:graphicFrame>
        <p:nvGraphicFramePr>
          <p:cNvPr id="9229" name="对象 -2147482493"/>
          <p:cNvGraphicFramePr>
            <a:graphicFrameLocks noChangeAspect="1"/>
          </p:cNvGraphicFramePr>
          <p:nvPr/>
        </p:nvGraphicFramePr>
        <p:xfrm>
          <a:off x="5473700" y="2382838"/>
          <a:ext cx="771525" cy="422275"/>
        </p:xfrm>
        <a:graphic>
          <a:graphicData uri="http://schemas.openxmlformats.org/presentationml/2006/ole">
            <mc:AlternateContent xmlns:mc="http://schemas.openxmlformats.org/markup-compatibility/2006">
              <mc:Choice xmlns:v="urn:schemas-microsoft-com:vml" Requires="v">
                <p:oleObj spid="_x0000_s11360" name="" r:id="rId27" imgW="393065" imgH="215900" progId="Equation.KSEE3">
                  <p:embed/>
                </p:oleObj>
              </mc:Choice>
              <mc:Fallback>
                <p:oleObj name="" r:id="rId27" imgW="393065" imgH="215900" progId="Equation.KSEE3">
                  <p:embed/>
                  <p:pic>
                    <p:nvPicPr>
                      <p:cNvPr id="0" name="图片 3104"/>
                      <p:cNvPicPr/>
                      <p:nvPr/>
                    </p:nvPicPr>
                    <p:blipFill>
                      <a:blip r:embed="rId28"/>
                      <a:stretch>
                        <a:fillRect/>
                      </a:stretch>
                    </p:blipFill>
                    <p:spPr>
                      <a:xfrm>
                        <a:off x="5473700" y="2382838"/>
                        <a:ext cx="771525" cy="422275"/>
                      </a:xfrm>
                      <a:prstGeom prst="rect">
                        <a:avLst/>
                      </a:prstGeom>
                      <a:noFill/>
                      <a:ln w="38100">
                        <a:noFill/>
                        <a:miter/>
                      </a:ln>
                    </p:spPr>
                  </p:pic>
                </p:oleObj>
              </mc:Fallback>
            </mc:AlternateContent>
          </a:graphicData>
        </a:graphic>
      </p:graphicFrame>
      <p:sp>
        <p:nvSpPr>
          <p:cNvPr id="9276" name="直接连接符 6"/>
          <p:cNvSpPr/>
          <p:nvPr/>
        </p:nvSpPr>
        <p:spPr>
          <a:xfrm>
            <a:off x="0" y="765175"/>
            <a:ext cx="9144000" cy="0"/>
          </a:xfrm>
          <a:prstGeom prst="line">
            <a:avLst/>
          </a:prstGeom>
          <a:ln w="28575" cap="flat" cmpd="sng">
            <a:solidFill>
              <a:srgbClr val="CC3300"/>
            </a:solidFill>
            <a:prstDash val="solid"/>
            <a:miter/>
            <a:headEnd type="none" w="med" len="med"/>
            <a:tailEnd type="none" w="med" len="med"/>
          </a:ln>
        </p:spPr>
      </p:sp>
    </p:spTree>
  </p:cSld>
  <p:clrMapOvr>
    <a:masterClrMapping/>
  </p:clrMapOvr>
  <p:transition>
    <p:wipe dir="r"/>
  </p:transition>
</p:sld>
</file>

<file path=ppt/tags/tag1.xml><?xml version="1.0" encoding="utf-8"?>
<p:tagLst xmlns:p="http://schemas.openxmlformats.org/presentationml/2006/main">
  <p:tag name="KSO_WM_UNIT_PLACING_PICTURE_USER_VIEWPORT" val="{&quot;height&quot;:2972.7496062992127,&quot;width&quot;:10373.87716535433}"/>
</p:tagLst>
</file>

<file path=ppt/tags/tag2.xml><?xml version="1.0" encoding="utf-8"?>
<p:tagLst xmlns:p="http://schemas.openxmlformats.org/presentationml/2006/main">
  <p:tag name="KSO_WM_DIAGRAM_VIRTUALLY_FRAME" val="{&quot;height&quot;:443.3,&quot;left&quot;:19.8,&quot;top&quot;:30.45,&quot;width&quot;:686.6}"/>
</p:tagLst>
</file>

<file path=ppt/tags/tag3.xml><?xml version="1.0" encoding="utf-8"?>
<p:tagLst xmlns:p="http://schemas.openxmlformats.org/presentationml/2006/main">
  <p:tag name="KSO_WM_DIAGRAM_VIRTUALLY_FRAME" val="{&quot;height&quot;:443.3,&quot;left&quot;:19.8,&quot;top&quot;:30.45,&quot;width&quot;:686.6}"/>
</p:tagLst>
</file>

<file path=ppt/tags/tag4.xml><?xml version="1.0" encoding="utf-8"?>
<p:tagLst xmlns:p="http://schemas.openxmlformats.org/presentationml/2006/main">
  <p:tag name="KSO_WM_DIAGRAM_VIRTUALLY_FRAME" val="{&quot;height&quot;:443.3,&quot;left&quot;:19.8,&quot;top&quot;:30.45,&quot;width&quot;:686.6}"/>
</p:tagLst>
</file>

<file path=ppt/tags/tag5.xml><?xml version="1.0" encoding="utf-8"?>
<p:tagLst xmlns:p="http://schemas.openxmlformats.org/presentationml/2006/main">
  <p:tag name="KSO_WM_DIAGRAM_VIRTUALLY_FRAME" val="{&quot;height&quot;:443.3,&quot;left&quot;:19.8,&quot;top&quot;:30.45,&quot;width&quot;:686.6}"/>
</p:tagLst>
</file>

<file path=ppt/tags/tag6.xml><?xml version="1.0" encoding="utf-8"?>
<p:tagLst xmlns:p="http://schemas.openxmlformats.org/presentationml/2006/main">
  <p:tag name="KSO_WM_DIAGRAM_VIRTUALLY_FRAME" val="{&quot;height&quot;:443.3,&quot;left&quot;:19.8,&quot;top&quot;:30.45,&quot;width&quot;:686.6}"/>
</p:tagLst>
</file>

<file path=ppt/tags/tag7.xml><?xml version="1.0" encoding="utf-8"?>
<p:tagLst xmlns:p="http://schemas.openxmlformats.org/presentationml/2006/main">
  <p:tag name="KSO_WM_DIAGRAM_VIRTUALLY_FRAME" val="{&quot;height&quot;:443.3,&quot;left&quot;:19.8,&quot;top&quot;:30.45,&quot;width&quot;:686.6}"/>
</p:tagLst>
</file>

<file path=ppt/tags/tag8.xml><?xml version="1.0" encoding="utf-8"?>
<p:tagLst xmlns:p="http://schemas.openxmlformats.org/presentationml/2006/main">
  <p:tag name="KSO_WM_DIAGRAM_VIRTUALLY_FRAME" val="{&quot;height&quot;:443.3,&quot;left&quot;:19.8,&quot;top&quot;:30.45,&quot;width&quot;:686.6}"/>
</p:tagLst>
</file>

<file path=ppt/tags/tag9.xml><?xml version="1.0" encoding="utf-8"?>
<p:tagLst xmlns:p="http://schemas.openxmlformats.org/presentationml/2006/main">
  <p:tag name="KSO_WM_DIAGRAM_VIRTUALLY_FRAME" val="{&quot;height&quot;:443.3,&quot;left&quot;:19.8,&quot;top&quot;:30.45,&quot;width&quot;:686.6}"/>
</p:tagLst>
</file>

<file path=ppt/tags/tag10.xml><?xml version="1.0" encoding="utf-8"?>
<p:tagLst xmlns:p="http://schemas.openxmlformats.org/presentationml/2006/main">
  <p:tag name="KSO_WM_DIAGRAM_VIRTUALLY_FRAME" val="{&quot;height&quot;:443.3,&quot;left&quot;:19.8,&quot;top&quot;:30.45,&quot;width&quot;:686.6}"/>
</p:tagLst>
</file>

<file path=ppt/tags/tag11.xml><?xml version="1.0" encoding="utf-8"?>
<p:tagLst xmlns:p="http://schemas.openxmlformats.org/presentationml/2006/main">
  <p:tag name="KSO_WM_DIAGRAM_VIRTUALLY_FRAME" val="{&quot;height&quot;:443.3,&quot;left&quot;:19.8,&quot;top&quot;:30.45,&quot;width&quot;:686.6}"/>
</p:tagLst>
</file>

<file path=ppt/tags/tag12.xml><?xml version="1.0" encoding="utf-8"?>
<p:tagLst xmlns:p="http://schemas.openxmlformats.org/presentationml/2006/main">
  <p:tag name="KSO_WM_DIAGRAM_VIRTUALLY_FRAME" val="{&quot;height&quot;:443.3,&quot;left&quot;:19.8,&quot;top&quot;:30.45,&quot;width&quot;:686.6}"/>
</p:tagLst>
</file>

<file path=ppt/tags/tag13.xml><?xml version="1.0" encoding="utf-8"?>
<p:tagLst xmlns:p="http://schemas.openxmlformats.org/presentationml/2006/main">
  <p:tag name="KSO_WM_DIAGRAM_VIRTUALLY_FRAME" val="{&quot;height&quot;:443.3,&quot;left&quot;:19.8,&quot;top&quot;:30.45,&quot;width&quot;:686.6}"/>
</p:tagLst>
</file>

<file path=ppt/tags/tag14.xml><?xml version="1.0" encoding="utf-8"?>
<p:tagLst xmlns:p="http://schemas.openxmlformats.org/presentationml/2006/main">
  <p:tag name="KSO_WM_DIAGRAM_VIRTUALLY_FRAME" val="{&quot;height&quot;:443.3,&quot;left&quot;:19.8,&quot;top&quot;:30.45,&quot;width&quot;:686.6}"/>
</p:tagLst>
</file>

<file path=ppt/tags/tag15.xml><?xml version="1.0" encoding="utf-8"?>
<p:tagLst xmlns:p="http://schemas.openxmlformats.org/presentationml/2006/main">
  <p:tag name="KSO_WM_DIAGRAM_VIRTUALLY_FRAME" val="{&quot;height&quot;:443.3,&quot;left&quot;:19.8,&quot;top&quot;:30.45,&quot;width&quot;:686.6}"/>
</p:tagLst>
</file>

<file path=ppt/tags/tag16.xml><?xml version="1.0" encoding="utf-8"?>
<p:tagLst xmlns:p="http://schemas.openxmlformats.org/presentationml/2006/main">
  <p:tag name="KSO_WM_DIAGRAM_VIRTUALLY_FRAME" val="{&quot;height&quot;:443.3,&quot;left&quot;:19.8,&quot;top&quot;:30.45,&quot;width&quot;:686.6}"/>
</p:tagLst>
</file>

<file path=ppt/tags/tag17.xml><?xml version="1.0" encoding="utf-8"?>
<p:tagLst xmlns:p="http://schemas.openxmlformats.org/presentationml/2006/main">
  <p:tag name="KSO_WM_UNIT_TABLE_BEAUTIFY" val="smartTable{e5bf9224-9466-44f9-bac3-ddff8c7f2b8e}"/>
</p:tagLst>
</file>

<file path=ppt/tags/tag18.xml><?xml version="1.0" encoding="utf-8"?>
<p:tagLst xmlns:p="http://schemas.openxmlformats.org/presentationml/2006/main">
  <p:tag name="KSO_WM_UNIT_TABLE_BEAUTIFY" val="smartTable{4004a9e3-1289-4233-8f2b-644a25288d69}"/>
</p:tagLst>
</file>

<file path=ppt/tags/tag19.xml><?xml version="1.0" encoding="utf-8"?>
<p:tagLst xmlns:p="http://schemas.openxmlformats.org/presentationml/2006/main">
  <p:tag name="COMMONDATA" val="eyJoZGlkIjoiZmYwY2UxNzI0ODdjMTkzYTM2NmQ4OTdkNGYwMzJlYmMifQ=="/>
  <p:tag name="KSO_WPP_MARK_KEY" val="c619ff4a-46b4-42ba-a4c4-e72632bbd5c8"/>
  <p:tag name="commondata" val="eyJoZGlkIjoiZTJlNmM0NTk2Mjk3OWEyOWRkMTVhNzNmZGVjNzIwNDgifQ=="/>
</p:tagLst>
</file>

<file path=ppt/theme/theme1.xml><?xml version="1.0" encoding="utf-8"?>
<a:theme xmlns:a="http://schemas.openxmlformats.org/drawingml/2006/main" name="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2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3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1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4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6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7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28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29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9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5_Blueprint">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0000FF"/>
      </a:hlink>
      <a:folHlink>
        <a:srgbClr val="3333FF"/>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200" b="0" i="0" u="none" strike="noStrike" cap="none" normalizeH="0" baseline="0" smtClean="0">
            <a:ln>
              <a:noFill/>
            </a:ln>
            <a:solidFill>
              <a:schemeClr val="tx1"/>
            </a:solidFill>
            <a:effectLst/>
            <a:latin typeface="Tahoma" panose="020B0604030504040204" pitchFamily="34" charset="0"/>
            <a:ea typeface="华文中宋" panose="02010600040101010101"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0</TotalTime>
  <Words>11971</Words>
  <Application>WPS 演示</Application>
  <PresentationFormat>全屏显示(4:3)</PresentationFormat>
  <Paragraphs>1350</Paragraphs>
  <Slides>54</Slides>
  <Notes>13</Notes>
  <HiddenSlides>7</HiddenSlides>
  <MMClips>0</MMClips>
  <ScaleCrop>false</ScaleCrop>
  <HeadingPairs>
    <vt:vector size="8" baseType="variant">
      <vt:variant>
        <vt:lpstr>已用的字体</vt:lpstr>
      </vt:variant>
      <vt:variant>
        <vt:i4>19</vt:i4>
      </vt:variant>
      <vt:variant>
        <vt:lpstr>主题</vt:lpstr>
      </vt:variant>
      <vt:variant>
        <vt:i4>14</vt:i4>
      </vt:variant>
      <vt:variant>
        <vt:lpstr>嵌入 OLE 服务器</vt:lpstr>
      </vt:variant>
      <vt:variant>
        <vt:i4>62</vt:i4>
      </vt:variant>
      <vt:variant>
        <vt:lpstr>幻灯片标题</vt:lpstr>
      </vt:variant>
      <vt:variant>
        <vt:i4>54</vt:i4>
      </vt:variant>
    </vt:vector>
  </HeadingPairs>
  <TitlesOfParts>
    <vt:vector size="149" baseType="lpstr">
      <vt:lpstr>Arial</vt:lpstr>
      <vt:lpstr>宋体</vt:lpstr>
      <vt:lpstr>Wingdings</vt:lpstr>
      <vt:lpstr>Tahoma</vt:lpstr>
      <vt:lpstr>华文中宋</vt:lpstr>
      <vt:lpstr>Times New Roman</vt:lpstr>
      <vt:lpstr>黑体</vt:lpstr>
      <vt:lpstr>仿宋_GB2312</vt:lpstr>
      <vt:lpstr>仿宋</vt:lpstr>
      <vt:lpstr>微软雅黑</vt:lpstr>
      <vt:lpstr>Arial Unicode MS</vt:lpstr>
      <vt:lpstr>Webdings</vt:lpstr>
      <vt:lpstr>Symbol</vt:lpstr>
      <vt:lpstr>Times</vt:lpstr>
      <vt:lpstr>隶书</vt:lpstr>
      <vt:lpstr>华文行楷</vt:lpstr>
      <vt:lpstr>华文隶书</vt:lpstr>
      <vt:lpstr>楷体_GB2312</vt:lpstr>
      <vt:lpstr>新宋体</vt:lpstr>
      <vt:lpstr>Blueprint</vt:lpstr>
      <vt:lpstr>3_Blueprint</vt:lpstr>
      <vt:lpstr>12_Blueprint</vt:lpstr>
      <vt:lpstr>13_Blueprint</vt:lpstr>
      <vt:lpstr>14_Blueprint</vt:lpstr>
      <vt:lpstr>21_Blueprint</vt:lpstr>
      <vt:lpstr>24_Blueprint</vt:lpstr>
      <vt:lpstr>25_Blueprint</vt:lpstr>
      <vt:lpstr>26_Blueprint</vt:lpstr>
      <vt:lpstr>27_Blueprint</vt:lpstr>
      <vt:lpstr>28_Blueprint</vt:lpstr>
      <vt:lpstr>29_Blueprint</vt:lpstr>
      <vt:lpstr>19_Blueprint</vt:lpstr>
      <vt:lpstr>5_Blueprint</vt:lpstr>
      <vt:lpstr>Equation.KSEE3</vt:lpstr>
      <vt:lpstr>Equation.KSEE3</vt:lpstr>
      <vt:lpstr>Equation.KSEE3</vt:lpstr>
      <vt:lpstr>Equation.KSEE3</vt:lpstr>
      <vt:lpstr>Equation.KSEE3</vt:lpstr>
      <vt:lpstr>Equation.KSEE3</vt:lpstr>
      <vt:lpstr>Equation.KSEE3</vt:lpstr>
      <vt:lpstr>Equation.3</vt:lpstr>
      <vt:lpstr>Equation.3</vt:lpstr>
      <vt:lpstr>Equation.KSEE3</vt:lpstr>
      <vt:lpstr>Equation.KSEE3</vt:lpstr>
      <vt:lpstr>Equation.KSEE3</vt:lpstr>
      <vt:lpstr>Equation.3</vt:lpstr>
      <vt:lpstr>Equation.3</vt:lpstr>
      <vt:lpstr>Equation.3</vt:lpstr>
      <vt:lpstr>Equation.3</vt:lpstr>
      <vt:lpstr>Equation.3</vt:lpstr>
      <vt:lpstr>Equation.3</vt:lpstr>
      <vt:lpstr>MSPhotoEd.3</vt:lpstr>
      <vt:lpstr>Equation.3</vt:lpstr>
      <vt:lpstr>Equation.3</vt:lpstr>
      <vt:lpstr>MSPhotoEd.3</vt:lpstr>
      <vt:lpstr>MSPhotoEd.3</vt:lpstr>
      <vt:lpstr>MSPhotoEd.3</vt:lpstr>
      <vt:lpstr>MSPhotoEd.3</vt:lpstr>
      <vt:lpstr>MSPhotoEd.3</vt:lpstr>
      <vt:lpstr>Equation.3</vt:lpstr>
      <vt:lpstr>Equation.3</vt:lpstr>
      <vt:lpstr>Equation.3</vt:lpstr>
      <vt:lpstr>Equation.3</vt:lpstr>
      <vt:lpstr>Equation.3</vt:lpstr>
      <vt:lpstr>Equation.KSEE3</vt:lpstr>
      <vt:lpstr>Equation.3</vt:lpstr>
      <vt:lpstr>Equation.3</vt:lpstr>
      <vt:lpstr>Equation.KSEE3</vt:lpstr>
      <vt:lpstr>Equation.KSEE3</vt:lpstr>
      <vt:lpstr>Equation.KSEE3</vt:lpstr>
      <vt:lpstr>Equation.KSEE3</vt:lpstr>
      <vt:lpstr>Equation.KSEE3</vt:lpstr>
      <vt:lpstr>Equation.KSEE3</vt:lpstr>
      <vt:lpstr>Equation.KSEE3</vt:lpstr>
      <vt:lpstr>Equation.KSEE3</vt:lpstr>
      <vt:lpstr>Equation.3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Equation.3</vt:lpstr>
      <vt:lpstr>Equation.KSEE3</vt:lpstr>
      <vt:lpstr>Equation.KSEE3</vt:lpstr>
      <vt:lpstr>Equation.KSEE3</vt:lpstr>
      <vt:lpstr>Equation.KSEE3</vt:lpstr>
      <vt:lpstr>Equation.KSEE3</vt:lpstr>
      <vt:lpstr>Equation.3</vt:lpstr>
      <vt:lpstr>Equation.3</vt:lpstr>
      <vt:lpstr>Equation.KSEE3</vt:lpstr>
      <vt:lpstr>第3.12章 弹簧</vt:lpstr>
      <vt:lpstr>3.12-1 概述</vt:lpstr>
      <vt:lpstr>PowerPoint 演示文稿</vt:lpstr>
      <vt:lpstr>PowerPoint 演示文稿</vt:lpstr>
      <vt:lpstr>PowerPoint 演示文稿</vt:lpstr>
      <vt:lpstr>3.12-1 概述</vt:lpstr>
      <vt:lpstr>3.12-1 概述</vt:lpstr>
      <vt:lpstr>3.12-1 概述</vt:lpstr>
      <vt:lpstr>3.12-1 概述</vt:lpstr>
      <vt:lpstr>3.12-1 概述</vt:lpstr>
      <vt:lpstr>3.12-2 弹簧的材料和制造</vt:lpstr>
      <vt:lpstr>3.12-2 弹簧的材料和制造</vt:lpstr>
      <vt:lpstr>3.12-2 弹簧的材料和制造</vt:lpstr>
      <vt:lpstr>3.12-3 圆柱螺旋压缩(拉伸)弹簧的设计计算</vt:lpstr>
      <vt:lpstr>圆柱螺旋拉压弹簧计算1</vt:lpstr>
      <vt:lpstr>3.12-3 普通圆柱螺旋压缩和拉伸弹簧的设计计算</vt:lpstr>
      <vt:lpstr>圆柱螺旋拉压弹簧计算1</vt:lpstr>
      <vt:lpstr>圆柱螺旋拉压弹簧计算1</vt:lpstr>
      <vt:lpstr>圆柱螺旋拉压弹簧计算1</vt:lpstr>
      <vt:lpstr>圆柱螺旋拉压弹簧计算1</vt:lpstr>
      <vt:lpstr>圆柱螺旋拉压弹簧计算1</vt:lpstr>
      <vt:lpstr>圆柱螺旋拉压弹簧计算1</vt:lpstr>
      <vt:lpstr>圆柱螺旋拉压弹簧计算1</vt:lpstr>
      <vt:lpstr>圆柱螺旋拉压弹簧计算1</vt:lpstr>
      <vt:lpstr>3.12-3 圆柱螺旋压缩和拉伸弹簧的设计计算</vt:lpstr>
      <vt:lpstr>3.12-3 圆柱螺旋压缩和拉伸弹簧的设计计算</vt:lpstr>
      <vt:lpstr>3.12-3 圆柱螺旋压缩和拉伸弹簧的设计计算</vt:lpstr>
      <vt:lpstr>3.12-3 圆柱螺旋压缩和拉伸弹簧的设计计算</vt:lpstr>
      <vt:lpstr>3.12-3 圆柱螺旋压缩和拉伸弹簧的设计计算</vt:lpstr>
      <vt:lpstr>3.12-3 圆柱螺旋压缩和拉伸弹簧的设计计算</vt:lpstr>
      <vt:lpstr>3.12-3 圆柱螺旋压缩和拉伸弹簧的设计计算</vt:lpstr>
      <vt:lpstr>3.12-3 圆柱螺旋压缩和拉伸弹簧的设计计算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3.12-4 圆柱螺旋扭曲弹簧的设计计算</vt:lpstr>
      <vt:lpstr>3.12-4 圆柱螺旋扭曲弹簧的设计计算</vt:lpstr>
      <vt:lpstr>3.12-4 圆柱螺旋扭曲弹簧的设计计算</vt:lpstr>
      <vt:lpstr>概述</vt:lpstr>
      <vt:lpstr>PowerPoint 演示文稿</vt:lpstr>
      <vt:lpstr>PowerPoint 演示文稿</vt:lpstr>
      <vt:lpstr>PowerPoint 演示文稿</vt:lpstr>
      <vt:lpstr>PowerPoint 演示文稿</vt:lpstr>
      <vt:lpstr>PowerPoint 演示文稿</vt:lpstr>
    </vt:vector>
  </TitlesOfParts>
  <Company>nwpu209</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wuliyan</dc:creator>
  <cp:lastModifiedBy>22725</cp:lastModifiedBy>
  <cp:revision>361</cp:revision>
  <dcterms:created xsi:type="dcterms:W3CDTF">2002-03-15T12:39:00Z</dcterms:created>
  <dcterms:modified xsi:type="dcterms:W3CDTF">2025-11-20T03:21:29Z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19E30D02BAD14C2D8AF96F22C69DEC78</vt:lpwstr>
  </property>
</Properties>
</file>