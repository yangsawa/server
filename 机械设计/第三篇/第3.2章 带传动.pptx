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  <p:sldMasterId id="2147483948" r:id="rId27"/>
    <p:sldMasterId id="2147483960" r:id="rId28"/>
    <p:sldMasterId id="2147483972" r:id="rId29"/>
  </p:sldMasterIdLst>
  <p:notesMasterIdLst>
    <p:notesMasterId r:id="rId50"/>
  </p:notesMasterIdLst>
  <p:sldIdLst>
    <p:sldId id="256" r:id="rId30"/>
    <p:sldId id="475" r:id="rId31"/>
    <p:sldId id="322" r:id="rId32"/>
    <p:sldId id="409" r:id="rId33"/>
    <p:sldId id="476" r:id="rId34"/>
    <p:sldId id="514" r:id="rId35"/>
    <p:sldId id="513" r:id="rId36"/>
    <p:sldId id="477" r:id="rId37"/>
    <p:sldId id="478" r:id="rId38"/>
    <p:sldId id="411" r:id="rId39"/>
    <p:sldId id="410" r:id="rId40"/>
    <p:sldId id="516" r:id="rId41"/>
    <p:sldId id="421" r:id="rId42"/>
    <p:sldId id="515" r:id="rId43"/>
    <p:sldId id="485" r:id="rId44"/>
    <p:sldId id="517" r:id="rId45"/>
    <p:sldId id="483" r:id="rId46"/>
    <p:sldId id="484" r:id="rId47"/>
    <p:sldId id="486" r:id="rId48"/>
    <p:sldId id="518" r:id="rId49"/>
    <p:sldId id="519" r:id="rId51"/>
    <p:sldId id="520" r:id="rId52"/>
    <p:sldId id="521" r:id="rId53"/>
    <p:sldId id="413" r:id="rId54"/>
    <p:sldId id="579" r:id="rId55"/>
    <p:sldId id="522" r:id="rId56"/>
    <p:sldId id="557" r:id="rId57"/>
    <p:sldId id="414" r:id="rId58"/>
    <p:sldId id="415" r:id="rId59"/>
    <p:sldId id="323" r:id="rId60"/>
    <p:sldId id="606" r:id="rId61"/>
    <p:sldId id="580" r:id="rId62"/>
    <p:sldId id="423" r:id="rId63"/>
    <p:sldId id="418" r:id="rId64"/>
    <p:sldId id="459" r:id="rId65"/>
    <p:sldId id="487" r:id="rId66"/>
    <p:sldId id="488" r:id="rId67"/>
    <p:sldId id="395" r:id="rId68"/>
    <p:sldId id="480" r:id="rId69"/>
    <p:sldId id="419" r:id="rId70"/>
    <p:sldId id="424" r:id="rId71"/>
    <p:sldId id="396" r:id="rId72"/>
    <p:sldId id="426" r:id="rId73"/>
    <p:sldId id="416" r:id="rId74"/>
    <p:sldId id="452" r:id="rId75"/>
    <p:sldId id="453" r:id="rId76"/>
    <p:sldId id="454" r:id="rId77"/>
    <p:sldId id="455" r:id="rId78"/>
    <p:sldId id="456" r:id="rId79"/>
    <p:sldId id="457" r:id="rId80"/>
    <p:sldId id="604" r:id="rId81"/>
    <p:sldId id="605" r:id="rId82"/>
  </p:sldIdLst>
  <p:sldSz cx="9144000" cy="6858000" type="screen4x3"/>
  <p:notesSz cx="6858000" cy="9144000"/>
  <p:custDataLst>
    <p:tags r:id="rId8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9" userDrawn="1">
          <p15:clr>
            <a:srgbClr val="A4A3A4"/>
          </p15:clr>
        </p15:guide>
        <p15:guide id="2" pos="272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FF0000"/>
    <a:srgbClr val="0000FF"/>
    <a:srgbClr val="EB6623"/>
    <a:srgbClr val="000099"/>
    <a:srgbClr val="CC3300"/>
    <a:srgbClr val="003399"/>
    <a:srgbClr val="A50021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5" autoAdjust="0"/>
    <p:restoredTop sz="95539" autoAdjust="0"/>
  </p:normalViewPr>
  <p:slideViewPr>
    <p:cSldViewPr showGuides="1">
      <p:cViewPr varScale="1">
        <p:scale>
          <a:sx n="82" d="100"/>
          <a:sy n="82" d="100"/>
        </p:scale>
        <p:origin x="1260" y="84"/>
      </p:cViewPr>
      <p:guideLst>
        <p:guide orient="horz" pos="2099"/>
        <p:guide pos="2726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36000" cy="36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7" Type="http://schemas.openxmlformats.org/officeDocument/2006/relationships/tags" Target="tags/tag8.xml"/><Relationship Id="rId86" Type="http://schemas.openxmlformats.org/officeDocument/2006/relationships/commentAuthors" Target="commentAuthors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slide" Target="slides/slide52.xml"/><Relationship Id="rId81" Type="http://schemas.openxmlformats.org/officeDocument/2006/relationships/slide" Target="slides/slide51.xml"/><Relationship Id="rId80" Type="http://schemas.openxmlformats.org/officeDocument/2006/relationships/slide" Target="slides/slide50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49.xml"/><Relationship Id="rId78" Type="http://schemas.openxmlformats.org/officeDocument/2006/relationships/slide" Target="slides/slide48.xml"/><Relationship Id="rId77" Type="http://schemas.openxmlformats.org/officeDocument/2006/relationships/slide" Target="slides/slide47.xml"/><Relationship Id="rId76" Type="http://schemas.openxmlformats.org/officeDocument/2006/relationships/slide" Target="slides/slide46.xml"/><Relationship Id="rId75" Type="http://schemas.openxmlformats.org/officeDocument/2006/relationships/slide" Target="slides/slide45.xml"/><Relationship Id="rId74" Type="http://schemas.openxmlformats.org/officeDocument/2006/relationships/slide" Target="slides/slide44.xml"/><Relationship Id="rId73" Type="http://schemas.openxmlformats.org/officeDocument/2006/relationships/slide" Target="slides/slide43.xml"/><Relationship Id="rId72" Type="http://schemas.openxmlformats.org/officeDocument/2006/relationships/slide" Target="slides/slide42.xml"/><Relationship Id="rId71" Type="http://schemas.openxmlformats.org/officeDocument/2006/relationships/slide" Target="slides/slide41.xml"/><Relationship Id="rId70" Type="http://schemas.openxmlformats.org/officeDocument/2006/relationships/slide" Target="slides/slide40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9.xml"/><Relationship Id="rId68" Type="http://schemas.openxmlformats.org/officeDocument/2006/relationships/slide" Target="slides/slide38.xml"/><Relationship Id="rId67" Type="http://schemas.openxmlformats.org/officeDocument/2006/relationships/slide" Target="slides/slide37.xml"/><Relationship Id="rId66" Type="http://schemas.openxmlformats.org/officeDocument/2006/relationships/slide" Target="slides/slide36.xml"/><Relationship Id="rId65" Type="http://schemas.openxmlformats.org/officeDocument/2006/relationships/slide" Target="slides/slide35.xml"/><Relationship Id="rId64" Type="http://schemas.openxmlformats.org/officeDocument/2006/relationships/slide" Target="slides/slide34.xml"/><Relationship Id="rId63" Type="http://schemas.openxmlformats.org/officeDocument/2006/relationships/slide" Target="slides/slide33.xml"/><Relationship Id="rId62" Type="http://schemas.openxmlformats.org/officeDocument/2006/relationships/slide" Target="slides/slide32.xml"/><Relationship Id="rId61" Type="http://schemas.openxmlformats.org/officeDocument/2006/relationships/slide" Target="slides/slide31.xml"/><Relationship Id="rId60" Type="http://schemas.openxmlformats.org/officeDocument/2006/relationships/slide" Target="slides/slide30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9.xml"/><Relationship Id="rId58" Type="http://schemas.openxmlformats.org/officeDocument/2006/relationships/slide" Target="slides/slide28.xml"/><Relationship Id="rId57" Type="http://schemas.openxmlformats.org/officeDocument/2006/relationships/slide" Target="slides/slide27.xml"/><Relationship Id="rId56" Type="http://schemas.openxmlformats.org/officeDocument/2006/relationships/slide" Target="slides/slide26.xml"/><Relationship Id="rId55" Type="http://schemas.openxmlformats.org/officeDocument/2006/relationships/slide" Target="slides/slide25.xml"/><Relationship Id="rId54" Type="http://schemas.openxmlformats.org/officeDocument/2006/relationships/slide" Target="slides/slide24.xml"/><Relationship Id="rId53" Type="http://schemas.openxmlformats.org/officeDocument/2006/relationships/slide" Target="slides/slide23.xml"/><Relationship Id="rId52" Type="http://schemas.openxmlformats.org/officeDocument/2006/relationships/slide" Target="slides/slide22.xml"/><Relationship Id="rId51" Type="http://schemas.openxmlformats.org/officeDocument/2006/relationships/slide" Target="slides/slide21.xml"/><Relationship Id="rId50" Type="http://schemas.openxmlformats.org/officeDocument/2006/relationships/notesMaster" Target="notesMasters/notesMaster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0.xml"/><Relationship Id="rId48" Type="http://schemas.openxmlformats.org/officeDocument/2006/relationships/slide" Target="slides/slide19.xml"/><Relationship Id="rId47" Type="http://schemas.openxmlformats.org/officeDocument/2006/relationships/slide" Target="slides/slide18.xml"/><Relationship Id="rId46" Type="http://schemas.openxmlformats.org/officeDocument/2006/relationships/slide" Target="slides/slide17.xml"/><Relationship Id="rId45" Type="http://schemas.openxmlformats.org/officeDocument/2006/relationships/slide" Target="slides/slide16.xml"/><Relationship Id="rId44" Type="http://schemas.openxmlformats.org/officeDocument/2006/relationships/slide" Target="slides/slide15.xml"/><Relationship Id="rId43" Type="http://schemas.openxmlformats.org/officeDocument/2006/relationships/slide" Target="slides/slide14.xml"/><Relationship Id="rId42" Type="http://schemas.openxmlformats.org/officeDocument/2006/relationships/slide" Target="slides/slide13.xml"/><Relationship Id="rId41" Type="http://schemas.openxmlformats.org/officeDocument/2006/relationships/slide" Target="slides/slide12.xml"/><Relationship Id="rId40" Type="http://schemas.openxmlformats.org/officeDocument/2006/relationships/slide" Target="slides/slide1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0.xml"/><Relationship Id="rId38" Type="http://schemas.openxmlformats.org/officeDocument/2006/relationships/slide" Target="slides/slide9.xml"/><Relationship Id="rId37" Type="http://schemas.openxmlformats.org/officeDocument/2006/relationships/slide" Target="slides/slide8.xml"/><Relationship Id="rId36" Type="http://schemas.openxmlformats.org/officeDocument/2006/relationships/slide" Target="slides/slide7.xml"/><Relationship Id="rId35" Type="http://schemas.openxmlformats.org/officeDocument/2006/relationships/slide" Target="slides/slide6.xml"/><Relationship Id="rId34" Type="http://schemas.openxmlformats.org/officeDocument/2006/relationships/slide" Target="slides/slide5.xml"/><Relationship Id="rId33" Type="http://schemas.openxmlformats.org/officeDocument/2006/relationships/slide" Target="slides/slide4.xml"/><Relationship Id="rId32" Type="http://schemas.openxmlformats.org/officeDocument/2006/relationships/slide" Target="slides/slide3.xml"/><Relationship Id="rId31" Type="http://schemas.openxmlformats.org/officeDocument/2006/relationships/slide" Target="slides/slide2.xml"/><Relationship Id="rId30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22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71.wmf"/><Relationship Id="rId6" Type="http://schemas.openxmlformats.org/officeDocument/2006/relationships/image" Target="../media/image69.wmf"/><Relationship Id="rId5" Type="http://schemas.openxmlformats.org/officeDocument/2006/relationships/image" Target="../media/image70.wmf"/><Relationship Id="rId4" Type="http://schemas.openxmlformats.org/officeDocument/2006/relationships/image" Target="../media/image46.wmf"/><Relationship Id="rId3" Type="http://schemas.openxmlformats.org/officeDocument/2006/relationships/image" Target="../media/image50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6.vml.rels><?xml version="1.0" encoding="UTF-8" standalone="yes"?>
<Relationships xmlns="http://schemas.openxmlformats.org/package/2006/relationships"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kumimoji="1" sz="12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kumimoji="1" sz="12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1" sz="12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1">
                <a:ea typeface="宋体" panose="02010600030101010101" pitchFamily="2" charset="-122"/>
              </a:defRPr>
            </a:lvl1pPr>
          </a:lstStyle>
          <a:p>
            <a:fld id="{D989204C-BB93-4F23-B012-EEEE33F8CB0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eaLnBrk="0" hangingPunct="0"/>
            <a:fld id="{9A0DB2DC-4C9A-4742-B13C-FB6460FD3503}" type="slidenum">
              <a:rPr lang="zh-CN" altLang="en-US" sz="1000" b="0" i="1" dirty="0"/>
            </a:fld>
            <a:endParaRPr lang="zh-CN" altLang="en-US" sz="1000" b="0" i="1" dirty="0"/>
          </a:p>
        </p:txBody>
      </p:sp>
      <p:sp>
        <p:nvSpPr>
          <p:cNvPr id="472066" name="文本占位符 472065"/>
          <p:cNvSpPr>
            <a:spLocks noGrp="1"/>
          </p:cNvSpPr>
          <p:nvPr>
            <p:ph type="body" idx="1"/>
          </p:nvPr>
        </p:nvSpPr>
        <p:spPr>
          <a:xfrm>
            <a:off x="914400" y="4645025"/>
            <a:ext cx="5029200" cy="4114800"/>
          </a:xfrm>
          <a:noFill/>
          <a:ln w="9525">
            <a:noFill/>
          </a:ln>
        </p:spPr>
        <p:txBody>
          <a:bodyPr vert="horz" wrap="square" lIns="92075" tIns="46038" rIns="92075" bIns="46038" anchor="t"/>
          <a:lstStyle/>
          <a:p>
            <a:pPr lvl="0"/>
            <a:endParaRPr dirty="0"/>
          </a:p>
        </p:txBody>
      </p:sp>
      <p:sp>
        <p:nvSpPr>
          <p:cNvPr id="472067" name="幻灯片图像占位符 472066"/>
          <p:cNvSpPr>
            <a:spLocks noGrp="1" noRot="1" noChangeAspect="1"/>
          </p:cNvSpPr>
          <p:nvPr>
            <p:ph type="sldImg"/>
          </p:nvPr>
        </p:nvSpPr>
        <p:spPr>
          <a:xfrm>
            <a:off x="1141413" y="847725"/>
            <a:ext cx="4575175" cy="3432175"/>
          </a:xfr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eaLnBrk="0" hangingPunct="0"/>
            <a:fld id="{9A0DB2DC-4C9A-4742-B13C-FB6460FD3503}" type="slidenum">
              <a:rPr lang="zh-CN" altLang="en-US" sz="1000" b="0" i="1" dirty="0"/>
            </a:fld>
            <a:endParaRPr lang="zh-CN" altLang="en-US" sz="1000" b="0" i="1" dirty="0"/>
          </a:p>
        </p:txBody>
      </p:sp>
      <p:sp>
        <p:nvSpPr>
          <p:cNvPr id="474114" name="文本占位符 474113"/>
          <p:cNvSpPr>
            <a:spLocks noGrp="1"/>
          </p:cNvSpPr>
          <p:nvPr>
            <p:ph type="body" idx="1"/>
          </p:nvPr>
        </p:nvSpPr>
        <p:spPr>
          <a:xfrm>
            <a:off x="914400" y="4645025"/>
            <a:ext cx="5029200" cy="4114800"/>
          </a:xfrm>
          <a:noFill/>
          <a:ln w="9525">
            <a:noFill/>
          </a:ln>
        </p:spPr>
        <p:txBody>
          <a:bodyPr vert="horz" wrap="square" lIns="92075" tIns="46038" rIns="92075" bIns="46038" anchor="t"/>
          <a:lstStyle/>
          <a:p>
            <a:pPr lvl="0"/>
            <a:endParaRPr dirty="0"/>
          </a:p>
        </p:txBody>
      </p:sp>
      <p:sp>
        <p:nvSpPr>
          <p:cNvPr id="474115" name="幻灯片图像占位符 474114"/>
          <p:cNvSpPr>
            <a:spLocks noGrp="1" noRot="1" noChangeAspect="1"/>
          </p:cNvSpPr>
          <p:nvPr>
            <p:ph type="sldImg"/>
          </p:nvPr>
        </p:nvSpPr>
        <p:spPr>
          <a:xfrm>
            <a:off x="1141413" y="847725"/>
            <a:ext cx="4575175" cy="3432175"/>
          </a:xfr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eaLnBrk="0" hangingPunct="0"/>
            <a:fld id="{9A0DB2DC-4C9A-4742-B13C-FB6460FD3503}" type="slidenum">
              <a:rPr lang="zh-CN" altLang="en-US" sz="1000" b="0" i="1" dirty="0"/>
            </a:fld>
            <a:endParaRPr lang="zh-CN" altLang="en-US" sz="1000" b="0" i="1" dirty="0"/>
          </a:p>
        </p:txBody>
      </p:sp>
      <p:sp>
        <p:nvSpPr>
          <p:cNvPr id="476162" name="文本占位符 476161"/>
          <p:cNvSpPr>
            <a:spLocks noGrp="1"/>
          </p:cNvSpPr>
          <p:nvPr>
            <p:ph type="body" idx="1"/>
          </p:nvPr>
        </p:nvSpPr>
        <p:spPr>
          <a:xfrm>
            <a:off x="914400" y="4645025"/>
            <a:ext cx="5029200" cy="4114800"/>
          </a:xfrm>
          <a:noFill/>
          <a:ln w="9525">
            <a:noFill/>
          </a:ln>
        </p:spPr>
        <p:txBody>
          <a:bodyPr vert="horz" wrap="square" lIns="92075" tIns="46038" rIns="92075" bIns="46038" anchor="t"/>
          <a:lstStyle/>
          <a:p>
            <a:pPr lvl="0"/>
            <a:endParaRPr dirty="0"/>
          </a:p>
        </p:txBody>
      </p:sp>
      <p:sp>
        <p:nvSpPr>
          <p:cNvPr id="476163" name="幻灯片图像占位符 476162"/>
          <p:cNvSpPr>
            <a:spLocks noGrp="1" noRot="1" noChangeAspect="1"/>
          </p:cNvSpPr>
          <p:nvPr>
            <p:ph type="sldImg"/>
          </p:nvPr>
        </p:nvSpPr>
        <p:spPr>
          <a:xfrm>
            <a:off x="1141413" y="847725"/>
            <a:ext cx="4575175" cy="3432175"/>
          </a:xfr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eaLnBrk="0" hangingPunct="0"/>
            <a:fld id="{9A0DB2DC-4C9A-4742-B13C-FB6460FD3503}" type="slidenum">
              <a:rPr lang="zh-CN" altLang="en-US" sz="1000" b="0" i="1" dirty="0"/>
            </a:fld>
            <a:endParaRPr lang="zh-CN" altLang="en-US" sz="1000" b="0" i="1" dirty="0"/>
          </a:p>
        </p:txBody>
      </p:sp>
      <p:sp>
        <p:nvSpPr>
          <p:cNvPr id="478210" name="文本占位符 478209"/>
          <p:cNvSpPr>
            <a:spLocks noGrp="1"/>
          </p:cNvSpPr>
          <p:nvPr>
            <p:ph type="body" idx="1"/>
          </p:nvPr>
        </p:nvSpPr>
        <p:spPr>
          <a:xfrm>
            <a:off x="914400" y="4645025"/>
            <a:ext cx="5029200" cy="4114800"/>
          </a:xfrm>
          <a:noFill/>
          <a:ln w="9525">
            <a:noFill/>
          </a:ln>
        </p:spPr>
        <p:txBody>
          <a:bodyPr vert="horz" wrap="square" lIns="92075" tIns="46038" rIns="92075" bIns="46038" anchor="t"/>
          <a:lstStyle/>
          <a:p>
            <a:pPr lvl="0"/>
            <a:endParaRPr dirty="0"/>
          </a:p>
        </p:txBody>
      </p:sp>
      <p:sp>
        <p:nvSpPr>
          <p:cNvPr id="478211" name="幻灯片图像占位符 478210"/>
          <p:cNvSpPr>
            <a:spLocks noGrp="1" noRot="1" noChangeAspect="1"/>
          </p:cNvSpPr>
          <p:nvPr>
            <p:ph type="sldImg"/>
          </p:nvPr>
        </p:nvSpPr>
        <p:spPr>
          <a:xfrm>
            <a:off x="1141413" y="847725"/>
            <a:ext cx="4575175" cy="3432175"/>
          </a:xfr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eaLnBrk="0" hangingPunct="0"/>
            <a:fld id="{9A0DB2DC-4C9A-4742-B13C-FB6460FD3503}" type="slidenum">
              <a:rPr lang="zh-CN" altLang="en-US" sz="1000" b="0" i="1" dirty="0"/>
            </a:fld>
            <a:endParaRPr lang="zh-CN" altLang="en-US" sz="1000" b="0" i="1" dirty="0"/>
          </a:p>
        </p:txBody>
      </p:sp>
      <p:sp>
        <p:nvSpPr>
          <p:cNvPr id="388098" name="文本占位符 388097"/>
          <p:cNvSpPr>
            <a:spLocks noGrp="1"/>
          </p:cNvSpPr>
          <p:nvPr>
            <p:ph type="body" idx="1"/>
          </p:nvPr>
        </p:nvSpPr>
        <p:spPr>
          <a:xfrm>
            <a:off x="914400" y="4645025"/>
            <a:ext cx="5029200" cy="4114800"/>
          </a:xfrm>
          <a:noFill/>
          <a:ln w="9525">
            <a:noFill/>
          </a:ln>
        </p:spPr>
        <p:txBody>
          <a:bodyPr vert="horz" wrap="square" lIns="92075" tIns="46038" rIns="92075" bIns="46038" anchor="t"/>
          <a:lstStyle/>
          <a:p>
            <a:pPr lvl="0"/>
            <a:endParaRPr dirty="0"/>
          </a:p>
        </p:txBody>
      </p:sp>
      <p:sp>
        <p:nvSpPr>
          <p:cNvPr id="388099" name="幻灯片图像占位符 388098"/>
          <p:cNvSpPr>
            <a:spLocks noGrp="1" noRot="1" noChangeAspect="1"/>
          </p:cNvSpPr>
          <p:nvPr>
            <p:ph type="sldImg"/>
          </p:nvPr>
        </p:nvSpPr>
        <p:spPr>
          <a:xfrm>
            <a:off x="1141413" y="847725"/>
            <a:ext cx="4575175" cy="3432175"/>
          </a:xfr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eaLnBrk="0" hangingPunct="0"/>
            <a:fld id="{9A0DB2DC-4C9A-4742-B13C-FB6460FD3503}" type="slidenum">
              <a:rPr lang="zh-CN" altLang="en-US" sz="1000" b="0" i="1" dirty="0"/>
            </a:fld>
            <a:endParaRPr lang="zh-CN" altLang="en-US" sz="1000" b="0" i="1" dirty="0"/>
          </a:p>
        </p:txBody>
      </p:sp>
      <p:sp>
        <p:nvSpPr>
          <p:cNvPr id="488450" name="文本占位符 488449"/>
          <p:cNvSpPr>
            <a:spLocks noGrp="1"/>
          </p:cNvSpPr>
          <p:nvPr>
            <p:ph type="body" idx="1"/>
          </p:nvPr>
        </p:nvSpPr>
        <p:spPr>
          <a:xfrm>
            <a:off x="914400" y="4645025"/>
            <a:ext cx="5029200" cy="4114800"/>
          </a:xfrm>
          <a:noFill/>
          <a:ln w="9525">
            <a:noFill/>
          </a:ln>
        </p:spPr>
        <p:txBody>
          <a:bodyPr vert="horz" wrap="square" lIns="92075" tIns="46038" rIns="92075" bIns="46038" anchor="t"/>
          <a:lstStyle/>
          <a:p>
            <a:pPr lvl="0"/>
            <a:endParaRPr dirty="0"/>
          </a:p>
        </p:txBody>
      </p:sp>
      <p:sp>
        <p:nvSpPr>
          <p:cNvPr id="488451" name="幻灯片图像占位符 488450"/>
          <p:cNvSpPr>
            <a:spLocks noGrp="1" noRot="1" noChangeAspect="1"/>
          </p:cNvSpPr>
          <p:nvPr>
            <p:ph type="sldImg"/>
          </p:nvPr>
        </p:nvSpPr>
        <p:spPr>
          <a:xfrm>
            <a:off x="1141413" y="847725"/>
            <a:ext cx="4575175" cy="3432175"/>
          </a:xfr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9395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9395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0419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1443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2467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eaLnBrk="0" hangingPunct="0"/>
            <a:fld id="{9A0DB2DC-4C9A-4742-B13C-FB6460FD3503}" type="slidenum">
              <a:rPr lang="zh-CN" altLang="en-US" sz="1000" b="0" i="1" dirty="0"/>
            </a:fld>
            <a:endParaRPr lang="zh-CN" altLang="en-US" sz="1000" b="0" i="1" dirty="0"/>
          </a:p>
        </p:txBody>
      </p:sp>
      <p:sp>
        <p:nvSpPr>
          <p:cNvPr id="498690" name="文本占位符 498689"/>
          <p:cNvSpPr>
            <a:spLocks noGrp="1"/>
          </p:cNvSpPr>
          <p:nvPr>
            <p:ph type="body" idx="1"/>
          </p:nvPr>
        </p:nvSpPr>
        <p:spPr>
          <a:xfrm>
            <a:off x="914400" y="4645025"/>
            <a:ext cx="5029200" cy="4114800"/>
          </a:xfrm>
          <a:noFill/>
          <a:ln w="9525">
            <a:noFill/>
          </a:ln>
        </p:spPr>
        <p:txBody>
          <a:bodyPr vert="horz" wrap="square" lIns="92075" tIns="46038" rIns="92075" bIns="46038" anchor="t"/>
          <a:lstStyle/>
          <a:p>
            <a:pPr lvl="0"/>
            <a:endParaRPr dirty="0"/>
          </a:p>
        </p:txBody>
      </p:sp>
      <p:sp>
        <p:nvSpPr>
          <p:cNvPr id="498691" name="幻灯片图像占位符 498690"/>
          <p:cNvSpPr>
            <a:spLocks noGrp="1" noRot="1" noChangeAspect="1"/>
          </p:cNvSpPr>
          <p:nvPr>
            <p:ph type="sldImg"/>
          </p:nvPr>
        </p:nvSpPr>
        <p:spPr>
          <a:xfrm>
            <a:off x="1141413" y="847725"/>
            <a:ext cx="4575175" cy="3432175"/>
          </a:xfr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eaLnBrk="0" hangingPunct="0"/>
            <a:fld id="{9A0DB2DC-4C9A-4742-B13C-FB6460FD3503}" type="slidenum">
              <a:rPr lang="zh-CN" altLang="en-US" sz="1000" b="0" i="1" dirty="0"/>
            </a:fld>
            <a:endParaRPr lang="zh-CN" altLang="en-US" sz="1000" b="0" i="1" dirty="0"/>
          </a:p>
        </p:txBody>
      </p:sp>
      <p:sp>
        <p:nvSpPr>
          <p:cNvPr id="500738" name="文本占位符 500737"/>
          <p:cNvSpPr>
            <a:spLocks noGrp="1"/>
          </p:cNvSpPr>
          <p:nvPr>
            <p:ph type="body" idx="1"/>
          </p:nvPr>
        </p:nvSpPr>
        <p:spPr>
          <a:xfrm>
            <a:off x="914400" y="4645025"/>
            <a:ext cx="5029200" cy="4114800"/>
          </a:xfrm>
          <a:noFill/>
          <a:ln w="9525">
            <a:noFill/>
          </a:ln>
        </p:spPr>
        <p:txBody>
          <a:bodyPr vert="horz" wrap="square" lIns="92075" tIns="46038" rIns="92075" bIns="46038" anchor="t"/>
          <a:lstStyle/>
          <a:p>
            <a:pPr lvl="0"/>
            <a:endParaRPr dirty="0"/>
          </a:p>
        </p:txBody>
      </p:sp>
      <p:sp>
        <p:nvSpPr>
          <p:cNvPr id="500739" name="幻灯片图像占位符 500738"/>
          <p:cNvSpPr>
            <a:spLocks noGrp="1" noRot="1" noChangeAspect="1"/>
          </p:cNvSpPr>
          <p:nvPr>
            <p:ph type="sldImg"/>
          </p:nvPr>
        </p:nvSpPr>
        <p:spPr>
          <a:xfrm>
            <a:off x="1141413" y="847725"/>
            <a:ext cx="4575175" cy="3432175"/>
          </a:xfr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3491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4515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5539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6563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7587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8611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9635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4" y="85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7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3D7C42F-B408-4303-B37B-27CE6987C7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DDA70E1B-8939-4FA0-BC63-BE8F24A4A1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93F1527B-E44F-44CA-BA95-5FEBADB934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46206E34-96B2-4E3E-A0D6-14940B1AB7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A3A9D273-7070-407B-975A-60514DB884E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610B06C4-66E6-446B-8562-E0044F3E83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03FB2B42-1362-438A-86A9-F71B531834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B01AD5BC-F01C-4323-9838-E625FCF769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60019A39-4A59-42A5-B6AF-9B6F0EFDFB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9C5135F-F16C-4B1F-91A4-51EFB47211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4480037D-B71F-47FD-AEF0-761FCB2ABD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CEAB060-9FA7-44B3-A7A6-BD0AF71C44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D75D3A77-12B6-42D4-89AC-21D85BED40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3182C994-DF43-4C32-B880-06CB4F8014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2E857F00-EE50-4E5E-BD28-6A3ABD864D8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954D66C5-F1A0-4672-A424-A50FA1F1FAD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76DE790D-14A4-428B-B7C9-F2E095EFE03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8C6C1C7F-89DB-45FD-A448-D4E1BE7389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9C5494A-11ED-461F-A6C9-A164E697CBF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324975F8-DCF1-4F43-AA9C-7E5BEE0457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985542F-D056-47D1-998F-54916851C3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A9F9FFB9-1D1A-4476-8590-8A042BDE84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9986BFFD-9558-4625-9E81-70A8304CCF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360EF967-0E72-4CA7-A01D-8BF646BB2C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4" y="85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7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3D7C42F-B408-4303-B37B-27CE6987C7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2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9" y="334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34CCF71B-25A6-45BD-A98E-B94D4D3A6D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6" y="85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8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9C5135F-F16C-4B1F-91A4-51EFB47211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14" y="85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87" y="33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3D7C42F-B408-4303-B37B-27CE6987C7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3" Type="http://schemas.openxmlformats.org/officeDocument/2006/relationships/theme" Target="../theme/theme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3" Type="http://schemas.openxmlformats.org/officeDocument/2006/relationships/theme" Target="../theme/theme1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3" Type="http://schemas.openxmlformats.org/officeDocument/2006/relationships/theme" Target="../theme/theme1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3" Type="http://schemas.openxmlformats.org/officeDocument/2006/relationships/theme" Target="../theme/theme1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3" Type="http://schemas.openxmlformats.org/officeDocument/2006/relationships/theme" Target="../theme/theme1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3" Type="http://schemas.openxmlformats.org/officeDocument/2006/relationships/theme" Target="../theme/theme1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3" Type="http://schemas.openxmlformats.org/officeDocument/2006/relationships/theme" Target="../theme/theme1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3" Type="http://schemas.openxmlformats.org/officeDocument/2006/relationships/theme" Target="../theme/theme1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3" Type="http://schemas.openxmlformats.org/officeDocument/2006/relationships/theme" Target="../theme/theme1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3" Type="http://schemas.openxmlformats.org/officeDocument/2006/relationships/theme" Target="../theme/theme1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3" Type="http://schemas.openxmlformats.org/officeDocument/2006/relationships/theme" Target="../theme/theme1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3" Type="http://schemas.openxmlformats.org/officeDocument/2006/relationships/theme" Target="../theme/theme2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3" Type="http://schemas.openxmlformats.org/officeDocument/2006/relationships/theme" Target="../theme/theme2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3" Type="http://schemas.openxmlformats.org/officeDocument/2006/relationships/theme" Target="../theme/theme2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3" Type="http://schemas.openxmlformats.org/officeDocument/2006/relationships/theme" Target="../theme/theme2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3" Type="http://schemas.openxmlformats.org/officeDocument/2006/relationships/theme" Target="../theme/theme2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3" Type="http://schemas.openxmlformats.org/officeDocument/2006/relationships/theme" Target="../theme/theme2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3" Type="http://schemas.openxmlformats.org/officeDocument/2006/relationships/theme" Target="../theme/theme2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7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3" Type="http://schemas.openxmlformats.org/officeDocument/2006/relationships/theme" Target="../theme/theme2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3" Type="http://schemas.openxmlformats.org/officeDocument/2006/relationships/theme" Target="../theme/theme2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2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38.xml"/><Relationship Id="rId4" Type="http://schemas.openxmlformats.org/officeDocument/2006/relationships/slide" Target="slide3.xml"/><Relationship Id="rId3" Type="http://schemas.openxmlformats.org/officeDocument/2006/relationships/slide" Target="slide30.xml"/><Relationship Id="rId2" Type="http://schemas.openxmlformats.org/officeDocument/2006/relationships/slide" Target="slide20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hyperlink" Target="file:///D:\&#26426;&#26800;&#35774;&#35745;&#22522;&#30784;\&#24179;&#30382;&#24102;&#20256;&#21160;.exe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5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microsoft.com/office/2007/relationships/media" Target="file:///D:\jxsj\AVI\&#21516;&#27493;&#24102;&#20256;&#21160;2.avi" TargetMode="External"/><Relationship Id="rId7" Type="http://schemas.openxmlformats.org/officeDocument/2006/relationships/video" Target="file:///D:\jxsj\AVI\&#21516;&#27493;&#24102;&#20256;&#21160;2.avi" TargetMode="External"/><Relationship Id="rId6" Type="http://schemas.openxmlformats.org/officeDocument/2006/relationships/image" Target="../media/image12.png"/><Relationship Id="rId5" Type="http://schemas.microsoft.com/office/2007/relationships/media" Target="file:///D:\jxsj\AVI\&#22278;&#24102;&#20256;&#21160;.avi" TargetMode="External"/><Relationship Id="rId4" Type="http://schemas.openxmlformats.org/officeDocument/2006/relationships/video" Target="file:///D:\jxsj\AVI\&#22278;&#24102;&#20256;&#21160;.avi" TargetMode="External"/><Relationship Id="rId3" Type="http://schemas.openxmlformats.org/officeDocument/2006/relationships/image" Target="../media/image11.png"/><Relationship Id="rId2" Type="http://schemas.microsoft.com/office/2007/relationships/media" Target="file:///D:\jxsj\AVI\&#30382;&#24102;&#36718;.avi" TargetMode="External"/><Relationship Id="rId16" Type="http://schemas.openxmlformats.org/officeDocument/2006/relationships/slideLayout" Target="../slideLayouts/slideLayout40.xml"/><Relationship Id="rId15" Type="http://schemas.openxmlformats.org/officeDocument/2006/relationships/image" Target="../media/image15.png"/><Relationship Id="rId14" Type="http://schemas.microsoft.com/office/2007/relationships/media" Target="file:///D:\jxsj\AVI\&#22810;&#26964;&#24102;&#20256;&#21160;.avi" TargetMode="External"/><Relationship Id="rId13" Type="http://schemas.openxmlformats.org/officeDocument/2006/relationships/video" Target="file:///D:\jxsj\AVI\&#22810;&#26964;&#24102;&#20256;&#21160;.avi" TargetMode="External"/><Relationship Id="rId12" Type="http://schemas.openxmlformats.org/officeDocument/2006/relationships/image" Target="../media/image14.png"/><Relationship Id="rId11" Type="http://schemas.microsoft.com/office/2007/relationships/media" Target="file:///D:\jxsj\AVI\V&#24102;&#20256;&#21160;.avi" TargetMode="External"/><Relationship Id="rId10" Type="http://schemas.openxmlformats.org/officeDocument/2006/relationships/video" Target="file:///D:\jxsj\AVI\V&#24102;&#20256;&#21160;.avi" TargetMode="External"/><Relationship Id="rId1" Type="http://schemas.openxmlformats.org/officeDocument/2006/relationships/video" Target="file:///D:\jxsj\AVI\&#30382;&#24102;&#36718;.avi" TargetMode="Externa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9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7.emf"/><Relationship Id="rId3" Type="http://schemas.openxmlformats.org/officeDocument/2006/relationships/oleObject" Target="../embeddings/oleObject2.bin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35.xml"/><Relationship Id="rId2" Type="http://schemas.openxmlformats.org/officeDocument/2006/relationships/image" Target="../media/image16.emf"/><Relationship Id="rId19" Type="http://schemas.openxmlformats.org/officeDocument/2006/relationships/image" Target="../media/image2.png"/><Relationship Id="rId18" Type="http://schemas.openxmlformats.org/officeDocument/2006/relationships/image" Target="../media/image22.emf"/><Relationship Id="rId17" Type="http://schemas.openxmlformats.org/officeDocument/2006/relationships/oleObject" Target="../embeddings/oleObject7.bin"/><Relationship Id="rId16" Type="http://schemas.openxmlformats.org/officeDocument/2006/relationships/image" Target="../media/image21.emf"/><Relationship Id="rId15" Type="http://schemas.openxmlformats.org/officeDocument/2006/relationships/oleObject" Target="../embeddings/oleObject6.bin"/><Relationship Id="rId14" Type="http://schemas.openxmlformats.org/officeDocument/2006/relationships/image" Target="../media/image20.emf"/><Relationship Id="rId13" Type="http://schemas.openxmlformats.org/officeDocument/2006/relationships/oleObject" Target="../embeddings/oleObject5.bin"/><Relationship Id="rId12" Type="http://schemas.openxmlformats.org/officeDocument/2006/relationships/image" Target="../media/image9.png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image" Target="../media/image2.png"/><Relationship Id="rId7" Type="http://schemas.openxmlformats.org/officeDocument/2006/relationships/image" Target="../media/image28.png"/><Relationship Id="rId6" Type="http://schemas.openxmlformats.org/officeDocument/2006/relationships/oleObject" Target="../embeddings/oleObject8.bin"/><Relationship Id="rId5" Type="http://schemas.openxmlformats.org/officeDocument/2006/relationships/image" Target="../media/image27.pn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0" Type="http://schemas.openxmlformats.org/officeDocument/2006/relationships/vmlDrawing" Target="../drawings/vmlDrawing2.vml"/><Relationship Id="rId1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9.xml"/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9.xml"/><Relationship Id="rId2" Type="http://schemas.openxmlformats.org/officeDocument/2006/relationships/image" Target="../media/image2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7" Type="http://schemas.openxmlformats.org/officeDocument/2006/relationships/image" Target="../media/image2.png"/><Relationship Id="rId6" Type="http://schemas.openxmlformats.org/officeDocument/2006/relationships/image" Target="../media/image32.png"/><Relationship Id="rId5" Type="http://schemas.openxmlformats.org/officeDocument/2006/relationships/slide" Target="slide43.xml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6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4.xml"/><Relationship Id="rId6" Type="http://schemas.openxmlformats.org/officeDocument/2006/relationships/image" Target="../media/image2.png"/><Relationship Id="rId5" Type="http://schemas.openxmlformats.org/officeDocument/2006/relationships/image" Target="../media/image34.png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9.xml"/><Relationship Id="rId2" Type="http://schemas.openxmlformats.org/officeDocument/2006/relationships/image" Target="../media/image2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6.xml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slide" Target="slide17.xml"/><Relationship Id="rId7" Type="http://schemas.openxmlformats.org/officeDocument/2006/relationships/image" Target="../media/image38.GIF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37.png"/><Relationship Id="rId10" Type="http://schemas.openxmlformats.org/officeDocument/2006/relationships/slideLayout" Target="../slideLayouts/slideLayout134.xml"/><Relationship Id="rId1" Type="http://schemas.openxmlformats.org/officeDocument/2006/relationships/image" Target="../media/image36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5.xml"/><Relationship Id="rId4" Type="http://schemas.openxmlformats.org/officeDocument/2006/relationships/image" Target="../media/image2.png"/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60.xml"/><Relationship Id="rId6" Type="http://schemas.openxmlformats.org/officeDocument/2006/relationships/slide" Target="slide1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77.xml"/><Relationship Id="rId6" Type="http://schemas.openxmlformats.org/officeDocument/2006/relationships/image" Target="../media/image2.png"/><Relationship Id="rId5" Type="http://schemas.openxmlformats.org/officeDocument/2006/relationships/image" Target="../media/image45.png"/><Relationship Id="rId4" Type="http://schemas.openxmlformats.org/officeDocument/2006/relationships/tags" Target="../tags/tag2.xml"/><Relationship Id="rId3" Type="http://schemas.openxmlformats.org/officeDocument/2006/relationships/slide" Target="slide1.xml"/><Relationship Id="rId2" Type="http://schemas.openxmlformats.org/officeDocument/2006/relationships/image" Target="../media/image44.png"/><Relationship Id="rId1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10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jpeg"/><Relationship Id="rId3" Type="http://schemas.openxmlformats.org/officeDocument/2006/relationships/tags" Target="../tags/tag3.xml"/><Relationship Id="rId2" Type="http://schemas.openxmlformats.org/officeDocument/2006/relationships/image" Target="../media/image50.wmf"/><Relationship Id="rId1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8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wmf"/><Relationship Id="rId8" Type="http://schemas.openxmlformats.org/officeDocument/2006/relationships/oleObject" Target="../embeddings/oleObject18.bin"/><Relationship Id="rId7" Type="http://schemas.openxmlformats.org/officeDocument/2006/relationships/image" Target="../media/image54.w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52.wmf"/><Relationship Id="rId2" Type="http://schemas.openxmlformats.org/officeDocument/2006/relationships/oleObject" Target="../embeddings/oleObject15.bin"/><Relationship Id="rId17" Type="http://schemas.openxmlformats.org/officeDocument/2006/relationships/vmlDrawing" Target="../drawings/vmlDrawing7.vml"/><Relationship Id="rId16" Type="http://schemas.openxmlformats.org/officeDocument/2006/relationships/slideLayout" Target="../slideLayouts/slideLayout288.xml"/><Relationship Id="rId15" Type="http://schemas.openxmlformats.org/officeDocument/2006/relationships/image" Target="../media/image2.png"/><Relationship Id="rId14" Type="http://schemas.openxmlformats.org/officeDocument/2006/relationships/image" Target="../media/image58.png"/><Relationship Id="rId13" Type="http://schemas.openxmlformats.org/officeDocument/2006/relationships/image" Target="../media/image57.wmf"/><Relationship Id="rId12" Type="http://schemas.openxmlformats.org/officeDocument/2006/relationships/oleObject" Target="../embeddings/oleObject20.bin"/><Relationship Id="rId11" Type="http://schemas.openxmlformats.org/officeDocument/2006/relationships/image" Target="../media/image56.wmf"/><Relationship Id="rId10" Type="http://schemas.openxmlformats.org/officeDocument/2006/relationships/oleObject" Target="../embeddings/oleObject19.bin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68.xml"/><Relationship Id="rId4" Type="http://schemas.openxmlformats.org/officeDocument/2006/relationships/image" Target="../media/image2.png"/><Relationship Id="rId3" Type="http://schemas.openxmlformats.org/officeDocument/2006/relationships/image" Target="../media/image60.w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59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8.xml"/><Relationship Id="rId2" Type="http://schemas.openxmlformats.org/officeDocument/2006/relationships/image" Target="../media/image2.png"/><Relationship Id="rId1" Type="http://schemas.openxmlformats.org/officeDocument/2006/relationships/image" Target="../media/image61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6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8" Type="http://schemas.openxmlformats.org/officeDocument/2006/relationships/vmlDrawing" Target="../drawings/vmlDrawing9.vml"/><Relationship Id="rId17" Type="http://schemas.openxmlformats.org/officeDocument/2006/relationships/slideLayout" Target="../slideLayouts/slideLayout79.xml"/><Relationship Id="rId16" Type="http://schemas.openxmlformats.org/officeDocument/2006/relationships/image" Target="../media/image2.png"/><Relationship Id="rId15" Type="http://schemas.openxmlformats.org/officeDocument/2006/relationships/image" Target="../media/image67.png"/><Relationship Id="rId14" Type="http://schemas.openxmlformats.org/officeDocument/2006/relationships/image" Target="../media/image66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65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64.wmf"/><Relationship Id="rId1" Type="http://schemas.openxmlformats.org/officeDocument/2006/relationships/slide" Target="slide1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0.xml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wmf"/><Relationship Id="rId8" Type="http://schemas.openxmlformats.org/officeDocument/2006/relationships/oleObject" Target="../embeddings/oleObject29.bin"/><Relationship Id="rId7" Type="http://schemas.openxmlformats.org/officeDocument/2006/relationships/image" Target="../media/image69.wmf"/><Relationship Id="rId6" Type="http://schemas.openxmlformats.org/officeDocument/2006/relationships/oleObject" Target="../embeddings/oleObject28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27.bin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7.xml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.png"/><Relationship Id="rId11" Type="http://schemas.openxmlformats.org/officeDocument/2006/relationships/image" Target="../media/image71.wmf"/><Relationship Id="rId10" Type="http://schemas.openxmlformats.org/officeDocument/2006/relationships/oleObject" Target="../embeddings/oleObject30.bin"/><Relationship Id="rId1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46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72.wmf"/><Relationship Id="rId16" Type="http://schemas.openxmlformats.org/officeDocument/2006/relationships/vmlDrawing" Target="../drawings/vmlDrawing11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71.wmf"/><Relationship Id="rId13" Type="http://schemas.openxmlformats.org/officeDocument/2006/relationships/oleObject" Target="../embeddings/oleObject37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31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9.xml"/><Relationship Id="rId8" Type="http://schemas.openxmlformats.org/officeDocument/2006/relationships/image" Target="../media/image2.png"/><Relationship Id="rId7" Type="http://schemas.openxmlformats.org/officeDocument/2006/relationships/slide" Target="slide45.xml"/><Relationship Id="rId6" Type="http://schemas.openxmlformats.org/officeDocument/2006/relationships/slide" Target="slide47.xml"/><Relationship Id="rId5" Type="http://schemas.openxmlformats.org/officeDocument/2006/relationships/slide" Target="slide46.xml"/><Relationship Id="rId4" Type="http://schemas.openxmlformats.org/officeDocument/2006/relationships/image" Target="../media/image74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8.xml"/><Relationship Id="rId10" Type="http://schemas.openxmlformats.org/officeDocument/2006/relationships/vmlDrawing" Target="../drawings/vmlDrawing12.vml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slide" Target="slide49.xml"/><Relationship Id="rId7" Type="http://schemas.openxmlformats.org/officeDocument/2006/relationships/slide" Target="slide48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9.xml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145.xml"/><Relationship Id="rId12" Type="http://schemas.openxmlformats.org/officeDocument/2006/relationships/image" Target="../media/image2.png"/><Relationship Id="rId11" Type="http://schemas.openxmlformats.org/officeDocument/2006/relationships/slide" Target="slide50.xml"/><Relationship Id="rId10" Type="http://schemas.openxmlformats.org/officeDocument/2006/relationships/image" Target="../media/image76.wmf"/><Relationship Id="rId1" Type="http://schemas.openxmlformats.org/officeDocument/2006/relationships/slide" Target="slide1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78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77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8" Type="http://schemas.openxmlformats.org/officeDocument/2006/relationships/notesSlide" Target="../notesSlides/notesSlide10.xml"/><Relationship Id="rId17" Type="http://schemas.openxmlformats.org/officeDocument/2006/relationships/vmlDrawing" Target="../drawings/vmlDrawing14.vml"/><Relationship Id="rId16" Type="http://schemas.openxmlformats.org/officeDocument/2006/relationships/slideLayout" Target="../slideLayouts/slideLayout112.xml"/><Relationship Id="rId15" Type="http://schemas.openxmlformats.org/officeDocument/2006/relationships/image" Target="../media/image2.png"/><Relationship Id="rId14" Type="http://schemas.openxmlformats.org/officeDocument/2006/relationships/image" Target="../media/image81.wmf"/><Relationship Id="rId13" Type="http://schemas.openxmlformats.org/officeDocument/2006/relationships/oleObject" Target="../embeddings/oleObject45.bin"/><Relationship Id="rId12" Type="http://schemas.openxmlformats.org/officeDocument/2006/relationships/image" Target="../media/image80.wmf"/><Relationship Id="rId11" Type="http://schemas.openxmlformats.org/officeDocument/2006/relationships/oleObject" Target="../embeddings/oleObject44.bin"/><Relationship Id="rId10" Type="http://schemas.openxmlformats.org/officeDocument/2006/relationships/image" Target="../media/image79.wmf"/><Relationship Id="rId1" Type="http://schemas.openxmlformats.org/officeDocument/2006/relationships/slide" Target="slide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oleObject" Target="../embeddings/oleObject48.bin"/><Relationship Id="rId7" Type="http://schemas.openxmlformats.org/officeDocument/2006/relationships/image" Target="../media/image83.wmf"/><Relationship Id="rId6" Type="http://schemas.openxmlformats.org/officeDocument/2006/relationships/oleObject" Target="../embeddings/oleObject47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46.bin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11.xml"/><Relationship Id="rId11" Type="http://schemas.openxmlformats.org/officeDocument/2006/relationships/vmlDrawing" Target="../drawings/vmlDrawing15.vml"/><Relationship Id="rId10" Type="http://schemas.openxmlformats.org/officeDocument/2006/relationships/slideLayout" Target="../slideLayouts/slideLayout244.xml"/><Relationship Id="rId1" Type="http://schemas.openxmlformats.org/officeDocument/2006/relationships/slide" Target="slide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hyperlink" Target="&#22270;0-1.tif" TargetMode="External"/><Relationship Id="rId4" Type="http://schemas.openxmlformats.org/officeDocument/2006/relationships/hyperlink" Target="t5-9.tif" TargetMode="External"/><Relationship Id="rId3" Type="http://schemas.openxmlformats.org/officeDocument/2006/relationships/hyperlink" Target="dai.tif" TargetMode="External"/><Relationship Id="rId2" Type="http://schemas.openxmlformats.org/officeDocument/2006/relationships/hyperlink" Target="b5-7.tif" TargetMode="External"/><Relationship Id="rId1" Type="http://schemas.openxmlformats.org/officeDocument/2006/relationships/hyperlink" Target="t5-7.tif" TargetMode="Externa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.png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3.xml"/><Relationship Id="rId7" Type="http://schemas.openxmlformats.org/officeDocument/2006/relationships/image" Target="../media/image2.png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6.xml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7.xml"/><Relationship Id="rId4" Type="http://schemas.openxmlformats.org/officeDocument/2006/relationships/slide" Target="slide11.xml"/><Relationship Id="rId3" Type="http://schemas.openxmlformats.org/officeDocument/2006/relationships/image" Target="../media/image92.jpeg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wmf"/><Relationship Id="rId8" Type="http://schemas.openxmlformats.org/officeDocument/2006/relationships/oleObject" Target="../embeddings/oleObject51.bin"/><Relationship Id="rId7" Type="http://schemas.openxmlformats.org/officeDocument/2006/relationships/image" Target="../media/image53.wmf"/><Relationship Id="rId6" Type="http://schemas.openxmlformats.org/officeDocument/2006/relationships/oleObject" Target="../embeddings/oleObject50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49.bin"/><Relationship Id="rId3" Type="http://schemas.openxmlformats.org/officeDocument/2006/relationships/slide" Target="slide24.xml"/><Relationship Id="rId2" Type="http://schemas.openxmlformats.org/officeDocument/2006/relationships/image" Target="../media/image4.png"/><Relationship Id="rId18" Type="http://schemas.openxmlformats.org/officeDocument/2006/relationships/vmlDrawing" Target="../drawings/vmlDrawing16.vml"/><Relationship Id="rId17" Type="http://schemas.openxmlformats.org/officeDocument/2006/relationships/slideLayout" Target="../slideLayouts/slideLayout101.xml"/><Relationship Id="rId16" Type="http://schemas.openxmlformats.org/officeDocument/2006/relationships/image" Target="../media/image58.png"/><Relationship Id="rId15" Type="http://schemas.openxmlformats.org/officeDocument/2006/relationships/image" Target="../media/image57.wmf"/><Relationship Id="rId14" Type="http://schemas.openxmlformats.org/officeDocument/2006/relationships/oleObject" Target="../embeddings/oleObject54.bin"/><Relationship Id="rId13" Type="http://schemas.openxmlformats.org/officeDocument/2006/relationships/image" Target="../media/image56.wmf"/><Relationship Id="rId12" Type="http://schemas.openxmlformats.org/officeDocument/2006/relationships/oleObject" Target="../embeddings/oleObject53.bin"/><Relationship Id="rId11" Type="http://schemas.openxmlformats.org/officeDocument/2006/relationships/image" Target="../media/image55.wmf"/><Relationship Id="rId10" Type="http://schemas.openxmlformats.org/officeDocument/2006/relationships/oleObject" Target="../embeddings/oleObject52.bin"/><Relationship Id="rId1" Type="http://schemas.openxmlformats.org/officeDocument/2006/relationships/slide" Target="slide1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78.xml"/><Relationship Id="rId3" Type="http://schemas.openxmlformats.org/officeDocument/2006/relationships/slide" Target="slide32.xml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89.xml"/><Relationship Id="rId3" Type="http://schemas.openxmlformats.org/officeDocument/2006/relationships/slide" Target="slide32.xml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00.xml"/><Relationship Id="rId3" Type="http://schemas.openxmlformats.org/officeDocument/2006/relationships/slide" Target="slide32.xml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11.xml"/><Relationship Id="rId4" Type="http://schemas.openxmlformats.org/officeDocument/2006/relationships/tags" Target="../tags/tag4.xml"/><Relationship Id="rId3" Type="http://schemas.openxmlformats.org/officeDocument/2006/relationships/slide" Target="slide33.xml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22.xml"/><Relationship Id="rId4" Type="http://schemas.openxmlformats.org/officeDocument/2006/relationships/image" Target="../media/image93.png"/><Relationship Id="rId3" Type="http://schemas.openxmlformats.org/officeDocument/2006/relationships/slide" Target="slide33.xml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33.xml"/><Relationship Id="rId4" Type="http://schemas.openxmlformats.org/officeDocument/2006/relationships/tags" Target="../tags/tag5.xml"/><Relationship Id="rId3" Type="http://schemas.openxmlformats.org/officeDocument/2006/relationships/slide" Target="slide33.xml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8.xml"/><Relationship Id="rId2" Type="http://schemas.openxmlformats.org/officeDocument/2006/relationships/image" Target="../media/image94.png"/><Relationship Id="rId1" Type="http://schemas.openxmlformats.org/officeDocument/2006/relationships/tags" Target="../tags/tag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8.xml"/><Relationship Id="rId2" Type="http://schemas.openxmlformats.org/officeDocument/2006/relationships/image" Target="../media/image95.png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2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1716088" y="1965325"/>
            <a:ext cx="476091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3.2-2 </a:t>
            </a:r>
            <a:r>
              <a:rPr lang="zh-CN" altLang="en-US" sz="2400" u="sng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2" action="ppaction://hlinksldjump"/>
              </a:rPr>
              <a:t>带传动的工作情况的分析</a:t>
            </a:r>
            <a:endParaRPr lang="zh-CN" altLang="en-US" sz="2400" u="sng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3" name="Rectangle 23"/>
          <p:cNvSpPr>
            <a:spLocks noChangeArrowheads="1"/>
          </p:cNvSpPr>
          <p:nvPr/>
        </p:nvSpPr>
        <p:spPr bwMode="auto">
          <a:xfrm>
            <a:off x="1716088" y="2630488"/>
            <a:ext cx="41624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3.2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-3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3" tooltip="机械零件的疲劳强度计算" action="ppaction://hlinksldjump"/>
              </a:rPr>
              <a:t>普通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3" tooltip="机械零件的疲劳强度计算" action="ppaction://hlinksldjump"/>
              </a:rPr>
              <a:t>V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3" tooltip="机械零件的疲劳强度计算" action="ppaction://hlinksldjump"/>
              </a:rPr>
              <a:t>带传动的设计计算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4" name="Rectangle 24"/>
          <p:cNvSpPr>
            <a:spLocks noChangeArrowheads="1"/>
          </p:cNvSpPr>
          <p:nvPr/>
        </p:nvSpPr>
        <p:spPr bwMode="auto">
          <a:xfrm>
            <a:off x="1716088" y="1298575"/>
            <a:ext cx="15036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3.2-1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4" tooltip="机械零件的抗断裂强度" action="ppaction://hlinksldjump"/>
              </a:rPr>
              <a:t>概述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5" name="Rectangle 26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786063" y="214313"/>
            <a:ext cx="345757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2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</a:t>
            </a:r>
            <a:r>
              <a:rPr lang="zh-CN" altLang="en-US" sz="32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带传动</a:t>
            </a:r>
            <a:endParaRPr lang="zh-CN" altLang="en-US" sz="32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6" name="Rectangle 25"/>
          <p:cNvSpPr>
            <a:spLocks noChangeArrowheads="1"/>
          </p:cNvSpPr>
          <p:nvPr/>
        </p:nvSpPr>
        <p:spPr bwMode="auto">
          <a:xfrm>
            <a:off x="1716088" y="3295650"/>
            <a:ext cx="26384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3.2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-4 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1" tooltip="机械零件的接触疲劳强度" action="ppaction://hlinksldjump"/>
              </a:rPr>
              <a:t>V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1" tooltip="机械零件的接触疲劳强度" action="ppaction://hlinksldjump"/>
              </a:rPr>
              <a:t>带轮的设计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hlinkClick r:id="rId1" tooltip="机械零件的接触疲劳强度" action="ppaction://hlinksldjump"/>
            </a:endParaRPr>
          </a:p>
        </p:txBody>
      </p:sp>
      <p:sp>
        <p:nvSpPr>
          <p:cNvPr id="35847" name="Rectangle 25"/>
          <p:cNvSpPr>
            <a:spLocks noChangeArrowheads="1"/>
          </p:cNvSpPr>
          <p:nvPr/>
        </p:nvSpPr>
        <p:spPr bwMode="auto">
          <a:xfrm>
            <a:off x="1716088" y="3940493"/>
            <a:ext cx="47720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3.2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-5 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5" tooltip="机械零件的接触疲劳强度" action="ppaction://hlinksldjump"/>
              </a:rPr>
              <a:t>V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5" tooltip="机械零件的接触疲劳强度" action="ppaction://hlinksldjump"/>
              </a:rPr>
              <a:t>带传动的张紧、安装与防护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hlinkClick r:id="rId5" tooltip="机械零件的接触疲劳强度" action="ppaction://hlinksldjump"/>
            </a:endParaRPr>
          </a:p>
        </p:txBody>
      </p:sp>
      <p:sp>
        <p:nvSpPr>
          <p:cNvPr id="35848" name="Rectangle 25"/>
          <p:cNvSpPr>
            <a:spLocks noChangeArrowheads="1"/>
          </p:cNvSpPr>
          <p:nvPr/>
        </p:nvSpPr>
        <p:spPr bwMode="auto">
          <a:xfrm>
            <a:off x="1716405" y="4665345"/>
            <a:ext cx="532066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3.2-6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案例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2“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传动方案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1”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带传动的设计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5852" name="直接连接符 6"/>
          <p:cNvSpPr>
            <a:spLocks noChangeShapeType="1"/>
          </p:cNvSpPr>
          <p:nvPr/>
        </p:nvSpPr>
        <p:spPr bwMode="auto">
          <a:xfrm>
            <a:off x="0" y="908720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1"/>
          <p:cNvGrpSpPr/>
          <p:nvPr/>
        </p:nvGrpSpPr>
        <p:grpSpPr>
          <a:xfrm>
            <a:off x="6300192" y="5877272"/>
            <a:ext cx="2630487" cy="827087"/>
            <a:chOff x="10088" y="9497"/>
            <a:chExt cx="4141" cy="1302"/>
          </a:xfrm>
        </p:grpSpPr>
        <p:sp>
          <p:nvSpPr>
            <p:cNvPr id="14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  <a:endParaRPr lang="zh-CN" altLang="en-US" sz="1200" dirty="0">
                <a:latin typeface="Times New Roman" panose="02020603050405020304" pitchFamily="18" charset="0"/>
              </a:endParaRP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15" name="图片 1073742872" descr="44303071dc0a1f9688d599dbc999570副本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261" name="组合 85260"/>
          <p:cNvGrpSpPr/>
          <p:nvPr/>
        </p:nvGrpSpPr>
        <p:grpSpPr>
          <a:xfrm>
            <a:off x="437515" y="1933575"/>
            <a:ext cx="4067175" cy="1982788"/>
            <a:chOff x="270" y="1224"/>
            <a:chExt cx="2562" cy="1249"/>
          </a:xfrm>
        </p:grpSpPr>
        <p:sp>
          <p:nvSpPr>
            <p:cNvPr id="85191" name="文本框 85190"/>
            <p:cNvSpPr txBox="1"/>
            <p:nvPr/>
          </p:nvSpPr>
          <p:spPr>
            <a:xfrm>
              <a:off x="1235" y="203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85259" name="组合 85258"/>
            <p:cNvGrpSpPr/>
            <p:nvPr/>
          </p:nvGrpSpPr>
          <p:grpSpPr>
            <a:xfrm>
              <a:off x="270" y="1224"/>
              <a:ext cx="2562" cy="1249"/>
              <a:chOff x="270" y="1224"/>
              <a:chExt cx="2562" cy="1249"/>
            </a:xfrm>
          </p:grpSpPr>
          <p:sp>
            <p:nvSpPr>
              <p:cNvPr id="85193" name="直接连接符 85192"/>
              <p:cNvSpPr/>
              <p:nvPr/>
            </p:nvSpPr>
            <p:spPr>
              <a:xfrm flipV="1">
                <a:off x="540" y="1224"/>
                <a:ext cx="1638" cy="300"/>
              </a:xfrm>
              <a:prstGeom prst="line">
                <a:avLst/>
              </a:prstGeom>
              <a:ln w="381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195" name="直接连接符 85194"/>
              <p:cNvSpPr/>
              <p:nvPr/>
            </p:nvSpPr>
            <p:spPr>
              <a:xfrm flipV="1">
                <a:off x="627" y="1260"/>
                <a:ext cx="1545" cy="285"/>
              </a:xfrm>
              <a:prstGeom prst="line">
                <a:avLst/>
              </a:prstGeom>
              <a:ln w="381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194" name="任意多边形 85193"/>
              <p:cNvSpPr/>
              <p:nvPr/>
            </p:nvSpPr>
            <p:spPr>
              <a:xfrm>
                <a:off x="2160" y="1225"/>
                <a:ext cx="672" cy="1248"/>
              </a:xfrm>
              <a:custGeom>
                <a:avLst/>
                <a:gdLst>
                  <a:gd name="txL" fmla="*/ 0 w 21600"/>
                  <a:gd name="txT" fmla="*/ 0 h 43199"/>
                  <a:gd name="txR" fmla="*/ 21600 w 21600"/>
                  <a:gd name="txB" fmla="*/ 43199 h 43199"/>
                </a:gdLst>
                <a:ahLst/>
                <a:cxnLst>
                  <a:cxn ang="270">
                    <a:pos x="0" y="0"/>
                  </a:cxn>
                  <a:cxn ang="90">
                    <a:pos x="149" y="43199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43199" fill="none">
                    <a:moveTo>
                      <a:pt x="0" y="0"/>
                    </a:moveTo>
                    <a:arcTo wR="21600" hR="21600" stAng="-5400000" swAng="10776285"/>
                  </a:path>
                  <a:path w="21600" h="43199" stroke="0">
                    <a:moveTo>
                      <a:pt x="0" y="0"/>
                    </a:moveTo>
                    <a:arcTo wR="21600" hR="21600" stAng="-5400000" swAng="10776285"/>
                    <a:lnTo>
                      <a:pt x="0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196" name="直接连接符 85195"/>
              <p:cNvSpPr/>
              <p:nvPr/>
            </p:nvSpPr>
            <p:spPr>
              <a:xfrm>
                <a:off x="645" y="2172"/>
                <a:ext cx="1539" cy="264"/>
              </a:xfrm>
              <a:prstGeom prst="line">
                <a:avLst/>
              </a:prstGeom>
              <a:ln w="381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197" name="直接连接符 85196"/>
              <p:cNvSpPr/>
              <p:nvPr/>
            </p:nvSpPr>
            <p:spPr>
              <a:xfrm>
                <a:off x="549" y="2202"/>
                <a:ext cx="1629" cy="270"/>
              </a:xfrm>
              <a:prstGeom prst="line">
                <a:avLst/>
              </a:prstGeom>
              <a:ln w="381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198" name="任意多边形 85197"/>
              <p:cNvSpPr/>
              <p:nvPr/>
            </p:nvSpPr>
            <p:spPr>
              <a:xfrm flipH="1">
                <a:off x="270" y="1517"/>
                <a:ext cx="366" cy="694"/>
              </a:xfrm>
              <a:custGeom>
                <a:avLst/>
                <a:gdLst>
                  <a:gd name="txL" fmla="*/ 0 w 22278"/>
                  <a:gd name="txT" fmla="*/ 0 h 42874"/>
                  <a:gd name="txR" fmla="*/ 22278 w 22278"/>
                  <a:gd name="txB" fmla="*/ 42874 h 42874"/>
                </a:gdLst>
                <a:ahLst/>
                <a:cxnLst>
                  <a:cxn ang="270">
                    <a:pos x="4418" y="0"/>
                  </a:cxn>
                  <a:cxn ang="90">
                    <a:pos x="0" y="42863"/>
                  </a:cxn>
                  <a:cxn ang="90">
                    <a:pos x="678" y="21274"/>
                  </a:cxn>
                </a:cxnLst>
                <a:rect l="txL" t="txT" r="txR" b="txB"/>
                <a:pathLst>
                  <a:path w="22278" h="42874" fill="none">
                    <a:moveTo>
                      <a:pt x="4418" y="0"/>
                    </a:moveTo>
                    <a:arcTo wR="21600" hR="21600" stAng="-4801752" swAng="10309679"/>
                  </a:path>
                  <a:path w="22278" h="42874" stroke="0">
                    <a:moveTo>
                      <a:pt x="4418" y="0"/>
                    </a:moveTo>
                    <a:arcTo wR="21600" hR="21600" stAng="-4801752" swAng="10309679"/>
                    <a:lnTo>
                      <a:pt x="678" y="21274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199" name="任意多边形 85198"/>
              <p:cNvSpPr/>
              <p:nvPr/>
            </p:nvSpPr>
            <p:spPr>
              <a:xfrm flipH="1">
                <a:off x="313" y="1542"/>
                <a:ext cx="341" cy="633"/>
              </a:xfrm>
              <a:custGeom>
                <a:avLst/>
                <a:gdLst>
                  <a:gd name="txL" fmla="*/ 0 w 24834"/>
                  <a:gd name="txT" fmla="*/ 0 h 43200"/>
                  <a:gd name="txR" fmla="*/ 24834 w 24834"/>
                  <a:gd name="txB" fmla="*/ 43200 h 43200"/>
                </a:gdLst>
                <a:ahLst/>
                <a:cxnLst>
                  <a:cxn ang="270">
                    <a:pos x="1679" y="56"/>
                  </a:cxn>
                  <a:cxn ang="90">
                    <a:pos x="0" y="42956"/>
                  </a:cxn>
                  <a:cxn ang="90">
                    <a:pos x="3234" y="21600"/>
                  </a:cxn>
                </a:cxnLst>
                <a:rect l="txL" t="txT" r="txR" b="txB"/>
                <a:pathLst>
                  <a:path w="24834" h="43200" fill="none">
                    <a:moveTo>
                      <a:pt x="1679" y="56"/>
                    </a:moveTo>
                    <a:arcTo wR="21600" hR="21600" stAng="-5647700" swAng="11564362"/>
                  </a:path>
                  <a:path w="24834" h="43200" stroke="0">
                    <a:moveTo>
                      <a:pt x="1679" y="56"/>
                    </a:moveTo>
                    <a:arcTo wR="21600" hR="21600" stAng="-5647700" swAng="11564362"/>
                    <a:lnTo>
                      <a:pt x="3234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200" name="任意多边形 85199"/>
              <p:cNvSpPr/>
              <p:nvPr/>
            </p:nvSpPr>
            <p:spPr>
              <a:xfrm>
                <a:off x="2163" y="1257"/>
                <a:ext cx="639" cy="1182"/>
              </a:xfrm>
              <a:custGeom>
                <a:avLst/>
                <a:gdLst>
                  <a:gd name="txL" fmla="*/ 0 w 21687"/>
                  <a:gd name="txT" fmla="*/ 0 h 43200"/>
                  <a:gd name="txR" fmla="*/ 21687 w 21687"/>
                  <a:gd name="txB" fmla="*/ 43200 h 43200"/>
                </a:gdLst>
                <a:ahLst/>
                <a:cxnLst>
                  <a:cxn ang="270">
                    <a:pos x="87" y="0"/>
                  </a:cxn>
                  <a:cxn ang="90">
                    <a:pos x="0" y="43199"/>
                  </a:cxn>
                  <a:cxn ang="90">
                    <a:pos x="87" y="21600"/>
                  </a:cxn>
                </a:cxnLst>
                <a:rect l="txL" t="txT" r="txR" b="txB"/>
                <a:pathLst>
                  <a:path w="21687" h="43200" fill="none">
                    <a:moveTo>
                      <a:pt x="87" y="0"/>
                    </a:moveTo>
                    <a:arcTo wR="21600" hR="21600" stAng="-5400000" swAng="10813847"/>
                  </a:path>
                  <a:path w="21687" h="43200" stroke="0">
                    <a:moveTo>
                      <a:pt x="87" y="0"/>
                    </a:moveTo>
                    <a:arcTo wR="21600" hR="21600" stAng="-5400000" swAng="10813847"/>
                    <a:lnTo>
                      <a:pt x="87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5002" name="文本框 85001"/>
          <p:cNvSpPr txBox="1"/>
          <p:nvPr/>
        </p:nvSpPr>
        <p:spPr>
          <a:xfrm>
            <a:off x="547370" y="958215"/>
            <a:ext cx="3911600" cy="4305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带传动的基本组成零件：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5030" name="文本框 85029"/>
          <p:cNvSpPr txBox="1"/>
          <p:nvPr/>
        </p:nvSpPr>
        <p:spPr>
          <a:xfrm>
            <a:off x="4420235" y="991235"/>
            <a:ext cx="5130800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主动轮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、从动轮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、环形带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85039" name="文本框 85038"/>
          <p:cNvSpPr txBox="1"/>
          <p:nvPr/>
        </p:nvSpPr>
        <p:spPr>
          <a:xfrm>
            <a:off x="333375" y="4267200"/>
            <a:ext cx="1778000" cy="4305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工作原理：</a:t>
            </a:r>
            <a:endParaRPr lang="zh-CN" altLang="en-US" sz="28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5040" name="文本框 85039"/>
          <p:cNvSpPr txBox="1"/>
          <p:nvPr/>
        </p:nvSpPr>
        <p:spPr>
          <a:xfrm>
            <a:off x="323850" y="4905375"/>
            <a:ext cx="8458200" cy="140271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安装时带被张紧在带轮上，产生的初拉力使得带与带轮的接触面之间产生压力。当主动轮转动时，依靠摩擦力拖动从动轮一起同向回转。</a:t>
            </a:r>
            <a:endParaRPr lang="zh-CN" altLang="en-US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5262" name="组合 85261"/>
          <p:cNvGrpSpPr/>
          <p:nvPr/>
        </p:nvGrpSpPr>
        <p:grpSpPr>
          <a:xfrm>
            <a:off x="282575" y="2165350"/>
            <a:ext cx="1662113" cy="1524000"/>
            <a:chOff x="192" y="1368"/>
            <a:chExt cx="1047" cy="960"/>
          </a:xfrm>
        </p:grpSpPr>
        <p:sp>
          <p:nvSpPr>
            <p:cNvPr id="85004" name="直接连接符 85003"/>
            <p:cNvSpPr/>
            <p:nvPr/>
          </p:nvSpPr>
          <p:spPr>
            <a:xfrm flipV="1">
              <a:off x="192" y="1848"/>
              <a:ext cx="1047" cy="0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85007" name="椭圆 85006"/>
            <p:cNvSpPr/>
            <p:nvPr/>
          </p:nvSpPr>
          <p:spPr>
            <a:xfrm>
              <a:off x="327" y="1560"/>
              <a:ext cx="585" cy="597"/>
            </a:xfrm>
            <a:prstGeom prst="ellipse">
              <a:avLst/>
            </a:prstGeom>
            <a:noFill/>
            <a:ln w="28575" cap="flat" cmpd="sng">
              <a:solidFill>
                <a:schemeClr val="tx2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9" name="直接连接符 85008"/>
            <p:cNvSpPr/>
            <p:nvPr/>
          </p:nvSpPr>
          <p:spPr>
            <a:xfrm flipV="1">
              <a:off x="624" y="1368"/>
              <a:ext cx="0" cy="960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85014" name="文本框 85013"/>
            <p:cNvSpPr txBox="1"/>
            <p:nvPr/>
          </p:nvSpPr>
          <p:spPr>
            <a:xfrm>
              <a:off x="410" y="15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5260" name="组合 85259"/>
          <p:cNvGrpSpPr/>
          <p:nvPr/>
        </p:nvGrpSpPr>
        <p:grpSpPr>
          <a:xfrm>
            <a:off x="1124585" y="2176463"/>
            <a:ext cx="2900363" cy="917575"/>
            <a:chOff x="726" y="1371"/>
            <a:chExt cx="1827" cy="578"/>
          </a:xfrm>
        </p:grpSpPr>
        <p:grpSp>
          <p:nvGrpSpPr>
            <p:cNvPr id="85034" name="组合 85033"/>
            <p:cNvGrpSpPr/>
            <p:nvPr/>
          </p:nvGrpSpPr>
          <p:grpSpPr>
            <a:xfrm>
              <a:off x="2250" y="1371"/>
              <a:ext cx="303" cy="386"/>
              <a:chOff x="4806" y="687"/>
              <a:chExt cx="303" cy="386"/>
            </a:xfrm>
          </p:grpSpPr>
          <p:sp>
            <p:nvSpPr>
              <p:cNvPr id="85010" name="文本框 85009"/>
              <p:cNvSpPr txBox="1"/>
              <p:nvPr/>
            </p:nvSpPr>
            <p:spPr>
              <a:xfrm>
                <a:off x="4833" y="687"/>
                <a:ext cx="2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003399"/>
                    </a:solidFill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400" baseline="-25000">
                    <a:solidFill>
                      <a:srgbClr val="003399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400" baseline="-25000">
                  <a:solidFill>
                    <a:srgbClr val="003399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26" name="任意多边形 85025"/>
              <p:cNvSpPr/>
              <p:nvPr/>
            </p:nvSpPr>
            <p:spPr>
              <a:xfrm>
                <a:off x="4806" y="885"/>
                <a:ext cx="180" cy="188"/>
              </a:xfrm>
              <a:custGeom>
                <a:avLst/>
                <a:gdLst/>
                <a:ahLst/>
                <a:cxnLst/>
                <a:rect l="0" t="0" r="0" b="0"/>
                <a:pathLst>
                  <a:path w="180" h="188">
                    <a:moveTo>
                      <a:pt x="0" y="0"/>
                    </a:moveTo>
                    <a:cubicBezTo>
                      <a:pt x="16" y="6"/>
                      <a:pt x="32" y="13"/>
                      <a:pt x="45" y="20"/>
                    </a:cubicBezTo>
                    <a:cubicBezTo>
                      <a:pt x="58" y="27"/>
                      <a:pt x="69" y="32"/>
                      <a:pt x="81" y="42"/>
                    </a:cubicBezTo>
                    <a:cubicBezTo>
                      <a:pt x="93" y="52"/>
                      <a:pt x="109" y="67"/>
                      <a:pt x="120" y="80"/>
                    </a:cubicBezTo>
                    <a:cubicBezTo>
                      <a:pt x="131" y="93"/>
                      <a:pt x="139" y="99"/>
                      <a:pt x="149" y="117"/>
                    </a:cubicBezTo>
                    <a:cubicBezTo>
                      <a:pt x="159" y="135"/>
                      <a:pt x="169" y="161"/>
                      <a:pt x="180" y="188"/>
                    </a:cubicBezTo>
                  </a:path>
                </a:pathLst>
              </a:custGeom>
              <a:noFill/>
              <a:ln w="12700" cap="flat" cmpd="sng">
                <a:solidFill>
                  <a:srgbClr val="008000">
                    <a:alpha val="100000"/>
                  </a:srgbClr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5027" name="组合 85026"/>
            <p:cNvGrpSpPr/>
            <p:nvPr/>
          </p:nvGrpSpPr>
          <p:grpSpPr>
            <a:xfrm>
              <a:off x="726" y="1594"/>
              <a:ext cx="411" cy="355"/>
              <a:chOff x="774" y="898"/>
              <a:chExt cx="411" cy="355"/>
            </a:xfrm>
          </p:grpSpPr>
          <p:sp>
            <p:nvSpPr>
              <p:cNvPr id="85028" name="文本框 85027"/>
              <p:cNvSpPr txBox="1"/>
              <p:nvPr/>
            </p:nvSpPr>
            <p:spPr>
              <a:xfrm>
                <a:off x="909" y="898"/>
                <a:ext cx="2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003399"/>
                    </a:solidFill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400" baseline="-25000">
                    <a:solidFill>
                      <a:srgbClr val="003399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>
                  <a:solidFill>
                    <a:srgbClr val="003399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29" name="任意多边形 85028"/>
              <p:cNvSpPr/>
              <p:nvPr/>
            </p:nvSpPr>
            <p:spPr>
              <a:xfrm rot="2698502">
                <a:off x="774" y="1065"/>
                <a:ext cx="180" cy="188"/>
              </a:xfrm>
              <a:custGeom>
                <a:avLst/>
                <a:gdLst/>
                <a:ahLst/>
                <a:cxnLst/>
                <a:rect l="0" t="0" r="0" b="0"/>
                <a:pathLst>
                  <a:path w="180" h="188">
                    <a:moveTo>
                      <a:pt x="0" y="0"/>
                    </a:moveTo>
                    <a:cubicBezTo>
                      <a:pt x="16" y="6"/>
                      <a:pt x="32" y="13"/>
                      <a:pt x="45" y="20"/>
                    </a:cubicBezTo>
                    <a:cubicBezTo>
                      <a:pt x="58" y="27"/>
                      <a:pt x="69" y="32"/>
                      <a:pt x="81" y="42"/>
                    </a:cubicBezTo>
                    <a:cubicBezTo>
                      <a:pt x="93" y="52"/>
                      <a:pt x="109" y="67"/>
                      <a:pt x="120" y="80"/>
                    </a:cubicBezTo>
                    <a:cubicBezTo>
                      <a:pt x="131" y="93"/>
                      <a:pt x="139" y="99"/>
                      <a:pt x="149" y="117"/>
                    </a:cubicBezTo>
                    <a:cubicBezTo>
                      <a:pt x="159" y="135"/>
                      <a:pt x="169" y="161"/>
                      <a:pt x="180" y="188"/>
                    </a:cubicBezTo>
                  </a:path>
                </a:pathLst>
              </a:custGeom>
              <a:noFill/>
              <a:ln w="12700" cap="flat" cmpd="sng">
                <a:solidFill>
                  <a:srgbClr val="008000">
                    <a:alpha val="100000"/>
                  </a:srgbClr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5263" name="组合 85262"/>
          <p:cNvGrpSpPr/>
          <p:nvPr/>
        </p:nvGrpSpPr>
        <p:grpSpPr>
          <a:xfrm>
            <a:off x="2176780" y="1858645"/>
            <a:ext cx="2552700" cy="2209800"/>
            <a:chOff x="1368" y="1164"/>
            <a:chExt cx="1608" cy="1392"/>
          </a:xfrm>
        </p:grpSpPr>
        <p:sp>
          <p:nvSpPr>
            <p:cNvPr id="85013" name="文本框 85012"/>
            <p:cNvSpPr txBox="1"/>
            <p:nvPr/>
          </p:nvSpPr>
          <p:spPr>
            <a:xfrm>
              <a:off x="1889" y="144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05" name="直接连接符 85004"/>
            <p:cNvSpPr/>
            <p:nvPr/>
          </p:nvSpPr>
          <p:spPr>
            <a:xfrm flipV="1">
              <a:off x="2200" y="1164"/>
              <a:ext cx="0" cy="1392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85008" name="椭圆 85007"/>
            <p:cNvSpPr/>
            <p:nvPr/>
          </p:nvSpPr>
          <p:spPr>
            <a:xfrm>
              <a:off x="1608" y="1272"/>
              <a:ext cx="1173" cy="1152"/>
            </a:xfrm>
            <a:prstGeom prst="ellipse">
              <a:avLst/>
            </a:prstGeom>
            <a:noFill/>
            <a:ln w="28575" cap="flat" cmpd="sng">
              <a:solidFill>
                <a:schemeClr val="tx2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1" name="直接连接符 85030"/>
            <p:cNvSpPr/>
            <p:nvPr/>
          </p:nvSpPr>
          <p:spPr>
            <a:xfrm flipV="1">
              <a:off x="1368" y="1848"/>
              <a:ext cx="1608" cy="0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lgDashDot"/>
              <a:headEnd type="none" w="med" len="med"/>
              <a:tailEnd type="none" w="med" len="med"/>
            </a:ln>
          </p:spPr>
        </p:sp>
      </p:grpSp>
      <p:grpSp>
        <p:nvGrpSpPr>
          <p:cNvPr id="85274" name="组合 85273"/>
          <p:cNvGrpSpPr/>
          <p:nvPr/>
        </p:nvGrpSpPr>
        <p:grpSpPr>
          <a:xfrm>
            <a:off x="985838" y="1560513"/>
            <a:ext cx="2481262" cy="2655887"/>
            <a:chOff x="621" y="983"/>
            <a:chExt cx="1563" cy="1673"/>
          </a:xfrm>
        </p:grpSpPr>
        <p:grpSp>
          <p:nvGrpSpPr>
            <p:cNvPr id="85269" name="组合 85268"/>
            <p:cNvGrpSpPr/>
            <p:nvPr/>
          </p:nvGrpSpPr>
          <p:grpSpPr>
            <a:xfrm>
              <a:off x="621" y="1245"/>
              <a:ext cx="1563" cy="1209"/>
              <a:chOff x="621" y="1245"/>
              <a:chExt cx="1563" cy="1209"/>
            </a:xfrm>
          </p:grpSpPr>
          <p:sp>
            <p:nvSpPr>
              <p:cNvPr id="85265" name="直接连接符 85264"/>
              <p:cNvSpPr/>
              <p:nvPr/>
            </p:nvSpPr>
            <p:spPr>
              <a:xfrm flipV="1">
                <a:off x="627" y="1449"/>
                <a:ext cx="435" cy="81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85266" name="直接连接符 85265"/>
              <p:cNvSpPr/>
              <p:nvPr/>
            </p:nvSpPr>
            <p:spPr>
              <a:xfrm flipH="1">
                <a:off x="1740" y="1245"/>
                <a:ext cx="444" cy="7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85267" name="直接连接符 85266"/>
              <p:cNvSpPr/>
              <p:nvPr/>
            </p:nvSpPr>
            <p:spPr>
              <a:xfrm flipH="1" flipV="1">
                <a:off x="1725" y="2373"/>
                <a:ext cx="435" cy="81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85268" name="直接连接符 85267"/>
              <p:cNvSpPr/>
              <p:nvPr/>
            </p:nvSpPr>
            <p:spPr>
              <a:xfrm>
                <a:off x="621" y="2196"/>
                <a:ext cx="450" cy="7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</p:grpSp>
        <p:sp>
          <p:nvSpPr>
            <p:cNvPr id="85270" name="矩形 85269"/>
            <p:cNvSpPr/>
            <p:nvPr/>
          </p:nvSpPr>
          <p:spPr>
            <a:xfrm>
              <a:off x="1700" y="2387"/>
              <a:ext cx="213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33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F</a:t>
              </a:r>
              <a:r>
                <a:rPr lang="en-US" altLang="zh-CN" sz="2800" b="1" baseline="-25000">
                  <a:solidFill>
                    <a:srgbClr val="0033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0</a:t>
              </a:r>
              <a:endParaRPr lang="en-US" altLang="zh-CN" sz="2800" b="1" baseline="-25000">
                <a:solidFill>
                  <a:srgbClr val="003399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5271" name="矩形 85270"/>
            <p:cNvSpPr/>
            <p:nvPr/>
          </p:nvSpPr>
          <p:spPr>
            <a:xfrm>
              <a:off x="1676" y="983"/>
              <a:ext cx="213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33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F</a:t>
              </a:r>
              <a:r>
                <a:rPr lang="en-US" altLang="zh-CN" sz="2800" b="1" baseline="-25000">
                  <a:solidFill>
                    <a:srgbClr val="0033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0</a:t>
              </a:r>
              <a:endParaRPr lang="en-US" altLang="zh-CN" sz="2800" b="1" baseline="-25000">
                <a:solidFill>
                  <a:srgbClr val="003399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5272" name="矩形 85271"/>
            <p:cNvSpPr/>
            <p:nvPr/>
          </p:nvSpPr>
          <p:spPr>
            <a:xfrm>
              <a:off x="728" y="1103"/>
              <a:ext cx="213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33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F</a:t>
              </a:r>
              <a:r>
                <a:rPr lang="en-US" altLang="zh-CN" sz="2800" b="1" baseline="-25000">
                  <a:solidFill>
                    <a:srgbClr val="0033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0</a:t>
              </a:r>
              <a:endParaRPr lang="en-US" altLang="zh-CN" sz="2800" b="1" baseline="-25000">
                <a:solidFill>
                  <a:srgbClr val="003399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5273" name="矩形 85272"/>
            <p:cNvSpPr/>
            <p:nvPr/>
          </p:nvSpPr>
          <p:spPr>
            <a:xfrm>
              <a:off x="716" y="2231"/>
              <a:ext cx="213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33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F</a:t>
              </a:r>
              <a:r>
                <a:rPr lang="en-US" altLang="zh-CN" sz="2800" b="1" baseline="-25000">
                  <a:solidFill>
                    <a:srgbClr val="0033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0</a:t>
              </a:r>
              <a:endParaRPr lang="en-US" altLang="zh-CN" sz="2800" b="1" baseline="-25000">
                <a:solidFill>
                  <a:srgbClr val="003399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pic>
        <p:nvPicPr>
          <p:cNvPr id="85275" name="图片 85274" descr="1">
            <a:hlinkClick r:id="rId1" action="ppaction://program"/>
          </p:cNvPr>
          <p:cNvPicPr>
            <a:picLocks noChangeAspect="1"/>
          </p:cNvPicPr>
          <p:nvPr/>
        </p:nvPicPr>
        <p:blipFill>
          <a:blip r:embed="rId2">
            <a:lum bright="-12000"/>
          </a:blip>
          <a:stretch>
            <a:fillRect/>
          </a:stretch>
        </p:blipFill>
        <p:spPr>
          <a:xfrm>
            <a:off x="4911725" y="2109788"/>
            <a:ext cx="3970338" cy="1898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8" name="Rectangle 2"/>
          <p:cNvSpPr>
            <a:spLocks noGrp="1" noChangeArrowheads="1"/>
          </p:cNvSpPr>
          <p:nvPr/>
        </p:nvSpPr>
        <p:spPr bwMode="auto">
          <a:xfrm>
            <a:off x="6226175" y="117475"/>
            <a:ext cx="2274888" cy="4921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3.2-1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概述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877" name="直接连接符 6"/>
          <p:cNvSpPr>
            <a:spLocks noChangeShapeType="1"/>
          </p:cNvSpPr>
          <p:nvPr/>
        </p:nvSpPr>
        <p:spPr bwMode="auto">
          <a:xfrm>
            <a:off x="0" y="755650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5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5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2" grpId="0"/>
      <p:bldP spid="85030" grpId="0"/>
      <p:bldP spid="85039" grpId="0"/>
      <p:bldP spid="850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8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6508750"/>
            <a:ext cx="2873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0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6508750"/>
            <a:ext cx="2873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Text Box 62"/>
          <p:cNvSpPr txBox="1">
            <a:spLocks noChangeArrowheads="1"/>
          </p:cNvSpPr>
          <p:nvPr/>
        </p:nvSpPr>
        <p:spPr bwMode="auto">
          <a:xfrm>
            <a:off x="6081713" y="6157913"/>
            <a:ext cx="268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6175" y="127000"/>
            <a:ext cx="2274888" cy="492125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3.2-1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概述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870" name="标题 9217"/>
          <p:cNvSpPr>
            <a:spLocks noGrp="1" noChangeArrowheads="1"/>
          </p:cNvSpPr>
          <p:nvPr/>
        </p:nvSpPr>
        <p:spPr bwMode="auto">
          <a:xfrm>
            <a:off x="6343650" y="704850"/>
            <a:ext cx="2057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000" anchor="ctr" anchorCtr="1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900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带传动概述</a:t>
            </a:r>
            <a:r>
              <a:rPr lang="en-US" altLang="zh-CN" sz="900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1</a:t>
            </a:r>
            <a:endParaRPr lang="en-US" altLang="zh-CN" sz="900">
              <a:solidFill>
                <a:schemeClr val="bg1"/>
              </a:solidFill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441891" y="864751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一、带传动的类型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552133" y="3251835"/>
            <a:ext cx="8286750" cy="163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   </a:t>
            </a:r>
            <a:r>
              <a:rPr lang="zh-CN" altLang="en-US" sz="2000" dirty="0">
                <a:solidFill>
                  <a:srgbClr val="FF0000"/>
                </a:solidFill>
                <a:latin typeface="华文中宋" panose="02010600040101010101" pitchFamily="2" charset="-122"/>
              </a:rPr>
              <a:t>摩擦型带传动</a:t>
            </a:r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工作时靠带与带轮间的摩擦力传递运动和动力，如</a:t>
            </a:r>
            <a:r>
              <a:rPr lang="en-US" altLang="zh-CN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V</a:t>
            </a:r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带传动、平带传动等。</a:t>
            </a:r>
            <a:endParaRPr lang="zh-CN" altLang="en-US" sz="2000" dirty="0">
              <a:solidFill>
                <a:srgbClr val="000099"/>
              </a:solidFill>
              <a:latin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华文中宋" panose="02010600040101010101" pitchFamily="2" charset="-122"/>
              </a:rPr>
              <a:t>啮合型带传动</a:t>
            </a:r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依靠带内侧凸齿与带轮外缘上的齿槽相啮合实现传动，如同步带传动。</a:t>
            </a:r>
            <a:endParaRPr lang="zh-CN" altLang="en-US" sz="2000" dirty="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pic>
        <p:nvPicPr>
          <p:cNvPr id="70668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6"/>
          <a:stretch>
            <a:fillRect/>
          </a:stretch>
        </p:blipFill>
        <p:spPr bwMode="auto">
          <a:xfrm>
            <a:off x="4303395" y="864870"/>
            <a:ext cx="4324350" cy="222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9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545" y="4881563"/>
            <a:ext cx="1876425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70" name="Picture 1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4709795"/>
            <a:ext cx="206057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52450" y="1424940"/>
            <a:ext cx="3152140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latinLnBrk="0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华文中宋" panose="02010600040101010101" pitchFamily="2" charset="-122"/>
                <a:sym typeface="+mn-ea"/>
              </a:rPr>
              <a:t>按照工作原理不同，可分为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sym typeface="+mn-ea"/>
              </a:rPr>
              <a:t>摩擦型带传动</a:t>
            </a:r>
            <a:r>
              <a:rPr lang="zh-CN" altLang="en-US" dirty="0">
                <a:solidFill>
                  <a:srgbClr val="000099"/>
                </a:solidFill>
                <a:latin typeface="华文中宋" panose="02010600040101010101" pitchFamily="2" charset="-122"/>
                <a:sym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sym typeface="+mn-ea"/>
              </a:rPr>
              <a:t>啮合型带传动</a:t>
            </a:r>
            <a:r>
              <a:rPr lang="zh-CN" altLang="en-US" dirty="0">
                <a:solidFill>
                  <a:srgbClr val="000099"/>
                </a:solidFill>
                <a:latin typeface="华文中宋" panose="02010600040101010101" pitchFamily="2" charset="-122"/>
                <a:sym typeface="+mn-ea"/>
              </a:rPr>
              <a:t>。</a:t>
            </a:r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62"/>
          <p:cNvSpPr txBox="1">
            <a:spLocks noChangeArrowheads="1"/>
          </p:cNvSpPr>
          <p:nvPr/>
        </p:nvSpPr>
        <p:spPr bwMode="auto">
          <a:xfrm>
            <a:off x="6081713" y="6157913"/>
            <a:ext cx="268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99"/>
                </a:solidFill>
              </a:rPr>
              <a:t> </a:t>
            </a:r>
            <a:endParaRPr lang="en-US" altLang="zh-CN">
              <a:solidFill>
                <a:srgbClr val="000099"/>
              </a:solidFill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0" y="195263"/>
            <a:ext cx="279400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3.2-1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概述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7892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7" name="文本框 10270"/>
          <p:cNvSpPr txBox="1">
            <a:spLocks noChangeArrowheads="1"/>
          </p:cNvSpPr>
          <p:nvPr/>
        </p:nvSpPr>
        <p:spPr bwMode="auto">
          <a:xfrm>
            <a:off x="361950" y="723900"/>
            <a:ext cx="8553450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根据摩擦型带传动传动带横截面形状的不同，又可以分为平带传动、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带传动、多楔带传动、圆带传动。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3" name="文本框 10272"/>
          <p:cNvSpPr txBox="1">
            <a:spLocks noChangeArrowheads="1"/>
          </p:cNvSpPr>
          <p:nvPr/>
        </p:nvSpPr>
        <p:spPr bwMode="auto">
          <a:xfrm>
            <a:off x="428625" y="3429000"/>
            <a:ext cx="85010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　　</a:t>
            </a:r>
            <a:r>
              <a:rPr lang="zh-CN" altLang="en-US" sz="2000">
                <a:solidFill>
                  <a:srgbClr val="FF0000"/>
                </a:solidFill>
                <a:latin typeface="华文中宋" panose="02010600040101010101" pitchFamily="2" charset="-122"/>
              </a:rPr>
              <a:t>平带传动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，结构简单，带轮也容易制造，在传动中心距较大的场合应用较多。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10274" name="文本框 10273"/>
          <p:cNvSpPr txBox="1">
            <a:spLocks noChangeArrowheads="1"/>
          </p:cNvSpPr>
          <p:nvPr/>
        </p:nvSpPr>
        <p:spPr bwMode="auto">
          <a:xfrm>
            <a:off x="428625" y="4214813"/>
            <a:ext cx="85010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　　在一般机械传动中，应用最广的带传动是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FF0000"/>
                </a:solidFill>
                <a:latin typeface="华文中宋" panose="02010600040101010101" pitchFamily="2" charset="-122"/>
              </a:rPr>
              <a:t>带传动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，在同样的张紧力下，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V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带传动较平带传动能产生更大的摩擦力。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10275" name="文本框 10274"/>
          <p:cNvSpPr txBox="1">
            <a:spLocks noChangeArrowheads="1"/>
          </p:cNvSpPr>
          <p:nvPr/>
        </p:nvSpPr>
        <p:spPr bwMode="auto">
          <a:xfrm>
            <a:off x="381000" y="5000625"/>
            <a:ext cx="8763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　　</a:t>
            </a:r>
            <a:r>
              <a:rPr lang="zh-CN" altLang="en-US" sz="2000">
                <a:solidFill>
                  <a:srgbClr val="FF0000"/>
                </a:solidFill>
                <a:latin typeface="华文中宋" panose="02010600040101010101" pitchFamily="2" charset="-122"/>
              </a:rPr>
              <a:t>多楔带传动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兼有平带传动和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带传动的优点，柔韧性好、摩擦力大，主要用于传递大功率而结构要求紧凑的场合。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10276" name="文本框 10275"/>
          <p:cNvSpPr txBox="1">
            <a:spLocks noChangeArrowheads="1"/>
          </p:cNvSpPr>
          <p:nvPr/>
        </p:nvSpPr>
        <p:spPr bwMode="auto">
          <a:xfrm>
            <a:off x="485775" y="5786438"/>
            <a:ext cx="8658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　　</a:t>
            </a:r>
            <a:r>
              <a:rPr lang="zh-CN" altLang="en-US" sz="2000">
                <a:solidFill>
                  <a:srgbClr val="FF0000"/>
                </a:solidFill>
                <a:latin typeface="华文中宋" panose="02010600040101010101" pitchFamily="2" charset="-122"/>
              </a:rPr>
              <a:t>圆带传动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中圆带的截面为圆形，只能传递很小的功率，用于轻载机械中，如缝纫机中的圆形带。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pic>
        <p:nvPicPr>
          <p:cNvPr id="71693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1500188"/>
            <a:ext cx="6499225" cy="192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7" grpId="0"/>
      <p:bldP spid="10273" grpId="0"/>
      <p:bldP spid="10274" grpId="0"/>
      <p:bldP spid="10275" grpId="0"/>
      <p:bldP spid="102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0" name="文本框 239619"/>
          <p:cNvSpPr txBox="1"/>
          <p:nvPr/>
        </p:nvSpPr>
        <p:spPr>
          <a:xfrm>
            <a:off x="381000" y="266700"/>
            <a:ext cx="556260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239736" name="文本框 239735"/>
          <p:cNvSpPr txBox="1"/>
          <p:nvPr/>
        </p:nvSpPr>
        <p:spPr>
          <a:xfrm>
            <a:off x="3877310" y="2680970"/>
            <a:ext cx="906463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V 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型带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39737" name="文本框 239736"/>
          <p:cNvSpPr txBox="1"/>
          <p:nvPr/>
        </p:nvSpPr>
        <p:spPr>
          <a:xfrm>
            <a:off x="1385570" y="5930900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多楔带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39738" name="矩形 239737"/>
          <p:cNvSpPr/>
          <p:nvPr/>
        </p:nvSpPr>
        <p:spPr>
          <a:xfrm>
            <a:off x="6708775" y="2680970"/>
            <a:ext cx="109855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圆形带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39740" name="文本框 239739"/>
          <p:cNvSpPr txBox="1"/>
          <p:nvPr/>
        </p:nvSpPr>
        <p:spPr>
          <a:xfrm>
            <a:off x="6540500" y="6083300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同步带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239743" name="皮带轮.avi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915" y="355600"/>
            <a:ext cx="2751138" cy="2063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9744" name="圆带传动.avi">
            <a:hlinkClick r:id="" action="ppaction://media"/>
          </p:cNvPr>
          <p:cNvPicPr>
            <a:picLocks noRot="1"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39725"/>
            <a:ext cx="2933700" cy="2200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9745" name="同步带传动2.avi">
            <a:hlinkClick r:id="" action="ppaction://media"/>
          </p:cNvPr>
          <p:cNvPicPr>
            <a:picLocks noRot="1"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link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889500" y="3359150"/>
            <a:ext cx="3429000" cy="2571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9746" name="V带传动.avi">
            <a:hlinkClick r:id="" action="ppaction://media"/>
          </p:cNvPr>
          <p:cNvPicPr>
            <a:picLocks noRot="1"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link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959100" y="355600"/>
            <a:ext cx="2743200" cy="2057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9747" name="多楔带传动.avi">
            <a:hlinkClick r:id="" action="ppaction://media"/>
          </p:cNvPr>
          <p:cNvPicPr>
            <a:picLocks noRot="1"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link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81000" y="3458845"/>
            <a:ext cx="3162300" cy="2371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9748" name="文本框 239747"/>
          <p:cNvSpPr txBox="1"/>
          <p:nvPr/>
        </p:nvSpPr>
        <p:spPr>
          <a:xfrm>
            <a:off x="879475" y="2584450"/>
            <a:ext cx="1028700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平皮带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3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397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3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397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23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2397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397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5" dur="1" fill="hold"/>
                                        <p:tgtEl>
                                          <p:spTgt spid="2397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>
                <p:cTn id="4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39743"/>
                </p:tgtEl>
              </p:cMediaNode>
            </p:video>
            <p:video fullScrn="1">
              <p:cMediaNode vol="52000">
                <p:cTn id="47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39744"/>
                </p:tgtEl>
              </p:cMediaNode>
            </p:video>
            <p:video fullScrn="1">
              <p:cMediaNode>
                <p:cTn id="48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39745"/>
                </p:tgtEl>
              </p:cMediaNode>
            </p:video>
            <p:video fullScrn="1">
              <p:cMediaNode>
                <p:cTn id="4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39746"/>
                </p:tgtEl>
              </p:cMediaNode>
            </p:video>
            <p:video fullScrn="1">
              <p:cMediaNode>
                <p:cTn id="5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39747"/>
                </p:tgtEl>
              </p:cMediaNode>
            </p:video>
          </p:childTnLst>
        </p:cTn>
      </p:par>
    </p:tnLst>
    <p:bldLst>
      <p:bldP spid="239736" grpId="0"/>
      <p:bldP spid="239737" grpId="0"/>
      <p:bldP spid="239738" grpId="0"/>
      <p:bldP spid="239740" grpId="0"/>
      <p:bldP spid="2397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209868" y="825183"/>
            <a:ext cx="2655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带与平型带相比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: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13683" name="Group 371"/>
          <p:cNvGrpSpPr/>
          <p:nvPr/>
        </p:nvGrpSpPr>
        <p:grpSpPr>
          <a:xfrm>
            <a:off x="447675" y="1328738"/>
            <a:ext cx="2760663" cy="498475"/>
            <a:chOff x="324" y="1739"/>
            <a:chExt cx="1739" cy="314"/>
          </a:xfrm>
        </p:grpSpPr>
        <p:graphicFrame>
          <p:nvGraphicFramePr>
            <p:cNvPr id="12319" name="Object 10"/>
            <p:cNvGraphicFramePr>
              <a:graphicFrameLocks noChangeAspect="1"/>
            </p:cNvGraphicFramePr>
            <p:nvPr/>
          </p:nvGraphicFramePr>
          <p:xfrm>
            <a:off x="1381" y="1739"/>
            <a:ext cx="68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424815" imgH="180340" progId="Equation.3">
                    <p:embed/>
                  </p:oleObj>
                </mc:Choice>
                <mc:Fallback>
                  <p:oleObj name="" r:id="rId1" imgW="424815" imgH="18034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FFFFFF"/>
                            </a:clrFrom>
                            <a:clrTo>
                              <a:srgbClr val="F7FFFF"/>
                            </a:clrTo>
                          </a:clrChange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81" y="1739"/>
                          <a:ext cx="682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Rectangle 21"/>
            <p:cNvSpPr>
              <a:spLocks noChangeArrowheads="1"/>
            </p:cNvSpPr>
            <p:nvPr/>
          </p:nvSpPr>
          <p:spPr bwMode="auto">
            <a:xfrm>
              <a:off x="324" y="1739"/>
              <a:ext cx="7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平型带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: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13684" name="Group 372"/>
          <p:cNvGrpSpPr/>
          <p:nvPr/>
        </p:nvGrpSpPr>
        <p:grpSpPr>
          <a:xfrm>
            <a:off x="515620" y="1772920"/>
            <a:ext cx="2560637" cy="1209675"/>
            <a:chOff x="581" y="2425"/>
            <a:chExt cx="1613" cy="762"/>
          </a:xfrm>
        </p:grpSpPr>
        <p:graphicFrame>
          <p:nvGraphicFramePr>
            <p:cNvPr id="12317" name="Object 20"/>
            <p:cNvGraphicFramePr>
              <a:graphicFrameLocks noChangeAspect="1"/>
            </p:cNvGraphicFramePr>
            <p:nvPr/>
          </p:nvGraphicFramePr>
          <p:xfrm>
            <a:off x="1225" y="2425"/>
            <a:ext cx="969" cy="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656590" imgH="534670" progId="Equation.3">
                    <p:embed/>
                  </p:oleObj>
                </mc:Choice>
                <mc:Fallback>
                  <p:oleObj name="" r:id="rId3" imgW="656590" imgH="53467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7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25" y="2425"/>
                          <a:ext cx="969" cy="7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4" name="Rectangle 22"/>
            <p:cNvSpPr>
              <a:spLocks noChangeArrowheads="1"/>
            </p:cNvSpPr>
            <p:nvPr/>
          </p:nvSpPr>
          <p:spPr bwMode="auto">
            <a:xfrm>
              <a:off x="581" y="2586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V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带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: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13682" name="Group 370"/>
          <p:cNvGrpSpPr/>
          <p:nvPr/>
        </p:nvGrpSpPr>
        <p:grpSpPr>
          <a:xfrm>
            <a:off x="6022975" y="962578"/>
            <a:ext cx="2576513" cy="2261317"/>
            <a:chOff x="3562" y="736"/>
            <a:chExt cx="1623" cy="1301"/>
          </a:xfrm>
        </p:grpSpPr>
        <p:grpSp>
          <p:nvGrpSpPr>
            <p:cNvPr id="12309" name="Group 7"/>
            <p:cNvGrpSpPr/>
            <p:nvPr/>
          </p:nvGrpSpPr>
          <p:grpSpPr>
            <a:xfrm>
              <a:off x="3562" y="736"/>
              <a:ext cx="1623" cy="1301"/>
              <a:chOff x="3862" y="339"/>
              <a:chExt cx="1359" cy="1166"/>
            </a:xfrm>
          </p:grpSpPr>
          <p:graphicFrame>
            <p:nvGraphicFramePr>
              <p:cNvPr id="12315" name="Object 8"/>
              <p:cNvGraphicFramePr>
                <a:graphicFrameLocks noChangeAspect="1"/>
              </p:cNvGraphicFramePr>
              <p:nvPr/>
            </p:nvGraphicFramePr>
            <p:xfrm>
              <a:off x="3862" y="398"/>
              <a:ext cx="1359" cy="11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5" imgW="6686550" imgH="3543300" progId="AutoCAD.Drawing.14">
                      <p:embed/>
                    </p:oleObj>
                  </mc:Choice>
                  <mc:Fallback>
                    <p:oleObj name="" r:id="rId5" imgW="6686550" imgH="3543300" progId="AutoCAD.Drawing.14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6"/>
                          <a:srcRect l="4369" t="15012" r="61404" b="32382"/>
                          <a:stretch>
                            <a:fillRect/>
                          </a:stretch>
                        </p:blipFill>
                        <p:spPr>
                          <a:xfrm>
                            <a:off x="3862" y="398"/>
                            <a:ext cx="1359" cy="110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16" name="Text Box 9"/>
              <p:cNvSpPr txBox="1"/>
              <p:nvPr/>
            </p:nvSpPr>
            <p:spPr>
              <a:xfrm>
                <a:off x="3881" y="339"/>
                <a:ext cx="714" cy="2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平型带</a:t>
                </a:r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310" name="Rectangle 357"/>
            <p:cNvSpPr/>
            <p:nvPr/>
          </p:nvSpPr>
          <p:spPr>
            <a:xfrm>
              <a:off x="4374" y="810"/>
              <a:ext cx="246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11" name="Rectangle 358"/>
            <p:cNvSpPr/>
            <p:nvPr/>
          </p:nvSpPr>
          <p:spPr>
            <a:xfrm>
              <a:off x="4242" y="1680"/>
              <a:ext cx="198" cy="21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12" name="Rectangle 359"/>
            <p:cNvSpPr/>
            <p:nvPr/>
          </p:nvSpPr>
          <p:spPr>
            <a:xfrm>
              <a:off x="4188" y="792"/>
              <a:ext cx="324" cy="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13" name="Text Box 360"/>
            <p:cNvSpPr txBox="1"/>
            <p:nvPr/>
          </p:nvSpPr>
          <p:spPr>
            <a:xfrm>
              <a:off x="4368" y="834"/>
              <a:ext cx="306" cy="26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F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2314" name="Text Box 361"/>
            <p:cNvSpPr txBox="1"/>
            <p:nvPr/>
          </p:nvSpPr>
          <p:spPr>
            <a:xfrm>
              <a:off x="4170" y="1650"/>
              <a:ext cx="306" cy="26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F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n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681" name="Group 369"/>
          <p:cNvGrpSpPr/>
          <p:nvPr/>
        </p:nvGrpSpPr>
        <p:grpSpPr>
          <a:xfrm>
            <a:off x="5661025" y="3464184"/>
            <a:ext cx="3221038" cy="2089526"/>
            <a:chOff x="3480" y="2541"/>
            <a:chExt cx="2029" cy="1193"/>
          </a:xfrm>
        </p:grpSpPr>
        <p:grpSp>
          <p:nvGrpSpPr>
            <p:cNvPr id="12299" name="Group 4"/>
            <p:cNvGrpSpPr/>
            <p:nvPr/>
          </p:nvGrpSpPr>
          <p:grpSpPr>
            <a:xfrm>
              <a:off x="3708" y="2541"/>
              <a:ext cx="1801" cy="1193"/>
              <a:chOff x="3750" y="1944"/>
              <a:chExt cx="1801" cy="1193"/>
            </a:xfrm>
          </p:grpSpPr>
          <p:graphicFrame>
            <p:nvGraphicFramePr>
              <p:cNvPr id="12307" name="Object 5"/>
              <p:cNvGraphicFramePr>
                <a:graphicFrameLocks noChangeAspect="1"/>
              </p:cNvGraphicFramePr>
              <p:nvPr/>
            </p:nvGraphicFramePr>
            <p:xfrm>
              <a:off x="3750" y="1954"/>
              <a:ext cx="1801" cy="1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7" imgW="6686550" imgH="3543300" progId="AutoCAD.Drawing.14">
                      <p:embed/>
                    </p:oleObj>
                  </mc:Choice>
                  <mc:Fallback>
                    <p:oleObj name="" r:id="rId7" imgW="6686550" imgH="3543300" progId="AutoCAD.Drawing.14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8"/>
                          <a:srcRect l="45432" t="16129" r="8997" b="27350"/>
                          <a:stretch>
                            <a:fillRect/>
                          </a:stretch>
                        </p:blipFill>
                        <p:spPr>
                          <a:xfrm>
                            <a:off x="3750" y="1954"/>
                            <a:ext cx="1801" cy="11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08" name="Text Box 6"/>
              <p:cNvSpPr txBox="1"/>
              <p:nvPr/>
            </p:nvSpPr>
            <p:spPr>
              <a:xfrm>
                <a:off x="3878" y="1944"/>
                <a:ext cx="505" cy="2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V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带</a:t>
                </a:r>
                <a:endPara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2300" name="Rectangle 362"/>
            <p:cNvSpPr/>
            <p:nvPr/>
          </p:nvSpPr>
          <p:spPr>
            <a:xfrm>
              <a:off x="4542" y="2622"/>
              <a:ext cx="204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01" name="Rectangle 363"/>
            <p:cNvSpPr/>
            <p:nvPr/>
          </p:nvSpPr>
          <p:spPr>
            <a:xfrm>
              <a:off x="4410" y="2586"/>
              <a:ext cx="216" cy="7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02" name="Rectangle 364"/>
            <p:cNvSpPr/>
            <p:nvPr/>
          </p:nvSpPr>
          <p:spPr>
            <a:xfrm>
              <a:off x="3714" y="3462"/>
              <a:ext cx="198" cy="22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03" name="Rectangle 365"/>
            <p:cNvSpPr/>
            <p:nvPr/>
          </p:nvSpPr>
          <p:spPr>
            <a:xfrm>
              <a:off x="5028" y="3456"/>
              <a:ext cx="198" cy="20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04" name="Text Box 366"/>
            <p:cNvSpPr txBox="1"/>
            <p:nvPr/>
          </p:nvSpPr>
          <p:spPr>
            <a:xfrm>
              <a:off x="3480" y="3396"/>
              <a:ext cx="444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F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/2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2305" name="Text Box 367"/>
            <p:cNvSpPr txBox="1"/>
            <p:nvPr/>
          </p:nvSpPr>
          <p:spPr>
            <a:xfrm>
              <a:off x="5022" y="3432"/>
              <a:ext cx="444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F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/2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2306" name="Text Box 368"/>
            <p:cNvSpPr txBox="1"/>
            <p:nvPr/>
          </p:nvSpPr>
          <p:spPr>
            <a:xfrm>
              <a:off x="4584" y="2640"/>
              <a:ext cx="306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F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295" name="文本框 1"/>
          <p:cNvSpPr txBox="1"/>
          <p:nvPr/>
        </p:nvSpPr>
        <p:spPr>
          <a:xfrm>
            <a:off x="942975" y="25400"/>
            <a:ext cx="1292225" cy="554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" name="Picture 108" descr="rewind1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2900" y="652303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" name="Picture 11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1413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Picture 41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1838" y="65230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8" name="Rectangle 2"/>
          <p:cNvSpPr>
            <a:spLocks noGrp="1" noChangeArrowheads="1"/>
          </p:cNvSpPr>
          <p:nvPr/>
        </p:nvSpPr>
        <p:spPr bwMode="auto">
          <a:xfrm>
            <a:off x="6226175" y="117475"/>
            <a:ext cx="2274888" cy="4921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3.2-1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概述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877" name="直接连接符 6"/>
          <p:cNvSpPr>
            <a:spLocks noChangeShapeType="1"/>
          </p:cNvSpPr>
          <p:nvPr/>
        </p:nvSpPr>
        <p:spPr bwMode="auto">
          <a:xfrm>
            <a:off x="0" y="755650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2742" name="Group 38"/>
          <p:cNvGrpSpPr/>
          <p:nvPr/>
        </p:nvGrpSpPr>
        <p:grpSpPr>
          <a:xfrm>
            <a:off x="310515" y="3090545"/>
            <a:ext cx="4251325" cy="1209675"/>
            <a:chOff x="271" y="979"/>
            <a:chExt cx="2678" cy="762"/>
          </a:xfrm>
        </p:grpSpPr>
        <p:graphicFrame>
          <p:nvGraphicFramePr>
            <p:cNvPr id="13335" name="Object 11"/>
            <p:cNvGraphicFramePr>
              <a:graphicFrameLocks noChangeAspect="1"/>
            </p:cNvGraphicFramePr>
            <p:nvPr/>
          </p:nvGraphicFramePr>
          <p:xfrm>
            <a:off x="1044" y="979"/>
            <a:ext cx="1905" cy="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13" imgW="1339215" imgH="534670" progId="Equation.3">
                    <p:embed/>
                  </p:oleObj>
                </mc:Choice>
                <mc:Fallback>
                  <p:oleObj name="" r:id="rId13" imgW="1339215" imgH="53467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7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44" y="979"/>
                          <a:ext cx="1905" cy="7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18" name="Rectangle 14"/>
            <p:cNvSpPr>
              <a:spLocks noChangeArrowheads="1"/>
            </p:cNvSpPr>
            <p:nvPr/>
          </p:nvSpPr>
          <p:spPr bwMode="auto">
            <a:xfrm>
              <a:off x="271" y="1063"/>
              <a:ext cx="7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仿宋_GB2312" pitchFamily="49" charset="-122"/>
                  <a:ea typeface="仿宋_GB2312" pitchFamily="49" charset="-122"/>
                  <a:cs typeface="+mn-cs"/>
                </a:rPr>
                <a:t>摩擦力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</p:grpSp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3208338" y="4471035"/>
          <a:ext cx="151923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5" imgW="560070" imgH="199390" progId="Equation.3">
                  <p:embed/>
                </p:oleObj>
              </mc:Choice>
              <mc:Fallback>
                <p:oleObj name="" r:id="rId15" imgW="560070" imgH="19939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FFFFFF"/>
                          </a:clrFrom>
                          <a:clrTo>
                            <a:srgbClr val="F7FFFF"/>
                          </a:clrTo>
                        </a:clrChange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8338" y="4471035"/>
                        <a:ext cx="1519237" cy="595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43" name="Group 39"/>
          <p:cNvGrpSpPr/>
          <p:nvPr/>
        </p:nvGrpSpPr>
        <p:grpSpPr>
          <a:xfrm>
            <a:off x="575945" y="4145598"/>
            <a:ext cx="1903690" cy="981075"/>
            <a:chOff x="408" y="1753"/>
            <a:chExt cx="1215" cy="618"/>
          </a:xfrm>
        </p:grpSpPr>
        <p:graphicFrame>
          <p:nvGraphicFramePr>
            <p:cNvPr id="13323" name="Object 13"/>
            <p:cNvGraphicFramePr>
              <a:graphicFrameLocks noChangeAspect="1"/>
            </p:cNvGraphicFramePr>
            <p:nvPr/>
          </p:nvGraphicFramePr>
          <p:xfrm>
            <a:off x="885" y="1753"/>
            <a:ext cx="738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7" imgW="618490" imgH="534670" progId="Equation.3">
                    <p:embed/>
                  </p:oleObj>
                </mc:Choice>
                <mc:Fallback>
                  <p:oleObj name="" r:id="rId17" imgW="618490" imgH="53467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7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85" y="1753"/>
                          <a:ext cx="738" cy="6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41" name="Rectangle 37"/>
            <p:cNvSpPr>
              <a:spLocks noChangeArrowheads="1"/>
            </p:cNvSpPr>
            <p:nvPr/>
          </p:nvSpPr>
          <p:spPr bwMode="auto">
            <a:xfrm>
              <a:off x="408" y="1785"/>
              <a:ext cx="5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仿宋_GB2312" pitchFamily="49" charset="-122"/>
                  <a:ea typeface="仿宋_GB2312" pitchFamily="49" charset="-122"/>
                  <a:cs typeface="+mn-cs"/>
                </a:rPr>
                <a:t>令：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-99060" y="5126990"/>
            <a:ext cx="5936615" cy="1614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Tx/>
              <a:buNone/>
              <a:defRPr/>
            </a:pPr>
            <a:r>
              <a:rPr kumimoji="1" lang="en-US" altLang="zh-CN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    </a:t>
            </a:r>
            <a:r>
              <a:rPr kumimoji="1" lang="zh-CN" altLang="en-US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当</a:t>
            </a:r>
            <a:r>
              <a:rPr kumimoji="1" lang="zh-CN" altLang="en-US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Symbol" panose="05050102010706020507" pitchFamily="18" charset="2"/>
              </a:rPr>
              <a:t></a:t>
            </a:r>
            <a:r>
              <a:rPr kumimoji="1" lang="en-US" altLang="zh-CN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=40°</a:t>
            </a:r>
            <a:r>
              <a:rPr kumimoji="1" lang="zh-CN" altLang="en-US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，</a:t>
            </a:r>
            <a:r>
              <a:rPr kumimoji="1" lang="en-US" altLang="zh-CN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f’≈3f</a:t>
            </a:r>
            <a:r>
              <a:rPr kumimoji="1" lang="zh-CN" altLang="en-US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。在同样的外载荷</a:t>
            </a:r>
            <a:r>
              <a:rPr kumimoji="1" lang="en-US" altLang="zh-CN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F</a:t>
            </a:r>
            <a:r>
              <a:rPr kumimoji="1" lang="zh-CN" altLang="en-US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的作用下，</a:t>
            </a:r>
            <a:r>
              <a:rPr kumimoji="1" lang="en-US" altLang="zh-CN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V</a:t>
            </a:r>
            <a:r>
              <a:rPr kumimoji="1" lang="zh-CN" altLang="en-US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带的摩擦力大约相当平型带的三倍，</a:t>
            </a:r>
            <a:r>
              <a:rPr kumimoji="1" lang="en-US" altLang="zh-CN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V</a:t>
            </a:r>
            <a:r>
              <a:rPr kumimoji="1" lang="zh-CN" altLang="en-US" b="1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带传递功率的能力比平型带大。</a:t>
            </a:r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8" name="Group 5"/>
          <p:cNvGrpSpPr/>
          <p:nvPr/>
        </p:nvGrpSpPr>
        <p:grpSpPr>
          <a:xfrm>
            <a:off x="981710" y="2829560"/>
            <a:ext cx="6723380" cy="1198880"/>
            <a:chOff x="240" y="1632"/>
            <a:chExt cx="4896" cy="768"/>
          </a:xfrm>
        </p:grpSpPr>
        <p:pic>
          <p:nvPicPr>
            <p:cNvPr id="6153" name="Picture 6" descr="e_13[1]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0" y="1632"/>
              <a:ext cx="1152" cy="76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154" name="Picture 7" descr="e_2[1]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" y="1632"/>
              <a:ext cx="1296" cy="76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155" name="Picture 8" descr="e_3[1]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8" y="1632"/>
              <a:ext cx="1296" cy="76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156" name="Picture 9" descr="e_6[1]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84" y="1632"/>
              <a:ext cx="1152" cy="76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149" name="Group 10"/>
          <p:cNvGrpSpPr/>
          <p:nvPr/>
        </p:nvGrpSpPr>
        <p:grpSpPr>
          <a:xfrm>
            <a:off x="1082675" y="4228465"/>
            <a:ext cx="6447790" cy="1932940"/>
            <a:chOff x="720" y="2688"/>
            <a:chExt cx="4176" cy="1488"/>
          </a:xfrm>
        </p:grpSpPr>
        <p:pic>
          <p:nvPicPr>
            <p:cNvPr id="6151" name="Picture 11" descr="齿形带应用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32" y="2688"/>
              <a:ext cx="2064" cy="1440"/>
            </a:xfrm>
            <a:prstGeom prst="rect">
              <a:avLst/>
            </a:prstGeom>
            <a:noFill/>
            <a:ln w="9525">
              <a:noFill/>
            </a:ln>
          </p:spPr>
        </p:pic>
        <p:graphicFrame>
          <p:nvGraphicFramePr>
            <p:cNvPr id="6152" name="Object 12"/>
            <p:cNvGraphicFramePr>
              <a:graphicFrameLocks noChangeAspect="1"/>
            </p:cNvGraphicFramePr>
            <p:nvPr/>
          </p:nvGraphicFramePr>
          <p:xfrm>
            <a:off x="720" y="2688"/>
            <a:ext cx="2112" cy="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6" imgW="3829050" imgH="3486150" progId="Paint.Picture">
                    <p:embed/>
                  </p:oleObj>
                </mc:Choice>
                <mc:Fallback>
                  <p:oleObj name="" r:id="rId6" imgW="3829050" imgH="3486150" progId="Paint.Picture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20" y="2688"/>
                          <a:ext cx="2112" cy="14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/>
          <p:cNvSpPr txBox="1"/>
          <p:nvPr/>
        </p:nvSpPr>
        <p:spPr>
          <a:xfrm>
            <a:off x="232410" y="1132840"/>
            <a:ext cx="2697480" cy="395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同步带传动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—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齿型带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5005" y="1528445"/>
            <a:ext cx="73323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 eaLnBrk="1" latinLnBrk="0" hangingPunct="1">
              <a:lnSpc>
                <a:spcPct val="150000"/>
              </a:lnSpc>
              <a:buClr>
                <a:srgbClr val="FFFF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带链结合，传动平稳，传动比准确；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latinLnBrk="0" hangingPunct="1">
              <a:lnSpc>
                <a:spcPct val="150000"/>
              </a:lnSpc>
              <a:buClr>
                <a:srgbClr val="FFFF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不需张紧，效率高，适于高速，已经标准化。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8" name="Rectangle 2"/>
          <p:cNvSpPr>
            <a:spLocks noGrp="1" noChangeArrowheads="1"/>
          </p:cNvSpPr>
          <p:nvPr/>
        </p:nvSpPr>
        <p:spPr bwMode="auto">
          <a:xfrm>
            <a:off x="6226175" y="127000"/>
            <a:ext cx="2274888" cy="4921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3.2-1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概述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87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5" name="文本框 256004"/>
          <p:cNvSpPr txBox="1"/>
          <p:nvPr/>
        </p:nvSpPr>
        <p:spPr>
          <a:xfrm>
            <a:off x="482600" y="1264920"/>
            <a:ext cx="4102100" cy="73850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开口传动</a:t>
            </a: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-----</a:t>
            </a:r>
            <a:endParaRPr lang="en-US" altLang="zh-CN" sz="2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两轴平行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且同向转动</a:t>
            </a:r>
            <a:endParaRPr lang="zh-CN" altLang="en-US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56006" name="文本框 256005"/>
          <p:cNvSpPr txBox="1"/>
          <p:nvPr/>
        </p:nvSpPr>
        <p:spPr>
          <a:xfrm>
            <a:off x="4584700" y="1252220"/>
            <a:ext cx="4165600" cy="82994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latinLnBrk="0" hangingPunct="1"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 交叉传动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-----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 eaLnBrk="1" latinLnBrk="0" hangingPunct="1">
              <a:spcBef>
                <a:spcPts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两轴平行转动方向相反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256008" name="图片 256007"/>
          <p:cNvPicPr>
            <a:picLocks noChangeAspect="1"/>
          </p:cNvPicPr>
          <p:nvPr/>
        </p:nvPicPr>
        <p:blipFill>
          <a:blip r:embed="rId1"/>
          <a:srcRect l="52734" t="8681" r="16145" b="40799"/>
          <a:stretch>
            <a:fillRect/>
          </a:stretch>
        </p:blipFill>
        <p:spPr>
          <a:xfrm>
            <a:off x="381000" y="2082165"/>
            <a:ext cx="3519488" cy="4286250"/>
          </a:xfrm>
          <a:prstGeom prst="rect">
            <a:avLst/>
          </a:prstGeom>
          <a:noFill/>
          <a:ln w="28575">
            <a:noFill/>
          </a:ln>
        </p:spPr>
      </p:pic>
      <p:pic>
        <p:nvPicPr>
          <p:cNvPr id="256009" name="图片 256008"/>
          <p:cNvPicPr>
            <a:picLocks noChangeAspect="1"/>
          </p:cNvPicPr>
          <p:nvPr/>
        </p:nvPicPr>
        <p:blipFill>
          <a:blip r:embed="rId2"/>
          <a:srcRect l="50911" t="12500" r="18620" b="38715"/>
          <a:stretch>
            <a:fillRect/>
          </a:stretch>
        </p:blipFill>
        <p:spPr>
          <a:xfrm>
            <a:off x="4983480" y="2219643"/>
            <a:ext cx="3517900" cy="4224337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14338" name="Rectangle 2"/>
          <p:cNvSpPr>
            <a:spLocks noGrp="1" noChangeArrowheads="1"/>
          </p:cNvSpPr>
          <p:nvPr/>
        </p:nvSpPr>
        <p:spPr bwMode="auto">
          <a:xfrm>
            <a:off x="6226175" y="127000"/>
            <a:ext cx="2274888" cy="4921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3.2-1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概述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877" name="直接连接符 6"/>
          <p:cNvSpPr>
            <a:spLocks noChangeShapeType="1"/>
          </p:cNvSpPr>
          <p:nvPr/>
        </p:nvSpPr>
        <p:spPr bwMode="auto">
          <a:xfrm>
            <a:off x="0" y="741680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380931" y="739656"/>
            <a:ext cx="26212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二、、带传动形式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5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5" grpId="0"/>
      <p:bldP spid="256006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028" name="图片 257027"/>
          <p:cNvPicPr>
            <a:picLocks noChangeAspect="1"/>
          </p:cNvPicPr>
          <p:nvPr/>
        </p:nvPicPr>
        <p:blipFill>
          <a:blip r:embed="rId1"/>
          <a:srcRect l="52344" t="13194" r="18880" b="40105"/>
          <a:stretch>
            <a:fillRect/>
          </a:stretch>
        </p:blipFill>
        <p:spPr>
          <a:xfrm>
            <a:off x="584200" y="1834515"/>
            <a:ext cx="3568700" cy="4343400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257029" name="文本框 257028"/>
          <p:cNvSpPr txBox="1"/>
          <p:nvPr/>
        </p:nvSpPr>
        <p:spPr>
          <a:xfrm>
            <a:off x="215900" y="774700"/>
            <a:ext cx="4128770" cy="829945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l" eaLnBrk="1" latinLnBrk="0" hangingPunct="1">
              <a:spcBef>
                <a:spcPts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 半交叉传动：----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 eaLnBrk="1" latinLnBrk="0" hangingPunct="1">
              <a:spcBef>
                <a:spcPts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两轴交错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338" name="Rectangle 2"/>
          <p:cNvSpPr>
            <a:spLocks noGrp="1" noChangeArrowheads="1"/>
          </p:cNvSpPr>
          <p:nvPr/>
        </p:nvSpPr>
        <p:spPr bwMode="auto">
          <a:xfrm>
            <a:off x="6226175" y="127000"/>
            <a:ext cx="2274888" cy="4921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3.2-1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概述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87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709160" y="906145"/>
            <a:ext cx="4128770" cy="829945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l" eaLnBrk="1" latinLnBrk="0" hangingPunct="1">
              <a:spcBef>
                <a:spcPts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张紧轮传动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：----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 eaLnBrk="1" latinLnBrk="0" hangingPunct="1">
              <a:spcBef>
                <a:spcPts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两轴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平行</a:t>
            </a:r>
            <a:endParaRPr lang="zh-CN" altLang="en-US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62"/>
          <p:cNvSpPr txBox="1">
            <a:spLocks noChangeArrowheads="1"/>
          </p:cNvSpPr>
          <p:nvPr/>
        </p:nvSpPr>
        <p:spPr bwMode="auto">
          <a:xfrm>
            <a:off x="6081713" y="6157913"/>
            <a:ext cx="268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0964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8" name="文本框 114"/>
          <p:cNvSpPr txBox="1">
            <a:spLocks noChangeArrowheads="1"/>
          </p:cNvSpPr>
          <p:nvPr/>
        </p:nvSpPr>
        <p:spPr bwMode="auto">
          <a:xfrm>
            <a:off x="796925" y="1222375"/>
            <a:ext cx="7981950" cy="2953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优点</a:t>
            </a:r>
            <a:endParaRPr lang="zh-CN" altLang="en-US" sz="24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）能缓和载荷冲击；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）运行平稳无噪音；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）制造和安装精度不像齿轮啮合那样严格；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）过载时将引起带在带轮上打滑，因而可防止其他零件的损坏；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）可增加带长以适应中心距较大的工作条件（可达</a:t>
            </a:r>
            <a:r>
              <a:rPr lang="en-US" altLang="zh-CN" sz="2000">
                <a:solidFill>
                  <a:srgbClr val="000099"/>
                </a:solidFill>
                <a:latin typeface="Calibri" panose="020F0502020204030204" pitchFamily="34" charset="0"/>
              </a:rPr>
              <a:t>15m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）。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74759" name="文本框 1"/>
          <p:cNvSpPr txBox="1">
            <a:spLocks noChangeArrowheads="1"/>
          </p:cNvSpPr>
          <p:nvPr/>
        </p:nvSpPr>
        <p:spPr bwMode="auto">
          <a:xfrm>
            <a:off x="406400" y="822325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三、带传动的特点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760" name="文本框 2"/>
          <p:cNvSpPr txBox="1">
            <a:spLocks noChangeArrowheads="1"/>
          </p:cNvSpPr>
          <p:nvPr/>
        </p:nvSpPr>
        <p:spPr bwMode="auto">
          <a:xfrm>
            <a:off x="787400" y="4083050"/>
            <a:ext cx="7991475" cy="2030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缺点</a:t>
            </a:r>
            <a:endParaRPr lang="zh-CN" altLang="en-US" sz="24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）有弹性滑动和打滑，使传动效率降低并且不能保证准确的传动比；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）传递同样大的圆周力时，轮廓尺寸和轴上的压力都比啮合传动大；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）带的寿命较短。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4096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6175" y="127000"/>
            <a:ext cx="2274888" cy="492125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3.2-1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概述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/>
      <p:bldP spid="74759" grpId="0"/>
      <p:bldP spid="747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70855" y="196215"/>
            <a:ext cx="317182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3.2-2 </a:t>
            </a: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V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带和带轮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8915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9" name="文本框 11268"/>
          <p:cNvSpPr txBox="1">
            <a:spLocks noChangeArrowheads="1"/>
          </p:cNvSpPr>
          <p:nvPr/>
        </p:nvSpPr>
        <p:spPr bwMode="auto">
          <a:xfrm>
            <a:off x="381000" y="7620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带的类型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336" name="文本框 11335"/>
          <p:cNvSpPr txBox="1">
            <a:spLocks noChangeArrowheads="1"/>
          </p:cNvSpPr>
          <p:nvPr/>
        </p:nvSpPr>
        <p:spPr bwMode="auto">
          <a:xfrm>
            <a:off x="381000" y="1303020"/>
            <a:ext cx="8020050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   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带按结构型式可分为普通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带、窄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带、大楔角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带、齿形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带、联组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带和接头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带等。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1" name="文本框 11365"/>
          <p:cNvSpPr txBox="1">
            <a:spLocks noChangeArrowheads="1"/>
          </p:cNvSpPr>
          <p:nvPr/>
        </p:nvSpPr>
        <p:spPr bwMode="auto">
          <a:xfrm>
            <a:off x="4822825" y="6124575"/>
            <a:ext cx="22161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hlinkClick r:id="rId5" action="ppaction://hlinksldjump"/>
              </a:rPr>
              <a:t>Ｖ带的截面尺寸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hlinkClick r:id="rId5" action="ppaction://hlinksldjump"/>
              </a:rPr>
              <a:t>→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  <a:hlinkClick r:id="rId5" action="ppaction://hlinksldjump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400050" y="2098675"/>
            <a:ext cx="1914525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、普通</a:t>
            </a:r>
            <a:r>
              <a:rPr lang="en-US" altLang="zh-CN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V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带</a:t>
            </a:r>
            <a:endParaRPr lang="zh-CN" altLang="en-US" sz="24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55613" y="2543175"/>
            <a:ext cx="8512175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标准普通V带是用</a:t>
            </a:r>
            <a:r>
              <a:rPr lang="zh-CN" altLang="en-US" sz="2000">
                <a:solidFill>
                  <a:srgbClr val="C00000"/>
                </a:solidFill>
                <a:latin typeface="Times New Roman" panose="02020603050405020304" pitchFamily="18" charset="0"/>
              </a:rPr>
              <a:t>多种材料制成无接头的环形带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。这些材料包括顶胶1、抗拉体2、底胶3和包布4。根据抗拉体结构的不同，普通V带分为帘布芯V带和绳芯V带两种。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28625" y="5286375"/>
            <a:ext cx="851376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普通V带的尺寸已标准化，按截面尺寸由小到大的顺序分为</a:t>
            </a:r>
            <a:r>
              <a:rPr lang="zh-CN" altLang="en-US" sz="2000">
                <a:solidFill>
                  <a:srgbClr val="C00000"/>
                </a:solidFill>
                <a:latin typeface="Times New Roman" panose="02020603050405020304" pitchFamily="18" charset="0"/>
              </a:rPr>
              <a:t>Y、Z、A、B、C、D、E 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7种型号。在同样条件下，截面尺寸越大则传递的功率就越大。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2716" name="Picture 1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40" y="3859848"/>
            <a:ext cx="4848225" cy="139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03315" y="3404870"/>
            <a:ext cx="1503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50000"/>
              </a:spcBef>
              <a:buClr>
                <a:srgbClr val="FF3300"/>
              </a:buClr>
            </a:pPr>
            <a:r>
              <a:rPr lang="en-US" altLang="zh-CN" sz="16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顶胶：伸张层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6203315" y="3742055"/>
            <a:ext cx="2748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强力层</a:t>
            </a:r>
            <a:r>
              <a:rPr lang="en-US" altLang="zh-CN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:</a:t>
            </a:r>
            <a:r>
              <a:rPr lang="zh-CN" altLang="en-US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帘布或绳芯结构，  </a:t>
            </a:r>
            <a:r>
              <a:rPr lang="en-US" altLang="zh-CN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	</a:t>
            </a:r>
            <a:r>
              <a:rPr lang="zh-CN" altLang="en-US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承受拉力。</a:t>
            </a:r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6203315" y="4387215"/>
            <a:ext cx="1503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50000"/>
              </a:spcBef>
              <a:buClr>
                <a:srgbClr val="FF3300"/>
              </a:buClr>
            </a:pPr>
            <a:r>
              <a:rPr lang="en-US" altLang="zh-CN" sz="16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16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底胶：压缩层</a:t>
            </a:r>
            <a:endParaRPr lang="zh-CN" altLang="en-US" sz="1600"/>
          </a:p>
        </p:txBody>
      </p:sp>
      <p:sp>
        <p:nvSpPr>
          <p:cNvPr id="9" name="文本框 8"/>
          <p:cNvSpPr txBox="1"/>
          <p:nvPr/>
        </p:nvSpPr>
        <p:spPr>
          <a:xfrm>
            <a:off x="6203315" y="4724400"/>
            <a:ext cx="2240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50000"/>
              </a:spcBef>
              <a:buClr>
                <a:srgbClr val="FF3300"/>
              </a:buClr>
            </a:pPr>
            <a:r>
              <a:rPr lang="en-US" altLang="zh-CN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包布层</a:t>
            </a:r>
            <a:r>
              <a:rPr lang="en-US" altLang="zh-CN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:</a:t>
            </a:r>
            <a:r>
              <a:rPr lang="zh-CN" altLang="en-US" sz="1800" dirty="0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胶帆布构成</a:t>
            </a:r>
            <a:endParaRPr lang="zh-CN" altLang="en-US" sz="1800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/>
      <p:bldP spid="11336" grpId="0"/>
      <p:bldP spid="72711" grpId="0"/>
      <p:bldP spid="2" grpId="0"/>
      <p:bldP spid="3" grpId="0"/>
      <p:bldP spid="5" grpId="0"/>
      <p:bldP spid="4" grpId="0"/>
      <p:bldP spid="6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64" name="Rectangle 256"/>
          <p:cNvSpPr>
            <a:spLocks noChangeArrowheads="1"/>
          </p:cNvSpPr>
          <p:nvPr/>
        </p:nvSpPr>
        <p:spPr bwMode="auto">
          <a:xfrm>
            <a:off x="164148" y="841693"/>
            <a:ext cx="24688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V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带的基准长度</a:t>
            </a: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Ld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9459" name="文本框 1"/>
          <p:cNvSpPr txBox="1"/>
          <p:nvPr/>
        </p:nvSpPr>
        <p:spPr>
          <a:xfrm>
            <a:off x="914400" y="0"/>
            <a:ext cx="2051050" cy="554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带和带轮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460" name="图片 2"/>
          <p:cNvPicPr>
            <a:picLocks noChangeAspect="1"/>
          </p:cNvPicPr>
          <p:nvPr/>
        </p:nvPicPr>
        <p:blipFill>
          <a:blip r:embed="rId1"/>
          <a:srcRect r="5780"/>
          <a:stretch>
            <a:fillRect/>
          </a:stretch>
        </p:blipFill>
        <p:spPr>
          <a:xfrm>
            <a:off x="179705" y="1340485"/>
            <a:ext cx="8602980" cy="45891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108" descr="rewind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363" y="6564313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11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350" y="656748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41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938" y="656748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70855" y="196215"/>
            <a:ext cx="317182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3.2-2 </a:t>
            </a: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V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带和带轮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892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62"/>
          <p:cNvSpPr txBox="1">
            <a:spLocks noChangeArrowheads="1"/>
          </p:cNvSpPr>
          <p:nvPr/>
        </p:nvSpPr>
        <p:spPr bwMode="auto">
          <a:xfrm>
            <a:off x="6081713" y="6157913"/>
            <a:ext cx="268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39940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00050" y="1089025"/>
            <a:ext cx="1914525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、窄</a:t>
            </a:r>
            <a:r>
              <a:rPr lang="en-US" altLang="zh-CN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V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带</a:t>
            </a:r>
            <a:endParaRPr lang="zh-CN" altLang="en-US" sz="24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438150" y="1522413"/>
            <a:ext cx="8513763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    窄V带是一种新型V带，其结构特点是相对高度（截面高度与节宽之比）为0.9；且其顶宽约为普通V带的3/4，使其看上去比普通V带窄。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     窄V带能传递的功率较同级普通V带提高50%～150%。带速可达35～40m/s。因此，适用于高速传动，传递功率大且装置要求紧凑的场合。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3000375" y="6143625"/>
            <a:ext cx="1962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000099"/>
                </a:solidFill>
                <a:latin typeface="华文中宋" panose="02010600040101010101" pitchFamily="2" charset="-122"/>
              </a:rPr>
              <a:t>窄</a:t>
            </a:r>
            <a:r>
              <a:rPr lang="en-US" altLang="zh-CN" sz="1800">
                <a:solidFill>
                  <a:srgbClr val="000099"/>
                </a:solidFill>
                <a:latin typeface="华文中宋" panose="02010600040101010101" pitchFamily="2" charset="-122"/>
              </a:rPr>
              <a:t>V</a:t>
            </a:r>
            <a:r>
              <a:rPr lang="zh-CN" altLang="en-US" sz="1800">
                <a:solidFill>
                  <a:srgbClr val="000099"/>
                </a:solidFill>
                <a:latin typeface="华文中宋" panose="02010600040101010101" pitchFamily="2" charset="-122"/>
              </a:rPr>
              <a:t>带的截面形状</a:t>
            </a:r>
            <a:endParaRPr lang="zh-CN" altLang="en-US" sz="18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pic>
        <p:nvPicPr>
          <p:cNvPr id="73739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578" y="3683635"/>
            <a:ext cx="2538412" cy="223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70855" y="196215"/>
            <a:ext cx="317182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3.2-2 </a:t>
            </a: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V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带和带轮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6" descr="多楔带"/>
          <p:cNvPicPr>
            <a:picLocks noChangeAspect="1"/>
          </p:cNvPicPr>
          <p:nvPr/>
        </p:nvPicPr>
        <p:blipFill>
          <a:blip r:embed="rId1"/>
          <a:srcRect r="35271" b="39955"/>
          <a:stretch>
            <a:fillRect/>
          </a:stretch>
        </p:blipFill>
        <p:spPr>
          <a:xfrm>
            <a:off x="1979930" y="2780665"/>
            <a:ext cx="4975225" cy="2523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395605" y="1052195"/>
            <a:ext cx="5438140" cy="1540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 eaLnBrk="1" hangingPunct="1">
              <a:lnSpc>
                <a:spcPct val="90000"/>
              </a:lnSpc>
              <a:buClr>
                <a:srgbClr val="FFFF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sym typeface="+mn-ea"/>
              </a:rPr>
              <a:t>、多楔带（平带基体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sym typeface="+mn-ea"/>
              </a:rPr>
              <a:t>+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sym typeface="+mn-ea"/>
              </a:rPr>
              <a:t>多楔）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42900" lvl="0" indent="-34290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Arial" panose="020B0604020202020204" pitchFamily="34" charset="0"/>
                <a:sym typeface="+mn-ea"/>
              </a:rPr>
              <a:t>   多楔作用、摩擦力大，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342900" lvl="0" indent="-34290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Arial" panose="020B0604020202020204" pitchFamily="34" charset="0"/>
                <a:sym typeface="+mn-ea"/>
              </a:rPr>
              <a:t>   载荷均布、弯应力小，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342900" lvl="0" indent="-34290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Arial" panose="020B0604020202020204" pitchFamily="34" charset="0"/>
                <a:sym typeface="+mn-ea"/>
              </a:rPr>
              <a:t>   传功率大、结构紧凑</a:t>
            </a:r>
            <a:endParaRPr lang="zh-CN" altLang="en-US"/>
          </a:p>
        </p:txBody>
      </p:sp>
      <p:sp>
        <p:nvSpPr>
          <p:cNvPr id="3994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2"/>
          <p:cNvSpPr>
            <a:spLocks noGrp="1" noChangeArrowheads="1"/>
          </p:cNvSpPr>
          <p:nvPr/>
        </p:nvSpPr>
        <p:spPr bwMode="auto">
          <a:xfrm>
            <a:off x="5570855" y="196215"/>
            <a:ext cx="3171825" cy="49022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3.2-2 </a:t>
            </a: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V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带和带轮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8" name="文本框 17417"/>
          <p:cNvSpPr txBox="1">
            <a:spLocks noChangeArrowheads="1"/>
          </p:cNvSpPr>
          <p:nvPr/>
        </p:nvSpPr>
        <p:spPr bwMode="auto">
          <a:xfrm>
            <a:off x="498475" y="1316990"/>
            <a:ext cx="81470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</a:rPr>
              <a:t>   </a:t>
            </a:r>
            <a:r>
              <a:rPr lang="en-US" altLang="zh-CN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根据带轮的基准直径和带轮转速等已知条件，确定带轮的材料，结构形式，轮槽、轮辐和轮毂的几何尺寸、公差和表面粗糙度以及相关技术要求。</a:t>
            </a:r>
            <a:endParaRPr lang="zh-CN" altLang="en-US" sz="24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5059" name="Text Box 33"/>
          <p:cNvSpPr txBox="1">
            <a:spLocks noChangeArrowheads="1"/>
          </p:cNvSpPr>
          <p:nvPr/>
        </p:nvSpPr>
        <p:spPr bwMode="auto">
          <a:xfrm>
            <a:off x="7377113" y="6162675"/>
            <a:ext cx="4603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　</a:t>
            </a:r>
            <a:endParaRPr lang="zh-CN" altLang="en-US"/>
          </a:p>
        </p:txBody>
      </p:sp>
      <p:pic>
        <p:nvPicPr>
          <p:cNvPr id="45060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78133" y="274638"/>
            <a:ext cx="34829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3.2-2 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带和带轮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415" name="文本框 17414"/>
          <p:cNvSpPr txBox="1">
            <a:spLocks noChangeArrowheads="1"/>
          </p:cNvSpPr>
          <p:nvPr/>
        </p:nvSpPr>
        <p:spPr bwMode="auto">
          <a:xfrm>
            <a:off x="285750" y="857250"/>
            <a:ext cx="265239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二、V带轮的设计内容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9" name="文本框 17418"/>
          <p:cNvSpPr txBox="1">
            <a:spLocks noChangeArrowheads="1"/>
          </p:cNvSpPr>
          <p:nvPr/>
        </p:nvSpPr>
        <p:spPr bwMode="auto">
          <a:xfrm>
            <a:off x="344805" y="2928938"/>
            <a:ext cx="2316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．</a:t>
            </a: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V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带轮的材料</a:t>
            </a:r>
            <a:endParaRPr lang="zh-CN" altLang="en-US" sz="2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7420" name="文本框 17419"/>
          <p:cNvSpPr txBox="1">
            <a:spLocks noChangeArrowheads="1"/>
          </p:cNvSpPr>
          <p:nvPr/>
        </p:nvSpPr>
        <p:spPr bwMode="auto">
          <a:xfrm>
            <a:off x="699135" y="3509328"/>
            <a:ext cx="8412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00099"/>
                </a:solidFill>
                <a:latin typeface="华文中宋" panose="02010600040101010101" pitchFamily="2" charset="-122"/>
              </a:rPr>
              <a:t>通常采用铸铁、</a:t>
            </a:r>
            <a:r>
              <a:rPr lang="zh-CN" altLang="zh-CN" sz="2400">
                <a:solidFill>
                  <a:srgbClr val="000099"/>
                </a:solidFill>
                <a:latin typeface="华文中宋" panose="02010600040101010101" pitchFamily="2" charset="-122"/>
              </a:rPr>
              <a:t>钢、铝合金或工程塑料等，灰铸铁应用最广。</a:t>
            </a:r>
            <a:endParaRPr lang="zh-CN" altLang="zh-CN" sz="24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17421" name="文本框 17420"/>
          <p:cNvSpPr txBox="1">
            <a:spLocks noChangeArrowheads="1"/>
          </p:cNvSpPr>
          <p:nvPr/>
        </p:nvSpPr>
        <p:spPr bwMode="auto">
          <a:xfrm>
            <a:off x="899160" y="4149090"/>
            <a:ext cx="5232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hangingPunct="1"/>
            <a:r>
              <a:rPr lang="zh-CN" altLang="en-US" sz="2400">
                <a:solidFill>
                  <a:srgbClr val="000099"/>
                </a:solidFill>
                <a:latin typeface="华文中宋" panose="02010600040101010101" pitchFamily="2" charset="-122"/>
              </a:rPr>
              <a:t>当带速较小时采用HT150或HT200。</a:t>
            </a:r>
            <a:endParaRPr lang="zh-CN" altLang="en-US" sz="24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17422" name="文本框 17421"/>
          <p:cNvSpPr txBox="1">
            <a:spLocks noChangeArrowheads="1"/>
          </p:cNvSpPr>
          <p:nvPr/>
        </p:nvSpPr>
        <p:spPr bwMode="auto">
          <a:xfrm>
            <a:off x="971550" y="4868863"/>
            <a:ext cx="393827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00099"/>
                </a:solidFill>
                <a:latin typeface="华文中宋" panose="02010600040101010101" pitchFamily="2" charset="-122"/>
              </a:rPr>
              <a:t>小功率时可用铸铝或塑料。 </a:t>
            </a:r>
            <a:endParaRPr lang="zh-CN" altLang="en-US" sz="24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4507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7405" y="5373370"/>
            <a:ext cx="4950460" cy="5988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Pct val="110000"/>
              <a:buFontTx/>
              <a:buNone/>
              <a:defRPr/>
            </a:pPr>
            <a:r>
              <a:rPr kumimoji="1" lang="zh-CN" altLang="en-US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当</a:t>
            </a:r>
            <a:r>
              <a:rPr kumimoji="1" lang="en-US" altLang="zh-CN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v&gt;30-45m/s</a:t>
            </a:r>
            <a:r>
              <a:rPr kumimoji="1" lang="zh-CN" altLang="en-US" kern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中宋" panose="02010600040101010101" pitchFamily="2" charset="-122"/>
                <a:sym typeface="+mn-ea"/>
              </a:rPr>
              <a:t>时用铸钢或钢板焊成。</a:t>
            </a:r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8" grpId="0"/>
      <p:bldP spid="17415" grpId="0"/>
      <p:bldP spid="17419" grpId="0"/>
      <p:bldP spid="17420" grpId="0"/>
      <p:bldP spid="17421" grpId="0"/>
      <p:bldP spid="1742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6807200" y="4559300"/>
            <a:ext cx="23368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R="0" defTabSz="914400">
              <a:spcBef>
                <a:spcPct val="50000"/>
              </a:spcBef>
              <a:buClr>
                <a:srgbClr val="FF3300"/>
              </a:buClr>
              <a:buSzTx/>
              <a:buFontTx/>
              <a:defRPr/>
            </a:pPr>
            <a:r>
              <a:rPr kumimoji="1" lang="en-US" altLang="zh-CN" sz="20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</a:rPr>
              <a:t>d: </a:t>
            </a:r>
            <a:r>
              <a:rPr kumimoji="1" lang="zh-CN" altLang="en-US" sz="20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</a:rPr>
              <a:t>节圆直径</a:t>
            </a:r>
            <a:endParaRPr kumimoji="1" lang="zh-CN" altLang="en-US" sz="2000" kern="1200" cap="none" spc="0" normalizeH="0" baseline="0" noProof="0" dirty="0">
              <a:solidFill>
                <a:srgbClr val="000099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6807200" y="4957763"/>
            <a:ext cx="229393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R="0" defTabSz="914400">
              <a:spcBef>
                <a:spcPct val="50000"/>
              </a:spcBef>
              <a:buClr>
                <a:srgbClr val="FF3300"/>
              </a:buClr>
              <a:buSzTx/>
              <a:buFontTx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en-US" altLang="zh-CN" sz="20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</a:rPr>
              <a:t>d</a:t>
            </a:r>
            <a:r>
              <a:rPr kumimoji="1" lang="en-US" altLang="zh-CN" sz="2000" kern="1200" cap="none" spc="0" normalizeH="0" baseline="-2500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</a:rPr>
              <a:t>h</a:t>
            </a:r>
            <a:r>
              <a:rPr kumimoji="1" lang="en-US" altLang="zh-CN" sz="20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</a:rPr>
              <a:t>:</a:t>
            </a:r>
            <a:r>
              <a:rPr kumimoji="1" lang="zh-CN" altLang="en-US" sz="20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</a:rPr>
              <a:t>轴孔直径</a:t>
            </a:r>
            <a:endParaRPr kumimoji="1" lang="zh-CN" altLang="en-US" sz="2000" kern="1200" cap="none" spc="0" normalizeH="0" baseline="0" noProof="0" dirty="0">
              <a:solidFill>
                <a:srgbClr val="000099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53256" name="Picture 8" descr="带轮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8438" y="1238250"/>
            <a:ext cx="3332162" cy="3321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4" name="Picture 6" descr="t13-9"/>
          <p:cNvPicPr>
            <a:picLocks noChangeAspect="1"/>
          </p:cNvPicPr>
          <p:nvPr/>
        </p:nvPicPr>
        <p:blipFill>
          <a:blip r:embed="rId2"/>
          <a:srcRect l="6616" t="5083" r="8652" b="12706"/>
          <a:stretch>
            <a:fillRect/>
          </a:stretch>
        </p:blipFill>
        <p:spPr>
          <a:xfrm>
            <a:off x="5259388" y="1209675"/>
            <a:ext cx="3500437" cy="3400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231775" y="952500"/>
            <a:ext cx="232791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 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带轮的结构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1512" name="矩形 1"/>
          <p:cNvSpPr/>
          <p:nvPr/>
        </p:nvSpPr>
        <p:spPr>
          <a:xfrm>
            <a:off x="1017588" y="0"/>
            <a:ext cx="20320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带和带轮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1513" name="Picture 108" descr="rewind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363" y="6564313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4" name="Picture 11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350" y="656748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5" name="Picture 41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938" y="656748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78133" y="274638"/>
            <a:ext cx="34829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3.2-2 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带和带轮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507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31775" y="1516380"/>
            <a:ext cx="42468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  <a:r>
              <a:rPr lang="zh-CN" altLang="en-US"/>
              <a:t>）从带轮的功能来划分：</a:t>
            </a:r>
            <a:endParaRPr lang="zh-CN" altLang="en-US"/>
          </a:p>
          <a:p>
            <a:r>
              <a:rPr lang="zh-CN" altLang="en-US"/>
              <a:t>   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40075" y="1931670"/>
            <a:ext cx="1960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工作部分</a:t>
            </a:r>
            <a:r>
              <a:rPr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--</a:t>
            </a: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轮缘</a:t>
            </a:r>
            <a:endParaRPr lang="zh-CN" altLang="en-US" sz="20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40075" y="2330450"/>
            <a:ext cx="1960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联接部分</a:t>
            </a:r>
            <a:r>
              <a:rPr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--</a:t>
            </a: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轮辐</a:t>
            </a:r>
            <a:endParaRPr lang="zh-CN" altLang="en-US" sz="20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40075" y="2923540"/>
            <a:ext cx="1960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支撑部分</a:t>
            </a:r>
            <a:r>
              <a:rPr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--</a:t>
            </a: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轮毂</a:t>
            </a:r>
            <a:endParaRPr lang="zh-CN" altLang="en-US" sz="20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7423" name="文本框 17422"/>
          <p:cNvSpPr txBox="1">
            <a:spLocks noChangeArrowheads="1"/>
          </p:cNvSpPr>
          <p:nvPr/>
        </p:nvSpPr>
        <p:spPr bwMode="auto">
          <a:xfrm>
            <a:off x="231775" y="4175443"/>
            <a:ext cx="5529580" cy="845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latinLnBrk="0" hangingPunct="1">
              <a:spcAft>
                <a:spcPts val="600"/>
              </a:spcAft>
              <a:buClrTx/>
              <a:buSzTx/>
            </a:pPr>
            <a:r>
              <a:rPr lang="en-US" altLang="zh-CN" sz="2200"/>
              <a:t>2）V带轮的典型结构</a:t>
            </a:r>
            <a:endParaRPr lang="en-US" altLang="zh-CN" sz="2200"/>
          </a:p>
          <a:p>
            <a:pPr algn="l" eaLnBrk="1" latinLnBrk="0" hangingPunct="1">
              <a:spcAft>
                <a:spcPts val="600"/>
              </a:spcAft>
              <a:buClrTx/>
              <a:buSzTx/>
            </a:pPr>
            <a:r>
              <a:rPr lang="en-US" altLang="zh-CN" sz="2200"/>
              <a:t>       实心式、 腹板式、 孔板式和 轮辐式。 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17425" name="文本框 17424"/>
          <p:cNvSpPr txBox="1">
            <a:spLocks noChangeArrowheads="1"/>
          </p:cNvSpPr>
          <p:nvPr/>
        </p:nvSpPr>
        <p:spPr bwMode="auto">
          <a:xfrm>
            <a:off x="365760" y="5791835"/>
            <a:ext cx="8412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带轮的结构设计，主要是根据带轮的基准直径选择结构形式。</a:t>
            </a:r>
            <a:endParaRPr lang="zh-CN" altLang="en-US" sz="24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5071" name="图片 17433" descr="arrow_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442325" y="4770438"/>
            <a:ext cx="92075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04" name="文本框 17434"/>
          <p:cNvSpPr txBox="1">
            <a:spLocks noChangeArrowheads="1"/>
          </p:cNvSpPr>
          <p:nvPr/>
        </p:nvSpPr>
        <p:spPr bwMode="auto">
          <a:xfrm>
            <a:off x="2559368" y="5151120"/>
            <a:ext cx="14525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hlinkClick r:id="rId8" action="ppaction://hlinksldjump"/>
              </a:rPr>
              <a:t>详细介绍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hlinkClick r:id="rId8" action="ppaction://hlinksldjump"/>
              </a:rPr>
              <a:t>→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bldLvl="0" animBg="1"/>
      <p:bldP spid="53253" grpId="0" bldLvl="0" animBg="1"/>
      <p:bldP spid="17423" grpId="0"/>
      <p:bldP spid="17425" grpId="0"/>
      <p:bldP spid="8910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42038" y="271463"/>
            <a:ext cx="298450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带轮的设计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7347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文本框 114"/>
          <p:cNvSpPr txBox="1">
            <a:spLocks noChangeArrowheads="1"/>
          </p:cNvSpPr>
          <p:nvPr/>
        </p:nvSpPr>
        <p:spPr bwMode="auto">
          <a:xfrm>
            <a:off x="0" y="6129338"/>
            <a:ext cx="6013450" cy="72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）实心式                        </a:t>
            </a: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）腹板式  </a:t>
            </a: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rPr>
              <a:t>       c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）孔板式                        </a:t>
            </a: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）椭圆轮辐式</a:t>
            </a: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49" name="文本框 12"/>
          <p:cNvSpPr txBox="1">
            <a:spLocks noChangeArrowheads="1"/>
          </p:cNvSpPr>
          <p:nvPr/>
        </p:nvSpPr>
        <p:spPr bwMode="auto">
          <a:xfrm>
            <a:off x="6348413" y="911225"/>
            <a:ext cx="2571750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048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带轮的结构形式与基准直径有关。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当带轮基准直径为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≤2.5d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为安装带轮的轴的直径，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mm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）时，可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采用实心式；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≤300mm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时，可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采用腹板式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≤300mm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，同时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-d</a:t>
            </a:r>
            <a:r>
              <a:rPr lang="en-US" altLang="zh-CN" sz="20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≥100mm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时，可用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孔板式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&gt;300mm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时，可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采用轮辐式。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51" name="文本框 13"/>
          <p:cNvSpPr txBox="1">
            <a:spLocks noChangeArrowheads="1"/>
          </p:cNvSpPr>
          <p:nvPr/>
        </p:nvSpPr>
        <p:spPr bwMode="auto">
          <a:xfrm>
            <a:off x="796925" y="271463"/>
            <a:ext cx="17208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带轮的结构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35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6155"/>
            <a:ext cx="59944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3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275" name="图片 129274" descr="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rot="-21600000">
            <a:off x="798195" y="292735"/>
            <a:ext cx="2335530" cy="23221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124" name="图片 210123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933" y="245110"/>
            <a:ext cx="2747962" cy="2651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1344" name="图片 13134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75" y="3313430"/>
            <a:ext cx="2597150" cy="2895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549" name="图片 133548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810" y="3037840"/>
            <a:ext cx="2752725" cy="2894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153785" y="5779770"/>
            <a:ext cx="308419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）椭圆轮辐式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28595" y="2185035"/>
            <a:ext cx="1424305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）实心式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    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60895" y="1957070"/>
            <a:ext cx="1440180" cy="4972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）腹板式  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32735" y="5579745"/>
            <a:ext cx="1424305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）孔板式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        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89115" y="5383530"/>
            <a:ext cx="1983105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当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&gt;300mm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时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245985" y="1454785"/>
            <a:ext cx="1699260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当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≤300mm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31165" y="6133465"/>
            <a:ext cx="4719320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当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≤300mm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，同时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-d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≥100mm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时，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54940" y="2607945"/>
            <a:ext cx="4547870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≤2.5d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（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d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为安装带轮的轴的直径）</a:t>
            </a:r>
            <a:endParaRPr lang="zh-CN" altLang="en-US"/>
          </a:p>
        </p:txBody>
      </p:sp>
      <p:sp>
        <p:nvSpPr>
          <p:cNvPr id="57350" name="文本框 1"/>
          <p:cNvSpPr txBox="1">
            <a:spLocks noChangeArrowheads="1"/>
          </p:cNvSpPr>
          <p:nvPr/>
        </p:nvSpPr>
        <p:spPr bwMode="auto">
          <a:xfrm>
            <a:off x="7851775" y="6276975"/>
            <a:ext cx="7493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hlinkClick r:id="rId6" action="ppaction://hlinksldjump"/>
              </a:rPr>
              <a:t>返回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对象 -2147482391"/>
          <p:cNvGraphicFramePr>
            <a:graphicFrameLocks noChangeAspect="1"/>
          </p:cNvGraphicFramePr>
          <p:nvPr/>
        </p:nvGraphicFramePr>
        <p:xfrm>
          <a:off x="288925" y="2333625"/>
          <a:ext cx="2590800" cy="280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95450" imgH="1838325" progId="PBrush">
                  <p:embed/>
                </p:oleObj>
              </mc:Choice>
              <mc:Fallback>
                <p:oleObj name="" r:id="rId1" imgW="1695450" imgH="1838325" progId="PBrush">
                  <p:embed/>
                  <p:pic>
                    <p:nvPicPr>
                      <p:cNvPr id="0" name="对象 -21474823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2333625"/>
                        <a:ext cx="2590800" cy="280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42038" y="271463"/>
            <a:ext cx="298450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带轮的设计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197" name="文本框 1"/>
          <p:cNvSpPr txBox="1">
            <a:spLocks noChangeArrowheads="1"/>
          </p:cNvSpPr>
          <p:nvPr/>
        </p:nvSpPr>
        <p:spPr bwMode="auto">
          <a:xfrm>
            <a:off x="7367905" y="6300470"/>
            <a:ext cx="7493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hlinkClick r:id="rId3" action="ppaction://hlinksldjump"/>
              </a:rPr>
              <a:t>返回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415" name="表格 17414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3985" y="2323148"/>
          <a:ext cx="8859298" cy="3973197"/>
        </p:xfrm>
        <a:graphic>
          <a:graphicData uri="http://schemas.openxmlformats.org/drawingml/2006/table">
            <a:tbl>
              <a:tblPr/>
              <a:tblGrid>
                <a:gridCol w="2402205"/>
                <a:gridCol w="465247"/>
                <a:gridCol w="518795"/>
                <a:gridCol w="532765"/>
                <a:gridCol w="497205"/>
                <a:gridCol w="933450"/>
                <a:gridCol w="571924"/>
                <a:gridCol w="581298"/>
                <a:gridCol w="560773"/>
                <a:gridCol w="608715"/>
                <a:gridCol w="598546"/>
                <a:gridCol w="588375"/>
              </a:tblGrid>
              <a:tr h="346075">
                <a:tc row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华文中宋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槽型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800" b="0" i="1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amin</a:t>
                      </a:r>
                      <a:endParaRPr kumimoji="0" lang="en-US" altLang="zh-CN" sz="1800" b="0" i="1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fmin</a:t>
                      </a:r>
                      <a:endParaRPr kumimoji="0" lang="en-US" altLang="zh-CN" sz="1800" b="0" i="1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min</a:t>
                      </a:r>
                      <a:endParaRPr kumimoji="0" lang="en-US" altLang="zh-CN" sz="1800" b="0" i="1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</a:t>
                      </a:r>
                      <a:r>
                        <a:rPr kumimoji="0" lang="en-US" altLang="zh-CN" sz="1800" b="0" i="1" u="none" strike="noStrike" cap="none" normalizeH="0" baseline="-2500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min</a:t>
                      </a:r>
                      <a:endParaRPr kumimoji="0" lang="en-US" altLang="zh-CN" sz="1800" b="0" i="1" u="none" strike="noStrike" cap="none" normalizeH="0" baseline="-2500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800" b="0" i="1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6830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相对应的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φ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8925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32°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34°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36°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38°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4.7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8±0.3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≤60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&gt;60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86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12±0.3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≤80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&gt;80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54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11.0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2.75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8.7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15±0.3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≤118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&gt;118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86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3.50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10.8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19±0.4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11.5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≤190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&gt;190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4.80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25.5±0.5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≤315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&gt;315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86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27.0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19.9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37±0.6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≤475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&gt;475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86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32.0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9.60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23.4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44.5±0.7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≤600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&gt;600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07" name="文本框 4"/>
          <p:cNvSpPr txBox="1">
            <a:spLocks noChangeArrowheads="1"/>
          </p:cNvSpPr>
          <p:nvPr/>
        </p:nvSpPr>
        <p:spPr bwMode="auto">
          <a:xfrm>
            <a:off x="3666490" y="1847215"/>
            <a:ext cx="19240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轮槽截面尺寸</a:t>
            </a:r>
            <a:endParaRPr lang="zh-CN" altLang="en-US" sz="2000" b="1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08" name="Picture 11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" y="2437765"/>
            <a:ext cx="2428875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0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6" name="文本框 17425"/>
          <p:cNvSpPr txBox="1">
            <a:spLocks noChangeArrowheads="1"/>
          </p:cNvSpPr>
          <p:nvPr/>
        </p:nvSpPr>
        <p:spPr bwMode="auto">
          <a:xfrm>
            <a:off x="755650" y="1448435"/>
            <a:ext cx="399256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根据带的截型确定轮槽截面尺寸。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71780" y="898208"/>
            <a:ext cx="2316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．</a:t>
            </a: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V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带轮的轮槽</a:t>
            </a:r>
            <a:endParaRPr lang="zh-CN" altLang="en-US" sz="2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动作按钮: 后退或前一项 471041">
            <a:hlinkClick r:id="" action="ppaction://hlinkshowjump?jump=previousslide"/>
          </p:cNvPr>
          <p:cNvSpPr/>
          <p:nvPr/>
        </p:nvSpPr>
        <p:spPr>
          <a:xfrm>
            <a:off x="8001000" y="6400800"/>
            <a:ext cx="457200" cy="381000"/>
          </a:xfrm>
          <a:prstGeom prst="actionButtonBackPrevious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prstShdw prst="shdw17" dist="17961" dir="2699999">
              <a:srgbClr val="FFFF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1043" name="动作按钮: 后退或前一项 471042">
            <a:hlinkClick r:id="" action="ppaction://hlinkshowjump?jump=nextslide"/>
          </p:cNvPr>
          <p:cNvSpPr/>
          <p:nvPr/>
        </p:nvSpPr>
        <p:spPr>
          <a:xfrm flipH="1">
            <a:off x="8610600" y="6400800"/>
            <a:ext cx="381000" cy="381000"/>
          </a:xfrm>
          <a:prstGeom prst="actionButtonBackPrevious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prstShdw prst="shdw17" dist="17961" dir="2699999">
              <a:srgbClr val="FFFF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1046" name="文本框 471045"/>
          <p:cNvSpPr txBox="1"/>
          <p:nvPr/>
        </p:nvSpPr>
        <p:spPr>
          <a:xfrm>
            <a:off x="166370" y="941705"/>
            <a:ext cx="3769360" cy="429895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一、带传动的受力分析</a:t>
            </a:r>
            <a:endParaRPr lang="zh-CN" altLang="en-US">
              <a:solidFill>
                <a:srgbClr val="8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1047" name="文本框 471046"/>
          <p:cNvSpPr txBox="1"/>
          <p:nvPr/>
        </p:nvSpPr>
        <p:spPr>
          <a:xfrm>
            <a:off x="372745" y="1371600"/>
            <a:ext cx="7391400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安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装时，带必须以一定的初拉力 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张紧在带轮上</a:t>
            </a:r>
            <a:endParaRPr lang="zh-CN" altLang="en-US" dirty="0">
              <a:solidFill>
                <a:srgbClr val="00206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1051" name="组合 471050"/>
          <p:cNvGrpSpPr/>
          <p:nvPr/>
        </p:nvGrpSpPr>
        <p:grpSpPr>
          <a:xfrm>
            <a:off x="1939925" y="1816100"/>
            <a:ext cx="4572000" cy="2286000"/>
            <a:chOff x="1366" y="1104"/>
            <a:chExt cx="2880" cy="1440"/>
          </a:xfrm>
        </p:grpSpPr>
        <p:sp>
          <p:nvSpPr>
            <p:cNvPr id="471052" name="椭圆 471051"/>
            <p:cNvSpPr/>
            <p:nvPr/>
          </p:nvSpPr>
          <p:spPr>
            <a:xfrm>
              <a:off x="1414" y="1440"/>
              <a:ext cx="680" cy="680"/>
            </a:xfrm>
            <a:prstGeom prst="ellipse">
              <a:avLst/>
            </a:prstGeom>
            <a:noFill/>
            <a:ln w="635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dirty="0">
                <a:latin typeface="Times New Roman" panose="02020603050405020304" pitchFamily="18" charset="0"/>
                <a:ea typeface="方正大黑简体" pitchFamily="2" charset="-122"/>
              </a:endParaRPr>
            </a:p>
          </p:txBody>
        </p:sp>
        <p:sp>
          <p:nvSpPr>
            <p:cNvPr id="471053" name="椭圆 471052"/>
            <p:cNvSpPr/>
            <p:nvPr/>
          </p:nvSpPr>
          <p:spPr>
            <a:xfrm>
              <a:off x="2950" y="1248"/>
              <a:ext cx="1134" cy="1134"/>
            </a:xfrm>
            <a:prstGeom prst="ellipse">
              <a:avLst/>
            </a:prstGeom>
            <a:noFill/>
            <a:ln w="635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54" name="直接连接符 471053"/>
            <p:cNvSpPr/>
            <p:nvPr/>
          </p:nvSpPr>
          <p:spPr>
            <a:xfrm>
              <a:off x="1366" y="1824"/>
              <a:ext cx="288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471055" name="直接连接符 471054"/>
            <p:cNvSpPr/>
            <p:nvPr/>
          </p:nvSpPr>
          <p:spPr>
            <a:xfrm>
              <a:off x="3526" y="1104"/>
              <a:ext cx="0" cy="144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471056" name="直接连接符 471055"/>
            <p:cNvSpPr/>
            <p:nvPr/>
          </p:nvSpPr>
          <p:spPr>
            <a:xfrm>
              <a:off x="1750" y="1200"/>
              <a:ext cx="0" cy="110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471057" name="直接连接符 471056"/>
            <p:cNvSpPr/>
            <p:nvPr/>
          </p:nvSpPr>
          <p:spPr>
            <a:xfrm flipV="1">
              <a:off x="1728" y="1248"/>
              <a:ext cx="1728" cy="192"/>
            </a:xfrm>
            <a:prstGeom prst="line">
              <a:avLst/>
            </a:prstGeom>
            <a:ln w="317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058" name="直接连接符 471057"/>
            <p:cNvSpPr/>
            <p:nvPr/>
          </p:nvSpPr>
          <p:spPr>
            <a:xfrm>
              <a:off x="1702" y="2112"/>
              <a:ext cx="1824" cy="288"/>
            </a:xfrm>
            <a:prstGeom prst="line">
              <a:avLst/>
            </a:prstGeom>
            <a:ln w="317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71059" name="组合 471058"/>
          <p:cNvGrpSpPr/>
          <p:nvPr/>
        </p:nvGrpSpPr>
        <p:grpSpPr>
          <a:xfrm>
            <a:off x="2473325" y="2209800"/>
            <a:ext cx="1143000" cy="1371600"/>
            <a:chOff x="1702" y="1344"/>
            <a:chExt cx="720" cy="864"/>
          </a:xfrm>
        </p:grpSpPr>
        <p:sp>
          <p:nvSpPr>
            <p:cNvPr id="471060" name="直接连接符 471059"/>
            <p:cNvSpPr/>
            <p:nvPr/>
          </p:nvSpPr>
          <p:spPr>
            <a:xfrm>
              <a:off x="1702" y="2112"/>
              <a:ext cx="720" cy="9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061" name="直接连接符 471060"/>
            <p:cNvSpPr/>
            <p:nvPr/>
          </p:nvSpPr>
          <p:spPr>
            <a:xfrm flipV="1">
              <a:off x="1702" y="1344"/>
              <a:ext cx="720" cy="9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471062" name="组合 471061"/>
          <p:cNvGrpSpPr/>
          <p:nvPr/>
        </p:nvGrpSpPr>
        <p:grpSpPr>
          <a:xfrm>
            <a:off x="4144963" y="2012315"/>
            <a:ext cx="1223962" cy="1838325"/>
            <a:chOff x="2755" y="1242"/>
            <a:chExt cx="771" cy="1158"/>
          </a:xfrm>
        </p:grpSpPr>
        <p:sp>
          <p:nvSpPr>
            <p:cNvPr id="471063" name="直接连接符 471062"/>
            <p:cNvSpPr/>
            <p:nvPr/>
          </p:nvSpPr>
          <p:spPr>
            <a:xfrm flipH="1">
              <a:off x="2755" y="1242"/>
              <a:ext cx="771" cy="8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064" name="直接连接符 471063"/>
            <p:cNvSpPr/>
            <p:nvPr/>
          </p:nvSpPr>
          <p:spPr>
            <a:xfrm flipH="1" flipV="1">
              <a:off x="2806" y="2304"/>
              <a:ext cx="720" cy="9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471065" name="组合 471064"/>
          <p:cNvGrpSpPr/>
          <p:nvPr/>
        </p:nvGrpSpPr>
        <p:grpSpPr>
          <a:xfrm>
            <a:off x="1863725" y="4191000"/>
            <a:ext cx="4648200" cy="2133600"/>
            <a:chOff x="1318" y="2592"/>
            <a:chExt cx="2928" cy="1344"/>
          </a:xfrm>
        </p:grpSpPr>
        <p:grpSp>
          <p:nvGrpSpPr>
            <p:cNvPr id="471066" name="组合 471065"/>
            <p:cNvGrpSpPr/>
            <p:nvPr/>
          </p:nvGrpSpPr>
          <p:grpSpPr>
            <a:xfrm>
              <a:off x="1318" y="2592"/>
              <a:ext cx="2928" cy="1344"/>
              <a:chOff x="1318" y="2592"/>
              <a:chExt cx="2928" cy="1344"/>
            </a:xfrm>
          </p:grpSpPr>
          <p:sp>
            <p:nvSpPr>
              <p:cNvPr id="471067" name="直接连接符 471066"/>
              <p:cNvSpPr/>
              <p:nvPr/>
            </p:nvSpPr>
            <p:spPr>
              <a:xfrm>
                <a:off x="1318" y="3264"/>
                <a:ext cx="2928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471068" name="直接连接符 471067"/>
              <p:cNvSpPr/>
              <p:nvPr/>
            </p:nvSpPr>
            <p:spPr>
              <a:xfrm>
                <a:off x="3526" y="2592"/>
                <a:ext cx="0" cy="1344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471069" name="直接连接符 471068"/>
              <p:cNvSpPr/>
              <p:nvPr/>
            </p:nvSpPr>
            <p:spPr>
              <a:xfrm>
                <a:off x="1750" y="2736"/>
                <a:ext cx="0" cy="1008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lgDashDot"/>
                <a:headEnd type="none" w="med" len="med"/>
                <a:tailEnd type="none" w="med" len="med"/>
              </a:ln>
            </p:spPr>
          </p:sp>
          <p:grpSp>
            <p:nvGrpSpPr>
              <p:cNvPr id="471070" name="组合 471069"/>
              <p:cNvGrpSpPr/>
              <p:nvPr/>
            </p:nvGrpSpPr>
            <p:grpSpPr>
              <a:xfrm>
                <a:off x="1414" y="2688"/>
                <a:ext cx="2670" cy="1134"/>
                <a:chOff x="1414" y="2688"/>
                <a:chExt cx="2670" cy="1134"/>
              </a:xfrm>
            </p:grpSpPr>
            <p:sp>
              <p:nvSpPr>
                <p:cNvPr id="471071" name="椭圆 471070"/>
                <p:cNvSpPr/>
                <p:nvPr/>
              </p:nvSpPr>
              <p:spPr>
                <a:xfrm>
                  <a:off x="1414" y="2880"/>
                  <a:ext cx="680" cy="680"/>
                </a:xfrm>
                <a:prstGeom prst="ellipse">
                  <a:avLst/>
                </a:prstGeom>
                <a:noFill/>
                <a:ln w="635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072" name="椭圆 471071"/>
                <p:cNvSpPr/>
                <p:nvPr/>
              </p:nvSpPr>
              <p:spPr>
                <a:xfrm>
                  <a:off x="2950" y="2688"/>
                  <a:ext cx="1134" cy="1134"/>
                </a:xfrm>
                <a:prstGeom prst="ellipse">
                  <a:avLst/>
                </a:prstGeom>
                <a:noFill/>
                <a:ln w="635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073" name="直接连接符 471072"/>
                <p:cNvSpPr/>
                <p:nvPr/>
              </p:nvSpPr>
              <p:spPr>
                <a:xfrm flipV="1">
                  <a:off x="1702" y="2688"/>
                  <a:ext cx="1872" cy="192"/>
                </a:xfrm>
                <a:prstGeom prst="line">
                  <a:avLst/>
                </a:prstGeom>
                <a:ln w="3175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471074" name="直接连接符 471073"/>
            <p:cNvSpPr/>
            <p:nvPr/>
          </p:nvSpPr>
          <p:spPr>
            <a:xfrm>
              <a:off x="1702" y="3552"/>
              <a:ext cx="1824" cy="288"/>
            </a:xfrm>
            <a:prstGeom prst="line">
              <a:avLst/>
            </a:prstGeom>
            <a:ln w="317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71118" name="组合 471117"/>
          <p:cNvGrpSpPr/>
          <p:nvPr/>
        </p:nvGrpSpPr>
        <p:grpSpPr>
          <a:xfrm>
            <a:off x="5575300" y="4775200"/>
            <a:ext cx="520700" cy="863600"/>
            <a:chOff x="3512" y="3008"/>
            <a:chExt cx="328" cy="544"/>
          </a:xfrm>
        </p:grpSpPr>
        <p:sp>
          <p:nvSpPr>
            <p:cNvPr id="471076" name="文本框 471075"/>
            <p:cNvSpPr txBox="1"/>
            <p:nvPr/>
          </p:nvSpPr>
          <p:spPr>
            <a:xfrm>
              <a:off x="3512" y="3256"/>
              <a:ext cx="2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baseline="-250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077" name="任意多边形 471076"/>
            <p:cNvSpPr/>
            <p:nvPr/>
          </p:nvSpPr>
          <p:spPr>
            <a:xfrm flipH="1" flipV="1">
              <a:off x="3720" y="3008"/>
              <a:ext cx="120" cy="544"/>
            </a:xfrm>
            <a:custGeom>
              <a:avLst/>
              <a:gdLst/>
              <a:ahLst/>
              <a:cxnLst/>
              <a:rect l="0" t="0" r="0" b="0"/>
              <a:pathLst>
                <a:path w="152" h="720">
                  <a:moveTo>
                    <a:pt x="104" y="0"/>
                  </a:moveTo>
                  <a:cubicBezTo>
                    <a:pt x="60" y="96"/>
                    <a:pt x="16" y="192"/>
                    <a:pt x="8" y="288"/>
                  </a:cubicBezTo>
                  <a:cubicBezTo>
                    <a:pt x="0" y="384"/>
                    <a:pt x="32" y="504"/>
                    <a:pt x="56" y="576"/>
                  </a:cubicBezTo>
                  <a:cubicBezTo>
                    <a:pt x="80" y="648"/>
                    <a:pt x="136" y="696"/>
                    <a:pt x="152" y="720"/>
                  </a:cubicBezTo>
                </a:path>
              </a:pathLst>
            </a:custGeom>
            <a:noFill/>
            <a:ln w="34925" cap="flat" cmpd="sng">
              <a:solidFill>
                <a:schemeClr val="hlink"/>
              </a:solidFill>
              <a:prstDash val="solid"/>
              <a:headEnd type="triangle" w="sm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1081" name="组合 471080"/>
          <p:cNvGrpSpPr/>
          <p:nvPr/>
        </p:nvGrpSpPr>
        <p:grpSpPr>
          <a:xfrm>
            <a:off x="2473325" y="5410200"/>
            <a:ext cx="1597025" cy="508000"/>
            <a:chOff x="1702" y="3360"/>
            <a:chExt cx="1006" cy="320"/>
          </a:xfrm>
        </p:grpSpPr>
        <p:sp>
          <p:nvSpPr>
            <p:cNvPr id="471082" name="文本框 471081"/>
            <p:cNvSpPr txBox="1"/>
            <p:nvPr/>
          </p:nvSpPr>
          <p:spPr>
            <a:xfrm>
              <a:off x="2400" y="336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aseline="-14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aseline="-14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083" name="直接连接符 471082"/>
            <p:cNvSpPr/>
            <p:nvPr/>
          </p:nvSpPr>
          <p:spPr>
            <a:xfrm>
              <a:off x="1702" y="3552"/>
              <a:ext cx="798" cy="12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471084" name="直接连接符 471083"/>
          <p:cNvSpPr/>
          <p:nvPr/>
        </p:nvSpPr>
        <p:spPr>
          <a:xfrm flipH="1" flipV="1">
            <a:off x="3962400" y="5943600"/>
            <a:ext cx="1406525" cy="2286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085" name="文本框 471084"/>
          <p:cNvSpPr txBox="1"/>
          <p:nvPr/>
        </p:nvSpPr>
        <p:spPr>
          <a:xfrm>
            <a:off x="241300" y="2241550"/>
            <a:ext cx="1917700" cy="429895"/>
          </a:xfrm>
          <a:prstGeom prst="rect">
            <a:avLst/>
          </a:prstGeom>
          <a:noFill/>
          <a:ln w="9525"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带工作前：</a:t>
            </a:r>
            <a:endParaRPr lang="zh-CN" altLang="en-US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086" name="文本框 471085"/>
          <p:cNvSpPr txBox="1"/>
          <p:nvPr/>
        </p:nvSpPr>
        <p:spPr>
          <a:xfrm>
            <a:off x="241300" y="4038600"/>
            <a:ext cx="1930400" cy="457200"/>
          </a:xfrm>
          <a:prstGeom prst="rect">
            <a:avLst/>
          </a:prstGeom>
          <a:noFill/>
          <a:ln w="9525"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带工作后：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1087" name="组合 471086"/>
          <p:cNvGrpSpPr/>
          <p:nvPr/>
        </p:nvGrpSpPr>
        <p:grpSpPr>
          <a:xfrm>
            <a:off x="3657600" y="2209800"/>
            <a:ext cx="488950" cy="1447800"/>
            <a:chOff x="2448" y="1344"/>
            <a:chExt cx="308" cy="912"/>
          </a:xfrm>
        </p:grpSpPr>
        <p:sp>
          <p:nvSpPr>
            <p:cNvPr id="471088" name="文本框 471087"/>
            <p:cNvSpPr txBox="1"/>
            <p:nvPr/>
          </p:nvSpPr>
          <p:spPr>
            <a:xfrm>
              <a:off x="2448" y="1344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aseline="-1400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aseline="-140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089" name="文本框 471088"/>
            <p:cNvSpPr txBox="1"/>
            <p:nvPr/>
          </p:nvSpPr>
          <p:spPr>
            <a:xfrm>
              <a:off x="2448" y="196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aseline="-2500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0" baseline="-250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71090" name="文本框 471089"/>
          <p:cNvSpPr txBox="1"/>
          <p:nvPr/>
        </p:nvSpPr>
        <p:spPr>
          <a:xfrm>
            <a:off x="6629400" y="2179638"/>
            <a:ext cx="2133600" cy="850900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此时，带只受初拉力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作用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1091" name="组合 471090"/>
          <p:cNvGrpSpPr/>
          <p:nvPr/>
        </p:nvGrpSpPr>
        <p:grpSpPr>
          <a:xfrm>
            <a:off x="2516188" y="4800600"/>
            <a:ext cx="455612" cy="687388"/>
            <a:chOff x="1729" y="2976"/>
            <a:chExt cx="287" cy="433"/>
          </a:xfrm>
        </p:grpSpPr>
        <p:sp>
          <p:nvSpPr>
            <p:cNvPr id="471092" name="文本框 471091"/>
            <p:cNvSpPr txBox="1"/>
            <p:nvPr/>
          </p:nvSpPr>
          <p:spPr>
            <a:xfrm>
              <a:off x="1729" y="2976"/>
              <a:ext cx="2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baseline="-250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093" name="任意多边形 471092"/>
            <p:cNvSpPr/>
            <p:nvPr/>
          </p:nvSpPr>
          <p:spPr>
            <a:xfrm>
              <a:off x="1918" y="3000"/>
              <a:ext cx="87" cy="409"/>
            </a:xfrm>
            <a:custGeom>
              <a:avLst/>
              <a:gdLst/>
              <a:ahLst/>
              <a:cxnLst/>
              <a:rect l="0" t="0" r="0" b="0"/>
              <a:pathLst>
                <a:path w="87" h="409">
                  <a:moveTo>
                    <a:pt x="14" y="409"/>
                  </a:moveTo>
                  <a:cubicBezTo>
                    <a:pt x="46" y="354"/>
                    <a:pt x="73" y="303"/>
                    <a:pt x="80" y="249"/>
                  </a:cubicBezTo>
                  <a:cubicBezTo>
                    <a:pt x="87" y="195"/>
                    <a:pt x="68" y="124"/>
                    <a:pt x="55" y="82"/>
                  </a:cubicBezTo>
                  <a:cubicBezTo>
                    <a:pt x="42" y="40"/>
                    <a:pt x="11" y="17"/>
                    <a:pt x="0" y="0"/>
                  </a:cubicBezTo>
                </a:path>
              </a:pathLst>
            </a:custGeom>
            <a:noFill/>
            <a:ln w="34925" cap="flat" cmpd="sng">
              <a:solidFill>
                <a:schemeClr val="hlink"/>
              </a:solidFill>
              <a:prstDash val="solid"/>
              <a:headEnd type="triangle" w="sm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1094" name="组合 471093"/>
          <p:cNvGrpSpPr/>
          <p:nvPr/>
        </p:nvGrpSpPr>
        <p:grpSpPr>
          <a:xfrm>
            <a:off x="2473325" y="4083050"/>
            <a:ext cx="911225" cy="565150"/>
            <a:chOff x="1702" y="2524"/>
            <a:chExt cx="574" cy="356"/>
          </a:xfrm>
        </p:grpSpPr>
        <p:sp>
          <p:nvSpPr>
            <p:cNvPr id="471095" name="直接连接符 471094"/>
            <p:cNvSpPr/>
            <p:nvPr/>
          </p:nvSpPr>
          <p:spPr>
            <a:xfrm flipV="1">
              <a:off x="1702" y="2832"/>
              <a:ext cx="458" cy="4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096" name="文本框 471095"/>
            <p:cNvSpPr txBox="1"/>
            <p:nvPr/>
          </p:nvSpPr>
          <p:spPr>
            <a:xfrm>
              <a:off x="1968" y="2524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aseline="-14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aseline="-14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71097" name="组合 471096"/>
          <p:cNvGrpSpPr/>
          <p:nvPr/>
        </p:nvGrpSpPr>
        <p:grpSpPr>
          <a:xfrm>
            <a:off x="4145280" y="3962400"/>
            <a:ext cx="1317625" cy="476250"/>
            <a:chOff x="2744" y="2448"/>
            <a:chExt cx="830" cy="300"/>
          </a:xfrm>
        </p:grpSpPr>
        <p:sp>
          <p:nvSpPr>
            <p:cNvPr id="471098" name="直接连接符 471097"/>
            <p:cNvSpPr/>
            <p:nvPr/>
          </p:nvSpPr>
          <p:spPr>
            <a:xfrm flipH="1">
              <a:off x="2976" y="2688"/>
              <a:ext cx="598" cy="6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099" name="文本框 471098"/>
            <p:cNvSpPr txBox="1"/>
            <p:nvPr/>
          </p:nvSpPr>
          <p:spPr>
            <a:xfrm>
              <a:off x="2744" y="244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aseline="-14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aseline="-14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71102" name="折角形 471101"/>
          <p:cNvSpPr/>
          <p:nvPr/>
        </p:nvSpPr>
        <p:spPr>
          <a:xfrm>
            <a:off x="6553200" y="4114800"/>
            <a:ext cx="2362200" cy="2133600"/>
          </a:xfrm>
          <a:prstGeom prst="foldedCorner">
            <a:avLst>
              <a:gd name="adj" fmla="val 19824"/>
            </a:avLst>
          </a:prstGeom>
          <a:solidFill>
            <a:srgbClr val="F2F6CE"/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dirty="0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1103" name="文本框 471102"/>
          <p:cNvSpPr txBox="1"/>
          <p:nvPr/>
        </p:nvSpPr>
        <p:spPr>
          <a:xfrm>
            <a:off x="6420485" y="4191000"/>
            <a:ext cx="272351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</a:rPr>
              <a:t>由于</a:t>
            </a:r>
            <a:r>
              <a:rPr lang="zh-CN" altLang="en-US" sz="2000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</a:rPr>
              <a:t>静摩擦力的作用：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71104" name="文本框 471103"/>
          <p:cNvSpPr txBox="1"/>
          <p:nvPr/>
        </p:nvSpPr>
        <p:spPr>
          <a:xfrm>
            <a:off x="6553200" y="4556125"/>
            <a:ext cx="2362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紧边拉力 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--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由 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r>
              <a:rPr lang="en-US" altLang="zh-CN" sz="2000" baseline="-14000"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en-US" altLang="zh-CN" sz="2000" baseline="-2500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增加到 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r>
              <a:rPr lang="en-US" altLang="zh-CN" sz="2000" baseline="-1400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71105" name="文本框 471104"/>
          <p:cNvSpPr txBox="1"/>
          <p:nvPr/>
        </p:nvSpPr>
        <p:spPr>
          <a:xfrm>
            <a:off x="6553200" y="5257800"/>
            <a:ext cx="2362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松边拉力 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--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由 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r>
              <a:rPr lang="en-US" altLang="zh-CN" sz="2000" baseline="-14000"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en-US" altLang="zh-CN" sz="2000" baseline="-2500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减小到 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r>
              <a:rPr lang="en-US" altLang="zh-CN" sz="2000" baseline="-1400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en-US" altLang="zh-CN" sz="2000" baseline="-2500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  <a:endParaRPr lang="zh-CN" altLang="en-US" sz="200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71106" name="文本框 471105"/>
          <p:cNvSpPr txBox="1"/>
          <p:nvPr/>
        </p:nvSpPr>
        <p:spPr>
          <a:xfrm>
            <a:off x="6553200" y="3134995"/>
            <a:ext cx="2362200" cy="10452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记传动带工作面上的总摩擦力为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sz="2000" i="1" baseline="-2500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f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，</a:t>
            </a: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1112" name="组合 471111"/>
          <p:cNvGrpSpPr/>
          <p:nvPr/>
        </p:nvGrpSpPr>
        <p:grpSpPr>
          <a:xfrm>
            <a:off x="3074988" y="5881688"/>
            <a:ext cx="758825" cy="579437"/>
            <a:chOff x="1937" y="3705"/>
            <a:chExt cx="478" cy="365"/>
          </a:xfrm>
        </p:grpSpPr>
        <p:sp>
          <p:nvSpPr>
            <p:cNvPr id="471108" name="直接连接符 471107"/>
            <p:cNvSpPr/>
            <p:nvPr/>
          </p:nvSpPr>
          <p:spPr>
            <a:xfrm flipH="1" flipV="1">
              <a:off x="1937" y="3753"/>
              <a:ext cx="478" cy="8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110" name="文本框 471109"/>
            <p:cNvSpPr txBox="1"/>
            <p:nvPr/>
          </p:nvSpPr>
          <p:spPr>
            <a:xfrm>
              <a:off x="2001" y="3705"/>
              <a:ext cx="23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sz="3200" i="1" baseline="-14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71116" name="组合 471115"/>
          <p:cNvGrpSpPr/>
          <p:nvPr/>
        </p:nvGrpSpPr>
        <p:grpSpPr>
          <a:xfrm>
            <a:off x="1393190" y="4780280"/>
            <a:ext cx="895350" cy="765175"/>
            <a:chOff x="860" y="3012"/>
            <a:chExt cx="564" cy="482"/>
          </a:xfrm>
        </p:grpSpPr>
        <p:sp>
          <p:nvSpPr>
            <p:cNvPr id="471049" name="文本框 471048"/>
            <p:cNvSpPr txBox="1"/>
            <p:nvPr/>
          </p:nvSpPr>
          <p:spPr>
            <a:xfrm>
              <a:off x="860" y="3012"/>
              <a:ext cx="2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i="1" baseline="-14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i="1" baseline="-14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113" name="任意多边形 471112"/>
            <p:cNvSpPr/>
            <p:nvPr/>
          </p:nvSpPr>
          <p:spPr>
            <a:xfrm rot="-2176173" flipH="1">
              <a:off x="1125" y="3067"/>
              <a:ext cx="299" cy="427"/>
            </a:xfrm>
            <a:custGeom>
              <a:avLst/>
              <a:gdLst>
                <a:gd name="txL" fmla="*/ 0 w 21600"/>
                <a:gd name="txT" fmla="*/ 0 h 23650"/>
                <a:gd name="txR" fmla="*/ 21600 w 21600"/>
                <a:gd name="txB" fmla="*/ 23650 h 23650"/>
              </a:gdLst>
              <a:ahLst/>
              <a:cxnLst>
                <a:cxn ang="270">
                  <a:pos x="0" y="0"/>
                </a:cxn>
                <a:cxn ang="90">
                  <a:pos x="21502" y="23649"/>
                </a:cxn>
                <a:cxn ang="90">
                  <a:pos x="0" y="21600"/>
                </a:cxn>
              </a:cxnLst>
              <a:rect l="txL" t="txT" r="txR" b="txB"/>
              <a:pathLst>
                <a:path w="21600" h="23650" fill="none">
                  <a:moveTo>
                    <a:pt x="0" y="0"/>
                  </a:moveTo>
                  <a:arcTo wR="21600" hR="21600" stAng="-5400000" swAng="5726609"/>
                </a:path>
                <a:path w="21600" h="23650" stroke="0">
                  <a:moveTo>
                    <a:pt x="0" y="0"/>
                  </a:moveTo>
                  <a:arcTo wR="21600" hR="21600" stAng="-5400000" swAng="5726609"/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headEnd type="triangle" w="med" len="lg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1117" name="组合 471116"/>
          <p:cNvGrpSpPr/>
          <p:nvPr/>
        </p:nvGrpSpPr>
        <p:grpSpPr>
          <a:xfrm>
            <a:off x="6021388" y="4381500"/>
            <a:ext cx="517525" cy="1222375"/>
            <a:chOff x="3793" y="2760"/>
            <a:chExt cx="326" cy="770"/>
          </a:xfrm>
        </p:grpSpPr>
        <p:sp>
          <p:nvSpPr>
            <p:cNvPr id="471079" name="文本框 471078"/>
            <p:cNvSpPr txBox="1"/>
            <p:nvPr/>
          </p:nvSpPr>
          <p:spPr>
            <a:xfrm>
              <a:off x="3832" y="2760"/>
              <a:ext cx="2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i="1" baseline="-14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i="1" baseline="-14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115" name="任意多边形 471114"/>
            <p:cNvSpPr/>
            <p:nvPr/>
          </p:nvSpPr>
          <p:spPr>
            <a:xfrm rot="2176173">
              <a:off x="3793" y="3103"/>
              <a:ext cx="299" cy="427"/>
            </a:xfrm>
            <a:custGeom>
              <a:avLst/>
              <a:gdLst>
                <a:gd name="txL" fmla="*/ 0 w 21600"/>
                <a:gd name="txT" fmla="*/ 0 h 23650"/>
                <a:gd name="txR" fmla="*/ 21600 w 21600"/>
                <a:gd name="txB" fmla="*/ 23650 h 23650"/>
              </a:gdLst>
              <a:ahLst/>
              <a:cxnLst>
                <a:cxn ang="270">
                  <a:pos x="0" y="0"/>
                </a:cxn>
                <a:cxn ang="90">
                  <a:pos x="21502" y="23649"/>
                </a:cxn>
                <a:cxn ang="90">
                  <a:pos x="0" y="21600"/>
                </a:cxn>
              </a:cxnLst>
              <a:rect l="txL" t="txT" r="txR" b="txB"/>
              <a:pathLst>
                <a:path w="21600" h="23650" fill="none">
                  <a:moveTo>
                    <a:pt x="0" y="0"/>
                  </a:moveTo>
                  <a:arcTo wR="21600" hR="21600" stAng="-5400000" swAng="5726609"/>
                </a:path>
                <a:path w="21600" h="23650" stroke="0">
                  <a:moveTo>
                    <a:pt x="0" y="0"/>
                  </a:moveTo>
                  <a:arcTo wR="21600" hR="21600" stAng="-5400000" swAng="5726609"/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headEnd type="triangle" w="med" len="lg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1119" name="组合 471118"/>
          <p:cNvGrpSpPr/>
          <p:nvPr/>
        </p:nvGrpSpPr>
        <p:grpSpPr>
          <a:xfrm>
            <a:off x="241300" y="5803900"/>
            <a:ext cx="3619500" cy="657225"/>
            <a:chOff x="344" y="3608"/>
            <a:chExt cx="2280" cy="414"/>
          </a:xfrm>
        </p:grpSpPr>
        <p:sp>
          <p:nvSpPr>
            <p:cNvPr id="471120" name="文本框 471119"/>
            <p:cNvSpPr txBox="1"/>
            <p:nvPr/>
          </p:nvSpPr>
          <p:spPr>
            <a:xfrm>
              <a:off x="344" y="3772"/>
              <a:ext cx="2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r>
                <a:rPr lang="zh-CN" altLang="en-US" sz="2000" dirty="0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紧边－进入主动轮</a:t>
              </a:r>
              <a:endParaRPr lang="zh-CN" altLang="en-US" sz="20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71121" name="直接连接符 471120"/>
            <p:cNvSpPr/>
            <p:nvPr/>
          </p:nvSpPr>
          <p:spPr>
            <a:xfrm flipV="1">
              <a:off x="912" y="3608"/>
              <a:ext cx="1144" cy="12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71122" name="组合 471121"/>
          <p:cNvGrpSpPr/>
          <p:nvPr/>
        </p:nvGrpSpPr>
        <p:grpSpPr>
          <a:xfrm>
            <a:off x="1778000" y="3746500"/>
            <a:ext cx="3314700" cy="876300"/>
            <a:chOff x="1352" y="2304"/>
            <a:chExt cx="2088" cy="552"/>
          </a:xfrm>
        </p:grpSpPr>
        <p:sp>
          <p:nvSpPr>
            <p:cNvPr id="471123" name="文本框 471122"/>
            <p:cNvSpPr txBox="1"/>
            <p:nvPr/>
          </p:nvSpPr>
          <p:spPr>
            <a:xfrm>
              <a:off x="1352" y="2304"/>
              <a:ext cx="208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r>
                <a:rPr lang="zh-CN" altLang="en-US" sz="2000" dirty="0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松边－退出主动轮</a:t>
              </a:r>
              <a:endParaRPr lang="zh-CN" altLang="en-US" sz="20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71124" name="直接连接符 471123"/>
            <p:cNvSpPr/>
            <p:nvPr/>
          </p:nvSpPr>
          <p:spPr>
            <a:xfrm flipH="1" flipV="1">
              <a:off x="1616" y="2528"/>
              <a:ext cx="368" cy="32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71125" name="文本框 471124"/>
          <p:cNvSpPr txBox="1"/>
          <p:nvPr/>
        </p:nvSpPr>
        <p:spPr>
          <a:xfrm>
            <a:off x="3722688" y="6240463"/>
            <a:ext cx="4191000" cy="396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通常，紧边在下、松边在上</a:t>
            </a:r>
            <a:endParaRPr lang="zh-CN" altLang="en-US" sz="20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71813" y="195263"/>
            <a:ext cx="607218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3.2-3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带传动的工作情况的分析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99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7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47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47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471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0" fill="hold"/>
                                        <p:tgtEl>
                                          <p:spTgt spid="471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47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1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71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7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7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47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7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7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7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7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47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2" dur="500"/>
                                        <p:tgtEl>
                                          <p:spTgt spid="47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47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1" dur="500"/>
                                        <p:tgtEl>
                                          <p:spTgt spid="47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7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7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7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0" dur="500"/>
                                        <p:tgtEl>
                                          <p:spTgt spid="47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5" dur="500"/>
                                        <p:tgtEl>
                                          <p:spTgt spid="47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0" dur="500"/>
                                        <p:tgtEl>
                                          <p:spTgt spid="47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7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6" grpId="0"/>
      <p:bldP spid="471047" grpId="0"/>
      <p:bldP spid="471085" grpId="0" bldLvl="0" animBg="1"/>
      <p:bldP spid="471086" grpId="0" bldLvl="0" animBg="1"/>
      <p:bldP spid="471090" grpId="0" bldLvl="0" animBg="1"/>
      <p:bldP spid="471102" grpId="0" bldLvl="0" animBg="1"/>
      <p:bldP spid="471103" grpId="0"/>
      <p:bldP spid="471104" grpId="0"/>
      <p:bldP spid="471105" grpId="0"/>
      <p:bldP spid="471106" grpId="0"/>
      <p:bldP spid="4711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129" name="文本框 473128"/>
          <p:cNvSpPr txBox="1"/>
          <p:nvPr/>
        </p:nvSpPr>
        <p:spPr>
          <a:xfrm>
            <a:off x="1373188" y="458788"/>
            <a:ext cx="25733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 baseline="-14000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f  </a:t>
            </a:r>
            <a:r>
              <a:rPr lang="en-US" altLang="zh-CN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·</a:t>
            </a:r>
            <a:r>
              <a:rPr lang="en-US" altLang="zh-CN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lang="en-US" altLang="zh-CN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·</a:t>
            </a:r>
            <a:r>
              <a:rPr lang="en-US" altLang="zh-CN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= F</a:t>
            </a:r>
            <a:r>
              <a:rPr lang="en-US" altLang="zh-CN" baseline="-14000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·</a:t>
            </a:r>
            <a:r>
              <a:rPr lang="en-US" altLang="zh-CN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endParaRPr lang="en-US" altLang="zh-CN" i="1">
              <a:solidFill>
                <a:srgbClr val="00206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112" name="文本框 473111"/>
          <p:cNvSpPr txBox="1"/>
          <p:nvPr/>
        </p:nvSpPr>
        <p:spPr>
          <a:xfrm>
            <a:off x="1373505" y="417195"/>
            <a:ext cx="2527300" cy="42989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 baseline="-1400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= F</a:t>
            </a:r>
            <a:r>
              <a:rPr lang="en-US" altLang="zh-CN" baseline="-1400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aseline="-2500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– </a:t>
            </a: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i="1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3090" name="动作按钮: 后退或前一项 473089">
            <a:hlinkClick r:id="" action="ppaction://hlinkshowjump?jump=previousslide"/>
          </p:cNvPr>
          <p:cNvSpPr/>
          <p:nvPr/>
        </p:nvSpPr>
        <p:spPr>
          <a:xfrm>
            <a:off x="8001000" y="6400800"/>
            <a:ext cx="457200" cy="381000"/>
          </a:xfrm>
          <a:prstGeom prst="actionButtonBackPrevious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prstShdw prst="shdw17" dist="17961" dir="2699999">
              <a:srgbClr val="FFFF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3091" name="动作按钮: 后退或前一项 473090">
            <a:hlinkClick r:id="" action="ppaction://hlinkshowjump?jump=nextslide"/>
          </p:cNvPr>
          <p:cNvSpPr/>
          <p:nvPr/>
        </p:nvSpPr>
        <p:spPr>
          <a:xfrm flipH="1">
            <a:off x="8610600" y="6400800"/>
            <a:ext cx="381000" cy="381000"/>
          </a:xfrm>
          <a:prstGeom prst="actionButtonBackPrevious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prstShdw prst="shdw17" dist="17961" dir="2699999">
              <a:srgbClr val="FFFF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3093" name="文本框 473092"/>
          <p:cNvSpPr txBox="1"/>
          <p:nvPr/>
        </p:nvSpPr>
        <p:spPr>
          <a:xfrm>
            <a:off x="3470275" y="462280"/>
            <a:ext cx="340741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2500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zh-CN" altLang="en-US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有效拉力，即圆周力</a:t>
            </a:r>
            <a:r>
              <a:rPr lang="zh-CN" altLang="en-US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 i="1">
              <a:solidFill>
                <a:srgbClr val="00206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094" name="文本框 473093"/>
          <p:cNvSpPr txBox="1"/>
          <p:nvPr/>
        </p:nvSpPr>
        <p:spPr>
          <a:xfrm>
            <a:off x="660400" y="990600"/>
            <a:ext cx="67056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带是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线弹性体，工作后可认为其总长度不变，则：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095" name="文本框 473094"/>
          <p:cNvSpPr txBox="1"/>
          <p:nvPr/>
        </p:nvSpPr>
        <p:spPr>
          <a:xfrm>
            <a:off x="1562100" y="1447800"/>
            <a:ext cx="464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紧边拉伸增量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≈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松边拉伸减量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096" name="文本框 473095"/>
          <p:cNvSpPr txBox="1"/>
          <p:nvPr/>
        </p:nvSpPr>
        <p:spPr>
          <a:xfrm>
            <a:off x="1562100" y="1981200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紧边拉力增量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≈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松边拉力减量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097" name="文本框 473096"/>
          <p:cNvSpPr txBox="1"/>
          <p:nvPr/>
        </p:nvSpPr>
        <p:spPr>
          <a:xfrm>
            <a:off x="342900" y="2514600"/>
            <a:ext cx="1270000" cy="457200"/>
          </a:xfrm>
          <a:prstGeom prst="rect">
            <a:avLst/>
          </a:prstGeom>
          <a:noFill/>
          <a:ln w="9525"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因此：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098" name="文本框 473097"/>
          <p:cNvSpPr txBox="1"/>
          <p:nvPr/>
        </p:nvSpPr>
        <p:spPr>
          <a:xfrm>
            <a:off x="1714500" y="2514600"/>
            <a:ext cx="25146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方正大黑简体" pitchFamily="2" charset="-122"/>
              </a:rPr>
              <a:t>＝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△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i="1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3099" name="文本框 473098"/>
          <p:cNvSpPr txBox="1"/>
          <p:nvPr/>
        </p:nvSpPr>
        <p:spPr>
          <a:xfrm>
            <a:off x="1714500" y="2971800"/>
            <a:ext cx="25146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方正大黑简体" pitchFamily="2" charset="-122"/>
              </a:rPr>
              <a:t>＝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△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baseline="-25000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3100" name="右大括号 473099"/>
          <p:cNvSpPr/>
          <p:nvPr/>
        </p:nvSpPr>
        <p:spPr>
          <a:xfrm>
            <a:off x="3848100" y="2667000"/>
            <a:ext cx="152400" cy="609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3101" name="右箭头 473100"/>
          <p:cNvSpPr/>
          <p:nvPr/>
        </p:nvSpPr>
        <p:spPr>
          <a:xfrm>
            <a:off x="4152900" y="2819400"/>
            <a:ext cx="609600" cy="22860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3102" name="文本框 473101"/>
          <p:cNvSpPr txBox="1"/>
          <p:nvPr/>
        </p:nvSpPr>
        <p:spPr>
          <a:xfrm>
            <a:off x="4838700" y="2667000"/>
            <a:ext cx="30480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－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方正大黑简体" pitchFamily="2" charset="-122"/>
              </a:rPr>
              <a:t>＝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－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3103" name="文本框 473102"/>
          <p:cNvSpPr txBox="1"/>
          <p:nvPr/>
        </p:nvSpPr>
        <p:spPr>
          <a:xfrm>
            <a:off x="1714500" y="4038600"/>
            <a:ext cx="25146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2060"/>
                </a:solidFill>
                <a:latin typeface="Times New Roman" panose="02020603050405020304" pitchFamily="18" charset="0"/>
                <a:ea typeface="方正大黑简体" pitchFamily="2" charset="-122"/>
              </a:rPr>
              <a:t>＝ 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endParaRPr lang="en-US" altLang="zh-CN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3104" name="文本框 473103"/>
          <p:cNvSpPr txBox="1"/>
          <p:nvPr/>
        </p:nvSpPr>
        <p:spPr>
          <a:xfrm>
            <a:off x="1714500" y="4495800"/>
            <a:ext cx="25146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2060"/>
                </a:solidFill>
                <a:latin typeface="Times New Roman" panose="02020603050405020304" pitchFamily="18" charset="0"/>
                <a:ea typeface="方正大黑简体" pitchFamily="2" charset="-122"/>
              </a:rPr>
              <a:t>＝ 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14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endParaRPr lang="en-US" altLang="zh-CN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3105" name="文本框 473104"/>
          <p:cNvSpPr txBox="1"/>
          <p:nvPr/>
        </p:nvSpPr>
        <p:spPr>
          <a:xfrm>
            <a:off x="419100" y="3505200"/>
            <a:ext cx="31496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由 </a:t>
            </a:r>
            <a:r>
              <a:rPr lang="en-US" altLang="zh-CN" i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250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en-US" altLang="zh-CN" i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=  F</a:t>
            </a:r>
            <a:r>
              <a:rPr lang="en-US" altLang="zh-CN" baseline="-140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aseline="-250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– </a:t>
            </a:r>
            <a:r>
              <a:rPr lang="en-US" altLang="zh-CN" i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，得：</a:t>
            </a:r>
            <a:endParaRPr lang="zh-CN" altLang="en-US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106" name="左大括号 473105"/>
          <p:cNvSpPr/>
          <p:nvPr/>
        </p:nvSpPr>
        <p:spPr>
          <a:xfrm>
            <a:off x="1562100" y="4191000"/>
            <a:ext cx="228600" cy="609600"/>
          </a:xfrm>
          <a:prstGeom prst="leftBrace">
            <a:avLst>
              <a:gd name="adj1" fmla="val 22222"/>
              <a:gd name="adj2" fmla="val 50000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3107" name="文本框 473106"/>
          <p:cNvSpPr txBox="1"/>
          <p:nvPr/>
        </p:nvSpPr>
        <p:spPr>
          <a:xfrm>
            <a:off x="4356100" y="3441700"/>
            <a:ext cx="3175000" cy="457200"/>
          </a:xfrm>
          <a:prstGeom prst="rect">
            <a:avLst/>
          </a:prstGeom>
          <a:noFill/>
          <a:ln w="9525"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带所传递的功率为：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108" name="文本框 473107"/>
          <p:cNvSpPr txBox="1"/>
          <p:nvPr/>
        </p:nvSpPr>
        <p:spPr>
          <a:xfrm>
            <a:off x="7226300" y="42672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为带速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109" name="文本框 473108"/>
          <p:cNvSpPr txBox="1"/>
          <p:nvPr/>
        </p:nvSpPr>
        <p:spPr>
          <a:xfrm>
            <a:off x="622300" y="5130800"/>
            <a:ext cx="80899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增大时， 所需的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2500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1400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加大。但</a:t>
            </a:r>
            <a:r>
              <a:rPr lang="en-US" altLang="zh-CN" i="1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1400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2500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不可能无限增大。</a:t>
            </a:r>
            <a:endParaRPr lang="zh-CN" altLang="en-US" dirty="0">
              <a:solidFill>
                <a:srgbClr val="00206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110" name="右箭头 473109"/>
          <p:cNvSpPr/>
          <p:nvPr/>
        </p:nvSpPr>
        <p:spPr>
          <a:xfrm>
            <a:off x="876300" y="2057400"/>
            <a:ext cx="609600" cy="22860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45791" dir="3378595" algn="ctr" rotWithShape="0">
              <a:schemeClr val="tx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3111" name="文本框 473110"/>
          <p:cNvSpPr txBox="1"/>
          <p:nvPr/>
        </p:nvSpPr>
        <p:spPr>
          <a:xfrm>
            <a:off x="762000" y="457200"/>
            <a:ext cx="750888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 baseline="-25000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i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endParaRPr lang="en-US" altLang="zh-CN" i="1">
              <a:solidFill>
                <a:srgbClr val="00206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73113" name="对象 473112"/>
          <p:cNvGraphicFramePr/>
          <p:nvPr/>
        </p:nvGraphicFramePr>
        <p:xfrm>
          <a:off x="4820762" y="4050507"/>
          <a:ext cx="2244725" cy="890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90600" imgH="393700" progId="Equation.3">
                  <p:embed/>
                </p:oleObj>
              </mc:Choice>
              <mc:Fallback>
                <p:oleObj name="" r:id="rId1" imgW="990600" imgH="3937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20762" y="4050507"/>
                        <a:ext cx="2244725" cy="89090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114" name="文本框 473113"/>
          <p:cNvSpPr txBox="1"/>
          <p:nvPr/>
        </p:nvSpPr>
        <p:spPr>
          <a:xfrm>
            <a:off x="5753100" y="1993900"/>
            <a:ext cx="14224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＝ 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△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en-US" altLang="zh-CN" baseline="-25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3115" name="文本框 473114"/>
          <p:cNvSpPr txBox="1"/>
          <p:nvPr/>
        </p:nvSpPr>
        <p:spPr>
          <a:xfrm>
            <a:off x="622300" y="5638800"/>
            <a:ext cx="769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当要求的圆周力大于最大摩擦力时，带传动将出现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打滑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3116" name="组合 473115"/>
          <p:cNvGrpSpPr/>
          <p:nvPr/>
        </p:nvGrpSpPr>
        <p:grpSpPr>
          <a:xfrm>
            <a:off x="7198360" y="269875"/>
            <a:ext cx="1676400" cy="2159000"/>
            <a:chOff x="4712" y="176"/>
            <a:chExt cx="1056" cy="1360"/>
          </a:xfrm>
        </p:grpSpPr>
        <p:grpSp>
          <p:nvGrpSpPr>
            <p:cNvPr id="473117" name="组合 473116"/>
            <p:cNvGrpSpPr/>
            <p:nvPr/>
          </p:nvGrpSpPr>
          <p:grpSpPr>
            <a:xfrm>
              <a:off x="4712" y="176"/>
              <a:ext cx="1056" cy="1360"/>
              <a:chOff x="4712" y="176"/>
              <a:chExt cx="1056" cy="1360"/>
            </a:xfrm>
          </p:grpSpPr>
          <p:grpSp>
            <p:nvGrpSpPr>
              <p:cNvPr id="473118" name="组合 473117"/>
              <p:cNvGrpSpPr/>
              <p:nvPr/>
            </p:nvGrpSpPr>
            <p:grpSpPr>
              <a:xfrm>
                <a:off x="4712" y="176"/>
                <a:ext cx="1056" cy="1360"/>
                <a:chOff x="4712" y="176"/>
                <a:chExt cx="1056" cy="1360"/>
              </a:xfrm>
            </p:grpSpPr>
            <p:sp>
              <p:nvSpPr>
                <p:cNvPr id="473119" name="椭圆 473118"/>
                <p:cNvSpPr/>
                <p:nvPr/>
              </p:nvSpPr>
              <p:spPr>
                <a:xfrm>
                  <a:off x="4944" y="480"/>
                  <a:ext cx="576" cy="624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3120" name="直接连接符 473119"/>
                <p:cNvSpPr/>
                <p:nvPr/>
              </p:nvSpPr>
              <p:spPr>
                <a:xfrm flipV="1">
                  <a:off x="5121" y="324"/>
                  <a:ext cx="465" cy="177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sm" len="lg"/>
                </a:ln>
              </p:spPr>
            </p:sp>
            <p:sp>
              <p:nvSpPr>
                <p:cNvPr id="473121" name="直接连接符 473120"/>
                <p:cNvSpPr/>
                <p:nvPr/>
              </p:nvSpPr>
              <p:spPr>
                <a:xfrm>
                  <a:off x="5142" y="1086"/>
                  <a:ext cx="576" cy="192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sm" len="lg"/>
                </a:ln>
              </p:spPr>
            </p:sp>
            <p:sp>
              <p:nvSpPr>
                <p:cNvPr id="473122" name="任意多边形 473121"/>
                <p:cNvSpPr/>
                <p:nvPr/>
              </p:nvSpPr>
              <p:spPr>
                <a:xfrm rot="2148117" flipH="1" flipV="1">
                  <a:off x="4821" y="714"/>
                  <a:ext cx="219" cy="228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270">
                      <a:pos x="0" y="0"/>
                    </a:cxn>
                    <a:cxn ang="90">
                      <a:pos x="21600" y="21600"/>
                    </a:cxn>
                    <a:cxn ang="90">
                      <a:pos x="0" y="2160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0" y="0"/>
                      </a:moveTo>
                      <a:arcTo wR="21600" hR="21600" stAng="-5400000" swAng="5400000"/>
                    </a:path>
                    <a:path w="21600" h="21600" stroke="0">
                      <a:moveTo>
                        <a:pt x="0" y="0"/>
                      </a:moveTo>
                      <a:arcTo wR="21600" hR="21600" stAng="-5400000" swAng="5400000"/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3123" name="文本框 473122"/>
                <p:cNvSpPr txBox="1"/>
                <p:nvPr/>
              </p:nvSpPr>
              <p:spPr>
                <a:xfrm>
                  <a:off x="5344" y="1248"/>
                  <a:ext cx="424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i="1">
                      <a:solidFill>
                        <a:srgbClr val="FF0000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方正大黑简体" pitchFamily="2" charset="-122"/>
                    </a:rPr>
                    <a:t>F</a:t>
                  </a:r>
                  <a:r>
                    <a:rPr lang="en-US" altLang="zh-CN" baseline="-12000">
                      <a:solidFill>
                        <a:srgbClr val="FF0000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方正大黑简体" pitchFamily="2" charset="-122"/>
                    </a:rPr>
                    <a:t>1</a:t>
                  </a:r>
                  <a:endParaRPr lang="en-US" altLang="zh-CN" baseline="-12000">
                    <a:solidFill>
                      <a:srgbClr val="FF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方正大黑简体" pitchFamily="2" charset="-122"/>
                  </a:endParaRPr>
                </a:p>
              </p:txBody>
            </p:sp>
            <p:sp>
              <p:nvSpPr>
                <p:cNvPr id="473124" name="文本框 473123"/>
                <p:cNvSpPr txBox="1"/>
                <p:nvPr/>
              </p:nvSpPr>
              <p:spPr>
                <a:xfrm>
                  <a:off x="5096" y="176"/>
                  <a:ext cx="360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i="1">
                      <a:solidFill>
                        <a:srgbClr val="FF0000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方正大黑简体" pitchFamily="2" charset="-122"/>
                    </a:rPr>
                    <a:t>F</a:t>
                  </a:r>
                  <a:r>
                    <a:rPr lang="en-US" altLang="zh-CN" baseline="-12000">
                      <a:solidFill>
                        <a:srgbClr val="FF0000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方正大黑简体" pitchFamily="2" charset="-122"/>
                    </a:rPr>
                    <a:t>2</a:t>
                  </a:r>
                  <a:endParaRPr lang="en-US" altLang="zh-CN" baseline="-12000">
                    <a:solidFill>
                      <a:srgbClr val="FF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方正大黑简体" pitchFamily="2" charset="-122"/>
                  </a:endParaRPr>
                </a:p>
              </p:txBody>
            </p:sp>
            <p:sp>
              <p:nvSpPr>
                <p:cNvPr id="473125" name="文本框 473124"/>
                <p:cNvSpPr txBox="1"/>
                <p:nvPr/>
              </p:nvSpPr>
              <p:spPr>
                <a:xfrm>
                  <a:off x="4712" y="416"/>
                  <a:ext cx="392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i="1">
                      <a:solidFill>
                        <a:srgbClr val="FF0000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方正大黑简体" pitchFamily="2" charset="-122"/>
                    </a:rPr>
                    <a:t>F</a:t>
                  </a:r>
                  <a:r>
                    <a:rPr lang="en-US" altLang="zh-CN" i="1" baseline="-12000">
                      <a:solidFill>
                        <a:srgbClr val="FF0000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方正大黑简体" pitchFamily="2" charset="-122"/>
                    </a:rPr>
                    <a:t>f</a:t>
                  </a:r>
                  <a:endParaRPr lang="en-US" altLang="zh-CN" i="1" baseline="-12000">
                    <a:solidFill>
                      <a:srgbClr val="FF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方正大黑简体" pitchFamily="2" charset="-122"/>
                  </a:endParaRPr>
                </a:p>
              </p:txBody>
            </p:sp>
          </p:grpSp>
          <p:sp>
            <p:nvSpPr>
              <p:cNvPr id="473126" name="文本框 473125"/>
              <p:cNvSpPr txBox="1"/>
              <p:nvPr/>
            </p:nvSpPr>
            <p:spPr>
              <a:xfrm>
                <a:off x="5152" y="508"/>
                <a:ext cx="192" cy="40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3600">
                    <a:latin typeface="Times New Roman" panose="02020603050405020304" pitchFamily="18" charset="0"/>
                    <a:ea typeface="方正大黑简体" pitchFamily="2" charset="-122"/>
                  </a:rPr>
                  <a:t>.</a:t>
                </a:r>
                <a:endParaRPr lang="en-US" altLang="zh-CN" sz="3600">
                  <a:latin typeface="Times New Roman" panose="02020603050405020304" pitchFamily="18" charset="0"/>
                  <a:ea typeface="方正大黑简体" pitchFamily="2" charset="-122"/>
                </a:endParaRPr>
              </a:p>
            </p:txBody>
          </p:sp>
        </p:grpSp>
        <p:sp>
          <p:nvSpPr>
            <p:cNvPr id="473127" name="直接连接符 473126"/>
            <p:cNvSpPr/>
            <p:nvPr/>
          </p:nvSpPr>
          <p:spPr>
            <a:xfrm flipV="1">
              <a:off x="5244" y="585"/>
              <a:ext cx="204" cy="207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3128" name="文本框 473127"/>
            <p:cNvSpPr txBox="1"/>
            <p:nvPr/>
          </p:nvSpPr>
          <p:spPr>
            <a:xfrm rot="-2667090">
              <a:off x="5166" y="498"/>
              <a:ext cx="176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i="1">
                  <a:latin typeface="Times New Roman" panose="02020603050405020304" pitchFamily="18" charset="0"/>
                  <a:ea typeface="方正大黑简体" pitchFamily="2" charset="-122"/>
                </a:rPr>
                <a:t>r</a:t>
              </a:r>
              <a:endParaRPr lang="en-US" altLang="zh-CN" i="1">
                <a:latin typeface="Times New Roman" panose="02020603050405020304" pitchFamily="18" charset="0"/>
                <a:ea typeface="方正大黑简体" pitchFamily="2" charset="-122"/>
              </a:endParaRPr>
            </a:p>
          </p:txBody>
        </p:sp>
      </p:grpSp>
      <p:grpSp>
        <p:nvGrpSpPr>
          <p:cNvPr id="473133" name="组合 473132"/>
          <p:cNvGrpSpPr/>
          <p:nvPr/>
        </p:nvGrpSpPr>
        <p:grpSpPr>
          <a:xfrm>
            <a:off x="7635558" y="1706563"/>
            <a:ext cx="515938" cy="579437"/>
            <a:chOff x="4825" y="1073"/>
            <a:chExt cx="325" cy="365"/>
          </a:xfrm>
        </p:grpSpPr>
        <p:sp>
          <p:nvSpPr>
            <p:cNvPr id="473131" name="直接连接符 473130"/>
            <p:cNvSpPr/>
            <p:nvPr/>
          </p:nvSpPr>
          <p:spPr>
            <a:xfrm flipH="1" flipV="1">
              <a:off x="4848" y="1102"/>
              <a:ext cx="302" cy="11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3132" name="文本框 473131"/>
            <p:cNvSpPr txBox="1"/>
            <p:nvPr/>
          </p:nvSpPr>
          <p:spPr>
            <a:xfrm>
              <a:off x="4825" y="1073"/>
              <a:ext cx="23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sz="3200" i="1" baseline="-14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3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3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75"/>
                                        <p:tgtEl>
                                          <p:spTgt spid="47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47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73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73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47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47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73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73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2" dur="500"/>
                                        <p:tgtEl>
                                          <p:spTgt spid="47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6" dur="500"/>
                                        <p:tgtEl>
                                          <p:spTgt spid="47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0" dur="500"/>
                                        <p:tgtEl>
                                          <p:spTgt spid="47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5" dur="75"/>
                                        <p:tgtEl>
                                          <p:spTgt spid="47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7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5" dur="500"/>
                                        <p:tgtEl>
                                          <p:spTgt spid="47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7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47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47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129" grpId="1"/>
      <p:bldP spid="473112" grpId="0" bldLvl="0" animBg="1"/>
      <p:bldP spid="473093" grpId="0"/>
      <p:bldP spid="473094" grpId="0"/>
      <p:bldP spid="473095" grpId="0"/>
      <p:bldP spid="473096" grpId="0"/>
      <p:bldP spid="473097" grpId="0" bldLvl="0" animBg="1"/>
      <p:bldP spid="473098" grpId="0"/>
      <p:bldP spid="473099" grpId="0"/>
      <p:bldP spid="473102" grpId="0"/>
      <p:bldP spid="473103" grpId="0"/>
      <p:bldP spid="473104" grpId="0"/>
      <p:bldP spid="473105" grpId="0"/>
      <p:bldP spid="473107" grpId="0" bldLvl="0" animBg="1"/>
      <p:bldP spid="473108" grpId="0"/>
      <p:bldP spid="473109" grpId="0"/>
      <p:bldP spid="473111" grpId="0"/>
      <p:bldP spid="473114" grpId="0"/>
      <p:bldP spid="4731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41" name="文本框 475140"/>
          <p:cNvSpPr txBox="1"/>
          <p:nvPr/>
        </p:nvSpPr>
        <p:spPr>
          <a:xfrm>
            <a:off x="2971800" y="2286000"/>
            <a:ext cx="426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－摩擦系数；</a:t>
            </a:r>
            <a:r>
              <a:rPr lang="en-US" altLang="zh-CN" i="1">
                <a:latin typeface="Times New Roman" panose="02020603050405020304" pitchFamily="18" charset="0"/>
                <a:ea typeface="方正舒体" panose="02010601030101010101" pitchFamily="2" charset="-122"/>
              </a:rPr>
              <a:t>α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－带轮包角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5142" name="文本框 475141"/>
          <p:cNvSpPr txBox="1"/>
          <p:nvPr/>
        </p:nvSpPr>
        <p:spPr>
          <a:xfrm>
            <a:off x="762000" y="457200"/>
            <a:ext cx="8229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达到极限值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en-US" altLang="zh-CN" baseline="-14000" err="1">
                <a:latin typeface="Times New Roman" panose="02020603050405020304" pitchFamily="18" charset="0"/>
                <a:ea typeface="黑体" panose="02010609060101010101" pitchFamily="49" charset="-122"/>
              </a:rPr>
              <a:t>lim</a:t>
            </a:r>
            <a:r>
              <a:rPr lang="en-US" altLang="zh-CN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时，带传动处于即将打滑的临界状态。此时， </a:t>
            </a:r>
            <a:r>
              <a:rPr lang="en-US" altLang="zh-CN" i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baseline="-25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达到最大，而</a:t>
            </a:r>
            <a:r>
              <a:rPr lang="en-US" altLang="zh-CN" i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baseline="-14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达到最小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5143" name="文本框 475142"/>
          <p:cNvSpPr txBox="1"/>
          <p:nvPr/>
        </p:nvSpPr>
        <p:spPr>
          <a:xfrm>
            <a:off x="749300" y="1828800"/>
            <a:ext cx="805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带传动即将打滑时，可推出古典的柔韧体摩擦欧拉公式：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75145" name="对象 475144"/>
          <p:cNvGraphicFramePr/>
          <p:nvPr/>
        </p:nvGraphicFramePr>
        <p:xfrm>
          <a:off x="974725" y="2260600"/>
          <a:ext cx="1728788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584200" imgH="431800" progId="Equation.3">
                  <p:embed/>
                </p:oleObj>
              </mc:Choice>
              <mc:Fallback>
                <p:oleObj name="" r:id="rId1" imgW="584200" imgH="431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4725" y="2260600"/>
                        <a:ext cx="1728788" cy="127317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9EE256"/>
                          </a:gs>
                          <a:gs pos="100000">
                            <a:srgbClr val="52762D"/>
                          </a:gs>
                        </a:gsLst>
                        <a:lin ang="5400000" scaled="0"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46" name="文本框 475145"/>
          <p:cNvSpPr txBox="1"/>
          <p:nvPr/>
        </p:nvSpPr>
        <p:spPr>
          <a:xfrm>
            <a:off x="2844800" y="2781300"/>
            <a:ext cx="61087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欧拉公式反映了带传动丧失工作能力之前，紧边、松边拉力的最大比值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5147" name="文本框 475146"/>
          <p:cNvSpPr txBox="1"/>
          <p:nvPr/>
        </p:nvSpPr>
        <p:spPr>
          <a:xfrm>
            <a:off x="381000" y="3733800"/>
            <a:ext cx="1384300" cy="457200"/>
          </a:xfrm>
          <a:prstGeom prst="rect">
            <a:avLst/>
          </a:prstGeom>
          <a:noFill/>
          <a:ln w="9525"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那么：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5148" name="文本框 475147"/>
          <p:cNvSpPr txBox="1"/>
          <p:nvPr/>
        </p:nvSpPr>
        <p:spPr>
          <a:xfrm>
            <a:off x="1676400" y="3733800"/>
            <a:ext cx="64008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en-US" altLang="zh-CN" baseline="-14000" err="1">
                <a:latin typeface="Times New Roman" panose="02020603050405020304" pitchFamily="18" charset="0"/>
                <a:ea typeface="黑体" panose="02010609060101010101" pitchFamily="49" charset="-122"/>
              </a:rPr>
              <a:t>lim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= F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–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＝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－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 baseline="30000">
                <a:latin typeface="Times New Roman" panose="02020603050405020304" pitchFamily="18" charset="0"/>
                <a:ea typeface="方正舒体" panose="02010601030101010101" pitchFamily="2" charset="-122"/>
              </a:rPr>
              <a:t>α</a:t>
            </a:r>
            <a:r>
              <a:rPr lang="en-US" altLang="zh-CN" i="1" baseline="30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＝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(1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1/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i="1" baseline="30000">
                <a:latin typeface="Times New Roman" panose="02020603050405020304" pitchFamily="18" charset="0"/>
                <a:ea typeface="方正舒体" panose="02010601030101010101" pitchFamily="2" charset="-122"/>
              </a:rPr>
              <a:t>α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5149" name="文本框 475148"/>
          <p:cNvSpPr txBox="1"/>
          <p:nvPr/>
        </p:nvSpPr>
        <p:spPr>
          <a:xfrm>
            <a:off x="2133600" y="4267200"/>
            <a:ext cx="624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14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en-US" altLang="zh-CN" baseline="-14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lim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－ 此时为不打滑时的最大有效拉力，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5150" name="文本框 475149"/>
          <p:cNvSpPr txBox="1"/>
          <p:nvPr/>
        </p:nvSpPr>
        <p:spPr>
          <a:xfrm>
            <a:off x="457200" y="5410200"/>
            <a:ext cx="4178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＝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＋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/2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代入上式：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75151" name="对象 475150"/>
          <p:cNvGraphicFramePr/>
          <p:nvPr/>
        </p:nvGraphicFramePr>
        <p:xfrm>
          <a:off x="3808413" y="5238750"/>
          <a:ext cx="4573587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942465" imgH="431800" progId="Equation.3">
                  <p:embed/>
                </p:oleObj>
              </mc:Choice>
              <mc:Fallback>
                <p:oleObj name="" r:id="rId3" imgW="1942465" imgH="431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8413" y="5238750"/>
                        <a:ext cx="4573587" cy="9239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52" name="文本框 475151"/>
          <p:cNvSpPr txBox="1"/>
          <p:nvPr/>
        </p:nvSpPr>
        <p:spPr>
          <a:xfrm>
            <a:off x="2133600" y="4724400"/>
            <a:ext cx="54102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正常工作时，应使有效拉力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en-US" altLang="zh-CN" i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＜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i="1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en-US" altLang="zh-CN" baseline="-14000" err="1">
                <a:latin typeface="Times New Roman" panose="02020603050405020304" pitchFamily="18" charset="0"/>
                <a:ea typeface="黑体" panose="02010609060101010101" pitchFamily="49" charset="-122"/>
              </a:rPr>
              <a:t>lim</a:t>
            </a:r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7995" y="1273175"/>
          <a:ext cx="862965" cy="53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330200" imgH="241300" progId="Equation.KSEE3">
                  <p:embed/>
                </p:oleObj>
              </mc:Choice>
              <mc:Fallback>
                <p:oleObj name="" r:id="rId5" imgW="3302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995" y="1273175"/>
                        <a:ext cx="862965" cy="538480"/>
                      </a:xfrm>
                      <a:prstGeom prst="rect">
                        <a:avLst/>
                      </a:prstGeom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75"/>
                                        <p:tgtEl>
                                          <p:spTgt spid="47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7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7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7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5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5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47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4" dur="500"/>
                                        <p:tgtEl>
                                          <p:spTgt spid="47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47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7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1" grpId="0"/>
      <p:bldP spid="475142" grpId="0"/>
      <p:bldP spid="475143" grpId="0"/>
      <p:bldP spid="475146" grpId="0"/>
      <p:bldP spid="475147" grpId="0" bldLvl="0" animBg="1"/>
      <p:bldP spid="475148" grpId="0" bldLvl="0" animBg="1"/>
      <p:bldP spid="475149" grpId="0"/>
      <p:bldP spid="475150" grpId="0"/>
      <p:bldP spid="4751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9" name="文本框 477188"/>
          <p:cNvSpPr txBox="1"/>
          <p:nvPr/>
        </p:nvSpPr>
        <p:spPr>
          <a:xfrm>
            <a:off x="609600" y="457200"/>
            <a:ext cx="2082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整理后得：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7190" name="文本框 477189"/>
          <p:cNvSpPr txBox="1"/>
          <p:nvPr/>
        </p:nvSpPr>
        <p:spPr>
          <a:xfrm>
            <a:off x="504190" y="1450340"/>
            <a:ext cx="4991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影响最大有效拉力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的几个因素：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7191" name="组合 477190"/>
          <p:cNvGrpSpPr/>
          <p:nvPr/>
        </p:nvGrpSpPr>
        <p:grpSpPr>
          <a:xfrm>
            <a:off x="669290" y="2117090"/>
            <a:ext cx="2438400" cy="457200"/>
            <a:chOff x="384" y="1152"/>
            <a:chExt cx="1296" cy="288"/>
          </a:xfrm>
        </p:grpSpPr>
        <p:sp>
          <p:nvSpPr>
            <p:cNvPr id="477192" name="燕尾形 477191"/>
            <p:cNvSpPr/>
            <p:nvPr/>
          </p:nvSpPr>
          <p:spPr>
            <a:xfrm>
              <a:off x="384" y="1200"/>
              <a:ext cx="240" cy="144"/>
            </a:xfrm>
            <a:prstGeom prst="chevron">
              <a:avLst>
                <a:gd name="adj" fmla="val 41666"/>
              </a:avLst>
            </a:prstGeom>
            <a:solidFill>
              <a:srgbClr val="33CCCC"/>
            </a:solidFill>
            <a:ln w="317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7193" name="文本框 477192"/>
            <p:cNvSpPr txBox="1"/>
            <p:nvPr/>
          </p:nvSpPr>
          <p:spPr>
            <a:xfrm>
              <a:off x="672" y="1152"/>
              <a:ext cx="10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初拉力</a:t>
              </a:r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F</a:t>
              </a:r>
              <a:r>
                <a:rPr lang="en-US" altLang="zh-CN" baseline="-14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endParaRPr lang="zh-CN" altLang="en-US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477194" name="文本框 477193"/>
          <p:cNvSpPr txBox="1"/>
          <p:nvPr/>
        </p:nvSpPr>
        <p:spPr>
          <a:xfrm>
            <a:off x="2802890" y="2117090"/>
            <a:ext cx="6172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zh-CN" altLang="en-US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0 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成正比，增大</a:t>
            </a:r>
            <a:r>
              <a:rPr lang="en-US" altLang="zh-CN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25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有利于提高带的传动能力，避免打滑。</a:t>
            </a:r>
            <a:endParaRPr lang="zh-CN" altLang="en-US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7195" name="文本框 477194"/>
          <p:cNvSpPr txBox="1"/>
          <p:nvPr/>
        </p:nvSpPr>
        <p:spPr>
          <a:xfrm>
            <a:off x="2802890" y="2894965"/>
            <a:ext cx="6172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但</a:t>
            </a:r>
            <a:r>
              <a:rPr lang="en-US" altLang="zh-CN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baseline="-25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过大，将使带发热和磨损加剧，从而缩短带的寿命。</a:t>
            </a:r>
            <a:endParaRPr lang="zh-CN" altLang="en-US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7196" name="组合 477195"/>
          <p:cNvGrpSpPr/>
          <p:nvPr/>
        </p:nvGrpSpPr>
        <p:grpSpPr>
          <a:xfrm>
            <a:off x="669290" y="3717290"/>
            <a:ext cx="2057400" cy="519113"/>
            <a:chOff x="384" y="2160"/>
            <a:chExt cx="1296" cy="327"/>
          </a:xfrm>
        </p:grpSpPr>
        <p:sp>
          <p:nvSpPr>
            <p:cNvPr id="477197" name="燕尾形 477196"/>
            <p:cNvSpPr/>
            <p:nvPr/>
          </p:nvSpPr>
          <p:spPr>
            <a:xfrm>
              <a:off x="384" y="2256"/>
              <a:ext cx="240" cy="144"/>
            </a:xfrm>
            <a:prstGeom prst="chevron">
              <a:avLst>
                <a:gd name="adj" fmla="val 41666"/>
              </a:avLst>
            </a:prstGeom>
            <a:solidFill>
              <a:srgbClr val="33CCCC"/>
            </a:solidFill>
            <a:ln w="317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7198" name="文本框 477197"/>
            <p:cNvSpPr txBox="1"/>
            <p:nvPr/>
          </p:nvSpPr>
          <p:spPr>
            <a:xfrm>
              <a:off x="672" y="2160"/>
              <a:ext cx="10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包角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方正舒体" panose="02010601030101010101" pitchFamily="2" charset="-122"/>
                </a:rPr>
                <a:t>α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endParaRPr lang="zh-CN" altLang="en-US" i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477199" name="文本框 477198"/>
          <p:cNvSpPr txBox="1"/>
          <p:nvPr/>
        </p:nvSpPr>
        <p:spPr>
          <a:xfrm>
            <a:off x="4403090" y="3793490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带所能传递的圆周力增加，传动</a:t>
            </a:r>
            <a:endParaRPr lang="zh-CN" altLang="en-US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7200" name="文本框 477199"/>
          <p:cNvSpPr txBox="1"/>
          <p:nvPr/>
        </p:nvSpPr>
        <p:spPr>
          <a:xfrm>
            <a:off x="2345690" y="371729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方正大黑简体" pitchFamily="2" charset="-122"/>
              </a:rPr>
              <a:t> </a:t>
            </a:r>
            <a:r>
              <a:rPr lang="en-US" altLang="zh-CN" sz="2800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方正舒体" panose="02010601030101010101" pitchFamily="2" charset="-122"/>
              </a:rPr>
              <a:t>α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方正大黑简体" pitchFamily="2" charset="-122"/>
              </a:rPr>
              <a:t>↑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01" name="文本框 477200"/>
          <p:cNvSpPr txBox="1"/>
          <p:nvPr/>
        </p:nvSpPr>
        <p:spPr>
          <a:xfrm>
            <a:off x="3768090" y="379349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dist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方正大黑简体" pitchFamily="2" charset="-122"/>
              </a:rPr>
              <a:t>↑</a:t>
            </a:r>
            <a:r>
              <a:rPr lang="en-US" altLang="zh-CN">
                <a:latin typeface="Times New Roman" panose="02020603050405020304" pitchFamily="18" charset="0"/>
                <a:ea typeface="方正大黑简体" pitchFamily="2" charset="-122"/>
              </a:rPr>
              <a:t>,</a:t>
            </a:r>
            <a:endParaRPr lang="en-US" altLang="zh-CN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02" name="文本框 477201"/>
          <p:cNvSpPr txBox="1"/>
          <p:nvPr/>
        </p:nvSpPr>
        <p:spPr>
          <a:xfrm>
            <a:off x="3183890" y="379349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方正大黑简体" pitchFamily="2" charset="-122"/>
              </a:rPr>
              <a:t>→</a:t>
            </a:r>
            <a:r>
              <a:rPr lang="en-US" altLang="zh-CN" i="1">
                <a:latin typeface="Times New Roman" panose="02020603050405020304" pitchFamily="18" charset="0"/>
                <a:ea typeface="方正大黑简体" pitchFamily="2" charset="-122"/>
              </a:rPr>
              <a:t>F</a:t>
            </a:r>
            <a:endParaRPr lang="en-US" altLang="zh-CN" i="1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03" name="文本框 477202"/>
          <p:cNvSpPr txBox="1"/>
          <p:nvPr/>
        </p:nvSpPr>
        <p:spPr>
          <a:xfrm>
            <a:off x="2498090" y="4174490"/>
            <a:ext cx="6553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能力增强，故应保证小带轮的包角</a:t>
            </a:r>
            <a:r>
              <a:rPr lang="en-US" altLang="zh-CN" sz="2800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方正舒体" panose="02010601030101010101" pitchFamily="2" charset="-122"/>
              </a:rPr>
              <a:t>α</a:t>
            </a:r>
            <a:r>
              <a:rPr lang="en-US" altLang="zh-CN" baseline="-14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足够大。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7204" name="文本框 477203"/>
          <p:cNvSpPr txBox="1"/>
          <p:nvPr/>
        </p:nvSpPr>
        <p:spPr>
          <a:xfrm>
            <a:off x="2498090" y="4707890"/>
            <a:ext cx="655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这一要求限制了最大传动比 </a:t>
            </a:r>
            <a:r>
              <a:rPr lang="en-US" altLang="zh-CN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i 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和最小中心距 </a:t>
            </a:r>
            <a:r>
              <a:rPr lang="en-US" altLang="zh-CN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zh-CN" altLang="en-US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7205" name="文本框 477204"/>
          <p:cNvSpPr txBox="1"/>
          <p:nvPr/>
        </p:nvSpPr>
        <p:spPr>
          <a:xfrm>
            <a:off x="3260090" y="508889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方正大黑简体" pitchFamily="2" charset="-122"/>
              </a:rPr>
              <a:t> </a:t>
            </a:r>
            <a:r>
              <a:rPr lang="en-US" altLang="zh-CN" sz="2800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方正大黑简体" pitchFamily="2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方正大黑简体" pitchFamily="2" charset="-122"/>
              </a:rPr>
              <a:t>↑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06" name="文本框 477205"/>
          <p:cNvSpPr txBox="1"/>
          <p:nvPr/>
        </p:nvSpPr>
        <p:spPr>
          <a:xfrm>
            <a:off x="3717290" y="508889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方正大黑简体" pitchFamily="2" charset="-122"/>
              </a:rPr>
              <a:t>→</a:t>
            </a:r>
            <a:r>
              <a:rPr lang="en-US" altLang="zh-CN" sz="2800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方正舒体" panose="02010601030101010101" pitchFamily="2" charset="-122"/>
              </a:rPr>
              <a:t>α</a:t>
            </a:r>
            <a:r>
              <a:rPr lang="en-US" altLang="zh-CN" baseline="-14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endParaRPr lang="en-US" altLang="zh-CN" baseline="-1400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7207" name="文本框 477206"/>
          <p:cNvSpPr txBox="1"/>
          <p:nvPr/>
        </p:nvSpPr>
        <p:spPr>
          <a:xfrm>
            <a:off x="4479290" y="5165090"/>
            <a:ext cx="850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方正大黑简体" pitchFamily="2" charset="-122"/>
              </a:rPr>
              <a:t>↓</a:t>
            </a:r>
            <a:r>
              <a:rPr lang="en-US" altLang="zh-CN">
                <a:latin typeface="Times New Roman" panose="02020603050405020304" pitchFamily="18" charset="0"/>
                <a:ea typeface="方正大黑简体" pitchFamily="2" charset="-122"/>
              </a:rPr>
              <a:t>;</a:t>
            </a:r>
            <a:endParaRPr lang="en-US" altLang="zh-CN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08" name="文本框 477207"/>
          <p:cNvSpPr txBox="1"/>
          <p:nvPr/>
        </p:nvSpPr>
        <p:spPr>
          <a:xfrm>
            <a:off x="5317490" y="508889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方正大黑简体" pitchFamily="2" charset="-122"/>
              </a:rPr>
              <a:t> </a:t>
            </a:r>
            <a:r>
              <a:rPr lang="en-US" altLang="zh-CN" sz="2800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方正大黑简体" pitchFamily="2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方正大黑简体" pitchFamily="2" charset="-122"/>
              </a:rPr>
              <a:t>↓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09" name="文本框 477208"/>
          <p:cNvSpPr txBox="1"/>
          <p:nvPr/>
        </p:nvSpPr>
        <p:spPr>
          <a:xfrm>
            <a:off x="5774690" y="508889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方正大黑简体" pitchFamily="2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方正大黑简体" pitchFamily="2" charset="-122"/>
              </a:rPr>
              <a:t>→</a:t>
            </a:r>
            <a:r>
              <a:rPr lang="en-US" altLang="zh-CN" sz="2800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方正舒体" panose="02010601030101010101" pitchFamily="2" charset="-122"/>
              </a:rPr>
              <a:t>α</a:t>
            </a:r>
            <a:r>
              <a:rPr lang="en-US" altLang="zh-CN" baseline="-14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endParaRPr lang="en-US" altLang="zh-CN" baseline="-1400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7210" name="文本框 477209"/>
          <p:cNvSpPr txBox="1"/>
          <p:nvPr/>
        </p:nvSpPr>
        <p:spPr>
          <a:xfrm>
            <a:off x="6536690" y="511429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dist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方正大黑简体" pitchFamily="2" charset="-122"/>
              </a:rPr>
              <a:t>↓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11" name="文本框 477210"/>
          <p:cNvSpPr txBox="1"/>
          <p:nvPr/>
        </p:nvSpPr>
        <p:spPr>
          <a:xfrm>
            <a:off x="2498090" y="508889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因为：</a:t>
            </a:r>
            <a:endParaRPr lang="zh-CN" altLang="en-US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7212" name="组合 477211"/>
          <p:cNvGrpSpPr/>
          <p:nvPr/>
        </p:nvGrpSpPr>
        <p:grpSpPr>
          <a:xfrm>
            <a:off x="669290" y="5546090"/>
            <a:ext cx="3124200" cy="457200"/>
            <a:chOff x="384" y="3312"/>
            <a:chExt cx="1968" cy="288"/>
          </a:xfrm>
        </p:grpSpPr>
        <p:sp>
          <p:nvSpPr>
            <p:cNvPr id="477213" name="燕尾形 477212"/>
            <p:cNvSpPr/>
            <p:nvPr/>
          </p:nvSpPr>
          <p:spPr>
            <a:xfrm>
              <a:off x="384" y="3360"/>
              <a:ext cx="240" cy="144"/>
            </a:xfrm>
            <a:prstGeom prst="chevron">
              <a:avLst>
                <a:gd name="adj" fmla="val 41666"/>
              </a:avLst>
            </a:prstGeom>
            <a:solidFill>
              <a:srgbClr val="33CCCC"/>
            </a:solidFill>
            <a:ln w="317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7214" name="文本框 477213"/>
            <p:cNvSpPr txBox="1"/>
            <p:nvPr/>
          </p:nvSpPr>
          <p:spPr>
            <a:xfrm>
              <a:off x="672" y="3312"/>
              <a:ext cx="1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摩擦系数  </a:t>
              </a:r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f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endParaRPr lang="zh-CN" altLang="en-US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477215" name="文本框 477214"/>
          <p:cNvSpPr txBox="1"/>
          <p:nvPr/>
        </p:nvSpPr>
        <p:spPr>
          <a:xfrm>
            <a:off x="2879090" y="554609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ea typeface="方正大黑简体" pitchFamily="2" charset="-122"/>
              </a:rPr>
              <a:t>  </a:t>
            </a:r>
            <a:r>
              <a:rPr lang="en-US" altLang="zh-CN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方正大黑简体" pitchFamily="2" charset="-122"/>
              </a:rPr>
              <a:t>f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方正大黑简体" pitchFamily="2" charset="-122"/>
              </a:rPr>
              <a:t>↑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16" name="文本框 477215"/>
          <p:cNvSpPr txBox="1"/>
          <p:nvPr/>
        </p:nvSpPr>
        <p:spPr>
          <a:xfrm>
            <a:off x="4022090" y="5546090"/>
            <a:ext cx="109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方正大黑简体" pitchFamily="2" charset="-122"/>
              </a:rPr>
              <a:t>↑</a:t>
            </a:r>
            <a:r>
              <a:rPr lang="en-US" altLang="zh-CN">
                <a:latin typeface="Times New Roman" panose="02020603050405020304" pitchFamily="18" charset="0"/>
                <a:ea typeface="方正大黑简体" pitchFamily="2" charset="-122"/>
              </a:rPr>
              <a:t>,</a:t>
            </a:r>
            <a:endParaRPr lang="en-US" altLang="zh-CN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17" name="文本框 477216"/>
          <p:cNvSpPr txBox="1"/>
          <p:nvPr/>
        </p:nvSpPr>
        <p:spPr>
          <a:xfrm>
            <a:off x="3488690" y="554609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方正大黑简体" pitchFamily="2" charset="-122"/>
              </a:rPr>
              <a:t>→</a:t>
            </a:r>
            <a:r>
              <a:rPr lang="en-US" altLang="zh-CN" i="1">
                <a:latin typeface="Times New Roman" panose="02020603050405020304" pitchFamily="18" charset="0"/>
                <a:ea typeface="方正大黑简体" pitchFamily="2" charset="-122"/>
              </a:rPr>
              <a:t>F</a:t>
            </a:r>
            <a:endParaRPr lang="en-US" altLang="zh-CN" i="1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7218" name="文本框 477217"/>
          <p:cNvSpPr txBox="1"/>
          <p:nvPr/>
        </p:nvSpPr>
        <p:spPr>
          <a:xfrm>
            <a:off x="4784090" y="5546090"/>
            <a:ext cx="228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传动能力增加</a:t>
            </a:r>
            <a:endParaRPr lang="zh-CN" altLang="en-US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7219" name="文本框 477218"/>
          <p:cNvSpPr txBox="1"/>
          <p:nvPr/>
        </p:nvSpPr>
        <p:spPr>
          <a:xfrm>
            <a:off x="2498090" y="6003290"/>
            <a:ext cx="6083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对于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带传动，应采用当量摩擦系数  </a:t>
            </a:r>
            <a:r>
              <a:rPr lang="en-US" altLang="zh-CN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v 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计算</a:t>
            </a:r>
            <a:endParaRPr lang="zh-CN" altLang="en-US" baseline="-25000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77221" name="对象 477220"/>
          <p:cNvGraphicFramePr/>
          <p:nvPr/>
        </p:nvGraphicFramePr>
        <p:xfrm>
          <a:off x="2490947" y="203200"/>
          <a:ext cx="227457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77900" imgH="419100" progId="Equation.3">
                  <p:embed/>
                </p:oleObj>
              </mc:Choice>
              <mc:Fallback>
                <p:oleObj name="" r:id="rId1" imgW="977900" imgH="419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90947" y="203200"/>
                        <a:ext cx="2274570" cy="8858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solidFill>
                          <a:schemeClr val="bg2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7227" name="组合 477226"/>
          <p:cNvGrpSpPr/>
          <p:nvPr/>
        </p:nvGrpSpPr>
        <p:grpSpPr>
          <a:xfrm>
            <a:off x="5251450" y="120650"/>
            <a:ext cx="3676650" cy="1708150"/>
            <a:chOff x="3300" y="52"/>
            <a:chExt cx="2316" cy="1076"/>
          </a:xfrm>
        </p:grpSpPr>
        <p:pic>
          <p:nvPicPr>
            <p:cNvPr id="477220" name="图片 477219" descr="t14-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504" y="52"/>
              <a:ext cx="2112" cy="107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7222" name="直接连接符 477221"/>
            <p:cNvSpPr/>
            <p:nvPr/>
          </p:nvSpPr>
          <p:spPr>
            <a:xfrm flipH="1" flipV="1">
              <a:off x="3706" y="314"/>
              <a:ext cx="64" cy="212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7223" name="直接连接符 477222"/>
            <p:cNvSpPr/>
            <p:nvPr/>
          </p:nvSpPr>
          <p:spPr>
            <a:xfrm flipH="1">
              <a:off x="3702" y="574"/>
              <a:ext cx="64" cy="212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7224" name="任意多边形 477223"/>
            <p:cNvSpPr/>
            <p:nvPr/>
          </p:nvSpPr>
          <p:spPr>
            <a:xfrm rot="-2379887" flipH="1">
              <a:off x="3618" y="434"/>
              <a:ext cx="216" cy="258"/>
            </a:xfrm>
            <a:custGeom>
              <a:avLst/>
              <a:gdLst>
                <a:gd name="txL" fmla="*/ 0 w 21574"/>
                <a:gd name="txT" fmla="*/ 0 h 21600"/>
                <a:gd name="txR" fmla="*/ 21574 w 21574"/>
                <a:gd name="txB" fmla="*/ 21600 h 21600"/>
              </a:gdLst>
              <a:ahLst/>
              <a:cxnLst>
                <a:cxn ang="270">
                  <a:pos x="0" y="0"/>
                </a:cxn>
                <a:cxn ang="0">
                  <a:pos x="21574" y="20547"/>
                </a:cxn>
                <a:cxn ang="90">
                  <a:pos x="0" y="21600"/>
                </a:cxn>
              </a:cxnLst>
              <a:rect l="txL" t="txT" r="txR" b="txB"/>
              <a:pathLst>
                <a:path w="21574" h="21600" fill="none">
                  <a:moveTo>
                    <a:pt x="0" y="0"/>
                  </a:moveTo>
                  <a:arcTo wR="21600" hR="21600" stAng="-5400000" swAng="5232341"/>
                </a:path>
                <a:path w="21574" h="21600" stroke="0">
                  <a:moveTo>
                    <a:pt x="0" y="0"/>
                  </a:moveTo>
                  <a:arcTo wR="21600" hR="21600" stAng="-5400000" swAng="5232341"/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chemeClr val="bg2"/>
              </a:solidFill>
              <a:prstDash val="solid"/>
              <a:headEnd type="triangle" w="sm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7225" name="文本框 477224"/>
            <p:cNvSpPr txBox="1"/>
            <p:nvPr/>
          </p:nvSpPr>
          <p:spPr>
            <a:xfrm>
              <a:off x="3300" y="164"/>
              <a:ext cx="4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ea typeface="方正舒体" panose="02010601030101010101" pitchFamily="2" charset="-122"/>
                </a:rPr>
                <a:t>α</a:t>
              </a:r>
              <a:r>
                <a:rPr lang="en-US" altLang="zh-CN" sz="2000" baseline="-160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000" baseline="-160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77226" name="直接连接符 477225"/>
            <p:cNvSpPr/>
            <p:nvPr/>
          </p:nvSpPr>
          <p:spPr>
            <a:xfrm flipH="1" flipV="1">
              <a:off x="3480" y="384"/>
              <a:ext cx="177" cy="12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77228" name="文本框 477227"/>
          <p:cNvSpPr txBox="1"/>
          <p:nvPr/>
        </p:nvSpPr>
        <p:spPr>
          <a:xfrm>
            <a:off x="4633278" y="3269615"/>
            <a:ext cx="3641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故</a:t>
            </a:r>
            <a:r>
              <a:rPr lang="en-US" altLang="zh-CN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baseline="-2500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的大小应适当。</a:t>
            </a:r>
            <a:endParaRPr lang="zh-CN" altLang="en-US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75"/>
                                        <p:tgtEl>
                                          <p:spTgt spid="47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75"/>
                                        <p:tgtEl>
                                          <p:spTgt spid="47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75"/>
                                        <p:tgtEl>
                                          <p:spTgt spid="47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75"/>
                                        <p:tgtEl>
                                          <p:spTgt spid="47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75"/>
                                        <p:tgtEl>
                                          <p:spTgt spid="47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75"/>
                                        <p:tgtEl>
                                          <p:spTgt spid="47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5" dur="75"/>
                                        <p:tgtEl>
                                          <p:spTgt spid="47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50"/>
                            </p:stCondLst>
                            <p:childTnLst>
                              <p:par>
                                <p:cTn id="6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9" dur="75"/>
                                        <p:tgtEl>
                                          <p:spTgt spid="47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4" dur="75"/>
                                        <p:tgtEl>
                                          <p:spTgt spid="47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875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7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3" dur="75"/>
                                        <p:tgtEl>
                                          <p:spTgt spid="47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75"/>
                                        <p:tgtEl>
                                          <p:spTgt spid="47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3" dur="75"/>
                                        <p:tgtEl>
                                          <p:spTgt spid="47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8" dur="75"/>
                                        <p:tgtEl>
                                          <p:spTgt spid="47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3" dur="75"/>
                                        <p:tgtEl>
                                          <p:spTgt spid="47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8" dur="75"/>
                                        <p:tgtEl>
                                          <p:spTgt spid="47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3" dur="75"/>
                                        <p:tgtEl>
                                          <p:spTgt spid="47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77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77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4" dur="75"/>
                                        <p:tgtEl>
                                          <p:spTgt spid="47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9" dur="75"/>
                                        <p:tgtEl>
                                          <p:spTgt spid="47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4" dur="75"/>
                                        <p:tgtEl>
                                          <p:spTgt spid="47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9" dur="75"/>
                                        <p:tgtEl>
                                          <p:spTgt spid="47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4" dur="75"/>
                                        <p:tgtEl>
                                          <p:spTgt spid="47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9" grpId="0"/>
      <p:bldP spid="477190" grpId="0"/>
      <p:bldP spid="477194" grpId="0"/>
      <p:bldP spid="477195" grpId="0"/>
      <p:bldP spid="477199" grpId="0"/>
      <p:bldP spid="477200" grpId="0"/>
      <p:bldP spid="477201" grpId="0"/>
      <p:bldP spid="477202" grpId="0"/>
      <p:bldP spid="477203" grpId="0"/>
      <p:bldP spid="477204" grpId="0"/>
      <p:bldP spid="477205" grpId="0"/>
      <p:bldP spid="477206" grpId="0"/>
      <p:bldP spid="477207" grpId="0"/>
      <p:bldP spid="477208" grpId="0"/>
      <p:bldP spid="477209" grpId="0"/>
      <p:bldP spid="477210" grpId="0"/>
      <p:bldP spid="477211" grpId="0"/>
      <p:bldP spid="477215" grpId="0"/>
      <p:bldP spid="477216" grpId="0"/>
      <p:bldP spid="477217" grpId="0"/>
      <p:bldP spid="477218" grpId="0"/>
      <p:bldP spid="477219" grpId="0"/>
      <p:bldP spid="4772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62"/>
          <p:cNvSpPr txBox="1">
            <a:spLocks noChangeArrowheads="1"/>
          </p:cNvSpPr>
          <p:nvPr/>
        </p:nvSpPr>
        <p:spPr bwMode="auto">
          <a:xfrm>
            <a:off x="6081713" y="6157913"/>
            <a:ext cx="268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57563" y="195263"/>
            <a:ext cx="578643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3.2-3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带传动的工作情况的分析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3012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5" name="标题 14337"/>
          <p:cNvSpPr>
            <a:spLocks noGrp="1" noChangeArrowheads="1"/>
          </p:cNvSpPr>
          <p:nvPr/>
        </p:nvSpPr>
        <p:spPr bwMode="auto">
          <a:xfrm>
            <a:off x="7229475" y="781050"/>
            <a:ext cx="152400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700">
                <a:solidFill>
                  <a:schemeClr val="bg1"/>
                </a:solidFill>
                <a:ea typeface="宋体" panose="02010600030101010101" pitchFamily="2" charset="-122"/>
              </a:rPr>
              <a:t>工作情况分析</a:t>
            </a:r>
            <a:r>
              <a:rPr lang="en-US" altLang="zh-CN" sz="700">
                <a:solidFill>
                  <a:schemeClr val="bg1"/>
                </a:solidFill>
                <a:ea typeface="宋体" panose="02010600030101010101" pitchFamily="2" charset="-122"/>
              </a:rPr>
              <a:t>(</a:t>
            </a:r>
            <a:r>
              <a:rPr lang="zh-CN" altLang="en-US" sz="700">
                <a:solidFill>
                  <a:schemeClr val="bg1"/>
                </a:solidFill>
                <a:ea typeface="宋体" panose="02010600030101010101" pitchFamily="2" charset="-122"/>
              </a:rPr>
              <a:t>应力分析</a:t>
            </a:r>
            <a:r>
              <a:rPr lang="en-US" altLang="zh-CN" sz="700">
                <a:solidFill>
                  <a:schemeClr val="bg1"/>
                </a:solidFill>
                <a:ea typeface="宋体" panose="02010600030101010101" pitchFamily="2" charset="-122"/>
              </a:rPr>
              <a:t>)</a:t>
            </a:r>
            <a:endParaRPr lang="en-US" altLang="zh-CN" sz="7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4345" name="文本框 14344"/>
          <p:cNvSpPr txBox="1">
            <a:spLocks noChangeArrowheads="1"/>
          </p:cNvSpPr>
          <p:nvPr/>
        </p:nvSpPr>
        <p:spPr bwMode="auto">
          <a:xfrm>
            <a:off x="659130" y="1836103"/>
            <a:ext cx="6278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00099"/>
                </a:solidFill>
              </a:rPr>
              <a:t>带传动工作时，带中带上的应力有以下三种：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77834" name="文本框 14801"/>
          <p:cNvSpPr txBox="1">
            <a:spLocks noChangeArrowheads="1"/>
          </p:cNvSpPr>
          <p:nvPr/>
        </p:nvSpPr>
        <p:spPr bwMode="auto">
          <a:xfrm>
            <a:off x="170815" y="952183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二、带传动的应力分析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805" name="文本框 14804"/>
          <p:cNvSpPr txBox="1">
            <a:spLocks noChangeArrowheads="1"/>
          </p:cNvSpPr>
          <p:nvPr/>
        </p:nvSpPr>
        <p:spPr bwMode="auto">
          <a:xfrm>
            <a:off x="532130" y="2566353"/>
            <a:ext cx="61328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r>
              <a:rPr lang="zh-CN" altLang="en-US" sz="2400">
                <a:solidFill>
                  <a:srgbClr val="000099"/>
                </a:solidFill>
              </a:rPr>
              <a:t>、</a:t>
            </a:r>
            <a:r>
              <a:rPr lang="zh-CN" altLang="en-US" sz="2400" b="1">
                <a:solidFill>
                  <a:srgbClr val="000099"/>
                </a:solidFill>
              </a:rPr>
              <a:t>拉应力：紧边拉应力</a:t>
            </a:r>
            <a:r>
              <a:rPr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b="1" baseline="-25000">
                <a:solidFill>
                  <a:srgbClr val="000099"/>
                </a:solidFill>
              </a:rPr>
              <a:t>1</a:t>
            </a:r>
            <a:r>
              <a:rPr lang="zh-CN" altLang="en-US" sz="2400" b="1">
                <a:solidFill>
                  <a:srgbClr val="000099"/>
                </a:solidFill>
              </a:rPr>
              <a:t>、松边拉应力</a:t>
            </a:r>
            <a:r>
              <a:rPr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b="1" baseline="-25000">
                <a:solidFill>
                  <a:srgbClr val="000099"/>
                </a:solidFill>
              </a:rPr>
              <a:t>2</a:t>
            </a:r>
            <a:r>
              <a:rPr lang="zh-CN" altLang="en-US" sz="2400" b="1">
                <a:solidFill>
                  <a:srgbClr val="000099"/>
                </a:solidFill>
              </a:rPr>
              <a:t>；</a:t>
            </a:r>
            <a:endParaRPr lang="zh-CN" altLang="en-US" sz="2400" b="1">
              <a:solidFill>
                <a:srgbClr val="000099"/>
              </a:solidFill>
            </a:endParaRPr>
          </a:p>
        </p:txBody>
      </p:sp>
      <p:sp>
        <p:nvSpPr>
          <p:cNvPr id="14806" name="文本框 14805"/>
          <p:cNvSpPr txBox="1">
            <a:spLocks noChangeArrowheads="1"/>
          </p:cNvSpPr>
          <p:nvPr/>
        </p:nvSpPr>
        <p:spPr bwMode="auto">
          <a:xfrm>
            <a:off x="542290" y="4004945"/>
            <a:ext cx="779081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  <a:r>
              <a:rPr lang="zh-CN" altLang="en-US" sz="2400">
                <a:solidFill>
                  <a:srgbClr val="000099"/>
                </a:solidFill>
              </a:rPr>
              <a:t>、</a:t>
            </a:r>
            <a:r>
              <a:rPr lang="zh-CN" altLang="en-US" sz="2400" b="1">
                <a:solidFill>
                  <a:srgbClr val="000099"/>
                </a:solidFill>
              </a:rPr>
              <a:t>离心应力：带沿轮缘圆周运动时的离心力在带中产生</a:t>
            </a:r>
            <a:r>
              <a:rPr lang="en-US" altLang="zh-CN" sz="2400" b="1">
                <a:solidFill>
                  <a:srgbClr val="000099"/>
                </a:solidFill>
              </a:rPr>
              <a:t>		</a:t>
            </a:r>
            <a:r>
              <a:rPr lang="zh-CN" altLang="en-US" sz="2400" b="1">
                <a:solidFill>
                  <a:srgbClr val="000099"/>
                </a:solidFill>
              </a:rPr>
              <a:t>的离心拉应力</a:t>
            </a:r>
            <a:r>
              <a:rPr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b="1" baseline="-25000">
                <a:solidFill>
                  <a:srgbClr val="000099"/>
                </a:solidFill>
              </a:rPr>
              <a:t>C</a:t>
            </a:r>
            <a:r>
              <a:rPr lang="zh-CN" altLang="en-US" sz="2400" b="1">
                <a:solidFill>
                  <a:srgbClr val="000099"/>
                </a:solidFill>
              </a:rPr>
              <a:t>。</a:t>
            </a:r>
            <a:endParaRPr lang="zh-CN" altLang="en-US" sz="2400" b="1">
              <a:solidFill>
                <a:srgbClr val="000099"/>
              </a:solidFill>
            </a:endParaRPr>
          </a:p>
        </p:txBody>
      </p:sp>
      <p:sp>
        <p:nvSpPr>
          <p:cNvPr id="14807" name="文本框 14806"/>
          <p:cNvSpPr txBox="1">
            <a:spLocks noChangeArrowheads="1"/>
          </p:cNvSpPr>
          <p:nvPr/>
        </p:nvSpPr>
        <p:spPr bwMode="auto">
          <a:xfrm>
            <a:off x="539750" y="3324543"/>
            <a:ext cx="791337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  <a:r>
              <a:rPr lang="zh-CN" altLang="en-US" sz="2400">
                <a:solidFill>
                  <a:srgbClr val="000099"/>
                </a:solidFill>
              </a:rPr>
              <a:t>、</a:t>
            </a:r>
            <a:r>
              <a:rPr lang="zh-CN" altLang="en-US" sz="2400" b="1">
                <a:solidFill>
                  <a:srgbClr val="000099"/>
                </a:solidFill>
              </a:rPr>
              <a:t>弯曲应力：带绕在带轮上时产生的弯曲应力</a:t>
            </a:r>
            <a:r>
              <a:rPr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b="1" baseline="-25000">
                <a:solidFill>
                  <a:srgbClr val="000099"/>
                </a:solidFill>
              </a:rPr>
              <a:t>b1</a:t>
            </a:r>
            <a:r>
              <a:rPr lang="zh-CN" altLang="en-US" sz="2400" b="1">
                <a:solidFill>
                  <a:srgbClr val="000099"/>
                </a:solidFill>
              </a:rPr>
              <a:t>和</a:t>
            </a:r>
            <a:r>
              <a:rPr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b="1" baseline="-25000">
                <a:solidFill>
                  <a:srgbClr val="000099"/>
                </a:solidFill>
              </a:rPr>
              <a:t>b2</a:t>
            </a:r>
            <a:r>
              <a:rPr lang="zh-CN" altLang="en-US" sz="2400" b="1">
                <a:solidFill>
                  <a:srgbClr val="000099"/>
                </a:solidFill>
              </a:rPr>
              <a:t>；</a:t>
            </a:r>
            <a:endParaRPr lang="zh-CN" altLang="en-US" sz="2400" b="1">
              <a:solidFill>
                <a:srgbClr val="000099"/>
              </a:solidFill>
            </a:endParaRPr>
          </a:p>
        </p:txBody>
      </p:sp>
      <p:sp>
        <p:nvSpPr>
          <p:cNvPr id="43024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/>
      <p:bldP spid="77834" grpId="0"/>
      <p:bldP spid="14805" grpId="0"/>
      <p:bldP spid="14806" grpId="0"/>
      <p:bldP spid="1480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35488" y="195263"/>
            <a:ext cx="4608512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带传动的工作情况的分析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177" name="Picture 34" descr="rewind1">
            <a:hlinkClick r:id="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" name="文本框 1"/>
          <p:cNvSpPr txBox="1">
            <a:spLocks noChangeArrowheads="1"/>
          </p:cNvSpPr>
          <p:nvPr/>
        </p:nvSpPr>
        <p:spPr bwMode="auto">
          <a:xfrm>
            <a:off x="6607175" y="6157913"/>
            <a:ext cx="7493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hlinkClick r:id=""/>
              </a:rPr>
              <a:t>返回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"/>
            </a:endParaRPr>
          </a:p>
        </p:txBody>
      </p:sp>
      <p:sp>
        <p:nvSpPr>
          <p:cNvPr id="7179" name="文本框 2"/>
          <p:cNvSpPr txBox="1">
            <a:spLocks noChangeArrowheads="1"/>
          </p:cNvSpPr>
          <p:nvPr/>
        </p:nvSpPr>
        <p:spPr bwMode="auto">
          <a:xfrm>
            <a:off x="1571625" y="1143000"/>
            <a:ext cx="17614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应力分析</a:t>
            </a:r>
            <a:endParaRPr lang="zh-CN" altLang="en-US" sz="2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170" name="对象 -2147482526"/>
          <p:cNvGraphicFramePr>
            <a:graphicFrameLocks noChangeAspect="1"/>
          </p:cNvGraphicFramePr>
          <p:nvPr/>
        </p:nvGraphicFramePr>
        <p:xfrm>
          <a:off x="7351713" y="4135438"/>
          <a:ext cx="10223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596900" imgH="419100" progId="Equation.3">
                  <p:embed/>
                </p:oleObj>
              </mc:Choice>
              <mc:Fallback>
                <p:oleObj name="" r:id="rId2" imgW="596900" imgH="419100" progId="Equation.3">
                  <p:embed/>
                  <p:pic>
                    <p:nvPicPr>
                      <p:cNvPr id="0" name="对象 -21474825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713" y="4135438"/>
                        <a:ext cx="10223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对象 -2147482522"/>
          <p:cNvGraphicFramePr>
            <a:graphicFrameLocks noChangeAspect="1"/>
          </p:cNvGraphicFramePr>
          <p:nvPr/>
        </p:nvGraphicFramePr>
        <p:xfrm>
          <a:off x="5667375" y="5045075"/>
          <a:ext cx="3089910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1257935" imgH="228600" progId="Equation.3">
                  <p:embed/>
                </p:oleObj>
              </mc:Choice>
              <mc:Fallback>
                <p:oleObj name="" r:id="rId4" imgW="1257935" imgH="228600" progId="Equation.3">
                  <p:embed/>
                  <p:pic>
                    <p:nvPicPr>
                      <p:cNvPr id="0" name="对象 -21474825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75" y="5045075"/>
                        <a:ext cx="3089910" cy="56134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对象 -2147482533"/>
          <p:cNvGraphicFramePr>
            <a:graphicFrameLocks noChangeAspect="1"/>
          </p:cNvGraphicFramePr>
          <p:nvPr/>
        </p:nvGraphicFramePr>
        <p:xfrm>
          <a:off x="7297738" y="2439988"/>
          <a:ext cx="13049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6" imgW="736600" imgH="431800" progId="Equation.3">
                  <p:embed/>
                </p:oleObj>
              </mc:Choice>
              <mc:Fallback>
                <p:oleObj name="" r:id="rId6" imgW="736600" imgH="431800" progId="Equation.3">
                  <p:embed/>
                  <p:pic>
                    <p:nvPicPr>
                      <p:cNvPr id="0" name="对象 -21474825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738" y="2439988"/>
                        <a:ext cx="130492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对象 -2147482541"/>
          <p:cNvGraphicFramePr>
            <a:graphicFrameLocks noChangeAspect="1"/>
          </p:cNvGraphicFramePr>
          <p:nvPr/>
        </p:nvGraphicFramePr>
        <p:xfrm>
          <a:off x="6761798" y="926465"/>
          <a:ext cx="90011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8" imgW="508000" imgH="393700" progId="Equation.3">
                  <p:embed/>
                </p:oleObj>
              </mc:Choice>
              <mc:Fallback>
                <p:oleObj name="" r:id="rId8" imgW="508000" imgH="393700" progId="Equation.3">
                  <p:embed/>
                  <p:pic>
                    <p:nvPicPr>
                      <p:cNvPr id="0" name="对象 -21474825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1798" y="926465"/>
                        <a:ext cx="900112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对象 5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6999288" y="1624965"/>
          <a:ext cx="9525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0" imgW="533400" imgH="393700" progId="Equation.KSEE3">
                  <p:embed/>
                </p:oleObj>
              </mc:Choice>
              <mc:Fallback>
                <p:oleObj name="" r:id="rId10" imgW="533400" imgH="393700" progId="Equation.KSEE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288" y="1624965"/>
                        <a:ext cx="95250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对象 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267258" y="3205163"/>
          <a:ext cx="136683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2" imgW="774065" imgH="431800" progId="Equation.KSEE3">
                  <p:embed/>
                </p:oleObj>
              </mc:Choice>
              <mc:Fallback>
                <p:oleObj name="" r:id="rId12" imgW="774065" imgH="431800" progId="Equation.KSEE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258" y="3205163"/>
                        <a:ext cx="136683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文本框 8"/>
          <p:cNvSpPr txBox="1">
            <a:spLocks noChangeArrowheads="1"/>
          </p:cNvSpPr>
          <p:nvPr/>
        </p:nvSpPr>
        <p:spPr bwMode="auto">
          <a:xfrm>
            <a:off x="4887913" y="107569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紧边拉应力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1" name="文本框 9"/>
          <p:cNvSpPr txBox="1">
            <a:spLocks noChangeArrowheads="1"/>
          </p:cNvSpPr>
          <p:nvPr/>
        </p:nvSpPr>
        <p:spPr bwMode="auto">
          <a:xfrm>
            <a:off x="5046663" y="173101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松边拉应力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2" name="文本框 10"/>
          <p:cNvSpPr txBox="1">
            <a:spLocks noChangeArrowheads="1"/>
          </p:cNvSpPr>
          <p:nvPr/>
        </p:nvSpPr>
        <p:spPr bwMode="auto">
          <a:xfrm>
            <a:off x="5306378" y="2566988"/>
            <a:ext cx="1960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小轮处弯曲应力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3" name="文本框 11"/>
          <p:cNvSpPr txBox="1">
            <a:spLocks noChangeArrowheads="1"/>
          </p:cNvSpPr>
          <p:nvPr/>
        </p:nvSpPr>
        <p:spPr bwMode="auto">
          <a:xfrm>
            <a:off x="5532438" y="427990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离心拉应力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4" name="文本框 12"/>
          <p:cNvSpPr txBox="1">
            <a:spLocks noChangeArrowheads="1"/>
          </p:cNvSpPr>
          <p:nvPr/>
        </p:nvSpPr>
        <p:spPr bwMode="auto">
          <a:xfrm>
            <a:off x="5276215" y="3386455"/>
            <a:ext cx="1960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大轮处弯曲应力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85" name="Picture 17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8813"/>
            <a:ext cx="51435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3344" name="文本框 483343"/>
          <p:cNvSpPr txBox="1"/>
          <p:nvPr/>
        </p:nvSpPr>
        <p:spPr>
          <a:xfrm>
            <a:off x="281940" y="5443855"/>
            <a:ext cx="51428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但其产生的离心拉力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000" baseline="-160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（或拉应力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σ</a:t>
            </a:r>
            <a:r>
              <a:rPr lang="en-US" altLang="zh-CN" sz="2000" baseline="-12000">
                <a:latin typeface="Times New Roman" panose="02020603050405020304" pitchFamily="18" charset="0"/>
                <a:ea typeface="方正大黑简体" pitchFamily="2" charset="-122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）却作用于带的全部，且各剖面处处相等。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3336" name="文本框 483335"/>
          <p:cNvSpPr txBox="1"/>
          <p:nvPr/>
        </p:nvSpPr>
        <p:spPr>
          <a:xfrm>
            <a:off x="281940" y="5045075"/>
            <a:ext cx="53587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虽然离心力只作用在做圆周运动的部分弧段，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4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75"/>
                                        <p:tgtEl>
                                          <p:spTgt spid="48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75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0" grpId="0"/>
      <p:bldP spid="7181" grpId="0"/>
      <p:bldP spid="7182" grpId="0"/>
      <p:bldP spid="7183" grpId="0"/>
      <p:bldP spid="7184" grpId="0"/>
      <p:bldP spid="483344" grpId="0"/>
      <p:bldP spid="4833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148" name="组合 387147"/>
          <p:cNvGrpSpPr/>
          <p:nvPr/>
        </p:nvGrpSpPr>
        <p:grpSpPr>
          <a:xfrm>
            <a:off x="1811020" y="1158875"/>
            <a:ext cx="5638800" cy="3392488"/>
            <a:chOff x="1152" y="744"/>
            <a:chExt cx="3552" cy="2137"/>
          </a:xfrm>
        </p:grpSpPr>
        <p:pic>
          <p:nvPicPr>
            <p:cNvPr id="387149" name="图片 387148" descr="图8-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52" y="744"/>
              <a:ext cx="3552" cy="213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7150" name="矩形 387149"/>
            <p:cNvSpPr/>
            <p:nvPr/>
          </p:nvSpPr>
          <p:spPr>
            <a:xfrm rot="802280">
              <a:off x="2237" y="2461"/>
              <a:ext cx="111" cy="153"/>
            </a:xfrm>
            <a:prstGeom prst="rect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51" name="矩形 387150"/>
            <p:cNvSpPr/>
            <p:nvPr/>
          </p:nvSpPr>
          <p:spPr>
            <a:xfrm rot="802280">
              <a:off x="2561" y="2470"/>
              <a:ext cx="111" cy="153"/>
            </a:xfrm>
            <a:prstGeom prst="rect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52" name="矩形 387151"/>
            <p:cNvSpPr/>
            <p:nvPr/>
          </p:nvSpPr>
          <p:spPr>
            <a:xfrm rot="802280">
              <a:off x="1971" y="2553"/>
              <a:ext cx="111" cy="189"/>
            </a:xfrm>
            <a:prstGeom prst="rect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53" name="矩形 387152"/>
            <p:cNvSpPr/>
            <p:nvPr/>
          </p:nvSpPr>
          <p:spPr>
            <a:xfrm rot="-453449">
              <a:off x="2558" y="895"/>
              <a:ext cx="111" cy="153"/>
            </a:xfrm>
            <a:prstGeom prst="rect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54" name="矩形 387153"/>
            <p:cNvSpPr/>
            <p:nvPr/>
          </p:nvSpPr>
          <p:spPr>
            <a:xfrm rot="4805906">
              <a:off x="1337" y="1717"/>
              <a:ext cx="74" cy="114"/>
            </a:xfrm>
            <a:prstGeom prst="rect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55" name="矩形 387154"/>
            <p:cNvSpPr/>
            <p:nvPr/>
          </p:nvSpPr>
          <p:spPr>
            <a:xfrm rot="802280">
              <a:off x="4518" y="1804"/>
              <a:ext cx="135" cy="127"/>
            </a:xfrm>
            <a:prstGeom prst="rect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7156" name="文本框 387155"/>
          <p:cNvSpPr txBox="1"/>
          <p:nvPr/>
        </p:nvSpPr>
        <p:spPr>
          <a:xfrm>
            <a:off x="419100" y="701675"/>
            <a:ext cx="5435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带横截面的应力为三部分应力之和。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87157" name="文本框 387156"/>
          <p:cNvSpPr txBox="1"/>
          <p:nvPr/>
        </p:nvSpPr>
        <p:spPr>
          <a:xfrm>
            <a:off x="350520" y="1216025"/>
            <a:ext cx="368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各剖面的应力分布为：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87158" name="文本框 387157"/>
          <p:cNvSpPr txBox="1"/>
          <p:nvPr/>
        </p:nvSpPr>
        <p:spPr>
          <a:xfrm>
            <a:off x="755650" y="4948555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最大应力发生在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87159" name="文本框 387158"/>
          <p:cNvSpPr txBox="1"/>
          <p:nvPr/>
        </p:nvSpPr>
        <p:spPr>
          <a:xfrm>
            <a:off x="3149600" y="4948555"/>
            <a:ext cx="3784600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u="sng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紧边刚进入小带轮处</a:t>
            </a:r>
            <a:r>
              <a:rPr lang="en-US" altLang="zh-CN" u="sng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en-US" altLang="zh-CN" u="sng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87160" name="对象 387159"/>
          <p:cNvGraphicFramePr/>
          <p:nvPr/>
        </p:nvGraphicFramePr>
        <p:xfrm>
          <a:off x="2785428" y="5405597"/>
          <a:ext cx="2701290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1231265" imgH="228600" progId="Equation.3">
                  <p:embed/>
                </p:oleObj>
              </mc:Choice>
              <mc:Fallback>
                <p:oleObj name="" r:id="rId2" imgW="1231265" imgH="228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85428" y="5405597"/>
                        <a:ext cx="2701290" cy="45593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61" name="文本框 387160"/>
          <p:cNvSpPr txBox="1"/>
          <p:nvPr/>
        </p:nvSpPr>
        <p:spPr>
          <a:xfrm>
            <a:off x="838200" y="6106160"/>
            <a:ext cx="7759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由此可知，带受变应力作用，这将使带产生疲劳破坏。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87162" name="组合 387161"/>
          <p:cNvGrpSpPr/>
          <p:nvPr/>
        </p:nvGrpSpPr>
        <p:grpSpPr>
          <a:xfrm>
            <a:off x="2687638" y="1917700"/>
            <a:ext cx="3813175" cy="1879600"/>
            <a:chOff x="1693" y="1361"/>
            <a:chExt cx="2402" cy="1184"/>
          </a:xfrm>
        </p:grpSpPr>
        <p:sp>
          <p:nvSpPr>
            <p:cNvPr id="387163" name="任意多边形 387162"/>
            <p:cNvSpPr/>
            <p:nvPr/>
          </p:nvSpPr>
          <p:spPr>
            <a:xfrm>
              <a:off x="1693" y="1556"/>
              <a:ext cx="295" cy="657"/>
            </a:xfrm>
            <a:custGeom>
              <a:avLst/>
              <a:gdLst/>
              <a:ahLst/>
              <a:cxnLst/>
              <a:rect l="0" t="0" r="0" b="0"/>
              <a:pathLst>
                <a:path w="295" h="657">
                  <a:moveTo>
                    <a:pt x="295" y="0"/>
                  </a:moveTo>
                  <a:cubicBezTo>
                    <a:pt x="267" y="5"/>
                    <a:pt x="240" y="10"/>
                    <a:pt x="215" y="20"/>
                  </a:cubicBezTo>
                  <a:cubicBezTo>
                    <a:pt x="190" y="30"/>
                    <a:pt x="163" y="45"/>
                    <a:pt x="143" y="60"/>
                  </a:cubicBezTo>
                  <a:cubicBezTo>
                    <a:pt x="123" y="75"/>
                    <a:pt x="111" y="90"/>
                    <a:pt x="95" y="108"/>
                  </a:cubicBezTo>
                  <a:cubicBezTo>
                    <a:pt x="79" y="126"/>
                    <a:pt x="62" y="141"/>
                    <a:pt x="47" y="168"/>
                  </a:cubicBezTo>
                  <a:cubicBezTo>
                    <a:pt x="32" y="195"/>
                    <a:pt x="14" y="236"/>
                    <a:pt x="7" y="272"/>
                  </a:cubicBezTo>
                  <a:cubicBezTo>
                    <a:pt x="0" y="308"/>
                    <a:pt x="0" y="347"/>
                    <a:pt x="7" y="384"/>
                  </a:cubicBezTo>
                  <a:cubicBezTo>
                    <a:pt x="14" y="421"/>
                    <a:pt x="30" y="459"/>
                    <a:pt x="47" y="492"/>
                  </a:cubicBezTo>
                  <a:cubicBezTo>
                    <a:pt x="64" y="525"/>
                    <a:pt x="86" y="555"/>
                    <a:pt x="111" y="580"/>
                  </a:cubicBezTo>
                  <a:cubicBezTo>
                    <a:pt x="136" y="605"/>
                    <a:pt x="173" y="631"/>
                    <a:pt x="199" y="644"/>
                  </a:cubicBezTo>
                  <a:cubicBezTo>
                    <a:pt x="225" y="657"/>
                    <a:pt x="246" y="656"/>
                    <a:pt x="267" y="656"/>
                  </a:cubicBezTo>
                </a:path>
              </a:pathLst>
            </a:custGeom>
            <a:noFill/>
            <a:ln w="50800" cap="flat" cmpd="sng">
              <a:solidFill>
                <a:srgbClr val="88001A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64" name="任意多边形 387163"/>
            <p:cNvSpPr/>
            <p:nvPr/>
          </p:nvSpPr>
          <p:spPr>
            <a:xfrm>
              <a:off x="3384" y="1361"/>
              <a:ext cx="711" cy="1184"/>
            </a:xfrm>
            <a:custGeom>
              <a:avLst/>
              <a:gdLst/>
              <a:ahLst/>
              <a:cxnLst/>
              <a:rect l="0" t="0" r="0" b="0"/>
              <a:pathLst>
                <a:path w="711" h="1184">
                  <a:moveTo>
                    <a:pt x="20" y="7"/>
                  </a:moveTo>
                  <a:cubicBezTo>
                    <a:pt x="63" y="3"/>
                    <a:pt x="107" y="0"/>
                    <a:pt x="148" y="3"/>
                  </a:cubicBezTo>
                  <a:cubicBezTo>
                    <a:pt x="189" y="6"/>
                    <a:pt x="229" y="16"/>
                    <a:pt x="268" y="27"/>
                  </a:cubicBezTo>
                  <a:cubicBezTo>
                    <a:pt x="307" y="38"/>
                    <a:pt x="345" y="51"/>
                    <a:pt x="384" y="71"/>
                  </a:cubicBezTo>
                  <a:cubicBezTo>
                    <a:pt x="423" y="91"/>
                    <a:pt x="470" y="120"/>
                    <a:pt x="504" y="147"/>
                  </a:cubicBezTo>
                  <a:cubicBezTo>
                    <a:pt x="538" y="174"/>
                    <a:pt x="563" y="199"/>
                    <a:pt x="588" y="231"/>
                  </a:cubicBezTo>
                  <a:cubicBezTo>
                    <a:pt x="613" y="263"/>
                    <a:pt x="634" y="299"/>
                    <a:pt x="652" y="339"/>
                  </a:cubicBezTo>
                  <a:cubicBezTo>
                    <a:pt x="670" y="379"/>
                    <a:pt x="687" y="417"/>
                    <a:pt x="696" y="471"/>
                  </a:cubicBezTo>
                  <a:cubicBezTo>
                    <a:pt x="705" y="525"/>
                    <a:pt x="711" y="602"/>
                    <a:pt x="704" y="663"/>
                  </a:cubicBezTo>
                  <a:cubicBezTo>
                    <a:pt x="697" y="724"/>
                    <a:pt x="676" y="786"/>
                    <a:pt x="656" y="835"/>
                  </a:cubicBezTo>
                  <a:cubicBezTo>
                    <a:pt x="636" y="884"/>
                    <a:pt x="613" y="921"/>
                    <a:pt x="584" y="959"/>
                  </a:cubicBezTo>
                  <a:cubicBezTo>
                    <a:pt x="555" y="997"/>
                    <a:pt x="515" y="1038"/>
                    <a:pt x="484" y="1063"/>
                  </a:cubicBezTo>
                  <a:cubicBezTo>
                    <a:pt x="453" y="1088"/>
                    <a:pt x="432" y="1094"/>
                    <a:pt x="396" y="1111"/>
                  </a:cubicBezTo>
                  <a:cubicBezTo>
                    <a:pt x="360" y="1128"/>
                    <a:pt x="314" y="1155"/>
                    <a:pt x="268" y="1167"/>
                  </a:cubicBezTo>
                  <a:cubicBezTo>
                    <a:pt x="222" y="1179"/>
                    <a:pt x="165" y="1184"/>
                    <a:pt x="120" y="1183"/>
                  </a:cubicBezTo>
                  <a:cubicBezTo>
                    <a:pt x="75" y="1182"/>
                    <a:pt x="37" y="1172"/>
                    <a:pt x="0" y="1163"/>
                  </a:cubicBezTo>
                </a:path>
              </a:pathLst>
            </a:custGeom>
            <a:noFill/>
            <a:ln w="50800" cap="flat" cmpd="sng">
              <a:solidFill>
                <a:srgbClr val="88001A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65" name="直接连接符 387164"/>
            <p:cNvSpPr/>
            <p:nvPr/>
          </p:nvSpPr>
          <p:spPr>
            <a:xfrm flipV="1">
              <a:off x="1984" y="1368"/>
              <a:ext cx="1408" cy="188"/>
            </a:xfrm>
            <a:prstGeom prst="line">
              <a:avLst/>
            </a:prstGeom>
            <a:ln w="50800" cap="flat" cmpd="sng">
              <a:solidFill>
                <a:srgbClr val="88001A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7166" name="直接连接符 387165"/>
            <p:cNvSpPr/>
            <p:nvPr/>
          </p:nvSpPr>
          <p:spPr>
            <a:xfrm>
              <a:off x="1952" y="2216"/>
              <a:ext cx="1432" cy="308"/>
            </a:xfrm>
            <a:prstGeom prst="line">
              <a:avLst/>
            </a:prstGeom>
            <a:ln w="50800" cap="flat" cmpd="sng">
              <a:solidFill>
                <a:srgbClr val="88001A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87215" name="组合 387214"/>
          <p:cNvGrpSpPr/>
          <p:nvPr/>
        </p:nvGrpSpPr>
        <p:grpSpPr>
          <a:xfrm>
            <a:off x="2541588" y="1803400"/>
            <a:ext cx="4067175" cy="2133600"/>
            <a:chOff x="1601" y="1136"/>
            <a:chExt cx="2562" cy="1344"/>
          </a:xfrm>
        </p:grpSpPr>
        <p:sp>
          <p:nvSpPr>
            <p:cNvPr id="387168" name="任意多边形 387167"/>
            <p:cNvSpPr/>
            <p:nvPr/>
          </p:nvSpPr>
          <p:spPr>
            <a:xfrm>
              <a:off x="1601" y="1340"/>
              <a:ext cx="324" cy="778"/>
            </a:xfrm>
            <a:custGeom>
              <a:avLst/>
              <a:gdLst/>
              <a:ahLst/>
              <a:cxnLst/>
              <a:rect l="0" t="0" r="0" b="0"/>
              <a:pathLst>
                <a:path w="295" h="657">
                  <a:moveTo>
                    <a:pt x="295" y="0"/>
                  </a:moveTo>
                  <a:cubicBezTo>
                    <a:pt x="267" y="5"/>
                    <a:pt x="240" y="10"/>
                    <a:pt x="215" y="20"/>
                  </a:cubicBezTo>
                  <a:cubicBezTo>
                    <a:pt x="190" y="30"/>
                    <a:pt x="163" y="45"/>
                    <a:pt x="143" y="60"/>
                  </a:cubicBezTo>
                  <a:cubicBezTo>
                    <a:pt x="123" y="75"/>
                    <a:pt x="111" y="90"/>
                    <a:pt x="95" y="108"/>
                  </a:cubicBezTo>
                  <a:cubicBezTo>
                    <a:pt x="79" y="126"/>
                    <a:pt x="62" y="141"/>
                    <a:pt x="47" y="168"/>
                  </a:cubicBezTo>
                  <a:cubicBezTo>
                    <a:pt x="32" y="195"/>
                    <a:pt x="14" y="236"/>
                    <a:pt x="7" y="272"/>
                  </a:cubicBezTo>
                  <a:cubicBezTo>
                    <a:pt x="0" y="308"/>
                    <a:pt x="0" y="347"/>
                    <a:pt x="7" y="384"/>
                  </a:cubicBezTo>
                  <a:cubicBezTo>
                    <a:pt x="14" y="421"/>
                    <a:pt x="30" y="459"/>
                    <a:pt x="47" y="492"/>
                  </a:cubicBezTo>
                  <a:cubicBezTo>
                    <a:pt x="64" y="525"/>
                    <a:pt x="86" y="555"/>
                    <a:pt x="111" y="580"/>
                  </a:cubicBezTo>
                  <a:cubicBezTo>
                    <a:pt x="136" y="605"/>
                    <a:pt x="173" y="631"/>
                    <a:pt x="199" y="644"/>
                  </a:cubicBezTo>
                  <a:cubicBezTo>
                    <a:pt x="225" y="657"/>
                    <a:pt x="246" y="656"/>
                    <a:pt x="267" y="656"/>
                  </a:cubicBezTo>
                </a:path>
              </a:pathLst>
            </a:custGeom>
            <a:noFill/>
            <a:ln w="508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69" name="任意多边形 387168"/>
            <p:cNvSpPr/>
            <p:nvPr/>
          </p:nvSpPr>
          <p:spPr>
            <a:xfrm>
              <a:off x="3405" y="1136"/>
              <a:ext cx="758" cy="1344"/>
            </a:xfrm>
            <a:custGeom>
              <a:avLst/>
              <a:gdLst/>
              <a:ahLst/>
              <a:cxnLst/>
              <a:rect l="0" t="0" r="0" b="0"/>
              <a:pathLst>
                <a:path w="711" h="1184">
                  <a:moveTo>
                    <a:pt x="20" y="7"/>
                  </a:moveTo>
                  <a:cubicBezTo>
                    <a:pt x="63" y="3"/>
                    <a:pt x="107" y="0"/>
                    <a:pt x="148" y="3"/>
                  </a:cubicBezTo>
                  <a:cubicBezTo>
                    <a:pt x="189" y="6"/>
                    <a:pt x="229" y="16"/>
                    <a:pt x="268" y="27"/>
                  </a:cubicBezTo>
                  <a:cubicBezTo>
                    <a:pt x="307" y="38"/>
                    <a:pt x="345" y="51"/>
                    <a:pt x="384" y="71"/>
                  </a:cubicBezTo>
                  <a:cubicBezTo>
                    <a:pt x="423" y="91"/>
                    <a:pt x="470" y="120"/>
                    <a:pt x="504" y="147"/>
                  </a:cubicBezTo>
                  <a:cubicBezTo>
                    <a:pt x="538" y="174"/>
                    <a:pt x="563" y="199"/>
                    <a:pt x="588" y="231"/>
                  </a:cubicBezTo>
                  <a:cubicBezTo>
                    <a:pt x="613" y="263"/>
                    <a:pt x="634" y="299"/>
                    <a:pt x="652" y="339"/>
                  </a:cubicBezTo>
                  <a:cubicBezTo>
                    <a:pt x="670" y="379"/>
                    <a:pt x="687" y="417"/>
                    <a:pt x="696" y="471"/>
                  </a:cubicBezTo>
                  <a:cubicBezTo>
                    <a:pt x="705" y="525"/>
                    <a:pt x="711" y="602"/>
                    <a:pt x="704" y="663"/>
                  </a:cubicBezTo>
                  <a:cubicBezTo>
                    <a:pt x="697" y="724"/>
                    <a:pt x="676" y="786"/>
                    <a:pt x="656" y="835"/>
                  </a:cubicBezTo>
                  <a:cubicBezTo>
                    <a:pt x="636" y="884"/>
                    <a:pt x="613" y="921"/>
                    <a:pt x="584" y="959"/>
                  </a:cubicBezTo>
                  <a:cubicBezTo>
                    <a:pt x="555" y="997"/>
                    <a:pt x="515" y="1038"/>
                    <a:pt x="484" y="1063"/>
                  </a:cubicBezTo>
                  <a:cubicBezTo>
                    <a:pt x="453" y="1088"/>
                    <a:pt x="432" y="1094"/>
                    <a:pt x="396" y="1111"/>
                  </a:cubicBezTo>
                  <a:cubicBezTo>
                    <a:pt x="360" y="1128"/>
                    <a:pt x="314" y="1155"/>
                    <a:pt x="268" y="1167"/>
                  </a:cubicBezTo>
                  <a:cubicBezTo>
                    <a:pt x="222" y="1179"/>
                    <a:pt x="165" y="1184"/>
                    <a:pt x="120" y="1183"/>
                  </a:cubicBezTo>
                  <a:cubicBezTo>
                    <a:pt x="75" y="1182"/>
                    <a:pt x="37" y="1172"/>
                    <a:pt x="0" y="1163"/>
                  </a:cubicBezTo>
                </a:path>
              </a:pathLst>
            </a:custGeom>
            <a:noFill/>
            <a:ln w="508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70" name="直接连接符 387169"/>
            <p:cNvSpPr/>
            <p:nvPr/>
          </p:nvSpPr>
          <p:spPr>
            <a:xfrm flipV="1">
              <a:off x="1920" y="1141"/>
              <a:ext cx="1508" cy="199"/>
            </a:xfrm>
            <a:prstGeom prst="line">
              <a:avLst/>
            </a:prstGeom>
            <a:ln w="508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7171" name="直接连接符 387170"/>
            <p:cNvSpPr/>
            <p:nvPr/>
          </p:nvSpPr>
          <p:spPr>
            <a:xfrm>
              <a:off x="1877" y="2121"/>
              <a:ext cx="1532" cy="343"/>
            </a:xfrm>
            <a:prstGeom prst="line">
              <a:avLst/>
            </a:prstGeom>
            <a:ln w="508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87172" name="组合 387171"/>
          <p:cNvGrpSpPr/>
          <p:nvPr/>
        </p:nvGrpSpPr>
        <p:grpSpPr>
          <a:xfrm>
            <a:off x="2327275" y="1633538"/>
            <a:ext cx="4500563" cy="2530475"/>
            <a:chOff x="1466" y="1182"/>
            <a:chExt cx="2835" cy="1594"/>
          </a:xfrm>
        </p:grpSpPr>
        <p:sp>
          <p:nvSpPr>
            <p:cNvPr id="387173" name="直接连接符 387172"/>
            <p:cNvSpPr/>
            <p:nvPr/>
          </p:nvSpPr>
          <p:spPr>
            <a:xfrm flipV="1">
              <a:off x="2094" y="1207"/>
              <a:ext cx="1200" cy="194"/>
            </a:xfrm>
            <a:prstGeom prst="line">
              <a:avLst/>
            </a:prstGeom>
            <a:ln w="50800" cap="flat" cmpd="sng">
              <a:solidFill>
                <a:srgbClr val="B528B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7174" name="直接连接符 387173"/>
            <p:cNvSpPr/>
            <p:nvPr/>
          </p:nvSpPr>
          <p:spPr>
            <a:xfrm>
              <a:off x="2057" y="2469"/>
              <a:ext cx="1213" cy="268"/>
            </a:xfrm>
            <a:prstGeom prst="line">
              <a:avLst/>
            </a:prstGeom>
            <a:ln w="50800" cap="flat" cmpd="sng">
              <a:solidFill>
                <a:srgbClr val="B528B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7175" name="任意多边形 387174"/>
            <p:cNvSpPr/>
            <p:nvPr/>
          </p:nvSpPr>
          <p:spPr>
            <a:xfrm>
              <a:off x="3256" y="1182"/>
              <a:ext cx="1045" cy="1594"/>
            </a:xfrm>
            <a:custGeom>
              <a:avLst/>
              <a:gdLst/>
              <a:ahLst/>
              <a:cxnLst/>
              <a:rect l="0" t="0" r="0" b="0"/>
              <a:pathLst>
                <a:path w="1045" h="1594">
                  <a:moveTo>
                    <a:pt x="36" y="26"/>
                  </a:moveTo>
                  <a:cubicBezTo>
                    <a:pt x="72" y="22"/>
                    <a:pt x="109" y="18"/>
                    <a:pt x="148" y="14"/>
                  </a:cubicBezTo>
                  <a:cubicBezTo>
                    <a:pt x="187" y="10"/>
                    <a:pt x="222" y="0"/>
                    <a:pt x="268" y="2"/>
                  </a:cubicBezTo>
                  <a:cubicBezTo>
                    <a:pt x="314" y="4"/>
                    <a:pt x="377" y="16"/>
                    <a:pt x="424" y="26"/>
                  </a:cubicBezTo>
                  <a:cubicBezTo>
                    <a:pt x="471" y="36"/>
                    <a:pt x="511" y="45"/>
                    <a:pt x="552" y="62"/>
                  </a:cubicBezTo>
                  <a:cubicBezTo>
                    <a:pt x="593" y="79"/>
                    <a:pt x="633" y="105"/>
                    <a:pt x="672" y="130"/>
                  </a:cubicBezTo>
                  <a:cubicBezTo>
                    <a:pt x="711" y="155"/>
                    <a:pt x="752" y="183"/>
                    <a:pt x="784" y="210"/>
                  </a:cubicBezTo>
                  <a:cubicBezTo>
                    <a:pt x="816" y="237"/>
                    <a:pt x="838" y="262"/>
                    <a:pt x="864" y="294"/>
                  </a:cubicBezTo>
                  <a:cubicBezTo>
                    <a:pt x="890" y="326"/>
                    <a:pt x="916" y="359"/>
                    <a:pt x="940" y="402"/>
                  </a:cubicBezTo>
                  <a:cubicBezTo>
                    <a:pt x="964" y="445"/>
                    <a:pt x="992" y="509"/>
                    <a:pt x="1008" y="554"/>
                  </a:cubicBezTo>
                  <a:cubicBezTo>
                    <a:pt x="1024" y="599"/>
                    <a:pt x="1030" y="631"/>
                    <a:pt x="1036" y="674"/>
                  </a:cubicBezTo>
                  <a:cubicBezTo>
                    <a:pt x="1042" y="717"/>
                    <a:pt x="1045" y="760"/>
                    <a:pt x="1044" y="810"/>
                  </a:cubicBezTo>
                  <a:cubicBezTo>
                    <a:pt x="1043" y="860"/>
                    <a:pt x="1039" y="921"/>
                    <a:pt x="1028" y="974"/>
                  </a:cubicBezTo>
                  <a:cubicBezTo>
                    <a:pt x="1017" y="1027"/>
                    <a:pt x="1004" y="1075"/>
                    <a:pt x="980" y="1126"/>
                  </a:cubicBezTo>
                  <a:cubicBezTo>
                    <a:pt x="956" y="1177"/>
                    <a:pt x="915" y="1239"/>
                    <a:pt x="884" y="1282"/>
                  </a:cubicBezTo>
                  <a:cubicBezTo>
                    <a:pt x="853" y="1325"/>
                    <a:pt x="826" y="1354"/>
                    <a:pt x="792" y="1386"/>
                  </a:cubicBezTo>
                  <a:cubicBezTo>
                    <a:pt x="758" y="1418"/>
                    <a:pt x="721" y="1448"/>
                    <a:pt x="680" y="1474"/>
                  </a:cubicBezTo>
                  <a:cubicBezTo>
                    <a:pt x="639" y="1500"/>
                    <a:pt x="595" y="1525"/>
                    <a:pt x="548" y="1542"/>
                  </a:cubicBezTo>
                  <a:cubicBezTo>
                    <a:pt x="501" y="1559"/>
                    <a:pt x="445" y="1569"/>
                    <a:pt x="396" y="1578"/>
                  </a:cubicBezTo>
                  <a:cubicBezTo>
                    <a:pt x="347" y="1587"/>
                    <a:pt x="298" y="1594"/>
                    <a:pt x="256" y="1594"/>
                  </a:cubicBezTo>
                  <a:cubicBezTo>
                    <a:pt x="214" y="1594"/>
                    <a:pt x="187" y="1584"/>
                    <a:pt x="144" y="1578"/>
                  </a:cubicBezTo>
                  <a:cubicBezTo>
                    <a:pt x="101" y="1572"/>
                    <a:pt x="50" y="1565"/>
                    <a:pt x="0" y="1558"/>
                  </a:cubicBezTo>
                </a:path>
              </a:pathLst>
            </a:custGeom>
            <a:noFill/>
            <a:ln w="50800" cap="flat" cmpd="sng">
              <a:solidFill>
                <a:srgbClr val="B528B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76" name="任意多边形 387175"/>
            <p:cNvSpPr/>
            <p:nvPr/>
          </p:nvSpPr>
          <p:spPr>
            <a:xfrm>
              <a:off x="1466" y="1388"/>
              <a:ext cx="630" cy="1088"/>
            </a:xfrm>
            <a:custGeom>
              <a:avLst/>
              <a:gdLst/>
              <a:ahLst/>
              <a:cxnLst/>
              <a:rect l="0" t="0" r="0" b="0"/>
              <a:pathLst>
                <a:path w="630" h="1088">
                  <a:moveTo>
                    <a:pt x="590" y="1088"/>
                  </a:moveTo>
                  <a:cubicBezTo>
                    <a:pt x="540" y="1082"/>
                    <a:pt x="491" y="1077"/>
                    <a:pt x="450" y="1068"/>
                  </a:cubicBezTo>
                  <a:cubicBezTo>
                    <a:pt x="409" y="1059"/>
                    <a:pt x="382" y="1051"/>
                    <a:pt x="346" y="1036"/>
                  </a:cubicBezTo>
                  <a:cubicBezTo>
                    <a:pt x="310" y="1021"/>
                    <a:pt x="269" y="999"/>
                    <a:pt x="234" y="976"/>
                  </a:cubicBezTo>
                  <a:cubicBezTo>
                    <a:pt x="199" y="953"/>
                    <a:pt x="165" y="928"/>
                    <a:pt x="138" y="900"/>
                  </a:cubicBezTo>
                  <a:cubicBezTo>
                    <a:pt x="111" y="872"/>
                    <a:pt x="91" y="835"/>
                    <a:pt x="74" y="808"/>
                  </a:cubicBezTo>
                  <a:cubicBezTo>
                    <a:pt x="57" y="781"/>
                    <a:pt x="48" y="763"/>
                    <a:pt x="38" y="736"/>
                  </a:cubicBezTo>
                  <a:cubicBezTo>
                    <a:pt x="28" y="709"/>
                    <a:pt x="20" y="681"/>
                    <a:pt x="14" y="648"/>
                  </a:cubicBezTo>
                  <a:cubicBezTo>
                    <a:pt x="8" y="615"/>
                    <a:pt x="0" y="577"/>
                    <a:pt x="2" y="536"/>
                  </a:cubicBezTo>
                  <a:cubicBezTo>
                    <a:pt x="4" y="495"/>
                    <a:pt x="13" y="445"/>
                    <a:pt x="26" y="400"/>
                  </a:cubicBezTo>
                  <a:cubicBezTo>
                    <a:pt x="39" y="355"/>
                    <a:pt x="59" y="308"/>
                    <a:pt x="82" y="268"/>
                  </a:cubicBezTo>
                  <a:cubicBezTo>
                    <a:pt x="105" y="228"/>
                    <a:pt x="137" y="189"/>
                    <a:pt x="166" y="160"/>
                  </a:cubicBezTo>
                  <a:cubicBezTo>
                    <a:pt x="195" y="131"/>
                    <a:pt x="225" y="114"/>
                    <a:pt x="258" y="96"/>
                  </a:cubicBezTo>
                  <a:cubicBezTo>
                    <a:pt x="291" y="78"/>
                    <a:pt x="329" y="65"/>
                    <a:pt x="366" y="52"/>
                  </a:cubicBezTo>
                  <a:cubicBezTo>
                    <a:pt x="403" y="39"/>
                    <a:pt x="438" y="25"/>
                    <a:pt x="482" y="16"/>
                  </a:cubicBezTo>
                  <a:cubicBezTo>
                    <a:pt x="526" y="7"/>
                    <a:pt x="578" y="3"/>
                    <a:pt x="630" y="0"/>
                  </a:cubicBezTo>
                </a:path>
              </a:pathLst>
            </a:custGeom>
            <a:noFill/>
            <a:ln w="50800" cap="flat" cmpd="sng">
              <a:solidFill>
                <a:srgbClr val="B528B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7177" name="组合 387176"/>
          <p:cNvGrpSpPr/>
          <p:nvPr/>
        </p:nvGrpSpPr>
        <p:grpSpPr>
          <a:xfrm>
            <a:off x="2041525" y="1681163"/>
            <a:ext cx="1336675" cy="2241550"/>
            <a:chOff x="1286" y="1212"/>
            <a:chExt cx="842" cy="1412"/>
          </a:xfrm>
        </p:grpSpPr>
        <p:sp>
          <p:nvSpPr>
            <p:cNvPr id="387178" name="任意多边形 387177"/>
            <p:cNvSpPr/>
            <p:nvPr/>
          </p:nvSpPr>
          <p:spPr>
            <a:xfrm>
              <a:off x="1286" y="1212"/>
              <a:ext cx="650" cy="1412"/>
            </a:xfrm>
            <a:custGeom>
              <a:avLst/>
              <a:gdLst/>
              <a:ahLst/>
              <a:cxnLst/>
              <a:rect l="0" t="0" r="0" b="0"/>
              <a:pathLst>
                <a:path w="630" h="1088">
                  <a:moveTo>
                    <a:pt x="590" y="1088"/>
                  </a:moveTo>
                  <a:cubicBezTo>
                    <a:pt x="540" y="1082"/>
                    <a:pt x="491" y="1077"/>
                    <a:pt x="450" y="1068"/>
                  </a:cubicBezTo>
                  <a:cubicBezTo>
                    <a:pt x="409" y="1059"/>
                    <a:pt x="382" y="1051"/>
                    <a:pt x="346" y="1036"/>
                  </a:cubicBezTo>
                  <a:cubicBezTo>
                    <a:pt x="310" y="1021"/>
                    <a:pt x="269" y="999"/>
                    <a:pt x="234" y="976"/>
                  </a:cubicBezTo>
                  <a:cubicBezTo>
                    <a:pt x="199" y="953"/>
                    <a:pt x="165" y="928"/>
                    <a:pt x="138" y="900"/>
                  </a:cubicBezTo>
                  <a:cubicBezTo>
                    <a:pt x="111" y="872"/>
                    <a:pt x="91" y="835"/>
                    <a:pt x="74" y="808"/>
                  </a:cubicBezTo>
                  <a:cubicBezTo>
                    <a:pt x="57" y="781"/>
                    <a:pt x="48" y="763"/>
                    <a:pt x="38" y="736"/>
                  </a:cubicBezTo>
                  <a:cubicBezTo>
                    <a:pt x="28" y="709"/>
                    <a:pt x="20" y="681"/>
                    <a:pt x="14" y="648"/>
                  </a:cubicBezTo>
                  <a:cubicBezTo>
                    <a:pt x="8" y="615"/>
                    <a:pt x="0" y="577"/>
                    <a:pt x="2" y="536"/>
                  </a:cubicBezTo>
                  <a:cubicBezTo>
                    <a:pt x="4" y="495"/>
                    <a:pt x="13" y="445"/>
                    <a:pt x="26" y="400"/>
                  </a:cubicBezTo>
                  <a:cubicBezTo>
                    <a:pt x="39" y="355"/>
                    <a:pt x="59" y="308"/>
                    <a:pt x="82" y="268"/>
                  </a:cubicBezTo>
                  <a:cubicBezTo>
                    <a:pt x="105" y="228"/>
                    <a:pt x="137" y="189"/>
                    <a:pt x="166" y="160"/>
                  </a:cubicBezTo>
                  <a:cubicBezTo>
                    <a:pt x="195" y="131"/>
                    <a:pt x="225" y="114"/>
                    <a:pt x="258" y="96"/>
                  </a:cubicBezTo>
                  <a:cubicBezTo>
                    <a:pt x="291" y="78"/>
                    <a:pt x="329" y="65"/>
                    <a:pt x="366" y="52"/>
                  </a:cubicBezTo>
                  <a:cubicBezTo>
                    <a:pt x="403" y="39"/>
                    <a:pt x="438" y="25"/>
                    <a:pt x="482" y="16"/>
                  </a:cubicBezTo>
                  <a:cubicBezTo>
                    <a:pt x="526" y="7"/>
                    <a:pt x="578" y="3"/>
                    <a:pt x="630" y="0"/>
                  </a:cubicBezTo>
                </a:path>
              </a:pathLst>
            </a:custGeom>
            <a:noFill/>
            <a:ln w="50800" cap="flat" cmpd="sng">
              <a:solidFill>
                <a:srgbClr val="FE140E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79" name="任意多边形 387178"/>
            <p:cNvSpPr/>
            <p:nvPr/>
          </p:nvSpPr>
          <p:spPr>
            <a:xfrm>
              <a:off x="1944" y="1212"/>
              <a:ext cx="184" cy="165"/>
            </a:xfrm>
            <a:custGeom>
              <a:avLst/>
              <a:gdLst/>
              <a:ahLst/>
              <a:cxnLst/>
              <a:rect l="0" t="0" r="0" b="0"/>
              <a:pathLst>
                <a:path w="184" h="165">
                  <a:moveTo>
                    <a:pt x="0" y="0"/>
                  </a:moveTo>
                  <a:cubicBezTo>
                    <a:pt x="6" y="18"/>
                    <a:pt x="12" y="37"/>
                    <a:pt x="20" y="52"/>
                  </a:cubicBezTo>
                  <a:cubicBezTo>
                    <a:pt x="28" y="67"/>
                    <a:pt x="36" y="79"/>
                    <a:pt x="48" y="92"/>
                  </a:cubicBezTo>
                  <a:cubicBezTo>
                    <a:pt x="60" y="105"/>
                    <a:pt x="73" y="121"/>
                    <a:pt x="92" y="132"/>
                  </a:cubicBezTo>
                  <a:cubicBezTo>
                    <a:pt x="111" y="143"/>
                    <a:pt x="145" y="155"/>
                    <a:pt x="160" y="160"/>
                  </a:cubicBezTo>
                  <a:cubicBezTo>
                    <a:pt x="175" y="165"/>
                    <a:pt x="179" y="162"/>
                    <a:pt x="184" y="160"/>
                  </a:cubicBezTo>
                </a:path>
              </a:pathLst>
            </a:custGeom>
            <a:noFill/>
            <a:ln w="50800" cap="flat" cmpd="sng">
              <a:solidFill>
                <a:srgbClr val="FE140E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80" name="任意多边形 387179"/>
            <p:cNvSpPr/>
            <p:nvPr/>
          </p:nvSpPr>
          <p:spPr>
            <a:xfrm>
              <a:off x="1892" y="2480"/>
              <a:ext cx="168" cy="144"/>
            </a:xfrm>
            <a:custGeom>
              <a:avLst/>
              <a:gdLst/>
              <a:ahLst/>
              <a:cxnLst/>
              <a:rect l="0" t="0" r="0" b="0"/>
              <a:pathLst>
                <a:path w="168" h="144">
                  <a:moveTo>
                    <a:pt x="0" y="144"/>
                  </a:moveTo>
                  <a:cubicBezTo>
                    <a:pt x="4" y="126"/>
                    <a:pt x="9" y="109"/>
                    <a:pt x="16" y="96"/>
                  </a:cubicBezTo>
                  <a:cubicBezTo>
                    <a:pt x="23" y="83"/>
                    <a:pt x="35" y="76"/>
                    <a:pt x="44" y="68"/>
                  </a:cubicBezTo>
                  <a:cubicBezTo>
                    <a:pt x="53" y="60"/>
                    <a:pt x="62" y="55"/>
                    <a:pt x="72" y="48"/>
                  </a:cubicBezTo>
                  <a:cubicBezTo>
                    <a:pt x="82" y="41"/>
                    <a:pt x="88" y="36"/>
                    <a:pt x="104" y="28"/>
                  </a:cubicBezTo>
                  <a:cubicBezTo>
                    <a:pt x="120" y="20"/>
                    <a:pt x="144" y="10"/>
                    <a:pt x="168" y="0"/>
                  </a:cubicBezTo>
                </a:path>
              </a:pathLst>
            </a:custGeom>
            <a:noFill/>
            <a:ln w="50800" cap="flat" cmpd="sng">
              <a:solidFill>
                <a:srgbClr val="FE140E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7181" name="组合 387180"/>
          <p:cNvGrpSpPr/>
          <p:nvPr/>
        </p:nvGrpSpPr>
        <p:grpSpPr>
          <a:xfrm>
            <a:off x="5137785" y="1424305"/>
            <a:ext cx="1893570" cy="2950210"/>
            <a:chOff x="3248" y="1050"/>
            <a:chExt cx="1181" cy="1870"/>
          </a:xfrm>
        </p:grpSpPr>
        <p:sp>
          <p:nvSpPr>
            <p:cNvPr id="387182" name="任意多边形 387181"/>
            <p:cNvSpPr/>
            <p:nvPr/>
          </p:nvSpPr>
          <p:spPr>
            <a:xfrm>
              <a:off x="3296" y="1050"/>
              <a:ext cx="1133" cy="1870"/>
            </a:xfrm>
            <a:custGeom>
              <a:avLst/>
              <a:gdLst/>
              <a:ahLst/>
              <a:cxnLst/>
              <a:rect l="0" t="0" r="0" b="0"/>
              <a:pathLst>
                <a:path w="1045" h="1594">
                  <a:moveTo>
                    <a:pt x="36" y="26"/>
                  </a:moveTo>
                  <a:cubicBezTo>
                    <a:pt x="72" y="22"/>
                    <a:pt x="109" y="18"/>
                    <a:pt x="148" y="14"/>
                  </a:cubicBezTo>
                  <a:cubicBezTo>
                    <a:pt x="187" y="10"/>
                    <a:pt x="222" y="0"/>
                    <a:pt x="268" y="2"/>
                  </a:cubicBezTo>
                  <a:cubicBezTo>
                    <a:pt x="314" y="4"/>
                    <a:pt x="377" y="16"/>
                    <a:pt x="424" y="26"/>
                  </a:cubicBezTo>
                  <a:cubicBezTo>
                    <a:pt x="471" y="36"/>
                    <a:pt x="511" y="45"/>
                    <a:pt x="552" y="62"/>
                  </a:cubicBezTo>
                  <a:cubicBezTo>
                    <a:pt x="593" y="79"/>
                    <a:pt x="633" y="105"/>
                    <a:pt x="672" y="130"/>
                  </a:cubicBezTo>
                  <a:cubicBezTo>
                    <a:pt x="711" y="155"/>
                    <a:pt x="752" y="183"/>
                    <a:pt x="784" y="210"/>
                  </a:cubicBezTo>
                  <a:cubicBezTo>
                    <a:pt x="816" y="237"/>
                    <a:pt x="838" y="262"/>
                    <a:pt x="864" y="294"/>
                  </a:cubicBezTo>
                  <a:cubicBezTo>
                    <a:pt x="890" y="326"/>
                    <a:pt x="916" y="359"/>
                    <a:pt x="940" y="402"/>
                  </a:cubicBezTo>
                  <a:cubicBezTo>
                    <a:pt x="964" y="445"/>
                    <a:pt x="992" y="509"/>
                    <a:pt x="1008" y="554"/>
                  </a:cubicBezTo>
                  <a:cubicBezTo>
                    <a:pt x="1024" y="599"/>
                    <a:pt x="1030" y="631"/>
                    <a:pt x="1036" y="674"/>
                  </a:cubicBezTo>
                  <a:cubicBezTo>
                    <a:pt x="1042" y="717"/>
                    <a:pt x="1045" y="760"/>
                    <a:pt x="1044" y="810"/>
                  </a:cubicBezTo>
                  <a:cubicBezTo>
                    <a:pt x="1043" y="860"/>
                    <a:pt x="1039" y="921"/>
                    <a:pt x="1028" y="974"/>
                  </a:cubicBezTo>
                  <a:cubicBezTo>
                    <a:pt x="1017" y="1027"/>
                    <a:pt x="1004" y="1075"/>
                    <a:pt x="980" y="1126"/>
                  </a:cubicBezTo>
                  <a:cubicBezTo>
                    <a:pt x="956" y="1177"/>
                    <a:pt x="915" y="1239"/>
                    <a:pt x="884" y="1282"/>
                  </a:cubicBezTo>
                  <a:cubicBezTo>
                    <a:pt x="853" y="1325"/>
                    <a:pt x="826" y="1354"/>
                    <a:pt x="792" y="1386"/>
                  </a:cubicBezTo>
                  <a:cubicBezTo>
                    <a:pt x="758" y="1418"/>
                    <a:pt x="721" y="1448"/>
                    <a:pt x="680" y="1474"/>
                  </a:cubicBezTo>
                  <a:cubicBezTo>
                    <a:pt x="639" y="1500"/>
                    <a:pt x="595" y="1525"/>
                    <a:pt x="548" y="1542"/>
                  </a:cubicBezTo>
                  <a:cubicBezTo>
                    <a:pt x="501" y="1559"/>
                    <a:pt x="445" y="1569"/>
                    <a:pt x="396" y="1578"/>
                  </a:cubicBezTo>
                  <a:cubicBezTo>
                    <a:pt x="347" y="1587"/>
                    <a:pt x="298" y="1594"/>
                    <a:pt x="256" y="1594"/>
                  </a:cubicBezTo>
                  <a:cubicBezTo>
                    <a:pt x="214" y="1594"/>
                    <a:pt x="187" y="1584"/>
                    <a:pt x="144" y="1578"/>
                  </a:cubicBezTo>
                  <a:cubicBezTo>
                    <a:pt x="101" y="1572"/>
                    <a:pt x="50" y="1565"/>
                    <a:pt x="0" y="1558"/>
                  </a:cubicBezTo>
                </a:path>
              </a:pathLst>
            </a:custGeom>
            <a:noFill/>
            <a:ln w="50800" cap="flat" cmpd="sng">
              <a:solidFill>
                <a:srgbClr val="FE140E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83" name="任意多边形 387182"/>
            <p:cNvSpPr/>
            <p:nvPr/>
          </p:nvSpPr>
          <p:spPr>
            <a:xfrm>
              <a:off x="3284" y="1080"/>
              <a:ext cx="64" cy="112"/>
            </a:xfrm>
            <a:custGeom>
              <a:avLst/>
              <a:gdLst/>
              <a:ahLst/>
              <a:cxnLst/>
              <a:rect l="0" t="0" r="0" b="0"/>
              <a:pathLst>
                <a:path w="64" h="112">
                  <a:moveTo>
                    <a:pt x="64" y="0"/>
                  </a:moveTo>
                  <a:cubicBezTo>
                    <a:pt x="64" y="14"/>
                    <a:pt x="64" y="28"/>
                    <a:pt x="60" y="40"/>
                  </a:cubicBezTo>
                  <a:cubicBezTo>
                    <a:pt x="56" y="52"/>
                    <a:pt x="50" y="60"/>
                    <a:pt x="40" y="72"/>
                  </a:cubicBezTo>
                  <a:cubicBezTo>
                    <a:pt x="30" y="84"/>
                    <a:pt x="15" y="98"/>
                    <a:pt x="0" y="112"/>
                  </a:cubicBezTo>
                </a:path>
              </a:pathLst>
            </a:custGeom>
            <a:noFill/>
            <a:ln w="50800" cap="flat" cmpd="sng">
              <a:solidFill>
                <a:srgbClr val="FE140E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184" name="任意多边形 387183"/>
            <p:cNvSpPr/>
            <p:nvPr/>
          </p:nvSpPr>
          <p:spPr>
            <a:xfrm>
              <a:off x="3248" y="2748"/>
              <a:ext cx="56" cy="128"/>
            </a:xfrm>
            <a:custGeom>
              <a:avLst/>
              <a:gdLst/>
              <a:ahLst/>
              <a:cxnLst/>
              <a:rect l="0" t="0" r="0" b="0"/>
              <a:pathLst>
                <a:path w="56" h="128">
                  <a:moveTo>
                    <a:pt x="56" y="128"/>
                  </a:moveTo>
                  <a:cubicBezTo>
                    <a:pt x="55" y="115"/>
                    <a:pt x="54" y="103"/>
                    <a:pt x="52" y="92"/>
                  </a:cubicBezTo>
                  <a:cubicBezTo>
                    <a:pt x="50" y="81"/>
                    <a:pt x="47" y="70"/>
                    <a:pt x="44" y="60"/>
                  </a:cubicBezTo>
                  <a:cubicBezTo>
                    <a:pt x="41" y="50"/>
                    <a:pt x="39" y="42"/>
                    <a:pt x="32" y="32"/>
                  </a:cubicBezTo>
                  <a:cubicBezTo>
                    <a:pt x="25" y="22"/>
                    <a:pt x="12" y="11"/>
                    <a:pt x="0" y="0"/>
                  </a:cubicBezTo>
                </a:path>
              </a:pathLst>
            </a:custGeom>
            <a:noFill/>
            <a:ln w="50800" cap="flat" cmpd="sng">
              <a:solidFill>
                <a:srgbClr val="FE140E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7185" name="组合 387184"/>
          <p:cNvGrpSpPr/>
          <p:nvPr/>
        </p:nvGrpSpPr>
        <p:grpSpPr>
          <a:xfrm>
            <a:off x="4016375" y="2860675"/>
            <a:ext cx="484188" cy="1282700"/>
            <a:chOff x="2530" y="1802"/>
            <a:chExt cx="305" cy="808"/>
          </a:xfrm>
        </p:grpSpPr>
        <p:sp>
          <p:nvSpPr>
            <p:cNvPr id="387186" name="直接连接符 387185"/>
            <p:cNvSpPr/>
            <p:nvPr/>
          </p:nvSpPr>
          <p:spPr>
            <a:xfrm flipV="1">
              <a:off x="2670" y="2319"/>
              <a:ext cx="72" cy="2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187" name="直接连接符 387186"/>
            <p:cNvSpPr/>
            <p:nvPr/>
          </p:nvSpPr>
          <p:spPr>
            <a:xfrm flipH="1">
              <a:off x="2763" y="1935"/>
              <a:ext cx="72" cy="2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188" name="直接连接符 387187"/>
            <p:cNvSpPr/>
            <p:nvPr/>
          </p:nvSpPr>
          <p:spPr>
            <a:xfrm flipV="1">
              <a:off x="2742" y="2205"/>
              <a:ext cx="30" cy="123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7189" name="文本框 387188"/>
            <p:cNvSpPr txBox="1"/>
            <p:nvPr/>
          </p:nvSpPr>
          <p:spPr>
            <a:xfrm rot="-4875819">
              <a:off x="2426" y="1905"/>
              <a:ext cx="495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" panose="02010609060101010101" pitchFamily="49" charset="-122"/>
                </a:rPr>
                <a:t>σ</a:t>
              </a:r>
              <a:r>
                <a:rPr lang="en-US" altLang="zh-CN" baseline="-16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方正大黑简体" pitchFamily="2" charset="-122"/>
                </a:rPr>
                <a:t>c</a:t>
              </a:r>
              <a:endParaRPr lang="en-US" altLang="zh-CN" baseline="-16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方正大黑简体" pitchFamily="2" charset="-122"/>
              </a:endParaRPr>
            </a:p>
          </p:txBody>
        </p:sp>
      </p:grpSp>
      <p:grpSp>
        <p:nvGrpSpPr>
          <p:cNvPr id="387190" name="组合 387189"/>
          <p:cNvGrpSpPr/>
          <p:nvPr/>
        </p:nvGrpSpPr>
        <p:grpSpPr>
          <a:xfrm>
            <a:off x="3381375" y="3100388"/>
            <a:ext cx="609600" cy="1392237"/>
            <a:chOff x="2130" y="1953"/>
            <a:chExt cx="384" cy="877"/>
          </a:xfrm>
        </p:grpSpPr>
        <p:sp>
          <p:nvSpPr>
            <p:cNvPr id="387191" name="直接连接符 387190"/>
            <p:cNvSpPr/>
            <p:nvPr/>
          </p:nvSpPr>
          <p:spPr>
            <a:xfrm flipV="1">
              <a:off x="2331" y="2385"/>
              <a:ext cx="72" cy="2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192" name="直接连接符 387191"/>
            <p:cNvSpPr/>
            <p:nvPr/>
          </p:nvSpPr>
          <p:spPr>
            <a:xfrm flipH="1">
              <a:off x="2442" y="1953"/>
              <a:ext cx="72" cy="2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193" name="直接连接符 387192"/>
            <p:cNvSpPr/>
            <p:nvPr/>
          </p:nvSpPr>
          <p:spPr>
            <a:xfrm flipV="1">
              <a:off x="2403" y="2226"/>
              <a:ext cx="45" cy="177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7194" name="文本框 387193"/>
            <p:cNvSpPr txBox="1"/>
            <p:nvPr/>
          </p:nvSpPr>
          <p:spPr>
            <a:xfrm rot="-4875819">
              <a:off x="1981" y="2410"/>
              <a:ext cx="568" cy="27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" panose="02010609060101010101" pitchFamily="49" charset="-122"/>
                </a:rPr>
                <a:t>σ</a:t>
              </a:r>
              <a:r>
                <a:rPr lang="en-US" altLang="zh-CN" baseline="-16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baseline="-16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87195" name="组合 387194"/>
          <p:cNvGrpSpPr/>
          <p:nvPr/>
        </p:nvGrpSpPr>
        <p:grpSpPr>
          <a:xfrm>
            <a:off x="3800476" y="1106488"/>
            <a:ext cx="585788" cy="1336675"/>
            <a:chOff x="2394" y="697"/>
            <a:chExt cx="369" cy="842"/>
          </a:xfrm>
        </p:grpSpPr>
        <p:sp>
          <p:nvSpPr>
            <p:cNvPr id="387196" name="文本框 387195"/>
            <p:cNvSpPr txBox="1"/>
            <p:nvPr/>
          </p:nvSpPr>
          <p:spPr>
            <a:xfrm rot="-5851087">
              <a:off x="2290" y="800"/>
              <a:ext cx="495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" panose="02010609060101010101" pitchFamily="49" charset="-122"/>
                </a:rPr>
                <a:t>σ</a:t>
              </a:r>
              <a:r>
                <a:rPr lang="en-US" altLang="zh-CN" baseline="-16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方正大黑简体" pitchFamily="2" charset="-122"/>
                </a:rPr>
                <a:t>2</a:t>
              </a:r>
              <a:endParaRPr lang="en-US" altLang="zh-CN" baseline="-16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方正大黑简体" pitchFamily="2" charset="-122"/>
              </a:endParaRPr>
            </a:p>
          </p:txBody>
        </p:sp>
        <p:sp>
          <p:nvSpPr>
            <p:cNvPr id="387197" name="直接连接符 387196"/>
            <p:cNvSpPr/>
            <p:nvPr/>
          </p:nvSpPr>
          <p:spPr>
            <a:xfrm flipH="1" flipV="1">
              <a:off x="2727" y="1254"/>
              <a:ext cx="36" cy="285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198" name="直接连接符 387197"/>
            <p:cNvSpPr/>
            <p:nvPr/>
          </p:nvSpPr>
          <p:spPr>
            <a:xfrm>
              <a:off x="2667" y="849"/>
              <a:ext cx="45" cy="294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199" name="直接连接符 387198"/>
            <p:cNvSpPr/>
            <p:nvPr/>
          </p:nvSpPr>
          <p:spPr>
            <a:xfrm flipH="1" flipV="1">
              <a:off x="2709" y="1131"/>
              <a:ext cx="21" cy="129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87200" name="组合 387199"/>
          <p:cNvGrpSpPr/>
          <p:nvPr/>
        </p:nvGrpSpPr>
        <p:grpSpPr>
          <a:xfrm>
            <a:off x="1978025" y="3099753"/>
            <a:ext cx="906463" cy="1265237"/>
            <a:chOff x="1246" y="1953"/>
            <a:chExt cx="571" cy="797"/>
          </a:xfrm>
        </p:grpSpPr>
        <p:sp>
          <p:nvSpPr>
            <p:cNvPr id="387201" name="直接连接符 387200"/>
            <p:cNvSpPr/>
            <p:nvPr/>
          </p:nvSpPr>
          <p:spPr>
            <a:xfrm rot="953833" flipV="1">
              <a:off x="1511" y="2369"/>
              <a:ext cx="72" cy="2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202" name="直接连接符 387201"/>
            <p:cNvSpPr/>
            <p:nvPr/>
          </p:nvSpPr>
          <p:spPr>
            <a:xfrm rot="953833" flipH="1">
              <a:off x="1745" y="1953"/>
              <a:ext cx="72" cy="2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203" name="直接连接符 387202"/>
            <p:cNvSpPr/>
            <p:nvPr/>
          </p:nvSpPr>
          <p:spPr>
            <a:xfrm rot="952940" flipV="1">
              <a:off x="1643" y="2222"/>
              <a:ext cx="45" cy="177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7204" name="文本框 387203"/>
            <p:cNvSpPr txBox="1"/>
            <p:nvPr/>
          </p:nvSpPr>
          <p:spPr>
            <a:xfrm rot="-3631021">
              <a:off x="1133" y="2366"/>
              <a:ext cx="496" cy="27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" panose="02010609060101010101" pitchFamily="49" charset="-122"/>
                </a:rPr>
                <a:t>σ</a:t>
              </a:r>
              <a:r>
                <a:rPr lang="en-US" altLang="zh-CN" baseline="-16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b1</a:t>
              </a:r>
              <a:endParaRPr lang="en-US" altLang="zh-CN" baseline="-16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139815" y="3518535"/>
            <a:ext cx="1358265" cy="557530"/>
            <a:chOff x="9669" y="5541"/>
            <a:chExt cx="2139" cy="878"/>
          </a:xfrm>
        </p:grpSpPr>
        <p:sp>
          <p:nvSpPr>
            <p:cNvPr id="387206" name="直接连接符 387205"/>
            <p:cNvSpPr/>
            <p:nvPr/>
          </p:nvSpPr>
          <p:spPr>
            <a:xfrm rot="17766697" flipV="1">
              <a:off x="10755" y="5947"/>
              <a:ext cx="180" cy="72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207" name="直接连接符 387206"/>
            <p:cNvSpPr/>
            <p:nvPr/>
          </p:nvSpPr>
          <p:spPr>
            <a:xfrm rot="17766697" flipH="1">
              <a:off x="9943" y="5267"/>
              <a:ext cx="180" cy="72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87208" name="直接连接符 387207"/>
            <p:cNvSpPr/>
            <p:nvPr/>
          </p:nvSpPr>
          <p:spPr>
            <a:xfrm rot="17765920" flipV="1">
              <a:off x="10405" y="5817"/>
              <a:ext cx="75" cy="313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7209" name="文本框 387208"/>
            <p:cNvSpPr txBox="1"/>
            <p:nvPr/>
          </p:nvSpPr>
          <p:spPr>
            <a:xfrm rot="2330471">
              <a:off x="10568" y="5699"/>
              <a:ext cx="1240" cy="72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" panose="02010609060101010101" pitchFamily="49" charset="-122"/>
                </a:rPr>
                <a:t>σ</a:t>
              </a:r>
              <a:r>
                <a:rPr lang="en-US" altLang="zh-CN" baseline="-16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b2</a:t>
              </a:r>
              <a:endParaRPr lang="en-US" altLang="zh-CN" baseline="-16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87210" name="组合 387209"/>
          <p:cNvGrpSpPr/>
          <p:nvPr/>
        </p:nvGrpSpPr>
        <p:grpSpPr>
          <a:xfrm>
            <a:off x="2771776" y="3367405"/>
            <a:ext cx="750888" cy="1447801"/>
            <a:chOff x="1756" y="2130"/>
            <a:chExt cx="473" cy="912"/>
          </a:xfrm>
        </p:grpSpPr>
        <p:sp>
          <p:nvSpPr>
            <p:cNvPr id="387211" name="直接连接符 387210"/>
            <p:cNvSpPr/>
            <p:nvPr/>
          </p:nvSpPr>
          <p:spPr>
            <a:xfrm flipV="1">
              <a:off x="2052" y="2544"/>
              <a:ext cx="72" cy="285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87212" name="直接连接符 387211"/>
            <p:cNvSpPr/>
            <p:nvPr/>
          </p:nvSpPr>
          <p:spPr>
            <a:xfrm flipV="1">
              <a:off x="2118" y="2130"/>
              <a:ext cx="111" cy="429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387213" name="文本框 387212"/>
            <p:cNvSpPr txBox="1"/>
            <p:nvPr/>
          </p:nvSpPr>
          <p:spPr>
            <a:xfrm rot="-4616222">
              <a:off x="1605" y="2603"/>
              <a:ext cx="589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" panose="02010609060101010101" pitchFamily="49" charset="-122"/>
                </a:rPr>
                <a:t>σ</a:t>
              </a:r>
              <a:r>
                <a:rPr lang="en-US" altLang="zh-CN" baseline="-12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max</a:t>
              </a:r>
              <a:endParaRPr lang="en-US" altLang="zh-CN" baseline="-12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87214" name="直接连接符 387213"/>
          <p:cNvSpPr/>
          <p:nvPr/>
        </p:nvSpPr>
        <p:spPr>
          <a:xfrm flipV="1">
            <a:off x="2971800" y="3290888"/>
            <a:ext cx="157163" cy="647700"/>
          </a:xfrm>
          <a:prstGeom prst="line">
            <a:avLst/>
          </a:prstGeom>
          <a:ln w="5715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183" y="134303"/>
            <a:ext cx="578643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3.2-3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带传动的工作情况的分析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3024" name="直接连接符 6"/>
          <p:cNvSpPr>
            <a:spLocks noChangeShapeType="1"/>
          </p:cNvSpPr>
          <p:nvPr/>
        </p:nvSpPr>
        <p:spPr bwMode="auto">
          <a:xfrm>
            <a:off x="0" y="7016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" name="直接连接符 3"/>
          <p:cNvCxnSpPr>
            <a:stCxn id="387214" idx="0"/>
          </p:cNvCxnSpPr>
          <p:nvPr/>
        </p:nvCxnSpPr>
        <p:spPr>
          <a:xfrm>
            <a:off x="2971800" y="3938905"/>
            <a:ext cx="520065" cy="138430"/>
          </a:xfrm>
          <a:prstGeom prst="line">
            <a:avLst/>
          </a:prstGeom>
          <a:noFill/>
          <a:ln w="254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8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8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8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8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8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8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8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8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38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38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87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87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8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8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2" dur="500"/>
                                        <p:tgtEl>
                                          <p:spTgt spid="38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156" grpId="0"/>
      <p:bldP spid="387157" grpId="0"/>
      <p:bldP spid="387158" grpId="0"/>
      <p:bldP spid="387159" grpId="0" bldLvl="0" animBg="1"/>
      <p:bldP spid="38716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9" name="文本框 487428"/>
          <p:cNvSpPr txBox="1"/>
          <p:nvPr/>
        </p:nvSpPr>
        <p:spPr>
          <a:xfrm>
            <a:off x="533400" y="1447800"/>
            <a:ext cx="2578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两种滑动现象：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7430" name="文本框 487429"/>
          <p:cNvSpPr txBox="1"/>
          <p:nvPr/>
        </p:nvSpPr>
        <p:spPr>
          <a:xfrm>
            <a:off x="381000" y="765175"/>
            <a:ext cx="4635500" cy="42989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三、带的弹性滑动和传动比</a:t>
            </a:r>
            <a:endParaRPr lang="zh-CN" altLang="en-US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7431" name="文本框 487430"/>
          <p:cNvSpPr txBox="1"/>
          <p:nvPr/>
        </p:nvSpPr>
        <p:spPr>
          <a:xfrm>
            <a:off x="533400" y="1076325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、弹性滑动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7432" name="文本框 487431"/>
          <p:cNvSpPr txBox="1"/>
          <p:nvPr/>
        </p:nvSpPr>
        <p:spPr>
          <a:xfrm>
            <a:off x="838200" y="1844675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打        滑 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7433" name="文本框 487432"/>
          <p:cNvSpPr txBox="1"/>
          <p:nvPr/>
        </p:nvSpPr>
        <p:spPr>
          <a:xfrm>
            <a:off x="2133600" y="1844675"/>
            <a:ext cx="525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是带传动的一种失效形式，应避免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7434" name="文本框 487433"/>
          <p:cNvSpPr txBox="1"/>
          <p:nvPr/>
        </p:nvSpPr>
        <p:spPr>
          <a:xfrm>
            <a:off x="838200" y="2301875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弹性滑动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7435" name="文本框 487434"/>
          <p:cNvSpPr txBox="1"/>
          <p:nvPr/>
        </p:nvSpPr>
        <p:spPr>
          <a:xfrm>
            <a:off x="2133600" y="2301875"/>
            <a:ext cx="601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正常工作时的微量滑动现象，不可避免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7436" name="文本框 487435"/>
          <p:cNvSpPr txBox="1"/>
          <p:nvPr/>
        </p:nvSpPr>
        <p:spPr>
          <a:xfrm>
            <a:off x="533400" y="2755900"/>
            <a:ext cx="383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弹性滑动是如何产生的？</a:t>
            </a:r>
            <a:endParaRPr lang="zh-CN" altLang="en-US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487437" name="图片 487436" descr="图8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200" y="3146425"/>
            <a:ext cx="5334000" cy="3032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7438" name="文本框 487437"/>
          <p:cNvSpPr txBox="1"/>
          <p:nvPr/>
        </p:nvSpPr>
        <p:spPr>
          <a:xfrm>
            <a:off x="685800" y="33274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accent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&gt;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7439" name="文本框 487438"/>
          <p:cNvSpPr txBox="1"/>
          <p:nvPr/>
        </p:nvSpPr>
        <p:spPr>
          <a:xfrm>
            <a:off x="381000" y="3976370"/>
            <a:ext cx="3124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故松、紧边单位长度上的变形量不等。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7440" name="文本框 487439"/>
          <p:cNvSpPr txBox="1"/>
          <p:nvPr/>
        </p:nvSpPr>
        <p:spPr>
          <a:xfrm>
            <a:off x="304800" y="4881245"/>
            <a:ext cx="31242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带绕过主动轮时拉力逐渐减小，带逐渐收缩，使带相对于主动轮的转向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向后滑动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87444" name="组合 487443"/>
          <p:cNvGrpSpPr/>
          <p:nvPr/>
        </p:nvGrpSpPr>
        <p:grpSpPr>
          <a:xfrm>
            <a:off x="4838700" y="5651500"/>
            <a:ext cx="1524000" cy="457200"/>
            <a:chOff x="3264" y="3696"/>
            <a:chExt cx="960" cy="288"/>
          </a:xfrm>
        </p:grpSpPr>
        <p:sp>
          <p:nvSpPr>
            <p:cNvPr id="487445" name="直接连接符 487444"/>
            <p:cNvSpPr/>
            <p:nvPr/>
          </p:nvSpPr>
          <p:spPr>
            <a:xfrm>
              <a:off x="3264" y="3744"/>
              <a:ext cx="576" cy="4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87446" name="文本框 487445"/>
            <p:cNvSpPr txBox="1"/>
            <p:nvPr/>
          </p:nvSpPr>
          <p:spPr>
            <a:xfrm>
              <a:off x="3792" y="3696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aseline="-25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7447" name="组合 487446"/>
          <p:cNvGrpSpPr/>
          <p:nvPr/>
        </p:nvGrpSpPr>
        <p:grpSpPr>
          <a:xfrm>
            <a:off x="4838700" y="3213100"/>
            <a:ext cx="1295400" cy="457200"/>
            <a:chOff x="3264" y="2160"/>
            <a:chExt cx="816" cy="288"/>
          </a:xfrm>
        </p:grpSpPr>
        <p:sp>
          <p:nvSpPr>
            <p:cNvPr id="487448" name="直接连接符 487447"/>
            <p:cNvSpPr/>
            <p:nvPr/>
          </p:nvSpPr>
          <p:spPr>
            <a:xfrm flipV="1">
              <a:off x="3264" y="2352"/>
              <a:ext cx="432" cy="4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87449" name="文本框 487448"/>
            <p:cNvSpPr txBox="1"/>
            <p:nvPr/>
          </p:nvSpPr>
          <p:spPr>
            <a:xfrm>
              <a:off x="3648" y="2160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aseline="-25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87450" name="文本框 487449"/>
          <p:cNvSpPr txBox="1"/>
          <p:nvPr/>
        </p:nvSpPr>
        <p:spPr>
          <a:xfrm>
            <a:off x="5219700" y="4127500"/>
            <a:ext cx="1295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i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＜ </a:t>
            </a:r>
            <a:r>
              <a:rPr lang="en-US" altLang="zh-CN" sz="2800" i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baseline="-2500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7453" name="直接连接符 487452"/>
          <p:cNvSpPr/>
          <p:nvPr/>
        </p:nvSpPr>
        <p:spPr>
          <a:xfrm>
            <a:off x="3903663" y="4268788"/>
            <a:ext cx="609600" cy="412750"/>
          </a:xfrm>
          <a:prstGeom prst="line">
            <a:avLst/>
          </a:prstGeom>
          <a:ln w="31750" cap="flat" cmpd="sng">
            <a:solidFill>
              <a:srgbClr val="00CC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7456" name="直接连接符 487455"/>
          <p:cNvSpPr/>
          <p:nvPr/>
        </p:nvSpPr>
        <p:spPr>
          <a:xfrm flipV="1">
            <a:off x="3873500" y="5270500"/>
            <a:ext cx="203200" cy="45720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87460" name="组合 487459"/>
          <p:cNvGrpSpPr/>
          <p:nvPr/>
        </p:nvGrpSpPr>
        <p:grpSpPr>
          <a:xfrm>
            <a:off x="5130800" y="5041900"/>
            <a:ext cx="1244600" cy="519113"/>
            <a:chOff x="3328" y="3176"/>
            <a:chExt cx="784" cy="327"/>
          </a:xfrm>
        </p:grpSpPr>
        <p:sp>
          <p:nvSpPr>
            <p:cNvPr id="487461" name="文本框 487460"/>
            <p:cNvSpPr txBox="1"/>
            <p:nvPr/>
          </p:nvSpPr>
          <p:spPr>
            <a:xfrm>
              <a:off x="3680" y="3176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800" baseline="-25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aseline="-25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7462" name="直接连接符 487461"/>
            <p:cNvSpPr/>
            <p:nvPr/>
          </p:nvSpPr>
          <p:spPr>
            <a:xfrm flipH="1" flipV="1">
              <a:off x="3328" y="3336"/>
              <a:ext cx="360" cy="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487463" name="组合 487462"/>
          <p:cNvGrpSpPr/>
          <p:nvPr/>
        </p:nvGrpSpPr>
        <p:grpSpPr>
          <a:xfrm>
            <a:off x="5283200" y="3683000"/>
            <a:ext cx="952500" cy="519113"/>
            <a:chOff x="3424" y="2320"/>
            <a:chExt cx="600" cy="327"/>
          </a:xfrm>
        </p:grpSpPr>
        <p:sp>
          <p:nvSpPr>
            <p:cNvPr id="487464" name="文本框 487463"/>
            <p:cNvSpPr txBox="1"/>
            <p:nvPr/>
          </p:nvSpPr>
          <p:spPr>
            <a:xfrm>
              <a:off x="3424" y="2320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800" baseline="-2500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aseline="-2500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7465" name="直接连接符 487464"/>
            <p:cNvSpPr/>
            <p:nvPr/>
          </p:nvSpPr>
          <p:spPr>
            <a:xfrm flipV="1">
              <a:off x="3704" y="2447"/>
              <a:ext cx="320" cy="49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487467" name="文本框 487466"/>
          <p:cNvSpPr txBox="1"/>
          <p:nvPr/>
        </p:nvSpPr>
        <p:spPr>
          <a:xfrm>
            <a:off x="4038600" y="1358900"/>
            <a:ext cx="48006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所以打滑总是先出现在小带轮上</a:t>
            </a:r>
            <a:endParaRPr lang="zh-CN" altLang="en-US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7468" name="直接连接符 487467"/>
          <p:cNvSpPr/>
          <p:nvPr/>
        </p:nvSpPr>
        <p:spPr>
          <a:xfrm>
            <a:off x="4429125" y="5391150"/>
            <a:ext cx="4763" cy="190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oval" w="med" len="med"/>
          </a:ln>
        </p:spPr>
      </p:sp>
      <p:sp>
        <p:nvSpPr>
          <p:cNvPr id="487469" name="直接连接符 487468"/>
          <p:cNvSpPr/>
          <p:nvPr/>
        </p:nvSpPr>
        <p:spPr>
          <a:xfrm>
            <a:off x="4433888" y="3929063"/>
            <a:ext cx="4762" cy="190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oval" w="med" len="med"/>
          </a:ln>
        </p:spPr>
      </p:sp>
      <p:sp>
        <p:nvSpPr>
          <p:cNvPr id="487470" name="直接连接符 487469"/>
          <p:cNvSpPr/>
          <p:nvPr/>
        </p:nvSpPr>
        <p:spPr>
          <a:xfrm>
            <a:off x="4243388" y="3990975"/>
            <a:ext cx="4762" cy="190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oval" w="med" len="med"/>
          </a:ln>
        </p:spPr>
      </p:sp>
      <p:sp>
        <p:nvSpPr>
          <p:cNvPr id="487472" name="文本框 487471"/>
          <p:cNvSpPr txBox="1"/>
          <p:nvPr/>
        </p:nvSpPr>
        <p:spPr>
          <a:xfrm>
            <a:off x="4076700" y="3948430"/>
            <a:ext cx="5159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000" baseline="-16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'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0" y="195263"/>
            <a:ext cx="571500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3.2-3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带传动的工作情况的分析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6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左大括号 1"/>
          <p:cNvSpPr/>
          <p:nvPr/>
        </p:nvSpPr>
        <p:spPr>
          <a:xfrm>
            <a:off x="827405" y="1988820"/>
            <a:ext cx="75565" cy="504190"/>
          </a:xfrm>
          <a:prstGeom prst="leftBrac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8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48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4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48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48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48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48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8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8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48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48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48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87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87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87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87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87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87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3" presetClass="entr" presetSubtype="28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87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87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4" dur="500"/>
                                        <p:tgtEl>
                                          <p:spTgt spid="48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9" dur="500"/>
                                        <p:tgtEl>
                                          <p:spTgt spid="48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4" dur="500"/>
                                        <p:tgtEl>
                                          <p:spTgt spid="48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8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3" dur="75"/>
                                        <p:tgtEl>
                                          <p:spTgt spid="48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9" grpId="0"/>
      <p:bldP spid="487430" grpId="0"/>
      <p:bldP spid="487431" grpId="0"/>
      <p:bldP spid="487432" grpId="0"/>
      <p:bldP spid="487433" grpId="0"/>
      <p:bldP spid="487434" grpId="0"/>
      <p:bldP spid="487435" grpId="0"/>
      <p:bldP spid="487436" grpId="0"/>
      <p:bldP spid="487438" grpId="0"/>
      <p:bldP spid="487439" grpId="0"/>
      <p:bldP spid="487440" grpId="0"/>
      <p:bldP spid="487450" grpId="0"/>
      <p:bldP spid="487467" grpId="0" bldLvl="0" animBg="1"/>
      <p:bldP spid="487472" grpId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ext Box 62"/>
          <p:cNvSpPr txBox="1">
            <a:spLocks noChangeArrowheads="1"/>
          </p:cNvSpPr>
          <p:nvPr/>
        </p:nvSpPr>
        <p:spPr bwMode="auto">
          <a:xfrm>
            <a:off x="6081713" y="6157913"/>
            <a:ext cx="268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0" y="195263"/>
            <a:ext cx="571500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3.2-3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带传动的工作情况的分析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057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0" name="标题 15361"/>
          <p:cNvSpPr>
            <a:spLocks noGrp="1" noChangeArrowheads="1"/>
          </p:cNvSpPr>
          <p:nvPr/>
        </p:nvSpPr>
        <p:spPr bwMode="auto">
          <a:xfrm>
            <a:off x="6762750" y="704850"/>
            <a:ext cx="1752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700">
                <a:solidFill>
                  <a:schemeClr val="bg1"/>
                </a:solidFill>
                <a:ea typeface="宋体" panose="02010600030101010101" pitchFamily="2" charset="-122"/>
              </a:rPr>
              <a:t>工作情况分析</a:t>
            </a:r>
            <a:r>
              <a:rPr lang="en-US" altLang="zh-CN" sz="700">
                <a:solidFill>
                  <a:schemeClr val="bg1"/>
                </a:solidFill>
                <a:ea typeface="宋体" panose="02010600030101010101" pitchFamily="2" charset="-122"/>
              </a:rPr>
              <a:t>(</a:t>
            </a:r>
            <a:r>
              <a:rPr lang="zh-CN" altLang="en-US" sz="700">
                <a:solidFill>
                  <a:schemeClr val="bg1"/>
                </a:solidFill>
                <a:ea typeface="宋体" panose="02010600030101010101" pitchFamily="2" charset="-122"/>
              </a:rPr>
              <a:t>运动分析</a:t>
            </a:r>
            <a:r>
              <a:rPr lang="en-US" altLang="zh-CN" sz="700">
                <a:solidFill>
                  <a:schemeClr val="bg1"/>
                </a:solidFill>
                <a:ea typeface="宋体" panose="02010600030101010101" pitchFamily="2" charset="-122"/>
              </a:rPr>
              <a:t>)</a:t>
            </a:r>
            <a:endParaRPr lang="en-US" altLang="zh-CN" sz="7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5369" name="文本框 15368"/>
          <p:cNvSpPr txBox="1">
            <a:spLocks noChangeArrowheads="1"/>
          </p:cNvSpPr>
          <p:nvPr/>
        </p:nvSpPr>
        <p:spPr bwMode="auto">
          <a:xfrm>
            <a:off x="174625" y="1007745"/>
            <a:ext cx="8755063" cy="97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　带传动中因带的弹性变形变化所导致的带与带轮之间的微量滑动，称为弹性滑动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5" name="文本框 15384"/>
          <p:cNvSpPr txBox="1">
            <a:spLocks noChangeArrowheads="1"/>
          </p:cNvSpPr>
          <p:nvPr/>
        </p:nvSpPr>
        <p:spPr bwMode="auto">
          <a:xfrm>
            <a:off x="107315" y="5238115"/>
            <a:ext cx="8929688" cy="97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　　</a:t>
            </a:r>
            <a:r>
              <a:rPr lang="zh-CN" altLang="en-US" sz="2400">
                <a:solidFill>
                  <a:srgbClr val="000099"/>
                </a:solidFill>
                <a:latin typeface="华文中宋" panose="02010600040101010101" pitchFamily="2" charset="-122"/>
              </a:rPr>
              <a:t>若传递的功率逐渐增加，总摩擦力达到临界值，带与带轮间会发生显著的相对滑动，即产生打滑。</a:t>
            </a:r>
            <a:endParaRPr lang="zh-CN" altLang="en-US" sz="24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15386" name="文本框 15385"/>
          <p:cNvSpPr txBox="1">
            <a:spLocks noChangeArrowheads="1"/>
          </p:cNvSpPr>
          <p:nvPr/>
        </p:nvSpPr>
        <p:spPr bwMode="auto">
          <a:xfrm>
            <a:off x="186690" y="1833245"/>
            <a:ext cx="8770938" cy="97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　　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弹性滑动导致：从动轮的线速度</a:t>
            </a:r>
            <a:r>
              <a:rPr lang="en-US" altLang="zh-CN" sz="24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＜主动轮的线速度</a:t>
            </a:r>
            <a:r>
              <a:rPr lang="en-US" altLang="zh-CN" sz="24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，速度降低的程度用滑动率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ε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表示： 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-27940" y="2810193"/>
            <a:ext cx="5937250" cy="2329180"/>
            <a:chOff x="1655" y="5117"/>
            <a:chExt cx="9350" cy="3668"/>
          </a:xfrm>
        </p:grpSpPr>
        <p:sp>
          <p:nvSpPr>
            <p:cNvPr id="2069" name="文本框 15374"/>
            <p:cNvSpPr txBox="1">
              <a:spLocks noChangeArrowheads="1"/>
            </p:cNvSpPr>
            <p:nvPr/>
          </p:nvSpPr>
          <p:spPr bwMode="auto">
            <a:xfrm>
              <a:off x="6550" y="5365"/>
              <a:ext cx="695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000099"/>
                  </a:solidFill>
                </a:rPr>
                <a:t>或</a:t>
              </a:r>
              <a:endParaRPr lang="zh-CN" altLang="en-US" sz="2000">
                <a:solidFill>
                  <a:srgbClr val="000099"/>
                </a:solidFill>
              </a:endParaRPr>
            </a:p>
          </p:txBody>
        </p:sp>
        <p:sp>
          <p:nvSpPr>
            <p:cNvPr id="2070" name="文本框 15378"/>
            <p:cNvSpPr txBox="1">
              <a:spLocks noChangeArrowheads="1"/>
            </p:cNvSpPr>
            <p:nvPr/>
          </p:nvSpPr>
          <p:spPr bwMode="auto">
            <a:xfrm>
              <a:off x="1655" y="6492"/>
              <a:ext cx="1502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000099"/>
                  </a:solidFill>
                </a:rPr>
                <a:t>其中：</a:t>
              </a:r>
              <a:endParaRPr lang="zh-CN" altLang="en-US" sz="2000">
                <a:solidFill>
                  <a:srgbClr val="000099"/>
                </a:solidFill>
              </a:endParaRPr>
            </a:p>
          </p:txBody>
        </p:sp>
        <p:sp>
          <p:nvSpPr>
            <p:cNvPr id="2071" name="文本框 15381"/>
            <p:cNvSpPr txBox="1">
              <a:spLocks noChangeArrowheads="1"/>
            </p:cNvSpPr>
            <p:nvPr/>
          </p:nvSpPr>
          <p:spPr bwMode="auto">
            <a:xfrm>
              <a:off x="1868" y="7824"/>
              <a:ext cx="3502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0099"/>
                  </a:solidFill>
                </a:rPr>
                <a:t>因此，传动比为</a:t>
              </a:r>
              <a:r>
                <a:rPr lang="zh-CN" altLang="en-US" sz="2000">
                  <a:solidFill>
                    <a:srgbClr val="000099"/>
                  </a:solidFill>
                </a:rPr>
                <a:t>：</a:t>
              </a:r>
              <a:endParaRPr lang="zh-CN" altLang="en-US" sz="2000">
                <a:solidFill>
                  <a:srgbClr val="000099"/>
                </a:solidFill>
              </a:endParaRPr>
            </a:p>
          </p:txBody>
        </p:sp>
        <p:graphicFrame>
          <p:nvGraphicFramePr>
            <p:cNvPr id="2050" name="对象 1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3422" y="5117"/>
            <a:ext cx="2972" cy="1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5" imgW="1143000" imgH="431800" progId="Equation.KSEE3">
                    <p:embed/>
                  </p:oleObj>
                </mc:Choice>
                <mc:Fallback>
                  <p:oleObj name="" r:id="rId5" imgW="1143000" imgH="431800" progId="Equation.KSEE3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2" y="5117"/>
                          <a:ext cx="2972" cy="1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" name="对象 2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7425" y="5252"/>
            <a:ext cx="2285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7" imgW="787400" imgH="215900" progId="Equation.KSEE3">
                    <p:embed/>
                  </p:oleObj>
                </mc:Choice>
                <mc:Fallback>
                  <p:oleObj name="" r:id="rId7" imgW="787400" imgH="215900" progId="Equation.KSEE3">
                    <p:embed/>
                    <p:pic>
                      <p:nvPicPr>
                        <p:cNvPr id="0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5" y="5252"/>
                          <a:ext cx="2285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" name="对象 3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3422" y="6242"/>
            <a:ext cx="3480" cy="1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9" imgW="1091565" imgH="393700" progId="Equation.KSEE3">
                    <p:embed/>
                  </p:oleObj>
                </mc:Choice>
                <mc:Fallback>
                  <p:oleObj name="" r:id="rId9" imgW="1091565" imgH="393700" progId="Equation.KSEE3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2" y="6242"/>
                          <a:ext cx="3480" cy="10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" name="对象 4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7510" y="6242"/>
            <a:ext cx="3495" cy="1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11" imgW="1143000" imgH="393700" progId="Equation.KSEE3">
                    <p:embed/>
                  </p:oleObj>
                </mc:Choice>
                <mc:Fallback>
                  <p:oleObj name="" r:id="rId11" imgW="1143000" imgH="393700" progId="Equation.KSEE3">
                    <p:embed/>
                    <p:pic>
                      <p:nvPicPr>
                        <p:cNvPr id="0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0" y="6242"/>
                          <a:ext cx="3495" cy="10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" name="对象 7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5888" y="7470"/>
            <a:ext cx="3445" cy="1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1130300" imgH="431800" progId="Equation.KSEE3">
                    <p:embed/>
                  </p:oleObj>
                </mc:Choice>
                <mc:Fallback>
                  <p:oleObj name="" r:id="rId13" imgW="1130300" imgH="431800" progId="Equation.KSEE3">
                    <p:embed/>
                    <p:pic>
                      <p:nvPicPr>
                        <p:cNvPr id="0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8" y="7470"/>
                          <a:ext cx="3445" cy="1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067" name="Picture 21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88" y="3214688"/>
            <a:ext cx="3160712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/>
      <p:bldP spid="15385" grpId="0"/>
      <p:bldP spid="1538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143250" y="214313"/>
            <a:ext cx="5643563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3.2-3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带传动的工作情况的分析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4035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3" name="矩形 56322"/>
          <p:cNvSpPr>
            <a:spLocks noChangeArrowheads="1"/>
          </p:cNvSpPr>
          <p:nvPr/>
        </p:nvSpPr>
        <p:spPr bwMode="auto">
          <a:xfrm>
            <a:off x="755650" y="980440"/>
            <a:ext cx="365950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6000" bIns="72000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99"/>
                </a:solidFill>
                <a:latin typeface="华文中宋" panose="02010600040101010101" pitchFamily="2" charset="-122"/>
              </a:rPr>
              <a:t>弹性滑动和打滑的区别</a:t>
            </a:r>
            <a:r>
              <a:rPr lang="en-US" altLang="zh-CN" sz="2400" b="1">
                <a:solidFill>
                  <a:srgbClr val="000099"/>
                </a:solidFill>
                <a:latin typeface="华文中宋" panose="02010600040101010101" pitchFamily="2" charset="-122"/>
              </a:rPr>
              <a:t>:</a:t>
            </a:r>
            <a:endParaRPr lang="zh-CN" altLang="en-US" sz="2400" b="1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56324" name="文本框 56323"/>
          <p:cNvSpPr txBox="1">
            <a:spLocks noChangeArrowheads="1"/>
          </p:cNvSpPr>
          <p:nvPr/>
        </p:nvSpPr>
        <p:spPr bwMode="auto">
          <a:xfrm>
            <a:off x="431800" y="1494155"/>
            <a:ext cx="2209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产生原因：</a:t>
            </a:r>
            <a:endParaRPr lang="zh-CN" altLang="en-US" sz="2400" b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5" name="文本框 56324"/>
          <p:cNvSpPr txBox="1">
            <a:spLocks noChangeArrowheads="1"/>
          </p:cNvSpPr>
          <p:nvPr/>
        </p:nvSpPr>
        <p:spPr bwMode="auto">
          <a:xfrm>
            <a:off x="611188" y="1954530"/>
            <a:ext cx="7780337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000" b="1">
                <a:solidFill>
                  <a:srgbClr val="000099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弹性滑动是由挠性带两边存在拉力差而引起，是不可避免的，是正常工作中允许的。</a:t>
            </a:r>
            <a:endParaRPr lang="zh-CN" altLang="en-US" sz="24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    而打滑是过载引起的，是失效形式之一。是可以避免也是应该避免的。</a:t>
            </a:r>
            <a:endParaRPr lang="zh-CN" altLang="en-US" sz="24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6326" name="文本框 56325"/>
          <p:cNvSpPr txBox="1">
            <a:spLocks noChangeArrowheads="1"/>
          </p:cNvSpPr>
          <p:nvPr/>
        </p:nvSpPr>
        <p:spPr bwMode="auto">
          <a:xfrm>
            <a:off x="431483" y="4054793"/>
            <a:ext cx="2260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后果：</a:t>
            </a:r>
            <a:endParaRPr lang="zh-CN" altLang="en-US" sz="2400" b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7" name="文本框 56326"/>
          <p:cNvSpPr txBox="1">
            <a:spLocks noChangeArrowheads="1"/>
          </p:cNvSpPr>
          <p:nvPr/>
        </p:nvSpPr>
        <p:spPr bwMode="auto">
          <a:xfrm>
            <a:off x="636905" y="4515485"/>
            <a:ext cx="7964170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</a:rPr>
              <a:t>    </a:t>
            </a:r>
            <a:r>
              <a:rPr lang="zh-CN" altLang="en-US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弹性滑动的影响：影响传动比</a:t>
            </a:r>
            <a:r>
              <a:rPr lang="en-US" altLang="zh-CN" sz="2400" i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i</a:t>
            </a:r>
            <a:r>
              <a:rPr lang="zh-CN" altLang="en-US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，使</a:t>
            </a:r>
            <a:r>
              <a:rPr lang="en-US" altLang="zh-CN" sz="2400" i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i</a:t>
            </a:r>
            <a:r>
              <a:rPr lang="zh-CN" altLang="en-US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不稳定，常发热、磨损。</a:t>
            </a:r>
            <a:endParaRPr lang="zh-CN" altLang="en-US" sz="24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打滑的影响：使带剧烈磨损，转速急剧下降，不能传递</a:t>
            </a:r>
            <a:r>
              <a:rPr lang="en-US" altLang="zh-CN" sz="2400" i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</a:t>
            </a:r>
            <a:r>
              <a:rPr lang="zh-CN" altLang="en-US" sz="24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，不能正常工作。 </a:t>
            </a:r>
            <a:endParaRPr lang="zh-CN" altLang="en-US" sz="24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404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爆炸形 1 2"/>
          <p:cNvSpPr/>
          <p:nvPr/>
        </p:nvSpPr>
        <p:spPr>
          <a:xfrm>
            <a:off x="251460" y="880110"/>
            <a:ext cx="432435" cy="431800"/>
          </a:xfrm>
          <a:prstGeom prst="irregularSeal1">
            <a:avLst/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/>
      <p:bldP spid="56325" grpId="0"/>
      <p:bldP spid="56326" grpId="0"/>
      <p:bldP spid="563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28"/>
          <p:cNvSpPr txBox="1">
            <a:spLocks noChangeArrowheads="1"/>
          </p:cNvSpPr>
          <p:nvPr/>
        </p:nvSpPr>
        <p:spPr bwMode="auto">
          <a:xfrm>
            <a:off x="6538913" y="6234113"/>
            <a:ext cx="268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07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86188" y="271463"/>
            <a:ext cx="534035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3.2-4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079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标题 16385"/>
          <p:cNvSpPr>
            <a:spLocks noGrp="1" noChangeArrowheads="1"/>
          </p:cNvSpPr>
          <p:nvPr/>
        </p:nvSpPr>
        <p:spPr bwMode="auto">
          <a:xfrm>
            <a:off x="5376863" y="920750"/>
            <a:ext cx="2438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chemeClr val="bg1"/>
                </a:solidFill>
                <a:ea typeface="宋体" panose="02010600030101010101" pitchFamily="2" charset="-122"/>
              </a:rPr>
              <a:t>V</a:t>
            </a:r>
            <a:r>
              <a:rPr lang="zh-CN" altLang="en-US" sz="1600">
                <a:solidFill>
                  <a:schemeClr val="bg1"/>
                </a:solidFill>
                <a:ea typeface="宋体" panose="02010600030101010101" pitchFamily="2" charset="-122"/>
              </a:rPr>
              <a:t>带传动的设计</a:t>
            </a:r>
            <a:r>
              <a:rPr lang="en-US" altLang="zh-CN" sz="1600">
                <a:solidFill>
                  <a:schemeClr val="bg1"/>
                </a:solidFill>
                <a:ea typeface="宋体" panose="02010600030101010101" pitchFamily="2" charset="-122"/>
              </a:rPr>
              <a:t>1</a:t>
            </a:r>
            <a:endParaRPr lang="en-US" altLang="zh-CN" sz="16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6391" name="文本框 16390"/>
          <p:cNvSpPr txBox="1">
            <a:spLocks noChangeArrowheads="1"/>
          </p:cNvSpPr>
          <p:nvPr/>
        </p:nvSpPr>
        <p:spPr bwMode="auto">
          <a:xfrm>
            <a:off x="195262" y="906463"/>
            <a:ext cx="59609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一、Ｖ带传动的失效形式和设计准则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2" name="文本框 16391"/>
          <p:cNvSpPr txBox="1">
            <a:spLocks noChangeArrowheads="1"/>
          </p:cNvSpPr>
          <p:nvPr/>
        </p:nvSpPr>
        <p:spPr bwMode="auto">
          <a:xfrm>
            <a:off x="777558" y="1412875"/>
            <a:ext cx="541655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99"/>
                </a:solidFill>
                <a:latin typeface="华文中宋" panose="02010600040101010101" pitchFamily="2" charset="-122"/>
              </a:rPr>
              <a:t>带传动的主要失效形式：</a:t>
            </a:r>
            <a:r>
              <a:rPr lang="en-US" altLang="zh-CN" sz="2000" b="1">
                <a:solidFill>
                  <a:srgbClr val="000099"/>
                </a:solidFill>
                <a:latin typeface="华文中宋" panose="02010600040101010101" pitchFamily="2" charset="-122"/>
              </a:rPr>
              <a:t>V</a:t>
            </a:r>
            <a:r>
              <a:rPr lang="zh-CN" altLang="en-US" sz="2000" b="1">
                <a:solidFill>
                  <a:srgbClr val="000099"/>
                </a:solidFill>
                <a:latin typeface="华文中宋" panose="02010600040101010101" pitchFamily="2" charset="-122"/>
              </a:rPr>
              <a:t>带疲劳断裂和打滑。</a:t>
            </a:r>
            <a:endParaRPr lang="zh-CN" altLang="en-US" sz="2000" b="1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251460" y="1772920"/>
            <a:ext cx="841375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</a:rPr>
              <a:t>    </a:t>
            </a:r>
            <a:r>
              <a:rPr lang="zh-CN" altLang="en-US" sz="2000" b="1">
                <a:solidFill>
                  <a:srgbClr val="000099"/>
                </a:solidFill>
                <a:latin typeface="华文中宋" panose="02010600040101010101" pitchFamily="2" charset="-122"/>
              </a:rPr>
              <a:t>带传动的设计准则：</a:t>
            </a:r>
            <a:endParaRPr lang="zh-CN" altLang="en-US" sz="2000" b="1">
              <a:solidFill>
                <a:srgbClr val="000099"/>
              </a:solidFill>
              <a:latin typeface="华文中宋" panose="02010600040101010101" pitchFamily="2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0099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000" b="1">
                <a:solidFill>
                  <a:srgbClr val="000099"/>
                </a:solidFill>
                <a:latin typeface="华文中宋" panose="02010600040101010101" pitchFamily="2" charset="-122"/>
              </a:rPr>
              <a:t>     </a:t>
            </a:r>
            <a:r>
              <a:rPr lang="zh-CN" altLang="en-US" sz="2000" b="1">
                <a:solidFill>
                  <a:srgbClr val="FF0000"/>
                </a:solidFill>
                <a:latin typeface="华文中宋" panose="02010600040101010101" pitchFamily="2" charset="-122"/>
              </a:rPr>
              <a:t>在保证传动不打滑的前提下，带具有一定的疲劳强度和寿命</a:t>
            </a:r>
            <a:r>
              <a:rPr lang="zh-CN" altLang="en-US" sz="2000" b="1">
                <a:solidFill>
                  <a:srgbClr val="000099"/>
                </a:solidFill>
                <a:latin typeface="华文中宋" panose="02010600040101010101" pitchFamily="2" charset="-122"/>
              </a:rPr>
              <a:t>。</a:t>
            </a:r>
            <a:endParaRPr lang="zh-CN" altLang="en-US" sz="2000" b="1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309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87160" name="对象 387159"/>
          <p:cNvGraphicFramePr/>
          <p:nvPr/>
        </p:nvGraphicFramePr>
        <p:xfrm>
          <a:off x="3924301" y="2924652"/>
          <a:ext cx="3482975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4" imgW="1587500" imgH="228600" progId="Equation.3">
                  <p:embed/>
                </p:oleObj>
              </mc:Choice>
              <mc:Fallback>
                <p:oleObj name="" r:id="rId4" imgW="1587500" imgH="228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4301" y="2924652"/>
                        <a:ext cx="3482975" cy="45593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83895" y="2997200"/>
            <a:ext cx="395351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V</a:t>
            </a:r>
            <a:r>
              <a:rPr lang="zh-CN" altLang="en-US" b="1"/>
              <a:t>带的疲劳强度条件为：</a:t>
            </a:r>
            <a:endParaRPr lang="zh-CN" altLang="en-US" b="1"/>
          </a:p>
        </p:txBody>
      </p:sp>
      <p:graphicFrame>
        <p:nvGraphicFramePr>
          <p:cNvPr id="9" name="对象 8"/>
          <p:cNvGraphicFramePr/>
          <p:nvPr/>
        </p:nvGraphicFramePr>
        <p:xfrm>
          <a:off x="3491865" y="3644742"/>
          <a:ext cx="2341245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6" imgW="1066800" imgH="228600" progId="Equation.3">
                  <p:embed/>
                </p:oleObj>
              </mc:Choice>
              <mc:Fallback>
                <p:oleObj name="" r:id="rId6" imgW="1066800" imgH="228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91865" y="3644742"/>
                        <a:ext cx="2341245" cy="45593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628265" y="3644900"/>
            <a:ext cx="6807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或</a:t>
            </a:r>
            <a:endParaRPr lang="zh-CN" altLang="en-US" b="1"/>
          </a:p>
        </p:txBody>
      </p:sp>
      <p:graphicFrame>
        <p:nvGraphicFramePr>
          <p:cNvPr id="477221" name="对象 477220"/>
          <p:cNvGraphicFramePr/>
          <p:nvPr/>
        </p:nvGraphicFramePr>
        <p:xfrm>
          <a:off x="1475740" y="4364990"/>
          <a:ext cx="5567680" cy="69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8" imgW="2806700" imgH="419100" progId="Equation.3">
                  <p:embed/>
                </p:oleObj>
              </mc:Choice>
              <mc:Fallback>
                <p:oleObj name="" r:id="rId8" imgW="2806700" imgH="419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75740" y="4364990"/>
                        <a:ext cx="5567680" cy="69088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solidFill>
                          <a:schemeClr val="bg2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/>
          <p:nvPr/>
        </p:nvGraphicFramePr>
        <p:xfrm>
          <a:off x="3851910" y="5398135"/>
          <a:ext cx="4102100" cy="99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0" imgW="1943100" imgH="571500" progId="Equation.3">
                  <p:embed/>
                </p:oleObj>
              </mc:Choice>
              <mc:Fallback>
                <p:oleObj name="" r:id="rId10" imgW="1943100" imgH="5715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51910" y="5398135"/>
                        <a:ext cx="4102100" cy="99250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323850" y="5697220"/>
            <a:ext cx="373951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单根</a:t>
            </a:r>
            <a:r>
              <a:rPr lang="en-US" altLang="zh-CN" b="1"/>
              <a:t>V</a:t>
            </a:r>
            <a:r>
              <a:rPr lang="zh-CN" altLang="en-US" b="1"/>
              <a:t>带的基本额定功率为：</a:t>
            </a:r>
            <a:endParaRPr lang="zh-CN" altLang="en-US" b="1"/>
          </a:p>
        </p:txBody>
      </p:sp>
      <p:pic>
        <p:nvPicPr>
          <p:cNvPr id="2" name="图片 1073742872" descr="44303071dc0a1f9688d599dbc999570副本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8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7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/>
      <p:bldP spid="16392" grpId="0"/>
      <p:bldP spid="10" grpId="0"/>
      <p:bldP spid="8" grpId="0"/>
      <p:bldP spid="12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3102" name="文本框 473101"/>
          <p:cNvSpPr txBox="1"/>
          <p:nvPr/>
        </p:nvSpPr>
        <p:spPr>
          <a:xfrm>
            <a:off x="215900" y="405130"/>
            <a:ext cx="3048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baseline="-14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－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000" baseline="-14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Times New Roman" panose="02020603050405020304" pitchFamily="18" charset="0"/>
                <a:ea typeface="方正大黑简体" pitchFamily="2" charset="-122"/>
              </a:rPr>
              <a:t>＝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baseline="-14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－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000" baseline="-14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73105" name="文本框 473104"/>
          <p:cNvSpPr txBox="1"/>
          <p:nvPr/>
        </p:nvSpPr>
        <p:spPr>
          <a:xfrm>
            <a:off x="288290" y="1233170"/>
            <a:ext cx="31496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i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000" i="1" baseline="-2500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en-US" altLang="zh-CN" sz="2000" i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=F</a:t>
            </a:r>
            <a:r>
              <a:rPr lang="en-US" altLang="zh-CN" sz="2000" i="1" baseline="-2500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f  </a:t>
            </a:r>
            <a:r>
              <a:rPr lang="en-US" altLang="zh-CN" sz="2000" i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=F</a:t>
            </a:r>
            <a:r>
              <a:rPr lang="en-US" altLang="zh-CN" sz="2000" baseline="-1400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aseline="-2500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– </a:t>
            </a:r>
            <a:r>
              <a:rPr lang="en-US" altLang="zh-CN" sz="2000" i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000" baseline="-1400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 baseline="-1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2095" y="801370"/>
            <a:ext cx="2927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带传动松紧边拉力与初拉力关系式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2885" y="1593215"/>
            <a:ext cx="32194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有效拉力（摩擦力）与</a:t>
            </a:r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400" baseline="-25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40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400" baseline="-25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关系式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4485" y="2461895"/>
            <a:ext cx="27266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zh-CN" sz="2000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baseline="-14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sz="2000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solidFill>
                  <a:srgbClr val="002060"/>
                </a:solidFill>
                <a:latin typeface="Times New Roman" panose="02020603050405020304" pitchFamily="18" charset="0"/>
                <a:ea typeface="方正大黑简体" pitchFamily="2" charset="-122"/>
                <a:sym typeface="+mn-ea"/>
              </a:rPr>
              <a:t>＝ </a:t>
            </a:r>
            <a:r>
              <a:rPr lang="en-US" altLang="zh-CN" sz="2000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baseline="-14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</a:t>
            </a:r>
            <a:r>
              <a:rPr lang="en-US" altLang="zh-CN" sz="2000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2000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i="1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sz="2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/2</a:t>
            </a:r>
            <a:endParaRPr lang="en-US" altLang="zh-CN" sz="200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8290" y="2816860"/>
            <a:ext cx="26797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zh-CN" sz="2000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baseline="-14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000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solidFill>
                  <a:srgbClr val="002060"/>
                </a:solidFill>
                <a:latin typeface="Times New Roman" panose="02020603050405020304" pitchFamily="18" charset="0"/>
                <a:ea typeface="方正大黑简体" pitchFamily="2" charset="-122"/>
                <a:sym typeface="+mn-ea"/>
              </a:rPr>
              <a:t>＝ </a:t>
            </a:r>
            <a:r>
              <a:rPr lang="en-US" altLang="zh-CN" sz="2000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baseline="-14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 </a:t>
            </a:r>
            <a:r>
              <a:rPr lang="en-US" altLang="zh-CN" sz="200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– </a:t>
            </a:r>
            <a:r>
              <a:rPr lang="en-US" altLang="zh-CN" sz="2000" i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i="1" baseline="-25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sz="2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/2</a:t>
            </a:r>
            <a:endParaRPr lang="en-US" altLang="zh-CN" sz="200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475145" name="对象 475144"/>
          <p:cNvGraphicFramePr/>
          <p:nvPr/>
        </p:nvGraphicFramePr>
        <p:xfrm>
          <a:off x="720725" y="3559175"/>
          <a:ext cx="889000" cy="668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558800" imgH="431800" progId="Equation.3">
                  <p:embed/>
                </p:oleObj>
              </mc:Choice>
              <mc:Fallback>
                <p:oleObj name="" r:id="rId1" imgW="558800" imgH="431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0725" y="3559175"/>
                        <a:ext cx="889000" cy="6686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08585" y="3128645"/>
            <a:ext cx="33051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松紧边拉力与初拉力及有效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拉力关系式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1640" y="4185285"/>
            <a:ext cx="2927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柔性体摩擦欧拉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22885" y="1121410"/>
            <a:ext cx="2944495" cy="0"/>
          </a:xfrm>
          <a:prstGeom prst="lin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直接连接符 13"/>
          <p:cNvCxnSpPr/>
          <p:nvPr/>
        </p:nvCxnSpPr>
        <p:spPr>
          <a:xfrm>
            <a:off x="234950" y="1917065"/>
            <a:ext cx="2944495" cy="0"/>
          </a:xfrm>
          <a:prstGeom prst="lin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/>
          <p:nvPr/>
        </p:nvCxnSpPr>
        <p:spPr>
          <a:xfrm>
            <a:off x="173355" y="3465195"/>
            <a:ext cx="2944495" cy="0"/>
          </a:xfrm>
          <a:prstGeom prst="lin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/>
          <p:nvPr/>
        </p:nvCxnSpPr>
        <p:spPr>
          <a:xfrm>
            <a:off x="235585" y="4518660"/>
            <a:ext cx="2642235" cy="0"/>
          </a:xfrm>
          <a:prstGeom prst="lin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75151" name="对象 475150"/>
          <p:cNvGraphicFramePr/>
          <p:nvPr/>
        </p:nvGraphicFramePr>
        <p:xfrm>
          <a:off x="4572000" y="1687195"/>
          <a:ext cx="312864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3" imgW="2133600" imgH="431800" progId="Equation.3">
                  <p:embed/>
                </p:oleObj>
              </mc:Choice>
              <mc:Fallback>
                <p:oleObj name="" r:id="rId3" imgW="2133600" imgH="431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0" y="1687195"/>
                        <a:ext cx="3128645" cy="774700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221" name="对象 477220"/>
          <p:cNvGraphicFramePr/>
          <p:nvPr/>
        </p:nvGraphicFramePr>
        <p:xfrm>
          <a:off x="4536440" y="2493010"/>
          <a:ext cx="2200910" cy="770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5" imgW="977900" imgH="419100" progId="Equation.3">
                  <p:embed/>
                </p:oleObj>
              </mc:Choice>
              <mc:Fallback>
                <p:oleObj name="" r:id="rId5" imgW="977900" imgH="419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6440" y="2493010"/>
                        <a:ext cx="2200910" cy="770890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 w="38100">
                        <a:solidFill>
                          <a:schemeClr val="bg2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13" name="对象 473112"/>
          <p:cNvGraphicFramePr/>
          <p:nvPr/>
        </p:nvGraphicFramePr>
        <p:xfrm>
          <a:off x="3888105" y="585470"/>
          <a:ext cx="198882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7" imgW="990600" imgH="393700" progId="Equation.3">
                  <p:embed/>
                </p:oleObj>
              </mc:Choice>
              <mc:Fallback>
                <p:oleObj name="" r:id="rId7" imgW="990600" imgH="3937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88105" y="585470"/>
                        <a:ext cx="1988820" cy="6318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solidFill>
                          <a:srgbClr val="00B0F0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/>
          <p:nvPr/>
        </p:nvGraphicFramePr>
        <p:xfrm>
          <a:off x="3491865" y="4410710"/>
          <a:ext cx="5567680" cy="69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9" imgW="2806700" imgH="419100" progId="Equation.3">
                  <p:embed/>
                </p:oleObj>
              </mc:Choice>
              <mc:Fallback>
                <p:oleObj name="" r:id="rId9" imgW="2806700" imgH="419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91865" y="4410710"/>
                        <a:ext cx="5567680" cy="69088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solidFill>
                          <a:schemeClr val="bg2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/>
          <p:nvPr/>
        </p:nvGraphicFramePr>
        <p:xfrm>
          <a:off x="3535680" y="3912712"/>
          <a:ext cx="2341245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11" imgW="1066800" imgH="228600" progId="Equation.3">
                  <p:embed/>
                </p:oleObj>
              </mc:Choice>
              <mc:Fallback>
                <p:oleObj name="" r:id="rId11" imgW="1066800" imgH="228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35680" y="3912712"/>
                        <a:ext cx="2341245" cy="45593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/>
          <p:nvPr/>
        </p:nvGraphicFramePr>
        <p:xfrm>
          <a:off x="4031615" y="5588635"/>
          <a:ext cx="4102100" cy="99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13" imgW="1943100" imgH="571500" progId="Equation.3">
                  <p:embed/>
                </p:oleObj>
              </mc:Choice>
              <mc:Fallback>
                <p:oleObj name="" r:id="rId13" imgW="1943100" imgH="5715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31615" y="5588635"/>
                        <a:ext cx="4102100" cy="99250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75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箭头连接符 25"/>
          <p:cNvCxnSpPr/>
          <p:nvPr/>
        </p:nvCxnSpPr>
        <p:spPr>
          <a:xfrm flipV="1">
            <a:off x="3203575" y="981075"/>
            <a:ext cx="612775" cy="683895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</p:spPr>
      </p:cxnSp>
      <p:sp>
        <p:nvSpPr>
          <p:cNvPr id="27" name="流程图: 可选过程 26"/>
          <p:cNvSpPr/>
          <p:nvPr/>
        </p:nvSpPr>
        <p:spPr>
          <a:xfrm>
            <a:off x="144145" y="260985"/>
            <a:ext cx="3204210" cy="1764030"/>
          </a:xfrm>
          <a:prstGeom prst="flowChartAlternateProcess">
            <a:avLst/>
          </a:prstGeom>
          <a:noFill/>
          <a:ln w="28575" cap="flat" cmpd="sng" algn="ctr">
            <a:solidFill>
              <a:srgbClr val="3333FF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8" name="流程图: 可选过程 27"/>
          <p:cNvSpPr/>
          <p:nvPr/>
        </p:nvSpPr>
        <p:spPr>
          <a:xfrm>
            <a:off x="108585" y="2421255"/>
            <a:ext cx="3204210" cy="2327275"/>
          </a:xfrm>
          <a:prstGeom prst="flowChartAlternateProcess">
            <a:avLst/>
          </a:prstGeom>
          <a:noFill/>
          <a:ln w="28575" cap="flat" cmpd="sng" algn="ctr">
            <a:solidFill>
              <a:srgbClr val="3333FF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9" name="流程图: 可选过程 28"/>
          <p:cNvSpPr/>
          <p:nvPr/>
        </p:nvSpPr>
        <p:spPr>
          <a:xfrm>
            <a:off x="4319905" y="1544320"/>
            <a:ext cx="3926840" cy="1899285"/>
          </a:xfrm>
          <a:prstGeom prst="flowChartAlternateProcess">
            <a:avLst/>
          </a:prstGeom>
          <a:noFill/>
          <a:ln w="28575" cap="flat" cmpd="sng" algn="ctr">
            <a:solidFill>
              <a:srgbClr val="3333FF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30" name="流程图: 可选过程 29"/>
          <p:cNvSpPr/>
          <p:nvPr/>
        </p:nvSpPr>
        <p:spPr>
          <a:xfrm>
            <a:off x="3420110" y="3824605"/>
            <a:ext cx="5777865" cy="1410335"/>
          </a:xfrm>
          <a:prstGeom prst="flowChartAlternateProcess">
            <a:avLst/>
          </a:prstGeom>
          <a:noFill/>
          <a:ln w="28575" cap="flat" cmpd="sng" algn="ctr">
            <a:solidFill>
              <a:srgbClr val="3333FF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31" name="右箭头 30"/>
          <p:cNvSpPr/>
          <p:nvPr/>
        </p:nvSpPr>
        <p:spPr>
          <a:xfrm rot="5400000">
            <a:off x="1508125" y="1994535"/>
            <a:ext cx="358775" cy="497840"/>
          </a:xfrm>
          <a:prstGeom prst="rightArrow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32" name="右箭头 31"/>
          <p:cNvSpPr/>
          <p:nvPr/>
        </p:nvSpPr>
        <p:spPr>
          <a:xfrm rot="20040000">
            <a:off x="3446145" y="2564765"/>
            <a:ext cx="874395" cy="647700"/>
          </a:xfrm>
          <a:prstGeom prst="rightArrow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33" name="下箭头 32"/>
          <p:cNvSpPr/>
          <p:nvPr/>
        </p:nvSpPr>
        <p:spPr>
          <a:xfrm>
            <a:off x="6011545" y="3501390"/>
            <a:ext cx="262255" cy="323215"/>
          </a:xfrm>
          <a:prstGeom prst="downArrow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34" name="下箭头 33"/>
          <p:cNvSpPr/>
          <p:nvPr/>
        </p:nvSpPr>
        <p:spPr>
          <a:xfrm>
            <a:off x="5760085" y="5265420"/>
            <a:ext cx="262255" cy="323215"/>
          </a:xfrm>
          <a:prstGeom prst="downArrow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67995" y="5913120"/>
            <a:ext cx="314388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002060"/>
                </a:solidFill>
              </a:rPr>
              <a:t>单根</a:t>
            </a:r>
            <a:r>
              <a:rPr lang="en-US" altLang="zh-CN">
                <a:solidFill>
                  <a:srgbClr val="002060"/>
                </a:solidFill>
              </a:rPr>
              <a:t>V</a:t>
            </a:r>
            <a:r>
              <a:rPr lang="zh-CN" altLang="en-US">
                <a:solidFill>
                  <a:srgbClr val="002060"/>
                </a:solidFill>
              </a:rPr>
              <a:t>带的基本额定功率</a:t>
            </a:r>
            <a:endParaRPr lang="zh-CN" altLang="en-US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3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3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7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7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7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7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102" grpId="0"/>
      <p:bldP spid="473105" grpId="0"/>
      <p:bldP spid="6" grpId="0"/>
      <p:bldP spid="8" grpId="0"/>
      <p:bldP spid="9" grpId="0"/>
      <p:bldP spid="11" grpId="0"/>
      <p:bldP spid="12" grpId="0"/>
      <p:bldP spid="27" grpId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animBg="1"/>
      <p:bldP spid="34" grpId="0" bldLvl="0" animBg="1"/>
      <p:bldP spid="7" grpId="0"/>
      <p:bldP spid="3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28"/>
          <p:cNvSpPr txBox="1">
            <a:spLocks noChangeArrowheads="1"/>
          </p:cNvSpPr>
          <p:nvPr/>
        </p:nvSpPr>
        <p:spPr bwMode="auto">
          <a:xfrm>
            <a:off x="6538913" y="6234113"/>
            <a:ext cx="268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07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86188" y="271463"/>
            <a:ext cx="534035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3.2-4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079" name="Picture 34" descr="rewind1">
            <a:hlinkClick r:id="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标题 16385"/>
          <p:cNvSpPr>
            <a:spLocks noGrp="1" noChangeArrowheads="1"/>
          </p:cNvSpPr>
          <p:nvPr/>
        </p:nvSpPr>
        <p:spPr bwMode="auto">
          <a:xfrm>
            <a:off x="5376863" y="920750"/>
            <a:ext cx="2438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chemeClr val="bg1"/>
                </a:solidFill>
                <a:ea typeface="宋体" panose="02010600030101010101" pitchFamily="2" charset="-122"/>
              </a:rPr>
              <a:t>V</a:t>
            </a:r>
            <a:r>
              <a:rPr lang="zh-CN" altLang="en-US" sz="1600">
                <a:solidFill>
                  <a:schemeClr val="bg1"/>
                </a:solidFill>
                <a:ea typeface="宋体" panose="02010600030101010101" pitchFamily="2" charset="-122"/>
              </a:rPr>
              <a:t>带传动的设计</a:t>
            </a:r>
            <a:r>
              <a:rPr lang="en-US" altLang="zh-CN" sz="1600">
                <a:solidFill>
                  <a:schemeClr val="bg1"/>
                </a:solidFill>
                <a:ea typeface="宋体" panose="02010600030101010101" pitchFamily="2" charset="-122"/>
              </a:rPr>
              <a:t>1</a:t>
            </a:r>
            <a:endParaRPr lang="en-US" altLang="zh-CN" sz="16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8680" name="文本框 28679"/>
          <p:cNvSpPr txBox="1">
            <a:spLocks noChangeArrowheads="1"/>
          </p:cNvSpPr>
          <p:nvPr/>
        </p:nvSpPr>
        <p:spPr bwMode="auto">
          <a:xfrm>
            <a:off x="249873" y="2969895"/>
            <a:ext cx="8643937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　　单根Ｖ带的基本额定功率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是在规定的实验条件下得到的</a:t>
            </a: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。实际工作条件下带传动的传动比、V带长度和带轮包角与实验条件下不同，因此，需要对单根V带的基本额定功率予以修正，从而得到单根V带的额定功率</a:t>
            </a:r>
            <a:endParaRPr lang="zh-CN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0910" name="对象 -2147482469"/>
          <p:cNvGraphicFramePr>
            <a:graphicFrameLocks noChangeAspect="1"/>
          </p:cNvGraphicFramePr>
          <p:nvPr/>
        </p:nvGraphicFramePr>
        <p:xfrm>
          <a:off x="2684463" y="4446905"/>
          <a:ext cx="28019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1459865" imgH="228600" progId="Equation.3">
                  <p:embed/>
                </p:oleObj>
              </mc:Choice>
              <mc:Fallback>
                <p:oleObj name="" r:id="rId3" imgW="1459865" imgH="228600" progId="Equation.3">
                  <p:embed/>
                  <p:pic>
                    <p:nvPicPr>
                      <p:cNvPr id="0" name="对象 -21474824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4446905"/>
                        <a:ext cx="280193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1" name="文本框 100"/>
          <p:cNvSpPr txBox="1">
            <a:spLocks noChangeArrowheads="1"/>
          </p:cNvSpPr>
          <p:nvPr/>
        </p:nvSpPr>
        <p:spPr bwMode="auto">
          <a:xfrm>
            <a:off x="884555" y="5228908"/>
            <a:ext cx="492125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单根</a:t>
            </a:r>
            <a:r>
              <a:rPr lang="en-US" altLang="zh-CN" sz="2000">
                <a:solidFill>
                  <a:srgbClr val="000099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带额定功率的增量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△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P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0  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5" action="ppaction://hlinksldjump"/>
              </a:rPr>
              <a:t>具体数据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5" action="ppaction://hlinksldjump"/>
              </a:rPr>
              <a:t>→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80912" name="文本框 6"/>
          <p:cNvSpPr txBox="1">
            <a:spLocks noChangeArrowheads="1"/>
          </p:cNvSpPr>
          <p:nvPr/>
        </p:nvSpPr>
        <p:spPr bwMode="auto">
          <a:xfrm>
            <a:off x="828040" y="5876608"/>
            <a:ext cx="569595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zh-CN" sz="2000">
                <a:solidFill>
                  <a:srgbClr val="000099"/>
                </a:solidFill>
                <a:latin typeface="宋体" panose="02010600030101010101" pitchFamily="2" charset="-122"/>
              </a:rPr>
              <a:t>当包角不等于180°时的修正系数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α  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6" action="ppaction://hlinksldjump"/>
              </a:rPr>
              <a:t>具体数据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6" action="ppaction://hlinksldjump"/>
              </a:rPr>
              <a:t>→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309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79388" y="950278"/>
            <a:ext cx="34163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二、单根</a:t>
            </a: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带的额定功率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323850" y="1409065"/>
            <a:ext cx="835660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solidFill>
                  <a:srgbClr val="000099"/>
                </a:solidFill>
              </a:rPr>
              <a:t>      </a:t>
            </a:r>
            <a:r>
              <a:rPr lang="zh-CN" altLang="zh-CN" sz="2000">
                <a:solidFill>
                  <a:srgbClr val="000099"/>
                </a:solidFill>
              </a:rPr>
              <a:t>单根普通V带所能传递的最大功率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r>
              <a:rPr lang="zh-CN" altLang="zh-CN" sz="2000">
                <a:solidFill>
                  <a:srgbClr val="000099"/>
                </a:solidFill>
              </a:rPr>
              <a:t>称为基本额定功率，它是通过实验得到的。实验条件为：包角、特定带长、平稳工作条件。</a:t>
            </a:r>
            <a:endParaRPr lang="zh-CN" altLang="zh-CN" sz="2000">
              <a:solidFill>
                <a:srgbClr val="000099"/>
              </a:solidFill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787900" y="2423795"/>
            <a:ext cx="3248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基本额定功率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hlinkClick r:id="rId7" action="ppaction://hlinksldjump"/>
              </a:rPr>
              <a:t>具体数据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hlinkClick r:id="rId7" action="ppaction://hlinksldjump"/>
              </a:rPr>
              <a:t>→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0" grpId="0"/>
      <p:bldP spid="80911" grpId="0"/>
      <p:bldP spid="80912" grpId="0"/>
      <p:bldP spid="5" grpId="0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86188" y="271463"/>
            <a:ext cx="534035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3.2-4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103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文本框 28675"/>
          <p:cNvSpPr txBox="1">
            <a:spLocks noChangeArrowheads="1"/>
          </p:cNvSpPr>
          <p:nvPr/>
        </p:nvSpPr>
        <p:spPr bwMode="auto">
          <a:xfrm>
            <a:off x="238125" y="873125"/>
            <a:ext cx="35702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三、Ｖ带传动的设计计算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7" name="文本框 28676"/>
          <p:cNvSpPr txBox="1">
            <a:spLocks noChangeArrowheads="1"/>
          </p:cNvSpPr>
          <p:nvPr/>
        </p:nvSpPr>
        <p:spPr bwMode="auto">
          <a:xfrm>
            <a:off x="352425" y="1271588"/>
            <a:ext cx="85534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设计的已知条件为：功率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，转速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（或传动比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），传动位置要求及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　　　　　　　　　工作条件等。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9" name="文本框 28678"/>
          <p:cNvSpPr txBox="1">
            <a:spLocks noChangeArrowheads="1"/>
          </p:cNvSpPr>
          <p:nvPr/>
        </p:nvSpPr>
        <p:spPr bwMode="auto">
          <a:xfrm>
            <a:off x="352425" y="2101850"/>
            <a:ext cx="8648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设计的内容为：确定带的型号、长度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、根数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、传动中心距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、带轮基准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                            直径及其它结构尺寸等。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352425" y="3003550"/>
            <a:ext cx="240728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．确定计算功率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ca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352425" y="3894138"/>
            <a:ext cx="228028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．选择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带的型号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2425" y="4783138"/>
            <a:ext cx="346583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．确定带轮基准直径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d1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d2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365125" y="5673725"/>
            <a:ext cx="169926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．验算带速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endParaRPr lang="en-US" altLang="zh-CN" sz="20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组合 8"/>
          <p:cNvGrpSpPr/>
          <p:nvPr/>
        </p:nvGrpSpPr>
        <p:grpSpPr bwMode="auto">
          <a:xfrm>
            <a:off x="722313" y="3330575"/>
            <a:ext cx="6084887" cy="454025"/>
            <a:chOff x="974" y="428"/>
            <a:chExt cx="9584" cy="713"/>
          </a:xfrm>
        </p:grpSpPr>
        <p:sp>
          <p:nvSpPr>
            <p:cNvPr id="4122" name="文本框 9"/>
            <p:cNvSpPr txBox="1">
              <a:spLocks noChangeArrowheads="1"/>
            </p:cNvSpPr>
            <p:nvPr/>
          </p:nvSpPr>
          <p:spPr bwMode="auto">
            <a:xfrm>
              <a:off x="974" y="428"/>
              <a:ext cx="9584" cy="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zh-CN" sz="2000">
                  <a:solidFill>
                    <a:srgbClr val="000099"/>
                  </a:solidFill>
                  <a:latin typeface="Times New Roman" panose="02020603050405020304" pitchFamily="18" charset="0"/>
                </a:rPr>
                <a:t>按工作情况确定工作情况系数</a:t>
              </a:r>
              <a:r>
                <a:rPr lang="en-US" altLang="zh-CN" sz="2000" i="1">
                  <a:solidFill>
                    <a:srgbClr val="000099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000" baseline="-25000">
                  <a:solidFill>
                    <a:srgbClr val="000099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sz="2000">
                  <a:solidFill>
                    <a:srgbClr val="000099"/>
                  </a:solidFill>
                  <a:latin typeface="Times New Roman" panose="02020603050405020304" pitchFamily="18" charset="0"/>
                </a:rPr>
                <a:t>后计算                   。</a:t>
              </a:r>
              <a:endPara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099" name="对象 10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8127" y="532"/>
            <a:ext cx="1715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5" imgW="660400" imgH="228600" progId="Equation.KSEE3">
                    <p:embed/>
                  </p:oleObj>
                </mc:Choice>
                <mc:Fallback>
                  <p:oleObj name="" r:id="rId5" imgW="660400" imgH="228600" progId="Equation.KSEE3">
                    <p:embed/>
                    <p:pic>
                      <p:nvPicPr>
                        <p:cNvPr id="0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7" y="532"/>
                          <a:ext cx="1715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6864350" y="3357563"/>
            <a:ext cx="1776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7" action="ppaction://hlinksldjump"/>
              </a:rPr>
              <a:t>具体数据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7" action="ppaction://hlinksldjump"/>
              </a:rPr>
              <a:t>→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722313" y="4221163"/>
            <a:ext cx="58166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根据计算功率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ca</a:t>
            </a: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和小带轮的转速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选取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带型号。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6864350" y="4267200"/>
            <a:ext cx="1652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带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8" action="ppaction://hlinksldjump"/>
              </a:rPr>
              <a:t>选型图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8" action="ppaction://hlinksldjump"/>
              </a:rPr>
              <a:t>→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grpSp>
        <p:nvGrpSpPr>
          <p:cNvPr id="9" name="组合 3"/>
          <p:cNvGrpSpPr/>
          <p:nvPr/>
        </p:nvGrpSpPr>
        <p:grpSpPr bwMode="auto">
          <a:xfrm>
            <a:off x="722313" y="5111750"/>
            <a:ext cx="5816600" cy="452438"/>
            <a:chOff x="1137" y="8050"/>
            <a:chExt cx="9160" cy="713"/>
          </a:xfrm>
        </p:grpSpPr>
        <p:sp>
          <p:nvSpPr>
            <p:cNvPr id="4121" name="文本框 28679"/>
            <p:cNvSpPr txBox="1">
              <a:spLocks noChangeArrowheads="1"/>
            </p:cNvSpPr>
            <p:nvPr/>
          </p:nvSpPr>
          <p:spPr bwMode="auto">
            <a:xfrm>
              <a:off x="1137" y="8050"/>
              <a:ext cx="9160" cy="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000">
                  <a:solidFill>
                    <a:srgbClr val="000099"/>
                  </a:solidFill>
                  <a:latin typeface="Times New Roman" panose="02020603050405020304" pitchFamily="18" charset="0"/>
                </a:rPr>
                <a:t>先根据带的截型选取小带轮直径</a:t>
              </a:r>
              <a:r>
                <a:rPr lang="en-US" altLang="zh-CN" sz="2000" i="1">
                  <a:solidFill>
                    <a:srgbClr val="000099"/>
                  </a:solidFill>
                  <a:latin typeface="Times New Roman" panose="02020603050405020304" pitchFamily="18" charset="0"/>
                  <a:sym typeface="宋体" panose="02010600030101010101" pitchFamily="2" charset="-122"/>
                </a:rPr>
                <a:t>d</a:t>
              </a:r>
              <a:r>
                <a:rPr lang="en-US" altLang="zh-CN" sz="2000" baseline="-25000">
                  <a:solidFill>
                    <a:srgbClr val="000099"/>
                  </a:solidFill>
                  <a:latin typeface="Times New Roman" panose="02020603050405020304" pitchFamily="18" charset="0"/>
                  <a:sym typeface="宋体" panose="02010600030101010101" pitchFamily="2" charset="-122"/>
                </a:rPr>
                <a:t>d1</a:t>
              </a:r>
              <a:r>
                <a:rPr lang="zh-CN" altLang="en-US" sz="2000">
                  <a:solidFill>
                    <a:srgbClr val="000099"/>
                  </a:solidFill>
                  <a:latin typeface="Times New Roman" panose="02020603050405020304" pitchFamily="18" charset="0"/>
                </a:rPr>
                <a:t>，并</a:t>
              </a:r>
              <a:r>
                <a:rPr lang="en-US" altLang="zh-CN" sz="2000">
                  <a:solidFill>
                    <a:srgbClr val="000099"/>
                  </a:solidFill>
                  <a:latin typeface="Times New Roman" panose="02020603050405020304" pitchFamily="18" charset="0"/>
                </a:rPr>
                <a:t>                  </a:t>
              </a:r>
              <a:r>
                <a:rPr lang="zh-CN" altLang="en-US" sz="2000">
                  <a:solidFill>
                    <a:srgbClr val="000099"/>
                  </a:solidFill>
                  <a:latin typeface="Times New Roman" panose="02020603050405020304" pitchFamily="18" charset="0"/>
                  <a:sym typeface="宋体" panose="02010600030101010101" pitchFamily="2" charset="-122"/>
                </a:rPr>
                <a:t>。</a:t>
              </a:r>
              <a:endPara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endParaRPr>
            </a:p>
          </p:txBody>
        </p:sp>
        <p:graphicFrame>
          <p:nvGraphicFramePr>
            <p:cNvPr id="4098" name="对象 15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8290" y="8132"/>
            <a:ext cx="1485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9" imgW="558800" imgH="228600" progId="Equation.KSEE3">
                    <p:embed/>
                  </p:oleObj>
                </mc:Choice>
                <mc:Fallback>
                  <p:oleObj name="" r:id="rId9" imgW="558800" imgH="228600" progId="Equation.KSEE3">
                    <p:embed/>
                    <p:pic>
                      <p:nvPicPr>
                        <p:cNvPr id="0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0" y="8132"/>
                          <a:ext cx="1485" cy="6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6983413" y="511175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11" action="ppaction://hlinksldjump"/>
              </a:rPr>
              <a:t>选取标准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11" action="ppaction://hlinksldjump"/>
              </a:rPr>
              <a:t>→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722313" y="6000750"/>
            <a:ext cx="491807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一般应使</a:t>
            </a:r>
            <a:r>
              <a:rPr lang="zh-CN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=5～25m/s，最高不超过30m/s。</a:t>
            </a:r>
            <a:endParaRPr lang="zh-CN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2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73742872" descr="44303071dc0a1f9688d599dbc999570副本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28677" grpId="0"/>
      <p:bldP spid="28679" grpId="0"/>
      <p:bldP spid="2" grpId="0"/>
      <p:bldP spid="6" grpId="0"/>
      <p:bldP spid="7" grpId="0"/>
      <p:bldP spid="8" grpId="0"/>
      <p:bldP spid="12" grpId="0"/>
      <p:bldP spid="14" grpId="0"/>
      <p:bldP spid="15" grpId="0"/>
      <p:bldP spid="17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6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86188" y="271463"/>
            <a:ext cx="534035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3.2-4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130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2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222250" y="846138"/>
            <a:ext cx="401701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．确定中心距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和带的基准长度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22250" y="4440238"/>
            <a:ext cx="257619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．验算小带轮包角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2" name="文本框 28679"/>
          <p:cNvSpPr txBox="1">
            <a:spLocks noChangeArrowheads="1"/>
          </p:cNvSpPr>
          <p:nvPr/>
        </p:nvSpPr>
        <p:spPr bwMode="auto">
          <a:xfrm>
            <a:off x="654050" y="1244600"/>
            <a:ext cx="26066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按右式初选中心距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aseline="-25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3" name="文本框 9"/>
          <p:cNvSpPr txBox="1">
            <a:spLocks noChangeArrowheads="1"/>
          </p:cNvSpPr>
          <p:nvPr/>
        </p:nvSpPr>
        <p:spPr bwMode="auto">
          <a:xfrm>
            <a:off x="582613" y="5600700"/>
            <a:ext cx="837565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一般应使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≥120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°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。如不满足，可适当增加中心距或减小两带轮直径差。</a:t>
            </a:r>
            <a:endParaRPr lang="zh-CN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5004" name="对象 -2147482504"/>
          <p:cNvGraphicFramePr>
            <a:graphicFrameLocks noChangeAspect="1"/>
          </p:cNvGraphicFramePr>
          <p:nvPr/>
        </p:nvGraphicFramePr>
        <p:xfrm>
          <a:off x="3228975" y="1311275"/>
          <a:ext cx="38481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070100" imgH="228600" progId="Equation.3">
                  <p:embed/>
                </p:oleObj>
              </mc:Choice>
              <mc:Fallback>
                <p:oleObj name="" r:id="rId5" imgW="2070100" imgH="228600" progId="Equation.3">
                  <p:embed/>
                  <p:pic>
                    <p:nvPicPr>
                      <p:cNvPr id="0" name="对象 -21474825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1311275"/>
                        <a:ext cx="38481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5" name="文本框 12"/>
          <p:cNvSpPr txBox="1">
            <a:spLocks noChangeArrowheads="1"/>
          </p:cNvSpPr>
          <p:nvPr/>
        </p:nvSpPr>
        <p:spPr bwMode="auto">
          <a:xfrm>
            <a:off x="654050" y="1736725"/>
            <a:ext cx="50831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由带传动的几何关系计算带的基准长度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  <a:endParaRPr lang="zh-CN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5006" name="对象 -2147482502"/>
          <p:cNvGraphicFramePr>
            <a:graphicFrameLocks noChangeAspect="1"/>
          </p:cNvGraphicFramePr>
          <p:nvPr/>
        </p:nvGraphicFramePr>
        <p:xfrm>
          <a:off x="2187575" y="2195513"/>
          <a:ext cx="4481513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2489200" imgH="469900" progId="Equation.3">
                  <p:embed/>
                </p:oleObj>
              </mc:Choice>
              <mc:Fallback>
                <p:oleObj name="" r:id="rId7" imgW="2489200" imgH="469900" progId="Equation.3">
                  <p:embed/>
                  <p:pic>
                    <p:nvPicPr>
                      <p:cNvPr id="0" name="对象 -21474825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2195513"/>
                        <a:ext cx="4481513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7" name="文本框 14"/>
          <p:cNvSpPr txBox="1">
            <a:spLocks noChangeArrowheads="1"/>
          </p:cNvSpPr>
          <p:nvPr/>
        </p:nvSpPr>
        <p:spPr bwMode="auto">
          <a:xfrm>
            <a:off x="654050" y="3113088"/>
            <a:ext cx="372586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实际中心距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可由右式近似确定</a:t>
            </a:r>
            <a:endParaRPr lang="zh-CN" altLang="en-US" sz="2000" baseline="-25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5008" name="对象 -2147482498"/>
          <p:cNvGraphicFramePr>
            <a:graphicFrameLocks noChangeAspect="1"/>
          </p:cNvGraphicFramePr>
          <p:nvPr/>
        </p:nvGraphicFramePr>
        <p:xfrm>
          <a:off x="4362450" y="3059113"/>
          <a:ext cx="1776413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9" imgW="1078865" imgH="405765" progId="Equation.3">
                  <p:embed/>
                </p:oleObj>
              </mc:Choice>
              <mc:Fallback>
                <p:oleObj name="" r:id="rId9" imgW="1078865" imgH="405765" progId="Equation.3">
                  <p:embed/>
                  <p:pic>
                    <p:nvPicPr>
                      <p:cNvPr id="0" name="对象 -21474824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2450" y="3059113"/>
                        <a:ext cx="1776413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9" name="文本框 16"/>
          <p:cNvSpPr txBox="1">
            <a:spLocks noChangeArrowheads="1"/>
          </p:cNvSpPr>
          <p:nvPr/>
        </p:nvSpPr>
        <p:spPr bwMode="auto">
          <a:xfrm>
            <a:off x="654050" y="3727450"/>
            <a:ext cx="5870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考虑安装调整和补偿初拉力，中心距的调节范围为</a:t>
            </a:r>
            <a:endParaRPr lang="zh-CN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5010" name="对象 -2147482497"/>
          <p:cNvGraphicFramePr>
            <a:graphicFrameLocks noChangeAspect="1"/>
          </p:cNvGraphicFramePr>
          <p:nvPr/>
        </p:nvGraphicFramePr>
        <p:xfrm>
          <a:off x="6524625" y="3532188"/>
          <a:ext cx="224155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1" imgW="1231900" imgH="482600" progId="Equation.3">
                  <p:embed/>
                </p:oleObj>
              </mc:Choice>
              <mc:Fallback>
                <p:oleObj name="" r:id="rId11" imgW="1231900" imgH="482600" progId="Equation.3">
                  <p:embed/>
                  <p:pic>
                    <p:nvPicPr>
                      <p:cNvPr id="0" name="对象 -21474824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3532188"/>
                        <a:ext cx="224155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1" name="对象 -2147482495"/>
          <p:cNvGraphicFramePr>
            <a:graphicFrameLocks noChangeAspect="1"/>
          </p:cNvGraphicFramePr>
          <p:nvPr/>
        </p:nvGraphicFramePr>
        <p:xfrm>
          <a:off x="2511425" y="4838700"/>
          <a:ext cx="334168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3" imgW="1739265" imgH="393700" progId="Equation.3">
                  <p:embed/>
                </p:oleObj>
              </mc:Choice>
              <mc:Fallback>
                <p:oleObj name="" r:id="rId13" imgW="1739265" imgH="393700" progId="Equation.3">
                  <p:embed/>
                  <p:pic>
                    <p:nvPicPr>
                      <p:cNvPr id="0" name="对象 -21474824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4838700"/>
                        <a:ext cx="334168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85002" grpId="0"/>
      <p:bldP spid="85003" grpId="0"/>
      <p:bldP spid="85005" grpId="0"/>
      <p:bldP spid="85007" grpId="0"/>
      <p:bldP spid="8500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6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6150" name="Rectangle 8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43313" y="271463"/>
            <a:ext cx="548322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3.2-4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6152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36563" y="5048250"/>
            <a:ext cx="169862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11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．设计结果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436563" y="2513013"/>
            <a:ext cx="334708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．确定单根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带的初拉力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36563" y="4649788"/>
            <a:ext cx="24790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．带轮的结构设计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436563" y="3740150"/>
            <a:ext cx="329723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．计算带传动的压轴力</a:t>
            </a:r>
            <a:r>
              <a:rPr lang="zh-CN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endParaRPr lang="zh-CN" altLang="zh-CN" sz="20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52" name="文本框 11"/>
          <p:cNvSpPr txBox="1">
            <a:spLocks noChangeArrowheads="1"/>
          </p:cNvSpPr>
          <p:nvPr/>
        </p:nvSpPr>
        <p:spPr bwMode="auto">
          <a:xfrm>
            <a:off x="974725" y="1966913"/>
            <a:ext cx="74009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为使各根V带受力均匀，带的根数不宜过多，一般应少于10根。</a:t>
            </a:r>
            <a:endParaRPr lang="zh-CN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53" name="文本框 9"/>
          <p:cNvSpPr txBox="1">
            <a:spLocks noChangeArrowheads="1"/>
          </p:cNvSpPr>
          <p:nvPr/>
        </p:nvSpPr>
        <p:spPr bwMode="auto">
          <a:xfrm>
            <a:off x="974725" y="5386388"/>
            <a:ext cx="79248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列出带型号、带的基准长度L</a:t>
            </a:r>
            <a:r>
              <a:rPr lang="zh-CN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、带的根数z、带轮基准直径d</a:t>
            </a:r>
            <a:r>
              <a:rPr lang="zh-CN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d1</a:t>
            </a: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、d</a:t>
            </a:r>
            <a:r>
              <a:rPr lang="zh-CN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d2</a:t>
            </a: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、中心距a、压轴力F</a:t>
            </a:r>
            <a:r>
              <a:rPr lang="zh-CN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P</a:t>
            </a: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等。</a:t>
            </a:r>
            <a:endParaRPr lang="zh-CN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7054" name="对象 -2147482481"/>
          <p:cNvGraphicFramePr>
            <a:graphicFrameLocks noChangeAspect="1"/>
          </p:cNvGraphicFramePr>
          <p:nvPr/>
        </p:nvGraphicFramePr>
        <p:xfrm>
          <a:off x="3852863" y="3922713"/>
          <a:ext cx="18637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1041400" imgH="393700" progId="Equation.3">
                  <p:embed/>
                </p:oleObj>
              </mc:Choice>
              <mc:Fallback>
                <p:oleObj name="" r:id="rId4" imgW="1041400" imgH="393700" progId="Equation.3">
                  <p:embed/>
                  <p:pic>
                    <p:nvPicPr>
                      <p:cNvPr id="0" name="对象 -21474824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3922713"/>
                        <a:ext cx="186372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对象 -2147482485"/>
          <p:cNvGraphicFramePr>
            <a:graphicFrameLocks noChangeAspect="1"/>
          </p:cNvGraphicFramePr>
          <p:nvPr/>
        </p:nvGraphicFramePr>
        <p:xfrm>
          <a:off x="3040063" y="2911475"/>
          <a:ext cx="30654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6" imgW="1764665" imgH="431800" progId="Equation.3">
                  <p:embed/>
                </p:oleObj>
              </mc:Choice>
              <mc:Fallback>
                <p:oleObj name="" r:id="rId6" imgW="1764665" imgH="431800" progId="Equation.3">
                  <p:embed/>
                  <p:pic>
                    <p:nvPicPr>
                      <p:cNvPr id="0" name="对象 -21474824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2911475"/>
                        <a:ext cx="306546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436563" y="900113"/>
            <a:ext cx="220154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．确定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带根数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7057" name="对象 -2147482491"/>
          <p:cNvGraphicFramePr>
            <a:graphicFrameLocks noChangeAspect="1"/>
          </p:cNvGraphicFramePr>
          <p:nvPr/>
        </p:nvGraphicFramePr>
        <p:xfrm>
          <a:off x="3289300" y="1139825"/>
          <a:ext cx="2990850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8" imgW="1650365" imgH="431800" progId="Equation.3">
                  <p:embed/>
                </p:oleObj>
              </mc:Choice>
              <mc:Fallback>
                <p:oleObj name="" r:id="rId8" imgW="1650365" imgH="431800" progId="Equation.3">
                  <p:embed/>
                  <p:pic>
                    <p:nvPicPr>
                      <p:cNvPr id="0" name="对象 -21474824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1139825"/>
                        <a:ext cx="2990850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7" grpId="0"/>
      <p:bldP spid="9" grpId="0"/>
      <p:bldP spid="87052" grpId="0"/>
      <p:bldP spid="87053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71" name="文本框 497670"/>
          <p:cNvSpPr txBox="1"/>
          <p:nvPr/>
        </p:nvSpPr>
        <p:spPr>
          <a:xfrm>
            <a:off x="2339975" y="908685"/>
            <a:ext cx="4648200" cy="42989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普通 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 </a:t>
            </a: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带传动的设计计算</a:t>
            </a:r>
            <a:endParaRPr lang="zh-CN" altLang="en-US" dirty="0">
              <a:solidFill>
                <a:srgbClr val="8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7672" name="文本框 497671"/>
          <p:cNvSpPr txBox="1"/>
          <p:nvPr/>
        </p:nvSpPr>
        <p:spPr>
          <a:xfrm>
            <a:off x="990600" y="1444625"/>
            <a:ext cx="411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（一）已知条件及设计内容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7673" name="折角形 497672"/>
          <p:cNvSpPr/>
          <p:nvPr/>
        </p:nvSpPr>
        <p:spPr>
          <a:xfrm>
            <a:off x="863600" y="3113405"/>
            <a:ext cx="3644900" cy="2590800"/>
          </a:xfrm>
          <a:prstGeom prst="foldedCorner">
            <a:avLst>
              <a:gd name="adj" fmla="val 19824"/>
            </a:avLst>
          </a:prstGeom>
          <a:noFill/>
          <a:ln w="254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endParaRPr dirty="0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97674" name="文本框 497673"/>
          <p:cNvSpPr txBox="1"/>
          <p:nvPr/>
        </p:nvSpPr>
        <p:spPr>
          <a:xfrm>
            <a:off x="863600" y="3651885"/>
            <a:ext cx="337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传递的名义功率</a:t>
            </a:r>
            <a:r>
              <a:rPr lang="en-US" altLang="zh-CN" i="1">
                <a:latin typeface="Times New Roman" panose="02020603050405020304" pitchFamily="18" charset="0"/>
                <a:ea typeface="楷体" panose="02010609060101010101" pitchFamily="49" charset="-122"/>
              </a:rPr>
              <a:t>P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75" name="文本框 497674"/>
          <p:cNvSpPr txBox="1"/>
          <p:nvPr/>
        </p:nvSpPr>
        <p:spPr>
          <a:xfrm>
            <a:off x="1922145" y="2204720"/>
            <a:ext cx="1447800" cy="457200"/>
          </a:xfrm>
          <a:prstGeom prst="rect">
            <a:avLst/>
          </a:prstGeom>
          <a:solidFill>
            <a:srgbClr val="FDDFEC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已知条件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7676" name="文本框 497675"/>
          <p:cNvSpPr txBox="1"/>
          <p:nvPr/>
        </p:nvSpPr>
        <p:spPr>
          <a:xfrm>
            <a:off x="863600" y="4017010"/>
            <a:ext cx="2857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主动轮转速</a:t>
            </a:r>
            <a:r>
              <a:rPr lang="en-US" altLang="zh-CN" i="1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77" name="文本框 497676"/>
          <p:cNvSpPr txBox="1"/>
          <p:nvPr/>
        </p:nvSpPr>
        <p:spPr>
          <a:xfrm>
            <a:off x="863600" y="4398010"/>
            <a:ext cx="4025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从动轮转速</a:t>
            </a:r>
            <a:r>
              <a:rPr lang="en-US" altLang="zh-CN" i="1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  <a:ea typeface="楷体" panose="02010609060101010101" pitchFamily="49" charset="-122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或传动比 </a:t>
            </a:r>
            <a:r>
              <a:rPr lang="en-US" altLang="zh-CN" i="1">
                <a:latin typeface="Times New Roman" panose="02020603050405020304" pitchFamily="18" charset="0"/>
                <a:ea typeface="楷体" panose="02010609060101010101" pitchFamily="49" charset="-122"/>
              </a:rPr>
              <a:t>i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78" name="文本框 497677"/>
          <p:cNvSpPr txBox="1"/>
          <p:nvPr/>
        </p:nvSpPr>
        <p:spPr>
          <a:xfrm>
            <a:off x="863600" y="4794885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传动位置要求</a:t>
            </a:r>
            <a:r>
              <a:rPr lang="zh-CN" altLang="en-US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79" name="文本框 497678"/>
          <p:cNvSpPr txBox="1"/>
          <p:nvPr/>
        </p:nvSpPr>
        <p:spPr>
          <a:xfrm>
            <a:off x="863600" y="5175885"/>
            <a:ext cx="396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工况条件、原动机类型等。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80" name="折角形 497679"/>
          <p:cNvSpPr/>
          <p:nvPr/>
        </p:nvSpPr>
        <p:spPr>
          <a:xfrm>
            <a:off x="4940300" y="3113405"/>
            <a:ext cx="3670300" cy="2590800"/>
          </a:xfrm>
          <a:prstGeom prst="foldedCorner">
            <a:avLst>
              <a:gd name="adj" fmla="val 19824"/>
            </a:avLst>
          </a:prstGeom>
          <a:noFill/>
          <a:ln w="254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endParaRPr dirty="0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97681" name="文本框 497680"/>
          <p:cNvSpPr txBox="1"/>
          <p:nvPr/>
        </p:nvSpPr>
        <p:spPr>
          <a:xfrm>
            <a:off x="4978400" y="3651885"/>
            <a:ext cx="3975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带的型号、长度和根数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82" name="文本框 497681"/>
          <p:cNvSpPr txBox="1"/>
          <p:nvPr/>
        </p:nvSpPr>
        <p:spPr>
          <a:xfrm>
            <a:off x="5681345" y="2204720"/>
            <a:ext cx="1447800" cy="457200"/>
          </a:xfrm>
          <a:prstGeom prst="rect">
            <a:avLst/>
          </a:prstGeom>
          <a:solidFill>
            <a:srgbClr val="FDDFEC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设计内容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7683" name="文本框 497682"/>
          <p:cNvSpPr txBox="1"/>
          <p:nvPr/>
        </p:nvSpPr>
        <p:spPr>
          <a:xfrm>
            <a:off x="4978400" y="4017010"/>
            <a:ext cx="2959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带轮直径和结构；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84" name="文本框 497683"/>
          <p:cNvSpPr txBox="1"/>
          <p:nvPr/>
        </p:nvSpPr>
        <p:spPr>
          <a:xfrm>
            <a:off x="4978400" y="4398010"/>
            <a:ext cx="279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传动中心距 </a:t>
            </a:r>
            <a:r>
              <a:rPr lang="en-US" altLang="zh-CN" i="1">
                <a:latin typeface="Times New Roman" panose="02020603050405020304" pitchFamily="18" charset="0"/>
                <a:ea typeface="楷体" panose="02010609060101010101" pitchFamily="49" charset="-122"/>
              </a:rPr>
              <a:t>a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85" name="文本框 497684"/>
          <p:cNvSpPr txBox="1"/>
          <p:nvPr/>
        </p:nvSpPr>
        <p:spPr>
          <a:xfrm>
            <a:off x="4978400" y="4794885"/>
            <a:ext cx="375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验算带速 </a:t>
            </a:r>
            <a:r>
              <a:rPr lang="en-US" altLang="zh-CN" i="1">
                <a:latin typeface="Times New Roman" panose="02020603050405020304" pitchFamily="18" charset="0"/>
                <a:ea typeface="楷体" panose="02010609060101010101" pitchFamily="49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和包角</a:t>
            </a:r>
            <a:r>
              <a:rPr lang="en-US" altLang="zh-CN" i="1">
                <a:latin typeface="Times New Roman" panose="02020603050405020304" pitchFamily="18" charset="0"/>
                <a:ea typeface="方正舒体" panose="02010601030101010101" pitchFamily="2" charset="-122"/>
              </a:rPr>
              <a:t>α</a:t>
            </a:r>
            <a:r>
              <a:rPr lang="en-US" altLang="zh-CN" baseline="-2500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86" name="文本框 497685"/>
          <p:cNvSpPr txBox="1"/>
          <p:nvPr/>
        </p:nvSpPr>
        <p:spPr>
          <a:xfrm>
            <a:off x="4978400" y="5160010"/>
            <a:ext cx="3594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计算初拉力和压轴力。</a:t>
            </a:r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97687" name="右箭头 497686"/>
          <p:cNvSpPr/>
          <p:nvPr/>
        </p:nvSpPr>
        <p:spPr>
          <a:xfrm>
            <a:off x="3573145" y="2280920"/>
            <a:ext cx="1828800" cy="228600"/>
          </a:xfrm>
          <a:prstGeom prst="rightArrow">
            <a:avLst>
              <a:gd name="adj1" fmla="val 50000"/>
              <a:gd name="adj2" fmla="val 200000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14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43313" y="271463"/>
            <a:ext cx="548322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3.2-4 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横卷形 1"/>
          <p:cNvSpPr/>
          <p:nvPr/>
        </p:nvSpPr>
        <p:spPr>
          <a:xfrm>
            <a:off x="251460" y="692150"/>
            <a:ext cx="1151890" cy="576580"/>
          </a:xfrm>
          <a:prstGeom prst="horizontalScroll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rPr>
              <a:t>总结</a:t>
            </a: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75"/>
                                        <p:tgtEl>
                                          <p:spTgt spid="4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9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49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49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49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49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49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49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75"/>
                                        <p:tgtEl>
                                          <p:spTgt spid="49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9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4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500"/>
                                        <p:tgtEl>
                                          <p:spTgt spid="49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5" dur="500"/>
                                        <p:tgtEl>
                                          <p:spTgt spid="49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0" dur="500"/>
                                        <p:tgtEl>
                                          <p:spTgt spid="49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5" dur="500"/>
                                        <p:tgtEl>
                                          <p:spTgt spid="49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71" grpId="0"/>
      <p:bldP spid="497672" grpId="0"/>
      <p:bldP spid="497673" grpId="0" bldLvl="0" animBg="1"/>
      <p:bldP spid="497674" grpId="0"/>
      <p:bldP spid="497675" grpId="0" bldLvl="0" animBg="1"/>
      <p:bldP spid="497676" grpId="0"/>
      <p:bldP spid="497677" grpId="0"/>
      <p:bldP spid="497678" grpId="0"/>
      <p:bldP spid="497679" grpId="0"/>
      <p:bldP spid="497680" grpId="0" bldLvl="0" animBg="1"/>
      <p:bldP spid="497681" grpId="0"/>
      <p:bldP spid="497682" grpId="0" bldLvl="0" animBg="1"/>
      <p:bldP spid="497683" grpId="0"/>
      <p:bldP spid="497684" grpId="0"/>
      <p:bldP spid="497685" grpId="0"/>
      <p:bldP spid="49768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35" name="右箭头 499734"/>
          <p:cNvSpPr/>
          <p:nvPr/>
        </p:nvSpPr>
        <p:spPr>
          <a:xfrm rot="5400000">
            <a:off x="2578100" y="5062538"/>
            <a:ext cx="620713" cy="236537"/>
          </a:xfrm>
          <a:prstGeom prst="rightArrow">
            <a:avLst>
              <a:gd name="adj1" fmla="val 50000"/>
              <a:gd name="adj2" fmla="val 65604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anchor="ctr">
            <a:spAutoFit/>
          </a:bodyPr>
          <a:lstStyle/>
          <a:p>
            <a:pPr algn="ctr"/>
            <a:endParaRPr dirty="0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99717" name="文本框 499716"/>
          <p:cNvSpPr txBox="1"/>
          <p:nvPr/>
        </p:nvSpPr>
        <p:spPr>
          <a:xfrm>
            <a:off x="838200" y="304800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（二）设计步骤和方法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18" name="文本框 499717"/>
          <p:cNvSpPr txBox="1"/>
          <p:nvPr/>
        </p:nvSpPr>
        <p:spPr>
          <a:xfrm>
            <a:off x="990600" y="914400"/>
            <a:ext cx="3962400" cy="429895"/>
          </a:xfrm>
          <a:prstGeom prst="rect">
            <a:avLst/>
          </a:prstGeom>
          <a:solidFill>
            <a:srgbClr val="FDDFEC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、确定计算功率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＝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i="1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endParaRPr lang="en-US" altLang="zh-CN" i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19" name="右箭头 499718"/>
          <p:cNvSpPr/>
          <p:nvPr/>
        </p:nvSpPr>
        <p:spPr>
          <a:xfrm rot="5400000">
            <a:off x="2743200" y="1447800"/>
            <a:ext cx="342900" cy="266700"/>
          </a:xfrm>
          <a:prstGeom prst="rightArrow">
            <a:avLst>
              <a:gd name="adj1" fmla="val 50000"/>
              <a:gd name="adj2" fmla="val 32142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720" name="文本框 499719">
            <a:hlinkClick r:id="rId1" action="ppaction://hlinkfile"/>
          </p:cNvPr>
          <p:cNvSpPr txBox="1"/>
          <p:nvPr/>
        </p:nvSpPr>
        <p:spPr>
          <a:xfrm>
            <a:off x="838200" y="1828800"/>
            <a:ext cx="4267200" cy="429895"/>
          </a:xfrm>
          <a:prstGeom prst="rect">
            <a:avLst/>
          </a:prstGeom>
          <a:solidFill>
            <a:srgbClr val="0000FF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、根据 </a:t>
            </a:r>
            <a:r>
              <a:rPr lang="en-US" altLang="zh-CN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baseline="-14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ca</a:t>
            </a:r>
            <a:r>
              <a:rPr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选择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带型号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22" name="右箭头 499721"/>
          <p:cNvSpPr/>
          <p:nvPr/>
        </p:nvSpPr>
        <p:spPr>
          <a:xfrm rot="5400000">
            <a:off x="2743200" y="2362200"/>
            <a:ext cx="342900" cy="266700"/>
          </a:xfrm>
          <a:prstGeom prst="rightArrow">
            <a:avLst>
              <a:gd name="adj1" fmla="val 50000"/>
              <a:gd name="adj2" fmla="val 32142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723" name="文本框 499722">
            <a:hlinkClick r:id="rId2" action="ppaction://hlinkfile"/>
          </p:cNvPr>
          <p:cNvSpPr txBox="1"/>
          <p:nvPr/>
        </p:nvSpPr>
        <p:spPr>
          <a:xfrm>
            <a:off x="838200" y="2743200"/>
            <a:ext cx="4267200" cy="457200"/>
          </a:xfrm>
          <a:prstGeom prst="rect">
            <a:avLst/>
          </a:prstGeom>
          <a:solidFill>
            <a:srgbClr val="0000FF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、确定带轮基准直径 </a:t>
            </a:r>
            <a:r>
              <a:rPr lang="en-US" altLang="zh-CN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en-US" altLang="zh-CN" baseline="-14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d1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en-US" altLang="zh-CN" baseline="-14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d2</a:t>
            </a:r>
            <a:endParaRPr lang="en-US" altLang="zh-CN" baseline="-1400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26" name="右箭头 499725"/>
          <p:cNvSpPr/>
          <p:nvPr/>
        </p:nvSpPr>
        <p:spPr>
          <a:xfrm rot="5400000">
            <a:off x="2743200" y="3276600"/>
            <a:ext cx="342900" cy="266700"/>
          </a:xfrm>
          <a:prstGeom prst="rightArrow">
            <a:avLst>
              <a:gd name="adj1" fmla="val 50000"/>
              <a:gd name="adj2" fmla="val 32142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727" name="文本框 499726"/>
          <p:cNvSpPr txBox="1"/>
          <p:nvPr/>
        </p:nvSpPr>
        <p:spPr>
          <a:xfrm>
            <a:off x="838200" y="3657600"/>
            <a:ext cx="4267200" cy="457200"/>
          </a:xfrm>
          <a:prstGeom prst="rect">
            <a:avLst/>
          </a:prstGeom>
          <a:solidFill>
            <a:srgbClr val="FDDFEC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、验算带速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～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30m/s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endParaRPr lang="zh-CN" altLang="en-US" i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99728" name="组合 499727"/>
          <p:cNvGrpSpPr/>
          <p:nvPr/>
        </p:nvGrpSpPr>
        <p:grpSpPr>
          <a:xfrm>
            <a:off x="457200" y="2971800"/>
            <a:ext cx="381000" cy="914400"/>
            <a:chOff x="192" y="1872"/>
            <a:chExt cx="240" cy="576"/>
          </a:xfrm>
        </p:grpSpPr>
        <p:sp>
          <p:nvSpPr>
            <p:cNvPr id="499729" name="直接连接符 499728"/>
            <p:cNvSpPr/>
            <p:nvPr/>
          </p:nvSpPr>
          <p:spPr>
            <a:xfrm flipH="1">
              <a:off x="192" y="2448"/>
              <a:ext cx="240" cy="0"/>
            </a:xfrm>
            <a:prstGeom prst="line">
              <a:avLst/>
            </a:prstGeom>
            <a:ln w="38100" cap="flat" cmpd="sng">
              <a:solidFill>
                <a:srgbClr val="00206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9730" name="直接连接符 499729"/>
            <p:cNvSpPr/>
            <p:nvPr/>
          </p:nvSpPr>
          <p:spPr>
            <a:xfrm flipV="1">
              <a:off x="192" y="1872"/>
              <a:ext cx="0" cy="576"/>
            </a:xfrm>
            <a:prstGeom prst="line">
              <a:avLst/>
            </a:prstGeom>
            <a:ln w="38100" cap="flat" cmpd="sng">
              <a:solidFill>
                <a:srgbClr val="00206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9731" name="直接连接符 499730"/>
            <p:cNvSpPr/>
            <p:nvPr/>
          </p:nvSpPr>
          <p:spPr>
            <a:xfrm>
              <a:off x="192" y="1872"/>
              <a:ext cx="240" cy="0"/>
            </a:xfrm>
            <a:prstGeom prst="line">
              <a:avLst/>
            </a:prstGeom>
            <a:ln w="38100" cap="flat" cmpd="sng">
              <a:solidFill>
                <a:srgbClr val="00206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99732" name="文本框 499731"/>
          <p:cNvSpPr txBox="1"/>
          <p:nvPr/>
        </p:nvSpPr>
        <p:spPr>
          <a:xfrm>
            <a:off x="457200" y="33528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9733" name="右箭头 499732"/>
          <p:cNvSpPr/>
          <p:nvPr/>
        </p:nvSpPr>
        <p:spPr>
          <a:xfrm rot="5400000">
            <a:off x="2743200" y="4191000"/>
            <a:ext cx="342900" cy="266700"/>
          </a:xfrm>
          <a:prstGeom prst="rightArrow">
            <a:avLst>
              <a:gd name="adj1" fmla="val 50000"/>
              <a:gd name="adj2" fmla="val 32142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734" name="文本框 499733">
            <a:hlinkClick r:id="" action="ppaction://hlinkshowjump?jump=nextslide"/>
          </p:cNvPr>
          <p:cNvSpPr txBox="1"/>
          <p:nvPr/>
        </p:nvSpPr>
        <p:spPr>
          <a:xfrm>
            <a:off x="990600" y="4572000"/>
            <a:ext cx="3886200" cy="457200"/>
          </a:xfrm>
          <a:prstGeom prst="rect">
            <a:avLst/>
          </a:prstGeom>
          <a:solidFill>
            <a:srgbClr val="0000FF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、确定中心距 </a:t>
            </a:r>
            <a:r>
              <a:rPr lang="en-US" altLang="zh-CN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及带长 </a:t>
            </a:r>
            <a:r>
              <a:rPr lang="en-US" altLang="zh-CN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endParaRPr lang="en-US" altLang="zh-CN" baseline="-2500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36" name="文本框 499735"/>
          <p:cNvSpPr txBox="1"/>
          <p:nvPr/>
        </p:nvSpPr>
        <p:spPr>
          <a:xfrm>
            <a:off x="1066800" y="5486400"/>
            <a:ext cx="3657600" cy="457200"/>
          </a:xfrm>
          <a:prstGeom prst="rect">
            <a:avLst/>
          </a:prstGeom>
          <a:solidFill>
            <a:srgbClr val="FDDFEC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、验算主动轮的包角</a:t>
            </a:r>
            <a:r>
              <a:rPr lang="en-US" altLang="zh-CN" i="1">
                <a:latin typeface="Times New Roman" panose="02020603050405020304" pitchFamily="18" charset="0"/>
                <a:ea typeface="方正舒体" panose="02010601030101010101" pitchFamily="2" charset="-122"/>
              </a:rPr>
              <a:t>α</a:t>
            </a:r>
            <a:r>
              <a:rPr lang="en-US" altLang="zh-CN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endParaRPr lang="en-US" altLang="zh-CN" baseline="-14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37" name="右箭头 499736"/>
          <p:cNvSpPr/>
          <p:nvPr/>
        </p:nvSpPr>
        <p:spPr>
          <a:xfrm>
            <a:off x="4876800" y="55626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738" name="文本框 499737"/>
          <p:cNvSpPr txBox="1"/>
          <p:nvPr/>
        </p:nvSpPr>
        <p:spPr>
          <a:xfrm>
            <a:off x="5715000" y="5448300"/>
            <a:ext cx="2895600" cy="519113"/>
          </a:xfrm>
          <a:prstGeom prst="rect">
            <a:avLst/>
          </a:prstGeom>
          <a:solidFill>
            <a:srgbClr val="FDDFEC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、计算带的根数 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99739" name="组合 499738"/>
          <p:cNvGrpSpPr/>
          <p:nvPr/>
        </p:nvGrpSpPr>
        <p:grpSpPr>
          <a:xfrm>
            <a:off x="609600" y="4800600"/>
            <a:ext cx="381000" cy="914400"/>
            <a:chOff x="192" y="1872"/>
            <a:chExt cx="240" cy="576"/>
          </a:xfrm>
        </p:grpSpPr>
        <p:sp>
          <p:nvSpPr>
            <p:cNvPr id="499740" name="直接连接符 499739"/>
            <p:cNvSpPr/>
            <p:nvPr/>
          </p:nvSpPr>
          <p:spPr>
            <a:xfrm flipH="1">
              <a:off x="192" y="2448"/>
              <a:ext cx="240" cy="0"/>
            </a:xfrm>
            <a:prstGeom prst="line">
              <a:avLst/>
            </a:prstGeom>
            <a:ln w="38100" cap="flat" cmpd="sng">
              <a:solidFill>
                <a:srgbClr val="00206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9741" name="直接连接符 499740"/>
            <p:cNvSpPr/>
            <p:nvPr/>
          </p:nvSpPr>
          <p:spPr>
            <a:xfrm flipV="1">
              <a:off x="192" y="1872"/>
              <a:ext cx="0" cy="576"/>
            </a:xfrm>
            <a:prstGeom prst="line">
              <a:avLst/>
            </a:prstGeom>
            <a:ln w="38100" cap="flat" cmpd="sng">
              <a:solidFill>
                <a:srgbClr val="00206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9742" name="直接连接符 499741"/>
            <p:cNvSpPr/>
            <p:nvPr/>
          </p:nvSpPr>
          <p:spPr>
            <a:xfrm>
              <a:off x="192" y="1872"/>
              <a:ext cx="240" cy="0"/>
            </a:xfrm>
            <a:prstGeom prst="line">
              <a:avLst/>
            </a:prstGeom>
            <a:ln w="38100" cap="flat" cmpd="sng">
              <a:solidFill>
                <a:srgbClr val="00206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99743" name="文本框 499742"/>
          <p:cNvSpPr txBox="1"/>
          <p:nvPr/>
        </p:nvSpPr>
        <p:spPr>
          <a:xfrm>
            <a:off x="609600" y="51816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9744" name="文本框 499743">
            <a:hlinkClick r:id="rId3" action="ppaction://hlinkfile"/>
          </p:cNvPr>
          <p:cNvSpPr txBox="1"/>
          <p:nvPr/>
        </p:nvSpPr>
        <p:spPr>
          <a:xfrm>
            <a:off x="6375400" y="4572000"/>
            <a:ext cx="1587500" cy="457200"/>
          </a:xfrm>
          <a:prstGeom prst="rect">
            <a:avLst/>
          </a:prstGeom>
          <a:solidFill>
            <a:schemeClr val="hlink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 </a:t>
            </a:r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≤ 7 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9745" name="右箭头 499744"/>
          <p:cNvSpPr/>
          <p:nvPr/>
        </p:nvSpPr>
        <p:spPr>
          <a:xfrm rot="-5400000" flipV="1">
            <a:off x="6934200" y="5143500"/>
            <a:ext cx="342900" cy="266700"/>
          </a:xfrm>
          <a:prstGeom prst="rightArrow">
            <a:avLst>
              <a:gd name="adj1" fmla="val 50000"/>
              <a:gd name="adj2" fmla="val 32142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746" name="直接连接符 499745"/>
          <p:cNvSpPr/>
          <p:nvPr/>
        </p:nvSpPr>
        <p:spPr>
          <a:xfrm flipH="1">
            <a:off x="5105400" y="2971800"/>
            <a:ext cx="381000" cy="0"/>
          </a:xfrm>
          <a:prstGeom prst="line">
            <a:avLst/>
          </a:prstGeom>
          <a:ln w="38100" cap="flat" cmpd="sng">
            <a:solidFill>
              <a:srgbClr val="00206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99747" name="组合 499746"/>
          <p:cNvGrpSpPr/>
          <p:nvPr/>
        </p:nvGrpSpPr>
        <p:grpSpPr>
          <a:xfrm>
            <a:off x="5105400" y="2057400"/>
            <a:ext cx="1295400" cy="2743200"/>
            <a:chOff x="3120" y="1296"/>
            <a:chExt cx="816" cy="1728"/>
          </a:xfrm>
        </p:grpSpPr>
        <p:sp>
          <p:nvSpPr>
            <p:cNvPr id="499748" name="直接连接符 499747"/>
            <p:cNvSpPr/>
            <p:nvPr/>
          </p:nvSpPr>
          <p:spPr>
            <a:xfrm flipH="1">
              <a:off x="3360" y="3024"/>
              <a:ext cx="576" cy="0"/>
            </a:xfrm>
            <a:prstGeom prst="line">
              <a:avLst/>
            </a:prstGeom>
            <a:ln w="38100" cap="flat" cmpd="sng">
              <a:solidFill>
                <a:srgbClr val="00206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9749" name="直接连接符 499748"/>
            <p:cNvSpPr/>
            <p:nvPr/>
          </p:nvSpPr>
          <p:spPr>
            <a:xfrm flipV="1">
              <a:off x="3360" y="1296"/>
              <a:ext cx="0" cy="1728"/>
            </a:xfrm>
            <a:prstGeom prst="line">
              <a:avLst/>
            </a:prstGeom>
            <a:ln w="38100" cap="flat" cmpd="sng">
              <a:solidFill>
                <a:srgbClr val="00206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9750" name="直接连接符 499749"/>
            <p:cNvSpPr/>
            <p:nvPr/>
          </p:nvSpPr>
          <p:spPr>
            <a:xfrm flipH="1">
              <a:off x="3120" y="1296"/>
              <a:ext cx="240" cy="0"/>
            </a:xfrm>
            <a:prstGeom prst="line">
              <a:avLst/>
            </a:prstGeom>
            <a:ln w="38100" cap="flat" cmpd="sng">
              <a:solidFill>
                <a:srgbClr val="00206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99751" name="文本框 499750"/>
          <p:cNvSpPr txBox="1"/>
          <p:nvPr/>
        </p:nvSpPr>
        <p:spPr>
          <a:xfrm>
            <a:off x="7239000" y="41529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9752" name="文本框 499751"/>
          <p:cNvSpPr txBox="1"/>
          <p:nvPr/>
        </p:nvSpPr>
        <p:spPr>
          <a:xfrm>
            <a:off x="5638800" y="4343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9753" name="文本框 499752"/>
          <p:cNvSpPr txBox="1"/>
          <p:nvPr/>
        </p:nvSpPr>
        <p:spPr>
          <a:xfrm>
            <a:off x="5791200" y="3657600"/>
            <a:ext cx="2667000" cy="457200"/>
          </a:xfrm>
          <a:prstGeom prst="rect">
            <a:avLst/>
          </a:prstGeom>
          <a:solidFill>
            <a:srgbClr val="FDDFEC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、确定初拉力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endParaRPr lang="en-US" altLang="zh-CN" baseline="-14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54" name="右箭头 499753"/>
          <p:cNvSpPr/>
          <p:nvPr/>
        </p:nvSpPr>
        <p:spPr>
          <a:xfrm rot="-5400000" flipV="1">
            <a:off x="6934200" y="4229100"/>
            <a:ext cx="342900" cy="266700"/>
          </a:xfrm>
          <a:prstGeom prst="rightArrow">
            <a:avLst>
              <a:gd name="adj1" fmla="val 50000"/>
              <a:gd name="adj2" fmla="val 32142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755" name="文本框 499754">
            <a:hlinkClick r:id="rId4" action="ppaction://hlinkfile"/>
          </p:cNvPr>
          <p:cNvSpPr txBox="1"/>
          <p:nvPr/>
        </p:nvSpPr>
        <p:spPr>
          <a:xfrm>
            <a:off x="5791200" y="2819400"/>
            <a:ext cx="2743200" cy="457200"/>
          </a:xfrm>
          <a:prstGeom prst="rect">
            <a:avLst/>
          </a:prstGeom>
          <a:solidFill>
            <a:srgbClr val="0000FF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、计算压轴力 </a:t>
            </a:r>
            <a:r>
              <a:rPr lang="en-US" altLang="zh-CN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aseline="-14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endParaRPr lang="en-US" altLang="zh-CN" baseline="-1400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56" name="右箭头 499755"/>
          <p:cNvSpPr/>
          <p:nvPr/>
        </p:nvSpPr>
        <p:spPr>
          <a:xfrm rot="-5400000" flipV="1">
            <a:off x="6934200" y="2476500"/>
            <a:ext cx="342900" cy="266700"/>
          </a:xfrm>
          <a:prstGeom prst="rightArrow">
            <a:avLst>
              <a:gd name="adj1" fmla="val 50000"/>
              <a:gd name="adj2" fmla="val 32142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757" name="文本框 499756"/>
          <p:cNvSpPr txBox="1"/>
          <p:nvPr/>
        </p:nvSpPr>
        <p:spPr>
          <a:xfrm>
            <a:off x="5715000" y="1536700"/>
            <a:ext cx="2743200" cy="822325"/>
          </a:xfrm>
          <a:prstGeom prst="rect">
            <a:avLst/>
          </a:prstGeom>
          <a:solidFill>
            <a:srgbClr val="FDDFEC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、带轮结构设计及张紧装置设计</a:t>
            </a:r>
            <a:endParaRPr lang="zh-CN" altLang="en-US" i="1" baseline="-25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61" name="文本框 499760"/>
          <p:cNvSpPr txBox="1"/>
          <p:nvPr/>
        </p:nvSpPr>
        <p:spPr>
          <a:xfrm>
            <a:off x="6248400" y="838200"/>
            <a:ext cx="1981200" cy="4572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algn="ctr"/>
            <a:endParaRPr dirty="0">
              <a:latin typeface="Times New Roman" panose="02020603050405020304" pitchFamily="18" charset="0"/>
              <a:ea typeface="方正大黑简体" pitchFamily="2" charset="-122"/>
            </a:endParaRPr>
          </a:p>
        </p:txBody>
      </p:sp>
      <p:sp>
        <p:nvSpPr>
          <p:cNvPr id="499765" name="文本框 499764"/>
          <p:cNvSpPr txBox="1"/>
          <p:nvPr/>
        </p:nvSpPr>
        <p:spPr>
          <a:xfrm>
            <a:off x="5562600" y="571500"/>
            <a:ext cx="3200400" cy="8223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hlinkClick r:id="rId5" action="ppaction://hlinkfile"/>
              </a:rPr>
              <a:t>问题：带传动适合于高速级还是低速级？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9766" name="右箭头 499765"/>
          <p:cNvSpPr/>
          <p:nvPr/>
        </p:nvSpPr>
        <p:spPr>
          <a:xfrm rot="-5400000" flipV="1">
            <a:off x="6934200" y="3314700"/>
            <a:ext cx="342900" cy="266700"/>
          </a:xfrm>
          <a:prstGeom prst="rightArrow">
            <a:avLst>
              <a:gd name="adj1" fmla="val 50000"/>
              <a:gd name="adj2" fmla="val 32142"/>
            </a:avLst>
          </a:pr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75"/>
                                        <p:tgtEl>
                                          <p:spTgt spid="49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49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75"/>
                                        <p:tgtEl>
                                          <p:spTgt spid="49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49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75"/>
                                        <p:tgtEl>
                                          <p:spTgt spid="49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49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9" dur="75"/>
                                        <p:tgtEl>
                                          <p:spTgt spid="49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9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9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9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4" dur="500"/>
                                        <p:tgtEl>
                                          <p:spTgt spid="49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75"/>
                                        <p:tgtEl>
                                          <p:spTgt spid="49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49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75"/>
                                        <p:tgtEl>
                                          <p:spTgt spid="49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99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99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9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49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75"/>
                                        <p:tgtEl>
                                          <p:spTgt spid="49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49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75"/>
                                        <p:tgtEl>
                                          <p:spTgt spid="49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49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9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49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500"/>
                                        <p:tgtEl>
                                          <p:spTgt spid="49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500"/>
                                        <p:tgtEl>
                                          <p:spTgt spid="49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4" dur="75"/>
                                        <p:tgtEl>
                                          <p:spTgt spid="49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9" dur="500"/>
                                        <p:tgtEl>
                                          <p:spTgt spid="49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3" dur="75"/>
                                        <p:tgtEl>
                                          <p:spTgt spid="49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8" dur="500"/>
                                        <p:tgtEl>
                                          <p:spTgt spid="49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2" dur="75"/>
                                        <p:tgtEl>
                                          <p:spTgt spid="49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7" dur="75"/>
                                        <p:tgtEl>
                                          <p:spTgt spid="49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35" grpId="0" bldLvl="0" animBg="1"/>
      <p:bldP spid="499717" grpId="0"/>
      <p:bldP spid="499718" grpId="0" bldLvl="0" animBg="1"/>
      <p:bldP spid="499720" grpId="0" bldLvl="0" animBg="1"/>
      <p:bldP spid="499723" grpId="0" bldLvl="0" animBg="1"/>
      <p:bldP spid="499727" grpId="0" bldLvl="0" animBg="1"/>
      <p:bldP spid="499732" grpId="0"/>
      <p:bldP spid="499734" grpId="0" bldLvl="0" animBg="1"/>
      <p:bldP spid="499736" grpId="0" bldLvl="0" animBg="1"/>
      <p:bldP spid="499738" grpId="0" bldLvl="0" animBg="1"/>
      <p:bldP spid="499743" grpId="0"/>
      <p:bldP spid="499744" grpId="0" bldLvl="0" animBg="1"/>
      <p:bldP spid="499751" grpId="0"/>
      <p:bldP spid="499752" grpId="0"/>
      <p:bldP spid="499753" grpId="0" bldLvl="0" animBg="1"/>
      <p:bldP spid="499755" grpId="0" bldLvl="0" animBg="1"/>
      <p:bldP spid="499757" grpId="0" bldLvl="0" animBg="1"/>
      <p:bldP spid="49976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3"/>
          <p:cNvSpPr txBox="1">
            <a:spLocks noChangeArrowheads="1"/>
          </p:cNvSpPr>
          <p:nvPr/>
        </p:nvSpPr>
        <p:spPr bwMode="auto">
          <a:xfrm>
            <a:off x="7377113" y="6162675"/>
            <a:ext cx="4635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</a:rPr>
              <a:t>　</a:t>
            </a:r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86063" y="271463"/>
            <a:ext cx="635635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3.2-5 </a:t>
            </a: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V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带传动的张紧、安装与防护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0117" name="文本框 18440"/>
          <p:cNvSpPr txBox="1">
            <a:spLocks noChangeArrowheads="1"/>
          </p:cNvSpPr>
          <p:nvPr/>
        </p:nvSpPr>
        <p:spPr bwMode="auto">
          <a:xfrm>
            <a:off x="642938" y="1214438"/>
            <a:ext cx="80676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</a:rPr>
              <a:t>    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带传动中由于传动带长期受到拉力的作用，将会产生塑性变形，容易造成张紧能力减小，影响带的正常传动，为了保持带在传动中的正常传动能力，可使用张紧装置调整。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90118" name="文本框 18441"/>
          <p:cNvSpPr txBox="1">
            <a:spLocks noChangeArrowheads="1"/>
          </p:cNvSpPr>
          <p:nvPr/>
        </p:nvSpPr>
        <p:spPr bwMode="auto">
          <a:xfrm>
            <a:off x="642938" y="2297113"/>
            <a:ext cx="8067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</a:rPr>
              <a:t>    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通常带传动的张紧装置采用两种方法，即</a:t>
            </a:r>
            <a:r>
              <a:rPr lang="zh-CN" altLang="en-US" sz="2000">
                <a:solidFill>
                  <a:srgbClr val="FF0000"/>
                </a:solidFill>
                <a:latin typeface="华文中宋" panose="02010600040101010101" pitchFamily="2" charset="-122"/>
              </a:rPr>
              <a:t>调整中心距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和</a:t>
            </a:r>
            <a:r>
              <a:rPr lang="zh-CN" altLang="en-US" sz="2000">
                <a:solidFill>
                  <a:srgbClr val="FF0000"/>
                </a:solidFill>
                <a:latin typeface="华文中宋" panose="02010600040101010101" pitchFamily="2" charset="-122"/>
              </a:rPr>
              <a:t>使用张紧轮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。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90119" name="文本框 18442"/>
          <p:cNvSpPr txBox="1">
            <a:spLocks noChangeArrowheads="1"/>
          </p:cNvSpPr>
          <p:nvPr/>
        </p:nvSpPr>
        <p:spPr bwMode="auto">
          <a:xfrm>
            <a:off x="492125" y="2759075"/>
            <a:ext cx="2597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、调整中心距的方法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20" name="文本框 1"/>
          <p:cNvSpPr txBox="1">
            <a:spLocks noChangeArrowheads="1"/>
          </p:cNvSpPr>
          <p:nvPr/>
        </p:nvSpPr>
        <p:spPr bwMode="auto">
          <a:xfrm>
            <a:off x="357188" y="857250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一、带传动的张紧装置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50" name="文本框 121"/>
          <p:cNvSpPr txBox="1">
            <a:spLocks noChangeArrowheads="1"/>
          </p:cNvSpPr>
          <p:nvPr/>
        </p:nvSpPr>
        <p:spPr bwMode="auto">
          <a:xfrm>
            <a:off x="944245" y="6258560"/>
            <a:ext cx="769810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1270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hangingPunct="1"/>
            <a:r>
              <a:rPr lang="en-US" altLang="zh-CN" sz="2000">
                <a:solidFill>
                  <a:srgbClr val="000099"/>
                </a:solidFill>
                <a:latin typeface="Calibri" panose="020F0502020204030204" pitchFamily="34" charset="0"/>
              </a:rPr>
              <a:t>a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）水平传动张紧         </a:t>
            </a:r>
            <a:r>
              <a:rPr lang="en-US" altLang="zh-CN" sz="2000">
                <a:solidFill>
                  <a:srgbClr val="000099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）垂直传动张紧     </a:t>
            </a:r>
            <a:r>
              <a:rPr lang="en-US" altLang="zh-CN" sz="2000">
                <a:solidFill>
                  <a:srgbClr val="000099"/>
                </a:solidFill>
                <a:latin typeface="Calibri" panose="020F0502020204030204" pitchFamily="34" charset="0"/>
              </a:rPr>
              <a:t>c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）自动张紧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615633" y="3128645"/>
            <a:ext cx="8355012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　　一般利用调整螺钉来调整中心距的距离。也可利用电动机自身的重量下垂，以达到自动张紧的目的，多用在小功率的传动中。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46093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944245" y="4070350"/>
            <a:ext cx="2691765" cy="2249170"/>
            <a:chOff x="1487" y="6300"/>
            <a:chExt cx="4239" cy="3542"/>
          </a:xfrm>
        </p:grpSpPr>
        <p:pic>
          <p:nvPicPr>
            <p:cNvPr id="2" name="Picture 1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9285" b="7484"/>
            <a:stretch>
              <a:fillRect/>
            </a:stretch>
          </p:blipFill>
          <p:spPr bwMode="auto">
            <a:xfrm>
              <a:off x="1487" y="6300"/>
              <a:ext cx="4214" cy="3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5272" y="9143"/>
              <a:ext cx="454" cy="5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36390" y="4018280"/>
            <a:ext cx="1978025" cy="2332990"/>
            <a:chOff x="6514" y="6300"/>
            <a:chExt cx="2969" cy="3542"/>
          </a:xfrm>
        </p:grpSpPr>
        <p:pic>
          <p:nvPicPr>
            <p:cNvPr id="61452" name="Picture 1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38" r="31884" b="7484"/>
            <a:stretch>
              <a:fillRect/>
            </a:stretch>
          </p:blipFill>
          <p:spPr bwMode="auto">
            <a:xfrm>
              <a:off x="6514" y="6300"/>
              <a:ext cx="2844" cy="3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/>
          </p:nvSpPr>
          <p:spPr>
            <a:xfrm>
              <a:off x="9029" y="9139"/>
              <a:ext cx="454" cy="5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614795" y="3957320"/>
            <a:ext cx="1988185" cy="2249170"/>
            <a:chOff x="10417" y="6218"/>
            <a:chExt cx="3131" cy="3542"/>
          </a:xfrm>
        </p:grpSpPr>
        <p:pic>
          <p:nvPicPr>
            <p:cNvPr id="11" name="Picture 1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749" b="7484"/>
            <a:stretch>
              <a:fillRect/>
            </a:stretch>
          </p:blipFill>
          <p:spPr bwMode="auto">
            <a:xfrm>
              <a:off x="10417" y="6218"/>
              <a:ext cx="3131" cy="3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矩形 12"/>
            <p:cNvSpPr/>
            <p:nvPr/>
          </p:nvSpPr>
          <p:spPr>
            <a:xfrm>
              <a:off x="13094" y="9031"/>
              <a:ext cx="454" cy="5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pic>
        <p:nvPicPr>
          <p:cNvPr id="5" name="图片 1073742872" descr="44303071dc0a1f9688d599dbc999570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/>
      <p:bldP spid="90118" grpId="0"/>
      <p:bldP spid="90119" grpId="0"/>
      <p:bldP spid="90120" grpId="0"/>
      <p:bldP spid="61450" grpId="0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27" name="图片 105526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9755" y="213995"/>
            <a:ext cx="2562860" cy="29889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526" name="图片 105525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95" y="1647190"/>
            <a:ext cx="3238500" cy="260096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5505" name="组合 105504"/>
          <p:cNvGrpSpPr/>
          <p:nvPr/>
        </p:nvGrpSpPr>
        <p:grpSpPr>
          <a:xfrm>
            <a:off x="2233930" y="1090930"/>
            <a:ext cx="1387475" cy="2112010"/>
            <a:chOff x="2478" y="1200"/>
            <a:chExt cx="957" cy="1395"/>
          </a:xfrm>
        </p:grpSpPr>
        <p:grpSp>
          <p:nvGrpSpPr>
            <p:cNvPr id="105503" name="组合 105502"/>
            <p:cNvGrpSpPr/>
            <p:nvPr/>
          </p:nvGrpSpPr>
          <p:grpSpPr>
            <a:xfrm>
              <a:off x="2478" y="1200"/>
              <a:ext cx="957" cy="1395"/>
              <a:chOff x="2478" y="1200"/>
              <a:chExt cx="957" cy="1395"/>
            </a:xfrm>
          </p:grpSpPr>
          <p:sp>
            <p:nvSpPr>
              <p:cNvPr id="105500" name="直接连接符 105499"/>
              <p:cNvSpPr/>
              <p:nvPr/>
            </p:nvSpPr>
            <p:spPr>
              <a:xfrm flipV="1">
                <a:off x="2478" y="1980"/>
                <a:ext cx="0" cy="615"/>
              </a:xfrm>
              <a:prstGeom prst="line">
                <a:avLst/>
              </a:prstGeom>
              <a:ln w="127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01" name="直接连接符 105500"/>
              <p:cNvSpPr/>
              <p:nvPr/>
            </p:nvSpPr>
            <p:spPr>
              <a:xfrm flipV="1">
                <a:off x="3435" y="1200"/>
                <a:ext cx="0" cy="597"/>
              </a:xfrm>
              <a:prstGeom prst="line">
                <a:avLst/>
              </a:prstGeom>
              <a:ln w="127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02" name="直接连接符 105501"/>
              <p:cNvSpPr/>
              <p:nvPr/>
            </p:nvSpPr>
            <p:spPr>
              <a:xfrm flipV="1">
                <a:off x="2481" y="1257"/>
                <a:ext cx="951" cy="810"/>
              </a:xfrm>
              <a:prstGeom prst="line">
                <a:avLst/>
              </a:prstGeom>
              <a:ln w="12700" cap="flat" cmpd="sng">
                <a:solidFill>
                  <a:srgbClr val="002060"/>
                </a:solidFill>
                <a:prstDash val="solid"/>
                <a:headEnd type="triangle" w="sm" len="lg"/>
                <a:tailEnd type="triangle" w="sm" len="lg"/>
              </a:ln>
            </p:spPr>
          </p:sp>
        </p:grpSp>
        <p:sp>
          <p:nvSpPr>
            <p:cNvPr id="105504" name="矩形 105503"/>
            <p:cNvSpPr/>
            <p:nvPr/>
          </p:nvSpPr>
          <p:spPr>
            <a:xfrm>
              <a:off x="2748" y="1380"/>
              <a:ext cx="229" cy="34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chemeClr val="tx1">
                      <a:lumMod val="75000"/>
                    </a:schemeClr>
                  </a:solidFill>
                  <a:latin typeface="宋体" panose="02010600030101010101" pitchFamily="2" charset="-122"/>
                </a:rPr>
                <a:t>a</a:t>
              </a:r>
              <a:endParaRPr lang="en-US" altLang="zh-CN" sz="2800" b="1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05485" name="圆角矩形标注 105484"/>
          <p:cNvSpPr/>
          <p:nvPr/>
        </p:nvSpPr>
        <p:spPr>
          <a:xfrm>
            <a:off x="2906713" y="4345940"/>
            <a:ext cx="1428750" cy="400050"/>
          </a:xfrm>
          <a:prstGeom prst="wedgeRoundRectCallout">
            <a:avLst>
              <a:gd name="adj1" fmla="val -82222"/>
              <a:gd name="adj2" fmla="val -348014"/>
              <a:gd name="adj3" fmla="val 16667"/>
            </a:avLst>
          </a:prstGeom>
          <a:solidFill>
            <a:srgbClr val="CCFFFF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>
              <a:spcBef>
                <a:spcPct val="5000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调整螺钉</a:t>
            </a:r>
            <a:endParaRPr lang="zh-CN" altLang="en-US" sz="20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86" name="圆角矩形标注 105485"/>
          <p:cNvSpPr/>
          <p:nvPr/>
        </p:nvSpPr>
        <p:spPr>
          <a:xfrm>
            <a:off x="4029710" y="3202940"/>
            <a:ext cx="1428750" cy="400050"/>
          </a:xfrm>
          <a:prstGeom prst="wedgeRoundRectCallout">
            <a:avLst>
              <a:gd name="adj1" fmla="val 113556"/>
              <a:gd name="adj2" fmla="val -209125"/>
              <a:gd name="adj3" fmla="val 16667"/>
            </a:avLst>
          </a:prstGeom>
          <a:solidFill>
            <a:srgbClr val="CCFFFF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>
              <a:spcBef>
                <a:spcPct val="5000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调整螺钉</a:t>
            </a: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90" name="文本框 105489"/>
          <p:cNvSpPr txBox="1"/>
          <p:nvPr/>
        </p:nvSpPr>
        <p:spPr>
          <a:xfrm>
            <a:off x="505778" y="4461193"/>
            <a:ext cx="2451100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滑道式张紧装置</a:t>
            </a: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98" name="文本框 105497"/>
          <p:cNvSpPr txBox="1"/>
          <p:nvPr/>
        </p:nvSpPr>
        <p:spPr>
          <a:xfrm>
            <a:off x="5875973" y="3229610"/>
            <a:ext cx="2451100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摆架式张紧装置</a:t>
            </a: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5520" name="组合 105519"/>
          <p:cNvGrpSpPr/>
          <p:nvPr/>
        </p:nvGrpSpPr>
        <p:grpSpPr>
          <a:xfrm>
            <a:off x="6222365" y="422910"/>
            <a:ext cx="1240790" cy="1679575"/>
            <a:chOff x="4158" y="1596"/>
            <a:chExt cx="900" cy="1260"/>
          </a:xfrm>
        </p:grpSpPr>
        <p:grpSp>
          <p:nvGrpSpPr>
            <p:cNvPr id="105518" name="组合 105517"/>
            <p:cNvGrpSpPr/>
            <p:nvPr/>
          </p:nvGrpSpPr>
          <p:grpSpPr>
            <a:xfrm>
              <a:off x="4158" y="1596"/>
              <a:ext cx="900" cy="1260"/>
              <a:chOff x="4158" y="1596"/>
              <a:chExt cx="900" cy="1260"/>
            </a:xfrm>
          </p:grpSpPr>
          <p:sp>
            <p:nvSpPr>
              <p:cNvPr id="105515" name="直接连接符 105514"/>
              <p:cNvSpPr/>
              <p:nvPr/>
            </p:nvSpPr>
            <p:spPr>
              <a:xfrm flipH="1" flipV="1">
                <a:off x="4158" y="2652"/>
                <a:ext cx="378" cy="204"/>
              </a:xfrm>
              <a:prstGeom prst="line">
                <a:avLst/>
              </a:prstGeom>
              <a:ln w="127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16" name="直接连接符 105515"/>
              <p:cNvSpPr/>
              <p:nvPr/>
            </p:nvSpPr>
            <p:spPr>
              <a:xfrm flipH="1" flipV="1">
                <a:off x="4716" y="1596"/>
                <a:ext cx="342" cy="192"/>
              </a:xfrm>
              <a:prstGeom prst="line">
                <a:avLst/>
              </a:prstGeom>
              <a:ln w="127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17" name="直接连接符 105516"/>
              <p:cNvSpPr/>
              <p:nvPr/>
            </p:nvSpPr>
            <p:spPr>
              <a:xfrm flipV="1">
                <a:off x="4188" y="1620"/>
                <a:ext cx="564" cy="1044"/>
              </a:xfrm>
              <a:prstGeom prst="line">
                <a:avLst/>
              </a:prstGeom>
              <a:ln w="12700" cap="flat" cmpd="sng">
                <a:solidFill>
                  <a:srgbClr val="002060"/>
                </a:solidFill>
                <a:prstDash val="solid"/>
                <a:headEnd type="triangle" w="sm" len="lg"/>
                <a:tailEnd type="triangle" w="sm" len="lg"/>
              </a:ln>
            </p:spPr>
          </p:sp>
        </p:grpSp>
        <p:sp>
          <p:nvSpPr>
            <p:cNvPr id="105519" name="矩形 105518"/>
            <p:cNvSpPr/>
            <p:nvPr/>
          </p:nvSpPr>
          <p:spPr>
            <a:xfrm>
              <a:off x="4290" y="1853"/>
              <a:ext cx="229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chemeClr val="tx1">
                      <a:lumMod val="75000"/>
                    </a:schemeClr>
                  </a:solidFill>
                  <a:latin typeface="宋体" panose="02010600030101010101" pitchFamily="2" charset="-122"/>
                </a:rPr>
                <a:t>a</a:t>
              </a:r>
              <a:endParaRPr lang="en-US" altLang="zh-CN" sz="2800" b="1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05522" name="矩形 105521"/>
          <p:cNvSpPr/>
          <p:nvPr/>
        </p:nvSpPr>
        <p:spPr>
          <a:xfrm>
            <a:off x="506095" y="365760"/>
            <a:ext cx="4324350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调节两轴中心距的张紧装置</a:t>
            </a:r>
            <a:r>
              <a:rPr lang="zh-CN" altLang="en-US" sz="2800" b="1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 </a:t>
            </a:r>
            <a:endParaRPr lang="zh-CN" altLang="en-US" sz="2800" b="1">
              <a:solidFill>
                <a:schemeClr val="tx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172060" name="图片 172059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330" y="3700780"/>
            <a:ext cx="4291330" cy="2905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2053" name="矩形 172052"/>
          <p:cNvSpPr/>
          <p:nvPr/>
        </p:nvSpPr>
        <p:spPr>
          <a:xfrm>
            <a:off x="6512402" y="6206808"/>
            <a:ext cx="1710055" cy="39878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l">
              <a:spcBef>
                <a:spcPct val="50000"/>
              </a:spcBef>
              <a:buClrTx/>
              <a:buSzTx/>
            </a:pPr>
            <a:r>
              <a: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自</a:t>
            </a:r>
            <a:r>
              <a: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动张紧装置 </a:t>
            </a:r>
            <a:endParaRPr lang="zh-CN" altLang="en-US" sz="20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6" name="圆角矩形标注 172055"/>
          <p:cNvSpPr/>
          <p:nvPr/>
        </p:nvSpPr>
        <p:spPr>
          <a:xfrm>
            <a:off x="7041198" y="5137785"/>
            <a:ext cx="990600" cy="495300"/>
          </a:xfrm>
          <a:prstGeom prst="wedgeRoundRectCallout">
            <a:avLst>
              <a:gd name="adj1" fmla="val -131088"/>
              <a:gd name="adj2" fmla="val 141347"/>
              <a:gd name="adj3" fmla="val 16667"/>
            </a:avLst>
          </a:prstGeom>
          <a:solidFill>
            <a:srgbClr val="CCFFFF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>
              <a:spcBef>
                <a:spcPct val="5000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销轴</a:t>
            </a: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0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5" grpId="0" bldLvl="0" animBg="1"/>
      <p:bldP spid="105486" grpId="0" bldLvl="0" animBg="1"/>
      <p:bldP spid="105490" grpId="0"/>
      <p:bldP spid="105498" grpId="0"/>
      <p:bldP spid="105522" grpId="0"/>
      <p:bldP spid="172053" grpId="0"/>
      <p:bldP spid="17205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36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928938" y="271463"/>
            <a:ext cx="62134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3.2-5 </a:t>
            </a: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V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带传动的张紧、安装与防护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5303" name="文本框 55302"/>
          <p:cNvSpPr txBox="1">
            <a:spLocks noChangeArrowheads="1"/>
          </p:cNvSpPr>
          <p:nvPr/>
        </p:nvSpPr>
        <p:spPr bwMode="auto">
          <a:xfrm>
            <a:off x="608013" y="5046980"/>
            <a:ext cx="731678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①张紧轮一般应放在</a:t>
            </a:r>
            <a:r>
              <a:rPr lang="zh-CN" altLang="en-US" sz="2000">
                <a:solidFill>
                  <a:srgbClr val="FF0000"/>
                </a:solidFill>
                <a:latin typeface="华文中宋" panose="02010600040101010101" pitchFamily="2" charset="-122"/>
              </a:rPr>
              <a:t>松边的内侧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，使带只受单向弯曲。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②张紧轮应尽量靠近大轮，以免过分影响在小带轮上的包角。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③张紧轮的轮槽尺寸与带轮的相同。 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91144" name="文本框 55303"/>
          <p:cNvSpPr txBox="1">
            <a:spLocks noChangeArrowheads="1"/>
          </p:cNvSpPr>
          <p:nvPr/>
        </p:nvSpPr>
        <p:spPr bwMode="auto">
          <a:xfrm>
            <a:off x="542925" y="836295"/>
            <a:ext cx="2473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、张紧轮的方法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46" name="文本框 121"/>
          <p:cNvSpPr txBox="1">
            <a:spLocks noChangeArrowheads="1"/>
          </p:cNvSpPr>
          <p:nvPr/>
        </p:nvSpPr>
        <p:spPr bwMode="auto">
          <a:xfrm>
            <a:off x="928688" y="1477963"/>
            <a:ext cx="58261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当中心距不可调节时，可采用张紧轮将带张紧。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30" y="1964690"/>
            <a:ext cx="5106988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4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6" name="圆角矩形标注 172045"/>
          <p:cNvSpPr/>
          <p:nvPr/>
        </p:nvSpPr>
        <p:spPr>
          <a:xfrm flipH="1">
            <a:off x="7185025" y="4493895"/>
            <a:ext cx="1148080" cy="400050"/>
          </a:xfrm>
          <a:prstGeom prst="wedgeRoundRectCallout">
            <a:avLst>
              <a:gd name="adj1" fmla="val 62755"/>
              <a:gd name="adj2" fmla="val -537699"/>
              <a:gd name="adj3" fmla="val 16667"/>
            </a:avLst>
          </a:prstGeom>
          <a:solidFill>
            <a:srgbClr val="CCFFFF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张紧轮</a:t>
            </a:r>
            <a:endParaRPr lang="zh-CN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72058" name="图片 172057" descr="1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0550" y="947103"/>
            <a:ext cx="3360738" cy="3222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/>
      <p:bldP spid="91144" grpId="0"/>
      <p:bldP spid="91146" grpId="0"/>
      <p:bldP spid="172046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1" name="Picture 35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7500" y="271463"/>
            <a:ext cx="6284913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3.2-5 </a:t>
            </a: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V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带传动的张紧、安装与防护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3190" name="文本框 1"/>
          <p:cNvSpPr txBox="1">
            <a:spLocks noChangeArrowheads="1"/>
          </p:cNvSpPr>
          <p:nvPr/>
        </p:nvSpPr>
        <p:spPr bwMode="auto">
          <a:xfrm>
            <a:off x="487363" y="1236663"/>
            <a:ext cx="2800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带传动的安装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3191" name="文本框 2"/>
          <p:cNvSpPr txBox="1">
            <a:spLocks noChangeArrowheads="1"/>
          </p:cNvSpPr>
          <p:nvPr/>
        </p:nvSpPr>
        <p:spPr bwMode="auto">
          <a:xfrm>
            <a:off x="539552" y="3356992"/>
            <a:ext cx="2800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带传动的防护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3192" name="文本框 4"/>
          <p:cNvSpPr txBox="1">
            <a:spLocks noChangeArrowheads="1"/>
          </p:cNvSpPr>
          <p:nvPr/>
        </p:nvSpPr>
        <p:spPr bwMode="auto">
          <a:xfrm>
            <a:off x="984250" y="1798638"/>
            <a:ext cx="7348538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各带轮的轴线应相互平行，各带轮相对应的</a:t>
            </a:r>
            <a:r>
              <a:rPr lang="en-US" altLang="zh-CN" sz="2000">
                <a:solidFill>
                  <a:srgbClr val="000099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型槽的对称平面应重合，误差不得超过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20′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。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93193" name="文本框 5"/>
          <p:cNvSpPr txBox="1">
            <a:spLocks noChangeArrowheads="1"/>
          </p:cNvSpPr>
          <p:nvPr/>
        </p:nvSpPr>
        <p:spPr bwMode="auto">
          <a:xfrm>
            <a:off x="984250" y="3735388"/>
            <a:ext cx="7348538" cy="95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为安全起见，带传动应置于铁丝网或保护罩之内，使之不能外露。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4813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0" grpId="0"/>
      <p:bldP spid="93191" grpId="0"/>
      <p:bldP spid="9319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33"/>
          <p:cNvSpPr txBox="1">
            <a:spLocks noChangeArrowheads="1"/>
          </p:cNvSpPr>
          <p:nvPr/>
        </p:nvSpPr>
        <p:spPr bwMode="auto">
          <a:xfrm>
            <a:off x="7377113" y="6162675"/>
            <a:ext cx="4603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　</a:t>
            </a:r>
            <a:endParaRPr lang="zh-CN" altLang="en-US"/>
          </a:p>
        </p:txBody>
      </p:sp>
      <p:pic>
        <p:nvPicPr>
          <p:cNvPr id="49155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35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00563" y="271463"/>
            <a:ext cx="424180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3.2-6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其他带传动简介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4214" name="文本框 57355"/>
          <p:cNvSpPr txBox="1">
            <a:spLocks noChangeArrowheads="1"/>
          </p:cNvSpPr>
          <p:nvPr/>
        </p:nvSpPr>
        <p:spPr bwMode="auto">
          <a:xfrm>
            <a:off x="-188913" y="762000"/>
            <a:ext cx="262890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．同步带传动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94215" name="文本框 57355"/>
          <p:cNvSpPr txBox="1">
            <a:spLocks noChangeArrowheads="1"/>
          </p:cNvSpPr>
          <p:nvPr/>
        </p:nvSpPr>
        <p:spPr bwMode="auto">
          <a:xfrm>
            <a:off x="-188913" y="2549525"/>
            <a:ext cx="262890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．高速带传动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6" name="文本框 57355"/>
          <p:cNvSpPr txBox="1">
            <a:spLocks noChangeArrowheads="1"/>
          </p:cNvSpPr>
          <p:nvPr/>
        </p:nvSpPr>
        <p:spPr bwMode="auto">
          <a:xfrm>
            <a:off x="142875" y="4421188"/>
            <a:ext cx="17414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．钢带传动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7" name="矩形 57356"/>
          <p:cNvSpPr>
            <a:spLocks noChangeArrowheads="1"/>
          </p:cNvSpPr>
          <p:nvPr/>
        </p:nvSpPr>
        <p:spPr bwMode="auto">
          <a:xfrm>
            <a:off x="412750" y="1158875"/>
            <a:ext cx="84328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　　同步带和带轮是靠啮合传动的，因而带与带轮之间无相对滑动。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8" name="矩形 57356"/>
          <p:cNvSpPr>
            <a:spLocks noChangeArrowheads="1"/>
          </p:cNvSpPr>
          <p:nvPr/>
        </p:nvSpPr>
        <p:spPr bwMode="auto">
          <a:xfrm>
            <a:off x="412750" y="1631950"/>
            <a:ext cx="84328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　　同步带能保持准确的传动比，适用的速度范围广，传动比大，效率高。缺点是：制造和安装精度要求高，中心距要求严格。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9" name="矩形 57356"/>
          <p:cNvSpPr>
            <a:spLocks noChangeArrowheads="1"/>
          </p:cNvSpPr>
          <p:nvPr/>
        </p:nvSpPr>
        <p:spPr bwMode="auto">
          <a:xfrm>
            <a:off x="412750" y="3000375"/>
            <a:ext cx="8432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　　指带速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v&gt;30m/s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，或高速轴转速在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1000~5000r/min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的带传送。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20" name="矩形 57356"/>
          <p:cNvSpPr>
            <a:spLocks noChangeArrowheads="1"/>
          </p:cNvSpPr>
          <p:nvPr/>
        </p:nvSpPr>
        <p:spPr bwMode="auto">
          <a:xfrm>
            <a:off x="395288" y="3490913"/>
            <a:ext cx="84328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　　高速带传送离心力高、挠曲次数多，应采用质量轻、均匀对称、挠曲性好、运转时空气阻力小的环形平带。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21" name="矩形 57356"/>
          <p:cNvSpPr>
            <a:spLocks noChangeArrowheads="1"/>
          </p:cNvSpPr>
          <p:nvPr/>
        </p:nvSpPr>
        <p:spPr bwMode="auto">
          <a:xfrm>
            <a:off x="412750" y="4865688"/>
            <a:ext cx="84328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　　是挠性传动的一种形式，传动中间挠性件为带有啮合孔的弹簧钢薄片，带轮上具有啮合齿廓。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22" name="矩形 57356"/>
          <p:cNvSpPr>
            <a:spLocks noChangeArrowheads="1"/>
          </p:cNvSpPr>
          <p:nvPr/>
        </p:nvSpPr>
        <p:spPr bwMode="auto">
          <a:xfrm>
            <a:off x="395288" y="5588000"/>
            <a:ext cx="84328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　　钢带传动特点：可实现精确定位、可靠性高、寿命长、可满足各种工作要求。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073742872" descr="44303071dc0a1f9688d599dbc999570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" y="117475"/>
            <a:ext cx="680085" cy="617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4" grpId="0"/>
      <p:bldP spid="94215" grpId="0"/>
      <p:bldP spid="94216" grpId="0"/>
      <p:bldP spid="94217" grpId="0"/>
      <p:bldP spid="94218" grpId="0"/>
      <p:bldP spid="94219" grpId="0"/>
      <p:bldP spid="94220" grpId="0"/>
      <p:bldP spid="94221" grpId="0"/>
      <p:bldP spid="942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62"/>
          <p:cNvSpPr txBox="1">
            <a:spLocks noChangeArrowheads="1"/>
          </p:cNvSpPr>
          <p:nvPr/>
        </p:nvSpPr>
        <p:spPr bwMode="auto">
          <a:xfrm>
            <a:off x="6081713" y="6157913"/>
            <a:ext cx="268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0" y="195263"/>
            <a:ext cx="279400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概述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0180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文本框 114"/>
          <p:cNvSpPr txBox="1">
            <a:spLocks noChangeArrowheads="1"/>
          </p:cNvSpPr>
          <p:nvPr/>
        </p:nvSpPr>
        <p:spPr bwMode="auto">
          <a:xfrm>
            <a:off x="2032000" y="1030288"/>
            <a:ext cx="508000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表</a:t>
            </a:r>
            <a:r>
              <a:rPr lang="en-US" altLang="zh-CN" sz="2000" b="1">
                <a:solidFill>
                  <a:srgbClr val="000099"/>
                </a:solidFill>
                <a:latin typeface="Times New Roman" panose="02020603050405020304" pitchFamily="18" charset="0"/>
              </a:rPr>
              <a:t>7-1 V</a:t>
            </a:r>
            <a:r>
              <a:rPr lang="zh-CN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带的截面尺寸</a:t>
            </a:r>
            <a:endParaRPr lang="zh-CN" altLang="en-US" sz="2000" b="1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6566" name="表格 66565"/>
          <p:cNvGraphicFramePr>
            <a:graphicFrameLocks noGrp="1"/>
          </p:cNvGraphicFramePr>
          <p:nvPr/>
        </p:nvGraphicFramePr>
        <p:xfrm>
          <a:off x="860425" y="1662113"/>
          <a:ext cx="7926388" cy="3836990"/>
        </p:xfrm>
        <a:graphic>
          <a:graphicData uri="http://schemas.openxmlformats.org/drawingml/2006/table">
            <a:tbl>
              <a:tblPr/>
              <a:tblGrid>
                <a:gridCol w="2049463"/>
                <a:gridCol w="1263650"/>
                <a:gridCol w="1041400"/>
                <a:gridCol w="892175"/>
                <a:gridCol w="893762"/>
                <a:gridCol w="1041400"/>
                <a:gridCol w="744538"/>
              </a:tblGrid>
              <a:tr h="1133475">
                <a:tc rowSpan="8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华文中宋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普通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带的带型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节宽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/mm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顶宽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/mm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高度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/mm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横截面积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/mm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楔角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α</a:t>
                      </a:r>
                      <a:endParaRPr kumimoji="0" lang="zh-CN" altLang="en-US" sz="2000" b="0" i="1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4.0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7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40°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8.5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10.0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6.0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47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427038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13.0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8.0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81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427038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14.0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17.0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143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40957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19.0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22.0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14.0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237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395288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27.0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32.0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19.0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476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33496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32.0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38.0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25.0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722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50245" name="图片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1949450"/>
            <a:ext cx="1763712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246" name="文本框 15"/>
          <p:cNvSpPr txBox="1">
            <a:spLocks noChangeArrowheads="1"/>
          </p:cNvSpPr>
          <p:nvPr/>
        </p:nvSpPr>
        <p:spPr bwMode="auto">
          <a:xfrm>
            <a:off x="6350000" y="6092825"/>
            <a:ext cx="10795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  <a:hlinkClick r:id="rId4" action="ppaction://hlinksldjump"/>
              </a:rPr>
              <a:t>返回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4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35488" y="195263"/>
            <a:ext cx="4608512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带传动的工作情况的分析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177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" name="文本框 1"/>
          <p:cNvSpPr txBox="1">
            <a:spLocks noChangeArrowheads="1"/>
          </p:cNvSpPr>
          <p:nvPr/>
        </p:nvSpPr>
        <p:spPr bwMode="auto">
          <a:xfrm>
            <a:off x="6607175" y="6157913"/>
            <a:ext cx="7493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hlinkClick r:id="rId3" action="ppaction://hlinksldjump"/>
              </a:rPr>
              <a:t>返回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3" action="ppaction://hlinksldjump"/>
            </a:endParaRPr>
          </a:p>
        </p:txBody>
      </p:sp>
      <p:sp>
        <p:nvSpPr>
          <p:cNvPr id="7179" name="文本框 2"/>
          <p:cNvSpPr txBox="1">
            <a:spLocks noChangeArrowheads="1"/>
          </p:cNvSpPr>
          <p:nvPr/>
        </p:nvSpPr>
        <p:spPr bwMode="auto">
          <a:xfrm>
            <a:off x="1571625" y="1143000"/>
            <a:ext cx="1200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应力分析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170" name="对象 -2147482526"/>
          <p:cNvGraphicFramePr>
            <a:graphicFrameLocks noChangeAspect="1"/>
          </p:cNvGraphicFramePr>
          <p:nvPr/>
        </p:nvGraphicFramePr>
        <p:xfrm>
          <a:off x="7351713" y="4135438"/>
          <a:ext cx="10223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596900" imgH="419100" progId="Equation.3">
                  <p:embed/>
                </p:oleObj>
              </mc:Choice>
              <mc:Fallback>
                <p:oleObj name="" r:id="rId4" imgW="596900" imgH="419100" progId="Equation.3">
                  <p:embed/>
                  <p:pic>
                    <p:nvPicPr>
                      <p:cNvPr id="0" name="对象 -21474825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713" y="4135438"/>
                        <a:ext cx="10223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对象 -2147482522"/>
          <p:cNvGraphicFramePr>
            <a:graphicFrameLocks noChangeAspect="1"/>
          </p:cNvGraphicFramePr>
          <p:nvPr/>
        </p:nvGraphicFramePr>
        <p:xfrm>
          <a:off x="5667375" y="5045075"/>
          <a:ext cx="3089910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6" imgW="1257935" imgH="228600" progId="Equation.3">
                  <p:embed/>
                </p:oleObj>
              </mc:Choice>
              <mc:Fallback>
                <p:oleObj name="" r:id="rId6" imgW="1257935" imgH="228600" progId="Equation.3">
                  <p:embed/>
                  <p:pic>
                    <p:nvPicPr>
                      <p:cNvPr id="0" name="对象 -21474825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75" y="5045075"/>
                        <a:ext cx="3089910" cy="56134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对象 -2147482533"/>
          <p:cNvGraphicFramePr>
            <a:graphicFrameLocks noChangeAspect="1"/>
          </p:cNvGraphicFramePr>
          <p:nvPr/>
        </p:nvGraphicFramePr>
        <p:xfrm>
          <a:off x="7297738" y="2439988"/>
          <a:ext cx="13049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8" imgW="736600" imgH="431800" progId="Equation.3">
                  <p:embed/>
                </p:oleObj>
              </mc:Choice>
              <mc:Fallback>
                <p:oleObj name="" r:id="rId8" imgW="736600" imgH="431800" progId="Equation.3">
                  <p:embed/>
                  <p:pic>
                    <p:nvPicPr>
                      <p:cNvPr id="0" name="对象 -21474825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738" y="2439988"/>
                        <a:ext cx="130492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对象 -2147482541"/>
          <p:cNvGraphicFramePr>
            <a:graphicFrameLocks noChangeAspect="1"/>
          </p:cNvGraphicFramePr>
          <p:nvPr/>
        </p:nvGraphicFramePr>
        <p:xfrm>
          <a:off x="6761798" y="926465"/>
          <a:ext cx="90011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0" imgW="508000" imgH="393700" progId="Equation.3">
                  <p:embed/>
                </p:oleObj>
              </mc:Choice>
              <mc:Fallback>
                <p:oleObj name="" r:id="rId10" imgW="508000" imgH="393700" progId="Equation.3">
                  <p:embed/>
                  <p:pic>
                    <p:nvPicPr>
                      <p:cNvPr id="0" name="对象 -21474825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1798" y="926465"/>
                        <a:ext cx="900112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对象 5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6999288" y="1624965"/>
          <a:ext cx="9525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2" imgW="533400" imgH="393700" progId="Equation.KSEE3">
                  <p:embed/>
                </p:oleObj>
              </mc:Choice>
              <mc:Fallback>
                <p:oleObj name="" r:id="rId12" imgW="533400" imgH="393700" progId="Equation.KSEE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288" y="1624965"/>
                        <a:ext cx="95250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对象 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267258" y="3205163"/>
          <a:ext cx="136683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4" imgW="774065" imgH="431800" progId="Equation.KSEE3">
                  <p:embed/>
                </p:oleObj>
              </mc:Choice>
              <mc:Fallback>
                <p:oleObj name="" r:id="rId14" imgW="774065" imgH="431800" progId="Equation.KSEE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258" y="3205163"/>
                        <a:ext cx="136683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文本框 8"/>
          <p:cNvSpPr txBox="1">
            <a:spLocks noChangeArrowheads="1"/>
          </p:cNvSpPr>
          <p:nvPr/>
        </p:nvSpPr>
        <p:spPr bwMode="auto">
          <a:xfrm>
            <a:off x="4887913" y="107569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紧边拉应力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1" name="文本框 9"/>
          <p:cNvSpPr txBox="1">
            <a:spLocks noChangeArrowheads="1"/>
          </p:cNvSpPr>
          <p:nvPr/>
        </p:nvSpPr>
        <p:spPr bwMode="auto">
          <a:xfrm>
            <a:off x="5046663" y="173101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松边拉应力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2" name="文本框 10"/>
          <p:cNvSpPr txBox="1">
            <a:spLocks noChangeArrowheads="1"/>
          </p:cNvSpPr>
          <p:nvPr/>
        </p:nvSpPr>
        <p:spPr bwMode="auto">
          <a:xfrm>
            <a:off x="5306378" y="2566988"/>
            <a:ext cx="1960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小轮处弯曲应力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3" name="文本框 11"/>
          <p:cNvSpPr txBox="1">
            <a:spLocks noChangeArrowheads="1"/>
          </p:cNvSpPr>
          <p:nvPr/>
        </p:nvSpPr>
        <p:spPr bwMode="auto">
          <a:xfrm>
            <a:off x="5532438" y="427990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离心拉应力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4" name="文本框 12"/>
          <p:cNvSpPr txBox="1">
            <a:spLocks noChangeArrowheads="1"/>
          </p:cNvSpPr>
          <p:nvPr/>
        </p:nvSpPr>
        <p:spPr bwMode="auto">
          <a:xfrm>
            <a:off x="5276215" y="3386455"/>
            <a:ext cx="1960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大轮处弯曲应力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85" name="Picture 17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8813"/>
            <a:ext cx="51435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3344" name="文本框 483343"/>
          <p:cNvSpPr txBox="1"/>
          <p:nvPr/>
        </p:nvSpPr>
        <p:spPr>
          <a:xfrm>
            <a:off x="281940" y="5443855"/>
            <a:ext cx="51428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但其产生的离心拉力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000" baseline="-160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（或拉应力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σ</a:t>
            </a:r>
            <a:r>
              <a:rPr lang="en-US" altLang="zh-CN" sz="2000" baseline="-12000">
                <a:latin typeface="Times New Roman" panose="02020603050405020304" pitchFamily="18" charset="0"/>
                <a:ea typeface="方正大黑简体" pitchFamily="2" charset="-122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）却作用于带的全部，且各剖面处处相等。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3336" name="文本框 483335"/>
          <p:cNvSpPr txBox="1"/>
          <p:nvPr/>
        </p:nvSpPr>
        <p:spPr>
          <a:xfrm>
            <a:off x="281940" y="5045075"/>
            <a:ext cx="53587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虽然离心力只作用在做圆周运动的部分弧段，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4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75"/>
                                        <p:tgtEl>
                                          <p:spTgt spid="48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0" grpId="0"/>
      <p:bldP spid="7181" grpId="0"/>
      <p:bldP spid="7182" grpId="0"/>
      <p:bldP spid="7183" grpId="0"/>
      <p:bldP spid="7184" grpId="0"/>
      <p:bldP spid="483344" grpId="0"/>
      <p:bldP spid="48333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0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02200" y="271463"/>
            <a:ext cx="4224338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1205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文本框 1"/>
          <p:cNvSpPr txBox="1">
            <a:spLocks noChangeArrowheads="1"/>
          </p:cNvSpPr>
          <p:nvPr/>
        </p:nvSpPr>
        <p:spPr bwMode="auto">
          <a:xfrm>
            <a:off x="6607175" y="6157913"/>
            <a:ext cx="7493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hlinkClick r:id="rId3" action="ppaction://hlinksldjump"/>
              </a:rPr>
              <a:t>返回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7" name="文本框 3"/>
          <p:cNvSpPr txBox="1">
            <a:spLocks noChangeArrowheads="1"/>
          </p:cNvSpPr>
          <p:nvPr/>
        </p:nvSpPr>
        <p:spPr bwMode="auto">
          <a:xfrm>
            <a:off x="3511550" y="762000"/>
            <a:ext cx="21447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</a:rPr>
              <a:t>基本额定功率</a:t>
            </a:r>
            <a:r>
              <a:rPr lang="en-US" altLang="zh-CN" i="1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P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0</a:t>
            </a:r>
            <a:endParaRPr lang="en-US" altLang="zh-CN" baseline="-25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宋体" panose="02010600030101010101" pitchFamily="2" charset="-122"/>
            </a:endParaRPr>
          </a:p>
        </p:txBody>
      </p:sp>
      <p:graphicFrame>
        <p:nvGraphicFramePr>
          <p:cNvPr id="67592" name="表格 67591"/>
          <p:cNvGraphicFramePr>
            <a:graphicFrameLocks noGrp="1"/>
          </p:cNvGraphicFramePr>
          <p:nvPr/>
        </p:nvGraphicFramePr>
        <p:xfrm>
          <a:off x="68263" y="1185863"/>
          <a:ext cx="4445000" cy="5577222"/>
        </p:xfrm>
        <a:graphic>
          <a:graphicData uri="http://schemas.openxmlformats.org/drawingml/2006/table">
            <a:tbl>
              <a:tblPr/>
              <a:tblGrid>
                <a:gridCol w="254000"/>
                <a:gridCol w="412750"/>
                <a:gridCol w="390525"/>
                <a:gridCol w="379412"/>
                <a:gridCol w="404813"/>
                <a:gridCol w="354012"/>
                <a:gridCol w="379413"/>
                <a:gridCol w="366712"/>
                <a:gridCol w="379413"/>
                <a:gridCol w="377825"/>
                <a:gridCol w="365125"/>
                <a:gridCol w="381000"/>
              </a:tblGrid>
              <a:tr h="21272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带型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小带轮基准直径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小带轮转速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4135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2400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row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 rowSpan="8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0.84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0.83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1.42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1.87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2.05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1.74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2.30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2.51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1.92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2.07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2.44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2.74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2.98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1.26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1.41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1.96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2.28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2.45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2.87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3.22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3.48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1.51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1.95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2.36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2.73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2.54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3.42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3.80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4.06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180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1.76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1.97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2.27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2.74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3.16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3.40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3.93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4.32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4.54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 rowSpan="8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0.84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1.44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1.93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2.19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2.33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2.64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2.85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2.96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1.82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2.08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2.82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3.42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3.70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3.85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2.09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2.32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2.66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3.17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3.62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3.86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4.40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4.75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4.89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180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1.59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2.53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2.81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3.22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3.85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4.39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4.68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5.30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5.67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5.76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1.85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2.96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3.30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3.77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5.13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5.46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6.13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6.43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2.17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3.86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4.42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5.26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5.97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6.33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7.25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6.95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4.46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5.10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6.82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7.87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7.89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2.89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4.61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5.13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5.85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6.90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7.76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8.13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8.60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8.22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6.80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7889" name="表格 67888"/>
          <p:cNvGraphicFramePr>
            <a:graphicFrameLocks noGrp="1"/>
          </p:cNvGraphicFramePr>
          <p:nvPr/>
        </p:nvGraphicFramePr>
        <p:xfrm>
          <a:off x="4513263" y="1185863"/>
          <a:ext cx="4494212" cy="4318966"/>
        </p:xfrm>
        <a:graphic>
          <a:graphicData uri="http://schemas.openxmlformats.org/drawingml/2006/table">
            <a:tbl>
              <a:tblPr/>
              <a:tblGrid>
                <a:gridCol w="206375"/>
                <a:gridCol w="373062"/>
                <a:gridCol w="461963"/>
                <a:gridCol w="492125"/>
                <a:gridCol w="466725"/>
                <a:gridCol w="450850"/>
                <a:gridCol w="479425"/>
                <a:gridCol w="452437"/>
                <a:gridCol w="487363"/>
                <a:gridCol w="207962"/>
                <a:gridCol w="207963"/>
                <a:gridCol w="207962"/>
              </a:tblGrid>
              <a:tr h="242888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带型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小带轮基准直径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小带轮转速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111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rowSpan="8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2.41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3.69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4.07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4.58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5.29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5.84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6.07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2.99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4.64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5.12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5.78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6.71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7.45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7.75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3.62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5.64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6.23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8.21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9.38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4.32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6.76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7.52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8.49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9.81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10.72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11.06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315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8.09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8.92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10.05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11.53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12.46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12.72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6.05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9.50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10.46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11.73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13.31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14.12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14.19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7.06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12.10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13.48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15.53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15.24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12.63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13.80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15.23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16.59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15.57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rowSpan="8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9.24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13.70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16.15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17.25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16.77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15.63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11.45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17.07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20.06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21.20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20.15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18.31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13.85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20.63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24.01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24.84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19.59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23.99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27.50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26.71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23.59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560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18.95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27.73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31.04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29.67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630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22.05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31.68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34.19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30.15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710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25.45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35.59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36.35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29.08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39.14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36.76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72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2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02200" y="271463"/>
            <a:ext cx="4224338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2229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35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文本框 1"/>
          <p:cNvSpPr txBox="1">
            <a:spLocks noChangeArrowheads="1"/>
          </p:cNvSpPr>
          <p:nvPr/>
        </p:nvSpPr>
        <p:spPr bwMode="auto">
          <a:xfrm>
            <a:off x="6678613" y="6373813"/>
            <a:ext cx="7493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hlinkClick r:id="rId3" action="ppaction://hlinksldjump"/>
              </a:rPr>
              <a:t>返回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31" name="文本框 1"/>
          <p:cNvSpPr txBox="1">
            <a:spLocks noChangeArrowheads="1"/>
          </p:cNvSpPr>
          <p:nvPr/>
        </p:nvSpPr>
        <p:spPr bwMode="auto">
          <a:xfrm>
            <a:off x="2743200" y="762000"/>
            <a:ext cx="37592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</a:rPr>
              <a:t>单根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</a:rPr>
              <a:t>带额定功率的增量△</a:t>
            </a:r>
            <a:r>
              <a:rPr lang="en-US" altLang="zh-CN" i="1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P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0</a:t>
            </a:r>
            <a:endParaRPr lang="en-US" altLang="zh-CN" baseline="-25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宋体" panose="02010600030101010101" pitchFamily="2" charset="-122"/>
            </a:endParaRPr>
          </a:p>
        </p:txBody>
      </p:sp>
      <p:graphicFrame>
        <p:nvGraphicFramePr>
          <p:cNvPr id="68616" name="表格 68615"/>
          <p:cNvGraphicFramePr>
            <a:graphicFrameLocks noGrp="1"/>
          </p:cNvGraphicFramePr>
          <p:nvPr/>
        </p:nvGraphicFramePr>
        <p:xfrm>
          <a:off x="758825" y="1192213"/>
          <a:ext cx="7624763" cy="5046997"/>
        </p:xfrm>
        <a:graphic>
          <a:graphicData uri="http://schemas.openxmlformats.org/drawingml/2006/table">
            <a:tbl>
              <a:tblPr/>
              <a:tblGrid>
                <a:gridCol w="652463"/>
                <a:gridCol w="1135062"/>
                <a:gridCol w="584200"/>
                <a:gridCol w="582613"/>
                <a:gridCol w="584200"/>
                <a:gridCol w="584200"/>
                <a:gridCol w="582612"/>
                <a:gridCol w="584200"/>
                <a:gridCol w="584200"/>
                <a:gridCol w="584200"/>
                <a:gridCol w="582613"/>
                <a:gridCol w="584200"/>
              </a:tblGrid>
              <a:tr h="21272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带型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传动比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小带轮转速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/(r/min)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3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1450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2400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row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1.00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1.01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1.02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1.04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1.05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1.09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1.12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1.13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1.19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1.24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1.25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1.34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1.35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1.50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1.51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1.19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≥2.00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 gridSpan="1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~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4000">
                <a:tc row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1.00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1.01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1.02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1.04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1.05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0.08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1.09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1.12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0.82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1.13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0.16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1.19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1.24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1.25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1.34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0.85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1.41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43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1.35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1.50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0.27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0.48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0.82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1.37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1.92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1.51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1.19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0.55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0.94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1.14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1.25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1.57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1.88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2.19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≥2.00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0.35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0.62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0.71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0.83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1.06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1.27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1.41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1.76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2.12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2.47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51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25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02200" y="271463"/>
            <a:ext cx="4224338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3253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35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文本框 1"/>
          <p:cNvSpPr txBox="1">
            <a:spLocks noChangeArrowheads="1"/>
          </p:cNvSpPr>
          <p:nvPr/>
        </p:nvSpPr>
        <p:spPr bwMode="auto">
          <a:xfrm>
            <a:off x="6607175" y="6157913"/>
            <a:ext cx="7493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  <a:hlinkClick r:id="rId3" action="ppaction://hlinksldjump"/>
              </a:rPr>
              <a:t>返回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55" name="文本框 1"/>
          <p:cNvSpPr txBox="1">
            <a:spLocks noChangeArrowheads="1"/>
          </p:cNvSpPr>
          <p:nvPr/>
        </p:nvSpPr>
        <p:spPr bwMode="auto">
          <a:xfrm>
            <a:off x="3481388" y="1177925"/>
            <a:ext cx="21812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zh-CN">
                <a:solidFill>
                  <a:srgbClr val="000099"/>
                </a:solidFill>
                <a:latin typeface="Times New Roman" panose="02020603050405020304" pitchFamily="18" charset="0"/>
              </a:rPr>
              <a:t>包角修正系数</a:t>
            </a:r>
            <a:r>
              <a:rPr lang="en-US" altLang="zh-CN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α</a:t>
            </a:r>
            <a:endParaRPr lang="en-US" altLang="en-US" baseline="-25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-1"/>
          <p:cNvGraphicFramePr>
            <a:graphicFrameLocks noGrp="1"/>
          </p:cNvGraphicFramePr>
          <p:nvPr/>
        </p:nvGraphicFramePr>
        <p:xfrm>
          <a:off x="550863" y="2241550"/>
          <a:ext cx="8040687" cy="1274763"/>
        </p:xfrm>
        <a:graphic>
          <a:graphicData uri="http://schemas.openxmlformats.org/drawingml/2006/table">
            <a:tbl>
              <a:tblPr/>
              <a:tblGrid>
                <a:gridCol w="1312862"/>
                <a:gridCol w="560388"/>
                <a:gridCol w="561975"/>
                <a:gridCol w="560387"/>
                <a:gridCol w="560388"/>
                <a:gridCol w="560387"/>
                <a:gridCol w="560388"/>
                <a:gridCol w="560387"/>
                <a:gridCol w="561975"/>
                <a:gridCol w="560388"/>
                <a:gridCol w="560387"/>
                <a:gridCol w="560388"/>
                <a:gridCol w="560387"/>
              </a:tblGrid>
              <a:tr h="700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小带轮包角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（°）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k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α</a:t>
                      </a:r>
                      <a:endParaRPr kumimoji="0" lang="en-US" altLang="en-US" sz="2000" b="0" i="0" u="none" strike="noStrike" cap="none" normalizeH="0" baseline="-2500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30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7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02200" y="271463"/>
            <a:ext cx="4224338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4277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0" y="651668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8" name="文本框 17445"/>
          <p:cNvSpPr txBox="1">
            <a:spLocks noChangeArrowheads="1"/>
          </p:cNvSpPr>
          <p:nvPr/>
        </p:nvSpPr>
        <p:spPr bwMode="auto">
          <a:xfrm>
            <a:off x="7219950" y="6461125"/>
            <a:ext cx="762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   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4279" name="文本框 1"/>
          <p:cNvSpPr txBox="1">
            <a:spLocks noChangeArrowheads="1"/>
          </p:cNvSpPr>
          <p:nvPr/>
        </p:nvSpPr>
        <p:spPr bwMode="auto">
          <a:xfrm>
            <a:off x="6639560" y="6327775"/>
            <a:ext cx="7493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  <a:hlinkClick r:id="rId3" action="ppaction://hlinksldjump"/>
              </a:rPr>
              <a:t>返回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0" name="文本框 1"/>
          <p:cNvSpPr txBox="1">
            <a:spLocks noChangeArrowheads="1"/>
          </p:cNvSpPr>
          <p:nvPr/>
        </p:nvSpPr>
        <p:spPr bwMode="auto">
          <a:xfrm>
            <a:off x="3475038" y="923925"/>
            <a:ext cx="221773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zh-CN">
                <a:solidFill>
                  <a:srgbClr val="000099"/>
                </a:solidFill>
                <a:latin typeface="Times New Roman" panose="02020603050405020304" pitchFamily="18" charset="0"/>
              </a:rPr>
              <a:t>工作情况系数</a:t>
            </a:r>
            <a:r>
              <a:rPr lang="en-US" altLang="zh-CN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endParaRPr lang="en-US" altLang="zh-CN" baseline="-250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0665" name="表格 70664"/>
          <p:cNvGraphicFramePr/>
          <p:nvPr>
            <p:custDataLst>
              <p:tags r:id="rId4"/>
            </p:custDataLst>
          </p:nvPr>
        </p:nvGraphicFramePr>
        <p:xfrm>
          <a:off x="222250" y="1425575"/>
          <a:ext cx="8699500" cy="4902205"/>
        </p:xfrm>
        <a:graphic>
          <a:graphicData uri="http://schemas.openxmlformats.org/drawingml/2006/table">
            <a:tbl>
              <a:tblPr/>
              <a:tblGrid>
                <a:gridCol w="1173163"/>
                <a:gridCol w="3592512"/>
                <a:gridCol w="655638"/>
                <a:gridCol w="655637"/>
                <a:gridCol w="655638"/>
                <a:gridCol w="655637"/>
                <a:gridCol w="655638"/>
                <a:gridCol w="655637"/>
              </a:tblGrid>
              <a:tr h="304801">
                <a:tc row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载荷性质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工作机类型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空、轻负载启动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重载启动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4801"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gridSpan="6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每天工作时间</a:t>
                      </a: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/h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&lt;10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10~16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&gt;16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&lt;10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10~16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&gt;16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499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载荷平稳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液体搅拌机、通风机和鼓风</a:t>
                      </a: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(≤7.5kW)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1.0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1.1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1.2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1.1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1.2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1.3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9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载荷变化较小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带式输送机（不均匀载荷），通风机</a:t>
                      </a: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(&gt;7.5kW)</a:t>
                      </a: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回转式水泵和压缩机，发电机，金属切削机床，印刷机，旋转筛，木工机械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1.1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1.2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1.3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1.2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1.3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1.4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9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载荷变化大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斗式提升机，往复式水泵和压缩机，起重机，磨粉机，冲剪机床，橡胶机械，振动筛，纺织机械，重载输送机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1.2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1.3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1.4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1.4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1.5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1.6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载荷变化很大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破碎机（旋转式、颚式等），磨碎机（球磨、棒磨、管磨）</a:t>
                      </a:r>
                      <a:endParaRPr lang="zh-CN" altLang="en-US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1.3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1.4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1.5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1.5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1.6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solidFill>
                            <a:srgbClr val="000099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1.8</a:t>
                      </a:r>
                      <a:endParaRPr lang="en-US" altLang="zh-CN" sz="2000" dirty="0">
                        <a:solidFill>
                          <a:srgbClr val="000099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343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29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02200" y="271463"/>
            <a:ext cx="4224338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5301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65484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文本框 1"/>
          <p:cNvSpPr txBox="1">
            <a:spLocks noChangeArrowheads="1"/>
          </p:cNvSpPr>
          <p:nvPr/>
        </p:nvSpPr>
        <p:spPr bwMode="auto">
          <a:xfrm>
            <a:off x="6607175" y="6300788"/>
            <a:ext cx="7493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hlinkClick r:id="rId3" action="ppaction://hlinksldjump"/>
              </a:rPr>
              <a:t>返回</a:t>
            </a:r>
            <a:endParaRPr lang="zh-CN" altLang="en-US"/>
          </a:p>
        </p:txBody>
      </p:sp>
      <p:sp>
        <p:nvSpPr>
          <p:cNvPr id="55303" name="文本框 100"/>
          <p:cNvSpPr txBox="1">
            <a:spLocks noChangeArrowheads="1"/>
          </p:cNvSpPr>
          <p:nvPr/>
        </p:nvSpPr>
        <p:spPr bwMode="auto">
          <a:xfrm>
            <a:off x="3617913" y="847725"/>
            <a:ext cx="19081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普通</a:t>
            </a:r>
            <a:r>
              <a:rPr lang="en-US" altLang="zh-CN" sz="2000">
                <a:solidFill>
                  <a:srgbClr val="000099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000">
                <a:solidFill>
                  <a:srgbClr val="000099"/>
                </a:solidFill>
                <a:latin typeface="宋体" panose="02010600030101010101" pitchFamily="2" charset="-122"/>
              </a:rPr>
              <a:t>带选型图</a:t>
            </a:r>
            <a:endParaRPr lang="zh-CN" altLang="en-US" sz="20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pic>
        <p:nvPicPr>
          <p:cNvPr id="55304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1500188"/>
            <a:ext cx="7072312" cy="483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4664075" y="2852420"/>
            <a:ext cx="0" cy="2822575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接连接符 3"/>
          <p:cNvCxnSpPr/>
          <p:nvPr/>
        </p:nvCxnSpPr>
        <p:spPr>
          <a:xfrm>
            <a:off x="1882140" y="2846705"/>
            <a:ext cx="2802255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文本框 4"/>
          <p:cNvSpPr txBox="1"/>
          <p:nvPr/>
        </p:nvSpPr>
        <p:spPr>
          <a:xfrm>
            <a:off x="215900" y="692785"/>
            <a:ext cx="2874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 i="1"/>
              <a:t>P</a:t>
            </a:r>
            <a:r>
              <a:rPr lang="en-US" altLang="zh-CN" sz="1800" i="1" baseline="-25000"/>
              <a:t>ca</a:t>
            </a:r>
            <a:r>
              <a:rPr lang="en-US" altLang="zh-CN" sz="1800" i="1"/>
              <a:t>=</a:t>
            </a:r>
            <a:r>
              <a:rPr lang="en-US" altLang="zh-CN" sz="1800"/>
              <a:t>11.6</a:t>
            </a:r>
            <a:r>
              <a:rPr lang="en-US" altLang="zh-CN" sz="1800" i="1"/>
              <a:t>Kw</a:t>
            </a:r>
            <a:endParaRPr lang="en-US" altLang="zh-CN" sz="1800" i="1"/>
          </a:p>
          <a:p>
            <a:r>
              <a:rPr lang="en-US" altLang="zh-CN" sz="1800" i="1"/>
              <a:t>n=</a:t>
            </a:r>
            <a:r>
              <a:rPr lang="en-US" altLang="zh-CN" sz="1800"/>
              <a:t>1460</a:t>
            </a:r>
            <a:r>
              <a:rPr lang="en-US" altLang="zh-CN" sz="1800" i="1"/>
              <a:t>r/min</a:t>
            </a:r>
            <a:endParaRPr lang="en-US" altLang="zh-CN" sz="1800" i="1"/>
          </a:p>
        </p:txBody>
      </p:sp>
      <p:sp>
        <p:nvSpPr>
          <p:cNvPr id="6" name="椭圆 5"/>
          <p:cNvSpPr/>
          <p:nvPr/>
        </p:nvSpPr>
        <p:spPr>
          <a:xfrm>
            <a:off x="4626610" y="2816860"/>
            <a:ext cx="75565" cy="75565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3" name="Rectangle 8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02200" y="271463"/>
            <a:ext cx="4224338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普通</a:t>
            </a:r>
            <a:r>
              <a:rPr lang="en-US" altLang="zh-CN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V</a:t>
            </a:r>
            <a:r>
              <a:rPr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带传动的设计计算</a:t>
            </a:r>
            <a:endParaRPr kumimoji="1" lang="zh-CN" altLang="en-US" sz="3000" kern="1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6325" name="Picture 34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488" y="651668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6" name="文本框 1"/>
          <p:cNvSpPr txBox="1">
            <a:spLocks noChangeArrowheads="1"/>
          </p:cNvSpPr>
          <p:nvPr/>
        </p:nvSpPr>
        <p:spPr bwMode="auto">
          <a:xfrm>
            <a:off x="6607175" y="6373813"/>
            <a:ext cx="7493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hlinkClick r:id="rId3" action="ppaction://hlinksldjump"/>
              </a:rPr>
              <a:t>返回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3" action="ppaction://hlinksldjump"/>
            </a:endParaRPr>
          </a:p>
        </p:txBody>
      </p:sp>
      <p:sp>
        <p:nvSpPr>
          <p:cNvPr id="56327" name="文本框 100"/>
          <p:cNvSpPr txBox="1">
            <a:spLocks noChangeArrowheads="1"/>
          </p:cNvSpPr>
          <p:nvPr/>
        </p:nvSpPr>
        <p:spPr bwMode="auto">
          <a:xfrm>
            <a:off x="3136900" y="906463"/>
            <a:ext cx="287020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带轮的最小基准直径</a:t>
            </a:r>
            <a:endParaRPr lang="zh-CN" altLang="en-US" sz="2000" b="1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2712" name="表格 72711"/>
          <p:cNvGraphicFramePr>
            <a:graphicFrameLocks noGrp="1"/>
          </p:cNvGraphicFramePr>
          <p:nvPr/>
        </p:nvGraphicFramePr>
        <p:xfrm>
          <a:off x="1397000" y="1327150"/>
          <a:ext cx="6351588" cy="669926"/>
        </p:xfrm>
        <a:graphic>
          <a:graphicData uri="http://schemas.openxmlformats.org/drawingml/2006/table">
            <a:tbl>
              <a:tblPr/>
              <a:tblGrid>
                <a:gridCol w="1651000"/>
                <a:gridCol w="669925"/>
                <a:gridCol w="668338"/>
                <a:gridCol w="669925"/>
                <a:gridCol w="673100"/>
                <a:gridCol w="673100"/>
                <a:gridCol w="673100"/>
                <a:gridCol w="673100"/>
              </a:tblGrid>
              <a:tr h="3349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型号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min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/mm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华文中宋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99060" marB="99060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99060" marB="99060" anchor="b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357" name="文本框 3"/>
          <p:cNvSpPr txBox="1">
            <a:spLocks noChangeArrowheads="1"/>
          </p:cNvSpPr>
          <p:nvPr/>
        </p:nvSpPr>
        <p:spPr bwMode="auto">
          <a:xfrm>
            <a:off x="2922588" y="2197100"/>
            <a:ext cx="329882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普通</a:t>
            </a:r>
            <a:r>
              <a:rPr lang="en-US" altLang="zh-CN" sz="2000" b="1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带轮的基准直径系列</a:t>
            </a:r>
            <a:endParaRPr lang="zh-CN" altLang="en-US" sz="2000" b="1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2742" name="表格 7274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212725" y="2601913"/>
          <a:ext cx="8729663" cy="3629025"/>
        </p:xfrm>
        <a:graphic>
          <a:graphicData uri="http://schemas.openxmlformats.org/drawingml/2006/table">
            <a:tbl>
              <a:tblPr/>
              <a:tblGrid>
                <a:gridCol w="525463"/>
                <a:gridCol w="8204200"/>
              </a:tblGrid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带型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-17145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基准直径</a:t>
                      </a:r>
                      <a:r>
                        <a:rPr kumimoji="0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20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22.4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31.5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224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75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106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15,0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224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125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224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200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224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236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355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425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475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1060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500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530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670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1600,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800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2240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38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EB662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88085" y="944880"/>
            <a:ext cx="6569710" cy="443357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15695" y="476250"/>
            <a:ext cx="4900295" cy="56794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5027.5007874015746,&quot;width&quot;:5057.4992125984254}"/>
</p:tagLst>
</file>

<file path=ppt/tags/tag2.xml><?xml version="1.0" encoding="utf-8"?>
<p:tagLst xmlns:p="http://schemas.openxmlformats.org/presentationml/2006/main">
  <p:tag name="KSO_WM_UNIT_TABLE_BEAUTIFY" val="smartTable{64723674-5c92-44bb-acf4-f40b1da9eb88}"/>
</p:tagLst>
</file>

<file path=ppt/tags/tag3.xml><?xml version="1.0" encoding="utf-8"?>
<p:tagLst xmlns:p="http://schemas.openxmlformats.org/presentationml/2006/main">
  <p:tag name="KSO_WM_UNIT_PLACING_PICTURE_USER_VIEWPORT" val="{&quot;height&quot;:2690,&quot;width&quot;:5280}"/>
</p:tagLst>
</file>

<file path=ppt/tags/tag4.xml><?xml version="1.0" encoding="utf-8"?>
<p:tagLst xmlns:p="http://schemas.openxmlformats.org/presentationml/2006/main">
  <p:tag name="KSO_WM_UNIT_TABLE_BEAUTIFY" val="smartTable{c2268257-4362-43ff-8185-835b08be1f01}"/>
</p:tagLst>
</file>

<file path=ppt/tags/tag5.xml><?xml version="1.0" encoding="utf-8"?>
<p:tagLst xmlns:p="http://schemas.openxmlformats.org/presentationml/2006/main">
  <p:tag name="KSO_WM_UNIT_TABLE_BEAUTIFY" val="smartTable{1266220c-6d1d-4a77-b8be-208159b6abbe}"/>
</p:tagLst>
</file>

<file path=ppt/tags/tag6.xml><?xml version="1.0" encoding="utf-8"?>
<p:tagLst xmlns:p="http://schemas.openxmlformats.org/presentationml/2006/main">
  <p:tag name="KSO_WM_UNIT_PLACING_PICTURE_USER_VIEWPORT" val="{&quot;height&quot;:18624,&quot;width&quot;:27600}"/>
</p:tagLst>
</file>

<file path=ppt/tags/tag7.xml><?xml version="1.0" encoding="utf-8"?>
<p:tagLst xmlns:p="http://schemas.openxmlformats.org/presentationml/2006/main">
  <p:tag name="KSO_WM_UNIT_PLACING_PICTURE_USER_VIEWPORT" val="{&quot;height&quot;:7524,&quot;width&quot;:6492}"/>
</p:tagLst>
</file>

<file path=ppt/tags/tag8.xml><?xml version="1.0" encoding="utf-8"?>
<p:tagLst xmlns:p="http://schemas.openxmlformats.org/presentationml/2006/main">
  <p:tag name="KSO_WPP_MARK_KEY" val="c1929a6e-7d54-4f9a-8df1-99af7d1dde2f"/>
  <p:tag name="COMMONDATA" val="eyJoZGlkIjoiZmYwY2UxNzI0ODdjMTkzYTM2NmQ4OTdkNGYwMzJlYmMifQ=="/>
</p:tagLst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0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6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7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6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9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30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3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3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3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6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7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0</TotalTime>
  <Words>11459</Words>
  <Application>WPS 演示</Application>
  <PresentationFormat>全屏显示(4:3)</PresentationFormat>
  <Paragraphs>3029</Paragraphs>
  <Slides>52</Slides>
  <Notes>19</Notes>
  <HiddenSlides>3</HiddenSlides>
  <MMClips>5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28</vt:i4>
      </vt:variant>
      <vt:variant>
        <vt:lpstr>嵌入 OLE 服务器</vt:lpstr>
      </vt:variant>
      <vt:variant>
        <vt:i4>54</vt:i4>
      </vt:variant>
      <vt:variant>
        <vt:lpstr>幻灯片标题</vt:lpstr>
      </vt:variant>
      <vt:variant>
        <vt:i4>52</vt:i4>
      </vt:variant>
    </vt:vector>
  </HeadingPairs>
  <TitlesOfParts>
    <vt:vector size="159" baseType="lpstr">
      <vt:lpstr>Arial</vt:lpstr>
      <vt:lpstr>宋体</vt:lpstr>
      <vt:lpstr>Wingdings</vt:lpstr>
      <vt:lpstr>Tahoma</vt:lpstr>
      <vt:lpstr>华文中宋</vt:lpstr>
      <vt:lpstr>Times New Roman</vt:lpstr>
      <vt:lpstr>黑体</vt:lpstr>
      <vt:lpstr>仿宋_GB2312</vt:lpstr>
      <vt:lpstr>仿宋</vt:lpstr>
      <vt:lpstr>幼圆</vt:lpstr>
      <vt:lpstr>Symbol</vt:lpstr>
      <vt:lpstr>Calibri</vt:lpstr>
      <vt:lpstr>微软雅黑</vt:lpstr>
      <vt:lpstr>Arial Unicode MS</vt:lpstr>
      <vt:lpstr>Symbol</vt:lpstr>
      <vt:lpstr>方正大黑简体</vt:lpstr>
      <vt:lpstr>楷体</vt:lpstr>
      <vt:lpstr>方正舒体</vt:lpstr>
      <vt:lpstr>楷体_GB2312</vt:lpstr>
      <vt:lpstr>新宋体</vt:lpstr>
      <vt:lpstr>方正仿宋_GB2312</vt:lpstr>
      <vt:lpstr>华文楷体</vt:lpstr>
      <vt:lpstr>华文行楷</vt:lpstr>
      <vt:lpstr>华文新魏</vt:lpstr>
      <vt:lpstr>华文宋体</vt:lpstr>
      <vt:lpstr>Blueprint</vt:lpstr>
      <vt:lpstr>1_Blueprint</vt:lpstr>
      <vt:lpstr>2_Blueprint</vt:lpstr>
      <vt:lpstr>10_Blueprint</vt:lpstr>
      <vt:lpstr>11_Blueprint</vt:lpstr>
      <vt:lpstr>12_Blueprint</vt:lpstr>
      <vt:lpstr>14_Blueprint</vt:lpstr>
      <vt:lpstr>15_Blueprint</vt:lpstr>
      <vt:lpstr>16_Blueprint</vt:lpstr>
      <vt:lpstr>17_Blueprint</vt:lpstr>
      <vt:lpstr>19_Blueprint</vt:lpstr>
      <vt:lpstr>20_Blueprint</vt:lpstr>
      <vt:lpstr>22_Blueprint</vt:lpstr>
      <vt:lpstr>24_Blueprint</vt:lpstr>
      <vt:lpstr>25_Blueprint</vt:lpstr>
      <vt:lpstr>21_Blueprint</vt:lpstr>
      <vt:lpstr>23_Blueprint</vt:lpstr>
      <vt:lpstr>26_Blueprint</vt:lpstr>
      <vt:lpstr>29_Blueprint</vt:lpstr>
      <vt:lpstr>30_Blueprint</vt:lpstr>
      <vt:lpstr>31_Blueprint</vt:lpstr>
      <vt:lpstr>32_Blueprint</vt:lpstr>
      <vt:lpstr>34_Blueprint</vt:lpstr>
      <vt:lpstr>3_Blueprint</vt:lpstr>
      <vt:lpstr>4_Blueprint</vt:lpstr>
      <vt:lpstr>5_Blueprint</vt:lpstr>
      <vt:lpstr>6_Blueprint</vt:lpstr>
      <vt:lpstr>7_Blueprint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Equation.KSEE3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Equation.3</vt:lpstr>
      <vt:lpstr>Equation.3</vt:lpstr>
      <vt:lpstr>AutoCAD.Drawing.14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AutoCAD.Drawing.14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Equation.3</vt:lpstr>
      <vt:lpstr>Paint.Picture</vt:lpstr>
      <vt:lpstr>PBrush</vt:lpstr>
      <vt:lpstr>第3.2章 带传动</vt:lpstr>
      <vt:lpstr>PowerPoint 演示文稿</vt:lpstr>
      <vt:lpstr>3.2-1 概述</vt:lpstr>
      <vt:lpstr>3.2-1 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3.2-1 概述</vt:lpstr>
      <vt:lpstr>3.2-2 V带和带轮</vt:lpstr>
      <vt:lpstr>3.2-2 V带和带轮</vt:lpstr>
      <vt:lpstr>3.2-2 V带和带轮</vt:lpstr>
      <vt:lpstr>PowerPoint 演示文稿</vt:lpstr>
      <vt:lpstr>3.2-2 V带和带轮</vt:lpstr>
      <vt:lpstr>3.2-2 V带和带轮</vt:lpstr>
      <vt:lpstr>V带轮的设计</vt:lpstr>
      <vt:lpstr>PowerPoint 演示文稿</vt:lpstr>
      <vt:lpstr>V带轮的设计</vt:lpstr>
      <vt:lpstr>3.2-3 带传动的工作情况的分析</vt:lpstr>
      <vt:lpstr>PowerPoint 演示文稿</vt:lpstr>
      <vt:lpstr>PowerPoint 演示文稿</vt:lpstr>
      <vt:lpstr>PowerPoint 演示文稿</vt:lpstr>
      <vt:lpstr>3.2-3 带传动的工作情况的分析</vt:lpstr>
      <vt:lpstr>带传动的工作情况的分析</vt:lpstr>
      <vt:lpstr>3.2-3 带传动的工作情况的分析</vt:lpstr>
      <vt:lpstr>3.2-3 带传动的工作情况的分析</vt:lpstr>
      <vt:lpstr>3.2-3 带传动的工作情况的分析</vt:lpstr>
      <vt:lpstr>3.2-3 带传动的工作情况的分析</vt:lpstr>
      <vt:lpstr>3.2-4 普通V带传动的设计计算</vt:lpstr>
      <vt:lpstr>PowerPoint 演示文稿</vt:lpstr>
      <vt:lpstr>3.2-4 普通V带传动的设计计算</vt:lpstr>
      <vt:lpstr>3.2-4 普通V带传动的设计计算</vt:lpstr>
      <vt:lpstr>3.2-4 普通V带传动的设计计算</vt:lpstr>
      <vt:lpstr>3.2-4 普通V带传动的设计计算</vt:lpstr>
      <vt:lpstr>3.2-4 普通V带传动的设计计算</vt:lpstr>
      <vt:lpstr>PowerPoint 演示文稿</vt:lpstr>
      <vt:lpstr>3.2-5 V带传动的张紧、安装与防护</vt:lpstr>
      <vt:lpstr>PowerPoint 演示文稿</vt:lpstr>
      <vt:lpstr>3.2-5 V带传动的张紧、安装与防护</vt:lpstr>
      <vt:lpstr>3.2-5 V带传动的张紧、安装与防护</vt:lpstr>
      <vt:lpstr>3.2-6 其他带传动简介</vt:lpstr>
      <vt:lpstr>概述</vt:lpstr>
      <vt:lpstr>带传动的工作情况的分析</vt:lpstr>
      <vt:lpstr>普通V带传动的设计计算</vt:lpstr>
      <vt:lpstr>普通V带传动的设计计算</vt:lpstr>
      <vt:lpstr>普通V带传动的设计计算</vt:lpstr>
      <vt:lpstr>普通V带传动的设计计算</vt:lpstr>
      <vt:lpstr>普通V带传动的设计计算</vt:lpstr>
      <vt:lpstr>普通V带传动的设计计算</vt:lpstr>
      <vt:lpstr>PowerPoint 演示文稿</vt:lpstr>
      <vt:lpstr>PowerPoint 演示文稿</vt:lpstr>
    </vt:vector>
  </TitlesOfParts>
  <Company>nwpu209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22725</cp:lastModifiedBy>
  <cp:revision>370</cp:revision>
  <dcterms:created xsi:type="dcterms:W3CDTF">2002-03-15T12:39:00Z</dcterms:created>
  <dcterms:modified xsi:type="dcterms:W3CDTF">2025-09-29T07:24:14Z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KSOSaveFontToCloudKey">
    <vt:lpwstr>241354880_btnclosed</vt:lpwstr>
  </property>
  <property fmtid="{D5CDD505-2E9C-101B-9397-08002B2CF9AE}" pid="4" name="ICV">
    <vt:lpwstr>4701F3CCB4C54F5C82ADCD0367A0CA53</vt:lpwstr>
  </property>
</Properties>
</file>