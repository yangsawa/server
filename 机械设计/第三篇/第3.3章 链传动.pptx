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Lst>
  <p:notesMasterIdLst>
    <p:notesMasterId r:id="rId50"/>
  </p:notesMasterIdLst>
  <p:sldIdLst>
    <p:sldId id="256" r:id="rId35"/>
    <p:sldId id="590" r:id="rId36"/>
    <p:sldId id="592" r:id="rId37"/>
    <p:sldId id="591" r:id="rId38"/>
    <p:sldId id="593" r:id="rId39"/>
    <p:sldId id="594" r:id="rId40"/>
    <p:sldId id="588" r:id="rId41"/>
    <p:sldId id="651" r:id="rId42"/>
    <p:sldId id="652" r:id="rId43"/>
    <p:sldId id="589" r:id="rId44"/>
    <p:sldId id="322" r:id="rId45"/>
    <p:sldId id="541" r:id="rId46"/>
    <p:sldId id="596" r:id="rId47"/>
    <p:sldId id="495" r:id="rId48"/>
    <p:sldId id="423" r:id="rId49"/>
    <p:sldId id="791" r:id="rId51"/>
    <p:sldId id="498" r:id="rId52"/>
    <p:sldId id="499" r:id="rId53"/>
    <p:sldId id="257" r:id="rId54"/>
    <p:sldId id="500" r:id="rId55"/>
    <p:sldId id="595" r:id="rId56"/>
    <p:sldId id="654" r:id="rId57"/>
    <p:sldId id="655" r:id="rId58"/>
    <p:sldId id="413" r:id="rId59"/>
    <p:sldId id="414" r:id="rId60"/>
    <p:sldId id="502" r:id="rId61"/>
    <p:sldId id="503" r:id="rId62"/>
    <p:sldId id="504" r:id="rId63"/>
    <p:sldId id="597" r:id="rId64"/>
    <p:sldId id="598" r:id="rId65"/>
    <p:sldId id="323" r:id="rId66"/>
    <p:sldId id="889" r:id="rId67"/>
    <p:sldId id="425" r:id="rId68"/>
    <p:sldId id="506" r:id="rId69"/>
    <p:sldId id="426" r:id="rId70"/>
    <p:sldId id="415" r:id="rId71"/>
    <p:sldId id="505" r:id="rId72"/>
    <p:sldId id="313" r:id="rId73"/>
    <p:sldId id="600" r:id="rId74"/>
    <p:sldId id="456" r:id="rId75"/>
    <p:sldId id="455" r:id="rId76"/>
    <p:sldId id="857" r:id="rId77"/>
    <p:sldId id="509" r:id="rId78"/>
    <p:sldId id="858" r:id="rId79"/>
    <p:sldId id="653" r:id="rId80"/>
    <p:sldId id="477" r:id="rId81"/>
    <p:sldId id="861" r:id="rId82"/>
    <p:sldId id="395" r:id="rId83"/>
    <p:sldId id="601" r:id="rId84"/>
    <p:sldId id="419" r:id="rId85"/>
    <p:sldId id="715" r:id="rId86"/>
    <p:sldId id="760" r:id="rId87"/>
    <p:sldId id="508" r:id="rId88"/>
    <p:sldId id="396" r:id="rId89"/>
    <p:sldId id="445" r:id="rId90"/>
    <p:sldId id="446" r:id="rId91"/>
    <p:sldId id="451" r:id="rId92"/>
    <p:sldId id="416" r:id="rId93"/>
    <p:sldId id="458" r:id="rId94"/>
    <p:sldId id="737" r:id="rId95"/>
    <p:sldId id="457" r:id="rId96"/>
    <p:sldId id="447" r:id="rId97"/>
    <p:sldId id="488" r:id="rId98"/>
    <p:sldId id="489" r:id="rId99"/>
    <p:sldId id="491" r:id="rId100"/>
    <p:sldId id="492" r:id="rId101"/>
    <p:sldId id="493" r:id="rId102"/>
    <p:sldId id="709" r:id="rId103"/>
    <p:sldId id="710" r:id="rId104"/>
    <p:sldId id="711" r:id="rId105"/>
    <p:sldId id="511" r:id="rId106"/>
    <p:sldId id="512" r:id="rId107"/>
    <p:sldId id="513" r:id="rId108"/>
    <p:sldId id="892" r:id="rId109"/>
    <p:sldId id="893" r:id="rId110"/>
    <p:sldId id="890" r:id="rId111"/>
    <p:sldId id="891" r:id="rId112"/>
    <p:sldId id="894" r:id="rId113"/>
  </p:sldIdLst>
  <p:sldSz cx="9144000" cy="6858000" type="screen4x3"/>
  <p:notesSz cx="6858000" cy="9144000"/>
  <p:custDataLst>
    <p:tags r:id="rId118"/>
  </p:custDataLst>
  <p:defaultTextStyle>
    <a:defPPr>
      <a:defRPr lang="zh-CN"/>
    </a:defPPr>
    <a:lvl1pPr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buFont typeface="Arial" panose="020B0604020202020204" pitchFamily="34" charset="0"/>
      <a:defRPr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1951" userDrawn="1">
          <p15:clr>
            <a:srgbClr val="A4A3A4"/>
          </p15:clr>
        </p15:guide>
        <p15:guide id="2" pos="260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 lastIdx="2"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00FF"/>
    <a:srgbClr val="003399"/>
    <a:srgbClr val="FFFFFF"/>
    <a:srgbClr val="A50021"/>
    <a:srgbClr val="FF3300"/>
    <a:srgbClr val="CC3300"/>
    <a:srgbClr val="000099"/>
    <a:srgbClr val="20BB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4" autoAdjust="0"/>
    <p:restoredTop sz="93702" autoAdjust="0"/>
  </p:normalViewPr>
  <p:slideViewPr>
    <p:cSldViewPr snapToGrid="0" showGuides="1">
      <p:cViewPr>
        <p:scale>
          <a:sx n="88" d="100"/>
          <a:sy n="88" d="100"/>
        </p:scale>
        <p:origin x="96" y="-940"/>
      </p:cViewPr>
      <p:guideLst>
        <p:guide orient="horz" pos="1951"/>
        <p:guide pos="2606"/>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75" d="100"/>
        <a:sy n="75" d="100"/>
      </p:scale>
      <p:origin x="0" y="0"/>
    </p:cViewPr>
  </p:sorterViewPr>
  <p:gridSpacing cx="36000" cy="36000"/>
</p:viewPr>
</file>

<file path=ppt/_rels/presentation.xml.rels><?xml version="1.0" encoding="UTF-8" standalone="yes"?>
<Relationships xmlns="http://schemas.openxmlformats.org/package/2006/relationships"><Relationship Id="rId99" Type="http://schemas.openxmlformats.org/officeDocument/2006/relationships/slide" Target="slides/slide64.xml"/><Relationship Id="rId98" Type="http://schemas.openxmlformats.org/officeDocument/2006/relationships/slide" Target="slides/slide63.xml"/><Relationship Id="rId97" Type="http://schemas.openxmlformats.org/officeDocument/2006/relationships/slide" Target="slides/slide62.xml"/><Relationship Id="rId96" Type="http://schemas.openxmlformats.org/officeDocument/2006/relationships/slide" Target="slides/slide61.xml"/><Relationship Id="rId95" Type="http://schemas.openxmlformats.org/officeDocument/2006/relationships/slide" Target="slides/slide60.xml"/><Relationship Id="rId94" Type="http://schemas.openxmlformats.org/officeDocument/2006/relationships/slide" Target="slides/slide59.xml"/><Relationship Id="rId93" Type="http://schemas.openxmlformats.org/officeDocument/2006/relationships/slide" Target="slides/slide58.xml"/><Relationship Id="rId92" Type="http://schemas.openxmlformats.org/officeDocument/2006/relationships/slide" Target="slides/slide57.xml"/><Relationship Id="rId91" Type="http://schemas.openxmlformats.org/officeDocument/2006/relationships/slide" Target="slides/slide56.xml"/><Relationship Id="rId90" Type="http://schemas.openxmlformats.org/officeDocument/2006/relationships/slide" Target="slides/slide55.xml"/><Relationship Id="rId9" Type="http://schemas.openxmlformats.org/officeDocument/2006/relationships/slideMaster" Target="slideMasters/slideMaster8.xml"/><Relationship Id="rId89" Type="http://schemas.openxmlformats.org/officeDocument/2006/relationships/slide" Target="slides/slide54.xml"/><Relationship Id="rId88" Type="http://schemas.openxmlformats.org/officeDocument/2006/relationships/slide" Target="slides/slide53.xml"/><Relationship Id="rId87" Type="http://schemas.openxmlformats.org/officeDocument/2006/relationships/slide" Target="slides/slide52.xml"/><Relationship Id="rId86" Type="http://schemas.openxmlformats.org/officeDocument/2006/relationships/slide" Target="slides/slide51.xml"/><Relationship Id="rId85" Type="http://schemas.openxmlformats.org/officeDocument/2006/relationships/slide" Target="slides/slide50.xml"/><Relationship Id="rId84" Type="http://schemas.openxmlformats.org/officeDocument/2006/relationships/slide" Target="slides/slide49.xml"/><Relationship Id="rId83" Type="http://schemas.openxmlformats.org/officeDocument/2006/relationships/slide" Target="slides/slide48.xml"/><Relationship Id="rId82" Type="http://schemas.openxmlformats.org/officeDocument/2006/relationships/slide" Target="slides/slide47.xml"/><Relationship Id="rId81" Type="http://schemas.openxmlformats.org/officeDocument/2006/relationships/slide" Target="slides/slide46.xml"/><Relationship Id="rId80" Type="http://schemas.openxmlformats.org/officeDocument/2006/relationships/slide" Target="slides/slide45.xml"/><Relationship Id="rId8" Type="http://schemas.openxmlformats.org/officeDocument/2006/relationships/slideMaster" Target="slideMasters/slideMaster7.xml"/><Relationship Id="rId79" Type="http://schemas.openxmlformats.org/officeDocument/2006/relationships/slide" Target="slides/slide44.xml"/><Relationship Id="rId78" Type="http://schemas.openxmlformats.org/officeDocument/2006/relationships/slide" Target="slides/slide43.xml"/><Relationship Id="rId77" Type="http://schemas.openxmlformats.org/officeDocument/2006/relationships/slide" Target="slides/slide42.xml"/><Relationship Id="rId76" Type="http://schemas.openxmlformats.org/officeDocument/2006/relationships/slide" Target="slides/slide41.xml"/><Relationship Id="rId75" Type="http://schemas.openxmlformats.org/officeDocument/2006/relationships/slide" Target="slides/slide40.xml"/><Relationship Id="rId74" Type="http://schemas.openxmlformats.org/officeDocument/2006/relationships/slide" Target="slides/slide39.xml"/><Relationship Id="rId73" Type="http://schemas.openxmlformats.org/officeDocument/2006/relationships/slide" Target="slides/slide38.xml"/><Relationship Id="rId72" Type="http://schemas.openxmlformats.org/officeDocument/2006/relationships/slide" Target="slides/slide37.xml"/><Relationship Id="rId71" Type="http://schemas.openxmlformats.org/officeDocument/2006/relationships/slide" Target="slides/slide36.xml"/><Relationship Id="rId70" Type="http://schemas.openxmlformats.org/officeDocument/2006/relationships/slide" Target="slides/slide35.xml"/><Relationship Id="rId7" Type="http://schemas.openxmlformats.org/officeDocument/2006/relationships/slideMaster" Target="slideMasters/slideMaster6.xml"/><Relationship Id="rId69" Type="http://schemas.openxmlformats.org/officeDocument/2006/relationships/slide" Target="slides/slide34.xml"/><Relationship Id="rId68" Type="http://schemas.openxmlformats.org/officeDocument/2006/relationships/slide" Target="slides/slide33.xml"/><Relationship Id="rId67" Type="http://schemas.openxmlformats.org/officeDocument/2006/relationships/slide" Target="slides/slide32.xml"/><Relationship Id="rId66" Type="http://schemas.openxmlformats.org/officeDocument/2006/relationships/slide" Target="slides/slide31.xml"/><Relationship Id="rId65" Type="http://schemas.openxmlformats.org/officeDocument/2006/relationships/slide" Target="slides/slide30.xml"/><Relationship Id="rId64" Type="http://schemas.openxmlformats.org/officeDocument/2006/relationships/slide" Target="slides/slide29.xml"/><Relationship Id="rId63" Type="http://schemas.openxmlformats.org/officeDocument/2006/relationships/slide" Target="slides/slide28.xml"/><Relationship Id="rId62" Type="http://schemas.openxmlformats.org/officeDocument/2006/relationships/slide" Target="slides/slide27.xml"/><Relationship Id="rId61" Type="http://schemas.openxmlformats.org/officeDocument/2006/relationships/slide" Target="slides/slide26.xml"/><Relationship Id="rId60" Type="http://schemas.openxmlformats.org/officeDocument/2006/relationships/slide" Target="slides/slide25.xml"/><Relationship Id="rId6" Type="http://schemas.openxmlformats.org/officeDocument/2006/relationships/slideMaster" Target="slideMasters/slideMaster5.xml"/><Relationship Id="rId59" Type="http://schemas.openxmlformats.org/officeDocument/2006/relationships/slide" Target="slides/slide24.xml"/><Relationship Id="rId58" Type="http://schemas.openxmlformats.org/officeDocument/2006/relationships/slide" Target="slides/slide23.xml"/><Relationship Id="rId57" Type="http://schemas.openxmlformats.org/officeDocument/2006/relationships/slide" Target="slides/slide22.xml"/><Relationship Id="rId56" Type="http://schemas.openxmlformats.org/officeDocument/2006/relationships/slide" Target="slides/slide21.xml"/><Relationship Id="rId55" Type="http://schemas.openxmlformats.org/officeDocument/2006/relationships/slide" Target="slides/slide20.xml"/><Relationship Id="rId54" Type="http://schemas.openxmlformats.org/officeDocument/2006/relationships/slide" Target="slides/slide19.xml"/><Relationship Id="rId53" Type="http://schemas.openxmlformats.org/officeDocument/2006/relationships/slide" Target="slides/slide18.xml"/><Relationship Id="rId52" Type="http://schemas.openxmlformats.org/officeDocument/2006/relationships/slide" Target="slides/slide17.xml"/><Relationship Id="rId51" Type="http://schemas.openxmlformats.org/officeDocument/2006/relationships/slide" Target="slides/slide16.xml"/><Relationship Id="rId50" Type="http://schemas.openxmlformats.org/officeDocument/2006/relationships/notesMaster" Target="notesMasters/notesMaster1.xml"/><Relationship Id="rId5" Type="http://schemas.openxmlformats.org/officeDocument/2006/relationships/slideMaster" Target="slideMasters/slideMaster4.xml"/><Relationship Id="rId49" Type="http://schemas.openxmlformats.org/officeDocument/2006/relationships/slide" Target="slides/slide15.xml"/><Relationship Id="rId48" Type="http://schemas.openxmlformats.org/officeDocument/2006/relationships/slide" Target="slides/slide14.xml"/><Relationship Id="rId47" Type="http://schemas.openxmlformats.org/officeDocument/2006/relationships/slide" Target="slides/slide13.xml"/><Relationship Id="rId46" Type="http://schemas.openxmlformats.org/officeDocument/2006/relationships/slide" Target="slides/slide12.xml"/><Relationship Id="rId45" Type="http://schemas.openxmlformats.org/officeDocument/2006/relationships/slide" Target="slides/slide11.xml"/><Relationship Id="rId44" Type="http://schemas.openxmlformats.org/officeDocument/2006/relationships/slide" Target="slides/slide10.xml"/><Relationship Id="rId43" Type="http://schemas.openxmlformats.org/officeDocument/2006/relationships/slide" Target="slides/slide9.xml"/><Relationship Id="rId42" Type="http://schemas.openxmlformats.org/officeDocument/2006/relationships/slide" Target="slides/slide8.xml"/><Relationship Id="rId41" Type="http://schemas.openxmlformats.org/officeDocument/2006/relationships/slide" Target="slides/slide7.xml"/><Relationship Id="rId40" Type="http://schemas.openxmlformats.org/officeDocument/2006/relationships/slide" Target="slides/slide6.xml"/><Relationship Id="rId4" Type="http://schemas.openxmlformats.org/officeDocument/2006/relationships/slideMaster" Target="slideMasters/slideMaster3.xml"/><Relationship Id="rId39" Type="http://schemas.openxmlformats.org/officeDocument/2006/relationships/slide" Target="slides/slide5.xml"/><Relationship Id="rId38" Type="http://schemas.openxmlformats.org/officeDocument/2006/relationships/slide" Target="slides/slide4.xml"/><Relationship Id="rId37" Type="http://schemas.openxmlformats.org/officeDocument/2006/relationships/slide" Target="slides/slide3.xml"/><Relationship Id="rId36" Type="http://schemas.openxmlformats.org/officeDocument/2006/relationships/slide" Target="slides/slide2.xml"/><Relationship Id="rId35" Type="http://schemas.openxmlformats.org/officeDocument/2006/relationships/slide" Target="slides/slide1.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8" Type="http://schemas.openxmlformats.org/officeDocument/2006/relationships/tags" Target="tags/tag220.xml"/><Relationship Id="rId117" Type="http://schemas.openxmlformats.org/officeDocument/2006/relationships/commentAuthors" Target="commentAuthors.xml"/><Relationship Id="rId116" Type="http://schemas.openxmlformats.org/officeDocument/2006/relationships/tableStyles" Target="tableStyles.xml"/><Relationship Id="rId115" Type="http://schemas.openxmlformats.org/officeDocument/2006/relationships/viewProps" Target="viewProps.xml"/><Relationship Id="rId114" Type="http://schemas.openxmlformats.org/officeDocument/2006/relationships/presProps" Target="presProps.xml"/><Relationship Id="rId113" Type="http://schemas.openxmlformats.org/officeDocument/2006/relationships/slide" Target="slides/slide78.xml"/><Relationship Id="rId112" Type="http://schemas.openxmlformats.org/officeDocument/2006/relationships/slide" Target="slides/slide77.xml"/><Relationship Id="rId111" Type="http://schemas.openxmlformats.org/officeDocument/2006/relationships/slide" Target="slides/slide76.xml"/><Relationship Id="rId110" Type="http://schemas.openxmlformats.org/officeDocument/2006/relationships/slide" Target="slides/slide75.xml"/><Relationship Id="rId11" Type="http://schemas.openxmlformats.org/officeDocument/2006/relationships/slideMaster" Target="slideMasters/slideMaster10.xml"/><Relationship Id="rId109" Type="http://schemas.openxmlformats.org/officeDocument/2006/relationships/slide" Target="slides/slide74.xml"/><Relationship Id="rId108" Type="http://schemas.openxmlformats.org/officeDocument/2006/relationships/slide" Target="slides/slide73.xml"/><Relationship Id="rId107" Type="http://schemas.openxmlformats.org/officeDocument/2006/relationships/slide" Target="slides/slide72.xml"/><Relationship Id="rId106" Type="http://schemas.openxmlformats.org/officeDocument/2006/relationships/slide" Target="slides/slide71.xml"/><Relationship Id="rId105" Type="http://schemas.openxmlformats.org/officeDocument/2006/relationships/slide" Target="slides/slide70.xml"/><Relationship Id="rId104" Type="http://schemas.openxmlformats.org/officeDocument/2006/relationships/slide" Target="slides/slide69.xml"/><Relationship Id="rId103" Type="http://schemas.openxmlformats.org/officeDocument/2006/relationships/slide" Target="slides/slide68.xml"/><Relationship Id="rId102" Type="http://schemas.openxmlformats.org/officeDocument/2006/relationships/slide" Target="slides/slide67.xml"/><Relationship Id="rId101" Type="http://schemas.openxmlformats.org/officeDocument/2006/relationships/slide" Target="slides/slide66.xml"/><Relationship Id="rId100" Type="http://schemas.openxmlformats.org/officeDocument/2006/relationships/slide" Target="slides/slide65.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2.wmf"/><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09.wmf"/><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kumimoji="1" sz="1200" b="1">
                <a:ea typeface="宋体" panose="02010600030101010101" pitchFamily="2" charset="-122"/>
              </a:defRPr>
            </a:lvl1pPr>
          </a:lstStyle>
          <a:p>
            <a:pPr>
              <a:defRPr/>
            </a:pPr>
            <a:endParaRPr lang="en-US" altLang="zh-CN"/>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kumimoji="1" sz="1200" b="1">
                <a:ea typeface="宋体" panose="02010600030101010101" pitchFamily="2" charset="-122"/>
              </a:defRPr>
            </a:lvl1pPr>
          </a:lstStyle>
          <a:p>
            <a:pPr>
              <a:defRPr/>
            </a:pPr>
            <a:endParaRPr lang="en-US" altLang="zh-CN"/>
          </a:p>
        </p:txBody>
      </p:sp>
      <p:sp>
        <p:nvSpPr>
          <p:cNvPr id="52228"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kumimoji="1" sz="1200" b="1">
                <a:ea typeface="宋体" panose="02010600030101010101" pitchFamily="2" charset="-122"/>
              </a:defRPr>
            </a:lvl1pPr>
          </a:lstStyle>
          <a:p>
            <a:pPr>
              <a:defRPr/>
            </a:pPr>
            <a:endParaRPr lang="en-US" altLang="zh-CN"/>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1">
                <a:ea typeface="宋体" panose="02010600030101010101" pitchFamily="2" charset="-122"/>
              </a:defRPr>
            </a:lvl1pPr>
          </a:lstStyle>
          <a:p>
            <a:fld id="{767AA662-136E-4001-B1DF-0D42B1935E36}"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67AA662-136E-4001-B1DF-0D42B1935E36}"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E65FFECA-CB0F-4282-BEDC-1037D4EB5725}" type="slidenum">
              <a:rPr lang="en-US" altLang="zh-CN"/>
            </a:fld>
            <a:endParaRPr lang="en-US" altLang="zh-CN"/>
          </a:p>
        </p:txBody>
      </p:sp>
      <p:sp>
        <p:nvSpPr>
          <p:cNvPr id="506882"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506883"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idx="4294967295"/>
          </p:nvPr>
        </p:nvSpPr>
        <p:spPr/>
      </p:sp>
      <p:sp>
        <p:nvSpPr>
          <p:cNvPr id="53251" name="文本占位符 2"/>
          <p:cNvSpPr>
            <a:spLocks noGrp="1" noChangeArrowheads="1"/>
          </p:cNvSpPr>
          <p:nvPr>
            <p:ph type="body" idx="4294967295"/>
          </p:nvPr>
        </p:nvSpPr>
        <p:spPr/>
        <p:txBody>
          <a:bodyPr/>
          <a:lstStyle/>
          <a:p>
            <a:endParaRPr lang="zh-CN" alt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idx="4294967295"/>
          </p:nvPr>
        </p:nvSpPr>
        <p:spPr/>
      </p:sp>
      <p:sp>
        <p:nvSpPr>
          <p:cNvPr id="53251" name="文本占位符 2"/>
          <p:cNvSpPr>
            <a:spLocks noGrp="1" noChangeArrowheads="1"/>
          </p:cNvSpPr>
          <p:nvPr>
            <p:ph type="body" idx="4294967295"/>
          </p:nvPr>
        </p:nvSpPr>
        <p:spPr/>
        <p:txBody>
          <a:bodyPr/>
          <a:lstStyle/>
          <a:p>
            <a:endParaRPr lang="zh-CN" alt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ChangeArrowheads="1" noTextEdit="1"/>
          </p:cNvSpPr>
          <p:nvPr>
            <p:ph type="sldImg" idx="4294967295"/>
          </p:nvPr>
        </p:nvSpPr>
        <p:spPr/>
      </p:sp>
      <p:sp>
        <p:nvSpPr>
          <p:cNvPr id="54275"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idx="4294967295"/>
          </p:nvPr>
        </p:nvSpPr>
        <p:spPr/>
      </p:sp>
      <p:sp>
        <p:nvSpPr>
          <p:cNvPr id="55299"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ChangeArrowheads="1" noTextEdit="1"/>
          </p:cNvSpPr>
          <p:nvPr>
            <p:ph type="sldImg" idx="4294967295"/>
          </p:nvPr>
        </p:nvSpPr>
        <p:spPr/>
      </p:sp>
      <p:sp>
        <p:nvSpPr>
          <p:cNvPr id="56323"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ChangeArrowheads="1" noTextEdit="1"/>
          </p:cNvSpPr>
          <p:nvPr>
            <p:ph type="sldImg" idx="4294967295"/>
          </p:nvPr>
        </p:nvSpPr>
        <p:spPr/>
      </p:sp>
      <p:sp>
        <p:nvSpPr>
          <p:cNvPr id="57347" name="文本占位符 2"/>
          <p:cNvSpPr>
            <a:spLocks noGrp="1" noChangeArrowheads="1"/>
          </p:cNvSpPr>
          <p:nvPr>
            <p:ph type="body" idx="4294967295"/>
          </p:nvPr>
        </p:nvSpPr>
        <p:spPr/>
        <p:txBody>
          <a:bodyPr/>
          <a:lstStyle/>
          <a:p>
            <a:endParaRPr lang="zh-CN"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ChangeArrowheads="1" noTextEdit="1"/>
          </p:cNvSpPr>
          <p:nvPr>
            <p:ph type="sldImg" idx="4294967295"/>
          </p:nvPr>
        </p:nvSpPr>
        <p:spPr/>
      </p:sp>
      <p:sp>
        <p:nvSpPr>
          <p:cNvPr id="57347"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0" hangingPunct="0"/>
            <a:fld id="{9A0DB2DC-4C9A-4742-B13C-FB6460FD3503}" type="slidenum">
              <a:rPr lang="zh-CN" altLang="en-US" sz="1000" b="0" i="1" dirty="0"/>
            </a:fld>
            <a:endParaRPr lang="zh-CN" altLang="en-US" sz="1000" b="0" i="1" dirty="0"/>
          </a:p>
        </p:txBody>
      </p:sp>
      <p:sp>
        <p:nvSpPr>
          <p:cNvPr id="519170" name="文本占位符 519169"/>
          <p:cNvSpPr/>
          <p:nvPr>
            <p:ph type="body" idx="1"/>
          </p:nvPr>
        </p:nvSpPr>
        <p:spPr>
          <a:xfrm>
            <a:off x="914400" y="4645025"/>
            <a:ext cx="5029200" cy="4114800"/>
          </a:xfrm>
          <a:noFill/>
          <a:ln w="9525">
            <a:noFill/>
          </a:ln>
        </p:spPr>
        <p:txBody>
          <a:bodyPr vert="horz" wrap="square" lIns="92075" tIns="46038" rIns="92075" bIns="46038" anchor="t"/>
          <a:p>
            <a:pPr lvl="0"/>
            <a:endParaRPr dirty="0"/>
          </a:p>
        </p:txBody>
      </p:sp>
      <p:sp>
        <p:nvSpPr>
          <p:cNvPr id="519171" name="幻灯片图像占位符 519170"/>
          <p:cNvSpPr/>
          <p:nvPr>
            <p:ph type="sldImg"/>
          </p:nvPr>
        </p:nvSpPr>
        <p:spPr>
          <a:xfrm>
            <a:off x="1141413" y="847725"/>
            <a:ext cx="4575175" cy="3432175"/>
          </a:xfrm>
          <a:noFill/>
          <a:ln w="12700" cap="flat" cmpd="sng">
            <a:solidFill>
              <a:schemeClr val="tx1">
                <a:alpha val="100000"/>
              </a:schemeClr>
            </a:solidFill>
            <a:prstDash val="soli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67AA662-136E-4001-B1DF-0D42B1935E36}"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L-AN32</a:t>
            </a:r>
            <a:r>
              <a:rPr lang="zh-CN" altLang="en-US" dirty="0"/>
              <a:t>：</a:t>
            </a:r>
            <a:r>
              <a:rPr lang="en-US" altLang="zh-CN" dirty="0"/>
              <a:t>L</a:t>
            </a:r>
            <a:r>
              <a:rPr lang="zh-CN" altLang="en-US" dirty="0"/>
              <a:t>润滑油，</a:t>
            </a:r>
            <a:r>
              <a:rPr lang="en-US" altLang="zh-CN" dirty="0"/>
              <a:t>An</a:t>
            </a:r>
            <a:r>
              <a:rPr lang="zh-CN" altLang="en-US" dirty="0">
                <a:sym typeface="+mn-ea"/>
              </a:rPr>
              <a:t>全损耗系统用油，</a:t>
            </a:r>
            <a:r>
              <a:rPr lang="en-US" altLang="zh-CN" dirty="0">
                <a:sym typeface="+mn-ea"/>
              </a:rPr>
              <a:t>32</a:t>
            </a:r>
            <a:r>
              <a:rPr lang="zh-CN" altLang="en-US" dirty="0">
                <a:sym typeface="+mn-ea"/>
              </a:rPr>
              <a:t>油品在</a:t>
            </a:r>
            <a:r>
              <a:rPr lang="en-US" altLang="zh-CN" dirty="0">
                <a:sym typeface="+mn-ea"/>
              </a:rPr>
              <a:t>40</a:t>
            </a:r>
            <a:r>
              <a:rPr lang="zh-CN" altLang="en-US" dirty="0">
                <a:sym typeface="+mn-ea"/>
              </a:rPr>
              <a:t>度的运动黏度平均值为</a:t>
            </a:r>
            <a:r>
              <a:rPr lang="en-US" altLang="zh-CN" dirty="0">
                <a:sym typeface="+mn-ea"/>
              </a:rPr>
              <a:t>32mm</a:t>
            </a:r>
            <a:r>
              <a:rPr lang="en-US" altLang="zh-CN" baseline="30000" dirty="0">
                <a:sym typeface="+mn-ea"/>
              </a:rPr>
              <a:t>2</a:t>
            </a:r>
            <a:r>
              <a:rPr lang="en-US" altLang="zh-CN" dirty="0">
                <a:sym typeface="+mn-ea"/>
              </a:rPr>
              <a:t>/s</a:t>
            </a:r>
            <a:endParaRPr lang="en-US" altLang="zh-CN" dirty="0">
              <a:sym typeface="+mn-ea"/>
            </a:endParaRPr>
          </a:p>
        </p:txBody>
      </p:sp>
      <p:sp>
        <p:nvSpPr>
          <p:cNvPr id="4" name="灯片编号占位符 3"/>
          <p:cNvSpPr>
            <a:spLocks noGrp="1"/>
          </p:cNvSpPr>
          <p:nvPr>
            <p:ph type="sldNum" sz="quarter" idx="10"/>
          </p:nvPr>
        </p:nvSpPr>
        <p:spPr/>
        <p:txBody>
          <a:bodyPr/>
          <a:lstStyle/>
          <a:p>
            <a:fld id="{767AA662-136E-4001-B1DF-0D42B1935E36}"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ChangeArrowheads="1" noTextEdit="1"/>
          </p:cNvSpPr>
          <p:nvPr>
            <p:ph type="sldImg" idx="4294967295"/>
          </p:nvPr>
        </p:nvSpPr>
        <p:spPr/>
      </p:sp>
      <p:sp>
        <p:nvSpPr>
          <p:cNvPr id="58371"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D1F7668E-63A6-4131-BA4A-70771637D45F}" type="slidenum">
              <a:rPr lang="en-US" altLang="zh-CN"/>
            </a:fld>
            <a:endParaRPr lang="en-US" altLang="zh-CN"/>
          </a:p>
        </p:txBody>
      </p:sp>
      <p:sp>
        <p:nvSpPr>
          <p:cNvPr id="525314"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525315"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6EF8521E-A7A8-4386-9A87-38782382CF7B}" type="slidenum">
              <a:rPr lang="en-US" altLang="zh-CN"/>
            </a:fld>
            <a:endParaRPr lang="en-US" altLang="zh-CN"/>
          </a:p>
        </p:txBody>
      </p:sp>
      <p:sp>
        <p:nvSpPr>
          <p:cNvPr id="527362"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dirty="0"/>
          </a:p>
        </p:txBody>
      </p:sp>
      <p:sp>
        <p:nvSpPr>
          <p:cNvPr id="527363"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572F50D9-5D47-4064-BE00-C3FFCF8063BF}" type="slidenum">
              <a:rPr lang="en-US" altLang="zh-CN"/>
            </a:fld>
            <a:endParaRPr lang="en-US" altLang="zh-CN"/>
          </a:p>
        </p:txBody>
      </p:sp>
      <p:sp>
        <p:nvSpPr>
          <p:cNvPr id="531458"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531459"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3E5A53A0-92EF-4F2A-95C3-143203E8EFF7}" type="slidenum">
              <a:rPr lang="en-US" altLang="zh-CN"/>
            </a:fld>
            <a:endParaRPr lang="en-US" altLang="zh-CN"/>
          </a:p>
        </p:txBody>
      </p:sp>
      <p:sp>
        <p:nvSpPr>
          <p:cNvPr id="533506"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533507"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7EB4B2D8-FDA4-46A6-99A6-B2EB77F5B6F6}" type="slidenum">
              <a:rPr lang="en-US" altLang="zh-CN"/>
            </a:fld>
            <a:endParaRPr lang="en-US" altLang="zh-CN"/>
          </a:p>
        </p:txBody>
      </p:sp>
      <p:sp>
        <p:nvSpPr>
          <p:cNvPr id="535554" name="Rectangle 2"/>
          <p:cNvSpPr>
            <a:spLocks noGrp="1" noChangeArrowheads="1"/>
          </p:cNvSpPr>
          <p:nvPr>
            <p:ph type="body" idx="1"/>
          </p:nvPr>
        </p:nvSpPr>
        <p:spPr bwMode="auto">
          <a:xfrm>
            <a:off x="914400" y="4645025"/>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
        <p:nvSpPr>
          <p:cNvPr id="535555" name="Rectangle 3"/>
          <p:cNvSpPr>
            <a:spLocks noGrp="1" noRot="1" noChangeAspect="1" noChangeArrowheads="1"/>
          </p:cNvSpPr>
          <p:nvPr>
            <p:ph type="sldImg"/>
          </p:nvPr>
        </p:nvSpPr>
        <p:spPr bwMode="auto">
          <a:xfrm>
            <a:off x="1141413" y="847725"/>
            <a:ext cx="4575175" cy="3432175"/>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8" y="332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71B093F-3B46-4C07-9B93-5F10B1776EF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76F97359-6BD0-49B5-91DA-530B7ABF546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D7D30063-62C5-47A6-8E22-0593C1792B18}"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5085DD3-0738-4C21-A72D-0DA77C9A5210}"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92D80FCE-5E33-4D19-A333-647E407F52BF}"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EDA1501A-32EC-43DC-B82F-C1C9A82B130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FF4C932A-D429-48ED-946E-3D014AAF2D70}"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F7936ED0-DB2D-4E1E-A990-04F5C4A8BA8D}"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60F26393-D5AA-4577-BFC0-ACB2F1BB9FEC}"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75C4743D-D7A0-4C84-9BC1-7BE15C133CA2}"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CEFE80CA-A257-45A1-8D35-AF9974F42661}"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B7B5DDD-8447-409F-9AAC-D843F07F69AD}"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50DC7796-CA3F-4C16-882C-DBCC571CD2F2}"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43F030E-BFBA-44FF-8014-4D3216662805}"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FB86526B-1247-4022-A667-614DA7E659E6}"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1CC7148B-50C8-4928-B63E-CD715EBC4DD2}"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0F566CFA-5624-484C-8851-5A20DC2B628E}"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624459B3-6917-4763-A491-A1673EFE764C}"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CDF454BA-A155-4EDC-87F3-DDEA5C1B5139}"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41566C9-AF6B-421D-805E-13022419FAC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E54CE1F-81D5-4703-AB1B-B8669F322087}"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BABA5C7-EC9E-48CF-A80C-AD8D7631B1F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026A0B5A-B5EF-4377-9F20-ECB990F38AD1}"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A04AF893-024E-48A2-AFD5-97E00A2FE229}" type="slidenum">
              <a:rPr lang="en-US" altLang="zh-CN"/>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41D01679-9479-4FAF-A3DB-EC1005D9EB61}" type="slidenum">
              <a:rPr lang="en-US" altLang="zh-CN"/>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6888196A-7560-4178-BB69-CC3867A85450}" type="slidenum">
              <a:rPr lang="en-US" altLang="zh-CN"/>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CBE1EBF7-FE12-4B89-8586-F4E52C264025}" type="slidenum">
              <a:rPr lang="en-US" altLang="zh-CN"/>
            </a:fld>
            <a:endParaRPr lang="en-US" altLang="zh-C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D2D595F5-DEE4-475C-92B1-7051FAF628CB}" type="slidenum">
              <a:rPr lang="en-US" altLang="zh-CN"/>
            </a:fld>
            <a:endParaRPr lang="en-US" alt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20F6F215-06CA-4474-86C1-F2E3420A3538}" type="slidenum">
              <a:rPr lang="en-US" altLang="zh-CN"/>
            </a:fld>
            <a:endParaRPr lang="en-US" altLang="zh-C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131E6B3-D803-4670-AD3B-7CEED7BE1C35}" type="slidenum">
              <a:rPr lang="en-US" altLang="zh-CN"/>
            </a:fld>
            <a:endParaRPr lang="en-US" altLang="zh-C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46CBCA1A-FB34-4143-947A-F43702B1499E}" type="slidenum">
              <a:rPr lang="en-US" altLang="zh-CN"/>
            </a:fld>
            <a:endParaRPr lang="en-US" altLang="zh-CN"/>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6133FB5-9EF1-4855-AE68-DF4E9111BCA9}" type="slidenum">
              <a:rPr lang="en-US" altLang="zh-CN"/>
            </a:fld>
            <a:endParaRPr lang="en-US" altLang="zh-CN"/>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F8FBA3B6-10D5-4956-8F10-AE16BBD22067}" type="slidenum">
              <a:rPr lang="en-US" altLang="zh-CN"/>
            </a:fld>
            <a:endParaRPr lang="en-US" altLang="zh-CN"/>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8CCFE53F-2583-46C2-B93C-E3FC28E787C8}" type="slidenum">
              <a:rPr lang="en-US" altLang="zh-CN"/>
            </a:fld>
            <a:endParaRPr lang="en-US" altLang="zh-CN"/>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B873B96B-1A77-4C62-979F-FDD545EB549C}" type="slidenum">
              <a:rPr lang="en-US" altLang="zh-CN"/>
            </a:fld>
            <a:endParaRPr lang="en-US" altLang="zh-CN"/>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4"/>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1" y="333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AE2EFEA1-E4E6-4483-A72F-2E08C9A80F2B}" type="slidenum">
              <a:rPr lang="en-US" altLang="zh-CN"/>
            </a:fld>
            <a:endParaRPr lang="en-US" altLang="zh-CN"/>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2CC68245-5043-4B24-85EC-D9AFFCA1BCBB}" type="slidenum">
              <a:rPr lang="en-US" altLang="zh-CN"/>
            </a:fld>
            <a:endParaRPr lang="en-US" altLang="zh-CN"/>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3DD5F77-6B4F-441F-BDED-30D46CC55341}" type="slidenum">
              <a:rPr lang="en-US" altLang="zh-CN"/>
            </a:fld>
            <a:endParaRPr lang="en-US" altLang="zh-CN"/>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84237820-5799-4595-8C64-26AE1EBF71E8}" type="slidenum">
              <a:rPr lang="en-US" altLang="zh-CN"/>
            </a:fld>
            <a:endParaRPr lang="en-US" altLang="zh-CN"/>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471817F3-B2BB-43A8-A533-94E4D791C5A4}" type="slidenum">
              <a:rPr lang="en-US" altLang="zh-CN"/>
            </a:fld>
            <a:endParaRPr lang="en-US" altLang="zh-CN"/>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A8ED3BD2-B39C-4C75-9526-1277DD178486}" type="slidenum">
              <a:rPr lang="en-US" altLang="zh-CN"/>
            </a:fld>
            <a:endParaRPr lang="en-US" altLang="zh-CN"/>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5FB1D41B-E7E8-469E-90F5-A34DB38AB0BB}" type="slidenum">
              <a:rPr lang="en-US" altLang="zh-CN"/>
            </a:fld>
            <a:endParaRPr lang="en-US" altLang="zh-CN"/>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90190E12-18AC-41F4-8F16-2134E7BCBEC4}" type="slidenum">
              <a:rPr lang="en-US" altLang="zh-CN"/>
            </a:fld>
            <a:endParaRPr lang="en-US" altLang="zh-CN"/>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0F91215-F3AA-4540-821F-0DB24CDF2F83}" type="slidenum">
              <a:rPr lang="en-US">
                <a:solidFill>
                  <a:srgbClr val="000000"/>
                </a:solidFill>
              </a:rPr>
            </a:fld>
            <a:endParaRPr lang="en-US">
              <a:solidFill>
                <a:srgbClr val="000000"/>
              </a:solidFill>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D881468-353F-4CB9-86AE-A2C1E3D09A7C}" type="slidenum">
              <a:rPr lang="en-US">
                <a:solidFill>
                  <a:srgbClr val="000000"/>
                </a:solidFill>
              </a:rPr>
            </a:fld>
            <a:endParaRPr lang="en-US">
              <a:solidFill>
                <a:srgbClr val="000000"/>
              </a:solidFill>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A8A8C0E-FBD8-4BCB-8B36-6651491AE9E1}" type="slidenum">
              <a:rPr lang="en-US">
                <a:solidFill>
                  <a:srgbClr val="000000"/>
                </a:solidFill>
              </a:rPr>
            </a:fld>
            <a:endParaRPr lang="en-US">
              <a:solidFill>
                <a:srgbClr val="000000"/>
              </a:solidFill>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68DBF1D-214E-4E90-9420-527F6F2FD780}" type="slidenum">
              <a:rPr lang="en-US">
                <a:solidFill>
                  <a:srgbClr val="000000"/>
                </a:solidFill>
              </a:rPr>
            </a:fld>
            <a:endParaRPr lang="en-US">
              <a:solidFill>
                <a:srgbClr val="000000"/>
              </a:solidFill>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A953B45D-80A3-4C5D-BC75-60A5B6993075}" type="slidenum">
              <a:rPr lang="en-US">
                <a:solidFill>
                  <a:srgbClr val="000000"/>
                </a:solidFill>
              </a:rPr>
            </a:fld>
            <a:endParaRPr lang="en-US">
              <a:solidFill>
                <a:srgbClr val="000000"/>
              </a:solidFill>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4F9AA6E9-FEF2-46F7-A0CB-25D0D005D769}" type="slidenum">
              <a:rPr lang="en-US">
                <a:solidFill>
                  <a:srgbClr val="000000"/>
                </a:solidFill>
              </a:rPr>
            </a:fld>
            <a:endParaRPr lang="en-US">
              <a:solidFill>
                <a:srgbClr val="000000"/>
              </a:solidFill>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1ECDB150-E61B-46D7-97CE-BDBB81EAEA04}" type="slidenum">
              <a:rPr lang="en-US">
                <a:solidFill>
                  <a:srgbClr val="000000"/>
                </a:solidFill>
              </a:rPr>
            </a:fld>
            <a:endParaRPr lang="en-US">
              <a:solidFill>
                <a:srgbClr val="000000"/>
              </a:solidFill>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AF548606-E4DB-4341-9D9B-6B343F6641C8}" type="slidenum">
              <a:rPr lang="en-US">
                <a:solidFill>
                  <a:srgbClr val="000000"/>
                </a:solidFill>
              </a:rPr>
            </a:fld>
            <a:endParaRPr lang="en-US">
              <a:solidFill>
                <a:srgbClr val="000000"/>
              </a:solidFill>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2DE4BFD-F3EC-412C-922A-0F5ADF09D5D1}" type="slidenum">
              <a:rPr lang="en-US">
                <a:solidFill>
                  <a:srgbClr val="000000"/>
                </a:solidFill>
              </a:rPr>
            </a:fld>
            <a:endParaRPr lang="en-US">
              <a:solidFill>
                <a:srgbClr val="000000"/>
              </a:solidFill>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B193DA4-9366-4EAE-AD5A-D8B12FF5D133}" type="slidenum">
              <a:rPr lang="en-US">
                <a:solidFill>
                  <a:srgbClr val="000000"/>
                </a:solidFill>
              </a:rPr>
            </a:fld>
            <a:endParaRPr lang="en-US">
              <a:solidFill>
                <a:srgbClr val="000000"/>
              </a:solidFill>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3A46567-F3A6-43CB-BBE5-5C0645628C06}" type="slidenum">
              <a:rPr lang="en-US">
                <a:solidFill>
                  <a:srgbClr val="000000"/>
                </a:solidFill>
              </a:rPr>
            </a:fld>
            <a:endParaRPr lang="en-US">
              <a:solidFill>
                <a:srgbClr val="000000"/>
              </a:solidFill>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8" y="332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71B093F-3B46-4C07-9B93-5F10B1776EFD}" type="slidenum">
              <a:rPr lang="en-US" altLang="zh-CN"/>
            </a:fld>
            <a:endParaRPr lang="en-US" altLang="zh-CN"/>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8" y="332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71B093F-3B46-4C07-9B93-5F10B1776EFD}" type="slidenum">
              <a:rPr lang="en-US" altLang="zh-CN"/>
            </a:fld>
            <a:endParaRPr lang="en-US" altLang="zh-CN"/>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6888196A-7560-4178-BB69-CC3867A85450}" type="slidenum">
              <a:rPr lang="en-US" altLang="zh-CN"/>
            </a:fld>
            <a:endParaRPr lang="en-US" altLang="zh-CN"/>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2"/>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9"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CBE1EBF7-FE12-4B89-8586-F4E52C264025}" type="slidenum">
              <a:rPr lang="en-US" altLang="zh-CN"/>
            </a:fld>
            <a:endParaRPr lang="en-US" altLang="zh-CN"/>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2CC68245-5043-4B24-85EC-D9AFFCA1BCBB}" type="slidenum">
              <a:rPr lang="en-US" altLang="zh-CN"/>
            </a:fld>
            <a:endParaRPr lang="en-US" altLang="zh-CN"/>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A8ED3BD2-B39C-4C75-9526-1277DD178486}" type="slidenum">
              <a:rPr lang="en-US" altLang="zh-CN"/>
            </a:fld>
            <a:endParaRPr lang="en-US" altLang="zh-CN"/>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3DD5F77-6B4F-441F-BDED-30D46CC55341}" type="slidenum">
              <a:rPr lang="en-US" altLang="zh-CN"/>
            </a:fld>
            <a:endParaRPr lang="en-US" altLang="zh-CN"/>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5FB1D41B-E7E8-469E-90F5-A34DB38AB0BB}" type="slidenum">
              <a:rPr lang="en-US" altLang="zh-CN"/>
            </a:fld>
            <a:endParaRPr lang="en-US" altLang="zh-CN"/>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8" y="843"/>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80" y="333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90190E12-18AC-41F4-8F16-2134E7BCBEC4}" type="slidenum">
              <a:rPr lang="en-US" altLang="zh-CN"/>
            </a:fld>
            <a:endParaRPr lang="en-US" altLang="zh-CN"/>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buFontTx/>
                  <a:buNone/>
                  <a:defRPr/>
                </a:pPr>
                <a:endParaRPr kumimoji="1"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auto">
                <a:xfrm>
                  <a:off x="0" y="19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19" name="Line 7"/>
                <p:cNvSpPr>
                  <a:spLocks noChangeShapeType="1"/>
                </p:cNvSpPr>
                <p:nvPr/>
              </p:nvSpPr>
              <p:spPr bwMode="auto">
                <a:xfrm>
                  <a:off x="0" y="38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0" name="Line 8"/>
                <p:cNvSpPr>
                  <a:spLocks noChangeShapeType="1"/>
                </p:cNvSpPr>
                <p:nvPr/>
              </p:nvSpPr>
              <p:spPr bwMode="auto">
                <a:xfrm>
                  <a:off x="0" y="57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1" name="Line 9"/>
                <p:cNvSpPr>
                  <a:spLocks noChangeShapeType="1"/>
                </p:cNvSpPr>
                <p:nvPr/>
              </p:nvSpPr>
              <p:spPr bwMode="auto">
                <a:xfrm>
                  <a:off x="0" y="76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2" name="Line 10"/>
                <p:cNvSpPr>
                  <a:spLocks noChangeShapeType="1"/>
                </p:cNvSpPr>
                <p:nvPr/>
              </p:nvSpPr>
              <p:spPr bwMode="auto">
                <a:xfrm>
                  <a:off x="0" y="96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3" name="Line 11"/>
                <p:cNvSpPr>
                  <a:spLocks noChangeShapeType="1"/>
                </p:cNvSpPr>
                <p:nvPr/>
              </p:nvSpPr>
              <p:spPr bwMode="auto">
                <a:xfrm>
                  <a:off x="0" y="115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4" name="Line 12"/>
                <p:cNvSpPr>
                  <a:spLocks noChangeShapeType="1"/>
                </p:cNvSpPr>
                <p:nvPr/>
              </p:nvSpPr>
              <p:spPr bwMode="auto">
                <a:xfrm>
                  <a:off x="0" y="134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5" name="Line 13"/>
                <p:cNvSpPr>
                  <a:spLocks noChangeShapeType="1"/>
                </p:cNvSpPr>
                <p:nvPr/>
              </p:nvSpPr>
              <p:spPr bwMode="auto">
                <a:xfrm>
                  <a:off x="0" y="153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6" name="Line 14"/>
                <p:cNvSpPr>
                  <a:spLocks noChangeShapeType="1"/>
                </p:cNvSpPr>
                <p:nvPr/>
              </p:nvSpPr>
              <p:spPr bwMode="auto">
                <a:xfrm>
                  <a:off x="0" y="172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7" name="Line 15"/>
                <p:cNvSpPr>
                  <a:spLocks noChangeShapeType="1"/>
                </p:cNvSpPr>
                <p:nvPr/>
              </p:nvSpPr>
              <p:spPr bwMode="auto">
                <a:xfrm>
                  <a:off x="0" y="192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8" name="Line 16"/>
                <p:cNvSpPr>
                  <a:spLocks noChangeShapeType="1"/>
                </p:cNvSpPr>
                <p:nvPr/>
              </p:nvSpPr>
              <p:spPr bwMode="auto">
                <a:xfrm>
                  <a:off x="0" y="211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29" name="Line 17"/>
                <p:cNvSpPr>
                  <a:spLocks noChangeShapeType="1"/>
                </p:cNvSpPr>
                <p:nvPr/>
              </p:nvSpPr>
              <p:spPr bwMode="auto">
                <a:xfrm>
                  <a:off x="0" y="230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0" name="Line 18"/>
                <p:cNvSpPr>
                  <a:spLocks noChangeShapeType="1"/>
                </p:cNvSpPr>
                <p:nvPr/>
              </p:nvSpPr>
              <p:spPr bwMode="auto">
                <a:xfrm>
                  <a:off x="0" y="249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1" name="Line 19"/>
                <p:cNvSpPr>
                  <a:spLocks noChangeShapeType="1"/>
                </p:cNvSpPr>
                <p:nvPr/>
              </p:nvSpPr>
              <p:spPr bwMode="auto">
                <a:xfrm>
                  <a:off x="0" y="268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2" name="Line 20"/>
                <p:cNvSpPr>
                  <a:spLocks noChangeShapeType="1"/>
                </p:cNvSpPr>
                <p:nvPr/>
              </p:nvSpPr>
              <p:spPr bwMode="auto">
                <a:xfrm>
                  <a:off x="0" y="288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3" name="Line 21"/>
                <p:cNvSpPr>
                  <a:spLocks noChangeShapeType="1"/>
                </p:cNvSpPr>
                <p:nvPr/>
              </p:nvSpPr>
              <p:spPr bwMode="auto">
                <a:xfrm>
                  <a:off x="0" y="307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4" name="Line 22"/>
                <p:cNvSpPr>
                  <a:spLocks noChangeShapeType="1"/>
                </p:cNvSpPr>
                <p:nvPr/>
              </p:nvSpPr>
              <p:spPr bwMode="auto">
                <a:xfrm>
                  <a:off x="0" y="326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5" name="Line 23"/>
                <p:cNvSpPr>
                  <a:spLocks noChangeShapeType="1"/>
                </p:cNvSpPr>
                <p:nvPr/>
              </p:nvSpPr>
              <p:spPr bwMode="auto">
                <a:xfrm>
                  <a:off x="0" y="3456"/>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6" name="Line 24"/>
                <p:cNvSpPr>
                  <a:spLocks noChangeShapeType="1"/>
                </p:cNvSpPr>
                <p:nvPr/>
              </p:nvSpPr>
              <p:spPr bwMode="auto">
                <a:xfrm>
                  <a:off x="0" y="3648"/>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7" name="Line 25"/>
                <p:cNvSpPr>
                  <a:spLocks noChangeShapeType="1"/>
                </p:cNvSpPr>
                <p:nvPr/>
              </p:nvSpPr>
              <p:spPr bwMode="auto">
                <a:xfrm>
                  <a:off x="0" y="3840"/>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8" name="Line 26"/>
                <p:cNvSpPr>
                  <a:spLocks noChangeShapeType="1"/>
                </p:cNvSpPr>
                <p:nvPr/>
              </p:nvSpPr>
              <p:spPr bwMode="auto">
                <a:xfrm>
                  <a:off x="0" y="4032"/>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39" name="Line 27"/>
                <p:cNvSpPr>
                  <a:spLocks noChangeShapeType="1"/>
                </p:cNvSpPr>
                <p:nvPr/>
              </p:nvSpPr>
              <p:spPr bwMode="auto">
                <a:xfrm>
                  <a:off x="0" y="4224"/>
                  <a:ext cx="5760" cy="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0" name="Line 28"/>
                <p:cNvSpPr>
                  <a:spLocks noChangeShapeType="1"/>
                </p:cNvSpPr>
                <p:nvPr/>
              </p:nvSpPr>
              <p:spPr bwMode="auto">
                <a:xfrm>
                  <a:off x="1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1" name="Line 29"/>
                <p:cNvSpPr>
                  <a:spLocks noChangeShapeType="1"/>
                </p:cNvSpPr>
                <p:nvPr/>
              </p:nvSpPr>
              <p:spPr bwMode="auto">
                <a:xfrm>
                  <a:off x="3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2" name="Line 30"/>
                <p:cNvSpPr>
                  <a:spLocks noChangeShapeType="1"/>
                </p:cNvSpPr>
                <p:nvPr/>
              </p:nvSpPr>
              <p:spPr bwMode="auto">
                <a:xfrm>
                  <a:off x="5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3" name="Line 31"/>
                <p:cNvSpPr>
                  <a:spLocks noChangeShapeType="1"/>
                </p:cNvSpPr>
                <p:nvPr/>
              </p:nvSpPr>
              <p:spPr bwMode="auto">
                <a:xfrm>
                  <a:off x="7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4" name="Line 32"/>
                <p:cNvSpPr>
                  <a:spLocks noChangeShapeType="1"/>
                </p:cNvSpPr>
                <p:nvPr/>
              </p:nvSpPr>
              <p:spPr bwMode="auto">
                <a:xfrm>
                  <a:off x="96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5" name="Line 33"/>
                <p:cNvSpPr>
                  <a:spLocks noChangeShapeType="1"/>
                </p:cNvSpPr>
                <p:nvPr/>
              </p:nvSpPr>
              <p:spPr bwMode="auto">
                <a:xfrm>
                  <a:off x="115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6" name="Line 34"/>
                <p:cNvSpPr>
                  <a:spLocks noChangeShapeType="1"/>
                </p:cNvSpPr>
                <p:nvPr/>
              </p:nvSpPr>
              <p:spPr bwMode="auto">
                <a:xfrm>
                  <a:off x="134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7" name="Line 35"/>
                <p:cNvSpPr>
                  <a:spLocks noChangeShapeType="1"/>
                </p:cNvSpPr>
                <p:nvPr/>
              </p:nvSpPr>
              <p:spPr bwMode="auto">
                <a:xfrm>
                  <a:off x="153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8" name="Line 36"/>
                <p:cNvSpPr>
                  <a:spLocks noChangeShapeType="1"/>
                </p:cNvSpPr>
                <p:nvPr/>
              </p:nvSpPr>
              <p:spPr bwMode="auto">
                <a:xfrm>
                  <a:off x="172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49" name="Line 37"/>
                <p:cNvSpPr>
                  <a:spLocks noChangeShapeType="1"/>
                </p:cNvSpPr>
                <p:nvPr/>
              </p:nvSpPr>
              <p:spPr bwMode="auto">
                <a:xfrm>
                  <a:off x="192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0" name="Line 38"/>
                <p:cNvSpPr>
                  <a:spLocks noChangeShapeType="1"/>
                </p:cNvSpPr>
                <p:nvPr/>
              </p:nvSpPr>
              <p:spPr bwMode="auto">
                <a:xfrm>
                  <a:off x="211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1" name="Line 39"/>
                <p:cNvSpPr>
                  <a:spLocks noChangeShapeType="1"/>
                </p:cNvSpPr>
                <p:nvPr/>
              </p:nvSpPr>
              <p:spPr bwMode="auto">
                <a:xfrm>
                  <a:off x="230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2" name="Line 40"/>
                <p:cNvSpPr>
                  <a:spLocks noChangeShapeType="1"/>
                </p:cNvSpPr>
                <p:nvPr/>
              </p:nvSpPr>
              <p:spPr bwMode="auto">
                <a:xfrm>
                  <a:off x="249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3" name="Line 41"/>
                <p:cNvSpPr>
                  <a:spLocks noChangeShapeType="1"/>
                </p:cNvSpPr>
                <p:nvPr/>
              </p:nvSpPr>
              <p:spPr bwMode="auto">
                <a:xfrm>
                  <a:off x="268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4" name="Line 42"/>
                <p:cNvSpPr>
                  <a:spLocks noChangeShapeType="1"/>
                </p:cNvSpPr>
                <p:nvPr/>
              </p:nvSpPr>
              <p:spPr bwMode="auto">
                <a:xfrm>
                  <a:off x="288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5" name="Line 43"/>
                <p:cNvSpPr>
                  <a:spLocks noChangeShapeType="1"/>
                </p:cNvSpPr>
                <p:nvPr/>
              </p:nvSpPr>
              <p:spPr bwMode="auto">
                <a:xfrm>
                  <a:off x="307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6" name="Line 44"/>
                <p:cNvSpPr>
                  <a:spLocks noChangeShapeType="1"/>
                </p:cNvSpPr>
                <p:nvPr/>
              </p:nvSpPr>
              <p:spPr bwMode="auto">
                <a:xfrm>
                  <a:off x="326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7" name="Line 45"/>
                <p:cNvSpPr>
                  <a:spLocks noChangeShapeType="1"/>
                </p:cNvSpPr>
                <p:nvPr/>
              </p:nvSpPr>
              <p:spPr bwMode="auto">
                <a:xfrm>
                  <a:off x="345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8" name="Line 46"/>
                <p:cNvSpPr>
                  <a:spLocks noChangeShapeType="1"/>
                </p:cNvSpPr>
                <p:nvPr/>
              </p:nvSpPr>
              <p:spPr bwMode="auto">
                <a:xfrm>
                  <a:off x="364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59" name="Line 47"/>
                <p:cNvSpPr>
                  <a:spLocks noChangeShapeType="1"/>
                </p:cNvSpPr>
                <p:nvPr/>
              </p:nvSpPr>
              <p:spPr bwMode="auto">
                <a:xfrm>
                  <a:off x="384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0" name="Line 48"/>
                <p:cNvSpPr>
                  <a:spLocks noChangeShapeType="1"/>
                </p:cNvSpPr>
                <p:nvPr/>
              </p:nvSpPr>
              <p:spPr bwMode="auto">
                <a:xfrm>
                  <a:off x="403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1" name="Line 49"/>
                <p:cNvSpPr>
                  <a:spLocks noChangeShapeType="1"/>
                </p:cNvSpPr>
                <p:nvPr/>
              </p:nvSpPr>
              <p:spPr bwMode="auto">
                <a:xfrm>
                  <a:off x="422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2" name="Line 50"/>
                <p:cNvSpPr>
                  <a:spLocks noChangeShapeType="1"/>
                </p:cNvSpPr>
                <p:nvPr/>
              </p:nvSpPr>
              <p:spPr bwMode="auto">
                <a:xfrm>
                  <a:off x="441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3" name="Line 51"/>
                <p:cNvSpPr>
                  <a:spLocks noChangeShapeType="1"/>
                </p:cNvSpPr>
                <p:nvPr/>
              </p:nvSpPr>
              <p:spPr bwMode="auto">
                <a:xfrm>
                  <a:off x="460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4" name="Line 52"/>
                <p:cNvSpPr>
                  <a:spLocks noChangeShapeType="1"/>
                </p:cNvSpPr>
                <p:nvPr/>
              </p:nvSpPr>
              <p:spPr bwMode="auto">
                <a:xfrm>
                  <a:off x="4800"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5" name="Line 53"/>
                <p:cNvSpPr>
                  <a:spLocks noChangeShapeType="1"/>
                </p:cNvSpPr>
                <p:nvPr/>
              </p:nvSpPr>
              <p:spPr bwMode="auto">
                <a:xfrm>
                  <a:off x="4992"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6" name="Line 54"/>
                <p:cNvSpPr>
                  <a:spLocks noChangeShapeType="1"/>
                </p:cNvSpPr>
                <p:nvPr/>
              </p:nvSpPr>
              <p:spPr bwMode="auto">
                <a:xfrm>
                  <a:off x="5184"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7" name="Line 55"/>
                <p:cNvSpPr>
                  <a:spLocks noChangeShapeType="1"/>
                </p:cNvSpPr>
                <p:nvPr/>
              </p:nvSpPr>
              <p:spPr bwMode="auto">
                <a:xfrm>
                  <a:off x="5376"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sp>
              <p:nvSpPr>
                <p:cNvPr id="68" name="Line 56"/>
                <p:cNvSpPr>
                  <a:spLocks noChangeShapeType="1"/>
                </p:cNvSpPr>
                <p:nvPr/>
              </p:nvSpPr>
              <p:spPr bwMode="auto">
                <a:xfrm>
                  <a:off x="5568" y="0"/>
                  <a:ext cx="0" cy="4320"/>
                </a:xfrm>
                <a:prstGeom prst="line">
                  <a:avLst/>
                </a:prstGeom>
                <a:noFill/>
                <a:ln w="9525">
                  <a:pattFill prst="pct30">
                    <a:fgClr>
                      <a:schemeClr val="folHlink"/>
                    </a:fgClr>
                    <a:bgClr>
                      <a:schemeClr val="bg1"/>
                    </a:bgClr>
                  </a:pattFill>
                  <a:round/>
                </a:ln>
              </p:spPr>
              <p:txBody>
                <a:bodyP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buFontTx/>
                  <a:buNone/>
                  <a:defRPr/>
                </a:pPr>
                <a:endParaRPr kumimoji="1"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4" name="Arc 62"/>
              <p:cNvSpPr/>
              <p:nvPr/>
            </p:nvSpPr>
            <p:spPr bwMode="ltGray">
              <a:xfrm rot="16200000" flipH="1">
                <a:off x="406" y="841"/>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buFontTx/>
                  <a:buNone/>
                  <a:defRPr/>
                </a:pPr>
                <a:endParaRPr kumimoji="1" lang="zh-CN" altLang="en-US"/>
              </a:p>
            </p:txBody>
          </p:sp>
          <p:sp>
            <p:nvSpPr>
              <p:cNvPr id="10" name="Arc 66"/>
              <p:cNvSpPr/>
              <p:nvPr/>
            </p:nvSpPr>
            <p:spPr bwMode="ltGray">
              <a:xfrm rot="5400000">
                <a:off x="5078" y="3329"/>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buFontTx/>
                  <a:buNone/>
                  <a:defRPr/>
                </a:pPr>
                <a:endParaRPr kumimoji="1"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sz="1400">
                <a:ea typeface="宋体" panose="02010600030101010101" pitchFamily="2" charset="-122"/>
              </a:defRPr>
            </a:lvl1pPr>
          </a:lstStyle>
          <a:p>
            <a:fld id="{071B093F-3B46-4C07-9B93-5F10B1776EFD}" type="slidenum">
              <a:rPr lang="en-US" altLang="zh-CN"/>
            </a:fld>
            <a:endParaRPr lang="en-US" altLang="zh-CN"/>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3" Type="http://schemas.openxmlformats.org/officeDocument/2006/relationships/theme" Target="../theme/theme6.xml"/><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3" Type="http://schemas.openxmlformats.org/officeDocument/2006/relationships/theme" Target="../theme/theme7.xml"/><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3" Type="http://schemas.openxmlformats.org/officeDocument/2006/relationships/theme" Target="../theme/theme8.xml"/><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3" Type="http://schemas.openxmlformats.org/officeDocument/2006/relationships/theme" Target="../theme/theme9.xml"/><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3" Type="http://schemas.openxmlformats.org/officeDocument/2006/relationships/theme" Target="../theme/theme10.xml"/><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3" Type="http://schemas.openxmlformats.org/officeDocument/2006/relationships/theme" Target="../theme/theme11.xml"/><Relationship Id="rId12" Type="http://schemas.openxmlformats.org/officeDocument/2006/relationships/image" Target="../media/image1.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3" Type="http://schemas.openxmlformats.org/officeDocument/2006/relationships/theme" Target="../theme/theme12.xml"/><Relationship Id="rId12" Type="http://schemas.openxmlformats.org/officeDocument/2006/relationships/image" Target="../media/image1.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3" Type="http://schemas.openxmlformats.org/officeDocument/2006/relationships/theme" Target="../theme/theme13.xml"/><Relationship Id="rId12" Type="http://schemas.openxmlformats.org/officeDocument/2006/relationships/image" Target="../media/image1.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3" Type="http://schemas.openxmlformats.org/officeDocument/2006/relationships/theme" Target="../theme/theme14.xml"/><Relationship Id="rId12" Type="http://schemas.openxmlformats.org/officeDocument/2006/relationships/image" Target="../media/image1.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3" Type="http://schemas.openxmlformats.org/officeDocument/2006/relationships/theme" Target="../theme/theme15.xml"/><Relationship Id="rId12" Type="http://schemas.openxmlformats.org/officeDocument/2006/relationships/image" Target="../media/image1.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3" Type="http://schemas.openxmlformats.org/officeDocument/2006/relationships/theme" Target="../theme/theme16.xml"/><Relationship Id="rId12" Type="http://schemas.openxmlformats.org/officeDocument/2006/relationships/image" Target="../media/image1.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3" Type="http://schemas.openxmlformats.org/officeDocument/2006/relationships/theme" Target="../theme/theme17.xml"/><Relationship Id="rId12" Type="http://schemas.openxmlformats.org/officeDocument/2006/relationships/image" Target="../media/image1.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3" Type="http://schemas.openxmlformats.org/officeDocument/2006/relationships/theme" Target="../theme/theme18.xml"/><Relationship Id="rId12" Type="http://schemas.openxmlformats.org/officeDocument/2006/relationships/image" Target="../media/image1.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3" Type="http://schemas.openxmlformats.org/officeDocument/2006/relationships/theme" Target="../theme/theme19.xml"/><Relationship Id="rId12" Type="http://schemas.openxmlformats.org/officeDocument/2006/relationships/image" Target="../media/image1.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3" Type="http://schemas.openxmlformats.org/officeDocument/2006/relationships/theme" Target="../theme/theme20.xml"/><Relationship Id="rId12" Type="http://schemas.openxmlformats.org/officeDocument/2006/relationships/image" Target="../media/image1.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3" Type="http://schemas.openxmlformats.org/officeDocument/2006/relationships/theme" Target="../theme/theme21.xml"/><Relationship Id="rId12" Type="http://schemas.openxmlformats.org/officeDocument/2006/relationships/image" Target="../media/image1.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3" Type="http://schemas.openxmlformats.org/officeDocument/2006/relationships/theme" Target="../theme/theme22.xml"/><Relationship Id="rId12" Type="http://schemas.openxmlformats.org/officeDocument/2006/relationships/image" Target="../media/image1.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2" Type="http://schemas.openxmlformats.org/officeDocument/2006/relationships/theme" Target="../theme/theme23.xml"/><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3" Type="http://schemas.openxmlformats.org/officeDocument/2006/relationships/theme" Target="../theme/theme24.xml"/><Relationship Id="rId12" Type="http://schemas.openxmlformats.org/officeDocument/2006/relationships/image" Target="../media/image1.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3" Type="http://schemas.openxmlformats.org/officeDocument/2006/relationships/theme" Target="../theme/theme25.xml"/><Relationship Id="rId12" Type="http://schemas.openxmlformats.org/officeDocument/2006/relationships/image" Target="../media/image1.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3" Type="http://schemas.openxmlformats.org/officeDocument/2006/relationships/theme" Target="../theme/theme26.xml"/><Relationship Id="rId12" Type="http://schemas.openxmlformats.org/officeDocument/2006/relationships/image" Target="../media/image1.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3" Type="http://schemas.openxmlformats.org/officeDocument/2006/relationships/theme" Target="../theme/theme27.xml"/><Relationship Id="rId12" Type="http://schemas.openxmlformats.org/officeDocument/2006/relationships/image" Target="../media/image1.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3" Type="http://schemas.openxmlformats.org/officeDocument/2006/relationships/theme" Target="../theme/theme28.xml"/><Relationship Id="rId12" Type="http://schemas.openxmlformats.org/officeDocument/2006/relationships/image" Target="../media/image1.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3" Type="http://schemas.openxmlformats.org/officeDocument/2006/relationships/theme" Target="../theme/theme29.xml"/><Relationship Id="rId12" Type="http://schemas.openxmlformats.org/officeDocument/2006/relationships/image" Target="../media/image1.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3" Type="http://schemas.openxmlformats.org/officeDocument/2006/relationships/theme" Target="../theme/theme30.xml"/><Relationship Id="rId12" Type="http://schemas.openxmlformats.org/officeDocument/2006/relationships/image" Target="../media/image1.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3" Type="http://schemas.openxmlformats.org/officeDocument/2006/relationships/theme" Target="../theme/theme31.xml"/><Relationship Id="rId12" Type="http://schemas.openxmlformats.org/officeDocument/2006/relationships/image" Target="../media/image1.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3" Type="http://schemas.openxmlformats.org/officeDocument/2006/relationships/theme" Target="../theme/theme32.xml"/><Relationship Id="rId12" Type="http://schemas.openxmlformats.org/officeDocument/2006/relationships/image" Target="../media/image1.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3" Type="http://schemas.openxmlformats.org/officeDocument/2006/relationships/theme" Target="../theme/theme33.xml"/><Relationship Id="rId12" Type="http://schemas.openxmlformats.org/officeDocument/2006/relationships/image" Target="../media/image1.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43"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9F65B8B-BE66-4FB6-99D1-BD9B2C1DD5BD}"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fld id="{1808FCBE-71C3-4868-90D4-2A90B019F20B}"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smtClean="0"/>
              <a:t>单击以编辑母版标题样式</a:t>
            </a:r>
            <a:endParaRPr lang="zh-CN"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smtClean="0"/>
              <a:t>单击以编辑母版文本样式</a:t>
            </a:r>
            <a:endParaRPr lang="zh-CN" smtClean="0"/>
          </a:p>
          <a:p>
            <a:pPr lvl="1"/>
            <a:r>
              <a:rPr lang="zh-CN" smtClean="0"/>
              <a:t>第二级</a:t>
            </a:r>
            <a:endParaRPr lang="zh-CN" smtClean="0"/>
          </a:p>
          <a:p>
            <a:pPr lvl="2"/>
            <a:r>
              <a:rPr lang="zh-CN" smtClean="0"/>
              <a:t>第三级</a:t>
            </a:r>
            <a:endParaRPr lang="zh-CN" smtClean="0"/>
          </a:p>
          <a:p>
            <a:pPr lvl="3"/>
            <a:r>
              <a:rPr lang="zh-CN" smtClean="0"/>
              <a:t>第四级</a:t>
            </a:r>
            <a:endParaRPr lang="zh-CN" smtClean="0"/>
          </a:p>
          <a:p>
            <a:pPr lvl="4"/>
            <a:r>
              <a:rPr lang="zh-CN" smtClean="0"/>
              <a:t>第五级</a:t>
            </a:r>
            <a:endParaRPr lang="zh-CN"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spcBef>
                <a:spcPct val="50000"/>
              </a:spcBef>
              <a:defRPr sz="1400"/>
            </a:lvl1pPr>
          </a:lstStyle>
          <a:p>
            <a:pPr>
              <a:buFontTx/>
              <a:buNone/>
            </a:pPr>
            <a:endParaRPr lang="en-US">
              <a:solidFill>
                <a:srgbClr val="000000"/>
              </a:solidFill>
              <a:latin typeface="Times New Roman" panose="02020603050405020304" pitchFamily="18" charset="0"/>
              <a:ea typeface="宋体" panose="02010600030101010101" pitchFamily="2" charset="-122"/>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defRPr sz="1400"/>
            </a:lvl1pPr>
          </a:lstStyle>
          <a:p>
            <a:pPr>
              <a:buFontTx/>
              <a:buNone/>
            </a:pPr>
            <a:endParaRPr lang="en-US">
              <a:solidFill>
                <a:srgbClr val="000000"/>
              </a:solidFill>
              <a:latin typeface="Times New Roman" panose="02020603050405020304" pitchFamily="18" charset="0"/>
              <a:ea typeface="宋体" panose="02010600030101010101" pitchFamily="2" charset="-122"/>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spcBef>
                <a:spcPct val="50000"/>
              </a:spcBef>
              <a:defRPr sz="1400"/>
            </a:lvl1pPr>
          </a:lstStyle>
          <a:p>
            <a:pPr>
              <a:buFontTx/>
              <a:buNone/>
            </a:pPr>
            <a:fld id="{208121C6-B431-4469-8786-39AED7979B58}" type="slidenum">
              <a:rPr lang="en-US">
                <a:solidFill>
                  <a:srgbClr val="000000"/>
                </a:solidFill>
                <a:latin typeface="Times New Roman" panose="02020603050405020304" pitchFamily="18" charset="0"/>
                <a:ea typeface="宋体" panose="02010600030101010101" pitchFamily="2" charset="-122"/>
              </a:rPr>
            </a:fld>
            <a:endParaRPr lang="en-US">
              <a:solidFill>
                <a:srgbClr val="000000"/>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slideLayout" Target="../slideLayouts/slideLayout24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3.pn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0" Type="http://schemas.openxmlformats.org/officeDocument/2006/relationships/slideLayout" Target="../slideLayouts/slideLayout271.xml"/><Relationship Id="rId2" Type="http://schemas.openxmlformats.org/officeDocument/2006/relationships/tags" Target="../tags/tag20.xml"/><Relationship Id="rId19" Type="http://schemas.openxmlformats.org/officeDocument/2006/relationships/tags" Target="../tags/tag36.xml"/><Relationship Id="rId18" Type="http://schemas.openxmlformats.org/officeDocument/2006/relationships/image" Target="../media/image3.png"/><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0" Type="http://schemas.openxmlformats.org/officeDocument/2006/relationships/slideLayout" Target="../slideLayouts/slideLayout260.xml"/><Relationship Id="rId2" Type="http://schemas.openxmlformats.org/officeDocument/2006/relationships/tags" Target="../tags/tag38.xml"/><Relationship Id="rId19" Type="http://schemas.openxmlformats.org/officeDocument/2006/relationships/tags" Target="../tags/tag54.xml"/><Relationship Id="rId18" Type="http://schemas.openxmlformats.org/officeDocument/2006/relationships/image" Target="../media/image3.png"/><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0" Type="http://schemas.openxmlformats.org/officeDocument/2006/relationships/slideLayout" Target="../slideLayouts/slideLayout260.xml"/><Relationship Id="rId2" Type="http://schemas.openxmlformats.org/officeDocument/2006/relationships/tags" Target="../tags/tag56.xml"/><Relationship Id="rId19" Type="http://schemas.openxmlformats.org/officeDocument/2006/relationships/tags" Target="../tags/tag72.xml"/><Relationship Id="rId18" Type="http://schemas.openxmlformats.org/officeDocument/2006/relationships/tags" Target="../tags/tag71.xml"/><Relationship Id="rId17" Type="http://schemas.openxmlformats.org/officeDocument/2006/relationships/image" Target="../media/image3.png"/><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6.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0" Type="http://schemas.openxmlformats.org/officeDocument/2006/relationships/slideLayout" Target="../slideLayouts/slideLayout249.xml"/><Relationship Id="rId2" Type="http://schemas.openxmlformats.org/officeDocument/2006/relationships/tags" Target="../tags/tag74.xml"/><Relationship Id="rId19" Type="http://schemas.openxmlformats.org/officeDocument/2006/relationships/tags" Target="../tags/tag90.xml"/><Relationship Id="rId18" Type="http://schemas.openxmlformats.org/officeDocument/2006/relationships/image" Target="../media/image3.png"/><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49.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49.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49.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slide" Target="slide24.xml"/><Relationship Id="rId8" Type="http://schemas.openxmlformats.org/officeDocument/2006/relationships/image" Target="../media/image2.png"/><Relationship Id="rId7" Type="http://schemas.openxmlformats.org/officeDocument/2006/relationships/slide" Target="slide1.xml"/><Relationship Id="rId6" Type="http://schemas.openxmlformats.org/officeDocument/2006/relationships/slide" Target="slide53.xml"/><Relationship Id="rId5" Type="http://schemas.openxmlformats.org/officeDocument/2006/relationships/slide" Target="slide37.xml"/><Relationship Id="rId4" Type="http://schemas.openxmlformats.org/officeDocument/2006/relationships/slide" Target="slide7.xml"/><Relationship Id="rId3" Type="http://schemas.openxmlformats.org/officeDocument/2006/relationships/slide" Target="slide25.xml"/><Relationship Id="rId2" Type="http://schemas.openxmlformats.org/officeDocument/2006/relationships/slide" Target="slide14.xml"/><Relationship Id="rId10" Type="http://schemas.openxmlformats.org/officeDocument/2006/relationships/slideLayout" Target="../slideLayouts/slideLayout260.xml"/><Relationship Id="rId1" Type="http://schemas.openxmlformats.org/officeDocument/2006/relationships/slide" Target="slide1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tags" Target="../tags/tag91.xml"/><Relationship Id="rId4" Type="http://schemas.openxmlformats.org/officeDocument/2006/relationships/hyperlink" Target="&#28378;&#23376;&#38142;&#20256;&#21160;.mp4" TargetMode="External"/><Relationship Id="rId3" Type="http://schemas.openxmlformats.org/officeDocument/2006/relationships/image" Target="../media/image14.png"/><Relationship Id="rId2" Type="http://schemas.microsoft.com/office/2007/relationships/media" Target="file:///D:\jxsj\AVI\&#28378;&#23376;&#38142;&#20256;&#21160;2.avi" TargetMode="External"/><Relationship Id="rId1" Type="http://schemas.openxmlformats.org/officeDocument/2006/relationships/video" Target="file:///D:\jxsj\AVI\&#28378;&#23376;&#38142;&#20256;&#21160;2.av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hyperlink" Target="&#40831;&#24418;&#38142;.tif" TargetMode="External"/><Relationship Id="rId2" Type="http://schemas.openxmlformats.org/officeDocument/2006/relationships/image" Target="../media/image16.png"/><Relationship Id="rId1" Type="http://schemas.openxmlformats.org/officeDocument/2006/relationships/hyperlink" Target="t5-11.tif" TargetMode="Externa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101.xml"/><Relationship Id="rId3" Type="http://schemas.openxmlformats.org/officeDocument/2006/relationships/image" Target="../media/image19.wmf"/><Relationship Id="rId2" Type="http://schemas.openxmlformats.org/officeDocument/2006/relationships/oleObject" Target="../embeddings/oleObject1.bin"/><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6.xml"/><Relationship Id="rId2" Type="http://schemas.openxmlformats.org/officeDocument/2006/relationships/image" Target="../media/image20.png"/><Relationship Id="rId1" Type="http://schemas.openxmlformats.org/officeDocument/2006/relationships/tags" Target="../tags/tag9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6.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01.xml"/><Relationship Id="rId7" Type="http://schemas.openxmlformats.org/officeDocument/2006/relationships/image" Target="../media/image25.png"/><Relationship Id="rId6" Type="http://schemas.openxmlformats.org/officeDocument/2006/relationships/oleObject" Target="../embeddings/oleObject4.bin"/><Relationship Id="rId5" Type="http://schemas.openxmlformats.org/officeDocument/2006/relationships/image" Target="../media/image24.png"/><Relationship Id="rId4" Type="http://schemas.openxmlformats.org/officeDocument/2006/relationships/oleObject" Target="../embeddings/oleObject3.bin"/><Relationship Id="rId3" Type="http://schemas.openxmlformats.org/officeDocument/2006/relationships/image" Target="../media/image23.png"/><Relationship Id="rId2" Type="http://schemas.openxmlformats.org/officeDocument/2006/relationships/oleObject" Target="../embeddings/oleObject2.bin"/><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slide" Target="slide55.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hyperlink" Target="&#21452;&#25490;&#38142;.tif" TargetMode="Externa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77.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46.xml"/><Relationship Id="rId6" Type="http://schemas.openxmlformats.org/officeDocument/2006/relationships/image" Target="../media/image31.png"/><Relationship Id="rId5" Type="http://schemas.openxmlformats.org/officeDocument/2006/relationships/slide" Target="slide56.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57.xml"/><Relationship Id="rId4" Type="http://schemas.openxmlformats.org/officeDocument/2006/relationships/image" Target="../media/image32.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88.xml"/><Relationship Id="rId4" Type="http://schemas.openxmlformats.org/officeDocument/2006/relationships/slide" Target="slide57.xml"/><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9" Type="http://schemas.openxmlformats.org/officeDocument/2006/relationships/image" Target="../media/image38.wmf"/><Relationship Id="rId8" Type="http://schemas.openxmlformats.org/officeDocument/2006/relationships/oleObject" Target="../embeddings/oleObject7.bin"/><Relationship Id="rId7" Type="http://schemas.openxmlformats.org/officeDocument/2006/relationships/image" Target="../media/image37.wmf"/><Relationship Id="rId6" Type="http://schemas.openxmlformats.org/officeDocument/2006/relationships/oleObject" Target="../embeddings/oleObject6.bin"/><Relationship Id="rId5" Type="http://schemas.openxmlformats.org/officeDocument/2006/relationships/image" Target="../media/image36.wmf"/><Relationship Id="rId4" Type="http://schemas.openxmlformats.org/officeDocument/2006/relationships/oleObject" Target="../embeddings/oleObject5.bin"/><Relationship Id="rId3" Type="http://schemas.openxmlformats.org/officeDocument/2006/relationships/image" Target="../media/image30.png"/><Relationship Id="rId2" Type="http://schemas.openxmlformats.org/officeDocument/2006/relationships/image" Target="../media/image12.png"/><Relationship Id="rId14" Type="http://schemas.openxmlformats.org/officeDocument/2006/relationships/notesSlide" Target="../notesSlides/notesSlide3.xml"/><Relationship Id="rId13" Type="http://schemas.openxmlformats.org/officeDocument/2006/relationships/vmlDrawing" Target="../drawings/vmlDrawing3.vml"/><Relationship Id="rId12" Type="http://schemas.openxmlformats.org/officeDocument/2006/relationships/slideLayout" Target="../slideLayouts/slideLayout2.xml"/><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10.bin"/><Relationship Id="rId7" Type="http://schemas.openxmlformats.org/officeDocument/2006/relationships/image" Target="../media/image41.wmf"/><Relationship Id="rId6" Type="http://schemas.openxmlformats.org/officeDocument/2006/relationships/oleObject" Target="../embeddings/oleObject9.bin"/><Relationship Id="rId5" Type="http://schemas.openxmlformats.org/officeDocument/2006/relationships/image" Target="../media/image38.wmf"/><Relationship Id="rId4" Type="http://schemas.openxmlformats.org/officeDocument/2006/relationships/oleObject" Target="../embeddings/oleObject8.bin"/><Relationship Id="rId3" Type="http://schemas.openxmlformats.org/officeDocument/2006/relationships/image" Target="../media/image30.png"/><Relationship Id="rId2" Type="http://schemas.openxmlformats.org/officeDocument/2006/relationships/image" Target="../media/image12.png"/><Relationship Id="rId17" Type="http://schemas.openxmlformats.org/officeDocument/2006/relationships/notesSlide" Target="../notesSlides/notesSlide4.xml"/><Relationship Id="rId16" Type="http://schemas.openxmlformats.org/officeDocument/2006/relationships/vmlDrawing" Target="../drawings/vmlDrawing4.vml"/><Relationship Id="rId15" Type="http://schemas.openxmlformats.org/officeDocument/2006/relationships/slideLayout" Target="../slideLayouts/slideLayout359.xml"/><Relationship Id="rId14" Type="http://schemas.openxmlformats.org/officeDocument/2006/relationships/image" Target="../media/image45.wmf"/><Relationship Id="rId13" Type="http://schemas.openxmlformats.org/officeDocument/2006/relationships/oleObject" Target="../embeddings/oleObject11.bin"/><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image" Target="../media/image39.png"/><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wmf"/><Relationship Id="rId7" Type="http://schemas.openxmlformats.org/officeDocument/2006/relationships/oleObject" Target="../embeddings/oleObject13.bin"/><Relationship Id="rId6" Type="http://schemas.openxmlformats.org/officeDocument/2006/relationships/image" Target="../media/image46.wmf"/><Relationship Id="rId5" Type="http://schemas.openxmlformats.org/officeDocument/2006/relationships/oleObject" Target="../embeddings/oleObject12.bin"/><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2" Type="http://schemas.openxmlformats.org/officeDocument/2006/relationships/notesSlide" Target="../notesSlides/notesSlide5.xml"/><Relationship Id="rId11" Type="http://schemas.openxmlformats.org/officeDocument/2006/relationships/vmlDrawing" Target="../drawings/vmlDrawing5.vml"/><Relationship Id="rId10" Type="http://schemas.openxmlformats.org/officeDocument/2006/relationships/slideLayout" Target="../slideLayouts/slideLayout112.xml"/><Relationship Id="rId1" Type="http://schemas.openxmlformats.org/officeDocument/2006/relationships/slide" Target="slide1.xml"/></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117.xml"/><Relationship Id="rId5" Type="http://schemas.openxmlformats.org/officeDocument/2006/relationships/image" Target="../media/image39.png"/><Relationship Id="rId4" Type="http://schemas.openxmlformats.org/officeDocument/2006/relationships/image" Target="../media/image50.wmf"/><Relationship Id="rId3" Type="http://schemas.openxmlformats.org/officeDocument/2006/relationships/oleObject" Target="../embeddings/oleObject15.bin"/><Relationship Id="rId2" Type="http://schemas.openxmlformats.org/officeDocument/2006/relationships/image" Target="../media/image49.wmf"/><Relationship Id="rId1" Type="http://schemas.openxmlformats.org/officeDocument/2006/relationships/oleObject" Target="../embeddings/oleObject14.bin"/></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123.xml"/><Relationship Id="rId7" Type="http://schemas.openxmlformats.org/officeDocument/2006/relationships/image" Target="../media/image54.wmf"/><Relationship Id="rId6" Type="http://schemas.openxmlformats.org/officeDocument/2006/relationships/oleObject" Target="../embeddings/oleObject18.bin"/><Relationship Id="rId5" Type="http://schemas.openxmlformats.org/officeDocument/2006/relationships/image" Target="../media/image53.png"/><Relationship Id="rId4" Type="http://schemas.openxmlformats.org/officeDocument/2006/relationships/image" Target="../media/image52.wmf"/><Relationship Id="rId3" Type="http://schemas.openxmlformats.org/officeDocument/2006/relationships/oleObject" Target="../embeddings/oleObject17.bin"/><Relationship Id="rId2" Type="http://schemas.openxmlformats.org/officeDocument/2006/relationships/image" Target="../media/image51.wmf"/><Relationship Id="rId10" Type="http://schemas.openxmlformats.org/officeDocument/2006/relationships/notesSlide" Target="../notesSlides/notesSlide6.xml"/><Relationship Id="rId1"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9" Type="http://schemas.openxmlformats.org/officeDocument/2006/relationships/image" Target="../media/image57.wmf"/><Relationship Id="rId8" Type="http://schemas.openxmlformats.org/officeDocument/2006/relationships/oleObject" Target="../embeddings/oleObject21.bin"/><Relationship Id="rId7" Type="http://schemas.openxmlformats.org/officeDocument/2006/relationships/image" Target="../media/image56.wmf"/><Relationship Id="rId6" Type="http://schemas.openxmlformats.org/officeDocument/2006/relationships/oleObject" Target="../embeddings/oleObject20.bin"/><Relationship Id="rId5" Type="http://schemas.openxmlformats.org/officeDocument/2006/relationships/image" Target="../media/image55.wmf"/><Relationship Id="rId4" Type="http://schemas.openxmlformats.org/officeDocument/2006/relationships/oleObject" Target="../embeddings/oleObject19.bin"/><Relationship Id="rId3" Type="http://schemas.openxmlformats.org/officeDocument/2006/relationships/image" Target="../media/image29.png"/><Relationship Id="rId2" Type="http://schemas.openxmlformats.org/officeDocument/2006/relationships/image" Target="../media/image12.png"/><Relationship Id="rId17" Type="http://schemas.openxmlformats.org/officeDocument/2006/relationships/notesSlide" Target="../notesSlides/notesSlide7.xml"/><Relationship Id="rId16" Type="http://schemas.openxmlformats.org/officeDocument/2006/relationships/vmlDrawing" Target="../drawings/vmlDrawing8.vml"/><Relationship Id="rId15" Type="http://schemas.openxmlformats.org/officeDocument/2006/relationships/slideLayout" Target="../slideLayouts/slideLayout68.xml"/><Relationship Id="rId14" Type="http://schemas.openxmlformats.org/officeDocument/2006/relationships/slide" Target="slide58.xml"/><Relationship Id="rId13" Type="http://schemas.openxmlformats.org/officeDocument/2006/relationships/image" Target="../media/image59.wmf"/><Relationship Id="rId12" Type="http://schemas.openxmlformats.org/officeDocument/2006/relationships/oleObject" Target="../embeddings/oleObject23.bin"/><Relationship Id="rId11" Type="http://schemas.openxmlformats.org/officeDocument/2006/relationships/image" Target="../media/image58.wmf"/><Relationship Id="rId10" Type="http://schemas.openxmlformats.org/officeDocument/2006/relationships/oleObject" Target="../embeddings/oleObject22.bin"/><Relationship Id="rId1" Type="http://schemas.openxmlformats.org/officeDocument/2006/relationships/slide" Target="slide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2.png"/><Relationship Id="rId3" Type="http://schemas.openxmlformats.org/officeDocument/2006/relationships/slide" Target="slide1.xml"/><Relationship Id="rId2" Type="http://schemas.openxmlformats.org/officeDocument/2006/relationships/image" Target="../media/image60.png"/><Relationship Id="rId1"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1.jpeg"/></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89.xml"/><Relationship Id="rId8" Type="http://schemas.openxmlformats.org/officeDocument/2006/relationships/slide" Target="slide61.xml"/><Relationship Id="rId7" Type="http://schemas.openxmlformats.org/officeDocument/2006/relationships/image" Target="../media/image62.wmf"/><Relationship Id="rId6" Type="http://schemas.openxmlformats.org/officeDocument/2006/relationships/oleObject" Target="../embeddings/oleObject24.bin"/><Relationship Id="rId5" Type="http://schemas.openxmlformats.org/officeDocument/2006/relationships/slide" Target="slide59.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0" Type="http://schemas.openxmlformats.org/officeDocument/2006/relationships/vmlDrawing" Target="../drawings/vmlDrawing9.vml"/><Relationship Id="rId1" Type="http://schemas.openxmlformats.org/officeDocument/2006/relationships/slide" Target="slide1.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78.xml"/><Relationship Id="rId2" Type="http://schemas.openxmlformats.org/officeDocument/2006/relationships/image" Target="../media/image30.png"/><Relationship Id="rId1" Type="http://schemas.openxmlformats.org/officeDocument/2006/relationships/slide" Target="slide1.xml"/></Relationships>
</file>

<file path=ppt/slides/_rels/slide42.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321.xml"/><Relationship Id="rId5" Type="http://schemas.openxmlformats.org/officeDocument/2006/relationships/image" Target="../media/image63.wmf"/><Relationship Id="rId4" Type="http://schemas.openxmlformats.org/officeDocument/2006/relationships/oleObject" Target="../embeddings/oleObject25.bin"/><Relationship Id="rId3" Type="http://schemas.openxmlformats.org/officeDocument/2006/relationships/slide" Target="slide43.xml"/><Relationship Id="rId2" Type="http://schemas.openxmlformats.org/officeDocument/2006/relationships/image" Target="../media/image30.png"/><Relationship Id="rId1" Type="http://schemas.openxmlformats.org/officeDocument/2006/relationships/slide" Target="slide44.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vmlDrawing" Target="../drawings/vmlDrawing11.vml"/><Relationship Id="rId6" Type="http://schemas.openxmlformats.org/officeDocument/2006/relationships/slideLayout" Target="../slideLayouts/slideLayout183.xml"/><Relationship Id="rId5" Type="http://schemas.openxmlformats.org/officeDocument/2006/relationships/image" Target="../media/image29.png"/><Relationship Id="rId4" Type="http://schemas.openxmlformats.org/officeDocument/2006/relationships/image" Target="../media/image65.wmf"/><Relationship Id="rId3" Type="http://schemas.openxmlformats.org/officeDocument/2006/relationships/oleObject" Target="../embeddings/oleObject27.bin"/><Relationship Id="rId2" Type="http://schemas.openxmlformats.org/officeDocument/2006/relationships/image" Target="../media/image64.wmf"/><Relationship Id="rId1" Type="http://schemas.openxmlformats.org/officeDocument/2006/relationships/oleObject" Target="../embeddings/oleObject26.bin"/></Relationships>
</file>

<file path=ppt/slides/_rels/slide44.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29.bin"/><Relationship Id="rId7" Type="http://schemas.openxmlformats.org/officeDocument/2006/relationships/image" Target="../media/image66.wmf"/><Relationship Id="rId6" Type="http://schemas.openxmlformats.org/officeDocument/2006/relationships/oleObject" Target="../embeddings/oleObject28.bin"/><Relationship Id="rId5" Type="http://schemas.openxmlformats.org/officeDocument/2006/relationships/image" Target="../media/image30.png"/><Relationship Id="rId4" Type="http://schemas.openxmlformats.org/officeDocument/2006/relationships/slide" Target="slide45.xml"/><Relationship Id="rId3" Type="http://schemas.openxmlformats.org/officeDocument/2006/relationships/image" Target="../media/image29.png"/><Relationship Id="rId2" Type="http://schemas.openxmlformats.org/officeDocument/2006/relationships/image" Target="../media/image12.png"/><Relationship Id="rId12" Type="http://schemas.openxmlformats.org/officeDocument/2006/relationships/vmlDrawing" Target="../drawings/vmlDrawing12.vml"/><Relationship Id="rId11" Type="http://schemas.openxmlformats.org/officeDocument/2006/relationships/slideLayout" Target="../slideLayouts/slideLayout332.xml"/><Relationship Id="rId10" Type="http://schemas.openxmlformats.org/officeDocument/2006/relationships/tags" Target="../tags/tag94.xml"/><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7.xml"/></Relationships>
</file>

<file path=ppt/slides/_rels/slide46.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3" Type="http://schemas.openxmlformats.org/officeDocument/2006/relationships/slideLayout" Target="../slideLayouts/slideLayout233.xml"/><Relationship Id="rId72" Type="http://schemas.openxmlformats.org/officeDocument/2006/relationships/slide" Target="slide62.xml"/><Relationship Id="rId71" Type="http://schemas.openxmlformats.org/officeDocument/2006/relationships/tags" Target="../tags/tag162.xml"/><Relationship Id="rId70" Type="http://schemas.openxmlformats.org/officeDocument/2006/relationships/tags" Target="../tags/tag161.xml"/><Relationship Id="rId7" Type="http://schemas.openxmlformats.org/officeDocument/2006/relationships/tags" Target="../tags/tag98.xml"/><Relationship Id="rId69" Type="http://schemas.openxmlformats.org/officeDocument/2006/relationships/tags" Target="../tags/tag160.xml"/><Relationship Id="rId68" Type="http://schemas.openxmlformats.org/officeDocument/2006/relationships/tags" Target="../tags/tag159.xml"/><Relationship Id="rId67" Type="http://schemas.openxmlformats.org/officeDocument/2006/relationships/tags" Target="../tags/tag158.xml"/><Relationship Id="rId66" Type="http://schemas.openxmlformats.org/officeDocument/2006/relationships/tags" Target="../tags/tag157.xml"/><Relationship Id="rId65" Type="http://schemas.openxmlformats.org/officeDocument/2006/relationships/tags" Target="../tags/tag156.xml"/><Relationship Id="rId64" Type="http://schemas.openxmlformats.org/officeDocument/2006/relationships/tags" Target="../tags/tag155.xml"/><Relationship Id="rId63" Type="http://schemas.openxmlformats.org/officeDocument/2006/relationships/tags" Target="../tags/tag154.xml"/><Relationship Id="rId62" Type="http://schemas.openxmlformats.org/officeDocument/2006/relationships/tags" Target="../tags/tag153.xml"/><Relationship Id="rId61" Type="http://schemas.openxmlformats.org/officeDocument/2006/relationships/tags" Target="../tags/tag152.xml"/><Relationship Id="rId60" Type="http://schemas.openxmlformats.org/officeDocument/2006/relationships/tags" Target="../tags/tag151.xml"/><Relationship Id="rId6" Type="http://schemas.openxmlformats.org/officeDocument/2006/relationships/tags" Target="../tags/tag97.xml"/><Relationship Id="rId59" Type="http://schemas.openxmlformats.org/officeDocument/2006/relationships/tags" Target="../tags/tag150.xml"/><Relationship Id="rId58" Type="http://schemas.openxmlformats.org/officeDocument/2006/relationships/tags" Target="../tags/tag149.xml"/><Relationship Id="rId57" Type="http://schemas.openxmlformats.org/officeDocument/2006/relationships/tags" Target="../tags/tag148.xml"/><Relationship Id="rId56" Type="http://schemas.openxmlformats.org/officeDocument/2006/relationships/tags" Target="../tags/tag147.xml"/><Relationship Id="rId55" Type="http://schemas.openxmlformats.org/officeDocument/2006/relationships/tags" Target="../tags/tag146.xml"/><Relationship Id="rId54" Type="http://schemas.openxmlformats.org/officeDocument/2006/relationships/tags" Target="../tags/tag145.xml"/><Relationship Id="rId53" Type="http://schemas.openxmlformats.org/officeDocument/2006/relationships/tags" Target="../tags/tag144.xml"/><Relationship Id="rId52" Type="http://schemas.openxmlformats.org/officeDocument/2006/relationships/tags" Target="../tags/tag143.xml"/><Relationship Id="rId51" Type="http://schemas.openxmlformats.org/officeDocument/2006/relationships/tags" Target="../tags/tag142.xml"/><Relationship Id="rId50" Type="http://schemas.openxmlformats.org/officeDocument/2006/relationships/tags" Target="../tags/tag141.xml"/><Relationship Id="rId5" Type="http://schemas.openxmlformats.org/officeDocument/2006/relationships/tags" Target="../tags/tag96.xml"/><Relationship Id="rId49" Type="http://schemas.openxmlformats.org/officeDocument/2006/relationships/tags" Target="../tags/tag140.xml"/><Relationship Id="rId48" Type="http://schemas.openxmlformats.org/officeDocument/2006/relationships/tags" Target="../tags/tag139.xml"/><Relationship Id="rId47" Type="http://schemas.openxmlformats.org/officeDocument/2006/relationships/tags" Target="../tags/tag138.xml"/><Relationship Id="rId46" Type="http://schemas.openxmlformats.org/officeDocument/2006/relationships/tags" Target="../tags/tag137.xml"/><Relationship Id="rId45" Type="http://schemas.openxmlformats.org/officeDocument/2006/relationships/tags" Target="../tags/tag136.xml"/><Relationship Id="rId44" Type="http://schemas.openxmlformats.org/officeDocument/2006/relationships/tags" Target="../tags/tag135.xml"/><Relationship Id="rId43" Type="http://schemas.openxmlformats.org/officeDocument/2006/relationships/tags" Target="../tags/tag134.xml"/><Relationship Id="rId42" Type="http://schemas.openxmlformats.org/officeDocument/2006/relationships/tags" Target="../tags/tag133.xml"/><Relationship Id="rId41" Type="http://schemas.openxmlformats.org/officeDocument/2006/relationships/tags" Target="../tags/tag132.xml"/><Relationship Id="rId40" Type="http://schemas.openxmlformats.org/officeDocument/2006/relationships/tags" Target="../tags/tag131.xml"/><Relationship Id="rId4" Type="http://schemas.openxmlformats.org/officeDocument/2006/relationships/tags" Target="../tags/tag95.xml"/><Relationship Id="rId39" Type="http://schemas.openxmlformats.org/officeDocument/2006/relationships/tags" Target="../tags/tag130.xml"/><Relationship Id="rId38" Type="http://schemas.openxmlformats.org/officeDocument/2006/relationships/tags" Target="../tags/tag129.xml"/><Relationship Id="rId37" Type="http://schemas.openxmlformats.org/officeDocument/2006/relationships/tags" Target="../tags/tag128.xml"/><Relationship Id="rId36" Type="http://schemas.openxmlformats.org/officeDocument/2006/relationships/tags" Target="../tags/tag127.xml"/><Relationship Id="rId35" Type="http://schemas.openxmlformats.org/officeDocument/2006/relationships/tags" Target="../tags/tag126.xml"/><Relationship Id="rId34" Type="http://schemas.openxmlformats.org/officeDocument/2006/relationships/tags" Target="../tags/tag125.xml"/><Relationship Id="rId33" Type="http://schemas.openxmlformats.org/officeDocument/2006/relationships/tags" Target="../tags/tag124.xml"/><Relationship Id="rId32" Type="http://schemas.openxmlformats.org/officeDocument/2006/relationships/tags" Target="../tags/tag123.xml"/><Relationship Id="rId31" Type="http://schemas.openxmlformats.org/officeDocument/2006/relationships/tags" Target="../tags/tag122.xml"/><Relationship Id="rId30" Type="http://schemas.openxmlformats.org/officeDocument/2006/relationships/tags" Target="../tags/tag121.xml"/><Relationship Id="rId3" Type="http://schemas.openxmlformats.org/officeDocument/2006/relationships/image" Target="../media/image29.png"/><Relationship Id="rId29" Type="http://schemas.openxmlformats.org/officeDocument/2006/relationships/tags" Target="../tags/tag120.xml"/><Relationship Id="rId28" Type="http://schemas.openxmlformats.org/officeDocument/2006/relationships/tags" Target="../tags/tag119.xml"/><Relationship Id="rId27" Type="http://schemas.openxmlformats.org/officeDocument/2006/relationships/tags" Target="../tags/tag118.xml"/><Relationship Id="rId26" Type="http://schemas.openxmlformats.org/officeDocument/2006/relationships/tags" Target="../tags/tag117.xml"/><Relationship Id="rId25" Type="http://schemas.openxmlformats.org/officeDocument/2006/relationships/tags" Target="../tags/tag116.xml"/><Relationship Id="rId24" Type="http://schemas.openxmlformats.org/officeDocument/2006/relationships/tags" Target="../tags/tag115.xml"/><Relationship Id="rId23" Type="http://schemas.openxmlformats.org/officeDocument/2006/relationships/tags" Target="../tags/tag114.xml"/><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image" Target="../media/image12.png"/><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343.xml"/><Relationship Id="rId7" Type="http://schemas.openxmlformats.org/officeDocument/2006/relationships/image" Target="../media/image69.wmf"/><Relationship Id="rId6" Type="http://schemas.openxmlformats.org/officeDocument/2006/relationships/oleObject" Target="../embeddings/oleObject31.bin"/><Relationship Id="rId5" Type="http://schemas.openxmlformats.org/officeDocument/2006/relationships/image" Target="../media/image68.wmf"/><Relationship Id="rId4" Type="http://schemas.openxmlformats.org/officeDocument/2006/relationships/oleObject" Target="../embeddings/oleObject30.bin"/><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30.png"/><Relationship Id="rId2" Type="http://schemas.openxmlformats.org/officeDocument/2006/relationships/image" Target="../media/image12.png"/><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image" Target="../media/image73.png"/><Relationship Id="rId7" Type="http://schemas.openxmlformats.org/officeDocument/2006/relationships/oleObject" Target="../embeddings/oleObject35.bin"/><Relationship Id="rId6" Type="http://schemas.openxmlformats.org/officeDocument/2006/relationships/image" Target="../media/image72.png"/><Relationship Id="rId5" Type="http://schemas.openxmlformats.org/officeDocument/2006/relationships/oleObject" Target="../embeddings/oleObject34.bin"/><Relationship Id="rId4" Type="http://schemas.openxmlformats.org/officeDocument/2006/relationships/image" Target="../media/image71.png"/><Relationship Id="rId3" Type="http://schemas.openxmlformats.org/officeDocument/2006/relationships/oleObject" Target="../embeddings/oleObject33.bin"/><Relationship Id="rId2" Type="http://schemas.openxmlformats.org/officeDocument/2006/relationships/image" Target="../media/image70.png"/><Relationship Id="rId10" Type="http://schemas.openxmlformats.org/officeDocument/2006/relationships/vmlDrawing" Target="../drawings/vmlDrawing14.vml"/><Relationship Id="rId1" Type="http://schemas.openxmlformats.org/officeDocument/2006/relationships/oleObject" Target="../embeddings/oleObject32.bin"/></Relationships>
</file>

<file path=ppt/slides/_rels/slide50.xml.rels><?xml version="1.0" encoding="UTF-8" standalone="yes"?>
<Relationships xmlns="http://schemas.openxmlformats.org/package/2006/relationships"><Relationship Id="rId9" Type="http://schemas.openxmlformats.org/officeDocument/2006/relationships/image" Target="../media/image78.png"/><Relationship Id="rId8" Type="http://schemas.openxmlformats.org/officeDocument/2006/relationships/image" Target="../media/image77.png"/><Relationship Id="rId7" Type="http://schemas.openxmlformats.org/officeDocument/2006/relationships/image" Target="../media/image76.png"/><Relationship Id="rId6" Type="http://schemas.openxmlformats.org/officeDocument/2006/relationships/image" Target="../media/image75.png"/><Relationship Id="rId5" Type="http://schemas.openxmlformats.org/officeDocument/2006/relationships/slide" Target="slide62.xml"/><Relationship Id="rId4" Type="http://schemas.openxmlformats.org/officeDocument/2006/relationships/image" Target="../media/image74.png"/><Relationship Id="rId3" Type="http://schemas.openxmlformats.org/officeDocument/2006/relationships/image" Target="../media/image29.png"/><Relationship Id="rId2" Type="http://schemas.openxmlformats.org/officeDocument/2006/relationships/image" Target="../media/image12.png"/><Relationship Id="rId11" Type="http://schemas.openxmlformats.org/officeDocument/2006/relationships/notesSlide" Target="../notesSlides/notesSlide13.xml"/><Relationship Id="rId10" Type="http://schemas.openxmlformats.org/officeDocument/2006/relationships/slideLayout" Target="../slideLayouts/slideLayout90.xml"/><Relationship Id="rId1" Type="http://schemas.openxmlformats.org/officeDocument/2006/relationships/slide" Target="slide1.xml"/></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161.xml"/><Relationship Id="rId8" Type="http://schemas.openxmlformats.org/officeDocument/2006/relationships/image" Target="../media/image85.png"/><Relationship Id="rId7" Type="http://schemas.openxmlformats.org/officeDocument/2006/relationships/image" Target="../media/image84.png"/><Relationship Id="rId6" Type="http://schemas.openxmlformats.org/officeDocument/2006/relationships/image" Target="../media/image83.wmf"/><Relationship Id="rId5" Type="http://schemas.openxmlformats.org/officeDocument/2006/relationships/oleObject" Target="../embeddings/oleObject36.bin"/><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0" Type="http://schemas.openxmlformats.org/officeDocument/2006/relationships/vmlDrawing" Target="../drawings/vmlDrawing15.vml"/><Relationship Id="rId1" Type="http://schemas.openxmlformats.org/officeDocument/2006/relationships/image" Target="../media/image79.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310.xml"/><Relationship Id="rId5" Type="http://schemas.openxmlformats.org/officeDocument/2006/relationships/image" Target="../media/image86.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38.xml"/><Relationship Id="rId2" Type="http://schemas.openxmlformats.org/officeDocument/2006/relationships/image" Target="../media/image87.wmf"/><Relationship Id="rId1" Type="http://schemas.openxmlformats.org/officeDocument/2006/relationships/oleObject" Target="../embeddings/oleObject37.bin"/></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88.png"/><Relationship Id="rId2" Type="http://schemas.openxmlformats.org/officeDocument/2006/relationships/image" Target="../media/image12.png"/><Relationship Id="rId1" Type="http://schemas.openxmlformats.org/officeDocument/2006/relationships/slide" Target="slide1.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34.xml"/><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slide" Target="slide19.xml"/></Relationships>
</file>

<file path=ppt/slides/_rels/slide56.x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oleObject" Target="../embeddings/oleObject41.bin"/><Relationship Id="rId7" Type="http://schemas.openxmlformats.org/officeDocument/2006/relationships/image" Target="../media/image91.wmf"/><Relationship Id="rId6" Type="http://schemas.openxmlformats.org/officeDocument/2006/relationships/oleObject" Target="../embeddings/oleObject40.bin"/><Relationship Id="rId5" Type="http://schemas.openxmlformats.org/officeDocument/2006/relationships/image" Target="../media/image90.wmf"/><Relationship Id="rId4" Type="http://schemas.openxmlformats.org/officeDocument/2006/relationships/oleObject" Target="../embeddings/oleObject39.bin"/><Relationship Id="rId3" Type="http://schemas.openxmlformats.org/officeDocument/2006/relationships/image" Target="../media/image89.wmf"/><Relationship Id="rId25" Type="http://schemas.openxmlformats.org/officeDocument/2006/relationships/vmlDrawing" Target="../drawings/vmlDrawing17.vml"/><Relationship Id="rId24" Type="http://schemas.openxmlformats.org/officeDocument/2006/relationships/slideLayout" Target="../slideLayouts/slideLayout145.xml"/><Relationship Id="rId23" Type="http://schemas.openxmlformats.org/officeDocument/2006/relationships/image" Target="../media/image12.png"/><Relationship Id="rId22" Type="http://schemas.openxmlformats.org/officeDocument/2006/relationships/slide" Target="slide1.xml"/><Relationship Id="rId21" Type="http://schemas.openxmlformats.org/officeDocument/2006/relationships/slide" Target="slide24.xml"/><Relationship Id="rId20" Type="http://schemas.openxmlformats.org/officeDocument/2006/relationships/image" Target="../media/image98.jpeg"/><Relationship Id="rId2" Type="http://schemas.openxmlformats.org/officeDocument/2006/relationships/oleObject" Target="../embeddings/oleObject38.bin"/><Relationship Id="rId19" Type="http://schemas.openxmlformats.org/officeDocument/2006/relationships/image" Target="../media/image97.wmf"/><Relationship Id="rId18" Type="http://schemas.openxmlformats.org/officeDocument/2006/relationships/oleObject" Target="../embeddings/oleObject46.bin"/><Relationship Id="rId17" Type="http://schemas.openxmlformats.org/officeDocument/2006/relationships/image" Target="../media/image96.wmf"/><Relationship Id="rId16" Type="http://schemas.openxmlformats.org/officeDocument/2006/relationships/oleObject" Target="../embeddings/oleObject45.bin"/><Relationship Id="rId15" Type="http://schemas.openxmlformats.org/officeDocument/2006/relationships/image" Target="../media/image95.wmf"/><Relationship Id="rId14" Type="http://schemas.openxmlformats.org/officeDocument/2006/relationships/oleObject" Target="../embeddings/oleObject44.bin"/><Relationship Id="rId13" Type="http://schemas.openxmlformats.org/officeDocument/2006/relationships/image" Target="../media/image94.wmf"/><Relationship Id="rId12" Type="http://schemas.openxmlformats.org/officeDocument/2006/relationships/oleObject" Target="../embeddings/oleObject43.bin"/><Relationship Id="rId11" Type="http://schemas.openxmlformats.org/officeDocument/2006/relationships/image" Target="../media/image93.wmf"/><Relationship Id="rId10" Type="http://schemas.openxmlformats.org/officeDocument/2006/relationships/oleObject" Target="../embeddings/oleObject42.bin"/><Relationship Id="rId1" Type="http://schemas.openxmlformats.org/officeDocument/2006/relationships/tags" Target="../tags/tag163.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167.xml"/><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slide" Target="slide25.xml"/></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9.xml"/><Relationship Id="rId4" Type="http://schemas.openxmlformats.org/officeDocument/2006/relationships/image" Target="../media/image99.png"/><Relationship Id="rId3" Type="http://schemas.openxmlformats.org/officeDocument/2006/relationships/slide" Target="slide36.xml"/><Relationship Id="rId2" Type="http://schemas.openxmlformats.org/officeDocument/2006/relationships/image" Target="../media/image12.png"/><Relationship Id="rId1" Type="http://schemas.openxmlformats.org/officeDocument/2006/relationships/slide" Target="slide1.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211.xml"/><Relationship Id="rId5" Type="http://schemas.openxmlformats.org/officeDocument/2006/relationships/image" Target="../media/image86.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16.xml"/><Relationship Id="rId2" Type="http://schemas.openxmlformats.org/officeDocument/2006/relationships/slide" Target="slide40.xml"/><Relationship Id="rId1" Type="http://schemas.openxmlformats.org/officeDocument/2006/relationships/slide" Target="slide48.xml"/></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200.xml"/><Relationship Id="rId7" Type="http://schemas.openxmlformats.org/officeDocument/2006/relationships/slide" Target="slide40.xml"/><Relationship Id="rId6" Type="http://schemas.openxmlformats.org/officeDocument/2006/relationships/slide" Target="slide48.xml"/><Relationship Id="rId5" Type="http://schemas.openxmlformats.org/officeDocument/2006/relationships/image" Target="../media/image100.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2.png"/><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56.xml"/><Relationship Id="rId4" Type="http://schemas.openxmlformats.org/officeDocument/2006/relationships/tags" Target="../tags/tag164.xml"/><Relationship Id="rId3" Type="http://schemas.openxmlformats.org/officeDocument/2006/relationships/slide" Target="slide50.xml"/><Relationship Id="rId2" Type="http://schemas.openxmlformats.org/officeDocument/2006/relationships/image" Target="../media/image12.png"/><Relationship Id="rId1" Type="http://schemas.openxmlformats.org/officeDocument/2006/relationships/slide" Target="slide1.xml"/></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vmlDrawing" Target="../drawings/vmlDrawing18.vml"/><Relationship Id="rId4" Type="http://schemas.openxmlformats.org/officeDocument/2006/relationships/slideLayout" Target="../slideLayouts/slideLayout156.xml"/><Relationship Id="rId3" Type="http://schemas.openxmlformats.org/officeDocument/2006/relationships/image" Target="../media/image101.emf"/><Relationship Id="rId2" Type="http://schemas.openxmlformats.org/officeDocument/2006/relationships/oleObject" Target="../embeddings/oleObject47.bin"/><Relationship Id="rId1" Type="http://schemas.openxmlformats.org/officeDocument/2006/relationships/hyperlink" Target="&#22270;8-29.tif" TargetMode="External"/></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vmlDrawing" Target="../drawings/vmlDrawing19.vml"/><Relationship Id="rId4" Type="http://schemas.openxmlformats.org/officeDocument/2006/relationships/slideLayout" Target="../slideLayouts/slideLayout156.xml"/><Relationship Id="rId3" Type="http://schemas.openxmlformats.org/officeDocument/2006/relationships/hyperlink" Target="t5-15.tif" TargetMode="External"/><Relationship Id="rId2" Type="http://schemas.openxmlformats.org/officeDocument/2006/relationships/image" Target="../media/image102.wmf"/><Relationship Id="rId1" Type="http://schemas.openxmlformats.org/officeDocument/2006/relationships/oleObject" Target="../embeddings/oleObject48.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6.xml"/></Relationships>
</file>

<file path=ppt/slides/_rels/slide68.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9" Type="http://schemas.openxmlformats.org/officeDocument/2006/relationships/slideLayout" Target="../slideLayouts/slideLayout249.xml"/><Relationship Id="rId18" Type="http://schemas.openxmlformats.org/officeDocument/2006/relationships/tags" Target="../tags/tag181.xml"/><Relationship Id="rId17" Type="http://schemas.openxmlformats.org/officeDocument/2006/relationships/image" Target="../media/image103.png"/><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tags" Target="../tags/tag165.xml"/></Relationships>
</file>

<file path=ppt/slides/_rels/slide69.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0" Type="http://schemas.openxmlformats.org/officeDocument/2006/relationships/slideLayout" Target="../slideLayouts/slideLayout249.xml"/><Relationship Id="rId2" Type="http://schemas.openxmlformats.org/officeDocument/2006/relationships/tags" Target="../tags/tag183.xml"/><Relationship Id="rId19" Type="http://schemas.openxmlformats.org/officeDocument/2006/relationships/tags" Target="../tags/tag199.xml"/><Relationship Id="rId18" Type="http://schemas.openxmlformats.org/officeDocument/2006/relationships/image" Target="../media/image103.png"/><Relationship Id="rId17" Type="http://schemas.openxmlformats.org/officeDocument/2006/relationships/tags" Target="../tags/tag198.xml"/><Relationship Id="rId16" Type="http://schemas.openxmlformats.org/officeDocument/2006/relationships/tags" Target="../tags/tag197.xml"/><Relationship Id="rId15" Type="http://schemas.openxmlformats.org/officeDocument/2006/relationships/tags" Target="../tags/tag196.xml"/><Relationship Id="rId14" Type="http://schemas.openxmlformats.org/officeDocument/2006/relationships/tags" Target="../tags/tag195.xml"/><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2.xml"/></Relationships>
</file>

<file path=ppt/slides/_rels/slide70.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0" Type="http://schemas.openxmlformats.org/officeDocument/2006/relationships/slideLayout" Target="../slideLayouts/slideLayout249.xml"/><Relationship Id="rId2" Type="http://schemas.openxmlformats.org/officeDocument/2006/relationships/tags" Target="../tags/tag201.xml"/><Relationship Id="rId19" Type="http://schemas.openxmlformats.org/officeDocument/2006/relationships/tags" Target="../tags/tag217.xml"/><Relationship Id="rId18" Type="http://schemas.openxmlformats.org/officeDocument/2006/relationships/image" Target="../media/image103.png"/><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44.xml"/><Relationship Id="rId2" Type="http://schemas.openxmlformats.org/officeDocument/2006/relationships/image" Target="../media/image104.png"/><Relationship Id="rId1" Type="http://schemas.openxmlformats.org/officeDocument/2006/relationships/image" Target="../media/image1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49.xml"/><Relationship Id="rId2" Type="http://schemas.openxmlformats.org/officeDocument/2006/relationships/image" Target="../media/image105.png"/><Relationship Id="rId1" Type="http://schemas.openxmlformats.org/officeDocument/2006/relationships/tags" Target="../tags/tag218.xml"/></Relationships>
</file>

<file path=ppt/slides/_rels/slide76.xml.rels><?xml version="1.0" encoding="UTF-8" standalone="yes"?>
<Relationships xmlns="http://schemas.openxmlformats.org/package/2006/relationships"><Relationship Id="rId9" Type="http://schemas.openxmlformats.org/officeDocument/2006/relationships/slideLayout" Target="../slideLayouts/slideLayout249.xml"/><Relationship Id="rId8" Type="http://schemas.openxmlformats.org/officeDocument/2006/relationships/image" Target="../media/image109.wmf"/><Relationship Id="rId7" Type="http://schemas.openxmlformats.org/officeDocument/2006/relationships/oleObject" Target="../embeddings/oleObject52.bin"/><Relationship Id="rId6" Type="http://schemas.openxmlformats.org/officeDocument/2006/relationships/image" Target="../media/image108.wmf"/><Relationship Id="rId5" Type="http://schemas.openxmlformats.org/officeDocument/2006/relationships/oleObject" Target="../embeddings/oleObject51.bin"/><Relationship Id="rId4" Type="http://schemas.openxmlformats.org/officeDocument/2006/relationships/image" Target="../media/image107.wmf"/><Relationship Id="rId3" Type="http://schemas.openxmlformats.org/officeDocument/2006/relationships/oleObject" Target="../embeddings/oleObject50.bin"/><Relationship Id="rId2" Type="http://schemas.openxmlformats.org/officeDocument/2006/relationships/image" Target="../media/image106.wmf"/><Relationship Id="rId10" Type="http://schemas.openxmlformats.org/officeDocument/2006/relationships/vmlDrawing" Target="../drawings/vmlDrawing20.vml"/><Relationship Id="rId1" Type="http://schemas.openxmlformats.org/officeDocument/2006/relationships/oleObject" Target="../embeddings/oleObject49.bin"/></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49.xml"/><Relationship Id="rId2" Type="http://schemas.openxmlformats.org/officeDocument/2006/relationships/image" Target="../media/image105.png"/><Relationship Id="rId1" Type="http://schemas.openxmlformats.org/officeDocument/2006/relationships/tags" Target="../tags/tag2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6"/>
          <p:cNvSpPr>
            <a:spLocks noGrp="1" noChangeArrowheads="1"/>
          </p:cNvSpPr>
          <p:nvPr>
            <p:ph type="title" idx="4294967295"/>
          </p:nvPr>
        </p:nvSpPr>
        <p:spPr bwMode="auto">
          <a:xfrm>
            <a:off x="2591435" y="2307590"/>
            <a:ext cx="414782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4000" dirty="0" smtClean="0">
                <a:solidFill>
                  <a:srgbClr val="A50021"/>
                </a:solidFill>
                <a:latin typeface="黑体" panose="02010609060101010101" pitchFamily="49" charset="-122"/>
                <a:ea typeface="黑体" panose="02010609060101010101" pitchFamily="49" charset="-122"/>
              </a:rPr>
              <a:t>3</a:t>
            </a:r>
            <a:r>
              <a:rPr lang="en-US" sz="4000" dirty="0" smtClean="0">
                <a:solidFill>
                  <a:srgbClr val="A50021"/>
                </a:solidFill>
                <a:latin typeface="黑体" panose="02010609060101010101" pitchFamily="49" charset="-122"/>
                <a:ea typeface="黑体" panose="02010609060101010101" pitchFamily="49" charset="-122"/>
              </a:rPr>
              <a:t>.3</a:t>
            </a:r>
            <a:r>
              <a:rPr lang="zh-CN" altLang="en-US" sz="4000" dirty="0" smtClean="0">
                <a:solidFill>
                  <a:srgbClr val="A50021"/>
                </a:solidFill>
                <a:latin typeface="黑体" panose="02010609060101010101" pitchFamily="49" charset="-122"/>
                <a:ea typeface="黑体" panose="02010609060101010101" pitchFamily="49" charset="-122"/>
              </a:rPr>
              <a:t>章   链传动</a:t>
            </a:r>
            <a:endParaRPr lang="zh-CN" altLang="en-US" sz="4000" dirty="0" smtClean="0">
              <a:solidFill>
                <a:srgbClr val="A50021"/>
              </a:solidFill>
              <a:latin typeface="黑体" panose="02010609060101010101" pitchFamily="49" charset="-122"/>
              <a:ea typeface="黑体" panose="02010609060101010101" pitchFamily="49" charset="-122"/>
            </a:endParaRPr>
          </a:p>
        </p:txBody>
      </p:sp>
      <p:sp>
        <p:nvSpPr>
          <p:cNvPr id="34825" name="直接连接符 6"/>
          <p:cNvSpPr>
            <a:spLocks noChangeShapeType="1"/>
          </p:cNvSpPr>
          <p:nvPr/>
        </p:nvSpPr>
        <p:spPr bwMode="auto">
          <a:xfrm>
            <a:off x="0" y="303736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0" name="组合 1"/>
          <p:cNvGrpSpPr/>
          <p:nvPr/>
        </p:nvGrpSpPr>
        <p:grpSpPr>
          <a:xfrm>
            <a:off x="6444208" y="5877272"/>
            <a:ext cx="2630487" cy="827087"/>
            <a:chOff x="10088" y="9497"/>
            <a:chExt cx="4141" cy="1302"/>
          </a:xfrm>
        </p:grpSpPr>
        <p:sp>
          <p:nvSpPr>
            <p:cNvPr id="11"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2"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480060" y="706755"/>
            <a:ext cx="866394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a:t>
            </a:r>
            <a:r>
              <a:rPr lang="zh-CN" altLang="en-US" sz="2600">
                <a:solidFill>
                  <a:srgbClr val="000000"/>
                </a:solidFill>
                <a:latin typeface="微软雅黑" panose="020B0503020204020204" charset="-122"/>
                <a:ea typeface="微软雅黑" panose="020B0503020204020204" charset="-122"/>
              </a:rPr>
              <a:t>在带传动机构中，通常将松边放在上方，紧边处于下方，其目的为 </a:t>
            </a:r>
            <a:r>
              <a:rPr lang="zh-CN" altLang="en-US" sz="2600" u="sng">
                <a:solidFill>
                  <a:srgbClr val="000000"/>
                </a:solidFill>
                <a:latin typeface="微软雅黑" panose="020B0503020204020204" charset="-122"/>
                <a:ea typeface="微软雅黑" panose="020B0503020204020204" charset="-122"/>
              </a:rPr>
              <a:t>        </a:t>
            </a:r>
            <a:r>
              <a:rPr lang="zh-CN" altLang="en-US" sz="2600">
                <a:solidFill>
                  <a:srgbClr val="000000"/>
                </a:solidFill>
                <a:latin typeface="微软雅黑" panose="020B0503020204020204" charset="-122"/>
                <a:ea typeface="微软雅黑" panose="020B0503020204020204" charset="-122"/>
              </a:rPr>
              <a:t> 。</a:t>
            </a:r>
            <a:endParaRPr lang="zh-CN" altLang="en-US" sz="2600">
              <a:solidFill>
                <a:srgbClr val="000000"/>
              </a:solidFill>
              <a:latin typeface="微软雅黑" panose="020B0503020204020204" charset="-122"/>
              <a:ea typeface="微软雅黑" panose="020B0503020204020204" charset="-122"/>
            </a:endParaRPr>
          </a:p>
          <a:p>
            <a:pPr lvl="0" algn="l">
              <a:buNone/>
            </a:pP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减小带内侧弯曲应力；  </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934210" y="357886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增大带的长度；</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增大主动轮包角；</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增大从动轮包角。</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F5C"/>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829945"/>
            <a:ext cx="7315200" cy="1825625"/>
          </a:xfrm>
          <a:prstGeom prst="rect">
            <a:avLst/>
          </a:prstGeom>
          <a:noFill/>
        </p:spPr>
        <p:txBody>
          <a:bodyPr wrap="square" rtlCol="0" anchor="ctr" anchorCtr="0">
            <a:noAutofit/>
          </a:bodyPr>
          <a:p>
            <a:pPr marL="0" indent="0" algn="just" eaLnBrk="1" hangingPunct="1">
              <a:lnSpc>
                <a:spcPct val="120000"/>
              </a:lnSpc>
              <a:buFontTx/>
              <a:buNone/>
            </a:pPr>
            <a:r>
              <a:rPr lang="en-US" sz="2600" dirty="0" smtClean="0">
                <a:sym typeface="+mn-ea"/>
              </a:rPr>
              <a:t>2</a:t>
            </a:r>
            <a:r>
              <a:rPr lang="zh-CN" altLang="en-US" sz="2600" dirty="0" smtClean="0">
                <a:sym typeface="+mn-ea"/>
              </a:rPr>
              <a:t>、普通</a:t>
            </a:r>
            <a:r>
              <a:rPr lang="en-US" sz="2600" dirty="0">
                <a:latin typeface="黑体" panose="02010609060101010101" pitchFamily="49" charset="-122"/>
                <a:ea typeface="黑体" panose="02010609060101010101" pitchFamily="49" charset="-122"/>
                <a:sym typeface="+mn-ea"/>
              </a:rPr>
              <a:t>V</a:t>
            </a:r>
            <a:r>
              <a:rPr lang="zh-CN" altLang="en-US" sz="2600" dirty="0">
                <a:latin typeface="黑体" panose="02010609060101010101" pitchFamily="49" charset="-122"/>
                <a:ea typeface="黑体" panose="02010609060101010101" pitchFamily="49" charset="-122"/>
                <a:sym typeface="+mn-ea"/>
              </a:rPr>
              <a:t>带传动设计中，选择</a:t>
            </a:r>
            <a:r>
              <a:rPr lang="en-US" altLang="zh-CN" sz="2600" dirty="0">
                <a:latin typeface="黑体" panose="02010609060101010101" pitchFamily="49" charset="-122"/>
                <a:ea typeface="黑体" panose="02010609060101010101" pitchFamily="49" charset="-122"/>
                <a:sym typeface="+mn-ea"/>
              </a:rPr>
              <a:t>V</a:t>
            </a:r>
            <a:r>
              <a:rPr lang="zh-CN" altLang="en-US" sz="2600" dirty="0">
                <a:latin typeface="黑体" panose="02010609060101010101" pitchFamily="49" charset="-122"/>
                <a:ea typeface="黑体" panose="02010609060101010101" pitchFamily="49" charset="-122"/>
                <a:sym typeface="+mn-ea"/>
              </a:rPr>
              <a:t>带的型号是根据</a:t>
            </a:r>
            <a:r>
              <a:rPr lang="zh-CN" altLang="en-US" sz="2600" u="sng" dirty="0">
                <a:latin typeface="黑体" panose="02010609060101010101" pitchFamily="49" charset="-122"/>
                <a:ea typeface="黑体" panose="02010609060101010101" pitchFamily="49" charset="-122"/>
                <a:sym typeface="+mn-ea"/>
              </a:rPr>
              <a:t>          </a:t>
            </a:r>
            <a:r>
              <a:rPr lang="zh-CN" altLang="en-US" sz="2600" dirty="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计算功率；</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传动比；</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计算功率和小带轮转速；</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4436110"/>
            <a:ext cx="6400800" cy="642620"/>
          </a:xfrm>
          <a:prstGeom prst="rect">
            <a:avLst/>
          </a:prstGeom>
          <a:noFill/>
        </p:spPr>
        <p:txBody>
          <a:bodyPr wrap="square" rtlCol="0" anchor="ctr" anchorCtr="0">
            <a:noAutofit/>
          </a:bodyPr>
          <a:p>
            <a:pPr marL="0" indent="0" algn="just" eaLnBrk="1" hangingPunct="1">
              <a:lnSpc>
                <a:spcPct val="120000"/>
              </a:lnSpc>
              <a:buFontTx/>
              <a:buNone/>
            </a:pPr>
            <a:r>
              <a:rPr lang="zh-CN" altLang="en-US" sz="2600" dirty="0">
                <a:latin typeface="黑体" panose="02010609060101010101" pitchFamily="49" charset="-122"/>
                <a:ea typeface="黑体" panose="02010609060101010101" pitchFamily="49" charset="-122"/>
                <a:sym typeface="+mn-ea"/>
              </a:rPr>
              <a:t>计算功率和传动比；</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F5C"/>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829945"/>
            <a:ext cx="7315200" cy="1825625"/>
          </a:xfrm>
          <a:prstGeom prst="rect">
            <a:avLst/>
          </a:prstGeom>
          <a:noFill/>
        </p:spPr>
        <p:txBody>
          <a:bodyPr wrap="square" rtlCol="0" anchor="ctr" anchorCtr="0">
            <a:noAutofit/>
          </a:bodyPr>
          <a:p>
            <a:pPr marL="0" indent="0" algn="just" eaLnBrk="1" hangingPunct="1">
              <a:lnSpc>
                <a:spcPct val="120000"/>
              </a:lnSpc>
              <a:buFontTx/>
              <a:buNone/>
            </a:pPr>
            <a:r>
              <a:rPr lang="en-US" sz="2600" dirty="0" smtClean="0">
                <a:sym typeface="+mn-ea"/>
              </a:rPr>
              <a:t>3</a:t>
            </a:r>
            <a:r>
              <a:rPr lang="zh-CN" altLang="en-US" sz="2600" dirty="0" smtClean="0">
                <a:sym typeface="+mn-ea"/>
              </a:rPr>
              <a:t>、</a:t>
            </a:r>
            <a:r>
              <a:rPr lang="en-US" sz="2600" dirty="0">
                <a:latin typeface="黑体" panose="02010609060101010101" pitchFamily="49" charset="-122"/>
                <a:ea typeface="黑体" panose="02010609060101010101" pitchFamily="49" charset="-122"/>
                <a:sym typeface="+mn-ea"/>
              </a:rPr>
              <a:t>V</a:t>
            </a:r>
            <a:r>
              <a:rPr lang="zh-CN" altLang="en-US" sz="2600" dirty="0">
                <a:latin typeface="黑体" panose="02010609060101010101" pitchFamily="49" charset="-122"/>
                <a:ea typeface="黑体" panose="02010609060101010101" pitchFamily="49" charset="-122"/>
                <a:sym typeface="+mn-ea"/>
              </a:rPr>
              <a:t>带传动设计中，限制小带轮的最小直径主要是为了</a:t>
            </a:r>
            <a:r>
              <a:rPr lang="zh-CN" altLang="en-US" sz="2600" u="sng" dirty="0">
                <a:latin typeface="黑体" panose="02010609060101010101" pitchFamily="49" charset="-122"/>
                <a:ea typeface="黑体" panose="02010609060101010101" pitchFamily="49" charset="-122"/>
                <a:sym typeface="+mn-ea"/>
              </a:rPr>
              <a:t>          </a:t>
            </a:r>
            <a:r>
              <a:rPr lang="zh-CN" altLang="en-US" sz="2600" dirty="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使结构紧凑；</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限制弯曲应力；</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保证带和带轮接触面间有足够摩擦力；</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marL="0" indent="0" algn="just" eaLnBrk="1" hangingPunct="1">
              <a:lnSpc>
                <a:spcPct val="120000"/>
              </a:lnSpc>
              <a:buFontTx/>
              <a:buNone/>
            </a:pPr>
            <a:r>
              <a:rPr lang="zh-CN" altLang="en-US" sz="2600" dirty="0">
                <a:latin typeface="黑体" panose="02010609060101010101" pitchFamily="49" charset="-122"/>
                <a:ea typeface="黑体" panose="02010609060101010101" pitchFamily="49" charset="-122"/>
                <a:sym typeface="+mn-ea"/>
              </a:rPr>
              <a:t>限制小带轮上的包角；</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F5C"/>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sz="2600" dirty="0">
                <a:latin typeface="黑体" panose="02010609060101010101" pitchFamily="49" charset="-122"/>
                <a:ea typeface="黑体" panose="02010609060101010101" pitchFamily="49" charset="-122"/>
                <a:sym typeface="+mn-ea"/>
              </a:rPr>
              <a:t>4</a:t>
            </a:r>
            <a:r>
              <a:rPr lang="zh-CN" altLang="en-US" sz="2600" dirty="0">
                <a:latin typeface="黑体" panose="02010609060101010101" pitchFamily="49" charset="-122"/>
                <a:ea typeface="黑体" panose="02010609060101010101" pitchFamily="49" charset="-122"/>
                <a:sym typeface="+mn-ea"/>
              </a:rPr>
              <a:t>、</a:t>
            </a:r>
            <a:r>
              <a:rPr lang="en-US" sz="2600" dirty="0">
                <a:latin typeface="黑体" panose="02010609060101010101" pitchFamily="49" charset="-122"/>
                <a:ea typeface="黑体" panose="02010609060101010101" pitchFamily="49" charset="-122"/>
                <a:sym typeface="+mn-ea"/>
              </a:rPr>
              <a:t>V</a:t>
            </a:r>
            <a:r>
              <a:rPr lang="zh-CN" altLang="en-US" sz="2600" dirty="0">
                <a:latin typeface="黑体" panose="02010609060101010101" pitchFamily="49" charset="-122"/>
                <a:ea typeface="黑体" panose="02010609060101010101" pitchFamily="49" charset="-122"/>
                <a:sym typeface="+mn-ea"/>
              </a:rPr>
              <a:t>带传动设计中，选取小带轮基准直径的依据是</a:t>
            </a:r>
            <a:r>
              <a:rPr lang="zh-CN" altLang="en-US" sz="2600" u="sng" dirty="0">
                <a:latin typeface="黑体" panose="02010609060101010101" pitchFamily="49" charset="-122"/>
                <a:ea typeface="黑体" panose="02010609060101010101" pitchFamily="49" charset="-122"/>
                <a:sym typeface="+mn-ea"/>
              </a:rPr>
              <a:t>          </a:t>
            </a:r>
            <a:r>
              <a:rPr lang="zh-CN" altLang="en-US" sz="2600" dirty="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2897505"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带的型号；</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带的速度</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主动轮转速；</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传动比。</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F5C"/>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
        <p:nvSpPr>
          <p:cNvPr id="20" name="矩形 19"/>
          <p:cNvSpPr/>
          <p:nvPr>
            <p:custDataLst>
              <p:tags r:id="rId18"/>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marL="0" indent="0" algn="just" eaLnBrk="1" hangingPunct="1">
              <a:lnSpc>
                <a:spcPct val="120000"/>
              </a:lnSpc>
              <a:buFontTx/>
              <a:buNone/>
            </a:pPr>
            <a:r>
              <a:rPr lang="en-US" altLang="zh-CN" sz="2600" dirty="0">
                <a:latin typeface="黑体" panose="02010609060101010101" pitchFamily="49" charset="-122"/>
                <a:ea typeface="黑体" panose="02010609060101010101" pitchFamily="49" charset="-122"/>
                <a:sym typeface="+mn-ea"/>
              </a:rPr>
              <a:t>5</a:t>
            </a:r>
            <a:r>
              <a:rPr lang="zh-CN" altLang="en-US" sz="2600" dirty="0">
                <a:latin typeface="黑体" panose="02010609060101010101" pitchFamily="49" charset="-122"/>
                <a:ea typeface="黑体" panose="02010609060101010101" pitchFamily="49" charset="-122"/>
                <a:sym typeface="+mn-ea"/>
              </a:rPr>
              <a:t>、</a:t>
            </a:r>
            <a:r>
              <a:rPr lang="zh-CN" altLang="en-US" sz="2600" dirty="0">
                <a:latin typeface="黑体" panose="02010609060101010101" pitchFamily="49" charset="-122"/>
                <a:ea typeface="黑体" panose="02010609060101010101" pitchFamily="49" charset="-122"/>
                <a:sym typeface="+mn-ea"/>
              </a:rPr>
              <a:t>带传动采用张紧装置的目的是</a:t>
            </a:r>
            <a:r>
              <a:rPr lang="zh-CN" altLang="en-US" sz="2600" u="sng" dirty="0">
                <a:latin typeface="黑体" panose="02010609060101010101" pitchFamily="49" charset="-122"/>
                <a:ea typeface="黑体" panose="02010609060101010101" pitchFamily="49" charset="-122"/>
                <a:sym typeface="+mn-ea"/>
              </a:rPr>
              <a:t>          </a:t>
            </a:r>
            <a:r>
              <a:rPr lang="zh-CN" altLang="en-US" sz="2600" dirty="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减轻带的弹性滑动；</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提高带的寿命；</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改变带的运动方向；</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dirty="0">
                <a:latin typeface="黑体" panose="02010609060101010101" pitchFamily="49" charset="-122"/>
                <a:ea typeface="黑体" panose="02010609060101010101" pitchFamily="49" charset="-122"/>
                <a:sym typeface="+mn-ea"/>
              </a:rPr>
              <a:t>调节带的预紧力</a:t>
            </a:r>
            <a:r>
              <a:rPr lang="zh-CN" altLang="en-US" sz="2600" dirty="0" smtClean="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F5C"/>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3"/>
          <p:cNvSpPr>
            <a:spLocks noGrp="1" noChangeArrowheads="1"/>
          </p:cNvSpPr>
          <p:nvPr>
            <p:ph type="body" idx="4294967295"/>
          </p:nvPr>
        </p:nvSpPr>
        <p:spPr>
          <a:xfrm>
            <a:off x="685800" y="130175"/>
            <a:ext cx="7772400" cy="6096000"/>
          </a:xfrm>
        </p:spPr>
        <p:txBody>
          <a:bodyPr/>
          <a:lstStyle/>
          <a:p>
            <a:pPr marL="0" indent="0" algn="just" eaLnBrk="1" hangingPunct="1">
              <a:lnSpc>
                <a:spcPct val="120000"/>
              </a:lnSpc>
              <a:buFontTx/>
              <a:buNone/>
            </a:pPr>
            <a:endParaRPr lang="en-US" sz="2000" dirty="0">
              <a:latin typeface="黑体" panose="02010609060101010101" pitchFamily="49" charset="-122"/>
              <a:ea typeface="黑体" panose="02010609060101010101" pitchFamily="49" charset="-122"/>
            </a:endParaRPr>
          </a:p>
          <a:p>
            <a:pPr marL="0" indent="0" algn="just" eaLnBrk="1" hangingPunct="1">
              <a:lnSpc>
                <a:spcPct val="120000"/>
              </a:lnSpc>
              <a:buFontTx/>
              <a:buNone/>
            </a:pPr>
            <a:r>
              <a:rPr lang="en-US" sz="2400" dirty="0">
                <a:latin typeface="黑体" panose="02010609060101010101" pitchFamily="49" charset="-122"/>
                <a:ea typeface="黑体" panose="02010609060101010101" pitchFamily="49" charset="-122"/>
              </a:rPr>
              <a:t>6</a:t>
            </a:r>
            <a:r>
              <a:rPr lang="zh-CN" altLang="en-US" sz="2400" dirty="0">
                <a:latin typeface="黑体" panose="02010609060101010101" pitchFamily="49" charset="-122"/>
                <a:ea typeface="黑体" panose="02010609060101010101" pitchFamily="49" charset="-122"/>
              </a:rPr>
              <a:t>、下列</a:t>
            </a:r>
            <a:r>
              <a:rPr lang="en-US" sz="2400" dirty="0">
                <a:latin typeface="黑体" panose="02010609060101010101" pitchFamily="49" charset="-122"/>
                <a:ea typeface="黑体" panose="02010609060101010101" pitchFamily="49" charset="-122"/>
              </a:rPr>
              <a:t>V</a:t>
            </a:r>
            <a:r>
              <a:rPr lang="zh-CN" altLang="en-US" sz="2400" dirty="0">
                <a:latin typeface="黑体" panose="02010609060101010101" pitchFamily="49" charset="-122"/>
                <a:ea typeface="黑体" panose="02010609060101010101" pitchFamily="49" charset="-122"/>
              </a:rPr>
              <a:t>带传动中，</a:t>
            </a:r>
            <a:r>
              <a:rPr lang="zh-CN" altLang="en-US" sz="2400" u="sng"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图的张紧轮位置是最合理的。</a:t>
            </a:r>
            <a:endParaRPr lang="zh-CN" altLang="en-US" sz="24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endParaRPr lang="en-US" sz="2400" dirty="0"/>
          </a:p>
        </p:txBody>
      </p:sp>
      <p:grpSp>
        <p:nvGrpSpPr>
          <p:cNvPr id="183299" name="Group 3"/>
          <p:cNvGrpSpPr/>
          <p:nvPr/>
        </p:nvGrpSpPr>
        <p:grpSpPr bwMode="auto">
          <a:xfrm>
            <a:off x="2078990" y="2012315"/>
            <a:ext cx="5248910" cy="3512185"/>
            <a:chOff x="0" y="0"/>
            <a:chExt cx="7061" cy="4281"/>
          </a:xfrm>
        </p:grpSpPr>
        <p:grpSp>
          <p:nvGrpSpPr>
            <p:cNvPr id="183300" name="Group 4"/>
            <p:cNvGrpSpPr/>
            <p:nvPr/>
          </p:nvGrpSpPr>
          <p:grpSpPr bwMode="auto">
            <a:xfrm>
              <a:off x="0" y="0"/>
              <a:ext cx="2901" cy="1861"/>
              <a:chOff x="0" y="0"/>
              <a:chExt cx="20012" cy="19999"/>
            </a:xfrm>
          </p:grpSpPr>
          <p:grpSp>
            <p:nvGrpSpPr>
              <p:cNvPr id="183301" name="Group 5"/>
              <p:cNvGrpSpPr/>
              <p:nvPr/>
            </p:nvGrpSpPr>
            <p:grpSpPr bwMode="auto">
              <a:xfrm>
                <a:off x="4691" y="11391"/>
                <a:ext cx="3042" cy="4524"/>
                <a:chOff x="0" y="0"/>
                <a:chExt cx="20014" cy="20000"/>
              </a:xfrm>
            </p:grpSpPr>
            <p:sp>
              <p:nvSpPr>
                <p:cNvPr id="183302" name="Oval 7"/>
                <p:cNvSpPr>
                  <a:spLocks noChangeArrowheads="1"/>
                </p:cNvSpPr>
                <p:nvPr/>
              </p:nvSpPr>
              <p:spPr bwMode="auto">
                <a:xfrm>
                  <a:off x="3632" y="1950"/>
                  <a:ext cx="12750" cy="14297"/>
                </a:xfrm>
                <a:prstGeom prst="ellipse">
                  <a:avLst/>
                </a:pr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03" name="Line 8"/>
                <p:cNvSpPr>
                  <a:spLocks noChangeShapeType="1"/>
                </p:cNvSpPr>
                <p:nvPr/>
              </p:nvSpPr>
              <p:spPr bwMode="auto">
                <a:xfrm>
                  <a:off x="0" y="8599"/>
                  <a:ext cx="20014" cy="49"/>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04" name="Line 9"/>
                <p:cNvSpPr>
                  <a:spLocks noChangeShapeType="1"/>
                </p:cNvSpPr>
                <p:nvPr/>
              </p:nvSpPr>
              <p:spPr bwMode="auto">
                <a:xfrm>
                  <a:off x="9987" y="0"/>
                  <a:ext cx="40" cy="20000"/>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05" name="Group 9"/>
              <p:cNvGrpSpPr/>
              <p:nvPr/>
            </p:nvGrpSpPr>
            <p:grpSpPr bwMode="auto">
              <a:xfrm>
                <a:off x="0" y="0"/>
                <a:ext cx="20012" cy="19999"/>
                <a:chOff x="0" y="0"/>
                <a:chExt cx="20002" cy="19999"/>
              </a:xfrm>
            </p:grpSpPr>
            <p:grpSp>
              <p:nvGrpSpPr>
                <p:cNvPr id="183306" name="Group 10"/>
                <p:cNvGrpSpPr/>
                <p:nvPr/>
              </p:nvGrpSpPr>
              <p:grpSpPr bwMode="auto">
                <a:xfrm>
                  <a:off x="0" y="0"/>
                  <a:ext cx="20002" cy="19999"/>
                  <a:chOff x="0" y="0"/>
                  <a:chExt cx="20002" cy="19999"/>
                </a:xfrm>
              </p:grpSpPr>
              <p:sp>
                <p:nvSpPr>
                  <p:cNvPr id="183307" name="Oval 12"/>
                  <p:cNvSpPr>
                    <a:spLocks noChangeArrowheads="1"/>
                  </p:cNvSpPr>
                  <p:nvPr/>
                </p:nvSpPr>
                <p:spPr bwMode="auto">
                  <a:xfrm>
                    <a:off x="966" y="6662"/>
                    <a:ext cx="4005" cy="6674"/>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08" name="Line 13"/>
                  <p:cNvSpPr>
                    <a:spLocks noChangeShapeType="1"/>
                  </p:cNvSpPr>
                  <p:nvPr/>
                </p:nvSpPr>
                <p:spPr bwMode="auto">
                  <a:xfrm>
                    <a:off x="0" y="9875"/>
                    <a:ext cx="20002" cy="1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09" name="Oval 14"/>
                  <p:cNvSpPr>
                    <a:spLocks noChangeArrowheads="1"/>
                  </p:cNvSpPr>
                  <p:nvPr/>
                </p:nvSpPr>
                <p:spPr bwMode="auto">
                  <a:xfrm>
                    <a:off x="12135" y="4728"/>
                    <a:ext cx="6488" cy="10327"/>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10" name="Line 15"/>
                  <p:cNvSpPr>
                    <a:spLocks noChangeShapeType="1"/>
                  </p:cNvSpPr>
                  <p:nvPr/>
                </p:nvSpPr>
                <p:spPr bwMode="auto">
                  <a:xfrm>
                    <a:off x="3033" y="0"/>
                    <a:ext cx="7" cy="19139"/>
                  </a:xfrm>
                  <a:prstGeom prst="line">
                    <a:avLst/>
                  </a:prstGeom>
                  <a:noFill/>
                  <a:ln w="952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11" name="Line 16"/>
                  <p:cNvSpPr>
                    <a:spLocks noChangeShapeType="1"/>
                  </p:cNvSpPr>
                  <p:nvPr/>
                </p:nvSpPr>
                <p:spPr bwMode="auto">
                  <a:xfrm>
                    <a:off x="15444" y="860"/>
                    <a:ext cx="7" cy="19139"/>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12" name="Group 16"/>
                <p:cNvGrpSpPr/>
                <p:nvPr/>
              </p:nvGrpSpPr>
              <p:grpSpPr bwMode="auto">
                <a:xfrm>
                  <a:off x="2206" y="8167"/>
                  <a:ext cx="2076" cy="2805"/>
                  <a:chOff x="0" y="0"/>
                  <a:chExt cx="20000" cy="20000"/>
                </a:xfrm>
              </p:grpSpPr>
              <p:sp>
                <p:nvSpPr>
                  <p:cNvPr id="183313" name="Arc 18"/>
                  <p:cNvSpPr/>
                  <p:nvPr/>
                </p:nvSpPr>
                <p:spPr bwMode="auto">
                  <a:xfrm>
                    <a:off x="0" y="0"/>
                    <a:ext cx="17341"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14" name="Freeform 19"/>
                  <p:cNvSpPr/>
                  <p:nvPr/>
                </p:nvSpPr>
                <p:spPr bwMode="auto">
                  <a:xfrm>
                    <a:off x="10626" y="10731"/>
                    <a:ext cx="9374" cy="9269"/>
                  </a:xfrm>
                  <a:custGeom>
                    <a:avLst/>
                    <a:gdLst>
                      <a:gd name="T0" fmla="*/ 0 w 20000"/>
                      <a:gd name="T1" fmla="*/ 3306 h 20000"/>
                      <a:gd name="T2" fmla="*/ 17021 w 20000"/>
                      <a:gd name="T3" fmla="*/ 19835 h 20000"/>
                      <a:gd name="T4" fmla="*/ 19858 w 20000"/>
                      <a:gd name="T5" fmla="*/ 0 h 20000"/>
                    </a:gdLst>
                    <a:ahLst/>
                    <a:cxnLst>
                      <a:cxn ang="0">
                        <a:pos x="T0" y="T1"/>
                      </a:cxn>
                      <a:cxn ang="0">
                        <a:pos x="T2" y="T3"/>
                      </a:cxn>
                      <a:cxn ang="0">
                        <a:pos x="T4" y="T5"/>
                      </a:cxn>
                    </a:cxnLst>
                    <a:rect l="0" t="0" r="r" b="b"/>
                    <a:pathLst>
                      <a:path w="20000" h="20000">
                        <a:moveTo>
                          <a:pt x="0" y="3306"/>
                        </a:moveTo>
                        <a:lnTo>
                          <a:pt x="17021" y="19835"/>
                        </a:lnTo>
                        <a:lnTo>
                          <a:pt x="19858"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sp>
            <p:nvSpPr>
              <p:cNvPr id="183315" name="Line 20"/>
              <p:cNvSpPr>
                <a:spLocks noChangeShapeType="1"/>
              </p:cNvSpPr>
              <p:nvPr/>
            </p:nvSpPr>
            <p:spPr bwMode="auto">
              <a:xfrm flipV="1">
                <a:off x="2759" y="4728"/>
                <a:ext cx="12562" cy="1945"/>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16" name="Line 21"/>
              <p:cNvSpPr>
                <a:spLocks noChangeShapeType="1"/>
              </p:cNvSpPr>
              <p:nvPr/>
            </p:nvSpPr>
            <p:spPr bwMode="auto">
              <a:xfrm>
                <a:off x="3035" y="13326"/>
                <a:ext cx="3042" cy="1730"/>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17" name="Line 22"/>
              <p:cNvSpPr>
                <a:spLocks noChangeShapeType="1"/>
              </p:cNvSpPr>
              <p:nvPr/>
            </p:nvSpPr>
            <p:spPr bwMode="auto">
              <a:xfrm>
                <a:off x="6346" y="15260"/>
                <a:ext cx="9113" cy="11"/>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18" name="Group 22"/>
            <p:cNvGrpSpPr/>
            <p:nvPr/>
          </p:nvGrpSpPr>
          <p:grpSpPr bwMode="auto">
            <a:xfrm>
              <a:off x="4140" y="60"/>
              <a:ext cx="2901" cy="1861"/>
              <a:chOff x="0" y="0"/>
              <a:chExt cx="20002" cy="20001"/>
            </a:xfrm>
          </p:grpSpPr>
          <p:grpSp>
            <p:nvGrpSpPr>
              <p:cNvPr id="183319" name="Group 23"/>
              <p:cNvGrpSpPr/>
              <p:nvPr/>
            </p:nvGrpSpPr>
            <p:grpSpPr bwMode="auto">
              <a:xfrm>
                <a:off x="0" y="0"/>
                <a:ext cx="20002" cy="20001"/>
                <a:chOff x="0" y="0"/>
                <a:chExt cx="20002" cy="20001"/>
              </a:xfrm>
            </p:grpSpPr>
            <p:grpSp>
              <p:nvGrpSpPr>
                <p:cNvPr id="183320" name="Group 24"/>
                <p:cNvGrpSpPr/>
                <p:nvPr/>
              </p:nvGrpSpPr>
              <p:grpSpPr bwMode="auto">
                <a:xfrm>
                  <a:off x="0" y="0"/>
                  <a:ext cx="20002" cy="20001"/>
                  <a:chOff x="0" y="0"/>
                  <a:chExt cx="20002" cy="20001"/>
                </a:xfrm>
              </p:grpSpPr>
              <p:sp>
                <p:nvSpPr>
                  <p:cNvPr id="183321" name="Oval 26"/>
                  <p:cNvSpPr>
                    <a:spLocks noChangeArrowheads="1"/>
                  </p:cNvSpPr>
                  <p:nvPr/>
                </p:nvSpPr>
                <p:spPr bwMode="auto">
                  <a:xfrm>
                    <a:off x="965" y="6663"/>
                    <a:ext cx="4006" cy="6674"/>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22" name="Line 27"/>
                  <p:cNvSpPr>
                    <a:spLocks noChangeShapeType="1"/>
                  </p:cNvSpPr>
                  <p:nvPr/>
                </p:nvSpPr>
                <p:spPr bwMode="auto">
                  <a:xfrm>
                    <a:off x="0" y="9876"/>
                    <a:ext cx="20002" cy="1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23" name="Oval 28"/>
                  <p:cNvSpPr>
                    <a:spLocks noChangeArrowheads="1"/>
                  </p:cNvSpPr>
                  <p:nvPr/>
                </p:nvSpPr>
                <p:spPr bwMode="auto">
                  <a:xfrm>
                    <a:off x="12135" y="4729"/>
                    <a:ext cx="6488" cy="10328"/>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24" name="Line 29"/>
                  <p:cNvSpPr>
                    <a:spLocks noChangeShapeType="1"/>
                  </p:cNvSpPr>
                  <p:nvPr/>
                </p:nvSpPr>
                <p:spPr bwMode="auto">
                  <a:xfrm>
                    <a:off x="3034" y="0"/>
                    <a:ext cx="7" cy="19141"/>
                  </a:xfrm>
                  <a:prstGeom prst="line">
                    <a:avLst/>
                  </a:prstGeom>
                  <a:noFill/>
                  <a:ln w="952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25" name="Line 30"/>
                  <p:cNvSpPr>
                    <a:spLocks noChangeShapeType="1"/>
                  </p:cNvSpPr>
                  <p:nvPr/>
                </p:nvSpPr>
                <p:spPr bwMode="auto">
                  <a:xfrm>
                    <a:off x="15444" y="860"/>
                    <a:ext cx="7" cy="1914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26" name="Group 30"/>
                <p:cNvGrpSpPr/>
                <p:nvPr/>
              </p:nvGrpSpPr>
              <p:grpSpPr bwMode="auto">
                <a:xfrm>
                  <a:off x="2206" y="8168"/>
                  <a:ext cx="2076" cy="2805"/>
                  <a:chOff x="0" y="0"/>
                  <a:chExt cx="20000" cy="20000"/>
                </a:xfrm>
              </p:grpSpPr>
              <p:sp>
                <p:nvSpPr>
                  <p:cNvPr id="183327" name="Arc 32"/>
                  <p:cNvSpPr/>
                  <p:nvPr/>
                </p:nvSpPr>
                <p:spPr bwMode="auto">
                  <a:xfrm>
                    <a:off x="0" y="0"/>
                    <a:ext cx="17341"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28" name="Freeform 33"/>
                  <p:cNvSpPr/>
                  <p:nvPr/>
                </p:nvSpPr>
                <p:spPr bwMode="auto">
                  <a:xfrm>
                    <a:off x="10636" y="10731"/>
                    <a:ext cx="9364" cy="9269"/>
                  </a:xfrm>
                  <a:custGeom>
                    <a:avLst/>
                    <a:gdLst>
                      <a:gd name="T0" fmla="*/ 0 w 20000"/>
                      <a:gd name="T1" fmla="*/ 3306 h 20000"/>
                      <a:gd name="T2" fmla="*/ 17021 w 20000"/>
                      <a:gd name="T3" fmla="*/ 19835 h 20000"/>
                      <a:gd name="T4" fmla="*/ 19858 w 20000"/>
                      <a:gd name="T5" fmla="*/ 0 h 20000"/>
                    </a:gdLst>
                    <a:ahLst/>
                    <a:cxnLst>
                      <a:cxn ang="0">
                        <a:pos x="T0" y="T1"/>
                      </a:cxn>
                      <a:cxn ang="0">
                        <a:pos x="T2" y="T3"/>
                      </a:cxn>
                      <a:cxn ang="0">
                        <a:pos x="T4" y="T5"/>
                      </a:cxn>
                    </a:cxnLst>
                    <a:rect l="0" t="0" r="r" b="b"/>
                    <a:pathLst>
                      <a:path w="20000" h="20000">
                        <a:moveTo>
                          <a:pt x="0" y="3306"/>
                        </a:moveTo>
                        <a:lnTo>
                          <a:pt x="17021" y="19835"/>
                        </a:lnTo>
                        <a:lnTo>
                          <a:pt x="19858"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grpSp>
            <p:nvGrpSpPr>
              <p:cNvPr id="183329" name="Group 33"/>
              <p:cNvGrpSpPr/>
              <p:nvPr/>
            </p:nvGrpSpPr>
            <p:grpSpPr bwMode="auto">
              <a:xfrm>
                <a:off x="5102" y="12037"/>
                <a:ext cx="3041" cy="4525"/>
                <a:chOff x="0" y="0"/>
                <a:chExt cx="20002" cy="20001"/>
              </a:xfrm>
            </p:grpSpPr>
            <p:sp>
              <p:nvSpPr>
                <p:cNvPr id="183330" name="Oval 35"/>
                <p:cNvSpPr>
                  <a:spLocks noChangeArrowheads="1"/>
                </p:cNvSpPr>
                <p:nvPr/>
              </p:nvSpPr>
              <p:spPr bwMode="auto">
                <a:xfrm>
                  <a:off x="3631" y="1949"/>
                  <a:ext cx="12740" cy="14299"/>
                </a:xfrm>
                <a:prstGeom prst="ellipse">
                  <a:avLst/>
                </a:pr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31" name="Line 36"/>
                <p:cNvSpPr>
                  <a:spLocks noChangeShapeType="1"/>
                </p:cNvSpPr>
                <p:nvPr/>
              </p:nvSpPr>
              <p:spPr bwMode="auto">
                <a:xfrm>
                  <a:off x="0" y="8597"/>
                  <a:ext cx="20002" cy="48"/>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32" name="Line 37"/>
                <p:cNvSpPr>
                  <a:spLocks noChangeShapeType="1"/>
                </p:cNvSpPr>
                <p:nvPr/>
              </p:nvSpPr>
              <p:spPr bwMode="auto">
                <a:xfrm>
                  <a:off x="9978" y="0"/>
                  <a:ext cx="46" cy="20001"/>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sp>
            <p:nvSpPr>
              <p:cNvPr id="183333" name="Line 38"/>
              <p:cNvSpPr>
                <a:spLocks noChangeShapeType="1"/>
              </p:cNvSpPr>
              <p:nvPr/>
            </p:nvSpPr>
            <p:spPr bwMode="auto">
              <a:xfrm flipV="1">
                <a:off x="2620" y="4944"/>
                <a:ext cx="12280" cy="1730"/>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34" name="Line 39"/>
              <p:cNvSpPr>
                <a:spLocks noChangeShapeType="1"/>
              </p:cNvSpPr>
              <p:nvPr/>
            </p:nvSpPr>
            <p:spPr bwMode="auto">
              <a:xfrm flipV="1">
                <a:off x="3034" y="12467"/>
                <a:ext cx="3454" cy="656"/>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35" name="Line 40"/>
              <p:cNvSpPr>
                <a:spLocks noChangeShapeType="1"/>
              </p:cNvSpPr>
              <p:nvPr/>
            </p:nvSpPr>
            <p:spPr bwMode="auto">
              <a:xfrm>
                <a:off x="6895" y="12467"/>
                <a:ext cx="8005" cy="2805"/>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36" name="Group 40"/>
            <p:cNvGrpSpPr/>
            <p:nvPr/>
          </p:nvGrpSpPr>
          <p:grpSpPr bwMode="auto">
            <a:xfrm>
              <a:off x="0" y="2400"/>
              <a:ext cx="2901" cy="1861"/>
              <a:chOff x="0" y="0"/>
              <a:chExt cx="20002" cy="20001"/>
            </a:xfrm>
          </p:grpSpPr>
          <p:grpSp>
            <p:nvGrpSpPr>
              <p:cNvPr id="183337" name="Group 41"/>
              <p:cNvGrpSpPr/>
              <p:nvPr/>
            </p:nvGrpSpPr>
            <p:grpSpPr bwMode="auto">
              <a:xfrm>
                <a:off x="0" y="0"/>
                <a:ext cx="20002" cy="20001"/>
                <a:chOff x="0" y="0"/>
                <a:chExt cx="20002" cy="20001"/>
              </a:xfrm>
            </p:grpSpPr>
            <p:grpSp>
              <p:nvGrpSpPr>
                <p:cNvPr id="183338" name="Group 42"/>
                <p:cNvGrpSpPr/>
                <p:nvPr/>
              </p:nvGrpSpPr>
              <p:grpSpPr bwMode="auto">
                <a:xfrm>
                  <a:off x="0" y="0"/>
                  <a:ext cx="20002" cy="20001"/>
                  <a:chOff x="0" y="0"/>
                  <a:chExt cx="20002" cy="20001"/>
                </a:xfrm>
              </p:grpSpPr>
              <p:sp>
                <p:nvSpPr>
                  <p:cNvPr id="183339" name="Oval 44"/>
                  <p:cNvSpPr>
                    <a:spLocks noChangeArrowheads="1"/>
                  </p:cNvSpPr>
                  <p:nvPr/>
                </p:nvSpPr>
                <p:spPr bwMode="auto">
                  <a:xfrm>
                    <a:off x="965" y="6663"/>
                    <a:ext cx="4006" cy="6674"/>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40" name="Line 45"/>
                  <p:cNvSpPr>
                    <a:spLocks noChangeShapeType="1"/>
                  </p:cNvSpPr>
                  <p:nvPr/>
                </p:nvSpPr>
                <p:spPr bwMode="auto">
                  <a:xfrm>
                    <a:off x="0" y="9876"/>
                    <a:ext cx="20002" cy="1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41" name="Oval 46"/>
                  <p:cNvSpPr>
                    <a:spLocks noChangeArrowheads="1"/>
                  </p:cNvSpPr>
                  <p:nvPr/>
                </p:nvSpPr>
                <p:spPr bwMode="auto">
                  <a:xfrm>
                    <a:off x="12135" y="4729"/>
                    <a:ext cx="6488" cy="10328"/>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42" name="Line 47"/>
                  <p:cNvSpPr>
                    <a:spLocks noChangeShapeType="1"/>
                  </p:cNvSpPr>
                  <p:nvPr/>
                </p:nvSpPr>
                <p:spPr bwMode="auto">
                  <a:xfrm>
                    <a:off x="3034" y="0"/>
                    <a:ext cx="7" cy="19141"/>
                  </a:xfrm>
                  <a:prstGeom prst="line">
                    <a:avLst/>
                  </a:prstGeom>
                  <a:noFill/>
                  <a:ln w="952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43" name="Line 48"/>
                  <p:cNvSpPr>
                    <a:spLocks noChangeShapeType="1"/>
                  </p:cNvSpPr>
                  <p:nvPr/>
                </p:nvSpPr>
                <p:spPr bwMode="auto">
                  <a:xfrm>
                    <a:off x="15444" y="860"/>
                    <a:ext cx="7" cy="1914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44" name="Group 48"/>
                <p:cNvGrpSpPr/>
                <p:nvPr/>
              </p:nvGrpSpPr>
              <p:grpSpPr bwMode="auto">
                <a:xfrm>
                  <a:off x="2206" y="8168"/>
                  <a:ext cx="2076" cy="2805"/>
                  <a:chOff x="0" y="0"/>
                  <a:chExt cx="20000" cy="20000"/>
                </a:xfrm>
              </p:grpSpPr>
              <p:sp>
                <p:nvSpPr>
                  <p:cNvPr id="183345" name="Arc 50"/>
                  <p:cNvSpPr/>
                  <p:nvPr/>
                </p:nvSpPr>
                <p:spPr bwMode="auto">
                  <a:xfrm>
                    <a:off x="0" y="0"/>
                    <a:ext cx="17341"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46" name="Freeform 51"/>
                  <p:cNvSpPr/>
                  <p:nvPr/>
                </p:nvSpPr>
                <p:spPr bwMode="auto">
                  <a:xfrm>
                    <a:off x="10636" y="10731"/>
                    <a:ext cx="9364" cy="9269"/>
                  </a:xfrm>
                  <a:custGeom>
                    <a:avLst/>
                    <a:gdLst>
                      <a:gd name="T0" fmla="*/ 0 w 20000"/>
                      <a:gd name="T1" fmla="*/ 3306 h 20000"/>
                      <a:gd name="T2" fmla="*/ 17021 w 20000"/>
                      <a:gd name="T3" fmla="*/ 19835 h 20000"/>
                      <a:gd name="T4" fmla="*/ 19858 w 20000"/>
                      <a:gd name="T5" fmla="*/ 0 h 20000"/>
                    </a:gdLst>
                    <a:ahLst/>
                    <a:cxnLst>
                      <a:cxn ang="0">
                        <a:pos x="T0" y="T1"/>
                      </a:cxn>
                      <a:cxn ang="0">
                        <a:pos x="T2" y="T3"/>
                      </a:cxn>
                      <a:cxn ang="0">
                        <a:pos x="T4" y="T5"/>
                      </a:cxn>
                    </a:cxnLst>
                    <a:rect l="0" t="0" r="r" b="b"/>
                    <a:pathLst>
                      <a:path w="20000" h="20000">
                        <a:moveTo>
                          <a:pt x="0" y="3306"/>
                        </a:moveTo>
                        <a:lnTo>
                          <a:pt x="17021" y="19835"/>
                        </a:lnTo>
                        <a:lnTo>
                          <a:pt x="19858"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grpSp>
            <p:nvGrpSpPr>
              <p:cNvPr id="183347" name="Group 51"/>
              <p:cNvGrpSpPr/>
              <p:nvPr/>
            </p:nvGrpSpPr>
            <p:grpSpPr bwMode="auto">
              <a:xfrm>
                <a:off x="8963" y="3224"/>
                <a:ext cx="3041" cy="4525"/>
                <a:chOff x="0" y="0"/>
                <a:chExt cx="20002" cy="20001"/>
              </a:xfrm>
            </p:grpSpPr>
            <p:sp>
              <p:nvSpPr>
                <p:cNvPr id="183348" name="Oval 53"/>
                <p:cNvSpPr>
                  <a:spLocks noChangeArrowheads="1"/>
                </p:cNvSpPr>
                <p:nvPr/>
              </p:nvSpPr>
              <p:spPr bwMode="auto">
                <a:xfrm>
                  <a:off x="3631" y="1949"/>
                  <a:ext cx="12740" cy="14299"/>
                </a:xfrm>
                <a:prstGeom prst="ellipse">
                  <a:avLst/>
                </a:pr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49" name="Line 54"/>
                <p:cNvSpPr>
                  <a:spLocks noChangeShapeType="1"/>
                </p:cNvSpPr>
                <p:nvPr/>
              </p:nvSpPr>
              <p:spPr bwMode="auto">
                <a:xfrm>
                  <a:off x="0" y="8601"/>
                  <a:ext cx="20002" cy="44"/>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50" name="Line 55"/>
                <p:cNvSpPr>
                  <a:spLocks noChangeShapeType="1"/>
                </p:cNvSpPr>
                <p:nvPr/>
              </p:nvSpPr>
              <p:spPr bwMode="auto">
                <a:xfrm>
                  <a:off x="9978" y="0"/>
                  <a:ext cx="46" cy="20001"/>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sp>
            <p:nvSpPr>
              <p:cNvPr id="183351" name="Line 56"/>
              <p:cNvSpPr>
                <a:spLocks noChangeShapeType="1"/>
              </p:cNvSpPr>
              <p:nvPr/>
            </p:nvSpPr>
            <p:spPr bwMode="auto">
              <a:xfrm>
                <a:off x="3034" y="13327"/>
                <a:ext cx="12142" cy="1730"/>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52" name="Line 57"/>
              <p:cNvSpPr>
                <a:spLocks noChangeShapeType="1"/>
              </p:cNvSpPr>
              <p:nvPr/>
            </p:nvSpPr>
            <p:spPr bwMode="auto">
              <a:xfrm flipV="1">
                <a:off x="2758" y="3869"/>
                <a:ext cx="7591" cy="3020"/>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53" name="Line 58"/>
              <p:cNvSpPr>
                <a:spLocks noChangeShapeType="1"/>
              </p:cNvSpPr>
              <p:nvPr/>
            </p:nvSpPr>
            <p:spPr bwMode="auto">
              <a:xfrm flipH="1" flipV="1">
                <a:off x="10618" y="3869"/>
                <a:ext cx="4833" cy="871"/>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54" name="Group 58"/>
            <p:cNvGrpSpPr/>
            <p:nvPr/>
          </p:nvGrpSpPr>
          <p:grpSpPr bwMode="auto">
            <a:xfrm>
              <a:off x="4160" y="2420"/>
              <a:ext cx="2901" cy="1861"/>
              <a:chOff x="0" y="0"/>
              <a:chExt cx="20009" cy="20003"/>
            </a:xfrm>
          </p:grpSpPr>
          <p:grpSp>
            <p:nvGrpSpPr>
              <p:cNvPr id="183355" name="Group 59"/>
              <p:cNvGrpSpPr/>
              <p:nvPr/>
            </p:nvGrpSpPr>
            <p:grpSpPr bwMode="auto">
              <a:xfrm>
                <a:off x="5104" y="3644"/>
                <a:ext cx="3042" cy="4525"/>
                <a:chOff x="0" y="0"/>
                <a:chExt cx="20014" cy="20001"/>
              </a:xfrm>
            </p:grpSpPr>
            <p:sp>
              <p:nvSpPr>
                <p:cNvPr id="183356" name="Oval 61"/>
                <p:cNvSpPr>
                  <a:spLocks noChangeArrowheads="1"/>
                </p:cNvSpPr>
                <p:nvPr/>
              </p:nvSpPr>
              <p:spPr bwMode="auto">
                <a:xfrm>
                  <a:off x="3632" y="1949"/>
                  <a:ext cx="12750" cy="14299"/>
                </a:xfrm>
                <a:prstGeom prst="ellipse">
                  <a:avLst/>
                </a:pr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57" name="Line 62"/>
                <p:cNvSpPr>
                  <a:spLocks noChangeShapeType="1"/>
                </p:cNvSpPr>
                <p:nvPr/>
              </p:nvSpPr>
              <p:spPr bwMode="auto">
                <a:xfrm>
                  <a:off x="0" y="8601"/>
                  <a:ext cx="20014" cy="44"/>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58" name="Line 63"/>
                <p:cNvSpPr>
                  <a:spLocks noChangeShapeType="1"/>
                </p:cNvSpPr>
                <p:nvPr/>
              </p:nvSpPr>
              <p:spPr bwMode="auto">
                <a:xfrm>
                  <a:off x="9987" y="0"/>
                  <a:ext cx="40" cy="20001"/>
                </a:xfrm>
                <a:prstGeom prst="line">
                  <a:avLst/>
                </a:prstGeom>
                <a:noFill/>
                <a:ln w="6350" cmpd="sng">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59" name="Group 63"/>
              <p:cNvGrpSpPr/>
              <p:nvPr/>
            </p:nvGrpSpPr>
            <p:grpSpPr bwMode="auto">
              <a:xfrm>
                <a:off x="0" y="0"/>
                <a:ext cx="20009" cy="20003"/>
                <a:chOff x="0" y="0"/>
                <a:chExt cx="19999" cy="20002"/>
              </a:xfrm>
            </p:grpSpPr>
            <p:grpSp>
              <p:nvGrpSpPr>
                <p:cNvPr id="183360" name="Group 64"/>
                <p:cNvGrpSpPr/>
                <p:nvPr/>
              </p:nvGrpSpPr>
              <p:grpSpPr bwMode="auto">
                <a:xfrm>
                  <a:off x="0" y="0"/>
                  <a:ext cx="19999" cy="20002"/>
                  <a:chOff x="0" y="0"/>
                  <a:chExt cx="19999" cy="20002"/>
                </a:xfrm>
              </p:grpSpPr>
              <p:sp>
                <p:nvSpPr>
                  <p:cNvPr id="183361" name="Oval 66"/>
                  <p:cNvSpPr>
                    <a:spLocks noChangeArrowheads="1"/>
                  </p:cNvSpPr>
                  <p:nvPr/>
                </p:nvSpPr>
                <p:spPr bwMode="auto">
                  <a:xfrm>
                    <a:off x="966" y="6664"/>
                    <a:ext cx="4005" cy="6674"/>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62" name="Line 67"/>
                  <p:cNvSpPr>
                    <a:spLocks noChangeShapeType="1"/>
                  </p:cNvSpPr>
                  <p:nvPr/>
                </p:nvSpPr>
                <p:spPr bwMode="auto">
                  <a:xfrm>
                    <a:off x="0" y="9878"/>
                    <a:ext cx="19999" cy="11"/>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63" name="Oval 68"/>
                  <p:cNvSpPr>
                    <a:spLocks noChangeArrowheads="1"/>
                  </p:cNvSpPr>
                  <p:nvPr/>
                </p:nvSpPr>
                <p:spPr bwMode="auto">
                  <a:xfrm>
                    <a:off x="12133" y="4730"/>
                    <a:ext cx="6488" cy="10328"/>
                  </a:xfrm>
                  <a:prstGeom prst="ellipse">
                    <a:avLst/>
                  </a:prstGeom>
                  <a:noFill/>
                  <a:ln w="952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0" hangingPunct="0">
                      <a:buFontTx/>
                      <a:buNone/>
                    </a:pPr>
                    <a:endParaRPr lang="zh-CN" altLang="en-US">
                      <a:solidFill>
                        <a:srgbClr val="000000"/>
                      </a:solidFill>
                    </a:endParaRPr>
                  </a:p>
                </p:txBody>
              </p:sp>
              <p:sp>
                <p:nvSpPr>
                  <p:cNvPr id="183364" name="Line 69"/>
                  <p:cNvSpPr>
                    <a:spLocks noChangeShapeType="1"/>
                  </p:cNvSpPr>
                  <p:nvPr/>
                </p:nvSpPr>
                <p:spPr bwMode="auto">
                  <a:xfrm>
                    <a:off x="3033" y="0"/>
                    <a:ext cx="7" cy="19142"/>
                  </a:xfrm>
                  <a:prstGeom prst="line">
                    <a:avLst/>
                  </a:prstGeom>
                  <a:noFill/>
                  <a:ln w="952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65" name="Line 70"/>
                  <p:cNvSpPr>
                    <a:spLocks noChangeShapeType="1"/>
                  </p:cNvSpPr>
                  <p:nvPr/>
                </p:nvSpPr>
                <p:spPr bwMode="auto">
                  <a:xfrm>
                    <a:off x="15442" y="860"/>
                    <a:ext cx="7" cy="19142"/>
                  </a:xfrm>
                  <a:prstGeom prst="line">
                    <a:avLst/>
                  </a:prstGeom>
                  <a:noFill/>
                  <a:ln w="317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83366" name="Group 70"/>
                <p:cNvGrpSpPr/>
                <p:nvPr/>
              </p:nvGrpSpPr>
              <p:grpSpPr bwMode="auto">
                <a:xfrm>
                  <a:off x="2206" y="8169"/>
                  <a:ext cx="2075" cy="2804"/>
                  <a:chOff x="0" y="0"/>
                  <a:chExt cx="20000" cy="20000"/>
                </a:xfrm>
              </p:grpSpPr>
              <p:sp>
                <p:nvSpPr>
                  <p:cNvPr id="183367" name="Arc 72"/>
                  <p:cNvSpPr/>
                  <p:nvPr/>
                </p:nvSpPr>
                <p:spPr bwMode="auto">
                  <a:xfrm>
                    <a:off x="0" y="0"/>
                    <a:ext cx="17340"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68" name="Freeform 73"/>
                  <p:cNvSpPr/>
                  <p:nvPr/>
                </p:nvSpPr>
                <p:spPr bwMode="auto">
                  <a:xfrm>
                    <a:off x="10631" y="10735"/>
                    <a:ext cx="9369" cy="9265"/>
                  </a:xfrm>
                  <a:custGeom>
                    <a:avLst/>
                    <a:gdLst>
                      <a:gd name="T0" fmla="*/ 0 w 20000"/>
                      <a:gd name="T1" fmla="*/ 3306 h 20000"/>
                      <a:gd name="T2" fmla="*/ 17021 w 20000"/>
                      <a:gd name="T3" fmla="*/ 19835 h 20000"/>
                      <a:gd name="T4" fmla="*/ 19858 w 20000"/>
                      <a:gd name="T5" fmla="*/ 0 h 20000"/>
                    </a:gdLst>
                    <a:ahLst/>
                    <a:cxnLst>
                      <a:cxn ang="0">
                        <a:pos x="T0" y="T1"/>
                      </a:cxn>
                      <a:cxn ang="0">
                        <a:pos x="T2" y="T3"/>
                      </a:cxn>
                      <a:cxn ang="0">
                        <a:pos x="T4" y="T5"/>
                      </a:cxn>
                    </a:cxnLst>
                    <a:rect l="0" t="0" r="r" b="b"/>
                    <a:pathLst>
                      <a:path w="20000" h="20000">
                        <a:moveTo>
                          <a:pt x="0" y="3306"/>
                        </a:moveTo>
                        <a:lnTo>
                          <a:pt x="17021" y="19835"/>
                        </a:lnTo>
                        <a:lnTo>
                          <a:pt x="19858" y="0"/>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sp>
            <p:nvSpPr>
              <p:cNvPr id="183369" name="Line 74"/>
              <p:cNvSpPr>
                <a:spLocks noChangeShapeType="1"/>
              </p:cNvSpPr>
              <p:nvPr/>
            </p:nvSpPr>
            <p:spPr bwMode="auto">
              <a:xfrm>
                <a:off x="3035" y="13328"/>
                <a:ext cx="12560" cy="1946"/>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70" name="Line 75"/>
              <p:cNvSpPr>
                <a:spLocks noChangeShapeType="1"/>
              </p:cNvSpPr>
              <p:nvPr/>
            </p:nvSpPr>
            <p:spPr bwMode="auto">
              <a:xfrm>
                <a:off x="3035" y="6653"/>
                <a:ext cx="3593" cy="656"/>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3371" name="Line 76"/>
              <p:cNvSpPr>
                <a:spLocks noChangeShapeType="1"/>
              </p:cNvSpPr>
              <p:nvPr/>
            </p:nvSpPr>
            <p:spPr bwMode="auto">
              <a:xfrm flipV="1">
                <a:off x="6621" y="4934"/>
                <a:ext cx="8560" cy="2590"/>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buFontTx/>
                  <a:buNone/>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sp>
        <p:nvSpPr>
          <p:cNvPr id="183372" name="Text Box 77"/>
          <p:cNvSpPr txBox="1">
            <a:spLocks noChangeArrowheads="1"/>
          </p:cNvSpPr>
          <p:nvPr/>
        </p:nvSpPr>
        <p:spPr bwMode="auto">
          <a:xfrm>
            <a:off x="2839720" y="3537585"/>
            <a:ext cx="5334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dirty="0">
                <a:solidFill>
                  <a:srgbClr val="000000"/>
                </a:solidFill>
              </a:rPr>
              <a:t>1)</a:t>
            </a:r>
            <a:endParaRPr lang="en-US" dirty="0">
              <a:solidFill>
                <a:srgbClr val="000000"/>
              </a:solidFill>
            </a:endParaRPr>
          </a:p>
        </p:txBody>
      </p:sp>
      <p:sp>
        <p:nvSpPr>
          <p:cNvPr id="183373" name="Text Box 78"/>
          <p:cNvSpPr txBox="1">
            <a:spLocks noChangeArrowheads="1"/>
          </p:cNvSpPr>
          <p:nvPr/>
        </p:nvSpPr>
        <p:spPr bwMode="auto">
          <a:xfrm>
            <a:off x="6049010" y="3473450"/>
            <a:ext cx="5334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solidFill>
                  <a:srgbClr val="000000"/>
                </a:solidFill>
              </a:rPr>
              <a:t>2)</a:t>
            </a:r>
            <a:endParaRPr lang="en-US">
              <a:solidFill>
                <a:srgbClr val="000000"/>
              </a:solidFill>
            </a:endParaRPr>
          </a:p>
        </p:txBody>
      </p:sp>
      <p:sp>
        <p:nvSpPr>
          <p:cNvPr id="183374" name="Text Box 79"/>
          <p:cNvSpPr txBox="1">
            <a:spLocks noChangeArrowheads="1"/>
          </p:cNvSpPr>
          <p:nvPr/>
        </p:nvSpPr>
        <p:spPr bwMode="auto">
          <a:xfrm>
            <a:off x="2853690" y="5442585"/>
            <a:ext cx="5334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solidFill>
                  <a:srgbClr val="000000"/>
                </a:solidFill>
              </a:rPr>
              <a:t>3)</a:t>
            </a:r>
            <a:endParaRPr lang="en-US">
              <a:solidFill>
                <a:srgbClr val="000000"/>
              </a:solidFill>
            </a:endParaRPr>
          </a:p>
        </p:txBody>
      </p:sp>
      <p:sp>
        <p:nvSpPr>
          <p:cNvPr id="183375" name="Text Box 80"/>
          <p:cNvSpPr txBox="1">
            <a:spLocks noChangeArrowheads="1"/>
          </p:cNvSpPr>
          <p:nvPr/>
        </p:nvSpPr>
        <p:spPr bwMode="auto">
          <a:xfrm>
            <a:off x="5946140" y="5459095"/>
            <a:ext cx="5334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solidFill>
                  <a:srgbClr val="000000"/>
                </a:solidFill>
              </a:rPr>
              <a:t>4)</a:t>
            </a:r>
            <a:endParaRPr lang="en-US">
              <a:solidFill>
                <a:srgbClr val="000000"/>
              </a:solidFill>
            </a:endParaRPr>
          </a:p>
        </p:txBody>
      </p:sp>
      <p:sp>
        <p:nvSpPr>
          <p:cNvPr id="183379" name="Text Box 84"/>
          <p:cNvSpPr txBox="1">
            <a:spLocks noChangeArrowheads="1"/>
          </p:cNvSpPr>
          <p:nvPr/>
        </p:nvSpPr>
        <p:spPr bwMode="auto">
          <a:xfrm>
            <a:off x="3745245" y="544701"/>
            <a:ext cx="3810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en-US" altLang="zh-CN">
                <a:solidFill>
                  <a:srgbClr val="FF3300"/>
                </a:solidFill>
              </a:rPr>
              <a:t>3</a:t>
            </a:r>
            <a:r>
              <a:rPr lang="zh-CN" altLang="en-US">
                <a:solidFill>
                  <a:srgbClr val="FF3300"/>
                </a:solidFill>
              </a:rPr>
              <a:t>）</a:t>
            </a:r>
            <a:endParaRPr lang="zh-CN" altLang="en-US">
              <a:solidFill>
                <a:srgbClr val="FF33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83298">
                                            <p:txEl>
                                              <p:pRg st="1" end="1"/>
                                            </p:txEl>
                                          </p:spTgt>
                                        </p:tgtEl>
                                        <p:attrNameLst>
                                          <p:attrName>style.visibility</p:attrName>
                                        </p:attrNameLst>
                                      </p:cBhvr>
                                      <p:to>
                                        <p:strVal val="visible"/>
                                      </p:to>
                                    </p:set>
                                    <p:animEffect transition="in" filter="wipe(left)">
                                      <p:cBhvr>
                                        <p:cTn id="7" dur="500"/>
                                        <p:tgtEl>
                                          <p:spTgt spid="18329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3299"/>
                                        </p:tgtEl>
                                        <p:attrNameLst>
                                          <p:attrName>style.visibility</p:attrName>
                                        </p:attrNameLst>
                                      </p:cBhvr>
                                      <p:to>
                                        <p:strVal val="visible"/>
                                      </p:to>
                                    </p:set>
                                    <p:animEffect transition="in" filter="wipe(left)">
                                      <p:cBhvr>
                                        <p:cTn id="12" dur="500"/>
                                        <p:tgtEl>
                                          <p:spTgt spid="18329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83372"/>
                                        </p:tgtEl>
                                        <p:attrNameLst>
                                          <p:attrName>style.visibility</p:attrName>
                                        </p:attrNameLst>
                                      </p:cBhvr>
                                      <p:to>
                                        <p:strVal val="visible"/>
                                      </p:to>
                                    </p:set>
                                    <p:animEffect transition="in" filter="wipe(left)">
                                      <p:cBhvr>
                                        <p:cTn id="15" dur="500"/>
                                        <p:tgtEl>
                                          <p:spTgt spid="18337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3373"/>
                                        </p:tgtEl>
                                        <p:attrNameLst>
                                          <p:attrName>style.visibility</p:attrName>
                                        </p:attrNameLst>
                                      </p:cBhvr>
                                      <p:to>
                                        <p:strVal val="visible"/>
                                      </p:to>
                                    </p:set>
                                    <p:animEffect transition="in" filter="wipe(left)">
                                      <p:cBhvr>
                                        <p:cTn id="18" dur="500"/>
                                        <p:tgtEl>
                                          <p:spTgt spid="18337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83375"/>
                                        </p:tgtEl>
                                        <p:attrNameLst>
                                          <p:attrName>style.visibility</p:attrName>
                                        </p:attrNameLst>
                                      </p:cBhvr>
                                      <p:to>
                                        <p:strVal val="visible"/>
                                      </p:to>
                                    </p:set>
                                    <p:animEffect transition="in" filter="wipe(left)">
                                      <p:cBhvr>
                                        <p:cTn id="21" dur="500"/>
                                        <p:tgtEl>
                                          <p:spTgt spid="18337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83374"/>
                                        </p:tgtEl>
                                        <p:attrNameLst>
                                          <p:attrName>style.visibility</p:attrName>
                                        </p:attrNameLst>
                                      </p:cBhvr>
                                      <p:to>
                                        <p:strVal val="visible"/>
                                      </p:to>
                                    </p:set>
                                    <p:animEffect transition="in" filter="wipe(left)">
                                      <p:cBhvr>
                                        <p:cTn id="24" dur="500"/>
                                        <p:tgtEl>
                                          <p:spTgt spid="18337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 fill="hold">
                                          <p:stCondLst>
                                            <p:cond delay="0"/>
                                          </p:stCondLst>
                                        </p:cTn>
                                        <p:tgtEl>
                                          <p:spTgt spid="183379">
                                            <p:txEl>
                                              <p:pRg st="0" end="0"/>
                                            </p:txEl>
                                          </p:spTgt>
                                        </p:tgtEl>
                                        <p:attrNameLst>
                                          <p:attrName>style.visibility</p:attrName>
                                        </p:attrNameLst>
                                      </p:cBhvr>
                                      <p:to>
                                        <p:strVal val="visible"/>
                                      </p:to>
                                    </p:set>
                                    <p:anim calcmode="lin" valueType="num">
                                      <p:cBhvr additive="base">
                                        <p:cTn id="29" dur="75" fill="hold"/>
                                        <p:tgtEl>
                                          <p:spTgt spid="183379">
                                            <p:txEl>
                                              <p:pRg st="0" end="0"/>
                                            </p:txEl>
                                          </p:spTgt>
                                        </p:tgtEl>
                                        <p:attrNameLst>
                                          <p:attrName>ppt_x</p:attrName>
                                        </p:attrNameLst>
                                      </p:cBhvr>
                                      <p:tavLst>
                                        <p:tav tm="0">
                                          <p:val>
                                            <p:strVal val="1+#ppt_w/2"/>
                                          </p:val>
                                        </p:tav>
                                        <p:tav tm="100000">
                                          <p:val>
                                            <p:strVal val="#ppt_x"/>
                                          </p:val>
                                        </p:tav>
                                      </p:tavLst>
                                    </p:anim>
                                    <p:anim calcmode="lin" valueType="num">
                                      <p:cBhvr additive="base">
                                        <p:cTn id="30" dur="75" fill="hold"/>
                                        <p:tgtEl>
                                          <p:spTgt spid="183379">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72" grpId="0"/>
      <p:bldP spid="183373" grpId="0"/>
      <p:bldP spid="183374" grpId="0"/>
      <p:bldP spid="183375" grpId="0"/>
      <p:bldP spid="183379"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76555" y="2866390"/>
            <a:ext cx="802005" cy="429895"/>
          </a:xfrm>
          <a:prstGeom prst="rect">
            <a:avLst/>
          </a:prstGeom>
          <a:noFill/>
        </p:spPr>
        <p:txBody>
          <a:bodyPr wrap="square" rtlCol="0">
            <a:spAutoFit/>
          </a:bodyPr>
          <a:p>
            <a:r>
              <a:rPr lang="zh-CN" altLang="en-US"/>
              <a:t>解：</a:t>
            </a:r>
            <a:endParaRPr lang="zh-CN" altLang="en-US"/>
          </a:p>
        </p:txBody>
      </p:sp>
      <p:pic>
        <p:nvPicPr>
          <p:cNvPr id="13" name="图片 12"/>
          <p:cNvPicPr>
            <a:picLocks noChangeAspect="1"/>
          </p:cNvPicPr>
          <p:nvPr/>
        </p:nvPicPr>
        <p:blipFill>
          <a:blip r:embed="rId1"/>
          <a:stretch>
            <a:fillRect/>
          </a:stretch>
        </p:blipFill>
        <p:spPr>
          <a:xfrm>
            <a:off x="998855" y="2582545"/>
            <a:ext cx="6057265" cy="1385570"/>
          </a:xfrm>
          <a:prstGeom prst="rect">
            <a:avLst/>
          </a:prstGeom>
        </p:spPr>
      </p:pic>
      <p:pic>
        <p:nvPicPr>
          <p:cNvPr id="14" name="图片 13"/>
          <p:cNvPicPr>
            <a:picLocks noChangeAspect="1"/>
          </p:cNvPicPr>
          <p:nvPr/>
        </p:nvPicPr>
        <p:blipFill>
          <a:blip r:embed="rId2"/>
          <a:stretch>
            <a:fillRect/>
          </a:stretch>
        </p:blipFill>
        <p:spPr>
          <a:xfrm>
            <a:off x="575310" y="4073525"/>
            <a:ext cx="5182235" cy="716915"/>
          </a:xfrm>
          <a:prstGeom prst="rect">
            <a:avLst/>
          </a:prstGeom>
        </p:spPr>
      </p:pic>
      <p:pic>
        <p:nvPicPr>
          <p:cNvPr id="15" name="图片 14"/>
          <p:cNvPicPr>
            <a:picLocks noChangeAspect="1"/>
          </p:cNvPicPr>
          <p:nvPr/>
        </p:nvPicPr>
        <p:blipFill>
          <a:blip r:embed="rId3"/>
          <a:stretch>
            <a:fillRect/>
          </a:stretch>
        </p:blipFill>
        <p:spPr>
          <a:xfrm>
            <a:off x="575310" y="5128260"/>
            <a:ext cx="8359140" cy="819785"/>
          </a:xfrm>
          <a:prstGeom prst="rect">
            <a:avLst/>
          </a:prstGeom>
        </p:spPr>
      </p:pic>
      <p:pic>
        <p:nvPicPr>
          <p:cNvPr id="16" name="图片 15"/>
          <p:cNvPicPr>
            <a:picLocks noChangeAspect="1"/>
          </p:cNvPicPr>
          <p:nvPr/>
        </p:nvPicPr>
        <p:blipFill>
          <a:blip r:embed="rId4"/>
          <a:stretch>
            <a:fillRect/>
          </a:stretch>
        </p:blipFill>
        <p:spPr>
          <a:xfrm>
            <a:off x="501015" y="238125"/>
            <a:ext cx="8336280" cy="2238375"/>
          </a:xfrm>
          <a:prstGeom prst="rect">
            <a:avLst/>
          </a:prstGeom>
        </p:spPr>
      </p:pic>
      <p:sp>
        <p:nvSpPr>
          <p:cNvPr id="17" name="文本框 16"/>
          <p:cNvSpPr txBox="1"/>
          <p:nvPr/>
        </p:nvSpPr>
        <p:spPr>
          <a:xfrm>
            <a:off x="71755" y="328295"/>
            <a:ext cx="635000" cy="429895"/>
          </a:xfrm>
          <a:prstGeom prst="rect">
            <a:avLst/>
          </a:prstGeom>
          <a:noFill/>
        </p:spPr>
        <p:txBody>
          <a:bodyPr wrap="square" rtlCol="0">
            <a:spAutoFit/>
          </a:bodyPr>
          <a:p>
            <a:r>
              <a:rPr lang="zh-CN" altLang="en-US">
                <a:solidFill>
                  <a:srgbClr val="FF0000"/>
                </a:solidFill>
              </a:rPr>
              <a:t>例</a:t>
            </a:r>
            <a:r>
              <a:rPr lang="en-US" altLang="zh-CN">
                <a:solidFill>
                  <a:srgbClr val="FF0000"/>
                </a:solidFill>
              </a:rPr>
              <a:t>1</a:t>
            </a:r>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151255" y="2130425"/>
            <a:ext cx="5328285" cy="1363980"/>
          </a:xfrm>
          <a:prstGeom prst="rect">
            <a:avLst/>
          </a:prstGeom>
        </p:spPr>
      </p:pic>
      <p:pic>
        <p:nvPicPr>
          <p:cNvPr id="7" name="图片 6"/>
          <p:cNvPicPr>
            <a:picLocks noChangeAspect="1"/>
          </p:cNvPicPr>
          <p:nvPr/>
        </p:nvPicPr>
        <p:blipFill>
          <a:blip r:embed="rId2"/>
          <a:stretch>
            <a:fillRect/>
          </a:stretch>
        </p:blipFill>
        <p:spPr>
          <a:xfrm>
            <a:off x="1151255" y="3494405"/>
            <a:ext cx="3315970" cy="1152525"/>
          </a:xfrm>
          <a:prstGeom prst="rect">
            <a:avLst/>
          </a:prstGeom>
        </p:spPr>
      </p:pic>
      <p:pic>
        <p:nvPicPr>
          <p:cNvPr id="9" name="图片 8"/>
          <p:cNvPicPr>
            <a:picLocks noChangeAspect="1"/>
          </p:cNvPicPr>
          <p:nvPr/>
        </p:nvPicPr>
        <p:blipFill>
          <a:blip r:embed="rId3"/>
          <a:stretch>
            <a:fillRect/>
          </a:stretch>
        </p:blipFill>
        <p:spPr>
          <a:xfrm>
            <a:off x="1287780" y="4797425"/>
            <a:ext cx="5444490" cy="1353185"/>
          </a:xfrm>
          <a:prstGeom prst="rect">
            <a:avLst/>
          </a:prstGeom>
        </p:spPr>
      </p:pic>
      <p:sp>
        <p:nvSpPr>
          <p:cNvPr id="17" name="文本框 16"/>
          <p:cNvSpPr txBox="1"/>
          <p:nvPr/>
        </p:nvSpPr>
        <p:spPr>
          <a:xfrm>
            <a:off x="71755" y="494665"/>
            <a:ext cx="635000" cy="429895"/>
          </a:xfrm>
          <a:prstGeom prst="rect">
            <a:avLst/>
          </a:prstGeom>
          <a:noFill/>
        </p:spPr>
        <p:txBody>
          <a:bodyPr wrap="square" rtlCol="0">
            <a:spAutoFit/>
          </a:bodyPr>
          <a:p>
            <a:r>
              <a:rPr lang="zh-CN" altLang="en-US">
                <a:solidFill>
                  <a:srgbClr val="FF0000"/>
                </a:solidFill>
              </a:rPr>
              <a:t>例</a:t>
            </a:r>
            <a:r>
              <a:rPr lang="en-US" altLang="zh-CN">
                <a:solidFill>
                  <a:srgbClr val="FF0000"/>
                </a:solidFill>
              </a:rPr>
              <a:t>2</a:t>
            </a:r>
            <a:endParaRPr lang="en-US" altLang="zh-CN">
              <a:solidFill>
                <a:srgbClr val="FF0000"/>
              </a:solidFill>
            </a:endParaRPr>
          </a:p>
        </p:txBody>
      </p:sp>
      <p:sp>
        <p:nvSpPr>
          <p:cNvPr id="10" name="文本框 9"/>
          <p:cNvSpPr txBox="1"/>
          <p:nvPr/>
        </p:nvSpPr>
        <p:spPr>
          <a:xfrm>
            <a:off x="349250" y="1871345"/>
            <a:ext cx="802005" cy="429895"/>
          </a:xfrm>
          <a:prstGeom prst="rect">
            <a:avLst/>
          </a:prstGeom>
          <a:noFill/>
        </p:spPr>
        <p:txBody>
          <a:bodyPr wrap="square" rtlCol="0">
            <a:spAutoFit/>
          </a:bodyPr>
          <a:p>
            <a:r>
              <a:rPr lang="zh-CN" altLang="en-US"/>
              <a:t>解：</a:t>
            </a:r>
            <a:endParaRPr lang="zh-CN" altLang="en-US"/>
          </a:p>
        </p:txBody>
      </p:sp>
      <p:pic>
        <p:nvPicPr>
          <p:cNvPr id="12" name="图片 11"/>
          <p:cNvPicPr>
            <a:picLocks noChangeAspect="1"/>
          </p:cNvPicPr>
          <p:nvPr/>
        </p:nvPicPr>
        <p:blipFill>
          <a:blip r:embed="rId4"/>
          <a:stretch>
            <a:fillRect/>
          </a:stretch>
        </p:blipFill>
        <p:spPr>
          <a:xfrm>
            <a:off x="704215" y="494665"/>
            <a:ext cx="8260715" cy="11957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2">
            <a:hlinkClick r:id="rId1" action="ppaction://hlinksldjump"/>
          </p:cNvPr>
          <p:cNvSpPr>
            <a:spLocks noChangeArrowheads="1"/>
          </p:cNvSpPr>
          <p:nvPr/>
        </p:nvSpPr>
        <p:spPr bwMode="auto">
          <a:xfrm>
            <a:off x="1716088" y="1943735"/>
            <a:ext cx="47609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-2 </a:t>
            </a:r>
            <a:r>
              <a:rPr lang="zh-CN" altLang="en-US" sz="2400" u="sng" dirty="0">
                <a:solidFill>
                  <a:srgbClr val="000099"/>
                </a:solidFill>
                <a:latin typeface="Times New Roman" panose="02020603050405020304" pitchFamily="18" charset="0"/>
                <a:ea typeface="黑体" panose="02010609060101010101" pitchFamily="49" charset="-122"/>
                <a:hlinkClick r:id="rId2" tooltip="材料的疲劳特性" action="ppaction://hlinksldjump"/>
              </a:rPr>
              <a:t>传动链的结构特点</a:t>
            </a:r>
            <a:endParaRPr lang="zh-CN" altLang="en-US" sz="2400" u="sng" dirty="0">
              <a:solidFill>
                <a:srgbClr val="000099"/>
              </a:solidFill>
              <a:latin typeface="Times New Roman" panose="02020603050405020304" pitchFamily="18" charset="0"/>
              <a:ea typeface="黑体" panose="02010609060101010101" pitchFamily="49" charset="-122"/>
            </a:endParaRPr>
          </a:p>
        </p:txBody>
      </p:sp>
      <p:sp>
        <p:nvSpPr>
          <p:cNvPr id="34819" name="Rectangle 23"/>
          <p:cNvSpPr>
            <a:spLocks noChangeArrowheads="1"/>
          </p:cNvSpPr>
          <p:nvPr/>
        </p:nvSpPr>
        <p:spPr bwMode="auto">
          <a:xfrm>
            <a:off x="1716088" y="3158173"/>
            <a:ext cx="33324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l"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-4 </a:t>
            </a:r>
            <a:r>
              <a:rPr lang="zh-CN" altLang="en-US" sz="2400" dirty="0">
                <a:solidFill>
                  <a:srgbClr val="000099"/>
                </a:solidFill>
                <a:latin typeface="Times New Roman" panose="02020603050405020304" pitchFamily="18" charset="0"/>
                <a:ea typeface="黑体" panose="02010609060101010101" pitchFamily="49" charset="-122"/>
                <a:hlinkClick r:id="rId3" tooltip="机械零件的疲劳强度计算" action="ppaction://hlinksldjump"/>
              </a:rPr>
              <a:t>链传动的运动特性</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34820" name="Rectangle 24"/>
          <p:cNvSpPr>
            <a:spLocks noChangeArrowheads="1"/>
          </p:cNvSpPr>
          <p:nvPr/>
        </p:nvSpPr>
        <p:spPr bwMode="auto">
          <a:xfrm>
            <a:off x="1716088" y="1298575"/>
            <a:ext cx="15036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rPr>
              <a:t>3.3-1 </a:t>
            </a:r>
            <a:r>
              <a:rPr lang="zh-CN" altLang="en-US" sz="2400" dirty="0">
                <a:solidFill>
                  <a:srgbClr val="000099"/>
                </a:solidFill>
                <a:latin typeface="Times New Roman" panose="02020603050405020304" pitchFamily="18" charset="0"/>
                <a:ea typeface="黑体" panose="02010609060101010101" pitchFamily="49" charset="-122"/>
                <a:hlinkClick r:id="rId4" action="ppaction://hlinksldjump"/>
              </a:rPr>
              <a:t>概述</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34821" name="Rectangle 26"/>
          <p:cNvSpPr>
            <a:spLocks noGrp="1" noChangeArrowheads="1"/>
          </p:cNvSpPr>
          <p:nvPr>
            <p:ph type="title" idx="4294967295"/>
          </p:nvPr>
        </p:nvSpPr>
        <p:spPr bwMode="auto">
          <a:xfrm>
            <a:off x="3059832" y="404664"/>
            <a:ext cx="2957512"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3600" dirty="0" smtClean="0">
                <a:solidFill>
                  <a:srgbClr val="A50021"/>
                </a:solidFill>
                <a:latin typeface="黑体" panose="02010609060101010101" pitchFamily="49" charset="-122"/>
                <a:ea typeface="黑体" panose="02010609060101010101" pitchFamily="49" charset="-122"/>
              </a:rPr>
              <a:t>3.3</a:t>
            </a:r>
            <a:r>
              <a:rPr lang="zh-CN" altLang="en-US" sz="3600" dirty="0" smtClean="0">
                <a:solidFill>
                  <a:srgbClr val="A50021"/>
                </a:solidFill>
                <a:latin typeface="黑体" panose="02010609060101010101" pitchFamily="49" charset="-122"/>
                <a:ea typeface="黑体" panose="02010609060101010101" pitchFamily="49" charset="-122"/>
              </a:rPr>
              <a:t>章 链传动</a:t>
            </a:r>
            <a:endParaRPr lang="zh-CN" altLang="en-US" sz="3600" dirty="0" smtClean="0">
              <a:solidFill>
                <a:srgbClr val="A50021"/>
              </a:solidFill>
              <a:latin typeface="黑体" panose="02010609060101010101" pitchFamily="49" charset="-122"/>
              <a:ea typeface="黑体" panose="02010609060101010101" pitchFamily="49" charset="-122"/>
            </a:endParaRPr>
          </a:p>
        </p:txBody>
      </p:sp>
      <p:sp>
        <p:nvSpPr>
          <p:cNvPr id="34822" name="Rectangle 25"/>
          <p:cNvSpPr>
            <a:spLocks noChangeArrowheads="1"/>
          </p:cNvSpPr>
          <p:nvPr/>
        </p:nvSpPr>
        <p:spPr bwMode="auto">
          <a:xfrm>
            <a:off x="1716088" y="3803650"/>
            <a:ext cx="33324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l"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-5 </a:t>
            </a:r>
            <a:r>
              <a:rPr lang="zh-CN" altLang="en-US" sz="2400" dirty="0">
                <a:solidFill>
                  <a:srgbClr val="000099"/>
                </a:solidFill>
                <a:latin typeface="Times New Roman" panose="02020603050405020304" pitchFamily="18" charset="0"/>
                <a:ea typeface="黑体" panose="02010609060101010101" pitchFamily="49" charset="-122"/>
                <a:hlinkClick r:id="rId5" tooltip="机械零件的接触疲劳强度" action="ppaction://hlinksldjump"/>
              </a:rPr>
              <a:t>链传动的设计计算</a:t>
            </a:r>
            <a:endParaRPr lang="zh-CN" altLang="en-US" sz="2400" dirty="0">
              <a:solidFill>
                <a:srgbClr val="000099"/>
              </a:solidFill>
              <a:latin typeface="Times New Roman" panose="02020603050405020304" pitchFamily="18" charset="0"/>
              <a:ea typeface="黑体" panose="02010609060101010101" pitchFamily="49" charset="-122"/>
              <a:hlinkClick r:id="rId5" tooltip="机械零件的接触疲劳强度" action="ppaction://hlinksldjump"/>
            </a:endParaRPr>
          </a:p>
        </p:txBody>
      </p:sp>
      <p:sp>
        <p:nvSpPr>
          <p:cNvPr id="34823" name="Rectangle 25"/>
          <p:cNvSpPr>
            <a:spLocks noChangeArrowheads="1"/>
          </p:cNvSpPr>
          <p:nvPr/>
        </p:nvSpPr>
        <p:spPr bwMode="auto">
          <a:xfrm>
            <a:off x="1716088" y="4522153"/>
            <a:ext cx="45516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l"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-6 </a:t>
            </a:r>
            <a:r>
              <a:rPr lang="zh-CN" altLang="en-US" sz="2400" dirty="0">
                <a:solidFill>
                  <a:srgbClr val="000099"/>
                </a:solidFill>
                <a:latin typeface="Times New Roman" panose="02020603050405020304" pitchFamily="18" charset="0"/>
                <a:ea typeface="黑体" panose="02010609060101010101" pitchFamily="49" charset="-122"/>
                <a:hlinkClick r:id="rId6" tooltip="机械零件的接触疲劳强度" action="ppaction://hlinksldjump"/>
              </a:rPr>
              <a:t>链传动的布置、张紧、润滑</a:t>
            </a:r>
            <a:endParaRPr lang="zh-CN" altLang="en-US" sz="2400" dirty="0">
              <a:solidFill>
                <a:srgbClr val="000099"/>
              </a:solidFill>
              <a:latin typeface="Times New Roman" panose="02020603050405020304" pitchFamily="18" charset="0"/>
              <a:ea typeface="黑体" panose="02010609060101010101" pitchFamily="49" charset="-122"/>
              <a:hlinkClick r:id="rId6" tooltip="机械零件的接触疲劳强度" action="ppaction://hlinksldjump"/>
            </a:endParaRPr>
          </a:p>
        </p:txBody>
      </p:sp>
      <p:sp>
        <p:nvSpPr>
          <p:cNvPr id="34824" name="Rectangle 25"/>
          <p:cNvSpPr>
            <a:spLocks noChangeArrowheads="1"/>
          </p:cNvSpPr>
          <p:nvPr/>
        </p:nvSpPr>
        <p:spPr bwMode="auto">
          <a:xfrm>
            <a:off x="1716088" y="5232400"/>
            <a:ext cx="30276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l"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-7 </a:t>
            </a:r>
            <a:r>
              <a:rPr lang="zh-CN" altLang="en-US" sz="2400" dirty="0">
                <a:solidFill>
                  <a:srgbClr val="000099"/>
                </a:solidFill>
                <a:latin typeface="Times New Roman" panose="02020603050405020304" pitchFamily="18" charset="0"/>
                <a:ea typeface="黑体" panose="02010609060101010101" pitchFamily="49" charset="-122"/>
                <a:hlinkClick r:id="rId7" tooltip="机械零件的接触疲劳强度" action="ppaction://hlinksldjump"/>
              </a:rPr>
              <a:t>其他链传动简介</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34825" name="直接连接符 6"/>
          <p:cNvSpPr>
            <a:spLocks noChangeShapeType="1"/>
          </p:cNvSpPr>
          <p:nvPr/>
        </p:nvSpPr>
        <p:spPr bwMode="auto">
          <a:xfrm>
            <a:off x="0" y="1124744"/>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0" name="组合 1"/>
          <p:cNvGrpSpPr/>
          <p:nvPr/>
        </p:nvGrpSpPr>
        <p:grpSpPr>
          <a:xfrm>
            <a:off x="6444208" y="5877272"/>
            <a:ext cx="2630487" cy="827087"/>
            <a:chOff x="10088" y="9497"/>
            <a:chExt cx="4141" cy="1302"/>
          </a:xfrm>
        </p:grpSpPr>
        <p:sp>
          <p:nvSpPr>
            <p:cNvPr id="11"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2" name="图片 1073742872" descr="44303071dc0a1f9688d599dbc999570副本"/>
            <p:cNvPicPr>
              <a:picLocks noChangeAspect="1"/>
            </p:cNvPicPr>
            <p:nvPr/>
          </p:nvPicPr>
          <p:blipFill>
            <a:blip r:embed="rId8"/>
            <a:stretch>
              <a:fillRect/>
            </a:stretch>
          </p:blipFill>
          <p:spPr>
            <a:xfrm>
              <a:off x="10088" y="9497"/>
              <a:ext cx="1435" cy="1303"/>
            </a:xfrm>
            <a:prstGeom prst="rect">
              <a:avLst/>
            </a:prstGeom>
            <a:noFill/>
            <a:ln w="9525">
              <a:noFill/>
            </a:ln>
          </p:spPr>
        </p:pic>
      </p:grpSp>
      <p:sp>
        <p:nvSpPr>
          <p:cNvPr id="2" name="Rectangle 22">
            <a:hlinkClick r:id="rId1" action="ppaction://hlinksldjump"/>
          </p:cNvPr>
          <p:cNvSpPr>
            <a:spLocks noChangeArrowheads="1"/>
          </p:cNvSpPr>
          <p:nvPr/>
        </p:nvSpPr>
        <p:spPr bwMode="auto">
          <a:xfrm>
            <a:off x="1683068" y="2610485"/>
            <a:ext cx="47609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400" dirty="0" smtClean="0">
                <a:solidFill>
                  <a:srgbClr val="000099"/>
                </a:solidFill>
                <a:latin typeface="Times New Roman" panose="02020603050405020304" pitchFamily="18" charset="0"/>
                <a:ea typeface="黑体" panose="02010609060101010101" pitchFamily="49" charset="-122"/>
                <a:sym typeface="+mn-ea"/>
              </a:rPr>
              <a:t>3.3</a:t>
            </a:r>
            <a:r>
              <a:rPr lang="en-US" altLang="zh-CN" sz="2400" dirty="0" smtClean="0">
                <a:solidFill>
                  <a:srgbClr val="000099"/>
                </a:solidFill>
                <a:latin typeface="Times New Roman" panose="02020603050405020304" pitchFamily="18" charset="0"/>
                <a:ea typeface="黑体" panose="02010609060101010101" pitchFamily="49" charset="-122"/>
              </a:rPr>
              <a:t>-3 </a:t>
            </a:r>
            <a:r>
              <a:rPr lang="zh-CN" altLang="en-US" sz="2400" dirty="0" smtClean="0">
                <a:solidFill>
                  <a:srgbClr val="000099"/>
                </a:solidFill>
                <a:latin typeface="Times New Roman" panose="02020603050405020304" pitchFamily="18" charset="0"/>
                <a:ea typeface="黑体" panose="02010609060101010101" pitchFamily="49" charset="-122"/>
                <a:hlinkClick r:id="rId9" action="ppaction://hlinksldjump"/>
              </a:rPr>
              <a:t>滚子链链轮</a:t>
            </a:r>
            <a:r>
              <a:rPr lang="zh-CN" altLang="en-US" sz="2400" u="sng" dirty="0">
                <a:solidFill>
                  <a:srgbClr val="000099"/>
                </a:solidFill>
                <a:latin typeface="Times New Roman" panose="02020603050405020304" pitchFamily="18" charset="0"/>
                <a:ea typeface="黑体" panose="02010609060101010101" pitchFamily="49" charset="-122"/>
                <a:hlinkClick r:id="rId9" action="ppaction://hlinksldjump"/>
              </a:rPr>
              <a:t>的结构和材料</a:t>
            </a:r>
            <a:endParaRPr lang="zh-CN" altLang="en-US" sz="2400" u="sng" dirty="0">
              <a:solidFill>
                <a:srgbClr val="000099"/>
              </a:solidFill>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91563"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338" name="Rectangle 2"/>
          <p:cNvSpPr>
            <a:spLocks noGrp="1" noChangeArrowheads="1"/>
          </p:cNvSpPr>
          <p:nvPr>
            <p:ph type="title"/>
          </p:nvPr>
        </p:nvSpPr>
        <p:spPr bwMode="auto">
          <a:xfrm>
            <a:off x="6082030" y="147320"/>
            <a:ext cx="295021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3.3-1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概述</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5845" name="标题 3073"/>
          <p:cNvSpPr>
            <a:spLocks noGrp="1" noChangeArrowheads="1"/>
          </p:cNvSpPr>
          <p:nvPr/>
        </p:nvSpPr>
        <p:spPr bwMode="auto">
          <a:xfrm>
            <a:off x="7315200" y="762000"/>
            <a:ext cx="1143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特点及应用</a:t>
            </a:r>
            <a:r>
              <a:rPr lang="en-US" altLang="zh-CN" sz="700">
                <a:solidFill>
                  <a:schemeClr val="bg1"/>
                </a:solidFill>
              </a:rPr>
              <a:t>1</a:t>
            </a:r>
            <a:endParaRPr lang="en-US" altLang="zh-CN" sz="700">
              <a:solidFill>
                <a:schemeClr val="bg1"/>
              </a:solidFill>
              <a:latin typeface="华文中宋" panose="02010600040101010101" pitchFamily="2" charset="-122"/>
            </a:endParaRPr>
          </a:p>
        </p:txBody>
      </p:sp>
      <p:sp>
        <p:nvSpPr>
          <p:cNvPr id="52231" name="文本框 3079"/>
          <p:cNvSpPr txBox="1">
            <a:spLocks noChangeArrowheads="1"/>
          </p:cNvSpPr>
          <p:nvPr/>
        </p:nvSpPr>
        <p:spPr bwMode="auto">
          <a:xfrm>
            <a:off x="539552" y="2060848"/>
            <a:ext cx="74168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smtClean="0">
                <a:solidFill>
                  <a:srgbClr val="FF0000"/>
                </a:solidFill>
                <a:latin typeface="黑体" panose="02010609060101010101" pitchFamily="49" charset="-122"/>
                <a:ea typeface="黑体" panose="02010609060101010101" pitchFamily="49" charset="-122"/>
              </a:rPr>
              <a:t>作用：</a:t>
            </a:r>
            <a:r>
              <a:rPr lang="zh-CN" altLang="en-US" dirty="0" smtClean="0">
                <a:solidFill>
                  <a:srgbClr val="000099"/>
                </a:solidFill>
                <a:latin typeface="黑体" panose="02010609060101010101" pitchFamily="49" charset="-122"/>
                <a:ea typeface="黑体" panose="02010609060101010101" pitchFamily="49" charset="-122"/>
              </a:rPr>
              <a:t>是</a:t>
            </a:r>
            <a:r>
              <a:rPr lang="zh-CN" altLang="en-US" dirty="0">
                <a:solidFill>
                  <a:srgbClr val="000099"/>
                </a:solidFill>
                <a:latin typeface="黑体" panose="02010609060101010101" pitchFamily="49" charset="-122"/>
                <a:ea typeface="黑体" panose="02010609060101010101" pitchFamily="49" charset="-122"/>
              </a:rPr>
              <a:t>依靠链条链节和链轮轮齿的啮合来传递平行轴</a:t>
            </a:r>
            <a:r>
              <a:rPr lang="zh-CN" altLang="en-US" dirty="0" smtClean="0">
                <a:solidFill>
                  <a:srgbClr val="000099"/>
                </a:solidFill>
                <a:latin typeface="黑体" panose="02010609060101010101" pitchFamily="49" charset="-122"/>
                <a:ea typeface="黑体" panose="02010609060101010101" pitchFamily="49" charset="-122"/>
              </a:rPr>
              <a:t>间</a:t>
            </a:r>
            <a:r>
              <a:rPr lang="en-US" altLang="zh-CN" dirty="0" smtClean="0">
                <a:solidFill>
                  <a:srgbClr val="000099"/>
                </a:solidFill>
                <a:latin typeface="黑体" panose="02010609060101010101" pitchFamily="49" charset="-122"/>
                <a:ea typeface="黑体" panose="02010609060101010101" pitchFamily="49" charset="-122"/>
              </a:rPr>
              <a:t>	</a:t>
            </a:r>
            <a:r>
              <a:rPr lang="zh-CN" altLang="en-US" dirty="0" smtClean="0">
                <a:solidFill>
                  <a:srgbClr val="000099"/>
                </a:solidFill>
                <a:latin typeface="黑体" panose="02010609060101010101" pitchFamily="49" charset="-122"/>
                <a:ea typeface="黑体" panose="02010609060101010101" pitchFamily="49" charset="-122"/>
              </a:rPr>
              <a:t>的</a:t>
            </a:r>
            <a:r>
              <a:rPr lang="zh-CN" altLang="en-US" dirty="0">
                <a:solidFill>
                  <a:srgbClr val="000099"/>
                </a:solidFill>
                <a:latin typeface="黑体" panose="02010609060101010101" pitchFamily="49" charset="-122"/>
                <a:ea typeface="黑体" panose="02010609060101010101" pitchFamily="49" charset="-122"/>
              </a:rPr>
              <a:t>运动和动力。</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584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584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3140968"/>
            <a:ext cx="4924425"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3079"/>
          <p:cNvSpPr txBox="1">
            <a:spLocks noChangeArrowheads="1"/>
          </p:cNvSpPr>
          <p:nvPr/>
        </p:nvSpPr>
        <p:spPr bwMode="auto">
          <a:xfrm>
            <a:off x="539552" y="1340768"/>
            <a:ext cx="57708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smtClean="0">
                <a:solidFill>
                  <a:srgbClr val="FF0000"/>
                </a:solidFill>
                <a:latin typeface="黑体" panose="02010609060101010101" pitchFamily="49" charset="-122"/>
                <a:ea typeface="黑体" panose="02010609060101010101" pitchFamily="49" charset="-122"/>
              </a:rPr>
              <a:t>组成：</a:t>
            </a:r>
            <a:r>
              <a:rPr lang="zh-CN" altLang="en-US" dirty="0" smtClean="0">
                <a:solidFill>
                  <a:srgbClr val="000099"/>
                </a:solidFill>
                <a:latin typeface="黑体" panose="02010609060101010101" pitchFamily="49" charset="-122"/>
                <a:ea typeface="黑体" panose="02010609060101010101" pitchFamily="49" charset="-122"/>
              </a:rPr>
              <a:t>链轮（主动链轮和从动链轮）、环形链</a:t>
            </a:r>
            <a:endParaRPr lang="zh-CN" altLang="en-US"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31"/>
                                        </p:tgtEl>
                                        <p:attrNameLst>
                                          <p:attrName>style.visibility</p:attrName>
                                        </p:attrNameLst>
                                      </p:cBhvr>
                                      <p:to>
                                        <p:strVal val="visible"/>
                                      </p:to>
                                    </p:set>
                                    <p:animEffect transition="in" filter="wipe(left)">
                                      <p:cBhvr>
                                        <p:cTn id="12" dur="500"/>
                                        <p:tgtEl>
                                          <p:spTgt spid="52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4196" name="滚子链传动2.avi">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1402715" y="718820"/>
            <a:ext cx="6489700" cy="4867275"/>
          </a:xfrm>
          <a:prstGeom prst="rect">
            <a:avLst/>
          </a:prstGeom>
          <a:noFill/>
          <a:ln w="9525">
            <a:noFill/>
          </a:ln>
        </p:spPr>
      </p:pic>
      <p:pic>
        <p:nvPicPr>
          <p:cNvPr id="3" name="图片 2">
            <a:hlinkClick r:id="rId4" action="ppaction://hlinkfile"/>
          </p:cNvPr>
          <p:cNvPicPr>
            <a:picLocks noChangeAspect="1"/>
          </p:cNvPicPr>
          <p:nvPr>
            <p:custDataLst>
              <p:tags r:id="rId5"/>
            </p:custDataLst>
          </p:nvPr>
        </p:nvPicPr>
        <p:blipFill>
          <a:blip r:embed="rId6"/>
          <a:stretch>
            <a:fillRect/>
          </a:stretch>
        </p:blipFill>
        <p:spPr>
          <a:xfrm>
            <a:off x="707390" y="949960"/>
            <a:ext cx="8178165" cy="371094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419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64196"/>
                                        </p:tgtEl>
                                      </p:cBhvr>
                                    </p:cmd>
                                  </p:childTnLst>
                                </p:cTn>
                              </p:par>
                            </p:childTnLst>
                          </p:cTn>
                        </p:par>
                      </p:childTnLst>
                    </p:cTn>
                  </p:par>
                </p:childTnLst>
              </p:cTn>
              <p:nextCondLst>
                <p:cond evt="onClick" delay="0">
                  <p:tgtEl>
                    <p:spTgt spid="264196"/>
                  </p:tgtEl>
                </p:cond>
              </p:nextCondLst>
            </p:seq>
            <p:video>
              <p:cMediaNode>
                <p:cTn id="7" fill="hold" display="0">
                  <p:stCondLst>
                    <p:cond delay="indefinite"/>
                  </p:stCondLst>
                  <p:endCondLst>
                    <p:cond evt="onNext" delay="0">
                      <p:tgtEl>
                        <p:sldTgt/>
                      </p:tgtEl>
                    </p:cond>
                    <p:cond evt="onPrev" delay="0">
                      <p:tgtEl>
                        <p:sldTgt/>
                      </p:tgtEl>
                    </p:cond>
                  </p:endCondLst>
                </p:cTn>
                <p:tgtEl>
                  <p:spTgt spid="264196"/>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3980" y="2298700"/>
            <a:ext cx="8463280" cy="3415030"/>
          </a:xfrm>
          <a:prstGeom prst="rect">
            <a:avLst/>
          </a:prstGeom>
          <a:noFill/>
        </p:spPr>
        <p:txBody>
          <a:bodyPr wrap="square" rtlCol="0" anchor="t">
            <a:spAutoFit/>
          </a:bodyPr>
          <a:p>
            <a:pPr marL="342900" lvl="0" indent="-73025" eaLnBrk="1" latinLnBrk="0" hangingPunct="1">
              <a:lnSpc>
                <a:spcPct val="150000"/>
              </a:lnSpc>
              <a:buNone/>
            </a:pPr>
            <a:r>
              <a:rPr lang="en-US" altLang="zh-CN" b="1" dirty="0">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 (1)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工作可靠，无弹滑、打滑；</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lvl="0" indent="-73025" eaLnBrk="1" latinLnBrk="0" hangingPunct="1">
              <a:lnSpc>
                <a:spcPct val="150000"/>
              </a:lnSpc>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(2)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结构紧凑，承载能力高，对轴的作用力小；</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lvl="0" indent="-73025" eaLnBrk="1" latinLnBrk="0" hangingPunct="1">
              <a:lnSpc>
                <a:spcPct val="150000"/>
              </a:lnSpc>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(3)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适应远距离、恶劣环境（油污、灰尘、高温）；</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lvl="0" indent="-73025" eaLnBrk="1" latinLnBrk="0" hangingPunct="1">
              <a:lnSpc>
                <a:spcPct val="150000"/>
              </a:lnSpc>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(4)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平均传动比恒定，瞬时传动比不恒定，高速时有噪声；</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lvl="0" indent="-73025" eaLnBrk="1" latinLnBrk="0" hangingPunct="1">
              <a:lnSpc>
                <a:spcPct val="150000"/>
              </a:lnSpc>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(5)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不适合于载荷波动大、急速正反向传动；</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a:p>
            <a:pPr marL="342900" lvl="0" indent="-73025" eaLnBrk="1" latinLnBrk="0" hangingPunct="1">
              <a:lnSpc>
                <a:spcPct val="150000"/>
              </a:lnSpc>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a:latin typeface="黑体" panose="02010609060101010101" pitchFamily="49" charset="-122"/>
                <a:ea typeface="黑体" panose="02010609060101010101" pitchFamily="49" charset="-122"/>
                <a:cs typeface="黑体" panose="02010609060101010101" pitchFamily="49" charset="-122"/>
                <a:sym typeface="+mn-ea"/>
              </a:rPr>
              <a:t>(6)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只限于平行轴传动</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4338" name="Rectangle 2"/>
          <p:cNvSpPr>
            <a:spLocks noGrp="1" noChangeArrowheads="1"/>
          </p:cNvSpPr>
          <p:nvPr/>
        </p:nvSpPr>
        <p:spPr bwMode="auto">
          <a:xfrm>
            <a:off x="6614160" y="208915"/>
            <a:ext cx="2278380" cy="490220"/>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cs typeface="+mn-cs"/>
              </a:rPr>
              <a:t>-1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概述</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584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79" name="Text Box 23"/>
          <p:cNvSpPr txBox="1"/>
          <p:nvPr/>
        </p:nvSpPr>
        <p:spPr>
          <a:xfrm>
            <a:off x="368935" y="1515745"/>
            <a:ext cx="8522970" cy="831215"/>
          </a:xfrm>
          <a:prstGeom prst="rect">
            <a:avLst/>
          </a:prstGeom>
          <a:no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eaLnBrk="1" hangingPunct="1">
              <a:spcBef>
                <a:spcPct val="50000"/>
              </a:spcBef>
              <a:buNone/>
            </a:pPr>
            <a:r>
              <a:rPr lang="en-US" altLang="zh-CN" sz="2400" dirty="0">
                <a:solidFill>
                  <a:srgbClr val="0000FF"/>
                </a:solidFill>
                <a:latin typeface="黑体" panose="02010609060101010101" pitchFamily="49" charset="-122"/>
                <a:ea typeface="黑体" panose="02010609060101010101" pitchFamily="49" charset="-122"/>
              </a:rPr>
              <a:t>  </a:t>
            </a:r>
            <a:r>
              <a:rPr lang="zh-CN" altLang="en-US" sz="2400" dirty="0">
                <a:solidFill>
                  <a:srgbClr val="0000FF"/>
                </a:solidFill>
                <a:latin typeface="黑体" panose="02010609060101010101" pitchFamily="49" charset="-122"/>
                <a:ea typeface="黑体" panose="02010609060101010101" pitchFamily="49" charset="-122"/>
              </a:rPr>
              <a:t>用链条作为中间挠性件，通过链条与链轮轮齿的啮合来传递运动和动力。</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 name="文本框 4"/>
          <p:cNvSpPr txBox="1"/>
          <p:nvPr/>
        </p:nvSpPr>
        <p:spPr>
          <a:xfrm>
            <a:off x="251520" y="980728"/>
            <a:ext cx="2016224" cy="460375"/>
          </a:xfrm>
          <a:prstGeom prst="rect">
            <a:avLst/>
          </a:prstGeom>
          <a:noFill/>
        </p:spPr>
        <p:txBody>
          <a:bodyPr wrap="square" rtlCol="0">
            <a:spAutoFit/>
          </a:bodyPr>
          <a:p>
            <a:r>
              <a:rPr lang="zh-CN" altLang="en-US" sz="2400" dirty="0" smtClean="0">
                <a:solidFill>
                  <a:srgbClr val="FF0000"/>
                </a:solidFill>
                <a:latin typeface="黑体" panose="02010609060101010101" pitchFamily="49" charset="-122"/>
                <a:ea typeface="黑体" panose="02010609060101010101" pitchFamily="49" charset="-122"/>
              </a:rPr>
              <a:t>特点：</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a:off x="719455" y="5713730"/>
            <a:ext cx="6888480" cy="598805"/>
          </a:xfrm>
          <a:prstGeom prst="rect">
            <a:avLst/>
          </a:prstGeom>
          <a:noFill/>
        </p:spPr>
        <p:txBody>
          <a:bodyPr wrap="none" rtlCol="0" anchor="t">
            <a:spAutoFit/>
          </a:bodyPr>
          <a:p>
            <a:pPr eaLnBrk="1" hangingPunct="1">
              <a:lnSpc>
                <a:spcPct val="150000"/>
              </a:lnSpc>
              <a:spcBef>
                <a:spcPts val="1200"/>
              </a:spcBef>
            </a:pPr>
            <a:r>
              <a:rPr lang="zh-CN" altLang="en-US" dirty="0" smtClean="0">
                <a:solidFill>
                  <a:srgbClr val="000099"/>
                </a:solidFill>
                <a:latin typeface="黑体" panose="02010609060101010101" pitchFamily="49" charset="-122"/>
                <a:ea typeface="黑体" panose="02010609060101010101" pitchFamily="49" charset="-122"/>
                <a:sym typeface="+mn-ea"/>
              </a:rPr>
              <a:t>按</a:t>
            </a:r>
            <a:r>
              <a:rPr lang="zh-CN" altLang="en-US" dirty="0">
                <a:solidFill>
                  <a:srgbClr val="000099"/>
                </a:solidFill>
                <a:latin typeface="黑体" panose="02010609060101010101" pitchFamily="49" charset="-122"/>
                <a:ea typeface="黑体" panose="02010609060101010101" pitchFamily="49" charset="-122"/>
                <a:sym typeface="+mn-ea"/>
              </a:rPr>
              <a:t>用途不同，链条可分为：</a:t>
            </a:r>
            <a:r>
              <a:rPr lang="zh-CN" altLang="en-US" dirty="0">
                <a:solidFill>
                  <a:srgbClr val="FF0000"/>
                </a:solidFill>
                <a:latin typeface="黑体" panose="02010609060101010101" pitchFamily="49" charset="-122"/>
                <a:ea typeface="黑体" panose="02010609060101010101" pitchFamily="49" charset="-122"/>
                <a:sym typeface="+mn-ea"/>
              </a:rPr>
              <a:t>传动链、输送链</a:t>
            </a:r>
            <a:r>
              <a:rPr lang="zh-CN" altLang="en-US" dirty="0">
                <a:solidFill>
                  <a:srgbClr val="002060"/>
                </a:solidFill>
                <a:latin typeface="黑体" panose="02010609060101010101" pitchFamily="49" charset="-122"/>
                <a:ea typeface="黑体" panose="02010609060101010101" pitchFamily="49" charset="-122"/>
                <a:sym typeface="+mn-ea"/>
              </a:rPr>
              <a:t>和</a:t>
            </a:r>
            <a:r>
              <a:rPr lang="zh-CN" altLang="en-US" dirty="0">
                <a:solidFill>
                  <a:srgbClr val="FF0000"/>
                </a:solidFill>
                <a:latin typeface="黑体" panose="02010609060101010101" pitchFamily="49" charset="-122"/>
                <a:ea typeface="黑体" panose="02010609060101010101" pitchFamily="49" charset="-122"/>
                <a:sym typeface="+mn-ea"/>
              </a:rPr>
              <a:t>起重链</a:t>
            </a:r>
            <a:r>
              <a:rPr lang="zh-CN" altLang="en-US" dirty="0">
                <a:solidFill>
                  <a:srgbClr val="000099"/>
                </a:solidFill>
                <a:latin typeface="黑体" panose="02010609060101010101" pitchFamily="49" charset="-122"/>
                <a:ea typeface="黑体" panose="02010609060101010101" pitchFamily="49" charset="-122"/>
                <a:sym typeface="+mn-ea"/>
              </a:rPr>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Text Box 3"/>
          <p:cNvSpPr txBox="1">
            <a:spLocks noChangeArrowheads="1"/>
          </p:cNvSpPr>
          <p:nvPr/>
        </p:nvSpPr>
        <p:spPr bwMode="auto">
          <a:xfrm>
            <a:off x="308" y="2737381"/>
            <a:ext cx="8629650" cy="18465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en-US" altLang="zh-CN" sz="2400" dirty="0">
                <a:solidFill>
                  <a:srgbClr val="002060"/>
                </a:solidFill>
                <a:latin typeface="黑体" panose="02010609060101010101" pitchFamily="49" charset="-122"/>
                <a:ea typeface="黑体" panose="02010609060101010101" pitchFamily="49" charset="-122"/>
              </a:rPr>
              <a:t>  </a:t>
            </a:r>
            <a:r>
              <a:rPr kumimoji="1" lang="en-US" altLang="zh-CN" sz="2400" dirty="0">
                <a:solidFill>
                  <a:srgbClr val="FF0000"/>
                </a:solidFill>
                <a:latin typeface="黑体" panose="02010609060101010101" pitchFamily="49" charset="-122"/>
                <a:ea typeface="黑体" panose="02010609060101010101" pitchFamily="49" charset="-122"/>
              </a:rPr>
              <a:t> </a:t>
            </a:r>
            <a:r>
              <a:rPr kumimoji="1" lang="zh-CN" altLang="en-US" sz="2400" dirty="0">
                <a:solidFill>
                  <a:srgbClr val="FF0000"/>
                </a:solidFill>
                <a:latin typeface="黑体" panose="02010609060101010101" pitchFamily="49" charset="-122"/>
                <a:ea typeface="黑体" panose="02010609060101010101" pitchFamily="49" charset="-122"/>
              </a:rPr>
              <a:t>工作范围：</a:t>
            </a:r>
            <a:endParaRPr kumimoji="1" lang="zh-CN" altLang="en-US" sz="2400" dirty="0">
              <a:solidFill>
                <a:srgbClr val="FF0000"/>
              </a:solidFill>
              <a:latin typeface="黑体" panose="02010609060101010101" pitchFamily="49" charset="-122"/>
              <a:ea typeface="黑体" panose="02010609060101010101" pitchFamily="49" charset="-122"/>
            </a:endParaRPr>
          </a:p>
          <a:p>
            <a:endParaRPr kumimoji="1" lang="zh-CN" altLang="en-US" sz="2400" dirty="0">
              <a:solidFill>
                <a:srgbClr val="FF0000"/>
              </a:solidFill>
              <a:latin typeface="黑体" panose="02010609060101010101" pitchFamily="49" charset="-122"/>
              <a:ea typeface="黑体" panose="02010609060101010101" pitchFamily="49" charset="-122"/>
            </a:endParaRPr>
          </a:p>
          <a:p>
            <a:r>
              <a:rPr kumimoji="1" lang="zh-CN" altLang="en-US" sz="2400" b="1" dirty="0">
                <a:solidFill>
                  <a:srgbClr val="002060"/>
                </a:solidFill>
                <a:latin typeface="Times New Roman" panose="02020603050405020304" pitchFamily="18" charset="0"/>
                <a:ea typeface="华文中宋" panose="02010600040101010101" pitchFamily="2" charset="-122"/>
              </a:rPr>
              <a:t>      </a:t>
            </a:r>
            <a:r>
              <a:rPr kumimoji="1" lang="zh-CN" altLang="en-US" sz="2400" dirty="0">
                <a:solidFill>
                  <a:srgbClr val="002060"/>
                </a:solidFill>
                <a:latin typeface="Times New Roman" panose="02020603050405020304" pitchFamily="18" charset="0"/>
                <a:ea typeface="华文中宋" panose="02010600040101010101" pitchFamily="2" charset="-122"/>
              </a:rPr>
              <a:t>传动比： </a:t>
            </a:r>
            <a:r>
              <a:rPr kumimoji="1" lang="en-US" altLang="zh-CN" sz="2400" dirty="0" err="1" smtClean="0">
                <a:solidFill>
                  <a:srgbClr val="002060"/>
                </a:solidFill>
                <a:latin typeface="宋体" panose="02010600030101010101" pitchFamily="2" charset="-122"/>
                <a:ea typeface="宋体" panose="02010600030101010101" pitchFamily="2" charset="-122"/>
                <a:cs typeface="宋体" panose="02010600030101010101" pitchFamily="2" charset="-122"/>
              </a:rPr>
              <a:t>i</a:t>
            </a:r>
            <a:r>
              <a:rPr kumimoji="1" lang="en-US" altLang="zh-CN" sz="2400" b="1" dirty="0" smtClean="0">
                <a:solidFill>
                  <a:srgbClr val="002060"/>
                </a:solidFill>
                <a:latin typeface="宋体" panose="02010600030101010101" pitchFamily="2" charset="-122"/>
                <a:ea typeface="宋体" panose="02010600030101010101" pitchFamily="2" charset="-122"/>
                <a:cs typeface="宋体" panose="02010600030101010101" pitchFamily="2" charset="-122"/>
              </a:rPr>
              <a:t> ≤8;</a:t>
            </a:r>
            <a:endParaRPr kumimoji="1" lang="en-US" altLang="zh-CN" sz="2400" b="1" dirty="0" smtClean="0">
              <a:solidFill>
                <a:srgbClr val="002060"/>
              </a:solidFill>
              <a:latin typeface="宋体" panose="02010600030101010101" pitchFamily="2" charset="-122"/>
              <a:ea typeface="宋体" panose="02010600030101010101" pitchFamily="2" charset="-122"/>
              <a:cs typeface="宋体" panose="02010600030101010101" pitchFamily="2" charset="-122"/>
            </a:endParaRPr>
          </a:p>
          <a:p>
            <a:r>
              <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一般 </a:t>
            </a:r>
            <a:r>
              <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6</a:t>
            </a:r>
            <a:r>
              <a:rPr lang="zh-CN" altLang="en-US"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，常用 </a:t>
            </a:r>
            <a:r>
              <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sym typeface="+mn-ea"/>
              </a:rPr>
              <a:t>2.5)</a:t>
            </a:r>
            <a:endParaRPr lang="en-US" altLang="zh-CN" sz="2400" b="1" dirty="0">
              <a:solidFill>
                <a:srgbClr val="002060"/>
              </a:solidFill>
              <a:latin typeface="宋体" panose="02010600030101010101" pitchFamily="2" charset="-122"/>
              <a:ea typeface="宋体" panose="02010600030101010101" pitchFamily="2" charset="-122"/>
              <a:cs typeface="宋体" panose="02010600030101010101" pitchFamily="2" charset="-122"/>
            </a:endParaRPr>
          </a:p>
          <a:p>
            <a:r>
              <a:rPr kumimoji="1" lang="en-US" altLang="zh-CN" sz="2400" b="1" dirty="0" smtClean="0">
                <a:solidFill>
                  <a:srgbClr val="0000FF"/>
                </a:solidFill>
                <a:latin typeface="Times New Roman" panose="02020603050405020304" pitchFamily="18" charset="0"/>
                <a:ea typeface="华文中宋" panose="02010600040101010101" pitchFamily="2" charset="-122"/>
              </a:rPr>
              <a:t> </a:t>
            </a:r>
            <a:endParaRPr kumimoji="1"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138244" name="Text Box 4"/>
          <p:cNvSpPr txBox="1">
            <a:spLocks noChangeArrowheads="1"/>
          </p:cNvSpPr>
          <p:nvPr/>
        </p:nvSpPr>
        <p:spPr bwMode="auto">
          <a:xfrm>
            <a:off x="488315" y="4338955"/>
            <a:ext cx="4100195" cy="3689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sz="2400" dirty="0">
                <a:solidFill>
                  <a:srgbClr val="002060"/>
                </a:solidFill>
                <a:latin typeface="Times New Roman" panose="02020603050405020304" pitchFamily="18" charset="0"/>
                <a:ea typeface="华文中宋" panose="02010600040101010101" pitchFamily="2" charset="-122"/>
              </a:rPr>
              <a:t>中心距</a:t>
            </a:r>
            <a:r>
              <a:rPr kumimoji="1" lang="zh-CN" altLang="en-US" sz="2400" b="1" dirty="0">
                <a:solidFill>
                  <a:srgbClr val="002060"/>
                </a:solidFill>
                <a:latin typeface="Times New Roman" panose="02020603050405020304" pitchFamily="18" charset="0"/>
                <a:ea typeface="华文中宋" panose="02010600040101010101" pitchFamily="2" charset="-122"/>
              </a:rPr>
              <a:t>：</a:t>
            </a:r>
            <a:r>
              <a:rPr kumimoji="1" lang="zh-CN" altLang="en-US" sz="2400" b="1" dirty="0">
                <a:solidFill>
                  <a:srgbClr val="FF0000"/>
                </a:solidFill>
                <a:latin typeface="Times New Roman" panose="02020603050405020304" pitchFamily="18" charset="0"/>
                <a:ea typeface="华文中宋" panose="02010600040101010101" pitchFamily="2" charset="-122"/>
              </a:rPr>
              <a:t>  </a:t>
            </a:r>
            <a:r>
              <a:rPr kumimoji="1" lang="zh-CN" altLang="en-US" sz="2400" b="1" dirty="0">
                <a:solidFill>
                  <a:schemeClr val="bg1"/>
                </a:solidFill>
                <a:latin typeface="Times New Roman" panose="02020603050405020304" pitchFamily="18" charset="0"/>
                <a:ea typeface="华文中宋" panose="02010600040101010101" pitchFamily="2" charset="-122"/>
              </a:rPr>
              <a:t> </a:t>
            </a:r>
            <a:r>
              <a:rPr kumimoji="1" lang="en-US" altLang="zh-CN" sz="2400" b="1" i="1" dirty="0">
                <a:solidFill>
                  <a:srgbClr val="0000FF"/>
                </a:solidFill>
                <a:latin typeface="Times New Roman" panose="02020603050405020304" pitchFamily="18" charset="0"/>
                <a:ea typeface="华文中宋" panose="02010600040101010101" pitchFamily="2" charset="-122"/>
              </a:rPr>
              <a:t>a </a:t>
            </a:r>
            <a:r>
              <a:rPr kumimoji="1" lang="en-US" altLang="zh-CN" sz="2400" b="1" dirty="0">
                <a:solidFill>
                  <a:srgbClr val="0000FF"/>
                </a:solidFill>
                <a:latin typeface="宋体" panose="02010600030101010101" pitchFamily="2" charset="-122"/>
              </a:rPr>
              <a:t>≤5</a:t>
            </a:r>
            <a:r>
              <a:rPr kumimoji="1" lang="en-US" altLang="zh-CN" sz="2400" b="1" dirty="0">
                <a:solidFill>
                  <a:srgbClr val="0000FF"/>
                </a:solidFill>
                <a:latin typeface="Times New Roman" panose="02020603050405020304" pitchFamily="18" charset="0"/>
              </a:rPr>
              <a:t>~</a:t>
            </a:r>
            <a:r>
              <a:rPr kumimoji="1" lang="en-US" altLang="zh-CN" sz="2400" b="1" dirty="0">
                <a:solidFill>
                  <a:srgbClr val="0000FF"/>
                </a:solidFill>
                <a:latin typeface="宋体" panose="02010600030101010101" pitchFamily="2" charset="-122"/>
              </a:rPr>
              <a:t>6  m;</a:t>
            </a:r>
            <a:r>
              <a:rPr kumimoji="1" lang="en-US" altLang="zh-CN" sz="2400" b="1" dirty="0">
                <a:solidFill>
                  <a:srgbClr val="0000FF"/>
                </a:solidFill>
                <a:latin typeface="Times New Roman" panose="02020603050405020304" pitchFamily="18" charset="0"/>
                <a:ea typeface="华文中宋" panose="02010600040101010101" pitchFamily="2" charset="-122"/>
              </a:rPr>
              <a:t> </a:t>
            </a:r>
            <a:endParaRPr kumimoji="1"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138245" name="Text Box 5"/>
          <p:cNvSpPr txBox="1">
            <a:spLocks noChangeArrowheads="1"/>
          </p:cNvSpPr>
          <p:nvPr/>
        </p:nvSpPr>
        <p:spPr bwMode="auto">
          <a:xfrm>
            <a:off x="488315" y="4868545"/>
            <a:ext cx="3495675" cy="3689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sz="2400">
                <a:solidFill>
                  <a:srgbClr val="002060"/>
                </a:solidFill>
                <a:latin typeface="Times New Roman" panose="02020603050405020304" pitchFamily="18" charset="0"/>
                <a:ea typeface="华文中宋" panose="02010600040101010101" pitchFamily="2" charset="-122"/>
              </a:rPr>
              <a:t>传递功率</a:t>
            </a:r>
            <a:r>
              <a:rPr kumimoji="1" lang="zh-CN" altLang="en-US" sz="2400" b="1">
                <a:solidFill>
                  <a:srgbClr val="002060"/>
                </a:solidFill>
                <a:latin typeface="Times New Roman" panose="02020603050405020304" pitchFamily="18" charset="0"/>
                <a:ea typeface="华文中宋" panose="02010600040101010101" pitchFamily="2" charset="-122"/>
              </a:rPr>
              <a:t>：</a:t>
            </a:r>
            <a:r>
              <a:rPr kumimoji="1" lang="zh-CN" altLang="en-US" sz="2400" b="1">
                <a:solidFill>
                  <a:schemeClr val="bg1"/>
                </a:solidFill>
                <a:latin typeface="Times New Roman" panose="02020603050405020304" pitchFamily="18" charset="0"/>
                <a:ea typeface="华文中宋" panose="02010600040101010101" pitchFamily="2" charset="-122"/>
              </a:rPr>
              <a:t> </a:t>
            </a:r>
            <a:r>
              <a:rPr kumimoji="1" lang="en-US" altLang="zh-CN" sz="2400" b="1">
                <a:solidFill>
                  <a:srgbClr val="0000FF"/>
                </a:solidFill>
                <a:latin typeface="Times New Roman" panose="02020603050405020304" pitchFamily="18" charset="0"/>
                <a:ea typeface="华文中宋" panose="02010600040101010101" pitchFamily="2" charset="-122"/>
              </a:rPr>
              <a:t>P </a:t>
            </a:r>
            <a:r>
              <a:rPr kumimoji="1" lang="en-US" altLang="zh-CN" sz="2400" b="1">
                <a:solidFill>
                  <a:srgbClr val="0000FF"/>
                </a:solidFill>
                <a:latin typeface="宋体" panose="02010600030101010101" pitchFamily="2" charset="-122"/>
              </a:rPr>
              <a:t>≤100  KW;</a:t>
            </a:r>
            <a:r>
              <a:rPr kumimoji="1" lang="en-US" altLang="zh-CN" sz="2400" b="1">
                <a:solidFill>
                  <a:srgbClr val="0000FF"/>
                </a:solidFill>
                <a:latin typeface="Times New Roman" panose="02020603050405020304" pitchFamily="18" charset="0"/>
                <a:ea typeface="华文中宋" panose="02010600040101010101" pitchFamily="2" charset="-122"/>
              </a:rPr>
              <a:t> </a:t>
            </a:r>
            <a:endParaRPr kumimoji="1" lang="en-US" altLang="zh-CN" sz="2400" b="1">
              <a:solidFill>
                <a:srgbClr val="0000FF"/>
              </a:solidFill>
              <a:latin typeface="Times New Roman" panose="02020603050405020304" pitchFamily="18" charset="0"/>
              <a:ea typeface="华文中宋" panose="02010600040101010101" pitchFamily="2" charset="-122"/>
            </a:endParaRPr>
          </a:p>
        </p:txBody>
      </p:sp>
      <p:sp>
        <p:nvSpPr>
          <p:cNvPr id="138246" name="Text Box 6"/>
          <p:cNvSpPr txBox="1">
            <a:spLocks noChangeArrowheads="1"/>
          </p:cNvSpPr>
          <p:nvPr/>
        </p:nvSpPr>
        <p:spPr bwMode="auto">
          <a:xfrm>
            <a:off x="488226" y="5449689"/>
            <a:ext cx="6115050" cy="3689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sz="2400">
                <a:solidFill>
                  <a:srgbClr val="002060"/>
                </a:solidFill>
                <a:latin typeface="Times New Roman" panose="02020603050405020304" pitchFamily="18" charset="0"/>
                <a:ea typeface="华文中宋" panose="02010600040101010101" pitchFamily="2" charset="-122"/>
              </a:rPr>
              <a:t>链速：</a:t>
            </a:r>
            <a:r>
              <a:rPr kumimoji="1" lang="zh-CN" altLang="en-US" sz="2400" b="1">
                <a:solidFill>
                  <a:schemeClr val="bg1"/>
                </a:solidFill>
                <a:latin typeface="Times New Roman" panose="02020603050405020304" pitchFamily="18" charset="0"/>
                <a:ea typeface="华文中宋" panose="02010600040101010101" pitchFamily="2" charset="-122"/>
              </a:rPr>
              <a:t>： </a:t>
            </a:r>
            <a:r>
              <a:rPr kumimoji="1" lang="en-US" altLang="zh-CN" sz="2400" b="1">
                <a:solidFill>
                  <a:srgbClr val="0000FF"/>
                </a:solidFill>
                <a:latin typeface="Times New Roman" panose="02020603050405020304" pitchFamily="18" charset="0"/>
                <a:ea typeface="华文中宋" panose="02010600040101010101" pitchFamily="2" charset="-122"/>
              </a:rPr>
              <a:t>v </a:t>
            </a:r>
            <a:r>
              <a:rPr kumimoji="1" lang="en-US" altLang="zh-CN" sz="2400" b="1">
                <a:solidFill>
                  <a:srgbClr val="0000FF"/>
                </a:solidFill>
                <a:latin typeface="宋体" panose="02010600030101010101" pitchFamily="2" charset="-122"/>
              </a:rPr>
              <a:t>≤15  m/s;</a:t>
            </a:r>
            <a:r>
              <a:rPr kumimoji="1" lang="en-US" altLang="zh-CN" sz="2400" b="1">
                <a:solidFill>
                  <a:srgbClr val="66FF33"/>
                </a:solidFill>
                <a:latin typeface="Times New Roman" panose="02020603050405020304" pitchFamily="18" charset="0"/>
                <a:ea typeface="华文中宋" panose="02010600040101010101" pitchFamily="2" charset="-122"/>
              </a:rPr>
              <a:t> </a:t>
            </a:r>
            <a:endParaRPr kumimoji="1" lang="en-US" altLang="zh-CN" sz="2400" b="1">
              <a:solidFill>
                <a:srgbClr val="66FF33"/>
              </a:solidFill>
              <a:latin typeface="Times New Roman" panose="02020603050405020304" pitchFamily="18" charset="0"/>
              <a:ea typeface="华文中宋" panose="02010600040101010101" pitchFamily="2" charset="-122"/>
            </a:endParaRPr>
          </a:p>
        </p:txBody>
      </p:sp>
      <p:sp>
        <p:nvSpPr>
          <p:cNvPr id="138247" name="Text Box 7"/>
          <p:cNvSpPr txBox="1">
            <a:spLocks noChangeArrowheads="1"/>
          </p:cNvSpPr>
          <p:nvPr/>
        </p:nvSpPr>
        <p:spPr bwMode="auto">
          <a:xfrm>
            <a:off x="561975" y="6030595"/>
            <a:ext cx="5373370" cy="4305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sz="2400" dirty="0">
                <a:solidFill>
                  <a:srgbClr val="002060"/>
                </a:solidFill>
                <a:latin typeface="Times New Roman" panose="02020603050405020304" pitchFamily="18" charset="0"/>
                <a:ea typeface="华文中宋" panose="02010600040101010101" pitchFamily="2" charset="-122"/>
              </a:rPr>
              <a:t>传动效率：</a:t>
            </a:r>
            <a:r>
              <a:rPr kumimoji="1" lang="zh-CN" altLang="en-US" sz="2400" b="1" dirty="0">
                <a:solidFill>
                  <a:schemeClr val="bg1"/>
                </a:solidFill>
                <a:latin typeface="Times New Roman" panose="02020603050405020304" pitchFamily="18" charset="0"/>
                <a:ea typeface="华文中宋" panose="02010600040101010101" pitchFamily="2" charset="-122"/>
              </a:rPr>
              <a:t>： </a:t>
            </a:r>
            <a:r>
              <a:rPr kumimoji="1" lang="en-US" altLang="zh-CN" sz="2400" b="1" dirty="0">
                <a:solidFill>
                  <a:srgbClr val="0000FF"/>
                </a:solidFill>
                <a:latin typeface="Times New Roman" panose="02020603050405020304" pitchFamily="18" charset="0"/>
              </a:rPr>
              <a:t>η</a:t>
            </a:r>
            <a:r>
              <a:rPr kumimoji="1" lang="en-US" altLang="zh-CN" sz="2400" b="1" dirty="0">
                <a:solidFill>
                  <a:srgbClr val="0000FF"/>
                </a:solidFill>
                <a:latin typeface="Times New Roman" panose="02020603050405020304" pitchFamily="18" charset="0"/>
                <a:ea typeface="华文中宋" panose="02010600040101010101" pitchFamily="2" charset="-122"/>
              </a:rPr>
              <a:t> </a:t>
            </a:r>
            <a:r>
              <a:rPr kumimoji="1" lang="en-US" altLang="zh-CN" sz="2400" b="1" dirty="0">
                <a:solidFill>
                  <a:srgbClr val="0000FF"/>
                </a:solidFill>
                <a:latin typeface="宋体" panose="02010600030101010101" pitchFamily="2" charset="-122"/>
              </a:rPr>
              <a:t>≈0.95</a:t>
            </a:r>
            <a:r>
              <a:rPr kumimoji="1" lang="en-US" altLang="zh-CN" sz="2400" b="1" dirty="0">
                <a:solidFill>
                  <a:srgbClr val="0000FF"/>
                </a:solidFill>
                <a:latin typeface="Times New Roman" panose="02020603050405020304" pitchFamily="18" charset="0"/>
              </a:rPr>
              <a:t>~</a:t>
            </a:r>
            <a:r>
              <a:rPr kumimoji="1" lang="en-US" altLang="zh-CN" sz="2400" b="1" dirty="0">
                <a:solidFill>
                  <a:srgbClr val="0000FF"/>
                </a:solidFill>
                <a:latin typeface="宋体" panose="02010600030101010101" pitchFamily="2" charset="-122"/>
              </a:rPr>
              <a:t>0.98</a:t>
            </a:r>
            <a:r>
              <a:rPr kumimoji="1" lang="en-US" altLang="zh-CN" sz="2800" b="1" dirty="0">
                <a:solidFill>
                  <a:srgbClr val="66FF33"/>
                </a:solidFill>
                <a:latin typeface="宋体" panose="02010600030101010101" pitchFamily="2" charset="-122"/>
              </a:rPr>
              <a:t>  </a:t>
            </a:r>
            <a:r>
              <a:rPr kumimoji="1" lang="en-US" altLang="zh-CN" sz="2800" b="1" dirty="0">
                <a:solidFill>
                  <a:srgbClr val="66FF33"/>
                </a:solidFill>
                <a:latin typeface="Times New Roman" panose="02020603050405020304" pitchFamily="18" charset="0"/>
                <a:ea typeface="华文中宋" panose="02010600040101010101" pitchFamily="2" charset="-122"/>
              </a:rPr>
              <a:t> </a:t>
            </a:r>
            <a:endParaRPr kumimoji="1" lang="en-US" altLang="zh-CN" sz="2800" b="1" dirty="0">
              <a:solidFill>
                <a:srgbClr val="66FF33"/>
              </a:solidFill>
              <a:latin typeface="Times New Roman" panose="02020603050405020304" pitchFamily="18" charset="0"/>
              <a:ea typeface="华文中宋" panose="02010600040101010101" pitchFamily="2" charset="-122"/>
            </a:endParaRPr>
          </a:p>
        </p:txBody>
      </p:sp>
      <p:sp>
        <p:nvSpPr>
          <p:cNvPr id="7" name="Rectangle 2"/>
          <p:cNvSpPr txBox="1">
            <a:spLocks noChangeArrowheads="1"/>
          </p:cNvSpPr>
          <p:nvPr/>
        </p:nvSpPr>
        <p:spPr bwMode="auto">
          <a:xfrm>
            <a:off x="6402070" y="147955"/>
            <a:ext cx="2594610" cy="490220"/>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buFontTx/>
              <a:defRPr/>
            </a:pPr>
            <a:r>
              <a:rPr kumimoji="1" lang="en-US" altLang="zh-CN" sz="30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smtClean="0">
                <a:solidFill>
                  <a:srgbClr val="CC3300"/>
                </a:solidFill>
                <a:latin typeface="黑体" panose="02010609060101010101" pitchFamily="49" charset="-122"/>
                <a:ea typeface="黑体" panose="02010609060101010101" pitchFamily="49" charset="-122"/>
                <a:cs typeface="+mn-cs"/>
              </a:rPr>
              <a:t>-1 </a:t>
            </a:r>
            <a:r>
              <a:rPr kumimoji="1" lang="zh-CN" altLang="en-US" sz="3000" kern="1200" smtClean="0">
                <a:solidFill>
                  <a:srgbClr val="CC3300"/>
                </a:solidFill>
                <a:latin typeface="黑体" panose="02010609060101010101" pitchFamily="49" charset="-122"/>
                <a:ea typeface="黑体" panose="02010609060101010101" pitchFamily="49" charset="-122"/>
                <a:cs typeface="+mn-cs"/>
              </a:rPr>
              <a:t>概述</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503828" name="图片 503827" descr="滚子链">
            <a:hlinkClick r:id="rId1" action="ppaction://hlinkfile"/>
          </p:cNvPr>
          <p:cNvPicPr>
            <a:picLocks noChangeAspect="1"/>
          </p:cNvPicPr>
          <p:nvPr/>
        </p:nvPicPr>
        <p:blipFill>
          <a:blip r:embed="rId2"/>
          <a:stretch>
            <a:fillRect/>
          </a:stretch>
        </p:blipFill>
        <p:spPr>
          <a:xfrm>
            <a:off x="5671503" y="765175"/>
            <a:ext cx="2759075" cy="2114550"/>
          </a:xfrm>
          <a:prstGeom prst="rect">
            <a:avLst/>
          </a:prstGeom>
          <a:solidFill>
            <a:srgbClr val="66CCFF"/>
          </a:solidFill>
          <a:ln w="19050" cap="flat" cmpd="sng">
            <a:solidFill>
              <a:schemeClr val="hlink"/>
            </a:solidFill>
            <a:prstDash val="solid"/>
            <a:miter/>
            <a:headEnd type="none" w="med" len="med"/>
            <a:tailEnd type="none" w="med" len="med"/>
          </a:ln>
        </p:spPr>
      </p:pic>
      <p:pic>
        <p:nvPicPr>
          <p:cNvPr id="503827" name="图片 503826" descr="齿形链">
            <a:hlinkClick r:id="rId3" action="ppaction://hlinkfile"/>
          </p:cNvPr>
          <p:cNvPicPr>
            <a:picLocks noChangeAspect="1"/>
          </p:cNvPicPr>
          <p:nvPr/>
        </p:nvPicPr>
        <p:blipFill>
          <a:blip r:embed="rId4"/>
          <a:stretch>
            <a:fillRect/>
          </a:stretch>
        </p:blipFill>
        <p:spPr>
          <a:xfrm>
            <a:off x="5599430" y="2879725"/>
            <a:ext cx="3260725" cy="2051050"/>
          </a:xfrm>
          <a:prstGeom prst="rect">
            <a:avLst/>
          </a:prstGeom>
          <a:noFill/>
          <a:ln w="9525">
            <a:noFill/>
          </a:ln>
        </p:spPr>
      </p:pic>
      <p:sp>
        <p:nvSpPr>
          <p:cNvPr id="2" name="文本框 1"/>
          <p:cNvSpPr txBox="1"/>
          <p:nvPr/>
        </p:nvSpPr>
        <p:spPr>
          <a:xfrm>
            <a:off x="215265" y="1072515"/>
            <a:ext cx="1859280" cy="429895"/>
          </a:xfrm>
          <a:prstGeom prst="rect">
            <a:avLst/>
          </a:prstGeom>
          <a:noFill/>
        </p:spPr>
        <p:txBody>
          <a:bodyPr wrap="none" rtlCol="0" anchor="t">
            <a:spAutoFit/>
          </a:bodyPr>
          <a:p>
            <a:r>
              <a:rPr lang="zh-CN" altLang="en-US" dirty="0">
                <a:latin typeface="Times New Roman" panose="02020603050405020304" pitchFamily="18" charset="0"/>
                <a:ea typeface="黑体" panose="02010609060101010101" pitchFamily="49" charset="-122"/>
                <a:sym typeface="+mn-ea"/>
              </a:rPr>
              <a:t>传动链常用：</a:t>
            </a:r>
            <a:endParaRPr lang="zh-CN" altLang="en-US"/>
          </a:p>
        </p:txBody>
      </p:sp>
      <p:sp>
        <p:nvSpPr>
          <p:cNvPr id="503823" name="文本框 503822"/>
          <p:cNvSpPr txBox="1"/>
          <p:nvPr/>
        </p:nvSpPr>
        <p:spPr>
          <a:xfrm>
            <a:off x="1925320" y="1045210"/>
            <a:ext cx="2971800" cy="457200"/>
          </a:xfrm>
          <a:prstGeom prst="rect">
            <a:avLst/>
          </a:prstGeom>
          <a:noFill/>
          <a:ln w="38100">
            <a:noFill/>
          </a:ln>
        </p:spPr>
        <p:txBody>
          <a:bodyPr>
            <a:spAutoFit/>
          </a:bodyPr>
          <a:p>
            <a:r>
              <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rPr>
              <a:t>滚子链</a:t>
            </a:r>
            <a:r>
              <a:rPr lang="zh-CN" altLang="en-US" dirty="0">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和 </a:t>
            </a:r>
            <a:r>
              <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rPr>
              <a:t>齿形链</a:t>
            </a:r>
            <a:endParaRPr lang="zh-CN" altLang="en-US" dirty="0">
              <a:solidFill>
                <a:srgbClr val="FF0000"/>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503816" name="文本框 503815"/>
          <p:cNvSpPr txBox="1"/>
          <p:nvPr/>
        </p:nvSpPr>
        <p:spPr>
          <a:xfrm>
            <a:off x="215265" y="1731645"/>
            <a:ext cx="4681538" cy="457200"/>
          </a:xfrm>
          <a:prstGeom prst="rect">
            <a:avLst/>
          </a:prstGeom>
          <a:noFill/>
          <a:ln w="38100">
            <a:noFill/>
          </a:ln>
        </p:spPr>
        <p:txBody>
          <a:bodyPr>
            <a:spAutoFit/>
          </a:bodyPr>
          <a:p>
            <a:r>
              <a:rPr lang="zh-CN" altLang="en-US" dirty="0">
                <a:latin typeface="Times New Roman" panose="02020603050405020304" pitchFamily="18" charset="0"/>
                <a:ea typeface="黑体" panose="02010609060101010101" pitchFamily="49" charset="-122"/>
              </a:rPr>
              <a:t>滚子链应用较多，且为标准件。</a:t>
            </a:r>
            <a:endParaRPr lang="zh-CN" altLang="en-US"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3823"/>
                                        </p:tgtEl>
                                        <p:attrNameLst>
                                          <p:attrName>style.visibility</p:attrName>
                                        </p:attrNameLst>
                                      </p:cBhvr>
                                      <p:to>
                                        <p:strVal val="visible"/>
                                      </p:to>
                                    </p:set>
                                    <p:animEffect transition="in" filter="wipe(left)">
                                      <p:cBhvr>
                                        <p:cTn id="7" dur="500"/>
                                        <p:tgtEl>
                                          <p:spTgt spid="5038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3828"/>
                                        </p:tgtEl>
                                        <p:attrNameLst>
                                          <p:attrName>style.visibility</p:attrName>
                                        </p:attrNameLst>
                                      </p:cBhvr>
                                      <p:to>
                                        <p:strVal val="visible"/>
                                      </p:to>
                                    </p:set>
                                    <p:animEffect transition="in" filter="dissolve">
                                      <p:cBhvr>
                                        <p:cTn id="12" dur="500"/>
                                        <p:tgtEl>
                                          <p:spTgt spid="503828"/>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503827"/>
                                        </p:tgtEl>
                                        <p:attrNameLst>
                                          <p:attrName>style.visibility</p:attrName>
                                        </p:attrNameLst>
                                      </p:cBhvr>
                                      <p:to>
                                        <p:strVal val="visible"/>
                                      </p:to>
                                    </p:set>
                                    <p:animEffect transition="in" filter="dissolve">
                                      <p:cBhvr>
                                        <p:cTn id="16" dur="500"/>
                                        <p:tgtEl>
                                          <p:spTgt spid="5038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03816"/>
                                        </p:tgtEl>
                                        <p:attrNameLst>
                                          <p:attrName>style.visibility</p:attrName>
                                        </p:attrNameLst>
                                      </p:cBhvr>
                                      <p:to>
                                        <p:strVal val="visible"/>
                                      </p:to>
                                    </p:set>
                                    <p:animEffect transition="in" filter="wipe(left)">
                                      <p:cBhvr>
                                        <p:cTn id="21" dur="500"/>
                                        <p:tgtEl>
                                          <p:spTgt spid="503816"/>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138243"/>
                                        </p:tgtEl>
                                        <p:attrNameLst>
                                          <p:attrName>style.visibility</p:attrName>
                                        </p:attrNameLst>
                                      </p:cBhvr>
                                      <p:to>
                                        <p:strVal val="visible"/>
                                      </p:to>
                                    </p:set>
                                    <p:animEffect transition="in" filter="slide(fromTop)">
                                      <p:cBhvr>
                                        <p:cTn id="26" dur="500"/>
                                        <p:tgtEl>
                                          <p:spTgt spid="13824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38244"/>
                                        </p:tgtEl>
                                        <p:attrNameLst>
                                          <p:attrName>style.visibility</p:attrName>
                                        </p:attrNameLst>
                                      </p:cBhvr>
                                      <p:to>
                                        <p:strVal val="visible"/>
                                      </p:to>
                                    </p:set>
                                    <p:animEffect transition="in" filter="slide(fromBottom)">
                                      <p:cBhvr>
                                        <p:cTn id="31" dur="500"/>
                                        <p:tgtEl>
                                          <p:spTgt spid="138244"/>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38245"/>
                                        </p:tgtEl>
                                        <p:attrNameLst>
                                          <p:attrName>style.visibility</p:attrName>
                                        </p:attrNameLst>
                                      </p:cBhvr>
                                      <p:to>
                                        <p:strVal val="visible"/>
                                      </p:to>
                                    </p:set>
                                    <p:animEffect transition="in" filter="slide(fromBottom)">
                                      <p:cBhvr>
                                        <p:cTn id="36" dur="500"/>
                                        <p:tgtEl>
                                          <p:spTgt spid="138245"/>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38246"/>
                                        </p:tgtEl>
                                        <p:attrNameLst>
                                          <p:attrName>style.visibility</p:attrName>
                                        </p:attrNameLst>
                                      </p:cBhvr>
                                      <p:to>
                                        <p:strVal val="visible"/>
                                      </p:to>
                                    </p:set>
                                    <p:animEffect transition="in" filter="slide(fromBottom)">
                                      <p:cBhvr>
                                        <p:cTn id="41" dur="500"/>
                                        <p:tgtEl>
                                          <p:spTgt spid="138246"/>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138247"/>
                                        </p:tgtEl>
                                        <p:attrNameLst>
                                          <p:attrName>style.visibility</p:attrName>
                                        </p:attrNameLst>
                                      </p:cBhvr>
                                      <p:to>
                                        <p:strVal val="visible"/>
                                      </p:to>
                                    </p:set>
                                    <p:animEffect transition="in" filter="slide(fromBottom)">
                                      <p:cBhvr>
                                        <p:cTn id="46" dur="500"/>
                                        <p:tgtEl>
                                          <p:spTgt spid="13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ldLvl="0" animBg="1" autoUpdateAnimBg="0"/>
      <p:bldP spid="138244" grpId="0" bldLvl="0" animBg="1" autoUpdateAnimBg="0"/>
      <p:bldP spid="138245" grpId="0" bldLvl="0" animBg="1" autoUpdateAnimBg="0"/>
      <p:bldP spid="138246" grpId="0" bldLvl="0" animBg="1" autoUpdateAnimBg="0"/>
      <p:bldP spid="138247" grpId="0" bldLvl="0" animBg="1" autoUpdateAnimBg="0"/>
      <p:bldP spid="503823" grpId="0"/>
      <p:bldP spid="5038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4357688" y="195263"/>
            <a:ext cx="4786312"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105" name="文本框 4104"/>
          <p:cNvSpPr txBox="1">
            <a:spLocks noChangeArrowheads="1"/>
          </p:cNvSpPr>
          <p:nvPr/>
        </p:nvSpPr>
        <p:spPr bwMode="auto">
          <a:xfrm>
            <a:off x="611560" y="1196752"/>
            <a:ext cx="78288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a:solidFill>
                  <a:srgbClr val="000099"/>
                </a:solidFill>
                <a:latin typeface="黑体" panose="02010609060101010101" pitchFamily="49" charset="-122"/>
                <a:ea typeface="黑体" panose="02010609060101010101" pitchFamily="49" charset="-122"/>
              </a:rPr>
              <a:t>滚子链是</a:t>
            </a:r>
            <a:r>
              <a:rPr lang="zh-CN" altLang="en-US" dirty="0" smtClean="0">
                <a:solidFill>
                  <a:srgbClr val="000099"/>
                </a:solidFill>
                <a:latin typeface="黑体" panose="02010609060101010101" pitchFamily="49" charset="-122"/>
                <a:ea typeface="黑体" panose="02010609060101010101" pitchFamily="49" charset="-122"/>
              </a:rPr>
              <a:t>由</a:t>
            </a:r>
            <a:r>
              <a:rPr lang="en-US" altLang="zh-CN" dirty="0" smtClean="0">
                <a:solidFill>
                  <a:srgbClr val="FF0000"/>
                </a:solidFill>
                <a:latin typeface="黑体" panose="02010609060101010101" pitchFamily="49" charset="-122"/>
                <a:ea typeface="黑体" panose="02010609060101010101" pitchFamily="49" charset="-122"/>
              </a:rPr>
              <a:t>1</a:t>
            </a:r>
            <a:r>
              <a:rPr lang="zh-CN" altLang="en-US" dirty="0" smtClean="0">
                <a:solidFill>
                  <a:srgbClr val="000099"/>
                </a:solidFill>
                <a:latin typeface="黑体" panose="02010609060101010101" pitchFamily="49" charset="-122"/>
                <a:ea typeface="黑体" panose="02010609060101010101" pitchFamily="49" charset="-122"/>
              </a:rPr>
              <a:t>内链板、</a:t>
            </a:r>
            <a:r>
              <a:rPr lang="en-US" altLang="zh-CN" dirty="0" smtClean="0">
                <a:solidFill>
                  <a:srgbClr val="FF0000"/>
                </a:solidFill>
                <a:latin typeface="黑体" panose="02010609060101010101" pitchFamily="49" charset="-122"/>
                <a:ea typeface="黑体" panose="02010609060101010101" pitchFamily="49" charset="-122"/>
              </a:rPr>
              <a:t>2</a:t>
            </a:r>
            <a:r>
              <a:rPr lang="zh-CN" altLang="en-US" dirty="0" smtClean="0">
                <a:solidFill>
                  <a:srgbClr val="000099"/>
                </a:solidFill>
                <a:latin typeface="黑体" panose="02010609060101010101" pitchFamily="49" charset="-122"/>
                <a:ea typeface="黑体" panose="02010609060101010101" pitchFamily="49" charset="-122"/>
              </a:rPr>
              <a:t>外链板、</a:t>
            </a:r>
            <a:r>
              <a:rPr lang="en-US" altLang="zh-CN" dirty="0" smtClean="0">
                <a:solidFill>
                  <a:srgbClr val="FF0000"/>
                </a:solidFill>
                <a:latin typeface="黑体" panose="02010609060101010101" pitchFamily="49" charset="-122"/>
                <a:ea typeface="黑体" panose="02010609060101010101" pitchFamily="49" charset="-122"/>
              </a:rPr>
              <a:t>3</a:t>
            </a:r>
            <a:r>
              <a:rPr lang="zh-CN" altLang="en-US" dirty="0" smtClean="0">
                <a:solidFill>
                  <a:srgbClr val="000099"/>
                </a:solidFill>
                <a:latin typeface="黑体" panose="02010609060101010101" pitchFamily="49" charset="-122"/>
                <a:ea typeface="黑体" panose="02010609060101010101" pitchFamily="49" charset="-122"/>
              </a:rPr>
              <a:t>销轴、</a:t>
            </a:r>
            <a:r>
              <a:rPr lang="en-US" altLang="zh-CN" dirty="0" smtClean="0">
                <a:solidFill>
                  <a:srgbClr val="FF0000"/>
                </a:solidFill>
                <a:latin typeface="黑体" panose="02010609060101010101" pitchFamily="49" charset="-122"/>
                <a:ea typeface="黑体" panose="02010609060101010101" pitchFamily="49" charset="-122"/>
              </a:rPr>
              <a:t>4</a:t>
            </a:r>
            <a:r>
              <a:rPr lang="zh-CN" altLang="en-US" dirty="0" smtClean="0">
                <a:solidFill>
                  <a:srgbClr val="000099"/>
                </a:solidFill>
                <a:latin typeface="黑体" panose="02010609060101010101" pitchFamily="49" charset="-122"/>
                <a:ea typeface="黑体" panose="02010609060101010101" pitchFamily="49" charset="-122"/>
              </a:rPr>
              <a:t>套筒和</a:t>
            </a:r>
            <a:r>
              <a:rPr lang="en-US" altLang="zh-CN" dirty="0" smtClean="0">
                <a:solidFill>
                  <a:srgbClr val="FF0000"/>
                </a:solidFill>
                <a:latin typeface="黑体" panose="02010609060101010101" pitchFamily="49" charset="-122"/>
                <a:ea typeface="黑体" panose="02010609060101010101" pitchFamily="49" charset="-122"/>
              </a:rPr>
              <a:t>5</a:t>
            </a:r>
            <a:r>
              <a:rPr lang="zh-CN" altLang="en-US" dirty="0" smtClean="0">
                <a:solidFill>
                  <a:srgbClr val="000099"/>
                </a:solidFill>
                <a:latin typeface="黑体" panose="02010609060101010101" pitchFamily="49" charset="-122"/>
                <a:ea typeface="黑体" panose="02010609060101010101" pitchFamily="49" charset="-122"/>
              </a:rPr>
              <a:t>滚子</a:t>
            </a:r>
            <a:r>
              <a:rPr lang="zh-CN" altLang="en-US" dirty="0">
                <a:solidFill>
                  <a:srgbClr val="000099"/>
                </a:solidFill>
                <a:latin typeface="黑体" panose="02010609060101010101" pitchFamily="49" charset="-122"/>
                <a:ea typeface="黑体" panose="02010609060101010101" pitchFamily="49" charset="-122"/>
              </a:rPr>
              <a:t>组成。</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a:solidFill>
                  <a:srgbClr val="000099"/>
                </a:solidFill>
                <a:latin typeface="黑体" panose="02010609060101010101" pitchFamily="49" charset="-122"/>
                <a:ea typeface="黑体" panose="02010609060101010101" pitchFamily="49" charset="-122"/>
              </a:rPr>
              <a:t>内链板紧压在套筒两端，称为</a:t>
            </a:r>
            <a:r>
              <a:rPr lang="zh-CN" altLang="en-US" dirty="0">
                <a:solidFill>
                  <a:srgbClr val="FF0000"/>
                </a:solidFill>
                <a:latin typeface="黑体" panose="02010609060101010101" pitchFamily="49" charset="-122"/>
                <a:ea typeface="黑体" panose="02010609060101010101" pitchFamily="49" charset="-122"/>
              </a:rPr>
              <a:t>内链节</a:t>
            </a:r>
            <a:r>
              <a:rPr lang="zh-CN" altLang="en-US" dirty="0">
                <a:solidFill>
                  <a:srgbClr val="000099"/>
                </a:solidFill>
                <a:latin typeface="黑体" panose="02010609060101010101" pitchFamily="49" charset="-122"/>
                <a:ea typeface="黑体" panose="02010609060101010101" pitchFamily="49" charset="-122"/>
              </a:rPr>
              <a:t>，外链板与销轴铆牢，称为</a:t>
            </a:r>
            <a:r>
              <a:rPr lang="zh-CN" altLang="en-US" dirty="0">
                <a:solidFill>
                  <a:srgbClr val="FF0000"/>
                </a:solidFill>
                <a:latin typeface="黑体" panose="02010609060101010101" pitchFamily="49" charset="-122"/>
                <a:ea typeface="黑体" panose="02010609060101010101" pitchFamily="49" charset="-122"/>
              </a:rPr>
              <a:t>外链节</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a:solidFill>
                  <a:srgbClr val="000099"/>
                </a:solidFill>
                <a:latin typeface="黑体" panose="02010609060101010101" pitchFamily="49" charset="-122"/>
                <a:ea typeface="黑体" panose="02010609060101010101" pitchFamily="49" charset="-122"/>
              </a:rPr>
              <a:t>滚子与套筒之间、套筒与销轴之间均为间隙配合。</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4125" name="文本框 4124"/>
          <p:cNvSpPr txBox="1">
            <a:spLocks noChangeArrowheads="1"/>
          </p:cNvSpPr>
          <p:nvPr/>
        </p:nvSpPr>
        <p:spPr bwMode="auto">
          <a:xfrm>
            <a:off x="238125" y="817563"/>
            <a:ext cx="15953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一、滚子链</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55314" name="Picture 1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11560" y="2914402"/>
            <a:ext cx="3816424" cy="3725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4876795" y="3019936"/>
            <a:ext cx="3563888" cy="3342453"/>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p:spPr>
        <p:txBody>
          <a:bodyPr wrap="square">
            <a:spAutoFit/>
          </a:bodyPr>
          <a:lstStyle/>
          <a:p>
            <a:pPr>
              <a:lnSpc>
                <a:spcPct val="120000"/>
              </a:lnSpc>
            </a:pPr>
            <a:r>
              <a:rPr kumimoji="1" lang="zh-CN" altLang="en-US" dirty="0">
                <a:solidFill>
                  <a:srgbClr val="FF0000"/>
                </a:solidFill>
                <a:latin typeface="黑体" panose="02010609060101010101" pitchFamily="49" charset="-122"/>
                <a:ea typeface="黑体" panose="02010609060101010101" pitchFamily="49" charset="-122"/>
              </a:rPr>
              <a:t>内外链节构成一个铰链</a:t>
            </a:r>
            <a:r>
              <a:rPr kumimoji="1" lang="zh-CN" altLang="en-US" dirty="0" smtClean="0">
                <a:solidFill>
                  <a:srgbClr val="FF0000"/>
                </a:solidFill>
                <a:latin typeface="黑体" panose="02010609060101010101" pitchFamily="49" charset="-122"/>
                <a:ea typeface="黑体" panose="02010609060101010101" pitchFamily="49" charset="-122"/>
              </a:rPr>
              <a:t>。</a:t>
            </a:r>
            <a:endParaRPr kumimoji="1" lang="en-US" altLang="zh-CN" dirty="0" smtClean="0">
              <a:solidFill>
                <a:srgbClr val="FF0000"/>
              </a:solidFill>
              <a:latin typeface="黑体" panose="02010609060101010101" pitchFamily="49" charset="-122"/>
              <a:ea typeface="黑体" panose="02010609060101010101" pitchFamily="49" charset="-122"/>
            </a:endParaRPr>
          </a:p>
          <a:p>
            <a:pPr>
              <a:lnSpc>
                <a:spcPct val="120000"/>
              </a:lnSpc>
            </a:pPr>
            <a:r>
              <a:rPr kumimoji="1" lang="zh-CN" altLang="en-US" dirty="0" smtClean="0">
                <a:solidFill>
                  <a:srgbClr val="003399"/>
                </a:solidFill>
                <a:latin typeface="黑体" panose="02010609060101010101" pitchFamily="49" charset="-122"/>
                <a:ea typeface="黑体" panose="02010609060101010101" pitchFamily="49" charset="-122"/>
              </a:rPr>
              <a:t>当</a:t>
            </a:r>
            <a:r>
              <a:rPr kumimoji="1" lang="zh-CN" altLang="en-US" dirty="0">
                <a:solidFill>
                  <a:srgbClr val="002060"/>
                </a:solidFill>
                <a:latin typeface="黑体" panose="02010609060101010101" pitchFamily="49" charset="-122"/>
                <a:ea typeface="黑体" panose="02010609060101010101" pitchFamily="49" charset="-122"/>
              </a:rPr>
              <a:t>链条啮入啮出时，内外链节作相对转动。同时滚子沿链轮链齿滚动，可减少链条与轮齿的磨损。内外链板均做成</a:t>
            </a:r>
            <a:r>
              <a:rPr kumimoji="1" lang="en-US" altLang="zh-CN" dirty="0">
                <a:solidFill>
                  <a:srgbClr val="002060"/>
                </a:solidFill>
                <a:latin typeface="黑体" panose="02010609060101010101" pitchFamily="49" charset="-122"/>
                <a:ea typeface="黑体" panose="02010609060101010101" pitchFamily="49" charset="-122"/>
              </a:rPr>
              <a:t>8</a:t>
            </a:r>
            <a:r>
              <a:rPr kumimoji="1" lang="zh-CN" altLang="en-US" dirty="0">
                <a:solidFill>
                  <a:srgbClr val="002060"/>
                </a:solidFill>
                <a:latin typeface="黑体" panose="02010609060101010101" pitchFamily="49" charset="-122"/>
                <a:ea typeface="黑体" panose="02010609060101010101" pitchFamily="49" charset="-122"/>
              </a:rPr>
              <a:t>字形，以减轻重量，并保持各横截面的强度大致</a:t>
            </a:r>
            <a:r>
              <a:rPr kumimoji="1" lang="zh-CN" altLang="en-US" dirty="0" smtClean="0">
                <a:solidFill>
                  <a:srgbClr val="002060"/>
                </a:solidFill>
                <a:latin typeface="黑体" panose="02010609060101010101" pitchFamily="49" charset="-122"/>
                <a:ea typeface="黑体" panose="02010609060101010101" pitchFamily="49" charset="-122"/>
              </a:rPr>
              <a:t>相等。</a:t>
            </a:r>
            <a:endParaRPr kumimoji="1" lang="zh-CN" altLang="en-US" dirty="0">
              <a:solidFill>
                <a:srgbClr val="002060"/>
              </a:solidFill>
              <a:latin typeface="黑体" panose="02010609060101010101" pitchFamily="49" charset="-122"/>
              <a:ea typeface="黑体" panose="02010609060101010101" pitchFamily="49" charset="-122"/>
            </a:endParaRPr>
          </a:p>
        </p:txBody>
      </p:sp>
      <p:cxnSp>
        <p:nvCxnSpPr>
          <p:cNvPr id="3" name="直接连接符 2"/>
          <p:cNvCxnSpPr/>
          <p:nvPr/>
        </p:nvCxnSpPr>
        <p:spPr>
          <a:xfrm flipV="1">
            <a:off x="1986915" y="2078990"/>
            <a:ext cx="469900" cy="6350"/>
          </a:xfrm>
          <a:prstGeom prst="line">
            <a:avLst/>
          </a:prstGeom>
          <a:noFill/>
          <a:ln w="38100" cap="flat" cmpd="sng" algn="ctr">
            <a:solidFill>
              <a:schemeClr val="tx2">
                <a:lumMod val="60000"/>
                <a:lumOff val="40000"/>
              </a:schemeClr>
            </a:solidFill>
            <a:prstDash val="solid"/>
            <a:round/>
            <a:headEnd type="none" w="med" len="med"/>
            <a:tailEnd type="none" w="med" len="med"/>
          </a:ln>
        </p:spPr>
      </p:cxnSp>
      <p:cxnSp>
        <p:nvCxnSpPr>
          <p:cNvPr id="4" name="直接连接符 3"/>
          <p:cNvCxnSpPr/>
          <p:nvPr/>
        </p:nvCxnSpPr>
        <p:spPr>
          <a:xfrm flipV="1">
            <a:off x="7654925" y="2051050"/>
            <a:ext cx="469900" cy="6350"/>
          </a:xfrm>
          <a:prstGeom prst="line">
            <a:avLst/>
          </a:prstGeom>
          <a:noFill/>
          <a:ln w="38100" cap="flat" cmpd="sng" algn="ctr">
            <a:solidFill>
              <a:schemeClr val="tx2">
                <a:lumMod val="60000"/>
                <a:lumOff val="40000"/>
              </a:schemeClr>
            </a:solidFill>
            <a:prstDash val="solid"/>
            <a:round/>
            <a:headEnd type="none" w="med" len="med"/>
            <a:tailEnd type="none" w="med" len="med"/>
          </a:ln>
        </p:spPr>
      </p:cxnSp>
      <p:graphicFrame>
        <p:nvGraphicFramePr>
          <p:cNvPr id="5" name="对象 4"/>
          <p:cNvGraphicFramePr/>
          <p:nvPr/>
        </p:nvGraphicFramePr>
        <p:xfrm>
          <a:off x="611505" y="2816225"/>
          <a:ext cx="3745865" cy="3909060"/>
        </p:xfrm>
        <a:graphic>
          <a:graphicData uri="http://schemas.openxmlformats.org/presentationml/2006/ole">
            <mc:AlternateContent xmlns:mc="http://schemas.openxmlformats.org/markup-compatibility/2006">
              <mc:Choice xmlns:v="urn:schemas-microsoft-com:vml" Requires="v">
                <p:oleObj spid="_x0000_s6" name="" r:id="rId2" imgW="2343150" imgH="2463800" progId="Paint.Picture">
                  <p:embed/>
                </p:oleObj>
              </mc:Choice>
              <mc:Fallback>
                <p:oleObj name="" r:id="rId2" imgW="2343150" imgH="2463800" progId="Paint.Picture">
                  <p:embed/>
                  <p:pic>
                    <p:nvPicPr>
                      <p:cNvPr id="0" name="图片 2"/>
                      <p:cNvPicPr/>
                      <p:nvPr/>
                    </p:nvPicPr>
                    <p:blipFill>
                      <a:blip r:embed="rId3"/>
                      <a:stretch>
                        <a:fillRect/>
                      </a:stretch>
                    </p:blipFill>
                    <p:spPr>
                      <a:xfrm>
                        <a:off x="611505" y="2816225"/>
                        <a:ext cx="3745865" cy="3909060"/>
                      </a:xfrm>
                      <a:prstGeom prst="rect">
                        <a:avLst/>
                      </a:prstGeom>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25"/>
                                        </p:tgtEl>
                                        <p:attrNameLst>
                                          <p:attrName>style.visibility</p:attrName>
                                        </p:attrNameLst>
                                      </p:cBhvr>
                                      <p:to>
                                        <p:strVal val="visible"/>
                                      </p:to>
                                    </p:set>
                                    <p:animEffect transition="in" filter="wipe(left)">
                                      <p:cBhvr>
                                        <p:cTn id="7" dur="500"/>
                                        <p:tgtEl>
                                          <p:spTgt spid="41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53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105"/>
                                        </p:tgtEl>
                                        <p:attrNameLst>
                                          <p:attrName>style.visibility</p:attrName>
                                        </p:attrNameLst>
                                      </p:cBhvr>
                                      <p:to>
                                        <p:strVal val="visible"/>
                                      </p:to>
                                    </p:set>
                                    <p:animEffect transition="in" filter="wipe(left)">
                                      <p:cBhvr>
                                        <p:cTn id="16" dur="500"/>
                                        <p:tgtEl>
                                          <p:spTgt spid="410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5" grpId="0"/>
      <p:bldP spid="4125" grpId="0"/>
      <p:bldP spid="2"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lum contrast="36000"/>
          </a:blip>
          <a:stretch>
            <a:fillRect/>
          </a:stretch>
        </p:blipFill>
        <p:spPr>
          <a:xfrm>
            <a:off x="511810" y="1243330"/>
            <a:ext cx="8051800" cy="4833620"/>
          </a:xfrm>
          <a:prstGeom prst="rect">
            <a:avLst/>
          </a:prstGeom>
        </p:spPr>
      </p:pic>
      <p:sp>
        <p:nvSpPr>
          <p:cNvPr id="4" name="文本框 3"/>
          <p:cNvSpPr txBox="1"/>
          <p:nvPr/>
        </p:nvSpPr>
        <p:spPr>
          <a:xfrm>
            <a:off x="2526030" y="6149975"/>
            <a:ext cx="1481455" cy="429895"/>
          </a:xfrm>
          <a:prstGeom prst="rect">
            <a:avLst/>
          </a:prstGeom>
          <a:noFill/>
        </p:spPr>
        <p:txBody>
          <a:bodyPr wrap="square" rtlCol="0" anchor="t">
            <a:spAutoFit/>
          </a:bodyPr>
          <a:p>
            <a:r>
              <a:rPr lang="zh-CN" altLang="en-US" dirty="0" smtClean="0">
                <a:solidFill>
                  <a:srgbClr val="000099"/>
                </a:solidFill>
                <a:latin typeface="黑体" panose="02010609060101010101" pitchFamily="49" charset="-122"/>
                <a:ea typeface="黑体" panose="02010609060101010101" pitchFamily="49" charset="-122"/>
                <a:sym typeface="+mn-ea"/>
              </a:rPr>
              <a:t>内链板</a:t>
            </a:r>
            <a:endParaRPr lang="zh-CN" altLang="en-US" dirty="0" smtClean="0">
              <a:solidFill>
                <a:srgbClr val="000099"/>
              </a:solidFill>
              <a:latin typeface="黑体" panose="02010609060101010101" pitchFamily="49" charset="-122"/>
              <a:ea typeface="黑体" panose="02010609060101010101" pitchFamily="49" charset="-122"/>
              <a:sym typeface="+mn-ea"/>
            </a:endParaRPr>
          </a:p>
        </p:txBody>
      </p:sp>
      <p:cxnSp>
        <p:nvCxnSpPr>
          <p:cNvPr id="5" name="直接箭头连接符 4"/>
          <p:cNvCxnSpPr/>
          <p:nvPr/>
        </p:nvCxnSpPr>
        <p:spPr>
          <a:xfrm flipH="1" flipV="1">
            <a:off x="1567180" y="3512185"/>
            <a:ext cx="1699895" cy="2637790"/>
          </a:xfrm>
          <a:prstGeom prst="straightConnector1">
            <a:avLst/>
          </a:prstGeom>
          <a:noFill/>
          <a:ln w="9525" cap="flat" cmpd="sng" algn="ctr">
            <a:solidFill>
              <a:srgbClr val="FF0000"/>
            </a:solidFill>
            <a:prstDash val="solid"/>
            <a:round/>
            <a:headEnd type="none" w="med" len="med"/>
            <a:tailEnd type="triangle" w="med" len="med"/>
          </a:ln>
        </p:spPr>
      </p:cxnSp>
      <p:sp>
        <p:nvSpPr>
          <p:cNvPr id="6" name="文本框 5"/>
          <p:cNvSpPr txBox="1"/>
          <p:nvPr/>
        </p:nvSpPr>
        <p:spPr>
          <a:xfrm>
            <a:off x="3267075" y="704215"/>
            <a:ext cx="1229995" cy="429895"/>
          </a:xfrm>
          <a:prstGeom prst="rect">
            <a:avLst/>
          </a:prstGeom>
          <a:noFill/>
        </p:spPr>
        <p:txBody>
          <a:bodyPr wrap="square" rtlCol="0" anchor="t">
            <a:spAutoFit/>
          </a:bodyPr>
          <a:p>
            <a:r>
              <a:rPr lang="zh-CN" altLang="en-US" dirty="0" smtClean="0">
                <a:solidFill>
                  <a:srgbClr val="000099"/>
                </a:solidFill>
                <a:latin typeface="黑体" panose="02010609060101010101" pitchFamily="49" charset="-122"/>
                <a:ea typeface="黑体" panose="02010609060101010101" pitchFamily="49" charset="-122"/>
                <a:sym typeface="+mn-ea"/>
              </a:rPr>
              <a:t>外链板</a:t>
            </a:r>
            <a:endParaRPr lang="zh-CN" altLang="en-US" dirty="0" smtClean="0">
              <a:solidFill>
                <a:srgbClr val="000099"/>
              </a:solidFill>
              <a:latin typeface="黑体" panose="02010609060101010101" pitchFamily="49" charset="-122"/>
              <a:ea typeface="黑体" panose="02010609060101010101" pitchFamily="49" charset="-122"/>
              <a:sym typeface="+mn-ea"/>
            </a:endParaRPr>
          </a:p>
        </p:txBody>
      </p:sp>
      <p:cxnSp>
        <p:nvCxnSpPr>
          <p:cNvPr id="7" name="直接箭头连接符 6"/>
          <p:cNvCxnSpPr/>
          <p:nvPr/>
        </p:nvCxnSpPr>
        <p:spPr>
          <a:xfrm flipV="1">
            <a:off x="3304540" y="5345430"/>
            <a:ext cx="107950" cy="779145"/>
          </a:xfrm>
          <a:prstGeom prst="straightConnector1">
            <a:avLst/>
          </a:prstGeom>
          <a:noFill/>
          <a:ln w="9525" cap="flat" cmpd="sng" algn="ctr">
            <a:solidFill>
              <a:srgbClr val="FF0000"/>
            </a:solidFill>
            <a:prstDash val="solid"/>
            <a:round/>
            <a:headEnd type="none" w="med" len="med"/>
            <a:tailEnd type="triangle" w="med" len="med"/>
          </a:ln>
        </p:spPr>
      </p:cxnSp>
      <p:sp>
        <p:nvSpPr>
          <p:cNvPr id="8" name="文本框 7"/>
          <p:cNvSpPr txBox="1"/>
          <p:nvPr/>
        </p:nvSpPr>
        <p:spPr>
          <a:xfrm>
            <a:off x="2609850" y="1766570"/>
            <a:ext cx="1097915" cy="429895"/>
          </a:xfrm>
          <a:prstGeom prst="rect">
            <a:avLst/>
          </a:prstGeom>
          <a:noFill/>
        </p:spPr>
        <p:txBody>
          <a:bodyPr wrap="square" rtlCol="0" anchor="t">
            <a:spAutoFit/>
          </a:bodyPr>
          <a:p>
            <a:r>
              <a:rPr lang="zh-CN" altLang="en-US" dirty="0" smtClean="0">
                <a:solidFill>
                  <a:srgbClr val="000099"/>
                </a:solidFill>
                <a:latin typeface="黑体" panose="02010609060101010101" pitchFamily="49" charset="-122"/>
                <a:ea typeface="黑体" panose="02010609060101010101" pitchFamily="49" charset="-122"/>
                <a:sym typeface="+mn-ea"/>
              </a:rPr>
              <a:t>销轴</a:t>
            </a:r>
            <a:endParaRPr lang="zh-CN" altLang="en-US" dirty="0" smtClean="0">
              <a:solidFill>
                <a:srgbClr val="000099"/>
              </a:solidFill>
              <a:latin typeface="黑体" panose="02010609060101010101" pitchFamily="49" charset="-122"/>
              <a:ea typeface="黑体" panose="02010609060101010101" pitchFamily="49" charset="-122"/>
              <a:sym typeface="+mn-ea"/>
            </a:endParaRPr>
          </a:p>
        </p:txBody>
      </p:sp>
      <p:sp>
        <p:nvSpPr>
          <p:cNvPr id="9" name="文本框 8"/>
          <p:cNvSpPr txBox="1"/>
          <p:nvPr/>
        </p:nvSpPr>
        <p:spPr>
          <a:xfrm>
            <a:off x="2992755" y="3082290"/>
            <a:ext cx="1097915" cy="429895"/>
          </a:xfrm>
          <a:prstGeom prst="rect">
            <a:avLst/>
          </a:prstGeom>
          <a:noFill/>
        </p:spPr>
        <p:txBody>
          <a:bodyPr wrap="square" rtlCol="0" anchor="t">
            <a:spAutoFit/>
          </a:bodyPr>
          <a:p>
            <a:r>
              <a:rPr lang="zh-CN" altLang="en-US" dirty="0" smtClean="0">
                <a:solidFill>
                  <a:srgbClr val="000099"/>
                </a:solidFill>
                <a:latin typeface="黑体" panose="02010609060101010101" pitchFamily="49" charset="-122"/>
                <a:ea typeface="黑体" panose="02010609060101010101" pitchFamily="49" charset="-122"/>
                <a:sym typeface="+mn-ea"/>
              </a:rPr>
              <a:t>套筒</a:t>
            </a:r>
            <a:endParaRPr lang="zh-CN" altLang="en-US" dirty="0" smtClean="0">
              <a:solidFill>
                <a:srgbClr val="000099"/>
              </a:solidFill>
              <a:latin typeface="黑体" panose="02010609060101010101" pitchFamily="49" charset="-122"/>
              <a:ea typeface="黑体" panose="02010609060101010101" pitchFamily="49" charset="-122"/>
              <a:sym typeface="+mn-ea"/>
            </a:endParaRPr>
          </a:p>
        </p:txBody>
      </p:sp>
      <p:sp>
        <p:nvSpPr>
          <p:cNvPr id="10" name="文本框 9"/>
          <p:cNvSpPr txBox="1"/>
          <p:nvPr/>
        </p:nvSpPr>
        <p:spPr>
          <a:xfrm>
            <a:off x="2706370" y="2237740"/>
            <a:ext cx="1001395" cy="429895"/>
          </a:xfrm>
          <a:prstGeom prst="rect">
            <a:avLst/>
          </a:prstGeom>
          <a:noFill/>
        </p:spPr>
        <p:txBody>
          <a:bodyPr wrap="square" rtlCol="0" anchor="t">
            <a:spAutoFit/>
          </a:bodyPr>
          <a:p>
            <a:r>
              <a:rPr lang="zh-CN" altLang="en-US" dirty="0" smtClean="0">
                <a:solidFill>
                  <a:srgbClr val="000099"/>
                </a:solidFill>
                <a:latin typeface="黑体" panose="02010609060101010101" pitchFamily="49" charset="-122"/>
                <a:ea typeface="黑体" panose="02010609060101010101" pitchFamily="49" charset="-122"/>
                <a:sym typeface="+mn-ea"/>
              </a:rPr>
              <a:t>滚子</a:t>
            </a:r>
            <a:endParaRPr lang="zh-CN" altLang="en-US" dirty="0" smtClean="0">
              <a:solidFill>
                <a:srgbClr val="000099"/>
              </a:solidFill>
              <a:latin typeface="黑体" panose="02010609060101010101" pitchFamily="49" charset="-122"/>
              <a:ea typeface="黑体" panose="02010609060101010101" pitchFamily="49" charset="-122"/>
              <a:sym typeface="+mn-ea"/>
            </a:endParaRPr>
          </a:p>
        </p:txBody>
      </p:sp>
      <p:cxnSp>
        <p:nvCxnSpPr>
          <p:cNvPr id="11" name="直接箭头连接符 10"/>
          <p:cNvCxnSpPr/>
          <p:nvPr/>
        </p:nvCxnSpPr>
        <p:spPr>
          <a:xfrm flipH="1">
            <a:off x="1734820" y="1068070"/>
            <a:ext cx="1833245" cy="850900"/>
          </a:xfrm>
          <a:prstGeom prst="straightConnector1">
            <a:avLst/>
          </a:prstGeom>
          <a:noFill/>
          <a:ln w="9525" cap="flat" cmpd="sng" algn="ctr">
            <a:solidFill>
              <a:srgbClr val="FF0000"/>
            </a:solidFill>
            <a:prstDash val="solid"/>
            <a:round/>
            <a:headEnd type="none" w="med" len="med"/>
            <a:tailEnd type="triangle" w="med" len="med"/>
          </a:ln>
        </p:spPr>
      </p:cxnSp>
      <p:cxnSp>
        <p:nvCxnSpPr>
          <p:cNvPr id="12" name="直接箭头连接符 11"/>
          <p:cNvCxnSpPr/>
          <p:nvPr/>
        </p:nvCxnSpPr>
        <p:spPr>
          <a:xfrm>
            <a:off x="3592195" y="1056640"/>
            <a:ext cx="1054100" cy="4264660"/>
          </a:xfrm>
          <a:prstGeom prst="straightConnector1">
            <a:avLst/>
          </a:prstGeom>
          <a:noFill/>
          <a:ln w="9525" cap="flat" cmpd="sng" algn="ctr">
            <a:solidFill>
              <a:srgbClr val="FF0000"/>
            </a:solidFill>
            <a:prstDash val="solid"/>
            <a:round/>
            <a:headEnd type="none" w="med" len="med"/>
            <a:tailEnd type="triangle" w="med" len="med"/>
          </a:ln>
        </p:spPr>
      </p:cxnSp>
      <p:cxnSp>
        <p:nvCxnSpPr>
          <p:cNvPr id="13" name="直接箭头连接符 12"/>
          <p:cNvCxnSpPr/>
          <p:nvPr/>
        </p:nvCxnSpPr>
        <p:spPr>
          <a:xfrm flipH="1">
            <a:off x="1670050" y="2098675"/>
            <a:ext cx="939800" cy="436880"/>
          </a:xfrm>
          <a:prstGeom prst="straightConnector1">
            <a:avLst/>
          </a:prstGeom>
          <a:noFill/>
          <a:ln w="9525" cap="flat" cmpd="sng" algn="ctr">
            <a:solidFill>
              <a:srgbClr val="FF0000"/>
            </a:solidFill>
            <a:prstDash val="solid"/>
            <a:round/>
            <a:headEnd type="none" w="med" len="med"/>
            <a:tailEnd type="triangle" w="med" len="med"/>
          </a:ln>
        </p:spPr>
      </p:cxnSp>
      <p:cxnSp>
        <p:nvCxnSpPr>
          <p:cNvPr id="14" name="直接箭头连接符 13"/>
          <p:cNvCxnSpPr/>
          <p:nvPr/>
        </p:nvCxnSpPr>
        <p:spPr>
          <a:xfrm flipH="1">
            <a:off x="2609850" y="3500755"/>
            <a:ext cx="622935" cy="993775"/>
          </a:xfrm>
          <a:prstGeom prst="straightConnector1">
            <a:avLst/>
          </a:prstGeom>
          <a:noFill/>
          <a:ln w="9525" cap="flat" cmpd="sng" algn="ctr">
            <a:solidFill>
              <a:srgbClr val="FF0000"/>
            </a:solidFill>
            <a:prstDash val="solid"/>
            <a:round/>
            <a:headEnd type="none" w="med" len="med"/>
            <a:tailEnd type="triangle" w="med" len="med"/>
          </a:ln>
        </p:spPr>
      </p:cxnSp>
      <p:cxnSp>
        <p:nvCxnSpPr>
          <p:cNvPr id="15" name="直接箭头连接符 14"/>
          <p:cNvCxnSpPr/>
          <p:nvPr/>
        </p:nvCxnSpPr>
        <p:spPr>
          <a:xfrm flipH="1">
            <a:off x="3161030" y="3524250"/>
            <a:ext cx="71755" cy="831850"/>
          </a:xfrm>
          <a:prstGeom prst="straightConnector1">
            <a:avLst/>
          </a:prstGeom>
          <a:noFill/>
          <a:ln w="9525" cap="flat" cmpd="sng" algn="ctr">
            <a:solidFill>
              <a:srgbClr val="FF0000"/>
            </a:solidFill>
            <a:prstDash val="solid"/>
            <a:round/>
            <a:headEnd type="none" w="med" len="med"/>
            <a:tailEnd type="triangle" w="med" len="med"/>
          </a:ln>
        </p:spPr>
      </p:cxnSp>
      <p:cxnSp>
        <p:nvCxnSpPr>
          <p:cNvPr id="16" name="直接箭头连接符 15"/>
          <p:cNvCxnSpPr/>
          <p:nvPr/>
        </p:nvCxnSpPr>
        <p:spPr>
          <a:xfrm flipH="1">
            <a:off x="2141855" y="2661920"/>
            <a:ext cx="803275" cy="1021080"/>
          </a:xfrm>
          <a:prstGeom prst="straightConnector1">
            <a:avLst/>
          </a:prstGeom>
          <a:noFill/>
          <a:ln w="9525" cap="flat" cmpd="sng" algn="ctr">
            <a:solidFill>
              <a:srgbClr val="FF0000"/>
            </a:solidFill>
            <a:prstDash val="solid"/>
            <a:round/>
            <a:headEnd type="none" w="med" len="med"/>
            <a:tailEnd type="triangle" w="med" len="med"/>
          </a:ln>
        </p:spPr>
      </p:cxnSp>
      <p:cxnSp>
        <p:nvCxnSpPr>
          <p:cNvPr id="17" name="直接箭头连接符 16"/>
          <p:cNvCxnSpPr/>
          <p:nvPr/>
        </p:nvCxnSpPr>
        <p:spPr>
          <a:xfrm flipH="1">
            <a:off x="2561590" y="2673985"/>
            <a:ext cx="443230" cy="754380"/>
          </a:xfrm>
          <a:prstGeom prst="straightConnector1">
            <a:avLst/>
          </a:prstGeom>
          <a:noFill/>
          <a:ln w="9525" cap="flat" cmpd="sng" algn="ctr">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par>
                                <p:cTn id="41" presetID="2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down)">
                                      <p:cBhvr>
                                        <p:cTn id="52" dur="500"/>
                                        <p:tgtEl>
                                          <p:spTgt spid="16"/>
                                        </p:tgtEl>
                                      </p:cBhvr>
                                    </p:animEffect>
                                  </p:childTnLst>
                                </p:cTn>
                              </p:par>
                              <p:par>
                                <p:cTn id="53" presetID="22" presetClass="entr" presetSubtype="4"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down)">
                                      <p:cBhvr>
                                        <p:cTn id="55" dur="500"/>
                                        <p:tgtEl>
                                          <p:spTgt spid="17"/>
                                        </p:tgtEl>
                                      </p:cBhvr>
                                    </p:animEffect>
                                  </p:childTnLst>
                                </p:cTn>
                              </p:par>
                            </p:childTnLst>
                          </p:cTn>
                        </p:par>
                        <p:par>
                          <p:cTn id="56" fill="hold">
                            <p:stCondLst>
                              <p:cond delay="500"/>
                            </p:stCondLst>
                            <p:childTnLst>
                              <p:par>
                                <p:cTn id="57" presetID="22" presetClass="entr" presetSubtype="4" fill="hold" grpId="0" nodeType="after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down)">
                                      <p:cBhvr>
                                        <p:cTn id="5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78" name="Text Box 42"/>
          <p:cNvSpPr txBox="1">
            <a:spLocks noChangeArrowheads="1"/>
          </p:cNvSpPr>
          <p:nvPr/>
        </p:nvSpPr>
        <p:spPr bwMode="auto">
          <a:xfrm>
            <a:off x="415474" y="5422359"/>
            <a:ext cx="8313738" cy="803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110000"/>
              </a:lnSpc>
            </a:pPr>
            <a:r>
              <a:rPr kumimoji="1" lang="zh-CN" altLang="en-US" sz="2400" b="1" dirty="0">
                <a:solidFill>
                  <a:srgbClr val="0000FF"/>
                </a:solidFill>
                <a:latin typeface="Times New Roman" panose="02020603050405020304" pitchFamily="18" charset="0"/>
                <a:ea typeface="华文中宋" panose="02010600040101010101" pitchFamily="2" charset="-122"/>
              </a:rPr>
              <a:t>链条材料：</a:t>
            </a:r>
            <a:endParaRPr kumimoji="1" lang="zh-CN" altLang="en-US" sz="2400" b="1" dirty="0">
              <a:solidFill>
                <a:srgbClr val="002060"/>
              </a:solidFill>
              <a:latin typeface="Times New Roman" panose="02020603050405020304" pitchFamily="18" charset="0"/>
              <a:ea typeface="华文中宋" panose="02010600040101010101" pitchFamily="2" charset="-122"/>
            </a:endParaRPr>
          </a:p>
          <a:p>
            <a:pPr>
              <a:lnSpc>
                <a:spcPct val="110000"/>
              </a:lnSpc>
            </a:pPr>
            <a:r>
              <a:rPr kumimoji="1" lang="zh-CN" altLang="en-US" sz="2400" b="1" dirty="0">
                <a:solidFill>
                  <a:srgbClr val="002060"/>
                </a:solidFill>
                <a:latin typeface="Times New Roman" panose="02020603050405020304" pitchFamily="18" charset="0"/>
                <a:ea typeface="华文中宋" panose="02010600040101010101" pitchFamily="2" charset="-122"/>
              </a:rPr>
              <a:t>碳素钢或合金钢，经热处理，以提高强度和耐磨性。</a:t>
            </a:r>
            <a:endParaRPr kumimoji="1" lang="zh-CN" altLang="en-US" sz="2400" b="1" dirty="0">
              <a:solidFill>
                <a:srgbClr val="002060"/>
              </a:solidFill>
              <a:latin typeface="Times New Roman" panose="02020603050405020304" pitchFamily="18" charset="0"/>
              <a:ea typeface="华文中宋" panose="02010600040101010101" pitchFamily="2" charset="-122"/>
            </a:endParaRPr>
          </a:p>
        </p:txBody>
      </p:sp>
      <p:sp>
        <p:nvSpPr>
          <p:cNvPr id="193582" name="Rectangle 46"/>
          <p:cNvSpPr>
            <a:spLocks noChangeArrowheads="1"/>
          </p:cNvSpPr>
          <p:nvPr/>
        </p:nvSpPr>
        <p:spPr bwMode="auto">
          <a:xfrm>
            <a:off x="251520" y="908720"/>
            <a:ext cx="3886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002060"/>
                </a:solidFill>
                <a:latin typeface="黑体" panose="02010609060101010101" pitchFamily="49" charset="-122"/>
                <a:ea typeface="黑体" panose="02010609060101010101" pitchFamily="49" charset="-122"/>
              </a:rPr>
              <a:t>套筒滚子链的剖面结构：</a:t>
            </a:r>
            <a:endParaRPr kumimoji="1" lang="zh-CN" altLang="en-US" dirty="0">
              <a:solidFill>
                <a:srgbClr val="002060"/>
              </a:solidFill>
              <a:latin typeface="黑体" panose="02010609060101010101" pitchFamily="49" charset="-122"/>
              <a:ea typeface="黑体" panose="02010609060101010101" pitchFamily="49" charset="-122"/>
            </a:endParaRPr>
          </a:p>
        </p:txBody>
      </p:sp>
      <p:grpSp>
        <p:nvGrpSpPr>
          <p:cNvPr id="193590" name="Group 54"/>
          <p:cNvGrpSpPr/>
          <p:nvPr/>
        </p:nvGrpSpPr>
        <p:grpSpPr bwMode="auto">
          <a:xfrm>
            <a:off x="1836249" y="4076695"/>
            <a:ext cx="5821215" cy="410810"/>
            <a:chOff x="1504" y="2377"/>
            <a:chExt cx="3732" cy="279"/>
          </a:xfrm>
        </p:grpSpPr>
        <p:sp>
          <p:nvSpPr>
            <p:cNvPr id="193585" name="Rectangle 49"/>
            <p:cNvSpPr>
              <a:spLocks noChangeArrowheads="1"/>
            </p:cNvSpPr>
            <p:nvPr/>
          </p:nvSpPr>
          <p:spPr bwMode="auto">
            <a:xfrm>
              <a:off x="4874" y="2377"/>
              <a:ext cx="3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滚子</a:t>
              </a:r>
              <a:endParaRPr kumimoji="1" lang="zh-CN" altLang="en-US" dirty="0">
                <a:solidFill>
                  <a:srgbClr val="0000FF"/>
                </a:solidFill>
                <a:latin typeface="黑体" panose="02010609060101010101" pitchFamily="49" charset="-122"/>
                <a:ea typeface="黑体" panose="02010609060101010101" pitchFamily="49" charset="-122"/>
              </a:endParaRPr>
            </a:p>
          </p:txBody>
        </p:sp>
        <p:sp>
          <p:nvSpPr>
            <p:cNvPr id="193586" name="Rectangle 50"/>
            <p:cNvSpPr>
              <a:spLocks noChangeArrowheads="1"/>
            </p:cNvSpPr>
            <p:nvPr/>
          </p:nvSpPr>
          <p:spPr bwMode="auto">
            <a:xfrm>
              <a:off x="4358" y="2384"/>
              <a:ext cx="3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套筒</a:t>
              </a:r>
              <a:endParaRPr kumimoji="1" lang="zh-CN" altLang="en-US" dirty="0">
                <a:solidFill>
                  <a:srgbClr val="0000FF"/>
                </a:solidFill>
                <a:latin typeface="黑体" panose="02010609060101010101" pitchFamily="49" charset="-122"/>
                <a:ea typeface="黑体" panose="02010609060101010101" pitchFamily="49" charset="-122"/>
              </a:endParaRPr>
            </a:p>
          </p:txBody>
        </p:sp>
        <p:sp>
          <p:nvSpPr>
            <p:cNvPr id="193587" name="Rectangle 51"/>
            <p:cNvSpPr>
              <a:spLocks noChangeArrowheads="1"/>
            </p:cNvSpPr>
            <p:nvPr/>
          </p:nvSpPr>
          <p:spPr bwMode="auto">
            <a:xfrm>
              <a:off x="3950" y="2426"/>
              <a:ext cx="3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销轴</a:t>
              </a:r>
              <a:endParaRPr kumimoji="1" lang="zh-CN" altLang="en-US" dirty="0">
                <a:solidFill>
                  <a:srgbClr val="0000FF"/>
                </a:solidFill>
                <a:latin typeface="黑体" panose="02010609060101010101" pitchFamily="49" charset="-122"/>
                <a:ea typeface="黑体" panose="02010609060101010101" pitchFamily="49" charset="-122"/>
              </a:endParaRPr>
            </a:p>
          </p:txBody>
        </p:sp>
        <p:sp>
          <p:nvSpPr>
            <p:cNvPr id="193588" name="Rectangle 52"/>
            <p:cNvSpPr>
              <a:spLocks noChangeArrowheads="1"/>
            </p:cNvSpPr>
            <p:nvPr/>
          </p:nvSpPr>
          <p:spPr bwMode="auto">
            <a:xfrm>
              <a:off x="2288" y="2377"/>
              <a:ext cx="54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内链板</a:t>
              </a:r>
              <a:endParaRPr kumimoji="1" lang="zh-CN" altLang="en-US" dirty="0">
                <a:solidFill>
                  <a:srgbClr val="0000FF"/>
                </a:solidFill>
                <a:latin typeface="黑体" panose="02010609060101010101" pitchFamily="49" charset="-122"/>
                <a:ea typeface="黑体" panose="02010609060101010101" pitchFamily="49" charset="-122"/>
              </a:endParaRPr>
            </a:p>
          </p:txBody>
        </p:sp>
        <p:sp>
          <p:nvSpPr>
            <p:cNvPr id="193589" name="Rectangle 53"/>
            <p:cNvSpPr>
              <a:spLocks noChangeArrowheads="1"/>
            </p:cNvSpPr>
            <p:nvPr/>
          </p:nvSpPr>
          <p:spPr bwMode="auto">
            <a:xfrm>
              <a:off x="1504" y="2377"/>
              <a:ext cx="54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外链板</a:t>
              </a:r>
              <a:endParaRPr kumimoji="1" lang="zh-CN" altLang="en-US" dirty="0">
                <a:solidFill>
                  <a:srgbClr val="0000FF"/>
                </a:solidFill>
                <a:latin typeface="黑体" panose="02010609060101010101" pitchFamily="49" charset="-122"/>
                <a:ea typeface="黑体" panose="02010609060101010101" pitchFamily="49" charset="-122"/>
              </a:endParaRPr>
            </a:p>
          </p:txBody>
        </p:sp>
      </p:grpSp>
      <p:sp>
        <p:nvSpPr>
          <p:cNvPr id="193591" name="Rectangle 55"/>
          <p:cNvSpPr>
            <a:spLocks noChangeArrowheads="1"/>
          </p:cNvSpPr>
          <p:nvPr/>
        </p:nvSpPr>
        <p:spPr bwMode="auto">
          <a:xfrm>
            <a:off x="5220072" y="4653136"/>
            <a:ext cx="3079750" cy="769441"/>
          </a:xfrm>
          <a:prstGeom prst="rect">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003399"/>
                </a:solidFill>
                <a:latin typeface="黑体" panose="02010609060101010101" pitchFamily="49" charset="-122"/>
                <a:ea typeface="黑体" panose="02010609060101010101" pitchFamily="49" charset="-122"/>
              </a:rPr>
              <a:t>套筒与销轴、滚子与套筒均为</a:t>
            </a:r>
            <a:r>
              <a:rPr kumimoji="1" lang="zh-CN" altLang="en-US" dirty="0">
                <a:solidFill>
                  <a:srgbClr val="FF0000"/>
                </a:solidFill>
                <a:latin typeface="黑体" panose="02010609060101010101" pitchFamily="49" charset="-122"/>
                <a:ea typeface="黑体" panose="02010609060101010101" pitchFamily="49" charset="-122"/>
              </a:rPr>
              <a:t>间隙配合</a:t>
            </a:r>
            <a:endParaRPr kumimoji="1" lang="zh-CN" altLang="en-US" dirty="0">
              <a:solidFill>
                <a:srgbClr val="FF0000"/>
              </a:solidFill>
              <a:latin typeface="黑体" panose="02010609060101010101" pitchFamily="49" charset="-122"/>
              <a:ea typeface="黑体" panose="02010609060101010101" pitchFamily="49" charset="-122"/>
            </a:endParaRPr>
          </a:p>
        </p:txBody>
      </p:sp>
      <p:sp>
        <p:nvSpPr>
          <p:cNvPr id="193592" name="Rectangle 56"/>
          <p:cNvSpPr>
            <a:spLocks noChangeArrowheads="1"/>
          </p:cNvSpPr>
          <p:nvPr/>
        </p:nvSpPr>
        <p:spPr bwMode="auto">
          <a:xfrm>
            <a:off x="1403648" y="4581128"/>
            <a:ext cx="3079750" cy="769441"/>
          </a:xfrm>
          <a:prstGeom prst="rect">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dirty="0">
                <a:solidFill>
                  <a:srgbClr val="003399"/>
                </a:solidFill>
                <a:latin typeface="黑体" panose="02010609060101010101" pitchFamily="49" charset="-122"/>
                <a:ea typeface="黑体" panose="02010609060101010101" pitchFamily="49" charset="-122"/>
              </a:rPr>
              <a:t>套筒与内链板、销轴与外链板均为</a:t>
            </a:r>
            <a:r>
              <a:rPr kumimoji="1" lang="zh-CN" altLang="en-US" dirty="0">
                <a:solidFill>
                  <a:srgbClr val="FF0000"/>
                </a:solidFill>
                <a:latin typeface="黑体" panose="02010609060101010101" pitchFamily="49" charset="-122"/>
                <a:ea typeface="黑体" panose="02010609060101010101" pitchFamily="49" charset="-122"/>
              </a:rPr>
              <a:t>过盈配合</a:t>
            </a:r>
            <a:endParaRPr kumimoji="1" lang="zh-CN" altLang="en-US" dirty="0">
              <a:solidFill>
                <a:srgbClr val="FF0000"/>
              </a:solidFill>
              <a:latin typeface="黑体" panose="02010609060101010101" pitchFamily="49" charset="-122"/>
              <a:ea typeface="黑体" panose="02010609060101010101" pitchFamily="49" charset="-122"/>
            </a:endParaRPr>
          </a:p>
        </p:txBody>
      </p:sp>
      <p:sp>
        <p:nvSpPr>
          <p:cNvPr id="13" name="Rectangle 2"/>
          <p:cNvSpPr txBox="1">
            <a:spLocks noChangeArrowheads="1"/>
          </p:cNvSpPr>
          <p:nvPr/>
        </p:nvSpPr>
        <p:spPr bwMode="auto">
          <a:xfrm>
            <a:off x="4357688" y="195263"/>
            <a:ext cx="4786312" cy="490537"/>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buFontTx/>
              <a:defRPr/>
            </a:pPr>
            <a:r>
              <a:rPr kumimoji="1" lang="en-US" altLang="zh-CN" sz="30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smtClean="0">
                <a:solidFill>
                  <a:srgbClr val="CC3300"/>
                </a:solidFill>
                <a:latin typeface="黑体" panose="02010609060101010101" pitchFamily="49" charset="-122"/>
                <a:ea typeface="黑体" panose="02010609060101010101" pitchFamily="49" charset="-122"/>
              </a:rPr>
              <a:t>-2 </a:t>
            </a:r>
            <a:r>
              <a:rPr kumimoji="1" lang="zh-CN" altLang="en-US" sz="3000" kern="120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 name="Picture 48"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1268760"/>
            <a:ext cx="6778939" cy="35706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93582"/>
                                        </p:tgtEl>
                                        <p:attrNameLst>
                                          <p:attrName>style.visibility</p:attrName>
                                        </p:attrNameLst>
                                      </p:cBhvr>
                                      <p:to>
                                        <p:strVal val="visible"/>
                                      </p:to>
                                    </p:set>
                                    <p:anim calcmode="lin" valueType="num">
                                      <p:cBhvr additive="base">
                                        <p:cTn id="7" dur="500" fill="hold"/>
                                        <p:tgtEl>
                                          <p:spTgt spid="193582"/>
                                        </p:tgtEl>
                                        <p:attrNameLst>
                                          <p:attrName>ppt_x</p:attrName>
                                        </p:attrNameLst>
                                      </p:cBhvr>
                                      <p:tavLst>
                                        <p:tav tm="0">
                                          <p:val>
                                            <p:strVal val="#ppt_x"/>
                                          </p:val>
                                        </p:tav>
                                        <p:tav tm="100000">
                                          <p:val>
                                            <p:strVal val="#ppt_x"/>
                                          </p:val>
                                        </p:tav>
                                      </p:tavLst>
                                    </p:anim>
                                    <p:anim calcmode="lin" valueType="num">
                                      <p:cBhvr additive="base">
                                        <p:cTn id="8" dur="500" fill="hold"/>
                                        <p:tgtEl>
                                          <p:spTgt spid="1935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93590"/>
                                        </p:tgtEl>
                                        <p:attrNameLst>
                                          <p:attrName>style.visibility</p:attrName>
                                        </p:attrNameLst>
                                      </p:cBhvr>
                                      <p:to>
                                        <p:strVal val="visible"/>
                                      </p:to>
                                    </p:set>
                                    <p:animEffect transition="in" filter="dissolve">
                                      <p:cBhvr>
                                        <p:cTn id="18" dur="500"/>
                                        <p:tgtEl>
                                          <p:spTgt spid="19359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35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35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3578"/>
                                        </p:tgtEl>
                                        <p:attrNameLst>
                                          <p:attrName>style.visibility</p:attrName>
                                        </p:attrNameLst>
                                      </p:cBhvr>
                                      <p:to>
                                        <p:strVal val="visible"/>
                                      </p:to>
                                    </p:set>
                                    <p:anim calcmode="lin" valueType="num">
                                      <p:cBhvr additive="base">
                                        <p:cTn id="31" dur="500" fill="hold"/>
                                        <p:tgtEl>
                                          <p:spTgt spid="193578"/>
                                        </p:tgtEl>
                                        <p:attrNameLst>
                                          <p:attrName>ppt_x</p:attrName>
                                        </p:attrNameLst>
                                      </p:cBhvr>
                                      <p:tavLst>
                                        <p:tav tm="0">
                                          <p:val>
                                            <p:strVal val="#ppt_x"/>
                                          </p:val>
                                        </p:tav>
                                        <p:tav tm="100000">
                                          <p:val>
                                            <p:strVal val="#ppt_x"/>
                                          </p:val>
                                        </p:tav>
                                      </p:tavLst>
                                    </p:anim>
                                    <p:anim calcmode="lin" valueType="num">
                                      <p:cBhvr additive="base">
                                        <p:cTn id="32" dur="500" fill="hold"/>
                                        <p:tgtEl>
                                          <p:spTgt spid="1935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78" grpId="0" bldLvl="0" animBg="1" autoUpdateAnimBg="0"/>
      <p:bldP spid="193582" grpId="0" autoUpdateAnimBg="0"/>
      <p:bldP spid="193591" grpId="0" bldLvl="0" animBg="1" autoUpdateAnimBg="0"/>
      <p:bldP spid="193592"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4357688" y="195263"/>
            <a:ext cx="4786312"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113" name="文本框 4112"/>
          <p:cNvSpPr txBox="1">
            <a:spLocks noChangeArrowheads="1"/>
          </p:cNvSpPr>
          <p:nvPr/>
        </p:nvSpPr>
        <p:spPr bwMode="auto">
          <a:xfrm>
            <a:off x="0" y="2501265"/>
            <a:ext cx="6281420" cy="49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rgbClr val="002060"/>
                </a:solidFill>
                <a:latin typeface="黑体" panose="02010609060101010101" pitchFamily="49" charset="-122"/>
                <a:ea typeface="黑体" panose="02010609060101010101" pitchFamily="49" charset="-122"/>
              </a:rPr>
              <a:t>当传递大功率时，可采用双排链或多排链。</a:t>
            </a:r>
            <a:endParaRPr lang="zh-CN" altLang="en-US" dirty="0">
              <a:solidFill>
                <a:srgbClr val="002060"/>
              </a:solidFill>
              <a:latin typeface="黑体" panose="02010609060101010101" pitchFamily="49" charset="-122"/>
              <a:ea typeface="黑体" panose="02010609060101010101" pitchFamily="49" charset="-122"/>
            </a:endParaRPr>
          </a:p>
        </p:txBody>
      </p:sp>
      <p:pic>
        <p:nvPicPr>
          <p:cNvPr id="55315" name="Picture 1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67544" y="3314954"/>
            <a:ext cx="4038688" cy="3175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64" name="Text Box 2"/>
          <p:cNvSpPr txBox="1">
            <a:spLocks noChangeArrowheads="1"/>
          </p:cNvSpPr>
          <p:nvPr/>
        </p:nvSpPr>
        <p:spPr bwMode="auto">
          <a:xfrm>
            <a:off x="395536" y="908720"/>
            <a:ext cx="3352800" cy="338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dirty="0">
                <a:solidFill>
                  <a:srgbClr val="002060"/>
                </a:solidFill>
                <a:latin typeface="黑体" panose="02010609060101010101" pitchFamily="49" charset="-122"/>
                <a:ea typeface="黑体" panose="02010609060101010101" pitchFamily="49" charset="-122"/>
              </a:rPr>
              <a:t>链条的主要</a:t>
            </a:r>
            <a:r>
              <a:rPr kumimoji="1" lang="zh-CN" altLang="en-US" dirty="0" smtClean="0">
                <a:solidFill>
                  <a:srgbClr val="002060"/>
                </a:solidFill>
                <a:latin typeface="黑体" panose="02010609060101010101" pitchFamily="49" charset="-122"/>
                <a:ea typeface="黑体" panose="02010609060101010101" pitchFamily="49" charset="-122"/>
              </a:rPr>
              <a:t>参数：</a:t>
            </a:r>
            <a:r>
              <a:rPr kumimoji="1" lang="zh-CN" altLang="en-US" dirty="0" smtClean="0">
                <a:solidFill>
                  <a:srgbClr val="FF0000"/>
                </a:solidFill>
                <a:latin typeface="黑体" panose="02010609060101010101" pitchFamily="49" charset="-122"/>
                <a:ea typeface="黑体" panose="02010609060101010101" pitchFamily="49" charset="-122"/>
              </a:rPr>
              <a:t>节距 </a:t>
            </a:r>
            <a:r>
              <a:rPr kumimoji="1" lang="en-US" altLang="zh-CN" i="1" dirty="0">
                <a:solidFill>
                  <a:srgbClr val="FF0000"/>
                </a:solidFill>
                <a:latin typeface="黑体" panose="02010609060101010101" pitchFamily="49" charset="-122"/>
                <a:ea typeface="黑体" panose="02010609060101010101" pitchFamily="49" charset="-122"/>
              </a:rPr>
              <a:t>p</a:t>
            </a:r>
            <a:r>
              <a:rPr kumimoji="1" lang="zh-CN" altLang="en-US" dirty="0">
                <a:solidFill>
                  <a:schemeClr val="bg1"/>
                </a:solidFill>
                <a:latin typeface="黑体" panose="02010609060101010101" pitchFamily="49" charset="-122"/>
                <a:ea typeface="黑体" panose="02010609060101010101" pitchFamily="49" charset="-122"/>
              </a:rPr>
              <a:t>：</a:t>
            </a:r>
            <a:endParaRPr kumimoji="1" lang="zh-CN" altLang="en-US" dirty="0">
              <a:solidFill>
                <a:schemeClr val="bg1"/>
              </a:solidFill>
              <a:latin typeface="黑体" panose="02010609060101010101" pitchFamily="49" charset="-122"/>
              <a:ea typeface="黑体" panose="02010609060101010101" pitchFamily="49" charset="-122"/>
            </a:endParaRPr>
          </a:p>
        </p:txBody>
      </p:sp>
      <p:sp>
        <p:nvSpPr>
          <p:cNvPr id="165" name="Text Box 3"/>
          <p:cNvSpPr txBox="1">
            <a:spLocks noChangeArrowheads="1"/>
          </p:cNvSpPr>
          <p:nvPr/>
        </p:nvSpPr>
        <p:spPr bwMode="auto">
          <a:xfrm>
            <a:off x="153670" y="1339215"/>
            <a:ext cx="5974080" cy="10153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dirty="0">
                <a:solidFill>
                  <a:srgbClr val="FF0000"/>
                </a:solidFill>
                <a:latin typeface="黑体" panose="02010609060101010101" pitchFamily="49" charset="-122"/>
                <a:ea typeface="黑体" panose="02010609060101010101" pitchFamily="49" charset="-122"/>
              </a:rPr>
              <a:t>节距</a:t>
            </a:r>
            <a:r>
              <a:rPr kumimoji="1" lang="en-US" altLang="zh-CN" i="1" dirty="0">
                <a:solidFill>
                  <a:srgbClr val="FF0000"/>
                </a:solidFill>
                <a:latin typeface="黑体" panose="02010609060101010101" pitchFamily="49" charset="-122"/>
                <a:ea typeface="黑体" panose="02010609060101010101" pitchFamily="49" charset="-122"/>
              </a:rPr>
              <a:t>p</a:t>
            </a:r>
            <a:r>
              <a:rPr kumimoji="1" lang="zh-CN" altLang="en-US" dirty="0">
                <a:solidFill>
                  <a:srgbClr val="002060"/>
                </a:solidFill>
                <a:latin typeface="黑体" panose="02010609060101010101" pitchFamily="49" charset="-122"/>
                <a:ea typeface="黑体" panose="02010609060101010101" pitchFamily="49" charset="-122"/>
              </a:rPr>
              <a:t>：滚子链上相邻两滚子中心的距离。 </a:t>
            </a:r>
            <a:r>
              <a:rPr kumimoji="1" lang="en-US" altLang="zh-CN" i="1" dirty="0">
                <a:solidFill>
                  <a:srgbClr val="FF0000"/>
                </a:solidFill>
                <a:latin typeface="黑体" panose="02010609060101010101" pitchFamily="49" charset="-122"/>
                <a:ea typeface="黑体" panose="02010609060101010101" pitchFamily="49" charset="-122"/>
              </a:rPr>
              <a:t>p </a:t>
            </a:r>
            <a:r>
              <a:rPr kumimoji="1" lang="zh-CN" altLang="en-US" dirty="0">
                <a:solidFill>
                  <a:srgbClr val="002060"/>
                </a:solidFill>
                <a:latin typeface="黑体" panose="02010609060101010101" pitchFamily="49" charset="-122"/>
                <a:ea typeface="黑体" panose="02010609060101010101" pitchFamily="49" charset="-122"/>
              </a:rPr>
              <a:t>越大，链条各零件尺寸越大，所能传递的功率大</a:t>
            </a:r>
            <a:r>
              <a:rPr kumimoji="1" lang="zh-CN" altLang="en-US" dirty="0">
                <a:solidFill>
                  <a:schemeClr val="bg1"/>
                </a:solidFill>
                <a:latin typeface="黑体" panose="02010609060101010101" pitchFamily="49" charset="-122"/>
                <a:ea typeface="黑体" panose="02010609060101010101" pitchFamily="49" charset="-122"/>
              </a:rPr>
              <a:t>也越大。</a:t>
            </a:r>
            <a:endParaRPr kumimoji="1" lang="zh-CN" altLang="en-US" dirty="0">
              <a:solidFill>
                <a:schemeClr val="bg1"/>
              </a:solidFill>
              <a:latin typeface="黑体" panose="02010609060101010101" pitchFamily="49" charset="-122"/>
              <a:ea typeface="黑体" panose="02010609060101010101" pitchFamily="49" charset="-122"/>
            </a:endParaRPr>
          </a:p>
        </p:txBody>
      </p:sp>
      <p:sp>
        <p:nvSpPr>
          <p:cNvPr id="166" name="Text Box 4"/>
          <p:cNvSpPr txBox="1">
            <a:spLocks noChangeArrowheads="1"/>
          </p:cNvSpPr>
          <p:nvPr/>
        </p:nvSpPr>
        <p:spPr bwMode="auto">
          <a:xfrm>
            <a:off x="481385" y="2162572"/>
            <a:ext cx="560070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dirty="0">
                <a:solidFill>
                  <a:srgbClr val="C00000"/>
                </a:solidFill>
                <a:latin typeface="黑体" panose="02010609060101010101" pitchFamily="49" charset="-122"/>
                <a:ea typeface="黑体" panose="02010609060101010101" pitchFamily="49" charset="-122"/>
              </a:rPr>
              <a:t>结构类型：</a:t>
            </a:r>
            <a:r>
              <a:rPr kumimoji="1" lang="zh-CN" altLang="en-US" dirty="0">
                <a:solidFill>
                  <a:srgbClr val="002060"/>
                </a:solidFill>
                <a:latin typeface="黑体" panose="02010609060101010101" pitchFamily="49" charset="-122"/>
                <a:ea typeface="黑体" panose="02010609060101010101" pitchFamily="49" charset="-122"/>
              </a:rPr>
              <a:t>单排链和多排链。</a:t>
            </a:r>
            <a:endParaRPr kumimoji="1" lang="zh-CN" altLang="en-US" dirty="0">
              <a:solidFill>
                <a:srgbClr val="002060"/>
              </a:solidFill>
              <a:latin typeface="黑体" panose="02010609060101010101" pitchFamily="49" charset="-122"/>
              <a:ea typeface="黑体" panose="02010609060101010101" pitchFamily="49" charset="-122"/>
            </a:endParaRPr>
          </a:p>
        </p:txBody>
      </p:sp>
      <p:sp>
        <p:nvSpPr>
          <p:cNvPr id="2" name="文本框 1"/>
          <p:cNvSpPr txBox="1"/>
          <p:nvPr/>
        </p:nvSpPr>
        <p:spPr>
          <a:xfrm>
            <a:off x="4111625" y="3855720"/>
            <a:ext cx="1333500" cy="429895"/>
          </a:xfrm>
          <a:prstGeom prst="rect">
            <a:avLst/>
          </a:prstGeom>
          <a:solidFill>
            <a:schemeClr val="tx1">
              <a:lumMod val="20000"/>
              <a:lumOff val="80000"/>
            </a:schemeClr>
          </a:solidFill>
        </p:spPr>
        <p:txBody>
          <a:bodyPr wrap="square" rtlCol="0">
            <a:spAutoFit/>
          </a:bodyPr>
          <a:lstStyle/>
          <a:p>
            <a:r>
              <a:rPr lang="en-US" altLang="zh-CN" i="1" dirty="0" err="1" smtClean="0">
                <a:solidFill>
                  <a:srgbClr val="FF0000"/>
                </a:solidFill>
              </a:rPr>
              <a:t>p</a:t>
            </a:r>
            <a:r>
              <a:rPr lang="en-US" altLang="zh-CN" baseline="-25000" dirty="0" err="1" smtClean="0">
                <a:solidFill>
                  <a:srgbClr val="FF0000"/>
                </a:solidFill>
              </a:rPr>
              <a:t>t </a:t>
            </a:r>
            <a:r>
              <a:rPr lang="zh-CN" altLang="en-US" dirty="0" smtClean="0">
                <a:solidFill>
                  <a:srgbClr val="FF0000"/>
                </a:solidFill>
              </a:rPr>
              <a:t>排距</a:t>
            </a:r>
            <a:endParaRPr lang="zh-CN" altLang="en-US" dirty="0">
              <a:solidFill>
                <a:srgbClr val="FF0000"/>
              </a:solidFill>
            </a:endParaRPr>
          </a:p>
        </p:txBody>
      </p:sp>
      <p:graphicFrame>
        <p:nvGraphicFramePr>
          <p:cNvPr id="6147" name="Object 7"/>
          <p:cNvGraphicFramePr>
            <a:graphicFrameLocks noChangeAspect="1"/>
          </p:cNvGraphicFramePr>
          <p:nvPr/>
        </p:nvGraphicFramePr>
        <p:xfrm>
          <a:off x="6350000" y="2855595"/>
          <a:ext cx="2626995" cy="1649730"/>
        </p:xfrm>
        <a:graphic>
          <a:graphicData uri="http://schemas.openxmlformats.org/presentationml/2006/ole">
            <mc:AlternateContent xmlns:mc="http://schemas.openxmlformats.org/markup-compatibility/2006">
              <mc:Choice xmlns:v="urn:schemas-microsoft-com:vml" Requires="v">
                <p:oleObj spid="_x0000_s3078" name="" r:id="rId2" imgW="4619625" imgH="3028950" progId="Paint.Picture">
                  <p:embed/>
                </p:oleObj>
              </mc:Choice>
              <mc:Fallback>
                <p:oleObj name="" r:id="rId2" imgW="4619625" imgH="3028950" progId="Paint.Picture">
                  <p:embed/>
                  <p:pic>
                    <p:nvPicPr>
                      <p:cNvPr id="0" name="图片 3077"/>
                      <p:cNvPicPr/>
                      <p:nvPr/>
                    </p:nvPicPr>
                    <p:blipFill>
                      <a:blip r:embed="rId3">
                        <a:lum bright="12000" contrast="30000"/>
                      </a:blip>
                      <a:srcRect/>
                      <a:stretch>
                        <a:fillRect/>
                      </a:stretch>
                    </p:blipFill>
                    <p:spPr>
                      <a:xfrm>
                        <a:off x="6350000" y="2855595"/>
                        <a:ext cx="2626995" cy="1649730"/>
                      </a:xfrm>
                      <a:prstGeom prst="rect">
                        <a:avLst/>
                      </a:prstGeom>
                      <a:noFill/>
                      <a:ln w="38100">
                        <a:miter/>
                      </a:ln>
                    </p:spPr>
                  </p:pic>
                </p:oleObj>
              </mc:Fallback>
            </mc:AlternateContent>
          </a:graphicData>
        </a:graphic>
      </p:graphicFrame>
      <p:graphicFrame>
        <p:nvGraphicFramePr>
          <p:cNvPr id="6146" name="Object 4"/>
          <p:cNvGraphicFramePr>
            <a:graphicFrameLocks noChangeAspect="1"/>
          </p:cNvGraphicFramePr>
          <p:nvPr>
            <p:ph sz="half" idx="1"/>
          </p:nvPr>
        </p:nvGraphicFramePr>
        <p:xfrm>
          <a:off x="6482715" y="1090295"/>
          <a:ext cx="2661285" cy="1513205"/>
        </p:xfrm>
        <a:graphic>
          <a:graphicData uri="http://schemas.openxmlformats.org/presentationml/2006/ole">
            <mc:AlternateContent xmlns:mc="http://schemas.openxmlformats.org/markup-compatibility/2006">
              <mc:Choice xmlns:v="urn:schemas-microsoft-com:vml" Requires="v">
                <p:oleObj spid="_x0000_s3076" name="" r:id="rId4" imgW="5438775" imgH="3476625" progId="Paint.Picture">
                  <p:embed/>
                </p:oleObj>
              </mc:Choice>
              <mc:Fallback>
                <p:oleObj name="" r:id="rId4" imgW="5438775" imgH="3476625" progId="Paint.Picture">
                  <p:embed/>
                  <p:pic>
                    <p:nvPicPr>
                      <p:cNvPr id="0" name="图片 3075"/>
                      <p:cNvPicPr/>
                      <p:nvPr/>
                    </p:nvPicPr>
                    <p:blipFill>
                      <a:blip r:embed="rId5">
                        <a:lum bright="29999" contrast="60000"/>
                      </a:blip>
                      <a:srcRect/>
                      <a:stretch>
                        <a:fillRect/>
                      </a:stretch>
                    </p:blipFill>
                    <p:spPr>
                      <a:xfrm>
                        <a:off x="6482715" y="1090295"/>
                        <a:ext cx="2661285" cy="1513205"/>
                      </a:xfrm>
                      <a:prstGeom prst="rect">
                        <a:avLst/>
                      </a:prstGeom>
                      <a:noFill/>
                      <a:ln w="38100">
                        <a:miter/>
                      </a:ln>
                    </p:spPr>
                  </p:pic>
                </p:oleObj>
              </mc:Fallback>
            </mc:AlternateContent>
          </a:graphicData>
        </a:graphic>
      </p:graphicFrame>
      <p:graphicFrame>
        <p:nvGraphicFramePr>
          <p:cNvPr id="6148" name="Object 10"/>
          <p:cNvGraphicFramePr>
            <a:graphicFrameLocks noChangeAspect="1"/>
          </p:cNvGraphicFramePr>
          <p:nvPr/>
        </p:nvGraphicFramePr>
        <p:xfrm>
          <a:off x="5644833" y="4640263"/>
          <a:ext cx="3419475" cy="1944687"/>
        </p:xfrm>
        <a:graphic>
          <a:graphicData uri="http://schemas.openxmlformats.org/presentationml/2006/ole">
            <mc:AlternateContent xmlns:mc="http://schemas.openxmlformats.org/markup-compatibility/2006">
              <mc:Choice xmlns:v="urn:schemas-microsoft-com:vml" Requires="v">
                <p:oleObj spid="_x0000_s3080" name="" r:id="rId6" imgW="3400425" imgH="1495425" progId="Paint.Picture">
                  <p:embed/>
                </p:oleObj>
              </mc:Choice>
              <mc:Fallback>
                <p:oleObj name="" r:id="rId6" imgW="3400425" imgH="1495425" progId="Paint.Picture">
                  <p:embed/>
                  <p:pic>
                    <p:nvPicPr>
                      <p:cNvPr id="0" name="图片 3079"/>
                      <p:cNvPicPr/>
                      <p:nvPr/>
                    </p:nvPicPr>
                    <p:blipFill>
                      <a:blip r:embed="rId7">
                        <a:lum bright="23999" contrast="48000"/>
                      </a:blip>
                      <a:srcRect/>
                      <a:stretch>
                        <a:fillRect/>
                      </a:stretch>
                    </p:blipFill>
                    <p:spPr>
                      <a:xfrm>
                        <a:off x="5644833" y="4640263"/>
                        <a:ext cx="3419475" cy="1944687"/>
                      </a:xfrm>
                      <a:prstGeom prst="rect">
                        <a:avLst/>
                      </a:prstGeom>
                      <a:noFill/>
                      <a:ln w="38100">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slide(fromTop)">
                                      <p:cBhvr>
                                        <p:cTn id="7" dur="5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53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165"/>
                                        </p:tgtEl>
                                        <p:attrNameLst>
                                          <p:attrName>style.visibility</p:attrName>
                                        </p:attrNameLst>
                                      </p:cBhvr>
                                      <p:to>
                                        <p:strVal val="visible"/>
                                      </p:to>
                                    </p:set>
                                    <p:animEffect transition="in" filter="slide(fromTop)">
                                      <p:cBhvr>
                                        <p:cTn id="16" dur="500"/>
                                        <p:tgtEl>
                                          <p:spTgt spid="16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66"/>
                                        </p:tgtEl>
                                        <p:attrNameLst>
                                          <p:attrName>style.visibility</p:attrName>
                                        </p:attrNameLst>
                                      </p:cBhvr>
                                      <p:to>
                                        <p:strVal val="visible"/>
                                      </p:to>
                                    </p:set>
                                    <p:animEffect transition="in" filter="slide(fromBottom)">
                                      <p:cBhvr>
                                        <p:cTn id="21" dur="500"/>
                                        <p:tgtEl>
                                          <p:spTgt spid="16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113"/>
                                        </p:tgtEl>
                                        <p:attrNameLst>
                                          <p:attrName>style.visibility</p:attrName>
                                        </p:attrNameLst>
                                      </p:cBhvr>
                                      <p:to>
                                        <p:strVal val="visible"/>
                                      </p:to>
                                    </p:set>
                                    <p:animEffect transition="in" filter="wipe(left)">
                                      <p:cBhvr>
                                        <p:cTn id="26" dur="500"/>
                                        <p:tgtEl>
                                          <p:spTgt spid="41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146"/>
                                        </p:tgtEl>
                                        <p:attrNameLst>
                                          <p:attrName>style.visibility</p:attrName>
                                        </p:attrNameLst>
                                      </p:cBhvr>
                                      <p:to>
                                        <p:strVal val="visible"/>
                                      </p:to>
                                    </p:set>
                                    <p:animEffect transition="in" filter="wipe(left)">
                                      <p:cBhvr>
                                        <p:cTn id="36" dur="500"/>
                                        <p:tgtEl>
                                          <p:spTgt spid="61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147"/>
                                        </p:tgtEl>
                                        <p:attrNameLst>
                                          <p:attrName>style.visibility</p:attrName>
                                        </p:attrNameLst>
                                      </p:cBhvr>
                                      <p:to>
                                        <p:strVal val="visible"/>
                                      </p:to>
                                    </p:set>
                                    <p:animEffect transition="in" filter="wipe(left)">
                                      <p:cBhvr>
                                        <p:cTn id="41" dur="500"/>
                                        <p:tgtEl>
                                          <p:spTgt spid="614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148"/>
                                        </p:tgtEl>
                                        <p:attrNameLst>
                                          <p:attrName>style.visibility</p:attrName>
                                        </p:attrNameLst>
                                      </p:cBhvr>
                                      <p:to>
                                        <p:strVal val="visible"/>
                                      </p:to>
                                    </p:set>
                                    <p:animEffect transition="in" filter="wipe(left)">
                                      <p:cBhvr>
                                        <p:cTn id="46"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3" grpId="0"/>
      <p:bldP spid="164" grpId="0" bldLvl="0" animBg="1" autoUpdateAnimBg="0"/>
      <p:bldP spid="165" grpId="0" bldLvl="0" animBg="1" autoUpdateAnimBg="0"/>
      <p:bldP spid="166" grpId="0" bldLvl="0" animBg="1" autoUpdateAnimBg="0"/>
      <p:bldP spid="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4500563" y="195263"/>
            <a:ext cx="4643437"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7895" name="标题 11265"/>
          <p:cNvSpPr>
            <a:spLocks noGrp="1" noChangeArrowheads="1"/>
          </p:cNvSpPr>
          <p:nvPr/>
        </p:nvSpPr>
        <p:spPr bwMode="auto">
          <a:xfrm>
            <a:off x="7620000" y="904875"/>
            <a:ext cx="838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传动链的结构特点</a:t>
            </a:r>
            <a:r>
              <a:rPr lang="en-US" altLang="zh-CN" sz="700">
                <a:solidFill>
                  <a:schemeClr val="bg1"/>
                </a:solidFill>
              </a:rPr>
              <a:t>2</a:t>
            </a:r>
            <a:endParaRPr lang="en-US" altLang="zh-CN" sz="700">
              <a:solidFill>
                <a:schemeClr val="bg1"/>
              </a:solidFill>
            </a:endParaRPr>
          </a:p>
        </p:txBody>
      </p:sp>
      <p:sp>
        <p:nvSpPr>
          <p:cNvPr id="11268" name="文本框 11267"/>
          <p:cNvSpPr txBox="1">
            <a:spLocks noChangeArrowheads="1"/>
          </p:cNvSpPr>
          <p:nvPr/>
        </p:nvSpPr>
        <p:spPr bwMode="auto">
          <a:xfrm>
            <a:off x="260028" y="1130206"/>
            <a:ext cx="54726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链条的接头处的固定形式有：</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52232" name="文本框 11271"/>
          <p:cNvSpPr txBox="1">
            <a:spLocks noChangeArrowheads="1"/>
          </p:cNvSpPr>
          <p:nvPr/>
        </p:nvSpPr>
        <p:spPr bwMode="auto">
          <a:xfrm>
            <a:off x="481896" y="4262869"/>
            <a:ext cx="8180387" cy="850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设计时，</a:t>
            </a:r>
            <a:r>
              <a:rPr lang="zh-CN" altLang="en-US" dirty="0">
                <a:solidFill>
                  <a:srgbClr val="FF0000"/>
                </a:solidFill>
                <a:latin typeface="黑体" panose="02010609060101010101" pitchFamily="49" charset="-122"/>
                <a:ea typeface="黑体" panose="02010609060101010101" pitchFamily="49" charset="-122"/>
              </a:rPr>
              <a:t>链节数以取为偶数为宜</a:t>
            </a:r>
            <a:r>
              <a:rPr lang="zh-CN" altLang="en-US" dirty="0">
                <a:solidFill>
                  <a:srgbClr val="000099"/>
                </a:solidFill>
                <a:latin typeface="黑体" panose="02010609060101010101" pitchFamily="49" charset="-122"/>
                <a:ea typeface="黑体" panose="02010609060101010101" pitchFamily="49" charset="-122"/>
              </a:rPr>
              <a:t>，这样可避免使用过渡链节，因为过渡链节</a:t>
            </a:r>
            <a:r>
              <a:rPr lang="zh-CN" altLang="en-US" dirty="0" smtClean="0">
                <a:solidFill>
                  <a:srgbClr val="000099"/>
                </a:solidFill>
                <a:latin typeface="黑体" panose="02010609060101010101" pitchFamily="49" charset="-122"/>
                <a:ea typeface="黑体" panose="02010609060101010101" pitchFamily="49" charset="-122"/>
              </a:rPr>
              <a:t>会产生</a:t>
            </a:r>
            <a:r>
              <a:rPr lang="zh-CN" altLang="en-US" dirty="0">
                <a:solidFill>
                  <a:srgbClr val="000099"/>
                </a:solidFill>
                <a:latin typeface="黑体" panose="02010609060101010101" pitchFamily="49" charset="-122"/>
                <a:ea typeface="黑体" panose="02010609060101010101" pitchFamily="49" charset="-122"/>
              </a:rPr>
              <a:t>附加</a:t>
            </a:r>
            <a:r>
              <a:rPr lang="zh-CN" altLang="en-US" dirty="0" smtClean="0">
                <a:solidFill>
                  <a:srgbClr val="000099"/>
                </a:solidFill>
                <a:latin typeface="黑体" panose="02010609060101010101" pitchFamily="49" charset="-122"/>
                <a:ea typeface="黑体" panose="02010609060101010101" pitchFamily="49" charset="-122"/>
              </a:rPr>
              <a:t>弯矩，使</a:t>
            </a:r>
            <a:r>
              <a:rPr lang="zh-CN" altLang="en-US" dirty="0">
                <a:solidFill>
                  <a:srgbClr val="000099"/>
                </a:solidFill>
                <a:latin typeface="黑体" panose="02010609060101010101" pitchFamily="49" charset="-122"/>
                <a:ea typeface="黑体" panose="02010609060101010101" pitchFamily="49" charset="-122"/>
              </a:rPr>
              <a:t>链的承载能力下降。</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43019" name="文本框 11271"/>
          <p:cNvSpPr txBox="1">
            <a:spLocks noChangeArrowheads="1"/>
          </p:cNvSpPr>
          <p:nvPr/>
        </p:nvSpPr>
        <p:spPr bwMode="auto">
          <a:xfrm>
            <a:off x="1043608" y="3645024"/>
            <a:ext cx="7172325" cy="43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120000"/>
              </a:lnSpc>
            </a:pPr>
            <a:r>
              <a:rPr lang="zh-CN" altLang="en-US" sz="2000" dirty="0">
                <a:solidFill>
                  <a:srgbClr val="FF0000"/>
                </a:solidFill>
                <a:latin typeface="Times New Roman" panose="02020603050405020304" pitchFamily="18" charset="0"/>
              </a:rPr>
              <a:t>开口销</a:t>
            </a:r>
            <a:r>
              <a:rPr lang="en-US" altLang="zh-CN" sz="2000" dirty="0">
                <a:solidFill>
                  <a:srgbClr val="FF0000"/>
                </a:solidFill>
                <a:latin typeface="Times New Roman" panose="02020603050405020304" pitchFamily="18" charset="0"/>
              </a:rPr>
              <a:t>			</a:t>
            </a:r>
            <a:r>
              <a:rPr lang="zh-CN" altLang="en-US" sz="2000" dirty="0">
                <a:solidFill>
                  <a:srgbClr val="FF0000"/>
                </a:solidFill>
                <a:latin typeface="Times New Roman" panose="02020603050405020304" pitchFamily="18" charset="0"/>
              </a:rPr>
              <a:t>  弹簧销 </a:t>
            </a:r>
            <a:r>
              <a:rPr lang="en-US" altLang="zh-CN" sz="2000" dirty="0">
                <a:solidFill>
                  <a:srgbClr val="FF0000"/>
                </a:solidFill>
                <a:latin typeface="Times New Roman" panose="02020603050405020304" pitchFamily="18" charset="0"/>
              </a:rPr>
              <a:t>		</a:t>
            </a:r>
            <a:r>
              <a:rPr lang="zh-CN" altLang="en-US" sz="2000" dirty="0">
                <a:solidFill>
                  <a:srgbClr val="FF0000"/>
                </a:solidFill>
                <a:latin typeface="Times New Roman" panose="02020603050405020304" pitchFamily="18" charset="0"/>
              </a:rPr>
              <a:t> 过渡链节</a:t>
            </a:r>
            <a:endParaRPr lang="zh-CN" altLang="en-US" sz="2000" dirty="0">
              <a:solidFill>
                <a:srgbClr val="FF0000"/>
              </a:solidFill>
              <a:latin typeface="Times New Roman" panose="02020603050405020304" pitchFamily="18" charset="0"/>
            </a:endParaRPr>
          </a:p>
        </p:txBody>
      </p:sp>
      <p:sp>
        <p:nvSpPr>
          <p:cNvPr id="52236" name="文本框 99"/>
          <p:cNvSpPr txBox="1">
            <a:spLocks noChangeArrowheads="1"/>
          </p:cNvSpPr>
          <p:nvPr/>
        </p:nvSpPr>
        <p:spPr bwMode="auto">
          <a:xfrm>
            <a:off x="0" y="5301208"/>
            <a:ext cx="78488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滚子链已标准化，分为</a:t>
            </a:r>
            <a:r>
              <a:rPr lang="en-US" altLang="zh-CN" dirty="0">
                <a:solidFill>
                  <a:srgbClr val="000099"/>
                </a:solidFill>
                <a:latin typeface="Times New Roman" panose="02020603050405020304" pitchFamily="18" charset="0"/>
              </a:rPr>
              <a:t>A</a:t>
            </a:r>
            <a:r>
              <a:rPr lang="zh-CN" altLang="en-US"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B</a:t>
            </a:r>
            <a:r>
              <a:rPr lang="zh-CN" altLang="en-US" dirty="0">
                <a:solidFill>
                  <a:srgbClr val="000099"/>
                </a:solidFill>
                <a:latin typeface="Times New Roman" panose="02020603050405020304" pitchFamily="18" charset="0"/>
              </a:rPr>
              <a:t>两个系列，常用的是</a:t>
            </a:r>
            <a:r>
              <a:rPr lang="en-US" altLang="zh-CN" dirty="0">
                <a:solidFill>
                  <a:srgbClr val="000099"/>
                </a:solidFill>
                <a:latin typeface="Times New Roman" panose="02020603050405020304" pitchFamily="18" charset="0"/>
              </a:rPr>
              <a:t>A</a:t>
            </a:r>
            <a:r>
              <a:rPr lang="zh-CN" altLang="en-US" dirty="0">
                <a:solidFill>
                  <a:srgbClr val="000099"/>
                </a:solidFill>
                <a:latin typeface="Times New Roman" panose="02020603050405020304" pitchFamily="18" charset="0"/>
              </a:rPr>
              <a:t>系列。</a:t>
            </a:r>
            <a:endParaRPr lang="zh-CN" altLang="en-US" dirty="0">
              <a:solidFill>
                <a:srgbClr val="000099"/>
              </a:solidFill>
              <a:latin typeface="Times New Roman" panose="02020603050405020304" pitchFamily="18" charset="0"/>
              <a:cs typeface="Times New Roman" panose="02020603050405020304" pitchFamily="18" charset="0"/>
            </a:endParaRPr>
          </a:p>
        </p:txBody>
      </p:sp>
      <p:sp>
        <p:nvSpPr>
          <p:cNvPr id="52237" name="文本框 4"/>
          <p:cNvSpPr txBox="1">
            <a:spLocks noChangeArrowheads="1"/>
          </p:cNvSpPr>
          <p:nvPr/>
        </p:nvSpPr>
        <p:spPr bwMode="auto">
          <a:xfrm>
            <a:off x="5004048" y="6021288"/>
            <a:ext cx="34385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latin typeface="华文中宋" panose="02010600040101010101" pitchFamily="2" charset="-122"/>
                <a:hlinkClick r:id="rId1" action="ppaction://hlinksldjump"/>
              </a:rPr>
              <a:t>滚子链规格和主要参数</a:t>
            </a:r>
            <a:r>
              <a:rPr lang="en-US" altLang="zh-CN" sz="2000" dirty="0">
                <a:latin typeface="宋体" panose="02010600030101010101" pitchFamily="2" charset="-122"/>
                <a:ea typeface="宋体" panose="02010600030101010101" pitchFamily="2" charset="-122"/>
                <a:hlinkClick r:id="rId1" action="ppaction://hlinksldjump"/>
              </a:rPr>
              <a:t>→</a:t>
            </a:r>
            <a:endParaRPr lang="en-US" altLang="zh-CN" sz="2000" dirty="0">
              <a:latin typeface="宋体" panose="02010600030101010101" pitchFamily="2" charset="-122"/>
              <a:ea typeface="宋体" panose="02010600030101010101" pitchFamily="2" charset="-122"/>
            </a:endParaRPr>
          </a:p>
        </p:txBody>
      </p:sp>
      <p:pic>
        <p:nvPicPr>
          <p:cNvPr id="43022"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556792"/>
            <a:ext cx="7815262"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ipe(left)">
                                      <p:cBhvr>
                                        <p:cTn id="7" dur="500"/>
                                        <p:tgtEl>
                                          <p:spTgt spid="1126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3022"/>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4301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2232"/>
                                        </p:tgtEl>
                                        <p:attrNameLst>
                                          <p:attrName>style.visibility</p:attrName>
                                        </p:attrNameLst>
                                      </p:cBhvr>
                                      <p:to>
                                        <p:strVal val="visible"/>
                                      </p:to>
                                    </p:set>
                                    <p:animEffect transition="in" filter="wipe(left)">
                                      <p:cBhvr>
                                        <p:cTn id="18" dur="500"/>
                                        <p:tgtEl>
                                          <p:spTgt spid="522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2236"/>
                                        </p:tgtEl>
                                        <p:attrNameLst>
                                          <p:attrName>style.visibility</p:attrName>
                                        </p:attrNameLst>
                                      </p:cBhvr>
                                      <p:to>
                                        <p:strVal val="visible"/>
                                      </p:to>
                                    </p:set>
                                    <p:animEffect transition="in" filter="wipe(left)">
                                      <p:cBhvr>
                                        <p:cTn id="23" dur="500"/>
                                        <p:tgtEl>
                                          <p:spTgt spid="5223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52237"/>
                                        </p:tgtEl>
                                        <p:attrNameLst>
                                          <p:attrName>style.visibility</p:attrName>
                                        </p:attrNameLst>
                                      </p:cBhvr>
                                      <p:to>
                                        <p:strVal val="visible"/>
                                      </p:to>
                                    </p:set>
                                    <p:animEffect transition="in" filter="wipe(left)">
                                      <p:cBhvr>
                                        <p:cTn id="27" dur="500"/>
                                        <p:tgtEl>
                                          <p:spTgt spid="52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52232" grpId="0"/>
      <p:bldP spid="43019" grpId="0"/>
      <p:bldP spid="52236" grpId="0"/>
      <p:bldP spid="522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61" name="Text Box 5"/>
          <p:cNvSpPr txBox="1">
            <a:spLocks noChangeArrowheads="1"/>
          </p:cNvSpPr>
          <p:nvPr/>
        </p:nvSpPr>
        <p:spPr bwMode="auto">
          <a:xfrm>
            <a:off x="251520" y="1052736"/>
            <a:ext cx="37719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滚子链的主要参数包括：</a:t>
            </a:r>
            <a:endParaRPr lang="zh-CN" altLang="en-US" dirty="0"/>
          </a:p>
        </p:txBody>
      </p:sp>
      <p:sp>
        <p:nvSpPr>
          <p:cNvPr id="505862" name="Text Box 6"/>
          <p:cNvSpPr txBox="1">
            <a:spLocks noChangeArrowheads="1"/>
          </p:cNvSpPr>
          <p:nvPr/>
        </p:nvSpPr>
        <p:spPr bwMode="auto">
          <a:xfrm>
            <a:off x="838200" y="1676400"/>
            <a:ext cx="4768850"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a:t>p</a:t>
            </a:r>
            <a:r>
              <a:rPr lang="en-US" altLang="zh-CN" dirty="0"/>
              <a:t> — </a:t>
            </a:r>
            <a:r>
              <a:rPr lang="zh-CN" altLang="en-US" dirty="0">
                <a:solidFill>
                  <a:srgbClr val="FF0000"/>
                </a:solidFill>
                <a:effectLst>
                  <a:outerShdw blurRad="38100" dist="38100" dir="2700000" algn="tl">
                    <a:srgbClr val="C0C0C0"/>
                  </a:outerShdw>
                </a:effectLst>
              </a:rPr>
              <a:t>节距</a:t>
            </a:r>
            <a:r>
              <a:rPr lang="zh-CN" altLang="en-US" dirty="0"/>
              <a:t>，相邻两销轴中心距；</a:t>
            </a:r>
            <a:endParaRPr lang="zh-CN" altLang="en-US" dirty="0"/>
          </a:p>
        </p:txBody>
      </p:sp>
      <p:sp>
        <p:nvSpPr>
          <p:cNvPr id="505863" name="Text Box 7"/>
          <p:cNvSpPr txBox="1">
            <a:spLocks noChangeArrowheads="1"/>
          </p:cNvSpPr>
          <p:nvPr/>
        </p:nvSpPr>
        <p:spPr bwMode="auto">
          <a:xfrm>
            <a:off x="711200" y="2235200"/>
            <a:ext cx="4667250" cy="36317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pPr>
            <a:r>
              <a:rPr lang="en-US" altLang="zh-CN" i="1" dirty="0" err="1"/>
              <a:t>L</a:t>
            </a:r>
            <a:r>
              <a:rPr lang="en-US" altLang="zh-CN" baseline="-25000" dirty="0" err="1"/>
              <a:t>p</a:t>
            </a:r>
            <a:r>
              <a:rPr lang="en-US" altLang="zh-CN" dirty="0"/>
              <a:t> — </a:t>
            </a:r>
            <a:r>
              <a:rPr lang="zh-CN" altLang="en-US" dirty="0">
                <a:solidFill>
                  <a:srgbClr val="FF0000"/>
                </a:solidFill>
                <a:effectLst>
                  <a:outerShdw blurRad="38100" dist="38100" dir="2700000" algn="tl">
                    <a:srgbClr val="C0C0C0"/>
                  </a:outerShdw>
                </a:effectLst>
              </a:rPr>
              <a:t>链节数</a:t>
            </a:r>
            <a:r>
              <a:rPr lang="zh-CN" altLang="en-US" dirty="0"/>
              <a:t>，表示链的长度，</a:t>
            </a:r>
            <a:endParaRPr lang="zh-CN" altLang="en-US" dirty="0"/>
          </a:p>
        </p:txBody>
      </p:sp>
      <p:sp>
        <p:nvSpPr>
          <p:cNvPr id="505864" name="Text Box 8"/>
          <p:cNvSpPr txBox="1">
            <a:spLocks noChangeArrowheads="1"/>
          </p:cNvSpPr>
          <p:nvPr/>
        </p:nvSpPr>
        <p:spPr bwMode="auto">
          <a:xfrm>
            <a:off x="755576" y="3140968"/>
            <a:ext cx="6329363"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rtl="1"/>
            <a:r>
              <a:rPr lang="en-US" altLang="zh-CN" i="1" dirty="0"/>
              <a:t>n</a:t>
            </a:r>
            <a:r>
              <a:rPr lang="en-US" altLang="zh-CN" dirty="0"/>
              <a:t> </a:t>
            </a:r>
            <a:r>
              <a:rPr lang="en-US" altLang="zh-CN" dirty="0">
                <a:solidFill>
                  <a:srgbClr val="C00000"/>
                </a:solidFill>
              </a:rPr>
              <a:t>— </a:t>
            </a:r>
            <a:r>
              <a:rPr lang="zh-CN" altLang="en-US" dirty="0">
                <a:solidFill>
                  <a:srgbClr val="C00000"/>
                </a:solidFill>
                <a:effectLst>
                  <a:outerShdw blurRad="38100" dist="38100" dir="2700000" algn="tl">
                    <a:srgbClr val="C0C0C0"/>
                  </a:outerShdw>
                </a:effectLst>
              </a:rPr>
              <a:t>链排数</a:t>
            </a:r>
            <a:r>
              <a:rPr lang="zh-CN" altLang="en-US" dirty="0"/>
              <a:t>，滚子链可做成单排或多排链。</a:t>
            </a:r>
            <a:endParaRPr lang="zh-CN" altLang="en-US" dirty="0"/>
          </a:p>
        </p:txBody>
      </p:sp>
      <p:sp>
        <p:nvSpPr>
          <p:cNvPr id="505867" name="Text Box 11"/>
          <p:cNvSpPr txBox="1">
            <a:spLocks noChangeArrowheads="1"/>
          </p:cNvSpPr>
          <p:nvPr/>
        </p:nvSpPr>
        <p:spPr bwMode="auto">
          <a:xfrm>
            <a:off x="180752" y="4018632"/>
            <a:ext cx="254635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滚子链标记：</a:t>
            </a:r>
            <a:endParaRPr lang="zh-CN" altLang="en-US" dirty="0"/>
          </a:p>
        </p:txBody>
      </p:sp>
      <p:sp>
        <p:nvSpPr>
          <p:cNvPr id="505868" name="Text Box 12"/>
          <p:cNvSpPr txBox="1">
            <a:spLocks noChangeArrowheads="1"/>
          </p:cNvSpPr>
          <p:nvPr/>
        </p:nvSpPr>
        <p:spPr bwMode="auto">
          <a:xfrm>
            <a:off x="2054002" y="4018632"/>
            <a:ext cx="452755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u="sng"/>
              <a:t>链号</a:t>
            </a:r>
            <a:r>
              <a:rPr lang="zh-CN" altLang="en-US"/>
              <a:t>－</a:t>
            </a:r>
            <a:r>
              <a:rPr lang="zh-CN" altLang="en-US" u="sng"/>
              <a:t>排数</a:t>
            </a:r>
            <a:r>
              <a:rPr lang="en-US" altLang="zh-CN"/>
              <a:t>×</a:t>
            </a:r>
            <a:r>
              <a:rPr lang="zh-CN" altLang="en-US" u="sng"/>
              <a:t>链节数</a:t>
            </a:r>
            <a:r>
              <a:rPr lang="zh-CN" altLang="en-US"/>
              <a:t>  </a:t>
            </a:r>
            <a:r>
              <a:rPr lang="zh-CN" altLang="en-US" u="sng"/>
              <a:t>标准编号</a:t>
            </a:r>
            <a:endParaRPr lang="zh-CN" altLang="en-US" u="sng"/>
          </a:p>
        </p:txBody>
      </p:sp>
      <p:sp>
        <p:nvSpPr>
          <p:cNvPr id="505869" name="Line 13"/>
          <p:cNvSpPr>
            <a:spLocks noChangeShapeType="1"/>
          </p:cNvSpPr>
          <p:nvPr/>
        </p:nvSpPr>
        <p:spPr bwMode="auto">
          <a:xfrm>
            <a:off x="2466752" y="4437732"/>
            <a:ext cx="0" cy="355600"/>
          </a:xfrm>
          <a:prstGeom prst="line">
            <a:avLst/>
          </a:prstGeom>
          <a:noFill/>
          <a:ln w="28575">
            <a:solidFill>
              <a:srgbClr val="0334B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endParaRPr lang="zh-CN" altLang="en-US"/>
          </a:p>
        </p:txBody>
      </p:sp>
      <p:sp>
        <p:nvSpPr>
          <p:cNvPr id="505870" name="Line 14"/>
          <p:cNvSpPr>
            <a:spLocks noChangeShapeType="1"/>
          </p:cNvSpPr>
          <p:nvPr/>
        </p:nvSpPr>
        <p:spPr bwMode="auto">
          <a:xfrm>
            <a:off x="2466752" y="4793332"/>
            <a:ext cx="381000" cy="0"/>
          </a:xfrm>
          <a:prstGeom prst="line">
            <a:avLst/>
          </a:prstGeom>
          <a:noFill/>
          <a:ln w="28575">
            <a:solidFill>
              <a:srgbClr val="0334B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endParaRPr lang="zh-CN" altLang="en-US"/>
          </a:p>
        </p:txBody>
      </p:sp>
      <p:sp>
        <p:nvSpPr>
          <p:cNvPr id="505871" name="Text Box 15"/>
          <p:cNvSpPr txBox="1">
            <a:spLocks noChangeArrowheads="1"/>
          </p:cNvSpPr>
          <p:nvPr/>
        </p:nvSpPr>
        <p:spPr bwMode="auto">
          <a:xfrm>
            <a:off x="2816002" y="4526632"/>
            <a:ext cx="3308350" cy="495300"/>
          </a:xfrm>
          <a:prstGeom prst="rect">
            <a:avLst/>
          </a:prstGeom>
          <a:noFill/>
          <a:ln w="38100" cmpd="dbl">
            <a:solidFill>
              <a:srgbClr val="C00000"/>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链号</a:t>
            </a:r>
            <a:r>
              <a:rPr lang="en-US" altLang="zh-CN" dirty="0"/>
              <a:t>×25.4/16</a:t>
            </a:r>
            <a:r>
              <a:rPr lang="zh-CN" altLang="en-US" dirty="0"/>
              <a:t>＝节距 </a:t>
            </a:r>
            <a:r>
              <a:rPr lang="en-US" altLang="zh-CN" i="1" dirty="0"/>
              <a:t>p</a:t>
            </a:r>
            <a:endParaRPr lang="en-US" altLang="zh-CN" i="1" dirty="0"/>
          </a:p>
        </p:txBody>
      </p:sp>
      <p:sp>
        <p:nvSpPr>
          <p:cNvPr id="505872" name="Text Box 16"/>
          <p:cNvSpPr txBox="1">
            <a:spLocks noChangeArrowheads="1"/>
          </p:cNvSpPr>
          <p:nvPr/>
        </p:nvSpPr>
        <p:spPr bwMode="auto">
          <a:xfrm>
            <a:off x="1107852" y="5085432"/>
            <a:ext cx="901700" cy="495300"/>
          </a:xfrm>
          <a:prstGeom prst="rect">
            <a:avLst/>
          </a:prstGeom>
          <a:noFill/>
          <a:ln w="38100" cmpd="dbl">
            <a:solidFill>
              <a:srgbClr val="C00000"/>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例：</a:t>
            </a:r>
            <a:endParaRPr lang="zh-CN" altLang="en-US"/>
          </a:p>
        </p:txBody>
      </p:sp>
      <p:sp>
        <p:nvSpPr>
          <p:cNvPr id="505873" name="Text Box 17"/>
          <p:cNvSpPr txBox="1">
            <a:spLocks noChangeArrowheads="1"/>
          </p:cNvSpPr>
          <p:nvPr/>
        </p:nvSpPr>
        <p:spPr bwMode="auto">
          <a:xfrm>
            <a:off x="2339752" y="5229200"/>
            <a:ext cx="4718050"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10A</a:t>
            </a:r>
            <a:r>
              <a:rPr lang="zh-CN" altLang="en-US" dirty="0">
                <a:solidFill>
                  <a:srgbClr val="FF0000"/>
                </a:solidFill>
                <a:effectLst>
                  <a:outerShdw blurRad="38100" dist="38100" dir="2700000" algn="tl">
                    <a:srgbClr val="C0C0C0"/>
                  </a:outerShdw>
                </a:effectLst>
              </a:rPr>
              <a:t>－</a:t>
            </a:r>
            <a:r>
              <a:rPr lang="en-US" altLang="zh-CN" dirty="0">
                <a:solidFill>
                  <a:srgbClr val="FF0000"/>
                </a:solidFill>
                <a:effectLst>
                  <a:outerShdw blurRad="38100" dist="38100" dir="2700000" algn="tl">
                    <a:srgbClr val="C0C0C0"/>
                  </a:outerShdw>
                </a:effectLst>
              </a:rPr>
              <a:t>2×132  GB1243.1</a:t>
            </a:r>
            <a:r>
              <a:rPr lang="zh-CN" altLang="en-US" dirty="0">
                <a:solidFill>
                  <a:srgbClr val="FF0000"/>
                </a:solidFill>
                <a:effectLst>
                  <a:outerShdw blurRad="38100" dist="38100" dir="2700000" algn="tl">
                    <a:srgbClr val="C0C0C0"/>
                  </a:outerShdw>
                </a:effectLst>
              </a:rPr>
              <a:t>－</a:t>
            </a:r>
            <a:r>
              <a:rPr lang="en-US" altLang="zh-CN" dirty="0">
                <a:solidFill>
                  <a:srgbClr val="FF0000"/>
                </a:solidFill>
                <a:effectLst>
                  <a:outerShdw blurRad="38100" dist="38100" dir="2700000" algn="tl">
                    <a:srgbClr val="C0C0C0"/>
                  </a:outerShdw>
                </a:effectLst>
              </a:rPr>
              <a:t>2006 </a:t>
            </a:r>
            <a:endParaRPr lang="en-US" altLang="zh-CN" dirty="0">
              <a:solidFill>
                <a:srgbClr val="FF0000"/>
              </a:solidFill>
              <a:effectLst>
                <a:outerShdw blurRad="38100" dist="38100" dir="2700000" algn="tl">
                  <a:srgbClr val="C0C0C0"/>
                </a:outerShdw>
              </a:effectLst>
            </a:endParaRPr>
          </a:p>
        </p:txBody>
      </p:sp>
      <p:sp>
        <p:nvSpPr>
          <p:cNvPr id="505874" name="Text Box 18"/>
          <p:cNvSpPr txBox="1">
            <a:spLocks noChangeArrowheads="1"/>
          </p:cNvSpPr>
          <p:nvPr/>
        </p:nvSpPr>
        <p:spPr bwMode="auto">
          <a:xfrm>
            <a:off x="1450340" y="2743200"/>
            <a:ext cx="4279900" cy="384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pPr>
            <a:r>
              <a:rPr lang="zh-CN" altLang="en-US" dirty="0"/>
              <a:t>常取</a:t>
            </a:r>
            <a:r>
              <a:rPr lang="zh-CN" altLang="en-US" dirty="0">
                <a:solidFill>
                  <a:srgbClr val="FF0000"/>
                </a:solidFill>
                <a:effectLst>
                  <a:outerShdw blurRad="38100" dist="38100" dir="2700000" algn="tl">
                    <a:srgbClr val="C0C0C0"/>
                  </a:outerShdw>
                </a:effectLst>
              </a:rPr>
              <a:t>偶数</a:t>
            </a:r>
            <a:r>
              <a:rPr lang="zh-CN" altLang="en-US" dirty="0"/>
              <a:t>，以便首尾相连；</a:t>
            </a:r>
            <a:endParaRPr lang="zh-CN" altLang="en-US" dirty="0"/>
          </a:p>
        </p:txBody>
      </p:sp>
      <p:pic>
        <p:nvPicPr>
          <p:cNvPr id="505876" name="Picture 20" descr="双排链">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760" y="2922270"/>
            <a:ext cx="2180590" cy="1941830"/>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505877" name="Picture 21" descr="滚子链的接头型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1412776"/>
            <a:ext cx="1838325" cy="1330325"/>
          </a:xfrm>
          <a:prstGeom prst="rect">
            <a:avLst/>
          </a:prstGeom>
          <a:noFill/>
          <a:ln w="38100">
            <a:solidFill>
              <a:srgbClr val="800080"/>
            </a:solidFill>
            <a:miter lim="800000"/>
            <a:headEnd/>
            <a:tailEnd/>
          </a:ln>
          <a:extLst>
            <a:ext uri="{909E8E84-426E-40DD-AFC4-6F175D3DCCD1}">
              <a14:hiddenFill xmlns:a14="http://schemas.microsoft.com/office/drawing/2010/main">
                <a:solidFill>
                  <a:srgbClr val="FFFFFF"/>
                </a:solidFill>
              </a14:hiddenFill>
            </a:ext>
          </a:extLst>
        </p:spPr>
      </p:pic>
      <p:grpSp>
        <p:nvGrpSpPr>
          <p:cNvPr id="505883" name="Group 27"/>
          <p:cNvGrpSpPr/>
          <p:nvPr/>
        </p:nvGrpSpPr>
        <p:grpSpPr bwMode="auto">
          <a:xfrm>
            <a:off x="2695352" y="5647407"/>
            <a:ext cx="3657600" cy="409575"/>
            <a:chOff x="1792" y="3824"/>
            <a:chExt cx="2304" cy="258"/>
          </a:xfrm>
        </p:grpSpPr>
        <p:sp>
          <p:nvSpPr>
            <p:cNvPr id="505880" name="Line 24"/>
            <p:cNvSpPr>
              <a:spLocks noChangeShapeType="1"/>
            </p:cNvSpPr>
            <p:nvPr/>
          </p:nvSpPr>
          <p:spPr bwMode="auto">
            <a:xfrm>
              <a:off x="1792" y="3824"/>
              <a:ext cx="1" cy="144"/>
            </a:xfrm>
            <a:prstGeom prst="line">
              <a:avLst/>
            </a:prstGeom>
            <a:noFill/>
            <a:ln w="28575">
              <a:solidFill>
                <a:srgbClr val="0334B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endParaRPr lang="zh-CN" altLang="en-US"/>
            </a:p>
          </p:txBody>
        </p:sp>
        <p:sp>
          <p:nvSpPr>
            <p:cNvPr id="505881" name="Line 25"/>
            <p:cNvSpPr>
              <a:spLocks noChangeShapeType="1"/>
            </p:cNvSpPr>
            <p:nvPr/>
          </p:nvSpPr>
          <p:spPr bwMode="auto">
            <a:xfrm>
              <a:off x="1792" y="3960"/>
              <a:ext cx="240" cy="0"/>
            </a:xfrm>
            <a:prstGeom prst="line">
              <a:avLst/>
            </a:prstGeom>
            <a:noFill/>
            <a:ln w="28575">
              <a:solidFill>
                <a:srgbClr val="0334B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endParaRPr lang="zh-CN" altLang="en-US"/>
            </a:p>
          </p:txBody>
        </p:sp>
        <p:sp>
          <p:nvSpPr>
            <p:cNvPr id="505882" name="Text Box 26"/>
            <p:cNvSpPr txBox="1">
              <a:spLocks noChangeArrowheads="1"/>
            </p:cNvSpPr>
            <p:nvPr/>
          </p:nvSpPr>
          <p:spPr bwMode="auto">
            <a:xfrm>
              <a:off x="2012" y="3832"/>
              <a:ext cx="2084" cy="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solidFill>
                    <a:schemeClr val="hlink"/>
                  </a:solidFill>
                </a:rPr>
                <a:t>10×25.4/16</a:t>
              </a:r>
              <a:r>
                <a:rPr lang="zh-CN" altLang="en-US" sz="2000">
                  <a:solidFill>
                    <a:schemeClr val="hlink"/>
                  </a:solidFill>
                </a:rPr>
                <a:t>＝</a:t>
              </a:r>
              <a:r>
                <a:rPr lang="en-US" altLang="zh-CN" sz="2000">
                  <a:solidFill>
                    <a:schemeClr val="hlink"/>
                  </a:solidFill>
                </a:rPr>
                <a:t>15.875</a:t>
              </a:r>
              <a:r>
                <a:rPr lang="zh-CN" altLang="en-US" sz="2000">
                  <a:solidFill>
                    <a:schemeClr val="hlink"/>
                  </a:solidFill>
                </a:rPr>
                <a:t>＝ </a:t>
              </a:r>
              <a:r>
                <a:rPr lang="en-US" altLang="zh-CN" sz="2000" i="1">
                  <a:solidFill>
                    <a:schemeClr val="hlink"/>
                  </a:solidFill>
                </a:rPr>
                <a:t>p</a:t>
              </a:r>
              <a:endParaRPr lang="en-US" altLang="zh-CN" sz="2000" i="1">
                <a:solidFill>
                  <a:schemeClr val="hlink"/>
                </a:solidFill>
              </a:endParaRPr>
            </a:p>
          </p:txBody>
        </p:sp>
      </p:grpSp>
      <p:sp>
        <p:nvSpPr>
          <p:cNvPr id="26" name="Rectangle 2"/>
          <p:cNvSpPr>
            <a:spLocks noGrp="1" noChangeArrowheads="1"/>
          </p:cNvSpPr>
          <p:nvPr>
            <p:ph type="title"/>
          </p:nvPr>
        </p:nvSpPr>
        <p:spPr bwMode="auto">
          <a:xfrm>
            <a:off x="4500563" y="195263"/>
            <a:ext cx="4643437"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-2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2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5861"/>
                                        </p:tgtEl>
                                        <p:attrNameLst>
                                          <p:attrName>style.visibility</p:attrName>
                                        </p:attrNameLst>
                                      </p:cBhvr>
                                      <p:to>
                                        <p:strVal val="visible"/>
                                      </p:to>
                                    </p:set>
                                    <p:animEffect transition="in" filter="wipe(left)">
                                      <p:cBhvr>
                                        <p:cTn id="7" dur="500"/>
                                        <p:tgtEl>
                                          <p:spTgt spid="5058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5862"/>
                                        </p:tgtEl>
                                        <p:attrNameLst>
                                          <p:attrName>style.visibility</p:attrName>
                                        </p:attrNameLst>
                                      </p:cBhvr>
                                      <p:to>
                                        <p:strVal val="visible"/>
                                      </p:to>
                                    </p:set>
                                    <p:animEffect transition="in" filter="wipe(left)">
                                      <p:cBhvr>
                                        <p:cTn id="12" dur="500"/>
                                        <p:tgtEl>
                                          <p:spTgt spid="5058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5863"/>
                                        </p:tgtEl>
                                        <p:attrNameLst>
                                          <p:attrName>style.visibility</p:attrName>
                                        </p:attrNameLst>
                                      </p:cBhvr>
                                      <p:to>
                                        <p:strVal val="visible"/>
                                      </p:to>
                                    </p:set>
                                    <p:animEffect transition="in" filter="wipe(left)">
                                      <p:cBhvr>
                                        <p:cTn id="17" dur="500"/>
                                        <p:tgtEl>
                                          <p:spTgt spid="5058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5874"/>
                                        </p:tgtEl>
                                        <p:attrNameLst>
                                          <p:attrName>style.visibility</p:attrName>
                                        </p:attrNameLst>
                                      </p:cBhvr>
                                      <p:to>
                                        <p:strVal val="visible"/>
                                      </p:to>
                                    </p:set>
                                    <p:animEffect transition="in" filter="wipe(left)">
                                      <p:cBhvr>
                                        <p:cTn id="22" dur="500"/>
                                        <p:tgtEl>
                                          <p:spTgt spid="505874"/>
                                        </p:tgtEl>
                                      </p:cBhvr>
                                    </p:animEffect>
                                  </p:childTnLst>
                                </p:cTn>
                              </p:par>
                            </p:childTnLst>
                          </p:cTn>
                        </p:par>
                        <p:par>
                          <p:cTn id="23" fill="hold">
                            <p:stCondLst>
                              <p:cond delay="500"/>
                            </p:stCondLst>
                            <p:childTnLst>
                              <p:par>
                                <p:cTn id="24" presetID="12" presetClass="entr" presetSubtype="4" fill="hold" nodeType="afterEffect">
                                  <p:stCondLst>
                                    <p:cond delay="0"/>
                                  </p:stCondLst>
                                  <p:childTnLst>
                                    <p:set>
                                      <p:cBhvr>
                                        <p:cTn id="25" dur="1" fill="hold">
                                          <p:stCondLst>
                                            <p:cond delay="0"/>
                                          </p:stCondLst>
                                        </p:cTn>
                                        <p:tgtEl>
                                          <p:spTgt spid="505877"/>
                                        </p:tgtEl>
                                        <p:attrNameLst>
                                          <p:attrName>style.visibility</p:attrName>
                                        </p:attrNameLst>
                                      </p:cBhvr>
                                      <p:to>
                                        <p:strVal val="visible"/>
                                      </p:to>
                                    </p:set>
                                    <p:animEffect transition="in" filter="slide(fromBottom)">
                                      <p:cBhvr>
                                        <p:cTn id="26" dur="500"/>
                                        <p:tgtEl>
                                          <p:spTgt spid="50587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05864"/>
                                        </p:tgtEl>
                                        <p:attrNameLst>
                                          <p:attrName>style.visibility</p:attrName>
                                        </p:attrNameLst>
                                      </p:cBhvr>
                                      <p:to>
                                        <p:strVal val="visible"/>
                                      </p:to>
                                    </p:set>
                                    <p:animEffect transition="in" filter="wipe(left)">
                                      <p:cBhvr>
                                        <p:cTn id="31" dur="500"/>
                                        <p:tgtEl>
                                          <p:spTgt spid="505864"/>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505876"/>
                                        </p:tgtEl>
                                        <p:attrNameLst>
                                          <p:attrName>style.visibility</p:attrName>
                                        </p:attrNameLst>
                                      </p:cBhvr>
                                      <p:to>
                                        <p:strVal val="visible"/>
                                      </p:to>
                                    </p:set>
                                    <p:animEffect transition="in" filter="wipe(up)">
                                      <p:cBhvr>
                                        <p:cTn id="35" dur="500"/>
                                        <p:tgtEl>
                                          <p:spTgt spid="50587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05867"/>
                                        </p:tgtEl>
                                        <p:attrNameLst>
                                          <p:attrName>style.visibility</p:attrName>
                                        </p:attrNameLst>
                                      </p:cBhvr>
                                      <p:to>
                                        <p:strVal val="visible"/>
                                      </p:to>
                                    </p:set>
                                    <p:animEffect transition="in" filter="wipe(left)">
                                      <p:cBhvr>
                                        <p:cTn id="40" dur="500"/>
                                        <p:tgtEl>
                                          <p:spTgt spid="50586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05868"/>
                                        </p:tgtEl>
                                        <p:attrNameLst>
                                          <p:attrName>style.visibility</p:attrName>
                                        </p:attrNameLst>
                                      </p:cBhvr>
                                      <p:to>
                                        <p:strVal val="visible"/>
                                      </p:to>
                                    </p:set>
                                    <p:animEffect transition="in" filter="wipe(left)">
                                      <p:cBhvr>
                                        <p:cTn id="45" dur="500"/>
                                        <p:tgtEl>
                                          <p:spTgt spid="50586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505869"/>
                                        </p:tgtEl>
                                        <p:attrNameLst>
                                          <p:attrName>style.visibility</p:attrName>
                                        </p:attrNameLst>
                                      </p:cBhvr>
                                      <p:to>
                                        <p:strVal val="visible"/>
                                      </p:to>
                                    </p:set>
                                    <p:animEffect transition="in" filter="wipe(up)">
                                      <p:cBhvr>
                                        <p:cTn id="50" dur="500"/>
                                        <p:tgtEl>
                                          <p:spTgt spid="505869"/>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505870"/>
                                        </p:tgtEl>
                                        <p:attrNameLst>
                                          <p:attrName>style.visibility</p:attrName>
                                        </p:attrNameLst>
                                      </p:cBhvr>
                                      <p:to>
                                        <p:strVal val="visible"/>
                                      </p:to>
                                    </p:set>
                                    <p:animEffect transition="in" filter="wipe(left)">
                                      <p:cBhvr>
                                        <p:cTn id="54" dur="500"/>
                                        <p:tgtEl>
                                          <p:spTgt spid="505870"/>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505871"/>
                                        </p:tgtEl>
                                        <p:attrNameLst>
                                          <p:attrName>style.visibility</p:attrName>
                                        </p:attrNameLst>
                                      </p:cBhvr>
                                      <p:to>
                                        <p:strVal val="visible"/>
                                      </p:to>
                                    </p:set>
                                    <p:animEffect transition="in" filter="wipe(left)">
                                      <p:cBhvr>
                                        <p:cTn id="58" dur="500"/>
                                        <p:tgtEl>
                                          <p:spTgt spid="50587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05872"/>
                                        </p:tgtEl>
                                        <p:attrNameLst>
                                          <p:attrName>style.visibility</p:attrName>
                                        </p:attrNameLst>
                                      </p:cBhvr>
                                      <p:to>
                                        <p:strVal val="visible"/>
                                      </p:to>
                                    </p:set>
                                    <p:animEffect transition="in" filter="wipe(left)">
                                      <p:cBhvr>
                                        <p:cTn id="63" dur="500"/>
                                        <p:tgtEl>
                                          <p:spTgt spid="50587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05873"/>
                                        </p:tgtEl>
                                        <p:attrNameLst>
                                          <p:attrName>style.visibility</p:attrName>
                                        </p:attrNameLst>
                                      </p:cBhvr>
                                      <p:to>
                                        <p:strVal val="visible"/>
                                      </p:to>
                                    </p:set>
                                    <p:animEffect transition="in" filter="wipe(left)">
                                      <p:cBhvr>
                                        <p:cTn id="68" dur="500"/>
                                        <p:tgtEl>
                                          <p:spTgt spid="50587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05883"/>
                                        </p:tgtEl>
                                        <p:attrNameLst>
                                          <p:attrName>style.visibility</p:attrName>
                                        </p:attrNameLst>
                                      </p:cBhvr>
                                      <p:to>
                                        <p:strVal val="visible"/>
                                      </p:to>
                                    </p:set>
                                    <p:animEffect transition="in" filter="wipe(left)">
                                      <p:cBhvr>
                                        <p:cTn id="73" dur="500"/>
                                        <p:tgtEl>
                                          <p:spTgt spid="505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61" grpId="0" autoUpdateAnimBg="0"/>
      <p:bldP spid="505862" grpId="0" autoUpdateAnimBg="0"/>
      <p:bldP spid="505863" grpId="0" autoUpdateAnimBg="0"/>
      <p:bldP spid="505864" grpId="0" autoUpdateAnimBg="0"/>
      <p:bldP spid="505867" grpId="0" autoUpdateAnimBg="0"/>
      <p:bldP spid="505868" grpId="0" autoUpdateAnimBg="0"/>
      <p:bldP spid="505869" grpId="0" animBg="1"/>
      <p:bldP spid="505870" grpId="0" animBg="1"/>
      <p:bldP spid="505871" grpId="0" animBg="1" autoUpdateAnimBg="0"/>
      <p:bldP spid="505872" grpId="0" animBg="1" autoUpdateAnimBg="0"/>
      <p:bldP spid="505873" grpId="0" autoUpdateAnimBg="0"/>
      <p:bldP spid="50587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3176270" y="111125"/>
            <a:ext cx="596773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滚子链链轮</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的结构和材料</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3891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1" name="文本框 5130"/>
          <p:cNvSpPr txBox="1">
            <a:spLocks noChangeArrowheads="1"/>
          </p:cNvSpPr>
          <p:nvPr/>
        </p:nvSpPr>
        <p:spPr bwMode="auto">
          <a:xfrm>
            <a:off x="257175" y="1017270"/>
            <a:ext cx="86664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000099"/>
                </a:solidFill>
                <a:latin typeface="黑体" panose="02010609060101010101" pitchFamily="49" charset="-122"/>
                <a:ea typeface="黑体" panose="02010609060101010101" pitchFamily="49" charset="-122"/>
              </a:rPr>
              <a:t>    </a:t>
            </a:r>
            <a:r>
              <a:rPr lang="zh-CN" altLang="en-US" dirty="0">
                <a:solidFill>
                  <a:srgbClr val="000099"/>
                </a:solidFill>
                <a:latin typeface="黑体" panose="02010609060101010101" pitchFamily="49" charset="-122"/>
                <a:ea typeface="黑体" panose="02010609060101010101" pitchFamily="49" charset="-122"/>
              </a:rPr>
              <a:t>链轮是链传动的主要零件，由轮齿、轮缘、轮辐和轮毂组成。</a:t>
            </a:r>
            <a:endParaRPr lang="zh-CN" altLang="en-US" dirty="0">
              <a:solidFill>
                <a:srgbClr val="000099"/>
              </a:solidFill>
              <a:latin typeface="黑体" panose="02010609060101010101" pitchFamily="49" charset="-122"/>
              <a:ea typeface="黑体" panose="02010609060101010101" pitchFamily="49" charset="-122"/>
            </a:endParaRPr>
          </a:p>
          <a:p>
            <a:pPr eaLnBrk="1" hangingPunct="1"/>
            <a:r>
              <a:rPr lang="zh-CN" altLang="en-US" dirty="0">
                <a:solidFill>
                  <a:srgbClr val="000099"/>
                </a:solidFill>
                <a:latin typeface="黑体" panose="02010609060101010101" pitchFamily="49" charset="-122"/>
                <a:ea typeface="黑体" panose="02010609060101010101" pitchFamily="49" charset="-122"/>
              </a:rPr>
              <a:t>其齿形已经标准化。链轮设计的主要内容是：</a:t>
            </a:r>
            <a:endParaRPr lang="zh-CN" altLang="en-US" dirty="0">
              <a:solidFill>
                <a:srgbClr val="000099"/>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5133" name="文本框 5132"/>
          <p:cNvSpPr txBox="1">
            <a:spLocks noChangeArrowheads="1"/>
          </p:cNvSpPr>
          <p:nvPr/>
        </p:nvSpPr>
        <p:spPr bwMode="auto">
          <a:xfrm>
            <a:off x="657151" y="1926868"/>
            <a:ext cx="38849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Times New Roman" panose="02020603050405020304" pitchFamily="18" charset="0"/>
              </a:rPr>
              <a:t>◆</a:t>
            </a:r>
            <a:r>
              <a:rPr lang="en-US" altLang="zh-CN"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确定链轮的结构和尺寸；</a:t>
            </a:r>
            <a:endParaRPr lang="zh-CN" altLang="en-US" sz="2400" dirty="0">
              <a:solidFill>
                <a:srgbClr val="000099"/>
              </a:solidFill>
              <a:latin typeface="Times New Roman" panose="02020603050405020304" pitchFamily="18" charset="0"/>
              <a:cs typeface="Times New Roman" panose="02020603050405020304" pitchFamily="18" charset="0"/>
            </a:endParaRPr>
          </a:p>
        </p:txBody>
      </p:sp>
      <p:sp>
        <p:nvSpPr>
          <p:cNvPr id="5134" name="文本框 5133"/>
          <p:cNvSpPr txBox="1">
            <a:spLocks noChangeArrowheads="1"/>
          </p:cNvSpPr>
          <p:nvPr/>
        </p:nvSpPr>
        <p:spPr bwMode="auto">
          <a:xfrm>
            <a:off x="657151" y="2496329"/>
            <a:ext cx="47993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Times New Roman" panose="02020603050405020304" pitchFamily="18" charset="0"/>
              </a:rPr>
              <a:t>◆ </a:t>
            </a:r>
            <a:r>
              <a:rPr lang="zh-CN" altLang="en-US" sz="2400" dirty="0">
                <a:solidFill>
                  <a:srgbClr val="000099"/>
                </a:solidFill>
                <a:latin typeface="Times New Roman" panose="02020603050405020304" pitchFamily="18" charset="0"/>
              </a:rPr>
              <a:t>选择链轮的材料和热处理方式；</a:t>
            </a:r>
            <a:endParaRPr lang="zh-CN" altLang="en-US" sz="2400" dirty="0">
              <a:solidFill>
                <a:srgbClr val="000099"/>
              </a:solidFill>
              <a:latin typeface="Times New Roman" panose="02020603050405020304" pitchFamily="18" charset="0"/>
              <a:cs typeface="Times New Roman" panose="02020603050405020304" pitchFamily="18" charset="0"/>
            </a:endParaRPr>
          </a:p>
        </p:txBody>
      </p:sp>
      <p:sp>
        <p:nvSpPr>
          <p:cNvPr id="16389" name="文本框 16388"/>
          <p:cNvSpPr txBox="1">
            <a:spLocks noChangeArrowheads="1"/>
          </p:cNvSpPr>
          <p:nvPr/>
        </p:nvSpPr>
        <p:spPr bwMode="auto">
          <a:xfrm>
            <a:off x="731520" y="4886960"/>
            <a:ext cx="3983990"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链轮较常用的齿形是一种</a:t>
            </a:r>
            <a:r>
              <a:rPr lang="zh-CN" altLang="en-US" sz="2400" dirty="0">
                <a:solidFill>
                  <a:srgbClr val="FF0000"/>
                </a:solidFill>
                <a:latin typeface="Times New Roman" panose="02020603050405020304" pitchFamily="18" charset="0"/>
              </a:rPr>
              <a:t>三圆弧一直线</a:t>
            </a:r>
            <a:r>
              <a:rPr lang="zh-CN" altLang="en-US" sz="2400" dirty="0">
                <a:solidFill>
                  <a:srgbClr val="000099"/>
                </a:solidFill>
                <a:latin typeface="Times New Roman" panose="02020603050405020304" pitchFamily="18" charset="0"/>
              </a:rPr>
              <a:t>的齿形（如左图所示）。</a:t>
            </a:r>
            <a:endParaRPr lang="zh-CN" altLang="en-US" sz="2400" dirty="0">
              <a:solidFill>
                <a:srgbClr val="000099"/>
              </a:solidFill>
              <a:latin typeface="Times New Roman" panose="02020603050405020304" pitchFamily="18" charset="0"/>
              <a:cs typeface="Times New Roman" panose="02020603050405020304" pitchFamily="18" charset="0"/>
            </a:endParaRPr>
          </a:p>
        </p:txBody>
      </p:sp>
      <p:sp>
        <p:nvSpPr>
          <p:cNvPr id="2" name="文本框 1"/>
          <p:cNvSpPr txBox="1">
            <a:spLocks noChangeArrowheads="1"/>
          </p:cNvSpPr>
          <p:nvPr/>
        </p:nvSpPr>
        <p:spPr bwMode="auto">
          <a:xfrm>
            <a:off x="257488" y="3068042"/>
            <a:ext cx="2316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（一）链轮齿形</a:t>
            </a:r>
            <a:endPar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44048"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3513" y="2269173"/>
            <a:ext cx="3786187"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469900" y="3652520"/>
            <a:ext cx="4507230" cy="1106805"/>
          </a:xfrm>
          <a:prstGeom prst="rect">
            <a:avLst/>
          </a:prstGeom>
          <a:noFill/>
        </p:spPr>
        <p:txBody>
          <a:bodyPr wrap="square" rtlCol="0">
            <a:spAutoFit/>
          </a:bodyPr>
          <a:p>
            <a:r>
              <a:rPr lang="zh-CN" altLang="en-US"/>
              <a:t>链轮轮齿的齿形应保证链节能自由地进入和退出啮合，在啮合时接触良好且链轮形状尽量简单。</a:t>
            </a:r>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1"/>
                                        </p:tgtEl>
                                        <p:attrNameLst>
                                          <p:attrName>style.visibility</p:attrName>
                                        </p:attrNameLst>
                                      </p:cBhvr>
                                      <p:to>
                                        <p:strVal val="visible"/>
                                      </p:to>
                                    </p:set>
                                    <p:animEffect transition="in" filter="wipe(left)">
                                      <p:cBhvr>
                                        <p:cTn id="7" dur="500"/>
                                        <p:tgtEl>
                                          <p:spTgt spid="5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33"/>
                                        </p:tgtEl>
                                        <p:attrNameLst>
                                          <p:attrName>style.visibility</p:attrName>
                                        </p:attrNameLst>
                                      </p:cBhvr>
                                      <p:to>
                                        <p:strVal val="visible"/>
                                      </p:to>
                                    </p:set>
                                    <p:animEffect transition="in" filter="wipe(left)">
                                      <p:cBhvr>
                                        <p:cTn id="12" dur="500"/>
                                        <p:tgtEl>
                                          <p:spTgt spid="513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134"/>
                                        </p:tgtEl>
                                        <p:attrNameLst>
                                          <p:attrName>style.visibility</p:attrName>
                                        </p:attrNameLst>
                                      </p:cBhvr>
                                      <p:to>
                                        <p:strVal val="visible"/>
                                      </p:to>
                                    </p:set>
                                    <p:animEffect transition="in" filter="wipe(left)">
                                      <p:cBhvr>
                                        <p:cTn id="16" dur="500"/>
                                        <p:tgtEl>
                                          <p:spTgt spid="51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389"/>
                                        </p:tgtEl>
                                        <p:attrNameLst>
                                          <p:attrName>style.visibility</p:attrName>
                                        </p:attrNameLst>
                                      </p:cBhvr>
                                      <p:to>
                                        <p:strVal val="visible"/>
                                      </p:to>
                                    </p:set>
                                    <p:animEffect transition="in" filter="wipe(left)">
                                      <p:cBhvr>
                                        <p:cTn id="31" dur="500"/>
                                        <p:tgtEl>
                                          <p:spTgt spid="16389"/>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44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p:bldP spid="5133" grpId="0"/>
      <p:bldP spid="5134" grpId="0"/>
      <p:bldP spid="16389" grpId="0"/>
      <p:bldP spid="2"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8880" name="Group 224"/>
          <p:cNvGrpSpPr/>
          <p:nvPr/>
        </p:nvGrpSpPr>
        <p:grpSpPr bwMode="auto">
          <a:xfrm>
            <a:off x="2471420" y="2173288"/>
            <a:ext cx="4356100" cy="4065587"/>
            <a:chOff x="1556" y="1391"/>
            <a:chExt cx="2744" cy="2561"/>
          </a:xfrm>
        </p:grpSpPr>
        <p:sp>
          <p:nvSpPr>
            <p:cNvPr id="198881" name="Freeform 225"/>
            <p:cNvSpPr/>
            <p:nvPr/>
          </p:nvSpPr>
          <p:spPr bwMode="auto">
            <a:xfrm>
              <a:off x="1722" y="1449"/>
              <a:ext cx="1959" cy="930"/>
            </a:xfrm>
            <a:custGeom>
              <a:avLst/>
              <a:gdLst>
                <a:gd name="T0" fmla="*/ 0 w 1488"/>
                <a:gd name="T1" fmla="*/ 725 h 725"/>
                <a:gd name="T2" fmla="*/ 32 w 1488"/>
                <a:gd name="T3" fmla="*/ 699 h 725"/>
                <a:gd name="T4" fmla="*/ 90 w 1488"/>
                <a:gd name="T5" fmla="*/ 633 h 725"/>
                <a:gd name="T6" fmla="*/ 126 w 1488"/>
                <a:gd name="T7" fmla="*/ 529 h 725"/>
                <a:gd name="T8" fmla="*/ 124 w 1488"/>
                <a:gd name="T9" fmla="*/ 411 h 725"/>
                <a:gd name="T10" fmla="*/ 108 w 1488"/>
                <a:gd name="T11" fmla="*/ 313 h 725"/>
                <a:gd name="T12" fmla="*/ 108 w 1488"/>
                <a:gd name="T13" fmla="*/ 185 h 725"/>
                <a:gd name="T14" fmla="*/ 130 w 1488"/>
                <a:gd name="T15" fmla="*/ 91 h 725"/>
                <a:gd name="T16" fmla="*/ 156 w 1488"/>
                <a:gd name="T17" fmla="*/ 35 h 725"/>
                <a:gd name="T18" fmla="*/ 198 w 1488"/>
                <a:gd name="T19" fmla="*/ 13 h 725"/>
                <a:gd name="T20" fmla="*/ 232 w 1488"/>
                <a:gd name="T21" fmla="*/ 7 h 725"/>
                <a:gd name="T22" fmla="*/ 298 w 1488"/>
                <a:gd name="T23" fmla="*/ 53 h 725"/>
                <a:gd name="T24" fmla="*/ 360 w 1488"/>
                <a:gd name="T25" fmla="*/ 109 h 725"/>
                <a:gd name="T26" fmla="*/ 430 w 1488"/>
                <a:gd name="T27" fmla="*/ 207 h 725"/>
                <a:gd name="T28" fmla="*/ 446 w 1488"/>
                <a:gd name="T29" fmla="*/ 239 h 725"/>
                <a:gd name="T30" fmla="*/ 494 w 1488"/>
                <a:gd name="T31" fmla="*/ 327 h 725"/>
                <a:gd name="T32" fmla="*/ 530 w 1488"/>
                <a:gd name="T33" fmla="*/ 375 h 725"/>
                <a:gd name="T34" fmla="*/ 554 w 1488"/>
                <a:gd name="T35" fmla="*/ 403 h 725"/>
                <a:gd name="T36" fmla="*/ 596 w 1488"/>
                <a:gd name="T37" fmla="*/ 439 h 725"/>
                <a:gd name="T38" fmla="*/ 658 w 1488"/>
                <a:gd name="T39" fmla="*/ 467 h 725"/>
                <a:gd name="T40" fmla="*/ 748 w 1488"/>
                <a:gd name="T41" fmla="*/ 479 h 725"/>
                <a:gd name="T42" fmla="*/ 836 w 1488"/>
                <a:gd name="T43" fmla="*/ 466 h 725"/>
                <a:gd name="T44" fmla="*/ 912 w 1488"/>
                <a:gd name="T45" fmla="*/ 428 h 725"/>
                <a:gd name="T46" fmla="*/ 962 w 1488"/>
                <a:gd name="T47" fmla="*/ 383 h 725"/>
                <a:gd name="T48" fmla="*/ 1000 w 1488"/>
                <a:gd name="T49" fmla="*/ 329 h 725"/>
                <a:gd name="T50" fmla="*/ 1034 w 1488"/>
                <a:gd name="T51" fmla="*/ 267 h 725"/>
                <a:gd name="T52" fmla="*/ 1084 w 1488"/>
                <a:gd name="T53" fmla="*/ 177 h 725"/>
                <a:gd name="T54" fmla="*/ 1168 w 1488"/>
                <a:gd name="T55" fmla="*/ 77 h 725"/>
                <a:gd name="T56" fmla="*/ 1228 w 1488"/>
                <a:gd name="T57" fmla="*/ 31 h 725"/>
                <a:gd name="T58" fmla="*/ 1278 w 1488"/>
                <a:gd name="T59" fmla="*/ 9 h 725"/>
                <a:gd name="T60" fmla="*/ 1318 w 1488"/>
                <a:gd name="T61" fmla="*/ 21 h 725"/>
                <a:gd name="T62" fmla="*/ 1352 w 1488"/>
                <a:gd name="T63" fmla="*/ 37 h 725"/>
                <a:gd name="T64" fmla="*/ 1374 w 1488"/>
                <a:gd name="T65" fmla="*/ 91 h 725"/>
                <a:gd name="T66" fmla="*/ 1390 w 1488"/>
                <a:gd name="T67" fmla="*/ 175 h 725"/>
                <a:gd name="T68" fmla="*/ 1388 w 1488"/>
                <a:gd name="T69" fmla="*/ 299 h 725"/>
                <a:gd name="T70" fmla="*/ 1384 w 1488"/>
                <a:gd name="T71" fmla="*/ 363 h 725"/>
                <a:gd name="T72" fmla="*/ 1372 w 1488"/>
                <a:gd name="T73" fmla="*/ 447 h 725"/>
                <a:gd name="T74" fmla="*/ 1386 w 1488"/>
                <a:gd name="T75" fmla="*/ 581 h 725"/>
                <a:gd name="T76" fmla="*/ 1436 w 1488"/>
                <a:gd name="T77" fmla="*/ 665 h 725"/>
                <a:gd name="T78" fmla="*/ 1488 w 1488"/>
                <a:gd name="T79" fmla="*/ 719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88" h="725">
                  <a:moveTo>
                    <a:pt x="0" y="725"/>
                  </a:moveTo>
                  <a:cubicBezTo>
                    <a:pt x="5" y="721"/>
                    <a:pt x="17" y="714"/>
                    <a:pt x="32" y="699"/>
                  </a:cubicBezTo>
                  <a:cubicBezTo>
                    <a:pt x="47" y="684"/>
                    <a:pt x="74" y="661"/>
                    <a:pt x="90" y="633"/>
                  </a:cubicBezTo>
                  <a:cubicBezTo>
                    <a:pt x="106" y="605"/>
                    <a:pt x="120" y="566"/>
                    <a:pt x="126" y="529"/>
                  </a:cubicBezTo>
                  <a:cubicBezTo>
                    <a:pt x="132" y="492"/>
                    <a:pt x="127" y="447"/>
                    <a:pt x="124" y="411"/>
                  </a:cubicBezTo>
                  <a:cubicBezTo>
                    <a:pt x="121" y="375"/>
                    <a:pt x="111" y="351"/>
                    <a:pt x="108" y="313"/>
                  </a:cubicBezTo>
                  <a:cubicBezTo>
                    <a:pt x="105" y="275"/>
                    <a:pt x="104" y="222"/>
                    <a:pt x="108" y="185"/>
                  </a:cubicBezTo>
                  <a:cubicBezTo>
                    <a:pt x="112" y="148"/>
                    <a:pt x="122" y="116"/>
                    <a:pt x="130" y="91"/>
                  </a:cubicBezTo>
                  <a:cubicBezTo>
                    <a:pt x="138" y="66"/>
                    <a:pt x="145" y="48"/>
                    <a:pt x="156" y="35"/>
                  </a:cubicBezTo>
                  <a:cubicBezTo>
                    <a:pt x="167" y="22"/>
                    <a:pt x="185" y="18"/>
                    <a:pt x="198" y="13"/>
                  </a:cubicBezTo>
                  <a:cubicBezTo>
                    <a:pt x="211" y="8"/>
                    <a:pt x="215" y="0"/>
                    <a:pt x="232" y="7"/>
                  </a:cubicBezTo>
                  <a:cubicBezTo>
                    <a:pt x="249" y="14"/>
                    <a:pt x="277" y="36"/>
                    <a:pt x="298" y="53"/>
                  </a:cubicBezTo>
                  <a:cubicBezTo>
                    <a:pt x="319" y="70"/>
                    <a:pt x="338" y="83"/>
                    <a:pt x="360" y="109"/>
                  </a:cubicBezTo>
                  <a:cubicBezTo>
                    <a:pt x="382" y="135"/>
                    <a:pt x="416" y="185"/>
                    <a:pt x="430" y="207"/>
                  </a:cubicBezTo>
                  <a:cubicBezTo>
                    <a:pt x="444" y="229"/>
                    <a:pt x="435" y="219"/>
                    <a:pt x="446" y="239"/>
                  </a:cubicBezTo>
                  <a:cubicBezTo>
                    <a:pt x="457" y="259"/>
                    <a:pt x="480" y="304"/>
                    <a:pt x="494" y="327"/>
                  </a:cubicBezTo>
                  <a:cubicBezTo>
                    <a:pt x="508" y="350"/>
                    <a:pt x="520" y="362"/>
                    <a:pt x="530" y="375"/>
                  </a:cubicBezTo>
                  <a:cubicBezTo>
                    <a:pt x="540" y="388"/>
                    <a:pt x="543" y="392"/>
                    <a:pt x="554" y="403"/>
                  </a:cubicBezTo>
                  <a:cubicBezTo>
                    <a:pt x="565" y="414"/>
                    <a:pt x="579" y="428"/>
                    <a:pt x="596" y="439"/>
                  </a:cubicBezTo>
                  <a:cubicBezTo>
                    <a:pt x="613" y="450"/>
                    <a:pt x="633" y="460"/>
                    <a:pt x="658" y="467"/>
                  </a:cubicBezTo>
                  <a:cubicBezTo>
                    <a:pt x="683" y="474"/>
                    <a:pt x="718" y="479"/>
                    <a:pt x="748" y="479"/>
                  </a:cubicBezTo>
                  <a:cubicBezTo>
                    <a:pt x="778" y="479"/>
                    <a:pt x="809" y="474"/>
                    <a:pt x="836" y="466"/>
                  </a:cubicBezTo>
                  <a:cubicBezTo>
                    <a:pt x="863" y="458"/>
                    <a:pt x="891" y="442"/>
                    <a:pt x="912" y="428"/>
                  </a:cubicBezTo>
                  <a:cubicBezTo>
                    <a:pt x="933" y="414"/>
                    <a:pt x="947" y="399"/>
                    <a:pt x="962" y="383"/>
                  </a:cubicBezTo>
                  <a:cubicBezTo>
                    <a:pt x="977" y="367"/>
                    <a:pt x="988" y="348"/>
                    <a:pt x="1000" y="329"/>
                  </a:cubicBezTo>
                  <a:cubicBezTo>
                    <a:pt x="1012" y="310"/>
                    <a:pt x="1020" y="292"/>
                    <a:pt x="1034" y="267"/>
                  </a:cubicBezTo>
                  <a:cubicBezTo>
                    <a:pt x="1048" y="242"/>
                    <a:pt x="1062" y="209"/>
                    <a:pt x="1084" y="177"/>
                  </a:cubicBezTo>
                  <a:cubicBezTo>
                    <a:pt x="1106" y="145"/>
                    <a:pt x="1144" y="101"/>
                    <a:pt x="1168" y="77"/>
                  </a:cubicBezTo>
                  <a:cubicBezTo>
                    <a:pt x="1192" y="53"/>
                    <a:pt x="1210" y="42"/>
                    <a:pt x="1228" y="31"/>
                  </a:cubicBezTo>
                  <a:cubicBezTo>
                    <a:pt x="1246" y="20"/>
                    <a:pt x="1263" y="11"/>
                    <a:pt x="1278" y="9"/>
                  </a:cubicBezTo>
                  <a:cubicBezTo>
                    <a:pt x="1293" y="7"/>
                    <a:pt x="1306" y="16"/>
                    <a:pt x="1318" y="21"/>
                  </a:cubicBezTo>
                  <a:cubicBezTo>
                    <a:pt x="1330" y="26"/>
                    <a:pt x="1343" y="25"/>
                    <a:pt x="1352" y="37"/>
                  </a:cubicBezTo>
                  <a:cubicBezTo>
                    <a:pt x="1361" y="49"/>
                    <a:pt x="1368" y="68"/>
                    <a:pt x="1374" y="91"/>
                  </a:cubicBezTo>
                  <a:cubicBezTo>
                    <a:pt x="1380" y="114"/>
                    <a:pt x="1388" y="140"/>
                    <a:pt x="1390" y="175"/>
                  </a:cubicBezTo>
                  <a:cubicBezTo>
                    <a:pt x="1392" y="210"/>
                    <a:pt x="1389" y="268"/>
                    <a:pt x="1388" y="299"/>
                  </a:cubicBezTo>
                  <a:cubicBezTo>
                    <a:pt x="1387" y="330"/>
                    <a:pt x="1387" y="338"/>
                    <a:pt x="1384" y="363"/>
                  </a:cubicBezTo>
                  <a:cubicBezTo>
                    <a:pt x="1381" y="388"/>
                    <a:pt x="1372" y="411"/>
                    <a:pt x="1372" y="447"/>
                  </a:cubicBezTo>
                  <a:cubicBezTo>
                    <a:pt x="1372" y="483"/>
                    <a:pt x="1375" y="545"/>
                    <a:pt x="1386" y="581"/>
                  </a:cubicBezTo>
                  <a:cubicBezTo>
                    <a:pt x="1397" y="617"/>
                    <a:pt x="1419" y="642"/>
                    <a:pt x="1436" y="665"/>
                  </a:cubicBezTo>
                  <a:cubicBezTo>
                    <a:pt x="1453" y="688"/>
                    <a:pt x="1477" y="708"/>
                    <a:pt x="1488" y="719"/>
                  </a:cubicBezTo>
                </a:path>
              </a:pathLst>
            </a:custGeom>
            <a:solidFill>
              <a:schemeClr val="bg2"/>
            </a:solidFill>
            <a:ln w="28575" cap="flat" cmpd="sng">
              <a:solidFill>
                <a:srgbClr val="002060"/>
              </a:solidFill>
              <a:prstDash val="solid"/>
              <a:round/>
              <a:headEnd type="none" w="med" len="me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198882" name="Line 226"/>
            <p:cNvSpPr>
              <a:spLocks noChangeShapeType="1"/>
            </p:cNvSpPr>
            <p:nvPr/>
          </p:nvSpPr>
          <p:spPr bwMode="auto">
            <a:xfrm flipV="1">
              <a:off x="2707" y="2263"/>
              <a:ext cx="1540" cy="1686"/>
            </a:xfrm>
            <a:prstGeom prst="line">
              <a:avLst/>
            </a:prstGeom>
            <a:noFill/>
            <a:ln w="12700">
              <a:solidFill>
                <a:srgbClr val="00206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883" name="Freeform 227"/>
            <p:cNvSpPr/>
            <p:nvPr/>
          </p:nvSpPr>
          <p:spPr bwMode="auto">
            <a:xfrm>
              <a:off x="1556" y="1690"/>
              <a:ext cx="2744" cy="640"/>
            </a:xfrm>
            <a:custGeom>
              <a:avLst/>
              <a:gdLst>
                <a:gd name="T0" fmla="*/ 0 w 2084"/>
                <a:gd name="T1" fmla="*/ 263 h 499"/>
                <a:gd name="T2" fmla="*/ 136 w 2084"/>
                <a:gd name="T3" fmla="*/ 183 h 499"/>
                <a:gd name="T4" fmla="*/ 408 w 2084"/>
                <a:gd name="T5" fmla="*/ 75 h 499"/>
                <a:gd name="T6" fmla="*/ 716 w 2084"/>
                <a:gd name="T7" fmla="*/ 11 h 499"/>
                <a:gd name="T8" fmla="*/ 984 w 2084"/>
                <a:gd name="T9" fmla="*/ 7 h 499"/>
                <a:gd name="T10" fmla="*/ 1292 w 2084"/>
                <a:gd name="T11" fmla="*/ 51 h 499"/>
                <a:gd name="T12" fmla="*/ 1644 w 2084"/>
                <a:gd name="T13" fmla="*/ 175 h 499"/>
                <a:gd name="T14" fmla="*/ 1932 w 2084"/>
                <a:gd name="T15" fmla="*/ 359 h 499"/>
                <a:gd name="T16" fmla="*/ 2084 w 2084"/>
                <a:gd name="T17" fmla="*/ 49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84" h="499">
                  <a:moveTo>
                    <a:pt x="0" y="263"/>
                  </a:moveTo>
                  <a:cubicBezTo>
                    <a:pt x="34" y="238"/>
                    <a:pt x="68" y="214"/>
                    <a:pt x="136" y="183"/>
                  </a:cubicBezTo>
                  <a:cubicBezTo>
                    <a:pt x="204" y="152"/>
                    <a:pt x="311" y="104"/>
                    <a:pt x="408" y="75"/>
                  </a:cubicBezTo>
                  <a:cubicBezTo>
                    <a:pt x="505" y="46"/>
                    <a:pt x="620" y="22"/>
                    <a:pt x="716" y="11"/>
                  </a:cubicBezTo>
                  <a:cubicBezTo>
                    <a:pt x="812" y="0"/>
                    <a:pt x="888" y="0"/>
                    <a:pt x="984" y="7"/>
                  </a:cubicBezTo>
                  <a:cubicBezTo>
                    <a:pt x="1080" y="14"/>
                    <a:pt x="1182" y="23"/>
                    <a:pt x="1292" y="51"/>
                  </a:cubicBezTo>
                  <a:cubicBezTo>
                    <a:pt x="1402" y="79"/>
                    <a:pt x="1537" y="124"/>
                    <a:pt x="1644" y="175"/>
                  </a:cubicBezTo>
                  <a:cubicBezTo>
                    <a:pt x="1751" y="226"/>
                    <a:pt x="1859" y="305"/>
                    <a:pt x="1932" y="359"/>
                  </a:cubicBezTo>
                  <a:cubicBezTo>
                    <a:pt x="2005" y="413"/>
                    <a:pt x="2044" y="456"/>
                    <a:pt x="2084" y="499"/>
                  </a:cubicBezTo>
                </a:path>
              </a:pathLst>
            </a:custGeom>
            <a:noFill/>
            <a:ln w="12700" cap="flat" cmpd="sng">
              <a:solidFill>
                <a:srgbClr val="002060"/>
              </a:solidFill>
              <a:prstDash val="dashDot"/>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884" name="Line 228"/>
            <p:cNvSpPr>
              <a:spLocks noChangeShapeType="1"/>
            </p:cNvSpPr>
            <p:nvPr/>
          </p:nvSpPr>
          <p:spPr bwMode="auto">
            <a:xfrm flipH="1">
              <a:off x="2707" y="1437"/>
              <a:ext cx="3" cy="2515"/>
            </a:xfrm>
            <a:prstGeom prst="line">
              <a:avLst/>
            </a:prstGeom>
            <a:noFill/>
            <a:ln w="12700">
              <a:solidFill>
                <a:srgbClr val="00206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885" name="Line 229"/>
            <p:cNvSpPr>
              <a:spLocks noChangeShapeType="1"/>
            </p:cNvSpPr>
            <p:nvPr/>
          </p:nvSpPr>
          <p:spPr bwMode="auto">
            <a:xfrm flipH="1">
              <a:off x="2704" y="1391"/>
              <a:ext cx="774" cy="2556"/>
            </a:xfrm>
            <a:prstGeom prst="line">
              <a:avLst/>
            </a:prstGeom>
            <a:noFill/>
            <a:ln w="12700">
              <a:solidFill>
                <a:srgbClr val="002060"/>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886" name="Text Box 230"/>
            <p:cNvSpPr txBox="1">
              <a:spLocks noChangeArrowheads="1"/>
            </p:cNvSpPr>
            <p:nvPr/>
          </p:nvSpPr>
          <p:spPr bwMode="auto">
            <a:xfrm rot="-3013020">
              <a:off x="3644" y="2610"/>
              <a:ext cx="107" cy="230"/>
            </a:xfrm>
            <a:prstGeom prst="rect">
              <a:avLst/>
            </a:prstGeom>
            <a:noFill/>
            <a:ln w="12700">
              <a:noFill/>
              <a:prstDash val="lgDashDot"/>
              <a:miter lim="800000"/>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rPr>
                <a:t>d</a:t>
              </a:r>
              <a:endParaRPr kumimoji="1" lang="en-US" altLang="zh-CN" sz="2400" b="1">
                <a:solidFill>
                  <a:schemeClr val="hlink"/>
                </a:solidFill>
                <a:latin typeface="Times New Roman" panose="02020603050405020304" pitchFamily="18" charset="0"/>
              </a:endParaRPr>
            </a:p>
          </p:txBody>
        </p:sp>
        <p:grpSp>
          <p:nvGrpSpPr>
            <p:cNvPr id="198887" name="Group 231"/>
            <p:cNvGrpSpPr/>
            <p:nvPr/>
          </p:nvGrpSpPr>
          <p:grpSpPr bwMode="auto">
            <a:xfrm>
              <a:off x="2689" y="2251"/>
              <a:ext cx="568" cy="543"/>
              <a:chOff x="2689" y="2251"/>
              <a:chExt cx="568" cy="543"/>
            </a:xfrm>
          </p:grpSpPr>
          <p:sp>
            <p:nvSpPr>
              <p:cNvPr id="198888" name="Freeform 232"/>
              <p:cNvSpPr/>
              <p:nvPr/>
            </p:nvSpPr>
            <p:spPr bwMode="auto">
              <a:xfrm>
                <a:off x="2710" y="2734"/>
                <a:ext cx="342" cy="60"/>
              </a:xfrm>
              <a:custGeom>
                <a:avLst/>
                <a:gdLst>
                  <a:gd name="T0" fmla="*/ 324 w 324"/>
                  <a:gd name="T1" fmla="*/ 47 h 47"/>
                  <a:gd name="T2" fmla="*/ 220 w 324"/>
                  <a:gd name="T3" fmla="*/ 9 h 47"/>
                  <a:gd name="T4" fmla="*/ 174 w 324"/>
                  <a:gd name="T5" fmla="*/ 0 h 47"/>
                  <a:gd name="T6" fmla="*/ 126 w 324"/>
                  <a:gd name="T7" fmla="*/ 2 h 47"/>
                  <a:gd name="T8" fmla="*/ 0 w 324"/>
                  <a:gd name="T9" fmla="*/ 13 h 47"/>
                </a:gdLst>
                <a:ahLst/>
                <a:cxnLst>
                  <a:cxn ang="0">
                    <a:pos x="T0" y="T1"/>
                  </a:cxn>
                  <a:cxn ang="0">
                    <a:pos x="T2" y="T3"/>
                  </a:cxn>
                  <a:cxn ang="0">
                    <a:pos x="T4" y="T5"/>
                  </a:cxn>
                  <a:cxn ang="0">
                    <a:pos x="T6" y="T7"/>
                  </a:cxn>
                  <a:cxn ang="0">
                    <a:pos x="T8" y="T9"/>
                  </a:cxn>
                </a:cxnLst>
                <a:rect l="0" t="0" r="r" b="b"/>
                <a:pathLst>
                  <a:path w="324" h="47">
                    <a:moveTo>
                      <a:pt x="324" y="47"/>
                    </a:moveTo>
                    <a:lnTo>
                      <a:pt x="220" y="9"/>
                    </a:lnTo>
                    <a:lnTo>
                      <a:pt x="174" y="0"/>
                    </a:lnTo>
                    <a:lnTo>
                      <a:pt x="126" y="2"/>
                    </a:lnTo>
                    <a:lnTo>
                      <a:pt x="0" y="13"/>
                    </a:lnTo>
                  </a:path>
                </a:pathLst>
              </a:custGeom>
              <a:noFill/>
              <a:ln w="19050" cmpd="sng">
                <a:solidFill>
                  <a:srgbClr val="002060"/>
                </a:solidFill>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grpSp>
            <p:nvGrpSpPr>
              <p:cNvPr id="198889" name="Group 233"/>
              <p:cNvGrpSpPr/>
              <p:nvPr/>
            </p:nvGrpSpPr>
            <p:grpSpPr bwMode="auto">
              <a:xfrm>
                <a:off x="2689" y="2251"/>
                <a:ext cx="568" cy="495"/>
                <a:chOff x="2689" y="2251"/>
                <a:chExt cx="568" cy="495"/>
              </a:xfrm>
            </p:grpSpPr>
            <p:sp>
              <p:nvSpPr>
                <p:cNvPr id="198890" name="Rectangle 234"/>
                <p:cNvSpPr>
                  <a:spLocks noChangeArrowheads="1"/>
                </p:cNvSpPr>
                <p:nvPr/>
              </p:nvSpPr>
              <p:spPr bwMode="auto">
                <a:xfrm>
                  <a:off x="2689" y="2251"/>
                  <a:ext cx="568" cy="288"/>
                </a:xfrm>
                <a:prstGeom prst="rect">
                  <a:avLst/>
                </a:prstGeom>
                <a:noFill/>
                <a:ln w="12700">
                  <a:solidFill>
                    <a:srgbClr val="000000">
                      <a:alpha val="0"/>
                    </a:srgbClr>
                  </a:solidFill>
                  <a:miter lim="800000"/>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50000"/>
                    </a:spcBef>
                  </a:pPr>
                  <a:r>
                    <a:rPr kumimoji="1" lang="en-US" altLang="zh-CN" sz="2400" b="1">
                      <a:solidFill>
                        <a:schemeClr val="hlink"/>
                      </a:solidFill>
                      <a:latin typeface="宋体" panose="02010600030101010101" pitchFamily="2" charset="-122"/>
                    </a:rPr>
                    <a:t>180˚</a:t>
                  </a:r>
                  <a:r>
                    <a:rPr kumimoji="1" lang="en-US" altLang="zh-CN" sz="2400" b="1">
                      <a:solidFill>
                        <a:srgbClr val="66FF33"/>
                      </a:solidFill>
                      <a:latin typeface="宋体" panose="02010600030101010101" pitchFamily="2" charset="-122"/>
                    </a:rPr>
                    <a:t> </a:t>
                  </a:r>
                  <a:endParaRPr kumimoji="1" lang="en-US" altLang="zh-CN" sz="2400" b="1">
                    <a:solidFill>
                      <a:srgbClr val="66FF33"/>
                    </a:solidFill>
                    <a:latin typeface="宋体" panose="02010600030101010101" pitchFamily="2" charset="-122"/>
                  </a:endParaRPr>
                </a:p>
              </p:txBody>
            </p:sp>
            <p:sp>
              <p:nvSpPr>
                <p:cNvPr id="198891" name="Rectangle 235"/>
                <p:cNvSpPr>
                  <a:spLocks noChangeArrowheads="1"/>
                </p:cNvSpPr>
                <p:nvPr/>
              </p:nvSpPr>
              <p:spPr bwMode="auto">
                <a:xfrm>
                  <a:off x="2798" y="2458"/>
                  <a:ext cx="311" cy="288"/>
                </a:xfrm>
                <a:prstGeom prst="rect">
                  <a:avLst/>
                </a:prstGeom>
                <a:noFill/>
                <a:ln w="12700">
                  <a:noFill/>
                  <a:miter lim="800000"/>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50000"/>
                    </a:spcBef>
                  </a:pPr>
                  <a:r>
                    <a:rPr kumimoji="1" lang="en-US" altLang="zh-CN" sz="2400" b="1">
                      <a:solidFill>
                        <a:schemeClr val="hlink"/>
                      </a:solidFill>
                      <a:latin typeface="宋体" panose="02010600030101010101" pitchFamily="2" charset="-122"/>
                    </a:rPr>
                    <a:t>Z</a:t>
                  </a:r>
                  <a:r>
                    <a:rPr kumimoji="1" lang="en-US" altLang="zh-CN" sz="2400" b="1">
                      <a:solidFill>
                        <a:srgbClr val="66FF33"/>
                      </a:solidFill>
                      <a:latin typeface="宋体" panose="02010600030101010101" pitchFamily="2" charset="-122"/>
                    </a:rPr>
                    <a:t> </a:t>
                  </a:r>
                  <a:endParaRPr kumimoji="1" lang="en-US" altLang="zh-CN" sz="2400" b="1">
                    <a:solidFill>
                      <a:srgbClr val="66FF33"/>
                    </a:solidFill>
                    <a:latin typeface="宋体" panose="02010600030101010101" pitchFamily="2" charset="-122"/>
                  </a:endParaRPr>
                </a:p>
              </p:txBody>
            </p:sp>
            <p:sp>
              <p:nvSpPr>
                <p:cNvPr id="198892" name="Line 236"/>
                <p:cNvSpPr>
                  <a:spLocks noChangeShapeType="1"/>
                </p:cNvSpPr>
                <p:nvPr/>
              </p:nvSpPr>
              <p:spPr bwMode="auto">
                <a:xfrm>
                  <a:off x="2753" y="2507"/>
                  <a:ext cx="375" cy="0"/>
                </a:xfrm>
                <a:prstGeom prst="line">
                  <a:avLst/>
                </a:prstGeom>
                <a:noFill/>
                <a:ln w="127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198712" name="Text Box 56"/>
          <p:cNvSpPr txBox="1">
            <a:spLocks noChangeArrowheads="1"/>
          </p:cNvSpPr>
          <p:nvPr/>
        </p:nvSpPr>
        <p:spPr bwMode="auto">
          <a:xfrm>
            <a:off x="5191125" y="5507038"/>
            <a:ext cx="3246438" cy="45720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0000FF"/>
                </a:solidFill>
                <a:latin typeface="Times New Roman" panose="02020603050405020304" pitchFamily="18" charset="0"/>
              </a:rPr>
              <a:t>滚子链链轮端面齿形</a:t>
            </a:r>
            <a:endParaRPr kumimoji="1" lang="zh-CN" altLang="en-US" sz="2400" b="1">
              <a:solidFill>
                <a:srgbClr val="0000FF"/>
              </a:solidFill>
              <a:latin typeface="Times New Roman" panose="02020603050405020304" pitchFamily="18" charset="0"/>
            </a:endParaRPr>
          </a:p>
        </p:txBody>
      </p:sp>
      <p:sp>
        <p:nvSpPr>
          <p:cNvPr id="198743" name="Text Box 87"/>
          <p:cNvSpPr txBox="1">
            <a:spLocks noChangeArrowheads="1"/>
          </p:cNvSpPr>
          <p:nvPr/>
        </p:nvSpPr>
        <p:spPr bwMode="auto">
          <a:xfrm>
            <a:off x="371475" y="171450"/>
            <a:ext cx="4467225" cy="427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sz="2800" b="1">
                <a:solidFill>
                  <a:srgbClr val="0000FF"/>
                </a:solidFill>
                <a:latin typeface="宋体" panose="02010600030101010101" pitchFamily="2" charset="-122"/>
              </a:rPr>
              <a:t>端面齿形 ：</a:t>
            </a:r>
            <a:r>
              <a:rPr kumimoji="1" lang="zh-CN" altLang="en-US" sz="2800" b="1">
                <a:solidFill>
                  <a:schemeClr val="accent4">
                    <a:lumMod val="50000"/>
                  </a:schemeClr>
                </a:solidFill>
                <a:latin typeface="宋体" panose="02010600030101010101" pitchFamily="2" charset="-122"/>
              </a:rPr>
              <a:t>三圆弧一直线  </a:t>
            </a:r>
            <a:endParaRPr kumimoji="1" lang="zh-CN" altLang="en-US" sz="2800" b="1">
              <a:solidFill>
                <a:schemeClr val="accent4">
                  <a:lumMod val="50000"/>
                </a:schemeClr>
              </a:solidFill>
              <a:latin typeface="宋体" panose="02010600030101010101" pitchFamily="2" charset="-122"/>
            </a:endParaRPr>
          </a:p>
        </p:txBody>
      </p:sp>
      <p:sp>
        <p:nvSpPr>
          <p:cNvPr id="198792" name="Rectangle 136"/>
          <p:cNvSpPr>
            <a:spLocks noChangeArrowheads="1"/>
          </p:cNvSpPr>
          <p:nvPr/>
        </p:nvSpPr>
        <p:spPr bwMode="auto">
          <a:xfrm>
            <a:off x="6535738" y="230188"/>
            <a:ext cx="239236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66FF33"/>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3399"/>
                </a:solidFill>
                <a:latin typeface="宋体" panose="02010600030101010101" pitchFamily="2" charset="-122"/>
              </a:rPr>
              <a:t>这种三圆弧一直线齿形基本上符合标准齿槽形状范围，且具有较好的啮合性能，并便于加工。</a:t>
            </a:r>
            <a:endParaRPr kumimoji="1" lang="zh-CN" altLang="en-US" sz="2000" b="1">
              <a:solidFill>
                <a:srgbClr val="003399"/>
              </a:solidFill>
              <a:latin typeface="宋体" panose="02010600030101010101" pitchFamily="2" charset="-122"/>
            </a:endParaRPr>
          </a:p>
        </p:txBody>
      </p:sp>
      <p:grpSp>
        <p:nvGrpSpPr>
          <p:cNvPr id="198812" name="Group 156"/>
          <p:cNvGrpSpPr/>
          <p:nvPr/>
        </p:nvGrpSpPr>
        <p:grpSpPr bwMode="auto">
          <a:xfrm>
            <a:off x="3459163" y="685165"/>
            <a:ext cx="2963862" cy="2840038"/>
            <a:chOff x="2175" y="444"/>
            <a:chExt cx="1867" cy="1789"/>
          </a:xfrm>
        </p:grpSpPr>
        <p:sp>
          <p:nvSpPr>
            <p:cNvPr id="198813" name="Line 157"/>
            <p:cNvSpPr>
              <a:spLocks noChangeShapeType="1"/>
            </p:cNvSpPr>
            <p:nvPr/>
          </p:nvSpPr>
          <p:spPr bwMode="auto">
            <a:xfrm flipH="1" flipV="1">
              <a:off x="2470" y="740"/>
              <a:ext cx="666" cy="628"/>
            </a:xfrm>
            <a:prstGeom prst="line">
              <a:avLst/>
            </a:prstGeom>
            <a:noFill/>
            <a:ln w="127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198814" name="Text Box 158"/>
            <p:cNvSpPr txBox="1">
              <a:spLocks noChangeArrowheads="1"/>
            </p:cNvSpPr>
            <p:nvPr/>
          </p:nvSpPr>
          <p:spPr bwMode="auto">
            <a:xfrm rot="12553">
              <a:off x="2788" y="803"/>
              <a:ext cx="148" cy="23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rPr>
                <a:t>r</a:t>
              </a:r>
              <a:r>
                <a:rPr kumimoji="1" lang="en-US" altLang="zh-CN" sz="2400" b="1" baseline="-25000">
                  <a:solidFill>
                    <a:schemeClr val="hlink"/>
                  </a:solidFill>
                  <a:latin typeface="Times New Roman" panose="02020603050405020304" pitchFamily="18" charset="0"/>
                </a:rPr>
                <a:t>2</a:t>
              </a:r>
              <a:endParaRPr kumimoji="1" lang="en-US" altLang="zh-CN" sz="2400" b="1" baseline="-25000">
                <a:solidFill>
                  <a:schemeClr val="hlink"/>
                </a:solidFill>
                <a:latin typeface="Times New Roman" panose="02020603050405020304" pitchFamily="18" charset="0"/>
              </a:endParaRPr>
            </a:p>
          </p:txBody>
        </p:sp>
        <p:sp>
          <p:nvSpPr>
            <p:cNvPr id="198815" name="Oval 159"/>
            <p:cNvSpPr>
              <a:spLocks noChangeArrowheads="1"/>
            </p:cNvSpPr>
            <p:nvPr/>
          </p:nvSpPr>
          <p:spPr bwMode="auto">
            <a:xfrm>
              <a:off x="2217" y="444"/>
              <a:ext cx="1825" cy="1789"/>
            </a:xfrm>
            <a:prstGeom prst="ellipse">
              <a:avLst/>
            </a:prstGeom>
            <a:noFill/>
            <a:ln w="635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16" name="Line 160"/>
            <p:cNvSpPr>
              <a:spLocks noChangeShapeType="1"/>
            </p:cNvSpPr>
            <p:nvPr/>
          </p:nvSpPr>
          <p:spPr bwMode="auto">
            <a:xfrm>
              <a:off x="3083" y="1370"/>
              <a:ext cx="95"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17" name="Line 161"/>
            <p:cNvSpPr>
              <a:spLocks noChangeShapeType="1"/>
            </p:cNvSpPr>
            <p:nvPr/>
          </p:nvSpPr>
          <p:spPr bwMode="auto">
            <a:xfrm rot="-5400000">
              <a:off x="3087" y="1368"/>
              <a:ext cx="87"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8818" name="Group 162"/>
            <p:cNvGrpSpPr/>
            <p:nvPr/>
          </p:nvGrpSpPr>
          <p:grpSpPr bwMode="auto">
            <a:xfrm>
              <a:off x="2175" y="1725"/>
              <a:ext cx="261" cy="230"/>
              <a:chOff x="2175" y="1725"/>
              <a:chExt cx="261" cy="230"/>
            </a:xfrm>
          </p:grpSpPr>
          <p:sp>
            <p:nvSpPr>
              <p:cNvPr id="198819" name="Text Box 163"/>
              <p:cNvSpPr txBox="1">
                <a:spLocks noChangeArrowheads="1"/>
              </p:cNvSpPr>
              <p:nvPr/>
            </p:nvSpPr>
            <p:spPr bwMode="auto">
              <a:xfrm>
                <a:off x="2175" y="1725"/>
                <a:ext cx="96" cy="23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chemeClr val="hlink"/>
                    </a:solidFill>
                    <a:latin typeface="Times New Roman" panose="02020603050405020304" pitchFamily="18" charset="0"/>
                  </a:rPr>
                  <a:t>b</a:t>
                </a:r>
                <a:endParaRPr kumimoji="1" lang="en-US" altLang="zh-CN" sz="2400" b="1" i="1">
                  <a:solidFill>
                    <a:schemeClr val="hlink"/>
                  </a:solidFill>
                  <a:latin typeface="Times New Roman" panose="02020603050405020304" pitchFamily="18" charset="0"/>
                </a:endParaRPr>
              </a:p>
            </p:txBody>
          </p:sp>
          <p:sp>
            <p:nvSpPr>
              <p:cNvPr id="198820" name="Freeform 164"/>
              <p:cNvSpPr/>
              <p:nvPr/>
            </p:nvSpPr>
            <p:spPr bwMode="auto">
              <a:xfrm>
                <a:off x="2330" y="1791"/>
                <a:ext cx="85" cy="136"/>
              </a:xfrm>
              <a:custGeom>
                <a:avLst/>
                <a:gdLst>
                  <a:gd name="T0" fmla="*/ 0 w 64"/>
                  <a:gd name="T1" fmla="*/ 0 h 106"/>
                  <a:gd name="T2" fmla="*/ 14 w 64"/>
                  <a:gd name="T3" fmla="*/ 30 h 106"/>
                  <a:gd name="T4" fmla="*/ 34 w 64"/>
                  <a:gd name="T5" fmla="*/ 60 h 106"/>
                  <a:gd name="T6" fmla="*/ 48 w 64"/>
                  <a:gd name="T7" fmla="*/ 82 h 106"/>
                  <a:gd name="T8" fmla="*/ 64 w 64"/>
                  <a:gd name="T9" fmla="*/ 106 h 106"/>
                </a:gdLst>
                <a:ahLst/>
                <a:cxnLst>
                  <a:cxn ang="0">
                    <a:pos x="T0" y="T1"/>
                  </a:cxn>
                  <a:cxn ang="0">
                    <a:pos x="T2" y="T3"/>
                  </a:cxn>
                  <a:cxn ang="0">
                    <a:pos x="T4" y="T5"/>
                  </a:cxn>
                  <a:cxn ang="0">
                    <a:pos x="T6" y="T7"/>
                  </a:cxn>
                  <a:cxn ang="0">
                    <a:pos x="T8" y="T9"/>
                  </a:cxn>
                </a:cxnLst>
                <a:rect l="0" t="0" r="r" b="b"/>
                <a:pathLst>
                  <a:path w="64" h="106">
                    <a:moveTo>
                      <a:pt x="0" y="0"/>
                    </a:moveTo>
                    <a:lnTo>
                      <a:pt x="14" y="30"/>
                    </a:lnTo>
                    <a:lnTo>
                      <a:pt x="34" y="60"/>
                    </a:lnTo>
                    <a:lnTo>
                      <a:pt x="48" y="82"/>
                    </a:lnTo>
                    <a:lnTo>
                      <a:pt x="64" y="106"/>
                    </a:lnTo>
                  </a:path>
                </a:pathLst>
              </a:custGeom>
              <a:noFill/>
              <a:ln w="571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21" name="Oval 165"/>
              <p:cNvSpPr>
                <a:spLocks noChangeArrowheads="1"/>
              </p:cNvSpPr>
              <p:nvPr/>
            </p:nvSpPr>
            <p:spPr bwMode="auto">
              <a:xfrm>
                <a:off x="2297" y="1763"/>
                <a:ext cx="52" cy="49"/>
              </a:xfrm>
              <a:prstGeom prst="ellipse">
                <a:avLst/>
              </a:prstGeom>
              <a:solidFill>
                <a:srgbClr val="66FF33"/>
              </a:solidFill>
              <a:ln w="63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sp>
            <p:nvSpPr>
              <p:cNvPr id="198822" name="Oval 166"/>
              <p:cNvSpPr>
                <a:spLocks noChangeArrowheads="1"/>
              </p:cNvSpPr>
              <p:nvPr/>
            </p:nvSpPr>
            <p:spPr bwMode="auto">
              <a:xfrm>
                <a:off x="2384" y="1899"/>
                <a:ext cx="52" cy="49"/>
              </a:xfrm>
              <a:prstGeom prst="ellipse">
                <a:avLst/>
              </a:prstGeom>
              <a:solidFill>
                <a:srgbClr val="66FF33"/>
              </a:solidFill>
              <a:ln w="63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grpSp>
      </p:grpSp>
      <p:grpSp>
        <p:nvGrpSpPr>
          <p:cNvPr id="198830" name="Group 174"/>
          <p:cNvGrpSpPr/>
          <p:nvPr/>
        </p:nvGrpSpPr>
        <p:grpSpPr bwMode="auto">
          <a:xfrm>
            <a:off x="1530350" y="1922463"/>
            <a:ext cx="2255838" cy="2411412"/>
            <a:chOff x="956" y="1229"/>
            <a:chExt cx="1421" cy="1519"/>
          </a:xfrm>
        </p:grpSpPr>
        <p:sp>
          <p:nvSpPr>
            <p:cNvPr id="198831" name="Text Box 175"/>
            <p:cNvSpPr txBox="1">
              <a:spLocks noChangeArrowheads="1"/>
            </p:cNvSpPr>
            <p:nvPr/>
          </p:nvSpPr>
          <p:spPr bwMode="auto">
            <a:xfrm>
              <a:off x="1973" y="1229"/>
              <a:ext cx="96" cy="230"/>
            </a:xfrm>
            <a:prstGeom prst="rect">
              <a:avLst/>
            </a:prstGeom>
            <a:noFill/>
            <a:ln w="12700">
              <a:noFill/>
              <a:prstDash val="lgDashDot"/>
              <a:miter lim="800000"/>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chemeClr val="hlink"/>
                  </a:solidFill>
                  <a:latin typeface="Times New Roman" panose="02020603050405020304" pitchFamily="18" charset="0"/>
                </a:rPr>
                <a:t>d</a:t>
              </a:r>
              <a:endParaRPr kumimoji="1" lang="en-US" altLang="zh-CN" sz="2400" b="1" i="1">
                <a:solidFill>
                  <a:schemeClr val="hlink"/>
                </a:solidFill>
                <a:latin typeface="Times New Roman" panose="02020603050405020304" pitchFamily="18" charset="0"/>
              </a:endParaRPr>
            </a:p>
          </p:txBody>
        </p:sp>
        <p:sp>
          <p:nvSpPr>
            <p:cNvPr id="198832" name="Text Box 176"/>
            <p:cNvSpPr txBox="1">
              <a:spLocks noChangeArrowheads="1"/>
            </p:cNvSpPr>
            <p:nvPr/>
          </p:nvSpPr>
          <p:spPr bwMode="auto">
            <a:xfrm>
              <a:off x="2152" y="1555"/>
              <a:ext cx="85" cy="230"/>
            </a:xfrm>
            <a:prstGeom prst="rect">
              <a:avLst/>
            </a:prstGeom>
            <a:noFill/>
            <a:ln w="12700">
              <a:solidFill>
                <a:schemeClr val="accent5">
                  <a:lumMod val="10000"/>
                </a:schemeClr>
              </a:solidFill>
              <a:prstDash val="lgDashDot"/>
              <a:miter lim="800000"/>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chemeClr val="hlink"/>
                  </a:solidFill>
                  <a:latin typeface="Times New Roman" panose="02020603050405020304" pitchFamily="18" charset="0"/>
                </a:rPr>
                <a:t>c</a:t>
              </a:r>
              <a:endParaRPr kumimoji="1" lang="en-US" altLang="zh-CN" sz="2400" b="1" i="1">
                <a:solidFill>
                  <a:schemeClr val="hlink"/>
                </a:solidFill>
                <a:latin typeface="Times New Roman" panose="02020603050405020304" pitchFamily="18" charset="0"/>
              </a:endParaRPr>
            </a:p>
          </p:txBody>
        </p:sp>
        <p:grpSp>
          <p:nvGrpSpPr>
            <p:cNvPr id="198833" name="Group 177"/>
            <p:cNvGrpSpPr/>
            <p:nvPr/>
          </p:nvGrpSpPr>
          <p:grpSpPr bwMode="auto">
            <a:xfrm>
              <a:off x="1396" y="1411"/>
              <a:ext cx="273" cy="652"/>
              <a:chOff x="1396" y="1411"/>
              <a:chExt cx="273" cy="652"/>
            </a:xfrm>
          </p:grpSpPr>
          <p:sp>
            <p:nvSpPr>
              <p:cNvPr id="198834" name="Text Box 178"/>
              <p:cNvSpPr txBox="1">
                <a:spLocks noChangeArrowheads="1"/>
              </p:cNvSpPr>
              <p:nvPr/>
            </p:nvSpPr>
            <p:spPr bwMode="auto">
              <a:xfrm rot="-23533">
                <a:off x="1521" y="1511"/>
                <a:ext cx="148" cy="230"/>
              </a:xfrm>
              <a:prstGeom prst="rect">
                <a:avLst/>
              </a:prstGeom>
              <a:noFill/>
              <a:ln w="12700">
                <a:noFill/>
                <a:prstDash val="lgDashDot"/>
                <a:miter lim="800000"/>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rPr>
                  <a:t>r</a:t>
                </a:r>
                <a:r>
                  <a:rPr kumimoji="1" lang="en-US" altLang="zh-CN" sz="2400" b="1" baseline="-25000">
                    <a:solidFill>
                      <a:schemeClr val="hlink"/>
                    </a:solidFill>
                    <a:latin typeface="Times New Roman" panose="02020603050405020304" pitchFamily="18" charset="0"/>
                  </a:rPr>
                  <a:t>3</a:t>
                </a:r>
                <a:endParaRPr kumimoji="1" lang="en-US" altLang="zh-CN" sz="2400" b="1" baseline="-25000">
                  <a:solidFill>
                    <a:schemeClr val="hlink"/>
                  </a:solidFill>
                  <a:latin typeface="Times New Roman" panose="02020603050405020304" pitchFamily="18" charset="0"/>
                </a:endParaRPr>
              </a:p>
            </p:txBody>
          </p:sp>
          <p:sp>
            <p:nvSpPr>
              <p:cNvPr id="198835" name="Line 179"/>
              <p:cNvSpPr>
                <a:spLocks noChangeShapeType="1"/>
              </p:cNvSpPr>
              <p:nvPr/>
            </p:nvSpPr>
            <p:spPr bwMode="auto">
              <a:xfrm flipH="1" flipV="1">
                <a:off x="1396" y="1411"/>
                <a:ext cx="269" cy="652"/>
              </a:xfrm>
              <a:prstGeom prst="line">
                <a:avLst/>
              </a:prstGeom>
              <a:noFill/>
              <a:ln w="12700">
                <a:solidFill>
                  <a:schemeClr val="accent5">
                    <a:lumMod val="10000"/>
                  </a:schemeClr>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grpSp>
        <p:sp>
          <p:nvSpPr>
            <p:cNvPr id="198836" name="Oval 180"/>
            <p:cNvSpPr>
              <a:spLocks noChangeArrowheads="1"/>
            </p:cNvSpPr>
            <p:nvPr/>
          </p:nvSpPr>
          <p:spPr bwMode="auto">
            <a:xfrm>
              <a:off x="956" y="1360"/>
              <a:ext cx="1421" cy="1388"/>
            </a:xfrm>
            <a:prstGeom prst="ellipse">
              <a:avLst/>
            </a:prstGeom>
            <a:noFill/>
            <a:ln w="3175">
              <a:solidFill>
                <a:schemeClr val="accent5">
                  <a:lumMod val="1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37" name="Line 181"/>
            <p:cNvSpPr>
              <a:spLocks noChangeShapeType="1"/>
            </p:cNvSpPr>
            <p:nvPr/>
          </p:nvSpPr>
          <p:spPr bwMode="auto">
            <a:xfrm>
              <a:off x="1622" y="2063"/>
              <a:ext cx="98" cy="0"/>
            </a:xfrm>
            <a:prstGeom prst="line">
              <a:avLst/>
            </a:prstGeom>
            <a:noFill/>
            <a:ln w="12700">
              <a:solidFill>
                <a:schemeClr val="accent5">
                  <a:lumMod val="1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38" name="Line 182"/>
            <p:cNvSpPr>
              <a:spLocks noChangeShapeType="1"/>
            </p:cNvSpPr>
            <p:nvPr/>
          </p:nvSpPr>
          <p:spPr bwMode="auto">
            <a:xfrm>
              <a:off x="1667" y="2022"/>
              <a:ext cx="0" cy="87"/>
            </a:xfrm>
            <a:prstGeom prst="line">
              <a:avLst/>
            </a:prstGeom>
            <a:noFill/>
            <a:ln w="12700">
              <a:solidFill>
                <a:schemeClr val="accent5">
                  <a:lumMod val="1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39" name="Freeform 183"/>
            <p:cNvSpPr/>
            <p:nvPr/>
          </p:nvSpPr>
          <p:spPr bwMode="auto">
            <a:xfrm>
              <a:off x="2020" y="1452"/>
              <a:ext cx="266" cy="254"/>
            </a:xfrm>
            <a:custGeom>
              <a:avLst/>
              <a:gdLst>
                <a:gd name="T0" fmla="*/ 0 w 202"/>
                <a:gd name="T1" fmla="*/ 0 h 198"/>
                <a:gd name="T2" fmla="*/ 40 w 202"/>
                <a:gd name="T3" fmla="*/ 24 h 198"/>
                <a:gd name="T4" fmla="*/ 74 w 202"/>
                <a:gd name="T5" fmla="*/ 52 h 198"/>
                <a:gd name="T6" fmla="*/ 102 w 202"/>
                <a:gd name="T7" fmla="*/ 76 h 198"/>
                <a:gd name="T8" fmla="*/ 136 w 202"/>
                <a:gd name="T9" fmla="*/ 108 h 198"/>
                <a:gd name="T10" fmla="*/ 166 w 202"/>
                <a:gd name="T11" fmla="*/ 146 h 198"/>
                <a:gd name="T12" fmla="*/ 202 w 202"/>
                <a:gd name="T13" fmla="*/ 198 h 198"/>
              </a:gdLst>
              <a:ahLst/>
              <a:cxnLst>
                <a:cxn ang="0">
                  <a:pos x="T0" y="T1"/>
                </a:cxn>
                <a:cxn ang="0">
                  <a:pos x="T2" y="T3"/>
                </a:cxn>
                <a:cxn ang="0">
                  <a:pos x="T4" y="T5"/>
                </a:cxn>
                <a:cxn ang="0">
                  <a:pos x="T6" y="T7"/>
                </a:cxn>
                <a:cxn ang="0">
                  <a:pos x="T8" y="T9"/>
                </a:cxn>
                <a:cxn ang="0">
                  <a:pos x="T10" y="T11"/>
                </a:cxn>
                <a:cxn ang="0">
                  <a:pos x="T12" y="T13"/>
                </a:cxn>
              </a:cxnLst>
              <a:rect l="0" t="0" r="r" b="b"/>
              <a:pathLst>
                <a:path w="202" h="198">
                  <a:moveTo>
                    <a:pt x="0" y="0"/>
                  </a:moveTo>
                  <a:lnTo>
                    <a:pt x="40" y="24"/>
                  </a:lnTo>
                  <a:lnTo>
                    <a:pt x="74" y="52"/>
                  </a:lnTo>
                  <a:lnTo>
                    <a:pt x="102" y="76"/>
                  </a:lnTo>
                  <a:lnTo>
                    <a:pt x="136" y="108"/>
                  </a:lnTo>
                  <a:lnTo>
                    <a:pt x="166" y="146"/>
                  </a:lnTo>
                  <a:lnTo>
                    <a:pt x="202" y="198"/>
                  </a:lnTo>
                </a:path>
              </a:pathLst>
            </a:custGeom>
            <a:noFill/>
            <a:ln w="571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40" name="Oval 184"/>
            <p:cNvSpPr>
              <a:spLocks noChangeArrowheads="1"/>
            </p:cNvSpPr>
            <p:nvPr/>
          </p:nvSpPr>
          <p:spPr bwMode="auto">
            <a:xfrm>
              <a:off x="2258" y="1678"/>
              <a:ext cx="52" cy="49"/>
            </a:xfrm>
            <a:prstGeom prst="ellipse">
              <a:avLst/>
            </a:prstGeom>
            <a:solidFill>
              <a:srgbClr val="66FF33"/>
            </a:solidFill>
            <a:ln w="12700">
              <a:solidFill>
                <a:schemeClr val="accent5">
                  <a:lumMod val="10000"/>
                </a:scheme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sp>
          <p:nvSpPr>
            <p:cNvPr id="198841" name="Oval 185"/>
            <p:cNvSpPr>
              <a:spLocks noChangeArrowheads="1"/>
            </p:cNvSpPr>
            <p:nvPr/>
          </p:nvSpPr>
          <p:spPr bwMode="auto">
            <a:xfrm>
              <a:off x="1998" y="1429"/>
              <a:ext cx="51" cy="49"/>
            </a:xfrm>
            <a:prstGeom prst="ellipse">
              <a:avLst/>
            </a:prstGeom>
            <a:solidFill>
              <a:srgbClr val="66FF33"/>
            </a:solidFill>
            <a:ln w="1270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grpSp>
      <p:grpSp>
        <p:nvGrpSpPr>
          <p:cNvPr id="198842" name="Group 186"/>
          <p:cNvGrpSpPr/>
          <p:nvPr/>
        </p:nvGrpSpPr>
        <p:grpSpPr bwMode="auto">
          <a:xfrm>
            <a:off x="3627120" y="2108518"/>
            <a:ext cx="1252538" cy="1346200"/>
            <a:chOff x="2284" y="1355"/>
            <a:chExt cx="789" cy="848"/>
          </a:xfrm>
        </p:grpSpPr>
        <p:sp>
          <p:nvSpPr>
            <p:cNvPr id="198843" name="Oval 187"/>
            <p:cNvSpPr>
              <a:spLocks noChangeArrowheads="1"/>
            </p:cNvSpPr>
            <p:nvPr/>
          </p:nvSpPr>
          <p:spPr bwMode="auto">
            <a:xfrm>
              <a:off x="2339" y="1355"/>
              <a:ext cx="734" cy="710"/>
            </a:xfrm>
            <a:prstGeom prst="ellipse">
              <a:avLst/>
            </a:prstGeom>
            <a:noFill/>
            <a:ln w="6350">
              <a:solidFill>
                <a:schemeClr val="accent5">
                  <a:lumMod val="1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44" name="Line 188"/>
            <p:cNvSpPr>
              <a:spLocks noChangeShapeType="1"/>
            </p:cNvSpPr>
            <p:nvPr/>
          </p:nvSpPr>
          <p:spPr bwMode="auto">
            <a:xfrm>
              <a:off x="2707" y="1693"/>
              <a:ext cx="179" cy="315"/>
            </a:xfrm>
            <a:prstGeom prst="line">
              <a:avLst/>
            </a:prstGeom>
            <a:noFill/>
            <a:ln w="127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198845" name="Text Box 189"/>
            <p:cNvSpPr txBox="1">
              <a:spLocks noChangeArrowheads="1"/>
            </p:cNvSpPr>
            <p:nvPr/>
          </p:nvSpPr>
          <p:spPr bwMode="auto">
            <a:xfrm rot="-5141">
              <a:off x="2804" y="1630"/>
              <a:ext cx="149" cy="231"/>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rPr>
                <a:t>r</a:t>
              </a:r>
              <a:r>
                <a:rPr kumimoji="1" lang="en-US" altLang="zh-CN" sz="2400" b="1" baseline="-25000">
                  <a:solidFill>
                    <a:schemeClr val="hlink"/>
                  </a:solidFill>
                  <a:latin typeface="Times New Roman" panose="02020603050405020304" pitchFamily="18" charset="0"/>
                </a:rPr>
                <a:t>1</a:t>
              </a:r>
              <a:endParaRPr kumimoji="1" lang="en-US" altLang="zh-CN" sz="2400" b="1" baseline="-25000">
                <a:solidFill>
                  <a:schemeClr val="hlink"/>
                </a:solidFill>
                <a:latin typeface="Times New Roman" panose="02020603050405020304" pitchFamily="18" charset="0"/>
              </a:endParaRPr>
            </a:p>
          </p:txBody>
        </p:sp>
        <p:sp>
          <p:nvSpPr>
            <p:cNvPr id="198846" name="Line 190"/>
            <p:cNvSpPr>
              <a:spLocks noChangeShapeType="1"/>
            </p:cNvSpPr>
            <p:nvPr/>
          </p:nvSpPr>
          <p:spPr bwMode="auto">
            <a:xfrm>
              <a:off x="2657" y="1696"/>
              <a:ext cx="97" cy="0"/>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47" name="Line 191"/>
            <p:cNvSpPr>
              <a:spLocks noChangeShapeType="1"/>
            </p:cNvSpPr>
            <p:nvPr/>
          </p:nvSpPr>
          <p:spPr bwMode="auto">
            <a:xfrm>
              <a:off x="2707" y="1655"/>
              <a:ext cx="0" cy="87"/>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8848" name="Group 192"/>
            <p:cNvGrpSpPr/>
            <p:nvPr/>
          </p:nvGrpSpPr>
          <p:grpSpPr bwMode="auto">
            <a:xfrm>
              <a:off x="2284" y="1841"/>
              <a:ext cx="536" cy="362"/>
              <a:chOff x="2284" y="1841"/>
              <a:chExt cx="536" cy="362"/>
            </a:xfrm>
          </p:grpSpPr>
          <p:sp>
            <p:nvSpPr>
              <p:cNvPr id="198849" name="Text Box 193"/>
              <p:cNvSpPr txBox="1">
                <a:spLocks noChangeArrowheads="1"/>
              </p:cNvSpPr>
              <p:nvPr/>
            </p:nvSpPr>
            <p:spPr bwMode="auto">
              <a:xfrm>
                <a:off x="2284" y="1841"/>
                <a:ext cx="96" cy="231"/>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chemeClr val="hlink"/>
                    </a:solidFill>
                    <a:latin typeface="Times New Roman" panose="02020603050405020304" pitchFamily="18" charset="0"/>
                  </a:rPr>
                  <a:t>a</a:t>
                </a:r>
                <a:endParaRPr kumimoji="1" lang="en-US" altLang="zh-CN" sz="2400" b="1" i="1">
                  <a:solidFill>
                    <a:schemeClr val="hlink"/>
                  </a:solidFill>
                  <a:latin typeface="Times New Roman" panose="02020603050405020304" pitchFamily="18" charset="0"/>
                </a:endParaRPr>
              </a:p>
            </p:txBody>
          </p:sp>
          <p:sp>
            <p:nvSpPr>
              <p:cNvPr id="198850" name="Text Box 194"/>
              <p:cNvSpPr txBox="1">
                <a:spLocks noChangeArrowheads="1"/>
              </p:cNvSpPr>
              <p:nvPr/>
            </p:nvSpPr>
            <p:spPr bwMode="auto">
              <a:xfrm>
                <a:off x="2724" y="1974"/>
                <a:ext cx="96" cy="229"/>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2700">
                    <a:solidFill>
                      <a:srgbClr val="00FF00"/>
                    </a:solidFill>
                    <a:prstDash val="lgDashDot"/>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chemeClr val="hlink"/>
                    </a:solidFill>
                    <a:latin typeface="Times New Roman" panose="02020603050405020304" pitchFamily="18" charset="0"/>
                  </a:rPr>
                  <a:t>a</a:t>
                </a:r>
                <a:endParaRPr kumimoji="1" lang="en-US" altLang="zh-CN" sz="2400" b="1" i="1">
                  <a:solidFill>
                    <a:schemeClr val="hlink"/>
                  </a:solidFill>
                  <a:latin typeface="Times New Roman" panose="02020603050405020304" pitchFamily="18" charset="0"/>
                </a:endParaRPr>
              </a:p>
            </p:txBody>
          </p:sp>
          <p:sp>
            <p:nvSpPr>
              <p:cNvPr id="198851" name="Freeform 195"/>
              <p:cNvSpPr/>
              <p:nvPr/>
            </p:nvSpPr>
            <p:spPr bwMode="auto">
              <a:xfrm>
                <a:off x="2415" y="1926"/>
                <a:ext cx="295" cy="139"/>
              </a:xfrm>
              <a:custGeom>
                <a:avLst/>
                <a:gdLst>
                  <a:gd name="T0" fmla="*/ 0 w 224"/>
                  <a:gd name="T1" fmla="*/ 0 h 108"/>
                  <a:gd name="T2" fmla="*/ 42 w 224"/>
                  <a:gd name="T3" fmla="*/ 46 h 108"/>
                  <a:gd name="T4" fmla="*/ 88 w 224"/>
                  <a:gd name="T5" fmla="*/ 76 h 108"/>
                  <a:gd name="T6" fmla="*/ 124 w 224"/>
                  <a:gd name="T7" fmla="*/ 90 h 108"/>
                  <a:gd name="T8" fmla="*/ 180 w 224"/>
                  <a:gd name="T9" fmla="*/ 104 h 108"/>
                  <a:gd name="T10" fmla="*/ 224 w 224"/>
                  <a:gd name="T11" fmla="*/ 108 h 108"/>
                </a:gdLst>
                <a:ahLst/>
                <a:cxnLst>
                  <a:cxn ang="0">
                    <a:pos x="T0" y="T1"/>
                  </a:cxn>
                  <a:cxn ang="0">
                    <a:pos x="T2" y="T3"/>
                  </a:cxn>
                  <a:cxn ang="0">
                    <a:pos x="T4" y="T5"/>
                  </a:cxn>
                  <a:cxn ang="0">
                    <a:pos x="T6" y="T7"/>
                  </a:cxn>
                  <a:cxn ang="0">
                    <a:pos x="T8" y="T9"/>
                  </a:cxn>
                  <a:cxn ang="0">
                    <a:pos x="T10" y="T11"/>
                  </a:cxn>
                </a:cxnLst>
                <a:rect l="0" t="0" r="r" b="b"/>
                <a:pathLst>
                  <a:path w="224" h="108">
                    <a:moveTo>
                      <a:pt x="0" y="0"/>
                    </a:moveTo>
                    <a:cubicBezTo>
                      <a:pt x="13" y="16"/>
                      <a:pt x="27" y="33"/>
                      <a:pt x="42" y="46"/>
                    </a:cubicBezTo>
                    <a:cubicBezTo>
                      <a:pt x="57" y="59"/>
                      <a:pt x="74" y="69"/>
                      <a:pt x="88" y="76"/>
                    </a:cubicBezTo>
                    <a:cubicBezTo>
                      <a:pt x="102" y="83"/>
                      <a:pt x="109" y="85"/>
                      <a:pt x="124" y="90"/>
                    </a:cubicBezTo>
                    <a:cubicBezTo>
                      <a:pt x="139" y="95"/>
                      <a:pt x="163" y="101"/>
                      <a:pt x="180" y="104"/>
                    </a:cubicBezTo>
                    <a:cubicBezTo>
                      <a:pt x="197" y="107"/>
                      <a:pt x="210" y="107"/>
                      <a:pt x="224" y="108"/>
                    </a:cubicBezTo>
                  </a:path>
                </a:pathLst>
              </a:custGeom>
              <a:noFill/>
              <a:ln w="571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852" name="Oval 196"/>
              <p:cNvSpPr>
                <a:spLocks noChangeArrowheads="1"/>
              </p:cNvSpPr>
              <p:nvPr/>
            </p:nvSpPr>
            <p:spPr bwMode="auto">
              <a:xfrm>
                <a:off x="2385" y="1898"/>
                <a:ext cx="51" cy="49"/>
              </a:xfrm>
              <a:prstGeom prst="ellipse">
                <a:avLst/>
              </a:prstGeom>
              <a:solidFill>
                <a:srgbClr val="66FF33"/>
              </a:solidFill>
              <a:ln w="1270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sp>
            <p:nvSpPr>
              <p:cNvPr id="198853" name="Oval 197"/>
              <p:cNvSpPr>
                <a:spLocks noChangeArrowheads="1"/>
              </p:cNvSpPr>
              <p:nvPr/>
            </p:nvSpPr>
            <p:spPr bwMode="auto">
              <a:xfrm>
                <a:off x="2679" y="2040"/>
                <a:ext cx="52" cy="48"/>
              </a:xfrm>
              <a:prstGeom prst="ellipse">
                <a:avLst/>
              </a:prstGeom>
              <a:solidFill>
                <a:srgbClr val="66FF33"/>
              </a:solidFill>
              <a:ln w="1270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grpSp>
      </p:grpSp>
      <p:grpSp>
        <p:nvGrpSpPr>
          <p:cNvPr id="198810" name="Group 154"/>
          <p:cNvGrpSpPr/>
          <p:nvPr/>
        </p:nvGrpSpPr>
        <p:grpSpPr bwMode="auto">
          <a:xfrm>
            <a:off x="3597275" y="2647950"/>
            <a:ext cx="144463" cy="215900"/>
            <a:chOff x="2258" y="1678"/>
            <a:chExt cx="91" cy="136"/>
          </a:xfrm>
        </p:grpSpPr>
        <p:sp>
          <p:nvSpPr>
            <p:cNvPr id="198784" name="Line 128"/>
            <p:cNvSpPr>
              <a:spLocks noChangeShapeType="1"/>
            </p:cNvSpPr>
            <p:nvPr/>
          </p:nvSpPr>
          <p:spPr bwMode="auto">
            <a:xfrm>
              <a:off x="2283" y="1706"/>
              <a:ext cx="50" cy="9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8809" name="Group 153"/>
            <p:cNvGrpSpPr/>
            <p:nvPr/>
          </p:nvGrpSpPr>
          <p:grpSpPr bwMode="auto">
            <a:xfrm>
              <a:off x="2258" y="1678"/>
              <a:ext cx="91" cy="136"/>
              <a:chOff x="2258" y="1678"/>
              <a:chExt cx="91" cy="136"/>
            </a:xfrm>
          </p:grpSpPr>
          <p:sp>
            <p:nvSpPr>
              <p:cNvPr id="198785" name="Oval 129"/>
              <p:cNvSpPr>
                <a:spLocks noChangeArrowheads="1"/>
              </p:cNvSpPr>
              <p:nvPr/>
            </p:nvSpPr>
            <p:spPr bwMode="auto">
              <a:xfrm>
                <a:off x="2298" y="1765"/>
                <a:ext cx="51" cy="49"/>
              </a:xfrm>
              <a:prstGeom prst="ellipse">
                <a:avLst/>
              </a:prstGeom>
              <a:solidFill>
                <a:srgbClr val="66FF33"/>
              </a:solidFill>
              <a:ln w="1270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sp>
            <p:nvSpPr>
              <p:cNvPr id="198786" name="Oval 130"/>
              <p:cNvSpPr>
                <a:spLocks noChangeArrowheads="1"/>
              </p:cNvSpPr>
              <p:nvPr/>
            </p:nvSpPr>
            <p:spPr bwMode="auto">
              <a:xfrm>
                <a:off x="2258" y="1678"/>
                <a:ext cx="51" cy="49"/>
              </a:xfrm>
              <a:prstGeom prst="ellipse">
                <a:avLst/>
              </a:prstGeom>
              <a:solidFill>
                <a:srgbClr val="66FF33"/>
              </a:solidFill>
              <a:ln w="1270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98743"/>
                                        </p:tgtEl>
                                        <p:attrNameLst>
                                          <p:attrName>style.visibility</p:attrName>
                                        </p:attrNameLst>
                                      </p:cBhvr>
                                      <p:to>
                                        <p:strVal val="visible"/>
                                      </p:to>
                                    </p:set>
                                    <p:anim calcmode="lin" valueType="num">
                                      <p:cBhvr additive="base">
                                        <p:cTn id="7" dur="500" fill="hold"/>
                                        <p:tgtEl>
                                          <p:spTgt spid="198743"/>
                                        </p:tgtEl>
                                        <p:attrNameLst>
                                          <p:attrName>ppt_x</p:attrName>
                                        </p:attrNameLst>
                                      </p:cBhvr>
                                      <p:tavLst>
                                        <p:tav tm="0">
                                          <p:val>
                                            <p:strVal val="#ppt_x"/>
                                          </p:val>
                                        </p:tav>
                                        <p:tav tm="100000">
                                          <p:val>
                                            <p:strVal val="#ppt_x"/>
                                          </p:val>
                                        </p:tav>
                                      </p:tavLst>
                                    </p:anim>
                                    <p:anim calcmode="lin" valueType="num">
                                      <p:cBhvr additive="base">
                                        <p:cTn id="8" dur="500" fill="hold"/>
                                        <p:tgtEl>
                                          <p:spTgt spid="19874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98880"/>
                                        </p:tgtEl>
                                        <p:attrNameLst>
                                          <p:attrName>style.visibility</p:attrName>
                                        </p:attrNameLst>
                                      </p:cBhvr>
                                      <p:to>
                                        <p:strVal val="visible"/>
                                      </p:to>
                                    </p:set>
                                    <p:animEffect transition="in" filter="dissolve">
                                      <p:cBhvr>
                                        <p:cTn id="13" dur="500"/>
                                        <p:tgtEl>
                                          <p:spTgt spid="198880"/>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987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988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988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1988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198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12" grpId="0" bldLvl="0" animBg="1" autoUpdateAnimBg="0"/>
      <p:bldP spid="198743"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641" name="Group 281"/>
          <p:cNvGrpSpPr/>
          <p:nvPr/>
        </p:nvGrpSpPr>
        <p:grpSpPr bwMode="auto">
          <a:xfrm>
            <a:off x="935038" y="568325"/>
            <a:ext cx="2530475" cy="3530600"/>
            <a:chOff x="589" y="358"/>
            <a:chExt cx="1594" cy="2224"/>
          </a:xfrm>
        </p:grpSpPr>
        <p:grpSp>
          <p:nvGrpSpPr>
            <p:cNvPr id="143642" name="Group 282"/>
            <p:cNvGrpSpPr/>
            <p:nvPr/>
          </p:nvGrpSpPr>
          <p:grpSpPr bwMode="auto">
            <a:xfrm>
              <a:off x="986" y="1208"/>
              <a:ext cx="944" cy="1374"/>
              <a:chOff x="712" y="1268"/>
              <a:chExt cx="944" cy="1374"/>
            </a:xfrm>
          </p:grpSpPr>
          <p:grpSp>
            <p:nvGrpSpPr>
              <p:cNvPr id="143643" name="Group 283"/>
              <p:cNvGrpSpPr/>
              <p:nvPr/>
            </p:nvGrpSpPr>
            <p:grpSpPr bwMode="auto">
              <a:xfrm>
                <a:off x="714" y="1914"/>
                <a:ext cx="942" cy="728"/>
                <a:chOff x="714" y="1914"/>
                <a:chExt cx="942" cy="728"/>
              </a:xfrm>
            </p:grpSpPr>
            <p:sp>
              <p:nvSpPr>
                <p:cNvPr id="143644" name="Freeform 284"/>
                <p:cNvSpPr/>
                <p:nvPr/>
              </p:nvSpPr>
              <p:spPr bwMode="auto">
                <a:xfrm>
                  <a:off x="714" y="2584"/>
                  <a:ext cx="942" cy="58"/>
                </a:xfrm>
                <a:custGeom>
                  <a:avLst/>
                  <a:gdLst>
                    <a:gd name="T0" fmla="*/ 0 w 942"/>
                    <a:gd name="T1" fmla="*/ 26 h 58"/>
                    <a:gd name="T2" fmla="*/ 114 w 942"/>
                    <a:gd name="T3" fmla="*/ 2 h 58"/>
                    <a:gd name="T4" fmla="*/ 270 w 942"/>
                    <a:gd name="T5" fmla="*/ 38 h 58"/>
                    <a:gd name="T6" fmla="*/ 516 w 942"/>
                    <a:gd name="T7" fmla="*/ 8 h 58"/>
                    <a:gd name="T8" fmla="*/ 666 w 942"/>
                    <a:gd name="T9" fmla="*/ 56 h 58"/>
                    <a:gd name="T10" fmla="*/ 942 w 942"/>
                    <a:gd name="T11" fmla="*/ 20 h 58"/>
                  </a:gdLst>
                  <a:ahLst/>
                  <a:cxnLst>
                    <a:cxn ang="0">
                      <a:pos x="T0" y="T1"/>
                    </a:cxn>
                    <a:cxn ang="0">
                      <a:pos x="T2" y="T3"/>
                    </a:cxn>
                    <a:cxn ang="0">
                      <a:pos x="T4" y="T5"/>
                    </a:cxn>
                    <a:cxn ang="0">
                      <a:pos x="T6" y="T7"/>
                    </a:cxn>
                    <a:cxn ang="0">
                      <a:pos x="T8" y="T9"/>
                    </a:cxn>
                    <a:cxn ang="0">
                      <a:pos x="T10" y="T11"/>
                    </a:cxn>
                  </a:cxnLst>
                  <a:rect l="0" t="0" r="r" b="b"/>
                  <a:pathLst>
                    <a:path w="942" h="58">
                      <a:moveTo>
                        <a:pt x="0" y="26"/>
                      </a:moveTo>
                      <a:cubicBezTo>
                        <a:pt x="34" y="13"/>
                        <a:pt x="69" y="0"/>
                        <a:pt x="114" y="2"/>
                      </a:cubicBezTo>
                      <a:cubicBezTo>
                        <a:pt x="159" y="4"/>
                        <a:pt x="203" y="37"/>
                        <a:pt x="270" y="38"/>
                      </a:cubicBezTo>
                      <a:cubicBezTo>
                        <a:pt x="337" y="39"/>
                        <a:pt x="450" y="5"/>
                        <a:pt x="516" y="8"/>
                      </a:cubicBezTo>
                      <a:cubicBezTo>
                        <a:pt x="582" y="11"/>
                        <a:pt x="595" y="54"/>
                        <a:pt x="666" y="56"/>
                      </a:cubicBezTo>
                      <a:cubicBezTo>
                        <a:pt x="737" y="58"/>
                        <a:pt x="885" y="27"/>
                        <a:pt x="942" y="20"/>
                      </a:cubicBezTo>
                    </a:path>
                  </a:pathLst>
                </a:custGeom>
                <a:noFill/>
                <a:ln w="12700" cap="flat" cmpd="sng">
                  <a:solidFill>
                    <a:srgbClr val="008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5" name="Line 285"/>
                <p:cNvSpPr>
                  <a:spLocks noChangeShapeType="1"/>
                </p:cNvSpPr>
                <p:nvPr/>
              </p:nvSpPr>
              <p:spPr bwMode="auto">
                <a:xfrm flipV="1">
                  <a:off x="726" y="1914"/>
                  <a:ext cx="282" cy="312"/>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6" name="Line 286"/>
                <p:cNvSpPr>
                  <a:spLocks noChangeShapeType="1"/>
                </p:cNvSpPr>
                <p:nvPr/>
              </p:nvSpPr>
              <p:spPr bwMode="auto">
                <a:xfrm flipV="1">
                  <a:off x="718" y="1914"/>
                  <a:ext cx="414" cy="458"/>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7" name="Line 287"/>
                <p:cNvSpPr>
                  <a:spLocks noChangeShapeType="1"/>
                </p:cNvSpPr>
                <p:nvPr/>
              </p:nvSpPr>
              <p:spPr bwMode="auto">
                <a:xfrm flipV="1">
                  <a:off x="722" y="1916"/>
                  <a:ext cx="546" cy="604"/>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8" name="Line 288"/>
                <p:cNvSpPr>
                  <a:spLocks noChangeShapeType="1"/>
                </p:cNvSpPr>
                <p:nvPr/>
              </p:nvSpPr>
              <p:spPr bwMode="auto">
                <a:xfrm flipV="1">
                  <a:off x="794" y="1916"/>
                  <a:ext cx="606" cy="670"/>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9" name="Line 289"/>
                <p:cNvSpPr>
                  <a:spLocks noChangeShapeType="1"/>
                </p:cNvSpPr>
                <p:nvPr/>
              </p:nvSpPr>
              <p:spPr bwMode="auto">
                <a:xfrm flipV="1">
                  <a:off x="916" y="1964"/>
                  <a:ext cx="578" cy="640"/>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0" name="Line 290"/>
                <p:cNvSpPr>
                  <a:spLocks noChangeShapeType="1"/>
                </p:cNvSpPr>
                <p:nvPr/>
              </p:nvSpPr>
              <p:spPr bwMode="auto">
                <a:xfrm flipV="1">
                  <a:off x="1195" y="2114"/>
                  <a:ext cx="427" cy="472"/>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1" name="Line 291"/>
                <p:cNvSpPr>
                  <a:spLocks noChangeShapeType="1"/>
                </p:cNvSpPr>
                <p:nvPr/>
              </p:nvSpPr>
              <p:spPr bwMode="auto">
                <a:xfrm flipV="1">
                  <a:off x="1032" y="2078"/>
                  <a:ext cx="484" cy="536"/>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2" name="Line 292"/>
                <p:cNvSpPr>
                  <a:spLocks noChangeShapeType="1"/>
                </p:cNvSpPr>
                <p:nvPr/>
              </p:nvSpPr>
              <p:spPr bwMode="auto">
                <a:xfrm flipV="1">
                  <a:off x="1307" y="2232"/>
                  <a:ext cx="347" cy="384"/>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3" name="Line 293"/>
                <p:cNvSpPr>
                  <a:spLocks noChangeShapeType="1"/>
                </p:cNvSpPr>
                <p:nvPr/>
              </p:nvSpPr>
              <p:spPr bwMode="auto">
                <a:xfrm flipV="1">
                  <a:off x="1414" y="2370"/>
                  <a:ext cx="238" cy="263"/>
                </a:xfrm>
                <a:prstGeom prst="line">
                  <a:avLst/>
                </a:prstGeom>
                <a:noFill/>
                <a:ln w="12700">
                  <a:solidFill>
                    <a:srgbClr val="008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54" name="Group 294"/>
              <p:cNvGrpSpPr/>
              <p:nvPr/>
            </p:nvGrpSpPr>
            <p:grpSpPr bwMode="auto">
              <a:xfrm>
                <a:off x="712" y="1268"/>
                <a:ext cx="944" cy="1350"/>
                <a:chOff x="712" y="1268"/>
                <a:chExt cx="944" cy="1350"/>
              </a:xfrm>
            </p:grpSpPr>
            <p:sp>
              <p:nvSpPr>
                <p:cNvPr id="143655" name="Freeform 295"/>
                <p:cNvSpPr/>
                <p:nvPr/>
              </p:nvSpPr>
              <p:spPr bwMode="auto">
                <a:xfrm>
                  <a:off x="712" y="1268"/>
                  <a:ext cx="312" cy="1350"/>
                </a:xfrm>
                <a:custGeom>
                  <a:avLst/>
                  <a:gdLst>
                    <a:gd name="T0" fmla="*/ 312 w 312"/>
                    <a:gd name="T1" fmla="*/ 0 h 1350"/>
                    <a:gd name="T2" fmla="*/ 284 w 312"/>
                    <a:gd name="T3" fmla="*/ 48 h 1350"/>
                    <a:gd name="T4" fmla="*/ 262 w 312"/>
                    <a:gd name="T5" fmla="*/ 88 h 1350"/>
                    <a:gd name="T6" fmla="*/ 240 w 312"/>
                    <a:gd name="T7" fmla="*/ 136 h 1350"/>
                    <a:gd name="T8" fmla="*/ 214 w 312"/>
                    <a:gd name="T9" fmla="*/ 200 h 1350"/>
                    <a:gd name="T10" fmla="*/ 198 w 312"/>
                    <a:gd name="T11" fmla="*/ 250 h 1350"/>
                    <a:gd name="T12" fmla="*/ 182 w 312"/>
                    <a:gd name="T13" fmla="*/ 326 h 1350"/>
                    <a:gd name="T14" fmla="*/ 172 w 312"/>
                    <a:gd name="T15" fmla="*/ 394 h 1350"/>
                    <a:gd name="T16" fmla="*/ 166 w 312"/>
                    <a:gd name="T17" fmla="*/ 466 h 1350"/>
                    <a:gd name="T18" fmla="*/ 164 w 312"/>
                    <a:gd name="T19" fmla="*/ 496 h 1350"/>
                    <a:gd name="T20" fmla="*/ 164 w 312"/>
                    <a:gd name="T21" fmla="*/ 762 h 1350"/>
                    <a:gd name="T22" fmla="*/ 148 w 312"/>
                    <a:gd name="T23" fmla="*/ 802 h 1350"/>
                    <a:gd name="T24" fmla="*/ 124 w 312"/>
                    <a:gd name="T25" fmla="*/ 828 h 1350"/>
                    <a:gd name="T26" fmla="*/ 90 w 312"/>
                    <a:gd name="T27" fmla="*/ 842 h 1350"/>
                    <a:gd name="T28" fmla="*/ 0 w 312"/>
                    <a:gd name="T29" fmla="*/ 842 h 1350"/>
                    <a:gd name="T30" fmla="*/ 0 w 312"/>
                    <a:gd name="T31" fmla="*/ 1350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2" h="1350">
                      <a:moveTo>
                        <a:pt x="312" y="0"/>
                      </a:moveTo>
                      <a:lnTo>
                        <a:pt x="284" y="48"/>
                      </a:lnTo>
                      <a:lnTo>
                        <a:pt x="262" y="88"/>
                      </a:lnTo>
                      <a:lnTo>
                        <a:pt x="240" y="136"/>
                      </a:lnTo>
                      <a:lnTo>
                        <a:pt x="214" y="200"/>
                      </a:lnTo>
                      <a:lnTo>
                        <a:pt x="198" y="250"/>
                      </a:lnTo>
                      <a:lnTo>
                        <a:pt x="182" y="326"/>
                      </a:lnTo>
                      <a:lnTo>
                        <a:pt x="172" y="394"/>
                      </a:lnTo>
                      <a:lnTo>
                        <a:pt x="166" y="466"/>
                      </a:lnTo>
                      <a:lnTo>
                        <a:pt x="164" y="496"/>
                      </a:lnTo>
                      <a:lnTo>
                        <a:pt x="164" y="762"/>
                      </a:lnTo>
                      <a:lnTo>
                        <a:pt x="148" y="802"/>
                      </a:lnTo>
                      <a:lnTo>
                        <a:pt x="124" y="828"/>
                      </a:lnTo>
                      <a:lnTo>
                        <a:pt x="90" y="842"/>
                      </a:lnTo>
                      <a:lnTo>
                        <a:pt x="0" y="842"/>
                      </a:lnTo>
                      <a:lnTo>
                        <a:pt x="0" y="1350"/>
                      </a:lnTo>
                    </a:path>
                  </a:pathLst>
                </a:custGeom>
                <a:noFill/>
                <a:ln w="28575" cap="flat" cmpd="sng">
                  <a:solidFill>
                    <a:srgbClr val="008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6" name="Freeform 296"/>
                <p:cNvSpPr/>
                <p:nvPr/>
              </p:nvSpPr>
              <p:spPr bwMode="auto">
                <a:xfrm flipH="1">
                  <a:off x="1344" y="1268"/>
                  <a:ext cx="312" cy="1350"/>
                </a:xfrm>
                <a:custGeom>
                  <a:avLst/>
                  <a:gdLst>
                    <a:gd name="T0" fmla="*/ 312 w 312"/>
                    <a:gd name="T1" fmla="*/ 0 h 1350"/>
                    <a:gd name="T2" fmla="*/ 284 w 312"/>
                    <a:gd name="T3" fmla="*/ 48 h 1350"/>
                    <a:gd name="T4" fmla="*/ 262 w 312"/>
                    <a:gd name="T5" fmla="*/ 88 h 1350"/>
                    <a:gd name="T6" fmla="*/ 240 w 312"/>
                    <a:gd name="T7" fmla="*/ 136 h 1350"/>
                    <a:gd name="T8" fmla="*/ 214 w 312"/>
                    <a:gd name="T9" fmla="*/ 200 h 1350"/>
                    <a:gd name="T10" fmla="*/ 198 w 312"/>
                    <a:gd name="T11" fmla="*/ 250 h 1350"/>
                    <a:gd name="T12" fmla="*/ 182 w 312"/>
                    <a:gd name="T13" fmla="*/ 326 h 1350"/>
                    <a:gd name="T14" fmla="*/ 172 w 312"/>
                    <a:gd name="T15" fmla="*/ 394 h 1350"/>
                    <a:gd name="T16" fmla="*/ 166 w 312"/>
                    <a:gd name="T17" fmla="*/ 466 h 1350"/>
                    <a:gd name="T18" fmla="*/ 164 w 312"/>
                    <a:gd name="T19" fmla="*/ 496 h 1350"/>
                    <a:gd name="T20" fmla="*/ 164 w 312"/>
                    <a:gd name="T21" fmla="*/ 762 h 1350"/>
                    <a:gd name="T22" fmla="*/ 148 w 312"/>
                    <a:gd name="T23" fmla="*/ 802 h 1350"/>
                    <a:gd name="T24" fmla="*/ 124 w 312"/>
                    <a:gd name="T25" fmla="*/ 828 h 1350"/>
                    <a:gd name="T26" fmla="*/ 90 w 312"/>
                    <a:gd name="T27" fmla="*/ 842 h 1350"/>
                    <a:gd name="T28" fmla="*/ 0 w 312"/>
                    <a:gd name="T29" fmla="*/ 842 h 1350"/>
                    <a:gd name="T30" fmla="*/ 0 w 312"/>
                    <a:gd name="T31" fmla="*/ 1350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2" h="1350">
                      <a:moveTo>
                        <a:pt x="312" y="0"/>
                      </a:moveTo>
                      <a:lnTo>
                        <a:pt x="284" y="48"/>
                      </a:lnTo>
                      <a:lnTo>
                        <a:pt x="262" y="88"/>
                      </a:lnTo>
                      <a:lnTo>
                        <a:pt x="240" y="136"/>
                      </a:lnTo>
                      <a:lnTo>
                        <a:pt x="214" y="200"/>
                      </a:lnTo>
                      <a:lnTo>
                        <a:pt x="198" y="250"/>
                      </a:lnTo>
                      <a:lnTo>
                        <a:pt x="182" y="326"/>
                      </a:lnTo>
                      <a:lnTo>
                        <a:pt x="172" y="394"/>
                      </a:lnTo>
                      <a:lnTo>
                        <a:pt x="166" y="466"/>
                      </a:lnTo>
                      <a:lnTo>
                        <a:pt x="164" y="496"/>
                      </a:lnTo>
                      <a:lnTo>
                        <a:pt x="164" y="762"/>
                      </a:lnTo>
                      <a:lnTo>
                        <a:pt x="148" y="802"/>
                      </a:lnTo>
                      <a:lnTo>
                        <a:pt x="124" y="828"/>
                      </a:lnTo>
                      <a:lnTo>
                        <a:pt x="90" y="842"/>
                      </a:lnTo>
                      <a:lnTo>
                        <a:pt x="0" y="842"/>
                      </a:lnTo>
                      <a:lnTo>
                        <a:pt x="0" y="1350"/>
                      </a:lnTo>
                    </a:path>
                  </a:pathLst>
                </a:custGeom>
                <a:noFill/>
                <a:ln w="28575" cap="flat" cmpd="sng">
                  <a:solidFill>
                    <a:srgbClr val="008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7" name="Line 297"/>
                <p:cNvSpPr>
                  <a:spLocks noChangeShapeType="1"/>
                </p:cNvSpPr>
                <p:nvPr/>
              </p:nvSpPr>
              <p:spPr bwMode="auto">
                <a:xfrm>
                  <a:off x="882" y="1914"/>
                  <a:ext cx="606" cy="0"/>
                </a:xfrm>
                <a:prstGeom prst="line">
                  <a:avLst/>
                </a:prstGeom>
                <a:noFill/>
                <a:ln w="28575">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8" name="Line 298"/>
                <p:cNvSpPr>
                  <a:spLocks noChangeShapeType="1"/>
                </p:cNvSpPr>
                <p:nvPr/>
              </p:nvSpPr>
              <p:spPr bwMode="auto">
                <a:xfrm>
                  <a:off x="1022" y="1272"/>
                  <a:ext cx="33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659" name="Group 299"/>
            <p:cNvGrpSpPr/>
            <p:nvPr/>
          </p:nvGrpSpPr>
          <p:grpSpPr bwMode="auto">
            <a:xfrm>
              <a:off x="589" y="358"/>
              <a:ext cx="1594" cy="1726"/>
              <a:chOff x="589" y="358"/>
              <a:chExt cx="1594" cy="1726"/>
            </a:xfrm>
          </p:grpSpPr>
          <p:sp>
            <p:nvSpPr>
              <p:cNvPr id="143660" name="Text Box 300"/>
              <p:cNvSpPr txBox="1">
                <a:spLocks noChangeArrowheads="1"/>
              </p:cNvSpPr>
              <p:nvPr/>
            </p:nvSpPr>
            <p:spPr bwMode="auto">
              <a:xfrm>
                <a:off x="1432" y="358"/>
                <a:ext cx="107"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ea typeface="华文中宋" panose="02010600040101010101" pitchFamily="2" charset="-122"/>
                  </a:rPr>
                  <a:t>b</a:t>
                </a:r>
                <a:endParaRPr kumimoji="1" lang="en-US" altLang="zh-CN" sz="2400" b="1">
                  <a:solidFill>
                    <a:schemeClr val="hlink"/>
                  </a:solidFill>
                  <a:latin typeface="Times New Roman" panose="02020603050405020304" pitchFamily="18" charset="0"/>
                  <a:ea typeface="华文中宋" panose="02010600040101010101" pitchFamily="2" charset="-122"/>
                </a:endParaRPr>
              </a:p>
            </p:txBody>
          </p:sp>
          <p:sp>
            <p:nvSpPr>
              <p:cNvPr id="143661" name="Text Box 301"/>
              <p:cNvSpPr txBox="1">
                <a:spLocks noChangeArrowheads="1"/>
              </p:cNvSpPr>
              <p:nvPr/>
            </p:nvSpPr>
            <p:spPr bwMode="auto">
              <a:xfrm>
                <a:off x="1174" y="718"/>
                <a:ext cx="96"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ea typeface="华文中宋" panose="02010600040101010101" pitchFamily="2" charset="-122"/>
                  </a:rPr>
                  <a:t>g</a:t>
                </a:r>
                <a:endParaRPr kumimoji="1" lang="en-US" altLang="zh-CN" sz="2400" b="1">
                  <a:solidFill>
                    <a:schemeClr val="hlink"/>
                  </a:solidFill>
                  <a:latin typeface="Times New Roman" panose="02020603050405020304" pitchFamily="18" charset="0"/>
                  <a:ea typeface="华文中宋" panose="02010600040101010101" pitchFamily="2" charset="-122"/>
                </a:endParaRPr>
              </a:p>
            </p:txBody>
          </p:sp>
          <p:sp>
            <p:nvSpPr>
              <p:cNvPr id="143662" name="Text Box 302"/>
              <p:cNvSpPr txBox="1">
                <a:spLocks noChangeArrowheads="1"/>
              </p:cNvSpPr>
              <p:nvPr/>
            </p:nvSpPr>
            <p:spPr bwMode="auto">
              <a:xfrm rot="-5400000">
                <a:off x="586" y="1334"/>
                <a:ext cx="235"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ea typeface="华文中宋" panose="02010600040101010101" pitchFamily="2" charset="-122"/>
                  </a:rPr>
                  <a:t>(h)</a:t>
                </a:r>
                <a:endParaRPr kumimoji="1" lang="en-US" altLang="zh-CN" sz="2400" b="1">
                  <a:solidFill>
                    <a:schemeClr val="hlink"/>
                  </a:solidFill>
                  <a:latin typeface="Times New Roman" panose="02020603050405020304" pitchFamily="18" charset="0"/>
                  <a:ea typeface="华文中宋" panose="02010600040101010101" pitchFamily="2" charset="-122"/>
                </a:endParaRPr>
              </a:p>
            </p:txBody>
          </p:sp>
          <p:grpSp>
            <p:nvGrpSpPr>
              <p:cNvPr id="143663" name="Group 303"/>
              <p:cNvGrpSpPr/>
              <p:nvPr/>
            </p:nvGrpSpPr>
            <p:grpSpPr bwMode="auto">
              <a:xfrm>
                <a:off x="724" y="480"/>
                <a:ext cx="1286" cy="1556"/>
                <a:chOff x="724" y="480"/>
                <a:chExt cx="1286" cy="1556"/>
              </a:xfrm>
            </p:grpSpPr>
            <p:sp>
              <p:nvSpPr>
                <p:cNvPr id="143664" name="Line 304"/>
                <p:cNvSpPr>
                  <a:spLocks noChangeShapeType="1"/>
                </p:cNvSpPr>
                <p:nvPr/>
              </p:nvSpPr>
              <p:spPr bwMode="auto">
                <a:xfrm flipV="1">
                  <a:off x="1144" y="486"/>
                  <a:ext cx="0" cy="1218"/>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5" name="Line 305"/>
                <p:cNvSpPr>
                  <a:spLocks noChangeShapeType="1"/>
                </p:cNvSpPr>
                <p:nvPr/>
              </p:nvSpPr>
              <p:spPr bwMode="auto">
                <a:xfrm flipV="1">
                  <a:off x="1768" y="480"/>
                  <a:ext cx="0" cy="1218"/>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6" name="Line 306"/>
                <p:cNvSpPr>
                  <a:spLocks noChangeShapeType="1"/>
                </p:cNvSpPr>
                <p:nvPr/>
              </p:nvSpPr>
              <p:spPr bwMode="auto">
                <a:xfrm>
                  <a:off x="1144" y="552"/>
                  <a:ext cx="624" cy="0"/>
                </a:xfrm>
                <a:prstGeom prst="line">
                  <a:avLst/>
                </a:prstGeom>
                <a:noFill/>
                <a:ln w="12700">
                  <a:solidFill>
                    <a:srgbClr val="008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7" name="Line 307"/>
                <p:cNvSpPr>
                  <a:spLocks noChangeShapeType="1"/>
                </p:cNvSpPr>
                <p:nvPr/>
              </p:nvSpPr>
              <p:spPr bwMode="auto">
                <a:xfrm flipV="1">
                  <a:off x="1288" y="846"/>
                  <a:ext cx="0" cy="366"/>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8" name="Line 308"/>
                <p:cNvSpPr>
                  <a:spLocks noChangeShapeType="1"/>
                </p:cNvSpPr>
                <p:nvPr/>
              </p:nvSpPr>
              <p:spPr bwMode="auto">
                <a:xfrm flipV="1">
                  <a:off x="1624" y="846"/>
                  <a:ext cx="0" cy="366"/>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9" name="Line 309"/>
                <p:cNvSpPr>
                  <a:spLocks noChangeShapeType="1"/>
                </p:cNvSpPr>
                <p:nvPr/>
              </p:nvSpPr>
              <p:spPr bwMode="auto">
                <a:xfrm>
                  <a:off x="1288" y="894"/>
                  <a:ext cx="336" cy="0"/>
                </a:xfrm>
                <a:prstGeom prst="line">
                  <a:avLst/>
                </a:prstGeom>
                <a:noFill/>
                <a:ln w="12700">
                  <a:solidFill>
                    <a:srgbClr val="008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0" name="Line 310"/>
                <p:cNvSpPr>
                  <a:spLocks noChangeShapeType="1"/>
                </p:cNvSpPr>
                <p:nvPr/>
              </p:nvSpPr>
              <p:spPr bwMode="auto">
                <a:xfrm>
                  <a:off x="922" y="894"/>
                  <a:ext cx="222" cy="0"/>
                </a:xfrm>
                <a:prstGeom prst="line">
                  <a:avLst/>
                </a:prstGeom>
                <a:noFill/>
                <a:ln w="1270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1" name="Line 311"/>
                <p:cNvSpPr>
                  <a:spLocks noChangeShapeType="1"/>
                </p:cNvSpPr>
                <p:nvPr/>
              </p:nvSpPr>
              <p:spPr bwMode="auto">
                <a:xfrm flipH="1">
                  <a:off x="1768" y="894"/>
                  <a:ext cx="222" cy="0"/>
                </a:xfrm>
                <a:prstGeom prst="line">
                  <a:avLst/>
                </a:prstGeom>
                <a:noFill/>
                <a:ln w="1270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2" name="Line 312"/>
                <p:cNvSpPr>
                  <a:spLocks noChangeShapeType="1"/>
                </p:cNvSpPr>
                <p:nvPr/>
              </p:nvSpPr>
              <p:spPr bwMode="auto">
                <a:xfrm flipH="1">
                  <a:off x="724" y="1212"/>
                  <a:ext cx="570" cy="0"/>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3" name="Line 313"/>
                <p:cNvSpPr>
                  <a:spLocks noChangeShapeType="1"/>
                </p:cNvSpPr>
                <p:nvPr/>
              </p:nvSpPr>
              <p:spPr bwMode="auto">
                <a:xfrm flipH="1">
                  <a:off x="730" y="1710"/>
                  <a:ext cx="1236" cy="0"/>
                </a:xfrm>
                <a:prstGeom prst="line">
                  <a:avLst/>
                </a:prstGeom>
                <a:noFill/>
                <a:ln w="12700">
                  <a:solidFill>
                    <a:srgbClr val="008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4" name="Line 314"/>
                <p:cNvSpPr>
                  <a:spLocks noChangeShapeType="1"/>
                </p:cNvSpPr>
                <p:nvPr/>
              </p:nvSpPr>
              <p:spPr bwMode="auto">
                <a:xfrm flipV="1">
                  <a:off x="842" y="1214"/>
                  <a:ext cx="0" cy="496"/>
                </a:xfrm>
                <a:prstGeom prst="line">
                  <a:avLst/>
                </a:prstGeom>
                <a:noFill/>
                <a:ln w="12700">
                  <a:solidFill>
                    <a:srgbClr val="008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5" name="Line 315"/>
                <p:cNvSpPr>
                  <a:spLocks noChangeShapeType="1"/>
                </p:cNvSpPr>
                <p:nvPr/>
              </p:nvSpPr>
              <p:spPr bwMode="auto">
                <a:xfrm flipH="1">
                  <a:off x="1794" y="1836"/>
                  <a:ext cx="216" cy="200"/>
                </a:xfrm>
                <a:prstGeom prst="line">
                  <a:avLst/>
                </a:prstGeom>
                <a:noFill/>
                <a:ln w="12700">
                  <a:solidFill>
                    <a:srgbClr val="008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676" name="Rectangle 316"/>
              <p:cNvSpPr>
                <a:spLocks noChangeArrowheads="1"/>
              </p:cNvSpPr>
              <p:nvPr/>
            </p:nvSpPr>
            <p:spPr bwMode="auto">
              <a:xfrm>
                <a:off x="1918" y="1796"/>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8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a:solidFill>
                      <a:schemeClr val="hlink"/>
                    </a:solidFill>
                    <a:latin typeface="Times New Roman" panose="02020603050405020304" pitchFamily="18" charset="0"/>
                    <a:ea typeface="华文中宋" panose="02010600040101010101" pitchFamily="2" charset="-122"/>
                  </a:rPr>
                  <a:t>r</a:t>
                </a:r>
                <a:r>
                  <a:rPr kumimoji="1" lang="en-US" altLang="zh-CN" sz="2400" b="1" baseline="-25000">
                    <a:solidFill>
                      <a:schemeClr val="hlink"/>
                    </a:solidFill>
                    <a:latin typeface="Times New Roman" panose="02020603050405020304" pitchFamily="18" charset="0"/>
                    <a:ea typeface="华文中宋" panose="02010600040101010101" pitchFamily="2" charset="-122"/>
                  </a:rPr>
                  <a:t>5</a:t>
                </a:r>
                <a:endParaRPr kumimoji="1" lang="en-US" altLang="zh-CN" sz="2400" b="1" baseline="-25000">
                  <a:solidFill>
                    <a:schemeClr val="hlink"/>
                  </a:solidFill>
                  <a:latin typeface="Times New Roman" panose="02020603050405020304" pitchFamily="18" charset="0"/>
                  <a:ea typeface="华文中宋" panose="02010600040101010101" pitchFamily="2" charset="-122"/>
                </a:endParaRPr>
              </a:p>
            </p:txBody>
          </p:sp>
          <p:sp>
            <p:nvSpPr>
              <p:cNvPr id="143677" name="Text Box 317"/>
              <p:cNvSpPr txBox="1">
                <a:spLocks noChangeArrowheads="1"/>
              </p:cNvSpPr>
              <p:nvPr/>
            </p:nvSpPr>
            <p:spPr bwMode="auto">
              <a:xfrm>
                <a:off x="1650" y="718"/>
                <a:ext cx="96"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ea typeface="华文中宋" panose="02010600040101010101" pitchFamily="2" charset="-122"/>
                  </a:rPr>
                  <a:t>g</a:t>
                </a:r>
                <a:endParaRPr kumimoji="1" lang="en-US" altLang="zh-CN" sz="2400" b="1">
                  <a:solidFill>
                    <a:schemeClr val="hlink"/>
                  </a:solidFill>
                  <a:latin typeface="Times New Roman" panose="02020603050405020304" pitchFamily="18" charset="0"/>
                  <a:ea typeface="华文中宋" panose="02010600040101010101" pitchFamily="2" charset="-122"/>
                </a:endParaRPr>
              </a:p>
            </p:txBody>
          </p:sp>
        </p:grpSp>
      </p:grpSp>
      <p:grpSp>
        <p:nvGrpSpPr>
          <p:cNvPr id="143678" name="Group 318"/>
          <p:cNvGrpSpPr/>
          <p:nvPr/>
        </p:nvGrpSpPr>
        <p:grpSpPr bwMode="auto">
          <a:xfrm>
            <a:off x="5057775" y="815975"/>
            <a:ext cx="2984500" cy="3170238"/>
            <a:chOff x="3186" y="514"/>
            <a:chExt cx="1880" cy="1997"/>
          </a:xfrm>
        </p:grpSpPr>
        <p:grpSp>
          <p:nvGrpSpPr>
            <p:cNvPr id="143679" name="Group 319"/>
            <p:cNvGrpSpPr/>
            <p:nvPr/>
          </p:nvGrpSpPr>
          <p:grpSpPr bwMode="auto">
            <a:xfrm>
              <a:off x="3197" y="1297"/>
              <a:ext cx="1839" cy="905"/>
              <a:chOff x="2952" y="1257"/>
              <a:chExt cx="2649" cy="1332"/>
            </a:xfrm>
          </p:grpSpPr>
          <p:sp>
            <p:nvSpPr>
              <p:cNvPr id="143680" name="Line 320"/>
              <p:cNvSpPr>
                <a:spLocks noChangeShapeType="1"/>
              </p:cNvSpPr>
              <p:nvPr/>
            </p:nvSpPr>
            <p:spPr bwMode="auto">
              <a:xfrm>
                <a:off x="3098" y="1260"/>
                <a:ext cx="33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1" name="Line 321"/>
              <p:cNvSpPr>
                <a:spLocks noChangeShapeType="1"/>
              </p:cNvSpPr>
              <p:nvPr/>
            </p:nvSpPr>
            <p:spPr bwMode="auto">
              <a:xfrm>
                <a:off x="2958" y="1902"/>
                <a:ext cx="606" cy="0"/>
              </a:xfrm>
              <a:prstGeom prst="line">
                <a:avLst/>
              </a:prstGeom>
              <a:noFill/>
              <a:ln w="28575">
                <a:solidFill>
                  <a:schemeClr val="hlink"/>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682" name="Group 322"/>
              <p:cNvGrpSpPr/>
              <p:nvPr/>
            </p:nvGrpSpPr>
            <p:grpSpPr bwMode="auto">
              <a:xfrm>
                <a:off x="3417" y="1257"/>
                <a:ext cx="624" cy="840"/>
                <a:chOff x="3417" y="1257"/>
                <a:chExt cx="624" cy="840"/>
              </a:xfrm>
            </p:grpSpPr>
            <p:sp>
              <p:nvSpPr>
                <p:cNvPr id="143683" name="Freeform 323"/>
                <p:cNvSpPr/>
                <p:nvPr/>
              </p:nvSpPr>
              <p:spPr bwMode="auto">
                <a:xfrm>
                  <a:off x="3417" y="1257"/>
                  <a:ext cx="312" cy="840"/>
                </a:xfrm>
                <a:custGeom>
                  <a:avLst/>
                  <a:gdLst>
                    <a:gd name="T0" fmla="*/ 0 w 312"/>
                    <a:gd name="T1" fmla="*/ 0 h 840"/>
                    <a:gd name="T2" fmla="*/ 39 w 312"/>
                    <a:gd name="T3" fmla="*/ 60 h 840"/>
                    <a:gd name="T4" fmla="*/ 75 w 312"/>
                    <a:gd name="T5" fmla="*/ 135 h 840"/>
                    <a:gd name="T6" fmla="*/ 102 w 312"/>
                    <a:gd name="T7" fmla="*/ 198 h 840"/>
                    <a:gd name="T8" fmla="*/ 120 w 312"/>
                    <a:gd name="T9" fmla="*/ 264 h 840"/>
                    <a:gd name="T10" fmla="*/ 135 w 312"/>
                    <a:gd name="T11" fmla="*/ 342 h 840"/>
                    <a:gd name="T12" fmla="*/ 150 w 312"/>
                    <a:gd name="T13" fmla="*/ 435 h 840"/>
                    <a:gd name="T14" fmla="*/ 150 w 312"/>
                    <a:gd name="T15" fmla="*/ 471 h 840"/>
                    <a:gd name="T16" fmla="*/ 150 w 312"/>
                    <a:gd name="T17" fmla="*/ 762 h 840"/>
                    <a:gd name="T18" fmla="*/ 162 w 312"/>
                    <a:gd name="T19" fmla="*/ 792 h 840"/>
                    <a:gd name="T20" fmla="*/ 174 w 312"/>
                    <a:gd name="T21" fmla="*/ 810 h 840"/>
                    <a:gd name="T22" fmla="*/ 201 w 312"/>
                    <a:gd name="T23" fmla="*/ 837 h 840"/>
                    <a:gd name="T24" fmla="*/ 234 w 312"/>
                    <a:gd name="T25" fmla="*/ 840 h 840"/>
                    <a:gd name="T26" fmla="*/ 312 w 312"/>
                    <a:gd name="T27"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840">
                      <a:moveTo>
                        <a:pt x="0" y="0"/>
                      </a:moveTo>
                      <a:lnTo>
                        <a:pt x="39" y="60"/>
                      </a:lnTo>
                      <a:lnTo>
                        <a:pt x="75" y="135"/>
                      </a:lnTo>
                      <a:lnTo>
                        <a:pt x="102" y="198"/>
                      </a:lnTo>
                      <a:lnTo>
                        <a:pt x="120" y="264"/>
                      </a:lnTo>
                      <a:lnTo>
                        <a:pt x="135" y="342"/>
                      </a:lnTo>
                      <a:lnTo>
                        <a:pt x="150" y="435"/>
                      </a:lnTo>
                      <a:lnTo>
                        <a:pt x="150" y="471"/>
                      </a:lnTo>
                      <a:lnTo>
                        <a:pt x="150" y="762"/>
                      </a:lnTo>
                      <a:lnTo>
                        <a:pt x="162" y="792"/>
                      </a:lnTo>
                      <a:lnTo>
                        <a:pt x="174" y="810"/>
                      </a:lnTo>
                      <a:lnTo>
                        <a:pt x="201" y="837"/>
                      </a:lnTo>
                      <a:lnTo>
                        <a:pt x="234" y="840"/>
                      </a:lnTo>
                      <a:lnTo>
                        <a:pt x="312" y="840"/>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4" name="Freeform 324"/>
                <p:cNvSpPr/>
                <p:nvPr/>
              </p:nvSpPr>
              <p:spPr bwMode="auto">
                <a:xfrm flipH="1">
                  <a:off x="3729" y="1257"/>
                  <a:ext cx="312" cy="840"/>
                </a:xfrm>
                <a:custGeom>
                  <a:avLst/>
                  <a:gdLst>
                    <a:gd name="T0" fmla="*/ 0 w 312"/>
                    <a:gd name="T1" fmla="*/ 0 h 840"/>
                    <a:gd name="T2" fmla="*/ 39 w 312"/>
                    <a:gd name="T3" fmla="*/ 60 h 840"/>
                    <a:gd name="T4" fmla="*/ 75 w 312"/>
                    <a:gd name="T5" fmla="*/ 135 h 840"/>
                    <a:gd name="T6" fmla="*/ 102 w 312"/>
                    <a:gd name="T7" fmla="*/ 198 h 840"/>
                    <a:gd name="T8" fmla="*/ 120 w 312"/>
                    <a:gd name="T9" fmla="*/ 264 h 840"/>
                    <a:gd name="T10" fmla="*/ 135 w 312"/>
                    <a:gd name="T11" fmla="*/ 342 h 840"/>
                    <a:gd name="T12" fmla="*/ 150 w 312"/>
                    <a:gd name="T13" fmla="*/ 435 h 840"/>
                    <a:gd name="T14" fmla="*/ 150 w 312"/>
                    <a:gd name="T15" fmla="*/ 471 h 840"/>
                    <a:gd name="T16" fmla="*/ 150 w 312"/>
                    <a:gd name="T17" fmla="*/ 762 h 840"/>
                    <a:gd name="T18" fmla="*/ 162 w 312"/>
                    <a:gd name="T19" fmla="*/ 792 h 840"/>
                    <a:gd name="T20" fmla="*/ 174 w 312"/>
                    <a:gd name="T21" fmla="*/ 810 h 840"/>
                    <a:gd name="T22" fmla="*/ 201 w 312"/>
                    <a:gd name="T23" fmla="*/ 837 h 840"/>
                    <a:gd name="T24" fmla="*/ 234 w 312"/>
                    <a:gd name="T25" fmla="*/ 840 h 840"/>
                    <a:gd name="T26" fmla="*/ 312 w 312"/>
                    <a:gd name="T27"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840">
                      <a:moveTo>
                        <a:pt x="0" y="0"/>
                      </a:moveTo>
                      <a:lnTo>
                        <a:pt x="39" y="60"/>
                      </a:lnTo>
                      <a:lnTo>
                        <a:pt x="75" y="135"/>
                      </a:lnTo>
                      <a:lnTo>
                        <a:pt x="102" y="198"/>
                      </a:lnTo>
                      <a:lnTo>
                        <a:pt x="120" y="264"/>
                      </a:lnTo>
                      <a:lnTo>
                        <a:pt x="135" y="342"/>
                      </a:lnTo>
                      <a:lnTo>
                        <a:pt x="150" y="435"/>
                      </a:lnTo>
                      <a:lnTo>
                        <a:pt x="150" y="471"/>
                      </a:lnTo>
                      <a:lnTo>
                        <a:pt x="150" y="762"/>
                      </a:lnTo>
                      <a:lnTo>
                        <a:pt x="162" y="792"/>
                      </a:lnTo>
                      <a:lnTo>
                        <a:pt x="174" y="810"/>
                      </a:lnTo>
                      <a:lnTo>
                        <a:pt x="201" y="837"/>
                      </a:lnTo>
                      <a:lnTo>
                        <a:pt x="234" y="840"/>
                      </a:lnTo>
                      <a:lnTo>
                        <a:pt x="312" y="840"/>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685" name="Freeform 325"/>
              <p:cNvSpPr/>
              <p:nvPr/>
            </p:nvSpPr>
            <p:spPr bwMode="auto">
              <a:xfrm>
                <a:off x="4353" y="1257"/>
                <a:ext cx="312" cy="840"/>
              </a:xfrm>
              <a:custGeom>
                <a:avLst/>
                <a:gdLst>
                  <a:gd name="T0" fmla="*/ 0 w 312"/>
                  <a:gd name="T1" fmla="*/ 0 h 840"/>
                  <a:gd name="T2" fmla="*/ 39 w 312"/>
                  <a:gd name="T3" fmla="*/ 60 h 840"/>
                  <a:gd name="T4" fmla="*/ 75 w 312"/>
                  <a:gd name="T5" fmla="*/ 135 h 840"/>
                  <a:gd name="T6" fmla="*/ 102 w 312"/>
                  <a:gd name="T7" fmla="*/ 198 h 840"/>
                  <a:gd name="T8" fmla="*/ 120 w 312"/>
                  <a:gd name="T9" fmla="*/ 264 h 840"/>
                  <a:gd name="T10" fmla="*/ 135 w 312"/>
                  <a:gd name="T11" fmla="*/ 342 h 840"/>
                  <a:gd name="T12" fmla="*/ 150 w 312"/>
                  <a:gd name="T13" fmla="*/ 435 h 840"/>
                  <a:gd name="T14" fmla="*/ 150 w 312"/>
                  <a:gd name="T15" fmla="*/ 471 h 840"/>
                  <a:gd name="T16" fmla="*/ 150 w 312"/>
                  <a:gd name="T17" fmla="*/ 762 h 840"/>
                  <a:gd name="T18" fmla="*/ 162 w 312"/>
                  <a:gd name="T19" fmla="*/ 792 h 840"/>
                  <a:gd name="T20" fmla="*/ 174 w 312"/>
                  <a:gd name="T21" fmla="*/ 810 h 840"/>
                  <a:gd name="T22" fmla="*/ 201 w 312"/>
                  <a:gd name="T23" fmla="*/ 837 h 840"/>
                  <a:gd name="T24" fmla="*/ 234 w 312"/>
                  <a:gd name="T25" fmla="*/ 840 h 840"/>
                  <a:gd name="T26" fmla="*/ 312 w 312"/>
                  <a:gd name="T27"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840">
                    <a:moveTo>
                      <a:pt x="0" y="0"/>
                    </a:moveTo>
                    <a:lnTo>
                      <a:pt x="39" y="60"/>
                    </a:lnTo>
                    <a:lnTo>
                      <a:pt x="75" y="135"/>
                    </a:lnTo>
                    <a:lnTo>
                      <a:pt x="102" y="198"/>
                    </a:lnTo>
                    <a:lnTo>
                      <a:pt x="120" y="264"/>
                    </a:lnTo>
                    <a:lnTo>
                      <a:pt x="135" y="342"/>
                    </a:lnTo>
                    <a:lnTo>
                      <a:pt x="150" y="435"/>
                    </a:lnTo>
                    <a:lnTo>
                      <a:pt x="150" y="471"/>
                    </a:lnTo>
                    <a:lnTo>
                      <a:pt x="150" y="762"/>
                    </a:lnTo>
                    <a:lnTo>
                      <a:pt x="162" y="792"/>
                    </a:lnTo>
                    <a:lnTo>
                      <a:pt x="174" y="810"/>
                    </a:lnTo>
                    <a:lnTo>
                      <a:pt x="201" y="837"/>
                    </a:lnTo>
                    <a:lnTo>
                      <a:pt x="234" y="840"/>
                    </a:lnTo>
                    <a:lnTo>
                      <a:pt x="312" y="840"/>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6" name="Freeform 326"/>
              <p:cNvSpPr/>
              <p:nvPr/>
            </p:nvSpPr>
            <p:spPr bwMode="auto">
              <a:xfrm flipH="1">
                <a:off x="4662" y="1257"/>
                <a:ext cx="312" cy="840"/>
              </a:xfrm>
              <a:custGeom>
                <a:avLst/>
                <a:gdLst>
                  <a:gd name="T0" fmla="*/ 0 w 312"/>
                  <a:gd name="T1" fmla="*/ 0 h 840"/>
                  <a:gd name="T2" fmla="*/ 39 w 312"/>
                  <a:gd name="T3" fmla="*/ 60 h 840"/>
                  <a:gd name="T4" fmla="*/ 75 w 312"/>
                  <a:gd name="T5" fmla="*/ 135 h 840"/>
                  <a:gd name="T6" fmla="*/ 102 w 312"/>
                  <a:gd name="T7" fmla="*/ 198 h 840"/>
                  <a:gd name="T8" fmla="*/ 120 w 312"/>
                  <a:gd name="T9" fmla="*/ 264 h 840"/>
                  <a:gd name="T10" fmla="*/ 135 w 312"/>
                  <a:gd name="T11" fmla="*/ 342 h 840"/>
                  <a:gd name="T12" fmla="*/ 150 w 312"/>
                  <a:gd name="T13" fmla="*/ 435 h 840"/>
                  <a:gd name="T14" fmla="*/ 150 w 312"/>
                  <a:gd name="T15" fmla="*/ 471 h 840"/>
                  <a:gd name="T16" fmla="*/ 150 w 312"/>
                  <a:gd name="T17" fmla="*/ 762 h 840"/>
                  <a:gd name="T18" fmla="*/ 162 w 312"/>
                  <a:gd name="T19" fmla="*/ 792 h 840"/>
                  <a:gd name="T20" fmla="*/ 174 w 312"/>
                  <a:gd name="T21" fmla="*/ 810 h 840"/>
                  <a:gd name="T22" fmla="*/ 201 w 312"/>
                  <a:gd name="T23" fmla="*/ 837 h 840"/>
                  <a:gd name="T24" fmla="*/ 234 w 312"/>
                  <a:gd name="T25" fmla="*/ 840 h 840"/>
                  <a:gd name="T26" fmla="*/ 312 w 312"/>
                  <a:gd name="T27"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840">
                    <a:moveTo>
                      <a:pt x="0" y="0"/>
                    </a:moveTo>
                    <a:lnTo>
                      <a:pt x="39" y="60"/>
                    </a:lnTo>
                    <a:lnTo>
                      <a:pt x="75" y="135"/>
                    </a:lnTo>
                    <a:lnTo>
                      <a:pt x="102" y="198"/>
                    </a:lnTo>
                    <a:lnTo>
                      <a:pt x="120" y="264"/>
                    </a:lnTo>
                    <a:lnTo>
                      <a:pt x="135" y="342"/>
                    </a:lnTo>
                    <a:lnTo>
                      <a:pt x="150" y="435"/>
                    </a:lnTo>
                    <a:lnTo>
                      <a:pt x="150" y="471"/>
                    </a:lnTo>
                    <a:lnTo>
                      <a:pt x="150" y="762"/>
                    </a:lnTo>
                    <a:lnTo>
                      <a:pt x="162" y="792"/>
                    </a:lnTo>
                    <a:lnTo>
                      <a:pt x="174" y="810"/>
                    </a:lnTo>
                    <a:lnTo>
                      <a:pt x="201" y="837"/>
                    </a:lnTo>
                    <a:lnTo>
                      <a:pt x="234" y="840"/>
                    </a:lnTo>
                    <a:lnTo>
                      <a:pt x="312" y="840"/>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7" name="Line 327"/>
              <p:cNvSpPr>
                <a:spLocks noChangeShapeType="1"/>
              </p:cNvSpPr>
              <p:nvPr/>
            </p:nvSpPr>
            <p:spPr bwMode="auto">
              <a:xfrm>
                <a:off x="4031" y="1263"/>
                <a:ext cx="33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8" name="Freeform 328"/>
              <p:cNvSpPr/>
              <p:nvPr/>
            </p:nvSpPr>
            <p:spPr bwMode="auto">
              <a:xfrm>
                <a:off x="5289" y="1257"/>
                <a:ext cx="312" cy="840"/>
              </a:xfrm>
              <a:custGeom>
                <a:avLst/>
                <a:gdLst>
                  <a:gd name="T0" fmla="*/ 0 w 312"/>
                  <a:gd name="T1" fmla="*/ 0 h 840"/>
                  <a:gd name="T2" fmla="*/ 39 w 312"/>
                  <a:gd name="T3" fmla="*/ 60 h 840"/>
                  <a:gd name="T4" fmla="*/ 75 w 312"/>
                  <a:gd name="T5" fmla="*/ 135 h 840"/>
                  <a:gd name="T6" fmla="*/ 102 w 312"/>
                  <a:gd name="T7" fmla="*/ 198 h 840"/>
                  <a:gd name="T8" fmla="*/ 120 w 312"/>
                  <a:gd name="T9" fmla="*/ 264 h 840"/>
                  <a:gd name="T10" fmla="*/ 135 w 312"/>
                  <a:gd name="T11" fmla="*/ 342 h 840"/>
                  <a:gd name="T12" fmla="*/ 150 w 312"/>
                  <a:gd name="T13" fmla="*/ 435 h 840"/>
                  <a:gd name="T14" fmla="*/ 150 w 312"/>
                  <a:gd name="T15" fmla="*/ 471 h 840"/>
                  <a:gd name="T16" fmla="*/ 150 w 312"/>
                  <a:gd name="T17" fmla="*/ 762 h 840"/>
                  <a:gd name="T18" fmla="*/ 162 w 312"/>
                  <a:gd name="T19" fmla="*/ 792 h 840"/>
                  <a:gd name="T20" fmla="*/ 174 w 312"/>
                  <a:gd name="T21" fmla="*/ 810 h 840"/>
                  <a:gd name="T22" fmla="*/ 201 w 312"/>
                  <a:gd name="T23" fmla="*/ 837 h 840"/>
                  <a:gd name="T24" fmla="*/ 234 w 312"/>
                  <a:gd name="T25" fmla="*/ 840 h 840"/>
                  <a:gd name="T26" fmla="*/ 312 w 312"/>
                  <a:gd name="T27"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840">
                    <a:moveTo>
                      <a:pt x="0" y="0"/>
                    </a:moveTo>
                    <a:lnTo>
                      <a:pt x="39" y="60"/>
                    </a:lnTo>
                    <a:lnTo>
                      <a:pt x="75" y="135"/>
                    </a:lnTo>
                    <a:lnTo>
                      <a:pt x="102" y="198"/>
                    </a:lnTo>
                    <a:lnTo>
                      <a:pt x="120" y="264"/>
                    </a:lnTo>
                    <a:lnTo>
                      <a:pt x="135" y="342"/>
                    </a:lnTo>
                    <a:lnTo>
                      <a:pt x="150" y="435"/>
                    </a:lnTo>
                    <a:lnTo>
                      <a:pt x="150" y="471"/>
                    </a:lnTo>
                    <a:lnTo>
                      <a:pt x="150" y="762"/>
                    </a:lnTo>
                    <a:lnTo>
                      <a:pt x="162" y="792"/>
                    </a:lnTo>
                    <a:lnTo>
                      <a:pt x="174" y="810"/>
                    </a:lnTo>
                    <a:lnTo>
                      <a:pt x="201" y="837"/>
                    </a:lnTo>
                    <a:lnTo>
                      <a:pt x="234" y="840"/>
                    </a:lnTo>
                    <a:lnTo>
                      <a:pt x="312" y="840"/>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9" name="Line 329"/>
              <p:cNvSpPr>
                <a:spLocks noChangeShapeType="1"/>
              </p:cNvSpPr>
              <p:nvPr/>
            </p:nvSpPr>
            <p:spPr bwMode="auto">
              <a:xfrm>
                <a:off x="4976" y="1257"/>
                <a:ext cx="33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0" name="Freeform 330"/>
              <p:cNvSpPr/>
              <p:nvPr/>
            </p:nvSpPr>
            <p:spPr bwMode="auto">
              <a:xfrm>
                <a:off x="2952" y="1257"/>
                <a:ext cx="150" cy="1332"/>
              </a:xfrm>
              <a:custGeom>
                <a:avLst/>
                <a:gdLst>
                  <a:gd name="T0" fmla="*/ 150 w 150"/>
                  <a:gd name="T1" fmla="*/ 0 h 1332"/>
                  <a:gd name="T2" fmla="*/ 120 w 150"/>
                  <a:gd name="T3" fmla="*/ 45 h 1332"/>
                  <a:gd name="T4" fmla="*/ 84 w 150"/>
                  <a:gd name="T5" fmla="*/ 111 h 1332"/>
                  <a:gd name="T6" fmla="*/ 45 w 150"/>
                  <a:gd name="T7" fmla="*/ 207 h 1332"/>
                  <a:gd name="T8" fmla="*/ 24 w 150"/>
                  <a:gd name="T9" fmla="*/ 291 h 1332"/>
                  <a:gd name="T10" fmla="*/ 12 w 150"/>
                  <a:gd name="T11" fmla="*/ 372 h 1332"/>
                  <a:gd name="T12" fmla="*/ 3 w 150"/>
                  <a:gd name="T13" fmla="*/ 465 h 1332"/>
                  <a:gd name="T14" fmla="*/ 0 w 150"/>
                  <a:gd name="T15" fmla="*/ 501 h 1332"/>
                  <a:gd name="T16" fmla="*/ 0 w 150"/>
                  <a:gd name="T17" fmla="*/ 133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1332">
                    <a:moveTo>
                      <a:pt x="150" y="0"/>
                    </a:moveTo>
                    <a:lnTo>
                      <a:pt x="120" y="45"/>
                    </a:lnTo>
                    <a:lnTo>
                      <a:pt x="84" y="111"/>
                    </a:lnTo>
                    <a:lnTo>
                      <a:pt x="45" y="207"/>
                    </a:lnTo>
                    <a:lnTo>
                      <a:pt x="24" y="291"/>
                    </a:lnTo>
                    <a:lnTo>
                      <a:pt x="12" y="372"/>
                    </a:lnTo>
                    <a:lnTo>
                      <a:pt x="3" y="465"/>
                    </a:lnTo>
                    <a:lnTo>
                      <a:pt x="0" y="501"/>
                    </a:lnTo>
                    <a:lnTo>
                      <a:pt x="0" y="1332"/>
                    </a:lnTo>
                  </a:path>
                </a:pathLst>
              </a:custGeom>
              <a:noFill/>
              <a:ln w="28575"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1" name="Line 331"/>
              <p:cNvSpPr>
                <a:spLocks noChangeShapeType="1"/>
              </p:cNvSpPr>
              <p:nvPr/>
            </p:nvSpPr>
            <p:spPr bwMode="auto">
              <a:xfrm>
                <a:off x="3894" y="1899"/>
                <a:ext cx="606" cy="0"/>
              </a:xfrm>
              <a:prstGeom prst="line">
                <a:avLst/>
              </a:prstGeom>
              <a:noFill/>
              <a:ln w="28575">
                <a:solidFill>
                  <a:schemeClr val="hlink"/>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2" name="Line 332"/>
              <p:cNvSpPr>
                <a:spLocks noChangeShapeType="1"/>
              </p:cNvSpPr>
              <p:nvPr/>
            </p:nvSpPr>
            <p:spPr bwMode="auto">
              <a:xfrm>
                <a:off x="4830" y="1896"/>
                <a:ext cx="606" cy="0"/>
              </a:xfrm>
              <a:prstGeom prst="line">
                <a:avLst/>
              </a:prstGeom>
              <a:noFill/>
              <a:ln w="28575">
                <a:solidFill>
                  <a:schemeClr val="hlink"/>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93" name="Group 333"/>
            <p:cNvGrpSpPr/>
            <p:nvPr/>
          </p:nvGrpSpPr>
          <p:grpSpPr bwMode="auto">
            <a:xfrm>
              <a:off x="3192" y="1730"/>
              <a:ext cx="1874" cy="540"/>
              <a:chOff x="2944" y="1894"/>
              <a:chExt cx="2700" cy="794"/>
            </a:xfrm>
          </p:grpSpPr>
          <p:grpSp>
            <p:nvGrpSpPr>
              <p:cNvPr id="143694" name="Group 334"/>
              <p:cNvGrpSpPr/>
              <p:nvPr/>
            </p:nvGrpSpPr>
            <p:grpSpPr bwMode="auto">
              <a:xfrm>
                <a:off x="2950" y="1894"/>
                <a:ext cx="1198" cy="727"/>
                <a:chOff x="2950" y="1894"/>
                <a:chExt cx="1198" cy="727"/>
              </a:xfrm>
            </p:grpSpPr>
            <p:sp>
              <p:nvSpPr>
                <p:cNvPr id="143695" name="Line 335"/>
                <p:cNvSpPr>
                  <a:spLocks noChangeShapeType="1"/>
                </p:cNvSpPr>
                <p:nvPr/>
              </p:nvSpPr>
              <p:spPr bwMode="auto">
                <a:xfrm flipV="1">
                  <a:off x="2961" y="1902"/>
                  <a:ext cx="123" cy="13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6" name="Line 336"/>
                <p:cNvSpPr>
                  <a:spLocks noChangeShapeType="1"/>
                </p:cNvSpPr>
                <p:nvPr/>
              </p:nvSpPr>
              <p:spPr bwMode="auto">
                <a:xfrm flipV="1">
                  <a:off x="2962" y="1902"/>
                  <a:ext cx="246" cy="27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7" name="Line 337"/>
                <p:cNvSpPr>
                  <a:spLocks noChangeShapeType="1"/>
                </p:cNvSpPr>
                <p:nvPr/>
              </p:nvSpPr>
              <p:spPr bwMode="auto">
                <a:xfrm flipV="1">
                  <a:off x="2950" y="1904"/>
                  <a:ext cx="394" cy="43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8" name="Line 338"/>
                <p:cNvSpPr>
                  <a:spLocks noChangeShapeType="1"/>
                </p:cNvSpPr>
                <p:nvPr/>
              </p:nvSpPr>
              <p:spPr bwMode="auto">
                <a:xfrm flipV="1">
                  <a:off x="2950" y="1904"/>
                  <a:ext cx="526" cy="58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9" name="Line 339"/>
                <p:cNvSpPr>
                  <a:spLocks noChangeShapeType="1"/>
                </p:cNvSpPr>
                <p:nvPr/>
              </p:nvSpPr>
              <p:spPr bwMode="auto">
                <a:xfrm flipV="1">
                  <a:off x="3014" y="1952"/>
                  <a:ext cx="556" cy="61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0" name="Line 340"/>
                <p:cNvSpPr>
                  <a:spLocks noChangeShapeType="1"/>
                </p:cNvSpPr>
                <p:nvPr/>
              </p:nvSpPr>
              <p:spPr bwMode="auto">
                <a:xfrm flipV="1">
                  <a:off x="3271" y="2102"/>
                  <a:ext cx="427" cy="47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1" name="Line 341"/>
                <p:cNvSpPr>
                  <a:spLocks noChangeShapeType="1"/>
                </p:cNvSpPr>
                <p:nvPr/>
              </p:nvSpPr>
              <p:spPr bwMode="auto">
                <a:xfrm flipV="1">
                  <a:off x="3151" y="2066"/>
                  <a:ext cx="441" cy="488"/>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2" name="Line 342"/>
                <p:cNvSpPr>
                  <a:spLocks noChangeShapeType="1"/>
                </p:cNvSpPr>
                <p:nvPr/>
              </p:nvSpPr>
              <p:spPr bwMode="auto">
                <a:xfrm flipV="1">
                  <a:off x="3383" y="1900"/>
                  <a:ext cx="636" cy="704"/>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3" name="Line 343"/>
                <p:cNvSpPr>
                  <a:spLocks noChangeShapeType="1"/>
                </p:cNvSpPr>
                <p:nvPr/>
              </p:nvSpPr>
              <p:spPr bwMode="auto">
                <a:xfrm flipV="1">
                  <a:off x="3490" y="1894"/>
                  <a:ext cx="658" cy="727"/>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704" name="Freeform 344"/>
              <p:cNvSpPr/>
              <p:nvPr/>
            </p:nvSpPr>
            <p:spPr bwMode="auto">
              <a:xfrm>
                <a:off x="2944" y="2096"/>
                <a:ext cx="2700" cy="592"/>
              </a:xfrm>
              <a:custGeom>
                <a:avLst/>
                <a:gdLst>
                  <a:gd name="T0" fmla="*/ 0 w 2700"/>
                  <a:gd name="T1" fmla="*/ 488 h 592"/>
                  <a:gd name="T2" fmla="*/ 232 w 2700"/>
                  <a:gd name="T3" fmla="*/ 464 h 592"/>
                  <a:gd name="T4" fmla="*/ 536 w 2700"/>
                  <a:gd name="T5" fmla="*/ 528 h 592"/>
                  <a:gd name="T6" fmla="*/ 1024 w 2700"/>
                  <a:gd name="T7" fmla="*/ 472 h 592"/>
                  <a:gd name="T8" fmla="*/ 1560 w 2700"/>
                  <a:gd name="T9" fmla="*/ 520 h 592"/>
                  <a:gd name="T10" fmla="*/ 1856 w 2700"/>
                  <a:gd name="T11" fmla="*/ 464 h 592"/>
                  <a:gd name="T12" fmla="*/ 2160 w 2700"/>
                  <a:gd name="T13" fmla="*/ 528 h 592"/>
                  <a:gd name="T14" fmla="*/ 2592 w 2700"/>
                  <a:gd name="T15" fmla="*/ 576 h 592"/>
                  <a:gd name="T16" fmla="*/ 2680 w 2700"/>
                  <a:gd name="T17" fmla="*/ 432 h 592"/>
                  <a:gd name="T18" fmla="*/ 2632 w 2700"/>
                  <a:gd name="T19" fmla="*/ 352 h 592"/>
                  <a:gd name="T20" fmla="*/ 2696 w 2700"/>
                  <a:gd name="T21" fmla="*/ 120 h 592"/>
                  <a:gd name="T22" fmla="*/ 2656 w 2700"/>
                  <a:gd name="T23"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00" h="592">
                    <a:moveTo>
                      <a:pt x="0" y="488"/>
                    </a:moveTo>
                    <a:cubicBezTo>
                      <a:pt x="71" y="472"/>
                      <a:pt x="143" y="457"/>
                      <a:pt x="232" y="464"/>
                    </a:cubicBezTo>
                    <a:cubicBezTo>
                      <a:pt x="321" y="471"/>
                      <a:pt x="404" y="527"/>
                      <a:pt x="536" y="528"/>
                    </a:cubicBezTo>
                    <a:cubicBezTo>
                      <a:pt x="668" y="529"/>
                      <a:pt x="853" y="473"/>
                      <a:pt x="1024" y="472"/>
                    </a:cubicBezTo>
                    <a:cubicBezTo>
                      <a:pt x="1195" y="471"/>
                      <a:pt x="1421" y="521"/>
                      <a:pt x="1560" y="520"/>
                    </a:cubicBezTo>
                    <a:cubicBezTo>
                      <a:pt x="1699" y="519"/>
                      <a:pt x="1756" y="463"/>
                      <a:pt x="1856" y="464"/>
                    </a:cubicBezTo>
                    <a:cubicBezTo>
                      <a:pt x="1956" y="465"/>
                      <a:pt x="2037" y="509"/>
                      <a:pt x="2160" y="528"/>
                    </a:cubicBezTo>
                    <a:cubicBezTo>
                      <a:pt x="2283" y="547"/>
                      <a:pt x="2505" y="592"/>
                      <a:pt x="2592" y="576"/>
                    </a:cubicBezTo>
                    <a:cubicBezTo>
                      <a:pt x="2679" y="560"/>
                      <a:pt x="2673" y="469"/>
                      <a:pt x="2680" y="432"/>
                    </a:cubicBezTo>
                    <a:cubicBezTo>
                      <a:pt x="2687" y="395"/>
                      <a:pt x="2629" y="404"/>
                      <a:pt x="2632" y="352"/>
                    </a:cubicBezTo>
                    <a:cubicBezTo>
                      <a:pt x="2635" y="300"/>
                      <a:pt x="2692" y="179"/>
                      <a:pt x="2696" y="120"/>
                    </a:cubicBezTo>
                    <a:cubicBezTo>
                      <a:pt x="2700" y="61"/>
                      <a:pt x="2678" y="30"/>
                      <a:pt x="2656" y="0"/>
                    </a:cubicBezTo>
                  </a:path>
                </a:pathLst>
              </a:custGeom>
              <a:noFill/>
              <a:ln w="12700" cap="flat" cmpd="sng">
                <a:solidFill>
                  <a:schemeClr val="hlink"/>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5" name="Line 345"/>
              <p:cNvSpPr>
                <a:spLocks noChangeShapeType="1"/>
              </p:cNvSpPr>
              <p:nvPr/>
            </p:nvSpPr>
            <p:spPr bwMode="auto">
              <a:xfrm flipV="1">
                <a:off x="3645" y="1908"/>
                <a:ext cx="625" cy="69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6" name="Line 346"/>
              <p:cNvSpPr>
                <a:spLocks noChangeShapeType="1"/>
              </p:cNvSpPr>
              <p:nvPr/>
            </p:nvSpPr>
            <p:spPr bwMode="auto">
              <a:xfrm flipV="1">
                <a:off x="3791" y="1909"/>
                <a:ext cx="610" cy="675"/>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7" name="Line 347"/>
              <p:cNvSpPr>
                <a:spLocks noChangeShapeType="1"/>
              </p:cNvSpPr>
              <p:nvPr/>
            </p:nvSpPr>
            <p:spPr bwMode="auto">
              <a:xfrm flipV="1">
                <a:off x="3949" y="1956"/>
                <a:ext cx="547" cy="60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8" name="Line 348"/>
              <p:cNvSpPr>
                <a:spLocks noChangeShapeType="1"/>
              </p:cNvSpPr>
              <p:nvPr/>
            </p:nvSpPr>
            <p:spPr bwMode="auto">
              <a:xfrm flipV="1">
                <a:off x="4197" y="2086"/>
                <a:ext cx="445" cy="49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9" name="Line 349"/>
              <p:cNvSpPr>
                <a:spLocks noChangeShapeType="1"/>
              </p:cNvSpPr>
              <p:nvPr/>
            </p:nvSpPr>
            <p:spPr bwMode="auto">
              <a:xfrm flipV="1">
                <a:off x="4068" y="2077"/>
                <a:ext cx="444" cy="491"/>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0" name="Line 350"/>
              <p:cNvSpPr>
                <a:spLocks noChangeShapeType="1"/>
              </p:cNvSpPr>
              <p:nvPr/>
            </p:nvSpPr>
            <p:spPr bwMode="auto">
              <a:xfrm flipV="1">
                <a:off x="4327" y="1899"/>
                <a:ext cx="622" cy="689"/>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1" name="Line 351"/>
              <p:cNvSpPr>
                <a:spLocks noChangeShapeType="1"/>
              </p:cNvSpPr>
              <p:nvPr/>
            </p:nvSpPr>
            <p:spPr bwMode="auto">
              <a:xfrm flipV="1">
                <a:off x="4434" y="1908"/>
                <a:ext cx="631" cy="697"/>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2" name="Line 352"/>
              <p:cNvSpPr>
                <a:spLocks noChangeShapeType="1"/>
              </p:cNvSpPr>
              <p:nvPr/>
            </p:nvSpPr>
            <p:spPr bwMode="auto">
              <a:xfrm flipV="1">
                <a:off x="4567" y="1896"/>
                <a:ext cx="641" cy="709"/>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3" name="Line 353"/>
              <p:cNvSpPr>
                <a:spLocks noChangeShapeType="1"/>
              </p:cNvSpPr>
              <p:nvPr/>
            </p:nvSpPr>
            <p:spPr bwMode="auto">
              <a:xfrm flipV="1">
                <a:off x="4727" y="1896"/>
                <a:ext cx="613" cy="678"/>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4" name="Line 354"/>
              <p:cNvSpPr>
                <a:spLocks noChangeShapeType="1"/>
              </p:cNvSpPr>
              <p:nvPr/>
            </p:nvSpPr>
            <p:spPr bwMode="auto">
              <a:xfrm flipV="1">
                <a:off x="4878" y="1944"/>
                <a:ext cx="556" cy="61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5" name="Line 355"/>
              <p:cNvSpPr>
                <a:spLocks noChangeShapeType="1"/>
              </p:cNvSpPr>
              <p:nvPr/>
            </p:nvSpPr>
            <p:spPr bwMode="auto">
              <a:xfrm flipV="1">
                <a:off x="5086" y="2094"/>
                <a:ext cx="476" cy="52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6" name="Line 356"/>
              <p:cNvSpPr>
                <a:spLocks noChangeShapeType="1"/>
              </p:cNvSpPr>
              <p:nvPr/>
            </p:nvSpPr>
            <p:spPr bwMode="auto">
              <a:xfrm flipV="1">
                <a:off x="4974" y="2058"/>
                <a:ext cx="482" cy="533"/>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7" name="Line 357"/>
              <p:cNvSpPr>
                <a:spLocks noChangeShapeType="1"/>
              </p:cNvSpPr>
              <p:nvPr/>
            </p:nvSpPr>
            <p:spPr bwMode="auto">
              <a:xfrm flipV="1">
                <a:off x="5206" y="2165"/>
                <a:ext cx="430" cy="476"/>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8" name="Line 358"/>
              <p:cNvSpPr>
                <a:spLocks noChangeShapeType="1"/>
              </p:cNvSpPr>
              <p:nvPr/>
            </p:nvSpPr>
            <p:spPr bwMode="auto">
              <a:xfrm flipV="1">
                <a:off x="5321" y="2348"/>
                <a:ext cx="273" cy="301"/>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9" name="Line 359"/>
              <p:cNvSpPr>
                <a:spLocks noChangeShapeType="1"/>
              </p:cNvSpPr>
              <p:nvPr/>
            </p:nvSpPr>
            <p:spPr bwMode="auto">
              <a:xfrm flipV="1">
                <a:off x="5438" y="2483"/>
                <a:ext cx="165" cy="182"/>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720" name="Group 360"/>
            <p:cNvGrpSpPr/>
            <p:nvPr/>
          </p:nvGrpSpPr>
          <p:grpSpPr bwMode="auto">
            <a:xfrm>
              <a:off x="3186" y="621"/>
              <a:ext cx="1738" cy="990"/>
              <a:chOff x="3186" y="621"/>
              <a:chExt cx="1738" cy="990"/>
            </a:xfrm>
          </p:grpSpPr>
          <p:sp>
            <p:nvSpPr>
              <p:cNvPr id="143721" name="Line 361"/>
              <p:cNvSpPr>
                <a:spLocks noChangeShapeType="1"/>
              </p:cNvSpPr>
              <p:nvPr/>
            </p:nvSpPr>
            <p:spPr bwMode="auto">
              <a:xfrm flipV="1">
                <a:off x="3192" y="621"/>
                <a:ext cx="0" cy="990"/>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2" name="Line 362"/>
              <p:cNvSpPr>
                <a:spLocks noChangeShapeType="1"/>
              </p:cNvSpPr>
              <p:nvPr/>
            </p:nvSpPr>
            <p:spPr bwMode="auto">
              <a:xfrm flipV="1">
                <a:off x="3619" y="1089"/>
                <a:ext cx="0" cy="490"/>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3" name="Line 363"/>
              <p:cNvSpPr>
                <a:spLocks noChangeShapeType="1"/>
              </p:cNvSpPr>
              <p:nvPr/>
            </p:nvSpPr>
            <p:spPr bwMode="auto">
              <a:xfrm flipV="1">
                <a:off x="4275" y="888"/>
                <a:ext cx="0" cy="680"/>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4" name="Line 364"/>
              <p:cNvSpPr>
                <a:spLocks noChangeShapeType="1"/>
              </p:cNvSpPr>
              <p:nvPr/>
            </p:nvSpPr>
            <p:spPr bwMode="auto">
              <a:xfrm flipV="1">
                <a:off x="4924" y="643"/>
                <a:ext cx="0" cy="925"/>
              </a:xfrm>
              <a:prstGeom prst="line">
                <a:avLst/>
              </a:prstGeom>
              <a:noFill/>
              <a:ln w="12700">
                <a:solidFill>
                  <a:schemeClr val="hlink"/>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5" name="Line 365"/>
              <p:cNvSpPr>
                <a:spLocks noChangeShapeType="1"/>
              </p:cNvSpPr>
              <p:nvPr/>
            </p:nvSpPr>
            <p:spPr bwMode="auto">
              <a:xfrm>
                <a:off x="3186" y="759"/>
                <a:ext cx="1738" cy="0"/>
              </a:xfrm>
              <a:prstGeom prst="line">
                <a:avLst/>
              </a:prstGeom>
              <a:noFill/>
              <a:ln w="12700">
                <a:solidFill>
                  <a:schemeClr val="hlink"/>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6" name="Line 366"/>
              <p:cNvSpPr>
                <a:spLocks noChangeShapeType="1"/>
              </p:cNvSpPr>
              <p:nvPr/>
            </p:nvSpPr>
            <p:spPr bwMode="auto">
              <a:xfrm>
                <a:off x="3192" y="1182"/>
                <a:ext cx="427" cy="0"/>
              </a:xfrm>
              <a:prstGeom prst="line">
                <a:avLst/>
              </a:prstGeom>
              <a:noFill/>
              <a:ln w="12700">
                <a:solidFill>
                  <a:schemeClr val="hlink"/>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7" name="Line 367"/>
              <p:cNvSpPr>
                <a:spLocks noChangeShapeType="1"/>
              </p:cNvSpPr>
              <p:nvPr/>
            </p:nvSpPr>
            <p:spPr bwMode="auto">
              <a:xfrm flipH="1">
                <a:off x="3192" y="979"/>
                <a:ext cx="1083" cy="0"/>
              </a:xfrm>
              <a:prstGeom prst="line">
                <a:avLst/>
              </a:prstGeom>
              <a:noFill/>
              <a:ln w="12700">
                <a:solidFill>
                  <a:schemeClr val="hlink"/>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728" name="Group 368"/>
            <p:cNvGrpSpPr/>
            <p:nvPr/>
          </p:nvGrpSpPr>
          <p:grpSpPr bwMode="auto">
            <a:xfrm>
              <a:off x="3414" y="1225"/>
              <a:ext cx="1305" cy="1286"/>
              <a:chOff x="3264" y="1152"/>
              <a:chExt cx="1880" cy="1608"/>
            </a:xfrm>
          </p:grpSpPr>
          <p:sp>
            <p:nvSpPr>
              <p:cNvPr id="143729" name="Line 369"/>
              <p:cNvSpPr>
                <a:spLocks noChangeShapeType="1"/>
              </p:cNvSpPr>
              <p:nvPr/>
            </p:nvSpPr>
            <p:spPr bwMode="auto">
              <a:xfrm>
                <a:off x="3264" y="1152"/>
                <a:ext cx="0" cy="1584"/>
              </a:xfrm>
              <a:prstGeom prst="line">
                <a:avLst/>
              </a:prstGeom>
              <a:noFill/>
              <a:ln w="12700">
                <a:solidFill>
                  <a:schemeClr val="hlink"/>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0" name="Line 370"/>
              <p:cNvSpPr>
                <a:spLocks noChangeShapeType="1"/>
              </p:cNvSpPr>
              <p:nvPr/>
            </p:nvSpPr>
            <p:spPr bwMode="auto">
              <a:xfrm>
                <a:off x="4200" y="1152"/>
                <a:ext cx="0" cy="1584"/>
              </a:xfrm>
              <a:prstGeom prst="line">
                <a:avLst/>
              </a:prstGeom>
              <a:noFill/>
              <a:ln w="12700">
                <a:solidFill>
                  <a:schemeClr val="hlink"/>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1" name="Line 371"/>
              <p:cNvSpPr>
                <a:spLocks noChangeShapeType="1"/>
              </p:cNvSpPr>
              <p:nvPr/>
            </p:nvSpPr>
            <p:spPr bwMode="auto">
              <a:xfrm>
                <a:off x="5136" y="1176"/>
                <a:ext cx="0" cy="1584"/>
              </a:xfrm>
              <a:prstGeom prst="line">
                <a:avLst/>
              </a:prstGeom>
              <a:noFill/>
              <a:ln w="12700">
                <a:solidFill>
                  <a:schemeClr val="hlink"/>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2" name="Line 372"/>
              <p:cNvSpPr>
                <a:spLocks noChangeShapeType="1"/>
              </p:cNvSpPr>
              <p:nvPr/>
            </p:nvSpPr>
            <p:spPr bwMode="auto">
              <a:xfrm>
                <a:off x="3264" y="2696"/>
                <a:ext cx="936" cy="0"/>
              </a:xfrm>
              <a:prstGeom prst="line">
                <a:avLst/>
              </a:prstGeom>
              <a:noFill/>
              <a:ln w="12700">
                <a:solidFill>
                  <a:schemeClr val="hlink"/>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3" name="Line 373"/>
              <p:cNvSpPr>
                <a:spLocks noChangeShapeType="1"/>
              </p:cNvSpPr>
              <p:nvPr/>
            </p:nvSpPr>
            <p:spPr bwMode="auto">
              <a:xfrm>
                <a:off x="4208" y="2696"/>
                <a:ext cx="936" cy="0"/>
              </a:xfrm>
              <a:prstGeom prst="line">
                <a:avLst/>
              </a:prstGeom>
              <a:noFill/>
              <a:ln w="12700">
                <a:solidFill>
                  <a:schemeClr val="hlink"/>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734" name="Text Box 374"/>
            <p:cNvSpPr txBox="1">
              <a:spLocks noChangeArrowheads="1"/>
            </p:cNvSpPr>
            <p:nvPr/>
          </p:nvSpPr>
          <p:spPr bwMode="auto">
            <a:xfrm>
              <a:off x="3384" y="965"/>
              <a:ext cx="107"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rgbClr val="0000FF"/>
                  </a:solidFill>
                  <a:latin typeface="Times New Roman" panose="02020603050405020304" pitchFamily="18" charset="0"/>
                  <a:ea typeface="华文中宋" panose="02010600040101010101" pitchFamily="2" charset="-122"/>
                </a:rPr>
                <a:t>b</a:t>
              </a:r>
              <a:endParaRPr kumimoji="1" lang="en-US" altLang="zh-CN" sz="2400" b="1">
                <a:solidFill>
                  <a:srgbClr val="0000FF"/>
                </a:solidFill>
                <a:latin typeface="Times New Roman" panose="02020603050405020304" pitchFamily="18" charset="0"/>
                <a:ea typeface="华文中宋" panose="02010600040101010101" pitchFamily="2" charset="-122"/>
              </a:endParaRPr>
            </a:p>
          </p:txBody>
        </p:sp>
        <p:sp>
          <p:nvSpPr>
            <p:cNvPr id="143735" name="Text Box 375"/>
            <p:cNvSpPr txBox="1">
              <a:spLocks noChangeArrowheads="1"/>
            </p:cNvSpPr>
            <p:nvPr/>
          </p:nvSpPr>
          <p:spPr bwMode="auto">
            <a:xfrm>
              <a:off x="3734" y="739"/>
              <a:ext cx="192"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rgbClr val="0000FF"/>
                  </a:solidFill>
                  <a:latin typeface="Times New Roman" panose="02020603050405020304" pitchFamily="18" charset="0"/>
                  <a:ea typeface="华文中宋" panose="02010600040101010101" pitchFamily="2" charset="-122"/>
                </a:rPr>
                <a:t>B</a:t>
              </a:r>
              <a:r>
                <a:rPr kumimoji="1" lang="en-US" altLang="zh-CN" sz="2400" b="1" baseline="-25000">
                  <a:solidFill>
                    <a:srgbClr val="0000FF"/>
                  </a:solidFill>
                  <a:latin typeface="Times New Roman" panose="02020603050405020304" pitchFamily="18" charset="0"/>
                  <a:ea typeface="华文中宋" panose="02010600040101010101" pitchFamily="2" charset="-122"/>
                </a:rPr>
                <a:t>2</a:t>
              </a:r>
              <a:endParaRPr kumimoji="1" lang="en-US" altLang="zh-CN" sz="2400" b="1" baseline="-25000">
                <a:solidFill>
                  <a:srgbClr val="0000FF"/>
                </a:solidFill>
                <a:latin typeface="Times New Roman" panose="02020603050405020304" pitchFamily="18" charset="0"/>
                <a:ea typeface="华文中宋" panose="02010600040101010101" pitchFamily="2" charset="-122"/>
              </a:endParaRPr>
            </a:p>
          </p:txBody>
        </p:sp>
        <p:sp>
          <p:nvSpPr>
            <p:cNvPr id="143736" name="Text Box 376"/>
            <p:cNvSpPr txBox="1">
              <a:spLocks noChangeArrowheads="1"/>
            </p:cNvSpPr>
            <p:nvPr/>
          </p:nvSpPr>
          <p:spPr bwMode="auto">
            <a:xfrm>
              <a:off x="4056" y="514"/>
              <a:ext cx="192"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rgbClr val="0000FF"/>
                  </a:solidFill>
                  <a:latin typeface="Times New Roman" panose="02020603050405020304" pitchFamily="18" charset="0"/>
                  <a:ea typeface="华文中宋" panose="02010600040101010101" pitchFamily="2" charset="-122"/>
                </a:rPr>
                <a:t>B</a:t>
              </a:r>
              <a:r>
                <a:rPr kumimoji="1" lang="en-US" altLang="zh-CN" sz="2400" b="1" baseline="-25000">
                  <a:solidFill>
                    <a:srgbClr val="0000FF"/>
                  </a:solidFill>
                  <a:latin typeface="Times New Roman" panose="02020603050405020304" pitchFamily="18" charset="0"/>
                  <a:ea typeface="华文中宋" panose="02010600040101010101" pitchFamily="2" charset="-122"/>
                </a:rPr>
                <a:t>3</a:t>
              </a:r>
              <a:endParaRPr kumimoji="1" lang="en-US" altLang="zh-CN" sz="2400" b="1" baseline="-25000">
                <a:solidFill>
                  <a:srgbClr val="0000FF"/>
                </a:solidFill>
                <a:latin typeface="Times New Roman" panose="02020603050405020304" pitchFamily="18" charset="0"/>
                <a:ea typeface="华文中宋" panose="02010600040101010101" pitchFamily="2" charset="-122"/>
              </a:endParaRPr>
            </a:p>
          </p:txBody>
        </p:sp>
        <p:sp>
          <p:nvSpPr>
            <p:cNvPr id="143737" name="Text Box 377"/>
            <p:cNvSpPr txBox="1">
              <a:spLocks noChangeArrowheads="1"/>
            </p:cNvSpPr>
            <p:nvPr/>
          </p:nvSpPr>
          <p:spPr bwMode="auto">
            <a:xfrm>
              <a:off x="3689" y="2211"/>
              <a:ext cx="132"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rgbClr val="0000FF"/>
                  </a:solidFill>
                  <a:latin typeface="Times New Roman" panose="02020603050405020304" pitchFamily="18" charset="0"/>
                  <a:ea typeface="华文中宋" panose="02010600040101010101" pitchFamily="2" charset="-122"/>
                </a:rPr>
                <a:t>p</a:t>
              </a:r>
              <a:r>
                <a:rPr kumimoji="1" lang="en-US" altLang="zh-CN" sz="2400" b="1" i="1" baseline="-25000">
                  <a:solidFill>
                    <a:srgbClr val="0000FF"/>
                  </a:solidFill>
                  <a:latin typeface="Times New Roman" panose="02020603050405020304" pitchFamily="18" charset="0"/>
                  <a:ea typeface="华文中宋" panose="02010600040101010101" pitchFamily="2" charset="-122"/>
                </a:rPr>
                <a:t>t</a:t>
              </a:r>
              <a:endParaRPr kumimoji="1" lang="en-US" altLang="zh-CN" sz="2400" b="1" i="1" baseline="-25000">
                <a:solidFill>
                  <a:srgbClr val="0000FF"/>
                </a:solidFill>
                <a:latin typeface="Times New Roman" panose="02020603050405020304" pitchFamily="18" charset="0"/>
                <a:ea typeface="华文中宋" panose="02010600040101010101" pitchFamily="2" charset="-122"/>
              </a:endParaRPr>
            </a:p>
          </p:txBody>
        </p:sp>
        <p:sp>
          <p:nvSpPr>
            <p:cNvPr id="143738" name="Text Box 378"/>
            <p:cNvSpPr txBox="1">
              <a:spLocks noChangeArrowheads="1"/>
            </p:cNvSpPr>
            <p:nvPr/>
          </p:nvSpPr>
          <p:spPr bwMode="auto">
            <a:xfrm>
              <a:off x="4378" y="2210"/>
              <a:ext cx="132"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i="1">
                  <a:solidFill>
                    <a:srgbClr val="0000FF"/>
                  </a:solidFill>
                  <a:latin typeface="Times New Roman" panose="02020603050405020304" pitchFamily="18" charset="0"/>
                  <a:ea typeface="华文中宋" panose="02010600040101010101" pitchFamily="2" charset="-122"/>
                </a:rPr>
                <a:t>p</a:t>
              </a:r>
              <a:r>
                <a:rPr kumimoji="1" lang="en-US" altLang="zh-CN" sz="2400" b="1" i="1" baseline="-25000">
                  <a:solidFill>
                    <a:srgbClr val="0000FF"/>
                  </a:solidFill>
                  <a:latin typeface="Times New Roman" panose="02020603050405020304" pitchFamily="18" charset="0"/>
                  <a:ea typeface="华文中宋" panose="02010600040101010101" pitchFamily="2" charset="-122"/>
                </a:rPr>
                <a:t>t</a:t>
              </a:r>
              <a:endParaRPr kumimoji="1" lang="en-US" altLang="zh-CN" sz="2400" b="1" i="1" baseline="-25000">
                <a:solidFill>
                  <a:srgbClr val="0000FF"/>
                </a:solidFill>
                <a:latin typeface="Times New Roman" panose="02020603050405020304" pitchFamily="18" charset="0"/>
                <a:ea typeface="华文中宋" panose="02010600040101010101" pitchFamily="2" charset="-122"/>
              </a:endParaRPr>
            </a:p>
          </p:txBody>
        </p:sp>
        <p:sp>
          <p:nvSpPr>
            <p:cNvPr id="143739" name="Line 379"/>
            <p:cNvSpPr>
              <a:spLocks noChangeShapeType="1"/>
            </p:cNvSpPr>
            <p:nvPr/>
          </p:nvSpPr>
          <p:spPr bwMode="auto">
            <a:xfrm flipH="1">
              <a:off x="3636" y="1693"/>
              <a:ext cx="150" cy="136"/>
            </a:xfrm>
            <a:prstGeom prst="line">
              <a:avLst/>
            </a:prstGeom>
            <a:noFill/>
            <a:ln w="12700">
              <a:solidFill>
                <a:schemeClr val="hlink"/>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40" name="Rectangle 380"/>
            <p:cNvSpPr>
              <a:spLocks noChangeArrowheads="1"/>
            </p:cNvSpPr>
            <p:nvPr/>
          </p:nvSpPr>
          <p:spPr bwMode="auto">
            <a:xfrm>
              <a:off x="3602" y="1412"/>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a:solidFill>
                    <a:srgbClr val="0000FF"/>
                  </a:solidFill>
                  <a:latin typeface="Times New Roman" panose="02020603050405020304" pitchFamily="18" charset="0"/>
                  <a:ea typeface="华文中宋" panose="02010600040101010101" pitchFamily="2" charset="-122"/>
                </a:rPr>
                <a:t>r</a:t>
              </a:r>
              <a:r>
                <a:rPr kumimoji="1" lang="en-US" altLang="zh-CN" sz="2400" b="1" baseline="-25000">
                  <a:solidFill>
                    <a:srgbClr val="0000FF"/>
                  </a:solidFill>
                  <a:latin typeface="Times New Roman" panose="02020603050405020304" pitchFamily="18" charset="0"/>
                  <a:ea typeface="华文中宋" panose="02010600040101010101" pitchFamily="2" charset="-122"/>
                </a:rPr>
                <a:t>5</a:t>
              </a:r>
              <a:endParaRPr kumimoji="1" lang="en-US" altLang="zh-CN" sz="2400" b="1" baseline="-25000">
                <a:solidFill>
                  <a:srgbClr val="0000FF"/>
                </a:solidFill>
                <a:latin typeface="Times New Roman" panose="02020603050405020304" pitchFamily="18" charset="0"/>
                <a:ea typeface="华文中宋" panose="02010600040101010101" pitchFamily="2" charset="-122"/>
              </a:endParaRPr>
            </a:p>
          </p:txBody>
        </p:sp>
      </p:grpSp>
      <p:sp>
        <p:nvSpPr>
          <p:cNvPr id="143741" name="Text Box 381"/>
          <p:cNvSpPr txBox="1">
            <a:spLocks noChangeArrowheads="1"/>
          </p:cNvSpPr>
          <p:nvPr/>
        </p:nvSpPr>
        <p:spPr bwMode="auto">
          <a:xfrm>
            <a:off x="292100" y="88900"/>
            <a:ext cx="6739890" cy="4305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sz="2800" b="1">
                <a:solidFill>
                  <a:srgbClr val="0000FF"/>
                </a:solidFill>
                <a:latin typeface="宋体" panose="02010600030101010101" pitchFamily="2" charset="-122"/>
              </a:rPr>
              <a:t>轴面齿形 ：</a:t>
            </a:r>
            <a:r>
              <a:rPr kumimoji="1" lang="zh-CN" altLang="en-US" sz="2800" b="1">
                <a:solidFill>
                  <a:schemeClr val="accent4">
                    <a:lumMod val="50000"/>
                  </a:schemeClr>
                </a:solidFill>
                <a:latin typeface="宋体" panose="02010600030101010101" pitchFamily="2" charset="-122"/>
              </a:rPr>
              <a:t>圆弧</a:t>
            </a:r>
            <a:r>
              <a:rPr kumimoji="1" lang="en-US" altLang="zh-CN" sz="2800" b="1">
                <a:solidFill>
                  <a:schemeClr val="accent4">
                    <a:lumMod val="50000"/>
                  </a:schemeClr>
                </a:solidFill>
                <a:latin typeface="宋体" panose="02010600030101010101" pitchFamily="2" charset="-122"/>
              </a:rPr>
              <a:t>+</a:t>
            </a:r>
            <a:r>
              <a:rPr kumimoji="1" lang="zh-CN" altLang="en-US" sz="2800" b="1">
                <a:solidFill>
                  <a:schemeClr val="accent4">
                    <a:lumMod val="50000"/>
                  </a:schemeClr>
                </a:solidFill>
                <a:latin typeface="宋体" panose="02010600030101010101" pitchFamily="2" charset="-122"/>
              </a:rPr>
              <a:t>直线  </a:t>
            </a:r>
            <a:r>
              <a:rPr kumimoji="1" lang="zh-CN" altLang="en-US" sz="2000">
                <a:solidFill>
                  <a:srgbClr val="0000FF"/>
                </a:solidFill>
                <a:latin typeface="宋体" panose="02010600030101010101" pitchFamily="2" charset="-122"/>
              </a:rPr>
              <a:t>便于进入或退出啮合</a:t>
            </a:r>
            <a:endParaRPr kumimoji="1" lang="zh-CN" altLang="en-US" sz="2000">
              <a:solidFill>
                <a:srgbClr val="0000FF"/>
              </a:solidFill>
              <a:latin typeface="宋体" panose="02010600030101010101" pitchFamily="2" charset="-122"/>
            </a:endParaRPr>
          </a:p>
        </p:txBody>
      </p:sp>
      <p:sp>
        <p:nvSpPr>
          <p:cNvPr id="143742" name="Rectangle 382"/>
          <p:cNvSpPr>
            <a:spLocks noChangeArrowheads="1"/>
          </p:cNvSpPr>
          <p:nvPr/>
        </p:nvSpPr>
        <p:spPr bwMode="auto">
          <a:xfrm>
            <a:off x="1647825" y="4187825"/>
            <a:ext cx="1409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66FF33"/>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chemeClr val="folHlink"/>
                </a:solidFill>
                <a:latin typeface="宋体" panose="02010600030101010101" pitchFamily="2" charset="-122"/>
              </a:rPr>
              <a:t>单排链轮</a:t>
            </a:r>
            <a:endParaRPr kumimoji="1" lang="zh-CN" altLang="en-US" sz="2400" b="1">
              <a:solidFill>
                <a:schemeClr val="folHlink"/>
              </a:solidFill>
              <a:latin typeface="宋体" panose="02010600030101010101" pitchFamily="2" charset="-122"/>
            </a:endParaRPr>
          </a:p>
          <a:p>
            <a:pPr algn="ctr"/>
            <a:r>
              <a:rPr kumimoji="1" lang="zh-CN" altLang="en-US" sz="2400" b="1">
                <a:solidFill>
                  <a:schemeClr val="folHlink"/>
                </a:solidFill>
                <a:latin typeface="宋体" panose="02010600030101010101" pitchFamily="2" charset="-122"/>
              </a:rPr>
              <a:t>轴面齿形</a:t>
            </a:r>
            <a:endParaRPr kumimoji="1" lang="zh-CN" altLang="en-US" sz="2400" b="1">
              <a:solidFill>
                <a:schemeClr val="folHlink"/>
              </a:solidFill>
              <a:latin typeface="宋体" panose="02010600030101010101" pitchFamily="2" charset="-122"/>
            </a:endParaRPr>
          </a:p>
        </p:txBody>
      </p:sp>
      <p:sp>
        <p:nvSpPr>
          <p:cNvPr id="143743" name="Rectangle 383"/>
          <p:cNvSpPr>
            <a:spLocks noChangeArrowheads="1"/>
          </p:cNvSpPr>
          <p:nvPr/>
        </p:nvSpPr>
        <p:spPr bwMode="auto">
          <a:xfrm>
            <a:off x="5630863" y="4208463"/>
            <a:ext cx="1409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66FF33"/>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chemeClr val="folHlink"/>
                </a:solidFill>
                <a:latin typeface="宋体" panose="02010600030101010101" pitchFamily="2" charset="-122"/>
              </a:rPr>
              <a:t>多排链轮</a:t>
            </a:r>
            <a:endParaRPr kumimoji="1" lang="zh-CN" altLang="en-US" sz="2400" b="1">
              <a:solidFill>
                <a:schemeClr val="folHlink"/>
              </a:solidFill>
              <a:latin typeface="宋体" panose="02010600030101010101" pitchFamily="2" charset="-122"/>
            </a:endParaRPr>
          </a:p>
          <a:p>
            <a:pPr algn="ctr"/>
            <a:r>
              <a:rPr kumimoji="1" lang="zh-CN" altLang="en-US" sz="2400" b="1">
                <a:solidFill>
                  <a:schemeClr val="folHlink"/>
                </a:solidFill>
                <a:latin typeface="宋体" panose="02010600030101010101" pitchFamily="2" charset="-122"/>
              </a:rPr>
              <a:t>轴面齿形</a:t>
            </a:r>
            <a:endParaRPr kumimoji="1" lang="zh-CN" altLang="en-US" sz="2400" b="1">
              <a:solidFill>
                <a:schemeClr val="folHlink"/>
              </a:solidFill>
              <a:latin typeface="宋体" panose="02010600030101010101" pitchFamily="2" charset="-122"/>
            </a:endParaRPr>
          </a:p>
        </p:txBody>
      </p:sp>
      <p:sp>
        <p:nvSpPr>
          <p:cNvPr id="143744" name="Text Box 384"/>
          <p:cNvSpPr txBox="1">
            <a:spLocks noChangeArrowheads="1"/>
          </p:cNvSpPr>
          <p:nvPr/>
        </p:nvSpPr>
        <p:spPr bwMode="auto">
          <a:xfrm>
            <a:off x="315913" y="5132388"/>
            <a:ext cx="8482012"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sz="2400" b="1">
                <a:solidFill>
                  <a:srgbClr val="0000FF"/>
                </a:solidFill>
                <a:latin typeface="宋体" panose="02010600030101010101" pitchFamily="2" charset="-122"/>
              </a:rPr>
              <a:t>零件工作图：</a:t>
            </a:r>
            <a:r>
              <a:rPr kumimoji="1" lang="zh-CN" altLang="en-US" sz="2400" b="1">
                <a:solidFill>
                  <a:schemeClr val="accent4">
                    <a:lumMod val="50000"/>
                  </a:schemeClr>
                </a:solidFill>
                <a:latin typeface="宋体" panose="02010600030101010101" pitchFamily="2" charset="-122"/>
              </a:rPr>
              <a:t>只绘制轴面齿形，不用绘制端面齿形。</a:t>
            </a:r>
            <a:endParaRPr kumimoji="1" lang="zh-CN" altLang="en-US" sz="2400" b="1">
              <a:solidFill>
                <a:schemeClr val="accent4">
                  <a:lumMod val="50000"/>
                </a:schemeClr>
              </a:solidFill>
              <a:latin typeface="宋体" panose="02010600030101010101" pitchFamily="2" charset="-122"/>
            </a:endParaRPr>
          </a:p>
        </p:txBody>
      </p:sp>
      <p:sp>
        <p:nvSpPr>
          <p:cNvPr id="143745" name="Text Box 385"/>
          <p:cNvSpPr txBox="1">
            <a:spLocks noChangeArrowheads="1"/>
          </p:cNvSpPr>
          <p:nvPr/>
        </p:nvSpPr>
        <p:spPr bwMode="auto">
          <a:xfrm>
            <a:off x="314325" y="5654675"/>
            <a:ext cx="8829675" cy="730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sz="2400" b="1">
                <a:solidFill>
                  <a:srgbClr val="0000FF"/>
                </a:solidFill>
                <a:latin typeface="宋体" panose="02010600030101010101" pitchFamily="2" charset="-122"/>
              </a:rPr>
              <a:t>材料与热处理：</a:t>
            </a:r>
            <a:r>
              <a:rPr kumimoji="1" lang="zh-CN" altLang="en-US" sz="2400" b="1">
                <a:solidFill>
                  <a:schemeClr val="accent4">
                    <a:lumMod val="50000"/>
                  </a:schemeClr>
                </a:solidFill>
                <a:latin typeface="宋体" panose="02010600030101010101" pitchFamily="2" charset="-122"/>
              </a:rPr>
              <a:t>碳素钢、铸钢、重要链轮可用合金钢。        		齿面需经热处理以提高接触强度和耐磨性。</a:t>
            </a:r>
            <a:endParaRPr kumimoji="1" lang="zh-CN" altLang="en-US" sz="2400" b="1">
              <a:solidFill>
                <a:schemeClr val="accent4">
                  <a:lumMod val="50000"/>
                </a:schemeClr>
              </a:solidFill>
              <a:latin typeface="宋体" panose="02010600030101010101" pitchFamily="2" charset="-122"/>
            </a:endParaRPr>
          </a:p>
        </p:txBody>
      </p:sp>
      <p:grpSp>
        <p:nvGrpSpPr>
          <p:cNvPr id="143746" name="Group 386"/>
          <p:cNvGrpSpPr/>
          <p:nvPr/>
        </p:nvGrpSpPr>
        <p:grpSpPr bwMode="auto">
          <a:xfrm>
            <a:off x="493713" y="2705100"/>
            <a:ext cx="1328737" cy="974725"/>
            <a:chOff x="317" y="1700"/>
            <a:chExt cx="837" cy="614"/>
          </a:xfrm>
        </p:grpSpPr>
        <p:sp>
          <p:nvSpPr>
            <p:cNvPr id="143747" name="Line 387"/>
            <p:cNvSpPr>
              <a:spLocks noChangeShapeType="1"/>
            </p:cNvSpPr>
            <p:nvPr/>
          </p:nvSpPr>
          <p:spPr bwMode="auto">
            <a:xfrm>
              <a:off x="1154" y="1700"/>
              <a:ext cx="0" cy="158"/>
            </a:xfrm>
            <a:prstGeom prst="line">
              <a:avLst/>
            </a:prstGeom>
            <a:noFill/>
            <a:ln w="571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48" name="AutoShape 388"/>
            <p:cNvSpPr>
              <a:spLocks noChangeArrowheads="1"/>
            </p:cNvSpPr>
            <p:nvPr/>
          </p:nvSpPr>
          <p:spPr bwMode="auto">
            <a:xfrm>
              <a:off x="317" y="2016"/>
              <a:ext cx="557" cy="298"/>
            </a:xfrm>
            <a:prstGeom prst="wedgeRoundRectCallout">
              <a:avLst>
                <a:gd name="adj1" fmla="val 95958"/>
                <a:gd name="adj2" fmla="val -126176"/>
                <a:gd name="adj3" fmla="val 16667"/>
              </a:avLst>
            </a:prstGeom>
            <a:noFill/>
            <a:ln w="12700">
              <a:solidFill>
                <a:srgbClr val="0000FF"/>
              </a:solidFill>
              <a:miter lim="800000"/>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50000"/>
                </a:spcBef>
              </a:pPr>
              <a:r>
                <a:rPr kumimoji="1" lang="zh-CN" altLang="en-US" sz="2400">
                  <a:solidFill>
                    <a:schemeClr val="hlink"/>
                  </a:solidFill>
                  <a:latin typeface="Times New Roman" panose="02020603050405020304" pitchFamily="18" charset="0"/>
                  <a:ea typeface="华文中宋" panose="02010600040101010101" pitchFamily="2" charset="-122"/>
                </a:rPr>
                <a:t>直线</a:t>
              </a:r>
              <a:endParaRPr kumimoji="1" lang="zh-CN" altLang="en-US" sz="2400">
                <a:solidFill>
                  <a:schemeClr val="hlink"/>
                </a:solidFill>
                <a:latin typeface="Times New Roman" panose="02020603050405020304" pitchFamily="18" charset="0"/>
                <a:ea typeface="华文中宋" panose="02010600040101010101" pitchFamily="2" charset="-122"/>
              </a:endParaRPr>
            </a:p>
          </p:txBody>
        </p:sp>
      </p:grpSp>
      <p:sp>
        <p:nvSpPr>
          <p:cNvPr id="143749" name="Rectangle 389"/>
          <p:cNvSpPr>
            <a:spLocks noChangeArrowheads="1"/>
          </p:cNvSpPr>
          <p:nvPr/>
        </p:nvSpPr>
        <p:spPr bwMode="auto">
          <a:xfrm>
            <a:off x="7307263" y="4889500"/>
            <a:ext cx="1555750" cy="27463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31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a:solidFill>
                  <a:schemeClr val="accent2"/>
                </a:solidFill>
                <a:latin typeface="宋体" panose="02010600030101010101" pitchFamily="2" charset="-122"/>
              </a:rPr>
              <a:t>指采用标准刀具加工</a:t>
            </a:r>
            <a:endParaRPr kumimoji="1" lang="zh-CN" altLang="en-US" sz="1200">
              <a:solidFill>
                <a:schemeClr val="accent2"/>
              </a:solidFill>
              <a:latin typeface="宋体" panose="02010600030101010101" pitchFamily="2" charset="-122"/>
            </a:endParaRPr>
          </a:p>
        </p:txBody>
      </p:sp>
      <p:grpSp>
        <p:nvGrpSpPr>
          <p:cNvPr id="143750" name="Group 390"/>
          <p:cNvGrpSpPr/>
          <p:nvPr/>
        </p:nvGrpSpPr>
        <p:grpSpPr bwMode="auto">
          <a:xfrm>
            <a:off x="1825625" y="1247775"/>
            <a:ext cx="2941638" cy="2951163"/>
            <a:chOff x="1152" y="786"/>
            <a:chExt cx="1853" cy="1859"/>
          </a:xfrm>
        </p:grpSpPr>
        <p:sp>
          <p:nvSpPr>
            <p:cNvPr id="143751" name="Oval 391"/>
            <p:cNvSpPr>
              <a:spLocks noChangeArrowheads="1"/>
            </p:cNvSpPr>
            <p:nvPr/>
          </p:nvSpPr>
          <p:spPr bwMode="auto">
            <a:xfrm>
              <a:off x="1152" y="786"/>
              <a:ext cx="1853" cy="1859"/>
            </a:xfrm>
            <a:prstGeom prst="ellipse">
              <a:avLst/>
            </a:prstGeom>
            <a:noFill/>
            <a:ln w="12700">
              <a:solidFill>
                <a:srgbClr val="FF0000"/>
              </a:solidFill>
              <a:prstDash val="lg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752" name="Group 392"/>
            <p:cNvGrpSpPr/>
            <p:nvPr/>
          </p:nvGrpSpPr>
          <p:grpSpPr bwMode="auto">
            <a:xfrm>
              <a:off x="1236" y="1314"/>
              <a:ext cx="928" cy="455"/>
              <a:chOff x="1236" y="1314"/>
              <a:chExt cx="928" cy="455"/>
            </a:xfrm>
          </p:grpSpPr>
          <p:sp>
            <p:nvSpPr>
              <p:cNvPr id="143753" name="Line 393"/>
              <p:cNvSpPr>
                <a:spLocks noChangeShapeType="1"/>
              </p:cNvSpPr>
              <p:nvPr/>
            </p:nvSpPr>
            <p:spPr bwMode="auto">
              <a:xfrm>
                <a:off x="2016" y="1705"/>
                <a:ext cx="148"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4" name="Line 394"/>
              <p:cNvSpPr>
                <a:spLocks noChangeShapeType="1"/>
              </p:cNvSpPr>
              <p:nvPr/>
            </p:nvSpPr>
            <p:spPr bwMode="auto">
              <a:xfrm rot="-5400000">
                <a:off x="2024" y="1712"/>
                <a:ext cx="115"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5" name="Line 395"/>
              <p:cNvSpPr>
                <a:spLocks noChangeShapeType="1"/>
              </p:cNvSpPr>
              <p:nvPr/>
            </p:nvSpPr>
            <p:spPr bwMode="auto">
              <a:xfrm flipH="1" flipV="1">
                <a:off x="1236" y="1314"/>
                <a:ext cx="840" cy="390"/>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6" name="Text Box 396"/>
              <p:cNvSpPr txBox="1">
                <a:spLocks noChangeArrowheads="1"/>
              </p:cNvSpPr>
              <p:nvPr/>
            </p:nvSpPr>
            <p:spPr bwMode="auto">
              <a:xfrm>
                <a:off x="1482" y="1450"/>
                <a:ext cx="155" cy="236"/>
              </a:xfrm>
              <a:prstGeom prst="rect">
                <a:avLst/>
              </a:prstGeom>
              <a:noFill/>
              <a:ln w="9525">
                <a:no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400" b="1">
                    <a:solidFill>
                      <a:schemeClr val="hlink"/>
                    </a:solidFill>
                    <a:latin typeface="Times New Roman" panose="02020603050405020304" pitchFamily="18" charset="0"/>
                    <a:ea typeface="华文中宋" panose="02010600040101010101" pitchFamily="2" charset="-122"/>
                  </a:rPr>
                  <a:t>r</a:t>
                </a:r>
                <a:r>
                  <a:rPr kumimoji="1" lang="en-US" altLang="zh-CN" sz="2400" b="1" baseline="-25000">
                    <a:solidFill>
                      <a:schemeClr val="hlink"/>
                    </a:solidFill>
                    <a:latin typeface="Times New Roman" panose="02020603050405020304" pitchFamily="18" charset="0"/>
                    <a:ea typeface="华文中宋" panose="02010600040101010101" pitchFamily="2" charset="-122"/>
                  </a:rPr>
                  <a:t>4</a:t>
                </a:r>
                <a:endParaRPr kumimoji="1" lang="en-US" altLang="zh-CN" sz="2400" b="1" baseline="-25000">
                  <a:solidFill>
                    <a:schemeClr val="hlink"/>
                  </a:solidFill>
                  <a:latin typeface="Times New Roman" panose="02020603050405020304" pitchFamily="18" charset="0"/>
                  <a:ea typeface="华文中宋" panose="02010600040101010101" pitchFamily="2" charset="-122"/>
                </a:endParaRPr>
              </a:p>
            </p:txBody>
          </p:sp>
        </p:grpSp>
        <p:sp>
          <p:nvSpPr>
            <p:cNvPr id="143757" name="Freeform 397"/>
            <p:cNvSpPr/>
            <p:nvPr/>
          </p:nvSpPr>
          <p:spPr bwMode="auto">
            <a:xfrm>
              <a:off x="1152" y="1214"/>
              <a:ext cx="146" cy="488"/>
            </a:xfrm>
            <a:custGeom>
              <a:avLst/>
              <a:gdLst>
                <a:gd name="T0" fmla="*/ 146 w 146"/>
                <a:gd name="T1" fmla="*/ 0 h 488"/>
                <a:gd name="T2" fmla="*/ 114 w 146"/>
                <a:gd name="T3" fmla="*/ 52 h 488"/>
                <a:gd name="T4" fmla="*/ 78 w 146"/>
                <a:gd name="T5" fmla="*/ 124 h 488"/>
                <a:gd name="T6" fmla="*/ 52 w 146"/>
                <a:gd name="T7" fmla="*/ 190 h 488"/>
                <a:gd name="T8" fmla="*/ 26 w 146"/>
                <a:gd name="T9" fmla="*/ 282 h 488"/>
                <a:gd name="T10" fmla="*/ 10 w 146"/>
                <a:gd name="T11" fmla="*/ 370 h 488"/>
                <a:gd name="T12" fmla="*/ 0 w 146"/>
                <a:gd name="T13" fmla="*/ 488 h 488"/>
              </a:gdLst>
              <a:ahLst/>
              <a:cxnLst>
                <a:cxn ang="0">
                  <a:pos x="T0" y="T1"/>
                </a:cxn>
                <a:cxn ang="0">
                  <a:pos x="T2" y="T3"/>
                </a:cxn>
                <a:cxn ang="0">
                  <a:pos x="T4" y="T5"/>
                </a:cxn>
                <a:cxn ang="0">
                  <a:pos x="T6" y="T7"/>
                </a:cxn>
                <a:cxn ang="0">
                  <a:pos x="T8" y="T9"/>
                </a:cxn>
                <a:cxn ang="0">
                  <a:pos x="T10" y="T11"/>
                </a:cxn>
                <a:cxn ang="0">
                  <a:pos x="T12" y="T13"/>
                </a:cxn>
              </a:cxnLst>
              <a:rect l="0" t="0" r="r" b="b"/>
              <a:pathLst>
                <a:path w="146" h="488">
                  <a:moveTo>
                    <a:pt x="146" y="0"/>
                  </a:moveTo>
                  <a:cubicBezTo>
                    <a:pt x="135" y="15"/>
                    <a:pt x="125" y="31"/>
                    <a:pt x="114" y="52"/>
                  </a:cubicBezTo>
                  <a:cubicBezTo>
                    <a:pt x="103" y="73"/>
                    <a:pt x="88" y="101"/>
                    <a:pt x="78" y="124"/>
                  </a:cubicBezTo>
                  <a:cubicBezTo>
                    <a:pt x="68" y="147"/>
                    <a:pt x="61" y="164"/>
                    <a:pt x="52" y="190"/>
                  </a:cubicBezTo>
                  <a:cubicBezTo>
                    <a:pt x="43" y="216"/>
                    <a:pt x="33" y="252"/>
                    <a:pt x="26" y="282"/>
                  </a:cubicBezTo>
                  <a:cubicBezTo>
                    <a:pt x="19" y="312"/>
                    <a:pt x="14" y="336"/>
                    <a:pt x="10" y="370"/>
                  </a:cubicBezTo>
                  <a:cubicBezTo>
                    <a:pt x="6" y="404"/>
                    <a:pt x="3" y="446"/>
                    <a:pt x="0" y="488"/>
                  </a:cubicBezTo>
                </a:path>
              </a:pathLst>
            </a:custGeom>
            <a:noFill/>
            <a:ln w="57150" cap="flat" cmpd="sng">
              <a:solidFill>
                <a:srgbClr val="FF0000"/>
              </a:solidFill>
              <a:prstDash val="solid"/>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p:cNvSpPr txBox="1"/>
          <p:nvPr/>
        </p:nvSpPr>
        <p:spPr>
          <a:xfrm>
            <a:off x="6716395" y="97790"/>
            <a:ext cx="2376170" cy="429895"/>
          </a:xfrm>
          <a:prstGeom prst="rect">
            <a:avLst/>
          </a:prstGeom>
          <a:noFill/>
          <a:ln>
            <a:solidFill>
              <a:schemeClr val="tx1"/>
            </a:solidFill>
          </a:ln>
        </p:spPr>
        <p:txBody>
          <a:bodyPr wrap="square" rtlCol="0">
            <a:spAutoFit/>
          </a:bodyPr>
          <a:p>
            <a:r>
              <a:rPr lang="zh-CN" altLang="en-US">
                <a:solidFill>
                  <a:srgbClr val="FF0000"/>
                </a:solidFill>
              </a:rPr>
              <a:t>教材</a:t>
            </a:r>
            <a:r>
              <a:rPr lang="en-US" altLang="zh-CN">
                <a:solidFill>
                  <a:srgbClr val="FF0000"/>
                </a:solidFill>
              </a:rPr>
              <a:t>P193</a:t>
            </a:r>
            <a:r>
              <a:rPr lang="zh-CN" altLang="en-US">
                <a:solidFill>
                  <a:srgbClr val="FF0000"/>
                </a:solidFill>
              </a:rPr>
              <a:t>表</a:t>
            </a:r>
            <a:r>
              <a:rPr lang="en-US" altLang="zh-CN">
                <a:solidFill>
                  <a:srgbClr val="FF0000"/>
                </a:solidFill>
              </a:rPr>
              <a:t>3.3-4</a:t>
            </a:r>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43741"/>
                                        </p:tgtEl>
                                        <p:attrNameLst>
                                          <p:attrName>style.visibility</p:attrName>
                                        </p:attrNameLst>
                                      </p:cBhvr>
                                      <p:to>
                                        <p:strVal val="visible"/>
                                      </p:to>
                                    </p:set>
                                    <p:anim calcmode="lin" valueType="num">
                                      <p:cBhvr additive="base">
                                        <p:cTn id="7" dur="500" fill="hold"/>
                                        <p:tgtEl>
                                          <p:spTgt spid="143741"/>
                                        </p:tgtEl>
                                        <p:attrNameLst>
                                          <p:attrName>ppt_x</p:attrName>
                                        </p:attrNameLst>
                                      </p:cBhvr>
                                      <p:tavLst>
                                        <p:tav tm="0">
                                          <p:val>
                                            <p:strVal val="#ppt_x"/>
                                          </p:val>
                                        </p:tav>
                                        <p:tav tm="100000">
                                          <p:val>
                                            <p:strVal val="#ppt_x"/>
                                          </p:val>
                                        </p:tav>
                                      </p:tavLst>
                                    </p:anim>
                                    <p:anim calcmode="lin" valueType="num">
                                      <p:cBhvr additive="base">
                                        <p:cTn id="8" dur="500" fill="hold"/>
                                        <p:tgtEl>
                                          <p:spTgt spid="14374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3641"/>
                                        </p:tgtEl>
                                        <p:attrNameLst>
                                          <p:attrName>style.visibility</p:attrName>
                                        </p:attrNameLst>
                                      </p:cBhvr>
                                      <p:to>
                                        <p:strVal val="visible"/>
                                      </p:to>
                                    </p:set>
                                    <p:animEffect transition="in" filter="dissolve">
                                      <p:cBhvr>
                                        <p:cTn id="13" dur="500"/>
                                        <p:tgtEl>
                                          <p:spTgt spid="143641"/>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437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437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437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43678"/>
                                        </p:tgtEl>
                                        <p:attrNameLst>
                                          <p:attrName>style.visibility</p:attrName>
                                        </p:attrNameLst>
                                      </p:cBhvr>
                                      <p:to>
                                        <p:strVal val="visible"/>
                                      </p:to>
                                    </p:set>
                                    <p:animEffect transition="in" filter="dissolve">
                                      <p:cBhvr>
                                        <p:cTn id="29" dur="500"/>
                                        <p:tgtEl>
                                          <p:spTgt spid="143678"/>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1437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3744"/>
                                        </p:tgtEl>
                                        <p:attrNameLst>
                                          <p:attrName>style.visibility</p:attrName>
                                        </p:attrNameLst>
                                      </p:cBhvr>
                                      <p:to>
                                        <p:strVal val="visible"/>
                                      </p:to>
                                    </p:set>
                                    <p:anim calcmode="lin" valueType="num">
                                      <p:cBhvr additive="base">
                                        <p:cTn id="42" dur="500" fill="hold"/>
                                        <p:tgtEl>
                                          <p:spTgt spid="143744"/>
                                        </p:tgtEl>
                                        <p:attrNameLst>
                                          <p:attrName>ppt_x</p:attrName>
                                        </p:attrNameLst>
                                      </p:cBhvr>
                                      <p:tavLst>
                                        <p:tav tm="0">
                                          <p:val>
                                            <p:strVal val="#ppt_x"/>
                                          </p:val>
                                        </p:tav>
                                        <p:tav tm="100000">
                                          <p:val>
                                            <p:strVal val="#ppt_x"/>
                                          </p:val>
                                        </p:tav>
                                      </p:tavLst>
                                    </p:anim>
                                    <p:anim calcmode="lin" valueType="num">
                                      <p:cBhvr additive="base">
                                        <p:cTn id="43" dur="500" fill="hold"/>
                                        <p:tgtEl>
                                          <p:spTgt spid="143744"/>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1437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43745"/>
                                        </p:tgtEl>
                                        <p:attrNameLst>
                                          <p:attrName>style.visibility</p:attrName>
                                        </p:attrNameLst>
                                      </p:cBhvr>
                                      <p:to>
                                        <p:strVal val="visible"/>
                                      </p:to>
                                    </p:set>
                                    <p:anim calcmode="lin" valueType="num">
                                      <p:cBhvr additive="base">
                                        <p:cTn id="51" dur="500" fill="hold"/>
                                        <p:tgtEl>
                                          <p:spTgt spid="143745"/>
                                        </p:tgtEl>
                                        <p:attrNameLst>
                                          <p:attrName>ppt_x</p:attrName>
                                        </p:attrNameLst>
                                      </p:cBhvr>
                                      <p:tavLst>
                                        <p:tav tm="0">
                                          <p:val>
                                            <p:strVal val="#ppt_x"/>
                                          </p:val>
                                        </p:tav>
                                        <p:tav tm="100000">
                                          <p:val>
                                            <p:strVal val="#ppt_x"/>
                                          </p:val>
                                        </p:tav>
                                      </p:tavLst>
                                    </p:anim>
                                    <p:anim calcmode="lin" valueType="num">
                                      <p:cBhvr additive="base">
                                        <p:cTn id="52" dur="500" fill="hold"/>
                                        <p:tgtEl>
                                          <p:spTgt spid="1437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41" grpId="0" bldLvl="0" animBg="1" autoUpdateAnimBg="0"/>
      <p:bldP spid="143742" grpId="0" bldLvl="0" animBg="1" autoUpdateAnimBg="0"/>
      <p:bldP spid="143743" grpId="0" bldLvl="0" animBg="1" autoUpdateAnimBg="0"/>
      <p:bldP spid="143744" grpId="0" bldLvl="0" animBg="1" autoUpdateAnimBg="0"/>
      <p:bldP spid="143745" grpId="0" bldLvl="0" animBg="1" autoUpdateAnimBg="0"/>
      <p:bldP spid="143749" grpId="0" bldLvl="0" animBg="1" autoUpdateAnimBg="0"/>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2" name="文本框 5131"/>
          <p:cNvSpPr txBox="1">
            <a:spLocks noChangeArrowheads="1"/>
          </p:cNvSpPr>
          <p:nvPr/>
        </p:nvSpPr>
        <p:spPr bwMode="auto">
          <a:xfrm>
            <a:off x="538917" y="1680086"/>
            <a:ext cx="474980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latinLnBrk="0" hangingPunct="1">
              <a:lnSpc>
                <a:spcPct val="150000"/>
              </a:lnSpc>
            </a:pPr>
            <a:r>
              <a:rPr lang="zh-CN" altLang="en-US" sz="2400" dirty="0">
                <a:solidFill>
                  <a:srgbClr val="000099"/>
                </a:solidFill>
                <a:latin typeface="Times New Roman" panose="02020603050405020304" pitchFamily="18" charset="0"/>
              </a:rPr>
              <a:t>链轮的基本参数：</a:t>
            </a:r>
            <a:endParaRPr lang="zh-CN" altLang="en-US" sz="2400" dirty="0">
              <a:solidFill>
                <a:srgbClr val="000099"/>
              </a:solidFill>
              <a:latin typeface="Times New Roman" panose="02020603050405020304" pitchFamily="18" charset="0"/>
            </a:endParaRPr>
          </a:p>
          <a:p>
            <a:pPr eaLnBrk="1" latinLnBrk="0" hangingPunct="1">
              <a:lnSpc>
                <a:spcPct val="150000"/>
              </a:lnSpc>
            </a:pPr>
            <a:r>
              <a:rPr lang="zh-CN" altLang="en-US" sz="2400" dirty="0">
                <a:solidFill>
                  <a:srgbClr val="000099"/>
                </a:solidFill>
                <a:latin typeface="Times New Roman" panose="02020603050405020304" pitchFamily="18" charset="0"/>
              </a:rPr>
              <a:t>　</a:t>
            </a:r>
            <a:r>
              <a:rPr lang="zh-CN" altLang="en-US" sz="2400" dirty="0">
                <a:solidFill>
                  <a:srgbClr val="C00000"/>
                </a:solidFill>
                <a:latin typeface="Times New Roman" panose="02020603050405020304" pitchFamily="18" charset="0"/>
              </a:rPr>
              <a:t>  </a:t>
            </a:r>
            <a:r>
              <a:rPr lang="en-US" altLang="zh-CN" sz="2400" dirty="0">
                <a:solidFill>
                  <a:srgbClr val="C00000"/>
                </a:solidFill>
                <a:latin typeface="Times New Roman" panose="02020603050405020304" pitchFamily="18" charset="0"/>
              </a:rPr>
              <a:t>◆ </a:t>
            </a:r>
            <a:r>
              <a:rPr lang="zh-CN" altLang="en-US" sz="2400" dirty="0">
                <a:solidFill>
                  <a:srgbClr val="000099"/>
                </a:solidFill>
                <a:latin typeface="Times New Roman" panose="02020603050405020304" pitchFamily="18" charset="0"/>
              </a:rPr>
              <a:t>配用链条的节距 </a:t>
            </a:r>
            <a:r>
              <a:rPr lang="en-US" altLang="zh-CN" sz="2400" i="1" dirty="0">
                <a:solidFill>
                  <a:srgbClr val="000099"/>
                </a:solidFill>
                <a:latin typeface="Times New Roman" panose="02020603050405020304" pitchFamily="18" charset="0"/>
              </a:rPr>
              <a:t>p</a:t>
            </a:r>
            <a:r>
              <a:rPr lang="zh-CN" altLang="en-US" sz="2400" dirty="0">
                <a:solidFill>
                  <a:srgbClr val="000099"/>
                </a:solidFill>
                <a:latin typeface="Times New Roman" panose="02020603050405020304" pitchFamily="18" charset="0"/>
              </a:rPr>
              <a:t>、滚子的最大外径 </a:t>
            </a:r>
            <a:r>
              <a:rPr lang="en-US" altLang="zh-CN" sz="2400" i="1" dirty="0">
                <a:solidFill>
                  <a:srgbClr val="000099"/>
                </a:solidFill>
                <a:latin typeface="Times New Roman" panose="02020603050405020304" pitchFamily="18" charset="0"/>
              </a:rPr>
              <a:t>d</a:t>
            </a:r>
            <a:r>
              <a:rPr lang="en-US" altLang="zh-CN" sz="2400" baseline="-25000" dirty="0">
                <a:solidFill>
                  <a:srgbClr val="000099"/>
                </a:solidFill>
                <a:latin typeface="Times New Roman" panose="02020603050405020304" pitchFamily="18" charset="0"/>
              </a:rPr>
              <a:t>1</a:t>
            </a:r>
            <a:r>
              <a:rPr lang="zh-CN" altLang="en-US" sz="2400" dirty="0">
                <a:solidFill>
                  <a:srgbClr val="000099"/>
                </a:solidFill>
                <a:latin typeface="Times New Roman" panose="02020603050405020304" pitchFamily="18" charset="0"/>
              </a:rPr>
              <a:t>、排距 </a:t>
            </a:r>
            <a:r>
              <a:rPr lang="en-US" altLang="zh-CN" sz="2400" i="1" dirty="0" err="1">
                <a:solidFill>
                  <a:srgbClr val="000099"/>
                </a:solidFill>
                <a:latin typeface="Times New Roman" panose="02020603050405020304" pitchFamily="18" charset="0"/>
              </a:rPr>
              <a:t>p</a:t>
            </a:r>
            <a:r>
              <a:rPr lang="en-US" altLang="zh-CN" sz="2400" baseline="-25000" dirty="0" err="1">
                <a:solidFill>
                  <a:srgbClr val="000099"/>
                </a:solidFill>
                <a:latin typeface="Times New Roman" panose="02020603050405020304" pitchFamily="18" charset="0"/>
              </a:rPr>
              <a:t>t</a:t>
            </a:r>
            <a:r>
              <a:rPr lang="zh-CN" altLang="en-US" sz="2400" dirty="0">
                <a:solidFill>
                  <a:srgbClr val="000099"/>
                </a:solidFill>
                <a:latin typeface="Times New Roman" panose="02020603050405020304" pitchFamily="18" charset="0"/>
              </a:rPr>
              <a:t>、齿数</a:t>
            </a:r>
            <a:r>
              <a:rPr lang="en-US" altLang="zh-CN" sz="2400" i="1" dirty="0">
                <a:solidFill>
                  <a:srgbClr val="000099"/>
                </a:solidFill>
                <a:latin typeface="Times New Roman" panose="02020603050405020304" pitchFamily="18" charset="0"/>
              </a:rPr>
              <a:t>z</a:t>
            </a:r>
            <a:r>
              <a:rPr lang="zh-CN" altLang="en-US" sz="2400" dirty="0">
                <a:solidFill>
                  <a:srgbClr val="000099"/>
                </a:solidFill>
                <a:latin typeface="Times New Roman" panose="02020603050405020304" pitchFamily="18" charset="0"/>
              </a:rPr>
              <a:t>。</a:t>
            </a:r>
            <a:endParaRPr lang="zh-CN" altLang="en-US" sz="2400" dirty="0">
              <a:solidFill>
                <a:srgbClr val="000099"/>
              </a:solidFill>
              <a:latin typeface="Times New Roman" panose="02020603050405020304" pitchFamily="18" charset="0"/>
              <a:cs typeface="Times New Roman" panose="02020603050405020304" pitchFamily="18" charset="0"/>
            </a:endParaRPr>
          </a:p>
        </p:txBody>
      </p:sp>
      <p:sp>
        <p:nvSpPr>
          <p:cNvPr id="5136" name="文本框 5135"/>
          <p:cNvSpPr txBox="1">
            <a:spLocks noChangeArrowheads="1"/>
          </p:cNvSpPr>
          <p:nvPr/>
        </p:nvSpPr>
        <p:spPr bwMode="auto">
          <a:xfrm>
            <a:off x="403860" y="3677285"/>
            <a:ext cx="445262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dirty="0">
                <a:solidFill>
                  <a:srgbClr val="000099"/>
                </a:solidFill>
                <a:latin typeface="Times New Roman" panose="02020603050405020304" pitchFamily="18" charset="0"/>
              </a:rPr>
              <a:t>链轮的主要尺寸及计算公式</a:t>
            </a:r>
            <a:endParaRPr lang="zh-CN" altLang="en-US" sz="2400" dirty="0">
              <a:solidFill>
                <a:srgbClr val="000099"/>
              </a:solidFill>
              <a:latin typeface="Times New Roman" panose="02020603050405020304" pitchFamily="18" charset="0"/>
              <a:cs typeface="Times New Roman" panose="02020603050405020304" pitchFamily="18" charset="0"/>
            </a:endParaRPr>
          </a:p>
        </p:txBody>
      </p:sp>
      <p:sp>
        <p:nvSpPr>
          <p:cNvPr id="3" name="文本框 2"/>
          <p:cNvSpPr txBox="1">
            <a:spLocks noChangeArrowheads="1"/>
          </p:cNvSpPr>
          <p:nvPr/>
        </p:nvSpPr>
        <p:spPr bwMode="auto">
          <a:xfrm>
            <a:off x="126807" y="1055380"/>
            <a:ext cx="4729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dirty="0">
                <a:solidFill>
                  <a:srgbClr val="0000FF"/>
                </a:solidFill>
                <a:latin typeface="Times New Roman" panose="02020603050405020304" pitchFamily="18" charset="0"/>
              </a:rPr>
              <a:t>（</a:t>
            </a:r>
            <a:r>
              <a:rPr lang="zh-CN" sz="2400" dirty="0">
                <a:solidFill>
                  <a:srgbClr val="0000FF"/>
                </a:solidFill>
                <a:latin typeface="黑体" panose="02010609060101010101" pitchFamily="49" charset="-122"/>
                <a:ea typeface="黑体" panose="02010609060101010101" pitchFamily="49" charset="-122"/>
              </a:rPr>
              <a:t>二）</a:t>
            </a:r>
            <a:r>
              <a:rPr lang="zh-CN" altLang="en-US" sz="2400" dirty="0">
                <a:solidFill>
                  <a:srgbClr val="0000FF"/>
                </a:solidFill>
                <a:latin typeface="黑体" panose="02010609060101010101" pitchFamily="49" charset="-122"/>
                <a:ea typeface="黑体" panose="02010609060101010101" pitchFamily="49" charset="-122"/>
              </a:rPr>
              <a:t>链轮的基本参数和主要尺寸</a:t>
            </a:r>
            <a:endPar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53262" name="文本框 17434"/>
          <p:cNvSpPr txBox="1">
            <a:spLocks noChangeArrowheads="1"/>
          </p:cNvSpPr>
          <p:nvPr/>
        </p:nvSpPr>
        <p:spPr bwMode="auto">
          <a:xfrm>
            <a:off x="2457966" y="4369038"/>
            <a:ext cx="1706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99"/>
                </a:solidFill>
                <a:latin typeface="Times New Roman" panose="02020603050405020304" pitchFamily="18" charset="0"/>
                <a:hlinkClick r:id="rId5" action="ppaction://hlinksldjump"/>
              </a:rPr>
              <a:t>详细介绍</a:t>
            </a:r>
            <a:r>
              <a:rPr lang="en-US" altLang="zh-CN" sz="2400" dirty="0">
                <a:solidFill>
                  <a:srgbClr val="000099"/>
                </a:solidFill>
                <a:latin typeface="Times New Roman" panose="02020603050405020304" pitchFamily="18" charset="0"/>
                <a:hlinkClick r:id="rId5" action="ppaction://hlinksldjump"/>
              </a:rPr>
              <a:t>→</a:t>
            </a:r>
            <a:endParaRPr lang="en-US" altLang="zh-CN" sz="2400" dirty="0">
              <a:solidFill>
                <a:srgbClr val="000099"/>
              </a:solidFill>
              <a:latin typeface="Times New Roman" panose="02020603050405020304" pitchFamily="18" charset="0"/>
              <a:cs typeface="Times New Roman" panose="02020603050405020304" pitchFamily="18" charset="0"/>
            </a:endParaRPr>
          </a:p>
        </p:txBody>
      </p:sp>
      <p:pic>
        <p:nvPicPr>
          <p:cNvPr id="44048"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7813" y="2357438"/>
            <a:ext cx="3786187"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9"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5" name="Rectangle 2"/>
          <p:cNvSpPr>
            <a:spLocks noGrp="1" noChangeArrowheads="1"/>
          </p:cNvSpPr>
          <p:nvPr>
            <p:ph type="title"/>
          </p:nvPr>
        </p:nvSpPr>
        <p:spPr bwMode="auto">
          <a:xfrm>
            <a:off x="3176270" y="111125"/>
            <a:ext cx="5967730" cy="490220"/>
          </a:xfrm>
          <a:ln>
            <a:miter lim="800000"/>
          </a:ln>
        </p:spPr>
        <p:txBody>
          <a:bodyPr vert="horz" wrap="square" lIns="91440" tIns="45720" rIns="91440" bIns="45720" numCol="1" anchor="t" anchorCtr="0" compatLnSpc="1"/>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滚子链链轮</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的结构和材料</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32"/>
                                        </p:tgtEl>
                                        <p:attrNameLst>
                                          <p:attrName>style.visibility</p:attrName>
                                        </p:attrNameLst>
                                      </p:cBhvr>
                                      <p:to>
                                        <p:strVal val="visible"/>
                                      </p:to>
                                    </p:set>
                                    <p:animEffect transition="in" filter="wipe(left)">
                                      <p:cBhvr>
                                        <p:cTn id="12" dur="500"/>
                                        <p:tgtEl>
                                          <p:spTgt spid="5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36"/>
                                        </p:tgtEl>
                                        <p:attrNameLst>
                                          <p:attrName>style.visibility</p:attrName>
                                        </p:attrNameLst>
                                      </p:cBhvr>
                                      <p:to>
                                        <p:strVal val="visible"/>
                                      </p:to>
                                    </p:set>
                                    <p:animEffect transition="in" filter="wipe(left)">
                                      <p:cBhvr>
                                        <p:cTn id="17" dur="500"/>
                                        <p:tgtEl>
                                          <p:spTgt spid="5136"/>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3262"/>
                                        </p:tgtEl>
                                        <p:attrNameLst>
                                          <p:attrName>style.visibility</p:attrName>
                                        </p:attrNameLst>
                                      </p:cBhvr>
                                      <p:to>
                                        <p:strVal val="visible"/>
                                      </p:to>
                                    </p:set>
                                    <p:animEffect transition="in" filter="wipe(left)">
                                      <p:cBhvr>
                                        <p:cTn id="21" dur="500"/>
                                        <p:tgtEl>
                                          <p:spTgt spid="53262"/>
                                        </p:tgtEl>
                                      </p:cBhvr>
                                    </p:animEffect>
                                  </p:childTnLst>
                                </p:cTn>
                              </p:par>
                            </p:childTnLst>
                          </p:cTn>
                        </p:par>
                        <p:par>
                          <p:cTn id="22" fill="hold">
                            <p:stCondLst>
                              <p:cond delay="1000"/>
                            </p:stCondLst>
                            <p:childTnLst>
                              <p:par>
                                <p:cTn id="23" presetID="1" presetClass="entr" presetSubtype="0" fill="hold" nodeType="afterEffect">
                                  <p:stCondLst>
                                    <p:cond delay="0"/>
                                  </p:stCondLst>
                                  <p:childTnLst>
                                    <p:set>
                                      <p:cBhvr>
                                        <p:cTn id="24" dur="1" fill="hold">
                                          <p:stCondLst>
                                            <p:cond delay="0"/>
                                          </p:stCondLst>
                                        </p:cTn>
                                        <p:tgtEl>
                                          <p:spTgt spid="44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2" grpId="0"/>
      <p:bldP spid="5136" grpId="0"/>
      <p:bldP spid="3" grpId="0"/>
      <p:bldP spid="5326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9940"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标题 16385"/>
          <p:cNvSpPr>
            <a:spLocks noGrp="1" noChangeArrowheads="1"/>
          </p:cNvSpPr>
          <p:nvPr/>
        </p:nvSpPr>
        <p:spPr bwMode="auto">
          <a:xfrm>
            <a:off x="6172200" y="838200"/>
            <a:ext cx="2286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链轮的结构和材料</a:t>
            </a:r>
            <a:r>
              <a:rPr lang="en-US" altLang="zh-CN" sz="700">
                <a:solidFill>
                  <a:schemeClr val="bg1"/>
                </a:solidFill>
              </a:rPr>
              <a:t>2</a:t>
            </a:r>
            <a:endParaRPr lang="en-US" altLang="zh-CN" sz="700">
              <a:solidFill>
                <a:schemeClr val="bg1"/>
              </a:solidFill>
            </a:endParaRPr>
          </a:p>
        </p:txBody>
      </p:sp>
      <p:sp>
        <p:nvSpPr>
          <p:cNvPr id="16393" name="文本框 16392"/>
          <p:cNvSpPr txBox="1">
            <a:spLocks noChangeArrowheads="1"/>
          </p:cNvSpPr>
          <p:nvPr/>
        </p:nvSpPr>
        <p:spPr bwMode="auto">
          <a:xfrm>
            <a:off x="2821747" y="990878"/>
            <a:ext cx="4276726"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pPr>
            <a:r>
              <a:rPr lang="en-US" altLang="zh-CN" sz="2000"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小直径的链轮可制成整体式；</a:t>
            </a:r>
            <a:endParaRPr lang="zh-CN" altLang="en-US" dirty="0">
              <a:solidFill>
                <a:srgbClr val="000099"/>
              </a:solidFill>
              <a:latin typeface="Times New Roman" panose="02020603050405020304" pitchFamily="18" charset="0"/>
            </a:endParaRPr>
          </a:p>
          <a:p>
            <a:pPr eaLnBrk="1" hangingPunct="1">
              <a:lnSpc>
                <a:spcPct val="150000"/>
              </a:lnSpc>
            </a:pPr>
            <a:r>
              <a:rPr lang="en-US" altLang="zh-CN" sz="2000"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中等尺寸的链轮可制成孔板式；</a:t>
            </a:r>
            <a:endParaRPr lang="zh-CN" altLang="en-US" dirty="0">
              <a:solidFill>
                <a:srgbClr val="000099"/>
              </a:solidFill>
              <a:latin typeface="Times New Roman" panose="02020603050405020304" pitchFamily="18" charset="0"/>
            </a:endParaRPr>
          </a:p>
          <a:p>
            <a:pPr eaLnBrk="1" hangingPunct="1">
              <a:lnSpc>
                <a:spcPct val="150000"/>
              </a:lnSpc>
            </a:pPr>
            <a:r>
              <a:rPr lang="en-US" altLang="zh-CN" sz="2000" dirty="0" smtClean="0">
                <a:solidFill>
                  <a:srgbClr val="000099"/>
                </a:solidFill>
                <a:latin typeface="Times New Roman" panose="02020603050405020304" pitchFamily="18" charset="0"/>
              </a:rPr>
              <a:t>◆</a:t>
            </a:r>
            <a:r>
              <a:rPr lang="en-US" altLang="zh-CN" dirty="0" smtClean="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大直径的链轮可制成组合式。</a:t>
            </a:r>
            <a:endParaRPr lang="zh-CN" altLang="en-US" dirty="0">
              <a:solidFill>
                <a:srgbClr val="000099"/>
              </a:solidFill>
              <a:latin typeface="Times New Roman" panose="02020603050405020304" pitchFamily="18" charset="0"/>
            </a:endParaRPr>
          </a:p>
        </p:txBody>
      </p:sp>
      <p:grpSp>
        <p:nvGrpSpPr>
          <p:cNvPr id="3" name="组合 16409"/>
          <p:cNvGrpSpPr/>
          <p:nvPr/>
        </p:nvGrpSpPr>
        <p:grpSpPr bwMode="auto">
          <a:xfrm>
            <a:off x="1592580" y="6022975"/>
            <a:ext cx="4795838" cy="399014"/>
            <a:chOff x="2202" y="2784"/>
            <a:chExt cx="3021" cy="154"/>
          </a:xfrm>
        </p:grpSpPr>
        <p:sp>
          <p:nvSpPr>
            <p:cNvPr id="39951" name="文本框 16396"/>
            <p:cNvSpPr txBox="1">
              <a:spLocks noChangeArrowheads="1"/>
            </p:cNvSpPr>
            <p:nvPr/>
          </p:nvSpPr>
          <p:spPr bwMode="auto">
            <a:xfrm>
              <a:off x="2202" y="2784"/>
              <a:ext cx="91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整体式链轮</a:t>
              </a:r>
              <a:endParaRPr lang="zh-CN" altLang="en-US" sz="2000">
                <a:solidFill>
                  <a:srgbClr val="000099"/>
                </a:solidFill>
                <a:latin typeface="Times New Roman" panose="02020603050405020304" pitchFamily="18" charset="0"/>
              </a:endParaRPr>
            </a:p>
          </p:txBody>
        </p:sp>
        <p:sp>
          <p:nvSpPr>
            <p:cNvPr id="39952" name="文本框 16397"/>
            <p:cNvSpPr txBox="1">
              <a:spLocks noChangeArrowheads="1"/>
            </p:cNvSpPr>
            <p:nvPr/>
          </p:nvSpPr>
          <p:spPr bwMode="auto">
            <a:xfrm>
              <a:off x="3232" y="2784"/>
              <a:ext cx="91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孔板式链轮</a:t>
              </a:r>
              <a:endParaRPr lang="zh-CN" altLang="en-US" sz="2000">
                <a:solidFill>
                  <a:srgbClr val="000099"/>
                </a:solidFill>
                <a:latin typeface="Times New Roman" panose="02020603050405020304" pitchFamily="18" charset="0"/>
              </a:endParaRPr>
            </a:p>
          </p:txBody>
        </p:sp>
        <p:sp>
          <p:nvSpPr>
            <p:cNvPr id="39953" name="文本框 16398"/>
            <p:cNvSpPr txBox="1">
              <a:spLocks noChangeArrowheads="1"/>
            </p:cNvSpPr>
            <p:nvPr/>
          </p:nvSpPr>
          <p:spPr bwMode="auto">
            <a:xfrm>
              <a:off x="4308" y="2784"/>
              <a:ext cx="91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组合式链轮</a:t>
              </a:r>
              <a:endParaRPr lang="zh-CN" altLang="en-US" sz="2000">
                <a:solidFill>
                  <a:srgbClr val="000099"/>
                </a:solidFill>
                <a:latin typeface="Times New Roman" panose="02020603050405020304" pitchFamily="18" charset="0"/>
              </a:endParaRPr>
            </a:p>
          </p:txBody>
        </p:sp>
      </p:grpSp>
      <p:sp>
        <p:nvSpPr>
          <p:cNvPr id="2" name="文本框 1"/>
          <p:cNvSpPr txBox="1">
            <a:spLocks noChangeArrowheads="1"/>
          </p:cNvSpPr>
          <p:nvPr/>
        </p:nvSpPr>
        <p:spPr bwMode="auto">
          <a:xfrm>
            <a:off x="152400" y="990600"/>
            <a:ext cx="24180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dirty="0">
                <a:solidFill>
                  <a:srgbClr val="0000FF"/>
                </a:solidFill>
                <a:latin typeface="华文中宋" panose="02010600040101010101" pitchFamily="2" charset="-122"/>
              </a:rPr>
              <a:t>（三）</a:t>
            </a:r>
            <a:r>
              <a:rPr lang="zh-CN" altLang="en-US" dirty="0">
                <a:solidFill>
                  <a:srgbClr val="0000FF"/>
                </a:solidFill>
                <a:latin typeface="华文中宋" panose="02010600040101010101" pitchFamily="2" charset="-122"/>
              </a:rPr>
              <a:t>链轮的结构</a:t>
            </a:r>
            <a:endParaRPr lang="zh-CN" altLang="en-US" dirty="0">
              <a:solidFill>
                <a:srgbClr val="0000FF"/>
              </a:solidFill>
              <a:latin typeface="华文中宋" panose="02010600040101010101" pitchFamily="2" charset="-122"/>
            </a:endParaRPr>
          </a:p>
        </p:txBody>
      </p:sp>
      <p:pic>
        <p:nvPicPr>
          <p:cNvPr id="45069"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b="6586"/>
          <a:stretch>
            <a:fillRect/>
          </a:stretch>
        </p:blipFill>
        <p:spPr bwMode="auto">
          <a:xfrm>
            <a:off x="1982341" y="2967643"/>
            <a:ext cx="3943350"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5" name="Rectangle 2"/>
          <p:cNvSpPr>
            <a:spLocks noGrp="1" noChangeArrowheads="1"/>
          </p:cNvSpPr>
          <p:nvPr>
            <p:ph type="title"/>
          </p:nvPr>
        </p:nvSpPr>
        <p:spPr bwMode="auto">
          <a:xfrm>
            <a:off x="3176270" y="111125"/>
            <a:ext cx="596773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滚子链链轮</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的结构和材料</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393"/>
                                        </p:tgtEl>
                                        <p:attrNameLst>
                                          <p:attrName>style.visibility</p:attrName>
                                        </p:attrNameLst>
                                      </p:cBhvr>
                                      <p:to>
                                        <p:strVal val="visible"/>
                                      </p:to>
                                    </p:set>
                                    <p:animEffect transition="in" filter="wipe(up)">
                                      <p:cBhvr>
                                        <p:cTn id="12" dur="500"/>
                                        <p:tgtEl>
                                          <p:spTgt spid="16393"/>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45069"/>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Text Box 4"/>
          <p:cNvSpPr txBox="1">
            <a:spLocks noChangeArrowheads="1"/>
          </p:cNvSpPr>
          <p:nvPr/>
        </p:nvSpPr>
        <p:spPr bwMode="auto">
          <a:xfrm>
            <a:off x="452120" y="1075055"/>
            <a:ext cx="2113915" cy="338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dirty="0" smtClean="0">
                <a:solidFill>
                  <a:schemeClr val="hlink"/>
                </a:solidFill>
                <a:latin typeface="黑体" panose="02010609060101010101" pitchFamily="49" charset="-122"/>
                <a:ea typeface="黑体" panose="02010609060101010101" pitchFamily="49" charset="-122"/>
              </a:rPr>
              <a:t>链轮</a:t>
            </a:r>
            <a:r>
              <a:rPr kumimoji="1" lang="zh-CN" altLang="en-US" dirty="0">
                <a:solidFill>
                  <a:schemeClr val="hlink"/>
                </a:solidFill>
                <a:latin typeface="黑体" panose="02010609060101010101" pitchFamily="49" charset="-122"/>
                <a:ea typeface="黑体" panose="02010609060101010101" pitchFamily="49" charset="-122"/>
              </a:rPr>
              <a:t>的结构</a:t>
            </a:r>
            <a:endParaRPr kumimoji="1" lang="zh-CN" altLang="en-US" dirty="0">
              <a:solidFill>
                <a:schemeClr val="hlink"/>
              </a:solidFill>
              <a:latin typeface="黑体" panose="02010609060101010101" pitchFamily="49" charset="-122"/>
              <a:ea typeface="黑体" panose="02010609060101010101" pitchFamily="49" charset="-122"/>
            </a:endParaRPr>
          </a:p>
        </p:txBody>
      </p:sp>
      <p:sp>
        <p:nvSpPr>
          <p:cNvPr id="144389" name="Rectangle 5"/>
          <p:cNvSpPr>
            <a:spLocks noChangeArrowheads="1"/>
          </p:cNvSpPr>
          <p:nvPr/>
        </p:nvSpPr>
        <p:spPr bwMode="auto">
          <a:xfrm>
            <a:off x="2912199" y="495087"/>
            <a:ext cx="3815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solidFill>
                  <a:srgbClr val="0000FF"/>
                </a:solidFill>
                <a:latin typeface="黑体" panose="02010609060101010101" pitchFamily="49" charset="-122"/>
                <a:ea typeface="黑体" panose="02010609060101010101" pitchFamily="49" charset="-122"/>
              </a:rPr>
              <a:t>实心式（整体式）</a:t>
            </a:r>
            <a:r>
              <a:rPr kumimoji="1" lang="en-US" altLang="zh-CN" dirty="0">
                <a:solidFill>
                  <a:srgbClr val="002060"/>
                </a:solidFill>
                <a:latin typeface="黑体" panose="02010609060101010101" pitchFamily="49" charset="-122"/>
                <a:ea typeface="黑体" panose="02010609060101010101" pitchFamily="49" charset="-122"/>
              </a:rPr>
              <a:t>----</a:t>
            </a:r>
            <a:r>
              <a:rPr kumimoji="1" lang="zh-CN" altLang="en-US" dirty="0">
                <a:solidFill>
                  <a:srgbClr val="002060"/>
                </a:solidFill>
                <a:latin typeface="黑体" panose="02010609060101010101" pitchFamily="49" charset="-122"/>
                <a:ea typeface="黑体" panose="02010609060101010101" pitchFamily="49" charset="-122"/>
              </a:rPr>
              <a:t>小直径</a:t>
            </a:r>
            <a:endParaRPr kumimoji="1" lang="zh-CN" altLang="en-US" dirty="0">
              <a:solidFill>
                <a:srgbClr val="002060"/>
              </a:solidFill>
              <a:latin typeface="黑体" panose="02010609060101010101" pitchFamily="49" charset="-122"/>
              <a:ea typeface="黑体" panose="02010609060101010101" pitchFamily="49" charset="-122"/>
            </a:endParaRPr>
          </a:p>
        </p:txBody>
      </p:sp>
      <p:grpSp>
        <p:nvGrpSpPr>
          <p:cNvPr id="144392" name="Group 8"/>
          <p:cNvGrpSpPr/>
          <p:nvPr/>
        </p:nvGrpSpPr>
        <p:grpSpPr bwMode="auto">
          <a:xfrm flipH="1">
            <a:off x="5522913" y="1814513"/>
            <a:ext cx="1535112" cy="3441700"/>
            <a:chOff x="72" y="1177"/>
            <a:chExt cx="747" cy="1291"/>
          </a:xfrm>
        </p:grpSpPr>
        <p:sp>
          <p:nvSpPr>
            <p:cNvPr id="144393" name="Freeform 9"/>
            <p:cNvSpPr/>
            <p:nvPr/>
          </p:nvSpPr>
          <p:spPr bwMode="auto">
            <a:xfrm>
              <a:off x="158" y="1442"/>
              <a:ext cx="107" cy="133"/>
            </a:xfrm>
            <a:custGeom>
              <a:avLst/>
              <a:gdLst>
                <a:gd name="T0" fmla="*/ 88 w 88"/>
                <a:gd name="T1" fmla="*/ 0 h 100"/>
                <a:gd name="T2" fmla="*/ 84 w 88"/>
                <a:gd name="T3" fmla="*/ 44 h 100"/>
                <a:gd name="T4" fmla="*/ 64 w 88"/>
                <a:gd name="T5" fmla="*/ 68 h 100"/>
                <a:gd name="T6" fmla="*/ 36 w 88"/>
                <a:gd name="T7" fmla="*/ 76 h 100"/>
                <a:gd name="T8" fmla="*/ 0 w 88"/>
                <a:gd name="T9" fmla="*/ 100 h 100"/>
              </a:gdLst>
              <a:ahLst/>
              <a:cxnLst>
                <a:cxn ang="0">
                  <a:pos x="T0" y="T1"/>
                </a:cxn>
                <a:cxn ang="0">
                  <a:pos x="T2" y="T3"/>
                </a:cxn>
                <a:cxn ang="0">
                  <a:pos x="T4" y="T5"/>
                </a:cxn>
                <a:cxn ang="0">
                  <a:pos x="T6" y="T7"/>
                </a:cxn>
                <a:cxn ang="0">
                  <a:pos x="T8" y="T9"/>
                </a:cxn>
              </a:cxnLst>
              <a:rect l="0" t="0" r="r" b="b"/>
              <a:pathLst>
                <a:path w="88" h="100">
                  <a:moveTo>
                    <a:pt x="88" y="0"/>
                  </a:moveTo>
                  <a:cubicBezTo>
                    <a:pt x="88" y="16"/>
                    <a:pt x="88" y="33"/>
                    <a:pt x="84" y="44"/>
                  </a:cubicBezTo>
                  <a:cubicBezTo>
                    <a:pt x="80" y="55"/>
                    <a:pt x="72" y="63"/>
                    <a:pt x="64" y="68"/>
                  </a:cubicBezTo>
                  <a:cubicBezTo>
                    <a:pt x="56" y="73"/>
                    <a:pt x="47" y="71"/>
                    <a:pt x="36" y="76"/>
                  </a:cubicBezTo>
                  <a:cubicBezTo>
                    <a:pt x="25" y="81"/>
                    <a:pt x="7" y="90"/>
                    <a:pt x="0" y="100"/>
                  </a:cubicBezTo>
                </a:path>
              </a:pathLst>
            </a:custGeom>
            <a:noFill/>
            <a:ln w="254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4" name="Freeform 10"/>
            <p:cNvSpPr/>
            <p:nvPr/>
          </p:nvSpPr>
          <p:spPr bwMode="auto">
            <a:xfrm>
              <a:off x="415" y="1439"/>
              <a:ext cx="224" cy="88"/>
            </a:xfrm>
            <a:custGeom>
              <a:avLst/>
              <a:gdLst>
                <a:gd name="T0" fmla="*/ 1 w 224"/>
                <a:gd name="T1" fmla="*/ 0 h 88"/>
                <a:gd name="T2" fmla="*/ 1 w 224"/>
                <a:gd name="T3" fmla="*/ 39 h 88"/>
                <a:gd name="T4" fmla="*/ 9 w 224"/>
                <a:gd name="T5" fmla="*/ 71 h 88"/>
                <a:gd name="T6" fmla="*/ 38 w 224"/>
                <a:gd name="T7" fmla="*/ 85 h 88"/>
                <a:gd name="T8" fmla="*/ 133 w 224"/>
                <a:gd name="T9" fmla="*/ 87 h 88"/>
                <a:gd name="T10" fmla="*/ 224 w 224"/>
                <a:gd name="T11" fmla="*/ 87 h 88"/>
              </a:gdLst>
              <a:ahLst/>
              <a:cxnLst>
                <a:cxn ang="0">
                  <a:pos x="T0" y="T1"/>
                </a:cxn>
                <a:cxn ang="0">
                  <a:pos x="T2" y="T3"/>
                </a:cxn>
                <a:cxn ang="0">
                  <a:pos x="T4" y="T5"/>
                </a:cxn>
                <a:cxn ang="0">
                  <a:pos x="T6" y="T7"/>
                </a:cxn>
                <a:cxn ang="0">
                  <a:pos x="T8" y="T9"/>
                </a:cxn>
                <a:cxn ang="0">
                  <a:pos x="T10" y="T11"/>
                </a:cxn>
              </a:cxnLst>
              <a:rect l="0" t="0" r="r" b="b"/>
              <a:pathLst>
                <a:path w="224" h="88">
                  <a:moveTo>
                    <a:pt x="1" y="0"/>
                  </a:moveTo>
                  <a:cubicBezTo>
                    <a:pt x="0" y="13"/>
                    <a:pt x="0" y="28"/>
                    <a:pt x="1" y="39"/>
                  </a:cubicBezTo>
                  <a:cubicBezTo>
                    <a:pt x="2" y="51"/>
                    <a:pt x="3" y="63"/>
                    <a:pt x="9" y="71"/>
                  </a:cubicBezTo>
                  <a:cubicBezTo>
                    <a:pt x="15" y="79"/>
                    <a:pt x="17" y="82"/>
                    <a:pt x="38" y="85"/>
                  </a:cubicBezTo>
                  <a:cubicBezTo>
                    <a:pt x="59" y="88"/>
                    <a:pt x="102" y="87"/>
                    <a:pt x="133" y="87"/>
                  </a:cubicBezTo>
                  <a:cubicBezTo>
                    <a:pt x="164" y="87"/>
                    <a:pt x="205" y="87"/>
                    <a:pt x="224" y="87"/>
                  </a:cubicBezTo>
                </a:path>
              </a:pathLst>
            </a:custGeom>
            <a:noFill/>
            <a:ln w="254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5" name="Freeform 11"/>
            <p:cNvSpPr/>
            <p:nvPr/>
          </p:nvSpPr>
          <p:spPr bwMode="auto">
            <a:xfrm>
              <a:off x="448" y="2088"/>
              <a:ext cx="207" cy="4"/>
            </a:xfrm>
            <a:custGeom>
              <a:avLst/>
              <a:gdLst>
                <a:gd name="T0" fmla="*/ 156 w 170"/>
                <a:gd name="T1" fmla="*/ 3 h 3"/>
                <a:gd name="T2" fmla="*/ 144 w 170"/>
                <a:gd name="T3" fmla="*/ 1 h 3"/>
                <a:gd name="T4" fmla="*/ 0 w 170"/>
                <a:gd name="T5" fmla="*/ 1 h 3"/>
              </a:gdLst>
              <a:ahLst/>
              <a:cxnLst>
                <a:cxn ang="0">
                  <a:pos x="T0" y="T1"/>
                </a:cxn>
                <a:cxn ang="0">
                  <a:pos x="T2" y="T3"/>
                </a:cxn>
                <a:cxn ang="0">
                  <a:pos x="T4" y="T5"/>
                </a:cxn>
              </a:cxnLst>
              <a:rect l="0" t="0" r="r" b="b"/>
              <a:pathLst>
                <a:path w="170" h="3">
                  <a:moveTo>
                    <a:pt x="156" y="3"/>
                  </a:moveTo>
                  <a:cubicBezTo>
                    <a:pt x="163" y="2"/>
                    <a:pt x="170" y="1"/>
                    <a:pt x="144" y="1"/>
                  </a:cubicBezTo>
                  <a:cubicBezTo>
                    <a:pt x="118" y="1"/>
                    <a:pt x="25" y="0"/>
                    <a:pt x="0" y="1"/>
                  </a:cubicBezTo>
                </a:path>
              </a:pathLst>
            </a:custGeom>
            <a:noFill/>
            <a:ln w="254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6" name="Freeform 12"/>
            <p:cNvSpPr/>
            <p:nvPr/>
          </p:nvSpPr>
          <p:spPr bwMode="auto">
            <a:xfrm>
              <a:off x="415" y="2087"/>
              <a:ext cx="40" cy="241"/>
            </a:xfrm>
            <a:custGeom>
              <a:avLst/>
              <a:gdLst>
                <a:gd name="T0" fmla="*/ 33 w 33"/>
                <a:gd name="T1" fmla="*/ 0 h 182"/>
                <a:gd name="T2" fmla="*/ 7 w 33"/>
                <a:gd name="T3" fmla="*/ 18 h 182"/>
                <a:gd name="T4" fmla="*/ 1 w 33"/>
                <a:gd name="T5" fmla="*/ 64 h 182"/>
                <a:gd name="T6" fmla="*/ 1 w 33"/>
                <a:gd name="T7" fmla="*/ 108 h 182"/>
                <a:gd name="T8" fmla="*/ 1 w 33"/>
                <a:gd name="T9" fmla="*/ 182 h 182"/>
              </a:gdLst>
              <a:ahLst/>
              <a:cxnLst>
                <a:cxn ang="0">
                  <a:pos x="T0" y="T1"/>
                </a:cxn>
                <a:cxn ang="0">
                  <a:pos x="T2" y="T3"/>
                </a:cxn>
                <a:cxn ang="0">
                  <a:pos x="T4" y="T5"/>
                </a:cxn>
                <a:cxn ang="0">
                  <a:pos x="T6" y="T7"/>
                </a:cxn>
                <a:cxn ang="0">
                  <a:pos x="T8" y="T9"/>
                </a:cxn>
              </a:cxnLst>
              <a:rect l="0" t="0" r="r" b="b"/>
              <a:pathLst>
                <a:path w="33" h="182">
                  <a:moveTo>
                    <a:pt x="33" y="0"/>
                  </a:moveTo>
                  <a:cubicBezTo>
                    <a:pt x="22" y="3"/>
                    <a:pt x="12" y="7"/>
                    <a:pt x="7" y="18"/>
                  </a:cubicBezTo>
                  <a:cubicBezTo>
                    <a:pt x="2" y="29"/>
                    <a:pt x="2" y="49"/>
                    <a:pt x="1" y="64"/>
                  </a:cubicBezTo>
                  <a:cubicBezTo>
                    <a:pt x="0" y="79"/>
                    <a:pt x="1" y="88"/>
                    <a:pt x="1" y="108"/>
                  </a:cubicBezTo>
                  <a:cubicBezTo>
                    <a:pt x="1" y="128"/>
                    <a:pt x="0" y="169"/>
                    <a:pt x="1" y="182"/>
                  </a:cubicBezTo>
                </a:path>
              </a:pathLst>
            </a:custGeom>
            <a:noFill/>
            <a:ln w="254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7" name="Line 13"/>
            <p:cNvSpPr>
              <a:spLocks noChangeShapeType="1"/>
            </p:cNvSpPr>
            <p:nvPr/>
          </p:nvSpPr>
          <p:spPr bwMode="auto">
            <a:xfrm>
              <a:off x="157" y="1566"/>
              <a:ext cx="1" cy="50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8" name="Line 14"/>
            <p:cNvSpPr>
              <a:spLocks noChangeShapeType="1"/>
            </p:cNvSpPr>
            <p:nvPr/>
          </p:nvSpPr>
          <p:spPr bwMode="auto">
            <a:xfrm flipV="1">
              <a:off x="641" y="2042"/>
              <a:ext cx="51" cy="47"/>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9" name="Line 15"/>
            <p:cNvSpPr>
              <a:spLocks noChangeShapeType="1"/>
            </p:cNvSpPr>
            <p:nvPr/>
          </p:nvSpPr>
          <p:spPr bwMode="auto">
            <a:xfrm>
              <a:off x="628" y="1526"/>
              <a:ext cx="57" cy="5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0" name="Line 16"/>
            <p:cNvSpPr>
              <a:spLocks noChangeShapeType="1"/>
            </p:cNvSpPr>
            <p:nvPr/>
          </p:nvSpPr>
          <p:spPr bwMode="auto">
            <a:xfrm flipH="1">
              <a:off x="687" y="1573"/>
              <a:ext cx="1" cy="477"/>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1" name="Line 17"/>
            <p:cNvSpPr>
              <a:spLocks noChangeShapeType="1"/>
            </p:cNvSpPr>
            <p:nvPr/>
          </p:nvSpPr>
          <p:spPr bwMode="auto">
            <a:xfrm>
              <a:off x="228" y="1941"/>
              <a:ext cx="408" cy="1"/>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2" name="Line 18"/>
            <p:cNvSpPr>
              <a:spLocks noChangeShapeType="1"/>
            </p:cNvSpPr>
            <p:nvPr/>
          </p:nvSpPr>
          <p:spPr bwMode="auto">
            <a:xfrm>
              <a:off x="631" y="1936"/>
              <a:ext cx="49" cy="56"/>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3" name="Line 19"/>
            <p:cNvSpPr>
              <a:spLocks noChangeShapeType="1"/>
            </p:cNvSpPr>
            <p:nvPr/>
          </p:nvSpPr>
          <p:spPr bwMode="auto">
            <a:xfrm flipH="1">
              <a:off x="157" y="1939"/>
              <a:ext cx="76" cy="6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4" name="Line 20"/>
            <p:cNvSpPr>
              <a:spLocks noChangeShapeType="1"/>
            </p:cNvSpPr>
            <p:nvPr/>
          </p:nvSpPr>
          <p:spPr bwMode="auto">
            <a:xfrm flipV="1">
              <a:off x="167" y="1658"/>
              <a:ext cx="520"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5" name="Line 21"/>
            <p:cNvSpPr>
              <a:spLocks noChangeShapeType="1"/>
            </p:cNvSpPr>
            <p:nvPr/>
          </p:nvSpPr>
          <p:spPr bwMode="auto">
            <a:xfrm>
              <a:off x="167" y="1661"/>
              <a:ext cx="56" cy="6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6" name="Line 22"/>
            <p:cNvSpPr>
              <a:spLocks noChangeShapeType="1"/>
            </p:cNvSpPr>
            <p:nvPr/>
          </p:nvSpPr>
          <p:spPr bwMode="auto">
            <a:xfrm>
              <a:off x="223" y="1722"/>
              <a:ext cx="3" cy="225"/>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7" name="Line 23"/>
            <p:cNvSpPr>
              <a:spLocks noChangeShapeType="1"/>
            </p:cNvSpPr>
            <p:nvPr/>
          </p:nvSpPr>
          <p:spPr bwMode="auto">
            <a:xfrm>
              <a:off x="226" y="1719"/>
              <a:ext cx="407"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8" name="Line 24"/>
            <p:cNvSpPr>
              <a:spLocks noChangeShapeType="1"/>
            </p:cNvSpPr>
            <p:nvPr/>
          </p:nvSpPr>
          <p:spPr bwMode="auto">
            <a:xfrm>
              <a:off x="628" y="1716"/>
              <a:ext cx="3" cy="22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9" name="Line 25"/>
            <p:cNvSpPr>
              <a:spLocks noChangeShapeType="1"/>
            </p:cNvSpPr>
            <p:nvPr/>
          </p:nvSpPr>
          <p:spPr bwMode="auto">
            <a:xfrm flipV="1">
              <a:off x="626" y="1655"/>
              <a:ext cx="59" cy="59"/>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4410" name="Group 26"/>
            <p:cNvGrpSpPr/>
            <p:nvPr/>
          </p:nvGrpSpPr>
          <p:grpSpPr bwMode="auto">
            <a:xfrm>
              <a:off x="157" y="1340"/>
              <a:ext cx="513" cy="313"/>
              <a:chOff x="157" y="1340"/>
              <a:chExt cx="513" cy="313"/>
            </a:xfrm>
          </p:grpSpPr>
          <p:sp>
            <p:nvSpPr>
              <p:cNvPr id="144411" name="Line 27"/>
              <p:cNvSpPr>
                <a:spLocks noChangeShapeType="1"/>
              </p:cNvSpPr>
              <p:nvPr/>
            </p:nvSpPr>
            <p:spPr bwMode="auto">
              <a:xfrm flipH="1">
                <a:off x="265" y="1340"/>
                <a:ext cx="81" cy="78"/>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2" name="Line 28"/>
              <p:cNvSpPr>
                <a:spLocks noChangeShapeType="1"/>
              </p:cNvSpPr>
              <p:nvPr/>
            </p:nvSpPr>
            <p:spPr bwMode="auto">
              <a:xfrm flipH="1">
                <a:off x="157" y="1351"/>
                <a:ext cx="252" cy="27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3" name="Line 29"/>
              <p:cNvSpPr>
                <a:spLocks noChangeShapeType="1"/>
              </p:cNvSpPr>
              <p:nvPr/>
            </p:nvSpPr>
            <p:spPr bwMode="auto">
              <a:xfrm flipH="1">
                <a:off x="211" y="1425"/>
                <a:ext cx="202" cy="225"/>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4" name="Line 30"/>
              <p:cNvSpPr>
                <a:spLocks noChangeShapeType="1"/>
              </p:cNvSpPr>
              <p:nvPr/>
            </p:nvSpPr>
            <p:spPr bwMode="auto">
              <a:xfrm flipH="1">
                <a:off x="289" y="1502"/>
                <a:ext cx="132" cy="14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5" name="Line 31"/>
              <p:cNvSpPr>
                <a:spLocks noChangeShapeType="1"/>
              </p:cNvSpPr>
              <p:nvPr/>
            </p:nvSpPr>
            <p:spPr bwMode="auto">
              <a:xfrm flipH="1">
                <a:off x="353" y="1530"/>
                <a:ext cx="112" cy="12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6" name="Line 32"/>
              <p:cNvSpPr>
                <a:spLocks noChangeShapeType="1"/>
              </p:cNvSpPr>
              <p:nvPr/>
            </p:nvSpPr>
            <p:spPr bwMode="auto">
              <a:xfrm flipH="1">
                <a:off x="417" y="1534"/>
                <a:ext cx="108" cy="11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7" name="Line 33"/>
              <p:cNvSpPr>
                <a:spLocks noChangeShapeType="1"/>
              </p:cNvSpPr>
              <p:nvPr/>
            </p:nvSpPr>
            <p:spPr bwMode="auto">
              <a:xfrm flipH="1">
                <a:off x="483" y="1526"/>
                <a:ext cx="108" cy="12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8" name="Line 34"/>
              <p:cNvSpPr>
                <a:spLocks noChangeShapeType="1"/>
              </p:cNvSpPr>
              <p:nvPr/>
            </p:nvSpPr>
            <p:spPr bwMode="auto">
              <a:xfrm flipH="1">
                <a:off x="543" y="1548"/>
                <a:ext cx="90" cy="10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9" name="Line 35"/>
              <p:cNvSpPr>
                <a:spLocks noChangeShapeType="1"/>
              </p:cNvSpPr>
              <p:nvPr/>
            </p:nvSpPr>
            <p:spPr bwMode="auto">
              <a:xfrm flipH="1">
                <a:off x="606" y="1576"/>
                <a:ext cx="64" cy="76"/>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4420" name="Group 36"/>
            <p:cNvGrpSpPr/>
            <p:nvPr/>
          </p:nvGrpSpPr>
          <p:grpSpPr bwMode="auto">
            <a:xfrm>
              <a:off x="177" y="1945"/>
              <a:ext cx="494" cy="356"/>
              <a:chOff x="177" y="1945"/>
              <a:chExt cx="494" cy="356"/>
            </a:xfrm>
          </p:grpSpPr>
          <p:sp>
            <p:nvSpPr>
              <p:cNvPr id="144421" name="Line 37"/>
              <p:cNvSpPr>
                <a:spLocks noChangeShapeType="1"/>
              </p:cNvSpPr>
              <p:nvPr/>
            </p:nvSpPr>
            <p:spPr bwMode="auto">
              <a:xfrm flipH="1">
                <a:off x="177" y="1947"/>
                <a:ext cx="112" cy="121"/>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2" name="Line 38"/>
              <p:cNvSpPr>
                <a:spLocks noChangeShapeType="1"/>
              </p:cNvSpPr>
              <p:nvPr/>
            </p:nvSpPr>
            <p:spPr bwMode="auto">
              <a:xfrm flipH="1">
                <a:off x="223" y="1947"/>
                <a:ext cx="138" cy="151"/>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3" name="Line 39"/>
              <p:cNvSpPr>
                <a:spLocks noChangeShapeType="1"/>
              </p:cNvSpPr>
              <p:nvPr/>
            </p:nvSpPr>
            <p:spPr bwMode="auto">
              <a:xfrm flipH="1">
                <a:off x="260" y="1946"/>
                <a:ext cx="169" cy="190"/>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4" name="Line 40"/>
              <p:cNvSpPr>
                <a:spLocks noChangeShapeType="1"/>
              </p:cNvSpPr>
              <p:nvPr/>
            </p:nvSpPr>
            <p:spPr bwMode="auto">
              <a:xfrm flipH="1">
                <a:off x="263" y="1947"/>
                <a:ext cx="230" cy="266"/>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5" name="Line 41"/>
              <p:cNvSpPr>
                <a:spLocks noChangeShapeType="1"/>
              </p:cNvSpPr>
              <p:nvPr/>
            </p:nvSpPr>
            <p:spPr bwMode="auto">
              <a:xfrm flipH="1">
                <a:off x="271" y="1945"/>
                <a:ext cx="295" cy="33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6" name="Line 42"/>
              <p:cNvSpPr>
                <a:spLocks noChangeShapeType="1"/>
              </p:cNvSpPr>
              <p:nvPr/>
            </p:nvSpPr>
            <p:spPr bwMode="auto">
              <a:xfrm flipH="1">
                <a:off x="512" y="1951"/>
                <a:ext cx="118" cy="12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7" name="Line 43"/>
              <p:cNvSpPr>
                <a:spLocks noChangeShapeType="1"/>
              </p:cNvSpPr>
              <p:nvPr/>
            </p:nvSpPr>
            <p:spPr bwMode="auto">
              <a:xfrm flipH="1">
                <a:off x="314" y="2202"/>
                <a:ext cx="93" cy="9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8" name="Line 44"/>
              <p:cNvSpPr>
                <a:spLocks noChangeShapeType="1"/>
              </p:cNvSpPr>
              <p:nvPr/>
            </p:nvSpPr>
            <p:spPr bwMode="auto">
              <a:xfrm flipH="1">
                <a:off x="367" y="2254"/>
                <a:ext cx="44" cy="4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9" name="Line 45"/>
              <p:cNvSpPr>
                <a:spLocks noChangeShapeType="1"/>
              </p:cNvSpPr>
              <p:nvPr/>
            </p:nvSpPr>
            <p:spPr bwMode="auto">
              <a:xfrm flipH="1">
                <a:off x="577" y="1984"/>
                <a:ext cx="94" cy="9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430" name="Line 46"/>
            <p:cNvSpPr>
              <a:spLocks noChangeShapeType="1"/>
            </p:cNvSpPr>
            <p:nvPr/>
          </p:nvSpPr>
          <p:spPr bwMode="auto">
            <a:xfrm flipV="1">
              <a:off x="72" y="1833"/>
              <a:ext cx="747"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1" name="Line 47"/>
            <p:cNvSpPr>
              <a:spLocks noChangeShapeType="1"/>
            </p:cNvSpPr>
            <p:nvPr/>
          </p:nvSpPr>
          <p:spPr bwMode="auto">
            <a:xfrm flipV="1">
              <a:off x="294" y="1179"/>
              <a:ext cx="91"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2" name="Line 48"/>
            <p:cNvSpPr>
              <a:spLocks noChangeShapeType="1"/>
            </p:cNvSpPr>
            <p:nvPr/>
          </p:nvSpPr>
          <p:spPr bwMode="auto">
            <a:xfrm flipV="1">
              <a:off x="416" y="1330"/>
              <a:ext cx="0" cy="146"/>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3" name="Line 49"/>
            <p:cNvSpPr>
              <a:spLocks noChangeShapeType="1"/>
            </p:cNvSpPr>
            <p:nvPr/>
          </p:nvSpPr>
          <p:spPr bwMode="auto">
            <a:xfrm flipH="1" flipV="1">
              <a:off x="263" y="1323"/>
              <a:ext cx="0" cy="14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4" name="Freeform 50"/>
            <p:cNvSpPr/>
            <p:nvPr/>
          </p:nvSpPr>
          <p:spPr bwMode="auto">
            <a:xfrm>
              <a:off x="263" y="1177"/>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5" name="Line 51"/>
            <p:cNvSpPr>
              <a:spLocks noChangeShapeType="1"/>
            </p:cNvSpPr>
            <p:nvPr/>
          </p:nvSpPr>
          <p:spPr bwMode="auto">
            <a:xfrm>
              <a:off x="265" y="1333"/>
              <a:ext cx="158"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6" name="Line 52"/>
            <p:cNvSpPr>
              <a:spLocks noChangeShapeType="1"/>
            </p:cNvSpPr>
            <p:nvPr/>
          </p:nvSpPr>
          <p:spPr bwMode="auto">
            <a:xfrm flipV="1">
              <a:off x="187" y="1264"/>
              <a:ext cx="300"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7" name="Freeform 53"/>
            <p:cNvSpPr/>
            <p:nvPr/>
          </p:nvSpPr>
          <p:spPr bwMode="auto">
            <a:xfrm flipH="1">
              <a:off x="379" y="1182"/>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4438" name="Group 54"/>
            <p:cNvGrpSpPr/>
            <p:nvPr/>
          </p:nvGrpSpPr>
          <p:grpSpPr bwMode="auto">
            <a:xfrm>
              <a:off x="187" y="2169"/>
              <a:ext cx="300" cy="299"/>
              <a:chOff x="185" y="2169"/>
              <a:chExt cx="300" cy="299"/>
            </a:xfrm>
          </p:grpSpPr>
          <p:sp>
            <p:nvSpPr>
              <p:cNvPr id="144439" name="Line 55"/>
              <p:cNvSpPr>
                <a:spLocks noChangeShapeType="1"/>
              </p:cNvSpPr>
              <p:nvPr/>
            </p:nvSpPr>
            <p:spPr bwMode="auto">
              <a:xfrm>
                <a:off x="294" y="2466"/>
                <a:ext cx="91"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0" name="Line 56"/>
              <p:cNvSpPr>
                <a:spLocks noChangeShapeType="1"/>
              </p:cNvSpPr>
              <p:nvPr/>
            </p:nvSpPr>
            <p:spPr bwMode="auto">
              <a:xfrm>
                <a:off x="414" y="2169"/>
                <a:ext cx="0" cy="146"/>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1" name="Line 57"/>
              <p:cNvSpPr>
                <a:spLocks noChangeShapeType="1"/>
              </p:cNvSpPr>
              <p:nvPr/>
            </p:nvSpPr>
            <p:spPr bwMode="auto">
              <a:xfrm flipH="1">
                <a:off x="261" y="2179"/>
                <a:ext cx="0" cy="14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2" name="Freeform 58"/>
              <p:cNvSpPr/>
              <p:nvPr/>
            </p:nvSpPr>
            <p:spPr bwMode="auto">
              <a:xfrm flipV="1">
                <a:off x="263" y="2318"/>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3" name="Line 59"/>
              <p:cNvSpPr>
                <a:spLocks noChangeShapeType="1"/>
              </p:cNvSpPr>
              <p:nvPr/>
            </p:nvSpPr>
            <p:spPr bwMode="auto">
              <a:xfrm flipV="1">
                <a:off x="263" y="2312"/>
                <a:ext cx="158"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4" name="Line 60"/>
              <p:cNvSpPr>
                <a:spLocks noChangeShapeType="1"/>
              </p:cNvSpPr>
              <p:nvPr/>
            </p:nvSpPr>
            <p:spPr bwMode="auto">
              <a:xfrm>
                <a:off x="185" y="2381"/>
                <a:ext cx="300"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5" name="Freeform 61"/>
              <p:cNvSpPr/>
              <p:nvPr/>
            </p:nvSpPr>
            <p:spPr bwMode="auto">
              <a:xfrm flipH="1" flipV="1">
                <a:off x="379" y="2313"/>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446" name="Freeform 62"/>
            <p:cNvSpPr/>
            <p:nvPr/>
          </p:nvSpPr>
          <p:spPr bwMode="auto">
            <a:xfrm flipV="1">
              <a:off x="156" y="2058"/>
              <a:ext cx="107" cy="133"/>
            </a:xfrm>
            <a:custGeom>
              <a:avLst/>
              <a:gdLst>
                <a:gd name="T0" fmla="*/ 88 w 88"/>
                <a:gd name="T1" fmla="*/ 0 h 100"/>
                <a:gd name="T2" fmla="*/ 84 w 88"/>
                <a:gd name="T3" fmla="*/ 44 h 100"/>
                <a:gd name="T4" fmla="*/ 64 w 88"/>
                <a:gd name="T5" fmla="*/ 68 h 100"/>
                <a:gd name="T6" fmla="*/ 36 w 88"/>
                <a:gd name="T7" fmla="*/ 76 h 100"/>
                <a:gd name="T8" fmla="*/ 0 w 88"/>
                <a:gd name="T9" fmla="*/ 100 h 100"/>
              </a:gdLst>
              <a:ahLst/>
              <a:cxnLst>
                <a:cxn ang="0">
                  <a:pos x="T0" y="T1"/>
                </a:cxn>
                <a:cxn ang="0">
                  <a:pos x="T2" y="T3"/>
                </a:cxn>
                <a:cxn ang="0">
                  <a:pos x="T4" y="T5"/>
                </a:cxn>
                <a:cxn ang="0">
                  <a:pos x="T6" y="T7"/>
                </a:cxn>
                <a:cxn ang="0">
                  <a:pos x="T8" y="T9"/>
                </a:cxn>
              </a:cxnLst>
              <a:rect l="0" t="0" r="r" b="b"/>
              <a:pathLst>
                <a:path w="88" h="100">
                  <a:moveTo>
                    <a:pt x="88" y="0"/>
                  </a:moveTo>
                  <a:cubicBezTo>
                    <a:pt x="88" y="16"/>
                    <a:pt x="88" y="33"/>
                    <a:pt x="84" y="44"/>
                  </a:cubicBezTo>
                  <a:cubicBezTo>
                    <a:pt x="80" y="55"/>
                    <a:pt x="72" y="63"/>
                    <a:pt x="64" y="68"/>
                  </a:cubicBezTo>
                  <a:cubicBezTo>
                    <a:pt x="56" y="73"/>
                    <a:pt x="47" y="71"/>
                    <a:pt x="36" y="76"/>
                  </a:cubicBezTo>
                  <a:cubicBezTo>
                    <a:pt x="25" y="81"/>
                    <a:pt x="7" y="90"/>
                    <a:pt x="0" y="100"/>
                  </a:cubicBezTo>
                </a:path>
              </a:pathLst>
            </a:custGeom>
            <a:noFill/>
            <a:ln w="254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675" name="AutoShape 291"/>
          <p:cNvSpPr/>
          <p:nvPr/>
        </p:nvSpPr>
        <p:spPr bwMode="auto">
          <a:xfrm>
            <a:off x="2566035" y="711200"/>
            <a:ext cx="228600" cy="1066800"/>
          </a:xfrm>
          <a:prstGeom prst="leftBrace">
            <a:avLst>
              <a:gd name="adj1" fmla="val 38889"/>
              <a:gd name="adj2" fmla="val 50000"/>
            </a:avLst>
          </a:prstGeom>
          <a:noFill/>
          <a:ln w="28575">
            <a:solidFill>
              <a:srgbClr val="002060"/>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4679" name="Picture 295"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5260" y="1530350"/>
            <a:ext cx="3797300" cy="4963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4388"/>
                                        </p:tgtEl>
                                        <p:attrNameLst>
                                          <p:attrName>style.visibility</p:attrName>
                                        </p:attrNameLst>
                                      </p:cBhvr>
                                      <p:to>
                                        <p:strVal val="visible"/>
                                      </p:to>
                                    </p:set>
                                    <p:animEffect transition="in" filter="wipe(left)">
                                      <p:cBhvr>
                                        <p:cTn id="7" dur="500"/>
                                        <p:tgtEl>
                                          <p:spTgt spid="1443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4675"/>
                                        </p:tgtEl>
                                        <p:attrNameLst>
                                          <p:attrName>style.visibility</p:attrName>
                                        </p:attrNameLst>
                                      </p:cBhvr>
                                      <p:to>
                                        <p:strVal val="visible"/>
                                      </p:to>
                                    </p:set>
                                    <p:animEffect transition="in" filter="wipe(left)">
                                      <p:cBhvr>
                                        <p:cTn id="12" dur="500"/>
                                        <p:tgtEl>
                                          <p:spTgt spid="1446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4389"/>
                                        </p:tgtEl>
                                        <p:attrNameLst>
                                          <p:attrName>style.visibility</p:attrName>
                                        </p:attrNameLst>
                                      </p:cBhvr>
                                      <p:to>
                                        <p:strVal val="visible"/>
                                      </p:to>
                                    </p:set>
                                    <p:animEffect transition="in" filter="wipe(left)">
                                      <p:cBhvr>
                                        <p:cTn id="17" dur="500"/>
                                        <p:tgtEl>
                                          <p:spTgt spid="14438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4392"/>
                                        </p:tgtEl>
                                        <p:attrNameLst>
                                          <p:attrName>style.visibility</p:attrName>
                                        </p:attrNameLst>
                                      </p:cBhvr>
                                      <p:to>
                                        <p:strVal val="visible"/>
                                      </p:to>
                                    </p:set>
                                    <p:animEffect transition="in" filter="dissolve">
                                      <p:cBhvr>
                                        <p:cTn id="22" dur="500"/>
                                        <p:tgtEl>
                                          <p:spTgt spid="144392"/>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44679"/>
                                        </p:tgtEl>
                                        <p:attrNameLst>
                                          <p:attrName>style.visibility</p:attrName>
                                        </p:attrNameLst>
                                      </p:cBhvr>
                                      <p:to>
                                        <p:strVal val="visible"/>
                                      </p:to>
                                    </p:set>
                                    <p:animEffect transition="in" filter="dissolve">
                                      <p:cBhvr>
                                        <p:cTn id="26" dur="500"/>
                                        <p:tgtEl>
                                          <p:spTgt spid="144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bldLvl="0" animBg="1" autoUpdateAnimBg="0"/>
      <p:bldP spid="144389" grpId="0" bldLvl="0" animBg="1" autoUpdateAnimBg="0"/>
      <p:bldP spid="14467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48" name="Rectangle 64"/>
          <p:cNvSpPr>
            <a:spLocks noChangeArrowheads="1"/>
          </p:cNvSpPr>
          <p:nvPr/>
        </p:nvSpPr>
        <p:spPr bwMode="auto">
          <a:xfrm>
            <a:off x="2775411" y="735013"/>
            <a:ext cx="28264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solidFill>
                  <a:schemeClr val="hlink"/>
                </a:solidFill>
                <a:latin typeface="黑体" panose="02010609060101010101" pitchFamily="49" charset="-122"/>
                <a:ea typeface="黑体" panose="02010609060101010101" pitchFamily="49" charset="-122"/>
              </a:rPr>
              <a:t>孔板式</a:t>
            </a:r>
            <a:r>
              <a:rPr kumimoji="1" lang="en-US" altLang="zh-CN" dirty="0">
                <a:solidFill>
                  <a:schemeClr val="hlink"/>
                </a:solidFill>
                <a:latin typeface="黑体" panose="02010609060101010101" pitchFamily="49" charset="-122"/>
                <a:ea typeface="黑体" panose="02010609060101010101" pitchFamily="49" charset="-122"/>
              </a:rPr>
              <a:t>----</a:t>
            </a:r>
            <a:r>
              <a:rPr kumimoji="1" lang="zh-CN" altLang="en-US" sz="2400" b="1" dirty="0">
                <a:solidFill>
                  <a:srgbClr val="002060"/>
                </a:solidFill>
                <a:latin typeface="宋体" panose="02010600030101010101" pitchFamily="2" charset="-122"/>
              </a:rPr>
              <a:t>中等直径</a:t>
            </a:r>
            <a:endParaRPr kumimoji="1" lang="zh-CN" altLang="en-US" sz="2400" b="1" dirty="0">
              <a:solidFill>
                <a:srgbClr val="002060"/>
              </a:solidFill>
              <a:latin typeface="宋体" panose="02010600030101010101" pitchFamily="2" charset="-122"/>
            </a:endParaRPr>
          </a:p>
        </p:txBody>
      </p:sp>
      <p:grpSp>
        <p:nvGrpSpPr>
          <p:cNvPr id="170049" name="Group 65"/>
          <p:cNvGrpSpPr/>
          <p:nvPr/>
        </p:nvGrpSpPr>
        <p:grpSpPr bwMode="auto">
          <a:xfrm>
            <a:off x="5576888" y="1712913"/>
            <a:ext cx="1708150" cy="3636962"/>
            <a:chOff x="1008" y="825"/>
            <a:chExt cx="673" cy="1955"/>
          </a:xfrm>
        </p:grpSpPr>
        <p:sp>
          <p:nvSpPr>
            <p:cNvPr id="170050" name="Line 66"/>
            <p:cNvSpPr>
              <a:spLocks noChangeShapeType="1"/>
            </p:cNvSpPr>
            <p:nvPr/>
          </p:nvSpPr>
          <p:spPr bwMode="auto">
            <a:xfrm flipH="1">
              <a:off x="1242" y="967"/>
              <a:ext cx="0" cy="461"/>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1" name="Line 67"/>
            <p:cNvSpPr>
              <a:spLocks noChangeShapeType="1"/>
            </p:cNvSpPr>
            <p:nvPr/>
          </p:nvSpPr>
          <p:spPr bwMode="auto">
            <a:xfrm>
              <a:off x="1394" y="975"/>
              <a:ext cx="0" cy="45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2" name="Line 68"/>
            <p:cNvSpPr>
              <a:spLocks noChangeShapeType="1"/>
            </p:cNvSpPr>
            <p:nvPr/>
          </p:nvSpPr>
          <p:spPr bwMode="auto">
            <a:xfrm>
              <a:off x="1237" y="1139"/>
              <a:ext cx="150"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3" name="Line 69"/>
            <p:cNvSpPr>
              <a:spLocks noChangeShapeType="1"/>
            </p:cNvSpPr>
            <p:nvPr/>
          </p:nvSpPr>
          <p:spPr bwMode="auto">
            <a:xfrm>
              <a:off x="1237" y="1396"/>
              <a:ext cx="162"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4" name="Line 70"/>
            <p:cNvSpPr>
              <a:spLocks noChangeShapeType="1"/>
            </p:cNvSpPr>
            <p:nvPr/>
          </p:nvSpPr>
          <p:spPr bwMode="auto">
            <a:xfrm>
              <a:off x="1419" y="1452"/>
              <a:ext cx="82"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5" name="Line 71"/>
            <p:cNvSpPr>
              <a:spLocks noChangeShapeType="1"/>
            </p:cNvSpPr>
            <p:nvPr/>
          </p:nvSpPr>
          <p:spPr bwMode="auto">
            <a:xfrm>
              <a:off x="1498" y="1446"/>
              <a:ext cx="61" cy="5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6" name="Line 72"/>
            <p:cNvSpPr>
              <a:spLocks noChangeShapeType="1"/>
            </p:cNvSpPr>
            <p:nvPr/>
          </p:nvSpPr>
          <p:spPr bwMode="auto">
            <a:xfrm>
              <a:off x="1554" y="1489"/>
              <a:ext cx="3" cy="561"/>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7" name="Line 73"/>
            <p:cNvSpPr>
              <a:spLocks noChangeShapeType="1"/>
            </p:cNvSpPr>
            <p:nvPr/>
          </p:nvSpPr>
          <p:spPr bwMode="auto">
            <a:xfrm flipH="1">
              <a:off x="1496" y="2040"/>
              <a:ext cx="64" cy="79"/>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8" name="Line 74"/>
            <p:cNvSpPr>
              <a:spLocks noChangeShapeType="1"/>
            </p:cNvSpPr>
            <p:nvPr/>
          </p:nvSpPr>
          <p:spPr bwMode="auto">
            <a:xfrm flipH="1">
              <a:off x="1425" y="2113"/>
              <a:ext cx="76"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59" name="Line 75"/>
            <p:cNvSpPr>
              <a:spLocks noChangeShapeType="1"/>
            </p:cNvSpPr>
            <p:nvPr/>
          </p:nvSpPr>
          <p:spPr bwMode="auto">
            <a:xfrm flipH="1">
              <a:off x="1118" y="1454"/>
              <a:ext cx="98"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0" name="Line 76"/>
            <p:cNvSpPr>
              <a:spLocks noChangeShapeType="1"/>
            </p:cNvSpPr>
            <p:nvPr/>
          </p:nvSpPr>
          <p:spPr bwMode="auto">
            <a:xfrm flipH="1">
              <a:off x="1074" y="1452"/>
              <a:ext cx="49" cy="55"/>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1" name="Line 77"/>
            <p:cNvSpPr>
              <a:spLocks noChangeShapeType="1"/>
            </p:cNvSpPr>
            <p:nvPr/>
          </p:nvSpPr>
          <p:spPr bwMode="auto">
            <a:xfrm>
              <a:off x="1074" y="1499"/>
              <a:ext cx="4" cy="55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2" name="Line 78"/>
            <p:cNvSpPr>
              <a:spLocks noChangeShapeType="1"/>
            </p:cNvSpPr>
            <p:nvPr/>
          </p:nvSpPr>
          <p:spPr bwMode="auto">
            <a:xfrm>
              <a:off x="1073" y="2042"/>
              <a:ext cx="59" cy="74"/>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3" name="Line 79"/>
            <p:cNvSpPr>
              <a:spLocks noChangeShapeType="1"/>
            </p:cNvSpPr>
            <p:nvPr/>
          </p:nvSpPr>
          <p:spPr bwMode="auto">
            <a:xfrm>
              <a:off x="1122" y="2108"/>
              <a:ext cx="112" cy="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4" name="Line 80"/>
            <p:cNvSpPr>
              <a:spLocks noChangeShapeType="1"/>
            </p:cNvSpPr>
            <p:nvPr/>
          </p:nvSpPr>
          <p:spPr bwMode="auto">
            <a:xfrm>
              <a:off x="1223" y="2105"/>
              <a:ext cx="39" cy="3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5" name="Line 81"/>
            <p:cNvSpPr>
              <a:spLocks noChangeShapeType="1"/>
            </p:cNvSpPr>
            <p:nvPr/>
          </p:nvSpPr>
          <p:spPr bwMode="auto">
            <a:xfrm flipH="1">
              <a:off x="1257" y="2133"/>
              <a:ext cx="0" cy="47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6" name="Line 82"/>
            <p:cNvSpPr>
              <a:spLocks noChangeShapeType="1"/>
            </p:cNvSpPr>
            <p:nvPr/>
          </p:nvSpPr>
          <p:spPr bwMode="auto">
            <a:xfrm flipH="1">
              <a:off x="1403" y="2110"/>
              <a:ext cx="32" cy="32"/>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7" name="Line 83"/>
            <p:cNvSpPr>
              <a:spLocks noChangeShapeType="1"/>
            </p:cNvSpPr>
            <p:nvPr/>
          </p:nvSpPr>
          <p:spPr bwMode="auto">
            <a:xfrm flipH="1">
              <a:off x="1408" y="2134"/>
              <a:ext cx="0" cy="49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8" name="Line 84"/>
            <p:cNvSpPr>
              <a:spLocks noChangeShapeType="1"/>
            </p:cNvSpPr>
            <p:nvPr/>
          </p:nvSpPr>
          <p:spPr bwMode="auto">
            <a:xfrm>
              <a:off x="1252" y="2407"/>
              <a:ext cx="156"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69" name="Line 85"/>
            <p:cNvSpPr>
              <a:spLocks noChangeShapeType="1"/>
            </p:cNvSpPr>
            <p:nvPr/>
          </p:nvSpPr>
          <p:spPr bwMode="auto">
            <a:xfrm>
              <a:off x="1249" y="2174"/>
              <a:ext cx="164"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0" name="Line 86"/>
            <p:cNvSpPr>
              <a:spLocks noChangeShapeType="1"/>
            </p:cNvSpPr>
            <p:nvPr/>
          </p:nvSpPr>
          <p:spPr bwMode="auto">
            <a:xfrm>
              <a:off x="1137" y="1920"/>
              <a:ext cx="379"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1" name="Line 87"/>
            <p:cNvSpPr>
              <a:spLocks noChangeShapeType="1"/>
            </p:cNvSpPr>
            <p:nvPr/>
          </p:nvSpPr>
          <p:spPr bwMode="auto">
            <a:xfrm flipH="1">
              <a:off x="1078" y="1918"/>
              <a:ext cx="54" cy="55"/>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2" name="Line 88"/>
            <p:cNvSpPr>
              <a:spLocks noChangeShapeType="1"/>
            </p:cNvSpPr>
            <p:nvPr/>
          </p:nvSpPr>
          <p:spPr bwMode="auto">
            <a:xfrm>
              <a:off x="1501" y="1917"/>
              <a:ext cx="54" cy="51"/>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3" name="Line 89"/>
            <p:cNvSpPr>
              <a:spLocks noChangeShapeType="1"/>
            </p:cNvSpPr>
            <p:nvPr/>
          </p:nvSpPr>
          <p:spPr bwMode="auto">
            <a:xfrm flipV="1">
              <a:off x="1080" y="1584"/>
              <a:ext cx="465"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4" name="Line 90"/>
            <p:cNvSpPr>
              <a:spLocks noChangeShapeType="1"/>
            </p:cNvSpPr>
            <p:nvPr/>
          </p:nvSpPr>
          <p:spPr bwMode="auto">
            <a:xfrm>
              <a:off x="1071" y="1597"/>
              <a:ext cx="66" cy="69"/>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5" name="Line 91"/>
            <p:cNvSpPr>
              <a:spLocks noChangeShapeType="1"/>
            </p:cNvSpPr>
            <p:nvPr/>
          </p:nvSpPr>
          <p:spPr bwMode="auto">
            <a:xfrm flipV="1">
              <a:off x="1131" y="1655"/>
              <a:ext cx="375"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6" name="Line 92"/>
            <p:cNvSpPr>
              <a:spLocks noChangeShapeType="1"/>
            </p:cNvSpPr>
            <p:nvPr/>
          </p:nvSpPr>
          <p:spPr bwMode="auto">
            <a:xfrm flipH="1">
              <a:off x="1511" y="1592"/>
              <a:ext cx="39" cy="61"/>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7" name="Line 93"/>
            <p:cNvSpPr>
              <a:spLocks noChangeShapeType="1"/>
            </p:cNvSpPr>
            <p:nvPr/>
          </p:nvSpPr>
          <p:spPr bwMode="auto">
            <a:xfrm>
              <a:off x="1130" y="1655"/>
              <a:ext cx="2" cy="267"/>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78" name="Line 94"/>
            <p:cNvSpPr>
              <a:spLocks noChangeShapeType="1"/>
            </p:cNvSpPr>
            <p:nvPr/>
          </p:nvSpPr>
          <p:spPr bwMode="auto">
            <a:xfrm flipH="1">
              <a:off x="1508" y="1645"/>
              <a:ext cx="5" cy="275"/>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0079" name="Group 95"/>
            <p:cNvGrpSpPr/>
            <p:nvPr/>
          </p:nvGrpSpPr>
          <p:grpSpPr bwMode="auto">
            <a:xfrm>
              <a:off x="1262" y="2414"/>
              <a:ext cx="140" cy="204"/>
              <a:chOff x="1262" y="2414"/>
              <a:chExt cx="140" cy="204"/>
            </a:xfrm>
          </p:grpSpPr>
          <p:sp>
            <p:nvSpPr>
              <p:cNvPr id="170080" name="Line 96"/>
              <p:cNvSpPr>
                <a:spLocks noChangeShapeType="1"/>
              </p:cNvSpPr>
              <p:nvPr/>
            </p:nvSpPr>
            <p:spPr bwMode="auto">
              <a:xfrm flipH="1">
                <a:off x="1262" y="2415"/>
                <a:ext cx="69" cy="6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1" name="Line 97"/>
              <p:cNvSpPr>
                <a:spLocks noChangeShapeType="1"/>
              </p:cNvSpPr>
              <p:nvPr/>
            </p:nvSpPr>
            <p:spPr bwMode="auto">
              <a:xfrm flipH="1">
                <a:off x="1262" y="2414"/>
                <a:ext cx="128" cy="120"/>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2" name="Line 98"/>
              <p:cNvSpPr>
                <a:spLocks noChangeShapeType="1"/>
              </p:cNvSpPr>
              <p:nvPr/>
            </p:nvSpPr>
            <p:spPr bwMode="auto">
              <a:xfrm flipH="1">
                <a:off x="1262" y="2467"/>
                <a:ext cx="140" cy="118"/>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3" name="Line 99"/>
              <p:cNvSpPr>
                <a:spLocks noChangeShapeType="1"/>
              </p:cNvSpPr>
              <p:nvPr/>
            </p:nvSpPr>
            <p:spPr bwMode="auto">
              <a:xfrm flipH="1">
                <a:off x="1292" y="2526"/>
                <a:ext cx="107" cy="91"/>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4" name="Line 100"/>
              <p:cNvSpPr>
                <a:spLocks noChangeShapeType="1"/>
              </p:cNvSpPr>
              <p:nvPr/>
            </p:nvSpPr>
            <p:spPr bwMode="auto">
              <a:xfrm flipH="1">
                <a:off x="1352" y="2576"/>
                <a:ext cx="47" cy="4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0085" name="Group 101"/>
            <p:cNvGrpSpPr/>
            <p:nvPr/>
          </p:nvGrpSpPr>
          <p:grpSpPr bwMode="auto">
            <a:xfrm>
              <a:off x="1246" y="986"/>
              <a:ext cx="139" cy="145"/>
              <a:chOff x="1246" y="986"/>
              <a:chExt cx="139" cy="145"/>
            </a:xfrm>
          </p:grpSpPr>
          <p:sp>
            <p:nvSpPr>
              <p:cNvPr id="170086" name="Line 102"/>
              <p:cNvSpPr>
                <a:spLocks noChangeShapeType="1"/>
              </p:cNvSpPr>
              <p:nvPr/>
            </p:nvSpPr>
            <p:spPr bwMode="auto">
              <a:xfrm flipH="1">
                <a:off x="1248" y="986"/>
                <a:ext cx="56" cy="50"/>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7" name="Line 103"/>
              <p:cNvSpPr>
                <a:spLocks noChangeShapeType="1"/>
              </p:cNvSpPr>
              <p:nvPr/>
            </p:nvSpPr>
            <p:spPr bwMode="auto">
              <a:xfrm flipH="1">
                <a:off x="1246" y="986"/>
                <a:ext cx="116" cy="103"/>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8" name="Line 104"/>
              <p:cNvSpPr>
                <a:spLocks noChangeShapeType="1"/>
              </p:cNvSpPr>
              <p:nvPr/>
            </p:nvSpPr>
            <p:spPr bwMode="auto">
              <a:xfrm flipH="1">
                <a:off x="1269" y="1019"/>
                <a:ext cx="114" cy="11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89" name="Line 105"/>
              <p:cNvSpPr>
                <a:spLocks noChangeShapeType="1"/>
              </p:cNvSpPr>
              <p:nvPr/>
            </p:nvSpPr>
            <p:spPr bwMode="auto">
              <a:xfrm flipH="1">
                <a:off x="1324" y="1072"/>
                <a:ext cx="61" cy="58"/>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0090" name="Line 106"/>
            <p:cNvSpPr>
              <a:spLocks noChangeShapeType="1"/>
            </p:cNvSpPr>
            <p:nvPr/>
          </p:nvSpPr>
          <p:spPr bwMode="auto">
            <a:xfrm flipV="1">
              <a:off x="1123" y="1260"/>
              <a:ext cx="421" cy="9"/>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1" name="Line 107"/>
            <p:cNvSpPr>
              <a:spLocks noChangeShapeType="1"/>
            </p:cNvSpPr>
            <p:nvPr/>
          </p:nvSpPr>
          <p:spPr bwMode="auto">
            <a:xfrm flipV="1">
              <a:off x="1008" y="1788"/>
              <a:ext cx="673"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2" name="Line 108"/>
            <p:cNvSpPr>
              <a:spLocks noChangeShapeType="1"/>
            </p:cNvSpPr>
            <p:nvPr/>
          </p:nvSpPr>
          <p:spPr bwMode="auto">
            <a:xfrm>
              <a:off x="1171" y="2296"/>
              <a:ext cx="354" cy="2"/>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3" name="Line 109"/>
            <p:cNvSpPr>
              <a:spLocks noChangeShapeType="1"/>
            </p:cNvSpPr>
            <p:nvPr/>
          </p:nvSpPr>
          <p:spPr bwMode="auto">
            <a:xfrm>
              <a:off x="1286" y="2778"/>
              <a:ext cx="91"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4" name="Line 110"/>
            <p:cNvSpPr>
              <a:spLocks noChangeShapeType="1"/>
            </p:cNvSpPr>
            <p:nvPr/>
          </p:nvSpPr>
          <p:spPr bwMode="auto">
            <a:xfrm flipH="1">
              <a:off x="1257" y="2491"/>
              <a:ext cx="0" cy="143"/>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5" name="Freeform 111"/>
            <p:cNvSpPr/>
            <p:nvPr/>
          </p:nvSpPr>
          <p:spPr bwMode="auto">
            <a:xfrm flipV="1">
              <a:off x="1257" y="2630"/>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6" name="Line 112"/>
            <p:cNvSpPr>
              <a:spLocks noChangeShapeType="1"/>
            </p:cNvSpPr>
            <p:nvPr/>
          </p:nvSpPr>
          <p:spPr bwMode="auto">
            <a:xfrm flipV="1">
              <a:off x="1255" y="2624"/>
              <a:ext cx="158"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7" name="Line 113"/>
            <p:cNvSpPr>
              <a:spLocks noChangeShapeType="1"/>
            </p:cNvSpPr>
            <p:nvPr/>
          </p:nvSpPr>
          <p:spPr bwMode="auto">
            <a:xfrm>
              <a:off x="1181" y="2693"/>
              <a:ext cx="300"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8" name="Freeform 114"/>
            <p:cNvSpPr/>
            <p:nvPr/>
          </p:nvSpPr>
          <p:spPr bwMode="auto">
            <a:xfrm flipH="1" flipV="1">
              <a:off x="1371" y="2625"/>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99" name="Line 115"/>
            <p:cNvSpPr>
              <a:spLocks noChangeShapeType="1"/>
            </p:cNvSpPr>
            <p:nvPr/>
          </p:nvSpPr>
          <p:spPr bwMode="auto">
            <a:xfrm flipV="1">
              <a:off x="1270" y="827"/>
              <a:ext cx="91"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0" name="Freeform 116"/>
            <p:cNvSpPr/>
            <p:nvPr/>
          </p:nvSpPr>
          <p:spPr bwMode="auto">
            <a:xfrm>
              <a:off x="1241" y="825"/>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1" name="Line 117"/>
            <p:cNvSpPr>
              <a:spLocks noChangeShapeType="1"/>
            </p:cNvSpPr>
            <p:nvPr/>
          </p:nvSpPr>
          <p:spPr bwMode="auto">
            <a:xfrm>
              <a:off x="1241" y="981"/>
              <a:ext cx="158" cy="0"/>
            </a:xfrm>
            <a:prstGeom prst="line">
              <a:avLst/>
            </a:prstGeom>
            <a:noFill/>
            <a:ln w="25400">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2" name="Line 118"/>
            <p:cNvSpPr>
              <a:spLocks noChangeShapeType="1"/>
            </p:cNvSpPr>
            <p:nvPr/>
          </p:nvSpPr>
          <p:spPr bwMode="auto">
            <a:xfrm flipV="1">
              <a:off x="1165" y="912"/>
              <a:ext cx="300" cy="0"/>
            </a:xfrm>
            <a:prstGeom prst="line">
              <a:avLst/>
            </a:prstGeom>
            <a:noFill/>
            <a:ln w="12700">
              <a:solidFill>
                <a:srgbClr val="003399"/>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3" name="Freeform 119"/>
            <p:cNvSpPr/>
            <p:nvPr/>
          </p:nvSpPr>
          <p:spPr bwMode="auto">
            <a:xfrm flipH="1">
              <a:off x="1355" y="830"/>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3399"/>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4" name="Line 120"/>
            <p:cNvSpPr>
              <a:spLocks noChangeShapeType="1"/>
            </p:cNvSpPr>
            <p:nvPr/>
          </p:nvSpPr>
          <p:spPr bwMode="auto">
            <a:xfrm>
              <a:off x="1392" y="1420"/>
              <a:ext cx="36" cy="32"/>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5" name="Line 121"/>
            <p:cNvSpPr>
              <a:spLocks noChangeShapeType="1"/>
            </p:cNvSpPr>
            <p:nvPr/>
          </p:nvSpPr>
          <p:spPr bwMode="auto">
            <a:xfrm flipV="1">
              <a:off x="1210" y="1418"/>
              <a:ext cx="32" cy="36"/>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0106" name="Group 122"/>
            <p:cNvGrpSpPr/>
            <p:nvPr/>
          </p:nvGrpSpPr>
          <p:grpSpPr bwMode="auto">
            <a:xfrm>
              <a:off x="1082" y="1405"/>
              <a:ext cx="468" cy="176"/>
              <a:chOff x="1082" y="1405"/>
              <a:chExt cx="468" cy="176"/>
            </a:xfrm>
          </p:grpSpPr>
          <p:sp>
            <p:nvSpPr>
              <p:cNvPr id="170107" name="Line 123"/>
              <p:cNvSpPr>
                <a:spLocks noChangeShapeType="1"/>
              </p:cNvSpPr>
              <p:nvPr/>
            </p:nvSpPr>
            <p:spPr bwMode="auto">
              <a:xfrm flipH="1">
                <a:off x="1082" y="1465"/>
                <a:ext cx="85" cy="8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8" name="Line 124"/>
              <p:cNvSpPr>
                <a:spLocks noChangeShapeType="1"/>
              </p:cNvSpPr>
              <p:nvPr/>
            </p:nvSpPr>
            <p:spPr bwMode="auto">
              <a:xfrm flipH="1">
                <a:off x="1115" y="1405"/>
                <a:ext cx="162" cy="16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09" name="Line 125"/>
              <p:cNvSpPr>
                <a:spLocks noChangeShapeType="1"/>
              </p:cNvSpPr>
              <p:nvPr/>
            </p:nvSpPr>
            <p:spPr bwMode="auto">
              <a:xfrm flipH="1">
                <a:off x="1158" y="1407"/>
                <a:ext cx="166" cy="174"/>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0" name="Line 126"/>
              <p:cNvSpPr>
                <a:spLocks noChangeShapeType="1"/>
              </p:cNvSpPr>
              <p:nvPr/>
            </p:nvSpPr>
            <p:spPr bwMode="auto">
              <a:xfrm flipH="1">
                <a:off x="1214" y="1407"/>
                <a:ext cx="162" cy="170"/>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1" name="Line 127"/>
              <p:cNvSpPr>
                <a:spLocks noChangeShapeType="1"/>
              </p:cNvSpPr>
              <p:nvPr/>
            </p:nvSpPr>
            <p:spPr bwMode="auto">
              <a:xfrm flipH="1">
                <a:off x="1263" y="1442"/>
                <a:ext cx="135" cy="137"/>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2" name="Line 128"/>
              <p:cNvSpPr>
                <a:spLocks noChangeShapeType="1"/>
              </p:cNvSpPr>
              <p:nvPr/>
            </p:nvSpPr>
            <p:spPr bwMode="auto">
              <a:xfrm flipH="1">
                <a:off x="1321" y="1463"/>
                <a:ext cx="119" cy="113"/>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3" name="Line 129"/>
              <p:cNvSpPr>
                <a:spLocks noChangeShapeType="1"/>
              </p:cNvSpPr>
              <p:nvPr/>
            </p:nvSpPr>
            <p:spPr bwMode="auto">
              <a:xfrm flipH="1">
                <a:off x="1375" y="1460"/>
                <a:ext cx="125" cy="116"/>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4" name="Line 130"/>
              <p:cNvSpPr>
                <a:spLocks noChangeShapeType="1"/>
              </p:cNvSpPr>
              <p:nvPr/>
            </p:nvSpPr>
            <p:spPr bwMode="auto">
              <a:xfrm flipH="1">
                <a:off x="1481" y="1519"/>
                <a:ext cx="69" cy="62"/>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5" name="Line 131"/>
              <p:cNvSpPr>
                <a:spLocks noChangeShapeType="1"/>
              </p:cNvSpPr>
              <p:nvPr/>
            </p:nvSpPr>
            <p:spPr bwMode="auto">
              <a:xfrm flipH="1">
                <a:off x="1433" y="1487"/>
                <a:ext cx="95" cy="8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0116" name="Group 132"/>
            <p:cNvGrpSpPr/>
            <p:nvPr/>
          </p:nvGrpSpPr>
          <p:grpSpPr bwMode="auto">
            <a:xfrm>
              <a:off x="1079" y="1921"/>
              <a:ext cx="471" cy="248"/>
              <a:chOff x="1079" y="1921"/>
              <a:chExt cx="471" cy="248"/>
            </a:xfrm>
          </p:grpSpPr>
          <p:sp>
            <p:nvSpPr>
              <p:cNvPr id="170117" name="Line 133"/>
              <p:cNvSpPr>
                <a:spLocks noChangeShapeType="1"/>
              </p:cNvSpPr>
              <p:nvPr/>
            </p:nvSpPr>
            <p:spPr bwMode="auto">
              <a:xfrm flipH="1">
                <a:off x="1079" y="1921"/>
                <a:ext cx="123" cy="101"/>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8" name="Line 134"/>
              <p:cNvSpPr>
                <a:spLocks noChangeShapeType="1"/>
              </p:cNvSpPr>
              <p:nvPr/>
            </p:nvSpPr>
            <p:spPr bwMode="auto">
              <a:xfrm flipH="1">
                <a:off x="1093" y="1929"/>
                <a:ext cx="173" cy="135"/>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19" name="Line 135"/>
              <p:cNvSpPr>
                <a:spLocks noChangeShapeType="1"/>
              </p:cNvSpPr>
              <p:nvPr/>
            </p:nvSpPr>
            <p:spPr bwMode="auto">
              <a:xfrm flipH="1">
                <a:off x="1117" y="1931"/>
                <a:ext cx="218" cy="170"/>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20" name="Line 136"/>
              <p:cNvSpPr>
                <a:spLocks noChangeShapeType="1"/>
              </p:cNvSpPr>
              <p:nvPr/>
            </p:nvSpPr>
            <p:spPr bwMode="auto">
              <a:xfrm flipH="1">
                <a:off x="1190" y="1926"/>
                <a:ext cx="216" cy="176"/>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21" name="Line 137"/>
              <p:cNvSpPr>
                <a:spLocks noChangeShapeType="1"/>
              </p:cNvSpPr>
              <p:nvPr/>
            </p:nvSpPr>
            <p:spPr bwMode="auto">
              <a:xfrm flipH="1">
                <a:off x="1247" y="1921"/>
                <a:ext cx="235" cy="199"/>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22" name="Line 138"/>
              <p:cNvSpPr>
                <a:spLocks noChangeShapeType="1"/>
              </p:cNvSpPr>
              <p:nvPr/>
            </p:nvSpPr>
            <p:spPr bwMode="auto">
              <a:xfrm flipH="1">
                <a:off x="1265" y="1943"/>
                <a:ext cx="256" cy="223"/>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23" name="Line 139"/>
              <p:cNvSpPr>
                <a:spLocks noChangeShapeType="1"/>
              </p:cNvSpPr>
              <p:nvPr/>
            </p:nvSpPr>
            <p:spPr bwMode="auto">
              <a:xfrm flipH="1">
                <a:off x="1464" y="2031"/>
                <a:ext cx="86" cy="78"/>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124" name="Line 140"/>
              <p:cNvSpPr>
                <a:spLocks noChangeShapeType="1"/>
              </p:cNvSpPr>
              <p:nvPr/>
            </p:nvSpPr>
            <p:spPr bwMode="auto">
              <a:xfrm flipH="1">
                <a:off x="1335" y="1976"/>
                <a:ext cx="214" cy="193"/>
              </a:xfrm>
              <a:prstGeom prst="line">
                <a:avLst/>
              </a:prstGeom>
              <a:noFill/>
              <a:ln w="9525">
                <a:solidFill>
                  <a:srgbClr val="0033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70126" name="Text Box 142"/>
          <p:cNvSpPr txBox="1">
            <a:spLocks noChangeArrowheads="1"/>
          </p:cNvSpPr>
          <p:nvPr/>
        </p:nvSpPr>
        <p:spPr bwMode="auto">
          <a:xfrm>
            <a:off x="295275" y="711200"/>
            <a:ext cx="1910080" cy="338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dirty="0">
                <a:solidFill>
                  <a:schemeClr val="hlink"/>
                </a:solidFill>
                <a:latin typeface="黑体" panose="02010609060101010101" pitchFamily="49" charset="-122"/>
                <a:ea typeface="黑体" panose="02010609060101010101" pitchFamily="49" charset="-122"/>
              </a:rPr>
              <a:t>链轮的结构</a:t>
            </a:r>
            <a:endParaRPr kumimoji="1" lang="zh-CN" altLang="en-US" dirty="0">
              <a:solidFill>
                <a:schemeClr val="hlink"/>
              </a:solidFill>
              <a:latin typeface="黑体" panose="02010609060101010101" pitchFamily="49" charset="-122"/>
              <a:ea typeface="黑体" panose="02010609060101010101" pitchFamily="49" charset="-122"/>
            </a:endParaRPr>
          </a:p>
        </p:txBody>
      </p:sp>
      <p:sp>
        <p:nvSpPr>
          <p:cNvPr id="170127" name="Rectangle 143"/>
          <p:cNvSpPr>
            <a:spLocks noChangeArrowheads="1"/>
          </p:cNvSpPr>
          <p:nvPr/>
        </p:nvSpPr>
        <p:spPr bwMode="auto">
          <a:xfrm>
            <a:off x="2579370" y="188595"/>
            <a:ext cx="394906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solidFill>
                  <a:schemeClr val="hlink"/>
                </a:solidFill>
                <a:latin typeface="黑体" panose="02010609060101010101" pitchFamily="49" charset="-122"/>
                <a:ea typeface="黑体" panose="02010609060101010101" pitchFamily="49" charset="-122"/>
              </a:rPr>
              <a:t>实心式（整体式）</a:t>
            </a:r>
            <a:r>
              <a:rPr kumimoji="1" lang="en-US" altLang="zh-CN" sz="2400" b="1" dirty="0">
                <a:solidFill>
                  <a:srgbClr val="0000FF"/>
                </a:solidFill>
                <a:latin typeface="宋体" panose="02010600030101010101" pitchFamily="2" charset="-122"/>
              </a:rPr>
              <a:t>----</a:t>
            </a:r>
            <a:r>
              <a:rPr kumimoji="1" lang="zh-CN" altLang="en-US" sz="2400" b="1" dirty="0">
                <a:solidFill>
                  <a:srgbClr val="002060"/>
                </a:solidFill>
                <a:latin typeface="宋体" panose="02010600030101010101" pitchFamily="2" charset="-122"/>
              </a:rPr>
              <a:t>小直径</a:t>
            </a:r>
            <a:endParaRPr kumimoji="1" lang="zh-CN" altLang="en-US" sz="2400" b="1" dirty="0">
              <a:solidFill>
                <a:srgbClr val="002060"/>
              </a:solidFill>
              <a:latin typeface="宋体" panose="02010600030101010101" pitchFamily="2" charset="-122"/>
            </a:endParaRPr>
          </a:p>
        </p:txBody>
      </p:sp>
      <p:sp>
        <p:nvSpPr>
          <p:cNvPr id="170128" name="AutoShape 144"/>
          <p:cNvSpPr/>
          <p:nvPr/>
        </p:nvSpPr>
        <p:spPr bwMode="auto">
          <a:xfrm>
            <a:off x="2212975" y="463550"/>
            <a:ext cx="228600" cy="1066800"/>
          </a:xfrm>
          <a:prstGeom prst="leftBrace">
            <a:avLst>
              <a:gd name="adj1" fmla="val 38889"/>
              <a:gd name="adj2" fmla="val 50000"/>
            </a:avLst>
          </a:prstGeom>
          <a:noFill/>
          <a:ln w="28575">
            <a:solidFill>
              <a:srgbClr val="C00000"/>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70129" name="Picture 145"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1425" y="1975485"/>
            <a:ext cx="4360545" cy="41078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00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70049"/>
                                        </p:tgtEl>
                                        <p:attrNameLst>
                                          <p:attrName>style.visibility</p:attrName>
                                        </p:attrNameLst>
                                      </p:cBhvr>
                                      <p:to>
                                        <p:strVal val="visible"/>
                                      </p:to>
                                    </p:set>
                                    <p:animEffect transition="in" filter="dissolve">
                                      <p:cBhvr>
                                        <p:cTn id="11" dur="500"/>
                                        <p:tgtEl>
                                          <p:spTgt spid="170049"/>
                                        </p:tgtEl>
                                      </p:cBhvr>
                                    </p:animEffect>
                                  </p:childTnLst>
                                </p:cTn>
                              </p:par>
                            </p:childTnLst>
                          </p:cTn>
                        </p:par>
                        <p:par>
                          <p:cTn id="12" fill="hold">
                            <p:stCondLst>
                              <p:cond delay="500"/>
                            </p:stCondLst>
                            <p:childTnLst>
                              <p:par>
                                <p:cTn id="13" presetID="9" presetClass="entr" presetSubtype="0" fill="hold" nodeType="afterEffect">
                                  <p:stCondLst>
                                    <p:cond delay="0"/>
                                  </p:stCondLst>
                                  <p:childTnLst>
                                    <p:set>
                                      <p:cBhvr>
                                        <p:cTn id="14" dur="1" fill="hold">
                                          <p:stCondLst>
                                            <p:cond delay="0"/>
                                          </p:stCondLst>
                                        </p:cTn>
                                        <p:tgtEl>
                                          <p:spTgt spid="170129"/>
                                        </p:tgtEl>
                                        <p:attrNameLst>
                                          <p:attrName>style.visibility</p:attrName>
                                        </p:attrNameLst>
                                      </p:cBhvr>
                                      <p:to>
                                        <p:strVal val="visible"/>
                                      </p:to>
                                    </p:set>
                                    <p:animEffect transition="in" filter="dissolve">
                                      <p:cBhvr>
                                        <p:cTn id="15" dur="500"/>
                                        <p:tgtEl>
                                          <p:spTgt spid="170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4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ChangeArrowheads="1"/>
          </p:cNvSpPr>
          <p:nvPr/>
        </p:nvSpPr>
        <p:spPr bwMode="auto">
          <a:xfrm>
            <a:off x="2481263" y="1247775"/>
            <a:ext cx="45262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chemeClr val="hlink"/>
                </a:solidFill>
                <a:latin typeface="黑体" panose="02010609060101010101" pitchFamily="49" charset="-122"/>
                <a:ea typeface="黑体" panose="02010609060101010101" pitchFamily="49" charset="-122"/>
              </a:rPr>
              <a:t>组合式</a:t>
            </a:r>
            <a:r>
              <a:rPr kumimoji="1" lang="en-US" altLang="zh-CN" dirty="0">
                <a:solidFill>
                  <a:schemeClr val="hlink"/>
                </a:solidFill>
                <a:latin typeface="黑体" panose="02010609060101010101" pitchFamily="49" charset="-122"/>
                <a:ea typeface="黑体" panose="02010609060101010101" pitchFamily="49" charset="-122"/>
              </a:rPr>
              <a:t>----</a:t>
            </a:r>
            <a:r>
              <a:rPr kumimoji="1" lang="zh-CN" altLang="en-US" dirty="0">
                <a:solidFill>
                  <a:schemeClr val="hlink"/>
                </a:solidFill>
                <a:latin typeface="黑体" panose="02010609060101010101" pitchFamily="49" charset="-122"/>
                <a:ea typeface="黑体" panose="02010609060101010101" pitchFamily="49" charset="-122"/>
              </a:rPr>
              <a:t>大直径，</a:t>
            </a:r>
            <a:r>
              <a:rPr kumimoji="1" lang="zh-CN" altLang="en-US" sz="2400" dirty="0">
                <a:solidFill>
                  <a:srgbClr val="FF0000"/>
                </a:solidFill>
                <a:latin typeface="黑体" panose="02010609060101010101" pitchFamily="49" charset="-122"/>
                <a:ea typeface="黑体" panose="02010609060101010101" pitchFamily="49" charset="-122"/>
              </a:rPr>
              <a:t>齿圈可更换。</a:t>
            </a:r>
            <a:endParaRPr kumimoji="1" lang="zh-CN" altLang="en-US" sz="2400" dirty="0">
              <a:solidFill>
                <a:srgbClr val="FF0000"/>
              </a:solidFill>
              <a:latin typeface="黑体" panose="02010609060101010101" pitchFamily="49" charset="-122"/>
              <a:ea typeface="黑体" panose="02010609060101010101" pitchFamily="49" charset="-122"/>
            </a:endParaRPr>
          </a:p>
        </p:txBody>
      </p:sp>
      <p:sp>
        <p:nvSpPr>
          <p:cNvPr id="274588" name="Rectangle 156"/>
          <p:cNvSpPr>
            <a:spLocks noChangeArrowheads="1"/>
          </p:cNvSpPr>
          <p:nvPr/>
        </p:nvSpPr>
        <p:spPr bwMode="auto">
          <a:xfrm>
            <a:off x="2483768" y="764704"/>
            <a:ext cx="27238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chemeClr val="hlink"/>
                </a:solidFill>
                <a:latin typeface="黑体" panose="02010609060101010101" pitchFamily="49" charset="-122"/>
                <a:ea typeface="黑体" panose="02010609060101010101" pitchFamily="49" charset="-122"/>
              </a:rPr>
              <a:t>孔板式</a:t>
            </a:r>
            <a:r>
              <a:rPr kumimoji="1" lang="en-US" altLang="zh-CN" dirty="0">
                <a:solidFill>
                  <a:schemeClr val="hlink"/>
                </a:solidFill>
                <a:latin typeface="黑体" panose="02010609060101010101" pitchFamily="49" charset="-122"/>
                <a:ea typeface="黑体" panose="02010609060101010101" pitchFamily="49" charset="-122"/>
              </a:rPr>
              <a:t>----</a:t>
            </a:r>
            <a:r>
              <a:rPr kumimoji="1" lang="zh-CN" altLang="en-US" dirty="0">
                <a:solidFill>
                  <a:schemeClr val="hlink"/>
                </a:solidFill>
                <a:latin typeface="黑体" panose="02010609060101010101" pitchFamily="49" charset="-122"/>
                <a:ea typeface="黑体" panose="02010609060101010101" pitchFamily="49" charset="-122"/>
              </a:rPr>
              <a:t>中等直径</a:t>
            </a:r>
            <a:endParaRPr kumimoji="1" lang="zh-CN" altLang="en-US" dirty="0">
              <a:solidFill>
                <a:schemeClr val="hlink"/>
              </a:solidFill>
              <a:latin typeface="黑体" panose="02010609060101010101" pitchFamily="49" charset="-122"/>
              <a:ea typeface="黑体" panose="02010609060101010101" pitchFamily="49" charset="-122"/>
            </a:endParaRPr>
          </a:p>
        </p:txBody>
      </p:sp>
      <p:sp>
        <p:nvSpPr>
          <p:cNvPr id="274589" name="Text Box 157"/>
          <p:cNvSpPr txBox="1">
            <a:spLocks noChangeArrowheads="1"/>
          </p:cNvSpPr>
          <p:nvPr/>
        </p:nvSpPr>
        <p:spPr bwMode="auto">
          <a:xfrm>
            <a:off x="467544" y="836712"/>
            <a:ext cx="190976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dirty="0">
                <a:solidFill>
                  <a:schemeClr val="hlink"/>
                </a:solidFill>
                <a:latin typeface="黑体" panose="02010609060101010101" pitchFamily="49" charset="-122"/>
                <a:ea typeface="黑体" panose="02010609060101010101" pitchFamily="49" charset="-122"/>
              </a:rPr>
              <a:t>链轮的结构</a:t>
            </a:r>
            <a:endParaRPr kumimoji="1" lang="zh-CN" altLang="en-US" dirty="0">
              <a:solidFill>
                <a:schemeClr val="hlink"/>
              </a:solidFill>
              <a:latin typeface="黑体" panose="02010609060101010101" pitchFamily="49" charset="-122"/>
              <a:ea typeface="黑体" panose="02010609060101010101" pitchFamily="49" charset="-122"/>
            </a:endParaRPr>
          </a:p>
        </p:txBody>
      </p:sp>
      <p:sp>
        <p:nvSpPr>
          <p:cNvPr id="274590" name="Rectangle 158"/>
          <p:cNvSpPr>
            <a:spLocks noChangeArrowheads="1"/>
          </p:cNvSpPr>
          <p:nvPr/>
        </p:nvSpPr>
        <p:spPr bwMode="auto">
          <a:xfrm>
            <a:off x="2498725" y="163513"/>
            <a:ext cx="3815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chemeClr val="hlink"/>
                </a:solidFill>
                <a:latin typeface="黑体" panose="02010609060101010101" pitchFamily="49" charset="-122"/>
                <a:ea typeface="黑体" panose="02010609060101010101" pitchFamily="49" charset="-122"/>
              </a:rPr>
              <a:t>实心式（整体式）</a:t>
            </a:r>
            <a:r>
              <a:rPr kumimoji="1" lang="en-US" altLang="zh-CN" dirty="0">
                <a:solidFill>
                  <a:schemeClr val="hlink"/>
                </a:solidFill>
                <a:latin typeface="黑体" panose="02010609060101010101" pitchFamily="49" charset="-122"/>
                <a:ea typeface="黑体" panose="02010609060101010101" pitchFamily="49" charset="-122"/>
              </a:rPr>
              <a:t>----</a:t>
            </a:r>
            <a:r>
              <a:rPr kumimoji="1" lang="zh-CN" altLang="en-US" dirty="0">
                <a:solidFill>
                  <a:schemeClr val="hlink"/>
                </a:solidFill>
                <a:latin typeface="黑体" panose="02010609060101010101" pitchFamily="49" charset="-122"/>
                <a:ea typeface="黑体" panose="02010609060101010101" pitchFamily="49" charset="-122"/>
              </a:rPr>
              <a:t>小直径</a:t>
            </a:r>
            <a:endParaRPr kumimoji="1" lang="zh-CN" altLang="en-US" dirty="0">
              <a:solidFill>
                <a:schemeClr val="hlink"/>
              </a:solidFill>
              <a:latin typeface="黑体" panose="02010609060101010101" pitchFamily="49" charset="-122"/>
              <a:ea typeface="黑体" panose="02010609060101010101" pitchFamily="49" charset="-122"/>
            </a:endParaRPr>
          </a:p>
        </p:txBody>
      </p:sp>
      <p:sp>
        <p:nvSpPr>
          <p:cNvPr id="274591" name="AutoShape 159"/>
          <p:cNvSpPr/>
          <p:nvPr/>
        </p:nvSpPr>
        <p:spPr bwMode="auto">
          <a:xfrm>
            <a:off x="2212975" y="463550"/>
            <a:ext cx="228600" cy="1066800"/>
          </a:xfrm>
          <a:prstGeom prst="leftBrace">
            <a:avLst>
              <a:gd name="adj1" fmla="val 38889"/>
              <a:gd name="adj2" fmla="val 50000"/>
            </a:avLst>
          </a:prstGeom>
          <a:noFill/>
          <a:ln w="28575">
            <a:solidFill>
              <a:srgbClr val="C00000"/>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74592" name="Picture 160"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01160" y="1945005"/>
            <a:ext cx="3613150" cy="4582795"/>
          </a:xfrm>
          <a:prstGeom prst="rect">
            <a:avLst/>
          </a:prstGeom>
          <a:noFill/>
          <a:extLst>
            <a:ext uri="{909E8E84-426E-40DD-AFC4-6F175D3DCCD1}">
              <a14:hiddenFill xmlns:a14="http://schemas.microsoft.com/office/drawing/2010/main">
                <a:solidFill>
                  <a:srgbClr val="FFFFFF"/>
                </a:solidFill>
              </a14:hiddenFill>
            </a:ext>
          </a:extLst>
        </p:spPr>
      </p:pic>
      <p:grpSp>
        <p:nvGrpSpPr>
          <p:cNvPr id="161" name="Group 3"/>
          <p:cNvGrpSpPr/>
          <p:nvPr/>
        </p:nvGrpSpPr>
        <p:grpSpPr bwMode="auto">
          <a:xfrm flipH="1">
            <a:off x="1326208" y="2790999"/>
            <a:ext cx="1479550" cy="2849563"/>
            <a:chOff x="4888" y="2033"/>
            <a:chExt cx="932" cy="1795"/>
          </a:xfrm>
        </p:grpSpPr>
        <p:grpSp>
          <p:nvGrpSpPr>
            <p:cNvPr id="162" name="Group 4"/>
            <p:cNvGrpSpPr/>
            <p:nvPr/>
          </p:nvGrpSpPr>
          <p:grpSpPr bwMode="auto">
            <a:xfrm>
              <a:off x="4888" y="2033"/>
              <a:ext cx="932" cy="1787"/>
              <a:chOff x="2182" y="866"/>
              <a:chExt cx="932" cy="1787"/>
            </a:xfrm>
          </p:grpSpPr>
          <p:sp>
            <p:nvSpPr>
              <p:cNvPr id="166" name="Line 5"/>
              <p:cNvSpPr>
                <a:spLocks noChangeShapeType="1"/>
              </p:cNvSpPr>
              <p:nvPr/>
            </p:nvSpPr>
            <p:spPr bwMode="auto">
              <a:xfrm flipV="1">
                <a:off x="2461" y="874"/>
                <a:ext cx="186" cy="0"/>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 name="Line 6"/>
              <p:cNvSpPr>
                <a:spLocks noChangeShapeType="1"/>
              </p:cNvSpPr>
              <p:nvPr/>
            </p:nvSpPr>
            <p:spPr bwMode="auto">
              <a:xfrm>
                <a:off x="2651" y="866"/>
                <a:ext cx="1" cy="155"/>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 name="Line 7"/>
              <p:cNvSpPr>
                <a:spLocks noChangeShapeType="1"/>
              </p:cNvSpPr>
              <p:nvPr/>
            </p:nvSpPr>
            <p:spPr bwMode="auto">
              <a:xfrm flipV="1">
                <a:off x="2266" y="1304"/>
                <a:ext cx="206" cy="2"/>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Line 8"/>
              <p:cNvSpPr>
                <a:spLocks noChangeShapeType="1"/>
              </p:cNvSpPr>
              <p:nvPr/>
            </p:nvSpPr>
            <p:spPr bwMode="auto">
              <a:xfrm>
                <a:off x="2274" y="1306"/>
                <a:ext cx="0" cy="941"/>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 name="Line 9"/>
              <p:cNvSpPr>
                <a:spLocks noChangeShapeType="1"/>
              </p:cNvSpPr>
              <p:nvPr/>
            </p:nvSpPr>
            <p:spPr bwMode="auto">
              <a:xfrm>
                <a:off x="2270" y="2250"/>
                <a:ext cx="216" cy="1"/>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 name="Line 10"/>
              <p:cNvSpPr>
                <a:spLocks noChangeShapeType="1"/>
              </p:cNvSpPr>
              <p:nvPr/>
            </p:nvSpPr>
            <p:spPr bwMode="auto">
              <a:xfrm>
                <a:off x="2484" y="2653"/>
                <a:ext cx="159" cy="0"/>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 name="Line 11"/>
              <p:cNvSpPr>
                <a:spLocks noChangeShapeType="1"/>
              </p:cNvSpPr>
              <p:nvPr/>
            </p:nvSpPr>
            <p:spPr bwMode="auto">
              <a:xfrm>
                <a:off x="2641" y="2317"/>
                <a:ext cx="1" cy="336"/>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 name="Line 12"/>
              <p:cNvSpPr>
                <a:spLocks noChangeShapeType="1"/>
              </p:cNvSpPr>
              <p:nvPr/>
            </p:nvSpPr>
            <p:spPr bwMode="auto">
              <a:xfrm>
                <a:off x="2708" y="2253"/>
                <a:ext cx="211" cy="0"/>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 name="Line 13"/>
              <p:cNvSpPr>
                <a:spLocks noChangeShapeType="1"/>
              </p:cNvSpPr>
              <p:nvPr/>
            </p:nvSpPr>
            <p:spPr bwMode="auto">
              <a:xfrm flipV="1">
                <a:off x="2911" y="2200"/>
                <a:ext cx="59" cy="56"/>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5" name="Line 14"/>
              <p:cNvSpPr>
                <a:spLocks noChangeShapeType="1"/>
              </p:cNvSpPr>
              <p:nvPr/>
            </p:nvSpPr>
            <p:spPr bwMode="auto">
              <a:xfrm flipV="1">
                <a:off x="2972" y="1330"/>
                <a:ext cx="1" cy="873"/>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 name="Line 15"/>
              <p:cNvSpPr>
                <a:spLocks noChangeShapeType="1"/>
              </p:cNvSpPr>
              <p:nvPr/>
            </p:nvSpPr>
            <p:spPr bwMode="auto">
              <a:xfrm>
                <a:off x="2907" y="1280"/>
                <a:ext cx="66" cy="58"/>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7" name="Line 16"/>
              <p:cNvSpPr>
                <a:spLocks noChangeShapeType="1"/>
              </p:cNvSpPr>
              <p:nvPr/>
            </p:nvSpPr>
            <p:spPr bwMode="auto">
              <a:xfrm flipH="1">
                <a:off x="2711" y="1280"/>
                <a:ext cx="203" cy="2"/>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8" name="Line 17"/>
              <p:cNvSpPr>
                <a:spLocks noChangeShapeType="1"/>
              </p:cNvSpPr>
              <p:nvPr/>
            </p:nvSpPr>
            <p:spPr bwMode="auto">
              <a:xfrm flipV="1">
                <a:off x="2274" y="1419"/>
                <a:ext cx="695" cy="1"/>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9" name="Line 18"/>
              <p:cNvSpPr>
                <a:spLocks noChangeShapeType="1"/>
              </p:cNvSpPr>
              <p:nvPr/>
            </p:nvSpPr>
            <p:spPr bwMode="auto">
              <a:xfrm>
                <a:off x="2277" y="1420"/>
                <a:ext cx="66" cy="90"/>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 name="Line 19"/>
              <p:cNvSpPr>
                <a:spLocks noChangeShapeType="1"/>
              </p:cNvSpPr>
              <p:nvPr/>
            </p:nvSpPr>
            <p:spPr bwMode="auto">
              <a:xfrm flipV="1">
                <a:off x="2338" y="1503"/>
                <a:ext cx="549" cy="1"/>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1" name="Line 20"/>
              <p:cNvSpPr>
                <a:spLocks noChangeShapeType="1"/>
              </p:cNvSpPr>
              <p:nvPr/>
            </p:nvSpPr>
            <p:spPr bwMode="auto">
              <a:xfrm flipH="1">
                <a:off x="2889" y="1412"/>
                <a:ext cx="59" cy="87"/>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2" name="Line 21"/>
              <p:cNvSpPr>
                <a:spLocks noChangeShapeType="1"/>
              </p:cNvSpPr>
              <p:nvPr/>
            </p:nvSpPr>
            <p:spPr bwMode="auto">
              <a:xfrm flipH="1">
                <a:off x="2336" y="1495"/>
                <a:ext cx="2" cy="538"/>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3" name="Line 22"/>
              <p:cNvSpPr>
                <a:spLocks noChangeShapeType="1"/>
              </p:cNvSpPr>
              <p:nvPr/>
            </p:nvSpPr>
            <p:spPr bwMode="auto">
              <a:xfrm flipV="1">
                <a:off x="2343" y="2018"/>
                <a:ext cx="561" cy="1"/>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 name="Line 23"/>
              <p:cNvSpPr>
                <a:spLocks noChangeShapeType="1"/>
              </p:cNvSpPr>
              <p:nvPr/>
            </p:nvSpPr>
            <p:spPr bwMode="auto">
              <a:xfrm flipH="1">
                <a:off x="2280" y="2022"/>
                <a:ext cx="59" cy="74"/>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 name="Line 24"/>
              <p:cNvSpPr>
                <a:spLocks noChangeShapeType="1"/>
              </p:cNvSpPr>
              <p:nvPr/>
            </p:nvSpPr>
            <p:spPr bwMode="auto">
              <a:xfrm>
                <a:off x="2892" y="2013"/>
                <a:ext cx="76" cy="74"/>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6" name="Line 25"/>
              <p:cNvSpPr>
                <a:spLocks noChangeShapeType="1"/>
              </p:cNvSpPr>
              <p:nvPr/>
            </p:nvSpPr>
            <p:spPr bwMode="auto">
              <a:xfrm flipH="1">
                <a:off x="2888" y="1491"/>
                <a:ext cx="1" cy="522"/>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7" name="Freeform 26"/>
              <p:cNvSpPr/>
              <p:nvPr/>
            </p:nvSpPr>
            <p:spPr bwMode="auto">
              <a:xfrm>
                <a:off x="2648" y="1166"/>
                <a:ext cx="84" cy="117"/>
              </a:xfrm>
              <a:custGeom>
                <a:avLst/>
                <a:gdLst>
                  <a:gd name="T0" fmla="*/ 2 w 84"/>
                  <a:gd name="T1" fmla="*/ 0 h 117"/>
                  <a:gd name="T2" fmla="*/ 1 w 84"/>
                  <a:gd name="T3" fmla="*/ 60 h 117"/>
                  <a:gd name="T4" fmla="*/ 6 w 84"/>
                  <a:gd name="T5" fmla="*/ 90 h 117"/>
                  <a:gd name="T6" fmla="*/ 35 w 84"/>
                  <a:gd name="T7" fmla="*/ 109 h 117"/>
                  <a:gd name="T8" fmla="*/ 84 w 84"/>
                  <a:gd name="T9" fmla="*/ 117 h 117"/>
                </a:gdLst>
                <a:ahLst/>
                <a:cxnLst>
                  <a:cxn ang="0">
                    <a:pos x="T0" y="T1"/>
                  </a:cxn>
                  <a:cxn ang="0">
                    <a:pos x="T2" y="T3"/>
                  </a:cxn>
                  <a:cxn ang="0">
                    <a:pos x="T4" y="T5"/>
                  </a:cxn>
                  <a:cxn ang="0">
                    <a:pos x="T6" y="T7"/>
                  </a:cxn>
                  <a:cxn ang="0">
                    <a:pos x="T8" y="T9"/>
                  </a:cxn>
                </a:cxnLst>
                <a:rect l="0" t="0" r="r" b="b"/>
                <a:pathLst>
                  <a:path w="84" h="117">
                    <a:moveTo>
                      <a:pt x="2" y="0"/>
                    </a:moveTo>
                    <a:cubicBezTo>
                      <a:pt x="2" y="10"/>
                      <a:pt x="0" y="45"/>
                      <a:pt x="1" y="60"/>
                    </a:cubicBezTo>
                    <a:cubicBezTo>
                      <a:pt x="2" y="75"/>
                      <a:pt x="0" y="82"/>
                      <a:pt x="6" y="90"/>
                    </a:cubicBezTo>
                    <a:cubicBezTo>
                      <a:pt x="12" y="98"/>
                      <a:pt x="22" y="104"/>
                      <a:pt x="35" y="109"/>
                    </a:cubicBezTo>
                    <a:cubicBezTo>
                      <a:pt x="48" y="114"/>
                      <a:pt x="77" y="117"/>
                      <a:pt x="84" y="117"/>
                    </a:cubicBezTo>
                  </a:path>
                </a:pathLst>
              </a:custGeom>
              <a:noFill/>
              <a:ln w="28575" cap="flat" cmpd="sng">
                <a:solidFill>
                  <a:srgbClr val="FF0000"/>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8" name="Group 27"/>
              <p:cNvGrpSpPr/>
              <p:nvPr/>
            </p:nvGrpSpPr>
            <p:grpSpPr bwMode="auto">
              <a:xfrm>
                <a:off x="2282" y="2025"/>
                <a:ext cx="678" cy="621"/>
                <a:chOff x="2282" y="2025"/>
                <a:chExt cx="678" cy="621"/>
              </a:xfrm>
            </p:grpSpPr>
            <p:sp>
              <p:nvSpPr>
                <p:cNvPr id="213" name="Line 28"/>
                <p:cNvSpPr>
                  <a:spLocks noChangeShapeType="1"/>
                </p:cNvSpPr>
                <p:nvPr/>
              </p:nvSpPr>
              <p:spPr bwMode="auto">
                <a:xfrm>
                  <a:off x="2282" y="2171"/>
                  <a:ext cx="56" cy="7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 name="Line 29"/>
                <p:cNvSpPr>
                  <a:spLocks noChangeShapeType="1"/>
                </p:cNvSpPr>
                <p:nvPr/>
              </p:nvSpPr>
              <p:spPr bwMode="auto">
                <a:xfrm>
                  <a:off x="2282" y="2103"/>
                  <a:ext cx="129" cy="140"/>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 name="Line 30"/>
                <p:cNvSpPr>
                  <a:spLocks noChangeShapeType="1"/>
                </p:cNvSpPr>
                <p:nvPr/>
              </p:nvSpPr>
              <p:spPr bwMode="auto">
                <a:xfrm>
                  <a:off x="2314" y="2067"/>
                  <a:ext cx="324" cy="32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6" name="Line 31"/>
                <p:cNvSpPr>
                  <a:spLocks noChangeShapeType="1"/>
                </p:cNvSpPr>
                <p:nvPr/>
              </p:nvSpPr>
              <p:spPr bwMode="auto">
                <a:xfrm>
                  <a:off x="2487" y="2331"/>
                  <a:ext cx="147" cy="143"/>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7" name="Line 32"/>
                <p:cNvSpPr>
                  <a:spLocks noChangeShapeType="1"/>
                </p:cNvSpPr>
                <p:nvPr/>
              </p:nvSpPr>
              <p:spPr bwMode="auto">
                <a:xfrm>
                  <a:off x="2484" y="2415"/>
                  <a:ext cx="152" cy="140"/>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8" name="Line 33"/>
                <p:cNvSpPr>
                  <a:spLocks noChangeShapeType="1"/>
                </p:cNvSpPr>
                <p:nvPr/>
              </p:nvSpPr>
              <p:spPr bwMode="auto">
                <a:xfrm>
                  <a:off x="2481" y="2491"/>
                  <a:ext cx="150" cy="141"/>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9" name="Line 34"/>
                <p:cNvSpPr>
                  <a:spLocks noChangeShapeType="1"/>
                </p:cNvSpPr>
                <p:nvPr/>
              </p:nvSpPr>
              <p:spPr bwMode="auto">
                <a:xfrm>
                  <a:off x="2483" y="2568"/>
                  <a:ext cx="82" cy="78"/>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0" name="Line 35"/>
                <p:cNvSpPr>
                  <a:spLocks noChangeShapeType="1"/>
                </p:cNvSpPr>
                <p:nvPr/>
              </p:nvSpPr>
              <p:spPr bwMode="auto">
                <a:xfrm>
                  <a:off x="2342" y="2025"/>
                  <a:ext cx="300" cy="31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1" name="Line 36"/>
                <p:cNvSpPr>
                  <a:spLocks noChangeShapeType="1"/>
                </p:cNvSpPr>
                <p:nvPr/>
              </p:nvSpPr>
              <p:spPr bwMode="auto">
                <a:xfrm>
                  <a:off x="2407" y="2027"/>
                  <a:ext cx="249" cy="260"/>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2" name="Line 37"/>
                <p:cNvSpPr>
                  <a:spLocks noChangeShapeType="1"/>
                </p:cNvSpPr>
                <p:nvPr/>
              </p:nvSpPr>
              <p:spPr bwMode="auto">
                <a:xfrm>
                  <a:off x="2480" y="2025"/>
                  <a:ext cx="226" cy="231"/>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3" name="Line 38"/>
                <p:cNvSpPr>
                  <a:spLocks noChangeShapeType="1"/>
                </p:cNvSpPr>
                <p:nvPr/>
              </p:nvSpPr>
              <p:spPr bwMode="auto">
                <a:xfrm>
                  <a:off x="2553" y="2026"/>
                  <a:ext cx="213" cy="216"/>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4" name="Line 39"/>
                <p:cNvSpPr>
                  <a:spLocks noChangeShapeType="1"/>
                </p:cNvSpPr>
                <p:nvPr/>
              </p:nvSpPr>
              <p:spPr bwMode="auto">
                <a:xfrm>
                  <a:off x="2633" y="2031"/>
                  <a:ext cx="200" cy="20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 name="Line 40"/>
                <p:cNvSpPr>
                  <a:spLocks noChangeShapeType="1"/>
                </p:cNvSpPr>
                <p:nvPr/>
              </p:nvSpPr>
              <p:spPr bwMode="auto">
                <a:xfrm>
                  <a:off x="2706" y="2029"/>
                  <a:ext cx="202" cy="21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 name="Line 41"/>
                <p:cNvSpPr>
                  <a:spLocks noChangeShapeType="1"/>
                </p:cNvSpPr>
                <p:nvPr/>
              </p:nvSpPr>
              <p:spPr bwMode="auto">
                <a:xfrm>
                  <a:off x="2779" y="2026"/>
                  <a:ext cx="172" cy="184"/>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7" name="Line 42"/>
                <p:cNvSpPr>
                  <a:spLocks noChangeShapeType="1"/>
                </p:cNvSpPr>
                <p:nvPr/>
              </p:nvSpPr>
              <p:spPr bwMode="auto">
                <a:xfrm>
                  <a:off x="2850" y="2028"/>
                  <a:ext cx="110" cy="106"/>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9" name="Line 43"/>
              <p:cNvSpPr>
                <a:spLocks noChangeShapeType="1"/>
              </p:cNvSpPr>
              <p:nvPr/>
            </p:nvSpPr>
            <p:spPr bwMode="auto">
              <a:xfrm flipV="1">
                <a:off x="2238" y="2494"/>
                <a:ext cx="498" cy="3"/>
              </a:xfrm>
              <a:prstGeom prst="line">
                <a:avLst/>
              </a:prstGeom>
              <a:noFill/>
              <a:ln w="12700">
                <a:solidFill>
                  <a:srgbClr val="FF000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0" name="Line 44"/>
              <p:cNvSpPr>
                <a:spLocks noChangeShapeType="1"/>
              </p:cNvSpPr>
              <p:nvPr/>
            </p:nvSpPr>
            <p:spPr bwMode="auto">
              <a:xfrm>
                <a:off x="2182" y="1766"/>
                <a:ext cx="932" cy="0"/>
              </a:xfrm>
              <a:prstGeom prst="line">
                <a:avLst/>
              </a:prstGeom>
              <a:noFill/>
              <a:ln w="12700">
                <a:solidFill>
                  <a:srgbClr val="FF000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1" name="Freeform 45"/>
              <p:cNvSpPr/>
              <p:nvPr/>
            </p:nvSpPr>
            <p:spPr bwMode="auto">
              <a:xfrm flipV="1">
                <a:off x="2637" y="2252"/>
                <a:ext cx="85" cy="98"/>
              </a:xfrm>
              <a:custGeom>
                <a:avLst/>
                <a:gdLst>
                  <a:gd name="T0" fmla="*/ 6 w 70"/>
                  <a:gd name="T1" fmla="*/ 0 h 74"/>
                  <a:gd name="T2" fmla="*/ 4 w 70"/>
                  <a:gd name="T3" fmla="*/ 40 h 74"/>
                  <a:gd name="T4" fmla="*/ 30 w 70"/>
                  <a:gd name="T5" fmla="*/ 68 h 74"/>
                  <a:gd name="T6" fmla="*/ 70 w 70"/>
                  <a:gd name="T7" fmla="*/ 74 h 74"/>
                </a:gdLst>
                <a:ahLst/>
                <a:cxnLst>
                  <a:cxn ang="0">
                    <a:pos x="T0" y="T1"/>
                  </a:cxn>
                  <a:cxn ang="0">
                    <a:pos x="T2" y="T3"/>
                  </a:cxn>
                  <a:cxn ang="0">
                    <a:pos x="T4" y="T5"/>
                  </a:cxn>
                  <a:cxn ang="0">
                    <a:pos x="T6" y="T7"/>
                  </a:cxn>
                </a:cxnLst>
                <a:rect l="0" t="0" r="r" b="b"/>
                <a:pathLst>
                  <a:path w="70" h="74">
                    <a:moveTo>
                      <a:pt x="6" y="0"/>
                    </a:moveTo>
                    <a:cubicBezTo>
                      <a:pt x="3" y="14"/>
                      <a:pt x="0" y="29"/>
                      <a:pt x="4" y="40"/>
                    </a:cubicBezTo>
                    <a:cubicBezTo>
                      <a:pt x="8" y="51"/>
                      <a:pt x="19" y="62"/>
                      <a:pt x="30" y="68"/>
                    </a:cubicBezTo>
                    <a:cubicBezTo>
                      <a:pt x="41" y="74"/>
                      <a:pt x="64" y="74"/>
                      <a:pt x="70" y="74"/>
                    </a:cubicBezTo>
                  </a:path>
                </a:pathLst>
              </a:custGeom>
              <a:noFill/>
              <a:ln w="25400" cap="flat" cmpd="sng">
                <a:solidFill>
                  <a:srgbClr val="FF0000"/>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2" name="Group 46"/>
              <p:cNvGrpSpPr/>
              <p:nvPr/>
            </p:nvGrpSpPr>
            <p:grpSpPr bwMode="auto">
              <a:xfrm>
                <a:off x="2460" y="880"/>
                <a:ext cx="185" cy="104"/>
                <a:chOff x="2460" y="880"/>
                <a:chExt cx="185" cy="104"/>
              </a:xfrm>
            </p:grpSpPr>
            <p:sp>
              <p:nvSpPr>
                <p:cNvPr id="208" name="Line 47"/>
                <p:cNvSpPr>
                  <a:spLocks noChangeShapeType="1"/>
                </p:cNvSpPr>
                <p:nvPr/>
              </p:nvSpPr>
              <p:spPr bwMode="auto">
                <a:xfrm>
                  <a:off x="2460" y="904"/>
                  <a:ext cx="73" cy="7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9" name="Line 48"/>
                <p:cNvSpPr>
                  <a:spLocks noChangeShapeType="1"/>
                </p:cNvSpPr>
                <p:nvPr/>
              </p:nvSpPr>
              <p:spPr bwMode="auto">
                <a:xfrm>
                  <a:off x="2493" y="882"/>
                  <a:ext cx="98" cy="10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0" name="Line 49"/>
                <p:cNvSpPr>
                  <a:spLocks noChangeShapeType="1"/>
                </p:cNvSpPr>
                <p:nvPr/>
              </p:nvSpPr>
              <p:spPr bwMode="auto">
                <a:xfrm>
                  <a:off x="2545" y="880"/>
                  <a:ext cx="97" cy="10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1" name="Line 50"/>
                <p:cNvSpPr>
                  <a:spLocks noChangeShapeType="1"/>
                </p:cNvSpPr>
                <p:nvPr/>
              </p:nvSpPr>
              <p:spPr bwMode="auto">
                <a:xfrm>
                  <a:off x="2597" y="880"/>
                  <a:ext cx="48" cy="48"/>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2" name="Line 51"/>
                <p:cNvSpPr>
                  <a:spLocks noChangeShapeType="1"/>
                </p:cNvSpPr>
                <p:nvPr/>
              </p:nvSpPr>
              <p:spPr bwMode="auto">
                <a:xfrm>
                  <a:off x="2460" y="954"/>
                  <a:ext cx="25" cy="26"/>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3" name="Line 52"/>
              <p:cNvSpPr>
                <a:spLocks noChangeShapeType="1"/>
              </p:cNvSpPr>
              <p:nvPr/>
            </p:nvSpPr>
            <p:spPr bwMode="auto">
              <a:xfrm>
                <a:off x="2458" y="984"/>
                <a:ext cx="189" cy="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 name="Line 53"/>
              <p:cNvSpPr>
                <a:spLocks noChangeShapeType="1"/>
              </p:cNvSpPr>
              <p:nvPr/>
            </p:nvSpPr>
            <p:spPr bwMode="auto">
              <a:xfrm>
                <a:off x="2465" y="1189"/>
                <a:ext cx="189" cy="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5" name="Group 54"/>
              <p:cNvGrpSpPr/>
              <p:nvPr/>
            </p:nvGrpSpPr>
            <p:grpSpPr bwMode="auto">
              <a:xfrm>
                <a:off x="2281" y="1192"/>
                <a:ext cx="686" cy="222"/>
                <a:chOff x="2281" y="1192"/>
                <a:chExt cx="686" cy="222"/>
              </a:xfrm>
            </p:grpSpPr>
            <p:sp>
              <p:nvSpPr>
                <p:cNvPr id="196" name="Line 55"/>
                <p:cNvSpPr>
                  <a:spLocks noChangeShapeType="1"/>
                </p:cNvSpPr>
                <p:nvPr/>
              </p:nvSpPr>
              <p:spPr bwMode="auto">
                <a:xfrm>
                  <a:off x="2282" y="1316"/>
                  <a:ext cx="91" cy="97"/>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7" name="Line 56"/>
                <p:cNvSpPr>
                  <a:spLocks noChangeShapeType="1"/>
                </p:cNvSpPr>
                <p:nvPr/>
              </p:nvSpPr>
              <p:spPr bwMode="auto">
                <a:xfrm>
                  <a:off x="2339" y="1316"/>
                  <a:ext cx="86" cy="93"/>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 name="Line 57"/>
                <p:cNvSpPr>
                  <a:spLocks noChangeShapeType="1"/>
                </p:cNvSpPr>
                <p:nvPr/>
              </p:nvSpPr>
              <p:spPr bwMode="auto">
                <a:xfrm>
                  <a:off x="2447" y="1315"/>
                  <a:ext cx="88" cy="95"/>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 name="Line 58"/>
                <p:cNvSpPr>
                  <a:spLocks noChangeShapeType="1"/>
                </p:cNvSpPr>
                <p:nvPr/>
              </p:nvSpPr>
              <p:spPr bwMode="auto">
                <a:xfrm>
                  <a:off x="2472" y="1280"/>
                  <a:ext cx="130" cy="12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 name="Line 59"/>
                <p:cNvSpPr>
                  <a:spLocks noChangeShapeType="1"/>
                </p:cNvSpPr>
                <p:nvPr/>
              </p:nvSpPr>
              <p:spPr bwMode="auto">
                <a:xfrm>
                  <a:off x="2470" y="1220"/>
                  <a:ext cx="198" cy="19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 name="Line 60"/>
                <p:cNvSpPr>
                  <a:spLocks noChangeShapeType="1"/>
                </p:cNvSpPr>
                <p:nvPr/>
              </p:nvSpPr>
              <p:spPr bwMode="auto">
                <a:xfrm>
                  <a:off x="2510" y="1192"/>
                  <a:ext cx="223" cy="222"/>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2" name="Line 61"/>
                <p:cNvSpPr>
                  <a:spLocks noChangeShapeType="1"/>
                </p:cNvSpPr>
                <p:nvPr/>
              </p:nvSpPr>
              <p:spPr bwMode="auto">
                <a:xfrm>
                  <a:off x="2574" y="1194"/>
                  <a:ext cx="217" cy="217"/>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 name="Line 62"/>
                <p:cNvSpPr>
                  <a:spLocks noChangeShapeType="1"/>
                </p:cNvSpPr>
                <p:nvPr/>
              </p:nvSpPr>
              <p:spPr bwMode="auto">
                <a:xfrm>
                  <a:off x="2803" y="1292"/>
                  <a:ext cx="119" cy="11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 name="Line 63"/>
                <p:cNvSpPr>
                  <a:spLocks noChangeShapeType="1"/>
                </p:cNvSpPr>
                <p:nvPr/>
              </p:nvSpPr>
              <p:spPr bwMode="auto">
                <a:xfrm>
                  <a:off x="2871" y="1292"/>
                  <a:ext cx="96" cy="101"/>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 name="Line 64"/>
                <p:cNvSpPr>
                  <a:spLocks noChangeShapeType="1"/>
                </p:cNvSpPr>
                <p:nvPr/>
              </p:nvSpPr>
              <p:spPr bwMode="auto">
                <a:xfrm>
                  <a:off x="2736" y="1290"/>
                  <a:ext cx="119" cy="119"/>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6" name="Line 65"/>
                <p:cNvSpPr>
                  <a:spLocks noChangeShapeType="1"/>
                </p:cNvSpPr>
                <p:nvPr/>
              </p:nvSpPr>
              <p:spPr bwMode="auto">
                <a:xfrm>
                  <a:off x="2391" y="1313"/>
                  <a:ext cx="88" cy="95"/>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7" name="Line 66"/>
                <p:cNvSpPr>
                  <a:spLocks noChangeShapeType="1"/>
                </p:cNvSpPr>
                <p:nvPr/>
              </p:nvSpPr>
              <p:spPr bwMode="auto">
                <a:xfrm>
                  <a:off x="2281" y="1373"/>
                  <a:ext cx="38" cy="41"/>
                </a:xfrm>
                <a:prstGeom prst="line">
                  <a:avLst/>
                </a:prstGeom>
                <a:noFill/>
                <a:ln w="952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63" name="Line 67"/>
            <p:cNvSpPr>
              <a:spLocks noChangeShapeType="1"/>
            </p:cNvSpPr>
            <p:nvPr/>
          </p:nvSpPr>
          <p:spPr bwMode="auto">
            <a:xfrm flipV="1">
              <a:off x="5172" y="2036"/>
              <a:ext cx="0" cy="444"/>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 name="Line 68"/>
            <p:cNvSpPr>
              <a:spLocks noChangeShapeType="1"/>
            </p:cNvSpPr>
            <p:nvPr/>
          </p:nvSpPr>
          <p:spPr bwMode="auto">
            <a:xfrm flipV="1">
              <a:off x="5356" y="2178"/>
              <a:ext cx="0" cy="180"/>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Line 69"/>
            <p:cNvSpPr>
              <a:spLocks noChangeShapeType="1"/>
            </p:cNvSpPr>
            <p:nvPr/>
          </p:nvSpPr>
          <p:spPr bwMode="auto">
            <a:xfrm>
              <a:off x="5188" y="3414"/>
              <a:ext cx="0" cy="414"/>
            </a:xfrm>
            <a:prstGeom prst="line">
              <a:avLst/>
            </a:prstGeom>
            <a:noFill/>
            <a:ln w="28575">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8" name="Group 70"/>
          <p:cNvGrpSpPr/>
          <p:nvPr/>
        </p:nvGrpSpPr>
        <p:grpSpPr bwMode="auto">
          <a:xfrm flipH="1">
            <a:off x="2223145" y="2129012"/>
            <a:ext cx="512763" cy="4216400"/>
            <a:chOff x="4872" y="1616"/>
            <a:chExt cx="323" cy="2656"/>
          </a:xfrm>
        </p:grpSpPr>
        <p:sp>
          <p:nvSpPr>
            <p:cNvPr id="229" name="Line 71"/>
            <p:cNvSpPr>
              <a:spLocks noChangeShapeType="1"/>
            </p:cNvSpPr>
            <p:nvPr/>
          </p:nvSpPr>
          <p:spPr bwMode="auto">
            <a:xfrm>
              <a:off x="4950" y="1772"/>
              <a:ext cx="158" cy="0"/>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30" name="Group 72"/>
            <p:cNvGrpSpPr/>
            <p:nvPr/>
          </p:nvGrpSpPr>
          <p:grpSpPr bwMode="auto">
            <a:xfrm>
              <a:off x="4895" y="3410"/>
              <a:ext cx="300" cy="862"/>
              <a:chOff x="2249" y="2243"/>
              <a:chExt cx="300" cy="862"/>
            </a:xfrm>
          </p:grpSpPr>
          <p:sp>
            <p:nvSpPr>
              <p:cNvPr id="257" name="Line 73"/>
              <p:cNvSpPr>
                <a:spLocks noChangeShapeType="1"/>
              </p:cNvSpPr>
              <p:nvPr/>
            </p:nvSpPr>
            <p:spPr bwMode="auto">
              <a:xfrm flipH="1">
                <a:off x="2325" y="2243"/>
                <a:ext cx="1" cy="593"/>
              </a:xfrm>
              <a:prstGeom prst="line">
                <a:avLst/>
              </a:prstGeom>
              <a:noFill/>
              <a:ln w="2857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8" name="Line 74"/>
              <p:cNvSpPr>
                <a:spLocks noChangeShapeType="1"/>
              </p:cNvSpPr>
              <p:nvPr/>
            </p:nvSpPr>
            <p:spPr bwMode="auto">
              <a:xfrm>
                <a:off x="2476" y="2245"/>
                <a:ext cx="1" cy="715"/>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9" name="Group 75"/>
              <p:cNvGrpSpPr/>
              <p:nvPr/>
            </p:nvGrpSpPr>
            <p:grpSpPr bwMode="auto">
              <a:xfrm>
                <a:off x="2325" y="2260"/>
                <a:ext cx="150" cy="683"/>
                <a:chOff x="2325" y="2260"/>
                <a:chExt cx="150" cy="683"/>
              </a:xfrm>
            </p:grpSpPr>
            <p:sp>
              <p:nvSpPr>
                <p:cNvPr id="267" name="Line 76"/>
                <p:cNvSpPr>
                  <a:spLocks noChangeShapeType="1"/>
                </p:cNvSpPr>
                <p:nvPr/>
              </p:nvSpPr>
              <p:spPr bwMode="auto">
                <a:xfrm flipH="1">
                  <a:off x="2337" y="2260"/>
                  <a:ext cx="75" cy="66"/>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8" name="Line 77"/>
                <p:cNvSpPr>
                  <a:spLocks noChangeShapeType="1"/>
                </p:cNvSpPr>
                <p:nvPr/>
              </p:nvSpPr>
              <p:spPr bwMode="auto">
                <a:xfrm flipH="1">
                  <a:off x="2325" y="2270"/>
                  <a:ext cx="142" cy="142"/>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9" name="Line 78"/>
                <p:cNvSpPr>
                  <a:spLocks noChangeShapeType="1"/>
                </p:cNvSpPr>
                <p:nvPr/>
              </p:nvSpPr>
              <p:spPr bwMode="auto">
                <a:xfrm flipH="1">
                  <a:off x="2333" y="2337"/>
                  <a:ext cx="139" cy="135"/>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0" name="Line 79"/>
                <p:cNvSpPr>
                  <a:spLocks noChangeShapeType="1"/>
                </p:cNvSpPr>
                <p:nvPr/>
              </p:nvSpPr>
              <p:spPr bwMode="auto">
                <a:xfrm flipH="1">
                  <a:off x="2328" y="2418"/>
                  <a:ext cx="138" cy="134"/>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 name="Line 80"/>
                <p:cNvSpPr>
                  <a:spLocks noChangeShapeType="1"/>
                </p:cNvSpPr>
                <p:nvPr/>
              </p:nvSpPr>
              <p:spPr bwMode="auto">
                <a:xfrm flipH="1">
                  <a:off x="2334" y="2491"/>
                  <a:ext cx="132" cy="140"/>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 name="Line 81"/>
                <p:cNvSpPr>
                  <a:spLocks noChangeShapeType="1"/>
                </p:cNvSpPr>
                <p:nvPr/>
              </p:nvSpPr>
              <p:spPr bwMode="auto">
                <a:xfrm flipH="1">
                  <a:off x="2333" y="2571"/>
                  <a:ext cx="134" cy="138"/>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3" name="Line 82"/>
                <p:cNvSpPr>
                  <a:spLocks noChangeShapeType="1"/>
                </p:cNvSpPr>
                <p:nvPr/>
              </p:nvSpPr>
              <p:spPr bwMode="auto">
                <a:xfrm flipH="1">
                  <a:off x="2332" y="2650"/>
                  <a:ext cx="136" cy="124"/>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 name="Line 83"/>
                <p:cNvSpPr>
                  <a:spLocks noChangeShapeType="1"/>
                </p:cNvSpPr>
                <p:nvPr/>
              </p:nvSpPr>
              <p:spPr bwMode="auto">
                <a:xfrm flipH="1">
                  <a:off x="2332" y="2716"/>
                  <a:ext cx="137" cy="135"/>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5" name="Line 84"/>
                <p:cNvSpPr>
                  <a:spLocks noChangeShapeType="1"/>
                </p:cNvSpPr>
                <p:nvPr/>
              </p:nvSpPr>
              <p:spPr bwMode="auto">
                <a:xfrm flipH="1">
                  <a:off x="2330" y="2798"/>
                  <a:ext cx="138" cy="130"/>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 name="Line 85"/>
                <p:cNvSpPr>
                  <a:spLocks noChangeShapeType="1"/>
                </p:cNvSpPr>
                <p:nvPr/>
              </p:nvSpPr>
              <p:spPr bwMode="auto">
                <a:xfrm flipH="1">
                  <a:off x="2386" y="2864"/>
                  <a:ext cx="89" cy="79"/>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0" name="Line 86"/>
              <p:cNvSpPr>
                <a:spLocks noChangeShapeType="1"/>
              </p:cNvSpPr>
              <p:nvPr/>
            </p:nvSpPr>
            <p:spPr bwMode="auto">
              <a:xfrm>
                <a:off x="2358" y="3103"/>
                <a:ext cx="91" cy="0"/>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 name="Line 87"/>
              <p:cNvSpPr>
                <a:spLocks noChangeShapeType="1"/>
              </p:cNvSpPr>
              <p:nvPr/>
            </p:nvSpPr>
            <p:spPr bwMode="auto">
              <a:xfrm flipH="1">
                <a:off x="2325" y="2816"/>
                <a:ext cx="0" cy="143"/>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2" name="Freeform 88"/>
              <p:cNvSpPr/>
              <p:nvPr/>
            </p:nvSpPr>
            <p:spPr bwMode="auto">
              <a:xfrm flipV="1">
                <a:off x="2325" y="2955"/>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2060"/>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3" name="Line 89"/>
              <p:cNvSpPr>
                <a:spLocks noChangeShapeType="1"/>
              </p:cNvSpPr>
              <p:nvPr/>
            </p:nvSpPr>
            <p:spPr bwMode="auto">
              <a:xfrm flipV="1">
                <a:off x="2327" y="2949"/>
                <a:ext cx="158" cy="0"/>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4" name="Line 90"/>
              <p:cNvSpPr>
                <a:spLocks noChangeShapeType="1"/>
              </p:cNvSpPr>
              <p:nvPr/>
            </p:nvSpPr>
            <p:spPr bwMode="auto">
              <a:xfrm>
                <a:off x="2249" y="3018"/>
                <a:ext cx="300" cy="0"/>
              </a:xfrm>
              <a:prstGeom prst="line">
                <a:avLst/>
              </a:prstGeom>
              <a:noFill/>
              <a:ln w="12700">
                <a:solidFill>
                  <a:srgbClr val="00206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5" name="Freeform 91"/>
              <p:cNvSpPr/>
              <p:nvPr/>
            </p:nvSpPr>
            <p:spPr bwMode="auto">
              <a:xfrm flipH="1" flipV="1">
                <a:off x="2441" y="2950"/>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2060"/>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 name="Line 92"/>
              <p:cNvSpPr>
                <a:spLocks noChangeShapeType="1"/>
              </p:cNvSpPr>
              <p:nvPr/>
            </p:nvSpPr>
            <p:spPr bwMode="auto">
              <a:xfrm>
                <a:off x="2318" y="2252"/>
                <a:ext cx="160" cy="0"/>
              </a:xfrm>
              <a:prstGeom prst="line">
                <a:avLst/>
              </a:prstGeom>
              <a:noFill/>
              <a:ln w="28575">
                <a:solidFill>
                  <a:srgbClr val="00206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1" name="Group 93"/>
            <p:cNvGrpSpPr/>
            <p:nvPr/>
          </p:nvGrpSpPr>
          <p:grpSpPr bwMode="auto">
            <a:xfrm>
              <a:off x="4872" y="1703"/>
              <a:ext cx="300" cy="764"/>
              <a:chOff x="2226" y="536"/>
              <a:chExt cx="300" cy="764"/>
            </a:xfrm>
          </p:grpSpPr>
          <p:sp>
            <p:nvSpPr>
              <p:cNvPr id="242" name="Line 94"/>
              <p:cNvSpPr>
                <a:spLocks noChangeShapeType="1"/>
              </p:cNvSpPr>
              <p:nvPr/>
            </p:nvSpPr>
            <p:spPr bwMode="auto">
              <a:xfrm flipV="1">
                <a:off x="2226" y="536"/>
                <a:ext cx="300" cy="0"/>
              </a:xfrm>
              <a:prstGeom prst="line">
                <a:avLst/>
              </a:prstGeom>
              <a:noFill/>
              <a:ln w="12700">
                <a:solidFill>
                  <a:srgbClr val="00206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3" name="Group 95"/>
              <p:cNvGrpSpPr/>
              <p:nvPr/>
            </p:nvGrpSpPr>
            <p:grpSpPr bwMode="auto">
              <a:xfrm>
                <a:off x="2304" y="611"/>
                <a:ext cx="154" cy="689"/>
                <a:chOff x="2304" y="611"/>
                <a:chExt cx="154" cy="689"/>
              </a:xfrm>
            </p:grpSpPr>
            <p:grpSp>
              <p:nvGrpSpPr>
                <p:cNvPr id="244" name="Group 96"/>
                <p:cNvGrpSpPr/>
                <p:nvPr/>
              </p:nvGrpSpPr>
              <p:grpSpPr bwMode="auto">
                <a:xfrm>
                  <a:off x="2304" y="611"/>
                  <a:ext cx="142" cy="374"/>
                  <a:chOff x="2304" y="611"/>
                  <a:chExt cx="142" cy="374"/>
                </a:xfrm>
              </p:grpSpPr>
              <p:sp>
                <p:nvSpPr>
                  <p:cNvPr id="250" name="Line 97"/>
                  <p:cNvSpPr>
                    <a:spLocks noChangeShapeType="1"/>
                  </p:cNvSpPr>
                  <p:nvPr/>
                </p:nvSpPr>
                <p:spPr bwMode="auto">
                  <a:xfrm flipH="1">
                    <a:off x="2309" y="612"/>
                    <a:ext cx="68" cy="80"/>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 name="Line 98"/>
                  <p:cNvSpPr>
                    <a:spLocks noChangeShapeType="1"/>
                  </p:cNvSpPr>
                  <p:nvPr/>
                </p:nvSpPr>
                <p:spPr bwMode="auto">
                  <a:xfrm flipH="1">
                    <a:off x="2307" y="611"/>
                    <a:ext cx="133" cy="154"/>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2" name="Line 99"/>
                  <p:cNvSpPr>
                    <a:spLocks noChangeShapeType="1"/>
                  </p:cNvSpPr>
                  <p:nvPr/>
                </p:nvSpPr>
                <p:spPr bwMode="auto">
                  <a:xfrm flipH="1">
                    <a:off x="2306" y="673"/>
                    <a:ext cx="139" cy="160"/>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3" name="Line 100"/>
                  <p:cNvSpPr>
                    <a:spLocks noChangeShapeType="1"/>
                  </p:cNvSpPr>
                  <p:nvPr/>
                </p:nvSpPr>
                <p:spPr bwMode="auto">
                  <a:xfrm flipH="1">
                    <a:off x="2304" y="739"/>
                    <a:ext cx="141" cy="156"/>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 name="Line 101"/>
                  <p:cNvSpPr>
                    <a:spLocks noChangeShapeType="1"/>
                  </p:cNvSpPr>
                  <p:nvPr/>
                </p:nvSpPr>
                <p:spPr bwMode="auto">
                  <a:xfrm flipH="1">
                    <a:off x="2307" y="803"/>
                    <a:ext cx="138" cy="149"/>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5" name="Line 102"/>
                  <p:cNvSpPr>
                    <a:spLocks noChangeShapeType="1"/>
                  </p:cNvSpPr>
                  <p:nvPr/>
                </p:nvSpPr>
                <p:spPr bwMode="auto">
                  <a:xfrm flipH="1">
                    <a:off x="2333" y="866"/>
                    <a:ext cx="113" cy="117"/>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 name="Line 103"/>
                  <p:cNvSpPr>
                    <a:spLocks noChangeShapeType="1"/>
                  </p:cNvSpPr>
                  <p:nvPr/>
                </p:nvSpPr>
                <p:spPr bwMode="auto">
                  <a:xfrm flipH="1">
                    <a:off x="2382" y="921"/>
                    <a:ext cx="64" cy="64"/>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5" name="Group 104"/>
                <p:cNvGrpSpPr/>
                <p:nvPr/>
              </p:nvGrpSpPr>
              <p:grpSpPr bwMode="auto">
                <a:xfrm>
                  <a:off x="2306" y="1192"/>
                  <a:ext cx="152" cy="108"/>
                  <a:chOff x="2306" y="1192"/>
                  <a:chExt cx="152" cy="108"/>
                </a:xfrm>
              </p:grpSpPr>
              <p:sp>
                <p:nvSpPr>
                  <p:cNvPr id="246" name="Line 105"/>
                  <p:cNvSpPr>
                    <a:spLocks noChangeShapeType="1"/>
                  </p:cNvSpPr>
                  <p:nvPr/>
                </p:nvSpPr>
                <p:spPr bwMode="auto">
                  <a:xfrm flipH="1">
                    <a:off x="2306" y="1194"/>
                    <a:ext cx="55" cy="63"/>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7" name="Line 106"/>
                  <p:cNvSpPr>
                    <a:spLocks noChangeShapeType="1"/>
                  </p:cNvSpPr>
                  <p:nvPr/>
                </p:nvSpPr>
                <p:spPr bwMode="auto">
                  <a:xfrm flipH="1">
                    <a:off x="2317" y="1192"/>
                    <a:ext cx="93" cy="108"/>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 name="Line 107"/>
                  <p:cNvSpPr>
                    <a:spLocks noChangeShapeType="1"/>
                  </p:cNvSpPr>
                  <p:nvPr/>
                </p:nvSpPr>
                <p:spPr bwMode="auto">
                  <a:xfrm flipH="1">
                    <a:off x="2366" y="1195"/>
                    <a:ext cx="87" cy="104"/>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9" name="Line 108"/>
                  <p:cNvSpPr>
                    <a:spLocks noChangeShapeType="1"/>
                  </p:cNvSpPr>
                  <p:nvPr/>
                </p:nvSpPr>
                <p:spPr bwMode="auto">
                  <a:xfrm flipH="1">
                    <a:off x="2414" y="1239"/>
                    <a:ext cx="44" cy="58"/>
                  </a:xfrm>
                  <a:prstGeom prst="line">
                    <a:avLst/>
                  </a:prstGeom>
                  <a:noFill/>
                  <a:ln w="9525">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232" name="Line 109"/>
            <p:cNvSpPr>
              <a:spLocks noChangeShapeType="1"/>
            </p:cNvSpPr>
            <p:nvPr/>
          </p:nvSpPr>
          <p:spPr bwMode="auto">
            <a:xfrm>
              <a:off x="4949" y="1750"/>
              <a:ext cx="0" cy="415"/>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3" name="Line 110"/>
            <p:cNvSpPr>
              <a:spLocks noChangeShapeType="1"/>
            </p:cNvSpPr>
            <p:nvPr/>
          </p:nvSpPr>
          <p:spPr bwMode="auto">
            <a:xfrm>
              <a:off x="5101" y="1773"/>
              <a:ext cx="0" cy="391"/>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4" name="Line 111"/>
            <p:cNvSpPr>
              <a:spLocks noChangeShapeType="1"/>
            </p:cNvSpPr>
            <p:nvPr/>
          </p:nvSpPr>
          <p:spPr bwMode="auto">
            <a:xfrm flipV="1">
              <a:off x="4979" y="1618"/>
              <a:ext cx="91" cy="0"/>
            </a:xfrm>
            <a:prstGeom prst="line">
              <a:avLst/>
            </a:prstGeom>
            <a:noFill/>
            <a:ln w="25400">
              <a:solidFill>
                <a:srgbClr val="00206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 name="Freeform 112"/>
            <p:cNvSpPr/>
            <p:nvPr/>
          </p:nvSpPr>
          <p:spPr bwMode="auto">
            <a:xfrm>
              <a:off x="4950" y="1616"/>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2060"/>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 name="Freeform 113"/>
            <p:cNvSpPr/>
            <p:nvPr/>
          </p:nvSpPr>
          <p:spPr bwMode="auto">
            <a:xfrm flipH="1">
              <a:off x="5064" y="1621"/>
              <a:ext cx="36" cy="150"/>
            </a:xfrm>
            <a:custGeom>
              <a:avLst/>
              <a:gdLst>
                <a:gd name="T0" fmla="*/ 36 w 36"/>
                <a:gd name="T1" fmla="*/ 0 h 150"/>
                <a:gd name="T2" fmla="*/ 23 w 36"/>
                <a:gd name="T3" fmla="*/ 25 h 150"/>
                <a:gd name="T4" fmla="*/ 10 w 36"/>
                <a:gd name="T5" fmla="*/ 62 h 150"/>
                <a:gd name="T6" fmla="*/ 1 w 36"/>
                <a:gd name="T7" fmla="*/ 98 h 150"/>
                <a:gd name="T8" fmla="*/ 0 w 36"/>
                <a:gd name="T9" fmla="*/ 150 h 150"/>
              </a:gdLst>
              <a:ahLst/>
              <a:cxnLst>
                <a:cxn ang="0">
                  <a:pos x="T0" y="T1"/>
                </a:cxn>
                <a:cxn ang="0">
                  <a:pos x="T2" y="T3"/>
                </a:cxn>
                <a:cxn ang="0">
                  <a:pos x="T4" y="T5"/>
                </a:cxn>
                <a:cxn ang="0">
                  <a:pos x="T6" y="T7"/>
                </a:cxn>
                <a:cxn ang="0">
                  <a:pos x="T8" y="T9"/>
                </a:cxn>
              </a:cxnLst>
              <a:rect l="0" t="0" r="r" b="b"/>
              <a:pathLst>
                <a:path w="36" h="150">
                  <a:moveTo>
                    <a:pt x="36" y="0"/>
                  </a:moveTo>
                  <a:lnTo>
                    <a:pt x="23" y="25"/>
                  </a:lnTo>
                  <a:lnTo>
                    <a:pt x="10" y="62"/>
                  </a:lnTo>
                  <a:lnTo>
                    <a:pt x="1" y="98"/>
                  </a:lnTo>
                  <a:lnTo>
                    <a:pt x="0" y="150"/>
                  </a:lnTo>
                </a:path>
              </a:pathLst>
            </a:custGeom>
            <a:noFill/>
            <a:ln w="28575" cmpd="sng">
              <a:solidFill>
                <a:srgbClr val="002060"/>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7" name="Line 114"/>
            <p:cNvSpPr>
              <a:spLocks noChangeShapeType="1"/>
            </p:cNvSpPr>
            <p:nvPr/>
          </p:nvSpPr>
          <p:spPr bwMode="auto">
            <a:xfrm>
              <a:off x="4948" y="2153"/>
              <a:ext cx="154" cy="0"/>
            </a:xfrm>
            <a:prstGeom prst="line">
              <a:avLst/>
            </a:prstGeom>
            <a:noFill/>
            <a:ln w="19050">
              <a:solidFill>
                <a:srgbClr val="00206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8" name="Line 115"/>
            <p:cNvSpPr>
              <a:spLocks noChangeShapeType="1"/>
            </p:cNvSpPr>
            <p:nvPr/>
          </p:nvSpPr>
          <p:spPr bwMode="auto">
            <a:xfrm>
              <a:off x="4949" y="2355"/>
              <a:ext cx="154" cy="0"/>
            </a:xfrm>
            <a:prstGeom prst="line">
              <a:avLst/>
            </a:prstGeom>
            <a:noFill/>
            <a:ln w="19050">
              <a:solidFill>
                <a:srgbClr val="00206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9" name="Line 116"/>
            <p:cNvSpPr>
              <a:spLocks noChangeShapeType="1"/>
            </p:cNvSpPr>
            <p:nvPr/>
          </p:nvSpPr>
          <p:spPr bwMode="auto">
            <a:xfrm>
              <a:off x="4943" y="2471"/>
              <a:ext cx="176" cy="0"/>
            </a:xfrm>
            <a:prstGeom prst="line">
              <a:avLst/>
            </a:prstGeom>
            <a:noFill/>
            <a:ln w="28575">
              <a:solidFill>
                <a:srgbClr val="00206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 name="Line 117"/>
            <p:cNvSpPr>
              <a:spLocks noChangeShapeType="1"/>
            </p:cNvSpPr>
            <p:nvPr/>
          </p:nvSpPr>
          <p:spPr bwMode="auto">
            <a:xfrm flipV="1">
              <a:off x="4950" y="2154"/>
              <a:ext cx="0" cy="324"/>
            </a:xfrm>
            <a:prstGeom prst="line">
              <a:avLst/>
            </a:prstGeom>
            <a:noFill/>
            <a:ln w="28575">
              <a:solidFill>
                <a:srgbClr val="00206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 name="Line 118"/>
            <p:cNvSpPr>
              <a:spLocks noChangeShapeType="1"/>
            </p:cNvSpPr>
            <p:nvPr/>
          </p:nvSpPr>
          <p:spPr bwMode="auto">
            <a:xfrm flipV="1">
              <a:off x="5100" y="2154"/>
              <a:ext cx="0" cy="328"/>
            </a:xfrm>
            <a:prstGeom prst="line">
              <a:avLst/>
            </a:prstGeom>
            <a:noFill/>
            <a:ln w="28575">
              <a:solidFill>
                <a:srgbClr val="00206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7" name="Group 119"/>
          <p:cNvGrpSpPr/>
          <p:nvPr/>
        </p:nvGrpSpPr>
        <p:grpSpPr bwMode="auto">
          <a:xfrm>
            <a:off x="1735783" y="2867199"/>
            <a:ext cx="1338262" cy="542925"/>
            <a:chOff x="1055" y="1997"/>
            <a:chExt cx="843" cy="342"/>
          </a:xfrm>
        </p:grpSpPr>
        <p:sp>
          <p:nvSpPr>
            <p:cNvPr id="278" name="Rectangle 120"/>
            <p:cNvSpPr>
              <a:spLocks noChangeArrowheads="1"/>
            </p:cNvSpPr>
            <p:nvPr/>
          </p:nvSpPr>
          <p:spPr bwMode="auto">
            <a:xfrm>
              <a:off x="1239" y="2082"/>
              <a:ext cx="56" cy="174"/>
            </a:xfrm>
            <a:prstGeom prst="rect">
              <a:avLst/>
            </a:prstGeom>
            <a:solidFill>
              <a:srgbClr val="F8F8F8"/>
            </a:solidFill>
            <a:ln w="12700">
              <a:solidFill>
                <a:srgbClr val="F8F8F8"/>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9" name="Rectangle 121"/>
            <p:cNvSpPr>
              <a:spLocks noChangeArrowheads="1"/>
            </p:cNvSpPr>
            <p:nvPr/>
          </p:nvSpPr>
          <p:spPr bwMode="auto">
            <a:xfrm>
              <a:off x="1424" y="2080"/>
              <a:ext cx="56" cy="174"/>
            </a:xfrm>
            <a:prstGeom prst="rect">
              <a:avLst/>
            </a:prstGeom>
            <a:solidFill>
              <a:srgbClr val="F8F8F8"/>
            </a:solidFill>
            <a:ln w="12700">
              <a:solidFill>
                <a:srgbClr val="F8F8F8"/>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80" name="Group 122"/>
            <p:cNvGrpSpPr/>
            <p:nvPr/>
          </p:nvGrpSpPr>
          <p:grpSpPr bwMode="auto">
            <a:xfrm>
              <a:off x="1055" y="1997"/>
              <a:ext cx="843" cy="342"/>
              <a:chOff x="2095" y="914"/>
              <a:chExt cx="859" cy="342"/>
            </a:xfrm>
          </p:grpSpPr>
          <p:grpSp>
            <p:nvGrpSpPr>
              <p:cNvPr id="281" name="Group 123"/>
              <p:cNvGrpSpPr/>
              <p:nvPr/>
            </p:nvGrpSpPr>
            <p:grpSpPr bwMode="auto">
              <a:xfrm>
                <a:off x="2176" y="914"/>
                <a:ext cx="126" cy="342"/>
                <a:chOff x="2158" y="3064"/>
                <a:chExt cx="168" cy="342"/>
              </a:xfrm>
            </p:grpSpPr>
            <p:sp>
              <p:nvSpPr>
                <p:cNvPr id="309" name="Line 124"/>
                <p:cNvSpPr>
                  <a:spLocks noChangeShapeType="1"/>
                </p:cNvSpPr>
                <p:nvPr/>
              </p:nvSpPr>
              <p:spPr bwMode="auto">
                <a:xfrm rot="5400000" flipV="1">
                  <a:off x="2268" y="3008"/>
                  <a:ext cx="0" cy="11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10" name="Line 125"/>
                <p:cNvSpPr>
                  <a:spLocks noChangeShapeType="1"/>
                </p:cNvSpPr>
                <p:nvPr/>
              </p:nvSpPr>
              <p:spPr bwMode="auto">
                <a:xfrm rot="5400000" flipV="1">
                  <a:off x="2257" y="3343"/>
                  <a:ext cx="0" cy="126"/>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11" name="Line 126"/>
                <p:cNvSpPr>
                  <a:spLocks noChangeShapeType="1"/>
                </p:cNvSpPr>
                <p:nvPr/>
              </p:nvSpPr>
              <p:spPr bwMode="auto">
                <a:xfrm rot="5400000" flipV="1">
                  <a:off x="2021" y="3238"/>
                  <a:ext cx="283"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12" name="Freeform 127"/>
                <p:cNvSpPr/>
                <p:nvPr/>
              </p:nvSpPr>
              <p:spPr bwMode="auto">
                <a:xfrm rot="5400000" flipV="1">
                  <a:off x="2012" y="3210"/>
                  <a:ext cx="342" cy="50"/>
                </a:xfrm>
                <a:custGeom>
                  <a:avLst/>
                  <a:gdLst>
                    <a:gd name="T0" fmla="*/ 0 w 318"/>
                    <a:gd name="T1" fmla="*/ 32 h 32"/>
                    <a:gd name="T2" fmla="*/ 30 w 318"/>
                    <a:gd name="T3" fmla="*/ 2 h 32"/>
                    <a:gd name="T4" fmla="*/ 72 w 318"/>
                    <a:gd name="T5" fmla="*/ 23 h 32"/>
                    <a:gd name="T6" fmla="*/ 156 w 318"/>
                    <a:gd name="T7" fmla="*/ 8 h 32"/>
                    <a:gd name="T8" fmla="*/ 237 w 318"/>
                    <a:gd name="T9" fmla="*/ 29 h 32"/>
                    <a:gd name="T10" fmla="*/ 288 w 318"/>
                    <a:gd name="T11" fmla="*/ 2 h 32"/>
                    <a:gd name="T12" fmla="*/ 318 w 318"/>
                    <a:gd name="T13" fmla="*/ 20 h 32"/>
                  </a:gdLst>
                  <a:ahLst/>
                  <a:cxnLst>
                    <a:cxn ang="0">
                      <a:pos x="T0" y="T1"/>
                    </a:cxn>
                    <a:cxn ang="0">
                      <a:pos x="T2" y="T3"/>
                    </a:cxn>
                    <a:cxn ang="0">
                      <a:pos x="T4" y="T5"/>
                    </a:cxn>
                    <a:cxn ang="0">
                      <a:pos x="T6" y="T7"/>
                    </a:cxn>
                    <a:cxn ang="0">
                      <a:pos x="T8" y="T9"/>
                    </a:cxn>
                    <a:cxn ang="0">
                      <a:pos x="T10" y="T11"/>
                    </a:cxn>
                    <a:cxn ang="0">
                      <a:pos x="T12" y="T13"/>
                    </a:cxn>
                  </a:cxnLst>
                  <a:rect l="0" t="0" r="r" b="b"/>
                  <a:pathLst>
                    <a:path w="318" h="32">
                      <a:moveTo>
                        <a:pt x="0" y="32"/>
                      </a:moveTo>
                      <a:cubicBezTo>
                        <a:pt x="9" y="18"/>
                        <a:pt x="18" y="4"/>
                        <a:pt x="30" y="2"/>
                      </a:cubicBezTo>
                      <a:cubicBezTo>
                        <a:pt x="42" y="0"/>
                        <a:pt x="51" y="22"/>
                        <a:pt x="72" y="23"/>
                      </a:cubicBezTo>
                      <a:cubicBezTo>
                        <a:pt x="93" y="24"/>
                        <a:pt x="129" y="7"/>
                        <a:pt x="156" y="8"/>
                      </a:cubicBezTo>
                      <a:cubicBezTo>
                        <a:pt x="183" y="9"/>
                        <a:pt x="215" y="30"/>
                        <a:pt x="237" y="29"/>
                      </a:cubicBezTo>
                      <a:cubicBezTo>
                        <a:pt x="259" y="28"/>
                        <a:pt x="275" y="3"/>
                        <a:pt x="288" y="2"/>
                      </a:cubicBezTo>
                      <a:cubicBezTo>
                        <a:pt x="301" y="1"/>
                        <a:pt x="309" y="10"/>
                        <a:pt x="318" y="20"/>
                      </a:cubicBez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13" name="Line 128"/>
                <p:cNvSpPr>
                  <a:spLocks noChangeShapeType="1"/>
                </p:cNvSpPr>
                <p:nvPr/>
              </p:nvSpPr>
              <p:spPr bwMode="auto">
                <a:xfrm rot="5400000" flipV="1">
                  <a:off x="2149" y="3238"/>
                  <a:ext cx="337" cy="0"/>
                </a:xfrm>
                <a:prstGeom prst="line">
                  <a:avLst/>
                </a:prstGeom>
                <a:noFill/>
                <a:ln w="1905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282" name="Group 129"/>
              <p:cNvGrpSpPr/>
              <p:nvPr/>
            </p:nvGrpSpPr>
            <p:grpSpPr bwMode="auto">
              <a:xfrm>
                <a:off x="2181" y="1001"/>
                <a:ext cx="446" cy="171"/>
                <a:chOff x="2158" y="3151"/>
                <a:chExt cx="396" cy="171"/>
              </a:xfrm>
            </p:grpSpPr>
            <p:sp>
              <p:nvSpPr>
                <p:cNvPr id="307" name="Line 130"/>
                <p:cNvSpPr>
                  <a:spLocks noChangeShapeType="1"/>
                </p:cNvSpPr>
                <p:nvPr/>
              </p:nvSpPr>
              <p:spPr bwMode="auto">
                <a:xfrm rot="5400000" flipV="1">
                  <a:off x="2357" y="3125"/>
                  <a:ext cx="0" cy="394"/>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8" name="Line 131"/>
                <p:cNvSpPr>
                  <a:spLocks noChangeShapeType="1"/>
                </p:cNvSpPr>
                <p:nvPr/>
              </p:nvSpPr>
              <p:spPr bwMode="auto">
                <a:xfrm rot="5400000" flipV="1">
                  <a:off x="2356" y="2953"/>
                  <a:ext cx="0" cy="39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283" name="Group 132"/>
              <p:cNvGrpSpPr/>
              <p:nvPr/>
            </p:nvGrpSpPr>
            <p:grpSpPr bwMode="auto">
              <a:xfrm>
                <a:off x="2783" y="1012"/>
                <a:ext cx="84" cy="152"/>
                <a:chOff x="4984" y="567"/>
                <a:chExt cx="152" cy="279"/>
              </a:xfrm>
            </p:grpSpPr>
            <p:sp>
              <p:nvSpPr>
                <p:cNvPr id="299" name="Line 133"/>
                <p:cNvSpPr>
                  <a:spLocks noChangeShapeType="1"/>
                </p:cNvSpPr>
                <p:nvPr/>
              </p:nvSpPr>
              <p:spPr bwMode="auto">
                <a:xfrm rot="5400000" flipV="1">
                  <a:off x="5046" y="518"/>
                  <a:ext cx="1" cy="10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0" name="Line 134"/>
                <p:cNvSpPr>
                  <a:spLocks noChangeShapeType="1"/>
                </p:cNvSpPr>
                <p:nvPr/>
              </p:nvSpPr>
              <p:spPr bwMode="auto">
                <a:xfrm rot="5400000" flipH="1" flipV="1">
                  <a:off x="5042" y="784"/>
                  <a:ext cx="1" cy="11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1" name="Line 135"/>
                <p:cNvSpPr>
                  <a:spLocks noChangeShapeType="1"/>
                </p:cNvSpPr>
                <p:nvPr/>
              </p:nvSpPr>
              <p:spPr bwMode="auto">
                <a:xfrm rot="5400000" flipH="1" flipV="1">
                  <a:off x="5091" y="801"/>
                  <a:ext cx="46" cy="44"/>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2" name="Line 136"/>
                <p:cNvSpPr>
                  <a:spLocks noChangeShapeType="1"/>
                </p:cNvSpPr>
                <p:nvPr/>
              </p:nvSpPr>
              <p:spPr bwMode="auto">
                <a:xfrm rot="5400000" flipV="1">
                  <a:off x="5041" y="711"/>
                  <a:ext cx="190"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3" name="Line 137"/>
                <p:cNvSpPr>
                  <a:spLocks noChangeShapeType="1"/>
                </p:cNvSpPr>
                <p:nvPr/>
              </p:nvSpPr>
              <p:spPr bwMode="auto">
                <a:xfrm rot="5400000" flipV="1">
                  <a:off x="5086" y="574"/>
                  <a:ext cx="55" cy="42"/>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4" name="Line 138"/>
                <p:cNvSpPr>
                  <a:spLocks noChangeShapeType="1"/>
                </p:cNvSpPr>
                <p:nvPr/>
              </p:nvSpPr>
              <p:spPr bwMode="auto">
                <a:xfrm rot="5400000" flipV="1">
                  <a:off x="4969" y="709"/>
                  <a:ext cx="263"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5" name="Line 139"/>
                <p:cNvSpPr>
                  <a:spLocks noChangeShapeType="1"/>
                </p:cNvSpPr>
                <p:nvPr/>
              </p:nvSpPr>
              <p:spPr bwMode="auto">
                <a:xfrm rot="5400000" flipH="1" flipV="1">
                  <a:off x="5046" y="544"/>
                  <a:ext cx="0" cy="108"/>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6" name="Line 140"/>
                <p:cNvSpPr>
                  <a:spLocks noChangeShapeType="1"/>
                </p:cNvSpPr>
                <p:nvPr/>
              </p:nvSpPr>
              <p:spPr bwMode="auto">
                <a:xfrm rot="5400000" flipV="1">
                  <a:off x="5046" y="763"/>
                  <a:ext cx="1" cy="108"/>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284" name="Group 141"/>
              <p:cNvGrpSpPr/>
              <p:nvPr/>
            </p:nvGrpSpPr>
            <p:grpSpPr bwMode="auto">
              <a:xfrm>
                <a:off x="2622" y="1001"/>
                <a:ext cx="43" cy="167"/>
                <a:chOff x="2548" y="3151"/>
                <a:chExt cx="94" cy="167"/>
              </a:xfrm>
            </p:grpSpPr>
            <p:sp>
              <p:nvSpPr>
                <p:cNvPr id="294" name="Line 142"/>
                <p:cNvSpPr>
                  <a:spLocks noChangeShapeType="1"/>
                </p:cNvSpPr>
                <p:nvPr/>
              </p:nvSpPr>
              <p:spPr bwMode="auto">
                <a:xfrm rot="5400000" flipV="1">
                  <a:off x="2465" y="3235"/>
                  <a:ext cx="167"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5" name="Line 143"/>
                <p:cNvSpPr>
                  <a:spLocks noChangeShapeType="1"/>
                </p:cNvSpPr>
                <p:nvPr/>
              </p:nvSpPr>
              <p:spPr bwMode="auto">
                <a:xfrm rot="5400000" flipV="1">
                  <a:off x="2596" y="3123"/>
                  <a:ext cx="0" cy="93"/>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6" name="Line 144"/>
                <p:cNvSpPr>
                  <a:spLocks noChangeShapeType="1"/>
                </p:cNvSpPr>
                <p:nvPr/>
              </p:nvSpPr>
              <p:spPr bwMode="auto">
                <a:xfrm rot="5400000" flipV="1">
                  <a:off x="2593" y="3262"/>
                  <a:ext cx="1" cy="91"/>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7" name="Line 145"/>
                <p:cNvSpPr>
                  <a:spLocks noChangeShapeType="1"/>
                </p:cNvSpPr>
                <p:nvPr/>
              </p:nvSpPr>
              <p:spPr bwMode="auto">
                <a:xfrm rot="5400000" flipH="1" flipV="1">
                  <a:off x="2596" y="3136"/>
                  <a:ext cx="0" cy="93"/>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8" name="Line 146"/>
                <p:cNvSpPr>
                  <a:spLocks noChangeShapeType="1"/>
                </p:cNvSpPr>
                <p:nvPr/>
              </p:nvSpPr>
              <p:spPr bwMode="auto">
                <a:xfrm rot="5400000" flipH="1" flipV="1">
                  <a:off x="2596" y="3247"/>
                  <a:ext cx="0" cy="93"/>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285" name="Line 147"/>
              <p:cNvSpPr>
                <a:spLocks noChangeShapeType="1"/>
              </p:cNvSpPr>
              <p:nvPr/>
            </p:nvSpPr>
            <p:spPr bwMode="auto">
              <a:xfrm rot="5400000" flipV="1">
                <a:off x="2525" y="660"/>
                <a:ext cx="0" cy="859"/>
              </a:xfrm>
              <a:prstGeom prst="line">
                <a:avLst/>
              </a:prstGeom>
              <a:noFill/>
              <a:ln w="12700">
                <a:solidFill>
                  <a:srgbClr val="0000FF"/>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286" name="Group 148"/>
              <p:cNvGrpSpPr/>
              <p:nvPr/>
            </p:nvGrpSpPr>
            <p:grpSpPr bwMode="auto">
              <a:xfrm>
                <a:off x="2659" y="915"/>
                <a:ext cx="125" cy="336"/>
                <a:chOff x="4578" y="2128"/>
                <a:chExt cx="211" cy="674"/>
              </a:xfrm>
            </p:grpSpPr>
            <p:sp>
              <p:nvSpPr>
                <p:cNvPr id="287" name="Line 149"/>
                <p:cNvSpPr>
                  <a:spLocks noChangeShapeType="1"/>
                </p:cNvSpPr>
                <p:nvPr/>
              </p:nvSpPr>
              <p:spPr bwMode="auto">
                <a:xfrm rot="5400000" flipV="1">
                  <a:off x="4655" y="2726"/>
                  <a:ext cx="0" cy="152"/>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8" name="Line 150"/>
                <p:cNvSpPr>
                  <a:spLocks noChangeShapeType="1"/>
                </p:cNvSpPr>
                <p:nvPr/>
              </p:nvSpPr>
              <p:spPr bwMode="auto">
                <a:xfrm rot="5400000" flipH="1" flipV="1">
                  <a:off x="4662" y="2054"/>
                  <a:ext cx="0" cy="159"/>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9" name="Line 151"/>
                <p:cNvSpPr>
                  <a:spLocks noChangeShapeType="1"/>
                </p:cNvSpPr>
                <p:nvPr/>
              </p:nvSpPr>
              <p:spPr bwMode="auto">
                <a:xfrm rot="5400000" flipV="1">
                  <a:off x="4673" y="2226"/>
                  <a:ext cx="0" cy="181"/>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0" name="Line 152"/>
                <p:cNvSpPr>
                  <a:spLocks noChangeShapeType="1"/>
                </p:cNvSpPr>
                <p:nvPr/>
              </p:nvSpPr>
              <p:spPr bwMode="auto">
                <a:xfrm rot="5400000" flipV="1">
                  <a:off x="4660" y="2544"/>
                  <a:ext cx="0" cy="154"/>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1" name="Line 153"/>
                <p:cNvSpPr>
                  <a:spLocks noChangeShapeType="1"/>
                </p:cNvSpPr>
                <p:nvPr/>
              </p:nvSpPr>
              <p:spPr bwMode="auto">
                <a:xfrm rot="5400000" flipV="1">
                  <a:off x="4522" y="2469"/>
                  <a:ext cx="534" cy="1"/>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2" name="Freeform 154"/>
                <p:cNvSpPr/>
                <p:nvPr/>
              </p:nvSpPr>
              <p:spPr bwMode="auto">
                <a:xfrm rot="5400000" flipV="1">
                  <a:off x="4422" y="2434"/>
                  <a:ext cx="668" cy="67"/>
                </a:xfrm>
                <a:custGeom>
                  <a:avLst/>
                  <a:gdLst>
                    <a:gd name="T0" fmla="*/ 0 w 339"/>
                    <a:gd name="T1" fmla="*/ 3 h 38"/>
                    <a:gd name="T2" fmla="*/ 39 w 339"/>
                    <a:gd name="T3" fmla="*/ 36 h 38"/>
                    <a:gd name="T4" fmla="*/ 93 w 339"/>
                    <a:gd name="T5" fmla="*/ 18 h 38"/>
                    <a:gd name="T6" fmla="*/ 180 w 339"/>
                    <a:gd name="T7" fmla="*/ 30 h 38"/>
                    <a:gd name="T8" fmla="*/ 252 w 339"/>
                    <a:gd name="T9" fmla="*/ 12 h 38"/>
                    <a:gd name="T10" fmla="*/ 303 w 339"/>
                    <a:gd name="T11" fmla="*/ 30 h 38"/>
                    <a:gd name="T12" fmla="*/ 339 w 33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339" h="38">
                      <a:moveTo>
                        <a:pt x="0" y="3"/>
                      </a:moveTo>
                      <a:cubicBezTo>
                        <a:pt x="12" y="18"/>
                        <a:pt x="24" y="34"/>
                        <a:pt x="39" y="36"/>
                      </a:cubicBezTo>
                      <a:cubicBezTo>
                        <a:pt x="54" y="38"/>
                        <a:pt x="70" y="19"/>
                        <a:pt x="93" y="18"/>
                      </a:cubicBezTo>
                      <a:cubicBezTo>
                        <a:pt x="116" y="17"/>
                        <a:pt x="154" y="31"/>
                        <a:pt x="180" y="30"/>
                      </a:cubicBezTo>
                      <a:cubicBezTo>
                        <a:pt x="206" y="29"/>
                        <a:pt x="232" y="12"/>
                        <a:pt x="252" y="12"/>
                      </a:cubicBezTo>
                      <a:cubicBezTo>
                        <a:pt x="272" y="12"/>
                        <a:pt x="289" y="32"/>
                        <a:pt x="303" y="30"/>
                      </a:cubicBezTo>
                      <a:cubicBezTo>
                        <a:pt x="317" y="28"/>
                        <a:pt x="328" y="14"/>
                        <a:pt x="339" y="0"/>
                      </a:cubicBezTo>
                    </a:path>
                  </a:pathLst>
                </a:custGeom>
                <a:noFill/>
                <a:ln w="1905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3" name="Line 155"/>
                <p:cNvSpPr>
                  <a:spLocks noChangeShapeType="1"/>
                </p:cNvSpPr>
                <p:nvPr/>
              </p:nvSpPr>
              <p:spPr bwMode="auto">
                <a:xfrm rot="5400000" flipV="1">
                  <a:off x="4241" y="2465"/>
                  <a:ext cx="673" cy="0"/>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4434"/>
                                        </p:tgtEl>
                                        <p:attrNameLst>
                                          <p:attrName>style.visibility</p:attrName>
                                        </p:attrNameLst>
                                      </p:cBhvr>
                                      <p:to>
                                        <p:strVal val="visible"/>
                                      </p:to>
                                    </p:set>
                                  </p:childTnLst>
                                </p:cTn>
                              </p:par>
                            </p:childTnLst>
                          </p:cTn>
                        </p:par>
                        <p:par>
                          <p:cTn id="7" fill="hold">
                            <p:stCondLst>
                              <p:cond delay="500"/>
                            </p:stCondLst>
                            <p:childTnLst>
                              <p:par>
                                <p:cTn id="8" presetID="9" presetClass="entr" presetSubtype="0" fill="hold" nodeType="afterEffect">
                                  <p:stCondLst>
                                    <p:cond delay="0"/>
                                  </p:stCondLst>
                                  <p:childTnLst>
                                    <p:set>
                                      <p:cBhvr>
                                        <p:cTn id="9" dur="1" fill="hold">
                                          <p:stCondLst>
                                            <p:cond delay="0"/>
                                          </p:stCondLst>
                                        </p:cTn>
                                        <p:tgtEl>
                                          <p:spTgt spid="274592"/>
                                        </p:tgtEl>
                                        <p:attrNameLst>
                                          <p:attrName>style.visibility</p:attrName>
                                        </p:attrNameLst>
                                      </p:cBhvr>
                                      <p:to>
                                        <p:strVal val="visible"/>
                                      </p:to>
                                    </p:set>
                                    <p:animEffect transition="in" filter="dissolve">
                                      <p:cBhvr>
                                        <p:cTn id="10" dur="500"/>
                                        <p:tgtEl>
                                          <p:spTgt spid="27459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61"/>
                                        </p:tgtEl>
                                        <p:attrNameLst>
                                          <p:attrName>style.visibility</p:attrName>
                                        </p:attrNameLst>
                                      </p:cBhvr>
                                      <p:to>
                                        <p:strVal val="visible"/>
                                      </p:to>
                                    </p:set>
                                    <p:animEffect transition="in" filter="dissolve">
                                      <p:cBhvr>
                                        <p:cTn id="15" dur="500"/>
                                        <p:tgtEl>
                                          <p:spTgt spid="16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2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9940"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标题 16385"/>
          <p:cNvSpPr>
            <a:spLocks noGrp="1" noChangeArrowheads="1"/>
          </p:cNvSpPr>
          <p:nvPr/>
        </p:nvSpPr>
        <p:spPr bwMode="auto">
          <a:xfrm>
            <a:off x="6172200" y="838200"/>
            <a:ext cx="2286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链轮的结构和材料</a:t>
            </a:r>
            <a:r>
              <a:rPr lang="en-US" altLang="zh-CN" sz="700">
                <a:solidFill>
                  <a:schemeClr val="bg1"/>
                </a:solidFill>
              </a:rPr>
              <a:t>2</a:t>
            </a:r>
            <a:endParaRPr lang="en-US" altLang="zh-CN" sz="700">
              <a:solidFill>
                <a:schemeClr val="bg1"/>
              </a:solidFill>
            </a:endParaRPr>
          </a:p>
        </p:txBody>
      </p:sp>
      <p:sp>
        <p:nvSpPr>
          <p:cNvPr id="16392" name="文本框 16391"/>
          <p:cNvSpPr txBox="1">
            <a:spLocks noChangeArrowheads="1"/>
          </p:cNvSpPr>
          <p:nvPr/>
        </p:nvSpPr>
        <p:spPr bwMode="auto">
          <a:xfrm>
            <a:off x="179388" y="990600"/>
            <a:ext cx="262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sz="2400" dirty="0">
                <a:solidFill>
                  <a:srgbClr val="0000FF"/>
                </a:solidFill>
                <a:latin typeface="黑体" panose="02010609060101010101" pitchFamily="49" charset="-122"/>
                <a:ea typeface="黑体" panose="02010609060101010101" pitchFamily="49" charset="-122"/>
                <a:cs typeface="黑体" panose="02010609060101010101" pitchFamily="49" charset="-122"/>
              </a:rPr>
              <a:t>（四）</a:t>
            </a:r>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rPr>
              <a:t>链轮的材料 </a:t>
            </a:r>
            <a:endPar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16395" name="文本框 16394"/>
          <p:cNvSpPr txBox="1">
            <a:spLocks noChangeArrowheads="1"/>
          </p:cNvSpPr>
          <p:nvPr/>
        </p:nvSpPr>
        <p:spPr bwMode="auto">
          <a:xfrm>
            <a:off x="454025" y="1580515"/>
            <a:ext cx="837946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pPr>
            <a:r>
              <a:rPr lang="zh-CN" altLang="en-US" sz="2000"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链轮的材料应能保证轮齿具有</a:t>
            </a:r>
            <a:r>
              <a:rPr lang="zh-CN" altLang="en-US" sz="2400" dirty="0">
                <a:solidFill>
                  <a:srgbClr val="FF0000"/>
                </a:solidFill>
                <a:latin typeface="Times New Roman" panose="02020603050405020304" pitchFamily="18" charset="0"/>
              </a:rPr>
              <a:t>足够的耐磨性和强度</a:t>
            </a:r>
            <a:r>
              <a:rPr lang="zh-CN" altLang="en-US" sz="2400" dirty="0">
                <a:solidFill>
                  <a:srgbClr val="000099"/>
                </a:solidFill>
                <a:latin typeface="Times New Roman" panose="02020603050405020304" pitchFamily="18" charset="0"/>
              </a:rPr>
              <a:t>，由于小链轮的工作情况较大链轮的恶劣些，故小链轮通常采用较好的材料制造。</a:t>
            </a:r>
            <a:endParaRPr lang="zh-CN" altLang="en-US" sz="2400" dirty="0">
              <a:solidFill>
                <a:srgbClr val="000099"/>
              </a:solidFill>
              <a:latin typeface="Times New Roman" panose="02020603050405020304" pitchFamily="18" charset="0"/>
            </a:endParaRPr>
          </a:p>
        </p:txBody>
      </p:sp>
      <p:sp>
        <p:nvSpPr>
          <p:cNvPr id="54287" name="文本框 99"/>
          <p:cNvSpPr txBox="1">
            <a:spLocks noChangeArrowheads="1"/>
          </p:cNvSpPr>
          <p:nvPr/>
        </p:nvSpPr>
        <p:spPr bwMode="auto">
          <a:xfrm>
            <a:off x="2207647" y="3605371"/>
            <a:ext cx="4049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latin typeface="华文中宋" panose="02010600040101010101" pitchFamily="2" charset="-122"/>
                <a:hlinkClick r:id="rId4" action="ppaction://hlinksldjump"/>
              </a:rPr>
              <a:t>链轮常用的材料及齿面硬度</a:t>
            </a:r>
            <a:endParaRPr lang="en-US" altLang="zh-CN" sz="2400">
              <a:latin typeface="宋体" panose="02010600030101010101" pitchFamily="2" charset="-122"/>
              <a:ea typeface="宋体" panose="02010600030101010101" pitchFamily="2" charset="-122"/>
            </a:endParaRPr>
          </a:p>
        </p:txBody>
      </p:sp>
      <p:sp>
        <p:nvSpPr>
          <p:cNvPr id="3995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5" name="Rectangle 2"/>
          <p:cNvSpPr>
            <a:spLocks noGrp="1" noChangeArrowheads="1"/>
          </p:cNvSpPr>
          <p:nvPr>
            <p:ph type="title"/>
          </p:nvPr>
        </p:nvSpPr>
        <p:spPr bwMode="auto">
          <a:xfrm>
            <a:off x="3176270" y="111125"/>
            <a:ext cx="596773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滚子链链轮</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的结构和材料</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wipe(left)">
                                      <p:cBhvr>
                                        <p:cTn id="7" dur="500"/>
                                        <p:tgtEl>
                                          <p:spTgt spid="163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5"/>
                                        </p:tgtEl>
                                        <p:attrNameLst>
                                          <p:attrName>style.visibility</p:attrName>
                                        </p:attrNameLst>
                                      </p:cBhvr>
                                      <p:to>
                                        <p:strVal val="visible"/>
                                      </p:to>
                                    </p:set>
                                    <p:animEffect transition="in" filter="wipe(left)">
                                      <p:cBhvr>
                                        <p:cTn id="12" dur="500"/>
                                        <p:tgtEl>
                                          <p:spTgt spid="1639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4287"/>
                                        </p:tgtEl>
                                        <p:attrNameLst>
                                          <p:attrName>style.visibility</p:attrName>
                                        </p:attrNameLst>
                                      </p:cBhvr>
                                      <p:to>
                                        <p:strVal val="visible"/>
                                      </p:to>
                                    </p:set>
                                    <p:animEffect transition="in" filter="wipe(left)">
                                      <p:cBhvr>
                                        <p:cTn id="16" dur="500"/>
                                        <p:tgtEl>
                                          <p:spTgt spid="54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p:bldP spid="16395" grpId="0"/>
      <p:bldP spid="5428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文本框 99"/>
          <p:cNvSpPr txBox="1">
            <a:spLocks noChangeArrowheads="1"/>
          </p:cNvSpPr>
          <p:nvPr/>
        </p:nvSpPr>
        <p:spPr bwMode="auto">
          <a:xfrm>
            <a:off x="1755775" y="916305"/>
            <a:ext cx="522859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dirty="0">
                <a:solidFill>
                  <a:srgbClr val="000099"/>
                </a:solidFill>
                <a:latin typeface="宋体" panose="02010600030101010101" pitchFamily="2" charset="-122"/>
              </a:rPr>
              <a:t>表</a:t>
            </a:r>
            <a:r>
              <a:rPr lang="en-US" altLang="zh-CN" dirty="0">
                <a:solidFill>
                  <a:srgbClr val="000099"/>
                </a:solidFill>
                <a:latin typeface="宋体" panose="02010600030101010101" pitchFamily="2" charset="-122"/>
              </a:rPr>
              <a:t>3.3-5 </a:t>
            </a:r>
            <a:r>
              <a:rPr lang="zh-CN" altLang="en-US" dirty="0">
                <a:solidFill>
                  <a:srgbClr val="000099"/>
                </a:solidFill>
                <a:latin typeface="宋体" panose="02010600030101010101" pitchFamily="2" charset="-122"/>
              </a:rPr>
              <a:t>链轮常用的材料及齿面硬度</a:t>
            </a:r>
            <a:endParaRPr lang="zh-CN" altLang="en-US" dirty="0">
              <a:solidFill>
                <a:srgbClr val="000099"/>
              </a:solidFill>
              <a:latin typeface="宋体" panose="02010600030101010101" pitchFamily="2" charset="-122"/>
            </a:endParaRPr>
          </a:p>
        </p:txBody>
      </p:sp>
      <p:graphicFrame>
        <p:nvGraphicFramePr>
          <p:cNvPr id="2" name="表格 -1"/>
          <p:cNvGraphicFramePr/>
          <p:nvPr>
            <p:custDataLst>
              <p:tags r:id="rId1"/>
            </p:custDataLst>
          </p:nvPr>
        </p:nvGraphicFramePr>
        <p:xfrm>
          <a:off x="161290" y="1435735"/>
          <a:ext cx="8820785" cy="4617725"/>
        </p:xfrm>
        <a:graphic>
          <a:graphicData uri="http://schemas.openxmlformats.org/drawingml/2006/table">
            <a:tbl>
              <a:tblPr firstRow="1" bandRow="1">
                <a:tableStyleId>{5940675A-B579-460E-94D1-54222C63F5DA}</a:tableStyleId>
              </a:tblPr>
              <a:tblGrid>
                <a:gridCol w="1619885"/>
                <a:gridCol w="1950720"/>
                <a:gridCol w="1561465"/>
                <a:gridCol w="3688715"/>
              </a:tblGrid>
              <a:tr h="261620">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材料</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热处理</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热处理后硬度</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应用范围</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920">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渗碳、淬火、回火</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60HRC</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，有冲击载荷的主、从动链轮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1800">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正火</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160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200HBW</a:t>
                      </a:r>
                      <a:endParaRPr lang="en-US" altLang="zh-CN" sz="1800" b="0" dirty="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在正常工作条件下，齿数较多（</a:t>
                      </a: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260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ZG310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570</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50HRC</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无剧烈振动及冲击的链轮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388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15Cr</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20Cr</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渗碳、淬火、回火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60HRC</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有动载荷及传递较大功率的重要链轮（</a:t>
                      </a: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260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35SiMn</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40Cr</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35CrMo</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50HRC</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使用优质链条，重要的链轮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591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Q235</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Q275</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焊接后退火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140HBW</a:t>
                      </a:r>
                      <a:endParaRPr lang="en-US" altLang="zh-CN" sz="1800" b="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中等速度、传递中等功率的较大链轮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1810">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普通灰铸铁（不低于</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HT150)</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260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280HBW</a:t>
                      </a:r>
                      <a:endParaRPr lang="en-US" altLang="zh-CN" sz="1800" b="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b="0" baseline="-2500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的从动链轮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58800">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夹布胶木</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功率小于</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6kW</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、速度较高、要求传动平稳和噪声小的链轮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995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sp>
        <p:nvSpPr>
          <p:cNvPr id="5" name="Rectangle 2"/>
          <p:cNvSpPr>
            <a:spLocks noGrp="1" noChangeArrowheads="1"/>
          </p:cNvSpPr>
          <p:nvPr>
            <p:ph type="title"/>
          </p:nvPr>
        </p:nvSpPr>
        <p:spPr bwMode="auto">
          <a:xfrm>
            <a:off x="3176270" y="111125"/>
            <a:ext cx="5967730" cy="490220"/>
          </a:xfrm>
          <a:ln>
            <a:miter lim="800000"/>
          </a:ln>
        </p:spPr>
        <p:txBody>
          <a:bodyPr vert="horz" wrap="square" lIns="91440" tIns="45720" rIns="91440" bIns="45720" numCol="1" anchor="t" anchorCtr="0" compatLnSpc="1"/>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-3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滚子链链轮</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的结构和材料</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ext Box 28"/>
          <p:cNvSpPr txBox="1">
            <a:spLocks noChangeArrowheads="1"/>
          </p:cNvSpPr>
          <p:nvPr/>
        </p:nvSpPr>
        <p:spPr bwMode="auto">
          <a:xfrm>
            <a:off x="6538913" y="6234113"/>
            <a:ext cx="2698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solidFill>
                  <a:srgbClr val="000099"/>
                </a:solidFill>
              </a:rPr>
              <a:t> </a:t>
            </a:r>
            <a:endParaRPr lang="en-US" altLang="zh-CN">
              <a:solidFill>
                <a:srgbClr val="000099"/>
              </a:solidFill>
            </a:endParaRPr>
          </a:p>
        </p:txBody>
      </p:sp>
      <p:sp>
        <p:nvSpPr>
          <p:cNvPr id="1032" name="Rectangle 6"/>
          <p:cNvSpPr>
            <a:spLocks noChangeArrowheads="1"/>
          </p:cNvSpPr>
          <p:nvPr/>
        </p:nvSpPr>
        <p:spPr bwMode="auto">
          <a:xfrm>
            <a:off x="0" y="-215900"/>
            <a:ext cx="182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1033" name="Rectangle 8"/>
          <p:cNvSpPr>
            <a:spLocks noChangeArrowheads="1"/>
          </p:cNvSpPr>
          <p:nvPr/>
        </p:nvSpPr>
        <p:spPr bwMode="auto">
          <a:xfrm>
            <a:off x="0" y="-215900"/>
            <a:ext cx="182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3" name="Rectangle 2"/>
          <p:cNvSpPr>
            <a:spLocks noGrp="1" noChangeArrowheads="1"/>
          </p:cNvSpPr>
          <p:nvPr>
            <p:ph type="title"/>
          </p:nvPr>
        </p:nvSpPr>
        <p:spPr bwMode="auto">
          <a:xfrm>
            <a:off x="3636645" y="271780"/>
            <a:ext cx="549021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-4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链传动的工作情况分析</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03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Picture 36"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文本框 7176"/>
          <p:cNvSpPr txBox="1">
            <a:spLocks noChangeArrowheads="1"/>
          </p:cNvSpPr>
          <p:nvPr/>
        </p:nvSpPr>
        <p:spPr bwMode="auto">
          <a:xfrm>
            <a:off x="428625" y="1154113"/>
            <a:ext cx="848836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链条进入链轮后形成折线，链传动相当于链条绕在</a:t>
            </a:r>
            <a:r>
              <a:rPr lang="zh-CN" altLang="en-US" sz="2000">
                <a:solidFill>
                  <a:srgbClr val="FF0000"/>
                </a:solidFill>
                <a:latin typeface="Times New Roman" panose="02020603050405020304" pitchFamily="18" charset="0"/>
              </a:rPr>
              <a:t>正多边形</a:t>
            </a:r>
            <a:r>
              <a:rPr lang="zh-CN" altLang="en-US" sz="2000">
                <a:solidFill>
                  <a:srgbClr val="000099"/>
                </a:solidFill>
                <a:latin typeface="Times New Roman" panose="02020603050405020304" pitchFamily="18" charset="0"/>
              </a:rPr>
              <a:t>的轮子上，该正多边形的边长等于链条的节距 </a:t>
            </a:r>
            <a:r>
              <a:rPr lang="en-US" altLang="zh-CN" sz="2000" i="1">
                <a:solidFill>
                  <a:srgbClr val="000099"/>
                </a:solidFill>
                <a:latin typeface="Times New Roman" panose="02020603050405020304" pitchFamily="18" charset="0"/>
              </a:rPr>
              <a:t>p</a:t>
            </a:r>
            <a:r>
              <a:rPr lang="zh-CN" altLang="en-US" sz="2000" i="1">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rPr>
              <a:t>边数等于链轮齿数</a:t>
            </a:r>
            <a:r>
              <a:rPr lang="en-US" altLang="zh-CN" sz="2000" i="1">
                <a:solidFill>
                  <a:srgbClr val="000099"/>
                </a:solidFill>
                <a:latin typeface="Times New Roman" panose="02020603050405020304" pitchFamily="18" charset="0"/>
              </a:rPr>
              <a:t>z</a:t>
            </a:r>
            <a:r>
              <a:rPr lang="zh-CN" altLang="en-US" sz="2000">
                <a:solidFill>
                  <a:srgbClr val="000099"/>
                </a:solidFill>
                <a:latin typeface="Times New Roman" panose="02020603050405020304" pitchFamily="18" charset="0"/>
              </a:rPr>
              <a:t>。</a:t>
            </a:r>
            <a:endParaRPr lang="zh-CN" altLang="en-US" sz="2000">
              <a:solidFill>
                <a:srgbClr val="000099"/>
              </a:solidFill>
              <a:latin typeface="Times New Roman" panose="02020603050405020304" pitchFamily="18" charset="0"/>
            </a:endParaRPr>
          </a:p>
        </p:txBody>
      </p:sp>
      <p:sp>
        <p:nvSpPr>
          <p:cNvPr id="55306" name="文本框 7178"/>
          <p:cNvSpPr txBox="1">
            <a:spLocks noChangeArrowheads="1"/>
          </p:cNvSpPr>
          <p:nvPr/>
        </p:nvSpPr>
        <p:spPr bwMode="auto">
          <a:xfrm>
            <a:off x="284163" y="2665413"/>
            <a:ext cx="2236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链的平均速度为：</a:t>
            </a:r>
            <a:endParaRPr lang="zh-CN" altLang="en-US" sz="2000">
              <a:solidFill>
                <a:srgbClr val="000099"/>
              </a:solidFill>
              <a:latin typeface="Times New Roman" panose="02020603050405020304" pitchFamily="18" charset="0"/>
            </a:endParaRPr>
          </a:p>
        </p:txBody>
      </p:sp>
      <p:sp>
        <p:nvSpPr>
          <p:cNvPr id="55307" name="文本框 7179"/>
          <p:cNvSpPr txBox="1">
            <a:spLocks noChangeArrowheads="1"/>
          </p:cNvSpPr>
          <p:nvPr/>
        </p:nvSpPr>
        <p:spPr bwMode="auto">
          <a:xfrm>
            <a:off x="367348" y="4296728"/>
            <a:ext cx="3006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链传动的平均传动比为：</a:t>
            </a:r>
            <a:endParaRPr lang="zh-CN" altLang="en-US" sz="2000">
              <a:solidFill>
                <a:srgbClr val="000099"/>
              </a:solidFill>
              <a:latin typeface="Times New Roman" panose="02020603050405020304" pitchFamily="18" charset="0"/>
            </a:endParaRPr>
          </a:p>
        </p:txBody>
      </p:sp>
      <p:graphicFrame>
        <p:nvGraphicFramePr>
          <p:cNvPr id="55311" name="对象 1">
            <a:hlinkClick r:id="" action="ppaction://ole?verb=1"/>
          </p:cNvPr>
          <p:cNvGraphicFramePr>
            <a:graphicFrameLocks noChangeAspect="1"/>
          </p:cNvGraphicFramePr>
          <p:nvPr/>
        </p:nvGraphicFramePr>
        <p:xfrm>
          <a:off x="452438" y="3363913"/>
          <a:ext cx="2595562" cy="644525"/>
        </p:xfrm>
        <a:graphic>
          <a:graphicData uri="http://schemas.openxmlformats.org/presentationml/2006/ole">
            <mc:AlternateContent xmlns:mc="http://schemas.openxmlformats.org/markup-compatibility/2006">
              <mc:Choice xmlns:v="urn:schemas-microsoft-com:vml" Requires="v">
                <p:oleObj spid="_x0000_s1205" name="" r:id="rId4" imgW="1587500" imgH="393700" progId="Equation.KSEE3">
                  <p:embed/>
                </p:oleObj>
              </mc:Choice>
              <mc:Fallback>
                <p:oleObj name="" r:id="rId4" imgW="1587500" imgH="393700" progId="Equation.KSEE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438" y="3363913"/>
                        <a:ext cx="259556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2" name="对象 3">
            <a:hlinkClick r:id="" action="ppaction://ole?verb=1"/>
          </p:cNvPr>
          <p:cNvGraphicFramePr>
            <a:graphicFrameLocks noChangeAspect="1"/>
          </p:cNvGraphicFramePr>
          <p:nvPr/>
        </p:nvGraphicFramePr>
        <p:xfrm>
          <a:off x="1244600" y="4905375"/>
          <a:ext cx="1163638" cy="706438"/>
        </p:xfrm>
        <a:graphic>
          <a:graphicData uri="http://schemas.openxmlformats.org/presentationml/2006/ole">
            <mc:AlternateContent xmlns:mc="http://schemas.openxmlformats.org/markup-compatibility/2006">
              <mc:Choice xmlns:v="urn:schemas-microsoft-com:vml" Requires="v">
                <p:oleObj spid="_x0000_s1206" name="" r:id="rId6" imgW="711200" imgH="431800" progId="Equation.KSEE3">
                  <p:embed/>
                </p:oleObj>
              </mc:Choice>
              <mc:Fallback>
                <p:oleObj name="" r:id="rId6" imgW="711200" imgH="431800" progId="Equation.KSEE3">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4600" y="4905375"/>
                        <a:ext cx="11636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8" name="对象 4">
            <a:hlinkClick r:id="" action="ppaction://ole?verb=1"/>
          </p:cNvPr>
          <p:cNvGraphicFramePr>
            <a:graphicFrameLocks noChangeAspect="1"/>
          </p:cNvGraphicFramePr>
          <p:nvPr/>
        </p:nvGraphicFramePr>
        <p:xfrm>
          <a:off x="4114800" y="3392488"/>
          <a:ext cx="914400" cy="215900"/>
        </p:xfrm>
        <a:graphic>
          <a:graphicData uri="http://schemas.openxmlformats.org/presentationml/2006/ole">
            <mc:AlternateContent xmlns:mc="http://schemas.openxmlformats.org/markup-compatibility/2006">
              <mc:Choice xmlns:v="urn:schemas-microsoft-com:vml" Requires="v">
                <p:oleObj spid="_x0000_s1207" name="" r:id="rId8" imgW="914400" imgH="215900" progId="Equation.KSEE3">
                  <p:embed/>
                </p:oleObj>
              </mc:Choice>
              <mc:Fallback>
                <p:oleObj name="" r:id="rId8" imgW="914400" imgH="215900" progId="Equation.KSEE3">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3392488"/>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0" name="文本框 14339"/>
          <p:cNvSpPr txBox="1">
            <a:spLocks noChangeArrowheads="1"/>
          </p:cNvSpPr>
          <p:nvPr/>
        </p:nvSpPr>
        <p:spPr bwMode="auto">
          <a:xfrm>
            <a:off x="228600" y="762000"/>
            <a:ext cx="29768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一、链传动的运动特性</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59411"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1305" y="1997348"/>
            <a:ext cx="4910138"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809328" y="3757672"/>
                <a:ext cx="2088232" cy="400110"/>
              </a:xfrm>
              <a:prstGeom prst="rect">
                <a:avLst/>
              </a:prstGeom>
              <a:solidFill>
                <a:srgbClr val="FFFF00"/>
              </a:solidFill>
            </p:spPr>
            <p:txBody>
              <a:bodyPr wrap="square" rtlCol="0">
                <a:spAutoFit/>
              </a:bodyPr>
              <a:lstStyle/>
              <a:p>
                <a14:m>
                  <m:oMath xmlns:m="http://schemas.openxmlformats.org/officeDocument/2006/math">
                    <m:r>
                      <a:rPr lang="zh-CN" altLang="en-US" sz="2000" i="1" smtClean="0">
                        <a:latin typeface="Cambria Math" panose="02040503050406030204" pitchFamily="18" charset="0"/>
                      </a:rPr>
                      <m:t>𝛽</m:t>
                    </m:r>
                    <m:r>
                      <a:rPr lang="en-US" altLang="zh-CN" sz="2000" i="1">
                        <a:latin typeface="Cambria Math" panose="02040503050406030204" pitchFamily="18" charset="0"/>
                      </a:rPr>
                      <m:t>=</m:t>
                    </m:r>
                  </m:oMath>
                </a14:m>
                <a:r>
                  <a:rPr lang="en-US" altLang="zh-CN" sz="2000" dirty="0" smtClean="0"/>
                  <a:t>0</a:t>
                </a:r>
                <a:r>
                  <a:rPr lang="zh-CN" altLang="en-US" sz="2000" dirty="0" smtClean="0"/>
                  <a:t>，链速最高</a:t>
                </a:r>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6809328" y="3757672"/>
                <a:ext cx="2088232" cy="400110"/>
              </a:xfrm>
              <a:prstGeom prst="rect">
                <a:avLst/>
              </a:prstGeom>
              <a:blipFill rotWithShape="1">
                <a:blip r:embed="rId11"/>
                <a:stretch>
                  <a:fillRect l="-11" t="-94" r="28" b="109"/>
                </a:stretch>
              </a:blipFill>
            </p:spPr>
            <p:txBody>
              <a:bodyPr/>
              <a:lstStyle/>
              <a:p>
                <a:r>
                  <a:rPr lang="zh-CN" altLang="en-US">
                    <a:noFill/>
                  </a:rPr>
                  <a:t> </a:t>
                </a:r>
              </a:p>
            </p:txBody>
          </p:sp>
        </mc:Fallback>
      </mc:AlternateContent>
      <p:sp>
        <p:nvSpPr>
          <p:cNvPr id="5" name="矩形 4"/>
          <p:cNvSpPr/>
          <p:nvPr/>
        </p:nvSpPr>
        <p:spPr>
          <a:xfrm>
            <a:off x="6673215" y="3761105"/>
            <a:ext cx="2258060" cy="445770"/>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305"/>
                                        </p:tgtEl>
                                        <p:attrNameLst>
                                          <p:attrName>style.visibility</p:attrName>
                                        </p:attrNameLst>
                                      </p:cBhvr>
                                      <p:to>
                                        <p:strVal val="visible"/>
                                      </p:to>
                                    </p:set>
                                    <p:animEffect transition="in" filter="wipe(left)">
                                      <p:cBhvr>
                                        <p:cTn id="12" dur="500"/>
                                        <p:tgtEl>
                                          <p:spTgt spid="5530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94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306"/>
                                        </p:tgtEl>
                                        <p:attrNameLst>
                                          <p:attrName>style.visibility</p:attrName>
                                        </p:attrNameLst>
                                      </p:cBhvr>
                                      <p:to>
                                        <p:strVal val="visible"/>
                                      </p:to>
                                    </p:set>
                                    <p:animEffect transition="in" filter="wipe(left)">
                                      <p:cBhvr>
                                        <p:cTn id="21" dur="500"/>
                                        <p:tgtEl>
                                          <p:spTgt spid="5530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5311"/>
                                        </p:tgtEl>
                                        <p:attrNameLst>
                                          <p:attrName>style.visibility</p:attrName>
                                        </p:attrNameLst>
                                      </p:cBhvr>
                                      <p:to>
                                        <p:strVal val="visible"/>
                                      </p:to>
                                    </p:set>
                                    <p:animEffect transition="in" filter="wipe(left)">
                                      <p:cBhvr>
                                        <p:cTn id="25" dur="500"/>
                                        <p:tgtEl>
                                          <p:spTgt spid="553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5307"/>
                                        </p:tgtEl>
                                        <p:attrNameLst>
                                          <p:attrName>style.visibility</p:attrName>
                                        </p:attrNameLst>
                                      </p:cBhvr>
                                      <p:to>
                                        <p:strVal val="visible"/>
                                      </p:to>
                                    </p:set>
                                    <p:animEffect transition="in" filter="wipe(left)">
                                      <p:cBhvr>
                                        <p:cTn id="30" dur="500"/>
                                        <p:tgtEl>
                                          <p:spTgt spid="5530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5312"/>
                                        </p:tgtEl>
                                        <p:attrNameLst>
                                          <p:attrName>style.visibility</p:attrName>
                                        </p:attrNameLst>
                                      </p:cBhvr>
                                      <p:to>
                                        <p:strVal val="visible"/>
                                      </p:to>
                                    </p:set>
                                    <p:animEffect transition="in" filter="wipe(left)">
                                      <p:cBhvr>
                                        <p:cTn id="34" dur="500"/>
                                        <p:tgtEl>
                                          <p:spTgt spid="553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xit" presetSubtype="8" fill="hold" grpId="0" nodeType="clickEffect">
                                  <p:stCondLst>
                                    <p:cond delay="0"/>
                                  </p:stCondLst>
                                  <p:childTnLst>
                                    <p:animEffect transition="out" filter="wipe(left)">
                                      <p:cBhvr>
                                        <p:cTn id="43" dur="500"/>
                                        <p:tgtEl>
                                          <p:spTgt spid="5"/>
                                        </p:tgtEl>
                                      </p:cBhvr>
                                    </p:animEffect>
                                    <p:set>
                                      <p:cBhvr>
                                        <p:cTn id="44"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 grpId="0"/>
      <p:bldP spid="55306" grpId="0"/>
      <p:bldP spid="55307" grpId="0"/>
      <p:bldP spid="14340" grpId="0"/>
      <p:bldP spid="2" grpId="0" bldLvl="0" animBg="1"/>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ext Box 28"/>
          <p:cNvSpPr txBox="1">
            <a:spLocks noChangeArrowheads="1"/>
          </p:cNvSpPr>
          <p:nvPr/>
        </p:nvSpPr>
        <p:spPr bwMode="auto">
          <a:xfrm>
            <a:off x="6538913" y="6234113"/>
            <a:ext cx="26670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solidFill>
                  <a:srgbClr val="000099"/>
                </a:solidFill>
              </a:rPr>
              <a:t> </a:t>
            </a:r>
            <a:endParaRPr lang="en-US" altLang="zh-CN">
              <a:solidFill>
                <a:srgbClr val="000099"/>
              </a:solidFill>
            </a:endParaRPr>
          </a:p>
        </p:txBody>
      </p:sp>
      <p:sp>
        <p:nvSpPr>
          <p:cNvPr id="1032" name="Rectangle 6"/>
          <p:cNvSpPr>
            <a:spLocks noChangeArrowheads="1"/>
          </p:cNvSpPr>
          <p:nvPr/>
        </p:nvSpPr>
        <p:spPr bwMode="auto">
          <a:xfrm>
            <a:off x="0" y="-215582"/>
            <a:ext cx="30607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1033" name="Rectangle 8"/>
          <p:cNvSpPr>
            <a:spLocks noChangeArrowheads="1"/>
          </p:cNvSpPr>
          <p:nvPr/>
        </p:nvSpPr>
        <p:spPr bwMode="auto">
          <a:xfrm>
            <a:off x="0" y="-215582"/>
            <a:ext cx="30607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3" name="Rectangle 2"/>
          <p:cNvSpPr>
            <a:spLocks noGrp="1" noChangeArrowheads="1"/>
          </p:cNvSpPr>
          <p:nvPr>
            <p:ph type="title" idx="4294967295"/>
          </p:nvPr>
        </p:nvSpPr>
        <p:spPr bwMode="auto">
          <a:xfrm>
            <a:off x="3653790" y="271780"/>
            <a:ext cx="549021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-4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链传动的工作情况分析</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103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Picture 36"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8" name="文本框 7181"/>
          <p:cNvSpPr txBox="1">
            <a:spLocks noChangeArrowheads="1"/>
          </p:cNvSpPr>
          <p:nvPr/>
        </p:nvSpPr>
        <p:spPr bwMode="auto">
          <a:xfrm>
            <a:off x="157163" y="976313"/>
            <a:ext cx="36433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链条铰链</a:t>
            </a:r>
            <a:r>
              <a:rPr lang="en-US" altLang="zh-CN" sz="2000">
                <a:solidFill>
                  <a:srgbClr val="000099"/>
                </a:solidFill>
                <a:latin typeface="Times New Roman" panose="02020603050405020304" pitchFamily="18" charset="0"/>
              </a:rPr>
              <a:t>A</a:t>
            </a:r>
            <a:r>
              <a:rPr lang="zh-CN" altLang="en-US" sz="2000">
                <a:solidFill>
                  <a:srgbClr val="000099"/>
                </a:solidFill>
                <a:latin typeface="Times New Roman" panose="02020603050405020304" pitchFamily="18" charset="0"/>
              </a:rPr>
              <a:t>点随主动轮运动的线速度为</a:t>
            </a:r>
            <a:r>
              <a:rPr lang="en-US" altLang="zh-CN" sz="2000" i="1">
                <a:solidFill>
                  <a:srgbClr val="FF0000"/>
                </a:solidFill>
                <a:latin typeface="Times New Roman" panose="02020603050405020304" pitchFamily="18" charset="0"/>
              </a:rPr>
              <a:t>v</a:t>
            </a:r>
            <a:r>
              <a:rPr lang="en-US" altLang="zh-CN" sz="2000" i="1" baseline="-25000">
                <a:solidFill>
                  <a:srgbClr val="FF0000"/>
                </a:solidFill>
                <a:latin typeface="Times New Roman" panose="02020603050405020304" pitchFamily="18" charset="0"/>
              </a:rPr>
              <a:t>1</a:t>
            </a:r>
            <a:r>
              <a:rPr lang="en-US" altLang="zh-CN" sz="2000">
                <a:solidFill>
                  <a:srgbClr val="000099"/>
                </a:solidFill>
                <a:latin typeface="Times New Roman" panose="02020603050405020304" pitchFamily="18" charset="0"/>
              </a:rPr>
              <a:t>:</a:t>
            </a:r>
            <a:endParaRPr lang="en-US" altLang="zh-CN" sz="2000">
              <a:solidFill>
                <a:srgbClr val="000099"/>
              </a:solidFill>
              <a:latin typeface="Times New Roman" panose="02020603050405020304" pitchFamily="18" charset="0"/>
            </a:endParaRPr>
          </a:p>
        </p:txBody>
      </p:sp>
      <p:sp>
        <p:nvSpPr>
          <p:cNvPr id="55309" name="文本框 7183"/>
          <p:cNvSpPr txBox="1">
            <a:spLocks noChangeArrowheads="1"/>
          </p:cNvSpPr>
          <p:nvPr/>
        </p:nvSpPr>
        <p:spPr bwMode="auto">
          <a:xfrm>
            <a:off x="279400" y="3094038"/>
            <a:ext cx="348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垂直链条前进方向的瞬时速度</a:t>
            </a:r>
            <a:endParaRPr lang="zh-CN" altLang="en-US" sz="2000">
              <a:solidFill>
                <a:srgbClr val="000099"/>
              </a:solidFill>
              <a:latin typeface="Times New Roman" panose="02020603050405020304" pitchFamily="18" charset="0"/>
            </a:endParaRPr>
          </a:p>
        </p:txBody>
      </p:sp>
      <p:graphicFrame>
        <p:nvGraphicFramePr>
          <p:cNvPr id="1028" name="对象 4">
            <a:hlinkClick r:id="" action="ppaction://ole?verb=1"/>
          </p:cNvPr>
          <p:cNvGraphicFramePr>
            <a:graphicFrameLocks noChangeAspect="1"/>
          </p:cNvGraphicFramePr>
          <p:nvPr/>
        </p:nvGraphicFramePr>
        <p:xfrm>
          <a:off x="4114800" y="3392488"/>
          <a:ext cx="914400" cy="215900"/>
        </p:xfrm>
        <a:graphic>
          <a:graphicData uri="http://schemas.openxmlformats.org/presentationml/2006/ole">
            <mc:AlternateContent xmlns:mc="http://schemas.openxmlformats.org/markup-compatibility/2006">
              <mc:Choice xmlns:v="urn:schemas-microsoft-com:vml" Requires="v">
                <p:oleObj spid="_x0000_s1207" name="" r:id="rId4" imgW="914400" imgH="215900" progId="Equation.KSEE3">
                  <p:embed/>
                </p:oleObj>
              </mc:Choice>
              <mc:Fallback>
                <p:oleObj name="" r:id="rId4" imgW="914400" imgH="215900" progId="Equation.KSEE3">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92488"/>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4" name="对象 5">
            <a:hlinkClick r:id="" action="ppaction://ole?verb=1"/>
          </p:cNvPr>
          <p:cNvGraphicFramePr>
            <a:graphicFrameLocks noChangeAspect="1"/>
          </p:cNvGraphicFramePr>
          <p:nvPr/>
        </p:nvGraphicFramePr>
        <p:xfrm>
          <a:off x="980123" y="2635250"/>
          <a:ext cx="1484312" cy="355600"/>
        </p:xfrm>
        <a:graphic>
          <a:graphicData uri="http://schemas.openxmlformats.org/presentationml/2006/ole">
            <mc:AlternateContent xmlns:mc="http://schemas.openxmlformats.org/markup-compatibility/2006">
              <mc:Choice xmlns:v="urn:schemas-microsoft-com:vml" Requires="v">
                <p:oleObj spid="_x0000_s1208" name="" r:id="rId6" imgW="952500" imgH="228600" progId="Equation.KSEE3">
                  <p:embed/>
                </p:oleObj>
              </mc:Choice>
              <mc:Fallback>
                <p:oleObj name="" r:id="rId6" imgW="952500" imgH="228600" progId="Equation.KSEE3">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123" y="2635250"/>
                        <a:ext cx="14843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5" name="对象 6">
            <a:hlinkClick r:id="" action="ppaction://ole?verb=1"/>
          </p:cNvPr>
          <p:cNvGraphicFramePr>
            <a:graphicFrameLocks noChangeAspect="1"/>
          </p:cNvGraphicFramePr>
          <p:nvPr/>
        </p:nvGraphicFramePr>
        <p:xfrm>
          <a:off x="904240" y="3567113"/>
          <a:ext cx="1577975" cy="404812"/>
        </p:xfrm>
        <a:graphic>
          <a:graphicData uri="http://schemas.openxmlformats.org/presentationml/2006/ole">
            <mc:AlternateContent xmlns:mc="http://schemas.openxmlformats.org/markup-compatibility/2006">
              <mc:Choice xmlns:v="urn:schemas-microsoft-com:vml" Requires="v">
                <p:oleObj spid="_x0000_s1209" name="" r:id="rId8" imgW="939800" imgH="241300" progId="Equation.KSEE3">
                  <p:embed/>
                </p:oleObj>
              </mc:Choice>
              <mc:Fallback>
                <p:oleObj name="" r:id="rId8" imgW="939800" imgH="241300" progId="Equation.KSEE3">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4240" y="3567113"/>
                        <a:ext cx="1577975"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9411"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920" y="2060848"/>
            <a:ext cx="4910138"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809328" y="3757672"/>
                <a:ext cx="2088232" cy="398780"/>
              </a:xfrm>
              <a:prstGeom prst="rect">
                <a:avLst/>
              </a:prstGeom>
              <a:solidFill>
                <a:srgbClr val="FFFF00"/>
              </a:solidFill>
            </p:spPr>
            <p:txBody>
              <a:bodyPr wrap="square" rtlCol="0">
                <a:spAutoFit/>
              </a:bodyPr>
              <a:lstStyle/>
              <a:p>
                <a14:m>
                  <m:oMath xmlns:m="http://schemas.openxmlformats.org/officeDocument/2006/math">
                    <m:r>
                      <a:rPr lang="zh-CN" altLang="en-US" sz="2000" i="1" smtClean="0">
                        <a:latin typeface="Cambria Math" panose="02040503050406030204" pitchFamily="18" charset="0"/>
                      </a:rPr>
                      <m:t>𝛽</m:t>
                    </m:r>
                    <m:r>
                      <a:rPr lang="en-US" altLang="zh-CN" sz="2000" i="1">
                        <a:latin typeface="Cambria Math" panose="02040503050406030204" pitchFamily="18" charset="0"/>
                      </a:rPr>
                      <m:t>=</m:t>
                    </m:r>
                  </m:oMath>
                </a14:m>
                <a:r>
                  <a:rPr lang="en-US" altLang="zh-CN" sz="2000" dirty="0" smtClean="0"/>
                  <a:t>0</a:t>
                </a:r>
                <a:r>
                  <a:rPr lang="zh-CN" altLang="en-US" sz="2000" dirty="0" smtClean="0"/>
                  <a:t>，链速最高</a:t>
                </a:r>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6809328" y="3757672"/>
                <a:ext cx="2088232" cy="398780"/>
              </a:xfrm>
              <a:prstGeom prst="rect">
                <a:avLst/>
              </a:prstGeom>
              <a:blipFill rotWithShape="1">
                <a:blip r:embed="rId11"/>
                <a:stretch>
                  <a:fillRect l="-11" t="-95" r="28"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770890" y="5213985"/>
                <a:ext cx="2867660" cy="87376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14:m>
                  <m:oMath xmlns:m="http://schemas.openxmlformats.org/officeDocument/2006/math">
                    <m:r>
                      <a:rPr lang="zh-CN" altLang="en-US" sz="2000" i="1" smtClean="0">
                        <a:latin typeface="Cambria Math" panose="02040503050406030204" pitchFamily="18" charset="0"/>
                      </a:rPr>
                      <m:t>𝛽</m:t>
                    </m:r>
                    <m:r>
                      <a:rPr lang="en-US" altLang="zh-CN" sz="2000" i="1">
                        <a:latin typeface="Cambria Math" panose="02040503050406030204" pitchFamily="18" charset="0"/>
                      </a:rPr>
                      <m:t>=</m:t>
                    </m:r>
                    <m:r>
                      <a:rPr lang="en-US" altLang="zh-CN" sz="2000" dirty="0">
                        <a:latin typeface="Cambria Math" panose="02040503050406030204" pitchFamily="18" charset="0"/>
                        <a:ea typeface="Cambria Math" panose="02040503050406030204" pitchFamily="18" charset="0"/>
                      </a:rPr>
                      <m:t>±</m:t>
                    </m:r>
                    <m:f>
                      <m:fPr>
                        <m:ctrlPr>
                          <a:rPr lang="en-US" altLang="zh-CN" sz="2000" i="1" dirty="0" smtClean="0">
                            <a:latin typeface="Cambria Math" panose="02040503050406030204" pitchFamily="18" charset="0"/>
                            <a:ea typeface="Cambria Math" panose="02040503050406030204" pitchFamily="18" charset="0"/>
                          </a:rPr>
                        </m:ctrlPr>
                      </m:fPr>
                      <m:num>
                        <m:sSub>
                          <m:sSubPr>
                            <m:ctrlPr>
                              <a:rPr lang="en-US" altLang="zh-CN" sz="2000" i="1" dirty="0" smtClean="0">
                                <a:latin typeface="Cambria Math" panose="02040503050406030204" pitchFamily="18" charset="0"/>
                                <a:ea typeface="Cambria Math" panose="02040503050406030204" pitchFamily="18" charset="0"/>
                              </a:rPr>
                            </m:ctrlPr>
                          </m:sSubPr>
                          <m:e>
                            <m:r>
                              <a:rPr lang="zh-CN" altLang="en-US" sz="2000" i="1" dirty="0" smtClean="0">
                                <a:latin typeface="Cambria Math" panose="02040503050406030204" pitchFamily="18" charset="0"/>
                                <a:ea typeface="Cambria Math" panose="02040503050406030204" pitchFamily="18" charset="0"/>
                              </a:rPr>
                              <m:t>𝜑</m:t>
                            </m:r>
                          </m:e>
                          <m:sub>
                            <m:r>
                              <a:rPr lang="en-US" altLang="zh-CN" sz="2000" i="1" dirty="0">
                                <a:latin typeface="Cambria Math" panose="02040503050406030204" pitchFamily="18" charset="0"/>
                                <a:ea typeface="Cambria Math" panose="02040503050406030204" pitchFamily="18" charset="0"/>
                              </a:rPr>
                              <m:t>1</m:t>
                            </m:r>
                          </m:sub>
                        </m:sSub>
                      </m:num>
                      <m:den>
                        <m:r>
                          <a:rPr lang="en-US" altLang="zh-CN" sz="2000" i="1" dirty="0">
                            <a:latin typeface="Cambria Math" panose="02040503050406030204" pitchFamily="18" charset="0"/>
                            <a:ea typeface="Cambria Math" panose="02040503050406030204" pitchFamily="18" charset="0"/>
                          </a:rPr>
                          <m:t>2</m:t>
                        </m:r>
                      </m:den>
                    </m:f>
                  </m:oMath>
                </a14:m>
                <a:r>
                  <a:rPr lang="en-US" altLang="zh-CN" sz="2000" dirty="0" smtClean="0"/>
                  <a:t>=</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m:t>
                    </m:r>
                    <m:f>
                      <m:fPr>
                        <m:ctrlPr>
                          <a:rPr lang="en-US" altLang="zh-CN" sz="2000" i="1" dirty="0" smtClean="0">
                            <a:latin typeface="Cambria Math" panose="02040503050406030204" pitchFamily="18" charset="0"/>
                            <a:ea typeface="Cambria Math" panose="02040503050406030204" pitchFamily="18" charset="0"/>
                          </a:rPr>
                        </m:ctrlPr>
                      </m:fPr>
                      <m:num>
                        <m:r>
                          <a:rPr lang="en-US" altLang="zh-CN" sz="2000" i="1" dirty="0">
                            <a:latin typeface="Cambria Math" panose="02040503050406030204" pitchFamily="18" charset="0"/>
                            <a:ea typeface="Cambria Math" panose="02040503050406030204" pitchFamily="18" charset="0"/>
                          </a:rPr>
                          <m:t>1</m:t>
                        </m:r>
                        <m:r>
                          <a:rPr lang="en-US" altLang="zh-CN" sz="2000" i="1" dirty="0" smtClean="0">
                            <a:latin typeface="Cambria Math" panose="02040503050406030204" pitchFamily="18" charset="0"/>
                            <a:ea typeface="Cambria Math" panose="02040503050406030204" pitchFamily="18" charset="0"/>
                          </a:rPr>
                          <m:t>8</m:t>
                        </m:r>
                        <m:r>
                          <a:rPr lang="en-US" altLang="zh-CN" sz="2000" i="1" dirty="0">
                            <a:latin typeface="Cambria Math" panose="02040503050406030204" pitchFamily="18" charset="0"/>
                            <a:ea typeface="Cambria Math" panose="02040503050406030204" pitchFamily="18" charset="0"/>
                          </a:rPr>
                          <m:t>0</m:t>
                        </m:r>
                        <m:r>
                          <a:rPr lang="en-US" altLang="zh-CN" sz="2000" i="1" dirty="0" smtClean="0">
                            <a:latin typeface="Cambria Math" panose="02040503050406030204" pitchFamily="18" charset="0"/>
                            <a:ea typeface="Cambria Math" panose="02040503050406030204" pitchFamily="18" charset="0"/>
                          </a:rPr>
                          <m:t>°</m:t>
                        </m:r>
                      </m:num>
                      <m:den>
                        <m:sSub>
                          <m:sSubPr>
                            <m:ctrlPr>
                              <a:rPr lang="en-US" altLang="zh-CN" sz="2000" i="1" dirty="0" smtClean="0">
                                <a:latin typeface="Cambria Math" panose="02040503050406030204" pitchFamily="18" charset="0"/>
                                <a:ea typeface="Cambria Math" panose="02040503050406030204" pitchFamily="18" charset="0"/>
                              </a:rPr>
                            </m:ctrlPr>
                          </m:sSubPr>
                          <m:e>
                            <m:r>
                              <a:rPr lang="en-US" altLang="zh-CN" sz="2000" b="0" i="1" dirty="0" smtClean="0">
                                <a:latin typeface="Cambria Math" panose="02040503050406030204" pitchFamily="18" charset="0"/>
                                <a:ea typeface="Cambria Math" panose="02040503050406030204" pitchFamily="18" charset="0"/>
                              </a:rPr>
                              <m:t>𝑧</m:t>
                            </m:r>
                          </m:e>
                          <m:sub>
                            <m:r>
                              <a:rPr lang="en-US" altLang="zh-CN" sz="2000" b="0" i="1" dirty="0" smtClean="0">
                                <a:latin typeface="Cambria Math" panose="02040503050406030204" pitchFamily="18" charset="0"/>
                                <a:ea typeface="Cambria Math" panose="02040503050406030204" pitchFamily="18" charset="0"/>
                              </a:rPr>
                              <m:t>1</m:t>
                            </m:r>
                          </m:sub>
                        </m:sSub>
                      </m:den>
                    </m:f>
                  </m:oMath>
                </a14:m>
                <a:r>
                  <a:rPr lang="zh-CN" altLang="en-US" sz="2000" dirty="0" smtClean="0"/>
                  <a:t>，链速</a:t>
                </a:r>
                <a:r>
                  <a:rPr lang="zh-CN" altLang="en-US" sz="2000" dirty="0"/>
                  <a:t>最低</a:t>
                </a:r>
                <a:endParaRPr lang="zh-CN" altLang="en-US" sz="2000" dirty="0"/>
              </a:p>
            </p:txBody>
          </p:sp>
        </mc:Choice>
        <mc:Fallback>
          <p:sp>
            <p:nvSpPr>
              <p:cNvPr id="22" name="文本框 21"/>
              <p:cNvSpPr txBox="1">
                <a:spLocks noRot="1" noChangeAspect="1" noMove="1" noResize="1" noEditPoints="1" noAdjustHandles="1" noChangeArrowheads="1" noChangeShapeType="1" noTextEdit="1"/>
              </p:cNvSpPr>
              <p:nvPr/>
            </p:nvSpPr>
            <p:spPr>
              <a:xfrm>
                <a:off x="770890" y="5213985"/>
                <a:ext cx="2867660" cy="873760"/>
              </a:xfrm>
              <a:prstGeom prst="rect">
                <a:avLst/>
              </a:prstGeom>
              <a:blipFill rotWithShape="1">
                <a:blip r:embed="rId12"/>
                <a:stretch>
                  <a:fillRect/>
                </a:stretch>
              </a:blipFill>
            </p:spPr>
            <p:txBody>
              <a:bodyPr/>
              <a:lstStyle/>
              <a:p>
                <a:r>
                  <a:rPr lang="zh-CN" altLang="en-US">
                    <a:noFill/>
                  </a:rPr>
                  <a:t> </a:t>
                </a:r>
              </a:p>
            </p:txBody>
          </p:sp>
        </mc:Fallback>
      </mc:AlternateContent>
      <p:cxnSp>
        <p:nvCxnSpPr>
          <p:cNvPr id="4" name="直接箭头连接符 3"/>
          <p:cNvCxnSpPr/>
          <p:nvPr/>
        </p:nvCxnSpPr>
        <p:spPr>
          <a:xfrm>
            <a:off x="4699000" y="2413000"/>
            <a:ext cx="590550" cy="0"/>
          </a:xfrm>
          <a:prstGeom prst="straightConnector1">
            <a:avLst/>
          </a:prstGeom>
          <a:noFill/>
          <a:ln w="19050" cap="flat" cmpd="sng" algn="ctr">
            <a:solidFill>
              <a:schemeClr val="tx2">
                <a:lumMod val="60000"/>
                <a:lumOff val="40000"/>
              </a:schemeClr>
            </a:solidFill>
            <a:prstDash val="solid"/>
            <a:round/>
            <a:headEnd type="none" w="med" len="med"/>
            <a:tailEnd type="triangle" w="med" len="med"/>
          </a:ln>
        </p:spPr>
      </p:cxnSp>
      <p:cxnSp>
        <p:nvCxnSpPr>
          <p:cNvPr id="7" name="直接箭头连接符 6"/>
          <p:cNvCxnSpPr/>
          <p:nvPr/>
        </p:nvCxnSpPr>
        <p:spPr>
          <a:xfrm flipV="1">
            <a:off x="4724400" y="2228850"/>
            <a:ext cx="0" cy="152400"/>
          </a:xfrm>
          <a:prstGeom prst="straightConnector1">
            <a:avLst/>
          </a:prstGeom>
          <a:noFill/>
          <a:ln w="19050" cap="flat" cmpd="sng" algn="ctr">
            <a:solidFill>
              <a:schemeClr val="tx2">
                <a:lumMod val="60000"/>
                <a:lumOff val="40000"/>
              </a:schemeClr>
            </a:solidFill>
            <a:prstDash val="solid"/>
            <a:round/>
            <a:headEnd type="none" w="med" len="med"/>
            <a:tailEnd type="triangle" w="med" len="med"/>
          </a:ln>
        </p:spPr>
      </p:cxnSp>
      <p:cxnSp>
        <p:nvCxnSpPr>
          <p:cNvPr id="8" name="直接箭头连接符 7"/>
          <p:cNvCxnSpPr/>
          <p:nvPr/>
        </p:nvCxnSpPr>
        <p:spPr>
          <a:xfrm flipV="1">
            <a:off x="4711065" y="2214245"/>
            <a:ext cx="542925" cy="219075"/>
          </a:xfrm>
          <a:prstGeom prst="straightConnector1">
            <a:avLst/>
          </a:prstGeom>
          <a:noFill/>
          <a:ln w="19050" cap="flat" cmpd="sng" algn="ctr">
            <a:solidFill>
              <a:srgbClr val="FF0000"/>
            </a:solidFill>
            <a:prstDash val="solid"/>
            <a:round/>
            <a:headEnd type="none" w="med" len="med"/>
            <a:tailEnd type="triangle" w="med" len="med"/>
          </a:ln>
        </p:spPr>
      </p:cxnSp>
      <p:sp>
        <p:nvSpPr>
          <p:cNvPr id="9" name="文本框 8"/>
          <p:cNvSpPr txBox="1"/>
          <p:nvPr/>
        </p:nvSpPr>
        <p:spPr>
          <a:xfrm>
            <a:off x="107315" y="2022475"/>
            <a:ext cx="4572000" cy="475615"/>
          </a:xfrm>
          <a:prstGeom prst="rect">
            <a:avLst/>
          </a:prstGeom>
          <a:noFill/>
        </p:spPr>
        <p:txBody>
          <a:bodyPr wrap="square" rtlCol="0" anchor="t">
            <a:spAutoFit/>
          </a:bodyPr>
          <a:p>
            <a:pPr eaLnBrk="1" hangingPunct="1">
              <a:lnSpc>
                <a:spcPct val="125000"/>
              </a:lnSpc>
            </a:pPr>
            <a:r>
              <a:rPr lang="zh-CN" altLang="en-US" sz="2000">
                <a:solidFill>
                  <a:srgbClr val="000099"/>
                </a:solidFill>
                <a:latin typeface="Times New Roman" panose="02020603050405020304" pitchFamily="18" charset="0"/>
                <a:sym typeface="+mn-ea"/>
              </a:rPr>
              <a:t>沿链条前进方向的瞬时线速度</a:t>
            </a:r>
            <a:r>
              <a:rPr lang="en-US" altLang="zh-CN" sz="2000">
                <a:solidFill>
                  <a:srgbClr val="000099"/>
                </a:solidFill>
                <a:latin typeface="Times New Roman" panose="02020603050405020304" pitchFamily="18" charset="0"/>
                <a:sym typeface="+mn-ea"/>
              </a:rPr>
              <a:t>:</a:t>
            </a:r>
            <a:endParaRPr lang="en-US" altLang="zh-CN" sz="2000">
              <a:solidFill>
                <a:srgbClr val="000099"/>
              </a:solidFill>
              <a:latin typeface="Times New Roman" panose="02020603050405020304" pitchFamily="18" charset="0"/>
              <a:sym typeface="+mn-ea"/>
            </a:endParaRPr>
          </a:p>
        </p:txBody>
      </p:sp>
      <p:graphicFrame>
        <p:nvGraphicFramePr>
          <p:cNvPr id="12" name="对象 5">
            <a:hlinkClick r:id="" action="ppaction://ole?verb=1"/>
          </p:cNvPr>
          <p:cNvGraphicFramePr>
            <a:graphicFrameLocks noChangeAspect="1"/>
          </p:cNvGraphicFramePr>
          <p:nvPr/>
        </p:nvGraphicFramePr>
        <p:xfrm>
          <a:off x="1842611" y="1495743"/>
          <a:ext cx="890905" cy="335915"/>
        </p:xfrm>
        <a:graphic>
          <a:graphicData uri="http://schemas.openxmlformats.org/presentationml/2006/ole">
            <mc:AlternateContent xmlns:mc="http://schemas.openxmlformats.org/markup-compatibility/2006">
              <mc:Choice xmlns:v="urn:schemas-microsoft-com:vml" Requires="v">
                <p:oleObj spid="_x0000_s13" name="" r:id="rId13" imgW="571500" imgH="215900" progId="Equation.KSEE3">
                  <p:embed/>
                </p:oleObj>
              </mc:Choice>
              <mc:Fallback>
                <p:oleObj name="" r:id="rId13" imgW="571500" imgH="215900" progId="Equation.KSEE3">
                  <p:embed/>
                  <p:pic>
                    <p:nvPicPr>
                      <p:cNvPr id="0" name="对象 5"/>
                      <p:cNvPicPr>
                        <a:picLocks noChangeAspect="1" noChangeArrowheads="1"/>
                      </p:cNvPicPr>
                      <p:nvPr/>
                    </p:nvPicPr>
                    <p:blipFill>
                      <a:blip r:embed="rId14"/>
                      <a:srcRect/>
                      <a:stretch>
                        <a:fillRect/>
                      </a:stretch>
                    </p:blipFill>
                    <p:spPr bwMode="auto">
                      <a:xfrm>
                        <a:off x="1842611" y="1495743"/>
                        <a:ext cx="890905" cy="33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8" name="组合 17"/>
          <p:cNvGrpSpPr/>
          <p:nvPr/>
        </p:nvGrpSpPr>
        <p:grpSpPr>
          <a:xfrm>
            <a:off x="4613275" y="762000"/>
            <a:ext cx="2038350" cy="829310"/>
            <a:chOff x="7255" y="1508"/>
            <a:chExt cx="3210" cy="1306"/>
          </a:xfrm>
        </p:grpSpPr>
        <p:sp>
          <p:nvSpPr>
            <p:cNvPr id="14" name="圆角矩形标注 13"/>
            <p:cNvSpPr/>
            <p:nvPr/>
          </p:nvSpPr>
          <p:spPr>
            <a:xfrm>
              <a:off x="7255" y="1558"/>
              <a:ext cx="3210" cy="1180"/>
            </a:xfrm>
            <a:prstGeom prst="wedgeRoundRectCallout">
              <a:avLst>
                <a:gd name="adj1" fmla="val -26292"/>
                <a:gd name="adj2" fmla="val 115338"/>
                <a:gd name="adj3" fmla="val 16667"/>
              </a:avLst>
            </a:prstGeom>
            <a:noFill/>
            <a:ln w="9525" cap="flat" cmpd="sng" algn="ctr">
              <a:solidFill>
                <a:schemeClr val="tx2">
                  <a:lumMod val="60000"/>
                  <a:lumOff val="40000"/>
                </a:schemeClr>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7" name="文本框 16"/>
            <p:cNvSpPr txBox="1"/>
            <p:nvPr/>
          </p:nvSpPr>
          <p:spPr>
            <a:xfrm>
              <a:off x="7325" y="1508"/>
              <a:ext cx="3130" cy="1307"/>
            </a:xfrm>
            <a:prstGeom prst="rect">
              <a:avLst/>
            </a:prstGeom>
            <a:noFill/>
          </p:spPr>
          <p:txBody>
            <a:bodyPr wrap="square" rtlCol="0">
              <a:spAutoFit/>
            </a:bodyPr>
            <a:p>
              <a:r>
                <a:rPr lang="zh-CN" altLang="en-US" sz="1600">
                  <a:latin typeface="Arial" panose="020B0604020202020204" pitchFamily="34" charset="0"/>
                  <a:cs typeface="Arial" panose="020B0604020202020204" pitchFamily="34" charset="0"/>
                </a:rPr>
                <a:t>β</a:t>
              </a:r>
              <a:r>
                <a:rPr lang="en-US" altLang="zh-CN" sz="1600">
                  <a:latin typeface="Arial" panose="020B0604020202020204" pitchFamily="34" charset="0"/>
                  <a:cs typeface="Arial" panose="020B0604020202020204" pitchFamily="34" charset="0"/>
                </a:rPr>
                <a:t> </a:t>
              </a:r>
              <a:r>
                <a:rPr lang="zh-CN" altLang="en-US" sz="1600">
                  <a:latin typeface="Arial" panose="020B0604020202020204" pitchFamily="34" charset="0"/>
                  <a:cs typeface="Arial" panose="020B0604020202020204" pitchFamily="34" charset="0"/>
                </a:rPr>
                <a:t>为链条线速度与链条直线运动方向的夹角</a:t>
              </a:r>
              <a:endParaRPr lang="zh-CN" altLang="en-US" sz="1600">
                <a:latin typeface="Arial" panose="020B0604020202020204" pitchFamily="34" charset="0"/>
                <a:cs typeface="Arial" panose="020B0604020202020204" pitchFamily="34" charset="0"/>
              </a:endParaRPr>
            </a:p>
          </p:txBody>
        </p:sp>
      </p:grpSp>
      <p:sp>
        <p:nvSpPr>
          <p:cNvPr id="19" name="文本框 18"/>
          <p:cNvSpPr txBox="1"/>
          <p:nvPr/>
        </p:nvSpPr>
        <p:spPr>
          <a:xfrm>
            <a:off x="887730" y="4122420"/>
            <a:ext cx="2799715" cy="706755"/>
          </a:xfrm>
          <a:prstGeom prst="rect">
            <a:avLst/>
          </a:prstGeom>
          <a:noFill/>
        </p:spPr>
        <p:txBody>
          <a:bodyPr wrap="square" rtlCol="0">
            <a:spAutoFit/>
          </a:bodyPr>
          <a:p>
            <a:r>
              <a:rPr lang="zh-CN" altLang="en-US" sz="2000">
                <a:latin typeface="Times New Roman" panose="02020603050405020304" pitchFamily="18" charset="0"/>
                <a:cs typeface="Times New Roman" panose="02020603050405020304" pitchFamily="18" charset="0"/>
              </a:rPr>
              <a:t>φ</a:t>
            </a:r>
            <a:r>
              <a:rPr lang="en-US" altLang="zh-CN" sz="2000" baseline="-25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为主动链轮上一个链节所对的圆心角</a:t>
            </a:r>
            <a:endParaRPr lang="zh-CN" altLang="en-US" sz="2000">
              <a:latin typeface="Times New Roman" panose="02020603050405020304" pitchFamily="18" charset="0"/>
              <a:cs typeface="Times New Roman" panose="02020603050405020304" pitchFamily="18" charset="0"/>
            </a:endParaRPr>
          </a:p>
        </p:txBody>
      </p:sp>
      <p:sp>
        <p:nvSpPr>
          <p:cNvPr id="10" name="文本框 9"/>
          <p:cNvSpPr txBox="1"/>
          <p:nvPr/>
        </p:nvSpPr>
        <p:spPr>
          <a:xfrm>
            <a:off x="5356860" y="1784350"/>
            <a:ext cx="577215" cy="429895"/>
          </a:xfrm>
          <a:prstGeom prst="rect">
            <a:avLst/>
          </a:prstGeom>
          <a:noFill/>
        </p:spPr>
        <p:txBody>
          <a:bodyPr wrap="square" rtlCol="0">
            <a:spAutoFit/>
          </a:bodyPr>
          <a:p>
            <a:r>
              <a:rPr lang="en-US" altLang="zh-CN" i="1">
                <a:solidFill>
                  <a:srgbClr val="FF0000"/>
                </a:solidFill>
                <a:latin typeface="Times New Roman" panose="02020603050405020304" pitchFamily="18" charset="0"/>
                <a:cs typeface="Times New Roman" panose="02020603050405020304" pitchFamily="18" charset="0"/>
              </a:rPr>
              <a:t>v</a:t>
            </a:r>
            <a:r>
              <a:rPr lang="en-US" altLang="zh-CN" i="1" baseline="-25000">
                <a:solidFill>
                  <a:srgbClr val="FF0000"/>
                </a:solidFill>
                <a:latin typeface="Times New Roman" panose="02020603050405020304" pitchFamily="18" charset="0"/>
                <a:cs typeface="Times New Roman" panose="02020603050405020304" pitchFamily="18" charset="0"/>
              </a:rPr>
              <a:t>1</a:t>
            </a:r>
            <a:endParaRPr lang="en-US" altLang="zh-CN" i="1" baseline="-250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5308"/>
                                        </p:tgtEl>
                                        <p:attrNameLst>
                                          <p:attrName>style.visibility</p:attrName>
                                        </p:attrNameLst>
                                      </p:cBhvr>
                                      <p:to>
                                        <p:strVal val="visible"/>
                                      </p:to>
                                    </p:set>
                                    <p:animEffect transition="in" filter="wipe(left)">
                                      <p:cBhvr>
                                        <p:cTn id="11" dur="500"/>
                                        <p:tgtEl>
                                          <p:spTgt spid="5530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000" fill="hold">
                                          <p:stCondLst>
                                            <p:cond delay="0"/>
                                          </p:stCondLst>
                                        </p:cTn>
                                        <p:tgtEl>
                                          <p:spTgt spid="8"/>
                                        </p:tgtEl>
                                        <p:attrNameLst>
                                          <p:attrName>style.visibility</p:attrName>
                                        </p:attrNameLst>
                                      </p:cBhvr>
                                      <p:to>
                                        <p:strVal val="visible"/>
                                      </p:to>
                                    </p:set>
                                    <p:animEffect transition="in" filter="wipe(left)">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5314"/>
                                        </p:tgtEl>
                                        <p:attrNameLst>
                                          <p:attrName>style.visibility</p:attrName>
                                        </p:attrNameLst>
                                      </p:cBhvr>
                                      <p:to>
                                        <p:strVal val="visible"/>
                                      </p:to>
                                    </p:set>
                                    <p:animEffect transition="in" filter="wipe(left)">
                                      <p:cBhvr>
                                        <p:cTn id="41" dur="500"/>
                                        <p:tgtEl>
                                          <p:spTgt spid="553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5309"/>
                                        </p:tgtEl>
                                        <p:attrNameLst>
                                          <p:attrName>style.visibility</p:attrName>
                                        </p:attrNameLst>
                                      </p:cBhvr>
                                      <p:to>
                                        <p:strVal val="visible"/>
                                      </p:to>
                                    </p:set>
                                    <p:animEffect transition="in" filter="wipe(left)">
                                      <p:cBhvr>
                                        <p:cTn id="51" dur="500"/>
                                        <p:tgtEl>
                                          <p:spTgt spid="5530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down)">
                                      <p:cBhvr>
                                        <p:cTn id="56" dur="5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5315"/>
                                        </p:tgtEl>
                                        <p:attrNameLst>
                                          <p:attrName>style.visibility</p:attrName>
                                        </p:attrNameLst>
                                      </p:cBhvr>
                                      <p:to>
                                        <p:strVal val="visible"/>
                                      </p:to>
                                    </p:set>
                                    <p:animEffect transition="in" filter="wipe(left)">
                                      <p:cBhvr>
                                        <p:cTn id="61" dur="500"/>
                                        <p:tgtEl>
                                          <p:spTgt spid="553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ipe(left)">
                                      <p:cBhvr>
                                        <p:cTn id="71" dur="500"/>
                                        <p:tgtEl>
                                          <p:spTgt spid="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left)">
                                      <p:cBhvr>
                                        <p:cTn id="7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8" grpId="0"/>
      <p:bldP spid="55309" grpId="0"/>
      <p:bldP spid="2" grpId="0" bldLvl="0" animBg="1"/>
      <p:bldP spid="22" grpId="0" bldLvl="0" animBg="1"/>
      <p:bldP spid="9" grpId="0"/>
      <p:bldP spid="1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05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205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pic>
        <p:nvPicPr>
          <p:cNvPr id="2056"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文本框 14340"/>
          <p:cNvSpPr txBox="1">
            <a:spLocks noChangeArrowheads="1"/>
          </p:cNvSpPr>
          <p:nvPr/>
        </p:nvSpPr>
        <p:spPr bwMode="auto">
          <a:xfrm>
            <a:off x="154305" y="836295"/>
            <a:ext cx="8954135"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chemeClr val="accent4">
                    <a:lumMod val="50000"/>
                  </a:schemeClr>
                </a:solidFill>
                <a:latin typeface="黑体" panose="02010609060101010101" pitchFamily="49" charset="-122"/>
                <a:ea typeface="黑体" panose="02010609060101010101" pitchFamily="49" charset="-122"/>
              </a:rPr>
              <a:t>链条的运动速度成周期性变化，链轮的节距</a:t>
            </a:r>
            <a:r>
              <a:rPr lang="en-US" altLang="zh-CN" i="1" dirty="0">
                <a:solidFill>
                  <a:srgbClr val="FF0000"/>
                </a:solidFill>
                <a:latin typeface="黑体" panose="02010609060101010101" pitchFamily="49" charset="-122"/>
                <a:ea typeface="黑体" panose="02010609060101010101" pitchFamily="49" charset="-122"/>
              </a:rPr>
              <a:t>p</a:t>
            </a:r>
            <a:r>
              <a:rPr lang="zh-CN" altLang="en-US" dirty="0">
                <a:solidFill>
                  <a:schemeClr val="accent4">
                    <a:lumMod val="50000"/>
                  </a:schemeClr>
                </a:solidFill>
                <a:latin typeface="黑体" panose="02010609060101010101" pitchFamily="49" charset="-122"/>
                <a:ea typeface="黑体" panose="02010609060101010101" pitchFamily="49" charset="-122"/>
              </a:rPr>
              <a:t>越大，齿数</a:t>
            </a:r>
            <a:r>
              <a:rPr lang="en-US" altLang="zh-CN" dirty="0">
                <a:solidFill>
                  <a:srgbClr val="FF0000"/>
                </a:solidFill>
                <a:latin typeface="黑体" panose="02010609060101010101" pitchFamily="49" charset="-122"/>
                <a:ea typeface="黑体" panose="02010609060101010101" pitchFamily="49" charset="-122"/>
              </a:rPr>
              <a:t>z</a:t>
            </a:r>
            <a:r>
              <a:rPr lang="zh-CN" altLang="en-US" dirty="0">
                <a:solidFill>
                  <a:schemeClr val="accent4">
                    <a:lumMod val="50000"/>
                  </a:schemeClr>
                </a:solidFill>
                <a:latin typeface="黑体" panose="02010609060101010101" pitchFamily="49" charset="-122"/>
                <a:ea typeface="黑体" panose="02010609060101010101" pitchFamily="49" charset="-122"/>
              </a:rPr>
              <a:t>越少，</a:t>
            </a:r>
            <a:r>
              <a:rPr lang="zh-CN" altLang="en-US" dirty="0">
                <a:solidFill>
                  <a:srgbClr val="FF0000"/>
                </a:solidFill>
                <a:latin typeface="Arial" panose="020B0604020202020204" pitchFamily="34" charset="0"/>
                <a:ea typeface="黑体" panose="02010609060101010101" pitchFamily="49" charset="-122"/>
                <a:cs typeface="Arial" panose="020B0604020202020204" pitchFamily="34" charset="0"/>
              </a:rPr>
              <a:t>β</a:t>
            </a:r>
            <a:r>
              <a:rPr lang="zh-CN" altLang="en-US" dirty="0">
                <a:solidFill>
                  <a:schemeClr val="accent4">
                    <a:lumMod val="50000"/>
                  </a:schemeClr>
                </a:solidFill>
                <a:latin typeface="黑体" panose="02010609060101010101" pitchFamily="49" charset="-122"/>
                <a:ea typeface="黑体" panose="02010609060101010101" pitchFamily="49" charset="-122"/>
              </a:rPr>
              <a:t>角的变化范围就越大，链速</a:t>
            </a:r>
            <a:r>
              <a:rPr lang="en-US" altLang="zh-CN" i="1" dirty="0">
                <a:solidFill>
                  <a:srgbClr val="FF0000"/>
                </a:solidFill>
                <a:latin typeface="黑体" panose="02010609060101010101" pitchFamily="49" charset="-122"/>
                <a:ea typeface="黑体" panose="02010609060101010101" pitchFamily="49" charset="-122"/>
              </a:rPr>
              <a:t>v </a:t>
            </a:r>
            <a:r>
              <a:rPr lang="zh-CN" altLang="en-US" dirty="0">
                <a:solidFill>
                  <a:schemeClr val="accent4">
                    <a:lumMod val="50000"/>
                  </a:schemeClr>
                </a:solidFill>
                <a:latin typeface="黑体" panose="02010609060101010101" pitchFamily="49" charset="-122"/>
                <a:ea typeface="黑体" panose="02010609060101010101" pitchFamily="49" charset="-122"/>
              </a:rPr>
              <a:t>的变化也就越大。另外，链条在垂直其前进方向的速度也是周期性地变化的，从而导致链条有规律的振动。</a:t>
            </a:r>
            <a:endParaRPr lang="zh-CN" altLang="en-US" dirty="0">
              <a:solidFill>
                <a:schemeClr val="accent4">
                  <a:lumMod val="50000"/>
                </a:schemeClr>
              </a:solidFill>
              <a:latin typeface="黑体" panose="02010609060101010101" pitchFamily="49" charset="-122"/>
              <a:ea typeface="黑体" panose="02010609060101010101" pitchFamily="49" charset="-122"/>
            </a:endParaRPr>
          </a:p>
        </p:txBody>
      </p:sp>
      <p:sp>
        <p:nvSpPr>
          <p:cNvPr id="14345" name="文本框 14344"/>
          <p:cNvSpPr txBox="1">
            <a:spLocks noChangeArrowheads="1"/>
          </p:cNvSpPr>
          <p:nvPr/>
        </p:nvSpPr>
        <p:spPr bwMode="auto">
          <a:xfrm>
            <a:off x="467544" y="5070837"/>
            <a:ext cx="8188325" cy="1276375"/>
          </a:xfrm>
          <a:prstGeom prst="rect">
            <a:avLst/>
          </a:prstGeom>
          <a:noFill/>
          <a:ln w="28575" cmpd="dbl">
            <a:solidFill>
              <a:srgbClr val="20BB14"/>
            </a:solidFill>
            <a:prstDash val="solid"/>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chemeClr val="accent4">
                    <a:lumMod val="50000"/>
                  </a:schemeClr>
                </a:solidFill>
                <a:latin typeface="黑体" panose="02010609060101010101" pitchFamily="49" charset="-122"/>
                <a:ea typeface="黑体" panose="02010609060101010101" pitchFamily="49" charset="-122"/>
              </a:rPr>
              <a:t>由于围绕在链轮上的链条呈正多边形特征，当主动链轮以等角速度回转时，从动链轮的角速度将周期性地变动，这种运动不均匀性称为链传动的</a:t>
            </a:r>
            <a:r>
              <a:rPr lang="zh-CN" altLang="en-US" dirty="0">
                <a:solidFill>
                  <a:srgbClr val="FF0000"/>
                </a:solidFill>
                <a:latin typeface="黑体" panose="02010609060101010101" pitchFamily="49" charset="-122"/>
                <a:ea typeface="黑体" panose="02010609060101010101" pitchFamily="49" charset="-122"/>
              </a:rPr>
              <a:t>多边形效应</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57357" name="文本框 14342"/>
          <p:cNvSpPr txBox="1">
            <a:spLocks noChangeArrowheads="1"/>
          </p:cNvSpPr>
          <p:nvPr/>
        </p:nvSpPr>
        <p:spPr bwMode="auto">
          <a:xfrm>
            <a:off x="238180" y="2154183"/>
            <a:ext cx="29768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从动链轮的角速度为：</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57358" name="文本框 14343"/>
          <p:cNvSpPr txBox="1">
            <a:spLocks noChangeArrowheads="1"/>
          </p:cNvSpPr>
          <p:nvPr/>
        </p:nvSpPr>
        <p:spPr bwMode="auto">
          <a:xfrm>
            <a:off x="200968" y="3822695"/>
            <a:ext cx="35702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所以链传动瞬时传动比为：</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57359" name="对象 1">
            <a:hlinkClick r:id="" action="ppaction://ole?verb=1"/>
          </p:cNvPr>
          <p:cNvGraphicFramePr>
            <a:graphicFrameLocks noChangeAspect="1"/>
          </p:cNvGraphicFramePr>
          <p:nvPr/>
        </p:nvGraphicFramePr>
        <p:xfrm>
          <a:off x="507670" y="2696407"/>
          <a:ext cx="3590290" cy="773430"/>
        </p:xfrm>
        <a:graphic>
          <a:graphicData uri="http://schemas.openxmlformats.org/presentationml/2006/ole">
            <mc:AlternateContent xmlns:mc="http://schemas.openxmlformats.org/markup-compatibility/2006">
              <mc:Choice xmlns:v="urn:schemas-microsoft-com:vml" Requires="v">
                <p:oleObj spid="_x0000_s2128" name="" r:id="rId5" imgW="2005965" imgH="431800" progId="Equation.KSEE3">
                  <p:embed/>
                </p:oleObj>
              </mc:Choice>
              <mc:Fallback>
                <p:oleObj name="" r:id="rId5" imgW="2005965" imgH="431800" progId="Equation.KSEE3">
                  <p:embed/>
                  <p:pic>
                    <p:nvPicPr>
                      <p:cNvPr id="0" name="对象 1"/>
                      <p:cNvPicPr>
                        <a:picLocks noChangeAspect="1" noChangeArrowheads="1"/>
                      </p:cNvPicPr>
                      <p:nvPr/>
                    </p:nvPicPr>
                    <p:blipFill>
                      <a:blip r:embed="rId6"/>
                      <a:srcRect/>
                      <a:stretch>
                        <a:fillRect/>
                      </a:stretch>
                    </p:blipFill>
                    <p:spPr bwMode="auto">
                      <a:xfrm>
                        <a:off x="507670" y="2696407"/>
                        <a:ext cx="3590290" cy="773430"/>
                      </a:xfrm>
                      <a:prstGeom prst="rect">
                        <a:avLst/>
                      </a:prstGeom>
                      <a:solidFill>
                        <a:srgbClr val="FFFF00"/>
                      </a:solidFill>
                      <a:ln>
                        <a:noFill/>
                      </a:ln>
                    </p:spPr>
                  </p:pic>
                </p:oleObj>
              </mc:Fallback>
            </mc:AlternateContent>
          </a:graphicData>
        </a:graphic>
      </p:graphicFrame>
      <p:graphicFrame>
        <p:nvGraphicFramePr>
          <p:cNvPr id="57360" name="对象 3">
            <a:hlinkClick r:id="" action="ppaction://ole?verb=1"/>
          </p:cNvPr>
          <p:cNvGraphicFramePr>
            <a:graphicFrameLocks noChangeAspect="1"/>
          </p:cNvGraphicFramePr>
          <p:nvPr/>
        </p:nvGraphicFramePr>
        <p:xfrm>
          <a:off x="3633470" y="3663315"/>
          <a:ext cx="2442691" cy="893995"/>
        </p:xfrm>
        <a:graphic>
          <a:graphicData uri="http://schemas.openxmlformats.org/presentationml/2006/ole">
            <mc:AlternateContent xmlns:mc="http://schemas.openxmlformats.org/markup-compatibility/2006">
              <mc:Choice xmlns:v="urn:schemas-microsoft-com:vml" Requires="v">
                <p:oleObj spid="_x0000_s2129" name="" r:id="rId7" imgW="1181100" imgH="431800" progId="Equation.KSEE3">
                  <p:embed/>
                </p:oleObj>
              </mc:Choice>
              <mc:Fallback>
                <p:oleObj name="" r:id="rId7" imgW="1181100" imgH="431800" progId="Equation.KSEE3">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3470" y="3663315"/>
                        <a:ext cx="2442691" cy="893995"/>
                      </a:xfrm>
                      <a:prstGeom prst="rect">
                        <a:avLst/>
                      </a:prstGeom>
                      <a:solidFill>
                        <a:srgbClr val="FFC000"/>
                      </a:solidFill>
                      <a:ln>
                        <a:noFill/>
                      </a:ln>
                    </p:spPr>
                  </p:pic>
                </p:oleObj>
              </mc:Fallback>
            </mc:AlternateContent>
          </a:graphicData>
        </a:graphic>
      </p:graphicFrame>
      <p:sp>
        <p:nvSpPr>
          <p:cNvPr id="2063"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2"/>
          <p:cNvSpPr>
            <a:spLocks noGrp="1" noChangeArrowheads="1"/>
          </p:cNvSpPr>
          <p:nvPr>
            <p:ph type="title"/>
          </p:nvPr>
        </p:nvSpPr>
        <p:spPr bwMode="auto">
          <a:xfrm>
            <a:off x="3636645" y="271780"/>
            <a:ext cx="5490210" cy="490220"/>
          </a:xfrm>
          <a:ln>
            <a:miter lim="800000"/>
          </a:ln>
        </p:spPr>
        <p:txBody>
          <a:bodyPr vert="horz" wrap="square" lIns="91440" tIns="45720" rIns="91440" bIns="45720" numCol="1" anchor="t" anchorCtr="0" compatLnSpc="1"/>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-4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链传动的工作情况分析</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2" name="图片 1"/>
          <p:cNvPicPr>
            <a:picLocks noChangeAspect="1"/>
          </p:cNvPicPr>
          <p:nvPr/>
        </p:nvPicPr>
        <p:blipFill>
          <a:blip r:embed="rId9"/>
          <a:stretch>
            <a:fillRect/>
          </a:stretch>
        </p:blipFill>
        <p:spPr>
          <a:xfrm>
            <a:off x="6346190" y="2365375"/>
            <a:ext cx="2720340" cy="2529840"/>
          </a:xfrm>
          <a:prstGeom prst="rect">
            <a:avLst/>
          </a:prstGeom>
        </p:spPr>
      </p:pic>
      <p:cxnSp>
        <p:nvCxnSpPr>
          <p:cNvPr id="3" name="直接箭头连接符 2"/>
          <p:cNvCxnSpPr/>
          <p:nvPr/>
        </p:nvCxnSpPr>
        <p:spPr>
          <a:xfrm>
            <a:off x="7967980" y="2727325"/>
            <a:ext cx="516890" cy="167640"/>
          </a:xfrm>
          <a:prstGeom prst="straightConnector1">
            <a:avLst/>
          </a:prstGeom>
          <a:noFill/>
          <a:ln w="28575" cap="flat" cmpd="sng" algn="ctr">
            <a:solidFill>
              <a:srgbClr val="FF0000"/>
            </a:solidFill>
            <a:prstDash val="solid"/>
            <a:round/>
            <a:headEnd type="none" w="med" len="med"/>
            <a:tailEnd type="triangle" w="med" len="med"/>
          </a:ln>
        </p:spPr>
      </p:cxnSp>
      <p:sp>
        <p:nvSpPr>
          <p:cNvPr id="17" name="文本框 16"/>
          <p:cNvSpPr txBox="1"/>
          <p:nvPr/>
        </p:nvSpPr>
        <p:spPr>
          <a:xfrm>
            <a:off x="4819650" y="2193925"/>
            <a:ext cx="1987550" cy="788035"/>
          </a:xfrm>
          <a:prstGeom prst="rect">
            <a:avLst/>
          </a:prstGeom>
          <a:noFill/>
        </p:spPr>
        <p:txBody>
          <a:bodyPr wrap="square" rtlCol="0">
            <a:noAutofit/>
          </a:bodyPr>
          <a:p>
            <a:r>
              <a:rPr lang="zh-CN" altLang="en-US" sz="1600" i="1">
                <a:solidFill>
                  <a:srgbClr val="FF0000"/>
                </a:solidFill>
                <a:latin typeface="Arial" panose="020B0604020202020204" pitchFamily="34" charset="0"/>
                <a:cs typeface="Arial" panose="020B0604020202020204" pitchFamily="34" charset="0"/>
              </a:rPr>
              <a:t>γ</a:t>
            </a:r>
            <a:r>
              <a:rPr lang="en-US" altLang="zh-CN" sz="1600" i="1">
                <a:solidFill>
                  <a:srgbClr val="FF0000"/>
                </a:solidFill>
                <a:latin typeface="Arial" panose="020B0604020202020204" pitchFamily="34" charset="0"/>
                <a:cs typeface="Arial" panose="020B0604020202020204" pitchFamily="34" charset="0"/>
              </a:rPr>
              <a:t> </a:t>
            </a:r>
            <a:r>
              <a:rPr lang="zh-CN" altLang="en-US" sz="1600">
                <a:solidFill>
                  <a:srgbClr val="FF0000"/>
                </a:solidFill>
                <a:latin typeface="Arial" panose="020B0604020202020204" pitchFamily="34" charset="0"/>
                <a:cs typeface="Arial" panose="020B0604020202020204" pitchFamily="34" charset="0"/>
              </a:rPr>
              <a:t>为</a:t>
            </a:r>
            <a:r>
              <a:rPr lang="zh-CN" altLang="en-US" sz="1600">
                <a:solidFill>
                  <a:srgbClr val="FF0000"/>
                </a:solidFill>
                <a:latin typeface="Arial" panose="020B0604020202020204" pitchFamily="34" charset="0"/>
                <a:cs typeface="Arial" panose="020B0604020202020204" pitchFamily="34" charset="0"/>
                <a:sym typeface="+mn-ea"/>
              </a:rPr>
              <a:t>链条直线运动方向与铰链</a:t>
            </a:r>
            <a:r>
              <a:rPr lang="en-US" altLang="zh-CN" sz="1600">
                <a:solidFill>
                  <a:srgbClr val="FF0000"/>
                </a:solidFill>
                <a:latin typeface="Arial" panose="020B0604020202020204" pitchFamily="34" charset="0"/>
                <a:cs typeface="Arial" panose="020B0604020202020204" pitchFamily="34" charset="0"/>
                <a:sym typeface="+mn-ea"/>
              </a:rPr>
              <a:t>C</a:t>
            </a:r>
            <a:r>
              <a:rPr lang="zh-CN" altLang="en-US" sz="1600">
                <a:solidFill>
                  <a:srgbClr val="FF0000"/>
                </a:solidFill>
                <a:latin typeface="Arial" panose="020B0604020202020204" pitchFamily="34" charset="0"/>
                <a:cs typeface="Arial" panose="020B0604020202020204" pitchFamily="34" charset="0"/>
              </a:rPr>
              <a:t>线速度与夹角</a:t>
            </a:r>
            <a:endParaRPr lang="zh-CN" altLang="en-US" sz="1600">
              <a:solidFill>
                <a:srgbClr val="FF0000"/>
              </a:solidFill>
              <a:latin typeface="Arial" panose="020B0604020202020204" pitchFamily="34" charset="0"/>
              <a:cs typeface="Arial" panose="020B0604020202020204" pitchFamily="34" charset="0"/>
            </a:endParaRPr>
          </a:p>
        </p:txBody>
      </p:sp>
      <p:cxnSp>
        <p:nvCxnSpPr>
          <p:cNvPr id="5" name="直接箭头连接符 4"/>
          <p:cNvCxnSpPr/>
          <p:nvPr/>
        </p:nvCxnSpPr>
        <p:spPr>
          <a:xfrm flipV="1">
            <a:off x="7934325" y="2709545"/>
            <a:ext cx="575945" cy="8255"/>
          </a:xfrm>
          <a:prstGeom prst="straightConnector1">
            <a:avLst/>
          </a:prstGeom>
          <a:noFill/>
          <a:ln w="28575" cap="flat" cmpd="sng" algn="ctr">
            <a:solidFill>
              <a:schemeClr val="tx2">
                <a:lumMod val="60000"/>
                <a:lumOff val="40000"/>
              </a:schemeClr>
            </a:solidFill>
            <a:prstDash val="solid"/>
            <a:round/>
            <a:headEnd type="none" w="med" len="med"/>
            <a:tailEnd type="triangle" w="med" len="med"/>
          </a:ln>
        </p:spPr>
      </p:cxnSp>
      <p:sp>
        <p:nvSpPr>
          <p:cNvPr id="10" name="文本框 9"/>
          <p:cNvSpPr txBox="1"/>
          <p:nvPr/>
        </p:nvSpPr>
        <p:spPr>
          <a:xfrm>
            <a:off x="8078470" y="2981325"/>
            <a:ext cx="577215" cy="429895"/>
          </a:xfrm>
          <a:prstGeom prst="rect">
            <a:avLst/>
          </a:prstGeom>
          <a:noFill/>
        </p:spPr>
        <p:txBody>
          <a:bodyPr wrap="square" rtlCol="0">
            <a:spAutoFit/>
          </a:bodyPr>
          <a:p>
            <a:r>
              <a:rPr lang="en-US" altLang="zh-CN" i="1">
                <a:solidFill>
                  <a:srgbClr val="FF0000"/>
                </a:solidFill>
                <a:latin typeface="Times New Roman" panose="02020603050405020304" pitchFamily="18" charset="0"/>
                <a:cs typeface="Times New Roman" panose="02020603050405020304" pitchFamily="18" charset="0"/>
              </a:rPr>
              <a:t>v</a:t>
            </a:r>
            <a:r>
              <a:rPr lang="en-US" altLang="zh-CN" i="1" baseline="-25000">
                <a:solidFill>
                  <a:srgbClr val="FF0000"/>
                </a:solidFill>
                <a:latin typeface="Times New Roman" panose="02020603050405020304" pitchFamily="18" charset="0"/>
                <a:cs typeface="Times New Roman" panose="02020603050405020304" pitchFamily="18" charset="0"/>
              </a:rPr>
              <a:t>2</a:t>
            </a:r>
            <a:endParaRPr lang="en-US" altLang="zh-CN" i="1" baseline="-250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wipe(left)">
                                      <p:cBhvr>
                                        <p:cTn id="7" dur="500"/>
                                        <p:tgtEl>
                                          <p:spTgt spid="143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7357"/>
                                        </p:tgtEl>
                                        <p:attrNameLst>
                                          <p:attrName>style.visibility</p:attrName>
                                        </p:attrNameLst>
                                      </p:cBhvr>
                                      <p:to>
                                        <p:strVal val="visible"/>
                                      </p:to>
                                    </p:set>
                                    <p:animEffect transition="in" filter="wipe(left)">
                                      <p:cBhvr>
                                        <p:cTn id="32" dur="500"/>
                                        <p:tgtEl>
                                          <p:spTgt spid="57357"/>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57359"/>
                                        </p:tgtEl>
                                        <p:attrNameLst>
                                          <p:attrName>style.visibility</p:attrName>
                                        </p:attrNameLst>
                                      </p:cBhvr>
                                      <p:to>
                                        <p:strVal val="visible"/>
                                      </p:to>
                                    </p:set>
                                    <p:animEffect transition="in" filter="wipe(left)">
                                      <p:cBhvr>
                                        <p:cTn id="36" dur="500"/>
                                        <p:tgtEl>
                                          <p:spTgt spid="573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7358"/>
                                        </p:tgtEl>
                                        <p:attrNameLst>
                                          <p:attrName>style.visibility</p:attrName>
                                        </p:attrNameLst>
                                      </p:cBhvr>
                                      <p:to>
                                        <p:strVal val="visible"/>
                                      </p:to>
                                    </p:set>
                                    <p:animEffect transition="in" filter="wipe(left)">
                                      <p:cBhvr>
                                        <p:cTn id="41" dur="500"/>
                                        <p:tgtEl>
                                          <p:spTgt spid="57358"/>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57360"/>
                                        </p:tgtEl>
                                        <p:attrNameLst>
                                          <p:attrName>style.visibility</p:attrName>
                                        </p:attrNameLst>
                                      </p:cBhvr>
                                      <p:to>
                                        <p:strVal val="visible"/>
                                      </p:to>
                                    </p:set>
                                    <p:animEffect transition="in" filter="wipe(left)">
                                      <p:cBhvr>
                                        <p:cTn id="45" dur="500"/>
                                        <p:tgtEl>
                                          <p:spTgt spid="5736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345"/>
                                        </p:tgtEl>
                                        <p:attrNameLst>
                                          <p:attrName>style.visibility</p:attrName>
                                        </p:attrNameLst>
                                      </p:cBhvr>
                                      <p:to>
                                        <p:strVal val="visible"/>
                                      </p:to>
                                    </p:set>
                                    <p:animEffect transition="in" filter="wipe(left)">
                                      <p:cBhvr>
                                        <p:cTn id="50" dur="5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P spid="14345" grpId="0" bldLvl="0" animBg="1"/>
      <p:bldP spid="57357" grpId="0"/>
      <p:bldP spid="57358" grpId="0"/>
      <p:bldP spid="17"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ext Box 2"/>
          <p:cNvSpPr txBox="1">
            <a:spLocks noChangeArrowheads="1"/>
          </p:cNvSpPr>
          <p:nvPr/>
        </p:nvSpPr>
        <p:spPr bwMode="auto">
          <a:xfrm>
            <a:off x="363538" y="114300"/>
            <a:ext cx="699611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dirty="0">
                <a:solidFill>
                  <a:srgbClr val="002060"/>
                </a:solidFill>
                <a:latin typeface="黑体" panose="02010609060101010101" pitchFamily="49" charset="-122"/>
                <a:ea typeface="黑体" panose="02010609060101010101" pitchFamily="49" charset="-122"/>
              </a:rPr>
              <a:t>链条的瞬时线速度沿垂直方向的分量为：</a:t>
            </a:r>
            <a:endParaRPr kumimoji="1" lang="zh-CN" altLang="en-US" dirty="0">
              <a:solidFill>
                <a:srgbClr val="002060"/>
              </a:solidFill>
              <a:latin typeface="黑体" panose="02010609060101010101" pitchFamily="49" charset="-122"/>
              <a:ea typeface="黑体" panose="02010609060101010101" pitchFamily="49" charset="-122"/>
            </a:endParaRPr>
          </a:p>
        </p:txBody>
      </p:sp>
      <p:graphicFrame>
        <p:nvGraphicFramePr>
          <p:cNvPr id="276483" name="Object 3"/>
          <p:cNvGraphicFramePr>
            <a:graphicFrameLocks noChangeAspect="1"/>
          </p:cNvGraphicFramePr>
          <p:nvPr/>
        </p:nvGraphicFramePr>
        <p:xfrm>
          <a:off x="1090311" y="620276"/>
          <a:ext cx="2621915" cy="744855"/>
        </p:xfrm>
        <a:graphic>
          <a:graphicData uri="http://schemas.openxmlformats.org/presentationml/2006/ole">
            <mc:AlternateContent xmlns:mc="http://schemas.openxmlformats.org/markup-compatibility/2006">
              <mc:Choice xmlns:v="urn:schemas-microsoft-com:vml" Requires="v">
                <p:oleObj spid="_x0000_s17452" name="Equation" r:id="rId1" imgW="1041400" imgH="393700" progId="Equation.3">
                  <p:embed/>
                </p:oleObj>
              </mc:Choice>
              <mc:Fallback>
                <p:oleObj name="Equation" r:id="rId1" imgW="1041400" imgH="393700" progId="Equation.3">
                  <p:embed/>
                  <p:pic>
                    <p:nvPicPr>
                      <p:cNvPr id="0" name="图片 17451"/>
                      <p:cNvPicPr>
                        <a:picLocks noChangeAspect="1" noChangeArrowheads="1"/>
                      </p:cNvPicPr>
                      <p:nvPr/>
                    </p:nvPicPr>
                    <p:blipFill>
                      <a:blip r:embed="rId2"/>
                      <a:srcRect/>
                      <a:stretch>
                        <a:fillRect/>
                      </a:stretch>
                    </p:blipFill>
                    <p:spPr bwMode="auto">
                      <a:xfrm>
                        <a:off x="1090311" y="620276"/>
                        <a:ext cx="2621915" cy="744855"/>
                      </a:xfrm>
                      <a:prstGeom prst="rect">
                        <a:avLst/>
                      </a:prstGeom>
                      <a:solidFill>
                        <a:srgbClr val="FFFF00"/>
                      </a:solidFill>
                    </p:spPr>
                  </p:pic>
                </p:oleObj>
              </mc:Fallback>
            </mc:AlternateContent>
          </a:graphicData>
        </a:graphic>
      </p:graphicFrame>
      <p:sp>
        <p:nvSpPr>
          <p:cNvPr id="276484" name="Text Box 4"/>
          <p:cNvSpPr txBox="1">
            <a:spLocks noChangeArrowheads="1"/>
          </p:cNvSpPr>
          <p:nvPr/>
        </p:nvSpPr>
        <p:spPr bwMode="auto">
          <a:xfrm>
            <a:off x="3849688" y="571500"/>
            <a:ext cx="1384300" cy="5476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sz="1200">
                <a:solidFill>
                  <a:srgbClr val="0033CC"/>
                </a:solidFill>
                <a:latin typeface="Times New Roman" panose="02020603050405020304" pitchFamily="18" charset="0"/>
                <a:ea typeface="华文中宋" panose="02010600040101010101" pitchFamily="2" charset="-122"/>
              </a:rPr>
              <a:t>也作周期性变化，从而使链条上下抖动。由于链速是变化的，</a:t>
            </a:r>
            <a:endParaRPr kumimoji="1" lang="zh-CN" altLang="en-US" sz="1200">
              <a:solidFill>
                <a:srgbClr val="0033CC"/>
              </a:solidFill>
              <a:latin typeface="Times New Roman" panose="02020603050405020304" pitchFamily="18" charset="0"/>
              <a:ea typeface="华文中宋" panose="02010600040101010101" pitchFamily="2" charset="-122"/>
            </a:endParaRPr>
          </a:p>
        </p:txBody>
      </p:sp>
      <p:sp>
        <p:nvSpPr>
          <p:cNvPr id="276485" name="Text Box 5"/>
          <p:cNvSpPr txBox="1">
            <a:spLocks noChangeArrowheads="1"/>
          </p:cNvSpPr>
          <p:nvPr/>
        </p:nvSpPr>
        <p:spPr bwMode="auto">
          <a:xfrm>
            <a:off x="395536" y="1556792"/>
            <a:ext cx="455771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dirty="0">
                <a:solidFill>
                  <a:srgbClr val="0000FF"/>
                </a:solidFill>
                <a:latin typeface="黑体" panose="02010609060101010101" pitchFamily="49" charset="-122"/>
                <a:ea typeface="黑体" panose="02010609060101010101" pitchFamily="49" charset="-122"/>
              </a:rPr>
              <a:t>链传动在工作时，产生振动和动载荷！</a:t>
            </a:r>
            <a:endParaRPr kumimoji="1" lang="zh-CN" altLang="en-US" dirty="0">
              <a:solidFill>
                <a:srgbClr val="0000FF"/>
              </a:solidFill>
              <a:latin typeface="黑体" panose="02010609060101010101" pitchFamily="49" charset="-122"/>
              <a:ea typeface="黑体" panose="02010609060101010101" pitchFamily="49" charset="-122"/>
            </a:endParaRPr>
          </a:p>
        </p:txBody>
      </p:sp>
      <p:sp>
        <p:nvSpPr>
          <p:cNvPr id="276486" name="Text Box 6"/>
          <p:cNvSpPr txBox="1">
            <a:spLocks noChangeArrowheads="1"/>
          </p:cNvSpPr>
          <p:nvPr/>
        </p:nvSpPr>
        <p:spPr bwMode="auto">
          <a:xfrm>
            <a:off x="827584" y="2204864"/>
            <a:ext cx="290036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dirty="0">
                <a:solidFill>
                  <a:srgbClr val="002060"/>
                </a:solidFill>
                <a:latin typeface="Times New Roman" panose="02020603050405020304" pitchFamily="18" charset="0"/>
                <a:ea typeface="华文中宋" panose="02010600040101010101" pitchFamily="2" charset="-122"/>
              </a:rPr>
              <a:t>速度不均匀系数：</a:t>
            </a:r>
            <a:endParaRPr kumimoji="1" lang="zh-CN" altLang="en-US" dirty="0">
              <a:solidFill>
                <a:srgbClr val="002060"/>
              </a:solidFill>
              <a:latin typeface="Times New Roman" panose="02020603050405020304" pitchFamily="18" charset="0"/>
              <a:ea typeface="华文中宋" panose="02010600040101010101" pitchFamily="2" charset="-122"/>
            </a:endParaRPr>
          </a:p>
        </p:txBody>
      </p:sp>
      <p:graphicFrame>
        <p:nvGraphicFramePr>
          <p:cNvPr id="276487" name="Object 7"/>
          <p:cNvGraphicFramePr>
            <a:graphicFrameLocks noChangeAspect="1"/>
          </p:cNvGraphicFramePr>
          <p:nvPr/>
        </p:nvGraphicFramePr>
        <p:xfrm>
          <a:off x="3319036" y="2088153"/>
          <a:ext cx="2170112" cy="809625"/>
        </p:xfrm>
        <a:graphic>
          <a:graphicData uri="http://schemas.openxmlformats.org/presentationml/2006/ole">
            <mc:AlternateContent xmlns:mc="http://schemas.openxmlformats.org/markup-compatibility/2006">
              <mc:Choice xmlns:v="urn:schemas-microsoft-com:vml" Requires="v">
                <p:oleObj spid="_x0000_s17453" name="Equation" r:id="rId3" imgW="1002665" imgH="431800" progId="Equation.3">
                  <p:embed/>
                </p:oleObj>
              </mc:Choice>
              <mc:Fallback>
                <p:oleObj name="Equation" r:id="rId3" imgW="1002665" imgH="431800" progId="Equation.3">
                  <p:embed/>
                  <p:pic>
                    <p:nvPicPr>
                      <p:cNvPr id="0" name="图片 174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9036" y="2088153"/>
                        <a:ext cx="2170112" cy="809625"/>
                      </a:xfrm>
                      <a:prstGeom prst="rect">
                        <a:avLst/>
                      </a:prstGeom>
                      <a:solidFill>
                        <a:srgbClr val="FFFF00"/>
                      </a:solidFill>
                    </p:spPr>
                  </p:pic>
                </p:oleObj>
              </mc:Fallback>
            </mc:AlternateContent>
          </a:graphicData>
        </a:graphic>
      </p:graphicFrame>
      <p:grpSp>
        <p:nvGrpSpPr>
          <p:cNvPr id="276643" name="Group 163"/>
          <p:cNvGrpSpPr/>
          <p:nvPr/>
        </p:nvGrpSpPr>
        <p:grpSpPr bwMode="auto">
          <a:xfrm>
            <a:off x="1679574" y="2781127"/>
            <a:ext cx="4334211" cy="3888231"/>
            <a:chOff x="1058" y="1752"/>
            <a:chExt cx="2665" cy="2443"/>
          </a:xfrm>
        </p:grpSpPr>
        <p:sp>
          <p:nvSpPr>
            <p:cNvPr id="276489" name="Text Box 9"/>
            <p:cNvSpPr txBox="1">
              <a:spLocks noChangeArrowheads="1"/>
            </p:cNvSpPr>
            <p:nvPr/>
          </p:nvSpPr>
          <p:spPr bwMode="auto">
            <a:xfrm>
              <a:off x="3349" y="4003"/>
              <a:ext cx="168"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chemeClr val="folHlink"/>
                  </a:solidFill>
                  <a:latin typeface="Times New Roman" panose="02020603050405020304" pitchFamily="18" charset="0"/>
                </a:rPr>
                <a:t>Z1</a:t>
              </a:r>
              <a:endParaRPr kumimoji="1" lang="en-US" altLang="zh-CN" b="1">
                <a:solidFill>
                  <a:schemeClr val="folHlink"/>
                </a:solidFill>
                <a:latin typeface="Times New Roman" panose="02020603050405020304" pitchFamily="18" charset="0"/>
              </a:endParaRPr>
            </a:p>
          </p:txBody>
        </p:sp>
        <p:grpSp>
          <p:nvGrpSpPr>
            <p:cNvPr id="276490" name="Group 10"/>
            <p:cNvGrpSpPr/>
            <p:nvPr/>
          </p:nvGrpSpPr>
          <p:grpSpPr bwMode="auto">
            <a:xfrm>
              <a:off x="1058" y="1794"/>
              <a:ext cx="2202" cy="2401"/>
              <a:chOff x="1058" y="1794"/>
              <a:chExt cx="2202" cy="2401"/>
            </a:xfrm>
          </p:grpSpPr>
          <p:grpSp>
            <p:nvGrpSpPr>
              <p:cNvPr id="276491" name="Group 11"/>
              <p:cNvGrpSpPr/>
              <p:nvPr/>
            </p:nvGrpSpPr>
            <p:grpSpPr bwMode="auto">
              <a:xfrm>
                <a:off x="1485" y="1871"/>
                <a:ext cx="1727" cy="2161"/>
                <a:chOff x="1042" y="633"/>
                <a:chExt cx="1727" cy="2161"/>
              </a:xfrm>
            </p:grpSpPr>
            <p:sp>
              <p:nvSpPr>
                <p:cNvPr id="276492" name="Line 12"/>
                <p:cNvSpPr>
                  <a:spLocks noChangeShapeType="1"/>
                </p:cNvSpPr>
                <p:nvPr/>
              </p:nvSpPr>
              <p:spPr bwMode="auto">
                <a:xfrm>
                  <a:off x="1042" y="644"/>
                  <a:ext cx="1717" cy="0"/>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3" name="Line 13"/>
                <p:cNvSpPr>
                  <a:spLocks noChangeShapeType="1"/>
                </p:cNvSpPr>
                <p:nvPr/>
              </p:nvSpPr>
              <p:spPr bwMode="auto">
                <a:xfrm flipV="1">
                  <a:off x="1058" y="786"/>
                  <a:ext cx="1708"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4" name="Line 14"/>
                <p:cNvSpPr>
                  <a:spLocks noChangeShapeType="1"/>
                </p:cNvSpPr>
                <p:nvPr/>
              </p:nvSpPr>
              <p:spPr bwMode="auto">
                <a:xfrm flipV="1">
                  <a:off x="1058" y="942"/>
                  <a:ext cx="1705"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5" name="Line 15"/>
                <p:cNvSpPr>
                  <a:spLocks noChangeShapeType="1"/>
                </p:cNvSpPr>
                <p:nvPr/>
              </p:nvSpPr>
              <p:spPr bwMode="auto">
                <a:xfrm>
                  <a:off x="1058" y="1084"/>
                  <a:ext cx="1708" cy="0"/>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6" name="Line 16"/>
                <p:cNvSpPr>
                  <a:spLocks noChangeShapeType="1"/>
                </p:cNvSpPr>
                <p:nvPr/>
              </p:nvSpPr>
              <p:spPr bwMode="auto">
                <a:xfrm flipV="1">
                  <a:off x="1054" y="1242"/>
                  <a:ext cx="1710"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7" name="Line 17"/>
                <p:cNvSpPr>
                  <a:spLocks noChangeShapeType="1"/>
                </p:cNvSpPr>
                <p:nvPr/>
              </p:nvSpPr>
              <p:spPr bwMode="auto">
                <a:xfrm>
                  <a:off x="1052" y="1392"/>
                  <a:ext cx="1715"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8" name="Line 18"/>
                <p:cNvSpPr>
                  <a:spLocks noChangeShapeType="1"/>
                </p:cNvSpPr>
                <p:nvPr/>
              </p:nvSpPr>
              <p:spPr bwMode="auto">
                <a:xfrm>
                  <a:off x="1056" y="1548"/>
                  <a:ext cx="1708" cy="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499" name="Line 19"/>
                <p:cNvSpPr>
                  <a:spLocks noChangeShapeType="1"/>
                </p:cNvSpPr>
                <p:nvPr/>
              </p:nvSpPr>
              <p:spPr bwMode="auto">
                <a:xfrm>
                  <a:off x="1056" y="1704"/>
                  <a:ext cx="1713"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0" name="Line 20"/>
                <p:cNvSpPr>
                  <a:spLocks noChangeShapeType="1"/>
                </p:cNvSpPr>
                <p:nvPr/>
              </p:nvSpPr>
              <p:spPr bwMode="auto">
                <a:xfrm>
                  <a:off x="1048" y="1860"/>
                  <a:ext cx="1714" cy="0"/>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1" name="Line 21"/>
                <p:cNvSpPr>
                  <a:spLocks noChangeShapeType="1"/>
                </p:cNvSpPr>
                <p:nvPr/>
              </p:nvSpPr>
              <p:spPr bwMode="auto">
                <a:xfrm>
                  <a:off x="1048" y="2016"/>
                  <a:ext cx="1711" cy="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2" name="Line 22"/>
                <p:cNvSpPr>
                  <a:spLocks noChangeShapeType="1"/>
                </p:cNvSpPr>
                <p:nvPr/>
              </p:nvSpPr>
              <p:spPr bwMode="auto">
                <a:xfrm>
                  <a:off x="1044" y="2160"/>
                  <a:ext cx="1718" cy="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3" name="Line 23"/>
                <p:cNvSpPr>
                  <a:spLocks noChangeShapeType="1"/>
                </p:cNvSpPr>
                <p:nvPr/>
              </p:nvSpPr>
              <p:spPr bwMode="auto">
                <a:xfrm>
                  <a:off x="1048" y="2312"/>
                  <a:ext cx="1714"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4" name="Line 24"/>
                <p:cNvSpPr>
                  <a:spLocks noChangeShapeType="1"/>
                </p:cNvSpPr>
                <p:nvPr/>
              </p:nvSpPr>
              <p:spPr bwMode="auto">
                <a:xfrm>
                  <a:off x="1056" y="2472"/>
                  <a:ext cx="1708"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5" name="Line 25"/>
                <p:cNvSpPr>
                  <a:spLocks noChangeShapeType="1"/>
                </p:cNvSpPr>
                <p:nvPr/>
              </p:nvSpPr>
              <p:spPr bwMode="auto">
                <a:xfrm flipV="1">
                  <a:off x="1052" y="2626"/>
                  <a:ext cx="1708" cy="2"/>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6" name="Line 26"/>
                <p:cNvSpPr>
                  <a:spLocks noChangeShapeType="1"/>
                </p:cNvSpPr>
                <p:nvPr/>
              </p:nvSpPr>
              <p:spPr bwMode="auto">
                <a:xfrm flipH="1">
                  <a:off x="1048" y="645"/>
                  <a:ext cx="0" cy="2143"/>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7" name="Line 27"/>
                <p:cNvSpPr>
                  <a:spLocks noChangeShapeType="1"/>
                </p:cNvSpPr>
                <p:nvPr/>
              </p:nvSpPr>
              <p:spPr bwMode="auto">
                <a:xfrm>
                  <a:off x="1042" y="2789"/>
                  <a:ext cx="1721" cy="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8" name="Line 28"/>
                <p:cNvSpPr>
                  <a:spLocks noChangeShapeType="1"/>
                </p:cNvSpPr>
                <p:nvPr/>
              </p:nvSpPr>
              <p:spPr bwMode="auto">
                <a:xfrm flipH="1" flipV="1">
                  <a:off x="2759" y="633"/>
                  <a:ext cx="1" cy="216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09" name="Line 29"/>
                <p:cNvSpPr>
                  <a:spLocks noChangeShapeType="1"/>
                </p:cNvSpPr>
                <p:nvPr/>
              </p:nvSpPr>
              <p:spPr bwMode="auto">
                <a:xfrm>
                  <a:off x="2561" y="644"/>
                  <a:ext cx="3" cy="2150"/>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0" name="Line 30"/>
                <p:cNvSpPr>
                  <a:spLocks noChangeShapeType="1"/>
                </p:cNvSpPr>
                <p:nvPr/>
              </p:nvSpPr>
              <p:spPr bwMode="auto">
                <a:xfrm flipH="1" flipV="1">
                  <a:off x="2375" y="651"/>
                  <a:ext cx="1" cy="2141"/>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1" name="Line 31"/>
                <p:cNvSpPr>
                  <a:spLocks noChangeShapeType="1"/>
                </p:cNvSpPr>
                <p:nvPr/>
              </p:nvSpPr>
              <p:spPr bwMode="auto">
                <a:xfrm>
                  <a:off x="2188" y="649"/>
                  <a:ext cx="4" cy="2135"/>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2" name="Line 32"/>
                <p:cNvSpPr>
                  <a:spLocks noChangeShapeType="1"/>
                </p:cNvSpPr>
                <p:nvPr/>
              </p:nvSpPr>
              <p:spPr bwMode="auto">
                <a:xfrm flipV="1">
                  <a:off x="1996" y="647"/>
                  <a:ext cx="3" cy="2145"/>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3" name="Line 33"/>
                <p:cNvSpPr>
                  <a:spLocks noChangeShapeType="1"/>
                </p:cNvSpPr>
                <p:nvPr/>
              </p:nvSpPr>
              <p:spPr bwMode="auto">
                <a:xfrm>
                  <a:off x="1807" y="651"/>
                  <a:ext cx="1" cy="2125"/>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4" name="Line 34"/>
                <p:cNvSpPr>
                  <a:spLocks noChangeShapeType="1"/>
                </p:cNvSpPr>
                <p:nvPr/>
              </p:nvSpPr>
              <p:spPr bwMode="auto">
                <a:xfrm flipV="1">
                  <a:off x="1620" y="652"/>
                  <a:ext cx="3" cy="2128"/>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5" name="Line 35"/>
                <p:cNvSpPr>
                  <a:spLocks noChangeShapeType="1"/>
                </p:cNvSpPr>
                <p:nvPr/>
              </p:nvSpPr>
              <p:spPr bwMode="auto">
                <a:xfrm>
                  <a:off x="1427" y="647"/>
                  <a:ext cx="1" cy="2133"/>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276516" name="Line 36"/>
                <p:cNvSpPr>
                  <a:spLocks noChangeShapeType="1"/>
                </p:cNvSpPr>
                <p:nvPr/>
              </p:nvSpPr>
              <p:spPr bwMode="auto">
                <a:xfrm flipV="1">
                  <a:off x="1228" y="652"/>
                  <a:ext cx="0" cy="2128"/>
                </a:xfrm>
                <a:prstGeom prst="line">
                  <a:avLst/>
                </a:prstGeom>
                <a:noFill/>
                <a:ln w="12700">
                  <a:solidFill>
                    <a:srgbClr val="FF66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grpSp>
          <p:sp>
            <p:nvSpPr>
              <p:cNvPr id="276517" name="Text Box 37"/>
              <p:cNvSpPr txBox="1">
                <a:spLocks noChangeArrowheads="1"/>
              </p:cNvSpPr>
              <p:nvPr/>
            </p:nvSpPr>
            <p:spPr bwMode="auto">
              <a:xfrm>
                <a:off x="1300" y="1794"/>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14</a:t>
                </a:r>
                <a:endParaRPr kumimoji="1" lang="en-US" altLang="zh-CN" b="1">
                  <a:solidFill>
                    <a:srgbClr val="0000FF"/>
                  </a:solidFill>
                  <a:latin typeface="Times New Roman" panose="02020603050405020304" pitchFamily="18" charset="0"/>
                </a:endParaRPr>
              </a:p>
            </p:txBody>
          </p:sp>
          <p:sp>
            <p:nvSpPr>
              <p:cNvPr id="276518" name="Text Box 38"/>
              <p:cNvSpPr txBox="1">
                <a:spLocks noChangeArrowheads="1"/>
              </p:cNvSpPr>
              <p:nvPr/>
            </p:nvSpPr>
            <p:spPr bwMode="auto">
              <a:xfrm>
                <a:off x="1298" y="1942"/>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13</a:t>
                </a:r>
                <a:endParaRPr kumimoji="1" lang="en-US" altLang="zh-CN" b="1">
                  <a:solidFill>
                    <a:srgbClr val="0000FF"/>
                  </a:solidFill>
                  <a:latin typeface="Times New Roman" panose="02020603050405020304" pitchFamily="18" charset="0"/>
                </a:endParaRPr>
              </a:p>
            </p:txBody>
          </p:sp>
          <p:sp>
            <p:nvSpPr>
              <p:cNvPr id="276519" name="Text Box 39"/>
              <p:cNvSpPr txBox="1">
                <a:spLocks noChangeArrowheads="1"/>
              </p:cNvSpPr>
              <p:nvPr/>
            </p:nvSpPr>
            <p:spPr bwMode="auto">
              <a:xfrm>
                <a:off x="1298" y="2092"/>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12</a:t>
                </a:r>
                <a:endParaRPr kumimoji="1" lang="en-US" altLang="zh-CN" b="1">
                  <a:solidFill>
                    <a:srgbClr val="0000FF"/>
                  </a:solidFill>
                  <a:latin typeface="Times New Roman" panose="02020603050405020304" pitchFamily="18" charset="0"/>
                </a:endParaRPr>
              </a:p>
            </p:txBody>
          </p:sp>
          <p:sp>
            <p:nvSpPr>
              <p:cNvPr id="276520" name="Text Box 40"/>
              <p:cNvSpPr txBox="1">
                <a:spLocks noChangeArrowheads="1"/>
              </p:cNvSpPr>
              <p:nvPr/>
            </p:nvSpPr>
            <p:spPr bwMode="auto">
              <a:xfrm>
                <a:off x="1307" y="2239"/>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11</a:t>
                </a:r>
                <a:endParaRPr kumimoji="1" lang="en-US" altLang="zh-CN" b="1">
                  <a:solidFill>
                    <a:srgbClr val="0000FF"/>
                  </a:solidFill>
                  <a:latin typeface="Times New Roman" panose="02020603050405020304" pitchFamily="18" charset="0"/>
                </a:endParaRPr>
              </a:p>
            </p:txBody>
          </p:sp>
          <p:sp>
            <p:nvSpPr>
              <p:cNvPr id="276521" name="Text Box 41"/>
              <p:cNvSpPr txBox="1">
                <a:spLocks noChangeArrowheads="1"/>
              </p:cNvSpPr>
              <p:nvPr/>
            </p:nvSpPr>
            <p:spPr bwMode="auto">
              <a:xfrm>
                <a:off x="1304" y="2383"/>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10</a:t>
                </a:r>
                <a:endParaRPr kumimoji="1" lang="en-US" altLang="zh-CN" b="1">
                  <a:solidFill>
                    <a:srgbClr val="0000FF"/>
                  </a:solidFill>
                  <a:latin typeface="Times New Roman" panose="02020603050405020304" pitchFamily="18" charset="0"/>
                </a:endParaRPr>
              </a:p>
            </p:txBody>
          </p:sp>
          <p:sp>
            <p:nvSpPr>
              <p:cNvPr id="276522" name="Text Box 42"/>
              <p:cNvSpPr txBox="1">
                <a:spLocks noChangeArrowheads="1"/>
              </p:cNvSpPr>
              <p:nvPr/>
            </p:nvSpPr>
            <p:spPr bwMode="auto">
              <a:xfrm>
                <a:off x="1367" y="2541"/>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9</a:t>
                </a:r>
                <a:endParaRPr kumimoji="1" lang="en-US" altLang="zh-CN" b="1">
                  <a:solidFill>
                    <a:srgbClr val="0000FF"/>
                  </a:solidFill>
                  <a:latin typeface="Times New Roman" panose="02020603050405020304" pitchFamily="18" charset="0"/>
                </a:endParaRPr>
              </a:p>
            </p:txBody>
          </p:sp>
          <p:sp>
            <p:nvSpPr>
              <p:cNvPr id="276523" name="Text Box 43"/>
              <p:cNvSpPr txBox="1">
                <a:spLocks noChangeArrowheads="1"/>
              </p:cNvSpPr>
              <p:nvPr/>
            </p:nvSpPr>
            <p:spPr bwMode="auto">
              <a:xfrm>
                <a:off x="1379" y="2691"/>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8</a:t>
                </a:r>
                <a:endParaRPr kumimoji="1" lang="en-US" altLang="zh-CN" b="1">
                  <a:solidFill>
                    <a:srgbClr val="0000FF"/>
                  </a:solidFill>
                  <a:latin typeface="Times New Roman" panose="02020603050405020304" pitchFamily="18" charset="0"/>
                </a:endParaRPr>
              </a:p>
            </p:txBody>
          </p:sp>
          <p:sp>
            <p:nvSpPr>
              <p:cNvPr id="276524" name="Text Box 44"/>
              <p:cNvSpPr txBox="1">
                <a:spLocks noChangeArrowheads="1"/>
              </p:cNvSpPr>
              <p:nvPr/>
            </p:nvSpPr>
            <p:spPr bwMode="auto">
              <a:xfrm>
                <a:off x="1370" y="2856"/>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7</a:t>
                </a:r>
                <a:endParaRPr kumimoji="1" lang="en-US" altLang="zh-CN" b="1">
                  <a:solidFill>
                    <a:srgbClr val="0000FF"/>
                  </a:solidFill>
                  <a:latin typeface="Times New Roman" panose="02020603050405020304" pitchFamily="18" charset="0"/>
                </a:endParaRPr>
              </a:p>
            </p:txBody>
          </p:sp>
          <p:sp>
            <p:nvSpPr>
              <p:cNvPr id="276525" name="Text Box 45"/>
              <p:cNvSpPr txBox="1">
                <a:spLocks noChangeArrowheads="1"/>
              </p:cNvSpPr>
              <p:nvPr/>
            </p:nvSpPr>
            <p:spPr bwMode="auto">
              <a:xfrm>
                <a:off x="1370" y="2982"/>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6</a:t>
                </a:r>
                <a:endParaRPr kumimoji="1" lang="en-US" altLang="zh-CN" b="1">
                  <a:solidFill>
                    <a:srgbClr val="0000FF"/>
                  </a:solidFill>
                  <a:latin typeface="Times New Roman" panose="02020603050405020304" pitchFamily="18" charset="0"/>
                </a:endParaRPr>
              </a:p>
            </p:txBody>
          </p:sp>
          <p:sp>
            <p:nvSpPr>
              <p:cNvPr id="276526" name="Text Box 46"/>
              <p:cNvSpPr txBox="1">
                <a:spLocks noChangeArrowheads="1"/>
              </p:cNvSpPr>
              <p:nvPr/>
            </p:nvSpPr>
            <p:spPr bwMode="auto">
              <a:xfrm>
                <a:off x="1367" y="3132"/>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5</a:t>
                </a:r>
                <a:endParaRPr kumimoji="1" lang="en-US" altLang="zh-CN" b="1">
                  <a:solidFill>
                    <a:srgbClr val="0000FF"/>
                  </a:solidFill>
                  <a:latin typeface="Times New Roman" panose="02020603050405020304" pitchFamily="18" charset="0"/>
                </a:endParaRPr>
              </a:p>
            </p:txBody>
          </p:sp>
          <p:sp>
            <p:nvSpPr>
              <p:cNvPr id="276527" name="Text Box 47"/>
              <p:cNvSpPr txBox="1">
                <a:spLocks noChangeArrowheads="1"/>
              </p:cNvSpPr>
              <p:nvPr/>
            </p:nvSpPr>
            <p:spPr bwMode="auto">
              <a:xfrm>
                <a:off x="1358" y="3297"/>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4</a:t>
                </a:r>
                <a:endParaRPr kumimoji="1" lang="en-US" altLang="zh-CN" b="1">
                  <a:solidFill>
                    <a:srgbClr val="0000FF"/>
                  </a:solidFill>
                  <a:latin typeface="Times New Roman" panose="02020603050405020304" pitchFamily="18" charset="0"/>
                </a:endParaRPr>
              </a:p>
            </p:txBody>
          </p:sp>
          <p:sp>
            <p:nvSpPr>
              <p:cNvPr id="276528" name="Text Box 48"/>
              <p:cNvSpPr txBox="1">
                <a:spLocks noChangeArrowheads="1"/>
              </p:cNvSpPr>
              <p:nvPr/>
            </p:nvSpPr>
            <p:spPr bwMode="auto">
              <a:xfrm>
                <a:off x="1365" y="3450"/>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3</a:t>
                </a:r>
                <a:endParaRPr kumimoji="1" lang="en-US" altLang="zh-CN" b="1">
                  <a:solidFill>
                    <a:srgbClr val="0000FF"/>
                  </a:solidFill>
                  <a:latin typeface="Times New Roman" panose="02020603050405020304" pitchFamily="18" charset="0"/>
                </a:endParaRPr>
              </a:p>
            </p:txBody>
          </p:sp>
          <p:sp>
            <p:nvSpPr>
              <p:cNvPr id="276529" name="Text Box 49"/>
              <p:cNvSpPr txBox="1">
                <a:spLocks noChangeArrowheads="1"/>
              </p:cNvSpPr>
              <p:nvPr/>
            </p:nvSpPr>
            <p:spPr bwMode="auto">
              <a:xfrm>
                <a:off x="1366" y="3595"/>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2</a:t>
                </a:r>
                <a:endParaRPr kumimoji="1" lang="en-US" altLang="zh-CN" b="1">
                  <a:solidFill>
                    <a:srgbClr val="0000FF"/>
                  </a:solidFill>
                  <a:latin typeface="Times New Roman" panose="02020603050405020304" pitchFamily="18" charset="0"/>
                </a:endParaRPr>
              </a:p>
            </p:txBody>
          </p:sp>
          <p:sp>
            <p:nvSpPr>
              <p:cNvPr id="276530" name="Text Box 50"/>
              <p:cNvSpPr txBox="1">
                <a:spLocks noChangeArrowheads="1"/>
              </p:cNvSpPr>
              <p:nvPr/>
            </p:nvSpPr>
            <p:spPr bwMode="auto">
              <a:xfrm>
                <a:off x="1366" y="3749"/>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a:t>
                </a:r>
                <a:endParaRPr kumimoji="1" lang="en-US" altLang="zh-CN" b="1">
                  <a:solidFill>
                    <a:srgbClr val="0000FF"/>
                  </a:solidFill>
                  <a:latin typeface="Times New Roman" panose="02020603050405020304" pitchFamily="18" charset="0"/>
                </a:endParaRPr>
              </a:p>
            </p:txBody>
          </p:sp>
          <p:sp>
            <p:nvSpPr>
              <p:cNvPr id="276531" name="Text Box 51"/>
              <p:cNvSpPr txBox="1">
                <a:spLocks noChangeArrowheads="1"/>
              </p:cNvSpPr>
              <p:nvPr/>
            </p:nvSpPr>
            <p:spPr bwMode="auto">
              <a:xfrm>
                <a:off x="1378" y="3890"/>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0</a:t>
                </a:r>
                <a:endParaRPr kumimoji="1" lang="en-US" altLang="zh-CN" b="1">
                  <a:solidFill>
                    <a:srgbClr val="0000FF"/>
                  </a:solidFill>
                  <a:latin typeface="Times New Roman" panose="02020603050405020304" pitchFamily="18" charset="0"/>
                </a:endParaRPr>
              </a:p>
            </p:txBody>
          </p:sp>
          <p:sp>
            <p:nvSpPr>
              <p:cNvPr id="276532" name="Text Box 52"/>
              <p:cNvSpPr txBox="1">
                <a:spLocks noChangeArrowheads="1"/>
              </p:cNvSpPr>
              <p:nvPr/>
            </p:nvSpPr>
            <p:spPr bwMode="auto">
              <a:xfrm>
                <a:off x="1615" y="4002"/>
                <a:ext cx="72"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5</a:t>
                </a:r>
                <a:endParaRPr kumimoji="1" lang="en-US" altLang="zh-CN" b="1">
                  <a:solidFill>
                    <a:srgbClr val="0000FF"/>
                  </a:solidFill>
                  <a:latin typeface="Times New Roman" panose="02020603050405020304" pitchFamily="18" charset="0"/>
                </a:endParaRPr>
              </a:p>
            </p:txBody>
          </p:sp>
          <p:sp>
            <p:nvSpPr>
              <p:cNvPr id="276533" name="Text Box 53"/>
              <p:cNvSpPr txBox="1">
                <a:spLocks noChangeArrowheads="1"/>
              </p:cNvSpPr>
              <p:nvPr/>
            </p:nvSpPr>
            <p:spPr bwMode="auto">
              <a:xfrm>
                <a:off x="1786" y="4013"/>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10</a:t>
                </a:r>
                <a:endParaRPr kumimoji="1" lang="en-US" altLang="zh-CN" b="1">
                  <a:solidFill>
                    <a:srgbClr val="0000FF"/>
                  </a:solidFill>
                  <a:latin typeface="Times New Roman" panose="02020603050405020304" pitchFamily="18" charset="0"/>
                </a:endParaRPr>
              </a:p>
            </p:txBody>
          </p:sp>
          <p:sp>
            <p:nvSpPr>
              <p:cNvPr id="276534" name="Text Box 54"/>
              <p:cNvSpPr txBox="1">
                <a:spLocks noChangeArrowheads="1"/>
              </p:cNvSpPr>
              <p:nvPr/>
            </p:nvSpPr>
            <p:spPr bwMode="auto">
              <a:xfrm>
                <a:off x="1981" y="4013"/>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15</a:t>
                </a:r>
                <a:endParaRPr kumimoji="1" lang="en-US" altLang="zh-CN" b="1">
                  <a:solidFill>
                    <a:srgbClr val="0000FF"/>
                  </a:solidFill>
                  <a:latin typeface="Times New Roman" panose="02020603050405020304" pitchFamily="18" charset="0"/>
                </a:endParaRPr>
              </a:p>
            </p:txBody>
          </p:sp>
          <p:sp>
            <p:nvSpPr>
              <p:cNvPr id="276535" name="Text Box 55"/>
              <p:cNvSpPr txBox="1">
                <a:spLocks noChangeArrowheads="1"/>
              </p:cNvSpPr>
              <p:nvPr/>
            </p:nvSpPr>
            <p:spPr bwMode="auto">
              <a:xfrm>
                <a:off x="2172" y="4011"/>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20</a:t>
                </a:r>
                <a:endParaRPr kumimoji="1" lang="en-US" altLang="zh-CN" b="1">
                  <a:solidFill>
                    <a:srgbClr val="0000FF"/>
                  </a:solidFill>
                  <a:latin typeface="Times New Roman" panose="02020603050405020304" pitchFamily="18" charset="0"/>
                </a:endParaRPr>
              </a:p>
            </p:txBody>
          </p:sp>
          <p:sp>
            <p:nvSpPr>
              <p:cNvPr id="276536" name="Text Box 56"/>
              <p:cNvSpPr txBox="1">
                <a:spLocks noChangeArrowheads="1"/>
              </p:cNvSpPr>
              <p:nvPr/>
            </p:nvSpPr>
            <p:spPr bwMode="auto">
              <a:xfrm>
                <a:off x="2359" y="4022"/>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25</a:t>
                </a:r>
                <a:endParaRPr kumimoji="1" lang="en-US" altLang="zh-CN" b="1">
                  <a:solidFill>
                    <a:srgbClr val="0000FF"/>
                  </a:solidFill>
                  <a:latin typeface="Times New Roman" panose="02020603050405020304" pitchFamily="18" charset="0"/>
                </a:endParaRPr>
              </a:p>
            </p:txBody>
          </p:sp>
          <p:sp>
            <p:nvSpPr>
              <p:cNvPr id="276537" name="Text Box 57"/>
              <p:cNvSpPr txBox="1">
                <a:spLocks noChangeArrowheads="1"/>
              </p:cNvSpPr>
              <p:nvPr/>
            </p:nvSpPr>
            <p:spPr bwMode="auto">
              <a:xfrm>
                <a:off x="2558" y="4022"/>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30</a:t>
                </a:r>
                <a:endParaRPr kumimoji="1" lang="en-US" altLang="zh-CN" b="1">
                  <a:solidFill>
                    <a:srgbClr val="0000FF"/>
                  </a:solidFill>
                  <a:latin typeface="Times New Roman" panose="02020603050405020304" pitchFamily="18" charset="0"/>
                </a:endParaRPr>
              </a:p>
            </p:txBody>
          </p:sp>
          <p:sp>
            <p:nvSpPr>
              <p:cNvPr id="276538" name="Text Box 58"/>
              <p:cNvSpPr txBox="1">
                <a:spLocks noChangeArrowheads="1"/>
              </p:cNvSpPr>
              <p:nvPr/>
            </p:nvSpPr>
            <p:spPr bwMode="auto">
              <a:xfrm>
                <a:off x="2741" y="4015"/>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35</a:t>
                </a:r>
                <a:endParaRPr kumimoji="1" lang="en-US" altLang="zh-CN" b="1">
                  <a:solidFill>
                    <a:srgbClr val="0000FF"/>
                  </a:solidFill>
                  <a:latin typeface="Times New Roman" panose="02020603050405020304" pitchFamily="18" charset="0"/>
                </a:endParaRPr>
              </a:p>
            </p:txBody>
          </p:sp>
          <p:sp>
            <p:nvSpPr>
              <p:cNvPr id="276539" name="Text Box 59"/>
              <p:cNvSpPr txBox="1">
                <a:spLocks noChangeArrowheads="1"/>
              </p:cNvSpPr>
              <p:nvPr/>
            </p:nvSpPr>
            <p:spPr bwMode="auto">
              <a:xfrm>
                <a:off x="2925" y="4019"/>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40</a:t>
                </a:r>
                <a:endParaRPr kumimoji="1" lang="en-US" altLang="zh-CN" b="1">
                  <a:solidFill>
                    <a:srgbClr val="0000FF"/>
                  </a:solidFill>
                  <a:latin typeface="Times New Roman" panose="02020603050405020304" pitchFamily="18" charset="0"/>
                </a:endParaRPr>
              </a:p>
            </p:txBody>
          </p:sp>
          <p:sp>
            <p:nvSpPr>
              <p:cNvPr id="276540" name="Text Box 60"/>
              <p:cNvSpPr txBox="1">
                <a:spLocks noChangeArrowheads="1"/>
              </p:cNvSpPr>
              <p:nvPr/>
            </p:nvSpPr>
            <p:spPr bwMode="auto">
              <a:xfrm>
                <a:off x="3116" y="4017"/>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a:solidFill>
                      <a:srgbClr val="0000FF"/>
                    </a:solidFill>
                    <a:latin typeface="Times New Roman" panose="02020603050405020304" pitchFamily="18" charset="0"/>
                  </a:rPr>
                  <a:t>45</a:t>
                </a:r>
                <a:endParaRPr kumimoji="1" lang="en-US" altLang="zh-CN" b="1">
                  <a:solidFill>
                    <a:srgbClr val="0000FF"/>
                  </a:solidFill>
                  <a:latin typeface="Times New Roman" panose="02020603050405020304" pitchFamily="18" charset="0"/>
                </a:endParaRPr>
              </a:p>
            </p:txBody>
          </p:sp>
          <p:sp>
            <p:nvSpPr>
              <p:cNvPr id="276541" name="Text Box 61"/>
              <p:cNvSpPr txBox="1">
                <a:spLocks noChangeArrowheads="1"/>
              </p:cNvSpPr>
              <p:nvPr/>
            </p:nvSpPr>
            <p:spPr bwMode="auto">
              <a:xfrm>
                <a:off x="1136" y="2264"/>
                <a:ext cx="144"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l-GR" altLang="zh-CN" b="1">
                    <a:solidFill>
                      <a:schemeClr val="folHlink"/>
                    </a:solidFill>
                    <a:latin typeface="Times New Roman" panose="02020603050405020304" pitchFamily="18" charset="0"/>
                    <a:cs typeface="Times New Roman" panose="02020603050405020304" pitchFamily="18" charset="0"/>
                  </a:rPr>
                  <a:t>δ</a:t>
                </a:r>
                <a:endParaRPr kumimoji="1" lang="el-GR" altLang="zh-CN" b="1">
                  <a:solidFill>
                    <a:schemeClr val="folHlink"/>
                  </a:solidFill>
                  <a:latin typeface="Times New Roman" panose="02020603050405020304" pitchFamily="18" charset="0"/>
                  <a:cs typeface="Times New Roman" panose="02020603050405020304" pitchFamily="18" charset="0"/>
                </a:endParaRPr>
              </a:p>
            </p:txBody>
          </p:sp>
          <p:sp>
            <p:nvSpPr>
              <p:cNvPr id="276542" name="Text Box 62"/>
              <p:cNvSpPr txBox="1">
                <a:spLocks noChangeArrowheads="1"/>
              </p:cNvSpPr>
              <p:nvPr/>
            </p:nvSpPr>
            <p:spPr bwMode="auto">
              <a:xfrm>
                <a:off x="1058" y="2438"/>
                <a:ext cx="240"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b="1" dirty="0">
                    <a:solidFill>
                      <a:srgbClr val="0000FF"/>
                    </a:solidFill>
                    <a:latin typeface="Times New Roman" panose="02020603050405020304" pitchFamily="18" charset="0"/>
                  </a:rPr>
                  <a:t>(</a:t>
                </a:r>
                <a:r>
                  <a:rPr kumimoji="1" lang="en-US" altLang="zh-CN" b="1" dirty="0">
                    <a:solidFill>
                      <a:schemeClr val="folHlink"/>
                    </a:solidFill>
                    <a:latin typeface="Times New Roman" panose="02020603050405020304" pitchFamily="18" charset="0"/>
                  </a:rPr>
                  <a:t>%</a:t>
                </a:r>
                <a:r>
                  <a:rPr kumimoji="1" lang="en-US" altLang="zh-CN" b="1" dirty="0">
                    <a:solidFill>
                      <a:srgbClr val="0000FF"/>
                    </a:solidFill>
                    <a:latin typeface="Times New Roman" panose="02020603050405020304" pitchFamily="18" charset="0"/>
                  </a:rPr>
                  <a:t>)</a:t>
                </a:r>
                <a:endParaRPr kumimoji="1" lang="en-US" altLang="zh-CN" b="1" dirty="0">
                  <a:solidFill>
                    <a:srgbClr val="0000FF"/>
                  </a:solidFill>
                  <a:latin typeface="Times New Roman" panose="02020603050405020304" pitchFamily="18" charset="0"/>
                </a:endParaRPr>
              </a:p>
            </p:txBody>
          </p:sp>
        </p:grpSp>
        <p:sp>
          <p:nvSpPr>
            <p:cNvPr id="276543" name="Text Box 63"/>
            <p:cNvSpPr txBox="1">
              <a:spLocks noChangeArrowheads="1"/>
            </p:cNvSpPr>
            <p:nvPr/>
          </p:nvSpPr>
          <p:spPr bwMode="auto">
            <a:xfrm>
              <a:off x="2128" y="1752"/>
              <a:ext cx="1595" cy="17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lstStyle/>
            <a:p>
              <a:r>
                <a:rPr kumimoji="1" lang="zh-CN" altLang="en-US" b="1" dirty="0">
                  <a:solidFill>
                    <a:schemeClr val="folHlink"/>
                  </a:solidFill>
                  <a:latin typeface="Times New Roman" panose="02020603050405020304" pitchFamily="18" charset="0"/>
                </a:rPr>
                <a:t>链</a:t>
              </a:r>
              <a:r>
                <a:rPr kumimoji="1" lang="zh-CN" altLang="en-US" sz="2000" b="1" dirty="0">
                  <a:solidFill>
                    <a:schemeClr val="folHlink"/>
                  </a:solidFill>
                  <a:latin typeface="Times New Roman" panose="02020603050405020304" pitchFamily="18" charset="0"/>
                </a:rPr>
                <a:t>速不均匀系数变化曲线</a:t>
              </a:r>
              <a:endParaRPr kumimoji="1" lang="zh-CN" altLang="en-US" sz="2000" b="1" dirty="0">
                <a:solidFill>
                  <a:schemeClr val="folHlink"/>
                </a:solidFill>
                <a:latin typeface="Times New Roman" panose="02020603050405020304" pitchFamily="18" charset="0"/>
              </a:endParaRPr>
            </a:p>
          </p:txBody>
        </p:sp>
      </p:grpSp>
      <p:sp>
        <p:nvSpPr>
          <p:cNvPr id="276544" name="Freeform 64"/>
          <p:cNvSpPr/>
          <p:nvPr/>
        </p:nvSpPr>
        <p:spPr bwMode="auto">
          <a:xfrm>
            <a:off x="2757488" y="3146425"/>
            <a:ext cx="2327275" cy="3171825"/>
          </a:xfrm>
          <a:custGeom>
            <a:avLst/>
            <a:gdLst>
              <a:gd name="T0" fmla="*/ 8 w 1466"/>
              <a:gd name="T1" fmla="*/ 0 h 1998"/>
              <a:gd name="T2" fmla="*/ 2 w 1466"/>
              <a:gd name="T3" fmla="*/ 228 h 1998"/>
              <a:gd name="T4" fmla="*/ 20 w 1466"/>
              <a:gd name="T5" fmla="*/ 564 h 1998"/>
              <a:gd name="T6" fmla="*/ 62 w 1466"/>
              <a:gd name="T7" fmla="*/ 960 h 1998"/>
              <a:gd name="T8" fmla="*/ 140 w 1466"/>
              <a:gd name="T9" fmla="*/ 1332 h 1998"/>
              <a:gd name="T10" fmla="*/ 302 w 1466"/>
              <a:gd name="T11" fmla="*/ 1674 h 1998"/>
              <a:gd name="T12" fmla="*/ 458 w 1466"/>
              <a:gd name="T13" fmla="*/ 1800 h 1998"/>
              <a:gd name="T14" fmla="*/ 632 w 1466"/>
              <a:gd name="T15" fmla="*/ 1908 h 1998"/>
              <a:gd name="T16" fmla="*/ 968 w 1466"/>
              <a:gd name="T17" fmla="*/ 1980 h 1998"/>
              <a:gd name="T18" fmla="*/ 1466 w 1466"/>
              <a:gd name="T19" fmla="*/ 1998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998">
                <a:moveTo>
                  <a:pt x="8" y="0"/>
                </a:moveTo>
                <a:cubicBezTo>
                  <a:pt x="4" y="67"/>
                  <a:pt x="0" y="134"/>
                  <a:pt x="2" y="228"/>
                </a:cubicBezTo>
                <a:cubicBezTo>
                  <a:pt x="4" y="322"/>
                  <a:pt x="10" y="442"/>
                  <a:pt x="20" y="564"/>
                </a:cubicBezTo>
                <a:cubicBezTo>
                  <a:pt x="30" y="686"/>
                  <a:pt x="42" y="832"/>
                  <a:pt x="62" y="960"/>
                </a:cubicBezTo>
                <a:cubicBezTo>
                  <a:pt x="82" y="1088"/>
                  <a:pt x="100" y="1213"/>
                  <a:pt x="140" y="1332"/>
                </a:cubicBezTo>
                <a:cubicBezTo>
                  <a:pt x="180" y="1451"/>
                  <a:pt x="249" y="1596"/>
                  <a:pt x="302" y="1674"/>
                </a:cubicBezTo>
                <a:cubicBezTo>
                  <a:pt x="355" y="1752"/>
                  <a:pt x="403" y="1761"/>
                  <a:pt x="458" y="1800"/>
                </a:cubicBezTo>
                <a:cubicBezTo>
                  <a:pt x="513" y="1839"/>
                  <a:pt x="547" y="1878"/>
                  <a:pt x="632" y="1908"/>
                </a:cubicBezTo>
                <a:cubicBezTo>
                  <a:pt x="717" y="1938"/>
                  <a:pt x="829" y="1965"/>
                  <a:pt x="968" y="1980"/>
                </a:cubicBezTo>
                <a:cubicBezTo>
                  <a:pt x="1107" y="1995"/>
                  <a:pt x="1286" y="1996"/>
                  <a:pt x="1466" y="1998"/>
                </a:cubicBezTo>
              </a:path>
            </a:pathLst>
          </a:custGeom>
          <a:noFill/>
          <a:ln w="38100" cap="flat" cmpd="sng">
            <a:solidFill>
              <a:srgbClr val="003399"/>
            </a:solidFill>
            <a:prstDash val="solid"/>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pic>
        <p:nvPicPr>
          <p:cNvPr id="59411" name="Picture 19"/>
          <p:cNvPicPr>
            <a:picLocks noChangeAspect="1" noChangeArrowheads="1"/>
          </p:cNvPicPr>
          <p:nvPr/>
        </p:nvPicPr>
        <p:blipFill>
          <a:blip r:embed="rId5">
            <a:extLst>
              <a:ext uri="{28A0092B-C50C-407E-A947-70E740481C1C}">
                <a14:useLocalDpi xmlns:a14="http://schemas.microsoft.com/office/drawing/2010/main" val="0"/>
              </a:ext>
            </a:extLst>
          </a:blip>
          <a:srcRect r="58593" b="58846"/>
          <a:stretch>
            <a:fillRect/>
          </a:stretch>
        </p:blipFill>
        <p:spPr bwMode="auto">
          <a:xfrm>
            <a:off x="6014085" y="217805"/>
            <a:ext cx="2887345"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 name="直接箭头连接符 1"/>
          <p:cNvCxnSpPr/>
          <p:nvPr/>
        </p:nvCxnSpPr>
        <p:spPr>
          <a:xfrm flipV="1">
            <a:off x="7221855" y="455930"/>
            <a:ext cx="9525" cy="241935"/>
          </a:xfrm>
          <a:prstGeom prst="straightConnector1">
            <a:avLst/>
          </a:prstGeom>
          <a:noFill/>
          <a:ln w="9525" cap="flat" cmpd="sng" algn="ctr">
            <a:solidFill>
              <a:srgbClr val="FF0000"/>
            </a:solidFill>
            <a:prstDash val="solid"/>
            <a:round/>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76482"/>
                                        </p:tgtEl>
                                        <p:attrNameLst>
                                          <p:attrName>style.visibility</p:attrName>
                                        </p:attrNameLst>
                                      </p:cBhvr>
                                      <p:to>
                                        <p:strVal val="visible"/>
                                      </p:to>
                                    </p:set>
                                    <p:anim calcmode="lin" valueType="num">
                                      <p:cBhvr additive="base">
                                        <p:cTn id="7" dur="500" fill="hold"/>
                                        <p:tgtEl>
                                          <p:spTgt spid="276482"/>
                                        </p:tgtEl>
                                        <p:attrNameLst>
                                          <p:attrName>ppt_x</p:attrName>
                                        </p:attrNameLst>
                                      </p:cBhvr>
                                      <p:tavLst>
                                        <p:tav tm="0">
                                          <p:val>
                                            <p:strVal val="#ppt_x"/>
                                          </p:val>
                                        </p:tav>
                                        <p:tav tm="100000">
                                          <p:val>
                                            <p:strVal val="#ppt_x"/>
                                          </p:val>
                                        </p:tav>
                                      </p:tavLst>
                                    </p:anim>
                                    <p:anim calcmode="lin" valueType="num">
                                      <p:cBhvr additive="base">
                                        <p:cTn id="8" dur="500" fill="hold"/>
                                        <p:tgtEl>
                                          <p:spTgt spid="2764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276483"/>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7648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7648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76486"/>
                                        </p:tgtEl>
                                        <p:attrNameLst>
                                          <p:attrName>style.visibility</p:attrName>
                                        </p:attrNameLst>
                                      </p:cBhvr>
                                      <p:to>
                                        <p:strVal val="visible"/>
                                      </p:to>
                                    </p:set>
                                    <p:animEffect transition="in" filter="wipe(left)">
                                      <p:cBhvr>
                                        <p:cTn id="29" dur="500"/>
                                        <p:tgtEl>
                                          <p:spTgt spid="27648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27648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76643"/>
                                        </p:tgtEl>
                                        <p:attrNameLst>
                                          <p:attrName>style.visibility</p:attrName>
                                        </p:attrNameLst>
                                      </p:cBhvr>
                                      <p:to>
                                        <p:strVal val="visible"/>
                                      </p:to>
                                    </p:set>
                                    <p:animEffect transition="in" filter="wipe(left)">
                                      <p:cBhvr>
                                        <p:cTn id="38" dur="500"/>
                                        <p:tgtEl>
                                          <p:spTgt spid="276643"/>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276544"/>
                                        </p:tgtEl>
                                        <p:attrNameLst>
                                          <p:attrName>style.visibility</p:attrName>
                                        </p:attrNameLst>
                                      </p:cBhvr>
                                      <p:to>
                                        <p:strVal val="visible"/>
                                      </p:to>
                                    </p:set>
                                    <p:animEffect transition="in" filter="strips(downRight)">
                                      <p:cBhvr>
                                        <p:cTn id="43" dur="500"/>
                                        <p:tgtEl>
                                          <p:spTgt spid="27654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9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autoUpdateAnimBg="0"/>
      <p:bldP spid="276484" grpId="0" autoUpdateAnimBg="0"/>
      <p:bldP spid="276485" grpId="0" autoUpdateAnimBg="0"/>
      <p:bldP spid="276486" grpId="0" autoUpdateAnimBg="0"/>
      <p:bldP spid="27654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6"/>
          <p:cNvSpPr>
            <a:spLocks noChangeArrowheads="1"/>
          </p:cNvSpPr>
          <p:nvPr/>
        </p:nvSpPr>
        <p:spPr bwMode="auto">
          <a:xfrm>
            <a:off x="0" y="-215900"/>
            <a:ext cx="182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3077" name="Rectangle 8"/>
          <p:cNvSpPr>
            <a:spLocks noChangeArrowheads="1"/>
          </p:cNvSpPr>
          <p:nvPr/>
        </p:nvSpPr>
        <p:spPr bwMode="auto">
          <a:xfrm>
            <a:off x="0" y="-215900"/>
            <a:ext cx="182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15365" name="文本框 15364"/>
          <p:cNvSpPr txBox="1">
            <a:spLocks noChangeArrowheads="1"/>
          </p:cNvSpPr>
          <p:nvPr/>
        </p:nvSpPr>
        <p:spPr bwMode="auto">
          <a:xfrm>
            <a:off x="214313" y="785813"/>
            <a:ext cx="27238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二、链传动的动载荷</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5366" name="文本框 15365"/>
          <p:cNvSpPr txBox="1">
            <a:spLocks noChangeArrowheads="1"/>
          </p:cNvSpPr>
          <p:nvPr/>
        </p:nvSpPr>
        <p:spPr bwMode="auto">
          <a:xfrm>
            <a:off x="357188" y="1217295"/>
            <a:ext cx="858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链传动在工作过程中，和从动链轮相连的零件产生周期性的速度变化，从而引起了动载荷。</a:t>
            </a:r>
            <a:endParaRPr lang="zh-CN" altLang="en-US" sz="2000" dirty="0">
              <a:solidFill>
                <a:srgbClr val="000099"/>
              </a:solidFill>
              <a:latin typeface="Times New Roman" panose="02020603050405020304" pitchFamily="18" charset="0"/>
            </a:endParaRPr>
          </a:p>
        </p:txBody>
      </p:sp>
      <p:sp>
        <p:nvSpPr>
          <p:cNvPr id="15369" name="文本框 15368"/>
          <p:cNvSpPr txBox="1">
            <a:spLocks noChangeArrowheads="1"/>
          </p:cNvSpPr>
          <p:nvPr/>
        </p:nvSpPr>
        <p:spPr bwMode="auto">
          <a:xfrm>
            <a:off x="251778" y="3164523"/>
            <a:ext cx="5713412"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en-US" altLang="zh-CN" sz="2000">
                <a:solidFill>
                  <a:srgbClr val="002060"/>
                </a:solidFill>
                <a:latin typeface="Times New Roman" panose="02020603050405020304" pitchFamily="18" charset="0"/>
              </a:rPr>
              <a:t>1</a:t>
            </a:r>
            <a:r>
              <a:rPr lang="zh-CN" altLang="en-US" sz="2000">
                <a:solidFill>
                  <a:srgbClr val="002060"/>
                </a:solidFill>
                <a:latin typeface="Times New Roman" panose="02020603050405020304" pitchFamily="18" charset="0"/>
              </a:rPr>
              <a:t>）链轮的转速越高，节距越大，齿数越少，则传动的动载荷就越大。</a:t>
            </a:r>
            <a:endParaRPr lang="zh-CN" altLang="en-US" sz="2000">
              <a:solidFill>
                <a:srgbClr val="002060"/>
              </a:solidFill>
              <a:latin typeface="Times New Roman" panose="02020603050405020304" pitchFamily="18" charset="0"/>
            </a:endParaRPr>
          </a:p>
        </p:txBody>
      </p:sp>
      <p:sp>
        <p:nvSpPr>
          <p:cNvPr id="59404" name="文本框 15366"/>
          <p:cNvSpPr txBox="1">
            <a:spLocks noChangeArrowheads="1"/>
          </p:cNvSpPr>
          <p:nvPr/>
        </p:nvSpPr>
        <p:spPr bwMode="auto">
          <a:xfrm>
            <a:off x="857250" y="2071688"/>
            <a:ext cx="38671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链条速度变化引起的动载荷为：</a:t>
            </a:r>
            <a:endParaRPr lang="zh-CN" altLang="en-US" sz="2000">
              <a:solidFill>
                <a:srgbClr val="000099"/>
              </a:solidFill>
              <a:latin typeface="Times New Roman" panose="02020603050405020304" pitchFamily="18" charset="0"/>
            </a:endParaRPr>
          </a:p>
        </p:txBody>
      </p:sp>
      <p:sp>
        <p:nvSpPr>
          <p:cNvPr id="59405" name="文本框 15367"/>
          <p:cNvSpPr txBox="1">
            <a:spLocks noChangeArrowheads="1"/>
          </p:cNvSpPr>
          <p:nvPr/>
        </p:nvSpPr>
        <p:spPr bwMode="auto">
          <a:xfrm>
            <a:off x="857250" y="2643188"/>
            <a:ext cx="4500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从动链轮因转速变化引起的动载荷为：</a:t>
            </a:r>
            <a:endParaRPr lang="zh-CN" altLang="en-US" sz="2000">
              <a:solidFill>
                <a:srgbClr val="000099"/>
              </a:solidFill>
              <a:latin typeface="Times New Roman" panose="02020603050405020304" pitchFamily="18" charset="0"/>
            </a:endParaRPr>
          </a:p>
        </p:txBody>
      </p:sp>
      <p:sp>
        <p:nvSpPr>
          <p:cNvPr id="15372" name="文本框 15371"/>
          <p:cNvSpPr txBox="1">
            <a:spLocks noChangeArrowheads="1"/>
          </p:cNvSpPr>
          <p:nvPr/>
        </p:nvSpPr>
        <p:spPr bwMode="auto">
          <a:xfrm>
            <a:off x="250190" y="4878705"/>
            <a:ext cx="57150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en-US" altLang="zh-CN" sz="2000">
                <a:solidFill>
                  <a:srgbClr val="002060"/>
                </a:solidFill>
                <a:latin typeface="Times New Roman" panose="02020603050405020304" pitchFamily="18" charset="0"/>
              </a:rPr>
              <a:t>3</a:t>
            </a:r>
            <a:r>
              <a:rPr lang="zh-CN" altLang="en-US" sz="2000">
                <a:solidFill>
                  <a:srgbClr val="002060"/>
                </a:solidFill>
                <a:latin typeface="Times New Roman" panose="02020603050405020304" pitchFamily="18" charset="0"/>
              </a:rPr>
              <a:t>）</a:t>
            </a:r>
            <a:r>
              <a:rPr lang="zh-CN" altLang="zh-CN" sz="2000">
                <a:solidFill>
                  <a:srgbClr val="002060"/>
                </a:solidFill>
                <a:latin typeface="Times New Roman" panose="02020603050405020304" pitchFamily="18" charset="0"/>
              </a:rPr>
              <a:t>链节和链轮啮合瞬间的相对速度，将产生啮合冲击，并引起铰链磨损</a:t>
            </a:r>
            <a:r>
              <a:rPr lang="zh-CN" altLang="en-US" sz="2000">
                <a:solidFill>
                  <a:srgbClr val="002060"/>
                </a:solidFill>
                <a:latin typeface="Times New Roman" panose="02020603050405020304" pitchFamily="18" charset="0"/>
              </a:rPr>
              <a:t>。</a:t>
            </a:r>
            <a:endParaRPr lang="zh-CN" altLang="en-US" sz="2000">
              <a:solidFill>
                <a:srgbClr val="002060"/>
              </a:solidFill>
              <a:latin typeface="Times New Roman" panose="02020603050405020304" pitchFamily="18" charset="0"/>
            </a:endParaRPr>
          </a:p>
        </p:txBody>
      </p:sp>
      <p:graphicFrame>
        <p:nvGraphicFramePr>
          <p:cNvPr id="59408" name="对象 1">
            <a:hlinkClick r:id="" action="ppaction://ole?verb=1"/>
          </p:cNvPr>
          <p:cNvGraphicFramePr>
            <a:graphicFrameLocks noChangeAspect="1"/>
          </p:cNvGraphicFramePr>
          <p:nvPr/>
        </p:nvGraphicFramePr>
        <p:xfrm>
          <a:off x="4519613" y="2049145"/>
          <a:ext cx="1120775" cy="420688"/>
        </p:xfrm>
        <a:graphic>
          <a:graphicData uri="http://schemas.openxmlformats.org/presentationml/2006/ole">
            <mc:AlternateContent xmlns:mc="http://schemas.openxmlformats.org/markup-compatibility/2006">
              <mc:Choice xmlns:v="urn:schemas-microsoft-com:vml" Requires="v">
                <p:oleObj spid="_x0000_s3156" name="" r:id="rId1" imgW="609600" imgH="228600" progId="Equation.KSEE3">
                  <p:embed/>
                </p:oleObj>
              </mc:Choice>
              <mc:Fallback>
                <p:oleObj name="" r:id="rId1" imgW="609600" imgH="228600" progId="Equation.KSEE3">
                  <p:embed/>
                  <p:pic>
                    <p:nvPicPr>
                      <p:cNvPr id="0" name="对象 1"/>
                      <p:cNvPicPr>
                        <a:picLocks noChangeAspect="1" noChangeArrowheads="1"/>
                      </p:cNvPicPr>
                      <p:nvPr/>
                    </p:nvPicPr>
                    <p:blipFill>
                      <a:blip r:embed="rId2"/>
                      <a:srcRect/>
                      <a:stretch>
                        <a:fillRect/>
                      </a:stretch>
                    </p:blipFill>
                    <p:spPr bwMode="auto">
                      <a:xfrm>
                        <a:off x="4519613" y="2049145"/>
                        <a:ext cx="11207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09" name="对象 3">
            <a:hlinkClick r:id="" action="ppaction://ole?verb=1"/>
          </p:cNvPr>
          <p:cNvGraphicFramePr>
            <a:graphicFrameLocks noChangeAspect="1"/>
          </p:cNvGraphicFramePr>
          <p:nvPr/>
        </p:nvGraphicFramePr>
        <p:xfrm>
          <a:off x="5280025" y="2497138"/>
          <a:ext cx="1457325" cy="717550"/>
        </p:xfrm>
        <a:graphic>
          <a:graphicData uri="http://schemas.openxmlformats.org/presentationml/2006/ole">
            <mc:AlternateContent xmlns:mc="http://schemas.openxmlformats.org/markup-compatibility/2006">
              <mc:Choice xmlns:v="urn:schemas-microsoft-com:vml" Requires="v">
                <p:oleObj spid="_x0000_s3157" name="" r:id="rId3" imgW="876300" imgH="431800" progId="Equation.KSEE3">
                  <p:embed/>
                </p:oleObj>
              </mc:Choice>
              <mc:Fallback>
                <p:oleObj name="" r:id="rId3" imgW="876300" imgH="431800" progId="Equation.KSEE3">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0025" y="2497138"/>
                        <a:ext cx="145732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文本框 3"/>
          <p:cNvSpPr txBox="1">
            <a:spLocks noChangeArrowheads="1"/>
          </p:cNvSpPr>
          <p:nvPr/>
        </p:nvSpPr>
        <p:spPr bwMode="auto">
          <a:xfrm>
            <a:off x="357188" y="4021138"/>
            <a:ext cx="571500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en-US" altLang="zh-CN" sz="2000">
                <a:solidFill>
                  <a:srgbClr val="002060"/>
                </a:solidFill>
                <a:latin typeface="Times New Roman" panose="02020603050405020304" pitchFamily="18" charset="0"/>
              </a:rPr>
              <a:t>2</a:t>
            </a:r>
            <a:r>
              <a:rPr lang="zh-CN" altLang="en-US" sz="2000">
                <a:solidFill>
                  <a:srgbClr val="002060"/>
                </a:solidFill>
                <a:latin typeface="Times New Roman" panose="02020603050405020304" pitchFamily="18" charset="0"/>
              </a:rPr>
              <a:t>）链条沿垂直方向的分速度也在作周期性的变化，将使链条发生横向振动，甚至发生共振。</a:t>
            </a:r>
            <a:endParaRPr lang="zh-CN" altLang="en-US" sz="2000">
              <a:solidFill>
                <a:srgbClr val="002060"/>
              </a:solidFill>
              <a:latin typeface="Times New Roman" panose="02020603050405020304" pitchFamily="18" charset="0"/>
            </a:endParaRPr>
          </a:p>
        </p:txBody>
      </p:sp>
      <p:sp>
        <p:nvSpPr>
          <p:cNvPr id="5" name="文本框 4"/>
          <p:cNvSpPr txBox="1">
            <a:spLocks noChangeArrowheads="1"/>
          </p:cNvSpPr>
          <p:nvPr/>
        </p:nvSpPr>
        <p:spPr bwMode="auto">
          <a:xfrm>
            <a:off x="250190" y="5659755"/>
            <a:ext cx="48983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en-US" altLang="zh-CN" sz="2000">
                <a:solidFill>
                  <a:srgbClr val="002060"/>
                </a:solidFill>
                <a:latin typeface="Times New Roman" panose="02020603050405020304" pitchFamily="18" charset="0"/>
              </a:rPr>
              <a:t>4</a:t>
            </a:r>
            <a:r>
              <a:rPr lang="zh-CN" altLang="en-US" sz="2000">
                <a:solidFill>
                  <a:srgbClr val="002060"/>
                </a:solidFill>
                <a:latin typeface="Times New Roman" panose="02020603050405020304" pitchFamily="18" charset="0"/>
              </a:rPr>
              <a:t>）</a:t>
            </a:r>
            <a:r>
              <a:rPr lang="zh-CN" altLang="zh-CN" sz="2000">
                <a:solidFill>
                  <a:srgbClr val="002060"/>
                </a:solidFill>
                <a:latin typeface="Times New Roman" panose="02020603050405020304" pitchFamily="18" charset="0"/>
              </a:rPr>
              <a:t>由于链条的悬垂，在起动、制动、反转时会引起很大的冲击载荷</a:t>
            </a:r>
            <a:r>
              <a:rPr lang="zh-CN" altLang="en-US" sz="2000">
                <a:solidFill>
                  <a:srgbClr val="002060"/>
                </a:solidFill>
                <a:latin typeface="Times New Roman" panose="02020603050405020304" pitchFamily="18" charset="0"/>
              </a:rPr>
              <a:t>。</a:t>
            </a:r>
            <a:endParaRPr lang="zh-CN" altLang="en-US" sz="2000">
              <a:solidFill>
                <a:srgbClr val="002060"/>
              </a:solidFill>
              <a:latin typeface="Times New Roman" panose="02020603050405020304" pitchFamily="18" charset="0"/>
            </a:endParaRPr>
          </a:p>
        </p:txBody>
      </p:sp>
      <p:pic>
        <p:nvPicPr>
          <p:cNvPr id="63507" name="Picture 1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86500" y="3214688"/>
            <a:ext cx="2857500"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1"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2"/>
          <p:cNvSpPr>
            <a:spLocks noGrp="1" noChangeArrowheads="1"/>
          </p:cNvSpPr>
          <p:nvPr>
            <p:ph type="title"/>
          </p:nvPr>
        </p:nvSpPr>
        <p:spPr bwMode="auto">
          <a:xfrm>
            <a:off x="3636645" y="271780"/>
            <a:ext cx="549021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-4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链传动的工作情况分析</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graphicFrame>
        <p:nvGraphicFramePr>
          <p:cNvPr id="9" name="对象 8">
            <a:hlinkClick r:id="" action="ppaction://ole?verb="/>
          </p:cNvPr>
          <p:cNvGraphicFramePr>
            <a:graphicFrameLocks noChangeAspect="1"/>
          </p:cNvGraphicFramePr>
          <p:nvPr/>
        </p:nvGraphicFramePr>
        <p:xfrm>
          <a:off x="6167755" y="1875790"/>
          <a:ext cx="2108835" cy="594360"/>
        </p:xfrm>
        <a:graphic>
          <a:graphicData uri="http://schemas.openxmlformats.org/presentationml/2006/ole">
            <mc:AlternateContent xmlns:mc="http://schemas.openxmlformats.org/markup-compatibility/2006">
              <mc:Choice xmlns:v="urn:schemas-microsoft-com:vml" Requires="v">
                <p:oleObj spid="_x0000_s1026" name="" r:id="rId6" imgW="1397000" imgH="393700" progId="Equation.KSEE3">
                  <p:embed/>
                </p:oleObj>
              </mc:Choice>
              <mc:Fallback>
                <p:oleObj name="" r:id="rId6" imgW="1397000" imgH="393700" progId="Equation.KSEE3">
                  <p:embed/>
                  <p:pic>
                    <p:nvPicPr>
                      <p:cNvPr id="0" name="图片 1025"/>
                      <p:cNvPicPr/>
                      <p:nvPr/>
                    </p:nvPicPr>
                    <p:blipFill>
                      <a:blip r:embed="rId7"/>
                      <a:stretch>
                        <a:fillRect/>
                      </a:stretch>
                    </p:blipFill>
                    <p:spPr>
                      <a:xfrm>
                        <a:off x="6167755" y="1875790"/>
                        <a:ext cx="2108835" cy="594360"/>
                      </a:xfrm>
                      <a:prstGeom prst="rect">
                        <a:avLst/>
                      </a:prstGeom>
                    </p:spPr>
                  </p:pic>
                </p:oleObj>
              </mc:Fallback>
            </mc:AlternateContent>
          </a:graphicData>
        </a:graphic>
      </p:graphicFrame>
      <p:sp>
        <p:nvSpPr>
          <p:cNvPr id="514067" name="文本框 514066"/>
          <p:cNvSpPr txBox="1"/>
          <p:nvPr/>
        </p:nvSpPr>
        <p:spPr>
          <a:xfrm>
            <a:off x="5640705" y="5397500"/>
            <a:ext cx="3235960" cy="1106805"/>
          </a:xfrm>
          <a:prstGeom prst="rect">
            <a:avLst/>
          </a:prstGeom>
          <a:noFill/>
          <a:ln w="38100" cap="flat" cmpd="dbl">
            <a:solidFill>
              <a:srgbClr val="FFC000"/>
            </a:solidFill>
            <a:prstDash val="solid"/>
            <a:miter/>
            <a:headEnd type="none" w="med" len="med"/>
            <a:tailEnd type="none" w="med" len="med"/>
          </a:ln>
        </p:spPr>
        <p:txBody>
          <a:bodyPr wrap="square">
            <a:spAutoFit/>
          </a:bodyPr>
          <a:p>
            <a:r>
              <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rPr>
              <a:t>措施：齿数尽量取多些</a:t>
            </a:r>
            <a:endPar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endParaRPr>
          </a:p>
          <a:p>
            <a:r>
              <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rPr>
              <a:t>            节距尽量取小些</a:t>
            </a:r>
            <a:endPar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endParaRPr>
          </a:p>
          <a:p>
            <a:r>
              <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rPr>
              <a:t>            置于低速场合</a:t>
            </a:r>
            <a:endParaRPr lang="zh-CN" altLang="en-US">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wipe(left)">
                                      <p:cBhvr>
                                        <p:cTn id="7" dur="500"/>
                                        <p:tgtEl>
                                          <p:spTgt spid="153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wipe(left)">
                                      <p:cBhvr>
                                        <p:cTn id="12" dur="500"/>
                                        <p:tgtEl>
                                          <p:spTgt spid="15366"/>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6350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9404"/>
                                        </p:tgtEl>
                                        <p:attrNameLst>
                                          <p:attrName>style.visibility</p:attrName>
                                        </p:attrNameLst>
                                      </p:cBhvr>
                                      <p:to>
                                        <p:strVal val="visible"/>
                                      </p:to>
                                    </p:set>
                                    <p:animEffect transition="in" filter="wipe(left)">
                                      <p:cBhvr>
                                        <p:cTn id="20" dur="500"/>
                                        <p:tgtEl>
                                          <p:spTgt spid="59404"/>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9408"/>
                                        </p:tgtEl>
                                        <p:attrNameLst>
                                          <p:attrName>style.visibility</p:attrName>
                                        </p:attrNameLst>
                                      </p:cBhvr>
                                      <p:to>
                                        <p:strVal val="visible"/>
                                      </p:to>
                                    </p:set>
                                    <p:animEffect transition="in" filter="wipe(left)">
                                      <p:cBhvr>
                                        <p:cTn id="24" dur="500"/>
                                        <p:tgtEl>
                                          <p:spTgt spid="5940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9405"/>
                                        </p:tgtEl>
                                        <p:attrNameLst>
                                          <p:attrName>style.visibility</p:attrName>
                                        </p:attrNameLst>
                                      </p:cBhvr>
                                      <p:to>
                                        <p:strVal val="visible"/>
                                      </p:to>
                                    </p:set>
                                    <p:animEffect transition="in" filter="wipe(left)">
                                      <p:cBhvr>
                                        <p:cTn id="34" dur="500"/>
                                        <p:tgtEl>
                                          <p:spTgt spid="59405"/>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59409"/>
                                        </p:tgtEl>
                                        <p:attrNameLst>
                                          <p:attrName>style.visibility</p:attrName>
                                        </p:attrNameLst>
                                      </p:cBhvr>
                                      <p:to>
                                        <p:strVal val="visible"/>
                                      </p:to>
                                    </p:set>
                                    <p:animEffect transition="in" filter="wipe(left)">
                                      <p:cBhvr>
                                        <p:cTn id="38" dur="500"/>
                                        <p:tgtEl>
                                          <p:spTgt spid="5940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369"/>
                                        </p:tgtEl>
                                        <p:attrNameLst>
                                          <p:attrName>style.visibility</p:attrName>
                                        </p:attrNameLst>
                                      </p:cBhvr>
                                      <p:to>
                                        <p:strVal val="visible"/>
                                      </p:to>
                                    </p:set>
                                    <p:animEffect transition="in" filter="wipe(left)">
                                      <p:cBhvr>
                                        <p:cTn id="43" dur="500"/>
                                        <p:tgtEl>
                                          <p:spTgt spid="15369"/>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5372"/>
                                        </p:tgtEl>
                                        <p:attrNameLst>
                                          <p:attrName>style.visibility</p:attrName>
                                        </p:attrNameLst>
                                      </p:cBhvr>
                                      <p:to>
                                        <p:strVal val="visible"/>
                                      </p:to>
                                    </p:set>
                                    <p:animEffect transition="in" filter="wipe(left)">
                                      <p:cBhvr>
                                        <p:cTn id="51" dur="500"/>
                                        <p:tgtEl>
                                          <p:spTgt spid="15372"/>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14067"/>
                                        </p:tgtEl>
                                        <p:attrNameLst>
                                          <p:attrName>style.visibility</p:attrName>
                                        </p:attrNameLst>
                                      </p:cBhvr>
                                      <p:to>
                                        <p:strVal val="visible"/>
                                      </p:to>
                                    </p:set>
                                    <p:animEffect transition="in" filter="wipe(left)">
                                      <p:cBhvr>
                                        <p:cTn id="60" dur="500"/>
                                        <p:tgtEl>
                                          <p:spTgt spid="514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15366" grpId="0"/>
      <p:bldP spid="15369" grpId="0"/>
      <p:bldP spid="59404" grpId="0"/>
      <p:bldP spid="59405" grpId="0"/>
      <p:bldP spid="15372" grpId="0"/>
      <p:bldP spid="4" grpId="0"/>
      <p:bldP spid="5" grpId="0"/>
      <p:bldP spid="514067"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410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pic>
        <p:nvPicPr>
          <p:cNvPr id="4106"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35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915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8199"/>
          <p:cNvSpPr txBox="1">
            <a:spLocks noChangeArrowheads="1"/>
          </p:cNvSpPr>
          <p:nvPr/>
        </p:nvSpPr>
        <p:spPr bwMode="auto">
          <a:xfrm>
            <a:off x="357188" y="1428750"/>
            <a:ext cx="83772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000">
                <a:solidFill>
                  <a:schemeClr val="accent4">
                    <a:lumMod val="50000"/>
                  </a:schemeClr>
                </a:solidFill>
                <a:latin typeface="Times New Roman" panose="02020603050405020304" pitchFamily="18" charset="0"/>
              </a:rPr>
              <a:t>链传动在安装时需要一定的张紧力，保证链条松边的垂度不致过大而出现链条的振动、跳齿或脱链。</a:t>
            </a:r>
            <a:endParaRPr lang="zh-CN" altLang="en-US" sz="2000">
              <a:solidFill>
                <a:schemeClr val="accent4">
                  <a:lumMod val="50000"/>
                </a:schemeClr>
              </a:solidFill>
              <a:latin typeface="Times New Roman" panose="02020603050405020304" pitchFamily="18" charset="0"/>
            </a:endParaRPr>
          </a:p>
        </p:txBody>
      </p:sp>
      <p:sp>
        <p:nvSpPr>
          <p:cNvPr id="61449" name="文本框 8200"/>
          <p:cNvSpPr txBox="1">
            <a:spLocks noChangeArrowheads="1"/>
          </p:cNvSpPr>
          <p:nvPr/>
        </p:nvSpPr>
        <p:spPr bwMode="auto">
          <a:xfrm>
            <a:off x="785813" y="2286000"/>
            <a:ext cx="27860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chemeClr val="accent4">
                    <a:lumMod val="50000"/>
                  </a:schemeClr>
                </a:solidFill>
                <a:latin typeface="Times New Roman" panose="02020603050405020304" pitchFamily="18" charset="0"/>
              </a:rPr>
              <a:t>链的紧边所受拉力为：</a:t>
            </a:r>
            <a:r>
              <a:rPr lang="zh-CN" altLang="en-US" sz="2000">
                <a:solidFill>
                  <a:srgbClr val="000099"/>
                </a:solidFill>
                <a:latin typeface="Times New Roman" panose="02020603050405020304" pitchFamily="18" charset="0"/>
              </a:rPr>
              <a:t> </a:t>
            </a:r>
            <a:endParaRPr lang="zh-CN" altLang="en-US" sz="2000">
              <a:solidFill>
                <a:srgbClr val="000099"/>
              </a:solidFill>
              <a:latin typeface="Times New Roman" panose="02020603050405020304" pitchFamily="18" charset="0"/>
            </a:endParaRPr>
          </a:p>
        </p:txBody>
      </p:sp>
      <p:sp>
        <p:nvSpPr>
          <p:cNvPr id="61450" name="文本框 8202"/>
          <p:cNvSpPr txBox="1">
            <a:spLocks noChangeArrowheads="1"/>
          </p:cNvSpPr>
          <p:nvPr/>
        </p:nvSpPr>
        <p:spPr bwMode="auto">
          <a:xfrm>
            <a:off x="785813" y="3000375"/>
            <a:ext cx="27860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chemeClr val="accent4">
                    <a:lumMod val="50000"/>
                  </a:schemeClr>
                </a:solidFill>
                <a:latin typeface="Times New Roman" panose="02020603050405020304" pitchFamily="18" charset="0"/>
              </a:rPr>
              <a:t>链的松边所受拉力为：</a:t>
            </a:r>
            <a:r>
              <a:rPr lang="zh-CN" altLang="en-US" sz="2000">
                <a:solidFill>
                  <a:srgbClr val="000099"/>
                </a:solidFill>
                <a:latin typeface="Times New Roman" panose="02020603050405020304" pitchFamily="18" charset="0"/>
              </a:rPr>
              <a:t> </a:t>
            </a:r>
            <a:endParaRPr lang="zh-CN" altLang="en-US" sz="2000">
              <a:solidFill>
                <a:srgbClr val="000099"/>
              </a:solidFill>
              <a:latin typeface="Times New Roman" panose="02020603050405020304" pitchFamily="18" charset="0"/>
            </a:endParaRPr>
          </a:p>
        </p:txBody>
      </p:sp>
      <p:sp>
        <p:nvSpPr>
          <p:cNvPr id="61451" name="文本框 8204"/>
          <p:cNvSpPr txBox="1">
            <a:spLocks noChangeArrowheads="1"/>
          </p:cNvSpPr>
          <p:nvPr/>
        </p:nvSpPr>
        <p:spPr bwMode="auto">
          <a:xfrm>
            <a:off x="857250" y="3643313"/>
            <a:ext cx="2951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chemeClr val="accent4">
                    <a:lumMod val="50000"/>
                  </a:schemeClr>
                </a:solidFill>
                <a:latin typeface="Times New Roman" panose="02020603050405020304" pitchFamily="18" charset="0"/>
              </a:rPr>
              <a:t>其中：</a:t>
            </a:r>
            <a:r>
              <a:rPr lang="en-US" altLang="zh-CN" sz="2000" i="1">
                <a:solidFill>
                  <a:schemeClr val="accent4">
                    <a:lumMod val="50000"/>
                  </a:schemeClr>
                </a:solidFill>
                <a:latin typeface="Times New Roman" panose="02020603050405020304" pitchFamily="18" charset="0"/>
              </a:rPr>
              <a:t>F</a:t>
            </a:r>
            <a:r>
              <a:rPr lang="en-US" altLang="zh-CN" sz="2000" i="1" baseline="-10000">
                <a:solidFill>
                  <a:schemeClr val="accent4">
                    <a:lumMod val="50000"/>
                  </a:schemeClr>
                </a:solidFill>
                <a:latin typeface="Times New Roman" panose="02020603050405020304" pitchFamily="18" charset="0"/>
              </a:rPr>
              <a:t>e</a:t>
            </a:r>
            <a:r>
              <a:rPr lang="zh-CN" altLang="en-US" sz="2000">
                <a:solidFill>
                  <a:schemeClr val="accent4">
                    <a:lumMod val="50000"/>
                  </a:schemeClr>
                </a:solidFill>
                <a:latin typeface="Times New Roman" panose="02020603050405020304" pitchFamily="18" charset="0"/>
              </a:rPr>
              <a:t>为有效圆周力</a:t>
            </a:r>
            <a:r>
              <a:rPr lang="zh-CN" altLang="en-US" sz="2000">
                <a:solidFill>
                  <a:srgbClr val="000099"/>
                </a:solidFill>
                <a:latin typeface="Times New Roman" panose="02020603050405020304" pitchFamily="18" charset="0"/>
              </a:rPr>
              <a:t>：</a:t>
            </a:r>
            <a:endParaRPr lang="zh-CN" altLang="en-US" sz="2000">
              <a:solidFill>
                <a:srgbClr val="000099"/>
              </a:solidFill>
              <a:latin typeface="Times New Roman" panose="02020603050405020304" pitchFamily="18" charset="0"/>
            </a:endParaRPr>
          </a:p>
        </p:txBody>
      </p:sp>
      <p:sp>
        <p:nvSpPr>
          <p:cNvPr id="61452" name="文本框 8205"/>
          <p:cNvSpPr txBox="1">
            <a:spLocks noChangeArrowheads="1"/>
          </p:cNvSpPr>
          <p:nvPr/>
        </p:nvSpPr>
        <p:spPr bwMode="auto">
          <a:xfrm>
            <a:off x="785813" y="4357688"/>
            <a:ext cx="29511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i="1">
                <a:solidFill>
                  <a:schemeClr val="accent4">
                    <a:lumMod val="50000"/>
                  </a:schemeClr>
                </a:solidFill>
                <a:latin typeface="Times New Roman" panose="02020603050405020304" pitchFamily="18" charset="0"/>
              </a:rPr>
              <a:t>F</a:t>
            </a:r>
            <a:r>
              <a:rPr lang="en-US" altLang="zh-CN" sz="2000" i="1" baseline="-10000">
                <a:solidFill>
                  <a:schemeClr val="accent4">
                    <a:lumMod val="50000"/>
                  </a:schemeClr>
                </a:solidFill>
                <a:latin typeface="Times New Roman" panose="02020603050405020304" pitchFamily="18" charset="0"/>
              </a:rPr>
              <a:t>c</a:t>
            </a:r>
            <a:r>
              <a:rPr lang="zh-CN" altLang="en-US" sz="2000">
                <a:solidFill>
                  <a:schemeClr val="accent4">
                    <a:lumMod val="50000"/>
                  </a:schemeClr>
                </a:solidFill>
                <a:latin typeface="Times New Roman" panose="02020603050405020304" pitchFamily="18" charset="0"/>
              </a:rPr>
              <a:t>为离心力引起的拉力：</a:t>
            </a:r>
            <a:endParaRPr lang="zh-CN" altLang="en-US" sz="2000">
              <a:solidFill>
                <a:schemeClr val="accent4">
                  <a:lumMod val="50000"/>
                </a:schemeClr>
              </a:solidFill>
              <a:latin typeface="Times New Roman" panose="02020603050405020304" pitchFamily="18" charset="0"/>
            </a:endParaRPr>
          </a:p>
        </p:txBody>
      </p:sp>
      <p:sp>
        <p:nvSpPr>
          <p:cNvPr id="8210" name="文本框 8209"/>
          <p:cNvSpPr txBox="1">
            <a:spLocks noChangeArrowheads="1"/>
          </p:cNvSpPr>
          <p:nvPr/>
        </p:nvSpPr>
        <p:spPr bwMode="auto">
          <a:xfrm>
            <a:off x="755576" y="5661248"/>
            <a:ext cx="7943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zh-CN" sz="2000" dirty="0">
                <a:solidFill>
                  <a:schemeClr val="accent4">
                    <a:lumMod val="50000"/>
                  </a:schemeClr>
                </a:solidFill>
                <a:latin typeface="Times New Roman" panose="02020603050405020304" pitchFamily="18" charset="0"/>
              </a:rPr>
              <a:t>垂度系数</a:t>
            </a:r>
            <a:r>
              <a:rPr lang="zh-CN" altLang="zh-CN" sz="2000" i="1" dirty="0">
                <a:solidFill>
                  <a:schemeClr val="accent4">
                    <a:lumMod val="50000"/>
                  </a:schemeClr>
                </a:solidFill>
                <a:latin typeface="Times New Roman" panose="02020603050405020304" pitchFamily="18" charset="0"/>
              </a:rPr>
              <a:t>K</a:t>
            </a:r>
            <a:r>
              <a:rPr lang="zh-CN" altLang="zh-CN" sz="2000" i="1" baseline="-25000" dirty="0">
                <a:solidFill>
                  <a:schemeClr val="accent4">
                    <a:lumMod val="50000"/>
                  </a:schemeClr>
                </a:solidFill>
                <a:latin typeface="Times New Roman" panose="02020603050405020304" pitchFamily="18" charset="0"/>
              </a:rPr>
              <a:t>f</a:t>
            </a:r>
            <a:r>
              <a:rPr lang="zh-CN" altLang="zh-CN" sz="2000" dirty="0">
                <a:solidFill>
                  <a:schemeClr val="accent4">
                    <a:lumMod val="50000"/>
                  </a:schemeClr>
                </a:solidFill>
                <a:latin typeface="Times New Roman" panose="02020603050405020304" pitchFamily="18" charset="0"/>
              </a:rPr>
              <a:t>的取值与两轮中心连线与水平面的倾斜角</a:t>
            </a:r>
            <a:r>
              <a:rPr lang="zh-CN" altLang="zh-CN" sz="2000" i="1" dirty="0">
                <a:solidFill>
                  <a:schemeClr val="accent4">
                    <a:lumMod val="50000"/>
                  </a:schemeClr>
                </a:solidFill>
                <a:latin typeface="Times New Roman" panose="02020603050405020304" pitchFamily="18" charset="0"/>
              </a:rPr>
              <a:t>β</a:t>
            </a:r>
            <a:r>
              <a:rPr lang="zh-CN" altLang="zh-CN" sz="2000" dirty="0">
                <a:solidFill>
                  <a:schemeClr val="accent4">
                    <a:lumMod val="50000"/>
                  </a:schemeClr>
                </a:solidFill>
                <a:latin typeface="Times New Roman" panose="02020603050405020304" pitchFamily="18" charset="0"/>
              </a:rPr>
              <a:t>有关。</a:t>
            </a:r>
            <a:endParaRPr lang="zh-CN" altLang="zh-CN" sz="2000" dirty="0">
              <a:solidFill>
                <a:schemeClr val="accent4">
                  <a:lumMod val="50000"/>
                </a:schemeClr>
              </a:solidFill>
              <a:latin typeface="Times New Roman" panose="02020603050405020304" pitchFamily="18" charset="0"/>
            </a:endParaRPr>
          </a:p>
        </p:txBody>
      </p:sp>
      <p:sp>
        <p:nvSpPr>
          <p:cNvPr id="61455" name="文本框 8208"/>
          <p:cNvSpPr txBox="1">
            <a:spLocks noChangeArrowheads="1"/>
          </p:cNvSpPr>
          <p:nvPr/>
        </p:nvSpPr>
        <p:spPr bwMode="auto">
          <a:xfrm>
            <a:off x="785813" y="5000625"/>
            <a:ext cx="54737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i="1">
                <a:solidFill>
                  <a:schemeClr val="accent4">
                    <a:lumMod val="50000"/>
                  </a:schemeClr>
                </a:solidFill>
                <a:latin typeface="Times New Roman" panose="02020603050405020304" pitchFamily="18" charset="0"/>
              </a:rPr>
              <a:t>F</a:t>
            </a:r>
            <a:r>
              <a:rPr lang="en-US" altLang="zh-CN" sz="2000" i="1" baseline="-10000">
                <a:solidFill>
                  <a:schemeClr val="accent4">
                    <a:lumMod val="50000"/>
                  </a:schemeClr>
                </a:solidFill>
                <a:latin typeface="Times New Roman" panose="02020603050405020304" pitchFamily="18" charset="0"/>
              </a:rPr>
              <a:t>f</a:t>
            </a:r>
            <a:r>
              <a:rPr lang="zh-CN" altLang="en-US" sz="2000">
                <a:solidFill>
                  <a:schemeClr val="accent4">
                    <a:lumMod val="50000"/>
                  </a:schemeClr>
                </a:solidFill>
                <a:latin typeface="Times New Roman" panose="02020603050405020304" pitchFamily="18" charset="0"/>
              </a:rPr>
              <a:t>为悬垂拉力，利用悬索拉力的方法近似求得：</a:t>
            </a:r>
            <a:endParaRPr lang="zh-CN" altLang="en-US" sz="2000">
              <a:solidFill>
                <a:schemeClr val="accent4">
                  <a:lumMod val="50000"/>
                </a:schemeClr>
              </a:solidFill>
              <a:latin typeface="Times New Roman" panose="02020603050405020304" pitchFamily="18" charset="0"/>
            </a:endParaRPr>
          </a:p>
        </p:txBody>
      </p:sp>
      <p:sp>
        <p:nvSpPr>
          <p:cNvPr id="15365" name="文本框 15364"/>
          <p:cNvSpPr txBox="1">
            <a:spLocks noChangeArrowheads="1"/>
          </p:cNvSpPr>
          <p:nvPr/>
        </p:nvSpPr>
        <p:spPr bwMode="auto">
          <a:xfrm>
            <a:off x="214313" y="1000125"/>
            <a:ext cx="30059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三、链传动的受力分析</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61458" name="对象 1">
            <a:hlinkClick r:id="" action="ppaction://ole?verb=1"/>
          </p:cNvPr>
          <p:cNvGraphicFramePr>
            <a:graphicFrameLocks noChangeAspect="1"/>
          </p:cNvGraphicFramePr>
          <p:nvPr/>
        </p:nvGraphicFramePr>
        <p:xfrm>
          <a:off x="3786188" y="2357438"/>
          <a:ext cx="1774825" cy="393700"/>
        </p:xfrm>
        <a:graphic>
          <a:graphicData uri="http://schemas.openxmlformats.org/presentationml/2006/ole">
            <mc:AlternateContent xmlns:mc="http://schemas.openxmlformats.org/markup-compatibility/2006">
              <mc:Choice xmlns:v="urn:schemas-microsoft-com:vml" Requires="v">
                <p:oleObj spid="_x0000_s4283" name="" r:id="rId4" imgW="1028700" imgH="228600" progId="Equation.KSEE3">
                  <p:embed/>
                </p:oleObj>
              </mc:Choice>
              <mc:Fallback>
                <p:oleObj name="" r:id="rId4" imgW="1028700" imgH="228600" progId="Equation.KSEE3">
                  <p:embed/>
                  <p:pic>
                    <p:nvPicPr>
                      <p:cNvPr id="0" name="对象 1"/>
                      <p:cNvPicPr>
                        <a:picLocks noChangeAspect="1" noChangeArrowheads="1"/>
                      </p:cNvPicPr>
                      <p:nvPr/>
                    </p:nvPicPr>
                    <p:blipFill>
                      <a:blip r:embed="rId5"/>
                      <a:srcRect/>
                      <a:stretch>
                        <a:fillRect/>
                      </a:stretch>
                    </p:blipFill>
                    <p:spPr bwMode="auto">
                      <a:xfrm>
                        <a:off x="3786188" y="2357438"/>
                        <a:ext cx="17748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9" name="对象 3">
            <a:hlinkClick r:id="" action="ppaction://ole?verb=1"/>
          </p:cNvPr>
          <p:cNvGraphicFramePr>
            <a:graphicFrameLocks noChangeAspect="1"/>
          </p:cNvGraphicFramePr>
          <p:nvPr/>
        </p:nvGraphicFramePr>
        <p:xfrm>
          <a:off x="3786188" y="3071813"/>
          <a:ext cx="1309687" cy="393700"/>
        </p:xfrm>
        <a:graphic>
          <a:graphicData uri="http://schemas.openxmlformats.org/presentationml/2006/ole">
            <mc:AlternateContent xmlns:mc="http://schemas.openxmlformats.org/markup-compatibility/2006">
              <mc:Choice xmlns:v="urn:schemas-microsoft-com:vml" Requires="v">
                <p:oleObj spid="_x0000_s4284" name="" r:id="rId6" imgW="762000" imgH="228600" progId="Equation.KSEE3">
                  <p:embed/>
                </p:oleObj>
              </mc:Choice>
              <mc:Fallback>
                <p:oleObj name="" r:id="rId6" imgW="762000" imgH="228600" progId="Equation.KSEE3">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6188" y="3071813"/>
                        <a:ext cx="13096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60" name="对象 4">
            <a:hlinkClick r:id="" action="ppaction://ole?verb=1"/>
          </p:cNvPr>
          <p:cNvGraphicFramePr>
            <a:graphicFrameLocks noChangeAspect="1"/>
          </p:cNvGraphicFramePr>
          <p:nvPr/>
        </p:nvGraphicFramePr>
        <p:xfrm>
          <a:off x="3786188" y="3571875"/>
          <a:ext cx="1200150" cy="609600"/>
        </p:xfrm>
        <a:graphic>
          <a:graphicData uri="http://schemas.openxmlformats.org/presentationml/2006/ole">
            <mc:AlternateContent xmlns:mc="http://schemas.openxmlformats.org/markup-compatibility/2006">
              <mc:Choice xmlns:v="urn:schemas-microsoft-com:vml" Requires="v">
                <p:oleObj spid="_x0000_s4285" name="" r:id="rId8" imgW="774065" imgH="393700" progId="Equation.KSEE3">
                  <p:embed/>
                </p:oleObj>
              </mc:Choice>
              <mc:Fallback>
                <p:oleObj name="" r:id="rId8" imgW="774065" imgH="393700" progId="Equation.KSEE3">
                  <p:embed/>
                  <p:pic>
                    <p:nvPicPr>
                      <p:cNvPr id="0"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86188" y="3571875"/>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61" name="对象 5">
            <a:hlinkClick r:id="" action="ppaction://ole?verb=1"/>
          </p:cNvPr>
          <p:cNvGraphicFramePr>
            <a:graphicFrameLocks noChangeAspect="1"/>
          </p:cNvGraphicFramePr>
          <p:nvPr/>
        </p:nvGraphicFramePr>
        <p:xfrm>
          <a:off x="3857625" y="4357688"/>
          <a:ext cx="1041400" cy="460375"/>
        </p:xfrm>
        <a:graphic>
          <a:graphicData uri="http://schemas.openxmlformats.org/presentationml/2006/ole">
            <mc:AlternateContent xmlns:mc="http://schemas.openxmlformats.org/markup-compatibility/2006">
              <mc:Choice xmlns:v="urn:schemas-microsoft-com:vml" Requires="v">
                <p:oleObj spid="_x0000_s4286" name="" r:id="rId10" imgW="545465" imgH="241300" progId="Equation.KSEE3">
                  <p:embed/>
                </p:oleObj>
              </mc:Choice>
              <mc:Fallback>
                <p:oleObj name="" r:id="rId10" imgW="545465" imgH="241300" progId="Equation.KSEE3">
                  <p:embed/>
                  <p:pic>
                    <p:nvPicPr>
                      <p:cNvPr id="0"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7625" y="4357688"/>
                        <a:ext cx="1041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50" name="对象 -2147482545"/>
          <p:cNvGraphicFramePr>
            <a:graphicFrameLocks noChangeAspect="1"/>
          </p:cNvGraphicFramePr>
          <p:nvPr/>
        </p:nvGraphicFramePr>
        <p:xfrm>
          <a:off x="6041390" y="4987449"/>
          <a:ext cx="2030095" cy="462915"/>
        </p:xfrm>
        <a:graphic>
          <a:graphicData uri="http://schemas.openxmlformats.org/presentationml/2006/ole">
            <mc:AlternateContent xmlns:mc="http://schemas.openxmlformats.org/markup-compatibility/2006">
              <mc:Choice xmlns:v="urn:schemas-microsoft-com:vml" Requires="v">
                <p:oleObj spid="_x0000_s4287" name="" r:id="rId12" imgW="1002665" imgH="228600" progId="Equation.KSEE3">
                  <p:embed/>
                </p:oleObj>
              </mc:Choice>
              <mc:Fallback>
                <p:oleObj name="" r:id="rId12" imgW="1002665" imgH="228600" progId="Equation.KSEE3">
                  <p:embed/>
                  <p:pic>
                    <p:nvPicPr>
                      <p:cNvPr id="0" name="对象 -2147482545"/>
                      <p:cNvPicPr>
                        <a:picLocks noChangeAspect="1" noChangeArrowheads="1"/>
                      </p:cNvPicPr>
                      <p:nvPr/>
                    </p:nvPicPr>
                    <p:blipFill>
                      <a:blip r:embed="rId13"/>
                      <a:srcRect/>
                      <a:stretch>
                        <a:fillRect/>
                      </a:stretch>
                    </p:blipFill>
                    <p:spPr bwMode="auto">
                      <a:xfrm>
                        <a:off x="6041390" y="4987449"/>
                        <a:ext cx="2030095" cy="46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文本框 1"/>
          <p:cNvSpPr txBox="1">
            <a:spLocks noChangeArrowheads="1"/>
          </p:cNvSpPr>
          <p:nvPr/>
        </p:nvSpPr>
        <p:spPr bwMode="auto">
          <a:xfrm>
            <a:off x="6948264" y="6093296"/>
            <a:ext cx="1477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zh-CN" sz="2000" dirty="0">
                <a:solidFill>
                  <a:srgbClr val="000099"/>
                </a:solidFill>
                <a:latin typeface="Times New Roman" panose="02020603050405020304" pitchFamily="18" charset="0"/>
                <a:hlinkClick r:id="rId14" action="ppaction://hlinksldjump"/>
              </a:rPr>
              <a:t>具体取值</a:t>
            </a:r>
            <a:r>
              <a:rPr lang="zh-CN" altLang="zh-CN" dirty="0">
                <a:solidFill>
                  <a:srgbClr val="000099"/>
                </a:solidFill>
                <a:latin typeface="Times New Roman" panose="02020603050405020304" pitchFamily="18" charset="0"/>
                <a:hlinkClick r:id="rId14" action="ppaction://hlinksldjump"/>
              </a:rPr>
              <a:t>→</a:t>
            </a:r>
            <a:endParaRPr lang="zh-CN" altLang="en-US" dirty="0">
              <a:solidFill>
                <a:srgbClr val="000099"/>
              </a:solidFill>
              <a:latin typeface="Times New Roman" panose="02020603050405020304" pitchFamily="18" charset="0"/>
            </a:endParaRPr>
          </a:p>
        </p:txBody>
      </p:sp>
      <p:sp>
        <p:nvSpPr>
          <p:cNvPr id="4117"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Rectangle 2"/>
          <p:cNvSpPr>
            <a:spLocks noGrp="1" noChangeArrowheads="1"/>
          </p:cNvSpPr>
          <p:nvPr>
            <p:ph type="title"/>
          </p:nvPr>
        </p:nvSpPr>
        <p:spPr bwMode="auto">
          <a:xfrm>
            <a:off x="3636645" y="271780"/>
            <a:ext cx="5490210" cy="490220"/>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-4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链传动的工作情况分析</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 name="文本框 2"/>
          <p:cNvSpPr txBox="1"/>
          <p:nvPr/>
        </p:nvSpPr>
        <p:spPr>
          <a:xfrm>
            <a:off x="3660140" y="6160770"/>
            <a:ext cx="2599690" cy="429895"/>
          </a:xfrm>
          <a:prstGeom prst="rect">
            <a:avLst/>
          </a:prstGeom>
          <a:noFill/>
        </p:spPr>
        <p:txBody>
          <a:bodyPr wrap="square" rtlCol="0">
            <a:spAutoFit/>
          </a:bodyPr>
          <a:p>
            <a:r>
              <a:rPr lang="zh-CN" altLang="en-US">
                <a:solidFill>
                  <a:srgbClr val="FF0000"/>
                </a:solidFill>
              </a:rPr>
              <a:t>见</a:t>
            </a:r>
            <a:r>
              <a:rPr lang="en-US" altLang="zh-CN">
                <a:solidFill>
                  <a:srgbClr val="FF0000"/>
                </a:solidFill>
              </a:rPr>
              <a:t>P197 </a:t>
            </a:r>
            <a:r>
              <a:rPr lang="zh-CN" altLang="en-US">
                <a:solidFill>
                  <a:srgbClr val="FF0000"/>
                </a:solidFill>
              </a:rPr>
              <a:t>表</a:t>
            </a:r>
            <a:r>
              <a:rPr lang="en-US" altLang="zh-CN">
                <a:solidFill>
                  <a:srgbClr val="FF0000"/>
                </a:solidFill>
              </a:rPr>
              <a:t>3.3-6</a:t>
            </a:r>
            <a:endParaRPr lang="en-US" altLang="zh-CN">
              <a:solidFill>
                <a:srgbClr val="FF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wipe(left)">
                                      <p:cBhvr>
                                        <p:cTn id="7" dur="500"/>
                                        <p:tgtEl>
                                          <p:spTgt spid="153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9"/>
                                        </p:tgtEl>
                                        <p:attrNameLst>
                                          <p:attrName>style.visibility</p:attrName>
                                        </p:attrNameLst>
                                      </p:cBhvr>
                                      <p:to>
                                        <p:strVal val="visible"/>
                                      </p:to>
                                    </p:set>
                                    <p:animEffect transition="in" filter="wipe(left)">
                                      <p:cBhvr>
                                        <p:cTn id="17" dur="500"/>
                                        <p:tgtEl>
                                          <p:spTgt spid="6144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61458"/>
                                        </p:tgtEl>
                                        <p:attrNameLst>
                                          <p:attrName>style.visibility</p:attrName>
                                        </p:attrNameLst>
                                      </p:cBhvr>
                                      <p:to>
                                        <p:strVal val="visible"/>
                                      </p:to>
                                    </p:set>
                                    <p:animEffect transition="in" filter="wipe(left)">
                                      <p:cBhvr>
                                        <p:cTn id="21" dur="500"/>
                                        <p:tgtEl>
                                          <p:spTgt spid="614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1450"/>
                                        </p:tgtEl>
                                        <p:attrNameLst>
                                          <p:attrName>style.visibility</p:attrName>
                                        </p:attrNameLst>
                                      </p:cBhvr>
                                      <p:to>
                                        <p:strVal val="visible"/>
                                      </p:to>
                                    </p:set>
                                    <p:animEffect transition="in" filter="wipe(left)">
                                      <p:cBhvr>
                                        <p:cTn id="26" dur="500"/>
                                        <p:tgtEl>
                                          <p:spTgt spid="6145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61459"/>
                                        </p:tgtEl>
                                        <p:attrNameLst>
                                          <p:attrName>style.visibility</p:attrName>
                                        </p:attrNameLst>
                                      </p:cBhvr>
                                      <p:to>
                                        <p:strVal val="visible"/>
                                      </p:to>
                                    </p:set>
                                    <p:animEffect transition="in" filter="wipe(left)">
                                      <p:cBhvr>
                                        <p:cTn id="30" dur="500"/>
                                        <p:tgtEl>
                                          <p:spTgt spid="6145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1451"/>
                                        </p:tgtEl>
                                        <p:attrNameLst>
                                          <p:attrName>style.visibility</p:attrName>
                                        </p:attrNameLst>
                                      </p:cBhvr>
                                      <p:to>
                                        <p:strVal val="visible"/>
                                      </p:to>
                                    </p:set>
                                    <p:animEffect transition="in" filter="wipe(left)">
                                      <p:cBhvr>
                                        <p:cTn id="35" dur="500"/>
                                        <p:tgtEl>
                                          <p:spTgt spid="61451"/>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1460"/>
                                        </p:tgtEl>
                                        <p:attrNameLst>
                                          <p:attrName>style.visibility</p:attrName>
                                        </p:attrNameLst>
                                      </p:cBhvr>
                                      <p:to>
                                        <p:strVal val="visible"/>
                                      </p:to>
                                    </p:set>
                                    <p:animEffect transition="in" filter="wipe(left)">
                                      <p:cBhvr>
                                        <p:cTn id="39" dur="500"/>
                                        <p:tgtEl>
                                          <p:spTgt spid="6146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1452"/>
                                        </p:tgtEl>
                                        <p:attrNameLst>
                                          <p:attrName>style.visibility</p:attrName>
                                        </p:attrNameLst>
                                      </p:cBhvr>
                                      <p:to>
                                        <p:strVal val="visible"/>
                                      </p:to>
                                    </p:set>
                                    <p:animEffect transition="in" filter="wipe(left)">
                                      <p:cBhvr>
                                        <p:cTn id="44" dur="500"/>
                                        <p:tgtEl>
                                          <p:spTgt spid="61452"/>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61461"/>
                                        </p:tgtEl>
                                        <p:attrNameLst>
                                          <p:attrName>style.visibility</p:attrName>
                                        </p:attrNameLst>
                                      </p:cBhvr>
                                      <p:to>
                                        <p:strVal val="visible"/>
                                      </p:to>
                                    </p:set>
                                    <p:animEffect transition="in" filter="wipe(left)">
                                      <p:cBhvr>
                                        <p:cTn id="48" dur="500"/>
                                        <p:tgtEl>
                                          <p:spTgt spid="6146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1455"/>
                                        </p:tgtEl>
                                        <p:attrNameLst>
                                          <p:attrName>style.visibility</p:attrName>
                                        </p:attrNameLst>
                                      </p:cBhvr>
                                      <p:to>
                                        <p:strVal val="visible"/>
                                      </p:to>
                                    </p:set>
                                    <p:animEffect transition="in" filter="wipe(left)">
                                      <p:cBhvr>
                                        <p:cTn id="53" dur="500"/>
                                        <p:tgtEl>
                                          <p:spTgt spid="61455"/>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69650"/>
                                        </p:tgtEl>
                                        <p:attrNameLst>
                                          <p:attrName>style.visibility</p:attrName>
                                        </p:attrNameLst>
                                      </p:cBhvr>
                                      <p:to>
                                        <p:strVal val="visible"/>
                                      </p:to>
                                    </p:set>
                                    <p:animEffect transition="in" filter="wipe(left)">
                                      <p:cBhvr>
                                        <p:cTn id="57" dur="500"/>
                                        <p:tgtEl>
                                          <p:spTgt spid="6965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210"/>
                                        </p:tgtEl>
                                        <p:attrNameLst>
                                          <p:attrName>style.visibility</p:attrName>
                                        </p:attrNameLst>
                                      </p:cBhvr>
                                      <p:to>
                                        <p:strVal val="visible"/>
                                      </p:to>
                                    </p:set>
                                    <p:animEffect transition="in" filter="wipe(left)">
                                      <p:cBhvr>
                                        <p:cTn id="62" dur="500"/>
                                        <p:tgtEl>
                                          <p:spTgt spid="8210"/>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ipe(left)">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animEffect transition="in" filter="wipe(left)">
                                      <p:cBhvr>
                                        <p:cTn id="7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1449" grpId="0"/>
      <p:bldP spid="61450" grpId="0"/>
      <p:bldP spid="61451" grpId="0"/>
      <p:bldP spid="61452" grpId="0"/>
      <p:bldP spid="8210" grpId="0"/>
      <p:bldP spid="61455" grpId="0"/>
      <p:bldP spid="15365"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4376420" y="180340"/>
            <a:ext cx="4411663" cy="490538"/>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0964" name="标题 9217"/>
          <p:cNvSpPr>
            <a:spLocks noGrp="1" noChangeArrowheads="1"/>
          </p:cNvSpPr>
          <p:nvPr/>
        </p:nvSpPr>
        <p:spPr bwMode="auto">
          <a:xfrm>
            <a:off x="7239000" y="838200"/>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设计计算</a:t>
            </a:r>
            <a:r>
              <a:rPr lang="en-US" altLang="zh-CN" sz="700">
                <a:solidFill>
                  <a:schemeClr val="bg1"/>
                </a:solidFill>
              </a:rPr>
              <a:t>1</a:t>
            </a:r>
            <a:endParaRPr lang="en-US" altLang="zh-CN" sz="700">
              <a:solidFill>
                <a:schemeClr val="bg1"/>
              </a:solidFill>
            </a:endParaRPr>
          </a:p>
        </p:txBody>
      </p:sp>
      <p:sp>
        <p:nvSpPr>
          <p:cNvPr id="9224" name="文本框 9223"/>
          <p:cNvSpPr txBox="1">
            <a:spLocks noChangeArrowheads="1"/>
          </p:cNvSpPr>
          <p:nvPr/>
        </p:nvSpPr>
        <p:spPr bwMode="auto">
          <a:xfrm>
            <a:off x="251520" y="980728"/>
            <a:ext cx="30059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一、链传动的失效形式</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9225" name="文本框 9224"/>
          <p:cNvSpPr txBox="1">
            <a:spLocks noChangeArrowheads="1"/>
          </p:cNvSpPr>
          <p:nvPr/>
        </p:nvSpPr>
        <p:spPr bwMode="auto">
          <a:xfrm>
            <a:off x="251267" y="1312952"/>
            <a:ext cx="8352928" cy="466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pPr>
            <a:r>
              <a:rPr lang="zh-CN" altLang="en-US" sz="2000" dirty="0">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链传动的失效</a:t>
            </a:r>
            <a:r>
              <a:rPr lang="zh-CN" altLang="en-US" dirty="0" smtClean="0">
                <a:solidFill>
                  <a:srgbClr val="000099"/>
                </a:solidFill>
                <a:latin typeface="黑体" panose="02010609060101010101" pitchFamily="49" charset="-122"/>
                <a:ea typeface="黑体" panose="02010609060101010101" pitchFamily="49" charset="-122"/>
              </a:rPr>
              <a:t>形式：</a:t>
            </a:r>
            <a:endParaRPr lang="en-US" altLang="zh-CN" dirty="0" smtClean="0">
              <a:solidFill>
                <a:srgbClr val="000099"/>
              </a:solidFill>
              <a:latin typeface="黑体" panose="02010609060101010101" pitchFamily="49" charset="-122"/>
              <a:ea typeface="黑体" panose="02010609060101010101" pitchFamily="49" charset="-122"/>
            </a:endParaRPr>
          </a:p>
          <a:p>
            <a:pPr eaLnBrk="1" hangingPunct="1">
              <a:lnSpc>
                <a:spcPct val="150000"/>
              </a:lnSpc>
            </a:pPr>
            <a:r>
              <a:rPr lang="en-US" altLang="zh-CN" dirty="0">
                <a:solidFill>
                  <a:srgbClr val="000099"/>
                </a:solidFill>
                <a:latin typeface="黑体" panose="02010609060101010101" pitchFamily="49" charset="-122"/>
                <a:ea typeface="黑体" panose="02010609060101010101" pitchFamily="49" charset="-122"/>
              </a:rPr>
              <a:t> </a:t>
            </a:r>
            <a:r>
              <a:rPr lang="en-US" altLang="zh-CN" dirty="0" smtClean="0">
                <a:solidFill>
                  <a:srgbClr val="000099"/>
                </a:solidFill>
                <a:latin typeface="黑体" panose="02010609060101010101" pitchFamily="49" charset="-122"/>
                <a:ea typeface="黑体" panose="02010609060101010101" pitchFamily="49" charset="-122"/>
              </a:rPr>
              <a:t>   </a:t>
            </a:r>
            <a:r>
              <a:rPr lang="en-US" altLang="zh-CN" dirty="0" smtClean="0">
                <a:solidFill>
                  <a:srgbClr val="0000FF"/>
                </a:solidFill>
                <a:latin typeface="黑体" panose="02010609060101010101" pitchFamily="49" charset="-122"/>
                <a:ea typeface="黑体" panose="02010609060101010101" pitchFamily="49" charset="-122"/>
              </a:rPr>
              <a:t>1</a:t>
            </a:r>
            <a:r>
              <a:rPr lang="zh-CN" altLang="en-US" dirty="0" smtClean="0">
                <a:solidFill>
                  <a:srgbClr val="0000FF"/>
                </a:solidFill>
                <a:latin typeface="黑体" panose="02010609060101010101" pitchFamily="49" charset="-122"/>
                <a:ea typeface="黑体" panose="02010609060101010101" pitchFamily="49" charset="-122"/>
              </a:rPr>
              <a:t>、链条的</a:t>
            </a:r>
            <a:r>
              <a:rPr lang="zh-CN" altLang="en-US" dirty="0">
                <a:solidFill>
                  <a:srgbClr val="0000FF"/>
                </a:solidFill>
                <a:latin typeface="黑体" panose="02010609060101010101" pitchFamily="49" charset="-122"/>
                <a:ea typeface="黑体" panose="02010609060101010101" pitchFamily="49" charset="-122"/>
              </a:rPr>
              <a:t>疲劳破</a:t>
            </a:r>
            <a:r>
              <a:rPr lang="zh-CN" altLang="en-US" dirty="0" smtClean="0">
                <a:solidFill>
                  <a:srgbClr val="0000FF"/>
                </a:solidFill>
                <a:latin typeface="黑体" panose="02010609060101010101" pitchFamily="49" charset="-122"/>
                <a:ea typeface="黑体" panose="02010609060101010101" pitchFamily="49" charset="-122"/>
              </a:rPr>
              <a:t>环：</a:t>
            </a:r>
            <a:r>
              <a:rPr lang="zh-CN" altLang="en-US" dirty="0" smtClean="0">
                <a:solidFill>
                  <a:srgbClr val="002060"/>
                </a:solidFill>
                <a:latin typeface="黑体" panose="02010609060101010101" pitchFamily="49" charset="-122"/>
                <a:ea typeface="黑体" panose="02010609060101010101" pitchFamily="49" charset="-122"/>
              </a:rPr>
              <a:t>中低速闭式链传动中</a:t>
            </a:r>
            <a:r>
              <a:rPr lang="zh-CN" altLang="en-US" dirty="0" smtClean="0">
                <a:solidFill>
                  <a:srgbClr val="FF0000"/>
                </a:solidFill>
                <a:latin typeface="黑体" panose="02010609060101010101" pitchFamily="49" charset="-122"/>
                <a:ea typeface="黑体" panose="02010609060101010101" pitchFamily="49" charset="-122"/>
              </a:rPr>
              <a:t>链板</a:t>
            </a:r>
            <a:r>
              <a:rPr lang="zh-CN" altLang="en-US" dirty="0" smtClean="0">
                <a:solidFill>
                  <a:srgbClr val="002060"/>
                </a:solidFill>
                <a:latin typeface="黑体" panose="02010609060101010101" pitchFamily="49" charset="-122"/>
                <a:ea typeface="黑体" panose="02010609060101010101" pitchFamily="49" charset="-122"/>
              </a:rPr>
              <a:t>发生疲劳断裂，</a:t>
            </a:r>
            <a:r>
              <a:rPr lang="en-US" altLang="zh-CN" dirty="0" smtClean="0">
                <a:solidFill>
                  <a:srgbClr val="002060"/>
                </a:solidFill>
                <a:latin typeface="黑体" panose="02010609060101010101" pitchFamily="49" charset="-122"/>
                <a:ea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rPr>
              <a:t>中高速闭式链传动中</a:t>
            </a:r>
            <a:r>
              <a:rPr lang="zh-CN" altLang="en-US" dirty="0" smtClean="0">
                <a:solidFill>
                  <a:srgbClr val="FF0000"/>
                </a:solidFill>
                <a:latin typeface="黑体" panose="02010609060101010101" pitchFamily="49" charset="-122"/>
                <a:ea typeface="黑体" panose="02010609060101010101" pitchFamily="49" charset="-122"/>
              </a:rPr>
              <a:t>滚子表面</a:t>
            </a:r>
            <a:r>
              <a:rPr lang="zh-CN" altLang="en-US" dirty="0" smtClean="0">
                <a:solidFill>
                  <a:srgbClr val="002060"/>
                </a:solidFill>
                <a:latin typeface="黑体" panose="02010609060101010101" pitchFamily="49" charset="-122"/>
                <a:ea typeface="黑体" panose="02010609060101010101" pitchFamily="49" charset="-122"/>
              </a:rPr>
              <a:t>发生疲劳点蚀和裂纹。</a:t>
            </a:r>
            <a:endParaRPr lang="en-US" altLang="zh-CN" dirty="0" smtClean="0">
              <a:solidFill>
                <a:srgbClr val="002060"/>
              </a:solidFill>
              <a:latin typeface="黑体" panose="02010609060101010101" pitchFamily="49" charset="-122"/>
              <a:ea typeface="黑体" panose="02010609060101010101" pitchFamily="49" charset="-122"/>
            </a:endParaRPr>
          </a:p>
          <a:p>
            <a:pPr eaLnBrk="1" hangingPunct="1">
              <a:lnSpc>
                <a:spcPct val="150000"/>
              </a:lnSpc>
            </a:pPr>
            <a:r>
              <a:rPr lang="zh-CN" altLang="en-US" dirty="0" smtClean="0">
                <a:solidFill>
                  <a:srgbClr val="0000FF"/>
                </a:solidFill>
                <a:latin typeface="黑体" panose="02010609060101010101" pitchFamily="49" charset="-122"/>
                <a:ea typeface="黑体" panose="02010609060101010101" pitchFamily="49" charset="-122"/>
              </a:rPr>
              <a:t>    </a:t>
            </a:r>
            <a:r>
              <a:rPr lang="en-US" altLang="zh-CN" dirty="0" smtClean="0">
                <a:solidFill>
                  <a:srgbClr val="0000FF"/>
                </a:solidFill>
                <a:latin typeface="黑体" panose="02010609060101010101" pitchFamily="49" charset="-122"/>
                <a:ea typeface="黑体" panose="02010609060101010101" pitchFamily="49" charset="-122"/>
              </a:rPr>
              <a:t>2</a:t>
            </a:r>
            <a:r>
              <a:rPr lang="zh-CN" altLang="en-US" dirty="0" smtClean="0">
                <a:solidFill>
                  <a:srgbClr val="0000FF"/>
                </a:solidFill>
                <a:latin typeface="黑体" panose="02010609060101010101" pitchFamily="49" charset="-122"/>
                <a:ea typeface="黑体" panose="02010609060101010101" pitchFamily="49" charset="-122"/>
              </a:rPr>
              <a:t>、链条</a:t>
            </a:r>
            <a:r>
              <a:rPr lang="zh-CN" altLang="en-US" dirty="0">
                <a:solidFill>
                  <a:srgbClr val="0000FF"/>
                </a:solidFill>
                <a:latin typeface="黑体" panose="02010609060101010101" pitchFamily="49" charset="-122"/>
                <a:ea typeface="黑体" panose="02010609060101010101" pitchFamily="49" charset="-122"/>
              </a:rPr>
              <a:t>铰链的</a:t>
            </a:r>
            <a:r>
              <a:rPr lang="zh-CN" altLang="en-US" dirty="0" smtClean="0">
                <a:solidFill>
                  <a:srgbClr val="0000FF"/>
                </a:solidFill>
                <a:latin typeface="黑体" panose="02010609060101010101" pitchFamily="49" charset="-122"/>
                <a:ea typeface="黑体" panose="02010609060101010101" pitchFamily="49" charset="-122"/>
              </a:rPr>
              <a:t>磨损：</a:t>
            </a:r>
            <a:r>
              <a:rPr lang="zh-CN" altLang="en-US" dirty="0" smtClean="0">
                <a:solidFill>
                  <a:srgbClr val="002060"/>
                </a:solidFill>
                <a:latin typeface="黑体" panose="02010609060101010101" pitchFamily="49" charset="-122"/>
                <a:ea typeface="黑体" panose="02010609060101010101" pitchFamily="49" charset="-122"/>
              </a:rPr>
              <a:t>链节距变长、垂度变大、动载荷加大，</a:t>
            </a:r>
            <a:r>
              <a:rPr lang="en-US" altLang="zh-CN" dirty="0" smtClean="0">
                <a:solidFill>
                  <a:srgbClr val="002060"/>
                </a:solidFill>
                <a:latin typeface="黑体" panose="02010609060101010101" pitchFamily="49" charset="-122"/>
                <a:ea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rPr>
              <a:t>易引起跳齿或脱链，磨损主要发生在</a:t>
            </a:r>
            <a:r>
              <a:rPr lang="zh-CN" altLang="en-US" dirty="0" smtClean="0">
                <a:solidFill>
                  <a:srgbClr val="FF0000"/>
                </a:solidFill>
                <a:latin typeface="黑体" panose="02010609060101010101" pitchFamily="49" charset="-122"/>
                <a:ea typeface="黑体" panose="02010609060101010101" pitchFamily="49" charset="-122"/>
              </a:rPr>
              <a:t>销轴</a:t>
            </a:r>
            <a:r>
              <a:rPr lang="zh-CN" altLang="en-US" dirty="0" smtClean="0">
                <a:solidFill>
                  <a:schemeClr val="accent4">
                    <a:lumMod val="50000"/>
                  </a:schemeClr>
                </a:solidFill>
                <a:latin typeface="黑体" panose="02010609060101010101" pitchFamily="49" charset="-122"/>
                <a:ea typeface="黑体" panose="02010609060101010101" pitchFamily="49" charset="-122"/>
              </a:rPr>
              <a:t>和</a:t>
            </a:r>
            <a:r>
              <a:rPr lang="zh-CN" altLang="en-US" dirty="0" smtClean="0">
                <a:solidFill>
                  <a:srgbClr val="FF0000"/>
                </a:solidFill>
                <a:latin typeface="黑体" panose="02010609060101010101" pitchFamily="49" charset="-122"/>
                <a:ea typeface="黑体" panose="02010609060101010101" pitchFamily="49" charset="-122"/>
              </a:rPr>
              <a:t>套筒</a:t>
            </a:r>
            <a:r>
              <a:rPr lang="zh-CN" altLang="en-US" dirty="0" smtClean="0">
                <a:solidFill>
                  <a:srgbClr val="002060"/>
                </a:solidFill>
                <a:latin typeface="黑体" panose="02010609060101010101" pitchFamily="49" charset="-122"/>
                <a:ea typeface="黑体" panose="02010609060101010101" pitchFamily="49" charset="-122"/>
              </a:rPr>
              <a:t>间</a:t>
            </a:r>
            <a:r>
              <a:rPr lang="en-US" altLang="zh-CN" dirty="0" smtClean="0">
                <a:solidFill>
                  <a:srgbClr val="002060"/>
                </a:solidFill>
                <a:latin typeface="黑体" panose="02010609060101010101" pitchFamily="49" charset="-122"/>
                <a:ea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rPr>
              <a:t>的承压表面上。</a:t>
            </a:r>
            <a:endParaRPr lang="en-US" altLang="zh-CN" dirty="0" smtClean="0">
              <a:solidFill>
                <a:srgbClr val="002060"/>
              </a:solidFill>
              <a:latin typeface="黑体" panose="02010609060101010101" pitchFamily="49" charset="-122"/>
              <a:ea typeface="黑体" panose="02010609060101010101" pitchFamily="49" charset="-122"/>
            </a:endParaRPr>
          </a:p>
          <a:p>
            <a:pPr eaLnBrk="1" hangingPunct="1">
              <a:lnSpc>
                <a:spcPct val="150000"/>
              </a:lnSpc>
            </a:pPr>
            <a:r>
              <a:rPr lang="en-US" altLang="zh-CN" dirty="0">
                <a:solidFill>
                  <a:srgbClr val="0000FF"/>
                </a:solidFill>
                <a:latin typeface="黑体" panose="02010609060101010101" pitchFamily="49" charset="-122"/>
                <a:ea typeface="黑体" panose="02010609060101010101" pitchFamily="49" charset="-122"/>
              </a:rPr>
              <a:t> </a:t>
            </a:r>
            <a:r>
              <a:rPr lang="en-US" altLang="zh-CN" dirty="0" smtClean="0">
                <a:solidFill>
                  <a:srgbClr val="0000FF"/>
                </a:solidFill>
                <a:latin typeface="黑体" panose="02010609060101010101" pitchFamily="49" charset="-122"/>
                <a:ea typeface="黑体" panose="02010609060101010101" pitchFamily="49" charset="-122"/>
              </a:rPr>
              <a:t>   3</a:t>
            </a:r>
            <a:r>
              <a:rPr lang="zh-CN" altLang="en-US" dirty="0" smtClean="0">
                <a:solidFill>
                  <a:srgbClr val="0000FF"/>
                </a:solidFill>
                <a:latin typeface="黑体" panose="02010609060101010101" pitchFamily="49" charset="-122"/>
                <a:ea typeface="黑体" panose="02010609060101010101" pitchFamily="49" charset="-122"/>
              </a:rPr>
              <a:t>、链条</a:t>
            </a:r>
            <a:r>
              <a:rPr lang="zh-CN" altLang="en-US" dirty="0">
                <a:solidFill>
                  <a:srgbClr val="0000FF"/>
                </a:solidFill>
                <a:latin typeface="黑体" panose="02010609060101010101" pitchFamily="49" charset="-122"/>
                <a:ea typeface="黑体" panose="02010609060101010101" pitchFamily="49" charset="-122"/>
              </a:rPr>
              <a:t>铰链的</a:t>
            </a:r>
            <a:r>
              <a:rPr lang="zh-CN" altLang="en-US" dirty="0" smtClean="0">
                <a:solidFill>
                  <a:srgbClr val="0000FF"/>
                </a:solidFill>
                <a:latin typeface="黑体" panose="02010609060101010101" pitchFamily="49" charset="-122"/>
                <a:ea typeface="黑体" panose="02010609060101010101" pitchFamily="49" charset="-122"/>
              </a:rPr>
              <a:t>胶合：</a:t>
            </a:r>
            <a:r>
              <a:rPr lang="zh-CN" altLang="en-US" dirty="0" smtClean="0">
                <a:solidFill>
                  <a:srgbClr val="002060"/>
                </a:solidFill>
                <a:latin typeface="黑体" panose="02010609060101010101" pitchFamily="49" charset="-122"/>
                <a:ea typeface="黑体" panose="02010609060101010101" pitchFamily="49" charset="-122"/>
              </a:rPr>
              <a:t>在润滑不当或链速过高时，</a:t>
            </a:r>
            <a:r>
              <a:rPr lang="zh-CN" altLang="en-US" dirty="0">
                <a:solidFill>
                  <a:srgbClr val="FF0000"/>
                </a:solidFill>
                <a:latin typeface="黑体" panose="02010609060101010101" pitchFamily="49" charset="-122"/>
                <a:ea typeface="黑体" panose="02010609060101010101" pitchFamily="49" charset="-122"/>
              </a:rPr>
              <a:t>销轴套筒</a:t>
            </a:r>
            <a:r>
              <a:rPr lang="zh-CN" altLang="en-US" dirty="0" smtClean="0">
                <a:solidFill>
                  <a:srgbClr val="FF0000"/>
                </a:solidFill>
                <a:latin typeface="黑体" panose="02010609060101010101" pitchFamily="49" charset="-122"/>
                <a:ea typeface="黑体" panose="02010609060101010101" pitchFamily="49" charset="-122"/>
              </a:rPr>
              <a:t>间</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产生</a:t>
            </a:r>
            <a:r>
              <a:rPr lang="zh-CN" altLang="en-US" dirty="0">
                <a:latin typeface="黑体" panose="02010609060101010101" pitchFamily="49" charset="-122"/>
                <a:ea typeface="黑体" panose="02010609060101010101" pitchFamily="49" charset="-122"/>
              </a:rPr>
              <a:t>胶合</a:t>
            </a:r>
            <a:r>
              <a:rPr lang="zh-CN" altLang="en-US" dirty="0" smtClean="0">
                <a:solidFill>
                  <a:srgbClr val="002060"/>
                </a:solidFill>
                <a:latin typeface="黑体" panose="02010609060101010101" pitchFamily="49" charset="-122"/>
                <a:ea typeface="黑体" panose="02010609060101010101" pitchFamily="49" charset="-122"/>
              </a:rPr>
              <a:t>易发生胶合。</a:t>
            </a:r>
            <a:endParaRPr lang="en-US" altLang="zh-CN" dirty="0">
              <a:solidFill>
                <a:srgbClr val="002060"/>
              </a:solidFill>
              <a:latin typeface="黑体" panose="02010609060101010101" pitchFamily="49" charset="-122"/>
              <a:ea typeface="黑体" panose="02010609060101010101" pitchFamily="49" charset="-122"/>
            </a:endParaRPr>
          </a:p>
          <a:p>
            <a:pPr eaLnBrk="1" hangingPunct="1">
              <a:lnSpc>
                <a:spcPct val="150000"/>
              </a:lnSpc>
            </a:pPr>
            <a:r>
              <a:rPr lang="zh-CN" altLang="en-US" dirty="0" smtClean="0">
                <a:solidFill>
                  <a:srgbClr val="0000FF"/>
                </a:solidFill>
                <a:latin typeface="黑体" panose="02010609060101010101" pitchFamily="49" charset="-122"/>
                <a:ea typeface="黑体" panose="02010609060101010101" pitchFamily="49" charset="-122"/>
              </a:rPr>
              <a:t>    </a:t>
            </a:r>
            <a:r>
              <a:rPr lang="en-US" altLang="zh-CN" dirty="0" smtClean="0">
                <a:solidFill>
                  <a:srgbClr val="0000FF"/>
                </a:solidFill>
                <a:latin typeface="黑体" panose="02010609060101010101" pitchFamily="49" charset="-122"/>
                <a:ea typeface="黑体" panose="02010609060101010101" pitchFamily="49" charset="-122"/>
              </a:rPr>
              <a:t>4</a:t>
            </a:r>
            <a:r>
              <a:rPr lang="zh-CN" altLang="en-US" dirty="0" smtClean="0">
                <a:solidFill>
                  <a:srgbClr val="0000FF"/>
                </a:solidFill>
                <a:latin typeface="黑体" panose="02010609060101010101" pitchFamily="49" charset="-122"/>
                <a:ea typeface="黑体" panose="02010609060101010101" pitchFamily="49" charset="-122"/>
              </a:rPr>
              <a:t>、链条</a:t>
            </a:r>
            <a:r>
              <a:rPr lang="zh-CN" altLang="en-US" dirty="0">
                <a:solidFill>
                  <a:srgbClr val="0000FF"/>
                </a:solidFill>
                <a:latin typeface="黑体" panose="02010609060101010101" pitchFamily="49" charset="-122"/>
                <a:ea typeface="黑体" panose="02010609060101010101" pitchFamily="49" charset="-122"/>
              </a:rPr>
              <a:t>的静力</a:t>
            </a:r>
            <a:r>
              <a:rPr lang="zh-CN" altLang="en-US" dirty="0" smtClean="0">
                <a:solidFill>
                  <a:srgbClr val="0000FF"/>
                </a:solidFill>
                <a:latin typeface="黑体" panose="02010609060101010101" pitchFamily="49" charset="-122"/>
                <a:ea typeface="黑体" panose="02010609060101010101" pitchFamily="49" charset="-122"/>
              </a:rPr>
              <a:t>拉断：</a:t>
            </a:r>
            <a:r>
              <a:rPr lang="zh-CN" altLang="en-US" dirty="0" smtClean="0">
                <a:solidFill>
                  <a:srgbClr val="002060"/>
                </a:solidFill>
                <a:latin typeface="黑体" panose="02010609060101010101" pitchFamily="49" charset="-122"/>
                <a:ea typeface="黑体" panose="02010609060101010101" pitchFamily="49" charset="-122"/>
              </a:rPr>
              <a:t>发生在低速重载或严重过载的传动中。</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4097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wipe(left)">
                                      <p:cBhvr>
                                        <p:cTn id="7" dur="500"/>
                                        <p:tgtEl>
                                          <p:spTgt spid="92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25">
                                            <p:txEl>
                                              <p:pRg st="1" end="1"/>
                                            </p:txEl>
                                          </p:spTgt>
                                        </p:tgtEl>
                                        <p:attrNameLst>
                                          <p:attrName>style.visibility</p:attrName>
                                        </p:attrNameLst>
                                      </p:cBhvr>
                                      <p:to>
                                        <p:strVal val="visible"/>
                                      </p:to>
                                    </p:set>
                                    <p:animEffect transition="in" filter="wipe(left)">
                                      <p:cBhvr>
                                        <p:cTn id="12" dur="500"/>
                                        <p:tgtEl>
                                          <p:spTgt spid="92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25">
                                            <p:txEl>
                                              <p:pRg st="2" end="2"/>
                                            </p:txEl>
                                          </p:spTgt>
                                        </p:tgtEl>
                                        <p:attrNameLst>
                                          <p:attrName>style.visibility</p:attrName>
                                        </p:attrNameLst>
                                      </p:cBhvr>
                                      <p:to>
                                        <p:strVal val="visible"/>
                                      </p:to>
                                    </p:set>
                                    <p:animEffect transition="in" filter="wipe(left)">
                                      <p:cBhvr>
                                        <p:cTn id="17" dur="500"/>
                                        <p:tgtEl>
                                          <p:spTgt spid="92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225">
                                            <p:txEl>
                                              <p:pRg st="3" end="3"/>
                                            </p:txEl>
                                          </p:spTgt>
                                        </p:tgtEl>
                                        <p:attrNameLst>
                                          <p:attrName>style.visibility</p:attrName>
                                        </p:attrNameLst>
                                      </p:cBhvr>
                                      <p:to>
                                        <p:strVal val="visible"/>
                                      </p:to>
                                    </p:set>
                                    <p:animEffect transition="in" filter="wipe(left)">
                                      <p:cBhvr>
                                        <p:cTn id="22" dur="500"/>
                                        <p:tgtEl>
                                          <p:spTgt spid="922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225">
                                            <p:txEl>
                                              <p:pRg st="4" end="4"/>
                                            </p:txEl>
                                          </p:spTgt>
                                        </p:tgtEl>
                                        <p:attrNameLst>
                                          <p:attrName>style.visibility</p:attrName>
                                        </p:attrNameLst>
                                      </p:cBhvr>
                                      <p:to>
                                        <p:strVal val="visible"/>
                                      </p:to>
                                    </p:set>
                                    <p:animEffect transition="in" filter="wipe(left)">
                                      <p:cBhvr>
                                        <p:cTn id="27" dur="500"/>
                                        <p:tgtEl>
                                          <p:spTgt spid="92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36"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311015" y="150495"/>
            <a:ext cx="4411663" cy="490538"/>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0964" name="标题 9217"/>
          <p:cNvSpPr>
            <a:spLocks noGrp="1" noChangeArrowheads="1"/>
          </p:cNvSpPr>
          <p:nvPr/>
        </p:nvSpPr>
        <p:spPr bwMode="auto">
          <a:xfrm>
            <a:off x="7239000" y="838200"/>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700">
                <a:solidFill>
                  <a:schemeClr val="bg1"/>
                </a:solidFill>
              </a:rPr>
              <a:t>设计计算</a:t>
            </a:r>
            <a:r>
              <a:rPr lang="en-US" altLang="zh-CN" sz="700">
                <a:solidFill>
                  <a:schemeClr val="bg1"/>
                </a:solidFill>
              </a:rPr>
              <a:t>1</a:t>
            </a:r>
            <a:endParaRPr lang="en-US" altLang="zh-CN" sz="700">
              <a:solidFill>
                <a:schemeClr val="bg1"/>
              </a:solidFill>
            </a:endParaRPr>
          </a:p>
        </p:txBody>
      </p:sp>
      <p:sp>
        <p:nvSpPr>
          <p:cNvPr id="2" name="文本框 1"/>
          <p:cNvSpPr txBox="1">
            <a:spLocks noChangeArrowheads="1"/>
          </p:cNvSpPr>
          <p:nvPr/>
        </p:nvSpPr>
        <p:spPr bwMode="auto">
          <a:xfrm>
            <a:off x="179512" y="980728"/>
            <a:ext cx="35702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二、滚子链传动的额定功率</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00" name="文本框 99"/>
          <p:cNvSpPr txBox="1">
            <a:spLocks noChangeArrowheads="1"/>
          </p:cNvSpPr>
          <p:nvPr/>
        </p:nvSpPr>
        <p:spPr bwMode="auto">
          <a:xfrm>
            <a:off x="323528" y="2060848"/>
            <a:ext cx="40751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zh-CN" altLang="en-US" sz="2000" dirty="0">
                <a:solidFill>
                  <a:schemeClr val="accent5">
                    <a:lumMod val="10000"/>
                  </a:schemeClr>
                </a:solidFill>
                <a:latin typeface="黑体" panose="02010609060101010101" pitchFamily="49" charset="-122"/>
                <a:ea typeface="黑体" panose="02010609060101010101" pitchFamily="49" charset="-122"/>
              </a:rPr>
              <a:t>由标准实验条件下单排链的极限功率曲线示意图可见：</a:t>
            </a:r>
            <a:endParaRPr lang="zh-CN" altLang="en-US" sz="2000" dirty="0">
              <a:solidFill>
                <a:schemeClr val="accent5">
                  <a:lumMod val="10000"/>
                </a:schemeClr>
              </a:solidFill>
              <a:latin typeface="黑体" panose="02010609060101010101" pitchFamily="49" charset="-122"/>
              <a:ea typeface="黑体" panose="02010609060101010101" pitchFamily="49" charset="-122"/>
            </a:endParaRPr>
          </a:p>
        </p:txBody>
      </p:sp>
      <p:sp>
        <p:nvSpPr>
          <p:cNvPr id="3" name="文本框 2"/>
          <p:cNvSpPr txBox="1">
            <a:spLocks noChangeArrowheads="1"/>
          </p:cNvSpPr>
          <p:nvPr/>
        </p:nvSpPr>
        <p:spPr bwMode="auto">
          <a:xfrm>
            <a:off x="251520" y="5301208"/>
            <a:ext cx="82026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en-US" altLang="zh-CN"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3</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）转速越高，传动能力就越低，若超过</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曲线</a:t>
            </a:r>
            <a:r>
              <a:rPr lang="en-US" altLang="zh-CN" sz="2000" dirty="0">
                <a:solidFill>
                  <a:srgbClr val="FF3300"/>
                </a:solidFill>
                <a:latin typeface="黑体" panose="02010609060101010101" pitchFamily="49" charset="-122"/>
                <a:ea typeface="黑体" panose="02010609060101010101" pitchFamily="49" charset="-122"/>
                <a:cs typeface="黑体" panose="02010609060101010101" pitchFamily="49" charset="-122"/>
              </a:rPr>
              <a:t>4</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铰链胶合限定</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的极限功率，则链条将迅速失效。</a:t>
            </a:r>
            <a:endPar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a:spLocks noChangeArrowheads="1"/>
          </p:cNvSpPr>
          <p:nvPr/>
        </p:nvSpPr>
        <p:spPr bwMode="auto">
          <a:xfrm>
            <a:off x="251520" y="4437112"/>
            <a:ext cx="82042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en-US" altLang="zh-CN"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）随着转速增高，链传动的多边形效应增大，传动能力主要取决于</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曲线</a:t>
            </a:r>
            <a:r>
              <a:rPr lang="en-US" altLang="zh-CN" sz="2000" dirty="0">
                <a:solidFill>
                  <a:srgbClr val="FF3300"/>
                </a:solidFill>
                <a:latin typeface="黑体" panose="02010609060101010101" pitchFamily="49" charset="-122"/>
                <a:ea typeface="黑体" panose="02010609060101010101" pitchFamily="49" charset="-122"/>
                <a:cs typeface="黑体" panose="02010609060101010101" pitchFamily="49" charset="-122"/>
              </a:rPr>
              <a:t>3</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套筒、滚子冲击疲劳强度限定</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的极限功率</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a:spLocks noChangeArrowheads="1"/>
          </p:cNvSpPr>
          <p:nvPr/>
        </p:nvSpPr>
        <p:spPr bwMode="auto">
          <a:xfrm>
            <a:off x="251520" y="2852936"/>
            <a:ext cx="4059238"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en-US" altLang="zh-CN"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1</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）在润滑良好、中等速度的链传动中，链传动的承载能力主要取决于</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曲线</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1</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铰链磨损</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和</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曲线</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rgbClr val="FF3300"/>
                </a:solidFill>
                <a:latin typeface="黑体" panose="02010609060101010101" pitchFamily="49" charset="-122"/>
                <a:ea typeface="黑体" panose="02010609060101010101" pitchFamily="49" charset="-122"/>
                <a:cs typeface="黑体" panose="02010609060101010101" pitchFamily="49" charset="-122"/>
              </a:rPr>
              <a:t>链板的疲劳强度限定</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的极限功率</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8" name="文本框 7"/>
          <p:cNvSpPr txBox="1">
            <a:spLocks noChangeArrowheads="1"/>
          </p:cNvSpPr>
          <p:nvPr/>
        </p:nvSpPr>
        <p:spPr bwMode="auto">
          <a:xfrm>
            <a:off x="467544" y="1556792"/>
            <a:ext cx="230063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0000FF"/>
                </a:solidFill>
                <a:latin typeface="黑体" panose="02010609060101010101" pitchFamily="49" charset="-122"/>
                <a:ea typeface="黑体" panose="02010609060101010101" pitchFamily="49" charset="-122"/>
              </a:rPr>
              <a:t>1</a:t>
            </a:r>
            <a:r>
              <a:rPr lang="zh-CN" altLang="en-US" dirty="0">
                <a:solidFill>
                  <a:srgbClr val="0000FF"/>
                </a:solidFill>
                <a:latin typeface="黑体" panose="02010609060101010101" pitchFamily="49" charset="-122"/>
                <a:ea typeface="黑体" panose="02010609060101010101" pitchFamily="49" charset="-122"/>
              </a:rPr>
              <a:t>、极限功率曲线</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46095"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966247"/>
            <a:ext cx="4303713"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Picture 34" descr="rewind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35" descr="back1">
            <a:hlinkClick r:id="" action="ppaction://hlinkshowjump?jump=previous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6"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5786120" y="3441700"/>
            <a:ext cx="2936875" cy="645160"/>
          </a:xfrm>
          <a:prstGeom prst="rect">
            <a:avLst/>
          </a:prstGeom>
          <a:noFill/>
        </p:spPr>
        <p:txBody>
          <a:bodyPr wrap="square" rtlCol="0">
            <a:spAutoFit/>
          </a:bodyPr>
          <a:p>
            <a:pPr algn="ctr"/>
            <a:r>
              <a:rPr lang="zh-CN" altLang="en-US" sz="1800">
                <a:solidFill>
                  <a:schemeClr val="tx2">
                    <a:lumMod val="60000"/>
                    <a:lumOff val="40000"/>
                  </a:schemeClr>
                </a:solidFill>
                <a:latin typeface="黑体" panose="02010609060101010101" pitchFamily="49" charset="-122"/>
                <a:ea typeface="黑体" panose="02010609060101010101" pitchFamily="49" charset="-122"/>
              </a:rPr>
              <a:t>单排链各种失效形式的极限功率曲线示意图</a:t>
            </a:r>
            <a:endParaRPr lang="zh-CN" altLang="en-US" sz="1800">
              <a:solidFill>
                <a:schemeClr val="tx2">
                  <a:lumMod val="60000"/>
                  <a:lumOff val="40000"/>
                </a:schemeClr>
              </a:solidFill>
              <a:latin typeface="黑体" panose="02010609060101010101" pitchFamily="49" charset="-122"/>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460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0"/>
                                        </p:tgtEl>
                                        <p:attrNameLst>
                                          <p:attrName>style.visibility</p:attrName>
                                        </p:attrNameLst>
                                      </p:cBhvr>
                                      <p:to>
                                        <p:strVal val="visible"/>
                                      </p:to>
                                    </p:set>
                                    <p:animEffect transition="in" filter="wipe(left)">
                                      <p:cBhvr>
                                        <p:cTn id="25" dur="500"/>
                                        <p:tgtEl>
                                          <p:spTgt spid="100"/>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0" grpId="0"/>
      <p:bldP spid="3" grpId="0"/>
      <p:bldP spid="5" grpId="0"/>
      <p:bldP spid="7" grpId="0"/>
      <p:bldP spid="8"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8150" name="图片 518149" descr="t5-15"/>
          <p:cNvPicPr>
            <a:picLocks noChangeAspect="1"/>
          </p:cNvPicPr>
          <p:nvPr/>
        </p:nvPicPr>
        <p:blipFill>
          <a:blip r:embed="rId1"/>
          <a:stretch>
            <a:fillRect/>
          </a:stretch>
        </p:blipFill>
        <p:spPr>
          <a:xfrm>
            <a:off x="2757488" y="2878455"/>
            <a:ext cx="4095750" cy="3221038"/>
          </a:xfrm>
          <a:prstGeom prst="rect">
            <a:avLst/>
          </a:prstGeom>
          <a:noFill/>
          <a:ln w="9525">
            <a:noFill/>
          </a:ln>
        </p:spPr>
      </p:pic>
      <p:sp>
        <p:nvSpPr>
          <p:cNvPr id="518151" name="文本框 518150"/>
          <p:cNvSpPr txBox="1"/>
          <p:nvPr/>
        </p:nvSpPr>
        <p:spPr>
          <a:xfrm>
            <a:off x="847725" y="914400"/>
            <a:ext cx="7543800" cy="457200"/>
          </a:xfrm>
          <a:prstGeom prst="rect">
            <a:avLst/>
          </a:prstGeom>
          <a:noFill/>
          <a:ln w="38100">
            <a:noFill/>
          </a:ln>
        </p:spPr>
        <p:txBody>
          <a:bodyPr>
            <a:spAutoFit/>
          </a:bodyPr>
          <a:p>
            <a:r>
              <a:rPr lang="zh-CN" altLang="en-US" dirty="0">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rPr>
              <a:t>各种失效形式限定了链传动所能传递的极限功率的范围</a:t>
            </a:r>
            <a:endParaRPr lang="zh-CN" altLang="en-US">
              <a:solidFill>
                <a:srgbClr val="0000FF"/>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518152" name="文本框 518151"/>
          <p:cNvSpPr txBox="1"/>
          <p:nvPr/>
        </p:nvSpPr>
        <p:spPr>
          <a:xfrm>
            <a:off x="1066800" y="1371600"/>
            <a:ext cx="2667000" cy="457200"/>
          </a:xfrm>
          <a:prstGeom prst="rect">
            <a:avLst/>
          </a:prstGeom>
          <a:noFill/>
          <a:ln w="38100">
            <a:noFill/>
          </a:ln>
        </p:spPr>
        <p:txBody>
          <a:bodyPr>
            <a:spAutoFit/>
          </a:bodyPr>
          <a:p>
            <a:r>
              <a:rPr lang="zh-CN" altLang="en-US" dirty="0">
                <a:latin typeface="Times New Roman" panose="02020603050405020304" pitchFamily="18" charset="0"/>
                <a:ea typeface="黑体" panose="02010609060101010101" pitchFamily="49" charset="-122"/>
              </a:rPr>
              <a:t>俗称“帐篷曲线”</a:t>
            </a:r>
            <a:endParaRPr lang="zh-CN" altLang="en-US">
              <a:latin typeface="Times New Roman" panose="02020603050405020304" pitchFamily="18" charset="0"/>
              <a:ea typeface="黑体" panose="02010609060101010101" pitchFamily="49" charset="-122"/>
            </a:endParaRPr>
          </a:p>
        </p:txBody>
      </p:sp>
      <p:sp>
        <p:nvSpPr>
          <p:cNvPr id="518153" name="圆角矩形标注 518152"/>
          <p:cNvSpPr/>
          <p:nvPr/>
        </p:nvSpPr>
        <p:spPr>
          <a:xfrm>
            <a:off x="1713865" y="2024922"/>
            <a:ext cx="2077720" cy="476437"/>
          </a:xfrm>
          <a:prstGeom prst="wedgeRoundRectCallout">
            <a:avLst>
              <a:gd name="adj1" fmla="val 60605"/>
              <a:gd name="adj2" fmla="val 286427"/>
              <a:gd name="adj3" fmla="val 16667"/>
            </a:avLst>
          </a:prstGeom>
          <a:solidFill>
            <a:srgbClr val="F2F6CE"/>
          </a:solidFill>
          <a:ln w="28575" cap="flat" cmpd="sng">
            <a:solidFill>
              <a:srgbClr val="FF0000"/>
            </a:solidFill>
            <a:prstDash val="solid"/>
            <a:miter/>
            <a:headEnd type="none" w="med" len="med"/>
            <a:tailEnd type="none" w="med" len="med"/>
          </a:ln>
        </p:spPr>
        <p:txBody>
          <a:bodyPr wrap="square" anchor="ctr">
            <a:spAutoFit/>
          </a:bodyPr>
          <a:p>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黑体" panose="02010609060101010101" pitchFamily="49" charset="-122"/>
              </a:rPr>
              <a:t>铰链磨损失效</a:t>
            </a:r>
            <a:endParaRPr lang="zh-CN" altLang="en-US">
              <a:latin typeface="Times New Roman" panose="02020603050405020304" pitchFamily="18" charset="0"/>
              <a:ea typeface="黑体" panose="02010609060101010101" pitchFamily="49" charset="-122"/>
            </a:endParaRPr>
          </a:p>
        </p:txBody>
      </p:sp>
      <p:sp>
        <p:nvSpPr>
          <p:cNvPr id="518154" name="圆角矩形标注 518153"/>
          <p:cNvSpPr/>
          <p:nvPr/>
        </p:nvSpPr>
        <p:spPr>
          <a:xfrm>
            <a:off x="1258888" y="3108297"/>
            <a:ext cx="1346200" cy="857308"/>
          </a:xfrm>
          <a:prstGeom prst="wedgeRoundRectCallout">
            <a:avLst>
              <a:gd name="adj1" fmla="val 145519"/>
              <a:gd name="adj2" fmla="val 90940"/>
              <a:gd name="adj3" fmla="val 16667"/>
            </a:avLst>
          </a:prstGeom>
          <a:solidFill>
            <a:srgbClr val="F2F6CE"/>
          </a:solidFill>
          <a:ln w="28575" cap="flat" cmpd="sng">
            <a:solidFill>
              <a:srgbClr val="FF0000"/>
            </a:solidFill>
            <a:prstDash val="solid"/>
            <a:miter/>
            <a:headEnd type="none" w="med" len="med"/>
            <a:tailEnd type="none" w="med" len="med"/>
          </a:ln>
        </p:spPr>
        <p:txBody>
          <a:bodyPr anchor="ctr">
            <a:spAutoFit/>
          </a:bodyPr>
          <a:p>
            <a:r>
              <a:rPr lang="en-US" altLang="zh-CN" dirty="0">
                <a:latin typeface="Times New Roman" panose="02020603050405020304" pitchFamily="18" charset="0"/>
                <a:ea typeface="黑体" panose="02010609060101010101" pitchFamily="49" charset="-122"/>
              </a:rPr>
              <a:t>2</a:t>
            </a:r>
            <a:r>
              <a:rPr lang="zh-CN" altLang="en-US" dirty="0">
                <a:latin typeface="Times New Roman" panose="02020603050405020304" pitchFamily="18" charset="0"/>
                <a:ea typeface="黑体" panose="02010609060101010101" pitchFamily="49" charset="-122"/>
              </a:rPr>
              <a:t>链板疲劳破坏</a:t>
            </a:r>
            <a:endParaRPr lang="zh-CN" altLang="en-US">
              <a:latin typeface="Times New Roman" panose="02020603050405020304" pitchFamily="18" charset="0"/>
              <a:ea typeface="黑体" panose="02010609060101010101" pitchFamily="49" charset="-122"/>
            </a:endParaRPr>
          </a:p>
        </p:txBody>
      </p:sp>
      <p:sp>
        <p:nvSpPr>
          <p:cNvPr id="518155" name="圆角矩形标注 518154"/>
          <p:cNvSpPr/>
          <p:nvPr/>
        </p:nvSpPr>
        <p:spPr>
          <a:xfrm>
            <a:off x="6138228" y="2970502"/>
            <a:ext cx="1676400" cy="857308"/>
          </a:xfrm>
          <a:prstGeom prst="wedgeRoundRectCallout">
            <a:avLst>
              <a:gd name="adj1" fmla="val -103407"/>
              <a:gd name="adj2" fmla="val 127875"/>
              <a:gd name="adj3" fmla="val 16667"/>
            </a:avLst>
          </a:prstGeom>
          <a:solidFill>
            <a:srgbClr val="F2F6CE"/>
          </a:solidFill>
          <a:ln w="28575" cap="flat" cmpd="sng">
            <a:solidFill>
              <a:srgbClr val="FF0000"/>
            </a:solidFill>
            <a:prstDash val="solid"/>
            <a:miter/>
            <a:headEnd type="none" w="med" len="med"/>
            <a:tailEnd type="none" w="med" len="med"/>
          </a:ln>
        </p:spPr>
        <p:txBody>
          <a:bodyPr anchor="ctr">
            <a:spAutoFit/>
          </a:bodyPr>
          <a:p>
            <a:r>
              <a:rPr lang="en-US" altLang="zh-CN" dirty="0">
                <a:latin typeface="Times New Roman" panose="02020603050405020304" pitchFamily="18" charset="0"/>
                <a:ea typeface="黑体" panose="02010609060101010101" pitchFamily="49" charset="-122"/>
              </a:rPr>
              <a:t>3</a:t>
            </a:r>
            <a:r>
              <a:rPr lang="zh-CN" altLang="en-US" dirty="0">
                <a:latin typeface="Times New Roman" panose="02020603050405020304" pitchFamily="18" charset="0"/>
                <a:ea typeface="黑体" panose="02010609060101010101" pitchFamily="49" charset="-122"/>
              </a:rPr>
              <a:t>滚子冲击疲劳破坏</a:t>
            </a:r>
            <a:endParaRPr lang="zh-CN" altLang="en-US">
              <a:latin typeface="Times New Roman" panose="02020603050405020304" pitchFamily="18" charset="0"/>
              <a:ea typeface="黑体" panose="02010609060101010101" pitchFamily="49" charset="-122"/>
            </a:endParaRPr>
          </a:p>
        </p:txBody>
      </p:sp>
      <p:sp>
        <p:nvSpPr>
          <p:cNvPr id="518156" name="圆角矩形标注 518155"/>
          <p:cNvSpPr/>
          <p:nvPr/>
        </p:nvSpPr>
        <p:spPr>
          <a:xfrm>
            <a:off x="6843395" y="4205036"/>
            <a:ext cx="2167890" cy="476753"/>
          </a:xfrm>
          <a:prstGeom prst="wedgeRoundRectCallout">
            <a:avLst>
              <a:gd name="adj1" fmla="val -87574"/>
              <a:gd name="adj2" fmla="val 158894"/>
              <a:gd name="adj3" fmla="val 16667"/>
            </a:avLst>
          </a:prstGeom>
          <a:solidFill>
            <a:srgbClr val="F2F6CE"/>
          </a:solidFill>
          <a:ln w="28575" cap="flat" cmpd="sng">
            <a:solidFill>
              <a:srgbClr val="FF0000"/>
            </a:solidFill>
            <a:prstDash val="solid"/>
            <a:miter/>
            <a:headEnd type="none" w="med" len="med"/>
            <a:tailEnd type="none" w="med" len="med"/>
          </a:ln>
        </p:spPr>
        <p:txBody>
          <a:bodyPr wrap="square" anchor="ctr">
            <a:spAutoFit/>
          </a:bodyPr>
          <a:p>
            <a:r>
              <a:rPr lang="en-US" altLang="zh-CN" dirty="0">
                <a:latin typeface="Times New Roman" panose="02020603050405020304" pitchFamily="18" charset="0"/>
                <a:ea typeface="黑体" panose="02010609060101010101" pitchFamily="49" charset="-122"/>
              </a:rPr>
              <a:t>4</a:t>
            </a:r>
            <a:r>
              <a:rPr lang="zh-CN" altLang="en-US" dirty="0">
                <a:latin typeface="Times New Roman" panose="02020603050405020304" pitchFamily="18" charset="0"/>
                <a:ea typeface="黑体" panose="02010609060101010101" pitchFamily="49" charset="-122"/>
              </a:rPr>
              <a:t>铰链胶合失效</a:t>
            </a:r>
            <a:endParaRPr lang="zh-CN" altLang="en-US">
              <a:latin typeface="Times New Roman" panose="02020603050405020304" pitchFamily="18" charset="0"/>
              <a:ea typeface="黑体" panose="02010609060101010101" pitchFamily="49" charset="-122"/>
            </a:endParaRPr>
          </a:p>
        </p:txBody>
      </p:sp>
      <p:sp>
        <p:nvSpPr>
          <p:cNvPr id="518157" name="圆角矩形标注 518156"/>
          <p:cNvSpPr/>
          <p:nvPr/>
        </p:nvSpPr>
        <p:spPr>
          <a:xfrm>
            <a:off x="4090988" y="1849438"/>
            <a:ext cx="2233612" cy="911225"/>
          </a:xfrm>
          <a:prstGeom prst="wedgeRoundRectCallout">
            <a:avLst>
              <a:gd name="adj1" fmla="val -27898"/>
              <a:gd name="adj2" fmla="val 234495"/>
              <a:gd name="adj3" fmla="val 16667"/>
            </a:avLst>
          </a:prstGeom>
          <a:solidFill>
            <a:srgbClr val="F2F6CE"/>
          </a:solidFill>
          <a:ln w="28575" cap="flat" cmpd="sng">
            <a:solidFill>
              <a:srgbClr val="FF0000"/>
            </a:solidFill>
            <a:prstDash val="solid"/>
            <a:miter/>
            <a:headEnd type="none" w="med" len="med"/>
            <a:tailEnd type="none" w="med" len="med"/>
          </a:ln>
        </p:spPr>
        <p:txBody>
          <a:bodyPr anchor="ctr">
            <a:spAutoFit/>
          </a:bodyPr>
          <a:p>
            <a:r>
              <a:rPr lang="zh-CN" altLang="en-US" dirty="0">
                <a:latin typeface="Times New Roman" panose="02020603050405020304" pitchFamily="18" charset="0"/>
                <a:ea typeface="黑体" panose="02010609060101010101" pitchFamily="49" charset="-122"/>
              </a:rPr>
              <a:t>阴影线内为 极限功率范围</a:t>
            </a:r>
            <a:endParaRPr lang="zh-CN" altLang="en-US">
              <a:latin typeface="Times New Roman" panose="02020603050405020304" pitchFamily="18" charset="0"/>
              <a:ea typeface="黑体" panose="02010609060101010101" pitchFamily="49" charset="-122"/>
            </a:endParaRPr>
          </a:p>
        </p:txBody>
      </p:sp>
      <p:sp>
        <p:nvSpPr>
          <p:cNvPr id="518158" name="圆角矩形标注 518157"/>
          <p:cNvSpPr/>
          <p:nvPr/>
        </p:nvSpPr>
        <p:spPr>
          <a:xfrm>
            <a:off x="471488" y="4421505"/>
            <a:ext cx="2286000" cy="911225"/>
          </a:xfrm>
          <a:prstGeom prst="wedgeRoundRectCallout">
            <a:avLst>
              <a:gd name="adj1" fmla="val 91597"/>
              <a:gd name="adj2" fmla="val 55051"/>
              <a:gd name="adj3" fmla="val 16667"/>
            </a:avLst>
          </a:prstGeom>
          <a:solidFill>
            <a:srgbClr val="F2F6CE"/>
          </a:solidFill>
          <a:ln w="28575" cap="flat" cmpd="sng">
            <a:solidFill>
              <a:srgbClr val="FF0000"/>
            </a:solidFill>
            <a:prstDash val="solid"/>
            <a:miter/>
            <a:headEnd type="none" w="med" len="med"/>
            <a:tailEnd type="none" w="med" len="med"/>
          </a:ln>
        </p:spPr>
        <p:txBody>
          <a:bodyPr anchor="ctr">
            <a:spAutoFit/>
          </a:bodyPr>
          <a:p>
            <a:r>
              <a:rPr lang="zh-CN" altLang="en-US" dirty="0">
                <a:latin typeface="Times New Roman" panose="02020603050405020304" pitchFamily="18" charset="0"/>
                <a:ea typeface="黑体" panose="02010609060101010101" pitchFamily="49" charset="-122"/>
              </a:rPr>
              <a:t>润滑不良或工作条件恶劣时</a:t>
            </a:r>
            <a:endParaRPr lang="zh-CN" altLang="en-US">
              <a:latin typeface="Times New Roman" panose="02020603050405020304" pitchFamily="18" charset="0"/>
              <a:ea typeface="黑体" panose="02010609060101010101" pitchFamily="49" charset="-122"/>
            </a:endParaRPr>
          </a:p>
        </p:txBody>
      </p:sp>
      <p:sp>
        <p:nvSpPr>
          <p:cNvPr id="518159" name="直接连接符 518158"/>
          <p:cNvSpPr/>
          <p:nvPr/>
        </p:nvSpPr>
        <p:spPr>
          <a:xfrm flipV="1">
            <a:off x="3149600" y="4737100"/>
            <a:ext cx="1308100" cy="16510"/>
          </a:xfrm>
          <a:prstGeom prst="line">
            <a:avLst/>
          </a:prstGeom>
          <a:ln w="19050" cap="flat" cmpd="sng">
            <a:solidFill>
              <a:srgbClr val="FF0000"/>
            </a:solidFill>
            <a:prstDash val="solid"/>
            <a:headEnd type="none" w="med" len="med"/>
            <a:tailEnd type="none" w="med" len="med"/>
          </a:ln>
        </p:spPr>
      </p:sp>
      <p:sp>
        <p:nvSpPr>
          <p:cNvPr id="518160" name="直接连接符 518159"/>
          <p:cNvSpPr/>
          <p:nvPr/>
        </p:nvSpPr>
        <p:spPr>
          <a:xfrm>
            <a:off x="4470400" y="4724400"/>
            <a:ext cx="0" cy="876300"/>
          </a:xfrm>
          <a:prstGeom prst="line">
            <a:avLst/>
          </a:prstGeom>
          <a:ln w="19050" cap="flat" cmpd="sng">
            <a:solidFill>
              <a:srgbClr val="FF0000"/>
            </a:solidFill>
            <a:prstDash val="solid"/>
            <a:headEnd type="none" w="med" len="med"/>
            <a:tailEnd type="none" w="med" len="med"/>
          </a:ln>
        </p:spPr>
      </p:sp>
      <p:sp>
        <p:nvSpPr>
          <p:cNvPr id="518161" name="文本框 518160"/>
          <p:cNvSpPr txBox="1"/>
          <p:nvPr/>
        </p:nvSpPr>
        <p:spPr>
          <a:xfrm>
            <a:off x="4311650" y="4610100"/>
            <a:ext cx="245745" cy="245110"/>
          </a:xfrm>
          <a:prstGeom prst="rect">
            <a:avLst/>
          </a:prstGeom>
          <a:noFill/>
          <a:ln w="38100">
            <a:noFill/>
          </a:ln>
        </p:spPr>
        <p:txBody>
          <a:bodyPr wrap="square">
            <a:spAutoFit/>
          </a:bodyPr>
          <a:p>
            <a:r>
              <a:rPr lang="en-US" altLang="zh-CN" sz="1000">
                <a:solidFill>
                  <a:schemeClr val="accent2"/>
                </a:solidFill>
                <a:latin typeface="Times New Roman" panose="02020603050405020304" pitchFamily="18" charset="0"/>
                <a:ea typeface="黑体" panose="02010609060101010101" pitchFamily="49" charset="-122"/>
              </a:rPr>
              <a:t>●</a:t>
            </a: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518162" name="文本框 518161"/>
          <p:cNvSpPr txBox="1"/>
          <p:nvPr/>
        </p:nvSpPr>
        <p:spPr>
          <a:xfrm>
            <a:off x="4267200" y="5514975"/>
            <a:ext cx="704850" cy="457200"/>
          </a:xfrm>
          <a:prstGeom prst="rect">
            <a:avLst/>
          </a:prstGeom>
          <a:noFill/>
          <a:ln w="38100">
            <a:noFill/>
          </a:ln>
        </p:spPr>
        <p:txBody>
          <a:bodyPr>
            <a:spAutoFit/>
          </a:bodyPr>
          <a:p>
            <a:r>
              <a:rPr lang="en-US" altLang="zh-CN" i="1">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rPr>
              <a:t>n</a:t>
            </a:r>
            <a:r>
              <a:rPr lang="en-US" altLang="zh-CN" baseline="-16000">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rPr>
              <a:t>1</a:t>
            </a:r>
            <a:endParaRPr lang="en-US" altLang="zh-CN" baseline="-16000">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518163" name="文本框 518162"/>
          <p:cNvSpPr txBox="1"/>
          <p:nvPr/>
        </p:nvSpPr>
        <p:spPr>
          <a:xfrm>
            <a:off x="2841625" y="4476750"/>
            <a:ext cx="573088" cy="457200"/>
          </a:xfrm>
          <a:prstGeom prst="rect">
            <a:avLst/>
          </a:prstGeom>
          <a:noFill/>
          <a:ln w="38100">
            <a:noFill/>
          </a:ln>
        </p:spPr>
        <p:txBody>
          <a:bodyPr>
            <a:spAutoFit/>
          </a:bodyPr>
          <a:p>
            <a:r>
              <a:rPr lang="en-US" altLang="zh-CN" i="1">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rPr>
              <a:t>P</a:t>
            </a:r>
            <a:endParaRPr lang="en-US" altLang="zh-CN" baseline="-16000">
              <a:solidFill>
                <a:schemeClr val="accent2"/>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8150"/>
                                        </p:tgtEl>
                                        <p:attrNameLst>
                                          <p:attrName>style.visibility</p:attrName>
                                        </p:attrNameLst>
                                      </p:cBhvr>
                                      <p:to>
                                        <p:strVal val="visible"/>
                                      </p:to>
                                    </p:set>
                                    <p:animEffect transition="in" filter="wipe(down)">
                                      <p:cBhvr>
                                        <p:cTn id="7" dur="500"/>
                                        <p:tgtEl>
                                          <p:spTgt spid="5181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8151"/>
                                        </p:tgtEl>
                                        <p:attrNameLst>
                                          <p:attrName>style.visibility</p:attrName>
                                        </p:attrNameLst>
                                      </p:cBhvr>
                                      <p:to>
                                        <p:strVal val="visible"/>
                                      </p:to>
                                    </p:set>
                                    <p:animEffect transition="in" filter="wipe(left)">
                                      <p:cBhvr>
                                        <p:cTn id="12" dur="500"/>
                                        <p:tgtEl>
                                          <p:spTgt spid="51815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18152"/>
                                        </p:tgtEl>
                                        <p:attrNameLst>
                                          <p:attrName>style.visibility</p:attrName>
                                        </p:attrNameLst>
                                      </p:cBhvr>
                                      <p:to>
                                        <p:strVal val="visible"/>
                                      </p:to>
                                    </p:set>
                                    <p:animEffect transition="in" filter="wipe(left)">
                                      <p:cBhvr>
                                        <p:cTn id="16" dur="500"/>
                                        <p:tgtEl>
                                          <p:spTgt spid="5181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18153"/>
                                        </p:tgtEl>
                                        <p:attrNameLst>
                                          <p:attrName>style.visibility</p:attrName>
                                        </p:attrNameLst>
                                      </p:cBhvr>
                                      <p:to>
                                        <p:strVal val="visible"/>
                                      </p:to>
                                    </p:set>
                                    <p:animEffect transition="in" filter="wipe(down)">
                                      <p:cBhvr>
                                        <p:cTn id="21" dur="500"/>
                                        <p:tgtEl>
                                          <p:spTgt spid="51815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18154"/>
                                        </p:tgtEl>
                                        <p:attrNameLst>
                                          <p:attrName>style.visibility</p:attrName>
                                        </p:attrNameLst>
                                      </p:cBhvr>
                                      <p:to>
                                        <p:strVal val="visible"/>
                                      </p:to>
                                    </p:set>
                                    <p:animEffect transition="in" filter="wipe(down)">
                                      <p:cBhvr>
                                        <p:cTn id="26" dur="500"/>
                                        <p:tgtEl>
                                          <p:spTgt spid="51815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18155"/>
                                        </p:tgtEl>
                                        <p:attrNameLst>
                                          <p:attrName>style.visibility</p:attrName>
                                        </p:attrNameLst>
                                      </p:cBhvr>
                                      <p:to>
                                        <p:strVal val="visible"/>
                                      </p:to>
                                    </p:set>
                                    <p:animEffect transition="in" filter="wipe(down)">
                                      <p:cBhvr>
                                        <p:cTn id="31" dur="500"/>
                                        <p:tgtEl>
                                          <p:spTgt spid="51815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518156"/>
                                        </p:tgtEl>
                                        <p:attrNameLst>
                                          <p:attrName>style.visibility</p:attrName>
                                        </p:attrNameLst>
                                      </p:cBhvr>
                                      <p:to>
                                        <p:strVal val="visible"/>
                                      </p:to>
                                    </p:set>
                                    <p:animEffect transition="in" filter="wipe(down)">
                                      <p:cBhvr>
                                        <p:cTn id="36" dur="500"/>
                                        <p:tgtEl>
                                          <p:spTgt spid="51815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518157"/>
                                        </p:tgtEl>
                                        <p:attrNameLst>
                                          <p:attrName>style.visibility</p:attrName>
                                        </p:attrNameLst>
                                      </p:cBhvr>
                                      <p:to>
                                        <p:strVal val="visible"/>
                                      </p:to>
                                    </p:set>
                                    <p:animEffect transition="in" filter="wipe(down)">
                                      <p:cBhvr>
                                        <p:cTn id="41" dur="500"/>
                                        <p:tgtEl>
                                          <p:spTgt spid="5181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518158"/>
                                        </p:tgtEl>
                                        <p:attrNameLst>
                                          <p:attrName>style.visibility</p:attrName>
                                        </p:attrNameLst>
                                      </p:cBhvr>
                                      <p:to>
                                        <p:strVal val="visible"/>
                                      </p:to>
                                    </p:set>
                                    <p:animEffect transition="in" filter="wipe(right)">
                                      <p:cBhvr>
                                        <p:cTn id="46" dur="500"/>
                                        <p:tgtEl>
                                          <p:spTgt spid="51815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18162"/>
                                        </p:tgtEl>
                                        <p:attrNameLst>
                                          <p:attrName>style.visibility</p:attrName>
                                        </p:attrNameLst>
                                      </p:cBhvr>
                                      <p:to>
                                        <p:strVal val="visible"/>
                                      </p:to>
                                    </p:set>
                                    <p:animEffect transition="in" filter="wipe(left)">
                                      <p:cBhvr>
                                        <p:cTn id="51" dur="500"/>
                                        <p:tgtEl>
                                          <p:spTgt spid="518162"/>
                                        </p:tgtEl>
                                      </p:cBhvr>
                                    </p:animEffect>
                                  </p:childTnLst>
                                </p:cTn>
                              </p:par>
                            </p:childTnLst>
                          </p:cTn>
                        </p:par>
                        <p:par>
                          <p:cTn id="52" fill="hold">
                            <p:stCondLst>
                              <p:cond delay="500"/>
                            </p:stCondLst>
                            <p:childTnLst>
                              <p:par>
                                <p:cTn id="53" presetID="22" presetClass="entr" presetSubtype="4" fill="hold" nodeType="afterEffect">
                                  <p:stCondLst>
                                    <p:cond delay="0"/>
                                  </p:stCondLst>
                                  <p:childTnLst>
                                    <p:set>
                                      <p:cBhvr>
                                        <p:cTn id="54" dur="1" fill="hold">
                                          <p:stCondLst>
                                            <p:cond delay="0"/>
                                          </p:stCondLst>
                                        </p:cTn>
                                        <p:tgtEl>
                                          <p:spTgt spid="518160"/>
                                        </p:tgtEl>
                                        <p:attrNameLst>
                                          <p:attrName>style.visibility</p:attrName>
                                        </p:attrNameLst>
                                      </p:cBhvr>
                                      <p:to>
                                        <p:strVal val="visible"/>
                                      </p:to>
                                    </p:set>
                                    <p:animEffect transition="in" filter="wipe(down)">
                                      <p:cBhvr>
                                        <p:cTn id="55" dur="500"/>
                                        <p:tgtEl>
                                          <p:spTgt spid="518160"/>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518163"/>
                                        </p:tgtEl>
                                        <p:attrNameLst>
                                          <p:attrName>style.visibility</p:attrName>
                                        </p:attrNameLst>
                                      </p:cBhvr>
                                      <p:to>
                                        <p:strVal val="visible"/>
                                      </p:to>
                                    </p:set>
                                    <p:animEffect transition="in" filter="wipe(left)">
                                      <p:cBhvr>
                                        <p:cTn id="59" dur="500"/>
                                        <p:tgtEl>
                                          <p:spTgt spid="518163"/>
                                        </p:tgtEl>
                                      </p:cBhvr>
                                    </p:animEffect>
                                  </p:childTnLst>
                                </p:cTn>
                              </p:par>
                            </p:childTnLst>
                          </p:cTn>
                        </p:par>
                        <p:par>
                          <p:cTn id="60" fill="hold">
                            <p:stCondLst>
                              <p:cond delay="1500"/>
                            </p:stCondLst>
                            <p:childTnLst>
                              <p:par>
                                <p:cTn id="61" presetID="22" presetClass="entr" presetSubtype="8" fill="hold" nodeType="afterEffect">
                                  <p:stCondLst>
                                    <p:cond delay="0"/>
                                  </p:stCondLst>
                                  <p:childTnLst>
                                    <p:set>
                                      <p:cBhvr>
                                        <p:cTn id="62" dur="1" fill="hold">
                                          <p:stCondLst>
                                            <p:cond delay="0"/>
                                          </p:stCondLst>
                                        </p:cTn>
                                        <p:tgtEl>
                                          <p:spTgt spid="518159"/>
                                        </p:tgtEl>
                                        <p:attrNameLst>
                                          <p:attrName>style.visibility</p:attrName>
                                        </p:attrNameLst>
                                      </p:cBhvr>
                                      <p:to>
                                        <p:strVal val="visible"/>
                                      </p:to>
                                    </p:set>
                                    <p:animEffect transition="in" filter="wipe(left)">
                                      <p:cBhvr>
                                        <p:cTn id="63" dur="500"/>
                                        <p:tgtEl>
                                          <p:spTgt spid="518159"/>
                                        </p:tgtEl>
                                      </p:cBhvr>
                                    </p:animEffect>
                                  </p:childTnLst>
                                </p:cTn>
                              </p:par>
                            </p:childTnLst>
                          </p:cTn>
                        </p:par>
                        <p:par>
                          <p:cTn id="64" fill="hold">
                            <p:stCondLst>
                              <p:cond delay="2000"/>
                            </p:stCondLst>
                            <p:childTnLst>
                              <p:par>
                                <p:cTn id="65" presetID="23" presetClass="entr" presetSubtype="288" fill="hold" grpId="1" nodeType="afterEffect">
                                  <p:stCondLst>
                                    <p:cond delay="0"/>
                                  </p:stCondLst>
                                  <p:childTnLst>
                                    <p:set>
                                      <p:cBhvr>
                                        <p:cTn id="66" dur="1" fill="hold">
                                          <p:stCondLst>
                                            <p:cond delay="0"/>
                                          </p:stCondLst>
                                        </p:cTn>
                                        <p:tgtEl>
                                          <p:spTgt spid="518161"/>
                                        </p:tgtEl>
                                        <p:attrNameLst>
                                          <p:attrName>style.visibility</p:attrName>
                                        </p:attrNameLst>
                                      </p:cBhvr>
                                      <p:to>
                                        <p:strVal val="visible"/>
                                      </p:to>
                                    </p:set>
                                    <p:anim calcmode="lin" valueType="num">
                                      <p:cBhvr>
                                        <p:cTn id="67" dur="500" fill="hold"/>
                                        <p:tgtEl>
                                          <p:spTgt spid="518161"/>
                                        </p:tgtEl>
                                        <p:attrNameLst>
                                          <p:attrName>ppt_w</p:attrName>
                                        </p:attrNameLst>
                                      </p:cBhvr>
                                      <p:tavLst>
                                        <p:tav tm="0">
                                          <p:val>
                                            <p:strVal val="4/3*#ppt_w"/>
                                          </p:val>
                                        </p:tav>
                                        <p:tav tm="100000">
                                          <p:val>
                                            <p:strVal val="#ppt_w"/>
                                          </p:val>
                                        </p:tav>
                                      </p:tavLst>
                                    </p:anim>
                                    <p:anim calcmode="lin" valueType="num">
                                      <p:cBhvr>
                                        <p:cTn id="68" dur="500" fill="hold"/>
                                        <p:tgtEl>
                                          <p:spTgt spid="51816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51" grpId="0"/>
      <p:bldP spid="518152" grpId="0"/>
      <p:bldP spid="518153" grpId="0" bldLvl="0" animBg="1"/>
      <p:bldP spid="518154" grpId="0" bldLvl="0" animBg="1"/>
      <p:bldP spid="518155" grpId="0" bldLvl="0" animBg="1"/>
      <p:bldP spid="518156" grpId="0" bldLvl="0" animBg="1"/>
      <p:bldP spid="518157" grpId="0" bldLvl="0" animBg="1"/>
      <p:bldP spid="518158" grpId="0" bldLvl="0" animBg="1"/>
      <p:bldP spid="518161" grpId="1"/>
      <p:bldP spid="518162" grpId="0"/>
      <p:bldP spid="51816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5126"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346575" y="274638"/>
            <a:ext cx="4411663"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8" name="文本框 7"/>
          <p:cNvSpPr txBox="1">
            <a:spLocks noChangeArrowheads="1"/>
          </p:cNvSpPr>
          <p:nvPr/>
        </p:nvSpPr>
        <p:spPr bwMode="auto">
          <a:xfrm>
            <a:off x="467544" y="836712"/>
            <a:ext cx="230063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0000FF"/>
                </a:solidFill>
                <a:latin typeface="黑体" panose="02010609060101010101" pitchFamily="49" charset="-122"/>
                <a:ea typeface="黑体" panose="02010609060101010101" pitchFamily="49" charset="-122"/>
              </a:rPr>
              <a:t>2</a:t>
            </a:r>
            <a:r>
              <a:rPr lang="zh-CN" altLang="en-US" dirty="0">
                <a:solidFill>
                  <a:srgbClr val="0000FF"/>
                </a:solidFill>
                <a:latin typeface="黑体" panose="02010609060101010101" pitchFamily="49" charset="-122"/>
                <a:ea typeface="黑体" panose="02010609060101010101" pitchFamily="49" charset="-122"/>
              </a:rPr>
              <a:t>、额定功率曲线</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5" name="文本框 4"/>
          <p:cNvSpPr txBox="1">
            <a:spLocks noChangeArrowheads="1"/>
          </p:cNvSpPr>
          <p:nvPr/>
        </p:nvSpPr>
        <p:spPr bwMode="auto">
          <a:xfrm>
            <a:off x="380931" y="4881607"/>
            <a:ext cx="33718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zh-CN" altLang="zh-CN" sz="2000" dirty="0">
                <a:solidFill>
                  <a:schemeClr val="accent5">
                    <a:lumMod val="10000"/>
                  </a:schemeClr>
                </a:solidFill>
                <a:latin typeface="Times New Roman" panose="02020603050405020304" pitchFamily="18" charset="0"/>
                <a:sym typeface="宋体" panose="02010600030101010101" pitchFamily="2" charset="-122"/>
              </a:rPr>
              <a:t>K</a:t>
            </a:r>
            <a:r>
              <a:rPr lang="zh-CN" altLang="zh-CN" sz="2000" baseline="-25000" dirty="0">
                <a:solidFill>
                  <a:schemeClr val="accent5">
                    <a:lumMod val="10000"/>
                  </a:schemeClr>
                </a:solidFill>
                <a:latin typeface="Times New Roman" panose="02020603050405020304" pitchFamily="18" charset="0"/>
                <a:sym typeface="宋体" panose="02010600030101010101" pitchFamily="2" charset="-122"/>
              </a:rPr>
              <a:t>Z</a:t>
            </a:r>
            <a:r>
              <a:rPr lang="zh-CN" altLang="zh-CN" sz="2000" dirty="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rPr>
              <a:t>——</a:t>
            </a:r>
            <a:r>
              <a:rPr lang="zh-CN" altLang="zh-CN" sz="2000" dirty="0">
                <a:solidFill>
                  <a:schemeClr val="accent5">
                    <a:lumMod val="10000"/>
                  </a:schemeClr>
                </a:solidFill>
                <a:latin typeface="Times New Roman" panose="02020603050405020304" pitchFamily="18" charset="0"/>
                <a:sym typeface="宋体" panose="02010600030101010101" pitchFamily="2" charset="-122"/>
              </a:rPr>
              <a:t>小链轮齿数系数</a:t>
            </a:r>
            <a:endParaRPr lang="zh-CN" altLang="zh-CN" sz="2000" dirty="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endParaRPr>
          </a:p>
        </p:txBody>
      </p:sp>
      <p:sp>
        <p:nvSpPr>
          <p:cNvPr id="7" name="文本框 6"/>
          <p:cNvSpPr txBox="1">
            <a:spLocks noChangeArrowheads="1"/>
          </p:cNvSpPr>
          <p:nvPr/>
        </p:nvSpPr>
        <p:spPr bwMode="auto">
          <a:xfrm>
            <a:off x="381000" y="3905250"/>
            <a:ext cx="4333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zh-CN" altLang="zh-CN" sz="2000">
                <a:solidFill>
                  <a:schemeClr val="accent5">
                    <a:lumMod val="10000"/>
                  </a:schemeClr>
                </a:solidFill>
                <a:latin typeface="Times New Roman" panose="02020603050405020304" pitchFamily="18" charset="0"/>
                <a:sym typeface="宋体" panose="02010600030101010101" pitchFamily="2" charset="-122"/>
              </a:rPr>
              <a:t>K</a:t>
            </a:r>
            <a:r>
              <a:rPr lang="zh-CN" altLang="zh-CN" sz="2000" baseline="-25000">
                <a:solidFill>
                  <a:schemeClr val="accent5">
                    <a:lumMod val="10000"/>
                  </a:schemeClr>
                </a:solidFill>
                <a:latin typeface="Times New Roman" panose="02020603050405020304" pitchFamily="18" charset="0"/>
                <a:sym typeface="宋体" panose="02010600030101010101" pitchFamily="2" charset="-122"/>
              </a:rPr>
              <a:t>A</a:t>
            </a:r>
            <a:r>
              <a:rPr lang="zh-CN" altLang="zh-CN" sz="200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rPr>
              <a:t>——</a:t>
            </a:r>
            <a:r>
              <a:rPr lang="zh-CN" altLang="zh-CN" sz="2000">
                <a:solidFill>
                  <a:schemeClr val="accent5">
                    <a:lumMod val="10000"/>
                  </a:schemeClr>
                </a:solidFill>
                <a:latin typeface="Times New Roman" panose="02020603050405020304" pitchFamily="18" charset="0"/>
                <a:sym typeface="宋体" panose="02010600030101010101" pitchFamily="2" charset="-122"/>
              </a:rPr>
              <a:t>链传动的工作情况系数</a:t>
            </a:r>
            <a:endParaRPr lang="zh-CN" altLang="zh-CN" sz="200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endParaRPr>
          </a:p>
        </p:txBody>
      </p:sp>
      <p:sp>
        <p:nvSpPr>
          <p:cNvPr id="9" name="文本框 8"/>
          <p:cNvSpPr txBox="1">
            <a:spLocks noChangeArrowheads="1"/>
          </p:cNvSpPr>
          <p:nvPr/>
        </p:nvSpPr>
        <p:spPr bwMode="auto">
          <a:xfrm>
            <a:off x="395536" y="1268760"/>
            <a:ext cx="836295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chemeClr val="accent5">
                    <a:lumMod val="10000"/>
                  </a:schemeClr>
                </a:solidFill>
                <a:latin typeface="黑体" panose="02010609060101010101" pitchFamily="49" charset="-122"/>
                <a:ea typeface="黑体" panose="02010609060101010101" pitchFamily="49" charset="-122"/>
              </a:rPr>
              <a:t>为避免出现以上失效形式，在标准试验条件下，得到了链传动的额定功率曲线。</a:t>
            </a:r>
            <a:endParaRPr lang="zh-CN" altLang="en-US" sz="2000" dirty="0">
              <a:solidFill>
                <a:schemeClr val="accent5">
                  <a:lumMod val="10000"/>
                </a:schemeClr>
              </a:solidFill>
              <a:latin typeface="黑体" panose="02010609060101010101" pitchFamily="49" charset="-122"/>
              <a:ea typeface="黑体" panose="02010609060101010101" pitchFamily="49" charset="-122"/>
            </a:endParaRPr>
          </a:p>
        </p:txBody>
      </p:sp>
      <p:sp>
        <p:nvSpPr>
          <p:cNvPr id="10" name="文本框 9"/>
          <p:cNvSpPr txBox="1">
            <a:spLocks noChangeArrowheads="1"/>
          </p:cNvSpPr>
          <p:nvPr/>
        </p:nvSpPr>
        <p:spPr bwMode="auto">
          <a:xfrm>
            <a:off x="323528" y="2276872"/>
            <a:ext cx="83629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链传动的实际使用条件一般与上述实验条件不同，需要对额定功率P</a:t>
            </a:r>
            <a:r>
              <a:rPr lang="en-US" altLang="zh-CN" sz="2000" baseline="-25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c</a:t>
            </a:r>
            <a:r>
              <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rPr>
              <a:t>值进行修正，由此得出链传动的计算功率：</a:t>
            </a:r>
            <a:endParaRPr lang="zh-CN" altLang="en-US" sz="20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a:spLocks noChangeArrowheads="1"/>
          </p:cNvSpPr>
          <p:nvPr/>
        </p:nvSpPr>
        <p:spPr bwMode="auto">
          <a:xfrm>
            <a:off x="6327775" y="1658938"/>
            <a:ext cx="2144713"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zh-CN" sz="2000" dirty="0">
                <a:solidFill>
                  <a:srgbClr val="000099"/>
                </a:solidFill>
                <a:latin typeface="Times New Roman" panose="02020603050405020304" pitchFamily="18" charset="0"/>
                <a:sym typeface="宋体" panose="02010600030101010101" pitchFamily="2" charset="-122"/>
                <a:hlinkClick r:id="rId5" action="ppaction://hlinksldjump"/>
              </a:rPr>
              <a:t>额定功率曲线</a:t>
            </a:r>
            <a:r>
              <a:rPr lang="zh-CN" altLang="zh-CN" dirty="0">
                <a:solidFill>
                  <a:srgbClr val="000099"/>
                </a:solidFill>
                <a:latin typeface="Times New Roman" panose="02020603050405020304" pitchFamily="18" charset="0"/>
                <a:sym typeface="宋体" panose="02010600030101010101" pitchFamily="2" charset="-122"/>
                <a:hlinkClick r:id="rId5" action="ppaction://hlinksldjump"/>
              </a:rPr>
              <a:t>→</a:t>
            </a:r>
            <a:endParaRPr lang="zh-CN" altLang="en-US" dirty="0">
              <a:solidFill>
                <a:srgbClr val="000099"/>
              </a:solidFill>
              <a:latin typeface="Times New Roman" panose="02020603050405020304" pitchFamily="18" charset="0"/>
              <a:sym typeface="宋体" panose="02010600030101010101" pitchFamily="2" charset="-122"/>
            </a:endParaRPr>
          </a:p>
        </p:txBody>
      </p:sp>
      <p:graphicFrame>
        <p:nvGraphicFramePr>
          <p:cNvPr id="73741" name="对象 -2147482526"/>
          <p:cNvGraphicFramePr>
            <a:graphicFrameLocks noChangeAspect="1"/>
          </p:cNvGraphicFramePr>
          <p:nvPr/>
        </p:nvGraphicFramePr>
        <p:xfrm>
          <a:off x="3336741" y="3040951"/>
          <a:ext cx="1731645" cy="864235"/>
        </p:xfrm>
        <a:graphic>
          <a:graphicData uri="http://schemas.openxmlformats.org/presentationml/2006/ole">
            <mc:AlternateContent xmlns:mc="http://schemas.openxmlformats.org/markup-compatibility/2006">
              <mc:Choice xmlns:v="urn:schemas-microsoft-com:vml" Requires="v">
                <p:oleObj spid="_x0000_s5246" name="" r:id="rId6" imgW="889000" imgH="444500" progId="Equation.KSEE3">
                  <p:embed/>
                </p:oleObj>
              </mc:Choice>
              <mc:Fallback>
                <p:oleObj name="" r:id="rId6" imgW="889000" imgH="444500" progId="Equation.KSEE3">
                  <p:embed/>
                  <p:pic>
                    <p:nvPicPr>
                      <p:cNvPr id="0" name="对象 -2147482526"/>
                      <p:cNvPicPr>
                        <a:picLocks noChangeAspect="1" noChangeArrowheads="1"/>
                      </p:cNvPicPr>
                      <p:nvPr/>
                    </p:nvPicPr>
                    <p:blipFill>
                      <a:blip r:embed="rId7"/>
                      <a:srcRect/>
                      <a:stretch>
                        <a:fillRect/>
                      </a:stretch>
                    </p:blipFill>
                    <p:spPr bwMode="auto">
                      <a:xfrm>
                        <a:off x="3336741" y="3040951"/>
                        <a:ext cx="1731645" cy="864235"/>
                      </a:xfrm>
                      <a:prstGeom prst="rect">
                        <a:avLst/>
                      </a:prstGeom>
                      <a:solidFill>
                        <a:srgbClr val="FFC000"/>
                      </a:solidFill>
                      <a:ln>
                        <a:noFill/>
                      </a:ln>
                    </p:spPr>
                  </p:pic>
                </p:oleObj>
              </mc:Fallback>
            </mc:AlternateContent>
          </a:graphicData>
        </a:graphic>
      </p:graphicFrame>
      <p:sp>
        <p:nvSpPr>
          <p:cNvPr id="6" name="文本框 5"/>
          <p:cNvSpPr txBox="1">
            <a:spLocks noChangeArrowheads="1"/>
          </p:cNvSpPr>
          <p:nvPr/>
        </p:nvSpPr>
        <p:spPr bwMode="auto">
          <a:xfrm>
            <a:off x="381000" y="4319588"/>
            <a:ext cx="48926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08000"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10000"/>
              </a:lnSpc>
            </a:pPr>
            <a:r>
              <a:rPr lang="zh-CN" altLang="zh-CN" sz="2000" dirty="0">
                <a:solidFill>
                  <a:schemeClr val="accent5">
                    <a:lumMod val="10000"/>
                  </a:schemeClr>
                </a:solidFill>
                <a:latin typeface="Times New Roman" panose="02020603050405020304" pitchFamily="18" charset="0"/>
                <a:sym typeface="宋体" panose="02010600030101010101" pitchFamily="2" charset="-122"/>
              </a:rPr>
              <a:t>K</a:t>
            </a:r>
            <a:r>
              <a:rPr lang="zh-CN" altLang="zh-CN" sz="2000" baseline="-25000" dirty="0">
                <a:solidFill>
                  <a:schemeClr val="accent5">
                    <a:lumMod val="10000"/>
                  </a:schemeClr>
                </a:solidFill>
                <a:latin typeface="Times New Roman" panose="02020603050405020304" pitchFamily="18" charset="0"/>
                <a:sym typeface="宋体" panose="02010600030101010101" pitchFamily="2" charset="-122"/>
              </a:rPr>
              <a:t>P</a:t>
            </a:r>
            <a:r>
              <a:rPr lang="zh-CN" altLang="zh-CN" sz="2000" dirty="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rPr>
              <a:t>——</a:t>
            </a:r>
            <a:r>
              <a:rPr lang="zh-CN" altLang="zh-CN" sz="2000" dirty="0">
                <a:solidFill>
                  <a:schemeClr val="accent5">
                    <a:lumMod val="10000"/>
                  </a:schemeClr>
                </a:solidFill>
                <a:latin typeface="Times New Roman" panose="02020603050405020304" pitchFamily="18" charset="0"/>
                <a:sym typeface="宋体" panose="02010600030101010101" pitchFamily="2" charset="-122"/>
              </a:rPr>
              <a:t>采用多排链时的修正系数</a:t>
            </a:r>
            <a:endParaRPr lang="zh-CN" altLang="zh-CN" sz="2000" dirty="0">
              <a:solidFill>
                <a:schemeClr val="accent5">
                  <a:lumMod val="10000"/>
                </a:schemeClr>
              </a:solidFill>
              <a:latin typeface="Times New Roman" panose="02020603050405020304" pitchFamily="18" charset="0"/>
              <a:cs typeface="Times New Roman" panose="02020603050405020304" pitchFamily="18" charset="0"/>
              <a:sym typeface="宋体" panose="02010600030101010101" pitchFamily="2" charset="-122"/>
            </a:endParaRPr>
          </a:p>
        </p:txBody>
      </p:sp>
      <p:sp>
        <p:nvSpPr>
          <p:cNvPr id="14" name="文本框 13"/>
          <p:cNvSpPr txBox="1">
            <a:spLocks noChangeArrowheads="1"/>
          </p:cNvSpPr>
          <p:nvPr/>
        </p:nvSpPr>
        <p:spPr bwMode="auto">
          <a:xfrm>
            <a:off x="6334125" y="4187825"/>
            <a:ext cx="21463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sym typeface="宋体" panose="02010600030101010101" pitchFamily="2" charset="-122"/>
                <a:hlinkClick r:id="rId8" action="ppaction://hlinksldjump"/>
              </a:rPr>
              <a:t>K</a:t>
            </a:r>
            <a:r>
              <a:rPr lang="en-US" altLang="zh-CN" sz="2000" baseline="-25000" dirty="0">
                <a:solidFill>
                  <a:srgbClr val="000099"/>
                </a:solidFill>
                <a:latin typeface="Times New Roman" panose="02020603050405020304" pitchFamily="18" charset="0"/>
                <a:sym typeface="宋体" panose="02010600030101010101" pitchFamily="2" charset="-122"/>
                <a:hlinkClick r:id="rId8" action="ppaction://hlinksldjump"/>
              </a:rPr>
              <a:t>A</a:t>
            </a:r>
            <a:r>
              <a:rPr lang="zh-CN" altLang="en-US" sz="2000" dirty="0">
                <a:solidFill>
                  <a:srgbClr val="000099"/>
                </a:solidFill>
                <a:latin typeface="Times New Roman" panose="02020603050405020304" pitchFamily="18" charset="0"/>
                <a:sym typeface="宋体" panose="02010600030101010101" pitchFamily="2" charset="-122"/>
                <a:hlinkClick r:id="rId8" action="ppaction://hlinksldjump"/>
              </a:rPr>
              <a:t>、</a:t>
            </a:r>
            <a:r>
              <a:rPr lang="en-US" altLang="zh-CN" sz="2000" dirty="0">
                <a:solidFill>
                  <a:srgbClr val="000099"/>
                </a:solidFill>
                <a:latin typeface="Times New Roman" panose="02020603050405020304" pitchFamily="18" charset="0"/>
                <a:sym typeface="宋体" panose="02010600030101010101" pitchFamily="2" charset="-122"/>
                <a:hlinkClick r:id="rId8" action="ppaction://hlinksldjump"/>
              </a:rPr>
              <a:t>K</a:t>
            </a:r>
            <a:r>
              <a:rPr lang="en-US" altLang="zh-CN" sz="2000" baseline="-25000" dirty="0">
                <a:solidFill>
                  <a:srgbClr val="000099"/>
                </a:solidFill>
                <a:latin typeface="Times New Roman" panose="02020603050405020304" pitchFamily="18" charset="0"/>
                <a:sym typeface="宋体" panose="02010600030101010101" pitchFamily="2" charset="-122"/>
                <a:hlinkClick r:id="rId8" action="ppaction://hlinksldjump"/>
              </a:rPr>
              <a:t>P</a:t>
            </a:r>
            <a:r>
              <a:rPr lang="zh-CN" altLang="en-US" sz="2000" dirty="0">
                <a:solidFill>
                  <a:srgbClr val="000099"/>
                </a:solidFill>
                <a:latin typeface="Times New Roman" panose="02020603050405020304" pitchFamily="18" charset="0"/>
                <a:sym typeface="宋体" panose="02010600030101010101" pitchFamily="2" charset="-122"/>
                <a:hlinkClick r:id="rId8" action="ppaction://hlinksldjump"/>
              </a:rPr>
              <a:t>取值</a:t>
            </a:r>
            <a:r>
              <a:rPr lang="zh-CN" altLang="zh-CN" dirty="0">
                <a:solidFill>
                  <a:srgbClr val="000099"/>
                </a:solidFill>
                <a:latin typeface="Times New Roman" panose="02020603050405020304" pitchFamily="18" charset="0"/>
                <a:sym typeface="宋体" panose="02010600030101010101" pitchFamily="2" charset="-122"/>
                <a:hlinkClick r:id="rId8" action="ppaction://hlinksldjump"/>
              </a:rPr>
              <a:t>→</a:t>
            </a:r>
            <a:endParaRPr lang="zh-CN" altLang="en-US" dirty="0">
              <a:solidFill>
                <a:srgbClr val="000099"/>
              </a:solidFill>
              <a:latin typeface="Times New Roman" panose="02020603050405020304" pitchFamily="18" charset="0"/>
              <a:sym typeface="宋体" panose="02010600030101010101" pitchFamily="2" charset="-122"/>
            </a:endParaRPr>
          </a:p>
        </p:txBody>
      </p:sp>
      <p:sp>
        <p:nvSpPr>
          <p:cNvPr id="514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2" name="文本框 11"/>
          <p:cNvSpPr txBox="1"/>
          <p:nvPr/>
        </p:nvSpPr>
        <p:spPr>
          <a:xfrm>
            <a:off x="1352550" y="5593715"/>
            <a:ext cx="6438900" cy="429895"/>
          </a:xfrm>
          <a:prstGeom prst="rect">
            <a:avLst/>
          </a:prstGeom>
          <a:noFill/>
        </p:spPr>
        <p:txBody>
          <a:bodyPr wrap="square" rtlCol="0">
            <a:spAutoFit/>
          </a:bodyPr>
          <a:p>
            <a:r>
              <a:rPr lang="zh-CN" altLang="en-US" b="1"/>
              <a:t>小链轮系数系数</a:t>
            </a:r>
            <a:r>
              <a:rPr lang="en-US" altLang="zh-CN" b="1"/>
              <a:t>K</a:t>
            </a:r>
            <a:r>
              <a:rPr lang="en-US" altLang="zh-CN" b="1" baseline="-25000"/>
              <a:t>Z </a:t>
            </a:r>
            <a:r>
              <a:rPr lang="zh-CN" altLang="en-US" b="1"/>
              <a:t>可查教材</a:t>
            </a:r>
            <a:r>
              <a:rPr lang="en-US" altLang="zh-CN" b="1">
                <a:solidFill>
                  <a:srgbClr val="FF0000"/>
                </a:solidFill>
              </a:rPr>
              <a:t>P201 </a:t>
            </a:r>
            <a:r>
              <a:rPr lang="zh-CN" altLang="en-US" b="1">
                <a:solidFill>
                  <a:srgbClr val="FF0000"/>
                </a:solidFill>
              </a:rPr>
              <a:t>图</a:t>
            </a:r>
            <a:r>
              <a:rPr lang="en-US" altLang="zh-CN" b="1">
                <a:solidFill>
                  <a:srgbClr val="FF0000"/>
                </a:solidFill>
              </a:rPr>
              <a:t>3.3-14</a:t>
            </a:r>
            <a:endParaRPr lang="en-US" altLang="zh-CN" b="1">
              <a:solidFill>
                <a:srgbClr val="FF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73741"/>
                                        </p:tgtEl>
                                        <p:attrNameLst>
                                          <p:attrName>style.visibility</p:attrName>
                                        </p:attrNameLst>
                                      </p:cBhvr>
                                      <p:to>
                                        <p:strVal val="visible"/>
                                      </p:to>
                                    </p:set>
                                    <p:animEffect transition="in" filter="wipe(left)">
                                      <p:cBhvr>
                                        <p:cTn id="25" dur="500"/>
                                        <p:tgtEl>
                                          <p:spTgt spid="7374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7" grpId="0"/>
      <p:bldP spid="9" grpId="0"/>
      <p:bldP spid="10" grpId="0"/>
      <p:bldP spid="2" grpId="0"/>
      <p:bldP spid="6" grpId="0"/>
      <p:bldP spid="14"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9" name="Picture 36" descr="NEXT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6453336"/>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572000" y="271463"/>
            <a:ext cx="4554538"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9224" name="文本框 9223"/>
          <p:cNvSpPr txBox="1">
            <a:spLocks noChangeArrowheads="1"/>
          </p:cNvSpPr>
          <p:nvPr/>
        </p:nvSpPr>
        <p:spPr bwMode="auto">
          <a:xfrm>
            <a:off x="222250" y="987743"/>
            <a:ext cx="4754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FF0000"/>
                </a:solidFill>
                <a:latin typeface="黑体" panose="02010609060101010101" pitchFamily="49" charset="-122"/>
                <a:ea typeface="黑体" panose="02010609060101010101" pitchFamily="49" charset="-122"/>
              </a:rPr>
              <a:t>三、滚子链传动的设计步骤和方法</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9" name="文本框 8"/>
          <p:cNvSpPr txBox="1">
            <a:spLocks noChangeArrowheads="1"/>
          </p:cNvSpPr>
          <p:nvPr/>
        </p:nvSpPr>
        <p:spPr bwMode="auto">
          <a:xfrm>
            <a:off x="395605" y="1448435"/>
            <a:ext cx="8362950"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marL="0" indent="0" eaLnBrk="1" latinLnBrk="0" hangingPunct="1">
              <a:lnSpc>
                <a:spcPct val="150000"/>
              </a:lnSpc>
            </a:pP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链传动设计计算内容包括：</a:t>
            </a:r>
            <a:endPar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en-US" altLang="zh-CN" sz="240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链条的型号、节距、排数和节数；</a:t>
            </a:r>
            <a:endPar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en-US" altLang="zh-CN" sz="200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链轮的齿数、尺寸、结构和材料；</a:t>
            </a:r>
            <a:endPar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en-US" altLang="zh-CN" sz="200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中心距；作用在轴上的力F</a:t>
            </a:r>
            <a:r>
              <a:rPr lang="zh-CN" altLang="en-US" sz="2000" baseline="-25000">
                <a:solidFill>
                  <a:srgbClr val="002060"/>
                </a:solidFill>
                <a:latin typeface="黑体" panose="02010609060101010101" pitchFamily="49" charset="-122"/>
                <a:ea typeface="黑体" panose="02010609060101010101" pitchFamily="49" charset="-122"/>
                <a:cs typeface="黑体" panose="02010609060101010101" pitchFamily="49" charset="-122"/>
              </a:rPr>
              <a:t>P</a:t>
            </a:r>
            <a:r>
              <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rPr>
              <a:t>等。</a:t>
            </a:r>
            <a:endParaRPr lang="zh-CN" altLang="en-US" sz="200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a:spLocks noChangeArrowheads="1"/>
          </p:cNvSpPr>
          <p:nvPr/>
        </p:nvSpPr>
        <p:spPr bwMode="auto">
          <a:xfrm>
            <a:off x="240978" y="3786778"/>
            <a:ext cx="8362950"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marL="0" indent="0" eaLnBrk="1" latinLnBrk="0" hangingPunct="1">
              <a:lnSpc>
                <a:spcPct val="150000"/>
              </a:lnSpc>
            </a:pPr>
            <a:r>
              <a:rPr lang="zh-CN" altLang="en-US" sz="2000" dirty="0">
                <a:solidFill>
                  <a:srgbClr val="000099"/>
                </a:solidFill>
                <a:latin typeface="Times New Roman" panose="02020603050405020304" pitchFamily="18" charset="0"/>
              </a:rPr>
              <a:t>　　</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链传动速度一般分为低速（</a:t>
            </a:r>
            <a:r>
              <a:rPr lang="zh-CN" altLang="en-US" sz="2000" i="1" dirty="0">
                <a:solidFill>
                  <a:srgbClr val="FF0000"/>
                </a:solidFill>
                <a:latin typeface="黑体" panose="02010609060101010101" pitchFamily="49" charset="-122"/>
                <a:ea typeface="黑体" panose="02010609060101010101" pitchFamily="49" charset="-122"/>
                <a:cs typeface="黑体" panose="02010609060101010101" pitchFamily="49" charset="-122"/>
              </a:rPr>
              <a:t>v</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&lt;0.6m/s</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），中速（</a:t>
            </a:r>
            <a:r>
              <a:rPr lang="zh-CN" altLang="en-US" sz="2000" i="1" dirty="0">
                <a:solidFill>
                  <a:srgbClr val="FF0000"/>
                </a:solidFill>
                <a:latin typeface="黑体" panose="02010609060101010101" pitchFamily="49" charset="-122"/>
                <a:ea typeface="黑体" panose="02010609060101010101" pitchFamily="49" charset="-122"/>
                <a:cs typeface="黑体" panose="02010609060101010101" pitchFamily="49" charset="-122"/>
              </a:rPr>
              <a:t>v</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=0.6～8m/s</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）和高速（</a:t>
            </a:r>
            <a:r>
              <a:rPr lang="zh-CN" altLang="en-US" sz="2000" i="1" dirty="0">
                <a:solidFill>
                  <a:srgbClr val="FF0000"/>
                </a:solidFill>
                <a:latin typeface="黑体" panose="02010609060101010101" pitchFamily="49" charset="-122"/>
                <a:ea typeface="黑体" panose="02010609060101010101" pitchFamily="49" charset="-122"/>
                <a:cs typeface="黑体" panose="02010609060101010101" pitchFamily="49" charset="-122"/>
              </a:rPr>
              <a:t>v</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&gt;8m/s</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en-US" altLang="zh-CN" sz="2000" dirty="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对于中、高速链传动，通常按功率曲线设计；</a:t>
            </a:r>
            <a:endPar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en-US" altLang="zh-CN" sz="2000" dirty="0">
                <a:solidFill>
                  <a:srgbClr val="002060"/>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rPr>
              <a:t>对于低速链传动，通常按静强度计算。</a:t>
            </a:r>
            <a:endParaRPr lang="zh-CN" altLang="en-US" sz="2000" dirty="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sp>
        <p:nvSpPr>
          <p:cNvPr id="4200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wipe(left)">
                                      <p:cBhvr>
                                        <p:cTn id="7" dur="500"/>
                                        <p:tgtEl>
                                          <p:spTgt spid="92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P spid="9"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41989" name="Picture 36" descr="NEXT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6453336"/>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572000" y="271463"/>
            <a:ext cx="4554538"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8" name="文本框 7"/>
          <p:cNvSpPr txBox="1">
            <a:spLocks noChangeArrowheads="1"/>
          </p:cNvSpPr>
          <p:nvPr/>
        </p:nvSpPr>
        <p:spPr bwMode="auto">
          <a:xfrm>
            <a:off x="222310" y="980569"/>
            <a:ext cx="3383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FF"/>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rPr>
              <a:t>、中、高速链传动设计</a:t>
            </a:r>
            <a:endParaRPr lang="en-US" altLang="zh-CN" sz="2400" dirty="0">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文本框 2"/>
          <p:cNvSpPr txBox="1">
            <a:spLocks noChangeArrowheads="1"/>
          </p:cNvSpPr>
          <p:nvPr/>
        </p:nvSpPr>
        <p:spPr bwMode="auto">
          <a:xfrm>
            <a:off x="467544" y="1628135"/>
            <a:ext cx="4003675" cy="398463"/>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）选择链轮齿数</a:t>
            </a:r>
            <a:r>
              <a:rPr lang="en-US" altLang="zh-CN" sz="2000" dirty="0">
                <a:solidFill>
                  <a:srgbClr val="000099"/>
                </a:solidFill>
                <a:latin typeface="Times New Roman" panose="02020603050405020304" pitchFamily="18" charset="0"/>
              </a:rPr>
              <a:t>z</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z</a:t>
            </a:r>
            <a:r>
              <a:rPr lang="en-US" altLang="zh-CN" sz="2000" baseline="-25000" dirty="0">
                <a:solidFill>
                  <a:srgbClr val="000099"/>
                </a:solidFill>
                <a:latin typeface="Times New Roman" panose="02020603050405020304" pitchFamily="18" charset="0"/>
              </a:rPr>
              <a:t>2</a:t>
            </a:r>
            <a:r>
              <a:rPr lang="zh-CN" altLang="en-US" sz="2000" dirty="0">
                <a:solidFill>
                  <a:srgbClr val="000099"/>
                </a:solidFill>
                <a:latin typeface="Times New Roman" panose="02020603050405020304" pitchFamily="18" charset="0"/>
              </a:rPr>
              <a:t>和传动比</a:t>
            </a:r>
            <a:endParaRPr lang="en-US" altLang="zh-CN" sz="2000" dirty="0">
              <a:solidFill>
                <a:srgbClr val="000099"/>
              </a:solidFill>
              <a:latin typeface="Times New Roman" panose="02020603050405020304" pitchFamily="18" charset="0"/>
            </a:endParaRPr>
          </a:p>
        </p:txBody>
      </p:sp>
      <p:sp>
        <p:nvSpPr>
          <p:cNvPr id="5" name="文本框 4"/>
          <p:cNvSpPr txBox="1">
            <a:spLocks noChangeArrowheads="1"/>
          </p:cNvSpPr>
          <p:nvPr/>
        </p:nvSpPr>
        <p:spPr bwMode="auto">
          <a:xfrm>
            <a:off x="395536" y="2279258"/>
            <a:ext cx="83629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hlinkClick r:id="rId3" action="ppaction://hlinksldjump"/>
              </a:rPr>
              <a:t>小链轮齿数过少</a:t>
            </a:r>
            <a:r>
              <a:rPr lang="zh-CN" altLang="en-US" sz="2000" dirty="0">
                <a:solidFill>
                  <a:srgbClr val="000099"/>
                </a:solidFill>
                <a:latin typeface="Times New Roman" panose="02020603050405020304" pitchFamily="18" charset="0"/>
              </a:rPr>
              <a:t>，</a:t>
            </a:r>
            <a:r>
              <a:rPr lang="zh-CN" altLang="en-US" sz="2000" dirty="0">
                <a:solidFill>
                  <a:schemeClr val="accent5">
                    <a:lumMod val="10000"/>
                  </a:schemeClr>
                </a:solidFill>
                <a:latin typeface="Times New Roman" panose="02020603050405020304" pitchFamily="18" charset="0"/>
              </a:rPr>
              <a:t>会导致增大传动的不均匀性和动载荷，加速链条和链轮的损坏。若小链轮齿数太多，则容易发生跳齿和脱链现象。</a:t>
            </a:r>
            <a:endParaRPr lang="zh-CN" altLang="en-US" sz="2000" dirty="0">
              <a:solidFill>
                <a:schemeClr val="accent5">
                  <a:lumMod val="10000"/>
                </a:schemeClr>
              </a:solidFill>
              <a:latin typeface="Times New Roman" panose="02020603050405020304" pitchFamily="18" charset="0"/>
            </a:endParaRPr>
          </a:p>
        </p:txBody>
      </p:sp>
      <p:sp>
        <p:nvSpPr>
          <p:cNvPr id="6" name="文本框 5"/>
          <p:cNvSpPr txBox="1">
            <a:spLocks noChangeArrowheads="1"/>
          </p:cNvSpPr>
          <p:nvPr/>
        </p:nvSpPr>
        <p:spPr bwMode="auto">
          <a:xfrm>
            <a:off x="395789" y="3248258"/>
            <a:ext cx="83629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chemeClr val="accent5">
                    <a:lumMod val="10000"/>
                  </a:schemeClr>
                </a:solidFill>
                <a:latin typeface="Times New Roman" panose="02020603050405020304" pitchFamily="18" charset="0"/>
              </a:rPr>
              <a:t>通常限制链传动的传动比</a:t>
            </a:r>
            <a:r>
              <a:rPr lang="en-US" altLang="zh-CN" sz="2000" i="1" dirty="0">
                <a:solidFill>
                  <a:schemeClr val="accent5">
                    <a:lumMod val="10000"/>
                  </a:schemeClr>
                </a:solidFill>
                <a:latin typeface="Times New Roman" panose="02020603050405020304" pitchFamily="18" charset="0"/>
              </a:rPr>
              <a:t>i</a:t>
            </a:r>
            <a:r>
              <a:rPr lang="en-US" altLang="zh-CN" sz="2000" dirty="0" smtClean="0">
                <a:solidFill>
                  <a:schemeClr val="accent5">
                    <a:lumMod val="10000"/>
                  </a:schemeClr>
                </a:solidFill>
                <a:latin typeface="Times New Roman" panose="02020603050405020304" pitchFamily="18" charset="0"/>
              </a:rPr>
              <a:t>≤6</a:t>
            </a:r>
            <a:r>
              <a:rPr lang="zh-CN" altLang="en-US" sz="2000" dirty="0" smtClean="0">
                <a:solidFill>
                  <a:schemeClr val="accent5">
                    <a:lumMod val="10000"/>
                  </a:schemeClr>
                </a:solidFill>
                <a:latin typeface="Times New Roman" panose="02020603050405020304" pitchFamily="18" charset="0"/>
              </a:rPr>
              <a:t>，</a:t>
            </a:r>
            <a:r>
              <a:rPr lang="zh-CN" altLang="en-US" sz="2000" dirty="0">
                <a:solidFill>
                  <a:schemeClr val="accent5">
                    <a:lumMod val="10000"/>
                  </a:schemeClr>
                </a:solidFill>
                <a:latin typeface="Times New Roman" panose="02020603050405020304" pitchFamily="18" charset="0"/>
              </a:rPr>
              <a:t>推荐的传动比</a:t>
            </a:r>
            <a:r>
              <a:rPr lang="en-US" altLang="zh-CN" sz="2000" i="1" dirty="0" err="1">
                <a:solidFill>
                  <a:srgbClr val="FF3300"/>
                </a:solidFill>
                <a:latin typeface="Times New Roman" panose="02020603050405020304" pitchFamily="18" charset="0"/>
              </a:rPr>
              <a:t>i</a:t>
            </a:r>
            <a:r>
              <a:rPr lang="zh-CN" altLang="en-US" sz="2000" dirty="0">
                <a:solidFill>
                  <a:srgbClr val="FF3300"/>
                </a:solidFill>
                <a:latin typeface="Times New Roman" panose="02020603050405020304" pitchFamily="18" charset="0"/>
              </a:rPr>
              <a:t>＝</a:t>
            </a:r>
            <a:r>
              <a:rPr lang="en-US" altLang="zh-CN" sz="2000" dirty="0">
                <a:solidFill>
                  <a:srgbClr val="FF3300"/>
                </a:solidFill>
                <a:latin typeface="Times New Roman" panose="02020603050405020304" pitchFamily="18" charset="0"/>
              </a:rPr>
              <a:t>2~3.5</a:t>
            </a:r>
            <a:r>
              <a:rPr lang="zh-CN" altLang="en-US" sz="2000" dirty="0">
                <a:solidFill>
                  <a:srgbClr val="000099"/>
                </a:solidFill>
                <a:latin typeface="Times New Roman" panose="02020603050405020304" pitchFamily="18" charset="0"/>
              </a:rPr>
              <a:t>。 </a:t>
            </a:r>
            <a:endParaRPr lang="zh-CN" altLang="en-US" sz="2000" dirty="0">
              <a:solidFill>
                <a:srgbClr val="000099"/>
              </a:solidFill>
              <a:latin typeface="Times New Roman" panose="02020603050405020304" pitchFamily="18" charset="0"/>
            </a:endParaRPr>
          </a:p>
        </p:txBody>
      </p:sp>
      <p:sp>
        <p:nvSpPr>
          <p:cNvPr id="10" name="文本框 9"/>
          <p:cNvSpPr txBox="1">
            <a:spLocks noChangeArrowheads="1"/>
          </p:cNvSpPr>
          <p:nvPr/>
        </p:nvSpPr>
        <p:spPr bwMode="auto">
          <a:xfrm>
            <a:off x="395918" y="3847688"/>
            <a:ext cx="3865880" cy="398780"/>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000" dirty="0">
                <a:solidFill>
                  <a:srgbClr val="000099"/>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）计算当量的单排链计算功率</a:t>
            </a:r>
            <a:endParaRPr lang="en-US" altLang="zh-CN" sz="20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4200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 name="对象 6">
            <a:hlinkClick r:id="" action="ppaction://ole?verb="/>
          </p:cNvPr>
          <p:cNvGraphicFramePr>
            <a:graphicFrameLocks noChangeAspect="1"/>
          </p:cNvGraphicFramePr>
          <p:nvPr/>
        </p:nvGraphicFramePr>
        <p:xfrm>
          <a:off x="1401445" y="5516880"/>
          <a:ext cx="1654810" cy="803910"/>
        </p:xfrm>
        <a:graphic>
          <a:graphicData uri="http://schemas.openxmlformats.org/presentationml/2006/ole">
            <mc:AlternateContent xmlns:mc="http://schemas.openxmlformats.org/markup-compatibility/2006">
              <mc:Choice xmlns:v="urn:schemas-microsoft-com:vml" Requires="v">
                <p:oleObj spid="_x0000_s1025" name="" r:id="rId4" imgW="889000" imgH="431800" progId="Equation.KSEE3">
                  <p:embed/>
                </p:oleObj>
              </mc:Choice>
              <mc:Fallback>
                <p:oleObj name="" r:id="rId4" imgW="889000" imgH="431800" progId="Equation.KSEE3">
                  <p:embed/>
                  <p:pic>
                    <p:nvPicPr>
                      <p:cNvPr id="0" name="图片 1024"/>
                      <p:cNvPicPr/>
                      <p:nvPr/>
                    </p:nvPicPr>
                    <p:blipFill>
                      <a:blip r:embed="rId5"/>
                      <a:stretch>
                        <a:fillRect/>
                      </a:stretch>
                    </p:blipFill>
                    <p:spPr>
                      <a:xfrm>
                        <a:off x="1401445" y="5516880"/>
                        <a:ext cx="1654810" cy="803910"/>
                      </a:xfrm>
                      <a:prstGeom prst="rect">
                        <a:avLst/>
                      </a:prstGeom>
                    </p:spPr>
                  </p:pic>
                </p:oleObj>
              </mc:Fallback>
            </mc:AlternateContent>
          </a:graphicData>
        </a:graphic>
      </p:graphicFrame>
      <p:sp>
        <p:nvSpPr>
          <p:cNvPr id="12" name="文本框 11"/>
          <p:cNvSpPr txBox="1">
            <a:spLocks noChangeArrowheads="1"/>
          </p:cNvSpPr>
          <p:nvPr/>
        </p:nvSpPr>
        <p:spPr bwMode="auto">
          <a:xfrm>
            <a:off x="395536" y="4521443"/>
            <a:ext cx="836295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chemeClr val="accent5">
                    <a:lumMod val="10000"/>
                  </a:schemeClr>
                </a:solidFill>
                <a:latin typeface="Times New Roman" panose="02020603050405020304" pitchFamily="18" charset="0"/>
              </a:rPr>
              <a:t>根据所设计的链传动工况、小链轮齿数和链条排数，将链传动所传递的功率修正为当量的单排链计算功率：</a:t>
            </a:r>
            <a:endParaRPr lang="zh-CN" altLang="en-US" sz="2000" dirty="0">
              <a:solidFill>
                <a:schemeClr val="accent5">
                  <a:lumMod val="10000"/>
                </a:schemeClr>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ldLvl="0" animBg="1"/>
      <p:bldP spid="5" grpId="0"/>
      <p:bldP spid="6" grpId="0"/>
      <p:bldP spid="10" grpId="0" bldLvl="0" animBg="1"/>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40" name="Rectangle 60"/>
          <p:cNvSpPr>
            <a:spLocks noChangeArrowheads="1"/>
          </p:cNvSpPr>
          <p:nvPr/>
        </p:nvSpPr>
        <p:spPr bwMode="auto">
          <a:xfrm>
            <a:off x="770310" y="4116184"/>
            <a:ext cx="5668963" cy="47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kumimoji="1" lang="en-US" altLang="zh-CN" sz="2000" b="1" dirty="0">
                <a:solidFill>
                  <a:srgbClr val="FF0000"/>
                </a:solidFill>
                <a:latin typeface="Times New Roman" panose="02020603050405020304" pitchFamily="18" charset="0"/>
              </a:rPr>
              <a:t>∆p</a:t>
            </a:r>
            <a:r>
              <a:rPr kumimoji="1" lang="zh-CN" altLang="en-US" sz="2000" b="1" dirty="0">
                <a:solidFill>
                  <a:srgbClr val="003399"/>
                </a:solidFill>
                <a:latin typeface="Times New Roman" panose="02020603050405020304" pitchFamily="18" charset="0"/>
              </a:rPr>
              <a:t>与</a:t>
            </a:r>
            <a:r>
              <a:rPr kumimoji="1" lang="zh-CN" altLang="en-US" sz="2000" b="1" dirty="0">
                <a:solidFill>
                  <a:srgbClr val="FF0000"/>
                </a:solidFill>
                <a:latin typeface="Times New Roman" panose="02020603050405020304" pitchFamily="18" charset="0"/>
              </a:rPr>
              <a:t>∆</a:t>
            </a:r>
            <a:r>
              <a:rPr kumimoji="1" lang="en-US" altLang="zh-CN" sz="2000" b="1" dirty="0">
                <a:solidFill>
                  <a:srgbClr val="FF0000"/>
                </a:solidFill>
                <a:latin typeface="Times New Roman" panose="02020603050405020304" pitchFamily="18" charset="0"/>
              </a:rPr>
              <a:t>d’</a:t>
            </a:r>
            <a:r>
              <a:rPr kumimoji="1" lang="en-US" altLang="zh-CN" sz="2000" dirty="0">
                <a:solidFill>
                  <a:schemeClr val="bg1"/>
                </a:solidFill>
                <a:latin typeface="Times New Roman" panose="02020603050405020304" pitchFamily="18" charset="0"/>
              </a:rPr>
              <a:t> </a:t>
            </a:r>
            <a:r>
              <a:rPr kumimoji="1" lang="zh-CN" altLang="en-US" sz="2000" b="1" dirty="0">
                <a:solidFill>
                  <a:srgbClr val="003399"/>
                </a:solidFill>
                <a:latin typeface="Times New Roman" panose="02020603050405020304" pitchFamily="18" charset="0"/>
              </a:rPr>
              <a:t>之间的关系</a:t>
            </a:r>
            <a:r>
              <a:rPr kumimoji="1" lang="zh-CN" altLang="en-US" sz="2000" b="1" dirty="0">
                <a:solidFill>
                  <a:schemeClr val="bg1"/>
                </a:solidFill>
                <a:latin typeface="Times New Roman" panose="02020603050405020304" pitchFamily="18" charset="0"/>
              </a:rPr>
              <a:t>：</a:t>
            </a:r>
            <a:endParaRPr kumimoji="1" lang="zh-CN" altLang="en-US" sz="2000" dirty="0">
              <a:solidFill>
                <a:schemeClr val="bg1"/>
              </a:solidFill>
              <a:latin typeface="Times New Roman" panose="02020603050405020304" pitchFamily="18" charset="0"/>
            </a:endParaRPr>
          </a:p>
        </p:txBody>
      </p:sp>
      <p:sp>
        <p:nvSpPr>
          <p:cNvPr id="148483" name="Text Box 3"/>
          <p:cNvSpPr txBox="1">
            <a:spLocks noChangeArrowheads="1"/>
          </p:cNvSpPr>
          <p:nvPr/>
        </p:nvSpPr>
        <p:spPr bwMode="auto">
          <a:xfrm>
            <a:off x="467291" y="404664"/>
            <a:ext cx="274161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b="1" dirty="0" smtClean="0">
                <a:solidFill>
                  <a:srgbClr val="003399"/>
                </a:solidFill>
                <a:latin typeface="宋体" panose="02010600030101010101" pitchFamily="2" charset="-122"/>
              </a:rPr>
              <a:t>链轮</a:t>
            </a:r>
            <a:r>
              <a:rPr kumimoji="1" lang="zh-CN" altLang="en-US" b="1" dirty="0">
                <a:solidFill>
                  <a:srgbClr val="003399"/>
                </a:solidFill>
                <a:latin typeface="宋体" panose="02010600030101010101" pitchFamily="2" charset="-122"/>
              </a:rPr>
              <a:t>的齿数 </a:t>
            </a:r>
            <a:r>
              <a:rPr kumimoji="1" lang="en-US" altLang="zh-CN" b="1" dirty="0">
                <a:solidFill>
                  <a:srgbClr val="003399"/>
                </a:solidFill>
                <a:latin typeface="宋体" panose="02010600030101010101" pitchFamily="2" charset="-122"/>
              </a:rPr>
              <a:t>Z</a:t>
            </a:r>
            <a:endParaRPr kumimoji="1" lang="en-US" altLang="zh-CN" dirty="0">
              <a:solidFill>
                <a:srgbClr val="003399"/>
              </a:solidFill>
              <a:latin typeface="Times New Roman" panose="02020603050405020304" pitchFamily="18" charset="0"/>
            </a:endParaRPr>
          </a:p>
        </p:txBody>
      </p:sp>
      <p:sp>
        <p:nvSpPr>
          <p:cNvPr id="148501" name="Rectangle 21"/>
          <p:cNvSpPr>
            <a:spLocks noChangeArrowheads="1"/>
          </p:cNvSpPr>
          <p:nvPr/>
        </p:nvSpPr>
        <p:spPr bwMode="auto">
          <a:xfrm>
            <a:off x="467587" y="3618478"/>
            <a:ext cx="316945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solidFill>
                  <a:schemeClr val="folHlink"/>
                </a:solidFill>
                <a:latin typeface="黑体" panose="02010609060101010101" pitchFamily="49" charset="-122"/>
                <a:ea typeface="黑体" panose="02010609060101010101" pitchFamily="49" charset="-122"/>
              </a:rPr>
              <a:t>大链轮的齿数</a:t>
            </a:r>
            <a:r>
              <a:rPr kumimoji="1" lang="en-US" altLang="zh-CN" dirty="0">
                <a:solidFill>
                  <a:schemeClr val="folHlink"/>
                </a:solidFill>
                <a:latin typeface="黑体" panose="02010609060101010101" pitchFamily="49" charset="-122"/>
                <a:ea typeface="黑体" panose="02010609060101010101" pitchFamily="49" charset="-122"/>
              </a:rPr>
              <a:t>:</a:t>
            </a:r>
            <a:r>
              <a:rPr kumimoji="1" lang="en-US" altLang="zh-CN" dirty="0">
                <a:solidFill>
                  <a:srgbClr val="66FF33"/>
                </a:solidFill>
                <a:latin typeface="黑体" panose="02010609060101010101" pitchFamily="49" charset="-122"/>
                <a:ea typeface="黑体" panose="02010609060101010101" pitchFamily="49" charset="-122"/>
              </a:rPr>
              <a:t> </a:t>
            </a:r>
            <a:r>
              <a:rPr kumimoji="1" lang="en-US" altLang="zh-CN" dirty="0">
                <a:solidFill>
                  <a:srgbClr val="0000FF"/>
                </a:solidFill>
                <a:latin typeface="黑体" panose="02010609060101010101" pitchFamily="49" charset="-122"/>
                <a:ea typeface="黑体" panose="02010609060101010101" pitchFamily="49" charset="-122"/>
              </a:rPr>
              <a:t>z</a:t>
            </a:r>
            <a:r>
              <a:rPr kumimoji="1" lang="en-US" altLang="zh-CN" baseline="-25000" dirty="0">
                <a:solidFill>
                  <a:srgbClr val="0000FF"/>
                </a:solidFill>
                <a:latin typeface="黑体" panose="02010609060101010101" pitchFamily="49" charset="-122"/>
                <a:ea typeface="黑体" panose="02010609060101010101" pitchFamily="49" charset="-122"/>
              </a:rPr>
              <a:t>2 </a:t>
            </a:r>
            <a:r>
              <a:rPr kumimoji="1" lang="en-US" altLang="zh-CN" dirty="0">
                <a:solidFill>
                  <a:srgbClr val="0000FF"/>
                </a:solidFill>
                <a:latin typeface="黑体" panose="02010609060101010101" pitchFamily="49" charset="-122"/>
                <a:ea typeface="黑体" panose="02010609060101010101" pitchFamily="49" charset="-122"/>
              </a:rPr>
              <a:t>=</a:t>
            </a:r>
            <a:r>
              <a:rPr kumimoji="1" lang="en-US" altLang="zh-CN" dirty="0" err="1">
                <a:solidFill>
                  <a:srgbClr val="0000FF"/>
                </a:solidFill>
                <a:latin typeface="黑体" panose="02010609060101010101" pitchFamily="49" charset="-122"/>
                <a:ea typeface="黑体" panose="02010609060101010101" pitchFamily="49" charset="-122"/>
              </a:rPr>
              <a:t>i</a:t>
            </a:r>
            <a:r>
              <a:rPr kumimoji="1" lang="en-US" altLang="zh-CN" dirty="0">
                <a:solidFill>
                  <a:srgbClr val="0000FF"/>
                </a:solidFill>
                <a:latin typeface="黑体" panose="02010609060101010101" pitchFamily="49" charset="-122"/>
                <a:ea typeface="黑体" panose="02010609060101010101" pitchFamily="49" charset="-122"/>
              </a:rPr>
              <a:t> z</a:t>
            </a:r>
            <a:r>
              <a:rPr kumimoji="1" lang="en-US" altLang="zh-CN" baseline="-25000" dirty="0">
                <a:solidFill>
                  <a:srgbClr val="0000FF"/>
                </a:solidFill>
                <a:latin typeface="黑体" panose="02010609060101010101" pitchFamily="49" charset="-122"/>
                <a:ea typeface="黑体" panose="02010609060101010101" pitchFamily="49" charset="-122"/>
              </a:rPr>
              <a:t>1</a:t>
            </a:r>
            <a:endParaRPr kumimoji="1" lang="en-US" altLang="zh-CN" baseline="-25000" dirty="0">
              <a:solidFill>
                <a:srgbClr val="0000FF"/>
              </a:solidFill>
              <a:latin typeface="黑体" panose="02010609060101010101" pitchFamily="49" charset="-122"/>
              <a:ea typeface="黑体" panose="02010609060101010101" pitchFamily="49" charset="-122"/>
            </a:endParaRPr>
          </a:p>
        </p:txBody>
      </p:sp>
      <p:grpSp>
        <p:nvGrpSpPr>
          <p:cNvPr id="148528" name="Group 48"/>
          <p:cNvGrpSpPr/>
          <p:nvPr/>
        </p:nvGrpSpPr>
        <p:grpSpPr bwMode="auto">
          <a:xfrm>
            <a:off x="7236296" y="3284984"/>
            <a:ext cx="1022350" cy="1165225"/>
            <a:chOff x="1327" y="-55"/>
            <a:chExt cx="644" cy="734"/>
          </a:xfrm>
        </p:grpSpPr>
        <p:sp>
          <p:nvSpPr>
            <p:cNvPr id="148529" name="Text Box 49"/>
            <p:cNvSpPr txBox="1">
              <a:spLocks noChangeArrowheads="1"/>
            </p:cNvSpPr>
            <p:nvPr/>
          </p:nvSpPr>
          <p:spPr bwMode="auto">
            <a:xfrm>
              <a:off x="1405" y="-55"/>
              <a:ext cx="566" cy="28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FF"/>
                  </a:solidFill>
                  <a:latin typeface="Times New Roman" panose="02020603050405020304" pitchFamily="18" charset="0"/>
                </a:rPr>
                <a:t>P+</a:t>
              </a:r>
              <a:r>
                <a:rPr kumimoji="1" lang="en-US" altLang="zh-CN" sz="2400" b="1">
                  <a:solidFill>
                    <a:srgbClr val="0000FF"/>
                  </a:solidFill>
                  <a:latin typeface="Times New Roman" panose="02020603050405020304" pitchFamily="18" charset="0"/>
                  <a:cs typeface="Times New Roman" panose="02020603050405020304" pitchFamily="18" charset="0"/>
                </a:rPr>
                <a:t>∆p</a:t>
              </a:r>
              <a:endParaRPr kumimoji="1" lang="en-US" altLang="zh-CN" sz="2400" b="1">
                <a:solidFill>
                  <a:srgbClr val="0000FF"/>
                </a:solidFill>
                <a:latin typeface="Times New Roman" panose="02020603050405020304" pitchFamily="18" charset="0"/>
                <a:cs typeface="Times New Roman" panose="02020603050405020304" pitchFamily="18" charset="0"/>
              </a:endParaRPr>
            </a:p>
          </p:txBody>
        </p:sp>
        <p:grpSp>
          <p:nvGrpSpPr>
            <p:cNvPr id="148530" name="Group 50"/>
            <p:cNvGrpSpPr/>
            <p:nvPr/>
          </p:nvGrpSpPr>
          <p:grpSpPr bwMode="auto">
            <a:xfrm>
              <a:off x="1327" y="155"/>
              <a:ext cx="611" cy="524"/>
              <a:chOff x="1327" y="155"/>
              <a:chExt cx="611" cy="524"/>
            </a:xfrm>
          </p:grpSpPr>
          <p:sp>
            <p:nvSpPr>
              <p:cNvPr id="148531" name="Line 51"/>
              <p:cNvSpPr>
                <a:spLocks noChangeShapeType="1"/>
              </p:cNvSpPr>
              <p:nvPr/>
            </p:nvSpPr>
            <p:spPr bwMode="auto">
              <a:xfrm flipH="1">
                <a:off x="1327" y="207"/>
                <a:ext cx="610" cy="1"/>
              </a:xfrm>
              <a:prstGeom prst="line">
                <a:avLst/>
              </a:prstGeom>
              <a:noFill/>
              <a:ln w="1270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2" name="Line 52"/>
              <p:cNvSpPr>
                <a:spLocks noChangeShapeType="1"/>
              </p:cNvSpPr>
              <p:nvPr/>
            </p:nvSpPr>
            <p:spPr bwMode="auto">
              <a:xfrm flipV="1">
                <a:off x="1937" y="155"/>
                <a:ext cx="1" cy="514"/>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3" name="Line 53"/>
              <p:cNvSpPr>
                <a:spLocks noChangeShapeType="1"/>
              </p:cNvSpPr>
              <p:nvPr/>
            </p:nvSpPr>
            <p:spPr bwMode="auto">
              <a:xfrm flipV="1">
                <a:off x="1331" y="155"/>
                <a:ext cx="0" cy="524"/>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48535" name="Group 55"/>
          <p:cNvGrpSpPr/>
          <p:nvPr/>
        </p:nvGrpSpPr>
        <p:grpSpPr bwMode="auto">
          <a:xfrm>
            <a:off x="7124700" y="4206875"/>
            <a:ext cx="1365250" cy="571500"/>
            <a:chOff x="1277" y="665"/>
            <a:chExt cx="860" cy="360"/>
          </a:xfrm>
        </p:grpSpPr>
        <p:sp>
          <p:nvSpPr>
            <p:cNvPr id="148536" name="Oval 56"/>
            <p:cNvSpPr>
              <a:spLocks noChangeArrowheads="1"/>
            </p:cNvSpPr>
            <p:nvPr/>
          </p:nvSpPr>
          <p:spPr bwMode="auto">
            <a:xfrm>
              <a:off x="1805" y="693"/>
              <a:ext cx="332" cy="332"/>
            </a:xfrm>
            <a:prstGeom prst="ellipse">
              <a:avLst/>
            </a:prstGeom>
            <a:noFill/>
            <a:ln w="19050">
              <a:solidFill>
                <a:srgbClr val="0000FF"/>
              </a:solidFill>
              <a:prstDash val="lgDashDot"/>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7" name="Oval 57"/>
            <p:cNvSpPr>
              <a:spLocks noChangeArrowheads="1"/>
            </p:cNvSpPr>
            <p:nvPr/>
          </p:nvSpPr>
          <p:spPr bwMode="auto">
            <a:xfrm>
              <a:off x="1277" y="665"/>
              <a:ext cx="332" cy="332"/>
            </a:xfrm>
            <a:prstGeom prst="ellipse">
              <a:avLst/>
            </a:prstGeom>
            <a:noFill/>
            <a:ln w="19050">
              <a:solidFill>
                <a:srgbClr val="0000FF"/>
              </a:solidFill>
              <a:prstDash val="lgDashDot"/>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48538" name="Object 58"/>
          <p:cNvGraphicFramePr>
            <a:graphicFrameLocks noChangeAspect="1"/>
          </p:cNvGraphicFramePr>
          <p:nvPr/>
        </p:nvGraphicFramePr>
        <p:xfrm>
          <a:off x="3791585" y="4720908"/>
          <a:ext cx="2540000" cy="733425"/>
        </p:xfrm>
        <a:graphic>
          <a:graphicData uri="http://schemas.openxmlformats.org/presentationml/2006/ole">
            <mc:AlternateContent xmlns:mc="http://schemas.openxmlformats.org/markup-compatibility/2006">
              <mc:Choice xmlns:v="urn:schemas-microsoft-com:vml" Requires="v">
                <p:oleObj spid="_x0000_s18470" name="Microsoft 公式 3.0" r:id="rId1" imgW="1485265" imgH="431800" progId="Equation.3">
                  <p:embed/>
                </p:oleObj>
              </mc:Choice>
              <mc:Fallback>
                <p:oleObj name="Microsoft 公式 3.0" r:id="rId1" imgW="1485265" imgH="431800" progId="Equation.3">
                  <p:embed/>
                  <p:pic>
                    <p:nvPicPr>
                      <p:cNvPr id="0" name="图片 184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585" y="4720908"/>
                        <a:ext cx="2540000" cy="733425"/>
                      </a:xfrm>
                      <a:prstGeom prst="rect">
                        <a:avLst/>
                      </a:prstGeom>
                      <a:solidFill>
                        <a:srgbClr val="FFFF00"/>
                      </a:solidFill>
                    </p:spPr>
                  </p:pic>
                </p:oleObj>
              </mc:Fallback>
            </mc:AlternateContent>
          </a:graphicData>
        </a:graphic>
      </p:graphicFrame>
      <p:sp>
        <p:nvSpPr>
          <p:cNvPr id="148539" name="Rectangle 59"/>
          <p:cNvSpPr>
            <a:spLocks noChangeArrowheads="1"/>
          </p:cNvSpPr>
          <p:nvPr/>
        </p:nvSpPr>
        <p:spPr bwMode="auto">
          <a:xfrm>
            <a:off x="4471988" y="3910013"/>
            <a:ext cx="24733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dirty="0">
                <a:solidFill>
                  <a:srgbClr val="003399"/>
                </a:solidFill>
                <a:latin typeface="Times New Roman" panose="02020603050405020304" pitchFamily="18" charset="0"/>
              </a:rPr>
              <a:t>链条铰链磨损后，节距将边长，链轮节圆将向齿顶移动。</a:t>
            </a:r>
            <a:endParaRPr kumimoji="1" lang="zh-CN" altLang="en-US" sz="1400" baseline="-25000" dirty="0">
              <a:solidFill>
                <a:srgbClr val="003399"/>
              </a:solidFill>
              <a:latin typeface="Times New Roman" panose="02020603050405020304" pitchFamily="18" charset="0"/>
            </a:endParaRPr>
          </a:p>
        </p:txBody>
      </p:sp>
      <p:sp>
        <p:nvSpPr>
          <p:cNvPr id="148541" name="Rectangle 61"/>
          <p:cNvSpPr>
            <a:spLocks noChangeArrowheads="1"/>
          </p:cNvSpPr>
          <p:nvPr/>
        </p:nvSpPr>
        <p:spPr bwMode="auto">
          <a:xfrm>
            <a:off x="511757" y="5765800"/>
            <a:ext cx="18165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FF0000"/>
                </a:solidFill>
                <a:latin typeface="Times New Roman" panose="02020603050405020304" pitchFamily="18" charset="0"/>
              </a:rPr>
              <a:t>∆p</a:t>
            </a:r>
            <a:r>
              <a:rPr kumimoji="1" lang="zh-CN" altLang="en-US" sz="2000" b="1" dirty="0">
                <a:solidFill>
                  <a:srgbClr val="003399"/>
                </a:solidFill>
                <a:latin typeface="Times New Roman" panose="02020603050405020304" pitchFamily="18" charset="0"/>
              </a:rPr>
              <a:t>一定时</a:t>
            </a:r>
            <a:r>
              <a:rPr kumimoji="1" lang="en-US" altLang="zh-CN" sz="2000" b="1" dirty="0">
                <a:solidFill>
                  <a:srgbClr val="003399"/>
                </a:solidFill>
                <a:latin typeface="Times New Roman" panose="02020603050405020304" pitchFamily="18" charset="0"/>
              </a:rPr>
              <a:t>:   z</a:t>
            </a:r>
            <a:r>
              <a:rPr kumimoji="1" lang="en-US" altLang="zh-CN" sz="2000" b="1" baseline="-25000" dirty="0">
                <a:solidFill>
                  <a:srgbClr val="003399"/>
                </a:solidFill>
                <a:latin typeface="Times New Roman" panose="02020603050405020304" pitchFamily="18" charset="0"/>
              </a:rPr>
              <a:t> </a:t>
            </a:r>
            <a:r>
              <a:rPr kumimoji="1" lang="en-US" altLang="zh-CN" sz="2000" b="1" dirty="0">
                <a:solidFill>
                  <a:srgbClr val="FF0000"/>
                </a:solidFill>
                <a:latin typeface="Times New Roman" panose="02020603050405020304" pitchFamily="18" charset="0"/>
              </a:rPr>
              <a:t>↑</a:t>
            </a:r>
            <a:endParaRPr kumimoji="1" lang="en-US" altLang="zh-CN" sz="2000" b="1" dirty="0">
              <a:solidFill>
                <a:srgbClr val="FF0000"/>
              </a:solidFill>
              <a:latin typeface="Times New Roman" panose="02020603050405020304" pitchFamily="18" charset="0"/>
            </a:endParaRPr>
          </a:p>
        </p:txBody>
      </p:sp>
      <p:sp>
        <p:nvSpPr>
          <p:cNvPr id="148542" name="Rectangle 62"/>
          <p:cNvSpPr>
            <a:spLocks noChangeArrowheads="1"/>
          </p:cNvSpPr>
          <p:nvPr/>
        </p:nvSpPr>
        <p:spPr bwMode="auto">
          <a:xfrm>
            <a:off x="2373630" y="5716905"/>
            <a:ext cx="1263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solidFill>
                  <a:schemeClr val="tx2"/>
                </a:solidFill>
                <a:latin typeface="Times New Roman" panose="02020603050405020304" pitchFamily="18" charset="0"/>
              </a:rPr>
              <a:t>→</a:t>
            </a:r>
            <a:r>
              <a:rPr kumimoji="1" lang="en-US" altLang="zh-CN" sz="2000" b="1">
                <a:solidFill>
                  <a:srgbClr val="66FF33"/>
                </a:solidFill>
                <a:latin typeface="Times New Roman" panose="02020603050405020304" pitchFamily="18" charset="0"/>
              </a:rPr>
              <a:t>  </a:t>
            </a:r>
            <a:r>
              <a:rPr kumimoji="1" lang="en-US" altLang="zh-CN" sz="2000" b="1">
                <a:solidFill>
                  <a:srgbClr val="FF0000"/>
                </a:solidFill>
                <a:latin typeface="Times New Roman" panose="02020603050405020304" pitchFamily="18" charset="0"/>
              </a:rPr>
              <a:t>∆d’ ↑</a:t>
            </a:r>
            <a:endParaRPr kumimoji="1" lang="en-US" altLang="zh-CN" sz="2000" b="1">
              <a:solidFill>
                <a:srgbClr val="FF0000"/>
              </a:solidFill>
              <a:latin typeface="Times New Roman" panose="02020603050405020304" pitchFamily="18" charset="0"/>
            </a:endParaRPr>
          </a:p>
        </p:txBody>
      </p:sp>
      <p:sp>
        <p:nvSpPr>
          <p:cNvPr id="148543" name="Rectangle 63"/>
          <p:cNvSpPr>
            <a:spLocks noChangeArrowheads="1"/>
          </p:cNvSpPr>
          <p:nvPr/>
        </p:nvSpPr>
        <p:spPr bwMode="auto">
          <a:xfrm>
            <a:off x="362263" y="6165557"/>
            <a:ext cx="3803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FF0000"/>
                </a:solidFill>
                <a:latin typeface="Times New Roman" panose="02020603050405020304" pitchFamily="18" charset="0"/>
              </a:rPr>
              <a:t>→</a:t>
            </a:r>
            <a:r>
              <a:rPr kumimoji="1" lang="en-US" altLang="zh-CN" sz="2000" b="1" dirty="0">
                <a:solidFill>
                  <a:srgbClr val="66FF33"/>
                </a:solidFill>
                <a:latin typeface="Times New Roman" panose="02020603050405020304" pitchFamily="18" charset="0"/>
              </a:rPr>
              <a:t> </a:t>
            </a:r>
            <a:r>
              <a:rPr kumimoji="1" lang="zh-CN" altLang="en-US" sz="2000" b="1" dirty="0">
                <a:solidFill>
                  <a:srgbClr val="003399"/>
                </a:solidFill>
                <a:latin typeface="Times New Roman" panose="02020603050405020304" pitchFamily="18" charset="0"/>
              </a:rPr>
              <a:t>越容易发生跳齿和脱链现象</a:t>
            </a:r>
            <a:r>
              <a:rPr kumimoji="1" lang="zh-CN" altLang="en-US" sz="2000" b="1" dirty="0">
                <a:solidFill>
                  <a:schemeClr val="bg1"/>
                </a:solidFill>
                <a:latin typeface="Times New Roman" panose="02020603050405020304" pitchFamily="18" charset="0"/>
              </a:rPr>
              <a:t>。</a:t>
            </a:r>
            <a:endParaRPr kumimoji="1" lang="zh-CN" altLang="en-US" sz="2000" b="1" dirty="0">
              <a:solidFill>
                <a:schemeClr val="bg1"/>
              </a:solidFill>
              <a:latin typeface="Times New Roman" panose="02020603050405020304" pitchFamily="18" charset="0"/>
            </a:endParaRPr>
          </a:p>
        </p:txBody>
      </p:sp>
      <p:sp>
        <p:nvSpPr>
          <p:cNvPr id="148544" name="Rectangle 64"/>
          <p:cNvSpPr>
            <a:spLocks noChangeArrowheads="1"/>
          </p:cNvSpPr>
          <p:nvPr/>
        </p:nvSpPr>
        <p:spPr bwMode="auto">
          <a:xfrm>
            <a:off x="4064635" y="5923915"/>
            <a:ext cx="2998788" cy="457200"/>
          </a:xfrm>
          <a:prstGeom prst="rect">
            <a:avLst/>
          </a:prstGeom>
          <a:solidFill>
            <a:srgbClr val="FFCCFF"/>
          </a:solidFill>
          <a:ln w="12700">
            <a:solidFill>
              <a:srgbClr val="FF0000"/>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2400" b="1" dirty="0">
                <a:solidFill>
                  <a:schemeClr val="hlink"/>
                </a:solidFill>
                <a:latin typeface="Times New Roman" panose="02020603050405020304" pitchFamily="18" charset="0"/>
              </a:rPr>
              <a:t>一般取：</a:t>
            </a:r>
            <a:r>
              <a:rPr kumimoji="1" lang="zh-CN" altLang="en-US" sz="2400" b="1" dirty="0">
                <a:solidFill>
                  <a:srgbClr val="FF0000"/>
                </a:solidFill>
                <a:latin typeface="Times New Roman" panose="02020603050405020304" pitchFamily="18" charset="0"/>
              </a:rPr>
              <a:t> </a:t>
            </a:r>
            <a:r>
              <a:rPr kumimoji="1" lang="en-US" altLang="zh-CN" sz="2400" b="1" dirty="0">
                <a:solidFill>
                  <a:srgbClr val="FF0000"/>
                </a:solidFill>
                <a:latin typeface="Times New Roman" panose="02020603050405020304" pitchFamily="18" charset="0"/>
              </a:rPr>
              <a:t>z</a:t>
            </a:r>
            <a:r>
              <a:rPr kumimoji="1" lang="en-US" altLang="zh-CN" sz="2400" b="1" baseline="-25000" dirty="0">
                <a:solidFill>
                  <a:srgbClr val="FF0000"/>
                </a:solidFill>
                <a:latin typeface="Times New Roman" panose="02020603050405020304" pitchFamily="18" charset="0"/>
              </a:rPr>
              <a:t>2 </a:t>
            </a:r>
            <a:r>
              <a:rPr kumimoji="1" lang="en-US" altLang="zh-CN" sz="2400" b="1" dirty="0">
                <a:solidFill>
                  <a:srgbClr val="FF0000"/>
                </a:solidFill>
                <a:latin typeface="宋体" panose="02010600030101010101" pitchFamily="2" charset="-122"/>
              </a:rPr>
              <a:t>≤</a:t>
            </a:r>
            <a:r>
              <a:rPr kumimoji="1" lang="en-US" altLang="zh-CN" sz="2400" b="1" dirty="0">
                <a:solidFill>
                  <a:srgbClr val="FF0000"/>
                </a:solidFill>
                <a:latin typeface="Times New Roman" panose="02020603050405020304" pitchFamily="18" charset="0"/>
              </a:rPr>
              <a:t> </a:t>
            </a:r>
            <a:r>
              <a:rPr kumimoji="1" lang="en-US" altLang="zh-CN" sz="2400" b="1" dirty="0" smtClean="0">
                <a:solidFill>
                  <a:srgbClr val="FF0000"/>
                </a:solidFill>
                <a:latin typeface="Times New Roman" panose="02020603050405020304" pitchFamily="18" charset="0"/>
              </a:rPr>
              <a:t>120</a:t>
            </a:r>
            <a:endParaRPr kumimoji="1" lang="en-US" altLang="zh-CN" sz="2400" b="1" dirty="0">
              <a:solidFill>
                <a:srgbClr val="FF0000"/>
              </a:solidFill>
              <a:latin typeface="Times New Roman" panose="02020603050405020304" pitchFamily="18" charset="0"/>
            </a:endParaRPr>
          </a:p>
        </p:txBody>
      </p:sp>
      <p:sp>
        <p:nvSpPr>
          <p:cNvPr id="148545" name="Rectangle 65"/>
          <p:cNvSpPr>
            <a:spLocks noChangeArrowheads="1"/>
          </p:cNvSpPr>
          <p:nvPr/>
        </p:nvSpPr>
        <p:spPr bwMode="auto">
          <a:xfrm>
            <a:off x="2787804" y="323131"/>
            <a:ext cx="527284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solidFill>
                  <a:srgbClr val="003399"/>
                </a:solidFill>
                <a:latin typeface="宋体" panose="02010600030101010101" pitchFamily="2" charset="-122"/>
              </a:rPr>
              <a:t>因为多边形效应，为使链传动运动平稳，小链轮齿数不宜过少。</a:t>
            </a:r>
            <a:endParaRPr kumimoji="1" lang="zh-CN" altLang="en-US" dirty="0">
              <a:solidFill>
                <a:srgbClr val="003399"/>
              </a:solidFill>
              <a:latin typeface="宋体" panose="02010600030101010101" pitchFamily="2" charset="-122"/>
            </a:endParaRPr>
          </a:p>
        </p:txBody>
      </p:sp>
      <p:sp>
        <p:nvSpPr>
          <p:cNvPr id="148485" name="Text Box 5"/>
          <p:cNvSpPr txBox="1">
            <a:spLocks noChangeArrowheads="1"/>
          </p:cNvSpPr>
          <p:nvPr/>
        </p:nvSpPr>
        <p:spPr bwMode="auto">
          <a:xfrm>
            <a:off x="2987824" y="1196752"/>
            <a:ext cx="1777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333399"/>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sz="2000" b="1" dirty="0" smtClean="0">
                <a:solidFill>
                  <a:schemeClr val="tx2"/>
                </a:solidFill>
                <a:latin typeface="Times New Roman" panose="02020603050405020304" pitchFamily="18" charset="0"/>
              </a:rPr>
              <a:t>小链轮</a:t>
            </a:r>
            <a:r>
              <a:rPr kumimoji="1" lang="zh-CN" altLang="en-US" sz="2000" b="1" dirty="0">
                <a:solidFill>
                  <a:schemeClr val="tx2"/>
                </a:solidFill>
                <a:latin typeface="Times New Roman" panose="02020603050405020304" pitchFamily="18" charset="0"/>
              </a:rPr>
              <a:t>的齿数</a:t>
            </a:r>
            <a:r>
              <a:rPr kumimoji="1" lang="en-US" altLang="zh-CN" sz="2400" b="1" dirty="0">
                <a:solidFill>
                  <a:schemeClr val="tx2"/>
                </a:solidFill>
                <a:latin typeface="Times New Roman" panose="02020603050405020304" pitchFamily="18" charset="0"/>
              </a:rPr>
              <a:t>z</a:t>
            </a:r>
            <a:r>
              <a:rPr kumimoji="1" lang="en-US" altLang="zh-CN" sz="2400" b="1" baseline="-25000" dirty="0">
                <a:solidFill>
                  <a:schemeClr val="tx2"/>
                </a:solidFill>
                <a:latin typeface="Times New Roman" panose="02020603050405020304" pitchFamily="18" charset="0"/>
              </a:rPr>
              <a:t>1</a:t>
            </a:r>
            <a:endParaRPr kumimoji="1" lang="en-US" altLang="zh-CN" sz="2400" b="1" baseline="-25000" dirty="0">
              <a:solidFill>
                <a:schemeClr val="tx2"/>
              </a:solidFill>
              <a:latin typeface="Times New Roman" panose="02020603050405020304" pitchFamily="18" charset="0"/>
            </a:endParaRPr>
          </a:p>
        </p:txBody>
      </p:sp>
      <p:grpSp>
        <p:nvGrpSpPr>
          <p:cNvPr id="148596" name="Group 116"/>
          <p:cNvGrpSpPr/>
          <p:nvPr/>
        </p:nvGrpSpPr>
        <p:grpSpPr bwMode="auto">
          <a:xfrm>
            <a:off x="467544" y="1628800"/>
            <a:ext cx="6981825" cy="996950"/>
            <a:chOff x="394" y="1188"/>
            <a:chExt cx="4398" cy="628"/>
          </a:xfrm>
        </p:grpSpPr>
        <p:sp>
          <p:nvSpPr>
            <p:cNvPr id="148486" name="Text Box 6"/>
            <p:cNvSpPr txBox="1">
              <a:spLocks noChangeArrowheads="1"/>
            </p:cNvSpPr>
            <p:nvPr/>
          </p:nvSpPr>
          <p:spPr bwMode="auto">
            <a:xfrm>
              <a:off x="589" y="1226"/>
              <a:ext cx="38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333399"/>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sz="2000" b="1">
                  <a:solidFill>
                    <a:schemeClr val="tx2"/>
                  </a:solidFill>
                  <a:latin typeface="Times New Roman" panose="02020603050405020304" pitchFamily="18" charset="0"/>
                </a:rPr>
                <a:t>链速 </a:t>
              </a:r>
              <a:r>
                <a:rPr kumimoji="1" lang="en-US" altLang="zh-CN" sz="2000" b="1">
                  <a:solidFill>
                    <a:schemeClr val="tx2"/>
                  </a:solidFill>
                  <a:latin typeface="Times New Roman" panose="02020603050405020304" pitchFamily="18" charset="0"/>
                </a:rPr>
                <a:t>v    m/s             0.63~3                   3~8                  </a:t>
              </a:r>
              <a:r>
                <a:rPr kumimoji="1" lang="en-US" altLang="zh-CN" sz="2000" b="1">
                  <a:solidFill>
                    <a:schemeClr val="tx2"/>
                  </a:solidFill>
                  <a:latin typeface="宋体" panose="02010600030101010101" pitchFamily="2" charset="-122"/>
                </a:rPr>
                <a:t>≥</a:t>
              </a:r>
              <a:r>
                <a:rPr kumimoji="1" lang="en-US" altLang="zh-CN" sz="2000" b="1">
                  <a:solidFill>
                    <a:schemeClr val="tx2"/>
                  </a:solidFill>
                  <a:latin typeface="Times New Roman" panose="02020603050405020304" pitchFamily="18" charset="0"/>
                </a:rPr>
                <a:t> 8</a:t>
              </a:r>
              <a:endParaRPr kumimoji="1" lang="en-US" altLang="zh-CN" sz="2000" b="1">
                <a:solidFill>
                  <a:schemeClr val="tx2"/>
                </a:solidFill>
                <a:latin typeface="Times New Roman" panose="02020603050405020304" pitchFamily="18" charset="0"/>
              </a:endParaRPr>
            </a:p>
          </p:txBody>
        </p:sp>
        <p:sp>
          <p:nvSpPr>
            <p:cNvPr id="148490" name="Text Box 10"/>
            <p:cNvSpPr txBox="1">
              <a:spLocks noChangeArrowheads="1"/>
            </p:cNvSpPr>
            <p:nvPr/>
          </p:nvSpPr>
          <p:spPr bwMode="auto">
            <a:xfrm>
              <a:off x="603" y="1580"/>
              <a:ext cx="387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333399"/>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a:r>
                <a:rPr kumimoji="1" lang="zh-CN" altLang="en-US" sz="2000" b="1" dirty="0">
                  <a:solidFill>
                    <a:schemeClr val="tx2"/>
                  </a:solidFill>
                  <a:latin typeface="Times New Roman" panose="02020603050405020304" pitchFamily="18" charset="0"/>
                </a:rPr>
                <a:t>齿数</a:t>
              </a:r>
              <a:r>
                <a:rPr kumimoji="1" lang="en-US" altLang="zh-CN" sz="2000" b="1" dirty="0">
                  <a:solidFill>
                    <a:schemeClr val="tx2"/>
                  </a:solidFill>
                  <a:latin typeface="Times New Roman" panose="02020603050405020304" pitchFamily="18" charset="0"/>
                </a:rPr>
                <a:t>z</a:t>
              </a:r>
              <a:r>
                <a:rPr kumimoji="1" lang="en-US" altLang="zh-CN" sz="2000" b="1" baseline="-25000" dirty="0">
                  <a:solidFill>
                    <a:schemeClr val="tx2"/>
                  </a:solidFill>
                  <a:latin typeface="Times New Roman" panose="02020603050405020304" pitchFamily="18" charset="0"/>
                </a:rPr>
                <a:t>1min                               </a:t>
              </a:r>
              <a:r>
                <a:rPr kumimoji="1" lang="en-US" altLang="zh-CN" sz="2000" b="1" dirty="0">
                  <a:solidFill>
                    <a:schemeClr val="tx2"/>
                  </a:solidFill>
                  <a:latin typeface="Times New Roman" panose="02020603050405020304" pitchFamily="18" charset="0"/>
                </a:rPr>
                <a:t>  15~17                   </a:t>
              </a:r>
              <a:r>
                <a:rPr kumimoji="1" lang="en-US" altLang="zh-CN" sz="2000" b="1" dirty="0">
                  <a:solidFill>
                    <a:schemeClr val="tx2"/>
                  </a:solidFill>
                  <a:latin typeface="宋体" panose="02010600030101010101" pitchFamily="2" charset="-122"/>
                </a:rPr>
                <a:t>21</a:t>
              </a:r>
              <a:r>
                <a:rPr kumimoji="1" lang="en-US" altLang="zh-CN" sz="2000" b="1" dirty="0">
                  <a:solidFill>
                    <a:schemeClr val="tx2"/>
                  </a:solidFill>
                  <a:latin typeface="Times New Roman" panose="02020603050405020304" pitchFamily="18" charset="0"/>
                </a:rPr>
                <a:t>                </a:t>
              </a:r>
              <a:r>
                <a:rPr kumimoji="1" lang="en-US" altLang="zh-CN" sz="2000" b="1" dirty="0">
                  <a:solidFill>
                    <a:schemeClr val="tx2"/>
                  </a:solidFill>
                  <a:latin typeface="宋体" panose="02010600030101010101" pitchFamily="2" charset="-122"/>
                </a:rPr>
                <a:t>23</a:t>
              </a:r>
              <a:r>
                <a:rPr kumimoji="1" lang="en-US" altLang="zh-CN" sz="2000" b="1" dirty="0">
                  <a:solidFill>
                    <a:schemeClr val="tx2"/>
                  </a:solidFill>
                  <a:latin typeface="Times New Roman" panose="02020603050405020304" pitchFamily="18" charset="0"/>
                  <a:sym typeface="+mn-ea"/>
                </a:rPr>
                <a:t>~25</a:t>
              </a:r>
              <a:endParaRPr kumimoji="1" lang="en-US" altLang="zh-CN" sz="2000" b="1" baseline="-25000" dirty="0">
                <a:solidFill>
                  <a:schemeClr val="tx2"/>
                </a:solidFill>
                <a:latin typeface="Times New Roman" panose="02020603050405020304" pitchFamily="18" charset="0"/>
              </a:endParaRPr>
            </a:p>
          </p:txBody>
        </p:sp>
        <p:sp>
          <p:nvSpPr>
            <p:cNvPr id="148495" name="Line 15"/>
            <p:cNvSpPr>
              <a:spLocks noChangeShapeType="1"/>
            </p:cNvSpPr>
            <p:nvPr/>
          </p:nvSpPr>
          <p:spPr bwMode="auto">
            <a:xfrm flipH="1" flipV="1">
              <a:off x="406" y="1199"/>
              <a:ext cx="4376" cy="16"/>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148496" name="Line 16"/>
            <p:cNvSpPr>
              <a:spLocks noChangeShapeType="1"/>
            </p:cNvSpPr>
            <p:nvPr/>
          </p:nvSpPr>
          <p:spPr bwMode="auto">
            <a:xfrm flipV="1">
              <a:off x="1706" y="1205"/>
              <a:ext cx="8" cy="580"/>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148499" name="Line 19"/>
            <p:cNvSpPr>
              <a:spLocks noChangeShapeType="1"/>
            </p:cNvSpPr>
            <p:nvPr/>
          </p:nvSpPr>
          <p:spPr bwMode="auto">
            <a:xfrm flipH="1" flipV="1">
              <a:off x="2744" y="1205"/>
              <a:ext cx="0" cy="588"/>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148500" name="Line 20"/>
            <p:cNvSpPr>
              <a:spLocks noChangeShapeType="1"/>
            </p:cNvSpPr>
            <p:nvPr/>
          </p:nvSpPr>
          <p:spPr bwMode="auto">
            <a:xfrm flipH="1" flipV="1">
              <a:off x="3747" y="1188"/>
              <a:ext cx="0" cy="617"/>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148549" name="Line 69"/>
            <p:cNvSpPr>
              <a:spLocks noChangeShapeType="1"/>
            </p:cNvSpPr>
            <p:nvPr/>
          </p:nvSpPr>
          <p:spPr bwMode="auto">
            <a:xfrm flipH="1" flipV="1">
              <a:off x="394" y="1488"/>
              <a:ext cx="4369" cy="9"/>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148550" name="Line 70"/>
            <p:cNvSpPr>
              <a:spLocks noChangeShapeType="1"/>
            </p:cNvSpPr>
            <p:nvPr/>
          </p:nvSpPr>
          <p:spPr bwMode="auto">
            <a:xfrm flipH="1" flipV="1">
              <a:off x="409" y="1793"/>
              <a:ext cx="4383" cy="23"/>
            </a:xfrm>
            <a:prstGeom prst="line">
              <a:avLst/>
            </a:prstGeom>
            <a:noFill/>
            <a:ln w="1905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grpSp>
      <p:graphicFrame>
        <p:nvGraphicFramePr>
          <p:cNvPr id="148576" name="Object 96"/>
          <p:cNvGraphicFramePr>
            <a:graphicFrameLocks noChangeAspect="1"/>
          </p:cNvGraphicFramePr>
          <p:nvPr/>
        </p:nvGraphicFramePr>
        <p:xfrm>
          <a:off x="770315" y="4718283"/>
          <a:ext cx="2693987" cy="736600"/>
        </p:xfrm>
        <a:graphic>
          <a:graphicData uri="http://schemas.openxmlformats.org/presentationml/2006/ole">
            <mc:AlternateContent xmlns:mc="http://schemas.openxmlformats.org/markup-compatibility/2006">
              <mc:Choice xmlns:v="urn:schemas-microsoft-com:vml" Requires="v">
                <p:oleObj spid="_x0000_s18471" name="公式" r:id="rId3" imgW="1256665" imgH="431800" progId="Equation.3">
                  <p:embed/>
                </p:oleObj>
              </mc:Choice>
              <mc:Fallback>
                <p:oleObj name="公式" r:id="rId3" imgW="1256665" imgH="431800" progId="Equation.3">
                  <p:embed/>
                  <p:pic>
                    <p:nvPicPr>
                      <p:cNvPr id="0" name="图片 184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315" y="4718283"/>
                        <a:ext cx="2693987" cy="736600"/>
                      </a:xfrm>
                      <a:prstGeom prst="rect">
                        <a:avLst/>
                      </a:prstGeom>
                      <a:solidFill>
                        <a:srgbClr val="00CCFF"/>
                      </a:solidFill>
                    </p:spPr>
                  </p:pic>
                </p:oleObj>
              </mc:Fallback>
            </mc:AlternateContent>
          </a:graphicData>
        </a:graphic>
      </p:graphicFrame>
      <p:sp>
        <p:nvSpPr>
          <p:cNvPr id="148577" name="Rectangle 97"/>
          <p:cNvSpPr>
            <a:spLocks noChangeArrowheads="1"/>
          </p:cNvSpPr>
          <p:nvPr/>
        </p:nvSpPr>
        <p:spPr bwMode="auto">
          <a:xfrm>
            <a:off x="384195" y="5342111"/>
            <a:ext cx="1231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66FF33"/>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1400" dirty="0">
                <a:solidFill>
                  <a:srgbClr val="003399"/>
                </a:solidFill>
                <a:latin typeface="宋体" panose="02010600030101010101" pitchFamily="2" charset="-122"/>
              </a:rPr>
              <a:t>d</a:t>
            </a:r>
            <a:r>
              <a:rPr kumimoji="1" lang="zh-CN" altLang="en-US" sz="1400" dirty="0">
                <a:solidFill>
                  <a:srgbClr val="003399"/>
                </a:solidFill>
                <a:latin typeface="宋体" panose="02010600030101010101" pitchFamily="2" charset="-122"/>
              </a:rPr>
              <a:t>分度圆直径</a:t>
            </a:r>
            <a:endParaRPr kumimoji="1" lang="zh-CN" altLang="en-US" sz="1400" dirty="0">
              <a:solidFill>
                <a:srgbClr val="003399"/>
              </a:solidFill>
              <a:latin typeface="宋体" panose="02010600030101010101" pitchFamily="2" charset="-122"/>
            </a:endParaRPr>
          </a:p>
        </p:txBody>
      </p:sp>
      <p:sp>
        <p:nvSpPr>
          <p:cNvPr id="148578" name="Rectangle 98"/>
          <p:cNvSpPr>
            <a:spLocks noChangeArrowheads="1"/>
          </p:cNvSpPr>
          <p:nvPr/>
        </p:nvSpPr>
        <p:spPr bwMode="auto">
          <a:xfrm>
            <a:off x="7308304" y="2996952"/>
            <a:ext cx="1676400" cy="182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zh-CN" altLang="en-US" sz="1200" dirty="0">
                <a:solidFill>
                  <a:srgbClr val="003399"/>
                </a:solidFill>
                <a:latin typeface="Times New Roman" panose="02020603050405020304" pitchFamily="18" charset="0"/>
              </a:rPr>
              <a:t>节距增长量  </a:t>
            </a:r>
            <a:r>
              <a:rPr kumimoji="1" lang="en-US" altLang="zh-CN" sz="1200" dirty="0">
                <a:solidFill>
                  <a:srgbClr val="003399"/>
                </a:solidFill>
                <a:latin typeface="Times New Roman" panose="02020603050405020304" pitchFamily="18" charset="0"/>
              </a:rPr>
              <a:t>, </a:t>
            </a:r>
            <a:r>
              <a:rPr kumimoji="1" lang="zh-CN" altLang="en-US" sz="1200" dirty="0">
                <a:solidFill>
                  <a:srgbClr val="003399"/>
                </a:solidFill>
                <a:latin typeface="Times New Roman" panose="02020603050405020304" pitchFamily="18" charset="0"/>
              </a:rPr>
              <a:t>节圆外移量</a:t>
            </a:r>
            <a:endParaRPr kumimoji="1" lang="zh-CN" altLang="en-US" sz="1200" dirty="0">
              <a:solidFill>
                <a:srgbClr val="003399"/>
              </a:solidFill>
              <a:latin typeface="Times New Roman" panose="02020603050405020304" pitchFamily="18" charset="0"/>
            </a:endParaRPr>
          </a:p>
        </p:txBody>
      </p:sp>
      <p:grpSp>
        <p:nvGrpSpPr>
          <p:cNvPr id="148582" name="Group 102"/>
          <p:cNvGrpSpPr/>
          <p:nvPr/>
        </p:nvGrpSpPr>
        <p:grpSpPr bwMode="auto">
          <a:xfrm>
            <a:off x="6629400" y="3729038"/>
            <a:ext cx="2241550" cy="3128962"/>
            <a:chOff x="4121" y="1961"/>
            <a:chExt cx="1412" cy="1971"/>
          </a:xfrm>
        </p:grpSpPr>
        <p:grpSp>
          <p:nvGrpSpPr>
            <p:cNvPr id="148568" name="Group 88"/>
            <p:cNvGrpSpPr/>
            <p:nvPr/>
          </p:nvGrpSpPr>
          <p:grpSpPr bwMode="auto">
            <a:xfrm>
              <a:off x="4121" y="1961"/>
              <a:ext cx="1412" cy="1971"/>
              <a:chOff x="4121" y="1961"/>
              <a:chExt cx="1412" cy="1971"/>
            </a:xfrm>
          </p:grpSpPr>
          <p:sp>
            <p:nvSpPr>
              <p:cNvPr id="148569" name="Freeform 89"/>
              <p:cNvSpPr/>
              <p:nvPr/>
            </p:nvSpPr>
            <p:spPr bwMode="auto">
              <a:xfrm>
                <a:off x="4133" y="2289"/>
                <a:ext cx="1389" cy="485"/>
              </a:xfrm>
              <a:custGeom>
                <a:avLst/>
                <a:gdLst>
                  <a:gd name="T0" fmla="*/ 30 w 1389"/>
                  <a:gd name="T1" fmla="*/ 478 h 485"/>
                  <a:gd name="T2" fmla="*/ 81 w 1389"/>
                  <a:gd name="T3" fmla="*/ 448 h 485"/>
                  <a:gd name="T4" fmla="*/ 123 w 1389"/>
                  <a:gd name="T5" fmla="*/ 390 h 485"/>
                  <a:gd name="T6" fmla="*/ 135 w 1389"/>
                  <a:gd name="T7" fmla="*/ 318 h 485"/>
                  <a:gd name="T8" fmla="*/ 126 w 1389"/>
                  <a:gd name="T9" fmla="*/ 240 h 485"/>
                  <a:gd name="T10" fmla="*/ 121 w 1389"/>
                  <a:gd name="T11" fmla="*/ 147 h 485"/>
                  <a:gd name="T12" fmla="*/ 188 w 1389"/>
                  <a:gd name="T13" fmla="*/ 84 h 485"/>
                  <a:gd name="T14" fmla="*/ 240 w 1389"/>
                  <a:gd name="T15" fmla="*/ 127 h 485"/>
                  <a:gd name="T16" fmla="*/ 288 w 1389"/>
                  <a:gd name="T17" fmla="*/ 183 h 485"/>
                  <a:gd name="T18" fmla="*/ 340 w 1389"/>
                  <a:gd name="T19" fmla="*/ 250 h 485"/>
                  <a:gd name="T20" fmla="*/ 382 w 1389"/>
                  <a:gd name="T21" fmla="*/ 293 h 485"/>
                  <a:gd name="T22" fmla="*/ 440 w 1389"/>
                  <a:gd name="T23" fmla="*/ 318 h 485"/>
                  <a:gd name="T24" fmla="*/ 496 w 1389"/>
                  <a:gd name="T25" fmla="*/ 320 h 485"/>
                  <a:gd name="T26" fmla="*/ 550 w 1389"/>
                  <a:gd name="T27" fmla="*/ 301 h 485"/>
                  <a:gd name="T28" fmla="*/ 600 w 1389"/>
                  <a:gd name="T29" fmla="*/ 256 h 485"/>
                  <a:gd name="T30" fmla="*/ 632 w 1389"/>
                  <a:gd name="T31" fmla="*/ 184 h 485"/>
                  <a:gd name="T32" fmla="*/ 647 w 1389"/>
                  <a:gd name="T33" fmla="*/ 114 h 485"/>
                  <a:gd name="T34" fmla="*/ 674 w 1389"/>
                  <a:gd name="T35" fmla="*/ 34 h 485"/>
                  <a:gd name="T36" fmla="*/ 764 w 1389"/>
                  <a:gd name="T37" fmla="*/ 0 h 485"/>
                  <a:gd name="T38" fmla="*/ 796 w 1389"/>
                  <a:gd name="T39" fmla="*/ 64 h 485"/>
                  <a:gd name="T40" fmla="*/ 825 w 1389"/>
                  <a:gd name="T41" fmla="*/ 134 h 485"/>
                  <a:gd name="T42" fmla="*/ 841 w 1389"/>
                  <a:gd name="T43" fmla="*/ 192 h 485"/>
                  <a:gd name="T44" fmla="*/ 868 w 1389"/>
                  <a:gd name="T45" fmla="*/ 251 h 485"/>
                  <a:gd name="T46" fmla="*/ 903 w 1389"/>
                  <a:gd name="T47" fmla="*/ 285 h 485"/>
                  <a:gd name="T48" fmla="*/ 950 w 1389"/>
                  <a:gd name="T49" fmla="*/ 310 h 485"/>
                  <a:gd name="T50" fmla="*/ 993 w 1389"/>
                  <a:gd name="T51" fmla="*/ 317 h 485"/>
                  <a:gd name="T52" fmla="*/ 1040 w 1389"/>
                  <a:gd name="T53" fmla="*/ 311 h 485"/>
                  <a:gd name="T54" fmla="*/ 1095 w 1389"/>
                  <a:gd name="T55" fmla="*/ 287 h 485"/>
                  <a:gd name="T56" fmla="*/ 1135 w 1389"/>
                  <a:gd name="T57" fmla="*/ 240 h 485"/>
                  <a:gd name="T58" fmla="*/ 1184 w 1389"/>
                  <a:gd name="T59" fmla="*/ 177 h 485"/>
                  <a:gd name="T60" fmla="*/ 1240 w 1389"/>
                  <a:gd name="T61" fmla="*/ 117 h 485"/>
                  <a:gd name="T62" fmla="*/ 1327 w 1389"/>
                  <a:gd name="T63" fmla="*/ 130 h 485"/>
                  <a:gd name="T64" fmla="*/ 1332 w 1389"/>
                  <a:gd name="T65" fmla="*/ 185 h 485"/>
                  <a:gd name="T66" fmla="*/ 1336 w 1389"/>
                  <a:gd name="T67" fmla="*/ 257 h 485"/>
                  <a:gd name="T68" fmla="*/ 1334 w 1389"/>
                  <a:gd name="T69" fmla="*/ 361 h 485"/>
                  <a:gd name="T70" fmla="*/ 1343 w 1389"/>
                  <a:gd name="T71" fmla="*/ 420 h 485"/>
                  <a:gd name="T72" fmla="*/ 1369 w 1389"/>
                  <a:gd name="T73" fmla="*/ 466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89" h="485">
                    <a:moveTo>
                      <a:pt x="0" y="485"/>
                    </a:moveTo>
                    <a:lnTo>
                      <a:pt x="30" y="478"/>
                    </a:lnTo>
                    <a:lnTo>
                      <a:pt x="58" y="465"/>
                    </a:lnTo>
                    <a:lnTo>
                      <a:pt x="81" y="448"/>
                    </a:lnTo>
                    <a:lnTo>
                      <a:pt x="106" y="419"/>
                    </a:lnTo>
                    <a:lnTo>
                      <a:pt x="123" y="390"/>
                    </a:lnTo>
                    <a:lnTo>
                      <a:pt x="130" y="349"/>
                    </a:lnTo>
                    <a:lnTo>
                      <a:pt x="135" y="318"/>
                    </a:lnTo>
                    <a:lnTo>
                      <a:pt x="133" y="280"/>
                    </a:lnTo>
                    <a:lnTo>
                      <a:pt x="126" y="240"/>
                    </a:lnTo>
                    <a:lnTo>
                      <a:pt x="123" y="195"/>
                    </a:lnTo>
                    <a:lnTo>
                      <a:pt x="121" y="147"/>
                    </a:lnTo>
                    <a:lnTo>
                      <a:pt x="125" y="114"/>
                    </a:lnTo>
                    <a:lnTo>
                      <a:pt x="188" y="84"/>
                    </a:lnTo>
                    <a:lnTo>
                      <a:pt x="215" y="104"/>
                    </a:lnTo>
                    <a:lnTo>
                      <a:pt x="240" y="127"/>
                    </a:lnTo>
                    <a:lnTo>
                      <a:pt x="262" y="151"/>
                    </a:lnTo>
                    <a:lnTo>
                      <a:pt x="288" y="183"/>
                    </a:lnTo>
                    <a:lnTo>
                      <a:pt x="313" y="218"/>
                    </a:lnTo>
                    <a:lnTo>
                      <a:pt x="340" y="250"/>
                    </a:lnTo>
                    <a:lnTo>
                      <a:pt x="361" y="272"/>
                    </a:lnTo>
                    <a:lnTo>
                      <a:pt x="382" y="293"/>
                    </a:lnTo>
                    <a:lnTo>
                      <a:pt x="413" y="309"/>
                    </a:lnTo>
                    <a:lnTo>
                      <a:pt x="440" y="318"/>
                    </a:lnTo>
                    <a:lnTo>
                      <a:pt x="475" y="321"/>
                    </a:lnTo>
                    <a:lnTo>
                      <a:pt x="496" y="320"/>
                    </a:lnTo>
                    <a:lnTo>
                      <a:pt x="523" y="315"/>
                    </a:lnTo>
                    <a:lnTo>
                      <a:pt x="550" y="301"/>
                    </a:lnTo>
                    <a:lnTo>
                      <a:pt x="577" y="282"/>
                    </a:lnTo>
                    <a:lnTo>
                      <a:pt x="600" y="256"/>
                    </a:lnTo>
                    <a:lnTo>
                      <a:pt x="619" y="221"/>
                    </a:lnTo>
                    <a:lnTo>
                      <a:pt x="632" y="184"/>
                    </a:lnTo>
                    <a:lnTo>
                      <a:pt x="638" y="150"/>
                    </a:lnTo>
                    <a:lnTo>
                      <a:pt x="647" y="114"/>
                    </a:lnTo>
                    <a:lnTo>
                      <a:pt x="662" y="70"/>
                    </a:lnTo>
                    <a:lnTo>
                      <a:pt x="674" y="34"/>
                    </a:lnTo>
                    <a:lnTo>
                      <a:pt x="693" y="1"/>
                    </a:lnTo>
                    <a:lnTo>
                      <a:pt x="764" y="0"/>
                    </a:lnTo>
                    <a:lnTo>
                      <a:pt x="782" y="31"/>
                    </a:lnTo>
                    <a:lnTo>
                      <a:pt x="796" y="64"/>
                    </a:lnTo>
                    <a:lnTo>
                      <a:pt x="813" y="102"/>
                    </a:lnTo>
                    <a:lnTo>
                      <a:pt x="825" y="134"/>
                    </a:lnTo>
                    <a:lnTo>
                      <a:pt x="834" y="165"/>
                    </a:lnTo>
                    <a:lnTo>
                      <a:pt x="841" y="192"/>
                    </a:lnTo>
                    <a:lnTo>
                      <a:pt x="851" y="228"/>
                    </a:lnTo>
                    <a:lnTo>
                      <a:pt x="868" y="251"/>
                    </a:lnTo>
                    <a:lnTo>
                      <a:pt x="881" y="267"/>
                    </a:lnTo>
                    <a:lnTo>
                      <a:pt x="903" y="285"/>
                    </a:lnTo>
                    <a:lnTo>
                      <a:pt x="925" y="300"/>
                    </a:lnTo>
                    <a:lnTo>
                      <a:pt x="950" y="310"/>
                    </a:lnTo>
                    <a:lnTo>
                      <a:pt x="971" y="317"/>
                    </a:lnTo>
                    <a:lnTo>
                      <a:pt x="993" y="317"/>
                    </a:lnTo>
                    <a:lnTo>
                      <a:pt x="1017" y="316"/>
                    </a:lnTo>
                    <a:lnTo>
                      <a:pt x="1040" y="311"/>
                    </a:lnTo>
                    <a:lnTo>
                      <a:pt x="1067" y="302"/>
                    </a:lnTo>
                    <a:lnTo>
                      <a:pt x="1095" y="287"/>
                    </a:lnTo>
                    <a:lnTo>
                      <a:pt x="1118" y="264"/>
                    </a:lnTo>
                    <a:lnTo>
                      <a:pt x="1135" y="240"/>
                    </a:lnTo>
                    <a:lnTo>
                      <a:pt x="1160" y="208"/>
                    </a:lnTo>
                    <a:lnTo>
                      <a:pt x="1184" y="177"/>
                    </a:lnTo>
                    <a:lnTo>
                      <a:pt x="1215" y="139"/>
                    </a:lnTo>
                    <a:lnTo>
                      <a:pt x="1240" y="117"/>
                    </a:lnTo>
                    <a:lnTo>
                      <a:pt x="1260" y="101"/>
                    </a:lnTo>
                    <a:lnTo>
                      <a:pt x="1327" y="130"/>
                    </a:lnTo>
                    <a:lnTo>
                      <a:pt x="1330" y="153"/>
                    </a:lnTo>
                    <a:lnTo>
                      <a:pt x="1332" y="185"/>
                    </a:lnTo>
                    <a:lnTo>
                      <a:pt x="1337" y="225"/>
                    </a:lnTo>
                    <a:lnTo>
                      <a:pt x="1336" y="257"/>
                    </a:lnTo>
                    <a:lnTo>
                      <a:pt x="1337" y="313"/>
                    </a:lnTo>
                    <a:lnTo>
                      <a:pt x="1334" y="361"/>
                    </a:lnTo>
                    <a:lnTo>
                      <a:pt x="1336" y="392"/>
                    </a:lnTo>
                    <a:lnTo>
                      <a:pt x="1343" y="420"/>
                    </a:lnTo>
                    <a:lnTo>
                      <a:pt x="1355" y="445"/>
                    </a:lnTo>
                    <a:lnTo>
                      <a:pt x="1369" y="466"/>
                    </a:lnTo>
                    <a:lnTo>
                      <a:pt x="1389" y="479"/>
                    </a:lnTo>
                  </a:path>
                </a:pathLst>
              </a:custGeom>
              <a:solidFill>
                <a:srgbClr val="CC6600"/>
              </a:solidFill>
              <a:ln w="28575" cap="flat"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70" name="Line 90"/>
              <p:cNvSpPr>
                <a:spLocks noChangeShapeType="1"/>
              </p:cNvSpPr>
              <p:nvPr/>
            </p:nvSpPr>
            <p:spPr bwMode="auto">
              <a:xfrm>
                <a:off x="4864" y="1961"/>
                <a:ext cx="2" cy="1971"/>
              </a:xfrm>
              <a:prstGeom prst="line">
                <a:avLst/>
              </a:prstGeom>
              <a:noFill/>
              <a:ln w="12700">
                <a:solidFill>
                  <a:srgbClr val="00FF00"/>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71" name="Freeform 91"/>
              <p:cNvSpPr/>
              <p:nvPr/>
            </p:nvSpPr>
            <p:spPr bwMode="auto">
              <a:xfrm rot="-208948">
                <a:off x="4121" y="2426"/>
                <a:ext cx="1412" cy="209"/>
              </a:xfrm>
              <a:custGeom>
                <a:avLst/>
                <a:gdLst>
                  <a:gd name="T0" fmla="*/ 0 w 1412"/>
                  <a:gd name="T1" fmla="*/ 149 h 209"/>
                  <a:gd name="T2" fmla="*/ 88 w 1412"/>
                  <a:gd name="T3" fmla="*/ 105 h 209"/>
                  <a:gd name="T4" fmla="*/ 244 w 1412"/>
                  <a:gd name="T5" fmla="*/ 53 h 209"/>
                  <a:gd name="T6" fmla="*/ 480 w 1412"/>
                  <a:gd name="T7" fmla="*/ 9 h 209"/>
                  <a:gd name="T8" fmla="*/ 688 w 1412"/>
                  <a:gd name="T9" fmla="*/ 1 h 209"/>
                  <a:gd name="T10" fmla="*/ 832 w 1412"/>
                  <a:gd name="T11" fmla="*/ 9 h 209"/>
                  <a:gd name="T12" fmla="*/ 1008 w 1412"/>
                  <a:gd name="T13" fmla="*/ 45 h 209"/>
                  <a:gd name="T14" fmla="*/ 1200 w 1412"/>
                  <a:gd name="T15" fmla="*/ 105 h 209"/>
                  <a:gd name="T16" fmla="*/ 1412 w 1412"/>
                  <a:gd name="T17"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2" h="209">
                    <a:moveTo>
                      <a:pt x="0" y="149"/>
                    </a:moveTo>
                    <a:cubicBezTo>
                      <a:pt x="23" y="135"/>
                      <a:pt x="47" y="121"/>
                      <a:pt x="88" y="105"/>
                    </a:cubicBezTo>
                    <a:cubicBezTo>
                      <a:pt x="129" y="89"/>
                      <a:pt x="179" y="69"/>
                      <a:pt x="244" y="53"/>
                    </a:cubicBezTo>
                    <a:cubicBezTo>
                      <a:pt x="309" y="37"/>
                      <a:pt x="406" y="18"/>
                      <a:pt x="480" y="9"/>
                    </a:cubicBezTo>
                    <a:cubicBezTo>
                      <a:pt x="554" y="0"/>
                      <a:pt x="629" y="1"/>
                      <a:pt x="688" y="1"/>
                    </a:cubicBezTo>
                    <a:cubicBezTo>
                      <a:pt x="747" y="1"/>
                      <a:pt x="779" y="2"/>
                      <a:pt x="832" y="9"/>
                    </a:cubicBezTo>
                    <a:cubicBezTo>
                      <a:pt x="885" y="16"/>
                      <a:pt x="947" y="29"/>
                      <a:pt x="1008" y="45"/>
                    </a:cubicBezTo>
                    <a:cubicBezTo>
                      <a:pt x="1069" y="61"/>
                      <a:pt x="1133" y="78"/>
                      <a:pt x="1200" y="105"/>
                    </a:cubicBezTo>
                    <a:cubicBezTo>
                      <a:pt x="1267" y="132"/>
                      <a:pt x="1339" y="170"/>
                      <a:pt x="1412" y="209"/>
                    </a:cubicBezTo>
                  </a:path>
                </a:pathLst>
              </a:custGeom>
              <a:noFill/>
              <a:ln w="12700" cap="flat" cmpd="sng">
                <a:solidFill>
                  <a:srgbClr val="FF0000"/>
                </a:solidFill>
                <a:prstDash val="lgDashDot"/>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8572" name="Group 92"/>
              <p:cNvGrpSpPr/>
              <p:nvPr/>
            </p:nvGrpSpPr>
            <p:grpSpPr bwMode="auto">
              <a:xfrm>
                <a:off x="4861" y="2520"/>
                <a:ext cx="536" cy="1337"/>
                <a:chOff x="1705" y="923"/>
                <a:chExt cx="536" cy="1337"/>
              </a:xfrm>
            </p:grpSpPr>
            <p:sp>
              <p:nvSpPr>
                <p:cNvPr id="148573" name="Line 93"/>
                <p:cNvSpPr>
                  <a:spLocks noChangeShapeType="1"/>
                </p:cNvSpPr>
                <p:nvPr/>
              </p:nvSpPr>
              <p:spPr bwMode="auto">
                <a:xfrm flipV="1">
                  <a:off x="1705" y="923"/>
                  <a:ext cx="536" cy="1337"/>
                </a:xfrm>
                <a:prstGeom prst="line">
                  <a:avLst/>
                </a:prstGeom>
                <a:noFill/>
                <a:ln w="127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74" name="Text Box 94"/>
                <p:cNvSpPr txBox="1">
                  <a:spLocks noChangeArrowheads="1"/>
                </p:cNvSpPr>
                <p:nvPr/>
              </p:nvSpPr>
              <p:spPr bwMode="auto">
                <a:xfrm rot="-4182691">
                  <a:off x="1768" y="1249"/>
                  <a:ext cx="276" cy="28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0000"/>
                      </a:solidFill>
                      <a:latin typeface="Times New Roman" panose="02020603050405020304" pitchFamily="18" charset="0"/>
                    </a:rPr>
                    <a:t>d’</a:t>
                  </a:r>
                  <a:endParaRPr kumimoji="1" lang="en-US" altLang="zh-CN" sz="2400" b="1" i="1">
                    <a:solidFill>
                      <a:srgbClr val="FF0000"/>
                    </a:solidFill>
                    <a:latin typeface="Times New Roman" panose="02020603050405020304" pitchFamily="18" charset="0"/>
                  </a:endParaRPr>
                </a:p>
              </p:txBody>
            </p:sp>
          </p:grpSp>
          <p:sp>
            <p:nvSpPr>
              <p:cNvPr id="148575" name="Line 95"/>
              <p:cNvSpPr>
                <a:spLocks noChangeShapeType="1"/>
              </p:cNvSpPr>
              <p:nvPr/>
            </p:nvSpPr>
            <p:spPr bwMode="auto">
              <a:xfrm>
                <a:off x="4782" y="3843"/>
                <a:ext cx="166" cy="0"/>
              </a:xfrm>
              <a:prstGeom prst="line">
                <a:avLst/>
              </a:prstGeom>
              <a:noFill/>
              <a:ln w="9525">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8521" name="Line 41"/>
            <p:cNvSpPr>
              <a:spLocks noChangeShapeType="1"/>
            </p:cNvSpPr>
            <p:nvPr/>
          </p:nvSpPr>
          <p:spPr bwMode="auto">
            <a:xfrm flipH="1" flipV="1">
              <a:off x="4598" y="2443"/>
              <a:ext cx="270" cy="1425"/>
            </a:xfrm>
            <a:prstGeom prst="line">
              <a:avLst/>
            </a:prstGeom>
            <a:noFill/>
            <a:ln w="12700">
              <a:solidFill>
                <a:schemeClr val="bg1"/>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8581" name="Group 101"/>
            <p:cNvGrpSpPr/>
            <p:nvPr/>
          </p:nvGrpSpPr>
          <p:grpSpPr bwMode="auto">
            <a:xfrm>
              <a:off x="4393" y="2876"/>
              <a:ext cx="471" cy="337"/>
              <a:chOff x="4393" y="2876"/>
              <a:chExt cx="471" cy="337"/>
            </a:xfrm>
          </p:grpSpPr>
          <p:grpSp>
            <p:nvGrpSpPr>
              <p:cNvPr id="148553" name="Group 73"/>
              <p:cNvGrpSpPr/>
              <p:nvPr/>
            </p:nvGrpSpPr>
            <p:grpSpPr bwMode="auto">
              <a:xfrm>
                <a:off x="4393" y="2876"/>
                <a:ext cx="295" cy="337"/>
                <a:chOff x="4297" y="2849"/>
                <a:chExt cx="295" cy="337"/>
              </a:xfrm>
            </p:grpSpPr>
            <p:sp>
              <p:nvSpPr>
                <p:cNvPr id="148524" name="Text Box 44"/>
                <p:cNvSpPr txBox="1">
                  <a:spLocks noChangeArrowheads="1"/>
                </p:cNvSpPr>
                <p:nvPr/>
              </p:nvSpPr>
              <p:spPr bwMode="auto">
                <a:xfrm rot="20550">
                  <a:off x="4299" y="2849"/>
                  <a:ext cx="293"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rgbClr val="80008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b="1">
                      <a:solidFill>
                        <a:srgbClr val="FF0000"/>
                      </a:solidFill>
                      <a:latin typeface="Times New Roman" panose="02020603050405020304" pitchFamily="18" charset="0"/>
                    </a:rPr>
                    <a:t>180˚</a:t>
                  </a:r>
                  <a:endParaRPr kumimoji="1" lang="en-US" altLang="zh-CN" sz="2000" b="1" baseline="-25000">
                    <a:solidFill>
                      <a:srgbClr val="FF0000"/>
                    </a:solidFill>
                    <a:latin typeface="Times New Roman" panose="02020603050405020304" pitchFamily="18" charset="0"/>
                  </a:endParaRPr>
                </a:p>
              </p:txBody>
            </p:sp>
            <p:sp>
              <p:nvSpPr>
                <p:cNvPr id="148525" name="Text Box 45"/>
                <p:cNvSpPr txBox="1">
                  <a:spLocks noChangeArrowheads="1"/>
                </p:cNvSpPr>
                <p:nvPr/>
              </p:nvSpPr>
              <p:spPr bwMode="auto">
                <a:xfrm rot="20550">
                  <a:off x="4408" y="2994"/>
                  <a:ext cx="71"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rgbClr val="80008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b="1" dirty="0">
                      <a:solidFill>
                        <a:srgbClr val="FF0000"/>
                      </a:solidFill>
                      <a:latin typeface="Times New Roman" panose="02020603050405020304" pitchFamily="18" charset="0"/>
                    </a:rPr>
                    <a:t>z</a:t>
                  </a:r>
                  <a:endParaRPr kumimoji="1" lang="en-US" altLang="zh-CN" sz="2000" b="1" baseline="-25000" dirty="0">
                    <a:solidFill>
                      <a:srgbClr val="FF0000"/>
                    </a:solidFill>
                    <a:latin typeface="Times New Roman" panose="02020603050405020304" pitchFamily="18" charset="0"/>
                  </a:endParaRPr>
                </a:p>
              </p:txBody>
            </p:sp>
            <p:sp>
              <p:nvSpPr>
                <p:cNvPr id="148526" name="Line 46"/>
                <p:cNvSpPr>
                  <a:spLocks noChangeShapeType="1"/>
                </p:cNvSpPr>
                <p:nvPr/>
              </p:nvSpPr>
              <p:spPr bwMode="auto">
                <a:xfrm>
                  <a:off x="4297" y="3037"/>
                  <a:ext cx="271"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8579" name="Freeform 99"/>
              <p:cNvSpPr/>
              <p:nvPr/>
            </p:nvSpPr>
            <p:spPr bwMode="auto">
              <a:xfrm>
                <a:off x="4708" y="3000"/>
                <a:ext cx="156" cy="26"/>
              </a:xfrm>
              <a:custGeom>
                <a:avLst/>
                <a:gdLst>
                  <a:gd name="T0" fmla="*/ 156 w 156"/>
                  <a:gd name="T1" fmla="*/ 8 h 26"/>
                  <a:gd name="T2" fmla="*/ 110 w 156"/>
                  <a:gd name="T3" fmla="*/ 0 h 26"/>
                  <a:gd name="T4" fmla="*/ 65 w 156"/>
                  <a:gd name="T5" fmla="*/ 6 h 26"/>
                  <a:gd name="T6" fmla="*/ 26 w 156"/>
                  <a:gd name="T7" fmla="*/ 15 h 26"/>
                  <a:gd name="T8" fmla="*/ 0 w 156"/>
                  <a:gd name="T9" fmla="*/ 26 h 26"/>
                </a:gdLst>
                <a:ahLst/>
                <a:cxnLst>
                  <a:cxn ang="0">
                    <a:pos x="T0" y="T1"/>
                  </a:cxn>
                  <a:cxn ang="0">
                    <a:pos x="T2" y="T3"/>
                  </a:cxn>
                  <a:cxn ang="0">
                    <a:pos x="T4" y="T5"/>
                  </a:cxn>
                  <a:cxn ang="0">
                    <a:pos x="T6" y="T7"/>
                  </a:cxn>
                  <a:cxn ang="0">
                    <a:pos x="T8" y="T9"/>
                  </a:cxn>
                </a:cxnLst>
                <a:rect l="0" t="0" r="r" b="b"/>
                <a:pathLst>
                  <a:path w="156" h="26">
                    <a:moveTo>
                      <a:pt x="156" y="8"/>
                    </a:moveTo>
                    <a:cubicBezTo>
                      <a:pt x="148" y="7"/>
                      <a:pt x="125" y="0"/>
                      <a:pt x="110" y="0"/>
                    </a:cubicBezTo>
                    <a:cubicBezTo>
                      <a:pt x="95" y="0"/>
                      <a:pt x="79" y="4"/>
                      <a:pt x="65" y="6"/>
                    </a:cubicBezTo>
                    <a:cubicBezTo>
                      <a:pt x="51" y="8"/>
                      <a:pt x="37" y="12"/>
                      <a:pt x="26" y="15"/>
                    </a:cubicBezTo>
                    <a:cubicBezTo>
                      <a:pt x="15" y="18"/>
                      <a:pt x="5" y="24"/>
                      <a:pt x="0" y="26"/>
                    </a:cubicBezTo>
                  </a:path>
                </a:pathLst>
              </a:custGeom>
              <a:noFill/>
              <a:ln w="28575" cap="flat" cmpd="sng">
                <a:solidFill>
                  <a:srgbClr val="66FF33"/>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grpSp>
      </p:grpSp>
      <p:grpSp>
        <p:nvGrpSpPr>
          <p:cNvPr id="148585" name="Group 105"/>
          <p:cNvGrpSpPr/>
          <p:nvPr/>
        </p:nvGrpSpPr>
        <p:grpSpPr bwMode="auto">
          <a:xfrm>
            <a:off x="7392988" y="4502150"/>
            <a:ext cx="419100" cy="2209800"/>
            <a:chOff x="4602" y="2448"/>
            <a:chExt cx="264" cy="1392"/>
          </a:xfrm>
        </p:grpSpPr>
        <p:sp>
          <p:nvSpPr>
            <p:cNvPr id="148583" name="Freeform 103"/>
            <p:cNvSpPr/>
            <p:nvPr/>
          </p:nvSpPr>
          <p:spPr bwMode="auto">
            <a:xfrm>
              <a:off x="4602" y="2448"/>
              <a:ext cx="264" cy="1392"/>
            </a:xfrm>
            <a:custGeom>
              <a:avLst/>
              <a:gdLst>
                <a:gd name="T0" fmla="*/ 0 w 264"/>
                <a:gd name="T1" fmla="*/ 0 h 1392"/>
                <a:gd name="T2" fmla="*/ 264 w 264"/>
                <a:gd name="T3" fmla="*/ 0 h 1392"/>
                <a:gd name="T4" fmla="*/ 264 w 264"/>
                <a:gd name="T5" fmla="*/ 1392 h 1392"/>
                <a:gd name="T6" fmla="*/ 0 w 264"/>
                <a:gd name="T7" fmla="*/ 0 h 1392"/>
              </a:gdLst>
              <a:ahLst/>
              <a:cxnLst>
                <a:cxn ang="0">
                  <a:pos x="T0" y="T1"/>
                </a:cxn>
                <a:cxn ang="0">
                  <a:pos x="T2" y="T3"/>
                </a:cxn>
                <a:cxn ang="0">
                  <a:pos x="T4" y="T5"/>
                </a:cxn>
                <a:cxn ang="0">
                  <a:pos x="T6" y="T7"/>
                </a:cxn>
              </a:cxnLst>
              <a:rect l="0" t="0" r="r" b="b"/>
              <a:pathLst>
                <a:path w="264" h="1392">
                  <a:moveTo>
                    <a:pt x="0" y="0"/>
                  </a:moveTo>
                  <a:lnTo>
                    <a:pt x="264" y="0"/>
                  </a:lnTo>
                  <a:lnTo>
                    <a:pt x="264" y="1392"/>
                  </a:lnTo>
                  <a:lnTo>
                    <a:pt x="0" y="0"/>
                  </a:lnTo>
                  <a:close/>
                </a:path>
              </a:pathLst>
            </a:custGeom>
            <a:solidFill>
              <a:schemeClr val="tx2">
                <a:lumMod val="20000"/>
                <a:lumOff val="80000"/>
              </a:schemeClr>
            </a:solidFill>
            <a:ln w="12700" cap="flat" cmpd="sng">
              <a:solidFill>
                <a:srgbClr val="0000FF"/>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4" name="Freeform 104"/>
            <p:cNvSpPr/>
            <p:nvPr/>
          </p:nvSpPr>
          <p:spPr bwMode="auto">
            <a:xfrm>
              <a:off x="4716" y="3018"/>
              <a:ext cx="150" cy="30"/>
            </a:xfrm>
            <a:custGeom>
              <a:avLst/>
              <a:gdLst>
                <a:gd name="T0" fmla="*/ 0 w 150"/>
                <a:gd name="T1" fmla="*/ 30 h 30"/>
                <a:gd name="T2" fmla="*/ 42 w 150"/>
                <a:gd name="T3" fmla="*/ 12 h 30"/>
                <a:gd name="T4" fmla="*/ 102 w 150"/>
                <a:gd name="T5" fmla="*/ 0 h 30"/>
                <a:gd name="T6" fmla="*/ 150 w 150"/>
                <a:gd name="T7" fmla="*/ 0 h 30"/>
              </a:gdLst>
              <a:ahLst/>
              <a:cxnLst>
                <a:cxn ang="0">
                  <a:pos x="T0" y="T1"/>
                </a:cxn>
                <a:cxn ang="0">
                  <a:pos x="T2" y="T3"/>
                </a:cxn>
                <a:cxn ang="0">
                  <a:pos x="T4" y="T5"/>
                </a:cxn>
                <a:cxn ang="0">
                  <a:pos x="T6" y="T7"/>
                </a:cxn>
              </a:cxnLst>
              <a:rect l="0" t="0" r="r" b="b"/>
              <a:pathLst>
                <a:path w="150" h="30">
                  <a:moveTo>
                    <a:pt x="0" y="30"/>
                  </a:moveTo>
                  <a:lnTo>
                    <a:pt x="42" y="12"/>
                  </a:lnTo>
                  <a:lnTo>
                    <a:pt x="102" y="0"/>
                  </a:lnTo>
                  <a:lnTo>
                    <a:pt x="150" y="0"/>
                  </a:lnTo>
                </a:path>
              </a:pathLst>
            </a:custGeom>
            <a:solidFill>
              <a:schemeClr val="accent1"/>
            </a:solidFill>
            <a:ln w="28575" cap="flat" cmpd="sng">
              <a:solidFill>
                <a:schemeClr val="bg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59" name="Group 79"/>
          <p:cNvGrpSpPr/>
          <p:nvPr/>
        </p:nvGrpSpPr>
        <p:grpSpPr bwMode="auto">
          <a:xfrm>
            <a:off x="7381875" y="4497388"/>
            <a:ext cx="835025" cy="619125"/>
            <a:chOff x="4595" y="2445"/>
            <a:chExt cx="526" cy="390"/>
          </a:xfrm>
        </p:grpSpPr>
        <p:grpSp>
          <p:nvGrpSpPr>
            <p:cNvPr id="148507" name="Group 27"/>
            <p:cNvGrpSpPr/>
            <p:nvPr/>
          </p:nvGrpSpPr>
          <p:grpSpPr bwMode="auto">
            <a:xfrm>
              <a:off x="4595" y="2445"/>
              <a:ext cx="526" cy="390"/>
              <a:chOff x="1439" y="848"/>
              <a:chExt cx="526" cy="390"/>
            </a:xfrm>
          </p:grpSpPr>
          <p:sp>
            <p:nvSpPr>
              <p:cNvPr id="148508" name="Line 28"/>
              <p:cNvSpPr>
                <a:spLocks noChangeShapeType="1"/>
              </p:cNvSpPr>
              <p:nvPr/>
            </p:nvSpPr>
            <p:spPr bwMode="auto">
              <a:xfrm flipH="1" flipV="1">
                <a:off x="1439" y="1183"/>
                <a:ext cx="526" cy="1"/>
              </a:xfrm>
              <a:prstGeom prst="line">
                <a:avLst/>
              </a:prstGeom>
              <a:noFill/>
              <a:ln w="1270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09" name="Line 29"/>
              <p:cNvSpPr>
                <a:spLocks noChangeShapeType="1"/>
              </p:cNvSpPr>
              <p:nvPr/>
            </p:nvSpPr>
            <p:spPr bwMode="auto">
              <a:xfrm flipH="1">
                <a:off x="1963" y="855"/>
                <a:ext cx="1" cy="383"/>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10" name="Line 30"/>
              <p:cNvSpPr>
                <a:spLocks noChangeShapeType="1"/>
              </p:cNvSpPr>
              <p:nvPr/>
            </p:nvSpPr>
            <p:spPr bwMode="auto">
              <a:xfrm>
                <a:off x="1440" y="848"/>
                <a:ext cx="0" cy="379"/>
              </a:xfrm>
              <a:prstGeom prst="line">
                <a:avLst/>
              </a:prstGeom>
              <a:noFill/>
              <a:ln w="12700">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8511" name="Text Box 31"/>
            <p:cNvSpPr txBox="1">
              <a:spLocks noChangeArrowheads="1"/>
            </p:cNvSpPr>
            <p:nvPr/>
          </p:nvSpPr>
          <p:spPr bwMode="auto">
            <a:xfrm>
              <a:off x="4834" y="2516"/>
              <a:ext cx="223" cy="28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FF"/>
                  </a:solidFill>
                  <a:latin typeface="Times New Roman" panose="02020603050405020304" pitchFamily="18" charset="0"/>
                </a:rPr>
                <a:t>p</a:t>
              </a:r>
              <a:endParaRPr kumimoji="1" lang="en-US" altLang="zh-CN" sz="2400" b="1" dirty="0">
                <a:solidFill>
                  <a:srgbClr val="0000FF"/>
                </a:solidFill>
                <a:latin typeface="Times New Roman" panose="02020603050405020304" pitchFamily="18" charset="0"/>
              </a:endParaRPr>
            </a:p>
          </p:txBody>
        </p:sp>
      </p:grpSp>
      <p:grpSp>
        <p:nvGrpSpPr>
          <p:cNvPr id="148586" name="Group 106"/>
          <p:cNvGrpSpPr/>
          <p:nvPr/>
        </p:nvGrpSpPr>
        <p:grpSpPr bwMode="auto">
          <a:xfrm>
            <a:off x="6451600" y="3959225"/>
            <a:ext cx="2692400" cy="2795588"/>
            <a:chOff x="3937" y="2514"/>
            <a:chExt cx="1696" cy="1761"/>
          </a:xfrm>
        </p:grpSpPr>
        <p:grpSp>
          <p:nvGrpSpPr>
            <p:cNvPr id="148587" name="Group 107"/>
            <p:cNvGrpSpPr/>
            <p:nvPr/>
          </p:nvGrpSpPr>
          <p:grpSpPr bwMode="auto">
            <a:xfrm>
              <a:off x="4248" y="2514"/>
              <a:ext cx="934" cy="347"/>
              <a:chOff x="1172" y="497"/>
              <a:chExt cx="934" cy="347"/>
            </a:xfrm>
          </p:grpSpPr>
          <p:sp>
            <p:nvSpPr>
              <p:cNvPr id="148588" name="Oval 108"/>
              <p:cNvSpPr>
                <a:spLocks noChangeArrowheads="1"/>
              </p:cNvSpPr>
              <p:nvPr/>
            </p:nvSpPr>
            <p:spPr bwMode="auto">
              <a:xfrm>
                <a:off x="1172" y="497"/>
                <a:ext cx="336" cy="336"/>
              </a:xfrm>
              <a:prstGeom prst="ellipse">
                <a:avLst/>
              </a:prstGeom>
              <a:noFill/>
              <a:ln w="254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9" name="Oval 109"/>
              <p:cNvSpPr>
                <a:spLocks noChangeArrowheads="1"/>
              </p:cNvSpPr>
              <p:nvPr/>
            </p:nvSpPr>
            <p:spPr bwMode="auto">
              <a:xfrm>
                <a:off x="1766" y="504"/>
                <a:ext cx="340" cy="340"/>
              </a:xfrm>
              <a:prstGeom prst="ellipse">
                <a:avLst/>
              </a:prstGeom>
              <a:noFill/>
              <a:ln w="254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90" name="Group 110"/>
            <p:cNvGrpSpPr/>
            <p:nvPr/>
          </p:nvGrpSpPr>
          <p:grpSpPr bwMode="auto">
            <a:xfrm>
              <a:off x="3937" y="2664"/>
              <a:ext cx="1696" cy="1611"/>
              <a:chOff x="4017" y="2244"/>
              <a:chExt cx="1696" cy="1611"/>
            </a:xfrm>
          </p:grpSpPr>
          <p:sp>
            <p:nvSpPr>
              <p:cNvPr id="148591" name="Freeform 111"/>
              <p:cNvSpPr/>
              <p:nvPr/>
            </p:nvSpPr>
            <p:spPr bwMode="auto">
              <a:xfrm rot="-208948">
                <a:off x="4017" y="2244"/>
                <a:ext cx="1696" cy="305"/>
              </a:xfrm>
              <a:custGeom>
                <a:avLst/>
                <a:gdLst>
                  <a:gd name="T0" fmla="*/ 0 w 1696"/>
                  <a:gd name="T1" fmla="*/ 177 h 305"/>
                  <a:gd name="T2" fmla="*/ 176 w 1696"/>
                  <a:gd name="T3" fmla="*/ 101 h 305"/>
                  <a:gd name="T4" fmla="*/ 396 w 1696"/>
                  <a:gd name="T5" fmla="*/ 37 h 305"/>
                  <a:gd name="T6" fmla="*/ 628 w 1696"/>
                  <a:gd name="T7" fmla="*/ 5 h 305"/>
                  <a:gd name="T8" fmla="*/ 840 w 1696"/>
                  <a:gd name="T9" fmla="*/ 9 h 305"/>
                  <a:gd name="T10" fmla="*/ 1072 w 1696"/>
                  <a:gd name="T11" fmla="*/ 37 h 305"/>
                  <a:gd name="T12" fmla="*/ 1316 w 1696"/>
                  <a:gd name="T13" fmla="*/ 105 h 305"/>
                  <a:gd name="T14" fmla="*/ 1528 w 1696"/>
                  <a:gd name="T15" fmla="*/ 205 h 305"/>
                  <a:gd name="T16" fmla="*/ 1696 w 1696"/>
                  <a:gd name="T17" fmla="*/ 30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6" h="305">
                    <a:moveTo>
                      <a:pt x="0" y="177"/>
                    </a:moveTo>
                    <a:cubicBezTo>
                      <a:pt x="55" y="150"/>
                      <a:pt x="110" y="124"/>
                      <a:pt x="176" y="101"/>
                    </a:cubicBezTo>
                    <a:cubicBezTo>
                      <a:pt x="242" y="78"/>
                      <a:pt x="321" y="53"/>
                      <a:pt x="396" y="37"/>
                    </a:cubicBezTo>
                    <a:cubicBezTo>
                      <a:pt x="471" y="21"/>
                      <a:pt x="554" y="10"/>
                      <a:pt x="628" y="5"/>
                    </a:cubicBezTo>
                    <a:cubicBezTo>
                      <a:pt x="702" y="0"/>
                      <a:pt x="766" y="4"/>
                      <a:pt x="840" y="9"/>
                    </a:cubicBezTo>
                    <a:cubicBezTo>
                      <a:pt x="914" y="14"/>
                      <a:pt x="993" y="21"/>
                      <a:pt x="1072" y="37"/>
                    </a:cubicBezTo>
                    <a:cubicBezTo>
                      <a:pt x="1151" y="53"/>
                      <a:pt x="1240" y="77"/>
                      <a:pt x="1316" y="105"/>
                    </a:cubicBezTo>
                    <a:cubicBezTo>
                      <a:pt x="1392" y="133"/>
                      <a:pt x="1465" y="172"/>
                      <a:pt x="1528" y="205"/>
                    </a:cubicBezTo>
                    <a:cubicBezTo>
                      <a:pt x="1591" y="238"/>
                      <a:pt x="1669" y="288"/>
                      <a:pt x="1696" y="305"/>
                    </a:cubicBezTo>
                  </a:path>
                </a:pathLst>
              </a:custGeom>
              <a:noFill/>
              <a:ln w="12700" cap="flat" cmpd="sng">
                <a:solidFill>
                  <a:srgbClr val="FF0000"/>
                </a:solidFill>
                <a:prstDash val="lgDashDot"/>
                <a:round/>
                <a:headEnd type="none" w="med" len="me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92" name="Line 112"/>
              <p:cNvSpPr>
                <a:spLocks noChangeShapeType="1"/>
              </p:cNvSpPr>
              <p:nvPr/>
            </p:nvSpPr>
            <p:spPr bwMode="auto">
              <a:xfrm flipV="1">
                <a:off x="4857" y="2487"/>
                <a:ext cx="853" cy="1368"/>
              </a:xfrm>
              <a:prstGeom prst="line">
                <a:avLst/>
              </a:prstGeom>
              <a:noFill/>
              <a:ln w="127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93" name="Text Box 113"/>
              <p:cNvSpPr txBox="1">
                <a:spLocks noChangeArrowheads="1"/>
              </p:cNvSpPr>
              <p:nvPr/>
            </p:nvSpPr>
            <p:spPr bwMode="auto">
              <a:xfrm rot="-3443118">
                <a:off x="5136" y="2982"/>
                <a:ext cx="662" cy="288"/>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15875">
                    <a:solidFill>
                      <a:schemeClr val="accent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dirty="0">
                    <a:solidFill>
                      <a:srgbClr val="FF0000"/>
                    </a:solidFill>
                    <a:latin typeface="Times New Roman" panose="02020603050405020304" pitchFamily="18" charset="0"/>
                  </a:rPr>
                  <a:t>d’+</a:t>
                </a:r>
                <a:r>
                  <a:rPr kumimoji="1" lang="en-US" altLang="zh-CN" sz="2400" b="1" i="1" dirty="0">
                    <a:solidFill>
                      <a:srgbClr val="FF0000"/>
                    </a:solidFill>
                    <a:latin typeface="Times New Roman" panose="02020603050405020304" pitchFamily="18" charset="0"/>
                    <a:cs typeface="Times New Roman" panose="02020603050405020304" pitchFamily="18" charset="0"/>
                  </a:rPr>
                  <a:t>∆d’</a:t>
                </a:r>
                <a:endParaRPr kumimoji="1" lang="en-US" altLang="zh-CN" sz="2400" b="1" i="1" dirty="0">
                  <a:solidFill>
                    <a:srgbClr val="FF0000"/>
                  </a:solidFill>
                  <a:latin typeface="Times New Roman" panose="02020603050405020304" pitchFamily="18" charset="0"/>
                  <a:cs typeface="Times New Roman" panose="02020603050405020304" pitchFamily="18" charset="0"/>
                </a:endParaRPr>
              </a:p>
            </p:txBody>
          </p:sp>
        </p:grpSp>
      </p:grpSp>
      <p:sp>
        <p:nvSpPr>
          <p:cNvPr id="148595" name="Text Box 115"/>
          <p:cNvSpPr txBox="1">
            <a:spLocks noChangeArrowheads="1"/>
          </p:cNvSpPr>
          <p:nvPr/>
        </p:nvSpPr>
        <p:spPr bwMode="auto">
          <a:xfrm>
            <a:off x="384175" y="2722245"/>
            <a:ext cx="674052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folHlink"/>
              </a:buClr>
              <a:buSzPct val="95000"/>
              <a:buFont typeface="Wingdings" panose="05000000000000000000" pitchFamily="2" charset="2"/>
              <a:buChar char="K"/>
            </a:pPr>
            <a:r>
              <a:rPr lang="en-US" altLang="zh-CN" sz="2400" b="1" dirty="0"/>
              <a:t> </a:t>
            </a:r>
            <a:r>
              <a:rPr lang="zh-CN" altLang="en-US" sz="2000" b="1" dirty="0"/>
              <a:t>优先选用以下数列：</a:t>
            </a:r>
            <a:r>
              <a:rPr lang="en-US" altLang="zh-CN" sz="2000" dirty="0"/>
              <a:t>17</a:t>
            </a:r>
            <a:r>
              <a:rPr lang="zh-CN" altLang="en-US" sz="2000" dirty="0"/>
              <a:t>、</a:t>
            </a:r>
            <a:r>
              <a:rPr lang="en-US" altLang="zh-CN" sz="2000" dirty="0"/>
              <a:t>19</a:t>
            </a:r>
            <a:r>
              <a:rPr lang="zh-CN" altLang="en-US" sz="2000" dirty="0"/>
              <a:t>、</a:t>
            </a:r>
            <a:r>
              <a:rPr lang="en-US" altLang="zh-CN" sz="2000" dirty="0"/>
              <a:t>21</a:t>
            </a:r>
            <a:r>
              <a:rPr lang="zh-CN" altLang="en-US" sz="2000" dirty="0"/>
              <a:t>、</a:t>
            </a:r>
            <a:r>
              <a:rPr lang="en-US" altLang="zh-CN" sz="2000" dirty="0"/>
              <a:t>25</a:t>
            </a:r>
            <a:r>
              <a:rPr lang="zh-CN" altLang="en-US" sz="2000" dirty="0"/>
              <a:t>、</a:t>
            </a:r>
            <a:r>
              <a:rPr lang="en-US" altLang="zh-CN" sz="2000" dirty="0"/>
              <a:t>38</a:t>
            </a:r>
            <a:r>
              <a:rPr lang="zh-CN" altLang="en-US" sz="2000" dirty="0" smtClean="0"/>
              <a:t>、</a:t>
            </a:r>
            <a:r>
              <a:rPr lang="en-US" altLang="zh-CN" sz="2000" dirty="0" smtClean="0"/>
              <a:t>57</a:t>
            </a:r>
            <a:r>
              <a:rPr lang="zh-CN" altLang="en-US" sz="2000" dirty="0"/>
              <a:t>、</a:t>
            </a:r>
            <a:r>
              <a:rPr lang="en-US" altLang="zh-CN" sz="2000" dirty="0"/>
              <a:t>76</a:t>
            </a:r>
            <a:r>
              <a:rPr lang="zh-CN" altLang="en-US" sz="2000" dirty="0"/>
              <a:t>、</a:t>
            </a:r>
            <a:r>
              <a:rPr lang="en-US" altLang="zh-CN" sz="2000" dirty="0" smtClean="0"/>
              <a:t>95</a:t>
            </a:r>
            <a:r>
              <a:rPr lang="zh-CN" altLang="en-US" sz="2000" dirty="0" smtClean="0"/>
              <a:t>、</a:t>
            </a:r>
            <a:r>
              <a:rPr lang="en-US" altLang="zh-CN" sz="2000" dirty="0" smtClean="0"/>
              <a:t>114</a:t>
            </a:r>
            <a:r>
              <a:rPr lang="zh-CN" altLang="en-US" sz="2000" dirty="0" smtClean="0"/>
              <a:t>。</a:t>
            </a:r>
            <a:r>
              <a:rPr lang="zh-CN" altLang="en-US" sz="2000" dirty="0" smtClean="0">
                <a:solidFill>
                  <a:srgbClr val="C00000"/>
                </a:solidFill>
                <a:latin typeface="黑体" panose="02010609060101010101" pitchFamily="49" charset="-122"/>
                <a:ea typeface="黑体" panose="02010609060101010101" pitchFamily="49" charset="-122"/>
              </a:rPr>
              <a:t>链轮齿数为奇数，并尽可能与链节数互为质数</a:t>
            </a:r>
            <a:endParaRPr lang="zh-CN" altLang="en-US" sz="2000" dirty="0">
              <a:solidFill>
                <a:srgbClr val="C00000"/>
              </a:solidFill>
              <a:latin typeface="黑体" panose="02010609060101010101" pitchFamily="49" charset="-122"/>
              <a:ea typeface="黑体" panose="02010609060101010101" pitchFamily="49" charset="-122"/>
            </a:endParaRPr>
          </a:p>
        </p:txBody>
      </p:sp>
      <p:sp>
        <p:nvSpPr>
          <p:cNvPr id="148597" name="Text Box 117"/>
          <p:cNvSpPr txBox="1">
            <a:spLocks noChangeArrowheads="1"/>
          </p:cNvSpPr>
          <p:nvPr/>
        </p:nvSpPr>
        <p:spPr bwMode="auto">
          <a:xfrm>
            <a:off x="323528" y="980728"/>
            <a:ext cx="36798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小齿轮齿数</a:t>
            </a:r>
            <a:r>
              <a:rPr lang="en-US" altLang="zh-CN" dirty="0">
                <a:solidFill>
                  <a:schemeClr val="folHlink"/>
                </a:solidFill>
                <a:latin typeface="黑体" panose="02010609060101010101" pitchFamily="49" charset="-122"/>
                <a:ea typeface="黑体" panose="02010609060101010101" pitchFamily="49" charset="-122"/>
              </a:rPr>
              <a:t>z</a:t>
            </a:r>
            <a:r>
              <a:rPr lang="en-US" altLang="zh-CN" baseline="-25000" dirty="0">
                <a:solidFill>
                  <a:schemeClr val="folHlink"/>
                </a:solidFill>
                <a:latin typeface="黑体" panose="02010609060101010101" pitchFamily="49" charset="-122"/>
                <a:ea typeface="黑体" panose="02010609060101010101" pitchFamily="49" charset="-122"/>
              </a:rPr>
              <a:t>1</a:t>
            </a:r>
            <a:r>
              <a:rPr lang="zh-CN" altLang="en-US" dirty="0">
                <a:solidFill>
                  <a:schemeClr val="folHlink"/>
                </a:solidFill>
                <a:latin typeface="黑体" panose="02010609060101010101" pitchFamily="49" charset="-122"/>
                <a:ea typeface="黑体" panose="02010609060101010101" pitchFamily="49" charset="-122"/>
              </a:rPr>
              <a:t>：</a:t>
            </a:r>
            <a:endParaRPr lang="zh-CN" altLang="en-US" dirty="0">
              <a:solidFill>
                <a:schemeClr val="folHlink"/>
              </a:solidFill>
              <a:latin typeface="黑体" panose="02010609060101010101" pitchFamily="49" charset="-122"/>
              <a:ea typeface="黑体" panose="02010609060101010101" pitchFamily="49" charset="-122"/>
            </a:endParaRPr>
          </a:p>
        </p:txBody>
      </p:sp>
      <p:pic>
        <p:nvPicPr>
          <p:cNvPr id="70" name="Picture 35" descr="back1">
            <a:hlinkClick r:id="" action="ppaction://hlinkshowjump?jump=previous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04448" y="638132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597"/>
                                        </p:tgtEl>
                                        <p:attrNameLst>
                                          <p:attrName>style.visibility</p:attrName>
                                        </p:attrNameLst>
                                      </p:cBhvr>
                                      <p:to>
                                        <p:strVal val="visible"/>
                                      </p:to>
                                    </p:set>
                                    <p:animEffect transition="in" filter="wipe(left)">
                                      <p:cBhvr>
                                        <p:cTn id="7" dur="500"/>
                                        <p:tgtEl>
                                          <p:spTgt spid="1485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4854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8485"/>
                                        </p:tgtEl>
                                        <p:attrNameLst>
                                          <p:attrName>style.visibility</p:attrName>
                                        </p:attrNameLst>
                                      </p:cBhvr>
                                      <p:to>
                                        <p:strVal val="visible"/>
                                      </p:to>
                                    </p:set>
                                    <p:animEffect transition="in" filter="wipe(left)">
                                      <p:cBhvr>
                                        <p:cTn id="16" dur="500"/>
                                        <p:tgtEl>
                                          <p:spTgt spid="14848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48595"/>
                                        </p:tgtEl>
                                        <p:attrNameLst>
                                          <p:attrName>style.visibility</p:attrName>
                                        </p:attrNameLst>
                                      </p:cBhvr>
                                      <p:to>
                                        <p:strVal val="visible"/>
                                      </p:to>
                                    </p:set>
                                    <p:animEffect transition="in" filter="wipe(up)">
                                      <p:cBhvr>
                                        <p:cTn id="21" dur="500"/>
                                        <p:tgtEl>
                                          <p:spTgt spid="148595"/>
                                        </p:tgtEl>
                                      </p:cBhvr>
                                    </p:animEffect>
                                  </p:childTnLst>
                                </p:cTn>
                              </p:par>
                              <p:par>
                                <p:cTn id="22" presetID="22" presetClass="entr" presetSubtype="8" fill="hold" nodeType="withEffect">
                                  <p:stCondLst>
                                    <p:cond delay="0"/>
                                  </p:stCondLst>
                                  <p:childTnLst>
                                    <p:set>
                                      <p:cBhvr>
                                        <p:cTn id="23" dur="1" fill="hold">
                                          <p:stCondLst>
                                            <p:cond delay="0"/>
                                          </p:stCondLst>
                                        </p:cTn>
                                        <p:tgtEl>
                                          <p:spTgt spid="148596"/>
                                        </p:tgtEl>
                                        <p:attrNameLst>
                                          <p:attrName>style.visibility</p:attrName>
                                        </p:attrNameLst>
                                      </p:cBhvr>
                                      <p:to>
                                        <p:strVal val="visible"/>
                                      </p:to>
                                    </p:set>
                                    <p:animEffect transition="in" filter="wipe(left)">
                                      <p:cBhvr>
                                        <p:cTn id="24" dur="500"/>
                                        <p:tgtEl>
                                          <p:spTgt spid="14859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48501"/>
                                        </p:tgtEl>
                                        <p:attrNameLst>
                                          <p:attrName>style.visibility</p:attrName>
                                        </p:attrNameLst>
                                      </p:cBhvr>
                                      <p:to>
                                        <p:strVal val="visible"/>
                                      </p:to>
                                    </p:set>
                                    <p:animEffect transition="in" filter="slide(fromBottom)">
                                      <p:cBhvr>
                                        <p:cTn id="29" dur="500"/>
                                        <p:tgtEl>
                                          <p:spTgt spid="148501"/>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1485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8582"/>
                                        </p:tgtEl>
                                        <p:attrNameLst>
                                          <p:attrName>style.visibility</p:attrName>
                                        </p:attrNameLst>
                                      </p:cBhvr>
                                      <p:to>
                                        <p:strVal val="visible"/>
                                      </p:to>
                                    </p:set>
                                    <p:animEffect transition="in" filter="dissolve">
                                      <p:cBhvr>
                                        <p:cTn id="37" dur="500"/>
                                        <p:tgtEl>
                                          <p:spTgt spid="148582"/>
                                        </p:tgtEl>
                                      </p:cBhvr>
                                    </p:animEffec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4857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485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1485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14858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1485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148540"/>
                                        </p:tgtEl>
                                        <p:attrNameLst>
                                          <p:attrName>style.visibility</p:attrName>
                                        </p:attrNameLst>
                                      </p:cBhvr>
                                      <p:to>
                                        <p:strVal val="visible"/>
                                      </p:to>
                                    </p:set>
                                    <p:animEffect transition="in" filter="slide(fromBottom)">
                                      <p:cBhvr>
                                        <p:cTn id="61" dur="500"/>
                                        <p:tgtEl>
                                          <p:spTgt spid="148540"/>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499"/>
                                          </p:stCondLst>
                                        </p:cTn>
                                        <p:tgtEl>
                                          <p:spTgt spid="14857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148577"/>
                                        </p:tgtEl>
                                        <p:attrNameLst>
                                          <p:attrName>style.visibility</p:attrName>
                                        </p:attrNameLst>
                                      </p:cBhvr>
                                      <p:to>
                                        <p:strVal val="visible"/>
                                      </p:to>
                                    </p:set>
                                    <p:animEffect transition="in" filter="slide(fromBottom)">
                                      <p:cBhvr>
                                        <p:cTn id="70" dur="500"/>
                                        <p:tgtEl>
                                          <p:spTgt spid="148577"/>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14858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14853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4854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485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4854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148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40" grpId="0" bldLvl="0" animBg="1" autoUpdateAnimBg="0"/>
      <p:bldP spid="148501" grpId="0" bldLvl="0" animBg="1" autoUpdateAnimBg="0"/>
      <p:bldP spid="148539" grpId="0" bldLvl="0" animBg="1" autoUpdateAnimBg="0"/>
      <p:bldP spid="148541" grpId="0" bldLvl="0" animBg="1" autoUpdateAnimBg="0"/>
      <p:bldP spid="148542" grpId="0" bldLvl="0" animBg="1" autoUpdateAnimBg="0"/>
      <p:bldP spid="148543" grpId="0" bldLvl="0" animBg="1" autoUpdateAnimBg="0"/>
      <p:bldP spid="148544" grpId="0" bldLvl="0" animBg="1" autoUpdateAnimBg="0"/>
      <p:bldP spid="148545" grpId="0" bldLvl="0" animBg="1" autoUpdateAnimBg="0"/>
      <p:bldP spid="148485" grpId="0"/>
      <p:bldP spid="148577" grpId="0" bldLvl="0" animBg="1" autoUpdateAnimBg="0"/>
      <p:bldP spid="148578" grpId="0" autoUpdateAnimBg="0"/>
      <p:bldP spid="148595" grpId="0" bldLvl="0" animBg="1"/>
      <p:bldP spid="14859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6149"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36" descr="NEXT1">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382770" y="346393"/>
            <a:ext cx="4554538"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 name="文本框 2"/>
          <p:cNvSpPr txBox="1">
            <a:spLocks noChangeArrowheads="1"/>
          </p:cNvSpPr>
          <p:nvPr/>
        </p:nvSpPr>
        <p:spPr bwMode="auto">
          <a:xfrm>
            <a:off x="323528" y="836712"/>
            <a:ext cx="3688080" cy="460375"/>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a:solidFill>
                  <a:srgbClr val="000099"/>
                </a:solidFill>
                <a:latin typeface="黑体" panose="02010609060101010101" pitchFamily="49" charset="-122"/>
                <a:ea typeface="黑体" panose="02010609060101010101" pitchFamily="49" charset="-122"/>
                <a:cs typeface="黑体" panose="02010609060101010101" pitchFamily="49" charset="-122"/>
              </a:rPr>
              <a:t>3</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）确定链条型号和节距</a:t>
            </a:r>
            <a:endParaRPr lang="en-US" altLang="zh-CN" sz="24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a:spLocks noChangeArrowheads="1"/>
          </p:cNvSpPr>
          <p:nvPr/>
        </p:nvSpPr>
        <p:spPr bwMode="auto">
          <a:xfrm>
            <a:off x="395536" y="1349787"/>
            <a:ext cx="8362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chemeClr val="accent5">
                    <a:lumMod val="10000"/>
                  </a:schemeClr>
                </a:solidFill>
                <a:latin typeface="Times New Roman" panose="02020603050405020304" pitchFamily="18" charset="0"/>
              </a:rPr>
              <a:t>求出特定条件下传递的</a:t>
            </a:r>
            <a:r>
              <a:rPr lang="zh-CN" altLang="en-US" sz="2000" dirty="0">
                <a:solidFill>
                  <a:srgbClr val="FF0000"/>
                </a:solidFill>
                <a:latin typeface="Times New Roman" panose="02020603050405020304" pitchFamily="18" charset="0"/>
              </a:rPr>
              <a:t>计算功率</a:t>
            </a:r>
            <a:r>
              <a:rPr lang="zh-CN" altLang="en-US" sz="2000" i="1" dirty="0">
                <a:solidFill>
                  <a:srgbClr val="FF0000"/>
                </a:solidFill>
                <a:latin typeface="Times New Roman" panose="02020603050405020304" pitchFamily="18" charset="0"/>
              </a:rPr>
              <a:t>P</a:t>
            </a:r>
            <a:r>
              <a:rPr lang="zh-CN" altLang="en-US" sz="2000" i="1" baseline="-25000" dirty="0">
                <a:solidFill>
                  <a:srgbClr val="FF0000"/>
                </a:solidFill>
                <a:latin typeface="Times New Roman" panose="02020603050405020304" pitchFamily="18" charset="0"/>
              </a:rPr>
              <a:t>ca</a:t>
            </a:r>
            <a:r>
              <a:rPr lang="zh-CN" altLang="en-US" sz="2000" dirty="0">
                <a:solidFill>
                  <a:schemeClr val="accent5">
                    <a:lumMod val="10000"/>
                  </a:schemeClr>
                </a:solidFill>
                <a:latin typeface="Times New Roman" panose="02020603050405020304" pitchFamily="18" charset="0"/>
              </a:rPr>
              <a:t>，结合</a:t>
            </a:r>
            <a:r>
              <a:rPr lang="zh-CN" altLang="en-US" sz="2000" dirty="0">
                <a:solidFill>
                  <a:srgbClr val="FF0000"/>
                </a:solidFill>
                <a:latin typeface="Times New Roman" panose="02020603050405020304" pitchFamily="18" charset="0"/>
              </a:rPr>
              <a:t>主动链轮的转速</a:t>
            </a:r>
            <a:r>
              <a:rPr lang="zh-CN" altLang="en-US" sz="2000" dirty="0">
                <a:solidFill>
                  <a:schemeClr val="accent5">
                    <a:lumMod val="10000"/>
                  </a:schemeClr>
                </a:solidFill>
                <a:latin typeface="Times New Roman" panose="02020603050405020304" pitchFamily="18" charset="0"/>
              </a:rPr>
              <a:t>，确定</a:t>
            </a:r>
            <a:r>
              <a:rPr lang="zh-CN" altLang="en-US" sz="2000" dirty="0">
                <a:solidFill>
                  <a:srgbClr val="FF0000"/>
                </a:solidFill>
                <a:latin typeface="Times New Roman" panose="02020603050405020304" pitchFamily="18" charset="0"/>
              </a:rPr>
              <a:t>链的型号</a:t>
            </a:r>
            <a:r>
              <a:rPr lang="zh-CN" altLang="en-US" sz="2000" dirty="0">
                <a:solidFill>
                  <a:schemeClr val="accent5">
                    <a:lumMod val="10000"/>
                  </a:schemeClr>
                </a:solidFill>
                <a:latin typeface="Times New Roman" panose="02020603050405020304" pitchFamily="18" charset="0"/>
              </a:rPr>
              <a:t>，查出合适的</a:t>
            </a:r>
            <a:r>
              <a:rPr lang="zh-CN" altLang="en-US" sz="2000" dirty="0">
                <a:solidFill>
                  <a:srgbClr val="000099"/>
                </a:solidFill>
                <a:latin typeface="Times New Roman" panose="02020603050405020304" pitchFamily="18" charset="0"/>
                <a:hlinkClick r:id="" action="ppaction://hlinkshowjump?jump=nextslide"/>
              </a:rPr>
              <a:t>链节距</a:t>
            </a:r>
            <a:r>
              <a:rPr lang="zh-CN" altLang="en-US" sz="2000" i="1" dirty="0">
                <a:solidFill>
                  <a:srgbClr val="000099"/>
                </a:solidFill>
                <a:latin typeface="Times New Roman" panose="02020603050405020304" pitchFamily="18" charset="0"/>
                <a:hlinkClick r:id="" action="ppaction://hlinkshowjump?jump=nextslide"/>
              </a:rPr>
              <a:t>P</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2" name="文本框 1"/>
          <p:cNvSpPr txBox="1">
            <a:spLocks noChangeArrowheads="1"/>
          </p:cNvSpPr>
          <p:nvPr/>
        </p:nvSpPr>
        <p:spPr bwMode="auto">
          <a:xfrm>
            <a:off x="506730" y="2294255"/>
            <a:ext cx="3611880" cy="398780"/>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4</a:t>
            </a:r>
            <a:r>
              <a:rPr lang="zh-CN" altLang="en-US" sz="2000" dirty="0">
                <a:solidFill>
                  <a:srgbClr val="000099"/>
                </a:solidFill>
                <a:latin typeface="Times New Roman" panose="02020603050405020304" pitchFamily="18" charset="0"/>
              </a:rPr>
              <a:t>）计算链节数和实际中心距</a:t>
            </a:r>
            <a:endParaRPr lang="en-US" altLang="zh-CN" sz="2000" dirty="0">
              <a:solidFill>
                <a:srgbClr val="000099"/>
              </a:solidFill>
              <a:latin typeface="Times New Roman" panose="02020603050405020304" pitchFamily="18" charset="0"/>
            </a:endParaRPr>
          </a:p>
        </p:txBody>
      </p:sp>
      <p:sp>
        <p:nvSpPr>
          <p:cNvPr id="6" name="文本框 5"/>
          <p:cNvSpPr txBox="1">
            <a:spLocks noChangeArrowheads="1"/>
          </p:cNvSpPr>
          <p:nvPr/>
        </p:nvSpPr>
        <p:spPr bwMode="auto">
          <a:xfrm>
            <a:off x="256858" y="3860483"/>
            <a:ext cx="8362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000">
                <a:solidFill>
                  <a:schemeClr val="accent5">
                    <a:lumMod val="10000"/>
                  </a:schemeClr>
                </a:solidFill>
                <a:latin typeface="Times New Roman" panose="02020603050405020304" pitchFamily="18" charset="0"/>
              </a:rPr>
              <a:t>链条长度常用链节数</a:t>
            </a:r>
            <a:r>
              <a:rPr lang="en-US" altLang="zh-CN" sz="2000" i="1">
                <a:solidFill>
                  <a:schemeClr val="accent5">
                    <a:lumMod val="10000"/>
                  </a:schemeClr>
                </a:solidFill>
                <a:latin typeface="Times New Roman" panose="02020603050405020304" pitchFamily="18" charset="0"/>
              </a:rPr>
              <a:t>L</a:t>
            </a:r>
            <a:r>
              <a:rPr lang="en-US" altLang="zh-CN" sz="2000" i="1" baseline="-25000">
                <a:solidFill>
                  <a:schemeClr val="accent5">
                    <a:lumMod val="10000"/>
                  </a:schemeClr>
                </a:solidFill>
                <a:latin typeface="Times New Roman" panose="02020603050405020304" pitchFamily="18" charset="0"/>
              </a:rPr>
              <a:t>p</a:t>
            </a:r>
            <a:r>
              <a:rPr lang="zh-CN" altLang="en-US" sz="2000">
                <a:solidFill>
                  <a:schemeClr val="accent5">
                    <a:lumMod val="10000"/>
                  </a:schemeClr>
                </a:solidFill>
                <a:latin typeface="Times New Roman" panose="02020603050405020304" pitchFamily="18" charset="0"/>
              </a:rPr>
              <a:t>表示，链长是链节距</a:t>
            </a:r>
            <a:r>
              <a:rPr lang="en-US" altLang="zh-CN" sz="2000" i="1">
                <a:solidFill>
                  <a:schemeClr val="accent5">
                    <a:lumMod val="10000"/>
                  </a:schemeClr>
                </a:solidFill>
                <a:latin typeface="Times New Roman" panose="02020603050405020304" pitchFamily="18" charset="0"/>
              </a:rPr>
              <a:t>p</a:t>
            </a:r>
            <a:r>
              <a:rPr lang="zh-CN" altLang="en-US" sz="2000">
                <a:solidFill>
                  <a:schemeClr val="accent5">
                    <a:lumMod val="10000"/>
                  </a:schemeClr>
                </a:solidFill>
                <a:latin typeface="Times New Roman" panose="02020603050405020304" pitchFamily="18" charset="0"/>
              </a:rPr>
              <a:t>的</a:t>
            </a:r>
            <a:r>
              <a:rPr lang="en-US" altLang="zh-CN" sz="2000" i="1">
                <a:solidFill>
                  <a:schemeClr val="accent5">
                    <a:lumMod val="10000"/>
                  </a:schemeClr>
                </a:solidFill>
                <a:latin typeface="Times New Roman" panose="02020603050405020304" pitchFamily="18" charset="0"/>
              </a:rPr>
              <a:t>L</a:t>
            </a:r>
            <a:r>
              <a:rPr lang="en-US" altLang="zh-CN" sz="2000" i="1" baseline="-25000">
                <a:solidFill>
                  <a:schemeClr val="accent5">
                    <a:lumMod val="10000"/>
                  </a:schemeClr>
                </a:solidFill>
                <a:latin typeface="Times New Roman" panose="02020603050405020304" pitchFamily="18" charset="0"/>
              </a:rPr>
              <a:t>p</a:t>
            </a:r>
            <a:r>
              <a:rPr lang="zh-CN" altLang="en-US" sz="2000">
                <a:solidFill>
                  <a:schemeClr val="accent5">
                    <a:lumMod val="10000"/>
                  </a:schemeClr>
                </a:solidFill>
                <a:latin typeface="Times New Roman" panose="02020603050405020304" pitchFamily="18" charset="0"/>
              </a:rPr>
              <a:t>倍，与带传动相似，链节数</a:t>
            </a:r>
            <a:r>
              <a:rPr lang="en-US" altLang="zh-CN" sz="2000" i="1">
                <a:solidFill>
                  <a:schemeClr val="accent5">
                    <a:lumMod val="10000"/>
                  </a:schemeClr>
                </a:solidFill>
                <a:latin typeface="Times New Roman" panose="02020603050405020304" pitchFamily="18" charset="0"/>
              </a:rPr>
              <a:t>L</a:t>
            </a:r>
            <a:r>
              <a:rPr lang="en-US" altLang="zh-CN" sz="2000" i="1" baseline="-25000">
                <a:solidFill>
                  <a:schemeClr val="accent5">
                    <a:lumMod val="10000"/>
                  </a:schemeClr>
                </a:solidFill>
                <a:latin typeface="Times New Roman" panose="02020603050405020304" pitchFamily="18" charset="0"/>
              </a:rPr>
              <a:t>p</a:t>
            </a:r>
            <a:r>
              <a:rPr lang="zh-CN" altLang="en-US" sz="2000">
                <a:solidFill>
                  <a:schemeClr val="accent5">
                    <a:lumMod val="10000"/>
                  </a:schemeClr>
                </a:solidFill>
                <a:latin typeface="Times New Roman" panose="02020603050405020304" pitchFamily="18" charset="0"/>
              </a:rPr>
              <a:t>计算公式为</a:t>
            </a:r>
            <a:endParaRPr lang="zh-CN" altLang="en-US" sz="2000">
              <a:solidFill>
                <a:schemeClr val="accent5">
                  <a:lumMod val="10000"/>
                </a:schemeClr>
              </a:solidFill>
              <a:latin typeface="Times New Roman" panose="02020603050405020304" pitchFamily="18" charset="0"/>
            </a:endParaRPr>
          </a:p>
        </p:txBody>
      </p:sp>
      <p:sp>
        <p:nvSpPr>
          <p:cNvPr id="7" name="文本框 6"/>
          <p:cNvSpPr txBox="1">
            <a:spLocks noChangeArrowheads="1"/>
          </p:cNvSpPr>
          <p:nvPr/>
        </p:nvSpPr>
        <p:spPr bwMode="auto">
          <a:xfrm>
            <a:off x="506413" y="5057775"/>
            <a:ext cx="8362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000" dirty="0">
                <a:solidFill>
                  <a:schemeClr val="accent5">
                    <a:lumMod val="10000"/>
                  </a:schemeClr>
                </a:solidFill>
                <a:latin typeface="Times New Roman" panose="02020603050405020304" pitchFamily="18" charset="0"/>
                <a:sym typeface="宋体" panose="02010600030101010101" pitchFamily="2" charset="-122"/>
              </a:rPr>
              <a:t>由此计算出的链节数应圆整为整数，最好取偶数。根据圆整后的链节数计算理论中心距为</a:t>
            </a:r>
            <a:endParaRPr lang="zh-CN" altLang="en-US" sz="2000" dirty="0">
              <a:solidFill>
                <a:schemeClr val="accent5">
                  <a:lumMod val="10000"/>
                </a:schemeClr>
              </a:solidFill>
              <a:latin typeface="Times New Roman" panose="02020603050405020304" pitchFamily="18" charset="0"/>
              <a:sym typeface="宋体" panose="02010600030101010101" pitchFamily="2" charset="-122"/>
            </a:endParaRPr>
          </a:p>
        </p:txBody>
      </p:sp>
      <p:graphicFrame>
        <p:nvGraphicFramePr>
          <p:cNvPr id="71693" name="对象 -2147482580"/>
          <p:cNvGraphicFramePr>
            <a:graphicFrameLocks noChangeAspect="1"/>
          </p:cNvGraphicFramePr>
          <p:nvPr/>
        </p:nvGraphicFramePr>
        <p:xfrm>
          <a:off x="3025775" y="4451350"/>
          <a:ext cx="3054350" cy="603250"/>
        </p:xfrm>
        <a:graphic>
          <a:graphicData uri="http://schemas.openxmlformats.org/presentationml/2006/ole">
            <mc:AlternateContent xmlns:mc="http://schemas.openxmlformats.org/markup-compatibility/2006">
              <mc:Choice xmlns:v="urn:schemas-microsoft-com:vml" Requires="v">
                <p:oleObj spid="_x0000_s6231" name="" r:id="rId6" imgW="1929765" imgH="381000" progId="Equation.3">
                  <p:embed/>
                </p:oleObj>
              </mc:Choice>
              <mc:Fallback>
                <p:oleObj name="" r:id="rId6" imgW="1929765" imgH="381000" progId="Equation.3">
                  <p:embed/>
                  <p:pic>
                    <p:nvPicPr>
                      <p:cNvPr id="0" name="对象 -21474825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5775" y="4451350"/>
                        <a:ext cx="30543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694" name="对象 -2147482601"/>
          <p:cNvGraphicFramePr>
            <a:graphicFrameLocks noChangeAspect="1"/>
          </p:cNvGraphicFramePr>
          <p:nvPr/>
        </p:nvGraphicFramePr>
        <p:xfrm>
          <a:off x="2044700" y="5788025"/>
          <a:ext cx="5054600" cy="688975"/>
        </p:xfrm>
        <a:graphic>
          <a:graphicData uri="http://schemas.openxmlformats.org/presentationml/2006/ole">
            <mc:AlternateContent xmlns:mc="http://schemas.openxmlformats.org/markup-compatibility/2006">
              <mc:Choice xmlns:v="urn:schemas-microsoft-com:vml" Requires="v">
                <p:oleObj spid="_x0000_s6232" name="公式" r:id="rId8" imgW="3251200" imgH="444500" progId="Equation.3">
                  <p:embed/>
                </p:oleObj>
              </mc:Choice>
              <mc:Fallback>
                <p:oleObj name="公式" r:id="rId8" imgW="3251200" imgH="444500" progId="Equation.3">
                  <p:embed/>
                  <p:pic>
                    <p:nvPicPr>
                      <p:cNvPr id="0" name="对象 -21474826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4700" y="5788025"/>
                        <a:ext cx="50546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6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 name="文本框 7"/>
          <p:cNvSpPr txBox="1"/>
          <p:nvPr/>
        </p:nvSpPr>
        <p:spPr>
          <a:xfrm>
            <a:off x="712470" y="2874010"/>
            <a:ext cx="4572000" cy="398780"/>
          </a:xfrm>
          <a:prstGeom prst="rect">
            <a:avLst/>
          </a:prstGeom>
          <a:noFill/>
        </p:spPr>
        <p:txBody>
          <a:bodyPr wrap="square" rtlCol="0" anchor="t">
            <a:spAutoFit/>
          </a:bodyPr>
          <a:p>
            <a:pPr eaLnBrk="1" hangingPunct="1"/>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初定中心距</a:t>
            </a:r>
            <a:r>
              <a:rPr lang="en-US" altLang="zh-CN" sz="2000" i="1"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a</a:t>
            </a:r>
            <a:r>
              <a:rPr lang="en-US" altLang="zh-CN" sz="20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0</a:t>
            </a:r>
            <a:endParaRPr lang="en-US" altLang="zh-CN" sz="20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a:spLocks noChangeArrowheads="1"/>
          </p:cNvSpPr>
          <p:nvPr>
            <p:custDataLst>
              <p:tags r:id="rId10"/>
            </p:custDataLst>
          </p:nvPr>
        </p:nvSpPr>
        <p:spPr bwMode="auto">
          <a:xfrm>
            <a:off x="257456" y="3281005"/>
            <a:ext cx="8362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3399"/>
                </a:solidFill>
                <a:latin typeface="Times New Roman" panose="02020603050405020304" pitchFamily="18" charset="0"/>
              </a:rPr>
              <a:t>　　</a:t>
            </a:r>
            <a:r>
              <a:rPr lang="zh-CN" altLang="en-US" sz="2000" dirty="0">
                <a:solidFill>
                  <a:schemeClr val="accent5">
                    <a:lumMod val="10000"/>
                  </a:schemeClr>
                </a:solidFill>
                <a:latin typeface="Times New Roman" panose="02020603050405020304" pitchFamily="18" charset="0"/>
                <a:sym typeface="宋体" panose="02010600030101010101" pitchFamily="2" charset="-122"/>
              </a:rPr>
              <a:t>一般中心距可取</a:t>
            </a:r>
            <a:r>
              <a:rPr lang="en-US" altLang="zh-CN" sz="2000" i="1" dirty="0">
                <a:solidFill>
                  <a:srgbClr val="FF0000"/>
                </a:solidFill>
                <a:latin typeface="Times New Roman" panose="02020603050405020304" pitchFamily="18" charset="0"/>
              </a:rPr>
              <a:t>a</a:t>
            </a:r>
            <a:r>
              <a:rPr lang="en-US" altLang="zh-CN" sz="2000" baseline="-25000" dirty="0">
                <a:solidFill>
                  <a:srgbClr val="FF0000"/>
                </a:solidFill>
                <a:latin typeface="Times New Roman" panose="02020603050405020304" pitchFamily="18" charset="0"/>
              </a:rPr>
              <a:t>0</a:t>
            </a:r>
            <a:r>
              <a:rPr lang="en-US" altLang="zh-CN" sz="2000" dirty="0">
                <a:solidFill>
                  <a:srgbClr val="FF0000"/>
                </a:solidFill>
                <a:latin typeface="Times New Roman" panose="02020603050405020304" pitchFamily="18" charset="0"/>
              </a:rPr>
              <a:t>=(30~50)</a:t>
            </a:r>
            <a:r>
              <a:rPr lang="en-US" altLang="zh-CN" sz="2000" i="1" dirty="0">
                <a:solidFill>
                  <a:srgbClr val="FF0000"/>
                </a:solidFill>
                <a:latin typeface="Times New Roman" panose="02020603050405020304" pitchFamily="18" charset="0"/>
              </a:rPr>
              <a:t>p</a:t>
            </a:r>
            <a:r>
              <a:rPr lang="zh-CN" altLang="en-US" sz="2000" dirty="0">
                <a:solidFill>
                  <a:schemeClr val="accent5">
                    <a:lumMod val="10000"/>
                  </a:schemeClr>
                </a:solidFill>
                <a:latin typeface="Times New Roman" panose="02020603050405020304" pitchFamily="18" charset="0"/>
                <a:sym typeface="宋体" panose="02010600030101010101" pitchFamily="2" charset="-122"/>
              </a:rPr>
              <a:t>，采用张紧装置时</a:t>
            </a:r>
            <a:r>
              <a:rPr lang="en-US" altLang="zh-CN" sz="2000" i="1" dirty="0">
                <a:solidFill>
                  <a:schemeClr val="accent5">
                    <a:lumMod val="10000"/>
                  </a:schemeClr>
                </a:solidFill>
                <a:latin typeface="Times New Roman" panose="02020603050405020304" pitchFamily="18" charset="0"/>
              </a:rPr>
              <a:t>a</a:t>
            </a:r>
            <a:r>
              <a:rPr lang="en-US" altLang="zh-CN" sz="2000" baseline="-25000" dirty="0">
                <a:solidFill>
                  <a:schemeClr val="accent5">
                    <a:lumMod val="10000"/>
                  </a:schemeClr>
                </a:solidFill>
                <a:latin typeface="Times New Roman" panose="02020603050405020304" pitchFamily="18" charset="0"/>
              </a:rPr>
              <a:t>0</a:t>
            </a:r>
            <a:r>
              <a:rPr lang="zh-CN" altLang="en-US" sz="2000" dirty="0">
                <a:solidFill>
                  <a:schemeClr val="accent5">
                    <a:lumMod val="10000"/>
                  </a:schemeClr>
                </a:solidFill>
                <a:latin typeface="Times New Roman" panose="02020603050405020304" pitchFamily="18" charset="0"/>
                <a:sym typeface="宋体" panose="02010600030101010101" pitchFamily="2" charset="-122"/>
              </a:rPr>
              <a:t>可取</a:t>
            </a:r>
            <a:r>
              <a:rPr lang="en-US" altLang="zh-CN" sz="2000" dirty="0">
                <a:solidFill>
                  <a:schemeClr val="accent5">
                    <a:lumMod val="10000"/>
                  </a:schemeClr>
                </a:solidFill>
                <a:latin typeface="Times New Roman" panose="02020603050405020304" pitchFamily="18" charset="0"/>
                <a:sym typeface="宋体" panose="02010600030101010101" pitchFamily="2" charset="-122"/>
              </a:rPr>
              <a:t>80</a:t>
            </a:r>
            <a:r>
              <a:rPr lang="en-US" altLang="zh-CN" sz="2000" i="1" dirty="0">
                <a:solidFill>
                  <a:schemeClr val="accent5">
                    <a:lumMod val="10000"/>
                  </a:schemeClr>
                </a:solidFill>
                <a:latin typeface="Times New Roman" panose="02020603050405020304" pitchFamily="18" charset="0"/>
                <a:sym typeface="宋体" panose="02010600030101010101" pitchFamily="2" charset="-122"/>
              </a:rPr>
              <a:t>p</a:t>
            </a:r>
            <a:r>
              <a:rPr lang="zh-CN" altLang="en-US" sz="2000" dirty="0">
                <a:solidFill>
                  <a:srgbClr val="000099"/>
                </a:solidFill>
                <a:latin typeface="Times New Roman" panose="02020603050405020304" pitchFamily="18" charset="0"/>
                <a:sym typeface="宋体" panose="02010600030101010101" pitchFamily="2" charset="-122"/>
              </a:rPr>
              <a:t>。</a:t>
            </a:r>
            <a:endParaRPr lang="zh-CN" altLang="en-US" sz="2000" dirty="0">
              <a:solidFill>
                <a:srgbClr val="000099"/>
              </a:solidFill>
              <a:latin typeface="Times New Roman" panose="02020603050405020304" pitchFamily="18" charset="0"/>
              <a:sym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1693"/>
                                        </p:tgtEl>
                                        <p:attrNameLst>
                                          <p:attrName>style.visibility</p:attrName>
                                        </p:attrNameLst>
                                      </p:cBhvr>
                                      <p:to>
                                        <p:strVal val="visible"/>
                                      </p:to>
                                    </p:set>
                                    <p:animEffect transition="in" filter="wipe(left)">
                                      <p:cBhvr>
                                        <p:cTn id="36" dur="500"/>
                                        <p:tgtEl>
                                          <p:spTgt spid="7169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71694"/>
                                        </p:tgtEl>
                                        <p:attrNameLst>
                                          <p:attrName>style.visibility</p:attrName>
                                        </p:attrNameLst>
                                      </p:cBhvr>
                                      <p:to>
                                        <p:strVal val="visible"/>
                                      </p:to>
                                    </p:set>
                                    <p:animEffect transition="in" filter="wipe(left)">
                                      <p:cBhvr>
                                        <p:cTn id="45" dur="500"/>
                                        <p:tgtEl>
                                          <p:spTgt spid="71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2" grpId="0" bldLvl="0" animBg="1"/>
      <p:bldP spid="6" grpId="0"/>
      <p:bldP spid="7" grpId="0"/>
      <p:bldP spid="9"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230630" y="1591945"/>
            <a:ext cx="3815080" cy="429895"/>
          </a:xfrm>
          <a:prstGeom prst="rect">
            <a:avLst/>
          </a:prstGeom>
          <a:noFill/>
        </p:spPr>
        <p:txBody>
          <a:bodyPr wrap="none" rtlCol="0" anchor="t">
            <a:spAutoFit/>
          </a:bodyPr>
          <a:p>
            <a:r>
              <a:rPr lang="zh-CN" altLang="en-US" dirty="0">
                <a:latin typeface="Times New Roman" panose="02020603050405020304" pitchFamily="18" charset="0"/>
                <a:ea typeface="黑体" panose="02010609060101010101" pitchFamily="49" charset="-122"/>
                <a:sym typeface="+mn-ea"/>
              </a:rPr>
              <a:t>节距 </a:t>
            </a:r>
            <a:r>
              <a:rPr lang="en-US" altLang="zh-CN" i="1">
                <a:latin typeface="Times New Roman" panose="02020603050405020304" pitchFamily="18" charset="0"/>
                <a:ea typeface="黑体" panose="02010609060101010101" pitchFamily="49" charset="-122"/>
                <a:sym typeface="+mn-ea"/>
              </a:rPr>
              <a:t>p </a:t>
            </a:r>
            <a:r>
              <a:rPr lang="zh-CN" altLang="en-US" dirty="0">
                <a:latin typeface="Times New Roman" panose="02020603050405020304" pitchFamily="18" charset="0"/>
                <a:ea typeface="黑体" panose="02010609060101010101" pitchFamily="49" charset="-122"/>
                <a:sym typeface="+mn-ea"/>
              </a:rPr>
              <a:t>越大，承载能力越大。</a:t>
            </a:r>
            <a:endParaRPr lang="zh-CN" altLang="en-US"/>
          </a:p>
        </p:txBody>
      </p:sp>
      <p:sp>
        <p:nvSpPr>
          <p:cNvPr id="524306" name="文本框 524305"/>
          <p:cNvSpPr txBox="1"/>
          <p:nvPr/>
        </p:nvSpPr>
        <p:spPr>
          <a:xfrm>
            <a:off x="970915" y="2164715"/>
            <a:ext cx="7543800" cy="457200"/>
          </a:xfrm>
          <a:prstGeom prst="rect">
            <a:avLst/>
          </a:prstGeom>
          <a:noFill/>
          <a:ln w="38100">
            <a:noFill/>
          </a:ln>
        </p:spPr>
        <p:txBody>
          <a:bodyPr>
            <a:spAutoFit/>
          </a:bodyPr>
          <a:p>
            <a:r>
              <a:rPr lang="zh-CN" altLang="en-US" dirty="0">
                <a:latin typeface="Times New Roman" panose="02020603050405020304" pitchFamily="18" charset="0"/>
                <a:ea typeface="黑体" panose="02010609060101010101" pitchFamily="49" charset="-122"/>
              </a:rPr>
              <a:t>但 </a:t>
            </a:r>
            <a:r>
              <a:rPr lang="en-US" altLang="zh-CN" i="1">
                <a:latin typeface="Times New Roman" panose="02020603050405020304" pitchFamily="18" charset="0"/>
                <a:ea typeface="黑体" panose="02010609060101010101" pitchFamily="49" charset="-122"/>
              </a:rPr>
              <a:t>p </a:t>
            </a:r>
            <a:r>
              <a:rPr lang="zh-CN" altLang="en-US" dirty="0">
                <a:latin typeface="Times New Roman" panose="02020603050405020304" pitchFamily="18" charset="0"/>
                <a:ea typeface="黑体" panose="02010609060101010101" pitchFamily="49" charset="-122"/>
              </a:rPr>
              <a:t>过大，运动越不均匀，冲击越大，且结构庞大。</a:t>
            </a:r>
            <a:endParaRPr lang="zh-CN" altLang="en-US">
              <a:latin typeface="Times New Roman" panose="02020603050405020304" pitchFamily="18" charset="0"/>
              <a:ea typeface="黑体" panose="02010609060101010101" pitchFamily="49" charset="-122"/>
            </a:endParaRPr>
          </a:p>
        </p:txBody>
      </p:sp>
      <p:sp>
        <p:nvSpPr>
          <p:cNvPr id="524307" name="文本框 524306"/>
          <p:cNvSpPr txBox="1"/>
          <p:nvPr/>
        </p:nvSpPr>
        <p:spPr>
          <a:xfrm>
            <a:off x="1087120" y="2764790"/>
            <a:ext cx="6184900" cy="457200"/>
          </a:xfrm>
          <a:prstGeom prst="rect">
            <a:avLst/>
          </a:prstGeom>
          <a:noFill/>
          <a:ln w="38100">
            <a:noFill/>
          </a:ln>
        </p:spPr>
        <p:txBody>
          <a:bodyPr>
            <a:spAutoFit/>
          </a:bodyPr>
          <a:p>
            <a:r>
              <a:rPr lang="zh-CN" altLang="en-US" dirty="0">
                <a:latin typeface="Times New Roman" panose="02020603050405020304" pitchFamily="18" charset="0"/>
                <a:ea typeface="黑体" panose="02010609060101010101" pitchFamily="49" charset="-122"/>
              </a:rPr>
              <a:t>所以，</a:t>
            </a:r>
            <a:r>
              <a:rPr lang="zh-CN" altLang="en-US" dirty="0">
                <a:solidFill>
                  <a:srgbClr val="FF0000"/>
                </a:solidFill>
                <a:effectLst/>
                <a:latin typeface="Times New Roman" panose="02020603050405020304" pitchFamily="18" charset="0"/>
                <a:ea typeface="黑体" panose="02010609060101010101" pitchFamily="49" charset="-122"/>
              </a:rPr>
              <a:t>高速重载时，宜选小节距多排链；</a:t>
            </a:r>
            <a:endParaRPr lang="zh-CN" altLang="en-US">
              <a:solidFill>
                <a:srgbClr val="FF0000"/>
              </a:solidFill>
              <a:effectLst/>
              <a:latin typeface="Times New Roman" panose="02020603050405020304" pitchFamily="18" charset="0"/>
              <a:ea typeface="黑体" panose="02010609060101010101" pitchFamily="49" charset="-122"/>
            </a:endParaRPr>
          </a:p>
        </p:txBody>
      </p:sp>
      <p:sp>
        <p:nvSpPr>
          <p:cNvPr id="524308" name="文本框 524307"/>
          <p:cNvSpPr txBox="1"/>
          <p:nvPr/>
        </p:nvSpPr>
        <p:spPr>
          <a:xfrm>
            <a:off x="1855470" y="3375025"/>
            <a:ext cx="5029200" cy="457200"/>
          </a:xfrm>
          <a:prstGeom prst="rect">
            <a:avLst/>
          </a:prstGeom>
          <a:noFill/>
          <a:ln w="38100">
            <a:noFill/>
          </a:ln>
        </p:spPr>
        <p:txBody>
          <a:bodyPr>
            <a:spAutoFit/>
          </a:bodyPr>
          <a:p>
            <a:r>
              <a:rPr lang="zh-CN" altLang="en-US" dirty="0">
                <a:solidFill>
                  <a:srgbClr val="FF0000"/>
                </a:solidFill>
                <a:effectLst/>
                <a:latin typeface="Times New Roman" panose="02020603050405020304" pitchFamily="18" charset="0"/>
                <a:ea typeface="黑体" panose="02010609060101010101" pitchFamily="49" charset="-122"/>
              </a:rPr>
              <a:t>低速重载时，宜选大节距单排链</a:t>
            </a:r>
            <a:endParaRPr lang="zh-CN" altLang="en-US">
              <a:solidFill>
                <a:srgbClr val="FF0000"/>
              </a:solidFill>
              <a:effectLst/>
              <a:latin typeface="Times New Roman" panose="02020603050405020304" pitchFamily="18" charset="0"/>
              <a:ea typeface="黑体" panose="02010609060101010101" pitchFamily="49" charset="-122"/>
            </a:endParaRPr>
          </a:p>
        </p:txBody>
      </p:sp>
      <p:sp>
        <p:nvSpPr>
          <p:cNvPr id="524310" name="文本框 524309"/>
          <p:cNvSpPr txBox="1"/>
          <p:nvPr/>
        </p:nvSpPr>
        <p:spPr>
          <a:xfrm>
            <a:off x="506730" y="3813810"/>
            <a:ext cx="1676400" cy="457200"/>
          </a:xfrm>
          <a:prstGeom prst="rect">
            <a:avLst/>
          </a:prstGeom>
          <a:noFill/>
          <a:ln w="9525">
            <a:noFill/>
          </a:ln>
        </p:spPr>
        <p:txBody>
          <a:bodyPr>
            <a:spAutoFit/>
          </a:bodyPr>
          <a:p>
            <a:r>
              <a:rPr lang="zh-CN" altLang="en-US" dirty="0">
                <a:solidFill>
                  <a:srgbClr val="0000FF"/>
                </a:solidFill>
                <a:latin typeface="Times New Roman" panose="02020603050405020304" pitchFamily="18" charset="0"/>
                <a:ea typeface="黑体" panose="02010609060101010101" pitchFamily="49" charset="-122"/>
              </a:rPr>
              <a:t>中心距 </a:t>
            </a:r>
            <a:r>
              <a:rPr lang="en-US" altLang="zh-CN" i="1">
                <a:solidFill>
                  <a:srgbClr val="0000FF"/>
                </a:solidFill>
                <a:latin typeface="Times New Roman" panose="02020603050405020304" pitchFamily="18" charset="0"/>
                <a:ea typeface="黑体" panose="02010609060101010101" pitchFamily="49" charset="-122"/>
              </a:rPr>
              <a:t>a</a:t>
            </a:r>
            <a:endParaRPr lang="en-US" altLang="zh-CN" i="1">
              <a:solidFill>
                <a:srgbClr val="0000FF"/>
              </a:solidFill>
              <a:latin typeface="Times New Roman" panose="02020603050405020304" pitchFamily="18" charset="0"/>
              <a:ea typeface="黑体" panose="02010609060101010101" pitchFamily="49" charset="-122"/>
            </a:endParaRPr>
          </a:p>
        </p:txBody>
      </p:sp>
      <p:sp>
        <p:nvSpPr>
          <p:cNvPr id="524311" name="文本框 524310"/>
          <p:cNvSpPr txBox="1"/>
          <p:nvPr/>
        </p:nvSpPr>
        <p:spPr>
          <a:xfrm>
            <a:off x="1855470" y="5185410"/>
            <a:ext cx="3352800" cy="457200"/>
          </a:xfrm>
          <a:prstGeom prst="rect">
            <a:avLst/>
          </a:prstGeom>
          <a:solidFill>
            <a:srgbClr val="FFC000"/>
          </a:solidFill>
          <a:ln w="38100">
            <a:solidFill>
              <a:srgbClr val="FFFFFF"/>
            </a:solidFill>
          </a:ln>
        </p:spPr>
        <p:txBody>
          <a:bodyPr>
            <a:spAutoFit/>
          </a:bodyPr>
          <a:p>
            <a:r>
              <a:rPr lang="zh-CN" altLang="en-US" dirty="0">
                <a:latin typeface="Times New Roman" panose="02020603050405020304" pitchFamily="18" charset="0"/>
                <a:ea typeface="黑体" panose="02010609060101010101" pitchFamily="49" charset="-122"/>
              </a:rPr>
              <a:t>常取 </a:t>
            </a:r>
            <a:r>
              <a:rPr lang="en-US" altLang="zh-CN" i="1">
                <a:latin typeface="Times New Roman" panose="02020603050405020304" pitchFamily="18" charset="0"/>
                <a:ea typeface="黑体" panose="02010609060101010101" pitchFamily="49" charset="-122"/>
              </a:rPr>
              <a:t>a </a:t>
            </a:r>
            <a:r>
              <a:rPr lang="zh-CN" altLang="en-US">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rPr>
              <a:t>30</a:t>
            </a:r>
            <a:r>
              <a:rPr lang="zh-CN" altLang="en-US">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rPr>
              <a:t>50</a:t>
            </a:r>
            <a:r>
              <a:rPr lang="zh-CN" altLang="en-US">
                <a:latin typeface="Times New Roman" panose="02020603050405020304" pitchFamily="18" charset="0"/>
                <a:ea typeface="黑体" panose="02010609060101010101" pitchFamily="49" charset="-122"/>
              </a:rPr>
              <a:t>）</a:t>
            </a:r>
            <a:r>
              <a:rPr lang="en-US" altLang="zh-CN" i="1">
                <a:latin typeface="Times New Roman" panose="02020603050405020304" pitchFamily="18" charset="0"/>
                <a:ea typeface="黑体" panose="02010609060101010101" pitchFamily="49" charset="-122"/>
              </a:rPr>
              <a:t>p</a:t>
            </a:r>
            <a:endParaRPr lang="en-US" altLang="zh-CN">
              <a:latin typeface="Times New Roman" panose="02020603050405020304" pitchFamily="18" charset="0"/>
              <a:ea typeface="黑体" panose="02010609060101010101" pitchFamily="49" charset="-122"/>
            </a:endParaRPr>
          </a:p>
        </p:txBody>
      </p:sp>
      <p:sp>
        <p:nvSpPr>
          <p:cNvPr id="524313" name="文本框 524312"/>
          <p:cNvSpPr txBox="1"/>
          <p:nvPr/>
        </p:nvSpPr>
        <p:spPr>
          <a:xfrm>
            <a:off x="1915478" y="4387850"/>
            <a:ext cx="5233987" cy="457200"/>
          </a:xfrm>
          <a:prstGeom prst="rect">
            <a:avLst/>
          </a:prstGeom>
          <a:noFill/>
          <a:ln w="38100">
            <a:noFill/>
          </a:ln>
        </p:spPr>
        <p:txBody>
          <a:bodyPr>
            <a:spAutoFit/>
          </a:bodyPr>
          <a:p>
            <a:r>
              <a:rPr lang="en-US" altLang="zh-CN">
                <a:latin typeface="Times New Roman" panose="02020603050405020304" pitchFamily="18" charset="0"/>
                <a:ea typeface="黑体" panose="02010609060101010101" pitchFamily="49" charset="-122"/>
              </a:rPr>
              <a:t> </a:t>
            </a:r>
            <a:r>
              <a:rPr lang="en-US" altLang="zh-CN" i="1">
                <a:latin typeface="Times New Roman" panose="02020603050405020304" pitchFamily="18" charset="0"/>
                <a:ea typeface="黑体" panose="02010609060101010101" pitchFamily="49" charset="-122"/>
              </a:rPr>
              <a:t>a </a:t>
            </a:r>
            <a:r>
              <a:rPr lang="zh-CN" altLang="en-US" dirty="0">
                <a:latin typeface="Times New Roman" panose="02020603050405020304" pitchFamily="18" charset="0"/>
                <a:ea typeface="黑体" panose="02010609060101010101" pitchFamily="49" charset="-122"/>
              </a:rPr>
              <a:t>过小，易疲劳；过大，易抖动。</a:t>
            </a:r>
            <a:endParaRPr lang="zh-CN" altLang="en-US">
              <a:latin typeface="Times New Roman" panose="02020603050405020304" pitchFamily="18" charset="0"/>
              <a:ea typeface="黑体" panose="02010609060101010101" pitchFamily="49" charset="-122"/>
            </a:endParaRPr>
          </a:p>
        </p:txBody>
      </p:sp>
      <p:sp>
        <p:nvSpPr>
          <p:cNvPr id="524314" name="文本框 524313"/>
          <p:cNvSpPr txBox="1"/>
          <p:nvPr/>
        </p:nvSpPr>
        <p:spPr>
          <a:xfrm>
            <a:off x="5328285" y="4993005"/>
            <a:ext cx="2057400" cy="457200"/>
          </a:xfrm>
          <a:prstGeom prst="rect">
            <a:avLst/>
          </a:prstGeom>
          <a:solidFill>
            <a:srgbClr val="FFFF00"/>
          </a:solidFill>
          <a:ln w="38100">
            <a:noFill/>
          </a:ln>
        </p:spPr>
        <p:txBody>
          <a:bodyPr>
            <a:spAutoFit/>
          </a:bodyPr>
          <a:p>
            <a:r>
              <a:rPr lang="en-US" altLang="zh-CN">
                <a:latin typeface="Times New Roman" panose="02020603050405020304" pitchFamily="18" charset="0"/>
                <a:ea typeface="黑体" panose="02010609060101010101" pitchFamily="49" charset="-122"/>
              </a:rPr>
              <a:t> </a:t>
            </a:r>
            <a:r>
              <a:rPr lang="en-US" altLang="zh-CN" i="1">
                <a:latin typeface="Times New Roman" panose="02020603050405020304" pitchFamily="18" charset="0"/>
                <a:ea typeface="黑体" panose="02010609060101010101" pitchFamily="49" charset="-122"/>
              </a:rPr>
              <a:t>a</a:t>
            </a:r>
            <a:r>
              <a:rPr lang="en-US" altLang="zh-CN" baseline="-25000">
                <a:latin typeface="Times New Roman" panose="02020603050405020304" pitchFamily="18" charset="0"/>
                <a:ea typeface="黑体" panose="02010609060101010101" pitchFamily="49" charset="-122"/>
              </a:rPr>
              <a:t>max</a:t>
            </a:r>
            <a:r>
              <a:rPr lang="en-US" altLang="zh-CN" i="1">
                <a:latin typeface="Times New Roman" panose="02020603050405020304" pitchFamily="18" charset="0"/>
                <a:ea typeface="黑体" panose="02010609060101010101" pitchFamily="49" charset="-122"/>
              </a:rPr>
              <a:t> </a:t>
            </a:r>
            <a:r>
              <a:rPr lang="en-US" altLang="zh-CN">
                <a:latin typeface="Times New Roman" panose="02020603050405020304" pitchFamily="18" charset="0"/>
                <a:ea typeface="黑体" panose="02010609060101010101" pitchFamily="49" charset="-122"/>
              </a:rPr>
              <a:t>≤ 80</a:t>
            </a:r>
            <a:r>
              <a:rPr lang="en-US" altLang="zh-CN" i="1">
                <a:latin typeface="Times New Roman" panose="02020603050405020304" pitchFamily="18" charset="0"/>
                <a:ea typeface="黑体" panose="02010609060101010101" pitchFamily="49" charset="-122"/>
              </a:rPr>
              <a:t>p</a:t>
            </a:r>
            <a:endParaRPr lang="en-US" altLang="zh-CN" i="1">
              <a:latin typeface="Times New Roman" panose="02020603050405020304" pitchFamily="18" charset="0"/>
              <a:ea typeface="黑体" panose="02010609060101010101" pitchFamily="49" charset="-122"/>
            </a:endParaRPr>
          </a:p>
        </p:txBody>
      </p:sp>
      <p:sp>
        <p:nvSpPr>
          <p:cNvPr id="5" name="Rectangle 2"/>
          <p:cNvSpPr>
            <a:spLocks noGrp="1" noChangeArrowheads="1"/>
          </p:cNvSpPr>
          <p:nvPr/>
        </p:nvSpPr>
        <p:spPr bwMode="auto">
          <a:xfrm>
            <a:off x="4721225" y="274638"/>
            <a:ext cx="4554538" cy="490537"/>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链节距和中心距</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6160"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409575" y="1019175"/>
            <a:ext cx="2130425" cy="429895"/>
          </a:xfrm>
          <a:prstGeom prst="rect">
            <a:avLst/>
          </a:prstGeom>
          <a:noFill/>
        </p:spPr>
        <p:txBody>
          <a:bodyPr wrap="square" rtlCol="0">
            <a:spAutoFit/>
          </a:bodyPr>
          <a:p>
            <a:r>
              <a:rPr lang="zh-CN" altLang="en-US">
                <a:solidFill>
                  <a:srgbClr val="0000FF"/>
                </a:solidFill>
              </a:rPr>
              <a:t>链节距</a:t>
            </a:r>
            <a:r>
              <a:rPr lang="en-US" altLang="zh-CN" i="1">
                <a:solidFill>
                  <a:srgbClr val="0000FF"/>
                </a:solidFill>
              </a:rPr>
              <a:t>p</a:t>
            </a:r>
            <a:endParaRPr lang="en-US" altLang="zh-CN" i="1">
              <a:solidFill>
                <a:srgbClr val="0000FF"/>
              </a:solidFill>
            </a:endParaRPr>
          </a:p>
        </p:txBody>
      </p:sp>
      <p:sp>
        <p:nvSpPr>
          <p:cNvPr id="7" name="动作按钮: 后退或前一项 6">
            <a:hlinkClick r:id="" action="ppaction://hlinkshowjump?jump=previousslide"/>
          </p:cNvPr>
          <p:cNvSpPr/>
          <p:nvPr/>
        </p:nvSpPr>
        <p:spPr>
          <a:xfrm>
            <a:off x="8109585" y="6139180"/>
            <a:ext cx="405130" cy="314960"/>
          </a:xfrm>
          <a:prstGeom prst="actionButtonBackPrevious">
            <a:avLst/>
          </a:prstGeom>
          <a:gradFill>
            <a:gsLst>
              <a:gs pos="0">
                <a:srgbClr val="14CD68"/>
              </a:gs>
              <a:gs pos="100000">
                <a:srgbClr val="0B6E38"/>
              </a:gs>
            </a:gsLst>
            <a:lin scaled="0"/>
          </a:gra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4306"/>
                                        </p:tgtEl>
                                        <p:attrNameLst>
                                          <p:attrName>style.visibility</p:attrName>
                                        </p:attrNameLst>
                                      </p:cBhvr>
                                      <p:to>
                                        <p:strVal val="visible"/>
                                      </p:to>
                                    </p:set>
                                    <p:animEffect transition="in" filter="wipe(left)">
                                      <p:cBhvr>
                                        <p:cTn id="12" dur="500"/>
                                        <p:tgtEl>
                                          <p:spTgt spid="5243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4307"/>
                                        </p:tgtEl>
                                        <p:attrNameLst>
                                          <p:attrName>style.visibility</p:attrName>
                                        </p:attrNameLst>
                                      </p:cBhvr>
                                      <p:to>
                                        <p:strVal val="visible"/>
                                      </p:to>
                                    </p:set>
                                    <p:animEffect transition="in" filter="wipe(left)">
                                      <p:cBhvr>
                                        <p:cTn id="17" dur="500"/>
                                        <p:tgtEl>
                                          <p:spTgt spid="5243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4308"/>
                                        </p:tgtEl>
                                        <p:attrNameLst>
                                          <p:attrName>style.visibility</p:attrName>
                                        </p:attrNameLst>
                                      </p:cBhvr>
                                      <p:to>
                                        <p:strVal val="visible"/>
                                      </p:to>
                                    </p:set>
                                    <p:animEffect transition="in" filter="wipe(left)">
                                      <p:cBhvr>
                                        <p:cTn id="22" dur="500"/>
                                        <p:tgtEl>
                                          <p:spTgt spid="5243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1" nodeType="clickEffect">
                                  <p:stCondLst>
                                    <p:cond delay="0"/>
                                  </p:stCondLst>
                                  <p:childTnLst>
                                    <p:set>
                                      <p:cBhvr>
                                        <p:cTn id="26" dur="1" fill="hold">
                                          <p:stCondLst>
                                            <p:cond delay="0"/>
                                          </p:stCondLst>
                                        </p:cTn>
                                        <p:tgtEl>
                                          <p:spTgt spid="524310"/>
                                        </p:tgtEl>
                                        <p:attrNameLst>
                                          <p:attrName>style.visibility</p:attrName>
                                        </p:attrNameLst>
                                      </p:cBhvr>
                                      <p:to>
                                        <p:strVal val="visible"/>
                                      </p:to>
                                    </p:set>
                                    <p:animEffect transition="in" filter="wipe(left)">
                                      <p:cBhvr>
                                        <p:cTn id="27" dur="500"/>
                                        <p:tgtEl>
                                          <p:spTgt spid="5243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4313"/>
                                        </p:tgtEl>
                                        <p:attrNameLst>
                                          <p:attrName>style.visibility</p:attrName>
                                        </p:attrNameLst>
                                      </p:cBhvr>
                                      <p:to>
                                        <p:strVal val="visible"/>
                                      </p:to>
                                    </p:set>
                                    <p:animEffect transition="in" filter="wipe(left)">
                                      <p:cBhvr>
                                        <p:cTn id="32" dur="500"/>
                                        <p:tgtEl>
                                          <p:spTgt spid="5243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4311"/>
                                        </p:tgtEl>
                                        <p:attrNameLst>
                                          <p:attrName>style.visibility</p:attrName>
                                        </p:attrNameLst>
                                      </p:cBhvr>
                                      <p:to>
                                        <p:strVal val="visible"/>
                                      </p:to>
                                    </p:set>
                                    <p:animEffect transition="in" filter="wipe(left)">
                                      <p:cBhvr>
                                        <p:cTn id="37" dur="500"/>
                                        <p:tgtEl>
                                          <p:spTgt spid="5243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24314"/>
                                        </p:tgtEl>
                                        <p:attrNameLst>
                                          <p:attrName>style.visibility</p:attrName>
                                        </p:attrNameLst>
                                      </p:cBhvr>
                                      <p:to>
                                        <p:strVal val="visible"/>
                                      </p:to>
                                    </p:set>
                                    <p:animEffect transition="in" filter="wipe(left)">
                                      <p:cBhvr>
                                        <p:cTn id="42" dur="500"/>
                                        <p:tgtEl>
                                          <p:spTgt spid="524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306" grpId="0"/>
      <p:bldP spid="524307" grpId="0"/>
      <p:bldP spid="524308" grpId="0"/>
      <p:bldP spid="524311" grpId="0" bldLvl="0" animBg="1"/>
      <p:bldP spid="524313" grpId="0"/>
      <p:bldP spid="524314" grpId="0" bldLvl="0" animBg="1"/>
      <p:bldP spid="4" grpId="0"/>
      <p:bldP spid="524310"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7173"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505960" y="274638"/>
            <a:ext cx="4411663"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 name="文本框 2"/>
          <p:cNvSpPr txBox="1">
            <a:spLocks noChangeArrowheads="1"/>
          </p:cNvSpPr>
          <p:nvPr/>
        </p:nvSpPr>
        <p:spPr bwMode="auto">
          <a:xfrm>
            <a:off x="467420" y="1263680"/>
            <a:ext cx="3738880" cy="398780"/>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5</a:t>
            </a:r>
            <a:r>
              <a:rPr lang="zh-CN" altLang="en-US" sz="2000" dirty="0">
                <a:solidFill>
                  <a:srgbClr val="000099"/>
                </a:solidFill>
                <a:latin typeface="Times New Roman" panose="02020603050405020304" pitchFamily="18" charset="0"/>
              </a:rPr>
              <a:t>）</a:t>
            </a:r>
            <a:r>
              <a:rPr lang="zh-CN" sz="2000" dirty="0">
                <a:solidFill>
                  <a:srgbClr val="000099"/>
                </a:solidFill>
                <a:latin typeface="Times New Roman" panose="02020603050405020304" pitchFamily="18" charset="0"/>
              </a:rPr>
              <a:t>计算链速</a:t>
            </a:r>
            <a:r>
              <a:rPr lang="en-US" altLang="zh-CN" sz="2000" dirty="0">
                <a:solidFill>
                  <a:srgbClr val="000099"/>
                </a:solidFill>
                <a:latin typeface="Times New Roman" panose="02020603050405020304" pitchFamily="18" charset="0"/>
              </a:rPr>
              <a:t>v</a:t>
            </a:r>
            <a:r>
              <a:rPr lang="zh-CN" altLang="en-US" sz="2000" dirty="0">
                <a:solidFill>
                  <a:srgbClr val="000099"/>
                </a:solidFill>
                <a:latin typeface="Times New Roman" panose="02020603050405020304" pitchFamily="18" charset="0"/>
              </a:rPr>
              <a:t>，确定润滑方式</a:t>
            </a:r>
            <a:endParaRPr lang="zh-CN" altLang="en-US" sz="2000" baseline="-25000" dirty="0">
              <a:solidFill>
                <a:srgbClr val="000099"/>
              </a:solidFill>
              <a:latin typeface="Times New Roman" panose="02020603050405020304" pitchFamily="18" charset="0"/>
            </a:endParaRPr>
          </a:p>
        </p:txBody>
      </p:sp>
      <p:sp>
        <p:nvSpPr>
          <p:cNvPr id="5" name="文本框 4"/>
          <p:cNvSpPr txBox="1">
            <a:spLocks noChangeArrowheads="1"/>
          </p:cNvSpPr>
          <p:nvPr/>
        </p:nvSpPr>
        <p:spPr bwMode="auto">
          <a:xfrm>
            <a:off x="670491" y="1829584"/>
            <a:ext cx="8362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根据链速</a:t>
            </a:r>
            <a:r>
              <a:rPr lang="en-US" altLang="zh-CN" sz="2000">
                <a:solidFill>
                  <a:srgbClr val="000099"/>
                </a:solidFill>
                <a:latin typeface="Times New Roman" panose="02020603050405020304" pitchFamily="18" charset="0"/>
              </a:rPr>
              <a:t>v</a:t>
            </a:r>
            <a:r>
              <a:rPr lang="zh-CN" altLang="en-US" sz="2000">
                <a:solidFill>
                  <a:srgbClr val="000099"/>
                </a:solidFill>
                <a:latin typeface="Times New Roman" panose="02020603050405020304" pitchFamily="18" charset="0"/>
              </a:rPr>
              <a:t>，选择合适的润滑方式</a:t>
            </a:r>
            <a:endParaRPr lang="zh-CN" altLang="en-US" sz="2000">
              <a:solidFill>
                <a:srgbClr val="000099"/>
              </a:solidFill>
              <a:latin typeface="Times New Roman" panose="02020603050405020304" pitchFamily="18" charset="0"/>
            </a:endParaRPr>
          </a:p>
        </p:txBody>
      </p:sp>
      <p:sp>
        <p:nvSpPr>
          <p:cNvPr id="718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52682" name="Group 106"/>
          <p:cNvGrpSpPr/>
          <p:nvPr/>
        </p:nvGrpSpPr>
        <p:grpSpPr bwMode="auto">
          <a:xfrm>
            <a:off x="90488" y="3038277"/>
            <a:ext cx="8323262" cy="2897187"/>
            <a:chOff x="249" y="1391"/>
            <a:chExt cx="5243" cy="1825"/>
          </a:xfrm>
        </p:grpSpPr>
        <p:grpSp>
          <p:nvGrpSpPr>
            <p:cNvPr id="152681" name="Group 105"/>
            <p:cNvGrpSpPr/>
            <p:nvPr/>
          </p:nvGrpSpPr>
          <p:grpSpPr bwMode="auto">
            <a:xfrm>
              <a:off x="1110" y="1465"/>
              <a:ext cx="4321" cy="1331"/>
              <a:chOff x="1110" y="1465"/>
              <a:chExt cx="4321" cy="1331"/>
            </a:xfrm>
          </p:grpSpPr>
          <p:grpSp>
            <p:nvGrpSpPr>
              <p:cNvPr id="152628" name="Group 52"/>
              <p:cNvGrpSpPr/>
              <p:nvPr/>
            </p:nvGrpSpPr>
            <p:grpSpPr bwMode="auto">
              <a:xfrm>
                <a:off x="1110" y="1469"/>
                <a:ext cx="4321" cy="1327"/>
                <a:chOff x="988" y="420"/>
                <a:chExt cx="4321" cy="1327"/>
              </a:xfrm>
            </p:grpSpPr>
            <p:sp>
              <p:nvSpPr>
                <p:cNvPr id="152629" name="Line 53"/>
                <p:cNvSpPr>
                  <a:spLocks noChangeShapeType="1"/>
                </p:cNvSpPr>
                <p:nvPr>
                  <p:custDataLst>
                    <p:tags r:id="rId4"/>
                  </p:custDataLst>
                </p:nvPr>
              </p:nvSpPr>
              <p:spPr bwMode="auto">
                <a:xfrm>
                  <a:off x="993" y="420"/>
                  <a:ext cx="0" cy="1324"/>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0" name="Line 54"/>
                <p:cNvSpPr>
                  <a:spLocks noChangeShapeType="1"/>
                </p:cNvSpPr>
                <p:nvPr>
                  <p:custDataLst>
                    <p:tags r:id="rId5"/>
                  </p:custDataLst>
                </p:nvPr>
              </p:nvSpPr>
              <p:spPr bwMode="auto">
                <a:xfrm>
                  <a:off x="992" y="422"/>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1" name="Line 55"/>
                <p:cNvSpPr>
                  <a:spLocks noChangeShapeType="1"/>
                </p:cNvSpPr>
                <p:nvPr>
                  <p:custDataLst>
                    <p:tags r:id="rId6"/>
                  </p:custDataLst>
                </p:nvPr>
              </p:nvSpPr>
              <p:spPr bwMode="auto">
                <a:xfrm>
                  <a:off x="992" y="582"/>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2" name="Line 56"/>
                <p:cNvSpPr>
                  <a:spLocks noChangeShapeType="1"/>
                </p:cNvSpPr>
                <p:nvPr>
                  <p:custDataLst>
                    <p:tags r:id="rId7"/>
                  </p:custDataLst>
                </p:nvPr>
              </p:nvSpPr>
              <p:spPr bwMode="auto">
                <a:xfrm>
                  <a:off x="994" y="755"/>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3" name="Line 57"/>
                <p:cNvSpPr>
                  <a:spLocks noChangeShapeType="1"/>
                </p:cNvSpPr>
                <p:nvPr>
                  <p:custDataLst>
                    <p:tags r:id="rId8"/>
                  </p:custDataLst>
                </p:nvPr>
              </p:nvSpPr>
              <p:spPr bwMode="auto">
                <a:xfrm>
                  <a:off x="995" y="1046"/>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4" name="Line 58"/>
                <p:cNvSpPr>
                  <a:spLocks noChangeShapeType="1"/>
                </p:cNvSpPr>
                <p:nvPr>
                  <p:custDataLst>
                    <p:tags r:id="rId9"/>
                  </p:custDataLst>
                </p:nvPr>
              </p:nvSpPr>
              <p:spPr bwMode="auto">
                <a:xfrm>
                  <a:off x="989" y="1260"/>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5" name="Line 59"/>
                <p:cNvSpPr>
                  <a:spLocks noChangeShapeType="1"/>
                </p:cNvSpPr>
                <p:nvPr>
                  <p:custDataLst>
                    <p:tags r:id="rId10"/>
                  </p:custDataLst>
                </p:nvPr>
              </p:nvSpPr>
              <p:spPr bwMode="auto">
                <a:xfrm>
                  <a:off x="988" y="1446"/>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6" name="Line 60"/>
                <p:cNvSpPr>
                  <a:spLocks noChangeShapeType="1"/>
                </p:cNvSpPr>
                <p:nvPr>
                  <p:custDataLst>
                    <p:tags r:id="rId11"/>
                  </p:custDataLst>
                </p:nvPr>
              </p:nvSpPr>
              <p:spPr bwMode="auto">
                <a:xfrm>
                  <a:off x="988" y="1600"/>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7" name="Line 61"/>
                <p:cNvSpPr>
                  <a:spLocks noChangeShapeType="1"/>
                </p:cNvSpPr>
                <p:nvPr>
                  <p:custDataLst>
                    <p:tags r:id="rId12"/>
                  </p:custDataLst>
                </p:nvPr>
              </p:nvSpPr>
              <p:spPr bwMode="auto">
                <a:xfrm>
                  <a:off x="988" y="1742"/>
                  <a:ext cx="4314" cy="0"/>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8" name="Line 62"/>
                <p:cNvSpPr>
                  <a:spLocks noChangeShapeType="1"/>
                </p:cNvSpPr>
                <p:nvPr>
                  <p:custDataLst>
                    <p:tags r:id="rId13"/>
                  </p:custDataLst>
                </p:nvPr>
              </p:nvSpPr>
              <p:spPr bwMode="auto">
                <a:xfrm>
                  <a:off x="1377" y="429"/>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39" name="Line 63"/>
                <p:cNvSpPr>
                  <a:spLocks noChangeShapeType="1"/>
                </p:cNvSpPr>
                <p:nvPr>
                  <p:custDataLst>
                    <p:tags r:id="rId14"/>
                  </p:custDataLst>
                </p:nvPr>
              </p:nvSpPr>
              <p:spPr bwMode="auto">
                <a:xfrm>
                  <a:off x="1645" y="426"/>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0" name="Line 64"/>
                <p:cNvSpPr>
                  <a:spLocks noChangeShapeType="1"/>
                </p:cNvSpPr>
                <p:nvPr>
                  <p:custDataLst>
                    <p:tags r:id="rId15"/>
                  </p:custDataLst>
                </p:nvPr>
              </p:nvSpPr>
              <p:spPr bwMode="auto">
                <a:xfrm>
                  <a:off x="1854" y="426"/>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1" name="Line 65"/>
                <p:cNvSpPr>
                  <a:spLocks noChangeShapeType="1"/>
                </p:cNvSpPr>
                <p:nvPr>
                  <p:custDataLst>
                    <p:tags r:id="rId16"/>
                  </p:custDataLst>
                </p:nvPr>
              </p:nvSpPr>
              <p:spPr bwMode="auto">
                <a:xfrm>
                  <a:off x="2027" y="429"/>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2" name="Line 66"/>
                <p:cNvSpPr>
                  <a:spLocks noChangeShapeType="1"/>
                </p:cNvSpPr>
                <p:nvPr>
                  <p:custDataLst>
                    <p:tags r:id="rId17"/>
                  </p:custDataLst>
                </p:nvPr>
              </p:nvSpPr>
              <p:spPr bwMode="auto">
                <a:xfrm>
                  <a:off x="2158"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3" name="Line 67"/>
                <p:cNvSpPr>
                  <a:spLocks noChangeShapeType="1"/>
                </p:cNvSpPr>
                <p:nvPr>
                  <p:custDataLst>
                    <p:tags r:id="rId18"/>
                  </p:custDataLst>
                </p:nvPr>
              </p:nvSpPr>
              <p:spPr bwMode="auto">
                <a:xfrm>
                  <a:off x="2295"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4" name="Line 68"/>
                <p:cNvSpPr>
                  <a:spLocks noChangeShapeType="1"/>
                </p:cNvSpPr>
                <p:nvPr>
                  <p:custDataLst>
                    <p:tags r:id="rId19"/>
                  </p:custDataLst>
                </p:nvPr>
              </p:nvSpPr>
              <p:spPr bwMode="auto">
                <a:xfrm>
                  <a:off x="2395"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5" name="Line 69"/>
                <p:cNvSpPr>
                  <a:spLocks noChangeShapeType="1"/>
                </p:cNvSpPr>
                <p:nvPr>
                  <p:custDataLst>
                    <p:tags r:id="rId20"/>
                  </p:custDataLst>
                </p:nvPr>
              </p:nvSpPr>
              <p:spPr bwMode="auto">
                <a:xfrm>
                  <a:off x="2500"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6" name="Line 70"/>
                <p:cNvSpPr>
                  <a:spLocks noChangeShapeType="1"/>
                </p:cNvSpPr>
                <p:nvPr>
                  <p:custDataLst>
                    <p:tags r:id="rId21"/>
                  </p:custDataLst>
                </p:nvPr>
              </p:nvSpPr>
              <p:spPr bwMode="auto">
                <a:xfrm>
                  <a:off x="3149" y="426"/>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7" name="Line 71"/>
                <p:cNvSpPr>
                  <a:spLocks noChangeShapeType="1"/>
                </p:cNvSpPr>
                <p:nvPr>
                  <p:custDataLst>
                    <p:tags r:id="rId22"/>
                  </p:custDataLst>
                </p:nvPr>
              </p:nvSpPr>
              <p:spPr bwMode="auto">
                <a:xfrm>
                  <a:off x="3507" y="420"/>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8" name="Line 72"/>
                <p:cNvSpPr>
                  <a:spLocks noChangeShapeType="1"/>
                </p:cNvSpPr>
                <p:nvPr>
                  <p:custDataLst>
                    <p:tags r:id="rId23"/>
                  </p:custDataLst>
                </p:nvPr>
              </p:nvSpPr>
              <p:spPr bwMode="auto">
                <a:xfrm>
                  <a:off x="3773"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49" name="Line 73"/>
                <p:cNvSpPr>
                  <a:spLocks noChangeShapeType="1"/>
                </p:cNvSpPr>
                <p:nvPr>
                  <p:custDataLst>
                    <p:tags r:id="rId24"/>
                  </p:custDataLst>
                </p:nvPr>
              </p:nvSpPr>
              <p:spPr bwMode="auto">
                <a:xfrm>
                  <a:off x="3991"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0" name="Line 74"/>
                <p:cNvSpPr>
                  <a:spLocks noChangeShapeType="1"/>
                </p:cNvSpPr>
                <p:nvPr>
                  <p:custDataLst>
                    <p:tags r:id="rId25"/>
                  </p:custDataLst>
                </p:nvPr>
              </p:nvSpPr>
              <p:spPr bwMode="auto">
                <a:xfrm>
                  <a:off x="4151"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1" name="Line 75"/>
                <p:cNvSpPr>
                  <a:spLocks noChangeShapeType="1"/>
                </p:cNvSpPr>
                <p:nvPr>
                  <p:custDataLst>
                    <p:tags r:id="rId26"/>
                  </p:custDataLst>
                </p:nvPr>
              </p:nvSpPr>
              <p:spPr bwMode="auto">
                <a:xfrm>
                  <a:off x="4301"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2" name="Line 76"/>
                <p:cNvSpPr>
                  <a:spLocks noChangeShapeType="1"/>
                </p:cNvSpPr>
                <p:nvPr>
                  <p:custDataLst>
                    <p:tags r:id="rId27"/>
                  </p:custDataLst>
                </p:nvPr>
              </p:nvSpPr>
              <p:spPr bwMode="auto">
                <a:xfrm>
                  <a:off x="4426"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3" name="Line 77"/>
                <p:cNvSpPr>
                  <a:spLocks noChangeShapeType="1"/>
                </p:cNvSpPr>
                <p:nvPr>
                  <p:custDataLst>
                    <p:tags r:id="rId28"/>
                  </p:custDataLst>
                </p:nvPr>
              </p:nvSpPr>
              <p:spPr bwMode="auto">
                <a:xfrm>
                  <a:off x="4540" y="424"/>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4" name="Line 78"/>
                <p:cNvSpPr>
                  <a:spLocks noChangeShapeType="1"/>
                </p:cNvSpPr>
                <p:nvPr>
                  <p:custDataLst>
                    <p:tags r:id="rId29"/>
                  </p:custDataLst>
                </p:nvPr>
              </p:nvSpPr>
              <p:spPr bwMode="auto">
                <a:xfrm>
                  <a:off x="4643" y="423"/>
                  <a:ext cx="0" cy="131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5" name="Line 79"/>
                <p:cNvSpPr>
                  <a:spLocks noChangeShapeType="1"/>
                </p:cNvSpPr>
                <p:nvPr>
                  <p:custDataLst>
                    <p:tags r:id="rId30"/>
                  </p:custDataLst>
                </p:nvPr>
              </p:nvSpPr>
              <p:spPr bwMode="auto">
                <a:xfrm>
                  <a:off x="5305" y="420"/>
                  <a:ext cx="0" cy="1324"/>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grpSp>
          <p:sp>
            <p:nvSpPr>
              <p:cNvPr id="152656" name="Line 80"/>
              <p:cNvSpPr>
                <a:spLocks noChangeShapeType="1"/>
              </p:cNvSpPr>
              <p:nvPr>
                <p:custDataLst>
                  <p:tags r:id="rId31"/>
                </p:custDataLst>
              </p:nvPr>
            </p:nvSpPr>
            <p:spPr bwMode="auto">
              <a:xfrm flipV="1">
                <a:off x="3876" y="1475"/>
                <a:ext cx="729" cy="1308"/>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7" name="Line 81"/>
              <p:cNvSpPr>
                <a:spLocks noChangeShapeType="1"/>
              </p:cNvSpPr>
              <p:nvPr>
                <p:custDataLst>
                  <p:tags r:id="rId32"/>
                </p:custDataLst>
              </p:nvPr>
            </p:nvSpPr>
            <p:spPr bwMode="auto">
              <a:xfrm flipV="1">
                <a:off x="2679" y="1465"/>
                <a:ext cx="1203" cy="1315"/>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58" name="Line 82"/>
              <p:cNvSpPr>
                <a:spLocks noChangeShapeType="1"/>
              </p:cNvSpPr>
              <p:nvPr>
                <p:custDataLst>
                  <p:tags r:id="rId33"/>
                </p:custDataLst>
              </p:nvPr>
            </p:nvSpPr>
            <p:spPr bwMode="auto">
              <a:xfrm flipV="1">
                <a:off x="1565" y="1471"/>
                <a:ext cx="701" cy="1319"/>
              </a:xfrm>
              <a:prstGeom prst="line">
                <a:avLst/>
              </a:prstGeom>
              <a:noFill/>
              <a:ln w="127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grpSp>
        <p:sp>
          <p:nvSpPr>
            <p:cNvPr id="152603" name="Text Box 27"/>
            <p:cNvSpPr txBox="1">
              <a:spLocks noChangeArrowheads="1"/>
            </p:cNvSpPr>
            <p:nvPr>
              <p:custDataLst>
                <p:tags r:id="rId34"/>
              </p:custDataLst>
            </p:nvPr>
          </p:nvSpPr>
          <p:spPr bwMode="auto">
            <a:xfrm>
              <a:off x="2319" y="3024"/>
              <a:ext cx="112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zh-CN" altLang="en-US" sz="2000" b="1">
                  <a:solidFill>
                    <a:srgbClr val="FF6600"/>
                  </a:solidFill>
                  <a:latin typeface="Times New Roman" panose="02020603050405020304" pitchFamily="18" charset="0"/>
                </a:rPr>
                <a:t>推荐的润滑方式</a:t>
              </a:r>
              <a:endParaRPr kumimoji="1" lang="zh-CN" altLang="en-US" sz="2000" b="1">
                <a:solidFill>
                  <a:srgbClr val="FF6600"/>
                </a:solidFill>
                <a:latin typeface="Times New Roman" panose="02020603050405020304" pitchFamily="18" charset="0"/>
              </a:endParaRPr>
            </a:p>
          </p:txBody>
        </p:sp>
        <p:grpSp>
          <p:nvGrpSpPr>
            <p:cNvPr id="152680" name="Group 104"/>
            <p:cNvGrpSpPr/>
            <p:nvPr/>
          </p:nvGrpSpPr>
          <p:grpSpPr bwMode="auto">
            <a:xfrm>
              <a:off x="1102" y="2789"/>
              <a:ext cx="4390" cy="221"/>
              <a:chOff x="1102" y="2789"/>
              <a:chExt cx="4390" cy="221"/>
            </a:xfrm>
          </p:grpSpPr>
          <p:sp>
            <p:nvSpPr>
              <p:cNvPr id="152604" name="Text Box 28"/>
              <p:cNvSpPr txBox="1">
                <a:spLocks noChangeArrowheads="1"/>
              </p:cNvSpPr>
              <p:nvPr>
                <p:custDataLst>
                  <p:tags r:id="rId35"/>
                </p:custDataLst>
              </p:nvPr>
            </p:nvSpPr>
            <p:spPr bwMode="auto">
              <a:xfrm>
                <a:off x="1102" y="2831"/>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0.2</a:t>
                </a:r>
                <a:endParaRPr kumimoji="1" lang="en-US" altLang="zh-CN" b="1">
                  <a:latin typeface="Times New Roman" panose="02020603050405020304" pitchFamily="18" charset="0"/>
                </a:endParaRPr>
              </a:p>
            </p:txBody>
          </p:sp>
          <p:sp>
            <p:nvSpPr>
              <p:cNvPr id="152605" name="Text Box 29"/>
              <p:cNvSpPr txBox="1">
                <a:spLocks noChangeArrowheads="1"/>
              </p:cNvSpPr>
              <p:nvPr>
                <p:custDataLst>
                  <p:tags r:id="rId36"/>
                </p:custDataLst>
              </p:nvPr>
            </p:nvSpPr>
            <p:spPr bwMode="auto">
              <a:xfrm>
                <a:off x="1398" y="2831"/>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0.3</a:t>
                </a:r>
                <a:endParaRPr kumimoji="1" lang="en-US" altLang="zh-CN" b="1">
                  <a:latin typeface="Times New Roman" panose="02020603050405020304" pitchFamily="18" charset="0"/>
                </a:endParaRPr>
              </a:p>
            </p:txBody>
          </p:sp>
          <p:sp>
            <p:nvSpPr>
              <p:cNvPr id="152606" name="Text Box 30"/>
              <p:cNvSpPr txBox="1">
                <a:spLocks noChangeArrowheads="1"/>
              </p:cNvSpPr>
              <p:nvPr>
                <p:custDataLst>
                  <p:tags r:id="rId37"/>
                </p:custDataLst>
              </p:nvPr>
            </p:nvSpPr>
            <p:spPr bwMode="auto">
              <a:xfrm>
                <a:off x="1680" y="2837"/>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dirty="0">
                    <a:latin typeface="Times New Roman" panose="02020603050405020304" pitchFamily="18" charset="0"/>
                  </a:rPr>
                  <a:t>0.4</a:t>
                </a:r>
                <a:endParaRPr kumimoji="1" lang="en-US" altLang="zh-CN" b="1" dirty="0">
                  <a:latin typeface="Times New Roman" panose="02020603050405020304" pitchFamily="18" charset="0"/>
                </a:endParaRPr>
              </a:p>
            </p:txBody>
          </p:sp>
          <p:sp>
            <p:nvSpPr>
              <p:cNvPr id="152607" name="Text Box 31"/>
              <p:cNvSpPr txBox="1">
                <a:spLocks noChangeArrowheads="1"/>
              </p:cNvSpPr>
              <p:nvPr>
                <p:custDataLst>
                  <p:tags r:id="rId38"/>
                </p:custDataLst>
              </p:nvPr>
            </p:nvSpPr>
            <p:spPr bwMode="auto">
              <a:xfrm>
                <a:off x="2056" y="2825"/>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0.6</a:t>
                </a:r>
                <a:endParaRPr kumimoji="1" lang="en-US" altLang="zh-CN" b="1">
                  <a:latin typeface="Times New Roman" panose="02020603050405020304" pitchFamily="18" charset="0"/>
                </a:endParaRPr>
              </a:p>
            </p:txBody>
          </p:sp>
          <p:sp>
            <p:nvSpPr>
              <p:cNvPr id="152608" name="Text Box 32"/>
              <p:cNvSpPr txBox="1">
                <a:spLocks noChangeArrowheads="1"/>
              </p:cNvSpPr>
              <p:nvPr>
                <p:custDataLst>
                  <p:tags r:id="rId39"/>
                </p:custDataLst>
              </p:nvPr>
            </p:nvSpPr>
            <p:spPr bwMode="auto">
              <a:xfrm>
                <a:off x="2328" y="2827"/>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0.8</a:t>
                </a:r>
                <a:endParaRPr kumimoji="1" lang="en-US" altLang="zh-CN" b="1">
                  <a:latin typeface="Times New Roman" panose="02020603050405020304" pitchFamily="18" charset="0"/>
                </a:endParaRPr>
              </a:p>
            </p:txBody>
          </p:sp>
          <p:sp>
            <p:nvSpPr>
              <p:cNvPr id="152609" name="Text Box 33"/>
              <p:cNvSpPr txBox="1">
                <a:spLocks noChangeArrowheads="1"/>
              </p:cNvSpPr>
              <p:nvPr>
                <p:custDataLst>
                  <p:tags r:id="rId40"/>
                </p:custDataLst>
              </p:nvPr>
            </p:nvSpPr>
            <p:spPr bwMode="auto">
              <a:xfrm>
                <a:off x="2588" y="2821"/>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1</a:t>
                </a:r>
                <a:endParaRPr kumimoji="1" lang="en-US" altLang="zh-CN" b="1">
                  <a:latin typeface="Times New Roman" panose="02020603050405020304" pitchFamily="18" charset="0"/>
                </a:endParaRPr>
              </a:p>
            </p:txBody>
          </p:sp>
          <p:sp>
            <p:nvSpPr>
              <p:cNvPr id="152610" name="Text Box 34"/>
              <p:cNvSpPr txBox="1">
                <a:spLocks noChangeArrowheads="1"/>
              </p:cNvSpPr>
              <p:nvPr>
                <p:custDataLst>
                  <p:tags r:id="rId41"/>
                </p:custDataLst>
              </p:nvPr>
            </p:nvSpPr>
            <p:spPr bwMode="auto">
              <a:xfrm>
                <a:off x="3236" y="2825"/>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2</a:t>
                </a:r>
                <a:endParaRPr kumimoji="1" lang="en-US" altLang="zh-CN" b="1">
                  <a:latin typeface="Times New Roman" panose="02020603050405020304" pitchFamily="18" charset="0"/>
                </a:endParaRPr>
              </a:p>
            </p:txBody>
          </p:sp>
          <p:sp>
            <p:nvSpPr>
              <p:cNvPr id="152611" name="Text Box 35"/>
              <p:cNvSpPr txBox="1">
                <a:spLocks noChangeArrowheads="1"/>
              </p:cNvSpPr>
              <p:nvPr>
                <p:custDataLst>
                  <p:tags r:id="rId42"/>
                </p:custDataLst>
              </p:nvPr>
            </p:nvSpPr>
            <p:spPr bwMode="auto">
              <a:xfrm>
                <a:off x="3584" y="2805"/>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3</a:t>
                </a:r>
                <a:endParaRPr kumimoji="1" lang="en-US" altLang="zh-CN" b="1">
                  <a:latin typeface="Times New Roman" panose="02020603050405020304" pitchFamily="18" charset="0"/>
                </a:endParaRPr>
              </a:p>
            </p:txBody>
          </p:sp>
          <p:sp>
            <p:nvSpPr>
              <p:cNvPr id="152612" name="Text Box 36"/>
              <p:cNvSpPr txBox="1">
                <a:spLocks noChangeArrowheads="1"/>
              </p:cNvSpPr>
              <p:nvPr>
                <p:custDataLst>
                  <p:tags r:id="rId43"/>
                </p:custDataLst>
              </p:nvPr>
            </p:nvSpPr>
            <p:spPr bwMode="auto">
              <a:xfrm>
                <a:off x="3836" y="2809"/>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4</a:t>
                </a:r>
                <a:endParaRPr kumimoji="1" lang="en-US" altLang="zh-CN" b="1">
                  <a:latin typeface="Times New Roman" panose="02020603050405020304" pitchFamily="18" charset="0"/>
                </a:endParaRPr>
              </a:p>
            </p:txBody>
          </p:sp>
          <p:sp>
            <p:nvSpPr>
              <p:cNvPr id="152613" name="Text Box 37"/>
              <p:cNvSpPr txBox="1">
                <a:spLocks noChangeArrowheads="1"/>
              </p:cNvSpPr>
              <p:nvPr>
                <p:custDataLst>
                  <p:tags r:id="rId44"/>
                </p:custDataLst>
              </p:nvPr>
            </p:nvSpPr>
            <p:spPr bwMode="auto">
              <a:xfrm>
                <a:off x="4080" y="2809"/>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5</a:t>
                </a:r>
                <a:endParaRPr kumimoji="1" lang="en-US" altLang="zh-CN" b="1">
                  <a:latin typeface="Times New Roman" panose="02020603050405020304" pitchFamily="18" charset="0"/>
                </a:endParaRPr>
              </a:p>
            </p:txBody>
          </p:sp>
          <p:sp>
            <p:nvSpPr>
              <p:cNvPr id="152614" name="Text Box 38"/>
              <p:cNvSpPr txBox="1">
                <a:spLocks noChangeArrowheads="1"/>
              </p:cNvSpPr>
              <p:nvPr>
                <p:custDataLst>
                  <p:tags r:id="rId45"/>
                </p:custDataLst>
              </p:nvPr>
            </p:nvSpPr>
            <p:spPr bwMode="auto">
              <a:xfrm>
                <a:off x="4268" y="2807"/>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6</a:t>
                </a:r>
                <a:endParaRPr kumimoji="1" lang="en-US" altLang="zh-CN" b="1">
                  <a:latin typeface="Times New Roman" panose="02020603050405020304" pitchFamily="18" charset="0"/>
                </a:endParaRPr>
              </a:p>
            </p:txBody>
          </p:sp>
          <p:sp>
            <p:nvSpPr>
              <p:cNvPr id="152615" name="Text Box 39"/>
              <p:cNvSpPr txBox="1">
                <a:spLocks noChangeArrowheads="1"/>
              </p:cNvSpPr>
              <p:nvPr>
                <p:custDataLst>
                  <p:tags r:id="rId46"/>
                </p:custDataLst>
              </p:nvPr>
            </p:nvSpPr>
            <p:spPr bwMode="auto">
              <a:xfrm>
                <a:off x="4516" y="2795"/>
                <a:ext cx="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8</a:t>
                </a:r>
                <a:endParaRPr kumimoji="1" lang="en-US" altLang="zh-CN" b="1">
                  <a:latin typeface="Times New Roman" panose="02020603050405020304" pitchFamily="18" charset="0"/>
                </a:endParaRPr>
              </a:p>
            </p:txBody>
          </p:sp>
          <p:sp>
            <p:nvSpPr>
              <p:cNvPr id="152616" name="Text Box 40"/>
              <p:cNvSpPr txBox="1">
                <a:spLocks noChangeArrowheads="1"/>
              </p:cNvSpPr>
              <p:nvPr>
                <p:custDataLst>
                  <p:tags r:id="rId47"/>
                </p:custDataLst>
              </p:nvPr>
            </p:nvSpPr>
            <p:spPr bwMode="auto">
              <a:xfrm>
                <a:off x="4714" y="2805"/>
                <a:ext cx="1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10</a:t>
                </a:r>
                <a:endParaRPr kumimoji="1" lang="en-US" altLang="zh-CN" b="1">
                  <a:latin typeface="Times New Roman" panose="02020603050405020304" pitchFamily="18" charset="0"/>
                </a:endParaRPr>
              </a:p>
            </p:txBody>
          </p:sp>
          <p:sp>
            <p:nvSpPr>
              <p:cNvPr id="152625" name="Text Box 49"/>
              <p:cNvSpPr txBox="1">
                <a:spLocks noChangeArrowheads="1"/>
              </p:cNvSpPr>
              <p:nvPr>
                <p:custDataLst>
                  <p:tags r:id="rId48"/>
                </p:custDataLst>
              </p:nvPr>
            </p:nvSpPr>
            <p:spPr bwMode="auto">
              <a:xfrm>
                <a:off x="5348" y="2789"/>
                <a:ext cx="1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b="1">
                    <a:latin typeface="Times New Roman" panose="02020603050405020304" pitchFamily="18" charset="0"/>
                  </a:rPr>
                  <a:t>20</a:t>
                </a:r>
                <a:endParaRPr kumimoji="1" lang="en-US" altLang="zh-CN" b="1">
                  <a:latin typeface="Times New Roman" panose="02020603050405020304" pitchFamily="18" charset="0"/>
                </a:endParaRPr>
              </a:p>
            </p:txBody>
          </p:sp>
        </p:grpSp>
        <p:sp>
          <p:nvSpPr>
            <p:cNvPr id="152626" name="Text Box 50"/>
            <p:cNvSpPr txBox="1">
              <a:spLocks noChangeArrowheads="1"/>
            </p:cNvSpPr>
            <p:nvPr>
              <p:custDataLst>
                <p:tags r:id="rId49"/>
              </p:custDataLst>
            </p:nvPr>
          </p:nvSpPr>
          <p:spPr bwMode="auto">
            <a:xfrm>
              <a:off x="4697" y="2962"/>
              <a:ext cx="74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zh-CN" altLang="en-US" sz="2000" b="1">
                  <a:solidFill>
                    <a:srgbClr val="0000FF"/>
                  </a:solidFill>
                  <a:latin typeface="Times New Roman" panose="02020603050405020304" pitchFamily="18" charset="0"/>
                </a:rPr>
                <a:t>链速</a:t>
              </a:r>
              <a:r>
                <a:rPr kumimoji="1" lang="en-US" altLang="zh-CN" sz="2000" b="1">
                  <a:solidFill>
                    <a:srgbClr val="0000FF"/>
                  </a:solidFill>
                  <a:latin typeface="Times New Roman" panose="02020603050405020304" pitchFamily="18" charset="0"/>
                </a:rPr>
                <a:t>v(m/s)</a:t>
              </a:r>
              <a:endParaRPr kumimoji="1" lang="en-US" altLang="zh-CN" sz="2000" b="1">
                <a:solidFill>
                  <a:srgbClr val="0000FF"/>
                </a:solidFill>
                <a:latin typeface="Times New Roman" panose="02020603050405020304" pitchFamily="18" charset="0"/>
              </a:endParaRPr>
            </a:p>
          </p:txBody>
        </p:sp>
        <p:grpSp>
          <p:nvGrpSpPr>
            <p:cNvPr id="152679" name="Group 103"/>
            <p:cNvGrpSpPr/>
            <p:nvPr/>
          </p:nvGrpSpPr>
          <p:grpSpPr bwMode="auto">
            <a:xfrm>
              <a:off x="249" y="1391"/>
              <a:ext cx="851" cy="1518"/>
              <a:chOff x="249" y="1391"/>
              <a:chExt cx="851" cy="1518"/>
            </a:xfrm>
          </p:grpSpPr>
          <p:sp>
            <p:nvSpPr>
              <p:cNvPr id="152617" name="Text Box 41"/>
              <p:cNvSpPr txBox="1">
                <a:spLocks noChangeArrowheads="1"/>
              </p:cNvSpPr>
              <p:nvPr>
                <p:custDataLst>
                  <p:tags r:id="rId50"/>
                </p:custDataLst>
              </p:nvPr>
            </p:nvSpPr>
            <p:spPr bwMode="auto">
              <a:xfrm>
                <a:off x="756" y="2715"/>
                <a:ext cx="28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50.8</a:t>
                </a:r>
                <a:endParaRPr kumimoji="1" lang="en-US" altLang="zh-CN" sz="2000" b="1" dirty="0">
                  <a:latin typeface="Times New Roman" panose="02020603050405020304" pitchFamily="18" charset="0"/>
                </a:endParaRPr>
              </a:p>
            </p:txBody>
          </p:sp>
          <p:sp>
            <p:nvSpPr>
              <p:cNvPr id="152618" name="Text Box 42"/>
              <p:cNvSpPr txBox="1">
                <a:spLocks noChangeArrowheads="1"/>
              </p:cNvSpPr>
              <p:nvPr>
                <p:custDataLst>
                  <p:tags r:id="rId51"/>
                </p:custDataLst>
              </p:nvPr>
            </p:nvSpPr>
            <p:spPr bwMode="auto">
              <a:xfrm>
                <a:off x="720" y="2559"/>
                <a:ext cx="36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44.45</a:t>
                </a:r>
                <a:endParaRPr kumimoji="1" lang="en-US" altLang="zh-CN" sz="2000" b="1" dirty="0">
                  <a:latin typeface="Times New Roman" panose="02020603050405020304" pitchFamily="18" charset="0"/>
                </a:endParaRPr>
              </a:p>
            </p:txBody>
          </p:sp>
          <p:sp>
            <p:nvSpPr>
              <p:cNvPr id="152619" name="Text Box 43"/>
              <p:cNvSpPr txBox="1">
                <a:spLocks noChangeArrowheads="1"/>
              </p:cNvSpPr>
              <p:nvPr>
                <p:custDataLst>
                  <p:tags r:id="rId52"/>
                </p:custDataLst>
              </p:nvPr>
            </p:nvSpPr>
            <p:spPr bwMode="auto">
              <a:xfrm>
                <a:off x="764" y="2411"/>
                <a:ext cx="28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38.1</a:t>
                </a:r>
                <a:endParaRPr kumimoji="1" lang="en-US" altLang="zh-CN" sz="2000" b="1" dirty="0">
                  <a:latin typeface="Times New Roman" panose="02020603050405020304" pitchFamily="18" charset="0"/>
                </a:endParaRPr>
              </a:p>
            </p:txBody>
          </p:sp>
          <p:sp>
            <p:nvSpPr>
              <p:cNvPr id="152620" name="Text Box 44"/>
              <p:cNvSpPr txBox="1">
                <a:spLocks noChangeArrowheads="1"/>
              </p:cNvSpPr>
              <p:nvPr>
                <p:custDataLst>
                  <p:tags r:id="rId53"/>
                </p:custDataLst>
              </p:nvPr>
            </p:nvSpPr>
            <p:spPr bwMode="auto">
              <a:xfrm>
                <a:off x="705" y="2231"/>
                <a:ext cx="36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31.75</a:t>
                </a:r>
                <a:endParaRPr kumimoji="1" lang="en-US" altLang="zh-CN" sz="2000" b="1" dirty="0">
                  <a:latin typeface="Times New Roman" panose="02020603050405020304" pitchFamily="18" charset="0"/>
                </a:endParaRPr>
              </a:p>
            </p:txBody>
          </p:sp>
          <p:sp>
            <p:nvSpPr>
              <p:cNvPr id="152621" name="Text Box 45"/>
              <p:cNvSpPr txBox="1">
                <a:spLocks noChangeArrowheads="1"/>
              </p:cNvSpPr>
              <p:nvPr>
                <p:custDataLst>
                  <p:tags r:id="rId54"/>
                </p:custDataLst>
              </p:nvPr>
            </p:nvSpPr>
            <p:spPr bwMode="auto">
              <a:xfrm>
                <a:off x="780" y="2017"/>
                <a:ext cx="28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25.4</a:t>
                </a:r>
                <a:endParaRPr kumimoji="1" lang="en-US" altLang="zh-CN" sz="2000" b="1" dirty="0">
                  <a:latin typeface="Times New Roman" panose="02020603050405020304" pitchFamily="18" charset="0"/>
                </a:endParaRPr>
              </a:p>
            </p:txBody>
          </p:sp>
          <p:sp>
            <p:nvSpPr>
              <p:cNvPr id="152622" name="Text Box 46"/>
              <p:cNvSpPr txBox="1">
                <a:spLocks noChangeArrowheads="1"/>
              </p:cNvSpPr>
              <p:nvPr>
                <p:custDataLst>
                  <p:tags r:id="rId55"/>
                </p:custDataLst>
              </p:nvPr>
            </p:nvSpPr>
            <p:spPr bwMode="auto">
              <a:xfrm>
                <a:off x="721" y="1734"/>
                <a:ext cx="36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19.05</a:t>
                </a:r>
                <a:endParaRPr kumimoji="1" lang="en-US" altLang="zh-CN" sz="2000" b="1" dirty="0">
                  <a:latin typeface="Times New Roman" panose="02020603050405020304" pitchFamily="18" charset="0"/>
                </a:endParaRPr>
              </a:p>
            </p:txBody>
          </p:sp>
          <p:sp>
            <p:nvSpPr>
              <p:cNvPr id="152623" name="Text Box 47"/>
              <p:cNvSpPr txBox="1">
                <a:spLocks noChangeArrowheads="1"/>
              </p:cNvSpPr>
              <p:nvPr>
                <p:custDataLst>
                  <p:tags r:id="rId56"/>
                </p:custDataLst>
              </p:nvPr>
            </p:nvSpPr>
            <p:spPr bwMode="auto">
              <a:xfrm>
                <a:off x="656" y="1575"/>
                <a:ext cx="44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15.875</a:t>
                </a:r>
                <a:endParaRPr kumimoji="1" lang="en-US" altLang="zh-CN" sz="2000" b="1" dirty="0">
                  <a:latin typeface="Times New Roman" panose="02020603050405020304" pitchFamily="18" charset="0"/>
                </a:endParaRPr>
              </a:p>
            </p:txBody>
          </p:sp>
          <p:sp>
            <p:nvSpPr>
              <p:cNvPr id="152624" name="Text Box 48"/>
              <p:cNvSpPr txBox="1">
                <a:spLocks noChangeArrowheads="1"/>
              </p:cNvSpPr>
              <p:nvPr>
                <p:custDataLst>
                  <p:tags r:id="rId57"/>
                </p:custDataLst>
              </p:nvPr>
            </p:nvSpPr>
            <p:spPr bwMode="auto">
              <a:xfrm>
                <a:off x="800" y="1391"/>
                <a:ext cx="28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n-US" altLang="zh-CN" sz="2000" b="1" dirty="0">
                    <a:latin typeface="Times New Roman" panose="02020603050405020304" pitchFamily="18" charset="0"/>
                  </a:rPr>
                  <a:t>12.7</a:t>
                </a:r>
                <a:endParaRPr kumimoji="1" lang="en-US" altLang="zh-CN" sz="2000" b="1" dirty="0">
                  <a:latin typeface="Times New Roman" panose="02020603050405020304" pitchFamily="18" charset="0"/>
                </a:endParaRPr>
              </a:p>
            </p:txBody>
          </p:sp>
          <p:sp>
            <p:nvSpPr>
              <p:cNvPr id="152627" name="Text Box 51"/>
              <p:cNvSpPr txBox="1">
                <a:spLocks noChangeArrowheads="1"/>
              </p:cNvSpPr>
              <p:nvPr>
                <p:custDataLst>
                  <p:tags r:id="rId58"/>
                </p:custDataLst>
              </p:nvPr>
            </p:nvSpPr>
            <p:spPr bwMode="auto">
              <a:xfrm>
                <a:off x="249" y="1730"/>
                <a:ext cx="437" cy="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p>
                <a:r>
                  <a:rPr kumimoji="1" lang="zh-CN" altLang="en-US" sz="2000" b="1" dirty="0">
                    <a:latin typeface="Times New Roman" panose="02020603050405020304" pitchFamily="18" charset="0"/>
                  </a:rPr>
                  <a:t>链</a:t>
                </a:r>
                <a:endParaRPr kumimoji="1" lang="zh-CN" altLang="en-US" sz="2000" b="1" dirty="0">
                  <a:latin typeface="Times New Roman" panose="02020603050405020304" pitchFamily="18" charset="0"/>
                </a:endParaRPr>
              </a:p>
              <a:p>
                <a:r>
                  <a:rPr kumimoji="1" lang="zh-CN" altLang="en-US" sz="2000" b="1" dirty="0">
                    <a:latin typeface="Times New Roman" panose="02020603050405020304" pitchFamily="18" charset="0"/>
                  </a:rPr>
                  <a:t>节</a:t>
                </a:r>
                <a:endParaRPr kumimoji="1" lang="zh-CN" altLang="en-US" sz="2000" b="1" dirty="0">
                  <a:latin typeface="Times New Roman" panose="02020603050405020304" pitchFamily="18" charset="0"/>
                </a:endParaRPr>
              </a:p>
              <a:p>
                <a:r>
                  <a:rPr kumimoji="1" lang="zh-CN" altLang="en-US" sz="2000" b="1" dirty="0">
                    <a:latin typeface="Times New Roman" panose="02020603050405020304" pitchFamily="18" charset="0"/>
                  </a:rPr>
                  <a:t>距</a:t>
                </a:r>
                <a:r>
                  <a:rPr kumimoji="1" lang="en-US" altLang="zh-CN" sz="2000" b="1" dirty="0">
                    <a:latin typeface="Times New Roman" panose="02020603050405020304" pitchFamily="18" charset="0"/>
                  </a:rPr>
                  <a:t>p(mm</a:t>
                </a:r>
                <a:r>
                  <a:rPr kumimoji="1" lang="en-US" altLang="zh-CN" b="1" dirty="0">
                    <a:solidFill>
                      <a:srgbClr val="0000FF"/>
                    </a:solidFill>
                    <a:latin typeface="Times New Roman" panose="02020603050405020304" pitchFamily="18" charset="0"/>
                  </a:rPr>
                  <a:t>)</a:t>
                </a:r>
                <a:endParaRPr kumimoji="1" lang="en-US" altLang="zh-CN" b="1" dirty="0">
                  <a:solidFill>
                    <a:srgbClr val="0000FF"/>
                  </a:solidFill>
                  <a:latin typeface="Times New Roman" panose="02020603050405020304" pitchFamily="18" charset="0"/>
                </a:endParaRPr>
              </a:p>
            </p:txBody>
          </p:sp>
        </p:grpSp>
      </p:grpSp>
      <p:grpSp>
        <p:nvGrpSpPr>
          <p:cNvPr id="152659" name="Group 83"/>
          <p:cNvGrpSpPr/>
          <p:nvPr/>
        </p:nvGrpSpPr>
        <p:grpSpPr bwMode="auto">
          <a:xfrm>
            <a:off x="1471464" y="2835945"/>
            <a:ext cx="2030413" cy="2438400"/>
            <a:chOff x="1215" y="202"/>
            <a:chExt cx="1279" cy="1536"/>
          </a:xfrm>
        </p:grpSpPr>
        <p:sp>
          <p:nvSpPr>
            <p:cNvPr id="152660" name="Text Box 84"/>
            <p:cNvSpPr txBox="1">
              <a:spLocks noChangeArrowheads="1"/>
            </p:cNvSpPr>
            <p:nvPr>
              <p:custDataLst>
                <p:tags r:id="rId59"/>
              </p:custDataLst>
            </p:nvPr>
          </p:nvSpPr>
          <p:spPr bwMode="auto">
            <a:xfrm>
              <a:off x="1300" y="202"/>
              <a:ext cx="119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l-GR" altLang="zh-CN" sz="2000" b="1" dirty="0">
                  <a:solidFill>
                    <a:srgbClr val="0000FF"/>
                  </a:solidFill>
                  <a:latin typeface="Times New Roman" panose="02020603050405020304" pitchFamily="18" charset="0"/>
                  <a:cs typeface="Times New Roman" panose="02020603050405020304" pitchFamily="18" charset="0"/>
                </a:rPr>
                <a:t>Ι</a:t>
              </a:r>
              <a:r>
                <a:rPr kumimoji="1" lang="en-US" altLang="zh-CN" sz="2000" b="1" dirty="0">
                  <a:solidFill>
                    <a:srgbClr val="0000FF"/>
                  </a:solidFill>
                  <a:latin typeface="Times New Roman" panose="02020603050405020304" pitchFamily="18" charset="0"/>
                  <a:cs typeface="Times New Roman" panose="02020603050405020304" pitchFamily="18" charset="0"/>
                </a:rPr>
                <a:t>—</a:t>
              </a:r>
              <a:r>
                <a:rPr kumimoji="1" lang="zh-CN" altLang="en-US" sz="2000" b="1" dirty="0">
                  <a:solidFill>
                    <a:srgbClr val="0000FF"/>
                  </a:solidFill>
                  <a:latin typeface="Times New Roman" panose="02020603050405020304" pitchFamily="18" charset="0"/>
                  <a:cs typeface="Times New Roman" panose="02020603050405020304" pitchFamily="18" charset="0"/>
                </a:rPr>
                <a:t>人工定期润滑</a:t>
              </a:r>
              <a:endParaRPr kumimoji="1" lang="zh-CN" altLang="el-GR" sz="2000" b="1" dirty="0">
                <a:solidFill>
                  <a:srgbClr val="0000FF"/>
                </a:solidFill>
                <a:latin typeface="Times New Roman" panose="02020603050405020304" pitchFamily="18" charset="0"/>
                <a:cs typeface="Times New Roman" panose="02020603050405020304" pitchFamily="18" charset="0"/>
              </a:endParaRPr>
            </a:p>
          </p:txBody>
        </p:sp>
        <p:grpSp>
          <p:nvGrpSpPr>
            <p:cNvPr id="152661" name="Group 85"/>
            <p:cNvGrpSpPr/>
            <p:nvPr/>
          </p:nvGrpSpPr>
          <p:grpSpPr bwMode="auto">
            <a:xfrm>
              <a:off x="1215" y="426"/>
              <a:ext cx="1136" cy="1312"/>
              <a:chOff x="995" y="426"/>
              <a:chExt cx="1136" cy="1312"/>
            </a:xfrm>
          </p:grpSpPr>
          <p:sp>
            <p:nvSpPr>
              <p:cNvPr id="152662" name="Freeform 86"/>
              <p:cNvSpPr/>
              <p:nvPr>
                <p:custDataLst>
                  <p:tags r:id="rId60"/>
                </p:custDataLst>
              </p:nvPr>
            </p:nvSpPr>
            <p:spPr bwMode="auto">
              <a:xfrm>
                <a:off x="995" y="426"/>
                <a:ext cx="1136" cy="1312"/>
              </a:xfrm>
              <a:custGeom>
                <a:avLst/>
                <a:gdLst>
                  <a:gd name="T0" fmla="*/ 0 w 1136"/>
                  <a:gd name="T1" fmla="*/ 0 h 1312"/>
                  <a:gd name="T2" fmla="*/ 1136 w 1136"/>
                  <a:gd name="T3" fmla="*/ 0 h 1312"/>
                  <a:gd name="T4" fmla="*/ 439 w 1136"/>
                  <a:gd name="T5" fmla="*/ 1312 h 1312"/>
                  <a:gd name="T6" fmla="*/ 0 w 1136"/>
                  <a:gd name="T7" fmla="*/ 1312 h 1312"/>
                  <a:gd name="T8" fmla="*/ 0 w 1136"/>
                  <a:gd name="T9" fmla="*/ 0 h 1312"/>
                </a:gdLst>
                <a:ahLst/>
                <a:cxnLst>
                  <a:cxn ang="0">
                    <a:pos x="T0" y="T1"/>
                  </a:cxn>
                  <a:cxn ang="0">
                    <a:pos x="T2" y="T3"/>
                  </a:cxn>
                  <a:cxn ang="0">
                    <a:pos x="T4" y="T5"/>
                  </a:cxn>
                  <a:cxn ang="0">
                    <a:pos x="T6" y="T7"/>
                  </a:cxn>
                  <a:cxn ang="0">
                    <a:pos x="T8" y="T9"/>
                  </a:cxn>
                </a:cxnLst>
                <a:rect l="0" t="0" r="r" b="b"/>
                <a:pathLst>
                  <a:path w="1136" h="1312">
                    <a:moveTo>
                      <a:pt x="0" y="0"/>
                    </a:moveTo>
                    <a:lnTo>
                      <a:pt x="1136" y="0"/>
                    </a:lnTo>
                    <a:lnTo>
                      <a:pt x="439" y="1312"/>
                    </a:lnTo>
                    <a:lnTo>
                      <a:pt x="0" y="1312"/>
                    </a:lnTo>
                    <a:lnTo>
                      <a:pt x="0" y="0"/>
                    </a:lnTo>
                    <a:close/>
                  </a:path>
                </a:pathLst>
              </a:custGeom>
              <a:solidFill>
                <a:srgbClr val="00FFFF">
                  <a:alpha val="50000"/>
                </a:srgbClr>
              </a:solidFill>
              <a:ln w="9525"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63" name="Text Box 87"/>
              <p:cNvSpPr txBox="1">
                <a:spLocks noChangeArrowheads="1"/>
              </p:cNvSpPr>
              <p:nvPr>
                <p:custDataLst>
                  <p:tags r:id="rId61"/>
                </p:custDataLst>
              </p:nvPr>
            </p:nvSpPr>
            <p:spPr bwMode="auto">
              <a:xfrm>
                <a:off x="1485" y="816"/>
                <a:ext cx="191" cy="173"/>
              </a:xfrm>
              <a:prstGeom prst="rect">
                <a:avLst/>
              </a:prstGeom>
              <a:solidFill>
                <a:schemeClr val="tx1"/>
              </a:solidFill>
              <a:ln>
                <a:noFill/>
              </a:ln>
              <a:effectLst/>
              <a:extLs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spAutoFit/>
              </a:bodyPr>
              <a:p>
                <a:r>
                  <a:rPr kumimoji="1" lang="el-GR" altLang="zh-CN" b="1">
                    <a:solidFill>
                      <a:srgbClr val="66FF33"/>
                    </a:solidFill>
                    <a:latin typeface="Times New Roman" panose="02020603050405020304" pitchFamily="18" charset="0"/>
                    <a:cs typeface="Times New Roman" panose="02020603050405020304" pitchFamily="18" charset="0"/>
                  </a:rPr>
                  <a:t>Ι</a:t>
                </a:r>
                <a:endParaRPr kumimoji="1" lang="el-GR" altLang="zh-CN" b="1">
                  <a:solidFill>
                    <a:srgbClr val="66FF33"/>
                  </a:solidFill>
                  <a:latin typeface="Times New Roman" panose="02020603050405020304" pitchFamily="18" charset="0"/>
                  <a:cs typeface="Times New Roman" panose="02020603050405020304" pitchFamily="18" charset="0"/>
                </a:endParaRPr>
              </a:p>
            </p:txBody>
          </p:sp>
        </p:grpSp>
      </p:grpSp>
      <p:grpSp>
        <p:nvGrpSpPr>
          <p:cNvPr id="152664" name="Group 88"/>
          <p:cNvGrpSpPr/>
          <p:nvPr/>
        </p:nvGrpSpPr>
        <p:grpSpPr bwMode="auto">
          <a:xfrm>
            <a:off x="2191544" y="2763937"/>
            <a:ext cx="3613150" cy="2493963"/>
            <a:chOff x="1682" y="167"/>
            <a:chExt cx="2276" cy="1571"/>
          </a:xfrm>
        </p:grpSpPr>
        <p:sp>
          <p:nvSpPr>
            <p:cNvPr id="152665" name="Text Box 89"/>
            <p:cNvSpPr txBox="1">
              <a:spLocks noChangeArrowheads="1"/>
            </p:cNvSpPr>
            <p:nvPr>
              <p:custDataLst>
                <p:tags r:id="rId62"/>
              </p:custDataLst>
            </p:nvPr>
          </p:nvSpPr>
          <p:spPr bwMode="auto">
            <a:xfrm>
              <a:off x="2811" y="167"/>
              <a:ext cx="93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r>
                <a:rPr kumimoji="1" lang="el-GR" altLang="zh-CN" sz="2000" b="1" dirty="0">
                  <a:solidFill>
                    <a:srgbClr val="0000FF"/>
                  </a:solidFill>
                  <a:latin typeface="Times New Roman" panose="02020603050405020304" pitchFamily="18" charset="0"/>
                  <a:cs typeface="Times New Roman" panose="02020603050405020304" pitchFamily="18" charset="0"/>
                </a:rPr>
                <a:t>Π—</a:t>
              </a:r>
              <a:r>
                <a:rPr kumimoji="1" lang="zh-CN" altLang="el-GR" sz="2000" b="1" dirty="0">
                  <a:solidFill>
                    <a:srgbClr val="0000FF"/>
                  </a:solidFill>
                  <a:latin typeface="Times New Roman" panose="02020603050405020304" pitchFamily="18" charset="0"/>
                  <a:cs typeface="Times New Roman" panose="02020603050405020304" pitchFamily="18" charset="0"/>
                </a:rPr>
                <a:t>滴油润滑</a:t>
              </a:r>
              <a:endParaRPr kumimoji="1" lang="zh-CN" altLang="el-GR" sz="2000" b="1" dirty="0">
                <a:solidFill>
                  <a:srgbClr val="0000FF"/>
                </a:solidFill>
                <a:latin typeface="Times New Roman" panose="02020603050405020304" pitchFamily="18" charset="0"/>
                <a:cs typeface="Times New Roman" panose="02020603050405020304" pitchFamily="18" charset="0"/>
              </a:endParaRPr>
            </a:p>
          </p:txBody>
        </p:sp>
        <p:grpSp>
          <p:nvGrpSpPr>
            <p:cNvPr id="152666" name="Group 90"/>
            <p:cNvGrpSpPr/>
            <p:nvPr/>
          </p:nvGrpSpPr>
          <p:grpSpPr bwMode="auto">
            <a:xfrm>
              <a:off x="1682" y="426"/>
              <a:ext cx="2276" cy="1312"/>
              <a:chOff x="1462" y="426"/>
              <a:chExt cx="2276" cy="1312"/>
            </a:xfrm>
          </p:grpSpPr>
          <p:sp>
            <p:nvSpPr>
              <p:cNvPr id="152667" name="Freeform 91"/>
              <p:cNvSpPr/>
              <p:nvPr>
                <p:custDataLst>
                  <p:tags r:id="rId63"/>
                </p:custDataLst>
              </p:nvPr>
            </p:nvSpPr>
            <p:spPr bwMode="auto">
              <a:xfrm>
                <a:off x="1462" y="426"/>
                <a:ext cx="2276" cy="1312"/>
              </a:xfrm>
              <a:custGeom>
                <a:avLst/>
                <a:gdLst>
                  <a:gd name="T0" fmla="*/ 0 w 2276"/>
                  <a:gd name="T1" fmla="*/ 1308 h 1312"/>
                  <a:gd name="T2" fmla="*/ 692 w 2276"/>
                  <a:gd name="T3" fmla="*/ 0 h 1312"/>
                  <a:gd name="T4" fmla="*/ 2276 w 2276"/>
                  <a:gd name="T5" fmla="*/ 0 h 1312"/>
                  <a:gd name="T6" fmla="*/ 1079 w 2276"/>
                  <a:gd name="T7" fmla="*/ 1312 h 1312"/>
                  <a:gd name="T8" fmla="*/ 0 w 2276"/>
                  <a:gd name="T9" fmla="*/ 1308 h 1312"/>
                </a:gdLst>
                <a:ahLst/>
                <a:cxnLst>
                  <a:cxn ang="0">
                    <a:pos x="T0" y="T1"/>
                  </a:cxn>
                  <a:cxn ang="0">
                    <a:pos x="T2" y="T3"/>
                  </a:cxn>
                  <a:cxn ang="0">
                    <a:pos x="T4" y="T5"/>
                  </a:cxn>
                  <a:cxn ang="0">
                    <a:pos x="T6" y="T7"/>
                  </a:cxn>
                  <a:cxn ang="0">
                    <a:pos x="T8" y="T9"/>
                  </a:cxn>
                </a:cxnLst>
                <a:rect l="0" t="0" r="r" b="b"/>
                <a:pathLst>
                  <a:path w="2276" h="1312">
                    <a:moveTo>
                      <a:pt x="0" y="1308"/>
                    </a:moveTo>
                    <a:lnTo>
                      <a:pt x="692" y="0"/>
                    </a:lnTo>
                    <a:lnTo>
                      <a:pt x="2276" y="0"/>
                    </a:lnTo>
                    <a:lnTo>
                      <a:pt x="1079" y="1312"/>
                    </a:lnTo>
                    <a:lnTo>
                      <a:pt x="0" y="1308"/>
                    </a:lnTo>
                    <a:close/>
                  </a:path>
                </a:pathLst>
              </a:custGeom>
              <a:solidFill>
                <a:srgbClr val="FF6600">
                  <a:alpha val="50000"/>
                </a:srgbClr>
              </a:solidFill>
              <a:ln w="1270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68" name="Text Box 92"/>
              <p:cNvSpPr txBox="1">
                <a:spLocks noChangeArrowheads="1"/>
              </p:cNvSpPr>
              <p:nvPr>
                <p:custDataLst>
                  <p:tags r:id="rId64"/>
                </p:custDataLst>
              </p:nvPr>
            </p:nvSpPr>
            <p:spPr bwMode="auto">
              <a:xfrm>
                <a:off x="2799" y="808"/>
                <a:ext cx="191" cy="173"/>
              </a:xfrm>
              <a:prstGeom prst="rect">
                <a:avLst/>
              </a:prstGeom>
              <a:solidFill>
                <a:schemeClr val="tx1"/>
              </a:solidFill>
              <a:ln>
                <a:noFill/>
              </a:ln>
              <a:effectLst/>
              <a:extLs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spAutoFit/>
              </a:bodyPr>
              <a:p>
                <a:r>
                  <a:rPr kumimoji="1" lang="el-GR" altLang="zh-CN" b="1">
                    <a:solidFill>
                      <a:srgbClr val="66FF33"/>
                    </a:solidFill>
                    <a:latin typeface="Times New Roman" panose="02020603050405020304" pitchFamily="18" charset="0"/>
                    <a:cs typeface="Times New Roman" panose="02020603050405020304" pitchFamily="18" charset="0"/>
                  </a:rPr>
                  <a:t>Π</a:t>
                </a:r>
                <a:endParaRPr kumimoji="1" lang="el-GR" altLang="zh-CN" b="1">
                  <a:solidFill>
                    <a:srgbClr val="66FF33"/>
                  </a:solidFill>
                  <a:latin typeface="Times New Roman" panose="02020603050405020304" pitchFamily="18" charset="0"/>
                  <a:cs typeface="Times New Roman" panose="02020603050405020304" pitchFamily="18" charset="0"/>
                </a:endParaRPr>
              </a:p>
            </p:txBody>
          </p:sp>
        </p:grpSp>
      </p:grpSp>
      <p:grpSp>
        <p:nvGrpSpPr>
          <p:cNvPr id="152669" name="Group 93"/>
          <p:cNvGrpSpPr/>
          <p:nvPr/>
        </p:nvGrpSpPr>
        <p:grpSpPr bwMode="auto">
          <a:xfrm>
            <a:off x="3910800" y="2206225"/>
            <a:ext cx="3132072" cy="3058544"/>
            <a:chOff x="2790" y="-150"/>
            <a:chExt cx="1904" cy="1884"/>
          </a:xfrm>
        </p:grpSpPr>
        <p:sp>
          <p:nvSpPr>
            <p:cNvPr id="152670" name="Text Box 94"/>
            <p:cNvSpPr txBox="1">
              <a:spLocks noChangeArrowheads="1"/>
            </p:cNvSpPr>
            <p:nvPr>
              <p:custDataLst>
                <p:tags r:id="rId65"/>
              </p:custDataLst>
            </p:nvPr>
          </p:nvSpPr>
          <p:spPr bwMode="auto">
            <a:xfrm>
              <a:off x="3990" y="-150"/>
              <a:ext cx="686"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p>
              <a:r>
                <a:rPr kumimoji="1" lang="ru-RU" altLang="zh-CN" sz="2000" b="1" dirty="0">
                  <a:solidFill>
                    <a:srgbClr val="0000FF"/>
                  </a:solidFill>
                  <a:latin typeface="Times New Roman" panose="02020603050405020304" pitchFamily="18" charset="0"/>
                  <a:cs typeface="Times New Roman" panose="02020603050405020304" pitchFamily="18" charset="0"/>
                </a:rPr>
                <a:t>Ш—</a:t>
              </a:r>
              <a:r>
                <a:rPr kumimoji="1" lang="zh-CN" altLang="ru-RU" sz="2000" b="1" dirty="0">
                  <a:solidFill>
                    <a:srgbClr val="0000FF"/>
                  </a:solidFill>
                  <a:latin typeface="Times New Roman" panose="02020603050405020304" pitchFamily="18" charset="0"/>
                  <a:cs typeface="Times New Roman" panose="02020603050405020304" pitchFamily="18" charset="0"/>
                </a:rPr>
                <a:t>油浴</a:t>
              </a:r>
              <a:r>
                <a:rPr kumimoji="1" lang="zh-CN" altLang="ru-RU" sz="2000" b="1" dirty="0" smtClean="0">
                  <a:solidFill>
                    <a:srgbClr val="0000FF"/>
                  </a:solidFill>
                  <a:latin typeface="Times New Roman" panose="02020603050405020304" pitchFamily="18" charset="0"/>
                  <a:cs typeface="Times New Roman" panose="02020603050405020304" pitchFamily="18" charset="0"/>
                </a:rPr>
                <a:t>或飞溅</a:t>
              </a:r>
              <a:r>
                <a:rPr kumimoji="1" lang="zh-CN" altLang="ru-RU" sz="2000" b="1" dirty="0">
                  <a:solidFill>
                    <a:srgbClr val="0000FF"/>
                  </a:solidFill>
                  <a:latin typeface="Times New Roman" panose="02020603050405020304" pitchFamily="18" charset="0"/>
                  <a:cs typeface="Times New Roman" panose="02020603050405020304" pitchFamily="18" charset="0"/>
                </a:rPr>
                <a:t>润滑</a:t>
              </a:r>
              <a:endParaRPr kumimoji="1" lang="zh-CN" altLang="ru-RU" sz="2000" b="1" dirty="0">
                <a:solidFill>
                  <a:srgbClr val="0000FF"/>
                </a:solidFill>
                <a:latin typeface="Times New Roman" panose="02020603050405020304" pitchFamily="18" charset="0"/>
                <a:cs typeface="Times New Roman" panose="02020603050405020304" pitchFamily="18" charset="0"/>
              </a:endParaRPr>
            </a:p>
          </p:txBody>
        </p:sp>
        <p:grpSp>
          <p:nvGrpSpPr>
            <p:cNvPr id="152671" name="Group 95"/>
            <p:cNvGrpSpPr/>
            <p:nvPr/>
          </p:nvGrpSpPr>
          <p:grpSpPr bwMode="auto">
            <a:xfrm>
              <a:off x="2790" y="426"/>
              <a:ext cx="1904" cy="1308"/>
              <a:chOff x="2570" y="426"/>
              <a:chExt cx="1904" cy="1308"/>
            </a:xfrm>
          </p:grpSpPr>
          <p:sp>
            <p:nvSpPr>
              <p:cNvPr id="152672" name="Freeform 96"/>
              <p:cNvSpPr/>
              <p:nvPr>
                <p:custDataLst>
                  <p:tags r:id="rId66"/>
                </p:custDataLst>
              </p:nvPr>
            </p:nvSpPr>
            <p:spPr bwMode="auto">
              <a:xfrm>
                <a:off x="2570" y="426"/>
                <a:ext cx="1904" cy="1308"/>
              </a:xfrm>
              <a:custGeom>
                <a:avLst/>
                <a:gdLst>
                  <a:gd name="T0" fmla="*/ 0 w 1904"/>
                  <a:gd name="T1" fmla="*/ 1308 h 1308"/>
                  <a:gd name="T2" fmla="*/ 1193 w 1904"/>
                  <a:gd name="T3" fmla="*/ 0 h 1308"/>
                  <a:gd name="T4" fmla="*/ 1904 w 1904"/>
                  <a:gd name="T5" fmla="*/ 0 h 1308"/>
                  <a:gd name="T6" fmla="*/ 1174 w 1904"/>
                  <a:gd name="T7" fmla="*/ 1308 h 1308"/>
                  <a:gd name="T8" fmla="*/ 0 w 1904"/>
                  <a:gd name="T9" fmla="*/ 1308 h 1308"/>
                </a:gdLst>
                <a:ahLst/>
                <a:cxnLst>
                  <a:cxn ang="0">
                    <a:pos x="T0" y="T1"/>
                  </a:cxn>
                  <a:cxn ang="0">
                    <a:pos x="T2" y="T3"/>
                  </a:cxn>
                  <a:cxn ang="0">
                    <a:pos x="T4" y="T5"/>
                  </a:cxn>
                  <a:cxn ang="0">
                    <a:pos x="T6" y="T7"/>
                  </a:cxn>
                  <a:cxn ang="0">
                    <a:pos x="T8" y="T9"/>
                  </a:cxn>
                </a:cxnLst>
                <a:rect l="0" t="0" r="r" b="b"/>
                <a:pathLst>
                  <a:path w="1904" h="1308">
                    <a:moveTo>
                      <a:pt x="0" y="1308"/>
                    </a:moveTo>
                    <a:lnTo>
                      <a:pt x="1193" y="0"/>
                    </a:lnTo>
                    <a:lnTo>
                      <a:pt x="1904" y="0"/>
                    </a:lnTo>
                    <a:lnTo>
                      <a:pt x="1174" y="1308"/>
                    </a:lnTo>
                    <a:lnTo>
                      <a:pt x="0" y="1308"/>
                    </a:lnTo>
                    <a:close/>
                  </a:path>
                </a:pathLst>
              </a:custGeom>
              <a:solidFill>
                <a:srgbClr val="FFFF00">
                  <a:alpha val="50000"/>
                </a:srgbClr>
              </a:solidFill>
              <a:ln w="1270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73" name="Text Box 97"/>
              <p:cNvSpPr txBox="1">
                <a:spLocks noChangeArrowheads="1"/>
              </p:cNvSpPr>
              <p:nvPr>
                <p:custDataLst>
                  <p:tags r:id="rId67"/>
                </p:custDataLst>
              </p:nvPr>
            </p:nvSpPr>
            <p:spPr bwMode="auto">
              <a:xfrm>
                <a:off x="3539" y="820"/>
                <a:ext cx="191" cy="173"/>
              </a:xfrm>
              <a:prstGeom prst="rect">
                <a:avLst/>
              </a:prstGeom>
              <a:solidFill>
                <a:schemeClr val="tx1"/>
              </a:solidFill>
              <a:ln>
                <a:noFill/>
              </a:ln>
              <a:effectLst/>
              <a:extLs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spAutoFit/>
              </a:bodyPr>
              <a:p>
                <a:r>
                  <a:rPr kumimoji="1" lang="ru-RU" altLang="zh-CN" b="1">
                    <a:solidFill>
                      <a:srgbClr val="66FF33"/>
                    </a:solidFill>
                    <a:latin typeface="Times New Roman" panose="02020603050405020304" pitchFamily="18" charset="0"/>
                    <a:cs typeface="Times New Roman" panose="02020603050405020304" pitchFamily="18" charset="0"/>
                  </a:rPr>
                  <a:t>Ш</a:t>
                </a:r>
                <a:endParaRPr kumimoji="1" lang="ru-RU" altLang="zh-CN" b="1">
                  <a:solidFill>
                    <a:srgbClr val="66FF33"/>
                  </a:solidFill>
                  <a:latin typeface="Times New Roman" panose="02020603050405020304" pitchFamily="18" charset="0"/>
                  <a:cs typeface="Times New Roman" panose="02020603050405020304" pitchFamily="18" charset="0"/>
                </a:endParaRPr>
              </a:p>
            </p:txBody>
          </p:sp>
        </p:grpSp>
      </p:grpSp>
      <p:grpSp>
        <p:nvGrpSpPr>
          <p:cNvPr id="152674" name="Group 98"/>
          <p:cNvGrpSpPr/>
          <p:nvPr/>
        </p:nvGrpSpPr>
        <p:grpSpPr bwMode="auto">
          <a:xfrm>
            <a:off x="5863952" y="2547913"/>
            <a:ext cx="2952328" cy="2736304"/>
            <a:chOff x="3986" y="63"/>
            <a:chExt cx="1852" cy="1671"/>
          </a:xfrm>
        </p:grpSpPr>
        <p:sp>
          <p:nvSpPr>
            <p:cNvPr id="152675" name="Text Box 99"/>
            <p:cNvSpPr txBox="1">
              <a:spLocks noChangeArrowheads="1"/>
            </p:cNvSpPr>
            <p:nvPr>
              <p:custDataLst>
                <p:tags r:id="rId68"/>
              </p:custDataLst>
            </p:nvPr>
          </p:nvSpPr>
          <p:spPr bwMode="auto">
            <a:xfrm>
              <a:off x="4796" y="63"/>
              <a:ext cx="104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p>
              <a:r>
                <a:rPr kumimoji="1" lang="en-US" altLang="zh-CN" sz="2000" b="1" dirty="0">
                  <a:solidFill>
                    <a:srgbClr val="0000FF"/>
                  </a:solidFill>
                  <a:latin typeface="Times New Roman" panose="02020603050405020304" pitchFamily="18" charset="0"/>
                </a:rPr>
                <a:t>Ⅳ</a:t>
              </a:r>
              <a:r>
                <a:rPr kumimoji="1" lang="en-US" altLang="zh-CN" sz="2000" b="1" dirty="0">
                  <a:solidFill>
                    <a:srgbClr val="0000FF"/>
                  </a:solidFill>
                  <a:latin typeface="Times New Roman" panose="02020603050405020304" pitchFamily="18" charset="0"/>
                  <a:cs typeface="Times New Roman" panose="02020603050405020304" pitchFamily="18" charset="0"/>
                </a:rPr>
                <a:t>—</a:t>
              </a:r>
              <a:r>
                <a:rPr kumimoji="1" lang="zh-CN" altLang="en-US" sz="2000" b="1" dirty="0">
                  <a:solidFill>
                    <a:srgbClr val="0000FF"/>
                  </a:solidFill>
                  <a:latin typeface="Times New Roman" panose="02020603050405020304" pitchFamily="18" charset="0"/>
                  <a:cs typeface="Times New Roman" panose="02020603050405020304" pitchFamily="18" charset="0"/>
                </a:rPr>
                <a:t>压力喷</a:t>
              </a:r>
              <a:endParaRPr kumimoji="1" lang="zh-CN" altLang="en-US" sz="2000" b="1" dirty="0">
                <a:solidFill>
                  <a:srgbClr val="0000FF"/>
                </a:solidFill>
                <a:latin typeface="Times New Roman" panose="02020603050405020304" pitchFamily="18" charset="0"/>
                <a:cs typeface="Times New Roman" panose="02020603050405020304" pitchFamily="18" charset="0"/>
              </a:endParaRPr>
            </a:p>
            <a:p>
              <a:r>
                <a:rPr kumimoji="1" lang="zh-CN" altLang="en-US" sz="2000" b="1" dirty="0">
                  <a:solidFill>
                    <a:srgbClr val="0000FF"/>
                  </a:solidFill>
                  <a:latin typeface="Times New Roman" panose="02020603050405020304" pitchFamily="18" charset="0"/>
                  <a:cs typeface="Times New Roman" panose="02020603050405020304" pitchFamily="18" charset="0"/>
                </a:rPr>
                <a:t>        油滑润</a:t>
              </a:r>
              <a:endParaRPr kumimoji="1" lang="zh-CN" altLang="el-GR" sz="2000" b="1" dirty="0">
                <a:solidFill>
                  <a:srgbClr val="0000FF"/>
                </a:solidFill>
                <a:latin typeface="Times New Roman" panose="02020603050405020304" pitchFamily="18" charset="0"/>
                <a:cs typeface="Times New Roman" panose="02020603050405020304" pitchFamily="18" charset="0"/>
              </a:endParaRPr>
            </a:p>
          </p:txBody>
        </p:sp>
        <p:grpSp>
          <p:nvGrpSpPr>
            <p:cNvPr id="152676" name="Group 100"/>
            <p:cNvGrpSpPr/>
            <p:nvPr/>
          </p:nvGrpSpPr>
          <p:grpSpPr bwMode="auto">
            <a:xfrm>
              <a:off x="3986" y="426"/>
              <a:ext cx="1533" cy="1308"/>
              <a:chOff x="3766" y="426"/>
              <a:chExt cx="1533" cy="1308"/>
            </a:xfrm>
          </p:grpSpPr>
          <p:sp>
            <p:nvSpPr>
              <p:cNvPr id="152677" name="Freeform 101"/>
              <p:cNvSpPr/>
              <p:nvPr>
                <p:custDataLst>
                  <p:tags r:id="rId69"/>
                </p:custDataLst>
              </p:nvPr>
            </p:nvSpPr>
            <p:spPr bwMode="auto">
              <a:xfrm>
                <a:off x="3766" y="426"/>
                <a:ext cx="1533" cy="1308"/>
              </a:xfrm>
              <a:custGeom>
                <a:avLst/>
                <a:gdLst>
                  <a:gd name="T0" fmla="*/ 0 w 1533"/>
                  <a:gd name="T1" fmla="*/ 1308 h 1308"/>
                  <a:gd name="T2" fmla="*/ 730 w 1533"/>
                  <a:gd name="T3" fmla="*/ 0 h 1308"/>
                  <a:gd name="T4" fmla="*/ 1533 w 1533"/>
                  <a:gd name="T5" fmla="*/ 0 h 1308"/>
                  <a:gd name="T6" fmla="*/ 1533 w 1533"/>
                  <a:gd name="T7" fmla="*/ 1302 h 1308"/>
                  <a:gd name="T8" fmla="*/ 0 w 1533"/>
                  <a:gd name="T9" fmla="*/ 1308 h 1308"/>
                </a:gdLst>
                <a:ahLst/>
                <a:cxnLst>
                  <a:cxn ang="0">
                    <a:pos x="T0" y="T1"/>
                  </a:cxn>
                  <a:cxn ang="0">
                    <a:pos x="T2" y="T3"/>
                  </a:cxn>
                  <a:cxn ang="0">
                    <a:pos x="T4" y="T5"/>
                  </a:cxn>
                  <a:cxn ang="0">
                    <a:pos x="T6" y="T7"/>
                  </a:cxn>
                  <a:cxn ang="0">
                    <a:pos x="T8" y="T9"/>
                  </a:cxn>
                </a:cxnLst>
                <a:rect l="0" t="0" r="r" b="b"/>
                <a:pathLst>
                  <a:path w="1533" h="1308">
                    <a:moveTo>
                      <a:pt x="0" y="1308"/>
                    </a:moveTo>
                    <a:lnTo>
                      <a:pt x="730" y="0"/>
                    </a:lnTo>
                    <a:lnTo>
                      <a:pt x="1533" y="0"/>
                    </a:lnTo>
                    <a:lnTo>
                      <a:pt x="1533" y="1302"/>
                    </a:lnTo>
                    <a:lnTo>
                      <a:pt x="0" y="1308"/>
                    </a:lnTo>
                    <a:close/>
                  </a:path>
                </a:pathLst>
              </a:custGeom>
              <a:solidFill>
                <a:srgbClr val="00FF00">
                  <a:alpha val="50000"/>
                </a:srgbClr>
              </a:solidFill>
              <a:ln w="12700" cap="flat" cmpd="sng">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p>
                <a:endParaRPr lang="zh-CN" altLang="en-US"/>
              </a:p>
            </p:txBody>
          </p:sp>
          <p:sp>
            <p:nvSpPr>
              <p:cNvPr id="152678" name="Text Box 102"/>
              <p:cNvSpPr txBox="1">
                <a:spLocks noChangeArrowheads="1"/>
              </p:cNvSpPr>
              <p:nvPr>
                <p:custDataLst>
                  <p:tags r:id="rId70"/>
                </p:custDataLst>
              </p:nvPr>
            </p:nvSpPr>
            <p:spPr bwMode="auto">
              <a:xfrm>
                <a:off x="4715" y="816"/>
                <a:ext cx="227" cy="173"/>
              </a:xfrm>
              <a:prstGeom prst="rect">
                <a:avLst/>
              </a:prstGeom>
              <a:solidFill>
                <a:schemeClr val="tx1"/>
              </a:solidFill>
              <a:ln>
                <a:noFill/>
              </a:ln>
              <a:effectLst/>
              <a:extLs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spAutoFit/>
              </a:bodyPr>
              <a:p>
                <a:r>
                  <a:rPr kumimoji="1" lang="en-US" altLang="zh-CN" b="1">
                    <a:solidFill>
                      <a:srgbClr val="66FF33"/>
                    </a:solidFill>
                    <a:latin typeface="Times New Roman" panose="02020603050405020304" pitchFamily="18" charset="0"/>
                  </a:rPr>
                  <a:t>Ⅳ</a:t>
                </a:r>
                <a:r>
                  <a:rPr kumimoji="1" lang="en-US" altLang="zh-CN" b="1">
                    <a:solidFill>
                      <a:srgbClr val="66FF33"/>
                    </a:solidFill>
                    <a:latin typeface="Times New Roman" panose="02020603050405020304" pitchFamily="18" charset="0"/>
                    <a:cs typeface="Times New Roman" panose="02020603050405020304" pitchFamily="18" charset="0"/>
                  </a:rPr>
                  <a:t> </a:t>
                </a:r>
                <a:endParaRPr kumimoji="1" lang="ru-RU" altLang="zh-CN" b="1">
                  <a:solidFill>
                    <a:srgbClr val="66FF33"/>
                  </a:solidFill>
                  <a:latin typeface="Times New Roman" panose="02020603050405020304" pitchFamily="18" charset="0"/>
                  <a:cs typeface="Times New Roman" panose="02020603050405020304" pitchFamily="18" charset="0"/>
                </a:endParaRPr>
              </a:p>
            </p:txBody>
          </p:sp>
        </p:grpSp>
      </p:grpSp>
      <p:sp>
        <p:nvSpPr>
          <p:cNvPr id="7" name="文本框 99"/>
          <p:cNvSpPr txBox="1">
            <a:spLocks noChangeArrowheads="1"/>
          </p:cNvSpPr>
          <p:nvPr>
            <p:custDataLst>
              <p:tags r:id="rId71"/>
            </p:custDataLst>
          </p:nvPr>
        </p:nvSpPr>
        <p:spPr bwMode="auto">
          <a:xfrm>
            <a:off x="3519805" y="6199505"/>
            <a:ext cx="55721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华文中宋" panose="02010600040101010101" pitchFamily="2" charset="-122"/>
                <a:hlinkClick r:id="rId72" action="ppaction://hlinksldjump"/>
              </a:rPr>
              <a:t>推荐的</a:t>
            </a:r>
            <a:r>
              <a:rPr lang="zh-CN" altLang="en-US" sz="2000">
                <a:solidFill>
                  <a:srgbClr val="000099"/>
                </a:solidFill>
                <a:latin typeface="华文中宋" panose="02010600040101010101" pitchFamily="2" charset="-122"/>
                <a:hlinkClick r:id="rId72" action="ppaction://hlinksldjump"/>
              </a:rPr>
              <a:t>润滑方法和要求</a:t>
            </a:r>
            <a:r>
              <a:rPr lang="en-US" altLang="zh-CN" sz="2000">
                <a:solidFill>
                  <a:srgbClr val="000099"/>
                </a:solidFill>
                <a:latin typeface="宋体" panose="02010600030101010101" pitchFamily="2" charset="-122"/>
                <a:ea typeface="宋体" panose="02010600030101010101" pitchFamily="2" charset="-122"/>
                <a:hlinkClick r:id="rId72" action="ppaction://hlinksldjump"/>
              </a:rPr>
              <a:t>→</a:t>
            </a:r>
            <a:endParaRPr lang="en-US" altLang="zh-CN" sz="2000">
              <a:solidFill>
                <a:srgbClr val="000099"/>
              </a:solidFill>
              <a:latin typeface="宋体" panose="02010600030101010101" pitchFamily="2" charset="-122"/>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52682"/>
                                        </p:tgtEl>
                                        <p:attrNameLst>
                                          <p:attrName>style.visibility</p:attrName>
                                        </p:attrNameLst>
                                      </p:cBhvr>
                                      <p:to>
                                        <p:strVal val="visible"/>
                                      </p:to>
                                    </p:set>
                                    <p:animEffect transition="in" filter="barn(outVertical)">
                                      <p:cBhvr>
                                        <p:cTn id="17" dur="500"/>
                                        <p:tgtEl>
                                          <p:spTgt spid="15268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5265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15266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15266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15267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7173"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505960" y="274638"/>
            <a:ext cx="4411663"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-5 </a:t>
            </a: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 name="文本框 2"/>
          <p:cNvSpPr txBox="1">
            <a:spLocks noChangeArrowheads="1"/>
          </p:cNvSpPr>
          <p:nvPr/>
        </p:nvSpPr>
        <p:spPr bwMode="auto">
          <a:xfrm>
            <a:off x="467420" y="1263680"/>
            <a:ext cx="2334895" cy="398780"/>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6</a:t>
            </a:r>
            <a:r>
              <a:rPr lang="zh-CN" altLang="en-US" sz="2000" dirty="0">
                <a:solidFill>
                  <a:srgbClr val="000099"/>
                </a:solidFill>
                <a:latin typeface="Times New Roman" panose="02020603050405020304" pitchFamily="18" charset="0"/>
              </a:rPr>
              <a:t>）计算压轴力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P</a:t>
            </a:r>
            <a:endParaRPr lang="en-US" altLang="zh-CN" sz="2000" baseline="-25000" dirty="0">
              <a:solidFill>
                <a:srgbClr val="000099"/>
              </a:solidFill>
              <a:latin typeface="Times New Roman" panose="02020603050405020304" pitchFamily="18" charset="0"/>
            </a:endParaRPr>
          </a:p>
        </p:txBody>
      </p:sp>
      <p:sp>
        <p:nvSpPr>
          <p:cNvPr id="5" name="文本框 4"/>
          <p:cNvSpPr txBox="1">
            <a:spLocks noChangeArrowheads="1"/>
          </p:cNvSpPr>
          <p:nvPr/>
        </p:nvSpPr>
        <p:spPr bwMode="auto">
          <a:xfrm>
            <a:off x="395536" y="1844824"/>
            <a:ext cx="8362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链传动的压轴力按下式计算：</a:t>
            </a:r>
            <a:endParaRPr lang="zh-CN" altLang="en-US" sz="2000">
              <a:solidFill>
                <a:srgbClr val="000099"/>
              </a:solidFill>
              <a:latin typeface="Times New Roman" panose="02020603050405020304" pitchFamily="18" charset="0"/>
            </a:endParaRPr>
          </a:p>
        </p:txBody>
      </p:sp>
      <p:sp>
        <p:nvSpPr>
          <p:cNvPr id="11" name="文本框 10"/>
          <p:cNvSpPr txBox="1">
            <a:spLocks noChangeArrowheads="1"/>
          </p:cNvSpPr>
          <p:nvPr/>
        </p:nvSpPr>
        <p:spPr bwMode="auto">
          <a:xfrm>
            <a:off x="323399" y="2456691"/>
            <a:ext cx="8362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zh-CN" sz="2000" i="1">
                <a:solidFill>
                  <a:srgbClr val="000099"/>
                </a:solidFill>
                <a:latin typeface="Times New Roman" panose="02020603050405020304" pitchFamily="18" charset="0"/>
                <a:sym typeface="宋体" panose="02010600030101010101" pitchFamily="2" charset="-122"/>
              </a:rPr>
              <a:t>K</a:t>
            </a:r>
            <a:r>
              <a:rPr lang="zh-CN" altLang="zh-CN" sz="2000" i="1" baseline="-25000">
                <a:solidFill>
                  <a:srgbClr val="000099"/>
                </a:solidFill>
                <a:latin typeface="Times New Roman" panose="02020603050405020304" pitchFamily="18" charset="0"/>
                <a:sym typeface="宋体" panose="02010600030101010101" pitchFamily="2" charset="-122"/>
              </a:rPr>
              <a:t>FP</a:t>
            </a:r>
            <a:r>
              <a:rPr lang="zh-CN" altLang="en-US" sz="2000">
                <a:solidFill>
                  <a:srgbClr val="000099"/>
                </a:solidFill>
                <a:latin typeface="Times New Roman" panose="02020603050405020304" pitchFamily="18" charset="0"/>
                <a:sym typeface="宋体" panose="02010600030101010101" pitchFamily="2" charset="-122"/>
              </a:rPr>
              <a:t>为压轴力系数，对于水平传动</a:t>
            </a:r>
            <a:r>
              <a:rPr lang="zh-CN" altLang="zh-CN" sz="2000" i="1">
                <a:solidFill>
                  <a:srgbClr val="000099"/>
                </a:solidFill>
                <a:latin typeface="Times New Roman" panose="02020603050405020304" pitchFamily="18" charset="0"/>
                <a:sym typeface="宋体" panose="02010600030101010101" pitchFamily="2" charset="-122"/>
              </a:rPr>
              <a:t>K</a:t>
            </a:r>
            <a:r>
              <a:rPr lang="zh-CN" altLang="zh-CN" sz="2000" i="1" baseline="-25000">
                <a:solidFill>
                  <a:srgbClr val="000099"/>
                </a:solidFill>
                <a:latin typeface="Times New Roman" panose="02020603050405020304" pitchFamily="18" charset="0"/>
                <a:sym typeface="宋体" panose="02010600030101010101" pitchFamily="2" charset="-122"/>
              </a:rPr>
              <a:t>FP</a:t>
            </a:r>
            <a:r>
              <a:rPr lang="zh-CN" altLang="zh-CN" sz="2000">
                <a:solidFill>
                  <a:srgbClr val="000099"/>
                </a:solidFill>
                <a:latin typeface="Times New Roman" panose="02020603050405020304" pitchFamily="18" charset="0"/>
                <a:sym typeface="宋体" panose="02010600030101010101" pitchFamily="2" charset="-122"/>
              </a:rPr>
              <a:t>=1.15,</a:t>
            </a:r>
            <a:r>
              <a:rPr lang="zh-CN" altLang="en-US" sz="2000">
                <a:solidFill>
                  <a:srgbClr val="000099"/>
                </a:solidFill>
                <a:latin typeface="Times New Roman" panose="02020603050405020304" pitchFamily="18" charset="0"/>
                <a:sym typeface="宋体" panose="02010600030101010101" pitchFamily="2" charset="-122"/>
              </a:rPr>
              <a:t>对于垂直传动</a:t>
            </a:r>
            <a:r>
              <a:rPr lang="zh-CN" altLang="zh-CN" sz="2000" i="1">
                <a:solidFill>
                  <a:srgbClr val="000099"/>
                </a:solidFill>
                <a:latin typeface="Times New Roman" panose="02020603050405020304" pitchFamily="18" charset="0"/>
                <a:sym typeface="宋体" panose="02010600030101010101" pitchFamily="2" charset="-122"/>
              </a:rPr>
              <a:t>K</a:t>
            </a:r>
            <a:r>
              <a:rPr lang="zh-CN" altLang="zh-CN" sz="2000" i="1" baseline="-25000">
                <a:solidFill>
                  <a:srgbClr val="000099"/>
                </a:solidFill>
                <a:latin typeface="Times New Roman" panose="02020603050405020304" pitchFamily="18" charset="0"/>
                <a:sym typeface="宋体" panose="02010600030101010101" pitchFamily="2" charset="-122"/>
              </a:rPr>
              <a:t>FP</a:t>
            </a:r>
            <a:r>
              <a:rPr lang="zh-CN" altLang="zh-CN" sz="2000">
                <a:solidFill>
                  <a:srgbClr val="000099"/>
                </a:solidFill>
                <a:latin typeface="Times New Roman" panose="02020603050405020304" pitchFamily="18" charset="0"/>
                <a:sym typeface="宋体" panose="02010600030101010101" pitchFamily="2" charset="-122"/>
              </a:rPr>
              <a:t>=1.05</a:t>
            </a:r>
            <a:endParaRPr lang="zh-CN" altLang="zh-CN" sz="2000">
              <a:solidFill>
                <a:srgbClr val="000099"/>
              </a:solidFill>
              <a:latin typeface="Times New Roman" panose="02020603050405020304" pitchFamily="18" charset="0"/>
              <a:sym typeface="宋体" panose="02010600030101010101" pitchFamily="2" charset="-122"/>
            </a:endParaRPr>
          </a:p>
        </p:txBody>
      </p:sp>
      <p:sp>
        <p:nvSpPr>
          <p:cNvPr id="2" name="文本框 1"/>
          <p:cNvSpPr txBox="1">
            <a:spLocks noChangeArrowheads="1"/>
          </p:cNvSpPr>
          <p:nvPr/>
        </p:nvSpPr>
        <p:spPr bwMode="auto">
          <a:xfrm>
            <a:off x="467420" y="3210173"/>
            <a:ext cx="5643563" cy="398463"/>
          </a:xfrm>
          <a:prstGeom prst="rect">
            <a:avLst/>
          </a:prstGeom>
          <a:solidFill>
            <a:schemeClr val="tx2">
              <a:lumMod val="20000"/>
              <a:lumOff val="80000"/>
            </a:schemeClr>
          </a:solidFill>
          <a:ln>
            <a:noFill/>
          </a:ln>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7</a:t>
            </a:r>
            <a:r>
              <a:rPr lang="zh-CN" altLang="en-US" sz="2000" dirty="0">
                <a:solidFill>
                  <a:srgbClr val="000099"/>
                </a:solidFill>
                <a:latin typeface="Times New Roman" panose="02020603050405020304" pitchFamily="18" charset="0"/>
              </a:rPr>
              <a:t>）计算链轮端面和轴面尺寸，绘制链轮工作图</a:t>
            </a:r>
            <a:endParaRPr lang="zh-CN" altLang="en-US" sz="2000" dirty="0">
              <a:solidFill>
                <a:srgbClr val="000099"/>
              </a:solidFill>
              <a:latin typeface="Times New Roman" panose="02020603050405020304" pitchFamily="18" charset="0"/>
            </a:endParaRPr>
          </a:p>
        </p:txBody>
      </p:sp>
      <p:graphicFrame>
        <p:nvGraphicFramePr>
          <p:cNvPr id="72713" name="对象 -2147482595"/>
          <p:cNvGraphicFramePr>
            <a:graphicFrameLocks noChangeAspect="1"/>
          </p:cNvGraphicFramePr>
          <p:nvPr/>
        </p:nvGraphicFramePr>
        <p:xfrm>
          <a:off x="4756676" y="1845578"/>
          <a:ext cx="1354138" cy="458788"/>
        </p:xfrm>
        <a:graphic>
          <a:graphicData uri="http://schemas.openxmlformats.org/presentationml/2006/ole">
            <mc:AlternateContent xmlns:mc="http://schemas.openxmlformats.org/markup-compatibility/2006">
              <mc:Choice xmlns:v="urn:schemas-microsoft-com:vml" Requires="v">
                <p:oleObj spid="_x0000_s7251" name="" r:id="rId4" imgW="711200" imgH="241300" progId="Equation.KSEE3">
                  <p:embed/>
                </p:oleObj>
              </mc:Choice>
              <mc:Fallback>
                <p:oleObj name="" r:id="rId4" imgW="711200" imgH="241300" progId="Equation.KSEE3">
                  <p:embed/>
                  <p:pic>
                    <p:nvPicPr>
                      <p:cNvPr id="0" name="对象 -21474825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6676" y="1845578"/>
                        <a:ext cx="135413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文本框 7"/>
          <p:cNvSpPr txBox="1">
            <a:spLocks noChangeArrowheads="1"/>
          </p:cNvSpPr>
          <p:nvPr/>
        </p:nvSpPr>
        <p:spPr bwMode="auto">
          <a:xfrm>
            <a:off x="323404" y="4159111"/>
            <a:ext cx="2773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、低速链传动设计</a:t>
            </a:r>
            <a:endParaRPr lang="en-US" altLang="zh-CN" sz="2400" dirty="0">
              <a:solidFill>
                <a:srgbClr val="0000FF"/>
              </a:solidFill>
              <a:latin typeface="黑体" panose="02010609060101010101" pitchFamily="49" charset="-122"/>
              <a:ea typeface="黑体" panose="02010609060101010101" pitchFamily="49" charset="-122"/>
            </a:endParaRPr>
          </a:p>
        </p:txBody>
      </p:sp>
      <p:sp>
        <p:nvSpPr>
          <p:cNvPr id="6" name="文本框 5"/>
          <p:cNvSpPr txBox="1">
            <a:spLocks noChangeArrowheads="1"/>
          </p:cNvSpPr>
          <p:nvPr/>
        </p:nvSpPr>
        <p:spPr bwMode="auto">
          <a:xfrm>
            <a:off x="395918" y="4650849"/>
            <a:ext cx="8362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对于链速</a:t>
            </a:r>
            <a:r>
              <a:rPr lang="zh-CN" altLang="en-US" sz="2000" i="1" dirty="0">
                <a:solidFill>
                  <a:srgbClr val="000099"/>
                </a:solidFill>
                <a:latin typeface="Times New Roman" panose="02020603050405020304" pitchFamily="18" charset="0"/>
              </a:rPr>
              <a:t>v</a:t>
            </a:r>
            <a:r>
              <a:rPr lang="zh-CN" altLang="en-US" sz="2000" dirty="0">
                <a:solidFill>
                  <a:srgbClr val="000099"/>
                </a:solidFill>
                <a:latin typeface="Times New Roman" panose="02020603050405020304" pitchFamily="18" charset="0"/>
              </a:rPr>
              <a:t>≤0.6m/s的低速链传动，主要失效形式是因抗拉静力强度不够而过载拉断，故应按静强度计算，链条的静强度计算式为</a:t>
            </a:r>
            <a:endParaRPr lang="zh-CN" altLang="en-US" sz="2000" dirty="0">
              <a:solidFill>
                <a:srgbClr val="000099"/>
              </a:solidFill>
              <a:latin typeface="Times New Roman" panose="02020603050405020304" pitchFamily="18" charset="0"/>
            </a:endParaRPr>
          </a:p>
        </p:txBody>
      </p:sp>
      <p:graphicFrame>
        <p:nvGraphicFramePr>
          <p:cNvPr id="72716" name="对象 -2147482589"/>
          <p:cNvGraphicFramePr>
            <a:graphicFrameLocks noChangeAspect="1"/>
          </p:cNvGraphicFramePr>
          <p:nvPr/>
        </p:nvGraphicFramePr>
        <p:xfrm>
          <a:off x="2802399" y="5763483"/>
          <a:ext cx="2265362" cy="827087"/>
        </p:xfrm>
        <a:graphic>
          <a:graphicData uri="http://schemas.openxmlformats.org/presentationml/2006/ole">
            <mc:AlternateContent xmlns:mc="http://schemas.openxmlformats.org/markup-compatibility/2006">
              <mc:Choice xmlns:v="urn:schemas-microsoft-com:vml" Requires="v">
                <p:oleObj spid="_x0000_s7252" name="" r:id="rId6" imgW="1180465" imgH="431800" progId="Equation.3">
                  <p:embed/>
                </p:oleObj>
              </mc:Choice>
              <mc:Fallback>
                <p:oleObj name="" r:id="rId6" imgW="1180465" imgH="431800" progId="Equation.3">
                  <p:embed/>
                  <p:pic>
                    <p:nvPicPr>
                      <p:cNvPr id="0" name="对象 -214748258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2399" y="5763483"/>
                        <a:ext cx="2265362" cy="82708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8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2713"/>
                                        </p:tgtEl>
                                        <p:attrNameLst>
                                          <p:attrName>style.visibility</p:attrName>
                                        </p:attrNameLst>
                                      </p:cBhvr>
                                      <p:to>
                                        <p:strVal val="visible"/>
                                      </p:to>
                                    </p:set>
                                    <p:animEffect transition="in" filter="wipe(left)">
                                      <p:cBhvr>
                                        <p:cTn id="16" dur="500"/>
                                        <p:tgtEl>
                                          <p:spTgt spid="727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72716"/>
                                        </p:tgtEl>
                                        <p:attrNameLst>
                                          <p:attrName>style.visibility</p:attrName>
                                        </p:attrNameLst>
                                      </p:cBhvr>
                                      <p:to>
                                        <p:strVal val="visible"/>
                                      </p:to>
                                    </p:set>
                                    <p:animEffect transition="in" filter="wipe(left)">
                                      <p:cBhvr>
                                        <p:cTn id="40" dur="500"/>
                                        <p:tgtEl>
                                          <p:spTgt spid="72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11" grpId="0"/>
      <p:bldP spid="2" grpId="0" bldLvl="0" animBg="1"/>
      <p:bldP spid="8"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36"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3071813" y="271463"/>
            <a:ext cx="6070600" cy="490537"/>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-6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链传动的布置、张紧、润滑</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0250" name="文本框 10249"/>
          <p:cNvSpPr txBox="1">
            <a:spLocks noChangeArrowheads="1"/>
          </p:cNvSpPr>
          <p:nvPr/>
        </p:nvSpPr>
        <p:spPr bwMode="auto">
          <a:xfrm>
            <a:off x="303213" y="1066800"/>
            <a:ext cx="262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FF0000"/>
                </a:solidFill>
                <a:latin typeface="黑体" panose="02010609060101010101" pitchFamily="49" charset="-122"/>
                <a:ea typeface="黑体" panose="02010609060101010101" pitchFamily="49" charset="-122"/>
              </a:rPr>
              <a:t>一、链传动的布置</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0251" name="文本框 10250"/>
          <p:cNvSpPr txBox="1">
            <a:spLocks noChangeArrowheads="1"/>
          </p:cNvSpPr>
          <p:nvPr/>
        </p:nvSpPr>
        <p:spPr bwMode="auto">
          <a:xfrm>
            <a:off x="560070" y="1790700"/>
            <a:ext cx="8182610" cy="23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marL="342900" indent="-342900" eaLnBrk="1" hangingPunct="1">
              <a:lnSpc>
                <a:spcPct val="120000"/>
              </a:lnSpc>
              <a:buFont typeface="Wingdings" panose="05000000000000000000" charset="0"/>
              <a:buChar char="l"/>
            </a:pPr>
            <a:r>
              <a:rPr lang="zh-CN" altLang="en-US" sz="2400" dirty="0">
                <a:solidFill>
                  <a:srgbClr val="000099"/>
                </a:solidFill>
                <a:latin typeface="Times New Roman" panose="02020603050405020304" pitchFamily="18" charset="0"/>
              </a:rPr>
              <a:t>链传动</a:t>
            </a:r>
            <a:r>
              <a:rPr lang="zh-CN" altLang="en-US" sz="2400" dirty="0" smtClean="0">
                <a:solidFill>
                  <a:srgbClr val="000099"/>
                </a:solidFill>
                <a:latin typeface="Times New Roman" panose="02020603050405020304" pitchFamily="18" charset="0"/>
              </a:rPr>
              <a:t>一般链轮应</a:t>
            </a:r>
            <a:r>
              <a:rPr lang="zh-CN" altLang="en-US" sz="2400" dirty="0">
                <a:solidFill>
                  <a:srgbClr val="000099"/>
                </a:solidFill>
                <a:latin typeface="Times New Roman" panose="02020603050405020304" pitchFamily="18" charset="0"/>
              </a:rPr>
              <a:t>布置在铅垂平面内，两轴平行且在同一     水平面内；</a:t>
            </a:r>
            <a:endParaRPr lang="zh-CN" altLang="en-US" sz="2400" dirty="0">
              <a:solidFill>
                <a:srgbClr val="000099"/>
              </a:solidFill>
              <a:latin typeface="Times New Roman" panose="02020603050405020304" pitchFamily="18" charset="0"/>
            </a:endParaRPr>
          </a:p>
          <a:p>
            <a:pPr marL="342900" indent="-342900" eaLnBrk="1" hangingPunct="1">
              <a:lnSpc>
                <a:spcPct val="120000"/>
              </a:lnSpc>
              <a:buFont typeface="Wingdings" panose="05000000000000000000" charset="0"/>
              <a:buChar char="l"/>
            </a:pPr>
            <a:r>
              <a:rPr lang="zh-CN" altLang="en-US" sz="2400" dirty="0">
                <a:solidFill>
                  <a:srgbClr val="000099"/>
                </a:solidFill>
                <a:latin typeface="Times New Roman" panose="02020603050405020304" pitchFamily="18" charset="0"/>
              </a:rPr>
              <a:t>链传动的紧边在上方或在下方都可以，但在上方好一些 ；</a:t>
            </a:r>
            <a:endParaRPr lang="zh-CN" altLang="en-US" sz="2400" dirty="0">
              <a:solidFill>
                <a:srgbClr val="000099"/>
              </a:solidFill>
              <a:latin typeface="Times New Roman" panose="02020603050405020304" pitchFamily="18" charset="0"/>
            </a:endParaRPr>
          </a:p>
          <a:p>
            <a:pPr marL="342900" indent="-342900" eaLnBrk="1" hangingPunct="1">
              <a:lnSpc>
                <a:spcPct val="120000"/>
              </a:lnSpc>
              <a:buFont typeface="Wingdings" panose="05000000000000000000" charset="0"/>
              <a:buChar char="l"/>
            </a:pPr>
            <a:r>
              <a:rPr lang="zh-CN" altLang="en-US" sz="2400" dirty="0">
                <a:solidFill>
                  <a:srgbClr val="000099"/>
                </a:solidFill>
                <a:latin typeface="Times New Roman" panose="02020603050405020304" pitchFamily="18" charset="0"/>
              </a:rPr>
              <a:t>应尽量保持链传动的两个链轮共面，否则工作中容易脱链 。</a:t>
            </a:r>
            <a:endParaRPr lang="zh-CN" altLang="en-US" sz="2400" dirty="0">
              <a:solidFill>
                <a:srgbClr val="000099"/>
              </a:solidFill>
              <a:latin typeface="Times New Roman" panose="02020603050405020304" pitchFamily="18" charset="0"/>
            </a:endParaRPr>
          </a:p>
        </p:txBody>
      </p:sp>
      <p:sp>
        <p:nvSpPr>
          <p:cNvPr id="10254" name="文本框 10253"/>
          <p:cNvSpPr txBox="1">
            <a:spLocks noChangeArrowheads="1"/>
          </p:cNvSpPr>
          <p:nvPr/>
        </p:nvSpPr>
        <p:spPr bwMode="auto">
          <a:xfrm>
            <a:off x="303213" y="4360545"/>
            <a:ext cx="262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FF0000"/>
                </a:solidFill>
                <a:latin typeface="黑体" panose="02010609060101010101" pitchFamily="49" charset="-122"/>
                <a:ea typeface="黑体" panose="02010609060101010101" pitchFamily="49" charset="-122"/>
              </a:rPr>
              <a:t>二、链传动的张紧</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0255" name="文本框 10254"/>
          <p:cNvSpPr txBox="1">
            <a:spLocks noChangeArrowheads="1"/>
          </p:cNvSpPr>
          <p:nvPr/>
        </p:nvSpPr>
        <p:spPr bwMode="auto">
          <a:xfrm>
            <a:off x="469900" y="4820920"/>
            <a:ext cx="820483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sz="2400" dirty="0">
                <a:solidFill>
                  <a:srgbClr val="000099"/>
                </a:solidFill>
                <a:latin typeface="Times New Roman" panose="02020603050405020304" pitchFamily="18" charset="0"/>
              </a:rPr>
              <a:t>链传动张紧的目的，主要是为了避免在链条的垂度过大时产生啮合不良和链条的振动现象；同时也为了增加链条与链轮的啮合包角。</a:t>
            </a:r>
            <a:endParaRPr lang="zh-CN" altLang="en-US" sz="2400" dirty="0">
              <a:solidFill>
                <a:srgbClr val="000099"/>
              </a:solidFill>
              <a:latin typeface="Times New Roman" panose="02020603050405020304" pitchFamily="18" charset="0"/>
            </a:endParaRPr>
          </a:p>
        </p:txBody>
      </p:sp>
      <p:sp>
        <p:nvSpPr>
          <p:cNvPr id="43022"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50"/>
                                        </p:tgtEl>
                                        <p:attrNameLst>
                                          <p:attrName>style.visibility</p:attrName>
                                        </p:attrNameLst>
                                      </p:cBhvr>
                                      <p:to>
                                        <p:strVal val="visible"/>
                                      </p:to>
                                    </p:set>
                                    <p:animEffect transition="in" filter="wipe(left)">
                                      <p:cBhvr>
                                        <p:cTn id="7" dur="500"/>
                                        <p:tgtEl>
                                          <p:spTgt spid="10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51"/>
                                        </p:tgtEl>
                                        <p:attrNameLst>
                                          <p:attrName>style.visibility</p:attrName>
                                        </p:attrNameLst>
                                      </p:cBhvr>
                                      <p:to>
                                        <p:strVal val="visible"/>
                                      </p:to>
                                    </p:set>
                                    <p:animEffect transition="in" filter="wipe(left)">
                                      <p:cBhvr>
                                        <p:cTn id="12" dur="500"/>
                                        <p:tgtEl>
                                          <p:spTgt spid="102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54"/>
                                        </p:tgtEl>
                                        <p:attrNameLst>
                                          <p:attrName>style.visibility</p:attrName>
                                        </p:attrNameLst>
                                      </p:cBhvr>
                                      <p:to>
                                        <p:strVal val="visible"/>
                                      </p:to>
                                    </p:set>
                                    <p:animEffect transition="in" filter="wipe(left)">
                                      <p:cBhvr>
                                        <p:cTn id="17" dur="500"/>
                                        <p:tgtEl>
                                          <p:spTgt spid="102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55"/>
                                        </p:tgtEl>
                                        <p:attrNameLst>
                                          <p:attrName>style.visibility</p:attrName>
                                        </p:attrNameLst>
                                      </p:cBhvr>
                                      <p:to>
                                        <p:strVal val="visible"/>
                                      </p:to>
                                    </p:set>
                                    <p:animEffect transition="in" filter="wipe(left)">
                                      <p:cBhvr>
                                        <p:cTn id="22" dur="500"/>
                                        <p:tgtEl>
                                          <p:spTgt spid="10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 grpId="0"/>
      <p:bldP spid="10251" grpId="0"/>
      <p:bldP spid="10254" grpId="0"/>
      <p:bldP spid="1025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099" name="Object 6"/>
          <p:cNvGraphicFramePr>
            <a:graphicFrameLocks noChangeAspect="1"/>
          </p:cNvGraphicFramePr>
          <p:nvPr/>
        </p:nvGraphicFramePr>
        <p:xfrm>
          <a:off x="840423" y="189548"/>
          <a:ext cx="2546350" cy="3286125"/>
        </p:xfrm>
        <a:graphic>
          <a:graphicData uri="http://schemas.openxmlformats.org/presentationml/2006/ole">
            <mc:AlternateContent xmlns:mc="http://schemas.openxmlformats.org/markup-compatibility/2006">
              <mc:Choice xmlns:v="urn:schemas-microsoft-com:vml" Requires="v">
                <p:oleObj spid="_x0000_s3076" name="" r:id="rId1" imgW="2733675" imgH="3362325" progId="Paint.Picture">
                  <p:embed/>
                </p:oleObj>
              </mc:Choice>
              <mc:Fallback>
                <p:oleObj name="" r:id="rId1" imgW="2733675" imgH="3362325" progId="Paint.Picture">
                  <p:embed/>
                  <p:pic>
                    <p:nvPicPr>
                      <p:cNvPr id="0" name="图片 3075"/>
                      <p:cNvPicPr/>
                      <p:nvPr/>
                    </p:nvPicPr>
                    <p:blipFill>
                      <a:blip r:embed="rId2"/>
                      <a:srcRect/>
                      <a:stretch>
                        <a:fillRect/>
                      </a:stretch>
                    </p:blipFill>
                    <p:spPr>
                      <a:xfrm>
                        <a:off x="840423" y="189548"/>
                        <a:ext cx="2546350" cy="3286125"/>
                      </a:xfrm>
                      <a:prstGeom prst="rect">
                        <a:avLst/>
                      </a:prstGeom>
                      <a:noFill/>
                      <a:ln w="38100">
                        <a:miter/>
                      </a:ln>
                    </p:spPr>
                  </p:pic>
                </p:oleObj>
              </mc:Fallback>
            </mc:AlternateContent>
          </a:graphicData>
        </a:graphic>
      </p:graphicFrame>
      <p:graphicFrame>
        <p:nvGraphicFramePr>
          <p:cNvPr id="5124" name="Object 7"/>
          <p:cNvGraphicFramePr>
            <a:graphicFrameLocks noChangeAspect="1"/>
          </p:cNvGraphicFramePr>
          <p:nvPr/>
        </p:nvGraphicFramePr>
        <p:xfrm>
          <a:off x="5491798" y="189865"/>
          <a:ext cx="2549525" cy="3149600"/>
        </p:xfrm>
        <a:graphic>
          <a:graphicData uri="http://schemas.openxmlformats.org/presentationml/2006/ole">
            <mc:AlternateContent xmlns:mc="http://schemas.openxmlformats.org/markup-compatibility/2006">
              <mc:Choice xmlns:v="urn:schemas-microsoft-com:vml" Requires="v">
                <p:oleObj spid="_x0000_s3078" name="" r:id="rId3" imgW="2743200" imgH="3324225" progId="Paint.Picture">
                  <p:embed/>
                </p:oleObj>
              </mc:Choice>
              <mc:Fallback>
                <p:oleObj name="" r:id="rId3" imgW="2743200" imgH="3324225" progId="Paint.Picture">
                  <p:embed/>
                  <p:pic>
                    <p:nvPicPr>
                      <p:cNvPr id="0" name="图片 3077"/>
                      <p:cNvPicPr/>
                      <p:nvPr/>
                    </p:nvPicPr>
                    <p:blipFill>
                      <a:blip r:embed="rId4"/>
                      <a:srcRect/>
                      <a:stretch>
                        <a:fillRect/>
                      </a:stretch>
                    </p:blipFill>
                    <p:spPr>
                      <a:xfrm>
                        <a:off x="5491798" y="189865"/>
                        <a:ext cx="2549525" cy="3149600"/>
                      </a:xfrm>
                      <a:prstGeom prst="rect">
                        <a:avLst/>
                      </a:prstGeom>
                      <a:noFill/>
                      <a:ln w="38100">
                        <a:miter/>
                      </a:ln>
                    </p:spPr>
                  </p:pic>
                </p:oleObj>
              </mc:Fallback>
            </mc:AlternateContent>
          </a:graphicData>
        </a:graphic>
      </p:graphicFrame>
      <p:graphicFrame>
        <p:nvGraphicFramePr>
          <p:cNvPr id="6148" name="Object 7"/>
          <p:cNvGraphicFramePr>
            <a:graphicFrameLocks noChangeAspect="1"/>
          </p:cNvGraphicFramePr>
          <p:nvPr/>
        </p:nvGraphicFramePr>
        <p:xfrm>
          <a:off x="968693" y="3571240"/>
          <a:ext cx="3200400" cy="2981325"/>
        </p:xfrm>
        <a:graphic>
          <a:graphicData uri="http://schemas.openxmlformats.org/presentationml/2006/ole">
            <mc:AlternateContent xmlns:mc="http://schemas.openxmlformats.org/markup-compatibility/2006">
              <mc:Choice xmlns:v="urn:schemas-microsoft-com:vml" Requires="v">
                <p:oleObj spid="_x0000_s3081" name="" r:id="rId5" imgW="3200400" imgH="2981325" progId="Paint.Picture">
                  <p:embed/>
                </p:oleObj>
              </mc:Choice>
              <mc:Fallback>
                <p:oleObj name="" r:id="rId5" imgW="3200400" imgH="2981325" progId="Paint.Picture">
                  <p:embed/>
                  <p:pic>
                    <p:nvPicPr>
                      <p:cNvPr id="0" name="图片 3080"/>
                      <p:cNvPicPr/>
                      <p:nvPr/>
                    </p:nvPicPr>
                    <p:blipFill>
                      <a:blip r:embed="rId6"/>
                      <a:srcRect/>
                      <a:stretch>
                        <a:fillRect/>
                      </a:stretch>
                    </p:blipFill>
                    <p:spPr>
                      <a:xfrm>
                        <a:off x="968693" y="3571240"/>
                        <a:ext cx="3200400" cy="2981325"/>
                      </a:xfrm>
                      <a:prstGeom prst="rect">
                        <a:avLst/>
                      </a:prstGeom>
                      <a:noFill/>
                      <a:ln w="38100">
                        <a:miter/>
                      </a:ln>
                    </p:spPr>
                  </p:pic>
                </p:oleObj>
              </mc:Fallback>
            </mc:AlternateContent>
          </a:graphicData>
        </a:graphic>
      </p:graphicFrame>
      <p:graphicFrame>
        <p:nvGraphicFramePr>
          <p:cNvPr id="7171" name="Object 5"/>
          <p:cNvGraphicFramePr>
            <a:graphicFrameLocks noChangeAspect="1"/>
          </p:cNvGraphicFramePr>
          <p:nvPr/>
        </p:nvGraphicFramePr>
        <p:xfrm>
          <a:off x="5323840" y="3267710"/>
          <a:ext cx="3257550" cy="3360738"/>
        </p:xfrm>
        <a:graphic>
          <a:graphicData uri="http://schemas.openxmlformats.org/presentationml/2006/ole">
            <mc:AlternateContent xmlns:mc="http://schemas.openxmlformats.org/markup-compatibility/2006">
              <mc:Choice xmlns:v="urn:schemas-microsoft-com:vml" Requires="v">
                <p:oleObj spid="_x0000_s3080" name="" r:id="rId7" imgW="3314700" imgH="3419475" progId="Paint.Picture">
                  <p:embed/>
                </p:oleObj>
              </mc:Choice>
              <mc:Fallback>
                <p:oleObj name="" r:id="rId7" imgW="3314700" imgH="3419475" progId="Paint.Picture">
                  <p:embed/>
                  <p:pic>
                    <p:nvPicPr>
                      <p:cNvPr id="0" name="图片 3079"/>
                      <p:cNvPicPr/>
                      <p:nvPr/>
                    </p:nvPicPr>
                    <p:blipFill>
                      <a:blip r:embed="rId8"/>
                      <a:srcRect/>
                      <a:stretch>
                        <a:fillRect/>
                      </a:stretch>
                    </p:blipFill>
                    <p:spPr>
                      <a:xfrm>
                        <a:off x="5323840" y="3267710"/>
                        <a:ext cx="3257550" cy="3360738"/>
                      </a:xfrm>
                      <a:prstGeom prst="rect">
                        <a:avLst/>
                      </a:prstGeom>
                      <a:noFill/>
                      <a:ln w="38100">
                        <a:miter/>
                      </a:ln>
                    </p:spPr>
                  </p:pic>
                </p:oleObj>
              </mc:Fallback>
            </mc:AlternateContent>
          </a:graphicData>
        </a:graphic>
      </p:graphicFrame>
      <p:sp>
        <p:nvSpPr>
          <p:cNvPr id="4" name="文本框 3"/>
          <p:cNvSpPr txBox="1"/>
          <p:nvPr/>
        </p:nvSpPr>
        <p:spPr>
          <a:xfrm>
            <a:off x="233045" y="1002030"/>
            <a:ext cx="525780" cy="2122805"/>
          </a:xfrm>
          <a:prstGeom prst="rect">
            <a:avLst/>
          </a:prstGeom>
          <a:noFill/>
        </p:spPr>
        <p:txBody>
          <a:bodyPr wrap="square" rtlCol="0" anchor="t">
            <a:spAutoFit/>
          </a:bodyPr>
          <a:p>
            <a:r>
              <a:rPr lang="zh-CN" altLang="en-US" dirty="0">
                <a:solidFill>
                  <a:srgbClr val="000099"/>
                </a:solidFill>
                <a:latin typeface="Times New Roman" panose="02020603050405020304" pitchFamily="18" charset="0"/>
                <a:sym typeface="+mn-ea"/>
              </a:rPr>
              <a:t>弹簧自动张紧</a:t>
            </a:r>
            <a:endParaRPr lang="zh-CN" altLang="en-US"/>
          </a:p>
        </p:txBody>
      </p:sp>
      <p:sp>
        <p:nvSpPr>
          <p:cNvPr id="5" name="文本框 4"/>
          <p:cNvSpPr txBox="1"/>
          <p:nvPr/>
        </p:nvSpPr>
        <p:spPr>
          <a:xfrm>
            <a:off x="4983480" y="525780"/>
            <a:ext cx="340360" cy="2122805"/>
          </a:xfrm>
          <a:prstGeom prst="rect">
            <a:avLst/>
          </a:prstGeom>
          <a:noFill/>
        </p:spPr>
        <p:txBody>
          <a:bodyPr wrap="square" rtlCol="0" anchor="t">
            <a:spAutoFit/>
          </a:bodyPr>
          <a:p>
            <a:pPr algn="l">
              <a:spcBef>
                <a:spcPct val="50000"/>
              </a:spcBef>
            </a:pPr>
            <a:r>
              <a:rPr lang="zh-CN" altLang="en-US" b="1" dirty="0">
                <a:latin typeface="Times New Roman" panose="02020603050405020304" pitchFamily="18" charset="0"/>
                <a:sym typeface="+mn-ea"/>
              </a:rPr>
              <a:t>挂重自动张紧</a:t>
            </a:r>
            <a:endParaRPr lang="zh-CN" altLang="en-US"/>
          </a:p>
        </p:txBody>
      </p:sp>
      <p:sp>
        <p:nvSpPr>
          <p:cNvPr id="6" name="文本框 5"/>
          <p:cNvSpPr txBox="1"/>
          <p:nvPr/>
        </p:nvSpPr>
        <p:spPr>
          <a:xfrm flipH="1">
            <a:off x="323850" y="3806190"/>
            <a:ext cx="645160" cy="2122805"/>
          </a:xfrm>
          <a:prstGeom prst="rect">
            <a:avLst/>
          </a:prstGeom>
          <a:noFill/>
        </p:spPr>
        <p:txBody>
          <a:bodyPr wrap="square" rtlCol="0" anchor="t">
            <a:spAutoFit/>
          </a:bodyPr>
          <a:p>
            <a:r>
              <a:rPr lang="zh-CN" altLang="en-US" b="1" dirty="0">
                <a:latin typeface="Times New Roman" panose="02020603050405020304" pitchFamily="18" charset="0"/>
                <a:sym typeface="+mn-ea"/>
              </a:rPr>
              <a:t>螺旋调节张紧</a:t>
            </a:r>
            <a:endParaRPr lang="zh-CN" altLang="en-US"/>
          </a:p>
        </p:txBody>
      </p:sp>
      <p:sp>
        <p:nvSpPr>
          <p:cNvPr id="7" name="文本框 6"/>
          <p:cNvSpPr txBox="1"/>
          <p:nvPr/>
        </p:nvSpPr>
        <p:spPr>
          <a:xfrm>
            <a:off x="4590415" y="4339590"/>
            <a:ext cx="657860" cy="1445260"/>
          </a:xfrm>
          <a:prstGeom prst="rect">
            <a:avLst/>
          </a:prstGeom>
          <a:noFill/>
        </p:spPr>
        <p:txBody>
          <a:bodyPr wrap="square" rtlCol="0" anchor="t">
            <a:spAutoFit/>
          </a:bodyPr>
          <a:p>
            <a:r>
              <a:rPr lang="zh-CN" altLang="en-US" b="1" dirty="0">
                <a:latin typeface="Times New Roman" panose="02020603050405020304" pitchFamily="18" charset="0"/>
                <a:sym typeface="+mn-ea"/>
              </a:rPr>
              <a:t>定期张紧</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50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3143250" y="200025"/>
            <a:ext cx="5999163" cy="490538"/>
          </a:xfrm>
          <a:ln>
            <a:miter lim="800000"/>
          </a:ln>
        </p:spPr>
        <p:txBody>
          <a:bodyPr vert="horz" wrap="square" lIns="91440" tIns="45720" rIns="91440" bIns="45720" numCol="1" anchor="t" anchorCtr="0" compatLnSpc="1"/>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-6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链传动的布置、张紧、润滑</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13318" name="文本框 13317"/>
          <p:cNvSpPr txBox="1">
            <a:spLocks noChangeArrowheads="1"/>
          </p:cNvSpPr>
          <p:nvPr/>
        </p:nvSpPr>
        <p:spPr bwMode="auto">
          <a:xfrm>
            <a:off x="266700" y="690563"/>
            <a:ext cx="24416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FF0000"/>
                </a:solidFill>
                <a:latin typeface="黑体" panose="02010609060101010101" pitchFamily="49" charset="-122"/>
                <a:ea typeface="黑体" panose="02010609060101010101" pitchFamily="49" charset="-122"/>
              </a:rPr>
              <a:t>三、链传动的润滑</a:t>
            </a:r>
            <a:endParaRPr lang="zh-CN" altLang="en-US" dirty="0">
              <a:solidFill>
                <a:srgbClr val="FF0000"/>
              </a:solidFill>
              <a:latin typeface="黑体" panose="02010609060101010101" pitchFamily="49" charset="-122"/>
              <a:ea typeface="黑体" panose="02010609060101010101" pitchFamily="49" charset="-122"/>
            </a:endParaRPr>
          </a:p>
        </p:txBody>
      </p:sp>
      <p:grpSp>
        <p:nvGrpSpPr>
          <p:cNvPr id="2" name="组合 2"/>
          <p:cNvGrpSpPr/>
          <p:nvPr/>
        </p:nvGrpSpPr>
        <p:grpSpPr bwMode="auto">
          <a:xfrm>
            <a:off x="323531" y="1025525"/>
            <a:ext cx="8708709" cy="1938959"/>
            <a:chOff x="509" y="3310"/>
            <a:chExt cx="13714" cy="3052"/>
          </a:xfrm>
        </p:grpSpPr>
        <p:grpSp>
          <p:nvGrpSpPr>
            <p:cNvPr id="44049" name="组合 13328"/>
            <p:cNvGrpSpPr/>
            <p:nvPr/>
          </p:nvGrpSpPr>
          <p:grpSpPr bwMode="auto">
            <a:xfrm>
              <a:off x="509" y="3952"/>
              <a:ext cx="13714" cy="2410"/>
              <a:chOff x="335" y="1491"/>
              <a:chExt cx="5486" cy="964"/>
            </a:xfrm>
          </p:grpSpPr>
          <p:sp>
            <p:nvSpPr>
              <p:cNvPr id="44051" name="文本框 13321"/>
              <p:cNvSpPr txBox="1">
                <a:spLocks noChangeArrowheads="1"/>
              </p:cNvSpPr>
              <p:nvPr/>
            </p:nvSpPr>
            <p:spPr bwMode="auto">
              <a:xfrm>
                <a:off x="374" y="1734"/>
                <a:ext cx="54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buClr>
                    <a:srgbClr val="000099"/>
                  </a:buClr>
                  <a:buSzPct val="80000"/>
                  <a:buFont typeface="Arial" panose="020B0604020202020204" pitchFamily="34" charset="0"/>
                  <a:buBlip>
                    <a:blip r:embed="rId4"/>
                  </a:buBlip>
                </a:pPr>
                <a:r>
                  <a:rPr lang="en-US" altLang="zh-CN" sz="2000">
                    <a:solidFill>
                      <a:srgbClr val="000099"/>
                    </a:solidFill>
                    <a:latin typeface="Times New Roman" panose="02020603050405020304" pitchFamily="18" charset="0"/>
                  </a:rPr>
                  <a:t> </a:t>
                </a:r>
                <a:r>
                  <a:rPr lang="zh-CN" altLang="en-US" sz="2000">
                    <a:solidFill>
                      <a:srgbClr val="000099"/>
                    </a:solidFill>
                    <a:latin typeface="Times New Roman" panose="02020603050405020304" pitchFamily="18" charset="0"/>
                  </a:rPr>
                  <a:t>润滑油推荐采用牌号为：</a:t>
                </a:r>
                <a:r>
                  <a:rPr lang="en-US" altLang="zh-CN" sz="2000">
                    <a:solidFill>
                      <a:srgbClr val="000099"/>
                    </a:solidFill>
                    <a:latin typeface="Times New Roman" panose="02020603050405020304" pitchFamily="18" charset="0"/>
                  </a:rPr>
                  <a:t>L-AN32</a:t>
                </a:r>
                <a:r>
                  <a:rPr lang="zh-CN" altLang="en-US" sz="2000">
                    <a:solidFill>
                      <a:srgbClr val="000099"/>
                    </a:solidFill>
                    <a:latin typeface="Times New Roman" panose="02020603050405020304" pitchFamily="18" charset="0"/>
                  </a:rPr>
                  <a:t>、</a:t>
                </a:r>
                <a:r>
                  <a:rPr lang="en-US" altLang="zh-CN" sz="2000">
                    <a:solidFill>
                      <a:srgbClr val="000099"/>
                    </a:solidFill>
                    <a:latin typeface="Times New Roman" panose="02020603050405020304" pitchFamily="18" charset="0"/>
                  </a:rPr>
                  <a:t>L-AN46</a:t>
                </a:r>
                <a:r>
                  <a:rPr lang="zh-CN" altLang="en-US" sz="2000">
                    <a:solidFill>
                      <a:srgbClr val="000099"/>
                    </a:solidFill>
                    <a:latin typeface="Times New Roman" panose="02020603050405020304" pitchFamily="18" charset="0"/>
                  </a:rPr>
                  <a:t>、</a:t>
                </a:r>
                <a:r>
                  <a:rPr lang="en-US" altLang="zh-CN" sz="2000">
                    <a:solidFill>
                      <a:srgbClr val="000099"/>
                    </a:solidFill>
                    <a:latin typeface="Times New Roman" panose="02020603050405020304" pitchFamily="18" charset="0"/>
                  </a:rPr>
                  <a:t>L-AN68</a:t>
                </a:r>
                <a:r>
                  <a:rPr lang="zh-CN" altLang="en-US" sz="2000">
                    <a:solidFill>
                      <a:srgbClr val="000099"/>
                    </a:solidFill>
                    <a:latin typeface="Times New Roman" panose="02020603050405020304" pitchFamily="18" charset="0"/>
                  </a:rPr>
                  <a:t>等全损耗系统用油。</a:t>
                </a:r>
                <a:endParaRPr lang="zh-CN" altLang="en-US" sz="2000">
                  <a:solidFill>
                    <a:srgbClr val="000099"/>
                  </a:solidFill>
                  <a:latin typeface="Times New Roman" panose="02020603050405020304" pitchFamily="18" charset="0"/>
                </a:endParaRPr>
              </a:p>
            </p:txBody>
          </p:sp>
          <p:sp>
            <p:nvSpPr>
              <p:cNvPr id="44052" name="文本框 13322"/>
              <p:cNvSpPr txBox="1">
                <a:spLocks noChangeArrowheads="1"/>
              </p:cNvSpPr>
              <p:nvPr/>
            </p:nvSpPr>
            <p:spPr bwMode="auto">
              <a:xfrm>
                <a:off x="374" y="1977"/>
                <a:ext cx="51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buClr>
                    <a:srgbClr val="000099"/>
                  </a:buClr>
                  <a:buSzPct val="80000"/>
                  <a:buFont typeface="Arial" panose="020B0604020202020204" pitchFamily="34" charset="0"/>
                  <a:buBlip>
                    <a:blip r:embed="rId4"/>
                  </a:buBlip>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对于开式及重载低速传动，可在润滑油中加入</a:t>
                </a:r>
                <a:r>
                  <a:rPr lang="en-US" altLang="zh-CN" sz="2000" dirty="0">
                    <a:solidFill>
                      <a:srgbClr val="000099"/>
                    </a:solidFill>
                    <a:latin typeface="Times New Roman" panose="02020603050405020304" pitchFamily="18" charset="0"/>
                  </a:rPr>
                  <a:t>MoS</a:t>
                </a:r>
                <a:r>
                  <a:rPr lang="en-US" altLang="zh-CN" sz="2000" baseline="-25000" dirty="0">
                    <a:solidFill>
                      <a:srgbClr val="000099"/>
                    </a:solidFill>
                    <a:latin typeface="Times New Roman" panose="02020603050405020304" pitchFamily="18" charset="0"/>
                  </a:rPr>
                  <a:t>2</a:t>
                </a:r>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WS</a:t>
                </a:r>
                <a:r>
                  <a:rPr lang="en-US" altLang="zh-CN" sz="2000" baseline="-25000" dirty="0">
                    <a:solidFill>
                      <a:srgbClr val="000099"/>
                    </a:solidFill>
                    <a:latin typeface="Times New Roman" panose="02020603050405020304" pitchFamily="18" charset="0"/>
                  </a:rPr>
                  <a:t>2</a:t>
                </a:r>
                <a:r>
                  <a:rPr lang="zh-CN" altLang="en-US" sz="2000" dirty="0">
                    <a:solidFill>
                      <a:srgbClr val="000099"/>
                    </a:solidFill>
                    <a:latin typeface="Times New Roman" panose="02020603050405020304" pitchFamily="18" charset="0"/>
                  </a:rPr>
                  <a:t>等添加剂。</a:t>
                </a:r>
                <a:endParaRPr lang="zh-CN" altLang="en-US" sz="2000" dirty="0">
                  <a:solidFill>
                    <a:srgbClr val="000099"/>
                  </a:solidFill>
                  <a:latin typeface="Times New Roman" panose="02020603050405020304" pitchFamily="18" charset="0"/>
                </a:endParaRPr>
              </a:p>
            </p:txBody>
          </p:sp>
          <p:sp>
            <p:nvSpPr>
              <p:cNvPr id="44053" name="文本框 13323"/>
              <p:cNvSpPr txBox="1">
                <a:spLocks noChangeArrowheads="1"/>
              </p:cNvSpPr>
              <p:nvPr/>
            </p:nvSpPr>
            <p:spPr bwMode="auto">
              <a:xfrm>
                <a:off x="335" y="2203"/>
                <a:ext cx="52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buClr>
                    <a:srgbClr val="000099"/>
                  </a:buClr>
                  <a:buSzPct val="80000"/>
                  <a:buFont typeface="Arial" panose="020B0604020202020204" pitchFamily="34" charset="0"/>
                  <a:buBlip>
                    <a:blip r:embed="rId4"/>
                  </a:buBlip>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对于不便采用润滑油的场合，允许涂抹润滑脂，但应定期清洗与涂抹。</a:t>
                </a:r>
                <a:endParaRPr lang="zh-CN" altLang="en-US" sz="2000" dirty="0">
                  <a:solidFill>
                    <a:srgbClr val="000099"/>
                  </a:solidFill>
                  <a:latin typeface="Times New Roman" panose="02020603050405020304" pitchFamily="18" charset="0"/>
                </a:endParaRPr>
              </a:p>
            </p:txBody>
          </p:sp>
          <p:sp>
            <p:nvSpPr>
              <p:cNvPr id="44054" name="文本框 13324"/>
              <p:cNvSpPr txBox="1">
                <a:spLocks noChangeArrowheads="1"/>
              </p:cNvSpPr>
              <p:nvPr/>
            </p:nvSpPr>
            <p:spPr bwMode="auto">
              <a:xfrm>
                <a:off x="374" y="1491"/>
                <a:ext cx="44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buClr>
                    <a:srgbClr val="000099"/>
                  </a:buClr>
                  <a:buSzPct val="80000"/>
                  <a:buFont typeface="Arial" panose="020B0604020202020204" pitchFamily="34" charset="0"/>
                  <a:buBlip>
                    <a:blip r:embed="rId4"/>
                  </a:buBlip>
                </a:pPr>
                <a:r>
                  <a:rPr lang="en-US" altLang="zh-CN" sz="2000">
                    <a:solidFill>
                      <a:srgbClr val="000099"/>
                    </a:solidFill>
                    <a:latin typeface="Times New Roman" panose="02020603050405020304" pitchFamily="18" charset="0"/>
                  </a:rPr>
                  <a:t> </a:t>
                </a:r>
                <a:r>
                  <a:rPr lang="zh-CN" altLang="en-US" sz="2000">
                    <a:solidFill>
                      <a:srgbClr val="000099"/>
                    </a:solidFill>
                    <a:latin typeface="Times New Roman" panose="02020603050405020304" pitchFamily="18" charset="0"/>
                  </a:rPr>
                  <a:t>良好的润滑可缓和冲击、减轻磨损、延长链条的使用寿命。</a:t>
                </a:r>
                <a:endParaRPr lang="zh-CN" altLang="en-US" sz="2000">
                  <a:solidFill>
                    <a:srgbClr val="000099"/>
                  </a:solidFill>
                  <a:latin typeface="Times New Roman" panose="02020603050405020304" pitchFamily="18" charset="0"/>
                </a:endParaRPr>
              </a:p>
            </p:txBody>
          </p:sp>
        </p:grpSp>
        <p:sp>
          <p:nvSpPr>
            <p:cNvPr id="44050" name="文本框 13324"/>
            <p:cNvSpPr txBox="1">
              <a:spLocks noChangeArrowheads="1"/>
            </p:cNvSpPr>
            <p:nvPr/>
          </p:nvSpPr>
          <p:spPr bwMode="auto">
            <a:xfrm>
              <a:off x="610" y="3310"/>
              <a:ext cx="9100"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buClr>
                  <a:srgbClr val="000099"/>
                </a:buClr>
                <a:buSzPct val="80000"/>
                <a:buFont typeface="Arial" panose="020B0604020202020204" pitchFamily="34" charset="0"/>
                <a:buBlip>
                  <a:blip r:embed="rId4"/>
                </a:buBlip>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链传动的润滑对高速、重载的链传动尤为重要。</a:t>
              </a:r>
              <a:endParaRPr lang="zh-CN" altLang="en-US" sz="2000" dirty="0">
                <a:solidFill>
                  <a:srgbClr val="000099"/>
                </a:solidFill>
                <a:latin typeface="Times New Roman" panose="02020603050405020304" pitchFamily="18" charset="0"/>
              </a:endParaRPr>
            </a:p>
          </p:txBody>
        </p:sp>
      </p:grpSp>
      <p:sp>
        <p:nvSpPr>
          <p:cNvPr id="48147" name="文本框 5"/>
          <p:cNvSpPr txBox="1">
            <a:spLocks noChangeArrowheads="1"/>
          </p:cNvSpPr>
          <p:nvPr/>
        </p:nvSpPr>
        <p:spPr bwMode="auto">
          <a:xfrm>
            <a:off x="1466850" y="4200525"/>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滴油润滑</a:t>
            </a:r>
            <a:endParaRPr lang="zh-CN" altLang="en-US" sz="2000">
              <a:solidFill>
                <a:srgbClr val="000099"/>
              </a:solidFill>
              <a:latin typeface="Times New Roman" panose="02020603050405020304" pitchFamily="18" charset="0"/>
            </a:endParaRPr>
          </a:p>
        </p:txBody>
      </p:sp>
      <p:sp>
        <p:nvSpPr>
          <p:cNvPr id="48144" name="文本框 7"/>
          <p:cNvSpPr txBox="1">
            <a:spLocks noChangeArrowheads="1"/>
          </p:cNvSpPr>
          <p:nvPr/>
        </p:nvSpPr>
        <p:spPr bwMode="auto">
          <a:xfrm>
            <a:off x="1468438" y="6364288"/>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油浴润滑</a:t>
            </a:r>
            <a:endParaRPr lang="zh-CN" altLang="en-US" sz="2000">
              <a:solidFill>
                <a:srgbClr val="000099"/>
              </a:solidFill>
              <a:latin typeface="Times New Roman" panose="02020603050405020304" pitchFamily="18" charset="0"/>
            </a:endParaRPr>
          </a:p>
        </p:txBody>
      </p:sp>
      <p:sp>
        <p:nvSpPr>
          <p:cNvPr id="48142" name="文本框 8"/>
          <p:cNvSpPr txBox="1">
            <a:spLocks noChangeArrowheads="1"/>
          </p:cNvSpPr>
          <p:nvPr/>
        </p:nvSpPr>
        <p:spPr bwMode="auto">
          <a:xfrm>
            <a:off x="4656138" y="45561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压力供油润滑</a:t>
            </a:r>
            <a:endParaRPr lang="zh-CN" altLang="en-US" sz="2000">
              <a:solidFill>
                <a:srgbClr val="000099"/>
              </a:solidFill>
              <a:latin typeface="Times New Roman" panose="02020603050405020304" pitchFamily="18" charset="0"/>
            </a:endParaRPr>
          </a:p>
        </p:txBody>
      </p:sp>
      <p:sp>
        <p:nvSpPr>
          <p:cNvPr id="48140" name="文本框 6"/>
          <p:cNvSpPr txBox="1">
            <a:spLocks noChangeArrowheads="1"/>
          </p:cNvSpPr>
          <p:nvPr/>
        </p:nvSpPr>
        <p:spPr bwMode="auto">
          <a:xfrm>
            <a:off x="5072063" y="62150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飞溅润滑</a:t>
            </a:r>
            <a:endParaRPr lang="zh-CN" altLang="en-US" sz="2000">
              <a:solidFill>
                <a:srgbClr val="000099"/>
              </a:solidFill>
              <a:latin typeface="Times New Roman" panose="02020603050405020304" pitchFamily="18" charset="0"/>
            </a:endParaRPr>
          </a:p>
        </p:txBody>
      </p:sp>
      <p:sp>
        <p:nvSpPr>
          <p:cNvPr id="6" name="文本框 99"/>
          <p:cNvSpPr txBox="1">
            <a:spLocks noChangeArrowheads="1"/>
          </p:cNvSpPr>
          <p:nvPr/>
        </p:nvSpPr>
        <p:spPr bwMode="auto">
          <a:xfrm>
            <a:off x="7137400" y="3902075"/>
            <a:ext cx="1803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华文中宋" panose="02010600040101010101" pitchFamily="2" charset="-122"/>
                <a:hlinkClick r:id="rId5" action="ppaction://hlinksldjump"/>
              </a:rPr>
              <a:t>推荐的</a:t>
            </a:r>
            <a:endParaRPr lang="zh-CN" altLang="en-US" sz="2000">
              <a:solidFill>
                <a:srgbClr val="000099"/>
              </a:solidFill>
              <a:latin typeface="华文中宋" panose="02010600040101010101" pitchFamily="2" charset="-122"/>
            </a:endParaRPr>
          </a:p>
          <a:p>
            <a:pPr eaLnBrk="1" hangingPunct="1"/>
            <a:r>
              <a:rPr lang="zh-CN" altLang="en-US" sz="2000">
                <a:solidFill>
                  <a:srgbClr val="000099"/>
                </a:solidFill>
                <a:latin typeface="华文中宋" panose="02010600040101010101" pitchFamily="2" charset="-122"/>
                <a:hlinkClick r:id="rId5" action="ppaction://hlinksldjump"/>
              </a:rPr>
              <a:t>润滑方法</a:t>
            </a:r>
            <a:endParaRPr lang="zh-CN" altLang="en-US" sz="2000">
              <a:solidFill>
                <a:srgbClr val="000099"/>
              </a:solidFill>
              <a:latin typeface="华文中宋" panose="02010600040101010101" pitchFamily="2" charset="-122"/>
            </a:endParaRPr>
          </a:p>
          <a:p>
            <a:pPr eaLnBrk="1" hangingPunct="1"/>
            <a:r>
              <a:rPr lang="zh-CN" altLang="en-US" sz="2000">
                <a:solidFill>
                  <a:srgbClr val="000099"/>
                </a:solidFill>
                <a:latin typeface="华文中宋" panose="02010600040101010101" pitchFamily="2" charset="-122"/>
                <a:hlinkClick r:id="rId5" action="ppaction://hlinksldjump"/>
              </a:rPr>
              <a:t>和要求</a:t>
            </a:r>
            <a:r>
              <a:rPr lang="en-US" altLang="zh-CN" sz="2000">
                <a:solidFill>
                  <a:srgbClr val="000099"/>
                </a:solidFill>
                <a:latin typeface="宋体" panose="02010600030101010101" pitchFamily="2" charset="-122"/>
                <a:ea typeface="宋体" panose="02010600030101010101" pitchFamily="2" charset="-122"/>
                <a:hlinkClick r:id="rId5" action="ppaction://hlinksldjump"/>
              </a:rPr>
              <a:t>→</a:t>
            </a:r>
            <a:endParaRPr lang="en-US" altLang="zh-CN" sz="2000">
              <a:solidFill>
                <a:srgbClr val="000099"/>
              </a:solidFill>
              <a:latin typeface="宋体" panose="02010600030101010101" pitchFamily="2" charset="-122"/>
              <a:ea typeface="宋体" panose="02010600030101010101" pitchFamily="2" charset="-122"/>
            </a:endParaRPr>
          </a:p>
        </p:txBody>
      </p:sp>
      <p:pic>
        <p:nvPicPr>
          <p:cNvPr id="48154"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125" y="3000375"/>
            <a:ext cx="238125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55"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5775" y="3000375"/>
            <a:ext cx="2357438"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56" name="Picture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9925" y="4643438"/>
            <a:ext cx="264477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57"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6250" y="5000625"/>
            <a:ext cx="2447925"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8"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wipe(left)">
                                      <p:cBhvr>
                                        <p:cTn id="7" dur="500"/>
                                        <p:tgtEl>
                                          <p:spTgt spid="133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54"/>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814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8155"/>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481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15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4814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8157"/>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481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P spid="48147" grpId="0"/>
      <p:bldP spid="48144" grpId="0"/>
      <p:bldP spid="48142" grpId="0"/>
      <p:bldP spid="48140" grpId="0"/>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t="15016"/>
          <a:stretch>
            <a:fillRect/>
          </a:stretch>
        </p:blipFill>
        <p:spPr>
          <a:xfrm>
            <a:off x="562610" y="656590"/>
            <a:ext cx="8018145" cy="1736090"/>
          </a:xfrm>
          <a:prstGeom prst="rect">
            <a:avLst/>
          </a:prstGeom>
        </p:spPr>
      </p:pic>
      <p:pic>
        <p:nvPicPr>
          <p:cNvPr id="7" name="图片 6"/>
          <p:cNvPicPr>
            <a:picLocks noChangeAspect="1"/>
          </p:cNvPicPr>
          <p:nvPr/>
        </p:nvPicPr>
        <p:blipFill>
          <a:blip r:embed="rId2"/>
          <a:stretch>
            <a:fillRect/>
          </a:stretch>
        </p:blipFill>
        <p:spPr>
          <a:xfrm>
            <a:off x="871855" y="2736850"/>
            <a:ext cx="5704205" cy="542290"/>
          </a:xfrm>
          <a:prstGeom prst="rect">
            <a:avLst/>
          </a:prstGeom>
        </p:spPr>
      </p:pic>
      <p:pic>
        <p:nvPicPr>
          <p:cNvPr id="9" name="图片 8"/>
          <p:cNvPicPr>
            <a:picLocks noChangeAspect="1"/>
          </p:cNvPicPr>
          <p:nvPr/>
        </p:nvPicPr>
        <p:blipFill>
          <a:blip r:embed="rId3"/>
          <a:stretch>
            <a:fillRect/>
          </a:stretch>
        </p:blipFill>
        <p:spPr>
          <a:xfrm>
            <a:off x="871855" y="3702050"/>
            <a:ext cx="3502025" cy="480695"/>
          </a:xfrm>
          <a:prstGeom prst="rect">
            <a:avLst/>
          </a:prstGeom>
        </p:spPr>
      </p:pic>
      <p:pic>
        <p:nvPicPr>
          <p:cNvPr id="10" name="图片 9"/>
          <p:cNvPicPr>
            <a:picLocks noChangeAspect="1"/>
          </p:cNvPicPr>
          <p:nvPr/>
        </p:nvPicPr>
        <p:blipFill>
          <a:blip r:embed="rId4"/>
          <a:stretch>
            <a:fillRect/>
          </a:stretch>
        </p:blipFill>
        <p:spPr>
          <a:xfrm>
            <a:off x="1132840" y="4025265"/>
            <a:ext cx="1110615" cy="527685"/>
          </a:xfrm>
          <a:prstGeom prst="rect">
            <a:avLst/>
          </a:prstGeom>
        </p:spPr>
      </p:pic>
      <p:sp>
        <p:nvSpPr>
          <p:cNvPr id="12" name="文本框 11"/>
          <p:cNvSpPr txBox="1"/>
          <p:nvPr/>
        </p:nvSpPr>
        <p:spPr>
          <a:xfrm>
            <a:off x="250825" y="746125"/>
            <a:ext cx="455295" cy="460375"/>
          </a:xfrm>
          <a:prstGeom prst="rect">
            <a:avLst/>
          </a:prstGeom>
          <a:noFill/>
        </p:spPr>
        <p:txBody>
          <a:bodyPr wrap="square" rtlCol="0">
            <a:spAutoFit/>
          </a:bodyPr>
          <a:p>
            <a:r>
              <a:rPr lang="zh-CN" altLang="en-US" sz="2400">
                <a:solidFill>
                  <a:srgbClr val="FF0000"/>
                </a:solidFill>
                <a:latin typeface="黑体" panose="02010609060101010101" pitchFamily="49" charset="-122"/>
                <a:ea typeface="黑体" panose="02010609060101010101" pitchFamily="49" charset="-122"/>
              </a:rPr>
              <a:t>例</a:t>
            </a:r>
            <a:endParaRPr lang="zh-CN" altLang="en-US" sz="2400">
              <a:solidFill>
                <a:srgbClr val="FF0000"/>
              </a:solidFill>
              <a:latin typeface="黑体" panose="02010609060101010101" pitchFamily="49" charset="-122"/>
              <a:ea typeface="黑体" panose="02010609060101010101" pitchFamily="49" charset="-122"/>
            </a:endParaRPr>
          </a:p>
        </p:txBody>
      </p:sp>
      <p:sp>
        <p:nvSpPr>
          <p:cNvPr id="13" name="文本框 12"/>
          <p:cNvSpPr txBox="1"/>
          <p:nvPr/>
        </p:nvSpPr>
        <p:spPr>
          <a:xfrm>
            <a:off x="545465" y="2338705"/>
            <a:ext cx="786765" cy="429895"/>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rPr>
              <a:t>解：</a:t>
            </a:r>
            <a:endParaRPr lang="zh-CN" altLang="en-US">
              <a:solidFill>
                <a:srgbClr val="FF0000"/>
              </a:solidFill>
              <a:latin typeface="黑体" panose="02010609060101010101" pitchFamily="49" charset="-122"/>
              <a:ea typeface="黑体" panose="02010609060101010101" pitchFamily="49" charset="-122"/>
            </a:endParaRPr>
          </a:p>
        </p:txBody>
      </p:sp>
      <p:sp>
        <p:nvSpPr>
          <p:cNvPr id="14" name="文本框 13"/>
          <p:cNvSpPr txBox="1"/>
          <p:nvPr/>
        </p:nvSpPr>
        <p:spPr>
          <a:xfrm>
            <a:off x="2434590" y="4123055"/>
            <a:ext cx="1189355" cy="429895"/>
          </a:xfrm>
          <a:prstGeom prst="rect">
            <a:avLst/>
          </a:prstGeom>
          <a:noFill/>
        </p:spPr>
        <p:txBody>
          <a:bodyPr wrap="square" rtlCol="0">
            <a:spAutoFit/>
          </a:bodyPr>
          <a:p>
            <a:r>
              <a:rPr lang="en-US" altLang="zh-CN" i="1"/>
              <a:t>K</a:t>
            </a:r>
            <a:r>
              <a:rPr lang="en-US" altLang="zh-CN" i="1" baseline="-25000"/>
              <a:t>p</a:t>
            </a:r>
            <a:r>
              <a:rPr lang="en-US" altLang="zh-CN"/>
              <a:t>=1</a:t>
            </a:r>
            <a:endParaRPr lang="en-US" altLang="zh-CN"/>
          </a:p>
        </p:txBody>
      </p:sp>
      <p:graphicFrame>
        <p:nvGraphicFramePr>
          <p:cNvPr id="15" name="对象 -2147482526"/>
          <p:cNvGraphicFramePr>
            <a:graphicFrameLocks noChangeAspect="1"/>
          </p:cNvGraphicFramePr>
          <p:nvPr/>
        </p:nvGraphicFramePr>
        <p:xfrm>
          <a:off x="1332364" y="4646866"/>
          <a:ext cx="2251710" cy="913765"/>
        </p:xfrm>
        <a:graphic>
          <a:graphicData uri="http://schemas.openxmlformats.org/presentationml/2006/ole">
            <mc:AlternateContent xmlns:mc="http://schemas.openxmlformats.org/markup-compatibility/2006">
              <mc:Choice xmlns:v="urn:schemas-microsoft-com:vml" Requires="v">
                <p:oleObj spid="_x0000_s16" name="" r:id="rId5" imgW="1155700" imgH="469900" progId="Equation.KSEE3">
                  <p:embed/>
                </p:oleObj>
              </mc:Choice>
              <mc:Fallback>
                <p:oleObj name="" r:id="rId5" imgW="1155700" imgH="469900" progId="Equation.KSEE3">
                  <p:embed/>
                  <p:pic>
                    <p:nvPicPr>
                      <p:cNvPr id="0" name="对象 -2147482526"/>
                      <p:cNvPicPr>
                        <a:picLocks noChangeAspect="1" noChangeArrowheads="1"/>
                      </p:cNvPicPr>
                      <p:nvPr/>
                    </p:nvPicPr>
                    <p:blipFill>
                      <a:blip r:embed="rId6"/>
                      <a:srcRect/>
                      <a:stretch>
                        <a:fillRect/>
                      </a:stretch>
                    </p:blipFill>
                    <p:spPr bwMode="auto">
                      <a:xfrm>
                        <a:off x="1332364" y="4646866"/>
                        <a:ext cx="2251710" cy="913765"/>
                      </a:xfrm>
                      <a:prstGeom prst="rect">
                        <a:avLst/>
                      </a:prstGeom>
                      <a:solidFill>
                        <a:srgbClr val="FFC000"/>
                      </a:solidFill>
                      <a:ln>
                        <a:noFill/>
                      </a:ln>
                    </p:spPr>
                  </p:pic>
                </p:oleObj>
              </mc:Fallback>
            </mc:AlternateContent>
          </a:graphicData>
        </a:graphic>
      </p:graphicFrame>
      <p:pic>
        <p:nvPicPr>
          <p:cNvPr id="17" name="图片 16"/>
          <p:cNvPicPr>
            <a:picLocks noChangeAspect="1"/>
          </p:cNvPicPr>
          <p:nvPr/>
        </p:nvPicPr>
        <p:blipFill>
          <a:blip r:embed="rId7"/>
          <a:stretch>
            <a:fillRect/>
          </a:stretch>
        </p:blipFill>
        <p:spPr>
          <a:xfrm>
            <a:off x="1132840" y="5492115"/>
            <a:ext cx="3994150" cy="917575"/>
          </a:xfrm>
          <a:prstGeom prst="rect">
            <a:avLst/>
          </a:prstGeom>
        </p:spPr>
      </p:pic>
      <p:pic>
        <p:nvPicPr>
          <p:cNvPr id="18" name="图片 17"/>
          <p:cNvPicPr>
            <a:picLocks noChangeAspect="1"/>
          </p:cNvPicPr>
          <p:nvPr/>
        </p:nvPicPr>
        <p:blipFill>
          <a:blip r:embed="rId8"/>
          <a:stretch>
            <a:fillRect/>
          </a:stretch>
        </p:blipFill>
        <p:spPr>
          <a:xfrm>
            <a:off x="871855" y="3279140"/>
            <a:ext cx="6619875" cy="4768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4915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5686425" y="271463"/>
            <a:ext cx="3440113" cy="490537"/>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链传动的设计计算</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9159" name="文本框 99"/>
          <p:cNvSpPr txBox="1">
            <a:spLocks noChangeArrowheads="1"/>
          </p:cNvSpPr>
          <p:nvPr/>
        </p:nvSpPr>
        <p:spPr bwMode="auto">
          <a:xfrm>
            <a:off x="467544" y="620688"/>
            <a:ext cx="5080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dirty="0">
                <a:solidFill>
                  <a:srgbClr val="000099"/>
                </a:solidFill>
                <a:latin typeface="Times New Roman" panose="02020603050405020304" pitchFamily="18" charset="0"/>
              </a:rPr>
              <a:t>A</a:t>
            </a:r>
            <a:r>
              <a:rPr lang="zh-CN" altLang="en-US" sz="2000" dirty="0">
                <a:solidFill>
                  <a:srgbClr val="000099"/>
                </a:solidFill>
                <a:latin typeface="Times New Roman" panose="02020603050405020304" pitchFamily="18" charset="0"/>
              </a:rPr>
              <a:t>系列滚子链的额定功率曲线</a:t>
            </a:r>
            <a:endParaRPr lang="zh-CN" altLang="en-US" sz="2000" dirty="0">
              <a:solidFill>
                <a:srgbClr val="000099"/>
              </a:solidFill>
              <a:latin typeface="Times New Roman" panose="02020603050405020304" pitchFamily="18" charset="0"/>
              <a:cs typeface="Times New Roman" panose="02020603050405020304" pitchFamily="18" charset="0"/>
            </a:endParaRPr>
          </a:p>
        </p:txBody>
      </p:sp>
      <p:pic>
        <p:nvPicPr>
          <p:cNvPr id="49161"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9512" y="1196752"/>
            <a:ext cx="5481637" cy="524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39552" y="6309320"/>
            <a:ext cx="1584176" cy="429895"/>
          </a:xfrm>
          <a:prstGeom prst="rect">
            <a:avLst/>
          </a:prstGeom>
          <a:noFill/>
        </p:spPr>
        <p:txBody>
          <a:bodyPr wrap="square" rtlCol="0">
            <a:spAutoFit/>
          </a:bodyPr>
          <a:lstStyle/>
          <a:p>
            <a:r>
              <a:rPr lang="zh-CN" altLang="en-US" dirty="0" smtClean="0"/>
              <a:t>图</a:t>
            </a:r>
            <a:r>
              <a:rPr lang="en-US" altLang="zh-CN" dirty="0" smtClean="0"/>
              <a:t>3.3</a:t>
            </a:r>
            <a:r>
              <a:rPr lang="en-US" altLang="zh-CN" dirty="0" smtClean="0"/>
              <a:t>-12</a:t>
            </a:r>
            <a:endParaRPr lang="zh-CN" altLang="en-US" dirty="0"/>
          </a:p>
        </p:txBody>
      </p:sp>
      <p:sp>
        <p:nvSpPr>
          <p:cNvPr id="3" name="文本框 2"/>
          <p:cNvSpPr txBox="1"/>
          <p:nvPr/>
        </p:nvSpPr>
        <p:spPr>
          <a:xfrm rot="19860000">
            <a:off x="2684780" y="3319145"/>
            <a:ext cx="643890" cy="337185"/>
          </a:xfrm>
          <a:prstGeom prst="rect">
            <a:avLst/>
          </a:prstGeom>
          <a:noFill/>
        </p:spPr>
        <p:txBody>
          <a:bodyPr wrap="square" rtlCol="0">
            <a:spAutoFit/>
          </a:bodyPr>
          <a:p>
            <a:r>
              <a:rPr lang="en-US" altLang="zh-CN" sz="1600">
                <a:solidFill>
                  <a:srgbClr val="FF0000"/>
                </a:solidFill>
              </a:rPr>
              <a:t>16A</a:t>
            </a:r>
            <a:endParaRPr lang="en-US" altLang="zh-CN" sz="1600">
              <a:solidFill>
                <a:srgbClr val="FF0000"/>
              </a:solidFill>
            </a:endParaRPr>
          </a:p>
        </p:txBody>
      </p:sp>
      <p:cxnSp>
        <p:nvCxnSpPr>
          <p:cNvPr id="7" name="直接连接符 6"/>
          <p:cNvCxnSpPr/>
          <p:nvPr/>
        </p:nvCxnSpPr>
        <p:spPr>
          <a:xfrm flipV="1">
            <a:off x="4145915" y="2486025"/>
            <a:ext cx="0" cy="3369310"/>
          </a:xfrm>
          <a:prstGeom prst="line">
            <a:avLst/>
          </a:prstGeom>
          <a:noFill/>
          <a:ln w="19050" cap="flat" cmpd="sng" algn="ctr">
            <a:solidFill>
              <a:srgbClr val="FF0000"/>
            </a:solidFill>
            <a:prstDash val="solid"/>
            <a:round/>
            <a:headEnd type="none" w="med" len="med"/>
            <a:tailEnd type="none" w="med" len="med"/>
          </a:ln>
        </p:spPr>
      </p:cxnSp>
      <p:cxnSp>
        <p:nvCxnSpPr>
          <p:cNvPr id="8" name="直接连接符 7"/>
          <p:cNvCxnSpPr/>
          <p:nvPr/>
        </p:nvCxnSpPr>
        <p:spPr>
          <a:xfrm flipH="1">
            <a:off x="730250" y="2494915"/>
            <a:ext cx="3406140" cy="0"/>
          </a:xfrm>
          <a:prstGeom prst="line">
            <a:avLst/>
          </a:prstGeom>
          <a:noFill/>
          <a:ln w="19050" cap="flat" cmpd="sng" algn="ctr">
            <a:solidFill>
              <a:srgbClr val="FF0000"/>
            </a:solidFill>
            <a:prstDash val="solid"/>
            <a:round/>
            <a:headEnd type="none" w="med" len="med"/>
            <a:tailEnd type="none" w="med" len="med"/>
          </a:ln>
        </p:spPr>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03610" y="1196752"/>
            <a:ext cx="8136904" cy="2122805"/>
          </a:xfrm>
          <a:prstGeom prst="rect">
            <a:avLst/>
          </a:prstGeom>
          <a:noFill/>
        </p:spPr>
        <p:txBody>
          <a:bodyPr wrap="square" rtlCol="0">
            <a:spAutoFit/>
          </a:bodyPr>
          <a:lstStyle/>
          <a:p>
            <a:pPr>
              <a:lnSpc>
                <a:spcPct val="150000"/>
              </a:lnSpc>
            </a:pPr>
            <a:r>
              <a:rPr lang="en-US" altLang="zh-CN" dirty="0" smtClean="0">
                <a:solidFill>
                  <a:srgbClr val="C00000"/>
                </a:solidFill>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已知：齿轮减速器的输出功率             ，主动链轮转速</a:t>
            </a:r>
            <a:r>
              <a:rPr lang="en-US" altLang="zh-CN" dirty="0" smtClean="0">
                <a:latin typeface="黑体" panose="02010609060101010101" pitchFamily="49" charset="-122"/>
                <a:ea typeface="黑体" panose="02010609060101010101" pitchFamily="49" charset="-122"/>
              </a:rPr>
              <a:t>n</a:t>
            </a:r>
            <a:r>
              <a:rPr lang="en-US" altLang="zh-CN" baseline="-25000" dirty="0" smtClean="0">
                <a:latin typeface="黑体" panose="02010609060101010101" pitchFamily="49" charset="-122"/>
                <a:ea typeface="黑体" panose="02010609060101010101" pitchFamily="49" charset="-122"/>
              </a:rPr>
              <a:t>1</a:t>
            </a:r>
            <a:r>
              <a:rPr lang="en-US" altLang="zh-CN" dirty="0" smtClean="0">
                <a:latin typeface="黑体" panose="02010609060101010101" pitchFamily="49" charset="-122"/>
                <a:ea typeface="黑体" panose="02010609060101010101" pitchFamily="49" charset="-122"/>
              </a:rPr>
              <a:t>=40.93r/min</a:t>
            </a:r>
            <a:r>
              <a:rPr lang="zh-CN" altLang="en-US" dirty="0" smtClean="0">
                <a:latin typeface="黑体" panose="02010609060101010101" pitchFamily="49" charset="-122"/>
                <a:ea typeface="黑体" panose="02010609060101010101" pitchFamily="49" charset="-122"/>
              </a:rPr>
              <a:t>，传动比</a:t>
            </a:r>
            <a:r>
              <a:rPr lang="en-US" altLang="zh-CN" dirty="0" err="1" smtClean="0">
                <a:latin typeface="黑体" panose="02010609060101010101" pitchFamily="49" charset="-122"/>
                <a:ea typeface="黑体" panose="02010609060101010101" pitchFamily="49" charset="-122"/>
              </a:rPr>
              <a:t>i</a:t>
            </a:r>
            <a:r>
              <a:rPr lang="en-US" altLang="zh-CN" dirty="0" smtClean="0">
                <a:latin typeface="黑体" panose="02010609060101010101" pitchFamily="49" charset="-122"/>
                <a:ea typeface="黑体" panose="02010609060101010101" pitchFamily="49" charset="-122"/>
              </a:rPr>
              <a:t>=i</a:t>
            </a:r>
            <a:r>
              <a:rPr lang="en-US" altLang="zh-CN" baseline="-25000" dirty="0" smtClean="0">
                <a:latin typeface="黑体" panose="02010609060101010101" pitchFamily="49" charset="-122"/>
                <a:ea typeface="黑体" panose="02010609060101010101" pitchFamily="49" charset="-122"/>
              </a:rPr>
              <a:t>4</a:t>
            </a:r>
            <a:r>
              <a:rPr lang="en-US" altLang="zh-CN" dirty="0" smtClean="0">
                <a:latin typeface="黑体" panose="02010609060101010101" pitchFamily="49" charset="-122"/>
                <a:ea typeface="黑体" panose="02010609060101010101" pitchFamily="49" charset="-122"/>
              </a:rPr>
              <a:t>=3</a:t>
            </a:r>
            <a:r>
              <a:rPr lang="zh-CN" altLang="en-US" dirty="0" smtClean="0">
                <a:latin typeface="黑体" panose="02010609060101010101" pitchFamily="49" charset="-122"/>
                <a:ea typeface="黑体" panose="02010609060101010101" pitchFamily="49" charset="-122"/>
              </a:rPr>
              <a:t>，按斗提机的结构形式，链传动中心线与水平面倾斜布置（设计初定倾斜角为</a:t>
            </a:r>
            <a:r>
              <a:rPr lang="en-US" altLang="zh-CN" dirty="0" smtClean="0">
                <a:latin typeface="黑体" panose="02010609060101010101" pitchFamily="49" charset="-122"/>
                <a:ea typeface="黑体" panose="02010609060101010101" pitchFamily="49" charset="-122"/>
              </a:rPr>
              <a:t>45</a:t>
            </a:r>
            <a:r>
              <a:rPr lang="en-US" altLang="zh-CN" dirty="0" smtClean="0">
                <a:latin typeface="黑体" panose="02010609060101010101" pitchFamily="49" charset="-122"/>
                <a:ea typeface="黑体" panose="02010609060101010101" pitchFamily="49" charset="-122"/>
                <a:sym typeface="Symbol" panose="05050102010706020507" charset="0"/>
              </a:rPr>
              <a:t></a:t>
            </a:r>
            <a:r>
              <a:rPr lang="zh-CN" altLang="en-US" dirty="0" smtClean="0">
                <a:latin typeface="黑体" panose="02010609060101010101" pitchFamily="49" charset="-122"/>
                <a:ea typeface="黑体" panose="02010609060101010101" pitchFamily="49" charset="-122"/>
                <a:sym typeface="Symbol" panose="05050102010706020507" charset="0"/>
              </a:rPr>
              <a:t>）</a:t>
            </a:r>
            <a:r>
              <a:rPr lang="zh-CN" altLang="en-US" dirty="0" smtClean="0">
                <a:latin typeface="黑体" panose="02010609060101010101" pitchFamily="49" charset="-122"/>
                <a:ea typeface="黑体" panose="02010609060101010101" pitchFamily="49" charset="-122"/>
              </a:rPr>
              <a:t>载荷平稳，中心线水平布置。</a:t>
            </a:r>
            <a:endParaRPr lang="zh-CN" altLang="en-US" dirty="0">
              <a:latin typeface="黑体" panose="02010609060101010101" pitchFamily="49" charset="-122"/>
              <a:ea typeface="黑体" panose="02010609060101010101" pitchFamily="49" charset="-122"/>
            </a:endParaRPr>
          </a:p>
        </p:txBody>
      </p:sp>
      <p:sp>
        <p:nvSpPr>
          <p:cNvPr id="45067" name="直接连接符 6"/>
          <p:cNvSpPr>
            <a:spLocks noChangeShapeType="1"/>
          </p:cNvSpPr>
          <p:nvPr/>
        </p:nvSpPr>
        <p:spPr bwMode="auto">
          <a:xfrm>
            <a:off x="0" y="75501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Rectangle 2"/>
          <p:cNvSpPr>
            <a:spLocks noGrp="1" noChangeArrowheads="1"/>
          </p:cNvSpPr>
          <p:nvPr/>
        </p:nvSpPr>
        <p:spPr bwMode="auto">
          <a:xfrm>
            <a:off x="1307465" y="261620"/>
            <a:ext cx="7819390" cy="490220"/>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cs typeface="+mn-cs"/>
                <a:sym typeface="+mn-ea"/>
              </a:rPr>
              <a:t>3.3</a:t>
            </a:r>
            <a:r>
              <a:rPr kumimoji="1" lang="en-US" altLang="zh-CN" sz="3000" kern="1200" dirty="0" smtClean="0">
                <a:solidFill>
                  <a:srgbClr val="CC3300"/>
                </a:solidFill>
                <a:latin typeface="黑体" panose="02010609060101010101" pitchFamily="49" charset="-122"/>
                <a:ea typeface="黑体" panose="02010609060101010101" pitchFamily="49" charset="-122"/>
              </a:rPr>
              <a:t>-7 </a:t>
            </a:r>
            <a:r>
              <a:rPr kumimoji="1" lang="zh-CN" altLang="en-US" sz="3000" kern="1200" dirty="0" smtClean="0">
                <a:solidFill>
                  <a:srgbClr val="CC3300"/>
                </a:solidFill>
                <a:latin typeface="黑体" panose="02010609060101010101" pitchFamily="49" charset="-122"/>
                <a:ea typeface="黑体" panose="02010609060101010101" pitchFamily="49" charset="-122"/>
              </a:rPr>
              <a:t>案例</a:t>
            </a:r>
            <a:r>
              <a:rPr kumimoji="1" lang="en-US" altLang="zh-CN" sz="3000" kern="1200" dirty="0" smtClean="0">
                <a:solidFill>
                  <a:srgbClr val="CC3300"/>
                </a:solidFill>
                <a:latin typeface="黑体" panose="02010609060101010101" pitchFamily="49" charset="-122"/>
                <a:ea typeface="黑体" panose="02010609060101010101" pitchFamily="49" charset="-122"/>
              </a:rPr>
              <a:t>2“</a:t>
            </a:r>
            <a:r>
              <a:rPr kumimoji="1" lang="zh-CN" altLang="en-US" sz="3000" kern="1200" dirty="0" smtClean="0">
                <a:solidFill>
                  <a:srgbClr val="CC3300"/>
                </a:solidFill>
                <a:latin typeface="黑体" panose="02010609060101010101" pitchFamily="49" charset="-122"/>
                <a:ea typeface="黑体" panose="02010609060101010101" pitchFamily="49" charset="-122"/>
              </a:rPr>
              <a:t>传动方案</a:t>
            </a:r>
            <a:r>
              <a:rPr kumimoji="1" lang="en-US" altLang="zh-CN" sz="3000" kern="1200" dirty="0" smtClean="0">
                <a:solidFill>
                  <a:srgbClr val="CC3300"/>
                </a:solidFill>
                <a:latin typeface="黑体" panose="02010609060101010101" pitchFamily="49" charset="-122"/>
                <a:ea typeface="黑体" panose="02010609060101010101" pitchFamily="49" charset="-122"/>
              </a:rPr>
              <a:t>1”</a:t>
            </a:r>
            <a:r>
              <a:rPr kumimoji="1" lang="zh-CN" altLang="en-US" sz="3000" kern="1200" dirty="0" smtClean="0">
                <a:solidFill>
                  <a:srgbClr val="CC3300"/>
                </a:solidFill>
                <a:latin typeface="黑体" panose="02010609060101010101" pitchFamily="49" charset="-122"/>
                <a:ea typeface="黑体" panose="02010609060101010101" pitchFamily="49" charset="-122"/>
              </a:rPr>
              <a:t>链传动的设计</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graphicFrame>
        <p:nvGraphicFramePr>
          <p:cNvPr id="6" name="对象 5">
            <a:hlinkClick r:id="" action="ppaction://ole?verb="/>
          </p:cNvPr>
          <p:cNvGraphicFramePr>
            <a:graphicFrameLocks noChangeAspect="1"/>
          </p:cNvGraphicFramePr>
          <p:nvPr/>
        </p:nvGraphicFramePr>
        <p:xfrm>
          <a:off x="4481195" y="1433195"/>
          <a:ext cx="1747520" cy="357505"/>
        </p:xfrm>
        <a:graphic>
          <a:graphicData uri="http://schemas.openxmlformats.org/presentationml/2006/ole">
            <mc:AlternateContent xmlns:mc="http://schemas.openxmlformats.org/markup-compatibility/2006">
              <mc:Choice xmlns:v="urn:schemas-microsoft-com:vml" Requires="v">
                <p:oleObj spid="_x0000_s1025" name="" r:id="rId1" imgW="1117600" imgH="228600" progId="Equation.KSEE3">
                  <p:embed/>
                </p:oleObj>
              </mc:Choice>
              <mc:Fallback>
                <p:oleObj name="" r:id="rId1" imgW="1117600" imgH="228600" progId="Equation.KSEE3">
                  <p:embed/>
                  <p:pic>
                    <p:nvPicPr>
                      <p:cNvPr id="0" name="图片 1024"/>
                      <p:cNvPicPr/>
                      <p:nvPr/>
                    </p:nvPicPr>
                    <p:blipFill>
                      <a:blip r:embed="rId2"/>
                      <a:stretch>
                        <a:fillRect/>
                      </a:stretch>
                    </p:blipFill>
                    <p:spPr>
                      <a:xfrm>
                        <a:off x="4481195" y="1433195"/>
                        <a:ext cx="1747520" cy="357505"/>
                      </a:xfrm>
                      <a:prstGeom prst="rect">
                        <a:avLst/>
                      </a:prstGeom>
                    </p:spPr>
                  </p:pic>
                </p:oleObj>
              </mc:Fallback>
            </mc:AlternateContent>
          </a:graphicData>
        </a:graphic>
      </p:graphicFrame>
      <p:sp>
        <p:nvSpPr>
          <p:cNvPr id="2" name="文本框 1"/>
          <p:cNvSpPr txBox="1"/>
          <p:nvPr/>
        </p:nvSpPr>
        <p:spPr>
          <a:xfrm>
            <a:off x="1805305" y="3891280"/>
            <a:ext cx="3072765" cy="429895"/>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教材</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 P205-207</a:t>
            </a:r>
            <a:endPar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文本框 57355"/>
          <p:cNvSpPr txBox="1">
            <a:spLocks noChangeArrowheads="1"/>
          </p:cNvSpPr>
          <p:nvPr/>
        </p:nvSpPr>
        <p:spPr bwMode="auto">
          <a:xfrm>
            <a:off x="467544" y="836712"/>
            <a:ext cx="19827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1</a:t>
            </a:r>
            <a:r>
              <a:rPr lang="zh-CN" altLang="en-US" dirty="0">
                <a:solidFill>
                  <a:srgbClr val="C00000"/>
                </a:solidFill>
                <a:latin typeface="黑体" panose="02010609060101010101" pitchFamily="49" charset="-122"/>
                <a:ea typeface="黑体" panose="02010609060101010101" pitchFamily="49" charset="-122"/>
              </a:rPr>
              <a:t>．套筒链</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75782" name="文本框 57355"/>
          <p:cNvSpPr txBox="1">
            <a:spLocks noChangeArrowheads="1"/>
          </p:cNvSpPr>
          <p:nvPr/>
        </p:nvSpPr>
        <p:spPr bwMode="auto">
          <a:xfrm>
            <a:off x="395536" y="2492896"/>
            <a:ext cx="1944688"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C00000"/>
                </a:solidFill>
                <a:latin typeface="黑体" panose="02010609060101010101" pitchFamily="49" charset="-122"/>
                <a:ea typeface="黑体" panose="02010609060101010101" pitchFamily="49" charset="-122"/>
              </a:rPr>
              <a:t>2</a:t>
            </a:r>
            <a:r>
              <a:rPr lang="zh-CN" altLang="en-US" dirty="0">
                <a:solidFill>
                  <a:srgbClr val="C00000"/>
                </a:solidFill>
                <a:latin typeface="黑体" panose="02010609060101010101" pitchFamily="49" charset="-122"/>
                <a:ea typeface="黑体" panose="02010609060101010101" pitchFamily="49" charset="-122"/>
              </a:rPr>
              <a:t>．齿形链</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75783" name="矩形 57356"/>
          <p:cNvSpPr>
            <a:spLocks noChangeArrowheads="1"/>
          </p:cNvSpPr>
          <p:nvPr/>
        </p:nvSpPr>
        <p:spPr bwMode="auto">
          <a:xfrm>
            <a:off x="467544" y="1434113"/>
            <a:ext cx="8432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套筒链的结构与滚子链的基本相同，区别在于套筒链没有滚子，因此在工作时，套筒和链轮轮齿有相对滑动，容易引起链轮的磨损。</a:t>
            </a:r>
            <a:endParaRPr lang="zh-CN" altLang="en-US" sz="2000" dirty="0">
              <a:solidFill>
                <a:srgbClr val="000099"/>
              </a:solidFill>
              <a:latin typeface="Times New Roman" panose="02020603050405020304" pitchFamily="18" charset="0"/>
            </a:endParaRPr>
          </a:p>
        </p:txBody>
      </p:sp>
      <p:sp>
        <p:nvSpPr>
          <p:cNvPr id="75785" name="矩形 57356"/>
          <p:cNvSpPr>
            <a:spLocks noChangeArrowheads="1"/>
          </p:cNvSpPr>
          <p:nvPr/>
        </p:nvSpPr>
        <p:spPr bwMode="auto">
          <a:xfrm>
            <a:off x="467544" y="3068960"/>
            <a:ext cx="843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zh-CN" sz="2000" dirty="0">
                <a:solidFill>
                  <a:srgbClr val="000099"/>
                </a:solidFill>
                <a:latin typeface="Times New Roman" panose="02020603050405020304" pitchFamily="18" charset="0"/>
              </a:rPr>
              <a:t>齿形链又称无声连，它是由一组带有两个齿的链板左右交错并列铰接而成的。链板外侧是直边，工作时链齿外侧与链轮轮齿相啮合实现传动。</a:t>
            </a:r>
            <a:endParaRPr lang="zh-CN" altLang="zh-CN" sz="2000" dirty="0">
              <a:solidFill>
                <a:srgbClr val="000099"/>
              </a:solidFill>
              <a:latin typeface="Times New Roman" panose="02020603050405020304" pitchFamily="18" charset="0"/>
            </a:endParaRPr>
          </a:p>
        </p:txBody>
      </p:sp>
      <p:pic>
        <p:nvPicPr>
          <p:cNvPr id="49164"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60" y="3864094"/>
            <a:ext cx="86582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1436005" y="5489730"/>
            <a:ext cx="203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dirty="0">
                <a:solidFill>
                  <a:srgbClr val="000099"/>
                </a:solidFill>
                <a:latin typeface="Times New Roman" panose="02020603050405020304" pitchFamily="18" charset="0"/>
              </a:rPr>
              <a:t>带内导板的齿形链</a:t>
            </a:r>
            <a:endParaRPr lang="zh-CN" altLang="en-US" sz="1800" dirty="0">
              <a:solidFill>
                <a:srgbClr val="000099"/>
              </a:solidFill>
              <a:latin typeface="Times New Roman" panose="02020603050405020304" pitchFamily="18" charset="0"/>
            </a:endParaRPr>
          </a:p>
        </p:txBody>
      </p:sp>
      <p:sp>
        <p:nvSpPr>
          <p:cNvPr id="14" name="矩形 13"/>
          <p:cNvSpPr>
            <a:spLocks noChangeArrowheads="1"/>
          </p:cNvSpPr>
          <p:nvPr/>
        </p:nvSpPr>
        <p:spPr bwMode="auto">
          <a:xfrm>
            <a:off x="5966020" y="5488630"/>
            <a:ext cx="203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dirty="0">
                <a:solidFill>
                  <a:srgbClr val="000099"/>
                </a:solidFill>
                <a:latin typeface="Times New Roman" panose="02020603050405020304" pitchFamily="18" charset="0"/>
              </a:rPr>
              <a:t>带外导板的齿形链</a:t>
            </a:r>
            <a:endParaRPr lang="zh-CN" altLang="en-US" sz="1800" dirty="0">
              <a:solidFill>
                <a:srgbClr val="000099"/>
              </a:solidFill>
              <a:latin typeface="Times New Roman" panose="02020603050405020304" pitchFamily="18" charset="0"/>
            </a:endParaRPr>
          </a:p>
        </p:txBody>
      </p:sp>
      <p:sp>
        <p:nvSpPr>
          <p:cNvPr id="45067" name="直接连接符 6"/>
          <p:cNvSpPr>
            <a:spLocks noChangeShapeType="1"/>
          </p:cNvSpPr>
          <p:nvPr/>
        </p:nvSpPr>
        <p:spPr bwMode="auto">
          <a:xfrm>
            <a:off x="0" y="75501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612000" y="5859000"/>
            <a:ext cx="7650000" cy="769441"/>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齿形链传动平稳、噪声小，承受冲击性能好，效率高，工作可靠，用于高速、大传动比和小中心距等场合。</a:t>
            </a:r>
            <a:endParaRPr lang="zh-CN" altLang="en-US" dirty="0">
              <a:latin typeface="黑体" panose="02010609060101010101" pitchFamily="49" charset="-122"/>
              <a:ea typeface="黑体" panose="02010609060101010101" pitchFamily="49" charset="-122"/>
            </a:endParaRPr>
          </a:p>
        </p:txBody>
      </p:sp>
      <p:sp>
        <p:nvSpPr>
          <p:cNvPr id="5" name="Rectangle 2"/>
          <p:cNvSpPr>
            <a:spLocks noGrp="1" noChangeArrowheads="1"/>
          </p:cNvSpPr>
          <p:nvPr/>
        </p:nvSpPr>
        <p:spPr bwMode="auto">
          <a:xfrm>
            <a:off x="5675948" y="61913"/>
            <a:ext cx="4197350" cy="490537"/>
          </a:xfrm>
          <a:prstGeom prst="rect">
            <a:avLst/>
          </a:prstGeom>
          <a:ln>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defRPr/>
            </a:pPr>
            <a:r>
              <a:rPr kumimoji="1" lang="en-US" altLang="zh-CN" sz="3000" kern="1200" dirty="0" smtClean="0">
                <a:solidFill>
                  <a:srgbClr val="CC3300"/>
                </a:solidFill>
                <a:latin typeface="黑体" panose="02010609060101010101" pitchFamily="49" charset="-122"/>
                <a:ea typeface="黑体" panose="02010609060101010101" pitchFamily="49" charset="-122"/>
              </a:rPr>
              <a:t> </a:t>
            </a: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其他链传动简介</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5781"/>
                                        </p:tgtEl>
                                        <p:attrNameLst>
                                          <p:attrName>style.visibility</p:attrName>
                                        </p:attrNameLst>
                                      </p:cBhvr>
                                      <p:to>
                                        <p:strVal val="visible"/>
                                      </p:to>
                                    </p:set>
                                    <p:animEffect transition="in" filter="wipe(left)">
                                      <p:cBhvr>
                                        <p:cTn id="7" dur="500"/>
                                        <p:tgtEl>
                                          <p:spTgt spid="757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83"/>
                                        </p:tgtEl>
                                        <p:attrNameLst>
                                          <p:attrName>style.visibility</p:attrName>
                                        </p:attrNameLst>
                                      </p:cBhvr>
                                      <p:to>
                                        <p:strVal val="visible"/>
                                      </p:to>
                                    </p:set>
                                    <p:animEffect transition="in" filter="wipe(left)">
                                      <p:cBhvr>
                                        <p:cTn id="12" dur="500"/>
                                        <p:tgtEl>
                                          <p:spTgt spid="757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82"/>
                                        </p:tgtEl>
                                        <p:attrNameLst>
                                          <p:attrName>style.visibility</p:attrName>
                                        </p:attrNameLst>
                                      </p:cBhvr>
                                      <p:to>
                                        <p:strVal val="visible"/>
                                      </p:to>
                                    </p:set>
                                    <p:animEffect transition="in" filter="wipe(left)">
                                      <p:cBhvr>
                                        <p:cTn id="17" dur="500"/>
                                        <p:tgtEl>
                                          <p:spTgt spid="757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85"/>
                                        </p:tgtEl>
                                        <p:attrNameLst>
                                          <p:attrName>style.visibility</p:attrName>
                                        </p:attrNameLst>
                                      </p:cBhvr>
                                      <p:to>
                                        <p:strVal val="visible"/>
                                      </p:to>
                                    </p:set>
                                    <p:animEffect transition="in" filter="wipe(left)">
                                      <p:cBhvr>
                                        <p:cTn id="22" dur="500"/>
                                        <p:tgtEl>
                                          <p:spTgt spid="7578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164"/>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p:bldP spid="75782" grpId="0"/>
      <p:bldP spid="75783" grpId="0"/>
      <p:bldP spid="75785" grpId="0"/>
      <p:bldP spid="13" grpId="0"/>
      <p:bldP spid="14"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 name="Rectangle 2"/>
          <p:cNvSpPr>
            <a:spLocks noGrp="1" noChangeArrowheads="1"/>
          </p:cNvSpPr>
          <p:nvPr>
            <p:ph type="title"/>
          </p:nvPr>
        </p:nvSpPr>
        <p:spPr bwMode="auto">
          <a:xfrm>
            <a:off x="5541963" y="195263"/>
            <a:ext cx="3602037"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6084" name="文本框 1"/>
          <p:cNvSpPr txBox="1">
            <a:spLocks noChangeArrowheads="1"/>
          </p:cNvSpPr>
          <p:nvPr/>
        </p:nvSpPr>
        <p:spPr bwMode="auto">
          <a:xfrm>
            <a:off x="6791325" y="6229350"/>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1" action="ppaction://hlinksldjump"/>
              </a:rPr>
              <a:t>返回</a:t>
            </a:r>
            <a:endParaRPr lang="zh-CN" altLang="en-US" sz="2000">
              <a:hlinkClick r:id="rId1" action="ppaction://hlinksldjump"/>
            </a:endParaRPr>
          </a:p>
        </p:txBody>
      </p:sp>
      <p:sp>
        <p:nvSpPr>
          <p:cNvPr id="46085" name="文本框 99"/>
          <p:cNvSpPr txBox="1">
            <a:spLocks noChangeArrowheads="1"/>
          </p:cNvSpPr>
          <p:nvPr/>
        </p:nvSpPr>
        <p:spPr bwMode="auto">
          <a:xfrm>
            <a:off x="3114675" y="825500"/>
            <a:ext cx="291465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宋体" panose="02010600030101010101" pitchFamily="2" charset="-122"/>
              </a:rPr>
              <a:t>滚子链规格和主要参数</a:t>
            </a:r>
            <a:endParaRPr lang="zh-CN" altLang="en-US" sz="2000">
              <a:solidFill>
                <a:srgbClr val="000099"/>
              </a:solidFill>
              <a:latin typeface="宋体" panose="02010600030101010101" pitchFamily="2" charset="-122"/>
            </a:endParaRPr>
          </a:p>
        </p:txBody>
      </p:sp>
      <p:graphicFrame>
        <p:nvGraphicFramePr>
          <p:cNvPr id="2" name="表格 -1"/>
          <p:cNvGraphicFramePr/>
          <p:nvPr/>
        </p:nvGraphicFramePr>
        <p:xfrm>
          <a:off x="320675" y="1295400"/>
          <a:ext cx="8502651" cy="4785363"/>
        </p:xfrm>
        <a:graphic>
          <a:graphicData uri="http://schemas.openxmlformats.org/drawingml/2006/table">
            <a:tbl>
              <a:tblPr>
                <a:tableStyleId>{616DA210-FB5B-4158-B5E0-FEB733F419BA}</a:tableStyleId>
              </a:tblPr>
              <a:tblGrid>
                <a:gridCol w="944739"/>
                <a:gridCol w="944739"/>
                <a:gridCol w="944739"/>
                <a:gridCol w="944739"/>
                <a:gridCol w="944739"/>
                <a:gridCol w="944739"/>
                <a:gridCol w="944739"/>
                <a:gridCol w="944739"/>
                <a:gridCol w="944739"/>
              </a:tblGrid>
              <a:tr h="330156">
                <a:tc rowSpan="3">
                  <a:txBody>
                    <a:bodyPr/>
                    <a:lstStyle/>
                    <a:p>
                      <a:pPr indent="0" algn="ctr">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链号</a:t>
                      </a:r>
                      <a:endPar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节距</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P</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排距</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00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t</a:t>
                      </a:r>
                      <a:endParaRPr lang="en-US" altLang="zh-CN" sz="200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滚子直径</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00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max</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内链节内宽</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000" baseline="-25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min</a:t>
                      </a:r>
                      <a:endParaRPr lang="en-US" altLang="zh-CN" sz="20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销轴直径</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00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max</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row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内链板高度</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max</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61594" marT="0" marB="1" anchor="ctr"/>
                </a:tc>
                <a:tc gridSpan="2">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抗拉强度</a:t>
                      </a:r>
                      <a:endPar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hMerge="1">
                  <a:tcPr/>
                </a:tc>
              </a:tr>
              <a:tr h="584123">
                <a:tc vMerge="1">
                  <a:tcPr/>
                </a:tc>
                <a:tc vMerge="1">
                  <a:tcPr/>
                </a:tc>
                <a:tc vMerge="1">
                  <a:tcPr/>
                </a:tc>
                <a:tc vMerge="1">
                  <a:tcPr/>
                </a:tc>
                <a:tc vMerge="1">
                  <a:tcPr/>
                </a:tc>
                <a:tc vMerge="1">
                  <a:tcPr/>
                </a:tc>
                <a:tc vMerge="1">
                  <a:tcPr/>
                </a:tc>
                <a:tc>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单排</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min</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zh-CN" altLang="en-US"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双排</a:t>
                      </a: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min</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r>
              <a:tr h="304760">
                <a:tc vMerge="1">
                  <a:tcPr/>
                </a:tc>
                <a:tc gridSpan="6">
                  <a:txBody>
                    <a:bodyPr/>
                    <a:lstStyle/>
                    <a:p>
                      <a:pPr indent="0" algn="ctr">
                        <a:buNone/>
                      </a:pP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mm</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61594" marT="0" marB="1" anchor="ctr"/>
                </a:tc>
                <a:tc hMerge="1">
                  <a:tcPr/>
                </a:tc>
                <a:tc hMerge="1">
                  <a:tcPr/>
                </a:tc>
                <a:tc hMerge="1">
                  <a:tcPr/>
                </a:tc>
                <a:tc hMerge="1">
                  <a:tcPr/>
                </a:tc>
                <a:tc hMerge="1">
                  <a:tcPr/>
                </a:tc>
                <a:tc gridSpan="2">
                  <a:txBody>
                    <a:bodyPr/>
                    <a:lstStyle/>
                    <a:p>
                      <a:pPr indent="0" algn="ctr">
                        <a:buNone/>
                      </a:pPr>
                      <a:r>
                        <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KN</a:t>
                      </a:r>
                      <a:endParaRPr lang="en-US" altLang="zh-CN" sz="2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hMerge="1">
                  <a:tcPr/>
                </a:tc>
              </a:tr>
              <a:tr h="3565686">
                <a:tc>
                  <a:txBody>
                    <a:bodyPr/>
                    <a:lstStyle/>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05B</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06B</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08A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08B</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24A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28A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32A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48A</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8.00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9.525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12.70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12.70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15.875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19.05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25.40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31.75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38.10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44.45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50.80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63.50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76.20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5.64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10.24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14.38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13.92</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18.11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22.78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29.29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35.76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45.44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48.87</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58.55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71.55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87.83</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6.35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8.51</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7.95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10.16</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11.91</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15.88</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19.05</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22.23</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25.40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28.58</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39.68</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47.63</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5.72</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7.75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7.85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9.40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12.57</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15.75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18.90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25.22</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25.22</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31.55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37.85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47.35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2.31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3.28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4.45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3.96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5.96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7.94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9.54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11.11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12.71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14.29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19.85</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23.81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7.11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8.26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11.81</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12.07</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15.09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18.08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24.13</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30.18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36.20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42.24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48.26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60.33</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72.39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61594" marT="0" marB="1" anchor="ctr"/>
                </a:tc>
                <a:tc>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4.4</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13.9</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21.8</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31.3</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55.6</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87.0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125.0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170.0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223.0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347.0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500.0</a:t>
                      </a:r>
                      <a:endPar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c>
                  <a:txBody>
                    <a:bodyPr/>
                    <a:lstStyle/>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7.8</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16.9</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27.8</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31.1</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43.6</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62.6</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111.2</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174.0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250.0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340.0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446.0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694.0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1000.0</a:t>
                      </a:r>
                      <a:endParaRPr lang="en-US" altLang="zh-CN" sz="180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tc>
              </a:tr>
            </a:tbl>
          </a:graphicData>
        </a:graphic>
      </p:graphicFrame>
      <p:pic>
        <p:nvPicPr>
          <p:cNvPr id="46129" name="Picture 34" descr="rewind1">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5541963" y="195263"/>
            <a:ext cx="3602037"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8204" name="文本框 99"/>
          <p:cNvSpPr txBox="1">
            <a:spLocks noChangeArrowheads="1"/>
          </p:cNvSpPr>
          <p:nvPr/>
        </p:nvSpPr>
        <p:spPr bwMode="auto">
          <a:xfrm>
            <a:off x="3094038" y="779463"/>
            <a:ext cx="29559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宋体" panose="02010600030101010101" pitchFamily="2" charset="-122"/>
              </a:rPr>
              <a:t>滚子链链轮的主要尺寸</a:t>
            </a:r>
            <a:endParaRPr lang="zh-CN" altLang="en-US" sz="2000">
              <a:solidFill>
                <a:srgbClr val="000099"/>
              </a:solidFill>
              <a:latin typeface="宋体" panose="02010600030101010101" pitchFamily="2" charset="-122"/>
            </a:endParaRPr>
          </a:p>
        </p:txBody>
      </p:sp>
      <p:graphicFrame>
        <p:nvGraphicFramePr>
          <p:cNvPr id="16397" name="表格 16396"/>
          <p:cNvGraphicFramePr>
            <a:graphicFrameLocks noGrp="1"/>
          </p:cNvGraphicFramePr>
          <p:nvPr>
            <p:custDataLst>
              <p:tags r:id="rId1"/>
            </p:custDataLst>
          </p:nvPr>
        </p:nvGraphicFramePr>
        <p:xfrm>
          <a:off x="95250" y="1228725"/>
          <a:ext cx="8951913" cy="4936175"/>
        </p:xfrm>
        <a:graphic>
          <a:graphicData uri="http://schemas.openxmlformats.org/drawingml/2006/table">
            <a:tbl>
              <a:tblPr/>
              <a:tblGrid>
                <a:gridCol w="1798638"/>
                <a:gridCol w="719137"/>
                <a:gridCol w="527050"/>
                <a:gridCol w="3468688"/>
                <a:gridCol w="2438400"/>
              </a:tblGrid>
              <a:tr h="311150">
                <a:tc rowSpan="6">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名称</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代号</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计算公式</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备注</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487363">
                <a:tc vMerge="1">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分度圆直径</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endPar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1552575">
                <a:tc vMerge="1">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齿顶圆直径</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marL="71755"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71755"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可在</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amax</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amin</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范围内任意选取，但选用</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d</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amax</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时，应该考虑采用展成法加工有发生顶切的可能性</a:t>
                      </a:r>
                      <a:endPar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1287463">
                <a:tc vMerge="1">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节距多边形以上的齿高</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h</a:t>
                      </a:r>
                      <a:r>
                        <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marL="71755"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71755"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h</a:t>
                      </a:r>
                      <a:r>
                        <a:rPr kumimoji="0" lang="en-US" altLang="zh-CN" sz="18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是为简化放大齿形图的绘制而引入的辅助尺寸。</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h</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amax</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与</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d</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amax</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对应、</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h</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amin</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与</a:t>
                      </a:r>
                      <a:r>
                        <a:rPr kumimoji="0" lang="en-US" altLang="zh-CN" sz="18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d</a:t>
                      </a:r>
                      <a:r>
                        <a:rPr kumimoji="0" lang="en-US" altLang="zh-CN" sz="1800" b="0" i="1"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amin</a:t>
                      </a:r>
                      <a:r>
                        <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对应</a:t>
                      </a:r>
                      <a:endParaRPr kumimoji="0" lang="zh-CN" altLang="en-US" sz="18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487680">
                <a:tc vMerge="1">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齿根圆直径</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f</a:t>
                      </a:r>
                      <a:endPar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809625">
                <a:tc vMerge="1">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最大齿侧凸缘直径</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g</a:t>
                      </a:r>
                      <a:endPar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h</a:t>
                      </a:r>
                      <a:r>
                        <a:rPr kumimoji="0" lang="en-US" altLang="zh-CN" sz="16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一内链板高度</a:t>
                      </a: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b"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r>
            </a:tbl>
          </a:graphicData>
        </a:graphic>
      </p:graphicFrame>
      <p:grpSp>
        <p:nvGrpSpPr>
          <p:cNvPr id="8245" name="组合 46"/>
          <p:cNvGrpSpPr/>
          <p:nvPr/>
        </p:nvGrpSpPr>
        <p:grpSpPr bwMode="auto">
          <a:xfrm>
            <a:off x="168275" y="1481138"/>
            <a:ext cx="6181725" cy="4887912"/>
            <a:chOff x="264" y="2107"/>
            <a:chExt cx="9735" cy="7697"/>
          </a:xfrm>
        </p:grpSpPr>
        <p:sp>
          <p:nvSpPr>
            <p:cNvPr id="8248" name="Text Box 62"/>
            <p:cNvSpPr txBox="1">
              <a:spLocks noChangeArrowheads="1"/>
            </p:cNvSpPr>
            <p:nvPr/>
          </p:nvSpPr>
          <p:spPr bwMode="auto">
            <a:xfrm>
              <a:off x="9577" y="9132"/>
              <a:ext cx="422"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aphicFrame>
          <p:nvGraphicFramePr>
            <p:cNvPr id="8194" name="对象 -2147482594"/>
            <p:cNvGraphicFramePr>
              <a:graphicFrameLocks noChangeAspect="1"/>
            </p:cNvGraphicFramePr>
            <p:nvPr/>
          </p:nvGraphicFramePr>
          <p:xfrm>
            <a:off x="5505" y="8229"/>
            <a:ext cx="3860" cy="904"/>
          </p:xfrm>
          <a:graphic>
            <a:graphicData uri="http://schemas.openxmlformats.org/presentationml/2006/ole">
              <mc:AlternateContent xmlns:mc="http://schemas.openxmlformats.org/markup-compatibility/2006">
                <mc:Choice xmlns:v="urn:schemas-microsoft-com:vml" Requires="v">
                  <p:oleObj spid="_x0000_s8542" name="公式" r:id="rId2" imgW="1790700" imgH="419100" progId="Equation.3">
                    <p:embed/>
                  </p:oleObj>
                </mc:Choice>
                <mc:Fallback>
                  <p:oleObj name="公式" r:id="rId2" imgW="1790700" imgH="419100" progId="Equation.3">
                    <p:embed/>
                    <p:pic>
                      <p:nvPicPr>
                        <p:cNvPr id="0" name="对象 -21474825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5" y="8229"/>
                          <a:ext cx="3860"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195" name="对象 -2147482596"/>
            <p:cNvGraphicFramePr>
              <a:graphicFrameLocks noChangeAspect="1"/>
            </p:cNvGraphicFramePr>
            <p:nvPr/>
          </p:nvGraphicFramePr>
          <p:xfrm>
            <a:off x="6641" y="7533"/>
            <a:ext cx="1589" cy="502"/>
          </p:xfrm>
          <a:graphic>
            <a:graphicData uri="http://schemas.openxmlformats.org/presentationml/2006/ole">
              <mc:AlternateContent xmlns:mc="http://schemas.openxmlformats.org/markup-compatibility/2006">
                <mc:Choice xmlns:v="urn:schemas-microsoft-com:vml" Requires="v">
                  <p:oleObj spid="_x0000_s8543" name="公式" r:id="rId4" imgW="685800" imgH="215900" progId="Equation.3">
                    <p:embed/>
                  </p:oleObj>
                </mc:Choice>
                <mc:Fallback>
                  <p:oleObj name="公式" r:id="rId4" imgW="685800" imgH="215900" progId="Equation.3">
                    <p:embed/>
                    <p:pic>
                      <p:nvPicPr>
                        <p:cNvPr id="0" name="对象 -21474825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1" y="7533"/>
                          <a:ext cx="158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196" name="对象 -2147482605"/>
            <p:cNvGraphicFramePr>
              <a:graphicFrameLocks noChangeAspect="1"/>
            </p:cNvGraphicFramePr>
            <p:nvPr/>
          </p:nvGraphicFramePr>
          <p:xfrm>
            <a:off x="5649" y="5329"/>
            <a:ext cx="3608" cy="749"/>
          </p:xfrm>
          <a:graphic>
            <a:graphicData uri="http://schemas.openxmlformats.org/presentationml/2006/ole">
              <mc:AlternateContent xmlns:mc="http://schemas.openxmlformats.org/markup-compatibility/2006">
                <mc:Choice xmlns:v="urn:schemas-microsoft-com:vml" Requires="v">
                  <p:oleObj spid="_x0000_s8544" name="" r:id="rId6" imgW="1714500" imgH="355600" progId="Equation.KSEE3">
                    <p:embed/>
                  </p:oleObj>
                </mc:Choice>
                <mc:Fallback>
                  <p:oleObj name="" r:id="rId6" imgW="1714500" imgH="355600" progId="Equation.KSEE3">
                    <p:embed/>
                    <p:pic>
                      <p:nvPicPr>
                        <p:cNvPr id="0" name="对象 -214748260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9" y="5329"/>
                          <a:ext cx="3608"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197" name="对象 -2147482604"/>
            <p:cNvGraphicFramePr>
              <a:graphicFrameLocks noChangeAspect="1"/>
            </p:cNvGraphicFramePr>
            <p:nvPr/>
          </p:nvGraphicFramePr>
          <p:xfrm>
            <a:off x="6450" y="5965"/>
            <a:ext cx="2182" cy="447"/>
          </p:xfrm>
          <a:graphic>
            <a:graphicData uri="http://schemas.openxmlformats.org/presentationml/2006/ole">
              <mc:AlternateContent xmlns:mc="http://schemas.openxmlformats.org/markup-compatibility/2006">
                <mc:Choice xmlns:v="urn:schemas-microsoft-com:vml" Requires="v">
                  <p:oleObj spid="_x0000_s8545" name="" r:id="rId8" imgW="1117600" imgH="228600" progId="Equation.KSEE3">
                    <p:embed/>
                  </p:oleObj>
                </mc:Choice>
                <mc:Fallback>
                  <p:oleObj name="" r:id="rId8" imgW="1117600" imgH="228600" progId="Equation.KSEE3">
                    <p:embed/>
                    <p:pic>
                      <p:nvPicPr>
                        <p:cNvPr id="0" name="对象 -214748260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50" y="5965"/>
                          <a:ext cx="2182"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198" name="对象 -2147482603"/>
            <p:cNvGraphicFramePr>
              <a:graphicFrameLocks noChangeAspect="1"/>
            </p:cNvGraphicFramePr>
            <p:nvPr/>
          </p:nvGraphicFramePr>
          <p:xfrm>
            <a:off x="6524" y="6862"/>
            <a:ext cx="1675" cy="550"/>
          </p:xfrm>
          <a:graphic>
            <a:graphicData uri="http://schemas.openxmlformats.org/presentationml/2006/ole">
              <mc:AlternateContent xmlns:mc="http://schemas.openxmlformats.org/markup-compatibility/2006">
                <mc:Choice xmlns:v="urn:schemas-microsoft-com:vml" Requires="v">
                  <p:oleObj spid="_x0000_s8546" name="公式" r:id="rId10" imgW="698500" imgH="228600" progId="Equation.3">
                    <p:embed/>
                  </p:oleObj>
                </mc:Choice>
                <mc:Fallback>
                  <p:oleObj name="公式" r:id="rId10" imgW="698500" imgH="228600" progId="Equation.3">
                    <p:embed/>
                    <p:pic>
                      <p:nvPicPr>
                        <p:cNvPr id="0" name="对象 -214748260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4" y="6862"/>
                          <a:ext cx="1675"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199" name="对象 -2147482395"/>
            <p:cNvGraphicFramePr>
              <a:graphicFrameLocks noChangeAspect="1"/>
            </p:cNvGraphicFramePr>
            <p:nvPr/>
          </p:nvGraphicFramePr>
          <p:xfrm>
            <a:off x="5888" y="2361"/>
            <a:ext cx="2710" cy="525"/>
          </p:xfrm>
          <a:graphic>
            <a:graphicData uri="http://schemas.openxmlformats.org/presentationml/2006/ole">
              <mc:AlternateContent xmlns:mc="http://schemas.openxmlformats.org/markup-compatibility/2006">
                <mc:Choice xmlns:v="urn:schemas-microsoft-com:vml" Requires="v">
                  <p:oleObj spid="_x0000_s8547" name="" r:id="rId12" imgW="1180465" imgH="228600" progId="Equation.KSEE3">
                    <p:embed/>
                  </p:oleObj>
                </mc:Choice>
                <mc:Fallback>
                  <p:oleObj name="" r:id="rId12" imgW="1180465" imgH="228600" progId="Equation.KSEE3">
                    <p:embed/>
                    <p:pic>
                      <p:nvPicPr>
                        <p:cNvPr id="0" name="对象 -214748239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88" y="2361"/>
                          <a:ext cx="271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0" name="对象 -2147482613"/>
            <p:cNvGraphicFramePr>
              <a:graphicFrameLocks noChangeAspect="1"/>
            </p:cNvGraphicFramePr>
            <p:nvPr/>
          </p:nvGraphicFramePr>
          <p:xfrm>
            <a:off x="5888" y="2990"/>
            <a:ext cx="2711" cy="482"/>
          </p:xfrm>
          <a:graphic>
            <a:graphicData uri="http://schemas.openxmlformats.org/presentationml/2006/ole">
              <mc:AlternateContent xmlns:mc="http://schemas.openxmlformats.org/markup-compatibility/2006">
                <mc:Choice xmlns:v="urn:schemas-microsoft-com:vml" Requires="v">
                  <p:oleObj spid="_x0000_s8548" name="" r:id="rId14" imgW="1156335" imgH="203200" progId="Equation.3">
                    <p:embed/>
                  </p:oleObj>
                </mc:Choice>
                <mc:Fallback>
                  <p:oleObj name="" r:id="rId14" imgW="1156335" imgH="203200" progId="Equation.3">
                    <p:embed/>
                    <p:pic>
                      <p:nvPicPr>
                        <p:cNvPr id="0" name="对象 -21474826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88" y="2990"/>
                          <a:ext cx="2711"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1" name="对象 -2147482612"/>
            <p:cNvGraphicFramePr>
              <a:graphicFrameLocks noChangeAspect="1"/>
            </p:cNvGraphicFramePr>
            <p:nvPr/>
          </p:nvGraphicFramePr>
          <p:xfrm>
            <a:off x="5554" y="3277"/>
            <a:ext cx="3637" cy="925"/>
          </p:xfrm>
          <a:graphic>
            <a:graphicData uri="http://schemas.openxmlformats.org/presentationml/2006/ole">
              <mc:AlternateContent xmlns:mc="http://schemas.openxmlformats.org/markup-compatibility/2006">
                <mc:Choice xmlns:v="urn:schemas-microsoft-com:vml" Requires="v">
                  <p:oleObj spid="_x0000_s8549" name="" r:id="rId16" imgW="1548765" imgH="393700" progId="Equation.KSEE3">
                    <p:embed/>
                  </p:oleObj>
                </mc:Choice>
                <mc:Fallback>
                  <p:oleObj name="" r:id="rId16" imgW="1548765" imgH="393700" progId="Equation.KSEE3">
                    <p:embed/>
                    <p:pic>
                      <p:nvPicPr>
                        <p:cNvPr id="0" name="对象 -21474826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54" y="3277"/>
                          <a:ext cx="3637"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2" name="对象 -2147482611"/>
            <p:cNvGraphicFramePr>
              <a:graphicFrameLocks noChangeAspect="1"/>
            </p:cNvGraphicFramePr>
            <p:nvPr/>
          </p:nvGraphicFramePr>
          <p:xfrm>
            <a:off x="5950" y="4507"/>
            <a:ext cx="2846" cy="822"/>
          </p:xfrm>
          <a:graphic>
            <a:graphicData uri="http://schemas.openxmlformats.org/presentationml/2006/ole">
              <mc:AlternateContent xmlns:mc="http://schemas.openxmlformats.org/markup-compatibility/2006">
                <mc:Choice xmlns:v="urn:schemas-microsoft-com:vml" Requires="v">
                  <p:oleObj spid="_x0000_s8550" name="" r:id="rId18" imgW="1320800" imgH="381000" progId="Equation.KSEE3">
                    <p:embed/>
                  </p:oleObj>
                </mc:Choice>
                <mc:Fallback>
                  <p:oleObj name="" r:id="rId18" imgW="1320800" imgH="381000" progId="Equation.KSEE3">
                    <p:embed/>
                    <p:pic>
                      <p:nvPicPr>
                        <p:cNvPr id="0" name="对象 -21474826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50" y="4507"/>
                          <a:ext cx="284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49" name="文本框 41"/>
            <p:cNvSpPr txBox="1">
              <a:spLocks noChangeArrowheads="1"/>
            </p:cNvSpPr>
            <p:nvPr/>
          </p:nvSpPr>
          <p:spPr bwMode="auto">
            <a:xfrm>
              <a:off x="5288" y="4089"/>
              <a:ext cx="4169"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1600">
                  <a:solidFill>
                    <a:srgbClr val="000099"/>
                  </a:solidFill>
                  <a:latin typeface="宋体" panose="02010600030101010101" pitchFamily="2" charset="-122"/>
                </a:rPr>
                <a:t>若为三圆弧一直线齿形，则</a:t>
              </a:r>
              <a:endParaRPr lang="zh-CN" altLang="en-US" sz="1600">
                <a:solidFill>
                  <a:srgbClr val="000099"/>
                </a:solidFill>
                <a:latin typeface="宋体" panose="02010600030101010101" pitchFamily="2" charset="-122"/>
              </a:endParaRPr>
            </a:p>
          </p:txBody>
        </p:sp>
        <p:sp>
          <p:nvSpPr>
            <p:cNvPr id="8250" name="文本框 42"/>
            <p:cNvSpPr txBox="1">
              <a:spLocks noChangeArrowheads="1"/>
            </p:cNvSpPr>
            <p:nvPr/>
          </p:nvSpPr>
          <p:spPr bwMode="auto">
            <a:xfrm>
              <a:off x="5369" y="6410"/>
              <a:ext cx="4169"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1600">
                  <a:solidFill>
                    <a:srgbClr val="000099"/>
                  </a:solidFill>
                  <a:latin typeface="宋体" panose="02010600030101010101" pitchFamily="2" charset="-122"/>
                </a:rPr>
                <a:t>若为三圆弧一直线齿形，则</a:t>
              </a:r>
              <a:endParaRPr lang="zh-CN" altLang="en-US" sz="1600">
                <a:solidFill>
                  <a:srgbClr val="000099"/>
                </a:solidFill>
                <a:latin typeface="宋体" panose="02010600030101010101" pitchFamily="2" charset="-122"/>
              </a:endParaRPr>
            </a:p>
          </p:txBody>
        </p:sp>
        <p:pic>
          <p:nvPicPr>
            <p:cNvPr id="8251" name="图片 1"/>
            <p:cNvPicPr>
              <a:picLocks noChangeAspect="1" noChangeArrowheads="1"/>
            </p:cNvPicPr>
            <p:nvPr/>
          </p:nvPicPr>
          <p:blipFill>
            <a:blip r:embed="rId20">
              <a:extLst>
                <a:ext uri="{28A0092B-C50C-407E-A947-70E740481C1C}">
                  <a14:useLocalDpi xmlns:a14="http://schemas.microsoft.com/office/drawing/2010/main" val="0"/>
                </a:ext>
              </a:extLst>
            </a:blip>
            <a:srcRect r="60489"/>
            <a:stretch>
              <a:fillRect/>
            </a:stretch>
          </p:blipFill>
          <p:spPr bwMode="auto">
            <a:xfrm>
              <a:off x="264" y="2107"/>
              <a:ext cx="2708"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52" name="图片 43"/>
            <p:cNvPicPr>
              <a:picLocks noChangeAspect="1" noChangeArrowheads="1"/>
            </p:cNvPicPr>
            <p:nvPr/>
          </p:nvPicPr>
          <p:blipFill>
            <a:blip r:embed="rId20">
              <a:extLst>
                <a:ext uri="{28A0092B-C50C-407E-A947-70E740481C1C}">
                  <a14:useLocalDpi xmlns:a14="http://schemas.microsoft.com/office/drawing/2010/main" val="0"/>
                </a:ext>
              </a:extLst>
            </a:blip>
            <a:srcRect l="37381" r="29355"/>
            <a:stretch>
              <a:fillRect/>
            </a:stretch>
          </p:blipFill>
          <p:spPr bwMode="auto">
            <a:xfrm>
              <a:off x="364" y="4571"/>
              <a:ext cx="2280"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53" name="图片 44"/>
            <p:cNvPicPr>
              <a:picLocks noChangeAspect="1" noChangeArrowheads="1"/>
            </p:cNvPicPr>
            <p:nvPr/>
          </p:nvPicPr>
          <p:blipFill>
            <a:blip r:embed="rId20">
              <a:extLst>
                <a:ext uri="{28A0092B-C50C-407E-A947-70E740481C1C}">
                  <a14:useLocalDpi xmlns:a14="http://schemas.microsoft.com/office/drawing/2010/main" val="0"/>
                </a:ext>
              </a:extLst>
            </a:blip>
            <a:srcRect l="69241"/>
            <a:stretch>
              <a:fillRect/>
            </a:stretch>
          </p:blipFill>
          <p:spPr bwMode="auto">
            <a:xfrm>
              <a:off x="454" y="6946"/>
              <a:ext cx="2108"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46" name="文本框 1"/>
          <p:cNvSpPr txBox="1">
            <a:spLocks noChangeArrowheads="1"/>
          </p:cNvSpPr>
          <p:nvPr/>
        </p:nvSpPr>
        <p:spPr bwMode="auto">
          <a:xfrm>
            <a:off x="7358063" y="6286500"/>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21" action="ppaction://hlinksldjump"/>
              </a:rPr>
              <a:t>返回</a:t>
            </a:r>
            <a:endParaRPr lang="zh-CN" altLang="en-US" sz="2000">
              <a:hlinkClick r:id="rId21" action="ppaction://hlinksldjump"/>
            </a:endParaRPr>
          </a:p>
        </p:txBody>
      </p:sp>
      <p:pic>
        <p:nvPicPr>
          <p:cNvPr id="8247" name="Picture 34" descr="rewind1">
            <a:hlinkClick r:id="rId22" action="ppaction://hlinksldjump"/>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5541963" y="195263"/>
            <a:ext cx="3602037"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传动链的结构特点</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47107" name="文本框 1"/>
          <p:cNvSpPr txBox="1">
            <a:spLocks noChangeArrowheads="1"/>
          </p:cNvSpPr>
          <p:nvPr/>
        </p:nvSpPr>
        <p:spPr bwMode="auto">
          <a:xfrm>
            <a:off x="6791325" y="6229350"/>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1" action="ppaction://hlinksldjump"/>
              </a:rPr>
              <a:t>返回</a:t>
            </a:r>
            <a:endParaRPr lang="zh-CN" altLang="en-US" sz="2000">
              <a:hlinkClick r:id="rId1" action="ppaction://hlinksldjump"/>
            </a:endParaRPr>
          </a:p>
        </p:txBody>
      </p:sp>
      <p:sp>
        <p:nvSpPr>
          <p:cNvPr id="47108" name="文本框 99"/>
          <p:cNvSpPr txBox="1">
            <a:spLocks noChangeArrowheads="1"/>
          </p:cNvSpPr>
          <p:nvPr/>
        </p:nvSpPr>
        <p:spPr bwMode="auto">
          <a:xfrm>
            <a:off x="2547938" y="893763"/>
            <a:ext cx="4049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dirty="0">
                <a:solidFill>
                  <a:srgbClr val="000099"/>
                </a:solidFill>
                <a:latin typeface="宋体" panose="02010600030101010101" pitchFamily="2" charset="-122"/>
              </a:rPr>
              <a:t>链轮常用的材料及齿面硬度</a:t>
            </a:r>
            <a:endParaRPr lang="zh-CN" altLang="en-US" dirty="0">
              <a:solidFill>
                <a:srgbClr val="000099"/>
              </a:solidFill>
              <a:latin typeface="宋体" panose="02010600030101010101" pitchFamily="2" charset="-122"/>
            </a:endParaRPr>
          </a:p>
        </p:txBody>
      </p:sp>
      <p:graphicFrame>
        <p:nvGraphicFramePr>
          <p:cNvPr id="2" name="表格 -1"/>
          <p:cNvGraphicFramePr/>
          <p:nvPr/>
        </p:nvGraphicFramePr>
        <p:xfrm>
          <a:off x="161290" y="1435735"/>
          <a:ext cx="8820785" cy="4617725"/>
        </p:xfrm>
        <a:graphic>
          <a:graphicData uri="http://schemas.openxmlformats.org/drawingml/2006/table">
            <a:tbl>
              <a:tblPr firstRow="1" bandRow="1">
                <a:tableStyleId>{5940675A-B579-460E-94D1-54222C63F5DA}</a:tableStyleId>
              </a:tblPr>
              <a:tblGrid>
                <a:gridCol w="1619885"/>
                <a:gridCol w="1950720"/>
                <a:gridCol w="1561465"/>
                <a:gridCol w="3688715"/>
              </a:tblGrid>
              <a:tr h="261620">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材料</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热处理</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热处理后硬度</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应用范围</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920">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渗碳、淬火、回火</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60HRC</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，有冲击载荷的主、从动链轮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1800">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正火</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160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200HBW</a:t>
                      </a:r>
                      <a:endParaRPr lang="en-US" altLang="zh-CN" sz="1800" b="0" dirty="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在正常工作条件下，齿数较多（</a:t>
                      </a: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260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ZG310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570</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50HRC</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无剧烈振动及冲击的链轮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388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15Cr</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20Cr</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渗碳、淬火、回火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60HRC</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有动载荷及传递较大功率的重要链轮（</a:t>
                      </a: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25</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260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35SiMn</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40Cr</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35CrMo</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50HRC</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使用优质链条，重要的链轮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5915">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Q235</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Q275</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焊接后退火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140HBW</a:t>
                      </a:r>
                      <a:endParaRPr lang="en-US" altLang="zh-CN" sz="1800" b="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中等速度、传递中等功率的较大链轮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1810">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普通灰铸铁（不低于</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HT150)</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淬火、回火</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260</a:t>
                      </a: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280HBW</a:t>
                      </a:r>
                      <a:endParaRPr lang="en-US" altLang="zh-CN" sz="1800" b="0">
                        <a:solidFill>
                          <a:srgbClr val="000099"/>
                        </a:solidFill>
                        <a:highlight>
                          <a:srgbClr val="FFFF00"/>
                        </a:highligh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800" b="0" i="1"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b="0" baseline="-2500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的从动链轮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58800">
                <a:tc>
                  <a:txBody>
                    <a:bodyPr/>
                    <a:lstStyle/>
                    <a:p>
                      <a:pPr indent="0" algn="ctr">
                        <a:buNone/>
                      </a:pPr>
                      <a:r>
                        <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夹布胶木</a:t>
                      </a:r>
                      <a:endParaRPr lang="zh-CN" altLang="en-US"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1800" b="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功率小于</a:t>
                      </a:r>
                      <a:r>
                        <a:rPr lang="en-US" altLang="zh-CN"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6kW</a:t>
                      </a:r>
                      <a:r>
                        <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rPr>
                        <a:t>、速度较高、要求传动平稳和噪声小的链轮</a:t>
                      </a:r>
                      <a:endParaRPr lang="zh-CN" altLang="en-US" sz="1800" b="0" dirty="0">
                        <a:solidFill>
                          <a:srgbClr val="000099"/>
                        </a:solidFill>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47110" name="Picture 34" descr="rewind1">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48131"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3" name="Rectangle 2"/>
          <p:cNvSpPr>
            <a:spLocks noGrp="1" noChangeArrowheads="1"/>
          </p:cNvSpPr>
          <p:nvPr>
            <p:ph type="title"/>
          </p:nvPr>
        </p:nvSpPr>
        <p:spPr bwMode="auto">
          <a:xfrm>
            <a:off x="5500688" y="271463"/>
            <a:ext cx="3625850" cy="490537"/>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sym typeface="+mn-ea"/>
              </a:rPr>
              <a:t>链传动的运动特性</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48133"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文本框 99"/>
          <p:cNvSpPr txBox="1">
            <a:spLocks noChangeArrowheads="1"/>
          </p:cNvSpPr>
          <p:nvPr/>
        </p:nvSpPr>
        <p:spPr bwMode="auto">
          <a:xfrm>
            <a:off x="2928938" y="714375"/>
            <a:ext cx="32416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Times New Roman" panose="02020603050405020304" pitchFamily="18" charset="0"/>
              </a:rPr>
              <a:t>垂度系数</a:t>
            </a:r>
            <a:r>
              <a:rPr lang="en-US" altLang="zh-CN" sz="2000" i="1">
                <a:solidFill>
                  <a:srgbClr val="000099"/>
                </a:solidFill>
                <a:latin typeface="Times New Roman" panose="02020603050405020304" pitchFamily="18" charset="0"/>
              </a:rPr>
              <a:t>K</a:t>
            </a:r>
            <a:r>
              <a:rPr lang="en-US" altLang="zh-CN" sz="2000" i="1" baseline="-25000">
                <a:solidFill>
                  <a:srgbClr val="000099"/>
                </a:solidFill>
                <a:latin typeface="Times New Roman" panose="02020603050405020304" pitchFamily="18" charset="0"/>
              </a:rPr>
              <a:t>f</a:t>
            </a:r>
            <a:r>
              <a:rPr lang="zh-CN" altLang="en-US" sz="2000">
                <a:solidFill>
                  <a:srgbClr val="000099"/>
                </a:solidFill>
                <a:latin typeface="Times New Roman" panose="02020603050405020304" pitchFamily="18" charset="0"/>
              </a:rPr>
              <a:t>的取值</a:t>
            </a:r>
            <a:endParaRPr lang="zh-CN" altLang="en-US" sz="2000">
              <a:solidFill>
                <a:srgbClr val="000099"/>
              </a:solidFill>
              <a:latin typeface="Times New Roman" panose="02020603050405020304" pitchFamily="18" charset="0"/>
              <a:cs typeface="Times New Roman" panose="02020603050405020304" pitchFamily="18" charset="0"/>
            </a:endParaRPr>
          </a:p>
        </p:txBody>
      </p:sp>
      <p:sp>
        <p:nvSpPr>
          <p:cNvPr id="48135" name="文本框 1"/>
          <p:cNvSpPr txBox="1">
            <a:spLocks noChangeArrowheads="1"/>
          </p:cNvSpPr>
          <p:nvPr/>
        </p:nvSpPr>
        <p:spPr bwMode="auto">
          <a:xfrm>
            <a:off x="7299325" y="5927725"/>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hlinkClick r:id="rId3" action="ppaction://hlinksldjump"/>
              </a:rPr>
              <a:t>返回</a:t>
            </a:r>
            <a:endParaRPr lang="zh-CN" altLang="en-US" sz="2000">
              <a:solidFill>
                <a:srgbClr val="000099"/>
              </a:solidFill>
              <a:hlinkClick r:id="rId3" action="ppaction://hlinksldjump"/>
            </a:endParaRPr>
          </a:p>
        </p:txBody>
      </p:sp>
      <p:pic>
        <p:nvPicPr>
          <p:cNvPr id="48136"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51720" y="1196752"/>
            <a:ext cx="4341813"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79730" y="4015105"/>
            <a:ext cx="1385570" cy="768350"/>
          </a:xfrm>
          <a:prstGeom prst="rect">
            <a:avLst/>
          </a:prstGeom>
          <a:noFill/>
        </p:spPr>
        <p:txBody>
          <a:bodyPr wrap="square" rtlCol="0">
            <a:spAutoFit/>
          </a:bodyPr>
          <a:lstStyle/>
          <a:p>
            <a:r>
              <a:rPr lang="zh-CN" altLang="en-US" dirty="0" smtClean="0"/>
              <a:t>教材</a:t>
            </a:r>
            <a:r>
              <a:rPr lang="en-US" altLang="zh-CN" dirty="0" smtClean="0"/>
              <a:t>P197</a:t>
            </a:r>
            <a:r>
              <a:rPr lang="zh-CN" altLang="en-US" dirty="0" smtClean="0"/>
              <a:t>表</a:t>
            </a:r>
            <a:r>
              <a:rPr lang="en-US" altLang="zh-CN" dirty="0" smtClean="0"/>
              <a:t>3.3-6</a:t>
            </a:r>
            <a:endParaRPr lang="zh-CN" altLang="en-US" dirty="0"/>
          </a:p>
        </p:txBody>
      </p:sp>
    </p:spTree>
  </p:cSld>
  <p:clrMapOvr>
    <a:masterClrMapping/>
  </p:clrMapOvr>
  <p:transition>
    <p:blinds/>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49155"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文本框 99"/>
          <p:cNvSpPr txBox="1">
            <a:spLocks noChangeArrowheads="1"/>
          </p:cNvSpPr>
          <p:nvPr/>
        </p:nvSpPr>
        <p:spPr bwMode="auto">
          <a:xfrm>
            <a:off x="467544" y="620688"/>
            <a:ext cx="5080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dirty="0">
                <a:solidFill>
                  <a:srgbClr val="000099"/>
                </a:solidFill>
                <a:latin typeface="Times New Roman" panose="02020603050405020304" pitchFamily="18" charset="0"/>
              </a:rPr>
              <a:t>A</a:t>
            </a:r>
            <a:r>
              <a:rPr lang="zh-CN" altLang="en-US" sz="2000" dirty="0">
                <a:solidFill>
                  <a:srgbClr val="000099"/>
                </a:solidFill>
                <a:latin typeface="Times New Roman" panose="02020603050405020304" pitchFamily="18" charset="0"/>
              </a:rPr>
              <a:t>系列滚子链的额定功率曲线</a:t>
            </a:r>
            <a:endParaRPr lang="zh-CN" altLang="en-US" sz="2000" dirty="0">
              <a:solidFill>
                <a:srgbClr val="000099"/>
              </a:solidFill>
              <a:latin typeface="Times New Roman" panose="02020603050405020304" pitchFamily="18" charset="0"/>
              <a:cs typeface="Times New Roman" panose="02020603050405020304" pitchFamily="18" charset="0"/>
            </a:endParaRPr>
          </a:p>
        </p:txBody>
      </p:sp>
      <p:pic>
        <p:nvPicPr>
          <p:cNvPr id="49161"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9512" y="1196752"/>
            <a:ext cx="5481637" cy="524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3"/>
          <p:cNvSpPr txBox="1">
            <a:spLocks noChangeArrowheads="1"/>
          </p:cNvSpPr>
          <p:nvPr/>
        </p:nvSpPr>
        <p:spPr bwMode="auto">
          <a:xfrm>
            <a:off x="6084168" y="980728"/>
            <a:ext cx="28083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zh-CN" altLang="en-US" dirty="0" smtClean="0">
                <a:latin typeface="黑体" panose="02010609060101010101" pitchFamily="49" charset="-122"/>
                <a:ea typeface="黑体" panose="02010609060101010101" pitchFamily="49" charset="-122"/>
              </a:rPr>
              <a:t>功率</a:t>
            </a:r>
            <a:r>
              <a:rPr kumimoji="1" lang="zh-CN" altLang="en-US" dirty="0">
                <a:latin typeface="黑体" panose="02010609060101010101" pitchFamily="49" charset="-122"/>
                <a:ea typeface="黑体" panose="02010609060101010101" pitchFamily="49" charset="-122"/>
              </a:rPr>
              <a:t>曲线的特定条件</a:t>
            </a:r>
            <a:r>
              <a:rPr kumimoji="1" lang="en-US" altLang="zh-CN" dirty="0">
                <a:latin typeface="黑体" panose="02010609060101010101" pitchFamily="49" charset="-122"/>
                <a:ea typeface="黑体" panose="02010609060101010101" pitchFamily="49" charset="-122"/>
              </a:rPr>
              <a:t>: </a:t>
            </a:r>
            <a:endParaRPr kumimoji="1" lang="en-US" altLang="zh-CN" dirty="0">
              <a:latin typeface="黑体" panose="02010609060101010101" pitchFamily="49" charset="-122"/>
              <a:ea typeface="黑体" panose="02010609060101010101" pitchFamily="49" charset="-122"/>
            </a:endParaRPr>
          </a:p>
        </p:txBody>
      </p:sp>
      <p:sp>
        <p:nvSpPr>
          <p:cNvPr id="11" name="Rectangle 4"/>
          <p:cNvSpPr>
            <a:spLocks noChangeArrowheads="1"/>
          </p:cNvSpPr>
          <p:nvPr/>
        </p:nvSpPr>
        <p:spPr bwMode="auto">
          <a:xfrm>
            <a:off x="6156176" y="1484784"/>
            <a:ext cx="173637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a:latin typeface="黑体" panose="02010609060101010101" pitchFamily="49" charset="-122"/>
                <a:ea typeface="黑体" panose="02010609060101010101" pitchFamily="49" charset="-122"/>
              </a:rPr>
              <a:t>1.</a:t>
            </a:r>
            <a:r>
              <a:rPr kumimoji="1" lang="zh-CN" altLang="en-US" dirty="0">
                <a:latin typeface="黑体" panose="02010609060101010101" pitchFamily="49" charset="-122"/>
                <a:ea typeface="黑体" panose="02010609060101010101" pitchFamily="49" charset="-122"/>
              </a:rPr>
              <a:t>两轮</a:t>
            </a:r>
            <a:r>
              <a:rPr kumimoji="1" lang="zh-CN" altLang="en-US" dirty="0" smtClean="0">
                <a:latin typeface="黑体" panose="02010609060101010101" pitchFamily="49" charset="-122"/>
                <a:ea typeface="黑体" panose="02010609060101010101" pitchFamily="49" charset="-122"/>
              </a:rPr>
              <a:t>共面</a:t>
            </a:r>
            <a:r>
              <a:rPr kumimoji="1" lang="en-US" altLang="zh-CN" dirty="0" smtClean="0">
                <a:latin typeface="黑体" panose="02010609060101010101" pitchFamily="49" charset="-122"/>
                <a:ea typeface="黑体" panose="02010609060101010101" pitchFamily="49" charset="-122"/>
              </a:rPr>
              <a:t>;</a:t>
            </a:r>
            <a:endParaRPr kumimoji="1" lang="en-US" altLang="zh-CN" dirty="0">
              <a:latin typeface="黑体" panose="02010609060101010101" pitchFamily="49" charset="-122"/>
              <a:ea typeface="黑体" panose="02010609060101010101" pitchFamily="49" charset="-122"/>
            </a:endParaRPr>
          </a:p>
        </p:txBody>
      </p:sp>
      <p:sp>
        <p:nvSpPr>
          <p:cNvPr id="12" name="Rectangle 5"/>
          <p:cNvSpPr>
            <a:spLocks noChangeArrowheads="1"/>
          </p:cNvSpPr>
          <p:nvPr/>
        </p:nvSpPr>
        <p:spPr bwMode="auto">
          <a:xfrm>
            <a:off x="6138049" y="1916832"/>
            <a:ext cx="30059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a:latin typeface="黑体" panose="02010609060101010101" pitchFamily="49" charset="-122"/>
                <a:ea typeface="黑体" panose="02010609060101010101" pitchFamily="49" charset="-122"/>
              </a:rPr>
              <a:t>2. </a:t>
            </a:r>
            <a:r>
              <a:rPr kumimoji="1" lang="zh-CN" altLang="en-US" dirty="0">
                <a:latin typeface="黑体" panose="02010609060101010101" pitchFamily="49" charset="-122"/>
                <a:ea typeface="黑体" panose="02010609060101010101" pitchFamily="49" charset="-122"/>
              </a:rPr>
              <a:t>小链轮的齿数</a:t>
            </a:r>
            <a:r>
              <a:rPr kumimoji="1" lang="en-US" altLang="zh-CN" dirty="0">
                <a:latin typeface="黑体" panose="02010609060101010101" pitchFamily="49" charset="-122"/>
                <a:ea typeface="黑体" panose="02010609060101010101" pitchFamily="49" charset="-122"/>
              </a:rPr>
              <a:t>z</a:t>
            </a:r>
            <a:r>
              <a:rPr kumimoji="1" lang="en-US" altLang="zh-CN" baseline="-25000" dirty="0">
                <a:latin typeface="黑体" panose="02010609060101010101" pitchFamily="49" charset="-122"/>
                <a:ea typeface="黑体" panose="02010609060101010101" pitchFamily="49" charset="-122"/>
              </a:rPr>
              <a:t>1</a:t>
            </a:r>
            <a:r>
              <a:rPr kumimoji="1" lang="en-US" altLang="zh-CN" dirty="0">
                <a:latin typeface="黑体" panose="02010609060101010101" pitchFamily="49" charset="-122"/>
                <a:ea typeface="黑体" panose="02010609060101010101" pitchFamily="49" charset="-122"/>
              </a:rPr>
              <a:t>=19</a:t>
            </a:r>
            <a:endParaRPr kumimoji="1" lang="en-US" altLang="zh-CN" dirty="0">
              <a:latin typeface="黑体" panose="02010609060101010101" pitchFamily="49" charset="-122"/>
              <a:ea typeface="黑体" panose="02010609060101010101" pitchFamily="49" charset="-122"/>
            </a:endParaRPr>
          </a:p>
        </p:txBody>
      </p:sp>
      <p:sp>
        <p:nvSpPr>
          <p:cNvPr id="13" name="Rectangle 6"/>
          <p:cNvSpPr>
            <a:spLocks noChangeArrowheads="1"/>
          </p:cNvSpPr>
          <p:nvPr/>
        </p:nvSpPr>
        <p:spPr bwMode="auto">
          <a:xfrm>
            <a:off x="6156176" y="2420888"/>
            <a:ext cx="244169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a:latin typeface="黑体" panose="02010609060101010101" pitchFamily="49" charset="-122"/>
                <a:ea typeface="黑体" panose="02010609060101010101" pitchFamily="49" charset="-122"/>
              </a:rPr>
              <a:t>3. </a:t>
            </a:r>
            <a:r>
              <a:rPr kumimoji="1" lang="zh-CN" altLang="en-US" dirty="0">
                <a:latin typeface="黑体" panose="02010609060101010101" pitchFamily="49" charset="-122"/>
                <a:ea typeface="黑体" panose="02010609060101010101" pitchFamily="49" charset="-122"/>
              </a:rPr>
              <a:t>链节数 </a:t>
            </a:r>
            <a:r>
              <a:rPr kumimoji="1" lang="en-US" altLang="zh-CN" dirty="0" err="1" smtClean="0">
                <a:latin typeface="黑体" panose="02010609060101010101" pitchFamily="49" charset="-122"/>
                <a:ea typeface="黑体" panose="02010609060101010101" pitchFamily="49" charset="-122"/>
              </a:rPr>
              <a:t>Lp</a:t>
            </a:r>
            <a:r>
              <a:rPr kumimoji="1" lang="en-US" altLang="zh-CN" dirty="0" smtClean="0">
                <a:latin typeface="黑体" panose="02010609060101010101" pitchFamily="49" charset="-122"/>
                <a:ea typeface="黑体" panose="02010609060101010101" pitchFamily="49" charset="-122"/>
              </a:rPr>
              <a:t>=120</a:t>
            </a:r>
            <a:endParaRPr kumimoji="1" lang="en-US" altLang="zh-CN" dirty="0">
              <a:latin typeface="黑体" panose="02010609060101010101" pitchFamily="49" charset="-122"/>
              <a:ea typeface="黑体" panose="02010609060101010101" pitchFamily="49" charset="-122"/>
            </a:endParaRPr>
          </a:p>
        </p:txBody>
      </p:sp>
      <p:sp>
        <p:nvSpPr>
          <p:cNvPr id="14" name="Rectangle 7"/>
          <p:cNvSpPr>
            <a:spLocks noChangeArrowheads="1"/>
          </p:cNvSpPr>
          <p:nvPr/>
        </p:nvSpPr>
        <p:spPr bwMode="auto">
          <a:xfrm>
            <a:off x="6156176" y="3284984"/>
            <a:ext cx="28803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smtClean="0">
                <a:latin typeface="黑体" panose="02010609060101010101" pitchFamily="49" charset="-122"/>
                <a:ea typeface="黑体" panose="02010609060101010101" pitchFamily="49" charset="-122"/>
              </a:rPr>
              <a:t>5.</a:t>
            </a:r>
            <a:r>
              <a:rPr kumimoji="1" lang="zh-CN" altLang="en-US" dirty="0" smtClean="0">
                <a:latin typeface="黑体" panose="02010609060101010101" pitchFamily="49" charset="-122"/>
                <a:ea typeface="黑体" panose="02010609060101010101" pitchFamily="49" charset="-122"/>
              </a:rPr>
              <a:t>传动减速比</a:t>
            </a:r>
            <a:r>
              <a:rPr kumimoji="1" lang="en-US" altLang="zh-CN" i="1" dirty="0" err="1" smtClean="0">
                <a:latin typeface="黑体" panose="02010609060101010101" pitchFamily="49" charset="-122"/>
                <a:ea typeface="黑体" panose="02010609060101010101" pitchFamily="49" charset="-122"/>
              </a:rPr>
              <a:t>i</a:t>
            </a:r>
            <a:r>
              <a:rPr kumimoji="1" lang="en-US" altLang="zh-CN" dirty="0" smtClean="0">
                <a:latin typeface="黑体" panose="02010609060101010101" pitchFamily="49" charset="-122"/>
                <a:ea typeface="黑体" panose="02010609060101010101" pitchFamily="49" charset="-122"/>
              </a:rPr>
              <a:t>=3;</a:t>
            </a:r>
            <a:endParaRPr kumimoji="1" lang="en-US" altLang="zh-CN" dirty="0">
              <a:latin typeface="黑体" panose="02010609060101010101" pitchFamily="49" charset="-122"/>
              <a:ea typeface="黑体" panose="02010609060101010101" pitchFamily="49" charset="-122"/>
            </a:endParaRPr>
          </a:p>
        </p:txBody>
      </p:sp>
      <p:sp>
        <p:nvSpPr>
          <p:cNvPr id="15" name="Text Box 8"/>
          <p:cNvSpPr txBox="1">
            <a:spLocks noChangeArrowheads="1"/>
          </p:cNvSpPr>
          <p:nvPr/>
        </p:nvSpPr>
        <p:spPr bwMode="auto">
          <a:xfrm>
            <a:off x="6228184" y="5085184"/>
            <a:ext cx="273630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defRPr kumimoji="1">
                <a:latin typeface="黑体" panose="02010609060101010101" pitchFamily="49" charset="-122"/>
                <a:ea typeface="黑体" panose="02010609060101010101" pitchFamily="49" charset="-122"/>
              </a:defRPr>
            </a:lvl1pPr>
          </a:lstStyle>
          <a:p>
            <a:r>
              <a:rPr lang="en-US" altLang="zh-CN" dirty="0" smtClean="0"/>
              <a:t>9. </a:t>
            </a:r>
            <a:r>
              <a:rPr lang="zh-CN" altLang="en-US" dirty="0"/>
              <a:t>链条因磨损而引起的相对伸长量≤</a:t>
            </a:r>
            <a:r>
              <a:rPr lang="en-US" altLang="zh-CN" dirty="0"/>
              <a:t>3%</a:t>
            </a:r>
            <a:endParaRPr lang="en-US" altLang="zh-CN" dirty="0"/>
          </a:p>
        </p:txBody>
      </p:sp>
      <p:sp>
        <p:nvSpPr>
          <p:cNvPr id="16" name="Rectangle 9"/>
          <p:cNvSpPr>
            <a:spLocks noChangeArrowheads="1"/>
          </p:cNvSpPr>
          <p:nvPr/>
        </p:nvSpPr>
        <p:spPr bwMode="auto">
          <a:xfrm>
            <a:off x="6156176" y="4077072"/>
            <a:ext cx="28648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smtClean="0">
                <a:latin typeface="黑体" panose="02010609060101010101" pitchFamily="49" charset="-122"/>
                <a:ea typeface="黑体" panose="02010609060101010101" pitchFamily="49" charset="-122"/>
              </a:rPr>
              <a:t>7. </a:t>
            </a:r>
            <a:r>
              <a:rPr kumimoji="1" lang="zh-CN" altLang="en-US" dirty="0">
                <a:latin typeface="黑体" panose="02010609060101010101" pitchFamily="49" charset="-122"/>
                <a:ea typeface="黑体" panose="02010609060101010101" pitchFamily="49" charset="-122"/>
              </a:rPr>
              <a:t>按推荐的润滑方式</a:t>
            </a:r>
            <a:endParaRPr kumimoji="1" lang="zh-CN" altLang="en-US" dirty="0">
              <a:latin typeface="黑体" panose="02010609060101010101" pitchFamily="49" charset="-122"/>
              <a:ea typeface="黑体" panose="02010609060101010101" pitchFamily="49" charset="-122"/>
            </a:endParaRPr>
          </a:p>
        </p:txBody>
      </p:sp>
      <p:sp>
        <p:nvSpPr>
          <p:cNvPr id="17" name="Rectangle 10"/>
          <p:cNvSpPr>
            <a:spLocks noChangeArrowheads="1"/>
          </p:cNvSpPr>
          <p:nvPr/>
        </p:nvSpPr>
        <p:spPr bwMode="auto">
          <a:xfrm>
            <a:off x="6149580" y="4581128"/>
            <a:ext cx="30059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smtClean="0">
                <a:latin typeface="黑体" panose="02010609060101010101" pitchFamily="49" charset="-122"/>
                <a:ea typeface="黑体" panose="02010609060101010101" pitchFamily="49" charset="-122"/>
              </a:rPr>
              <a:t>8. </a:t>
            </a:r>
            <a:r>
              <a:rPr kumimoji="1" lang="zh-CN" altLang="en-US" dirty="0">
                <a:latin typeface="黑体" panose="02010609060101010101" pitchFamily="49" charset="-122"/>
                <a:ea typeface="黑体" panose="02010609060101010101" pitchFamily="49" charset="-122"/>
              </a:rPr>
              <a:t>工作寿命为</a:t>
            </a:r>
            <a:r>
              <a:rPr kumimoji="1" lang="en-US" altLang="zh-CN" dirty="0">
                <a:latin typeface="黑体" panose="02010609060101010101" pitchFamily="49" charset="-122"/>
                <a:ea typeface="黑体" panose="02010609060101010101" pitchFamily="49" charset="-122"/>
              </a:rPr>
              <a:t>15000 h</a:t>
            </a:r>
            <a:endParaRPr kumimoji="1" lang="en-US" altLang="zh-CN" dirty="0">
              <a:latin typeface="黑体" panose="02010609060101010101" pitchFamily="49" charset="-122"/>
              <a:ea typeface="黑体" panose="02010609060101010101" pitchFamily="49" charset="-122"/>
            </a:endParaRPr>
          </a:p>
        </p:txBody>
      </p:sp>
      <p:sp>
        <p:nvSpPr>
          <p:cNvPr id="18" name="Rectangle 7"/>
          <p:cNvSpPr>
            <a:spLocks noChangeArrowheads="1"/>
          </p:cNvSpPr>
          <p:nvPr/>
        </p:nvSpPr>
        <p:spPr bwMode="auto">
          <a:xfrm>
            <a:off x="6156176" y="2852936"/>
            <a:ext cx="173637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smtClean="0">
                <a:latin typeface="黑体" panose="02010609060101010101" pitchFamily="49" charset="-122"/>
                <a:ea typeface="黑体" panose="02010609060101010101" pitchFamily="49" charset="-122"/>
              </a:rPr>
              <a:t>4.</a:t>
            </a:r>
            <a:r>
              <a:rPr kumimoji="1" lang="zh-CN" altLang="en-US" dirty="0" smtClean="0">
                <a:latin typeface="黑体" panose="02010609060101010101" pitchFamily="49" charset="-122"/>
                <a:ea typeface="黑体" panose="02010609060101010101" pitchFamily="49" charset="-122"/>
              </a:rPr>
              <a:t>单排滚子链</a:t>
            </a:r>
            <a:r>
              <a:rPr kumimoji="1" lang="en-US" altLang="zh-CN" dirty="0" smtClean="0">
                <a:latin typeface="黑体" panose="02010609060101010101" pitchFamily="49" charset="-122"/>
                <a:ea typeface="黑体" panose="02010609060101010101" pitchFamily="49" charset="-122"/>
              </a:rPr>
              <a:t>;</a:t>
            </a:r>
            <a:endParaRPr kumimoji="1" lang="en-US" altLang="zh-CN" dirty="0">
              <a:latin typeface="黑体" panose="02010609060101010101" pitchFamily="49" charset="-122"/>
              <a:ea typeface="黑体" panose="02010609060101010101" pitchFamily="49" charset="-122"/>
            </a:endParaRPr>
          </a:p>
        </p:txBody>
      </p:sp>
      <p:sp>
        <p:nvSpPr>
          <p:cNvPr id="19" name="Rectangle 7"/>
          <p:cNvSpPr>
            <a:spLocks noChangeArrowheads="1"/>
          </p:cNvSpPr>
          <p:nvPr/>
        </p:nvSpPr>
        <p:spPr bwMode="auto">
          <a:xfrm>
            <a:off x="6156176" y="3645024"/>
            <a:ext cx="173637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FFFF"/>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kumimoji="1" lang="en-US" altLang="zh-CN" dirty="0" smtClean="0">
                <a:latin typeface="黑体" panose="02010609060101010101" pitchFamily="49" charset="-122"/>
                <a:ea typeface="黑体" panose="02010609060101010101" pitchFamily="49" charset="-122"/>
              </a:rPr>
              <a:t>6.</a:t>
            </a:r>
            <a:r>
              <a:rPr kumimoji="1" lang="zh-CN" altLang="en-US" dirty="0">
                <a:latin typeface="黑体" panose="02010609060101010101" pitchFamily="49" charset="-122"/>
                <a:ea typeface="黑体" panose="02010609060101010101" pitchFamily="49" charset="-122"/>
              </a:rPr>
              <a:t>载荷平稳</a:t>
            </a:r>
            <a:r>
              <a:rPr kumimoji="1" lang="en-US" altLang="zh-CN" dirty="0">
                <a:latin typeface="黑体" panose="02010609060101010101" pitchFamily="49" charset="-122"/>
                <a:ea typeface="黑体" panose="02010609060101010101" pitchFamily="49" charset="-122"/>
              </a:rPr>
              <a:t>;</a:t>
            </a:r>
            <a:endParaRPr kumimoji="1" lang="en-US" altLang="zh-CN" dirty="0">
              <a:latin typeface="黑体" panose="02010609060101010101" pitchFamily="49" charset="-122"/>
              <a:ea typeface="黑体" panose="02010609060101010101" pitchFamily="49" charset="-122"/>
            </a:endParaRPr>
          </a:p>
        </p:txBody>
      </p:sp>
      <p:sp>
        <p:nvSpPr>
          <p:cNvPr id="2" name="文本框 1"/>
          <p:cNvSpPr txBox="1"/>
          <p:nvPr/>
        </p:nvSpPr>
        <p:spPr>
          <a:xfrm>
            <a:off x="539552" y="6309320"/>
            <a:ext cx="1584176" cy="429895"/>
          </a:xfrm>
          <a:prstGeom prst="rect">
            <a:avLst/>
          </a:prstGeom>
          <a:noFill/>
        </p:spPr>
        <p:txBody>
          <a:bodyPr wrap="square" rtlCol="0">
            <a:spAutoFit/>
          </a:bodyPr>
          <a:lstStyle/>
          <a:p>
            <a:r>
              <a:rPr lang="zh-CN" altLang="en-US" dirty="0" smtClean="0"/>
              <a:t>图</a:t>
            </a:r>
            <a:r>
              <a:rPr lang="en-US" altLang="zh-CN" dirty="0" smtClean="0"/>
              <a:t>3.3</a:t>
            </a:r>
            <a:r>
              <a:rPr lang="en-US" altLang="zh-CN" dirty="0" smtClean="0"/>
              <a:t>-12</a:t>
            </a:r>
            <a:endParaRPr lang="zh-CN" altLang="en-US" dirty="0"/>
          </a:p>
        </p:txBody>
      </p:sp>
      <p:sp>
        <p:nvSpPr>
          <p:cNvPr id="3" name="文本框 2"/>
          <p:cNvSpPr txBox="1"/>
          <p:nvPr/>
        </p:nvSpPr>
        <p:spPr>
          <a:xfrm rot="19860000">
            <a:off x="2684780" y="3319145"/>
            <a:ext cx="643890" cy="337185"/>
          </a:xfrm>
          <a:prstGeom prst="rect">
            <a:avLst/>
          </a:prstGeom>
          <a:noFill/>
        </p:spPr>
        <p:txBody>
          <a:bodyPr wrap="square" rtlCol="0">
            <a:spAutoFit/>
          </a:bodyPr>
          <a:p>
            <a:r>
              <a:rPr lang="en-US" altLang="zh-CN" sz="1600">
                <a:solidFill>
                  <a:srgbClr val="FF0000"/>
                </a:solidFill>
              </a:rPr>
              <a:t>16A</a:t>
            </a:r>
            <a:endParaRPr lang="en-US" altLang="zh-CN" sz="1600">
              <a:solidFill>
                <a:srgbClr val="FF0000"/>
              </a:solidFill>
            </a:endParaRPr>
          </a:p>
        </p:txBody>
      </p:sp>
      <p:cxnSp>
        <p:nvCxnSpPr>
          <p:cNvPr id="5" name="直接连接符 4"/>
          <p:cNvCxnSpPr/>
          <p:nvPr/>
        </p:nvCxnSpPr>
        <p:spPr>
          <a:xfrm flipV="1">
            <a:off x="1849120" y="3333115"/>
            <a:ext cx="0" cy="2548255"/>
          </a:xfrm>
          <a:prstGeom prst="line">
            <a:avLst/>
          </a:prstGeom>
          <a:noFill/>
          <a:ln w="9525" cap="flat" cmpd="sng" algn="ctr">
            <a:solidFill>
              <a:srgbClr val="FF0000"/>
            </a:solidFill>
            <a:prstDash val="solid"/>
            <a:round/>
            <a:headEnd type="none" w="med" len="med"/>
            <a:tailEnd type="none" w="med" len="med"/>
          </a:ln>
        </p:spPr>
      </p:cxnSp>
      <p:cxnSp>
        <p:nvCxnSpPr>
          <p:cNvPr id="6" name="直接连接符 5"/>
          <p:cNvCxnSpPr/>
          <p:nvPr/>
        </p:nvCxnSpPr>
        <p:spPr>
          <a:xfrm>
            <a:off x="729615" y="3373755"/>
            <a:ext cx="1144905" cy="0"/>
          </a:xfrm>
          <a:prstGeom prst="line">
            <a:avLst/>
          </a:prstGeom>
          <a:noFill/>
          <a:ln w="9525" cap="flat" cmpd="sng" algn="ctr">
            <a:solidFill>
              <a:srgbClr val="FF0000"/>
            </a:solidFill>
            <a:prstDash val="solid"/>
            <a:round/>
            <a:headEnd type="none" w="med" len="med"/>
            <a:tailEnd type="none" w="med" len="med"/>
          </a:ln>
        </p:spPr>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down)">
                                      <p:cBhvr>
                                        <p:cTn id="58" dur="500"/>
                                        <p:tgtEl>
                                          <p:spTgt spid="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grpSp>
        <p:nvGrpSpPr>
          <p:cNvPr id="151554" name="组合 151553"/>
          <p:cNvGrpSpPr/>
          <p:nvPr/>
        </p:nvGrpSpPr>
        <p:grpSpPr>
          <a:xfrm>
            <a:off x="1736725" y="127000"/>
            <a:ext cx="7277100" cy="6415088"/>
            <a:chOff x="1176" y="83"/>
            <a:chExt cx="4514" cy="4195"/>
          </a:xfrm>
        </p:grpSpPr>
        <p:sp>
          <p:nvSpPr>
            <p:cNvPr id="151555" name="直接连接符 151554"/>
            <p:cNvSpPr/>
            <p:nvPr/>
          </p:nvSpPr>
          <p:spPr>
            <a:xfrm flipH="1">
              <a:off x="4758" y="1341"/>
              <a:ext cx="0" cy="2532"/>
            </a:xfrm>
            <a:prstGeom prst="line">
              <a:avLst/>
            </a:prstGeom>
            <a:ln w="19050" cap="flat" cmpd="sng">
              <a:solidFill>
                <a:srgbClr val="FF0000"/>
              </a:solidFill>
              <a:prstDash val="solid"/>
              <a:headEnd type="none" w="med" len="med"/>
              <a:tailEnd type="none" w="sm" len="lg"/>
            </a:ln>
          </p:spPr>
        </p:sp>
        <p:sp>
          <p:nvSpPr>
            <p:cNvPr id="151556" name="直接连接符 151555"/>
            <p:cNvSpPr/>
            <p:nvPr/>
          </p:nvSpPr>
          <p:spPr>
            <a:xfrm flipH="1">
              <a:off x="4828" y="1342"/>
              <a:ext cx="0" cy="2532"/>
            </a:xfrm>
            <a:prstGeom prst="line">
              <a:avLst/>
            </a:prstGeom>
            <a:ln w="19050" cap="flat" cmpd="sng">
              <a:solidFill>
                <a:srgbClr val="FF0000"/>
              </a:solidFill>
              <a:prstDash val="solid"/>
              <a:headEnd type="none" w="med" len="med"/>
              <a:tailEnd type="none" w="sm" len="lg"/>
            </a:ln>
          </p:spPr>
        </p:sp>
        <p:sp>
          <p:nvSpPr>
            <p:cNvPr id="151557" name="直接连接符 151556"/>
            <p:cNvSpPr/>
            <p:nvPr/>
          </p:nvSpPr>
          <p:spPr>
            <a:xfrm flipH="1">
              <a:off x="5135" y="1347"/>
              <a:ext cx="0" cy="2532"/>
            </a:xfrm>
            <a:prstGeom prst="line">
              <a:avLst/>
            </a:prstGeom>
            <a:ln w="19050" cap="flat" cmpd="sng">
              <a:solidFill>
                <a:srgbClr val="FF0000"/>
              </a:solidFill>
              <a:prstDash val="solid"/>
              <a:headEnd type="none" w="med" len="med"/>
              <a:tailEnd type="none" w="sm" len="lg"/>
            </a:ln>
          </p:spPr>
        </p:sp>
        <p:sp>
          <p:nvSpPr>
            <p:cNvPr id="151558" name="直接连接符 151557"/>
            <p:cNvSpPr/>
            <p:nvPr/>
          </p:nvSpPr>
          <p:spPr>
            <a:xfrm flipH="1">
              <a:off x="5339" y="1347"/>
              <a:ext cx="0" cy="2532"/>
            </a:xfrm>
            <a:prstGeom prst="line">
              <a:avLst/>
            </a:prstGeom>
            <a:ln w="19050" cap="flat" cmpd="sng">
              <a:solidFill>
                <a:srgbClr val="FF0000"/>
              </a:solidFill>
              <a:prstDash val="solid"/>
              <a:headEnd type="none" w="med" len="med"/>
              <a:tailEnd type="none" w="sm" len="lg"/>
            </a:ln>
          </p:spPr>
        </p:sp>
        <p:sp>
          <p:nvSpPr>
            <p:cNvPr id="151559" name="直接连接符 151558"/>
            <p:cNvSpPr/>
            <p:nvPr/>
          </p:nvSpPr>
          <p:spPr>
            <a:xfrm flipH="1">
              <a:off x="5473" y="1347"/>
              <a:ext cx="0" cy="2532"/>
            </a:xfrm>
            <a:prstGeom prst="line">
              <a:avLst/>
            </a:prstGeom>
            <a:ln w="19050" cap="flat" cmpd="sng">
              <a:solidFill>
                <a:srgbClr val="FF0000"/>
              </a:solidFill>
              <a:prstDash val="solid"/>
              <a:headEnd type="none" w="med" len="med"/>
              <a:tailEnd type="none" w="sm" len="lg"/>
            </a:ln>
          </p:spPr>
        </p:sp>
        <p:sp>
          <p:nvSpPr>
            <p:cNvPr id="151560" name="直接连接符 151559"/>
            <p:cNvSpPr/>
            <p:nvPr/>
          </p:nvSpPr>
          <p:spPr>
            <a:xfrm flipH="1">
              <a:off x="1197" y="83"/>
              <a:ext cx="0" cy="3791"/>
            </a:xfrm>
            <a:prstGeom prst="line">
              <a:avLst/>
            </a:prstGeom>
            <a:ln w="19050" cap="flat" cmpd="sng">
              <a:solidFill>
                <a:srgbClr val="FF0000"/>
              </a:solidFill>
              <a:prstDash val="solid"/>
              <a:headEnd type="none" w="med" len="med"/>
              <a:tailEnd type="none" w="sm" len="lg"/>
            </a:ln>
          </p:spPr>
        </p:sp>
        <p:sp>
          <p:nvSpPr>
            <p:cNvPr id="151561" name="直接连接符 151560"/>
            <p:cNvSpPr/>
            <p:nvPr/>
          </p:nvSpPr>
          <p:spPr>
            <a:xfrm flipH="1">
              <a:off x="1516" y="95"/>
              <a:ext cx="0" cy="3791"/>
            </a:xfrm>
            <a:prstGeom prst="line">
              <a:avLst/>
            </a:prstGeom>
            <a:ln w="19050" cap="flat" cmpd="sng">
              <a:solidFill>
                <a:srgbClr val="FF0000"/>
              </a:solidFill>
              <a:prstDash val="solid"/>
              <a:headEnd type="none" w="med" len="med"/>
              <a:tailEnd type="none" w="sm" len="lg"/>
            </a:ln>
          </p:spPr>
        </p:sp>
        <p:sp>
          <p:nvSpPr>
            <p:cNvPr id="151562" name="直接连接符 151561"/>
            <p:cNvSpPr/>
            <p:nvPr/>
          </p:nvSpPr>
          <p:spPr>
            <a:xfrm flipH="1">
              <a:off x="1704" y="93"/>
              <a:ext cx="0" cy="3791"/>
            </a:xfrm>
            <a:prstGeom prst="line">
              <a:avLst/>
            </a:prstGeom>
            <a:ln w="19050" cap="flat" cmpd="sng">
              <a:solidFill>
                <a:srgbClr val="FF0000"/>
              </a:solidFill>
              <a:prstDash val="solid"/>
              <a:headEnd type="none" w="med" len="med"/>
              <a:tailEnd type="none" w="sm" len="lg"/>
            </a:ln>
          </p:spPr>
        </p:sp>
        <p:sp>
          <p:nvSpPr>
            <p:cNvPr id="151563" name="直接连接符 151562"/>
            <p:cNvSpPr/>
            <p:nvPr/>
          </p:nvSpPr>
          <p:spPr>
            <a:xfrm flipH="1">
              <a:off x="1993" y="90"/>
              <a:ext cx="0" cy="3791"/>
            </a:xfrm>
            <a:prstGeom prst="line">
              <a:avLst/>
            </a:prstGeom>
            <a:ln w="19050" cap="flat" cmpd="sng">
              <a:solidFill>
                <a:srgbClr val="FF0000"/>
              </a:solidFill>
              <a:prstDash val="solid"/>
              <a:headEnd type="none" w="med" len="med"/>
              <a:tailEnd type="none" w="sm" len="lg"/>
            </a:ln>
          </p:spPr>
        </p:sp>
        <p:sp>
          <p:nvSpPr>
            <p:cNvPr id="151564" name="直接连接符 151563"/>
            <p:cNvSpPr/>
            <p:nvPr/>
          </p:nvSpPr>
          <p:spPr>
            <a:xfrm flipH="1">
              <a:off x="2209" y="91"/>
              <a:ext cx="0" cy="3791"/>
            </a:xfrm>
            <a:prstGeom prst="line">
              <a:avLst/>
            </a:prstGeom>
            <a:ln w="19050" cap="flat" cmpd="sng">
              <a:solidFill>
                <a:srgbClr val="FF0000"/>
              </a:solidFill>
              <a:prstDash val="solid"/>
              <a:headEnd type="none" w="med" len="med"/>
              <a:tailEnd type="none" w="sm" len="lg"/>
            </a:ln>
          </p:spPr>
        </p:sp>
        <p:sp>
          <p:nvSpPr>
            <p:cNvPr id="151565" name="直接连接符 151564"/>
            <p:cNvSpPr/>
            <p:nvPr/>
          </p:nvSpPr>
          <p:spPr>
            <a:xfrm flipH="1">
              <a:off x="2334" y="91"/>
              <a:ext cx="0" cy="3791"/>
            </a:xfrm>
            <a:prstGeom prst="line">
              <a:avLst/>
            </a:prstGeom>
            <a:ln w="19050" cap="flat" cmpd="sng">
              <a:solidFill>
                <a:srgbClr val="FF0000"/>
              </a:solidFill>
              <a:prstDash val="solid"/>
              <a:headEnd type="none" w="med" len="med"/>
              <a:tailEnd type="none" w="sm" len="lg"/>
            </a:ln>
          </p:spPr>
        </p:sp>
        <p:sp>
          <p:nvSpPr>
            <p:cNvPr id="151566" name="直接连接符 151565"/>
            <p:cNvSpPr/>
            <p:nvPr/>
          </p:nvSpPr>
          <p:spPr>
            <a:xfrm flipH="1">
              <a:off x="2477" y="92"/>
              <a:ext cx="0" cy="3791"/>
            </a:xfrm>
            <a:prstGeom prst="line">
              <a:avLst/>
            </a:prstGeom>
            <a:ln w="19050" cap="flat" cmpd="sng">
              <a:solidFill>
                <a:srgbClr val="FF0000"/>
              </a:solidFill>
              <a:prstDash val="solid"/>
              <a:headEnd type="none" w="med" len="med"/>
              <a:tailEnd type="none" w="sm" len="lg"/>
            </a:ln>
          </p:spPr>
        </p:sp>
        <p:sp>
          <p:nvSpPr>
            <p:cNvPr id="151567" name="直接连接符 151566"/>
            <p:cNvSpPr/>
            <p:nvPr/>
          </p:nvSpPr>
          <p:spPr>
            <a:xfrm flipH="1">
              <a:off x="2571" y="91"/>
              <a:ext cx="0" cy="3791"/>
            </a:xfrm>
            <a:prstGeom prst="line">
              <a:avLst/>
            </a:prstGeom>
            <a:ln w="19050" cap="flat" cmpd="sng">
              <a:solidFill>
                <a:srgbClr val="FF0000"/>
              </a:solidFill>
              <a:prstDash val="solid"/>
              <a:headEnd type="none" w="med" len="med"/>
              <a:tailEnd type="none" w="sm" len="lg"/>
            </a:ln>
          </p:spPr>
        </p:sp>
        <p:sp>
          <p:nvSpPr>
            <p:cNvPr id="151568" name="直接连接符 151567"/>
            <p:cNvSpPr/>
            <p:nvPr/>
          </p:nvSpPr>
          <p:spPr>
            <a:xfrm flipH="1">
              <a:off x="2665" y="91"/>
              <a:ext cx="0" cy="3791"/>
            </a:xfrm>
            <a:prstGeom prst="line">
              <a:avLst/>
            </a:prstGeom>
            <a:ln w="19050" cap="flat" cmpd="sng">
              <a:solidFill>
                <a:srgbClr val="FF0000"/>
              </a:solidFill>
              <a:prstDash val="solid"/>
              <a:headEnd type="none" w="med" len="med"/>
              <a:tailEnd type="none" w="sm" len="lg"/>
            </a:ln>
          </p:spPr>
        </p:sp>
        <p:sp>
          <p:nvSpPr>
            <p:cNvPr id="151569" name="直接连接符 151568"/>
            <p:cNvSpPr/>
            <p:nvPr/>
          </p:nvSpPr>
          <p:spPr>
            <a:xfrm flipH="1">
              <a:off x="2746" y="91"/>
              <a:ext cx="0" cy="3791"/>
            </a:xfrm>
            <a:prstGeom prst="line">
              <a:avLst/>
            </a:prstGeom>
            <a:ln w="19050" cap="flat" cmpd="sng">
              <a:solidFill>
                <a:srgbClr val="FF0000"/>
              </a:solidFill>
              <a:prstDash val="solid"/>
              <a:headEnd type="none" w="med" len="med"/>
              <a:tailEnd type="none" w="sm" len="lg"/>
            </a:ln>
          </p:spPr>
        </p:sp>
        <p:sp>
          <p:nvSpPr>
            <p:cNvPr id="151570" name="直接连接符 151569"/>
            <p:cNvSpPr/>
            <p:nvPr/>
          </p:nvSpPr>
          <p:spPr>
            <a:xfrm flipH="1">
              <a:off x="2820" y="91"/>
              <a:ext cx="0" cy="3791"/>
            </a:xfrm>
            <a:prstGeom prst="line">
              <a:avLst/>
            </a:prstGeom>
            <a:ln w="19050" cap="flat" cmpd="sng">
              <a:solidFill>
                <a:srgbClr val="FF0000"/>
              </a:solidFill>
              <a:prstDash val="solid"/>
              <a:headEnd type="none" w="med" len="med"/>
              <a:tailEnd type="none" w="sm" len="lg"/>
            </a:ln>
          </p:spPr>
        </p:sp>
        <p:sp>
          <p:nvSpPr>
            <p:cNvPr id="151571" name="直接连接符 151570"/>
            <p:cNvSpPr/>
            <p:nvPr/>
          </p:nvSpPr>
          <p:spPr>
            <a:xfrm flipH="1">
              <a:off x="3101" y="93"/>
              <a:ext cx="0" cy="3791"/>
            </a:xfrm>
            <a:prstGeom prst="line">
              <a:avLst/>
            </a:prstGeom>
            <a:ln w="19050" cap="flat" cmpd="sng">
              <a:solidFill>
                <a:srgbClr val="FF0000"/>
              </a:solidFill>
              <a:prstDash val="solid"/>
              <a:headEnd type="none" w="med" len="med"/>
              <a:tailEnd type="none" w="sm" len="lg"/>
            </a:ln>
          </p:spPr>
        </p:sp>
        <p:sp>
          <p:nvSpPr>
            <p:cNvPr id="151572" name="直接连接符 151571"/>
            <p:cNvSpPr/>
            <p:nvPr/>
          </p:nvSpPr>
          <p:spPr>
            <a:xfrm flipH="1">
              <a:off x="3290" y="95"/>
              <a:ext cx="0" cy="3791"/>
            </a:xfrm>
            <a:prstGeom prst="line">
              <a:avLst/>
            </a:prstGeom>
            <a:ln w="19050" cap="flat" cmpd="sng">
              <a:solidFill>
                <a:srgbClr val="FF0000"/>
              </a:solidFill>
              <a:prstDash val="solid"/>
              <a:headEnd type="none" w="med" len="med"/>
              <a:tailEnd type="none" w="sm" len="lg"/>
            </a:ln>
          </p:spPr>
        </p:sp>
        <p:sp>
          <p:nvSpPr>
            <p:cNvPr id="151573" name="直接连接符 151572"/>
            <p:cNvSpPr/>
            <p:nvPr/>
          </p:nvSpPr>
          <p:spPr>
            <a:xfrm flipH="1">
              <a:off x="3521" y="87"/>
              <a:ext cx="0" cy="3791"/>
            </a:xfrm>
            <a:prstGeom prst="line">
              <a:avLst/>
            </a:prstGeom>
            <a:ln w="19050" cap="flat" cmpd="sng">
              <a:solidFill>
                <a:srgbClr val="FF0000"/>
              </a:solidFill>
              <a:prstDash val="solid"/>
              <a:headEnd type="none" w="med" len="med"/>
              <a:tailEnd type="none" w="sm" len="lg"/>
            </a:ln>
          </p:spPr>
        </p:sp>
        <p:sp>
          <p:nvSpPr>
            <p:cNvPr id="151574" name="直接连接符 151573"/>
            <p:cNvSpPr/>
            <p:nvPr/>
          </p:nvSpPr>
          <p:spPr>
            <a:xfrm flipH="1">
              <a:off x="3754" y="85"/>
              <a:ext cx="0" cy="3791"/>
            </a:xfrm>
            <a:prstGeom prst="line">
              <a:avLst/>
            </a:prstGeom>
            <a:ln w="19050" cap="flat" cmpd="sng">
              <a:solidFill>
                <a:srgbClr val="FF0000"/>
              </a:solidFill>
              <a:prstDash val="solid"/>
              <a:headEnd type="none" w="med" len="med"/>
              <a:tailEnd type="none" w="sm" len="lg"/>
            </a:ln>
          </p:spPr>
        </p:sp>
        <p:sp>
          <p:nvSpPr>
            <p:cNvPr id="151575" name="直接连接符 151574"/>
            <p:cNvSpPr/>
            <p:nvPr/>
          </p:nvSpPr>
          <p:spPr>
            <a:xfrm flipH="1">
              <a:off x="3898" y="86"/>
              <a:ext cx="0" cy="3791"/>
            </a:xfrm>
            <a:prstGeom prst="line">
              <a:avLst/>
            </a:prstGeom>
            <a:ln w="19050" cap="flat" cmpd="sng">
              <a:solidFill>
                <a:srgbClr val="FF0000"/>
              </a:solidFill>
              <a:prstDash val="solid"/>
              <a:headEnd type="none" w="med" len="med"/>
              <a:tailEnd type="none" w="sm" len="lg"/>
            </a:ln>
          </p:spPr>
        </p:sp>
        <p:sp>
          <p:nvSpPr>
            <p:cNvPr id="151576" name="直接连接符 151575"/>
            <p:cNvSpPr/>
            <p:nvPr/>
          </p:nvSpPr>
          <p:spPr>
            <a:xfrm flipH="1">
              <a:off x="4033" y="87"/>
              <a:ext cx="0" cy="3791"/>
            </a:xfrm>
            <a:prstGeom prst="line">
              <a:avLst/>
            </a:prstGeom>
            <a:ln w="19050" cap="flat" cmpd="sng">
              <a:solidFill>
                <a:srgbClr val="FF0000"/>
              </a:solidFill>
              <a:prstDash val="solid"/>
              <a:headEnd type="none" w="med" len="med"/>
              <a:tailEnd type="none" w="sm" len="lg"/>
            </a:ln>
          </p:spPr>
        </p:sp>
        <p:sp>
          <p:nvSpPr>
            <p:cNvPr id="151577" name="直接连接符 151576"/>
            <p:cNvSpPr/>
            <p:nvPr/>
          </p:nvSpPr>
          <p:spPr>
            <a:xfrm flipH="1">
              <a:off x="4138" y="87"/>
              <a:ext cx="0" cy="3791"/>
            </a:xfrm>
            <a:prstGeom prst="line">
              <a:avLst/>
            </a:prstGeom>
            <a:ln w="19050" cap="flat" cmpd="sng">
              <a:solidFill>
                <a:srgbClr val="FF0000"/>
              </a:solidFill>
              <a:prstDash val="solid"/>
              <a:headEnd type="none" w="med" len="med"/>
              <a:tailEnd type="none" w="sm" len="lg"/>
            </a:ln>
          </p:spPr>
        </p:sp>
        <p:sp>
          <p:nvSpPr>
            <p:cNvPr id="151578" name="直接连接符 151577"/>
            <p:cNvSpPr/>
            <p:nvPr/>
          </p:nvSpPr>
          <p:spPr>
            <a:xfrm flipH="1">
              <a:off x="4231" y="87"/>
              <a:ext cx="0" cy="3791"/>
            </a:xfrm>
            <a:prstGeom prst="line">
              <a:avLst/>
            </a:prstGeom>
            <a:ln w="19050" cap="flat" cmpd="sng">
              <a:solidFill>
                <a:srgbClr val="FF0000"/>
              </a:solidFill>
              <a:prstDash val="solid"/>
              <a:headEnd type="none" w="med" len="med"/>
              <a:tailEnd type="none" w="sm" len="lg"/>
            </a:ln>
          </p:spPr>
        </p:sp>
        <p:sp>
          <p:nvSpPr>
            <p:cNvPr id="151579" name="直接连接符 151578"/>
            <p:cNvSpPr/>
            <p:nvPr/>
          </p:nvSpPr>
          <p:spPr>
            <a:xfrm flipH="1">
              <a:off x="4306" y="86"/>
              <a:ext cx="0" cy="3791"/>
            </a:xfrm>
            <a:prstGeom prst="line">
              <a:avLst/>
            </a:prstGeom>
            <a:ln w="19050" cap="flat" cmpd="sng">
              <a:solidFill>
                <a:srgbClr val="FF0000"/>
              </a:solidFill>
              <a:prstDash val="solid"/>
              <a:headEnd type="none" w="med" len="med"/>
              <a:tailEnd type="none" w="sm" len="lg"/>
            </a:ln>
          </p:spPr>
        </p:sp>
        <p:sp>
          <p:nvSpPr>
            <p:cNvPr id="151580" name="直接连接符 151579"/>
            <p:cNvSpPr/>
            <p:nvPr/>
          </p:nvSpPr>
          <p:spPr>
            <a:xfrm flipH="1">
              <a:off x="4386" y="87"/>
              <a:ext cx="0" cy="3791"/>
            </a:xfrm>
            <a:prstGeom prst="line">
              <a:avLst/>
            </a:prstGeom>
            <a:ln w="19050" cap="flat" cmpd="sng">
              <a:solidFill>
                <a:srgbClr val="FF0000"/>
              </a:solidFill>
              <a:prstDash val="solid"/>
              <a:headEnd type="none" w="med" len="med"/>
              <a:tailEnd type="none" w="sm" len="lg"/>
            </a:ln>
          </p:spPr>
        </p:sp>
        <p:sp>
          <p:nvSpPr>
            <p:cNvPr id="151581" name="直接连接符 151580"/>
            <p:cNvSpPr/>
            <p:nvPr/>
          </p:nvSpPr>
          <p:spPr>
            <a:xfrm flipH="1">
              <a:off x="4662" y="85"/>
              <a:ext cx="0" cy="3791"/>
            </a:xfrm>
            <a:prstGeom prst="line">
              <a:avLst/>
            </a:prstGeom>
            <a:ln w="19050" cap="flat" cmpd="sng">
              <a:solidFill>
                <a:srgbClr val="FF0000"/>
              </a:solidFill>
              <a:prstDash val="solid"/>
              <a:headEnd type="none" w="med" len="med"/>
              <a:tailEnd type="none" w="sm" len="lg"/>
            </a:ln>
          </p:spPr>
        </p:sp>
        <p:sp>
          <p:nvSpPr>
            <p:cNvPr id="151582" name="直接连接符 151581"/>
            <p:cNvSpPr/>
            <p:nvPr/>
          </p:nvSpPr>
          <p:spPr>
            <a:xfrm flipH="1">
              <a:off x="5573" y="86"/>
              <a:ext cx="0" cy="3794"/>
            </a:xfrm>
            <a:prstGeom prst="line">
              <a:avLst/>
            </a:prstGeom>
            <a:ln w="19050" cap="flat" cmpd="sng">
              <a:solidFill>
                <a:srgbClr val="FF0000"/>
              </a:solidFill>
              <a:prstDash val="solid"/>
              <a:headEnd type="none" w="med" len="med"/>
              <a:tailEnd type="none" w="sm" len="lg"/>
            </a:ln>
          </p:spPr>
        </p:sp>
        <p:sp>
          <p:nvSpPr>
            <p:cNvPr id="151583" name="文本框 151582"/>
            <p:cNvSpPr txBox="1"/>
            <p:nvPr/>
          </p:nvSpPr>
          <p:spPr>
            <a:xfrm>
              <a:off x="1176" y="3875"/>
              <a:ext cx="126"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10</a:t>
              </a:r>
              <a:endParaRPr lang="en-US" altLang="zh-CN" sz="1600" b="1">
                <a:solidFill>
                  <a:schemeClr val="hlink"/>
                </a:solidFill>
                <a:latin typeface="Times New Roman" panose="02020603050405020304" pitchFamily="18" charset="0"/>
              </a:endParaRPr>
            </a:p>
          </p:txBody>
        </p:sp>
        <p:sp>
          <p:nvSpPr>
            <p:cNvPr id="151584" name="文本框 151583"/>
            <p:cNvSpPr txBox="1"/>
            <p:nvPr/>
          </p:nvSpPr>
          <p:spPr>
            <a:xfrm>
              <a:off x="1442" y="3884"/>
              <a:ext cx="12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a:t>
              </a:r>
              <a:endParaRPr lang="en-US" altLang="zh-CN" sz="1600" b="1">
                <a:solidFill>
                  <a:schemeClr val="hlink"/>
                </a:solidFill>
                <a:latin typeface="Times New Roman" panose="02020603050405020304" pitchFamily="18" charset="0"/>
              </a:endParaRPr>
            </a:p>
          </p:txBody>
        </p:sp>
        <p:sp>
          <p:nvSpPr>
            <p:cNvPr id="151585" name="文本框 151584"/>
            <p:cNvSpPr txBox="1"/>
            <p:nvPr/>
          </p:nvSpPr>
          <p:spPr>
            <a:xfrm>
              <a:off x="1654" y="3884"/>
              <a:ext cx="126"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20</a:t>
              </a:r>
              <a:endParaRPr lang="en-US" altLang="zh-CN" sz="1600" b="1">
                <a:solidFill>
                  <a:schemeClr val="hlink"/>
                </a:solidFill>
                <a:latin typeface="Times New Roman" panose="02020603050405020304" pitchFamily="18" charset="0"/>
              </a:endParaRPr>
            </a:p>
          </p:txBody>
        </p:sp>
        <p:sp>
          <p:nvSpPr>
            <p:cNvPr id="151586" name="文本框 151585"/>
            <p:cNvSpPr txBox="1"/>
            <p:nvPr/>
          </p:nvSpPr>
          <p:spPr>
            <a:xfrm>
              <a:off x="1936" y="3890"/>
              <a:ext cx="126"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40</a:t>
              </a:r>
              <a:endParaRPr lang="en-US" altLang="zh-CN" sz="1600" b="1">
                <a:solidFill>
                  <a:schemeClr val="hlink"/>
                </a:solidFill>
                <a:latin typeface="Times New Roman" panose="02020603050405020304" pitchFamily="18" charset="0"/>
              </a:endParaRPr>
            </a:p>
          </p:txBody>
        </p:sp>
        <p:sp>
          <p:nvSpPr>
            <p:cNvPr id="151587" name="文本框 151586"/>
            <p:cNvSpPr txBox="1"/>
            <p:nvPr/>
          </p:nvSpPr>
          <p:spPr>
            <a:xfrm>
              <a:off x="2274" y="3898"/>
              <a:ext cx="126"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60</a:t>
              </a:r>
              <a:endParaRPr lang="en-US" altLang="zh-CN" sz="1600" b="1">
                <a:solidFill>
                  <a:schemeClr val="hlink"/>
                </a:solidFill>
                <a:latin typeface="Times New Roman" panose="02020603050405020304" pitchFamily="18" charset="0"/>
              </a:endParaRPr>
            </a:p>
          </p:txBody>
        </p:sp>
        <p:sp>
          <p:nvSpPr>
            <p:cNvPr id="151588" name="文本框 151587"/>
            <p:cNvSpPr txBox="1"/>
            <p:nvPr/>
          </p:nvSpPr>
          <p:spPr>
            <a:xfrm>
              <a:off x="2501" y="3884"/>
              <a:ext cx="126"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80</a:t>
              </a:r>
              <a:endParaRPr lang="en-US" altLang="zh-CN" sz="1600" b="1">
                <a:solidFill>
                  <a:schemeClr val="hlink"/>
                </a:solidFill>
                <a:latin typeface="Times New Roman" panose="02020603050405020304" pitchFamily="18" charset="0"/>
              </a:endParaRPr>
            </a:p>
          </p:txBody>
        </p:sp>
        <p:sp>
          <p:nvSpPr>
            <p:cNvPr id="151589" name="文本框 151588"/>
            <p:cNvSpPr txBox="1"/>
            <p:nvPr/>
          </p:nvSpPr>
          <p:spPr>
            <a:xfrm>
              <a:off x="2678" y="3890"/>
              <a:ext cx="188"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100</a:t>
              </a:r>
              <a:endParaRPr lang="en-US" altLang="zh-CN" sz="1600" b="1">
                <a:solidFill>
                  <a:schemeClr val="hlink"/>
                </a:solidFill>
                <a:latin typeface="Times New Roman" panose="02020603050405020304" pitchFamily="18" charset="0"/>
              </a:endParaRPr>
            </a:p>
          </p:txBody>
        </p:sp>
        <p:sp>
          <p:nvSpPr>
            <p:cNvPr id="151590" name="文本框 151589"/>
            <p:cNvSpPr txBox="1"/>
            <p:nvPr/>
          </p:nvSpPr>
          <p:spPr>
            <a:xfrm>
              <a:off x="2979" y="3892"/>
              <a:ext cx="189"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150</a:t>
              </a:r>
              <a:endParaRPr lang="en-US" altLang="zh-CN" sz="1600" b="1">
                <a:solidFill>
                  <a:schemeClr val="hlink"/>
                </a:solidFill>
                <a:latin typeface="Times New Roman" panose="02020603050405020304" pitchFamily="18" charset="0"/>
              </a:endParaRPr>
            </a:p>
          </p:txBody>
        </p:sp>
        <p:sp>
          <p:nvSpPr>
            <p:cNvPr id="151591" name="文本框 151590"/>
            <p:cNvSpPr txBox="1"/>
            <p:nvPr/>
          </p:nvSpPr>
          <p:spPr>
            <a:xfrm>
              <a:off x="3211" y="3886"/>
              <a:ext cx="189"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200</a:t>
              </a:r>
              <a:endParaRPr lang="en-US" altLang="zh-CN" sz="1600" b="1">
                <a:solidFill>
                  <a:schemeClr val="hlink"/>
                </a:solidFill>
                <a:latin typeface="Times New Roman" panose="02020603050405020304" pitchFamily="18" charset="0"/>
              </a:endParaRPr>
            </a:p>
          </p:txBody>
        </p:sp>
        <p:sp>
          <p:nvSpPr>
            <p:cNvPr id="151592" name="文本框 151591"/>
            <p:cNvSpPr txBox="1"/>
            <p:nvPr/>
          </p:nvSpPr>
          <p:spPr>
            <a:xfrm>
              <a:off x="3634" y="3884"/>
              <a:ext cx="189"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400</a:t>
              </a:r>
              <a:endParaRPr lang="en-US" altLang="zh-CN" sz="1600" b="1">
                <a:solidFill>
                  <a:schemeClr val="hlink"/>
                </a:solidFill>
                <a:latin typeface="Times New Roman" panose="02020603050405020304" pitchFamily="18" charset="0"/>
              </a:endParaRPr>
            </a:p>
          </p:txBody>
        </p:sp>
        <p:sp>
          <p:nvSpPr>
            <p:cNvPr id="151593" name="文本框 151592"/>
            <p:cNvSpPr txBox="1"/>
            <p:nvPr/>
          </p:nvSpPr>
          <p:spPr>
            <a:xfrm>
              <a:off x="3921" y="3887"/>
              <a:ext cx="190"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600</a:t>
              </a:r>
              <a:endParaRPr lang="en-US" altLang="zh-CN" sz="1600" b="1">
                <a:solidFill>
                  <a:schemeClr val="hlink"/>
                </a:solidFill>
                <a:latin typeface="Times New Roman" panose="02020603050405020304" pitchFamily="18" charset="0"/>
              </a:endParaRPr>
            </a:p>
          </p:txBody>
        </p:sp>
        <p:sp>
          <p:nvSpPr>
            <p:cNvPr id="151594" name="文本框 151593"/>
            <p:cNvSpPr txBox="1"/>
            <p:nvPr/>
          </p:nvSpPr>
          <p:spPr>
            <a:xfrm>
              <a:off x="4083" y="3999"/>
              <a:ext cx="190"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800</a:t>
              </a:r>
              <a:endParaRPr lang="en-US" altLang="zh-CN" sz="1600" b="1">
                <a:solidFill>
                  <a:schemeClr val="hlink"/>
                </a:solidFill>
                <a:latin typeface="Times New Roman" panose="02020603050405020304" pitchFamily="18" charset="0"/>
              </a:endParaRPr>
            </a:p>
          </p:txBody>
        </p:sp>
        <p:sp>
          <p:nvSpPr>
            <p:cNvPr id="151595" name="文本框 151594"/>
            <p:cNvSpPr txBox="1"/>
            <p:nvPr/>
          </p:nvSpPr>
          <p:spPr>
            <a:xfrm>
              <a:off x="4251" y="3884"/>
              <a:ext cx="252"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1000</a:t>
              </a:r>
              <a:endParaRPr lang="en-US" altLang="zh-CN" sz="1600" b="1">
                <a:solidFill>
                  <a:schemeClr val="hlink"/>
                </a:solidFill>
                <a:latin typeface="Times New Roman" panose="02020603050405020304" pitchFamily="18" charset="0"/>
              </a:endParaRPr>
            </a:p>
          </p:txBody>
        </p:sp>
        <p:sp>
          <p:nvSpPr>
            <p:cNvPr id="151596" name="文本框 151595"/>
            <p:cNvSpPr txBox="1"/>
            <p:nvPr/>
          </p:nvSpPr>
          <p:spPr>
            <a:xfrm>
              <a:off x="4524" y="3994"/>
              <a:ext cx="252"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1500</a:t>
              </a:r>
              <a:endParaRPr lang="en-US" altLang="zh-CN" sz="1600" b="1">
                <a:solidFill>
                  <a:schemeClr val="hlink"/>
                </a:solidFill>
                <a:latin typeface="Times New Roman" panose="02020603050405020304" pitchFamily="18" charset="0"/>
              </a:endParaRPr>
            </a:p>
          </p:txBody>
        </p:sp>
        <p:sp>
          <p:nvSpPr>
            <p:cNvPr id="151597" name="文本框 151596"/>
            <p:cNvSpPr txBox="1"/>
            <p:nvPr/>
          </p:nvSpPr>
          <p:spPr>
            <a:xfrm>
              <a:off x="4735" y="3889"/>
              <a:ext cx="253" cy="160"/>
            </a:xfrm>
            <a:prstGeom prst="rect">
              <a:avLst/>
            </a:prstGeom>
            <a:noFill/>
            <a:ln w="12700">
              <a:noFill/>
            </a:ln>
          </p:spPr>
          <p:txBody>
            <a:bodyPr wrap="none" lIns="0" tIns="0" rIns="0" bIns="0">
              <a:spAutoFit/>
            </a:bodyPr>
            <a:p>
              <a:r>
                <a:rPr lang="en-US" altLang="zh-CN" sz="1600" b="1">
                  <a:solidFill>
                    <a:schemeClr val="hlink"/>
                  </a:solidFill>
                  <a:latin typeface="Times New Roman" panose="02020603050405020304" pitchFamily="18" charset="0"/>
                </a:rPr>
                <a:t>2000</a:t>
              </a:r>
              <a:endParaRPr lang="en-US" altLang="zh-CN" sz="1600" b="1">
                <a:solidFill>
                  <a:schemeClr val="hlink"/>
                </a:solidFill>
                <a:latin typeface="Times New Roman" panose="02020603050405020304" pitchFamily="18" charset="0"/>
              </a:endParaRPr>
            </a:p>
          </p:txBody>
        </p:sp>
        <p:sp>
          <p:nvSpPr>
            <p:cNvPr id="151598" name="文本框 151597"/>
            <p:cNvSpPr txBox="1"/>
            <p:nvPr/>
          </p:nvSpPr>
          <p:spPr>
            <a:xfrm>
              <a:off x="5085" y="3898"/>
              <a:ext cx="252"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4000</a:t>
              </a:r>
              <a:endParaRPr lang="en-US" altLang="zh-CN" sz="1600" b="1">
                <a:solidFill>
                  <a:schemeClr val="hlink"/>
                </a:solidFill>
                <a:latin typeface="Times New Roman" panose="02020603050405020304" pitchFamily="18" charset="0"/>
              </a:endParaRPr>
            </a:p>
          </p:txBody>
        </p:sp>
        <p:sp>
          <p:nvSpPr>
            <p:cNvPr id="151599" name="文本框 151598"/>
            <p:cNvSpPr txBox="1"/>
            <p:nvPr/>
          </p:nvSpPr>
          <p:spPr>
            <a:xfrm>
              <a:off x="5438" y="3888"/>
              <a:ext cx="252"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6000</a:t>
              </a:r>
              <a:endParaRPr lang="en-US" altLang="zh-CN" sz="1600" b="1">
                <a:solidFill>
                  <a:schemeClr val="hlink"/>
                </a:solidFill>
                <a:latin typeface="Times New Roman" panose="02020603050405020304" pitchFamily="18" charset="0"/>
              </a:endParaRPr>
            </a:p>
          </p:txBody>
        </p:sp>
        <p:sp>
          <p:nvSpPr>
            <p:cNvPr id="151600" name="文本框 151599"/>
            <p:cNvSpPr txBox="1"/>
            <p:nvPr/>
          </p:nvSpPr>
          <p:spPr>
            <a:xfrm>
              <a:off x="2344" y="4079"/>
              <a:ext cx="1411" cy="199"/>
            </a:xfrm>
            <a:prstGeom prst="rect">
              <a:avLst/>
            </a:prstGeom>
            <a:noFill/>
            <a:ln w="12700">
              <a:noFill/>
            </a:ln>
          </p:spPr>
          <p:txBody>
            <a:bodyPr wrap="none" lIns="0" tIns="0" rIns="0" bIns="0" anchor="t" anchorCtr="0">
              <a:spAutoFit/>
            </a:bodyPr>
            <a:p>
              <a:r>
                <a:rPr lang="zh-CN" altLang="en-US" sz="2000" b="1" dirty="0">
                  <a:solidFill>
                    <a:schemeClr val="hlink"/>
                  </a:solidFill>
                  <a:latin typeface="Times New Roman" panose="02020603050405020304" pitchFamily="18" charset="0"/>
                </a:rPr>
                <a:t>小链轮转速</a:t>
              </a:r>
              <a:r>
                <a:rPr lang="en-US" altLang="zh-CN" sz="2000" b="1">
                  <a:solidFill>
                    <a:schemeClr val="hlink"/>
                  </a:solidFill>
                  <a:latin typeface="Times New Roman" panose="02020603050405020304" pitchFamily="18" charset="0"/>
                </a:rPr>
                <a:t>n</a:t>
              </a:r>
              <a:r>
                <a:rPr lang="en-US" altLang="zh-CN" sz="2000" b="1" baseline="-25000">
                  <a:solidFill>
                    <a:schemeClr val="hlink"/>
                  </a:solidFill>
                  <a:latin typeface="Times New Roman" panose="02020603050405020304" pitchFamily="18" charset="0"/>
                </a:rPr>
                <a:t>1</a:t>
              </a:r>
              <a:r>
                <a:rPr lang="en-US" altLang="zh-CN" sz="2000" b="1">
                  <a:solidFill>
                    <a:schemeClr val="hlink"/>
                  </a:solidFill>
                  <a:latin typeface="Times New Roman" panose="02020603050405020304" pitchFamily="18" charset="0"/>
                </a:rPr>
                <a:t>(r/min)</a:t>
              </a:r>
              <a:endParaRPr lang="en-US" altLang="zh-CN" sz="2000" b="1" baseline="-25000">
                <a:solidFill>
                  <a:schemeClr val="hlink"/>
                </a:solidFill>
                <a:latin typeface="Times New Roman" panose="02020603050405020304" pitchFamily="18" charset="0"/>
              </a:endParaRPr>
            </a:p>
          </p:txBody>
        </p:sp>
      </p:grpSp>
      <p:grpSp>
        <p:nvGrpSpPr>
          <p:cNvPr id="151602" name="组合 151601"/>
          <p:cNvGrpSpPr/>
          <p:nvPr/>
        </p:nvGrpSpPr>
        <p:grpSpPr>
          <a:xfrm>
            <a:off x="500136" y="0"/>
            <a:ext cx="8335889" cy="5997575"/>
            <a:chOff x="409" y="14"/>
            <a:chExt cx="5171" cy="3923"/>
          </a:xfrm>
        </p:grpSpPr>
        <p:sp>
          <p:nvSpPr>
            <p:cNvPr id="151603" name="直接连接符 151602"/>
            <p:cNvSpPr/>
            <p:nvPr/>
          </p:nvSpPr>
          <p:spPr>
            <a:xfrm>
              <a:off x="1195" y="1151"/>
              <a:ext cx="3476" cy="1"/>
            </a:xfrm>
            <a:prstGeom prst="line">
              <a:avLst/>
            </a:prstGeom>
            <a:ln w="19050" cap="flat" cmpd="sng">
              <a:solidFill>
                <a:srgbClr val="FF0000"/>
              </a:solidFill>
              <a:prstDash val="solid"/>
              <a:headEnd type="none" w="med" len="med"/>
              <a:tailEnd type="none" w="sm" len="lg"/>
            </a:ln>
          </p:spPr>
        </p:sp>
        <p:sp>
          <p:nvSpPr>
            <p:cNvPr id="151604" name="直接连接符 151603"/>
            <p:cNvSpPr/>
            <p:nvPr/>
          </p:nvSpPr>
          <p:spPr>
            <a:xfrm>
              <a:off x="1195" y="3872"/>
              <a:ext cx="4376" cy="1"/>
            </a:xfrm>
            <a:prstGeom prst="line">
              <a:avLst/>
            </a:prstGeom>
            <a:ln w="19050" cap="flat" cmpd="sng">
              <a:solidFill>
                <a:srgbClr val="FF0000"/>
              </a:solidFill>
              <a:prstDash val="solid"/>
              <a:headEnd type="none" w="med" len="med"/>
              <a:tailEnd type="none" w="sm" len="lg"/>
            </a:ln>
          </p:spPr>
        </p:sp>
        <p:sp>
          <p:nvSpPr>
            <p:cNvPr id="151605" name="直接连接符 151604"/>
            <p:cNvSpPr/>
            <p:nvPr/>
          </p:nvSpPr>
          <p:spPr>
            <a:xfrm>
              <a:off x="1204" y="3694"/>
              <a:ext cx="4376" cy="1"/>
            </a:xfrm>
            <a:prstGeom prst="line">
              <a:avLst/>
            </a:prstGeom>
            <a:ln w="19050" cap="flat" cmpd="sng">
              <a:solidFill>
                <a:srgbClr val="FF0000"/>
              </a:solidFill>
              <a:prstDash val="solid"/>
              <a:headEnd type="none" w="med" len="med"/>
              <a:tailEnd type="none" w="sm" len="lg"/>
            </a:ln>
          </p:spPr>
        </p:sp>
        <p:sp>
          <p:nvSpPr>
            <p:cNvPr id="151606" name="直接连接符 151605"/>
            <p:cNvSpPr/>
            <p:nvPr/>
          </p:nvSpPr>
          <p:spPr>
            <a:xfrm>
              <a:off x="1203" y="3547"/>
              <a:ext cx="4376" cy="1"/>
            </a:xfrm>
            <a:prstGeom prst="line">
              <a:avLst/>
            </a:prstGeom>
            <a:ln w="19050" cap="flat" cmpd="sng">
              <a:solidFill>
                <a:srgbClr val="FF0000"/>
              </a:solidFill>
              <a:prstDash val="solid"/>
              <a:headEnd type="none" w="med" len="med"/>
              <a:tailEnd type="none" w="sm" len="lg"/>
            </a:ln>
          </p:spPr>
        </p:sp>
        <p:sp>
          <p:nvSpPr>
            <p:cNvPr id="151607" name="直接连接符 151606"/>
            <p:cNvSpPr/>
            <p:nvPr/>
          </p:nvSpPr>
          <p:spPr>
            <a:xfrm>
              <a:off x="1201" y="3355"/>
              <a:ext cx="4376" cy="1"/>
            </a:xfrm>
            <a:prstGeom prst="line">
              <a:avLst/>
            </a:prstGeom>
            <a:ln w="19050" cap="flat" cmpd="sng">
              <a:solidFill>
                <a:srgbClr val="FF0000"/>
              </a:solidFill>
              <a:prstDash val="solid"/>
              <a:headEnd type="none" w="med" len="med"/>
              <a:tailEnd type="none" w="sm" len="lg"/>
            </a:ln>
          </p:spPr>
        </p:sp>
        <p:sp>
          <p:nvSpPr>
            <p:cNvPr id="151608" name="直接连接符 151607"/>
            <p:cNvSpPr/>
            <p:nvPr/>
          </p:nvSpPr>
          <p:spPr>
            <a:xfrm>
              <a:off x="1203" y="3215"/>
              <a:ext cx="4376" cy="1"/>
            </a:xfrm>
            <a:prstGeom prst="line">
              <a:avLst/>
            </a:prstGeom>
            <a:ln w="19050" cap="flat" cmpd="sng">
              <a:solidFill>
                <a:srgbClr val="FF0000"/>
              </a:solidFill>
              <a:prstDash val="solid"/>
              <a:headEnd type="none" w="med" len="med"/>
              <a:tailEnd type="none" w="sm" len="lg"/>
            </a:ln>
          </p:spPr>
        </p:sp>
        <p:sp>
          <p:nvSpPr>
            <p:cNvPr id="151609" name="直接连接符 151608"/>
            <p:cNvSpPr/>
            <p:nvPr/>
          </p:nvSpPr>
          <p:spPr>
            <a:xfrm>
              <a:off x="1202" y="3100"/>
              <a:ext cx="4376" cy="1"/>
            </a:xfrm>
            <a:prstGeom prst="line">
              <a:avLst/>
            </a:prstGeom>
            <a:ln w="19050" cap="flat" cmpd="sng">
              <a:solidFill>
                <a:srgbClr val="FF0000"/>
              </a:solidFill>
              <a:prstDash val="solid"/>
              <a:headEnd type="none" w="med" len="med"/>
              <a:tailEnd type="none" w="sm" len="lg"/>
            </a:ln>
          </p:spPr>
        </p:sp>
        <p:sp>
          <p:nvSpPr>
            <p:cNvPr id="151610" name="直接连接符 151609"/>
            <p:cNvSpPr/>
            <p:nvPr/>
          </p:nvSpPr>
          <p:spPr>
            <a:xfrm>
              <a:off x="1202" y="3022"/>
              <a:ext cx="4376" cy="1"/>
            </a:xfrm>
            <a:prstGeom prst="line">
              <a:avLst/>
            </a:prstGeom>
            <a:ln w="19050" cap="flat" cmpd="sng">
              <a:solidFill>
                <a:srgbClr val="FF0000"/>
              </a:solidFill>
              <a:prstDash val="solid"/>
              <a:headEnd type="none" w="med" len="med"/>
              <a:tailEnd type="none" w="sm" len="lg"/>
            </a:ln>
          </p:spPr>
        </p:sp>
        <p:sp>
          <p:nvSpPr>
            <p:cNvPr id="151611" name="直接连接符 151610"/>
            <p:cNvSpPr/>
            <p:nvPr/>
          </p:nvSpPr>
          <p:spPr>
            <a:xfrm>
              <a:off x="1203" y="2944"/>
              <a:ext cx="4376" cy="1"/>
            </a:xfrm>
            <a:prstGeom prst="line">
              <a:avLst/>
            </a:prstGeom>
            <a:ln w="19050" cap="flat" cmpd="sng">
              <a:solidFill>
                <a:srgbClr val="FF0000"/>
              </a:solidFill>
              <a:prstDash val="solid"/>
              <a:headEnd type="none" w="med" len="med"/>
              <a:tailEnd type="none" w="sm" len="lg"/>
            </a:ln>
          </p:spPr>
        </p:sp>
        <p:sp>
          <p:nvSpPr>
            <p:cNvPr id="151612" name="直接连接符 151611"/>
            <p:cNvSpPr/>
            <p:nvPr/>
          </p:nvSpPr>
          <p:spPr>
            <a:xfrm>
              <a:off x="1202" y="2892"/>
              <a:ext cx="4376" cy="1"/>
            </a:xfrm>
            <a:prstGeom prst="line">
              <a:avLst/>
            </a:prstGeom>
            <a:ln w="19050" cap="flat" cmpd="sng">
              <a:solidFill>
                <a:srgbClr val="FF0000"/>
              </a:solidFill>
              <a:prstDash val="solid"/>
              <a:headEnd type="none" w="med" len="med"/>
              <a:tailEnd type="none" w="sm" len="lg"/>
            </a:ln>
          </p:spPr>
        </p:sp>
        <p:sp>
          <p:nvSpPr>
            <p:cNvPr id="151613" name="直接连接符 151612"/>
            <p:cNvSpPr/>
            <p:nvPr/>
          </p:nvSpPr>
          <p:spPr>
            <a:xfrm>
              <a:off x="1202" y="2829"/>
              <a:ext cx="4376" cy="1"/>
            </a:xfrm>
            <a:prstGeom prst="line">
              <a:avLst/>
            </a:prstGeom>
            <a:ln w="19050" cap="flat" cmpd="sng">
              <a:solidFill>
                <a:srgbClr val="FF0000"/>
              </a:solidFill>
              <a:prstDash val="solid"/>
              <a:headEnd type="none" w="med" len="med"/>
              <a:tailEnd type="none" w="sm" len="lg"/>
            </a:ln>
          </p:spPr>
        </p:sp>
        <p:sp>
          <p:nvSpPr>
            <p:cNvPr id="151614" name="直接连接符 151613"/>
            <p:cNvSpPr/>
            <p:nvPr/>
          </p:nvSpPr>
          <p:spPr>
            <a:xfrm>
              <a:off x="1200" y="2774"/>
              <a:ext cx="4376" cy="1"/>
            </a:xfrm>
            <a:prstGeom prst="line">
              <a:avLst/>
            </a:prstGeom>
            <a:ln w="19050" cap="flat" cmpd="sng">
              <a:solidFill>
                <a:srgbClr val="FF0000"/>
              </a:solidFill>
              <a:prstDash val="solid"/>
              <a:headEnd type="none" w="med" len="med"/>
              <a:tailEnd type="none" w="sm" len="lg"/>
            </a:ln>
          </p:spPr>
        </p:sp>
        <p:sp>
          <p:nvSpPr>
            <p:cNvPr id="151615" name="直接连接符 151614"/>
            <p:cNvSpPr/>
            <p:nvPr/>
          </p:nvSpPr>
          <p:spPr>
            <a:xfrm>
              <a:off x="1202" y="2591"/>
              <a:ext cx="4376" cy="1"/>
            </a:xfrm>
            <a:prstGeom prst="line">
              <a:avLst/>
            </a:prstGeom>
            <a:ln w="19050" cap="flat" cmpd="sng">
              <a:solidFill>
                <a:srgbClr val="FF0000"/>
              </a:solidFill>
              <a:prstDash val="solid"/>
              <a:headEnd type="none" w="med" len="med"/>
              <a:tailEnd type="none" w="sm" len="lg"/>
            </a:ln>
          </p:spPr>
        </p:sp>
        <p:sp>
          <p:nvSpPr>
            <p:cNvPr id="151616" name="直接连接符 151615"/>
            <p:cNvSpPr/>
            <p:nvPr/>
          </p:nvSpPr>
          <p:spPr>
            <a:xfrm>
              <a:off x="1203" y="2438"/>
              <a:ext cx="4376" cy="1"/>
            </a:xfrm>
            <a:prstGeom prst="line">
              <a:avLst/>
            </a:prstGeom>
            <a:ln w="19050" cap="flat" cmpd="sng">
              <a:solidFill>
                <a:srgbClr val="FF0000"/>
              </a:solidFill>
              <a:prstDash val="solid"/>
              <a:headEnd type="none" w="med" len="med"/>
              <a:tailEnd type="none" w="sm" len="lg"/>
            </a:ln>
          </p:spPr>
        </p:sp>
        <p:sp>
          <p:nvSpPr>
            <p:cNvPr id="151617" name="直接连接符 151616"/>
            <p:cNvSpPr/>
            <p:nvPr/>
          </p:nvSpPr>
          <p:spPr>
            <a:xfrm>
              <a:off x="1202" y="2265"/>
              <a:ext cx="4376" cy="1"/>
            </a:xfrm>
            <a:prstGeom prst="line">
              <a:avLst/>
            </a:prstGeom>
            <a:ln w="19050" cap="flat" cmpd="sng">
              <a:solidFill>
                <a:srgbClr val="FF0000"/>
              </a:solidFill>
              <a:prstDash val="solid"/>
              <a:headEnd type="none" w="med" len="med"/>
              <a:tailEnd type="none" w="sm" len="lg"/>
            </a:ln>
          </p:spPr>
        </p:sp>
        <p:sp>
          <p:nvSpPr>
            <p:cNvPr id="151618" name="直接连接符 151617"/>
            <p:cNvSpPr/>
            <p:nvPr/>
          </p:nvSpPr>
          <p:spPr>
            <a:xfrm>
              <a:off x="1202" y="2144"/>
              <a:ext cx="4376" cy="1"/>
            </a:xfrm>
            <a:prstGeom prst="line">
              <a:avLst/>
            </a:prstGeom>
            <a:ln w="19050" cap="flat" cmpd="sng">
              <a:solidFill>
                <a:srgbClr val="FF0000"/>
              </a:solidFill>
              <a:prstDash val="solid"/>
              <a:headEnd type="none" w="med" len="med"/>
              <a:tailEnd type="none" w="sm" len="lg"/>
            </a:ln>
          </p:spPr>
        </p:sp>
        <p:sp>
          <p:nvSpPr>
            <p:cNvPr id="151619" name="直接连接符 151618"/>
            <p:cNvSpPr/>
            <p:nvPr/>
          </p:nvSpPr>
          <p:spPr>
            <a:xfrm>
              <a:off x="1202" y="1929"/>
              <a:ext cx="4376" cy="1"/>
            </a:xfrm>
            <a:prstGeom prst="line">
              <a:avLst/>
            </a:prstGeom>
            <a:ln w="19050" cap="flat" cmpd="sng">
              <a:solidFill>
                <a:srgbClr val="FF0000"/>
              </a:solidFill>
              <a:prstDash val="solid"/>
              <a:headEnd type="none" w="med" len="med"/>
              <a:tailEnd type="none" w="sm" len="lg"/>
            </a:ln>
          </p:spPr>
        </p:sp>
        <p:sp>
          <p:nvSpPr>
            <p:cNvPr id="151620" name="直接连接符 151619"/>
            <p:cNvSpPr/>
            <p:nvPr/>
          </p:nvSpPr>
          <p:spPr>
            <a:xfrm>
              <a:off x="1202" y="1855"/>
              <a:ext cx="4376" cy="1"/>
            </a:xfrm>
            <a:prstGeom prst="line">
              <a:avLst/>
            </a:prstGeom>
            <a:ln w="19050" cap="flat" cmpd="sng">
              <a:solidFill>
                <a:srgbClr val="FF0000"/>
              </a:solidFill>
              <a:prstDash val="solid"/>
              <a:headEnd type="none" w="med" len="med"/>
              <a:tailEnd type="none" w="sm" len="lg"/>
            </a:ln>
          </p:spPr>
        </p:sp>
        <p:sp>
          <p:nvSpPr>
            <p:cNvPr id="151621" name="直接连接符 151620"/>
            <p:cNvSpPr/>
            <p:nvPr/>
          </p:nvSpPr>
          <p:spPr>
            <a:xfrm>
              <a:off x="1202" y="1781"/>
              <a:ext cx="4376" cy="1"/>
            </a:xfrm>
            <a:prstGeom prst="line">
              <a:avLst/>
            </a:prstGeom>
            <a:ln w="19050" cap="flat" cmpd="sng">
              <a:solidFill>
                <a:srgbClr val="FF0000"/>
              </a:solidFill>
              <a:prstDash val="solid"/>
              <a:headEnd type="none" w="med" len="med"/>
              <a:tailEnd type="none" w="sm" len="lg"/>
            </a:ln>
          </p:spPr>
        </p:sp>
        <p:sp>
          <p:nvSpPr>
            <p:cNvPr id="151622" name="直接连接符 151621"/>
            <p:cNvSpPr/>
            <p:nvPr/>
          </p:nvSpPr>
          <p:spPr>
            <a:xfrm>
              <a:off x="1204" y="1731"/>
              <a:ext cx="4376" cy="1"/>
            </a:xfrm>
            <a:prstGeom prst="line">
              <a:avLst/>
            </a:prstGeom>
            <a:ln w="19050" cap="flat" cmpd="sng">
              <a:solidFill>
                <a:srgbClr val="FF0000"/>
              </a:solidFill>
              <a:prstDash val="solid"/>
              <a:headEnd type="none" w="med" len="med"/>
              <a:tailEnd type="none" w="sm" len="lg"/>
            </a:ln>
          </p:spPr>
        </p:sp>
        <p:sp>
          <p:nvSpPr>
            <p:cNvPr id="151623" name="直接连接符 151622"/>
            <p:cNvSpPr/>
            <p:nvPr/>
          </p:nvSpPr>
          <p:spPr>
            <a:xfrm>
              <a:off x="1204" y="1677"/>
              <a:ext cx="4376" cy="1"/>
            </a:xfrm>
            <a:prstGeom prst="line">
              <a:avLst/>
            </a:prstGeom>
            <a:ln w="19050" cap="flat" cmpd="sng">
              <a:solidFill>
                <a:srgbClr val="FF0000"/>
              </a:solidFill>
              <a:prstDash val="solid"/>
              <a:headEnd type="none" w="med" len="med"/>
              <a:tailEnd type="none" w="sm" len="lg"/>
            </a:ln>
          </p:spPr>
        </p:sp>
        <p:sp>
          <p:nvSpPr>
            <p:cNvPr id="151624" name="直接连接符 151623"/>
            <p:cNvSpPr/>
            <p:nvPr/>
          </p:nvSpPr>
          <p:spPr>
            <a:xfrm>
              <a:off x="1200" y="1484"/>
              <a:ext cx="4376" cy="1"/>
            </a:xfrm>
            <a:prstGeom prst="line">
              <a:avLst/>
            </a:prstGeom>
            <a:ln w="19050" cap="flat" cmpd="sng">
              <a:solidFill>
                <a:srgbClr val="FF0000"/>
              </a:solidFill>
              <a:prstDash val="solid"/>
              <a:headEnd type="none" w="med" len="med"/>
              <a:tailEnd type="none" w="sm" len="lg"/>
            </a:ln>
          </p:spPr>
        </p:sp>
        <p:sp>
          <p:nvSpPr>
            <p:cNvPr id="151625" name="直接连接符 151624"/>
            <p:cNvSpPr/>
            <p:nvPr/>
          </p:nvSpPr>
          <p:spPr>
            <a:xfrm>
              <a:off x="1200" y="1341"/>
              <a:ext cx="4376" cy="1"/>
            </a:xfrm>
            <a:prstGeom prst="line">
              <a:avLst/>
            </a:prstGeom>
            <a:ln w="19050" cap="flat" cmpd="sng">
              <a:solidFill>
                <a:srgbClr val="FF0000"/>
              </a:solidFill>
              <a:prstDash val="solid"/>
              <a:headEnd type="none" w="med" len="med"/>
              <a:tailEnd type="none" w="sm" len="lg"/>
            </a:ln>
          </p:spPr>
        </p:sp>
        <p:sp>
          <p:nvSpPr>
            <p:cNvPr id="151626" name="直接连接符 151625"/>
            <p:cNvSpPr/>
            <p:nvPr/>
          </p:nvSpPr>
          <p:spPr>
            <a:xfrm>
              <a:off x="1198" y="1023"/>
              <a:ext cx="3465" cy="1"/>
            </a:xfrm>
            <a:prstGeom prst="line">
              <a:avLst/>
            </a:prstGeom>
            <a:ln w="19050" cap="flat" cmpd="sng">
              <a:solidFill>
                <a:srgbClr val="FF0000"/>
              </a:solidFill>
              <a:prstDash val="solid"/>
              <a:headEnd type="none" w="med" len="med"/>
              <a:tailEnd type="none" w="sm" len="lg"/>
            </a:ln>
          </p:spPr>
        </p:sp>
        <p:sp>
          <p:nvSpPr>
            <p:cNvPr id="151627" name="直接连接符 151626"/>
            <p:cNvSpPr/>
            <p:nvPr/>
          </p:nvSpPr>
          <p:spPr>
            <a:xfrm>
              <a:off x="1200" y="905"/>
              <a:ext cx="3465" cy="1"/>
            </a:xfrm>
            <a:prstGeom prst="line">
              <a:avLst/>
            </a:prstGeom>
            <a:ln w="19050" cap="flat" cmpd="sng">
              <a:solidFill>
                <a:srgbClr val="FF0000"/>
              </a:solidFill>
              <a:prstDash val="solid"/>
              <a:headEnd type="none" w="med" len="med"/>
              <a:tailEnd type="none" w="sm" len="lg"/>
            </a:ln>
          </p:spPr>
        </p:sp>
        <p:sp>
          <p:nvSpPr>
            <p:cNvPr id="151628" name="直接连接符 151627"/>
            <p:cNvSpPr/>
            <p:nvPr/>
          </p:nvSpPr>
          <p:spPr>
            <a:xfrm>
              <a:off x="1202" y="820"/>
              <a:ext cx="3465" cy="1"/>
            </a:xfrm>
            <a:prstGeom prst="line">
              <a:avLst/>
            </a:prstGeom>
            <a:ln w="19050" cap="flat" cmpd="sng">
              <a:solidFill>
                <a:srgbClr val="FF0000"/>
              </a:solidFill>
              <a:prstDash val="solid"/>
              <a:headEnd type="none" w="med" len="med"/>
              <a:tailEnd type="none" w="sm" len="lg"/>
            </a:ln>
          </p:spPr>
        </p:sp>
        <p:sp>
          <p:nvSpPr>
            <p:cNvPr id="151629" name="直接连接符 151628"/>
            <p:cNvSpPr/>
            <p:nvPr/>
          </p:nvSpPr>
          <p:spPr>
            <a:xfrm>
              <a:off x="1202" y="750"/>
              <a:ext cx="3465" cy="1"/>
            </a:xfrm>
            <a:prstGeom prst="line">
              <a:avLst/>
            </a:prstGeom>
            <a:ln w="19050" cap="flat" cmpd="sng">
              <a:solidFill>
                <a:srgbClr val="FF0000"/>
              </a:solidFill>
              <a:prstDash val="solid"/>
              <a:headEnd type="none" w="med" len="med"/>
              <a:tailEnd type="none" w="sm" len="lg"/>
            </a:ln>
          </p:spPr>
        </p:sp>
        <p:sp>
          <p:nvSpPr>
            <p:cNvPr id="151630" name="直接连接符 151629"/>
            <p:cNvSpPr/>
            <p:nvPr/>
          </p:nvSpPr>
          <p:spPr>
            <a:xfrm>
              <a:off x="1199" y="681"/>
              <a:ext cx="3465" cy="1"/>
            </a:xfrm>
            <a:prstGeom prst="line">
              <a:avLst/>
            </a:prstGeom>
            <a:ln w="19050" cap="flat" cmpd="sng">
              <a:solidFill>
                <a:srgbClr val="FF0000"/>
              </a:solidFill>
              <a:prstDash val="solid"/>
              <a:headEnd type="none" w="med" len="med"/>
              <a:tailEnd type="none" w="sm" len="lg"/>
            </a:ln>
          </p:spPr>
        </p:sp>
        <p:sp>
          <p:nvSpPr>
            <p:cNvPr id="151631" name="直接连接符 151630"/>
            <p:cNvSpPr/>
            <p:nvPr/>
          </p:nvSpPr>
          <p:spPr>
            <a:xfrm>
              <a:off x="1199" y="633"/>
              <a:ext cx="3465" cy="1"/>
            </a:xfrm>
            <a:prstGeom prst="line">
              <a:avLst/>
            </a:prstGeom>
            <a:ln w="19050" cap="flat" cmpd="sng">
              <a:solidFill>
                <a:srgbClr val="FF0000"/>
              </a:solidFill>
              <a:prstDash val="solid"/>
              <a:headEnd type="none" w="med" len="med"/>
              <a:tailEnd type="none" w="sm" len="lg"/>
            </a:ln>
          </p:spPr>
        </p:sp>
        <p:sp>
          <p:nvSpPr>
            <p:cNvPr id="151632" name="直接连接符 151631"/>
            <p:cNvSpPr/>
            <p:nvPr/>
          </p:nvSpPr>
          <p:spPr>
            <a:xfrm>
              <a:off x="1200" y="586"/>
              <a:ext cx="3465" cy="1"/>
            </a:xfrm>
            <a:prstGeom prst="line">
              <a:avLst/>
            </a:prstGeom>
            <a:ln w="19050" cap="flat" cmpd="sng">
              <a:solidFill>
                <a:srgbClr val="FF0000"/>
              </a:solidFill>
              <a:prstDash val="solid"/>
              <a:headEnd type="none" w="med" len="med"/>
              <a:tailEnd type="none" w="sm" len="lg"/>
            </a:ln>
          </p:spPr>
        </p:sp>
        <p:sp>
          <p:nvSpPr>
            <p:cNvPr id="151633" name="直接连接符 151632"/>
            <p:cNvSpPr/>
            <p:nvPr/>
          </p:nvSpPr>
          <p:spPr>
            <a:xfrm>
              <a:off x="1200" y="378"/>
              <a:ext cx="3465" cy="1"/>
            </a:xfrm>
            <a:prstGeom prst="line">
              <a:avLst/>
            </a:prstGeom>
            <a:ln w="19050" cap="flat" cmpd="sng">
              <a:solidFill>
                <a:srgbClr val="FF0000"/>
              </a:solidFill>
              <a:prstDash val="solid"/>
              <a:headEnd type="none" w="med" len="med"/>
              <a:tailEnd type="none" w="sm" len="lg"/>
            </a:ln>
          </p:spPr>
        </p:sp>
        <p:sp>
          <p:nvSpPr>
            <p:cNvPr id="151634" name="直接连接符 151633"/>
            <p:cNvSpPr/>
            <p:nvPr/>
          </p:nvSpPr>
          <p:spPr>
            <a:xfrm>
              <a:off x="1199" y="241"/>
              <a:ext cx="3465" cy="1"/>
            </a:xfrm>
            <a:prstGeom prst="line">
              <a:avLst/>
            </a:prstGeom>
            <a:ln w="19050" cap="flat" cmpd="sng">
              <a:solidFill>
                <a:srgbClr val="FF0000"/>
              </a:solidFill>
              <a:prstDash val="solid"/>
              <a:headEnd type="none" w="med" len="med"/>
              <a:tailEnd type="none" w="sm" len="lg"/>
            </a:ln>
          </p:spPr>
        </p:sp>
        <p:sp>
          <p:nvSpPr>
            <p:cNvPr id="151635" name="直接连接符 151634"/>
            <p:cNvSpPr/>
            <p:nvPr/>
          </p:nvSpPr>
          <p:spPr>
            <a:xfrm>
              <a:off x="1194" y="88"/>
              <a:ext cx="4376" cy="1"/>
            </a:xfrm>
            <a:prstGeom prst="line">
              <a:avLst/>
            </a:prstGeom>
            <a:ln w="19050" cap="flat" cmpd="sng">
              <a:solidFill>
                <a:srgbClr val="FF0000"/>
              </a:solidFill>
              <a:prstDash val="solid"/>
              <a:headEnd type="none" w="med" len="med"/>
              <a:tailEnd type="none" w="sm" len="lg"/>
            </a:ln>
          </p:spPr>
        </p:sp>
        <p:sp>
          <p:nvSpPr>
            <p:cNvPr id="151636" name="文本框 151635"/>
            <p:cNvSpPr txBox="1"/>
            <p:nvPr/>
          </p:nvSpPr>
          <p:spPr>
            <a:xfrm>
              <a:off x="937" y="3777"/>
              <a:ext cx="15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0.1</a:t>
              </a:r>
              <a:endParaRPr lang="en-US" altLang="zh-CN" sz="1600" b="1">
                <a:solidFill>
                  <a:schemeClr val="hlink"/>
                </a:solidFill>
                <a:latin typeface="Times New Roman" panose="02020603050405020304" pitchFamily="18" charset="0"/>
              </a:endParaRPr>
            </a:p>
          </p:txBody>
        </p:sp>
        <p:sp>
          <p:nvSpPr>
            <p:cNvPr id="151637" name="文本框 151636"/>
            <p:cNvSpPr txBox="1"/>
            <p:nvPr/>
          </p:nvSpPr>
          <p:spPr>
            <a:xfrm>
              <a:off x="921" y="3603"/>
              <a:ext cx="221"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0.15</a:t>
              </a:r>
              <a:endParaRPr lang="en-US" altLang="zh-CN" sz="1600" b="1">
                <a:solidFill>
                  <a:schemeClr val="hlink"/>
                </a:solidFill>
                <a:latin typeface="Times New Roman" panose="02020603050405020304" pitchFamily="18" charset="0"/>
              </a:endParaRPr>
            </a:p>
          </p:txBody>
        </p:sp>
        <p:sp>
          <p:nvSpPr>
            <p:cNvPr id="151638" name="文本框 151637"/>
            <p:cNvSpPr txBox="1"/>
            <p:nvPr/>
          </p:nvSpPr>
          <p:spPr>
            <a:xfrm>
              <a:off x="928" y="3441"/>
              <a:ext cx="157"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0.2</a:t>
              </a:r>
              <a:endParaRPr lang="en-US" altLang="zh-CN" sz="1600" b="1">
                <a:solidFill>
                  <a:schemeClr val="hlink"/>
                </a:solidFill>
                <a:latin typeface="Times New Roman" panose="02020603050405020304" pitchFamily="18" charset="0"/>
              </a:endParaRPr>
            </a:p>
          </p:txBody>
        </p:sp>
        <p:sp>
          <p:nvSpPr>
            <p:cNvPr id="151639" name="文本框 151638"/>
            <p:cNvSpPr txBox="1"/>
            <p:nvPr/>
          </p:nvSpPr>
          <p:spPr>
            <a:xfrm>
              <a:off x="944" y="3142"/>
              <a:ext cx="15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0.4</a:t>
              </a:r>
              <a:endParaRPr lang="en-US" altLang="zh-CN" sz="1600" b="1">
                <a:solidFill>
                  <a:schemeClr val="hlink"/>
                </a:solidFill>
                <a:latin typeface="Times New Roman" panose="02020603050405020304" pitchFamily="18" charset="0"/>
              </a:endParaRPr>
            </a:p>
          </p:txBody>
        </p:sp>
        <p:sp>
          <p:nvSpPr>
            <p:cNvPr id="151640" name="文本框 151639"/>
            <p:cNvSpPr txBox="1"/>
            <p:nvPr/>
          </p:nvSpPr>
          <p:spPr>
            <a:xfrm>
              <a:off x="939" y="2988"/>
              <a:ext cx="15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0.6</a:t>
              </a:r>
              <a:endParaRPr lang="en-US" altLang="zh-CN" sz="1600" b="1">
                <a:solidFill>
                  <a:schemeClr val="hlink"/>
                </a:solidFill>
                <a:latin typeface="Times New Roman" panose="02020603050405020304" pitchFamily="18" charset="0"/>
              </a:endParaRPr>
            </a:p>
          </p:txBody>
        </p:sp>
        <p:sp>
          <p:nvSpPr>
            <p:cNvPr id="151641" name="文本框 151640"/>
            <p:cNvSpPr txBox="1"/>
            <p:nvPr/>
          </p:nvSpPr>
          <p:spPr>
            <a:xfrm>
              <a:off x="939" y="2834"/>
              <a:ext cx="157" cy="161"/>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0.8</a:t>
              </a:r>
              <a:endParaRPr lang="en-US" altLang="zh-CN" sz="1600" b="1">
                <a:solidFill>
                  <a:schemeClr val="hlink"/>
                </a:solidFill>
                <a:latin typeface="Times New Roman" panose="02020603050405020304" pitchFamily="18" charset="0"/>
              </a:endParaRPr>
            </a:p>
          </p:txBody>
        </p:sp>
        <p:sp>
          <p:nvSpPr>
            <p:cNvPr id="151642" name="文本框 151641"/>
            <p:cNvSpPr txBox="1"/>
            <p:nvPr/>
          </p:nvSpPr>
          <p:spPr>
            <a:xfrm>
              <a:off x="1008" y="2691"/>
              <a:ext cx="64"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a:t>
              </a:r>
              <a:endParaRPr lang="en-US" altLang="zh-CN" sz="1600" b="1">
                <a:solidFill>
                  <a:schemeClr val="hlink"/>
                </a:solidFill>
                <a:latin typeface="Times New Roman" panose="02020603050405020304" pitchFamily="18" charset="0"/>
              </a:endParaRPr>
            </a:p>
          </p:txBody>
        </p:sp>
        <p:sp>
          <p:nvSpPr>
            <p:cNvPr id="151643" name="文本框 151642"/>
            <p:cNvSpPr txBox="1"/>
            <p:nvPr/>
          </p:nvSpPr>
          <p:spPr>
            <a:xfrm>
              <a:off x="917" y="2553"/>
              <a:ext cx="15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a:t>
              </a:r>
              <a:endParaRPr lang="en-US" altLang="zh-CN" sz="1600" b="1">
                <a:solidFill>
                  <a:schemeClr val="hlink"/>
                </a:solidFill>
                <a:latin typeface="Times New Roman" panose="02020603050405020304" pitchFamily="18" charset="0"/>
              </a:endParaRPr>
            </a:p>
          </p:txBody>
        </p:sp>
        <p:sp>
          <p:nvSpPr>
            <p:cNvPr id="151644" name="文本框 151643"/>
            <p:cNvSpPr txBox="1"/>
            <p:nvPr/>
          </p:nvSpPr>
          <p:spPr>
            <a:xfrm>
              <a:off x="1014" y="2365"/>
              <a:ext cx="62"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2</a:t>
              </a:r>
              <a:endParaRPr lang="en-US" altLang="zh-CN" sz="1600" b="1">
                <a:solidFill>
                  <a:schemeClr val="hlink"/>
                </a:solidFill>
                <a:latin typeface="Times New Roman" panose="02020603050405020304" pitchFamily="18" charset="0"/>
              </a:endParaRPr>
            </a:p>
          </p:txBody>
        </p:sp>
        <p:sp>
          <p:nvSpPr>
            <p:cNvPr id="151645" name="文本框 151644"/>
            <p:cNvSpPr txBox="1"/>
            <p:nvPr/>
          </p:nvSpPr>
          <p:spPr>
            <a:xfrm>
              <a:off x="1026" y="2161"/>
              <a:ext cx="62"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4</a:t>
              </a:r>
              <a:endParaRPr lang="en-US" altLang="zh-CN" sz="1600" b="1">
                <a:solidFill>
                  <a:schemeClr val="hlink"/>
                </a:solidFill>
                <a:latin typeface="Times New Roman" panose="02020603050405020304" pitchFamily="18" charset="0"/>
              </a:endParaRPr>
            </a:p>
          </p:txBody>
        </p:sp>
        <p:sp>
          <p:nvSpPr>
            <p:cNvPr id="151646" name="文本框 151645"/>
            <p:cNvSpPr txBox="1"/>
            <p:nvPr/>
          </p:nvSpPr>
          <p:spPr>
            <a:xfrm>
              <a:off x="1042" y="1883"/>
              <a:ext cx="63"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6</a:t>
              </a:r>
              <a:endParaRPr lang="en-US" altLang="zh-CN" sz="1600" b="1">
                <a:solidFill>
                  <a:schemeClr val="hlink"/>
                </a:solidFill>
                <a:latin typeface="Times New Roman" panose="02020603050405020304" pitchFamily="18" charset="0"/>
              </a:endParaRPr>
            </a:p>
          </p:txBody>
        </p:sp>
        <p:sp>
          <p:nvSpPr>
            <p:cNvPr id="151647" name="文本框 151646"/>
            <p:cNvSpPr txBox="1"/>
            <p:nvPr/>
          </p:nvSpPr>
          <p:spPr>
            <a:xfrm>
              <a:off x="1048" y="1720"/>
              <a:ext cx="63" cy="161"/>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8</a:t>
              </a:r>
              <a:endParaRPr lang="en-US" altLang="zh-CN" sz="1600" b="1">
                <a:solidFill>
                  <a:schemeClr val="hlink"/>
                </a:solidFill>
                <a:latin typeface="Times New Roman" panose="02020603050405020304" pitchFamily="18" charset="0"/>
              </a:endParaRPr>
            </a:p>
          </p:txBody>
        </p:sp>
        <p:sp>
          <p:nvSpPr>
            <p:cNvPr id="151648" name="文本框 151647"/>
            <p:cNvSpPr txBox="1"/>
            <p:nvPr/>
          </p:nvSpPr>
          <p:spPr>
            <a:xfrm>
              <a:off x="1001" y="1594"/>
              <a:ext cx="12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10</a:t>
              </a:r>
              <a:endParaRPr lang="en-US" altLang="zh-CN" sz="1600" b="1">
                <a:solidFill>
                  <a:schemeClr val="hlink"/>
                </a:solidFill>
                <a:latin typeface="Times New Roman" panose="02020603050405020304" pitchFamily="18" charset="0"/>
              </a:endParaRPr>
            </a:p>
          </p:txBody>
        </p:sp>
        <p:sp>
          <p:nvSpPr>
            <p:cNvPr id="151649" name="文本框 151648"/>
            <p:cNvSpPr txBox="1"/>
            <p:nvPr/>
          </p:nvSpPr>
          <p:spPr>
            <a:xfrm>
              <a:off x="998" y="1417"/>
              <a:ext cx="12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a:t>
              </a:r>
              <a:endParaRPr lang="en-US" altLang="zh-CN" sz="1600" b="1">
                <a:solidFill>
                  <a:schemeClr val="hlink"/>
                </a:solidFill>
                <a:latin typeface="Times New Roman" panose="02020603050405020304" pitchFamily="18" charset="0"/>
              </a:endParaRPr>
            </a:p>
          </p:txBody>
        </p:sp>
        <p:sp>
          <p:nvSpPr>
            <p:cNvPr id="151650" name="文本框 151649"/>
            <p:cNvSpPr txBox="1"/>
            <p:nvPr/>
          </p:nvSpPr>
          <p:spPr>
            <a:xfrm>
              <a:off x="1009" y="1254"/>
              <a:ext cx="127"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20</a:t>
              </a:r>
              <a:endParaRPr lang="en-US" altLang="zh-CN" sz="1600" b="1">
                <a:solidFill>
                  <a:schemeClr val="hlink"/>
                </a:solidFill>
                <a:latin typeface="Times New Roman" panose="02020603050405020304" pitchFamily="18" charset="0"/>
              </a:endParaRPr>
            </a:p>
          </p:txBody>
        </p:sp>
        <p:sp>
          <p:nvSpPr>
            <p:cNvPr id="151651" name="文本框 151650"/>
            <p:cNvSpPr txBox="1"/>
            <p:nvPr/>
          </p:nvSpPr>
          <p:spPr>
            <a:xfrm>
              <a:off x="1001" y="950"/>
              <a:ext cx="127"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40</a:t>
              </a:r>
              <a:endParaRPr lang="en-US" altLang="zh-CN" sz="1600" b="1">
                <a:solidFill>
                  <a:schemeClr val="hlink"/>
                </a:solidFill>
                <a:latin typeface="Times New Roman" panose="02020603050405020304" pitchFamily="18" charset="0"/>
              </a:endParaRPr>
            </a:p>
          </p:txBody>
        </p:sp>
        <p:sp>
          <p:nvSpPr>
            <p:cNvPr id="151652" name="文本框 151651"/>
            <p:cNvSpPr txBox="1"/>
            <p:nvPr/>
          </p:nvSpPr>
          <p:spPr>
            <a:xfrm>
              <a:off x="985" y="790"/>
              <a:ext cx="126"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60</a:t>
              </a:r>
              <a:endParaRPr lang="en-US" altLang="zh-CN" sz="1600" b="1">
                <a:solidFill>
                  <a:schemeClr val="hlink"/>
                </a:solidFill>
                <a:latin typeface="Times New Roman" panose="02020603050405020304" pitchFamily="18" charset="0"/>
              </a:endParaRPr>
            </a:p>
          </p:txBody>
        </p:sp>
        <p:sp>
          <p:nvSpPr>
            <p:cNvPr id="151653" name="文本框 151652"/>
            <p:cNvSpPr txBox="1"/>
            <p:nvPr/>
          </p:nvSpPr>
          <p:spPr>
            <a:xfrm>
              <a:off x="1001" y="650"/>
              <a:ext cx="127"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80</a:t>
              </a:r>
              <a:endParaRPr lang="en-US" altLang="zh-CN" sz="1600" b="1">
                <a:solidFill>
                  <a:schemeClr val="hlink"/>
                </a:solidFill>
                <a:latin typeface="Times New Roman" panose="02020603050405020304" pitchFamily="18" charset="0"/>
              </a:endParaRPr>
            </a:p>
          </p:txBody>
        </p:sp>
        <p:sp>
          <p:nvSpPr>
            <p:cNvPr id="151654" name="文本框 151653"/>
            <p:cNvSpPr txBox="1"/>
            <p:nvPr/>
          </p:nvSpPr>
          <p:spPr>
            <a:xfrm>
              <a:off x="937" y="520"/>
              <a:ext cx="189"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100</a:t>
              </a:r>
              <a:endParaRPr lang="en-US" altLang="zh-CN" sz="1600" b="1">
                <a:solidFill>
                  <a:schemeClr val="hlink"/>
                </a:solidFill>
                <a:latin typeface="Times New Roman" panose="02020603050405020304" pitchFamily="18" charset="0"/>
              </a:endParaRPr>
            </a:p>
          </p:txBody>
        </p:sp>
        <p:sp>
          <p:nvSpPr>
            <p:cNvPr id="151655" name="文本框 151654"/>
            <p:cNvSpPr txBox="1"/>
            <p:nvPr/>
          </p:nvSpPr>
          <p:spPr>
            <a:xfrm>
              <a:off x="944" y="327"/>
              <a:ext cx="189"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150</a:t>
              </a:r>
              <a:endParaRPr lang="en-US" altLang="zh-CN" sz="1600" b="1">
                <a:solidFill>
                  <a:schemeClr val="hlink"/>
                </a:solidFill>
                <a:latin typeface="Times New Roman" panose="02020603050405020304" pitchFamily="18" charset="0"/>
              </a:endParaRPr>
            </a:p>
          </p:txBody>
        </p:sp>
        <p:sp>
          <p:nvSpPr>
            <p:cNvPr id="151656" name="文本框 151655"/>
            <p:cNvSpPr txBox="1"/>
            <p:nvPr/>
          </p:nvSpPr>
          <p:spPr>
            <a:xfrm>
              <a:off x="946" y="186"/>
              <a:ext cx="189" cy="159"/>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200</a:t>
              </a:r>
              <a:endParaRPr lang="en-US" altLang="zh-CN" sz="1600" b="1">
                <a:solidFill>
                  <a:schemeClr val="hlink"/>
                </a:solidFill>
                <a:latin typeface="Times New Roman" panose="02020603050405020304" pitchFamily="18" charset="0"/>
              </a:endParaRPr>
            </a:p>
          </p:txBody>
        </p:sp>
        <p:sp>
          <p:nvSpPr>
            <p:cNvPr id="151657" name="文本框 151656"/>
            <p:cNvSpPr txBox="1"/>
            <p:nvPr/>
          </p:nvSpPr>
          <p:spPr>
            <a:xfrm>
              <a:off x="940" y="14"/>
              <a:ext cx="189" cy="160"/>
            </a:xfrm>
            <a:prstGeom prst="rect">
              <a:avLst/>
            </a:prstGeom>
            <a:noFill/>
            <a:ln w="12700">
              <a:noFill/>
            </a:ln>
          </p:spPr>
          <p:txBody>
            <a:bodyPr wrap="none" lIns="0" tIns="0" rIns="0" bIns="0" anchor="t" anchorCtr="0">
              <a:spAutoFit/>
            </a:bodyPr>
            <a:p>
              <a:r>
                <a:rPr lang="en-US" altLang="zh-CN" sz="1600" b="1">
                  <a:solidFill>
                    <a:schemeClr val="hlink"/>
                  </a:solidFill>
                  <a:latin typeface="Times New Roman" panose="02020603050405020304" pitchFamily="18" charset="0"/>
                </a:rPr>
                <a:t>300</a:t>
              </a:r>
              <a:endParaRPr lang="en-US" altLang="zh-CN" sz="1600" b="1">
                <a:solidFill>
                  <a:schemeClr val="hlink"/>
                </a:solidFill>
                <a:latin typeface="Times New Roman" panose="02020603050405020304" pitchFamily="18" charset="0"/>
              </a:endParaRPr>
            </a:p>
          </p:txBody>
        </p:sp>
        <p:sp>
          <p:nvSpPr>
            <p:cNvPr id="151658" name="文本框 151657"/>
            <p:cNvSpPr txBox="1"/>
            <p:nvPr/>
          </p:nvSpPr>
          <p:spPr>
            <a:xfrm rot="21600000">
              <a:off x="409" y="212"/>
              <a:ext cx="439" cy="402"/>
            </a:xfrm>
            <a:prstGeom prst="rect">
              <a:avLst/>
            </a:prstGeom>
            <a:noFill/>
            <a:ln w="12700">
              <a:noFill/>
            </a:ln>
          </p:spPr>
          <p:txBody>
            <a:bodyPr wrap="none" lIns="0" tIns="0" rIns="0" bIns="0" anchor="t" anchorCtr="0">
              <a:spAutoFit/>
            </a:bodyPr>
            <a:p>
              <a:pPr algn="ctr"/>
              <a:r>
                <a:rPr lang="zh-CN" altLang="en-US" sz="2000" b="1" dirty="0">
                  <a:solidFill>
                    <a:schemeClr val="hlink"/>
                  </a:solidFill>
                  <a:latin typeface="Times New Roman" panose="02020603050405020304" pitchFamily="18" charset="0"/>
                </a:rPr>
                <a:t>功率</a:t>
              </a:r>
              <a:endParaRPr lang="zh-CN" altLang="en-US" sz="2000" b="1" dirty="0">
                <a:solidFill>
                  <a:schemeClr val="hlink"/>
                </a:solidFill>
                <a:latin typeface="Times New Roman" panose="02020603050405020304" pitchFamily="18" charset="0"/>
              </a:endParaRPr>
            </a:p>
            <a:p>
              <a:pPr algn="ctr"/>
              <a:r>
                <a:rPr lang="en-US" altLang="zh-CN" sz="2000" b="1">
                  <a:solidFill>
                    <a:schemeClr val="hlink"/>
                  </a:solidFill>
                  <a:latin typeface="Times New Roman" panose="02020603050405020304" pitchFamily="18" charset="0"/>
                </a:rPr>
                <a:t>p</a:t>
              </a:r>
              <a:r>
                <a:rPr lang="en-US" altLang="zh-CN" sz="2000" b="1" baseline="-25000">
                  <a:solidFill>
                    <a:schemeClr val="hlink"/>
                  </a:solidFill>
                  <a:latin typeface="Times New Roman" panose="02020603050405020304" pitchFamily="18" charset="0"/>
                </a:rPr>
                <a:t>c</a:t>
              </a:r>
              <a:r>
                <a:rPr lang="en-US" altLang="zh-CN" sz="2000" b="1">
                  <a:solidFill>
                    <a:schemeClr val="hlink"/>
                  </a:solidFill>
                  <a:latin typeface="Times New Roman" panose="02020603050405020304" pitchFamily="18" charset="0"/>
                </a:rPr>
                <a:t>(kw)</a:t>
              </a:r>
              <a:endParaRPr lang="en-US" altLang="zh-CN" sz="2000" b="1">
                <a:solidFill>
                  <a:schemeClr val="hlink"/>
                </a:solidFill>
                <a:latin typeface="Times New Roman" panose="02020603050405020304" pitchFamily="18" charset="0"/>
              </a:endParaRPr>
            </a:p>
          </p:txBody>
        </p:sp>
      </p:grpSp>
      <p:grpSp>
        <p:nvGrpSpPr>
          <p:cNvPr id="151800" name="组合 151799"/>
          <p:cNvGrpSpPr/>
          <p:nvPr/>
        </p:nvGrpSpPr>
        <p:grpSpPr>
          <a:xfrm>
            <a:off x="1768475" y="609600"/>
            <a:ext cx="3184525" cy="5287963"/>
            <a:chOff x="1114" y="384"/>
            <a:chExt cx="2006" cy="3331"/>
          </a:xfrm>
        </p:grpSpPr>
        <p:sp>
          <p:nvSpPr>
            <p:cNvPr id="151767" name="任意多边形 151766"/>
            <p:cNvSpPr/>
            <p:nvPr/>
          </p:nvSpPr>
          <p:spPr>
            <a:xfrm>
              <a:off x="1114" y="384"/>
              <a:ext cx="2006" cy="3331"/>
            </a:xfrm>
            <a:custGeom>
              <a:avLst/>
              <a:gdLst/>
              <a:ahLst/>
              <a:cxnLst/>
              <a:pathLst>
                <a:path w="2006" h="3331">
                  <a:moveTo>
                    <a:pt x="1574" y="0"/>
                  </a:moveTo>
                  <a:lnTo>
                    <a:pt x="2006" y="173"/>
                  </a:lnTo>
                  <a:lnTo>
                    <a:pt x="2006" y="3331"/>
                  </a:lnTo>
                  <a:lnTo>
                    <a:pt x="0" y="3331"/>
                  </a:lnTo>
                  <a:lnTo>
                    <a:pt x="0" y="960"/>
                  </a:lnTo>
                  <a:lnTo>
                    <a:pt x="1574" y="0"/>
                  </a:lnTo>
                  <a:close/>
                </a:path>
              </a:pathLst>
            </a:custGeom>
            <a:solidFill>
              <a:schemeClr val="accent1">
                <a:alpha val="50000"/>
              </a:schemeClr>
            </a:solidFill>
            <a:ln w="9525" cap="flat" cmpd="sng">
              <a:solidFill>
                <a:srgbClr val="66FF33">
                  <a:alpha val="100000"/>
                </a:srgbClr>
              </a:solidFill>
              <a:prstDash val="solid"/>
              <a:headEnd type="none" w="med" len="med"/>
              <a:tailEnd type="none" w="med" len="med"/>
            </a:ln>
          </p:spPr>
          <p:txBody>
            <a:bodyPr/>
            <a:p>
              <a:endParaRPr lang="zh-CN" altLang="en-US"/>
            </a:p>
          </p:txBody>
        </p:sp>
        <p:grpSp>
          <p:nvGrpSpPr>
            <p:cNvPr id="151764" name="组合 151763"/>
            <p:cNvGrpSpPr/>
            <p:nvPr/>
          </p:nvGrpSpPr>
          <p:grpSpPr>
            <a:xfrm rot="-1768942">
              <a:off x="2186" y="707"/>
              <a:ext cx="333" cy="230"/>
              <a:chOff x="4177" y="2395"/>
              <a:chExt cx="333" cy="230"/>
            </a:xfrm>
          </p:grpSpPr>
          <p:sp>
            <p:nvSpPr>
              <p:cNvPr id="151765" name="矩形 151764"/>
              <p:cNvSpPr/>
              <p:nvPr/>
            </p:nvSpPr>
            <p:spPr>
              <a:xfrm>
                <a:off x="4177" y="2435"/>
                <a:ext cx="333" cy="156"/>
              </a:xfrm>
              <a:prstGeom prst="rect">
                <a:avLst/>
              </a:prstGeom>
              <a:solidFill>
                <a:srgbClr val="000099"/>
              </a:solidFill>
              <a:ln w="3175">
                <a:noFill/>
              </a:ln>
            </p:spPr>
            <p:txBody>
              <a:bodyPr/>
              <a:p>
                <a:endParaRPr lang="zh-CN" altLang="en-US"/>
              </a:p>
            </p:txBody>
          </p:sp>
          <p:sp>
            <p:nvSpPr>
              <p:cNvPr id="151766" name="文本框 151765"/>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48A</a:t>
                </a:r>
                <a:endParaRPr lang="en-US" altLang="zh-CN" sz="2400" b="1">
                  <a:solidFill>
                    <a:srgbClr val="66FF33"/>
                  </a:solidFill>
                  <a:latin typeface="Times New Roman" panose="02020603050405020304" pitchFamily="18" charset="0"/>
                </a:endParaRPr>
              </a:p>
            </p:txBody>
          </p:sp>
        </p:grpSp>
      </p:grpSp>
      <p:sp>
        <p:nvSpPr>
          <p:cNvPr id="151601" name="文本框 151600"/>
          <p:cNvSpPr txBox="1"/>
          <p:nvPr/>
        </p:nvSpPr>
        <p:spPr>
          <a:xfrm>
            <a:off x="355600" y="1625600"/>
            <a:ext cx="742950" cy="2554288"/>
          </a:xfrm>
          <a:prstGeom prst="rect">
            <a:avLst/>
          </a:prstGeom>
          <a:noFill/>
          <a:ln w="12700">
            <a:noFill/>
          </a:ln>
        </p:spPr>
        <p:txBody>
          <a:bodyPr lIns="0" tIns="0" rIns="0" bIns="0">
            <a:spAutoFit/>
          </a:bodyPr>
          <a:p>
            <a:pPr algn="ctr"/>
            <a:r>
              <a:rPr lang="zh-CN" altLang="en-US" sz="2400" b="1" dirty="0">
                <a:solidFill>
                  <a:schemeClr val="bg1"/>
                </a:solidFill>
                <a:latin typeface="Times New Roman" panose="02020603050405020304" pitchFamily="18" charset="0"/>
              </a:rPr>
              <a:t>单排</a:t>
            </a:r>
            <a:r>
              <a:rPr lang="en-US" altLang="zh-CN" sz="2400" b="1">
                <a:solidFill>
                  <a:schemeClr val="bg1"/>
                </a:solidFill>
                <a:latin typeface="Times New Roman" panose="02020603050405020304" pitchFamily="18" charset="0"/>
              </a:rPr>
              <a:t>A</a:t>
            </a:r>
            <a:endParaRPr lang="en-US" altLang="zh-CN" sz="2400" b="1">
              <a:solidFill>
                <a:schemeClr val="bg1"/>
              </a:solidFill>
              <a:latin typeface="Times New Roman" panose="02020603050405020304" pitchFamily="18" charset="0"/>
            </a:endParaRPr>
          </a:p>
          <a:p>
            <a:pPr algn="ctr"/>
            <a:r>
              <a:rPr lang="zh-CN" altLang="en-US" sz="2400" b="1" dirty="0">
                <a:solidFill>
                  <a:schemeClr val="bg1"/>
                </a:solidFill>
                <a:latin typeface="Times New Roman" panose="02020603050405020304" pitchFamily="18" charset="0"/>
              </a:rPr>
              <a:t>系列滚子链的功率曲线</a:t>
            </a:r>
            <a:endParaRPr lang="zh-CN" altLang="en-US" sz="2400" b="1" dirty="0">
              <a:solidFill>
                <a:schemeClr val="bg1"/>
              </a:solidFill>
              <a:latin typeface="Times New Roman" panose="02020603050405020304" pitchFamily="18" charset="0"/>
            </a:endParaRPr>
          </a:p>
        </p:txBody>
      </p:sp>
      <p:grpSp>
        <p:nvGrpSpPr>
          <p:cNvPr id="151712" name="组合 151711"/>
          <p:cNvGrpSpPr/>
          <p:nvPr/>
        </p:nvGrpSpPr>
        <p:grpSpPr>
          <a:xfrm>
            <a:off x="7448550" y="90488"/>
            <a:ext cx="1382713" cy="1936750"/>
            <a:chOff x="4719" y="59"/>
            <a:chExt cx="858" cy="1266"/>
          </a:xfrm>
        </p:grpSpPr>
        <p:sp>
          <p:nvSpPr>
            <p:cNvPr id="151713" name="直接连接符 151712"/>
            <p:cNvSpPr/>
            <p:nvPr/>
          </p:nvSpPr>
          <p:spPr>
            <a:xfrm flipV="1">
              <a:off x="4721" y="1107"/>
              <a:ext cx="855" cy="0"/>
            </a:xfrm>
            <a:prstGeom prst="line">
              <a:avLst/>
            </a:prstGeom>
            <a:ln w="19050" cap="flat" cmpd="sng">
              <a:solidFill>
                <a:schemeClr val="bg1"/>
              </a:solidFill>
              <a:prstDash val="solid"/>
              <a:headEnd type="none" w="med" len="med"/>
              <a:tailEnd type="none" w="sm" len="lg"/>
            </a:ln>
          </p:spPr>
        </p:sp>
        <p:sp>
          <p:nvSpPr>
            <p:cNvPr id="151714" name="文本框 151713"/>
            <p:cNvSpPr txBox="1"/>
            <p:nvPr/>
          </p:nvSpPr>
          <p:spPr>
            <a:xfrm>
              <a:off x="4765" y="59"/>
              <a:ext cx="752" cy="180"/>
            </a:xfrm>
            <a:prstGeom prst="rect">
              <a:avLst/>
            </a:prstGeom>
            <a:noFill/>
            <a:ln w="12700">
              <a:noFill/>
            </a:ln>
          </p:spPr>
          <p:txBody>
            <a:bodyPr wrap="none" anchor="t" anchorCtr="0">
              <a:spAutoFit/>
            </a:bodyPr>
            <a:p>
              <a:pPr algn="ctr"/>
              <a:r>
                <a:rPr lang="en-US" altLang="zh-CN" sz="1200" dirty="0">
                  <a:solidFill>
                    <a:srgbClr val="66FF33"/>
                  </a:solidFill>
                  <a:latin typeface="Times New Roman" panose="02020603050405020304" pitchFamily="18" charset="0"/>
                </a:rPr>
                <a:t> </a:t>
              </a:r>
              <a:r>
                <a:rPr lang="zh-CN" altLang="en-US" sz="1200" dirty="0">
                  <a:solidFill>
                    <a:schemeClr val="hlink"/>
                  </a:solidFill>
                  <a:latin typeface="Times New Roman" panose="02020603050405020304" pitchFamily="18" charset="0"/>
                </a:rPr>
                <a:t>链号          节距</a:t>
              </a:r>
              <a:endParaRPr lang="zh-CN" altLang="en-US" sz="1200" dirty="0">
                <a:solidFill>
                  <a:schemeClr val="hlink"/>
                </a:solidFill>
                <a:latin typeface="Times New Roman" panose="02020603050405020304" pitchFamily="18" charset="0"/>
              </a:endParaRPr>
            </a:p>
          </p:txBody>
        </p:sp>
        <p:sp>
          <p:nvSpPr>
            <p:cNvPr id="151715" name="文本框 151714"/>
            <p:cNvSpPr txBox="1"/>
            <p:nvPr/>
          </p:nvSpPr>
          <p:spPr>
            <a:xfrm>
              <a:off x="4823" y="219"/>
              <a:ext cx="612" cy="120"/>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08A            12.7</a:t>
              </a:r>
              <a:endParaRPr lang="en-US" altLang="zh-CN" sz="1200" b="1">
                <a:solidFill>
                  <a:schemeClr val="hlink"/>
                </a:solidFill>
                <a:latin typeface="Times New Roman" panose="02020603050405020304" pitchFamily="18" charset="0"/>
              </a:endParaRPr>
            </a:p>
          </p:txBody>
        </p:sp>
        <p:sp>
          <p:nvSpPr>
            <p:cNvPr id="151716" name="文本框 151715"/>
            <p:cNvSpPr txBox="1"/>
            <p:nvPr/>
          </p:nvSpPr>
          <p:spPr>
            <a:xfrm>
              <a:off x="4821" y="337"/>
              <a:ext cx="683" cy="118"/>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10A           15.875</a:t>
              </a:r>
              <a:endParaRPr lang="en-US" altLang="zh-CN" sz="1200" b="1">
                <a:solidFill>
                  <a:schemeClr val="hlink"/>
                </a:solidFill>
                <a:latin typeface="Times New Roman" panose="02020603050405020304" pitchFamily="18" charset="0"/>
              </a:endParaRPr>
            </a:p>
          </p:txBody>
        </p:sp>
        <p:sp>
          <p:nvSpPr>
            <p:cNvPr id="151717" name="文本框 151716"/>
            <p:cNvSpPr txBox="1"/>
            <p:nvPr/>
          </p:nvSpPr>
          <p:spPr>
            <a:xfrm>
              <a:off x="4816" y="445"/>
              <a:ext cx="658" cy="118"/>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12A            19.05</a:t>
              </a:r>
              <a:endParaRPr lang="en-US" altLang="zh-CN" sz="1200" b="1">
                <a:solidFill>
                  <a:schemeClr val="hlink"/>
                </a:solidFill>
                <a:latin typeface="Times New Roman" panose="02020603050405020304" pitchFamily="18" charset="0"/>
              </a:endParaRPr>
            </a:p>
          </p:txBody>
        </p:sp>
        <p:sp>
          <p:nvSpPr>
            <p:cNvPr id="151718" name="文本框 151717"/>
            <p:cNvSpPr txBox="1"/>
            <p:nvPr/>
          </p:nvSpPr>
          <p:spPr>
            <a:xfrm>
              <a:off x="4817" y="557"/>
              <a:ext cx="612" cy="120"/>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16A            25.4</a:t>
              </a:r>
              <a:endParaRPr lang="en-US" altLang="zh-CN" sz="1200" b="1">
                <a:solidFill>
                  <a:schemeClr val="hlink"/>
                </a:solidFill>
                <a:latin typeface="Times New Roman" panose="02020603050405020304" pitchFamily="18" charset="0"/>
              </a:endParaRPr>
            </a:p>
          </p:txBody>
        </p:sp>
        <p:sp>
          <p:nvSpPr>
            <p:cNvPr id="151719" name="文本框 151718"/>
            <p:cNvSpPr txBox="1"/>
            <p:nvPr/>
          </p:nvSpPr>
          <p:spPr>
            <a:xfrm>
              <a:off x="4816" y="670"/>
              <a:ext cx="635" cy="120"/>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20A           31.75</a:t>
              </a:r>
              <a:endParaRPr lang="en-US" altLang="zh-CN" sz="1200" b="1">
                <a:solidFill>
                  <a:schemeClr val="hlink"/>
                </a:solidFill>
                <a:latin typeface="Times New Roman" panose="02020603050405020304" pitchFamily="18" charset="0"/>
              </a:endParaRPr>
            </a:p>
          </p:txBody>
        </p:sp>
        <p:sp>
          <p:nvSpPr>
            <p:cNvPr id="151720" name="文本框 151719"/>
            <p:cNvSpPr txBox="1"/>
            <p:nvPr/>
          </p:nvSpPr>
          <p:spPr>
            <a:xfrm>
              <a:off x="4811" y="776"/>
              <a:ext cx="587" cy="120"/>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24A           38.1</a:t>
              </a:r>
              <a:endParaRPr lang="en-US" altLang="zh-CN" sz="1200" b="1">
                <a:solidFill>
                  <a:schemeClr val="hlink"/>
                </a:solidFill>
                <a:latin typeface="Times New Roman" panose="02020603050405020304" pitchFamily="18" charset="0"/>
              </a:endParaRPr>
            </a:p>
          </p:txBody>
        </p:sp>
        <p:sp>
          <p:nvSpPr>
            <p:cNvPr id="151721" name="文本框 151720"/>
            <p:cNvSpPr txBox="1"/>
            <p:nvPr/>
          </p:nvSpPr>
          <p:spPr>
            <a:xfrm>
              <a:off x="4812" y="884"/>
              <a:ext cx="612" cy="120"/>
            </a:xfrm>
            <a:prstGeom prst="rect">
              <a:avLst/>
            </a:prstGeom>
            <a:noFill/>
            <a:ln w="12700">
              <a:noFill/>
            </a:ln>
          </p:spPr>
          <p:txBody>
            <a:bodyPr wrap="none" lIns="0" tIns="0" rIns="0" bIns="0" anchor="t" anchorCtr="0">
              <a:spAutoFit/>
            </a:bodyPr>
            <a:p>
              <a:r>
                <a:rPr lang="en-US" altLang="zh-CN" sz="1200" b="1">
                  <a:solidFill>
                    <a:schemeClr val="hlink"/>
                  </a:solidFill>
                  <a:latin typeface="Times New Roman" panose="02020603050405020304" pitchFamily="18" charset="0"/>
                </a:rPr>
                <a:t>28A          44.45</a:t>
              </a:r>
              <a:endParaRPr lang="en-US" altLang="zh-CN" sz="1200" b="1">
                <a:solidFill>
                  <a:schemeClr val="hlink"/>
                </a:solidFill>
                <a:latin typeface="Times New Roman" panose="02020603050405020304" pitchFamily="18" charset="0"/>
              </a:endParaRPr>
            </a:p>
          </p:txBody>
        </p:sp>
        <p:sp>
          <p:nvSpPr>
            <p:cNvPr id="151722" name="文本框 151721"/>
            <p:cNvSpPr txBox="1"/>
            <p:nvPr/>
          </p:nvSpPr>
          <p:spPr>
            <a:xfrm>
              <a:off x="4808" y="994"/>
              <a:ext cx="741" cy="119"/>
            </a:xfrm>
            <a:prstGeom prst="rect">
              <a:avLst/>
            </a:prstGeom>
            <a:noFill/>
            <a:ln w="12700">
              <a:noFill/>
            </a:ln>
          </p:spPr>
          <p:txBody>
            <a:bodyPr lIns="0" tIns="0" rIns="0" bIns="0">
              <a:spAutoFit/>
            </a:bodyPr>
            <a:p>
              <a:r>
                <a:rPr lang="en-US" altLang="zh-CN" sz="1200" b="1">
                  <a:solidFill>
                    <a:schemeClr val="hlink"/>
                  </a:solidFill>
                  <a:latin typeface="Times New Roman" panose="02020603050405020304" pitchFamily="18" charset="0"/>
                </a:rPr>
                <a:t>32A           50.8</a:t>
              </a:r>
              <a:endParaRPr lang="en-US" altLang="zh-CN" sz="1200" b="1">
                <a:solidFill>
                  <a:schemeClr val="hlink"/>
                </a:solidFill>
                <a:latin typeface="Times New Roman" panose="02020603050405020304" pitchFamily="18" charset="0"/>
              </a:endParaRPr>
            </a:p>
          </p:txBody>
        </p:sp>
        <p:sp>
          <p:nvSpPr>
            <p:cNvPr id="151723" name="直接连接符 151722"/>
            <p:cNvSpPr/>
            <p:nvPr/>
          </p:nvSpPr>
          <p:spPr>
            <a:xfrm>
              <a:off x="4720" y="83"/>
              <a:ext cx="1" cy="1238"/>
            </a:xfrm>
            <a:prstGeom prst="line">
              <a:avLst/>
            </a:prstGeom>
            <a:ln w="19050" cap="flat" cmpd="sng">
              <a:solidFill>
                <a:schemeClr val="bg1"/>
              </a:solidFill>
              <a:prstDash val="solid"/>
              <a:headEnd type="none" w="med" len="med"/>
              <a:tailEnd type="none" w="sm" len="lg"/>
            </a:ln>
          </p:spPr>
        </p:sp>
        <p:sp>
          <p:nvSpPr>
            <p:cNvPr id="151724" name="直接连接符 151723"/>
            <p:cNvSpPr/>
            <p:nvPr/>
          </p:nvSpPr>
          <p:spPr>
            <a:xfrm>
              <a:off x="5169" y="83"/>
              <a:ext cx="1" cy="1232"/>
            </a:xfrm>
            <a:prstGeom prst="line">
              <a:avLst/>
            </a:prstGeom>
            <a:ln w="19050" cap="flat" cmpd="sng">
              <a:solidFill>
                <a:schemeClr val="bg1"/>
              </a:solidFill>
              <a:prstDash val="solid"/>
              <a:headEnd type="none" w="med" len="med"/>
              <a:tailEnd type="none" w="sm" len="lg"/>
            </a:ln>
          </p:spPr>
        </p:sp>
        <p:grpSp>
          <p:nvGrpSpPr>
            <p:cNvPr id="151725" name="组合 151724"/>
            <p:cNvGrpSpPr/>
            <p:nvPr/>
          </p:nvGrpSpPr>
          <p:grpSpPr>
            <a:xfrm>
              <a:off x="4719" y="208"/>
              <a:ext cx="858" cy="788"/>
              <a:chOff x="4719" y="208"/>
              <a:chExt cx="858" cy="788"/>
            </a:xfrm>
          </p:grpSpPr>
          <p:sp>
            <p:nvSpPr>
              <p:cNvPr id="151726" name="直接连接符 151725"/>
              <p:cNvSpPr/>
              <p:nvPr/>
            </p:nvSpPr>
            <p:spPr>
              <a:xfrm flipV="1">
                <a:off x="4719" y="208"/>
                <a:ext cx="851" cy="1"/>
              </a:xfrm>
              <a:prstGeom prst="line">
                <a:avLst/>
              </a:prstGeom>
              <a:ln w="19050" cap="flat" cmpd="sng">
                <a:solidFill>
                  <a:schemeClr val="bg1"/>
                </a:solidFill>
                <a:prstDash val="solid"/>
                <a:headEnd type="none" w="med" len="med"/>
                <a:tailEnd type="none" w="sm" len="lg"/>
              </a:ln>
            </p:spPr>
          </p:sp>
          <p:sp>
            <p:nvSpPr>
              <p:cNvPr id="151727" name="直接连接符 151726"/>
              <p:cNvSpPr/>
              <p:nvPr/>
            </p:nvSpPr>
            <p:spPr>
              <a:xfrm flipV="1">
                <a:off x="4724" y="337"/>
                <a:ext cx="851" cy="1"/>
              </a:xfrm>
              <a:prstGeom prst="line">
                <a:avLst/>
              </a:prstGeom>
              <a:ln w="19050" cap="flat" cmpd="sng">
                <a:solidFill>
                  <a:schemeClr val="bg1"/>
                </a:solidFill>
                <a:prstDash val="solid"/>
                <a:headEnd type="none" w="med" len="med"/>
                <a:tailEnd type="none" w="sm" len="lg"/>
              </a:ln>
            </p:spPr>
          </p:sp>
          <p:sp>
            <p:nvSpPr>
              <p:cNvPr id="151728" name="直接连接符 151727"/>
              <p:cNvSpPr/>
              <p:nvPr/>
            </p:nvSpPr>
            <p:spPr>
              <a:xfrm flipV="1">
                <a:off x="4722" y="443"/>
                <a:ext cx="851" cy="1"/>
              </a:xfrm>
              <a:prstGeom prst="line">
                <a:avLst/>
              </a:prstGeom>
              <a:ln w="19050" cap="flat" cmpd="sng">
                <a:solidFill>
                  <a:schemeClr val="bg1"/>
                </a:solidFill>
                <a:prstDash val="solid"/>
                <a:headEnd type="none" w="med" len="med"/>
                <a:tailEnd type="none" w="sm" len="lg"/>
              </a:ln>
            </p:spPr>
          </p:sp>
          <p:sp>
            <p:nvSpPr>
              <p:cNvPr id="151729" name="直接连接符 151728"/>
              <p:cNvSpPr/>
              <p:nvPr/>
            </p:nvSpPr>
            <p:spPr>
              <a:xfrm flipV="1">
                <a:off x="4722" y="558"/>
                <a:ext cx="851" cy="1"/>
              </a:xfrm>
              <a:prstGeom prst="line">
                <a:avLst/>
              </a:prstGeom>
              <a:ln w="19050" cap="flat" cmpd="sng">
                <a:solidFill>
                  <a:schemeClr val="bg1"/>
                </a:solidFill>
                <a:prstDash val="solid"/>
                <a:headEnd type="none" w="med" len="med"/>
                <a:tailEnd type="none" w="sm" len="lg"/>
              </a:ln>
            </p:spPr>
          </p:sp>
          <p:sp>
            <p:nvSpPr>
              <p:cNvPr id="151730" name="直接连接符 151729"/>
              <p:cNvSpPr/>
              <p:nvPr/>
            </p:nvSpPr>
            <p:spPr>
              <a:xfrm flipV="1">
                <a:off x="4722" y="673"/>
                <a:ext cx="851" cy="1"/>
              </a:xfrm>
              <a:prstGeom prst="line">
                <a:avLst/>
              </a:prstGeom>
              <a:ln w="19050" cap="flat" cmpd="sng">
                <a:solidFill>
                  <a:schemeClr val="bg1"/>
                </a:solidFill>
                <a:prstDash val="solid"/>
                <a:headEnd type="none" w="med" len="med"/>
                <a:tailEnd type="none" w="sm" len="lg"/>
              </a:ln>
            </p:spPr>
          </p:sp>
          <p:sp>
            <p:nvSpPr>
              <p:cNvPr id="151731" name="直接连接符 151730"/>
              <p:cNvSpPr/>
              <p:nvPr/>
            </p:nvSpPr>
            <p:spPr>
              <a:xfrm flipV="1">
                <a:off x="4724" y="779"/>
                <a:ext cx="851" cy="1"/>
              </a:xfrm>
              <a:prstGeom prst="line">
                <a:avLst/>
              </a:prstGeom>
              <a:ln w="19050" cap="flat" cmpd="sng">
                <a:solidFill>
                  <a:schemeClr val="bg1"/>
                </a:solidFill>
                <a:prstDash val="solid"/>
                <a:headEnd type="none" w="med" len="med"/>
                <a:tailEnd type="none" w="sm" len="lg"/>
              </a:ln>
            </p:spPr>
          </p:sp>
          <p:sp>
            <p:nvSpPr>
              <p:cNvPr id="151732" name="直接连接符 151731"/>
              <p:cNvSpPr/>
              <p:nvPr/>
            </p:nvSpPr>
            <p:spPr>
              <a:xfrm flipV="1">
                <a:off x="4726" y="885"/>
                <a:ext cx="851" cy="1"/>
              </a:xfrm>
              <a:prstGeom prst="line">
                <a:avLst/>
              </a:prstGeom>
              <a:ln w="19050" cap="flat" cmpd="sng">
                <a:solidFill>
                  <a:schemeClr val="bg1"/>
                </a:solidFill>
                <a:prstDash val="solid"/>
                <a:headEnd type="none" w="med" len="med"/>
                <a:tailEnd type="none" w="sm" len="lg"/>
              </a:ln>
            </p:spPr>
          </p:sp>
          <p:sp>
            <p:nvSpPr>
              <p:cNvPr id="151733" name="直接连接符 151732"/>
              <p:cNvSpPr/>
              <p:nvPr/>
            </p:nvSpPr>
            <p:spPr>
              <a:xfrm flipV="1">
                <a:off x="4724" y="995"/>
                <a:ext cx="851" cy="1"/>
              </a:xfrm>
              <a:prstGeom prst="line">
                <a:avLst/>
              </a:prstGeom>
              <a:ln w="19050" cap="flat" cmpd="sng">
                <a:solidFill>
                  <a:schemeClr val="bg1"/>
                </a:solidFill>
                <a:prstDash val="solid"/>
                <a:headEnd type="none" w="med" len="med"/>
                <a:tailEnd type="none" w="sm" len="lg"/>
              </a:ln>
            </p:spPr>
          </p:sp>
        </p:grpSp>
        <p:sp>
          <p:nvSpPr>
            <p:cNvPr id="151734" name="直接连接符 151733"/>
            <p:cNvSpPr/>
            <p:nvPr/>
          </p:nvSpPr>
          <p:spPr>
            <a:xfrm flipV="1">
              <a:off x="4721" y="1212"/>
              <a:ext cx="855" cy="0"/>
            </a:xfrm>
            <a:prstGeom prst="line">
              <a:avLst/>
            </a:prstGeom>
            <a:ln w="19050" cap="flat" cmpd="sng">
              <a:solidFill>
                <a:schemeClr val="bg1"/>
              </a:solidFill>
              <a:prstDash val="solid"/>
              <a:headEnd type="none" w="med" len="med"/>
              <a:tailEnd type="none" w="sm" len="lg"/>
            </a:ln>
          </p:spPr>
        </p:sp>
        <p:sp>
          <p:nvSpPr>
            <p:cNvPr id="151735" name="直接连接符 151734"/>
            <p:cNvSpPr/>
            <p:nvPr/>
          </p:nvSpPr>
          <p:spPr>
            <a:xfrm flipV="1">
              <a:off x="4721" y="1320"/>
              <a:ext cx="855" cy="0"/>
            </a:xfrm>
            <a:prstGeom prst="line">
              <a:avLst/>
            </a:prstGeom>
            <a:ln w="19050" cap="flat" cmpd="sng">
              <a:solidFill>
                <a:schemeClr val="bg1"/>
              </a:solidFill>
              <a:prstDash val="solid"/>
              <a:headEnd type="none" w="med" len="med"/>
              <a:tailEnd type="none" w="sm" len="lg"/>
            </a:ln>
          </p:spPr>
        </p:sp>
        <p:sp>
          <p:nvSpPr>
            <p:cNvPr id="151736" name="文本框 151735"/>
            <p:cNvSpPr txBox="1"/>
            <p:nvPr/>
          </p:nvSpPr>
          <p:spPr>
            <a:xfrm>
              <a:off x="4811" y="1103"/>
              <a:ext cx="741" cy="118"/>
            </a:xfrm>
            <a:prstGeom prst="rect">
              <a:avLst/>
            </a:prstGeom>
            <a:noFill/>
            <a:ln w="12700">
              <a:noFill/>
            </a:ln>
          </p:spPr>
          <p:txBody>
            <a:bodyPr lIns="0" tIns="0" rIns="0" bIns="0">
              <a:spAutoFit/>
            </a:bodyPr>
            <a:p>
              <a:r>
                <a:rPr lang="en-US" altLang="zh-CN" sz="1200" b="1">
                  <a:solidFill>
                    <a:schemeClr val="hlink"/>
                  </a:solidFill>
                  <a:latin typeface="Times New Roman" panose="02020603050405020304" pitchFamily="18" charset="0"/>
                </a:rPr>
                <a:t>40A           63.5</a:t>
              </a:r>
              <a:endParaRPr lang="en-US" altLang="zh-CN" sz="1200" b="1">
                <a:solidFill>
                  <a:schemeClr val="hlink"/>
                </a:solidFill>
                <a:latin typeface="Times New Roman" panose="02020603050405020304" pitchFamily="18" charset="0"/>
              </a:endParaRPr>
            </a:p>
          </p:txBody>
        </p:sp>
        <p:sp>
          <p:nvSpPr>
            <p:cNvPr id="151737" name="文本框 151736"/>
            <p:cNvSpPr txBox="1"/>
            <p:nvPr/>
          </p:nvSpPr>
          <p:spPr>
            <a:xfrm>
              <a:off x="4817" y="1206"/>
              <a:ext cx="740" cy="119"/>
            </a:xfrm>
            <a:prstGeom prst="rect">
              <a:avLst/>
            </a:prstGeom>
            <a:noFill/>
            <a:ln w="12700">
              <a:noFill/>
            </a:ln>
          </p:spPr>
          <p:txBody>
            <a:bodyPr lIns="0" tIns="0" rIns="0" bIns="0">
              <a:spAutoFit/>
            </a:bodyPr>
            <a:p>
              <a:r>
                <a:rPr lang="en-US" altLang="zh-CN" sz="1200" b="1">
                  <a:solidFill>
                    <a:schemeClr val="hlink"/>
                  </a:solidFill>
                  <a:latin typeface="Times New Roman" panose="02020603050405020304" pitchFamily="18" charset="0"/>
                </a:rPr>
                <a:t>48A           76.2</a:t>
              </a:r>
              <a:endParaRPr lang="en-US" altLang="zh-CN" sz="1200" b="1">
                <a:solidFill>
                  <a:schemeClr val="hlink"/>
                </a:solidFill>
                <a:latin typeface="Times New Roman" panose="02020603050405020304" pitchFamily="18" charset="0"/>
              </a:endParaRPr>
            </a:p>
          </p:txBody>
        </p:sp>
      </p:grpSp>
      <p:grpSp>
        <p:nvGrpSpPr>
          <p:cNvPr id="151799" name="组合 151798"/>
          <p:cNvGrpSpPr/>
          <p:nvPr/>
        </p:nvGrpSpPr>
        <p:grpSpPr>
          <a:xfrm>
            <a:off x="1782763" y="593725"/>
            <a:ext cx="4221162" cy="5319713"/>
            <a:chOff x="1123" y="374"/>
            <a:chExt cx="2659" cy="3351"/>
          </a:xfrm>
        </p:grpSpPr>
        <p:sp>
          <p:nvSpPr>
            <p:cNvPr id="151768" name="任意多边形 151767"/>
            <p:cNvSpPr/>
            <p:nvPr/>
          </p:nvSpPr>
          <p:spPr>
            <a:xfrm>
              <a:off x="1123" y="374"/>
              <a:ext cx="2659" cy="3351"/>
            </a:xfrm>
            <a:custGeom>
              <a:avLst/>
              <a:gdLst/>
              <a:ahLst/>
              <a:cxnLst/>
              <a:pathLst>
                <a:path w="2659" h="3351">
                  <a:moveTo>
                    <a:pt x="2247" y="0"/>
                  </a:moveTo>
                  <a:lnTo>
                    <a:pt x="2659" y="106"/>
                  </a:lnTo>
                  <a:lnTo>
                    <a:pt x="2659" y="3351"/>
                  </a:lnTo>
                  <a:lnTo>
                    <a:pt x="0" y="3351"/>
                  </a:lnTo>
                  <a:lnTo>
                    <a:pt x="0" y="1354"/>
                  </a:lnTo>
                  <a:lnTo>
                    <a:pt x="2247" y="0"/>
                  </a:lnTo>
                  <a:close/>
                </a:path>
              </a:pathLst>
            </a:custGeom>
            <a:solidFill>
              <a:srgbClr val="FF00FF">
                <a:alpha val="50000"/>
              </a:srgbClr>
            </a:solidFill>
            <a:ln w="9525" cap="flat" cmpd="sng">
              <a:solidFill>
                <a:srgbClr val="66FF33">
                  <a:alpha val="100000"/>
                </a:srgbClr>
              </a:solidFill>
              <a:prstDash val="solid"/>
              <a:headEnd type="none" w="med" len="med"/>
              <a:tailEnd type="none" w="med" len="med"/>
            </a:ln>
          </p:spPr>
          <p:txBody>
            <a:bodyPr/>
            <a:p>
              <a:endParaRPr lang="zh-CN" altLang="en-US"/>
            </a:p>
          </p:txBody>
        </p:sp>
        <p:grpSp>
          <p:nvGrpSpPr>
            <p:cNvPr id="151758" name="组合 151757"/>
            <p:cNvGrpSpPr/>
            <p:nvPr/>
          </p:nvGrpSpPr>
          <p:grpSpPr>
            <a:xfrm rot="-1919269">
              <a:off x="2345" y="912"/>
              <a:ext cx="333" cy="230"/>
              <a:chOff x="4177" y="2395"/>
              <a:chExt cx="333" cy="230"/>
            </a:xfrm>
          </p:grpSpPr>
          <p:sp>
            <p:nvSpPr>
              <p:cNvPr id="151759" name="矩形 151758"/>
              <p:cNvSpPr/>
              <p:nvPr/>
            </p:nvSpPr>
            <p:spPr>
              <a:xfrm>
                <a:off x="4177" y="2435"/>
                <a:ext cx="333" cy="156"/>
              </a:xfrm>
              <a:prstGeom prst="rect">
                <a:avLst/>
              </a:prstGeom>
              <a:solidFill>
                <a:srgbClr val="000099"/>
              </a:solidFill>
              <a:ln w="3175">
                <a:noFill/>
              </a:ln>
            </p:spPr>
            <p:txBody>
              <a:bodyPr/>
              <a:p>
                <a:endParaRPr lang="zh-CN" altLang="en-US"/>
              </a:p>
            </p:txBody>
          </p:sp>
          <p:sp>
            <p:nvSpPr>
              <p:cNvPr id="151760" name="文本框 151759"/>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40A</a:t>
                </a:r>
                <a:endParaRPr lang="en-US" altLang="zh-CN" sz="2400" b="1">
                  <a:solidFill>
                    <a:srgbClr val="66FF33"/>
                  </a:solidFill>
                  <a:latin typeface="Times New Roman" panose="02020603050405020304" pitchFamily="18" charset="0"/>
                </a:endParaRPr>
              </a:p>
            </p:txBody>
          </p:sp>
        </p:grpSp>
      </p:grpSp>
      <p:grpSp>
        <p:nvGrpSpPr>
          <p:cNvPr id="151791" name="组合 151790"/>
          <p:cNvGrpSpPr/>
          <p:nvPr/>
        </p:nvGrpSpPr>
        <p:grpSpPr>
          <a:xfrm>
            <a:off x="1782763" y="609600"/>
            <a:ext cx="4694237" cy="5303838"/>
            <a:chOff x="1123" y="384"/>
            <a:chExt cx="2957" cy="3341"/>
          </a:xfrm>
        </p:grpSpPr>
        <p:sp>
          <p:nvSpPr>
            <p:cNvPr id="151769" name="任意多边形 151768"/>
            <p:cNvSpPr/>
            <p:nvPr/>
          </p:nvSpPr>
          <p:spPr>
            <a:xfrm>
              <a:off x="1123" y="384"/>
              <a:ext cx="2957" cy="3341"/>
            </a:xfrm>
            <a:custGeom>
              <a:avLst/>
              <a:gdLst/>
              <a:ahLst/>
              <a:cxnLst/>
              <a:pathLst>
                <a:path w="2957" h="3341">
                  <a:moveTo>
                    <a:pt x="2775" y="0"/>
                  </a:moveTo>
                  <a:lnTo>
                    <a:pt x="2957" y="154"/>
                  </a:lnTo>
                  <a:lnTo>
                    <a:pt x="2957" y="3341"/>
                  </a:lnTo>
                  <a:lnTo>
                    <a:pt x="0" y="3341"/>
                  </a:lnTo>
                  <a:lnTo>
                    <a:pt x="0" y="1680"/>
                  </a:lnTo>
                  <a:lnTo>
                    <a:pt x="2775" y="0"/>
                  </a:lnTo>
                  <a:close/>
                </a:path>
              </a:pathLst>
            </a:custGeom>
            <a:solidFill>
              <a:schemeClr val="accent1">
                <a:alpha val="50000"/>
              </a:schemeClr>
            </a:solidFill>
            <a:ln w="9525" cap="flat" cmpd="sng">
              <a:solidFill>
                <a:srgbClr val="66FF33">
                  <a:alpha val="100000"/>
                </a:srgbClr>
              </a:solidFill>
              <a:prstDash val="solid"/>
              <a:headEnd type="none" w="med" len="med"/>
              <a:tailEnd type="none" w="med" len="med"/>
            </a:ln>
          </p:spPr>
          <p:txBody>
            <a:bodyPr/>
            <a:p>
              <a:endParaRPr lang="zh-CN" altLang="en-US"/>
            </a:p>
          </p:txBody>
        </p:sp>
        <p:grpSp>
          <p:nvGrpSpPr>
            <p:cNvPr id="151761" name="组合 151760"/>
            <p:cNvGrpSpPr/>
            <p:nvPr/>
          </p:nvGrpSpPr>
          <p:grpSpPr>
            <a:xfrm rot="-1692889">
              <a:off x="2454" y="1095"/>
              <a:ext cx="333" cy="230"/>
              <a:chOff x="4177" y="2395"/>
              <a:chExt cx="333" cy="230"/>
            </a:xfrm>
          </p:grpSpPr>
          <p:sp>
            <p:nvSpPr>
              <p:cNvPr id="151762" name="矩形 151761"/>
              <p:cNvSpPr/>
              <p:nvPr/>
            </p:nvSpPr>
            <p:spPr>
              <a:xfrm>
                <a:off x="4177" y="2435"/>
                <a:ext cx="333" cy="156"/>
              </a:xfrm>
              <a:prstGeom prst="rect">
                <a:avLst/>
              </a:prstGeom>
              <a:solidFill>
                <a:srgbClr val="000099">
                  <a:alpha val="50000"/>
                </a:srgbClr>
              </a:solidFill>
              <a:ln w="3175">
                <a:noFill/>
              </a:ln>
            </p:spPr>
            <p:txBody>
              <a:bodyPr/>
              <a:p>
                <a:endParaRPr lang="zh-CN" altLang="en-US"/>
              </a:p>
            </p:txBody>
          </p:sp>
          <p:sp>
            <p:nvSpPr>
              <p:cNvPr id="151763" name="文本框 151762"/>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32A</a:t>
                </a:r>
                <a:endParaRPr lang="en-US" altLang="zh-CN" sz="2400" b="1">
                  <a:solidFill>
                    <a:srgbClr val="66FF33"/>
                  </a:solidFill>
                  <a:latin typeface="Times New Roman" panose="02020603050405020304" pitchFamily="18" charset="0"/>
                </a:endParaRPr>
              </a:p>
            </p:txBody>
          </p:sp>
        </p:grpSp>
      </p:grpSp>
      <p:grpSp>
        <p:nvGrpSpPr>
          <p:cNvPr id="151798" name="组合 151797"/>
          <p:cNvGrpSpPr/>
          <p:nvPr/>
        </p:nvGrpSpPr>
        <p:grpSpPr>
          <a:xfrm>
            <a:off x="1782763" y="777875"/>
            <a:ext cx="4846637" cy="5135563"/>
            <a:chOff x="1123" y="490"/>
            <a:chExt cx="3053" cy="3235"/>
          </a:xfrm>
        </p:grpSpPr>
        <p:sp>
          <p:nvSpPr>
            <p:cNvPr id="151770" name="任意多边形 151769"/>
            <p:cNvSpPr/>
            <p:nvPr/>
          </p:nvSpPr>
          <p:spPr>
            <a:xfrm>
              <a:off x="1123" y="490"/>
              <a:ext cx="3053" cy="3235"/>
            </a:xfrm>
            <a:custGeom>
              <a:avLst/>
              <a:gdLst/>
              <a:ahLst/>
              <a:cxnLst/>
              <a:pathLst>
                <a:path w="3053" h="3235">
                  <a:moveTo>
                    <a:pt x="2842" y="0"/>
                  </a:moveTo>
                  <a:lnTo>
                    <a:pt x="3053" y="172"/>
                  </a:lnTo>
                  <a:lnTo>
                    <a:pt x="3053" y="3235"/>
                  </a:lnTo>
                  <a:lnTo>
                    <a:pt x="0" y="3235"/>
                  </a:lnTo>
                  <a:lnTo>
                    <a:pt x="0" y="1699"/>
                  </a:lnTo>
                  <a:lnTo>
                    <a:pt x="2842" y="0"/>
                  </a:lnTo>
                  <a:close/>
                </a:path>
              </a:pathLst>
            </a:custGeom>
            <a:solidFill>
              <a:srgbClr val="FF00FF">
                <a:alpha val="50000"/>
              </a:srgbClr>
            </a:solidFill>
            <a:ln w="9525" cap="flat" cmpd="sng">
              <a:solidFill>
                <a:srgbClr val="66FF33">
                  <a:alpha val="100000"/>
                </a:srgbClr>
              </a:solidFill>
              <a:prstDash val="solid"/>
              <a:headEnd type="none" w="med" len="med"/>
              <a:tailEnd type="none" w="med" len="med"/>
            </a:ln>
          </p:spPr>
          <p:txBody>
            <a:bodyPr/>
            <a:p>
              <a:endParaRPr lang="zh-CN" altLang="en-US"/>
            </a:p>
          </p:txBody>
        </p:sp>
        <p:grpSp>
          <p:nvGrpSpPr>
            <p:cNvPr id="151752" name="组合 151751"/>
            <p:cNvGrpSpPr/>
            <p:nvPr/>
          </p:nvGrpSpPr>
          <p:grpSpPr>
            <a:xfrm rot="-1616866">
              <a:off x="2578" y="1212"/>
              <a:ext cx="333" cy="230"/>
              <a:chOff x="4177" y="2395"/>
              <a:chExt cx="333" cy="230"/>
            </a:xfrm>
          </p:grpSpPr>
          <p:sp>
            <p:nvSpPr>
              <p:cNvPr id="151753" name="矩形 151752"/>
              <p:cNvSpPr/>
              <p:nvPr/>
            </p:nvSpPr>
            <p:spPr>
              <a:xfrm>
                <a:off x="4177" y="2435"/>
                <a:ext cx="333" cy="156"/>
              </a:xfrm>
              <a:prstGeom prst="rect">
                <a:avLst/>
              </a:prstGeom>
              <a:solidFill>
                <a:srgbClr val="000099"/>
              </a:solidFill>
              <a:ln w="3175">
                <a:noFill/>
              </a:ln>
            </p:spPr>
            <p:txBody>
              <a:bodyPr/>
              <a:p>
                <a:endParaRPr lang="zh-CN" altLang="en-US"/>
              </a:p>
            </p:txBody>
          </p:sp>
          <p:sp>
            <p:nvSpPr>
              <p:cNvPr id="151754" name="文本框 151753"/>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28A</a:t>
                </a:r>
                <a:endParaRPr lang="en-US" altLang="zh-CN" sz="2400" b="1">
                  <a:solidFill>
                    <a:srgbClr val="66FF33"/>
                  </a:solidFill>
                  <a:latin typeface="Times New Roman" panose="02020603050405020304" pitchFamily="18" charset="0"/>
                </a:endParaRPr>
              </a:p>
            </p:txBody>
          </p:sp>
        </p:grpSp>
      </p:grpSp>
      <p:grpSp>
        <p:nvGrpSpPr>
          <p:cNvPr id="151789" name="组合 151788"/>
          <p:cNvGrpSpPr/>
          <p:nvPr/>
        </p:nvGrpSpPr>
        <p:grpSpPr>
          <a:xfrm>
            <a:off x="1782763" y="1066800"/>
            <a:ext cx="5121275" cy="4860925"/>
            <a:chOff x="1123" y="672"/>
            <a:chExt cx="3226" cy="3062"/>
          </a:xfrm>
        </p:grpSpPr>
        <p:sp>
          <p:nvSpPr>
            <p:cNvPr id="151771" name="任意多边形 151770"/>
            <p:cNvSpPr/>
            <p:nvPr/>
          </p:nvSpPr>
          <p:spPr>
            <a:xfrm>
              <a:off x="1123" y="672"/>
              <a:ext cx="3226" cy="3062"/>
            </a:xfrm>
            <a:custGeom>
              <a:avLst/>
              <a:gdLst/>
              <a:ahLst/>
              <a:cxnLst/>
              <a:pathLst>
                <a:path w="3226" h="3062">
                  <a:moveTo>
                    <a:pt x="2957" y="0"/>
                  </a:moveTo>
                  <a:lnTo>
                    <a:pt x="3226" y="230"/>
                  </a:lnTo>
                  <a:lnTo>
                    <a:pt x="3226" y="3062"/>
                  </a:lnTo>
                  <a:lnTo>
                    <a:pt x="0" y="3062"/>
                  </a:lnTo>
                  <a:lnTo>
                    <a:pt x="0" y="1718"/>
                  </a:lnTo>
                  <a:lnTo>
                    <a:pt x="2957" y="0"/>
                  </a:lnTo>
                  <a:close/>
                </a:path>
              </a:pathLst>
            </a:custGeom>
            <a:solidFill>
              <a:schemeClr val="accent1">
                <a:alpha val="50000"/>
              </a:schemeClr>
            </a:solidFill>
            <a:ln w="9525" cap="flat" cmpd="sng">
              <a:solidFill>
                <a:srgbClr val="66FF33">
                  <a:alpha val="100000"/>
                </a:srgbClr>
              </a:solidFill>
              <a:prstDash val="solid"/>
              <a:headEnd type="none" w="med" len="med"/>
              <a:tailEnd type="none" w="med" len="med"/>
            </a:ln>
          </p:spPr>
          <p:txBody>
            <a:bodyPr/>
            <a:p>
              <a:endParaRPr lang="zh-CN" altLang="en-US"/>
            </a:p>
          </p:txBody>
        </p:sp>
        <p:grpSp>
          <p:nvGrpSpPr>
            <p:cNvPr id="151755" name="组合 151754"/>
            <p:cNvGrpSpPr/>
            <p:nvPr/>
          </p:nvGrpSpPr>
          <p:grpSpPr>
            <a:xfrm rot="-1847452">
              <a:off x="2598" y="1435"/>
              <a:ext cx="333" cy="230"/>
              <a:chOff x="4177" y="2395"/>
              <a:chExt cx="333" cy="230"/>
            </a:xfrm>
          </p:grpSpPr>
          <p:sp>
            <p:nvSpPr>
              <p:cNvPr id="151756" name="矩形 151755"/>
              <p:cNvSpPr/>
              <p:nvPr/>
            </p:nvSpPr>
            <p:spPr>
              <a:xfrm>
                <a:off x="4177" y="2435"/>
                <a:ext cx="333" cy="156"/>
              </a:xfrm>
              <a:prstGeom prst="rect">
                <a:avLst/>
              </a:prstGeom>
              <a:solidFill>
                <a:srgbClr val="000099"/>
              </a:solidFill>
              <a:ln w="3175">
                <a:noFill/>
              </a:ln>
            </p:spPr>
            <p:txBody>
              <a:bodyPr/>
              <a:p>
                <a:endParaRPr lang="zh-CN" altLang="en-US"/>
              </a:p>
            </p:txBody>
          </p:sp>
          <p:sp>
            <p:nvSpPr>
              <p:cNvPr id="151757" name="文本框 151756"/>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24A</a:t>
                </a:r>
                <a:endParaRPr lang="en-US" altLang="zh-CN" sz="2400" b="1">
                  <a:solidFill>
                    <a:srgbClr val="66FF33"/>
                  </a:solidFill>
                  <a:latin typeface="Times New Roman" panose="02020603050405020304" pitchFamily="18" charset="0"/>
                </a:endParaRPr>
              </a:p>
            </p:txBody>
          </p:sp>
        </p:grpSp>
      </p:grpSp>
      <p:grpSp>
        <p:nvGrpSpPr>
          <p:cNvPr id="151793" name="组合 151792"/>
          <p:cNvGrpSpPr/>
          <p:nvPr/>
        </p:nvGrpSpPr>
        <p:grpSpPr>
          <a:xfrm>
            <a:off x="1768475" y="1325563"/>
            <a:ext cx="5302250" cy="4572000"/>
            <a:chOff x="1114" y="835"/>
            <a:chExt cx="3340" cy="2880"/>
          </a:xfrm>
        </p:grpSpPr>
        <p:sp>
          <p:nvSpPr>
            <p:cNvPr id="151772" name="任意多边形 151771"/>
            <p:cNvSpPr/>
            <p:nvPr/>
          </p:nvSpPr>
          <p:spPr>
            <a:xfrm>
              <a:off x="1114" y="835"/>
              <a:ext cx="3340" cy="2880"/>
            </a:xfrm>
            <a:custGeom>
              <a:avLst/>
              <a:gdLst/>
              <a:ahLst/>
              <a:cxnLst/>
              <a:pathLst>
                <a:path w="3340" h="2880">
                  <a:moveTo>
                    <a:pt x="3062" y="0"/>
                  </a:moveTo>
                  <a:lnTo>
                    <a:pt x="3340" y="250"/>
                  </a:lnTo>
                  <a:lnTo>
                    <a:pt x="3340" y="2880"/>
                  </a:lnTo>
                  <a:lnTo>
                    <a:pt x="0" y="2880"/>
                  </a:lnTo>
                  <a:lnTo>
                    <a:pt x="0" y="1805"/>
                  </a:lnTo>
                  <a:lnTo>
                    <a:pt x="3062" y="0"/>
                  </a:lnTo>
                  <a:close/>
                </a:path>
              </a:pathLst>
            </a:custGeom>
            <a:solidFill>
              <a:srgbClr val="FFFF00">
                <a:alpha val="50000"/>
              </a:srgbClr>
            </a:solidFill>
            <a:ln w="9525" cap="flat" cmpd="sng">
              <a:solidFill>
                <a:schemeClr val="accent1">
                  <a:alpha val="100000"/>
                </a:schemeClr>
              </a:solidFill>
              <a:prstDash val="solid"/>
              <a:headEnd type="none" w="med" len="med"/>
              <a:tailEnd type="none" w="med" len="med"/>
            </a:ln>
          </p:spPr>
          <p:txBody>
            <a:bodyPr/>
            <a:p>
              <a:endParaRPr lang="zh-CN" altLang="en-US"/>
            </a:p>
          </p:txBody>
        </p:sp>
        <p:grpSp>
          <p:nvGrpSpPr>
            <p:cNvPr id="151746" name="组合 151745"/>
            <p:cNvGrpSpPr/>
            <p:nvPr/>
          </p:nvGrpSpPr>
          <p:grpSpPr>
            <a:xfrm rot="-1786803">
              <a:off x="2671" y="1669"/>
              <a:ext cx="333" cy="230"/>
              <a:chOff x="4177" y="2395"/>
              <a:chExt cx="333" cy="230"/>
            </a:xfrm>
          </p:grpSpPr>
          <p:sp>
            <p:nvSpPr>
              <p:cNvPr id="151747" name="矩形 151746"/>
              <p:cNvSpPr/>
              <p:nvPr/>
            </p:nvSpPr>
            <p:spPr>
              <a:xfrm>
                <a:off x="4177" y="2435"/>
                <a:ext cx="333" cy="156"/>
              </a:xfrm>
              <a:prstGeom prst="rect">
                <a:avLst/>
              </a:prstGeom>
              <a:solidFill>
                <a:srgbClr val="000099"/>
              </a:solidFill>
              <a:ln w="3175">
                <a:noFill/>
              </a:ln>
            </p:spPr>
            <p:txBody>
              <a:bodyPr/>
              <a:p>
                <a:endParaRPr lang="zh-CN" altLang="en-US"/>
              </a:p>
            </p:txBody>
          </p:sp>
          <p:sp>
            <p:nvSpPr>
              <p:cNvPr id="151748" name="文本框 151747"/>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20A</a:t>
                </a:r>
                <a:endParaRPr lang="en-US" altLang="zh-CN" sz="2400" b="1">
                  <a:solidFill>
                    <a:srgbClr val="66FF33"/>
                  </a:solidFill>
                  <a:latin typeface="Times New Roman" panose="02020603050405020304" pitchFamily="18" charset="0"/>
                </a:endParaRPr>
              </a:p>
            </p:txBody>
          </p:sp>
        </p:grpSp>
      </p:grpSp>
      <p:grpSp>
        <p:nvGrpSpPr>
          <p:cNvPr id="151794" name="组合 151793"/>
          <p:cNvGrpSpPr/>
          <p:nvPr/>
        </p:nvGrpSpPr>
        <p:grpSpPr>
          <a:xfrm>
            <a:off x="1782763" y="1706563"/>
            <a:ext cx="5562600" cy="4206875"/>
            <a:chOff x="1123" y="1075"/>
            <a:chExt cx="3504" cy="2650"/>
          </a:xfrm>
        </p:grpSpPr>
        <p:sp>
          <p:nvSpPr>
            <p:cNvPr id="151773" name="任意多边形 151772"/>
            <p:cNvSpPr/>
            <p:nvPr/>
          </p:nvSpPr>
          <p:spPr>
            <a:xfrm>
              <a:off x="1123" y="1075"/>
              <a:ext cx="3504" cy="2650"/>
            </a:xfrm>
            <a:custGeom>
              <a:avLst/>
              <a:gdLst/>
              <a:ahLst/>
              <a:cxnLst/>
              <a:pathLst>
                <a:path w="3504" h="2650">
                  <a:moveTo>
                    <a:pt x="3159" y="0"/>
                  </a:moveTo>
                  <a:lnTo>
                    <a:pt x="3504" y="288"/>
                  </a:lnTo>
                  <a:lnTo>
                    <a:pt x="3504" y="2650"/>
                  </a:lnTo>
                  <a:lnTo>
                    <a:pt x="0" y="2650"/>
                  </a:lnTo>
                  <a:lnTo>
                    <a:pt x="0" y="1882"/>
                  </a:lnTo>
                  <a:lnTo>
                    <a:pt x="3159" y="0"/>
                  </a:lnTo>
                  <a:close/>
                </a:path>
              </a:pathLst>
            </a:custGeom>
            <a:solidFill>
              <a:srgbClr val="CC6600">
                <a:alpha val="50000"/>
              </a:srgbClr>
            </a:solidFill>
            <a:ln w="9525" cap="flat" cmpd="sng">
              <a:solidFill>
                <a:schemeClr val="bg1">
                  <a:alpha val="100000"/>
                </a:schemeClr>
              </a:solidFill>
              <a:prstDash val="solid"/>
              <a:headEnd type="none" w="med" len="med"/>
              <a:tailEnd type="none" w="med" len="med"/>
            </a:ln>
          </p:spPr>
          <p:txBody>
            <a:bodyPr/>
            <a:p>
              <a:endParaRPr lang="zh-CN" altLang="en-US"/>
            </a:p>
          </p:txBody>
        </p:sp>
        <p:grpSp>
          <p:nvGrpSpPr>
            <p:cNvPr id="151749" name="组合 151748"/>
            <p:cNvGrpSpPr/>
            <p:nvPr/>
          </p:nvGrpSpPr>
          <p:grpSpPr>
            <a:xfrm rot="-1898476">
              <a:off x="2884" y="1879"/>
              <a:ext cx="333" cy="230"/>
              <a:chOff x="4177" y="2395"/>
              <a:chExt cx="333" cy="230"/>
            </a:xfrm>
          </p:grpSpPr>
          <p:sp>
            <p:nvSpPr>
              <p:cNvPr id="151750" name="矩形 151749"/>
              <p:cNvSpPr/>
              <p:nvPr/>
            </p:nvSpPr>
            <p:spPr>
              <a:xfrm>
                <a:off x="4177" y="2435"/>
                <a:ext cx="333" cy="156"/>
              </a:xfrm>
              <a:prstGeom prst="rect">
                <a:avLst/>
              </a:prstGeom>
              <a:solidFill>
                <a:srgbClr val="000099"/>
              </a:solidFill>
              <a:ln w="3175">
                <a:noFill/>
              </a:ln>
            </p:spPr>
            <p:txBody>
              <a:bodyPr/>
              <a:p>
                <a:endParaRPr lang="zh-CN" altLang="en-US"/>
              </a:p>
            </p:txBody>
          </p:sp>
          <p:sp>
            <p:nvSpPr>
              <p:cNvPr id="151751" name="文本框 151750"/>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16A</a:t>
                </a:r>
                <a:endParaRPr lang="en-US" altLang="zh-CN" sz="2400" b="1">
                  <a:solidFill>
                    <a:srgbClr val="66FF33"/>
                  </a:solidFill>
                  <a:latin typeface="Times New Roman" panose="02020603050405020304" pitchFamily="18" charset="0"/>
                </a:endParaRPr>
              </a:p>
            </p:txBody>
          </p:sp>
        </p:grpSp>
      </p:grpSp>
      <p:grpSp>
        <p:nvGrpSpPr>
          <p:cNvPr id="151786" name="组合 151785"/>
          <p:cNvGrpSpPr/>
          <p:nvPr/>
        </p:nvGrpSpPr>
        <p:grpSpPr>
          <a:xfrm>
            <a:off x="1782763" y="2133600"/>
            <a:ext cx="5837237" cy="3779838"/>
            <a:chOff x="1123" y="1344"/>
            <a:chExt cx="3677" cy="2381"/>
          </a:xfrm>
        </p:grpSpPr>
        <p:sp>
          <p:nvSpPr>
            <p:cNvPr id="151774" name="任意多边形 151773"/>
            <p:cNvSpPr/>
            <p:nvPr/>
          </p:nvSpPr>
          <p:spPr>
            <a:xfrm>
              <a:off x="1123" y="1344"/>
              <a:ext cx="3677" cy="2381"/>
            </a:xfrm>
            <a:custGeom>
              <a:avLst/>
              <a:gdLst/>
              <a:ahLst/>
              <a:cxnLst/>
              <a:pathLst>
                <a:path w="3677" h="2381">
                  <a:moveTo>
                    <a:pt x="3379" y="0"/>
                  </a:moveTo>
                  <a:lnTo>
                    <a:pt x="3677" y="269"/>
                  </a:lnTo>
                  <a:lnTo>
                    <a:pt x="3677" y="2381"/>
                  </a:lnTo>
                  <a:lnTo>
                    <a:pt x="0" y="2381"/>
                  </a:lnTo>
                  <a:lnTo>
                    <a:pt x="0" y="2016"/>
                  </a:lnTo>
                  <a:lnTo>
                    <a:pt x="3379" y="0"/>
                  </a:lnTo>
                  <a:close/>
                </a:path>
              </a:pathLst>
            </a:custGeom>
            <a:solidFill>
              <a:srgbClr val="66FF33">
                <a:alpha val="50000"/>
              </a:srgbClr>
            </a:solidFill>
            <a:ln w="9525" cap="flat" cmpd="sng">
              <a:solidFill>
                <a:schemeClr val="bg1">
                  <a:alpha val="100000"/>
                </a:schemeClr>
              </a:solidFill>
              <a:prstDash val="solid"/>
              <a:headEnd type="none" w="med" len="med"/>
              <a:tailEnd type="none" w="med" len="med"/>
            </a:ln>
          </p:spPr>
          <p:txBody>
            <a:bodyPr/>
            <a:p>
              <a:endParaRPr lang="zh-CN" altLang="en-US"/>
            </a:p>
          </p:txBody>
        </p:sp>
        <p:grpSp>
          <p:nvGrpSpPr>
            <p:cNvPr id="151740" name="组合 151739"/>
            <p:cNvGrpSpPr/>
            <p:nvPr/>
          </p:nvGrpSpPr>
          <p:grpSpPr>
            <a:xfrm rot="-1730916">
              <a:off x="3179" y="2060"/>
              <a:ext cx="333" cy="230"/>
              <a:chOff x="4177" y="2395"/>
              <a:chExt cx="333" cy="230"/>
            </a:xfrm>
          </p:grpSpPr>
          <p:sp>
            <p:nvSpPr>
              <p:cNvPr id="151741" name="矩形 151740"/>
              <p:cNvSpPr/>
              <p:nvPr/>
            </p:nvSpPr>
            <p:spPr>
              <a:xfrm>
                <a:off x="4177" y="2435"/>
                <a:ext cx="333" cy="156"/>
              </a:xfrm>
              <a:prstGeom prst="rect">
                <a:avLst/>
              </a:prstGeom>
              <a:solidFill>
                <a:srgbClr val="000099"/>
              </a:solidFill>
              <a:ln w="3175">
                <a:noFill/>
              </a:ln>
            </p:spPr>
            <p:txBody>
              <a:bodyPr/>
              <a:p>
                <a:endParaRPr lang="zh-CN" altLang="en-US"/>
              </a:p>
            </p:txBody>
          </p:sp>
          <p:sp>
            <p:nvSpPr>
              <p:cNvPr id="151742" name="文本框 151741"/>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12A</a:t>
                </a:r>
                <a:endParaRPr lang="en-US" altLang="zh-CN" sz="2400" b="1">
                  <a:solidFill>
                    <a:srgbClr val="66FF33"/>
                  </a:solidFill>
                  <a:latin typeface="Times New Roman" panose="02020603050405020304" pitchFamily="18" charset="0"/>
                </a:endParaRPr>
              </a:p>
            </p:txBody>
          </p:sp>
        </p:grpSp>
      </p:grpSp>
      <p:grpSp>
        <p:nvGrpSpPr>
          <p:cNvPr id="151795" name="组合 151794"/>
          <p:cNvGrpSpPr/>
          <p:nvPr/>
        </p:nvGrpSpPr>
        <p:grpSpPr>
          <a:xfrm>
            <a:off x="1768475" y="2438400"/>
            <a:ext cx="6172200" cy="3459163"/>
            <a:chOff x="1114" y="1536"/>
            <a:chExt cx="3888" cy="2179"/>
          </a:xfrm>
        </p:grpSpPr>
        <p:sp>
          <p:nvSpPr>
            <p:cNvPr id="151775" name="任意多边形 151774"/>
            <p:cNvSpPr/>
            <p:nvPr/>
          </p:nvSpPr>
          <p:spPr>
            <a:xfrm>
              <a:off x="1114" y="1536"/>
              <a:ext cx="3888" cy="2179"/>
            </a:xfrm>
            <a:custGeom>
              <a:avLst/>
              <a:gdLst/>
              <a:ahLst/>
              <a:cxnLst/>
              <a:pathLst>
                <a:path w="3888" h="2179">
                  <a:moveTo>
                    <a:pt x="3475" y="0"/>
                  </a:moveTo>
                  <a:lnTo>
                    <a:pt x="3888" y="384"/>
                  </a:lnTo>
                  <a:lnTo>
                    <a:pt x="3888" y="2179"/>
                  </a:lnTo>
                  <a:lnTo>
                    <a:pt x="0" y="2179"/>
                  </a:lnTo>
                  <a:lnTo>
                    <a:pt x="0" y="2064"/>
                  </a:lnTo>
                  <a:lnTo>
                    <a:pt x="3475" y="0"/>
                  </a:lnTo>
                  <a:close/>
                </a:path>
              </a:pathLst>
            </a:custGeom>
            <a:solidFill>
              <a:srgbClr val="FF0000">
                <a:alpha val="50000"/>
              </a:srgbClr>
            </a:solidFill>
            <a:ln w="9525" cap="flat" cmpd="sng">
              <a:solidFill>
                <a:schemeClr val="bg1">
                  <a:alpha val="100000"/>
                </a:schemeClr>
              </a:solidFill>
              <a:prstDash val="solid"/>
              <a:headEnd type="none" w="med" len="med"/>
              <a:tailEnd type="none" w="med" len="med"/>
            </a:ln>
          </p:spPr>
          <p:txBody>
            <a:bodyPr/>
            <a:p>
              <a:endParaRPr lang="zh-CN" altLang="en-US"/>
            </a:p>
          </p:txBody>
        </p:sp>
        <p:grpSp>
          <p:nvGrpSpPr>
            <p:cNvPr id="151743" name="组合 151742"/>
            <p:cNvGrpSpPr/>
            <p:nvPr/>
          </p:nvGrpSpPr>
          <p:grpSpPr>
            <a:xfrm rot="-1664693">
              <a:off x="3232" y="2309"/>
              <a:ext cx="333" cy="230"/>
              <a:chOff x="4177" y="2395"/>
              <a:chExt cx="333" cy="230"/>
            </a:xfrm>
          </p:grpSpPr>
          <p:sp>
            <p:nvSpPr>
              <p:cNvPr id="151744" name="矩形 151743"/>
              <p:cNvSpPr/>
              <p:nvPr/>
            </p:nvSpPr>
            <p:spPr>
              <a:xfrm>
                <a:off x="4177" y="2435"/>
                <a:ext cx="333" cy="156"/>
              </a:xfrm>
              <a:prstGeom prst="rect">
                <a:avLst/>
              </a:prstGeom>
              <a:solidFill>
                <a:srgbClr val="000099"/>
              </a:solidFill>
              <a:ln w="3175">
                <a:noFill/>
              </a:ln>
            </p:spPr>
            <p:txBody>
              <a:bodyPr/>
              <a:p>
                <a:endParaRPr lang="zh-CN" altLang="en-US"/>
              </a:p>
            </p:txBody>
          </p:sp>
          <p:sp>
            <p:nvSpPr>
              <p:cNvPr id="151745" name="文本框 151744"/>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10A</a:t>
                </a:r>
                <a:endParaRPr lang="en-US" altLang="zh-CN" sz="2400" b="1">
                  <a:solidFill>
                    <a:srgbClr val="66FF33"/>
                  </a:solidFill>
                  <a:latin typeface="Times New Roman" panose="02020603050405020304" pitchFamily="18" charset="0"/>
                </a:endParaRPr>
              </a:p>
            </p:txBody>
          </p:sp>
        </p:grpSp>
      </p:grpSp>
      <p:grpSp>
        <p:nvGrpSpPr>
          <p:cNvPr id="151796" name="组合 151795"/>
          <p:cNvGrpSpPr/>
          <p:nvPr/>
        </p:nvGrpSpPr>
        <p:grpSpPr>
          <a:xfrm>
            <a:off x="2325688" y="2824163"/>
            <a:ext cx="6005512" cy="3087687"/>
            <a:chOff x="1465" y="1779"/>
            <a:chExt cx="3783" cy="1945"/>
          </a:xfrm>
        </p:grpSpPr>
        <p:sp>
          <p:nvSpPr>
            <p:cNvPr id="151672" name="任意多边形 151671"/>
            <p:cNvSpPr/>
            <p:nvPr/>
          </p:nvSpPr>
          <p:spPr>
            <a:xfrm>
              <a:off x="1465" y="1779"/>
              <a:ext cx="3783" cy="1945"/>
            </a:xfrm>
            <a:custGeom>
              <a:avLst/>
              <a:gdLst/>
              <a:ahLst/>
              <a:cxnLst/>
              <a:pathLst>
                <a:path w="3725" h="2020">
                  <a:moveTo>
                    <a:pt x="0" y="2020"/>
                  </a:moveTo>
                  <a:lnTo>
                    <a:pt x="3206" y="0"/>
                  </a:lnTo>
                  <a:lnTo>
                    <a:pt x="3725" y="494"/>
                  </a:lnTo>
                  <a:lnTo>
                    <a:pt x="3725" y="2011"/>
                  </a:lnTo>
                  <a:lnTo>
                    <a:pt x="0" y="2020"/>
                  </a:lnTo>
                  <a:close/>
                </a:path>
              </a:pathLst>
            </a:custGeom>
            <a:solidFill>
              <a:schemeClr val="bg1">
                <a:alpha val="50000"/>
              </a:schemeClr>
            </a:solidFill>
            <a:ln w="28575" cap="flat" cmpd="sng">
              <a:solidFill>
                <a:srgbClr val="FFFF00">
                  <a:alpha val="100000"/>
                </a:srgbClr>
              </a:solidFill>
              <a:prstDash val="solid"/>
              <a:headEnd type="none" w="med" len="med"/>
              <a:tailEnd type="none" w="med" len="med"/>
            </a:ln>
          </p:spPr>
          <p:txBody>
            <a:bodyPr/>
            <a:p>
              <a:endParaRPr lang="zh-CN" altLang="en-US"/>
            </a:p>
          </p:txBody>
        </p:sp>
        <p:grpSp>
          <p:nvGrpSpPr>
            <p:cNvPr id="151739" name="组合 151738"/>
            <p:cNvGrpSpPr/>
            <p:nvPr/>
          </p:nvGrpSpPr>
          <p:grpSpPr>
            <a:xfrm>
              <a:off x="3697" y="2539"/>
              <a:ext cx="333" cy="230"/>
              <a:chOff x="4177" y="2395"/>
              <a:chExt cx="333" cy="230"/>
            </a:xfrm>
          </p:grpSpPr>
          <p:sp>
            <p:nvSpPr>
              <p:cNvPr id="151674" name="矩形 151673"/>
              <p:cNvSpPr/>
              <p:nvPr/>
            </p:nvSpPr>
            <p:spPr>
              <a:xfrm>
                <a:off x="4177" y="2435"/>
                <a:ext cx="333" cy="156"/>
              </a:xfrm>
              <a:prstGeom prst="rect">
                <a:avLst/>
              </a:prstGeom>
              <a:solidFill>
                <a:srgbClr val="000099"/>
              </a:solidFill>
              <a:ln w="3175">
                <a:noFill/>
              </a:ln>
            </p:spPr>
            <p:txBody>
              <a:bodyPr/>
              <a:p>
                <a:endParaRPr lang="zh-CN" altLang="en-US"/>
              </a:p>
            </p:txBody>
          </p:sp>
          <p:sp>
            <p:nvSpPr>
              <p:cNvPr id="151675" name="文本框 151674"/>
              <p:cNvSpPr txBox="1"/>
              <p:nvPr/>
            </p:nvSpPr>
            <p:spPr>
              <a:xfrm rot="2556">
                <a:off x="4178" y="2395"/>
                <a:ext cx="331" cy="230"/>
              </a:xfrm>
              <a:prstGeom prst="rect">
                <a:avLst/>
              </a:prstGeom>
              <a:noFill/>
              <a:ln w="15875">
                <a:noFill/>
              </a:ln>
            </p:spPr>
            <p:txBody>
              <a:bodyPr wrap="none" lIns="0" tIns="0" rIns="0" bIns="0" anchor="t" anchorCtr="0">
                <a:spAutoFit/>
              </a:bodyPr>
              <a:p>
                <a:r>
                  <a:rPr lang="en-US" altLang="zh-CN" sz="2400" b="1">
                    <a:solidFill>
                      <a:srgbClr val="66FF33"/>
                    </a:solidFill>
                    <a:latin typeface="Times New Roman" panose="02020603050405020304" pitchFamily="18" charset="0"/>
                  </a:rPr>
                  <a:t>08A</a:t>
                </a:r>
                <a:endParaRPr lang="en-US" altLang="zh-CN" sz="2400" b="1">
                  <a:solidFill>
                    <a:srgbClr val="66FF33"/>
                  </a:solidFill>
                  <a:latin typeface="Times New Roman" panose="02020603050405020304" pitchFamily="18" charset="0"/>
                </a:endParaRPr>
              </a:p>
            </p:txBody>
          </p:sp>
        </p:grpSp>
      </p:grpSp>
      <p:sp>
        <p:nvSpPr>
          <p:cNvPr id="151711" name="直接连接符 151710"/>
          <p:cNvSpPr/>
          <p:nvPr/>
        </p:nvSpPr>
        <p:spPr>
          <a:xfrm flipH="1">
            <a:off x="1768475" y="2132013"/>
            <a:ext cx="3930650" cy="0"/>
          </a:xfrm>
          <a:prstGeom prst="line">
            <a:avLst/>
          </a:prstGeom>
          <a:ln w="28575" cap="flat" cmpd="sng">
            <a:solidFill>
              <a:srgbClr val="FF0000"/>
            </a:solidFill>
            <a:prstDash val="solid"/>
            <a:headEnd type="none" w="med" len="med"/>
            <a:tailEnd type="none" w="med" len="med"/>
          </a:ln>
        </p:spPr>
      </p:sp>
      <p:sp>
        <p:nvSpPr>
          <p:cNvPr id="151659" name="直接连接符 151658"/>
          <p:cNvSpPr/>
          <p:nvPr/>
        </p:nvSpPr>
        <p:spPr>
          <a:xfrm flipV="1">
            <a:off x="5699125" y="2119313"/>
            <a:ext cx="0" cy="3792537"/>
          </a:xfrm>
          <a:prstGeom prst="line">
            <a:avLst/>
          </a:prstGeom>
          <a:ln w="28575" cap="flat" cmpd="sng">
            <a:solidFill>
              <a:srgbClr val="FF0000"/>
            </a:solidFill>
            <a:prstDash val="solid"/>
            <a:headEnd type="none" w="med" len="med"/>
            <a:tailEnd type="none" w="med" len="med"/>
          </a:ln>
        </p:spPr>
      </p:sp>
      <p:sp>
        <p:nvSpPr>
          <p:cNvPr id="151660" name="椭圆 151659"/>
          <p:cNvSpPr/>
          <p:nvPr/>
        </p:nvSpPr>
        <p:spPr>
          <a:xfrm>
            <a:off x="5648325" y="2093913"/>
            <a:ext cx="88900" cy="84137"/>
          </a:xfrm>
          <a:prstGeom prst="ellipse">
            <a:avLst/>
          </a:prstGeom>
          <a:solidFill>
            <a:schemeClr val="tx1"/>
          </a:solidFill>
          <a:ln w="57150" cap="flat" cmpd="sng">
            <a:solidFill>
              <a:schemeClr val="tx1"/>
            </a:solidFill>
            <a:prstDash val="solid"/>
            <a:headEnd type="none" w="med" len="med"/>
            <a:tailEnd type="none" w="med" len="med"/>
          </a:ln>
        </p:spPr>
        <p:txBody>
          <a:bodyPr/>
          <a:p>
            <a:endParaRPr lang="zh-CN" altLang="en-US"/>
          </a:p>
        </p:txBody>
      </p:sp>
      <p:sp>
        <p:nvSpPr>
          <p:cNvPr id="151801" name="直接连接符 151800"/>
          <p:cNvSpPr/>
          <p:nvPr/>
        </p:nvSpPr>
        <p:spPr>
          <a:xfrm flipV="1">
            <a:off x="7092950" y="3048000"/>
            <a:ext cx="0" cy="2840038"/>
          </a:xfrm>
          <a:prstGeom prst="line">
            <a:avLst/>
          </a:prstGeom>
          <a:ln w="28575" cap="flat" cmpd="sng">
            <a:solidFill>
              <a:srgbClr val="0000FF"/>
            </a:solidFill>
            <a:prstDash val="solid"/>
            <a:miter/>
            <a:headEnd type="none" w="sm" len="lg"/>
            <a:tailEnd type="none" w="sm" len="lg"/>
          </a:ln>
        </p:spPr>
      </p:sp>
      <p:sp>
        <p:nvSpPr>
          <p:cNvPr id="151802" name="直接连接符 151801"/>
          <p:cNvSpPr/>
          <p:nvPr/>
        </p:nvSpPr>
        <p:spPr>
          <a:xfrm flipH="1">
            <a:off x="1731963" y="3074988"/>
            <a:ext cx="5334000" cy="0"/>
          </a:xfrm>
          <a:prstGeom prst="line">
            <a:avLst/>
          </a:prstGeom>
          <a:ln w="28575" cap="flat" cmpd="sng">
            <a:solidFill>
              <a:srgbClr val="0000FF"/>
            </a:solidFill>
            <a:prstDash val="solid"/>
            <a:miter/>
            <a:headEnd type="none" w="sm" len="lg"/>
            <a:tailEnd type="none" w="sm" len="lg"/>
          </a:ln>
        </p:spPr>
      </p:sp>
      <p:sp>
        <p:nvSpPr>
          <p:cNvPr id="49160" name="文本框 1">
            <a:hlinkClick r:id="rId1" action="ppaction://hlinksldjump"/>
          </p:cNvPr>
          <p:cNvSpPr txBox="1">
            <a:spLocks noChangeArrowheads="1"/>
          </p:cNvSpPr>
          <p:nvPr/>
        </p:nvSpPr>
        <p:spPr bwMode="auto">
          <a:xfrm>
            <a:off x="7592060" y="6237605"/>
            <a:ext cx="69215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2" action="ppaction://hlinksldjump"/>
              </a:rPr>
              <a:t>返回</a:t>
            </a:r>
            <a:endParaRPr lang="zh-CN" altLang="en-US" sz="2000">
              <a:hlinkClick r:id="rId2" action="ppaction://hlinksldjump"/>
            </a:endParaRPr>
          </a:p>
        </p:txBody>
      </p:sp>
      <p:sp>
        <p:nvSpPr>
          <p:cNvPr id="49159" name="文本框 99"/>
          <p:cNvSpPr txBox="1">
            <a:spLocks noChangeArrowheads="1"/>
          </p:cNvSpPr>
          <p:nvPr/>
        </p:nvSpPr>
        <p:spPr bwMode="auto">
          <a:xfrm>
            <a:off x="208915" y="1635760"/>
            <a:ext cx="287020" cy="4092575"/>
          </a:xfrm>
          <a:prstGeom prst="rect">
            <a:avLst/>
          </a:prstGeom>
          <a:noFill/>
          <a:ln w="9525">
            <a:solidFill>
              <a:srgbClr val="00B0F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dirty="0">
                <a:solidFill>
                  <a:srgbClr val="002060"/>
                </a:solidFill>
                <a:latin typeface="Times New Roman" panose="02020603050405020304" pitchFamily="18" charset="0"/>
              </a:rPr>
              <a:t>A</a:t>
            </a:r>
            <a:r>
              <a:rPr lang="zh-CN" altLang="en-US" sz="2000" dirty="0">
                <a:solidFill>
                  <a:srgbClr val="002060"/>
                </a:solidFill>
                <a:latin typeface="Times New Roman" panose="02020603050405020304" pitchFamily="18" charset="0"/>
              </a:rPr>
              <a:t>系列滚子链的额定功率曲线</a:t>
            </a:r>
            <a:endParaRPr lang="zh-CN" altLang="en-US" sz="20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slide(fromBottom)">
                                      <p:cBhvr>
                                        <p:cTn id="7" dur="500"/>
                                        <p:tgtEl>
                                          <p:spTgt spid="151554"/>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151602"/>
                                        </p:tgtEl>
                                        <p:attrNameLst>
                                          <p:attrName>style.visibility</p:attrName>
                                        </p:attrNameLst>
                                      </p:cBhvr>
                                      <p:to>
                                        <p:strVal val="visible"/>
                                      </p:to>
                                    </p:set>
                                    <p:animEffect transition="in" filter="slide(fromLeft)">
                                      <p:cBhvr>
                                        <p:cTn id="11" dur="500"/>
                                        <p:tgtEl>
                                          <p:spTgt spid="151602"/>
                                        </p:tgtEl>
                                      </p:cBhvr>
                                    </p:animEffect>
                                  </p:childTnLst>
                                </p:cTn>
                              </p:par>
                            </p:childTnLst>
                          </p:cTn>
                        </p:par>
                        <p:par>
                          <p:cTn id="12" fill="hold">
                            <p:stCondLst>
                              <p:cond delay="1000"/>
                            </p:stCondLst>
                            <p:childTnLst>
                              <p:par>
                                <p:cTn id="13" presetID="17" presetClass="entr" presetSubtype="1" fill="hold" grpId="0" nodeType="afterEffect">
                                  <p:stCondLst>
                                    <p:cond delay="0"/>
                                  </p:stCondLst>
                                  <p:childTnLst>
                                    <p:set>
                                      <p:cBhvr>
                                        <p:cTn id="14" dur="1" fill="hold">
                                          <p:stCondLst>
                                            <p:cond delay="0"/>
                                          </p:stCondLst>
                                        </p:cTn>
                                        <p:tgtEl>
                                          <p:spTgt spid="151601"/>
                                        </p:tgtEl>
                                        <p:attrNameLst>
                                          <p:attrName>style.visibility</p:attrName>
                                        </p:attrNameLst>
                                      </p:cBhvr>
                                      <p:to>
                                        <p:strVal val="visible"/>
                                      </p:to>
                                    </p:set>
                                    <p:anim calcmode="lin" valueType="num">
                                      <p:cBhvr>
                                        <p:cTn id="15" dur="500" fill="hold"/>
                                        <p:tgtEl>
                                          <p:spTgt spid="151601"/>
                                        </p:tgtEl>
                                        <p:attrNameLst>
                                          <p:attrName>ppt_x</p:attrName>
                                        </p:attrNameLst>
                                      </p:cBhvr>
                                      <p:tavLst>
                                        <p:tav tm="0">
                                          <p:val>
                                            <p:strVal val="#ppt_x"/>
                                          </p:val>
                                        </p:tav>
                                        <p:tav tm="100000">
                                          <p:val>
                                            <p:strVal val="#ppt_x"/>
                                          </p:val>
                                        </p:tav>
                                      </p:tavLst>
                                    </p:anim>
                                    <p:anim calcmode="lin" valueType="num">
                                      <p:cBhvr>
                                        <p:cTn id="16" dur="500" fill="hold"/>
                                        <p:tgtEl>
                                          <p:spTgt spid="151601"/>
                                        </p:tgtEl>
                                        <p:attrNameLst>
                                          <p:attrName>ppt_y</p:attrName>
                                        </p:attrNameLst>
                                      </p:cBhvr>
                                      <p:tavLst>
                                        <p:tav tm="0">
                                          <p:val>
                                            <p:strVal val="#ppt_y-#ppt_h/2"/>
                                          </p:val>
                                        </p:tav>
                                        <p:tav tm="100000">
                                          <p:val>
                                            <p:strVal val="#ppt_y"/>
                                          </p:val>
                                        </p:tav>
                                      </p:tavLst>
                                    </p:anim>
                                    <p:anim calcmode="lin" valueType="num">
                                      <p:cBhvr>
                                        <p:cTn id="17" dur="500" fill="hold"/>
                                        <p:tgtEl>
                                          <p:spTgt spid="151601"/>
                                        </p:tgtEl>
                                        <p:attrNameLst>
                                          <p:attrName>ppt_w</p:attrName>
                                        </p:attrNameLst>
                                      </p:cBhvr>
                                      <p:tavLst>
                                        <p:tav tm="0">
                                          <p:val>
                                            <p:strVal val="#ppt_w"/>
                                          </p:val>
                                        </p:tav>
                                        <p:tav tm="100000">
                                          <p:val>
                                            <p:strVal val="#ppt_w"/>
                                          </p:val>
                                        </p:tav>
                                      </p:tavLst>
                                    </p:anim>
                                    <p:anim calcmode="lin" valueType="num">
                                      <p:cBhvr>
                                        <p:cTn id="18" dur="500" fill="hold"/>
                                        <p:tgtEl>
                                          <p:spTgt spid="151601"/>
                                        </p:tgtEl>
                                        <p:attrNameLst>
                                          <p:attrName>ppt_h</p:attrName>
                                        </p:attrNameLst>
                                      </p:cBhvr>
                                      <p:tavLst>
                                        <p:tav tm="0">
                                          <p:val>
                                            <p:fltVal val="0.000000"/>
                                          </p:val>
                                        </p:tav>
                                        <p:tav tm="100000">
                                          <p:val>
                                            <p:strVal val="#ppt_h"/>
                                          </p:val>
                                        </p:tav>
                                      </p:tavLst>
                                    </p:anim>
                                  </p:childTnLst>
                                </p:cTn>
                              </p:par>
                            </p:childTnLst>
                          </p:cTn>
                        </p:par>
                        <p:par>
                          <p:cTn id="19" fill="hold">
                            <p:stCondLst>
                              <p:cond delay="1500"/>
                            </p:stCondLst>
                            <p:childTnLst>
                              <p:par>
                                <p:cTn id="20" presetID="12" presetClass="entr" presetSubtype="1" fill="hold" nodeType="afterEffect">
                                  <p:stCondLst>
                                    <p:cond delay="0"/>
                                  </p:stCondLst>
                                  <p:childTnLst>
                                    <p:set>
                                      <p:cBhvr>
                                        <p:cTn id="21" dur="1" fill="hold">
                                          <p:stCondLst>
                                            <p:cond delay="0"/>
                                          </p:stCondLst>
                                        </p:cTn>
                                        <p:tgtEl>
                                          <p:spTgt spid="151712"/>
                                        </p:tgtEl>
                                        <p:attrNameLst>
                                          <p:attrName>style.visibility</p:attrName>
                                        </p:attrNameLst>
                                      </p:cBhvr>
                                      <p:to>
                                        <p:strVal val="visible"/>
                                      </p:to>
                                    </p:set>
                                    <p:animEffect transition="in" filter="slide(fromTop)">
                                      <p:cBhvr>
                                        <p:cTn id="22" dur="500"/>
                                        <p:tgtEl>
                                          <p:spTgt spid="1517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518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5179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5179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5179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5178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5179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5179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5178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5179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5179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7" presetClass="entr" presetSubtype="4" fill="hold" nodeType="clickEffect">
                                  <p:stCondLst>
                                    <p:cond delay="0"/>
                                  </p:stCondLst>
                                  <p:childTnLst>
                                    <p:set>
                                      <p:cBhvr>
                                        <p:cTn id="66" dur="1" fill="hold">
                                          <p:stCondLst>
                                            <p:cond delay="0"/>
                                          </p:stCondLst>
                                        </p:cTn>
                                        <p:tgtEl>
                                          <p:spTgt spid="151659"/>
                                        </p:tgtEl>
                                        <p:attrNameLst>
                                          <p:attrName>style.visibility</p:attrName>
                                        </p:attrNameLst>
                                      </p:cBhvr>
                                      <p:to>
                                        <p:strVal val="visible"/>
                                      </p:to>
                                    </p:set>
                                    <p:anim calcmode="lin" valueType="num">
                                      <p:cBhvr>
                                        <p:cTn id="67" dur="500" fill="hold"/>
                                        <p:tgtEl>
                                          <p:spTgt spid="151659"/>
                                        </p:tgtEl>
                                        <p:attrNameLst>
                                          <p:attrName>ppt_x</p:attrName>
                                        </p:attrNameLst>
                                      </p:cBhvr>
                                      <p:tavLst>
                                        <p:tav tm="0">
                                          <p:val>
                                            <p:strVal val="#ppt_x"/>
                                          </p:val>
                                        </p:tav>
                                        <p:tav tm="100000">
                                          <p:val>
                                            <p:strVal val="#ppt_x"/>
                                          </p:val>
                                        </p:tav>
                                      </p:tavLst>
                                    </p:anim>
                                    <p:anim calcmode="lin" valueType="num">
                                      <p:cBhvr>
                                        <p:cTn id="68" dur="500" fill="hold"/>
                                        <p:tgtEl>
                                          <p:spTgt spid="151659"/>
                                        </p:tgtEl>
                                        <p:attrNameLst>
                                          <p:attrName>ppt_y</p:attrName>
                                        </p:attrNameLst>
                                      </p:cBhvr>
                                      <p:tavLst>
                                        <p:tav tm="0">
                                          <p:val>
                                            <p:strVal val="#ppt_y+#ppt_h/2"/>
                                          </p:val>
                                        </p:tav>
                                        <p:tav tm="100000">
                                          <p:val>
                                            <p:strVal val="#ppt_y"/>
                                          </p:val>
                                        </p:tav>
                                      </p:tavLst>
                                    </p:anim>
                                    <p:anim calcmode="lin" valueType="num">
                                      <p:cBhvr>
                                        <p:cTn id="69" dur="500" fill="hold"/>
                                        <p:tgtEl>
                                          <p:spTgt spid="151659"/>
                                        </p:tgtEl>
                                        <p:attrNameLst>
                                          <p:attrName>ppt_w</p:attrName>
                                        </p:attrNameLst>
                                      </p:cBhvr>
                                      <p:tavLst>
                                        <p:tav tm="0">
                                          <p:val>
                                            <p:strVal val="#ppt_w"/>
                                          </p:val>
                                        </p:tav>
                                        <p:tav tm="100000">
                                          <p:val>
                                            <p:strVal val="#ppt_w"/>
                                          </p:val>
                                        </p:tav>
                                      </p:tavLst>
                                    </p:anim>
                                    <p:anim calcmode="lin" valueType="num">
                                      <p:cBhvr>
                                        <p:cTn id="70" dur="500" fill="hold"/>
                                        <p:tgtEl>
                                          <p:spTgt spid="151659"/>
                                        </p:tgtEl>
                                        <p:attrNameLst>
                                          <p:attrName>ppt_h</p:attrName>
                                        </p:attrNameLst>
                                      </p:cBhvr>
                                      <p:tavLst>
                                        <p:tav tm="0">
                                          <p:val>
                                            <p:fltVal val="0.00000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17" presetClass="entr" presetSubtype="8" fill="hold" nodeType="clickEffect">
                                  <p:stCondLst>
                                    <p:cond delay="0"/>
                                  </p:stCondLst>
                                  <p:childTnLst>
                                    <p:set>
                                      <p:cBhvr>
                                        <p:cTn id="74" dur="1" fill="hold">
                                          <p:stCondLst>
                                            <p:cond delay="0"/>
                                          </p:stCondLst>
                                        </p:cTn>
                                        <p:tgtEl>
                                          <p:spTgt spid="151711"/>
                                        </p:tgtEl>
                                        <p:attrNameLst>
                                          <p:attrName>style.visibility</p:attrName>
                                        </p:attrNameLst>
                                      </p:cBhvr>
                                      <p:to>
                                        <p:strVal val="visible"/>
                                      </p:to>
                                    </p:set>
                                    <p:anim calcmode="lin" valueType="num">
                                      <p:cBhvr>
                                        <p:cTn id="75" dur="500" fill="hold"/>
                                        <p:tgtEl>
                                          <p:spTgt spid="151711"/>
                                        </p:tgtEl>
                                        <p:attrNameLst>
                                          <p:attrName>ppt_x</p:attrName>
                                        </p:attrNameLst>
                                      </p:cBhvr>
                                      <p:tavLst>
                                        <p:tav tm="0">
                                          <p:val>
                                            <p:strVal val="#ppt_x-#ppt_w/2"/>
                                          </p:val>
                                        </p:tav>
                                        <p:tav tm="100000">
                                          <p:val>
                                            <p:strVal val="#ppt_x"/>
                                          </p:val>
                                        </p:tav>
                                      </p:tavLst>
                                    </p:anim>
                                    <p:anim calcmode="lin" valueType="num">
                                      <p:cBhvr>
                                        <p:cTn id="76" dur="500" fill="hold"/>
                                        <p:tgtEl>
                                          <p:spTgt spid="151711"/>
                                        </p:tgtEl>
                                        <p:attrNameLst>
                                          <p:attrName>ppt_y</p:attrName>
                                        </p:attrNameLst>
                                      </p:cBhvr>
                                      <p:tavLst>
                                        <p:tav tm="0">
                                          <p:val>
                                            <p:strVal val="#ppt_y"/>
                                          </p:val>
                                        </p:tav>
                                        <p:tav tm="100000">
                                          <p:val>
                                            <p:strVal val="#ppt_y"/>
                                          </p:val>
                                        </p:tav>
                                      </p:tavLst>
                                    </p:anim>
                                    <p:anim calcmode="lin" valueType="num">
                                      <p:cBhvr>
                                        <p:cTn id="77" dur="500" fill="hold"/>
                                        <p:tgtEl>
                                          <p:spTgt spid="151711"/>
                                        </p:tgtEl>
                                        <p:attrNameLst>
                                          <p:attrName>ppt_w</p:attrName>
                                        </p:attrNameLst>
                                      </p:cBhvr>
                                      <p:tavLst>
                                        <p:tav tm="0">
                                          <p:val>
                                            <p:fltVal val="0.000000"/>
                                          </p:val>
                                        </p:tav>
                                        <p:tav tm="100000">
                                          <p:val>
                                            <p:strVal val="#ppt_w"/>
                                          </p:val>
                                        </p:tav>
                                      </p:tavLst>
                                    </p:anim>
                                    <p:anim calcmode="lin" valueType="num">
                                      <p:cBhvr>
                                        <p:cTn id="78" dur="500" fill="hold"/>
                                        <p:tgtEl>
                                          <p:spTgt spid="151711"/>
                                        </p:tgtEl>
                                        <p:attrNameLst>
                                          <p:attrName>ppt_h</p:attrName>
                                        </p:attrNameLst>
                                      </p:cBhvr>
                                      <p:tavLst>
                                        <p:tav tm="0">
                                          <p:val>
                                            <p:strVal val="#ppt_h"/>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5166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51801"/>
                                        </p:tgtEl>
                                        <p:attrNameLst>
                                          <p:attrName>style.visibility</p:attrName>
                                        </p:attrNameLst>
                                      </p:cBhvr>
                                      <p:to>
                                        <p:strVal val="visible"/>
                                      </p:to>
                                    </p:set>
                                    <p:animEffect transition="in" filter="wipe(down)">
                                      <p:cBhvr>
                                        <p:cTn id="87" dur="500"/>
                                        <p:tgtEl>
                                          <p:spTgt spid="15180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151802"/>
                                        </p:tgtEl>
                                        <p:attrNameLst>
                                          <p:attrName>style.visibility</p:attrName>
                                        </p:attrNameLst>
                                      </p:cBhvr>
                                      <p:to>
                                        <p:strVal val="visible"/>
                                      </p:to>
                                    </p:set>
                                    <p:animEffect transition="in" filter="wipe(right)">
                                      <p:cBhvr>
                                        <p:cTn id="92" dur="500"/>
                                        <p:tgtEl>
                                          <p:spTgt spid="151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01"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0178"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3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3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390525" y="36513"/>
            <a:ext cx="8229600" cy="1143000"/>
          </a:xfrm>
        </p:spPr>
        <p:txBody>
          <a:bodyPr/>
          <a:lstStyle/>
          <a:p>
            <a:r>
              <a:rPr lang="zh-CN" altLang="en-US" sz="2400">
                <a:latin typeface="黑体" panose="02010609060101010101" pitchFamily="49" charset="-122"/>
                <a:ea typeface="黑体" panose="02010609060101010101" pitchFamily="49" charset="-122"/>
              </a:rPr>
              <a:t>链传动的设计计算</a:t>
            </a:r>
            <a:endParaRPr kumimoji="1" lang="zh-CN" altLang="en-US" sz="2400">
              <a:latin typeface="黑体" panose="02010609060101010101" pitchFamily="49" charset="-122"/>
              <a:ea typeface="黑体" panose="02010609060101010101" pitchFamily="49" charset="-122"/>
            </a:endParaRPr>
          </a:p>
        </p:txBody>
      </p:sp>
      <p:sp>
        <p:nvSpPr>
          <p:cNvPr id="50182" name="文本框 99"/>
          <p:cNvSpPr txBox="1">
            <a:spLocks noChangeArrowheads="1"/>
          </p:cNvSpPr>
          <p:nvPr/>
        </p:nvSpPr>
        <p:spPr bwMode="auto">
          <a:xfrm>
            <a:off x="2006600" y="835025"/>
            <a:ext cx="5080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宋体" panose="02010600030101010101" pitchFamily="2" charset="-122"/>
              </a:rPr>
              <a:t>链传动的工作情况系数</a:t>
            </a:r>
            <a:r>
              <a:rPr lang="en-US" altLang="zh-CN" sz="2000" i="1">
                <a:solidFill>
                  <a:srgbClr val="000099"/>
                </a:solidFill>
                <a:latin typeface="Times New Roman" panose="02020603050405020304" pitchFamily="18" charset="0"/>
                <a:cs typeface="Times New Roman" panose="02020603050405020304" pitchFamily="18" charset="0"/>
              </a:rPr>
              <a:t>K</a:t>
            </a:r>
            <a:r>
              <a:rPr lang="en-US" altLang="zh-CN" sz="2000" baseline="-25000">
                <a:solidFill>
                  <a:srgbClr val="000099"/>
                </a:solidFill>
                <a:latin typeface="Times New Roman" panose="02020603050405020304" pitchFamily="18" charset="0"/>
                <a:cs typeface="Times New Roman" panose="02020603050405020304" pitchFamily="18" charset="0"/>
              </a:rPr>
              <a:t>A</a:t>
            </a:r>
            <a:endParaRPr lang="en-US" altLang="zh-CN" sz="2000" baseline="-25000">
              <a:solidFill>
                <a:srgbClr val="000099"/>
              </a:solidFill>
              <a:latin typeface="Times New Roman" panose="02020603050405020304" pitchFamily="18" charset="0"/>
              <a:cs typeface="Times New Roman" panose="02020603050405020304" pitchFamily="18" charset="0"/>
            </a:endParaRPr>
          </a:p>
        </p:txBody>
      </p:sp>
      <p:graphicFrame>
        <p:nvGraphicFramePr>
          <p:cNvPr id="2" name="表格 -1"/>
          <p:cNvGraphicFramePr/>
          <p:nvPr/>
        </p:nvGraphicFramePr>
        <p:xfrm>
          <a:off x="442913" y="1319213"/>
          <a:ext cx="8256587" cy="3113087"/>
        </p:xfrm>
        <a:graphic>
          <a:graphicData uri="http://schemas.openxmlformats.org/drawingml/2006/table">
            <a:tbl>
              <a:tblPr firstRow="1" bandRow="1">
                <a:tableStyleId>{5940675A-B579-460E-94D1-54222C63F5DA}</a:tableStyleId>
              </a:tblPr>
              <a:tblGrid>
                <a:gridCol w="1160735"/>
                <a:gridCol w="4875342"/>
                <a:gridCol w="1124542"/>
                <a:gridCol w="1095968"/>
              </a:tblGrid>
              <a:tr h="304832">
                <a:tc rowSpan="2">
                  <a:txBody>
                    <a:bodyPr/>
                    <a:lstStyle/>
                    <a:p>
                      <a:pPr indent="0" algn="ctr">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载荷种类</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工 作 机 械 举 例</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原 动 机</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609663">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电动机或汽轮机</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内燃机</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2864">
                <a:tc>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载荷平稳</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液体搅拌机、离心泵、离心式鼓风机、纺织机械、轻型运输机、链式运输机、发电机</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1.0</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2864">
                <a:tc>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中等冲击</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一般机床、压气机、木工机械、食品机械、印染纺织机械、一般造纸机械、大型鼓风机</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2864">
                <a:tc>
                  <a:txBody>
                    <a:bodyPr/>
                    <a:lstStyle/>
                    <a:p>
                      <a:pPr indent="0" algn="ctr">
                        <a:buNone/>
                      </a:pPr>
                      <a:r>
                        <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较大冲击</a:t>
                      </a:r>
                      <a:endParaRPr lang="zh-CN" altLang="en-US"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锻压机械、矿山机械、工程机械、石油钻井机械、振动机械、橡胶搅拌机</a:t>
                      </a:r>
                      <a:endParaRPr lang="zh-CN" altLang="en-US"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a:t>
                      </a:r>
                      <a:endParaRPr lang="en-US" altLang="zh-CN" sz="20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a:t>
                      </a:r>
                      <a:endParaRPr lang="en-US" altLang="zh-CN" sz="20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0212" name="文本框 1"/>
          <p:cNvSpPr txBox="1">
            <a:spLocks noChangeArrowheads="1"/>
          </p:cNvSpPr>
          <p:nvPr/>
        </p:nvSpPr>
        <p:spPr bwMode="auto">
          <a:xfrm>
            <a:off x="2071688" y="4572000"/>
            <a:ext cx="5080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宋体" panose="02010600030101010101" pitchFamily="2" charset="-122"/>
              </a:rPr>
              <a:t>多排链系数</a:t>
            </a:r>
            <a:r>
              <a:rPr lang="en-US" altLang="zh-CN" sz="2000" i="1">
                <a:solidFill>
                  <a:srgbClr val="000099"/>
                </a:solidFill>
                <a:latin typeface="Times New Roman" panose="02020603050405020304" pitchFamily="18" charset="0"/>
                <a:cs typeface="Times New Roman" panose="02020603050405020304" pitchFamily="18" charset="0"/>
              </a:rPr>
              <a:t>K</a:t>
            </a:r>
            <a:r>
              <a:rPr lang="en-US" altLang="zh-CN" sz="2000" baseline="-25000">
                <a:solidFill>
                  <a:srgbClr val="000099"/>
                </a:solidFill>
                <a:latin typeface="Times New Roman" panose="02020603050405020304" pitchFamily="18" charset="0"/>
                <a:cs typeface="Times New Roman" panose="02020603050405020304" pitchFamily="18" charset="0"/>
              </a:rPr>
              <a:t>P</a:t>
            </a:r>
            <a:endParaRPr lang="en-US" altLang="zh-CN" sz="2000" baseline="-25000">
              <a:solidFill>
                <a:srgbClr val="000099"/>
              </a:solidFill>
              <a:latin typeface="Times New Roman" panose="02020603050405020304" pitchFamily="18" charset="0"/>
              <a:cs typeface="Times New Roman" panose="02020603050405020304" pitchFamily="18" charset="0"/>
            </a:endParaRPr>
          </a:p>
        </p:txBody>
      </p:sp>
      <p:graphicFrame>
        <p:nvGraphicFramePr>
          <p:cNvPr id="54309" name="表格 54308"/>
          <p:cNvGraphicFramePr>
            <a:graphicFrameLocks noGrp="1"/>
          </p:cNvGraphicFramePr>
          <p:nvPr/>
        </p:nvGraphicFramePr>
        <p:xfrm>
          <a:off x="442913" y="5099050"/>
          <a:ext cx="8208962" cy="768350"/>
        </p:xfrm>
        <a:graphic>
          <a:graphicData uri="http://schemas.openxmlformats.org/drawingml/2006/table">
            <a:tbl>
              <a:tblPr/>
              <a:tblGrid>
                <a:gridCol w="931862"/>
                <a:gridCol w="933450"/>
                <a:gridCol w="931863"/>
                <a:gridCol w="933450"/>
                <a:gridCol w="969962"/>
                <a:gridCol w="895350"/>
                <a:gridCol w="2613025"/>
              </a:tblGrid>
              <a:tr h="368300">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排数</a:t>
                      </a:r>
                      <a:endParaRPr kumimoji="0"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5</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6</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400050">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K</a:t>
                      </a:r>
                      <a:r>
                        <a:rPr kumimoji="0" lang="en-US" altLang="zh-CN" sz="2000" b="0" i="0" u="none" strike="noStrike" cap="none" normalizeH="0" baseline="-2500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sym typeface="+mn-ea"/>
                        </a:rPr>
                        <a:t>P</a:t>
                      </a: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1.7</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2.5</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3.3</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4.0</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4.6</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r>
            </a:tbl>
          </a:graphicData>
        </a:graphic>
      </p:graphicFrame>
      <p:pic>
        <p:nvPicPr>
          <p:cNvPr id="50239" name="图片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240" y="4751705"/>
            <a:ext cx="2286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40" name="文本框 1">
            <a:hlinkClick r:id="rId6" action="ppaction://hlinksldjump"/>
          </p:cNvPr>
          <p:cNvSpPr txBox="1">
            <a:spLocks noChangeArrowheads="1"/>
          </p:cNvSpPr>
          <p:nvPr/>
        </p:nvSpPr>
        <p:spPr bwMode="auto">
          <a:xfrm>
            <a:off x="6791325" y="6302375"/>
            <a:ext cx="69215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7" action="ppaction://hlinksldjump"/>
              </a:rPr>
              <a:t>返回</a:t>
            </a:r>
            <a:endParaRPr lang="zh-CN" altLang="en-US" sz="2000">
              <a:hlinkClick r:id="rId7" action="ppaction://hlinksldjump"/>
            </a:endParaRPr>
          </a:p>
        </p:txBody>
      </p:sp>
    </p:spTree>
  </p:cSld>
  <p:clrMapOvr>
    <a:masterClrMapping/>
  </p:clrMapOvr>
  <p:transition>
    <p:blinds/>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02" name="Picture 3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3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Grp="1" noChangeArrowheads="1"/>
          </p:cNvSpPr>
          <p:nvPr>
            <p:ph type="title"/>
          </p:nvPr>
        </p:nvSpPr>
        <p:spPr bwMode="auto">
          <a:xfrm>
            <a:off x="4173538" y="271463"/>
            <a:ext cx="4968875" cy="490537"/>
          </a:xfrm>
          <a:ln>
            <a:miter lim="800000"/>
          </a:ln>
        </p:spPr>
        <p:txBody>
          <a:bodyPr vert="horz" wrap="square" lIns="91440" tIns="45720" rIns="91440" bIns="45720" numCol="1" anchor="t" anchorCtr="0" compatLnSpc="1"/>
          <a:lstStyle/>
          <a:p>
            <a:pPr eaLnBrk="1" hangingPunct="1">
              <a:defRPr/>
            </a:pPr>
            <a:r>
              <a:rPr kumimoji="1" lang="zh-CN" altLang="en-US" sz="3000" kern="1200" dirty="0" smtClean="0">
                <a:solidFill>
                  <a:srgbClr val="CC3300"/>
                </a:solidFill>
                <a:latin typeface="黑体" panose="02010609060101010101" pitchFamily="49" charset="-122"/>
                <a:ea typeface="黑体" panose="02010609060101010101" pitchFamily="49" charset="-122"/>
                <a:cs typeface="+mn-cs"/>
              </a:rPr>
              <a:t>链传动的布置、张紧、润滑</a:t>
            </a:r>
            <a:endParaRPr kumimoji="1"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51204" name="文本框 1"/>
          <p:cNvSpPr txBox="1">
            <a:spLocks noChangeArrowheads="1"/>
          </p:cNvSpPr>
          <p:nvPr/>
        </p:nvSpPr>
        <p:spPr bwMode="auto">
          <a:xfrm>
            <a:off x="6791325" y="6157913"/>
            <a:ext cx="6921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hlinkClick r:id="rId3" action="ppaction://hlinksldjump"/>
              </a:rPr>
              <a:t>返回</a:t>
            </a:r>
            <a:endParaRPr lang="zh-CN" altLang="en-US" sz="2000">
              <a:hlinkClick r:id="rId3" action="ppaction://hlinksldjump"/>
            </a:endParaRPr>
          </a:p>
        </p:txBody>
      </p:sp>
      <p:sp>
        <p:nvSpPr>
          <p:cNvPr id="51205" name="文本框 99"/>
          <p:cNvSpPr txBox="1">
            <a:spLocks noChangeArrowheads="1"/>
          </p:cNvSpPr>
          <p:nvPr/>
        </p:nvSpPr>
        <p:spPr bwMode="auto">
          <a:xfrm>
            <a:off x="2838450" y="927100"/>
            <a:ext cx="34671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Tahoma" panose="020B0604030504040204" pitchFamily="34" charset="0"/>
                <a:ea typeface="华文中宋" panose="02010600040101010101" pitchFamily="2" charset="-122"/>
              </a:defRPr>
            </a:lvl1pPr>
            <a:lvl2pPr marL="742950" indent="-285750" eaLnBrk="0" hangingPunct="0">
              <a:defRPr sz="2200">
                <a:solidFill>
                  <a:schemeClr val="tx1"/>
                </a:solidFill>
                <a:latin typeface="Tahoma" panose="020B0604030504040204" pitchFamily="34" charset="0"/>
                <a:ea typeface="华文中宋" panose="02010600040101010101" pitchFamily="2" charset="-122"/>
              </a:defRPr>
            </a:lvl2pPr>
            <a:lvl3pPr marL="1143000" indent="-228600" eaLnBrk="0" hangingPunct="0">
              <a:defRPr sz="2200">
                <a:solidFill>
                  <a:schemeClr val="tx1"/>
                </a:solidFill>
                <a:latin typeface="Tahoma" panose="020B0604030504040204" pitchFamily="34" charset="0"/>
                <a:ea typeface="华文中宋" panose="02010600040101010101" pitchFamily="2" charset="-122"/>
              </a:defRPr>
            </a:lvl3pPr>
            <a:lvl4pPr marL="1600200" indent="-228600" eaLnBrk="0" hangingPunct="0">
              <a:defRPr sz="2200">
                <a:solidFill>
                  <a:schemeClr val="tx1"/>
                </a:solidFill>
                <a:latin typeface="Tahoma" panose="020B0604030504040204" pitchFamily="34" charset="0"/>
                <a:ea typeface="华文中宋" panose="02010600040101010101" pitchFamily="2" charset="-122"/>
              </a:defRPr>
            </a:lvl4pPr>
            <a:lvl5pPr marL="2057400" indent="-228600" eaLnBrk="0" hangingPunct="0">
              <a:defRPr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buFont typeface="Arial" panose="020B0604020202020204" pitchFamily="34" charset="0"/>
              <a:defRPr sz="2200">
                <a:solidFill>
                  <a:schemeClr val="tx1"/>
                </a:solidFill>
                <a:latin typeface="Tahoma" panose="020B0604030504040204" pitchFamily="34" charset="0"/>
                <a:ea typeface="华文中宋" panose="02010600040101010101" pitchFamily="2" charset="-122"/>
              </a:defRPr>
            </a:lvl9pPr>
          </a:lstStyle>
          <a:p>
            <a:pPr algn="ctr" eaLnBrk="1" hangingPunct="1"/>
            <a:r>
              <a:rPr lang="zh-CN" altLang="en-US" sz="2000">
                <a:solidFill>
                  <a:srgbClr val="000099"/>
                </a:solidFill>
                <a:latin typeface="华文中宋" panose="02010600040101010101" pitchFamily="2" charset="-122"/>
              </a:rPr>
              <a:t>滚子链的润滑方法和供油量</a:t>
            </a:r>
            <a:endParaRPr lang="zh-CN" altLang="en-US" sz="2000">
              <a:solidFill>
                <a:srgbClr val="000099"/>
              </a:solidFill>
              <a:latin typeface="华文中宋" panose="02010600040101010101" pitchFamily="2" charset="-122"/>
            </a:endParaRPr>
          </a:p>
        </p:txBody>
      </p:sp>
      <p:graphicFrame>
        <p:nvGraphicFramePr>
          <p:cNvPr id="2" name="表格 -1"/>
          <p:cNvGraphicFramePr>
            <a:graphicFrameLocks noGrp="1"/>
          </p:cNvGraphicFramePr>
          <p:nvPr>
            <p:custDataLst>
              <p:tags r:id="rId4"/>
            </p:custDataLst>
          </p:nvPr>
        </p:nvGraphicFramePr>
        <p:xfrm>
          <a:off x="285750" y="1500188"/>
          <a:ext cx="8555038" cy="4503736"/>
        </p:xfrm>
        <a:graphic>
          <a:graphicData uri="http://schemas.openxmlformats.org/drawingml/2006/table">
            <a:tbl>
              <a:tblPr/>
              <a:tblGrid>
                <a:gridCol w="1334703"/>
                <a:gridCol w="3845560"/>
                <a:gridCol w="3374775"/>
              </a:tblGrid>
              <a:tr h="29586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方式</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润滑方法</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供油量</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65747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人工润滑</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用刷子或油壶定期在链条松边内、外链板间隙中注油</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每班注油一次</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59173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滴油润滑</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装有简单外壳、用油杯滴油</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单排链，每分钟供油</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5-20</a:t>
                      </a: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滴，速度高时可取大值</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88759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油浴供油</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采用不漏油的外壳，使链条从油槽中通过</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链条侵入油面过深，搅油损失大，油易发热变质。一般浸油深度为</a:t>
                      </a:r>
                      <a:r>
                        <a:rPr kumimoji="0" lang="en-US" altLang="zh-CN"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6</a:t>
                      </a: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a:t>
                      </a:r>
                      <a:r>
                        <a:rPr kumimoji="0" lang="en-US" altLang="zh-CN"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12</a:t>
                      </a:r>
                      <a:r>
                        <a:rPr kumimoji="0" lang="en-US" altLang="zh-CN"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mm</a:t>
                      </a:r>
                      <a:endParaRPr kumimoji="0" lang="en-US" altLang="zh-CN"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11834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飞溅润滑</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采用不漏油的外壳，在链轮侧边安装甩油盘，飞溅润滑，甩油盘圆周速度</a:t>
                      </a:r>
                      <a:r>
                        <a:rPr kumimoji="0" lang="en-US" altLang="zh-CN" sz="1800" b="0" i="1"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v</a:t>
                      </a: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3</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m/s</a:t>
                      </a: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。当链条宽度大于</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125mm</a:t>
                      </a: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时，链轮两侧各装一个甩油盘</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甩油盘浸油深度为</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12</a:t>
                      </a: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35</a:t>
                      </a:r>
                      <a:r>
                        <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mm</a:t>
                      </a:r>
                      <a:endParaRPr kumimoji="0" lang="en-US" altLang="zh-CN"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88759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rPr>
                        <a:t>压力供油</a:t>
                      </a:r>
                      <a:endParaRPr kumimoji="0" lang="zh-CN" altLang="en-US" sz="18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采用不漏油的外壳，油泵强制供油，喷油管口设在链条啮入处，循环油可起冷却作用</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rPr>
                        <a:t>每个喷油口供油量可根据链节距及链速大小查阅有关手册</a:t>
                      </a:r>
                      <a:endParaRPr kumimoji="0" lang="zh-CN" altLang="en-US" sz="18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blinds/>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3" name="Text Box 5"/>
          <p:cNvSpPr txBox="1">
            <a:spLocks noChangeArrowheads="1"/>
          </p:cNvSpPr>
          <p:nvPr/>
        </p:nvSpPr>
        <p:spPr bwMode="auto">
          <a:xfrm>
            <a:off x="395536" y="404664"/>
            <a:ext cx="4419600"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smtClean="0">
                <a:solidFill>
                  <a:srgbClr val="800000"/>
                </a:solidFill>
              </a:rPr>
              <a:t>1</a:t>
            </a:r>
            <a:r>
              <a:rPr lang="zh-CN" altLang="en-US" dirty="0" smtClean="0">
                <a:solidFill>
                  <a:srgbClr val="800000"/>
                </a:solidFill>
              </a:rPr>
              <a:t>、链传动</a:t>
            </a:r>
            <a:r>
              <a:rPr lang="zh-CN" altLang="en-US" dirty="0">
                <a:solidFill>
                  <a:srgbClr val="800000"/>
                </a:solidFill>
              </a:rPr>
              <a:t>主要参数的选择</a:t>
            </a:r>
            <a:endParaRPr lang="zh-CN" altLang="en-US" dirty="0">
              <a:solidFill>
                <a:srgbClr val="800000"/>
              </a:solidFill>
            </a:endParaRPr>
          </a:p>
        </p:txBody>
      </p:sp>
      <p:sp>
        <p:nvSpPr>
          <p:cNvPr id="524294" name="AutoShape 6"/>
          <p:cNvSpPr>
            <a:spLocks noChangeArrowheads="1"/>
          </p:cNvSpPr>
          <p:nvPr/>
        </p:nvSpPr>
        <p:spPr bwMode="auto">
          <a:xfrm>
            <a:off x="467544" y="980728"/>
            <a:ext cx="228600" cy="228600"/>
          </a:xfrm>
          <a:prstGeom prst="star4">
            <a:avLst>
              <a:gd name="adj" fmla="val 12500"/>
            </a:avLst>
          </a:prstGeom>
          <a:noFill/>
          <a:ln w="28575">
            <a:solidFill>
              <a:schemeClr val="accent2"/>
            </a:solidFill>
            <a:miter lim="800000"/>
          </a:ln>
          <a:effectLst>
            <a:prstShdw prst="shdw17" dist="17961" dir="2700000">
              <a:schemeClr val="accent2">
                <a:gamma/>
                <a:shade val="60000"/>
                <a:invGamma/>
              </a:schemeClr>
            </a:prstShdw>
          </a:effectLst>
          <a:extLst>
            <a:ext uri="{909E8E84-426E-40DD-AFC4-6F175D3DCCD1}">
              <a14:hiddenFill xmlns:a14="http://schemas.microsoft.com/office/drawing/2010/main">
                <a:solidFill>
                  <a:srgbClr val="FFCCFF"/>
                </a:solidFill>
              </a14:hiddenFill>
            </a:ext>
          </a:extLst>
        </p:spPr>
        <p:txBody>
          <a:bodyPr anchor="ctr">
            <a:spAutoFit/>
          </a:bodyPr>
          <a:lstStyle/>
          <a:p>
            <a:endParaRPr lang="zh-CN" altLang="en-US"/>
          </a:p>
        </p:txBody>
      </p:sp>
      <p:sp>
        <p:nvSpPr>
          <p:cNvPr id="524295" name="Text Box 7"/>
          <p:cNvSpPr txBox="1">
            <a:spLocks noChangeArrowheads="1"/>
          </p:cNvSpPr>
          <p:nvPr/>
        </p:nvSpPr>
        <p:spPr bwMode="auto">
          <a:xfrm>
            <a:off x="755576" y="908720"/>
            <a:ext cx="18288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A50021"/>
                </a:solidFill>
              </a:rPr>
              <a:t>链轮齿数</a:t>
            </a:r>
            <a:endParaRPr lang="zh-CN" altLang="en-US" dirty="0">
              <a:solidFill>
                <a:srgbClr val="A50021"/>
              </a:solidFill>
            </a:endParaRPr>
          </a:p>
        </p:txBody>
      </p:sp>
      <p:sp>
        <p:nvSpPr>
          <p:cNvPr id="524296" name="Text Box 8"/>
          <p:cNvSpPr txBox="1">
            <a:spLocks noChangeArrowheads="1"/>
          </p:cNvSpPr>
          <p:nvPr/>
        </p:nvSpPr>
        <p:spPr bwMode="auto">
          <a:xfrm>
            <a:off x="755576" y="1340768"/>
            <a:ext cx="34036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小链轮齿数 </a:t>
            </a:r>
            <a:r>
              <a:rPr lang="en-US" altLang="zh-CN" i="1" dirty="0"/>
              <a:t>z</a:t>
            </a:r>
            <a:r>
              <a:rPr lang="en-US" altLang="zh-CN" baseline="-25000" dirty="0"/>
              <a:t>1 </a:t>
            </a:r>
            <a:r>
              <a:rPr lang="zh-CN" altLang="en-US" dirty="0"/>
              <a:t>愈多，</a:t>
            </a:r>
            <a:endParaRPr lang="zh-CN" altLang="en-US" dirty="0"/>
          </a:p>
        </p:txBody>
      </p:sp>
      <p:sp>
        <p:nvSpPr>
          <p:cNvPr id="524297" name="Text Box 9"/>
          <p:cNvSpPr txBox="1">
            <a:spLocks noChangeArrowheads="1"/>
          </p:cNvSpPr>
          <p:nvPr/>
        </p:nvSpPr>
        <p:spPr bwMode="auto">
          <a:xfrm>
            <a:off x="3563888" y="1340768"/>
            <a:ext cx="42545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传动愈平稳，动载荷减小。</a:t>
            </a:r>
            <a:endParaRPr lang="zh-CN" altLang="en-US"/>
          </a:p>
        </p:txBody>
      </p:sp>
      <p:sp>
        <p:nvSpPr>
          <p:cNvPr id="524298" name="Text Box 10"/>
          <p:cNvSpPr txBox="1">
            <a:spLocks noChangeArrowheads="1"/>
          </p:cNvSpPr>
          <p:nvPr/>
        </p:nvSpPr>
        <p:spPr bwMode="auto">
          <a:xfrm>
            <a:off x="827584" y="1844824"/>
            <a:ext cx="27686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通常取 </a:t>
            </a:r>
            <a:r>
              <a:rPr lang="en-US" altLang="zh-CN" i="1" dirty="0"/>
              <a:t>z</a:t>
            </a:r>
            <a:r>
              <a:rPr lang="en-US" altLang="zh-CN" baseline="-25000" dirty="0"/>
              <a:t>1</a:t>
            </a:r>
            <a:r>
              <a:rPr lang="en-US" altLang="zh-CN" dirty="0"/>
              <a:t> ≥ 17</a:t>
            </a:r>
            <a:r>
              <a:rPr lang="zh-CN" altLang="en-US" dirty="0"/>
              <a:t>，</a:t>
            </a:r>
            <a:endParaRPr lang="zh-CN" altLang="en-US" dirty="0"/>
          </a:p>
        </p:txBody>
      </p:sp>
      <p:sp>
        <p:nvSpPr>
          <p:cNvPr id="524299" name="Text Box 11"/>
          <p:cNvSpPr txBox="1">
            <a:spLocks noChangeArrowheads="1"/>
          </p:cNvSpPr>
          <p:nvPr/>
        </p:nvSpPr>
        <p:spPr bwMode="auto">
          <a:xfrm>
            <a:off x="3059832" y="1844824"/>
            <a:ext cx="5842000"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且传动比 </a:t>
            </a:r>
            <a:r>
              <a:rPr lang="en-US" altLang="zh-CN" i="1" dirty="0" err="1"/>
              <a:t>i</a:t>
            </a:r>
            <a:r>
              <a:rPr lang="en-US" altLang="zh-CN" i="1" dirty="0"/>
              <a:t> </a:t>
            </a:r>
            <a:r>
              <a:rPr lang="zh-CN" altLang="en-US" dirty="0"/>
              <a:t>越小， </a:t>
            </a:r>
            <a:r>
              <a:rPr lang="en-US" altLang="zh-CN" i="1" dirty="0"/>
              <a:t>z</a:t>
            </a:r>
            <a:r>
              <a:rPr lang="en-US" altLang="zh-CN" baseline="-25000" dirty="0"/>
              <a:t>1</a:t>
            </a:r>
            <a:r>
              <a:rPr lang="zh-CN" altLang="en-US" dirty="0"/>
              <a:t>可越</a:t>
            </a:r>
            <a:r>
              <a:rPr lang="zh-CN" altLang="en-US" dirty="0" smtClean="0"/>
              <a:t>多。</a:t>
            </a:r>
            <a:endParaRPr lang="zh-CN" altLang="en-US" dirty="0"/>
          </a:p>
        </p:txBody>
      </p:sp>
      <p:sp>
        <p:nvSpPr>
          <p:cNvPr id="524300" name="Text Box 12"/>
          <p:cNvSpPr txBox="1">
            <a:spLocks noChangeArrowheads="1"/>
          </p:cNvSpPr>
          <p:nvPr/>
        </p:nvSpPr>
        <p:spPr bwMode="auto">
          <a:xfrm>
            <a:off x="755576" y="2348880"/>
            <a:ext cx="4351338"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大链轮齿数  </a:t>
            </a:r>
            <a:r>
              <a:rPr lang="en-US" altLang="zh-CN" i="1"/>
              <a:t>z</a:t>
            </a:r>
            <a:r>
              <a:rPr lang="en-US" altLang="zh-CN" baseline="-25000"/>
              <a:t>2 </a:t>
            </a:r>
            <a:r>
              <a:rPr lang="zh-CN" altLang="en-US"/>
              <a:t>＝ </a:t>
            </a:r>
            <a:r>
              <a:rPr lang="en-US" altLang="zh-CN" i="1"/>
              <a:t>i</a:t>
            </a:r>
            <a:r>
              <a:rPr lang="en-US" altLang="zh-CN"/>
              <a:t> </a:t>
            </a:r>
            <a:r>
              <a:rPr lang="en-US" altLang="zh-CN" i="1"/>
              <a:t>z</a:t>
            </a:r>
            <a:r>
              <a:rPr lang="en-US" altLang="zh-CN" baseline="-25000"/>
              <a:t>1</a:t>
            </a:r>
            <a:r>
              <a:rPr lang="en-US" altLang="zh-CN">
                <a:latin typeface="宋体" panose="02010600030101010101" pitchFamily="2" charset="-122"/>
                <a:ea typeface="宋体" panose="02010600030101010101" pitchFamily="2" charset="-122"/>
              </a:rPr>
              <a:t>(</a:t>
            </a:r>
            <a:r>
              <a:rPr lang="zh-CN" altLang="en-US"/>
              <a:t>圆整</a:t>
            </a:r>
            <a:r>
              <a:rPr lang="en-US" altLang="zh-CN">
                <a:latin typeface="宋体" panose="02010600030101010101" pitchFamily="2" charset="-122"/>
                <a:ea typeface="宋体" panose="02010600030101010101" pitchFamily="2" charset="-122"/>
              </a:rPr>
              <a:t>)</a:t>
            </a:r>
            <a:r>
              <a:rPr lang="zh-CN" altLang="en-US"/>
              <a:t>，</a:t>
            </a:r>
            <a:endParaRPr lang="zh-CN" altLang="en-US"/>
          </a:p>
        </p:txBody>
      </p:sp>
      <p:sp>
        <p:nvSpPr>
          <p:cNvPr id="524301" name="Text Box 13"/>
          <p:cNvSpPr txBox="1">
            <a:spLocks noChangeArrowheads="1"/>
          </p:cNvSpPr>
          <p:nvPr/>
        </p:nvSpPr>
        <p:spPr bwMode="auto">
          <a:xfrm>
            <a:off x="4644008" y="2348880"/>
            <a:ext cx="27178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常取  </a:t>
            </a:r>
            <a:r>
              <a:rPr lang="en-US" altLang="zh-CN" i="1"/>
              <a:t>z</a:t>
            </a:r>
            <a:r>
              <a:rPr lang="en-US" altLang="zh-CN" baseline="-25000"/>
              <a:t>2</a:t>
            </a:r>
            <a:r>
              <a:rPr lang="en-US" altLang="zh-CN"/>
              <a:t> ≤ 120</a:t>
            </a:r>
            <a:r>
              <a:rPr lang="zh-CN" altLang="en-US"/>
              <a:t>，</a:t>
            </a:r>
            <a:endParaRPr lang="zh-CN" altLang="en-US"/>
          </a:p>
        </p:txBody>
      </p:sp>
      <p:sp>
        <p:nvSpPr>
          <p:cNvPr id="524302" name="Text Box 14">
            <a:hlinkClick r:id="" action="ppaction://noaction" highlightClick="1"/>
          </p:cNvPr>
          <p:cNvSpPr txBox="1">
            <a:spLocks noChangeArrowheads="1"/>
          </p:cNvSpPr>
          <p:nvPr/>
        </p:nvSpPr>
        <p:spPr bwMode="auto">
          <a:xfrm>
            <a:off x="6876256" y="2348880"/>
            <a:ext cx="21097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r>
              <a:rPr lang="zh-CN" altLang="en-US">
                <a:hlinkClick r:id="rId1" action="ppaction://hlinkfile"/>
              </a:rPr>
              <a:t>以防止脱链</a:t>
            </a:r>
            <a:r>
              <a:rPr lang="zh-CN" altLang="en-US"/>
              <a:t>。</a:t>
            </a:r>
            <a:endParaRPr lang="zh-CN" altLang="en-US"/>
          </a:p>
        </p:txBody>
      </p:sp>
      <p:sp>
        <p:nvSpPr>
          <p:cNvPr id="524303" name="AutoShape 15"/>
          <p:cNvSpPr>
            <a:spLocks noChangeArrowheads="1"/>
          </p:cNvSpPr>
          <p:nvPr/>
        </p:nvSpPr>
        <p:spPr bwMode="auto">
          <a:xfrm>
            <a:off x="467544" y="3501008"/>
            <a:ext cx="228600" cy="228600"/>
          </a:xfrm>
          <a:prstGeom prst="star4">
            <a:avLst>
              <a:gd name="adj" fmla="val 12500"/>
            </a:avLst>
          </a:prstGeom>
          <a:noFill/>
          <a:ln w="28575">
            <a:solidFill>
              <a:schemeClr val="accent2"/>
            </a:solidFill>
            <a:miter lim="800000"/>
          </a:ln>
          <a:effectLst>
            <a:prstShdw prst="shdw17" dist="17961" dir="2700000">
              <a:schemeClr val="accent2">
                <a:gamma/>
                <a:shade val="60000"/>
                <a:invGamma/>
              </a:schemeClr>
            </a:prstShdw>
          </a:effectLst>
          <a:extLst>
            <a:ext uri="{909E8E84-426E-40DD-AFC4-6F175D3DCCD1}">
              <a14:hiddenFill xmlns:a14="http://schemas.microsoft.com/office/drawing/2010/main">
                <a:solidFill>
                  <a:srgbClr val="FFCCFF"/>
                </a:solidFill>
              </a14:hiddenFill>
            </a:ext>
          </a:extLst>
        </p:spPr>
        <p:txBody>
          <a:bodyPr anchor="ctr">
            <a:spAutoFit/>
          </a:bodyPr>
          <a:lstStyle/>
          <a:p>
            <a:endParaRPr lang="zh-CN" altLang="en-US"/>
          </a:p>
        </p:txBody>
      </p:sp>
      <p:sp>
        <p:nvSpPr>
          <p:cNvPr id="524304" name="Text Box 16"/>
          <p:cNvSpPr txBox="1">
            <a:spLocks noChangeArrowheads="1"/>
          </p:cNvSpPr>
          <p:nvPr/>
        </p:nvSpPr>
        <p:spPr bwMode="auto">
          <a:xfrm>
            <a:off x="755576" y="3356992"/>
            <a:ext cx="13716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A50021"/>
                </a:solidFill>
              </a:rPr>
              <a:t>节距 </a:t>
            </a:r>
            <a:r>
              <a:rPr lang="en-US" altLang="zh-CN" i="1" dirty="0">
                <a:solidFill>
                  <a:srgbClr val="A50021"/>
                </a:solidFill>
              </a:rPr>
              <a:t>p</a:t>
            </a:r>
            <a:endParaRPr lang="en-US" altLang="zh-CN" i="1" dirty="0">
              <a:solidFill>
                <a:srgbClr val="A50021"/>
              </a:solidFill>
            </a:endParaRPr>
          </a:p>
        </p:txBody>
      </p:sp>
      <p:sp>
        <p:nvSpPr>
          <p:cNvPr id="524305" name="Text Box 17"/>
          <p:cNvSpPr txBox="1">
            <a:spLocks noChangeArrowheads="1"/>
          </p:cNvSpPr>
          <p:nvPr/>
        </p:nvSpPr>
        <p:spPr bwMode="auto">
          <a:xfrm>
            <a:off x="755576" y="3933056"/>
            <a:ext cx="47244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节距 </a:t>
            </a:r>
            <a:r>
              <a:rPr lang="en-US" altLang="zh-CN" i="1" dirty="0"/>
              <a:t>p </a:t>
            </a:r>
            <a:r>
              <a:rPr lang="zh-CN" altLang="en-US" dirty="0"/>
              <a:t>越大，承载能力越大。</a:t>
            </a:r>
            <a:endParaRPr lang="zh-CN" altLang="en-US" dirty="0"/>
          </a:p>
        </p:txBody>
      </p:sp>
      <p:sp>
        <p:nvSpPr>
          <p:cNvPr id="524306" name="Text Box 18"/>
          <p:cNvSpPr txBox="1">
            <a:spLocks noChangeArrowheads="1"/>
          </p:cNvSpPr>
          <p:nvPr/>
        </p:nvSpPr>
        <p:spPr bwMode="auto">
          <a:xfrm>
            <a:off x="755576" y="4293096"/>
            <a:ext cx="75438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但 </a:t>
            </a:r>
            <a:r>
              <a:rPr lang="en-US" altLang="zh-CN" i="1" dirty="0"/>
              <a:t>p </a:t>
            </a:r>
            <a:r>
              <a:rPr lang="zh-CN" altLang="en-US" dirty="0"/>
              <a:t>过大，运动越不均匀，冲击越大，且结构庞大。</a:t>
            </a:r>
            <a:endParaRPr lang="zh-CN" altLang="en-US" dirty="0"/>
          </a:p>
        </p:txBody>
      </p:sp>
      <p:sp>
        <p:nvSpPr>
          <p:cNvPr id="524307" name="Text Box 19"/>
          <p:cNvSpPr txBox="1">
            <a:spLocks noChangeArrowheads="1"/>
          </p:cNvSpPr>
          <p:nvPr/>
        </p:nvSpPr>
        <p:spPr bwMode="auto">
          <a:xfrm>
            <a:off x="755576" y="4725144"/>
            <a:ext cx="61849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所以，</a:t>
            </a:r>
            <a:r>
              <a:rPr lang="zh-CN" altLang="en-US" dirty="0">
                <a:solidFill>
                  <a:srgbClr val="FF0000"/>
                </a:solidFill>
                <a:effectLst>
                  <a:outerShdw blurRad="38100" dist="38100" dir="2700000" algn="tl">
                    <a:srgbClr val="C0C0C0"/>
                  </a:outerShdw>
                </a:effectLst>
              </a:rPr>
              <a:t>高速重载时，宜选小节距多排链；</a:t>
            </a:r>
            <a:endParaRPr lang="zh-CN" altLang="en-US" dirty="0">
              <a:solidFill>
                <a:srgbClr val="FF0000"/>
              </a:solidFill>
              <a:effectLst>
                <a:outerShdw blurRad="38100" dist="38100" dir="2700000" algn="tl">
                  <a:srgbClr val="C0C0C0"/>
                </a:outerShdw>
              </a:effectLst>
            </a:endParaRPr>
          </a:p>
        </p:txBody>
      </p:sp>
      <p:sp>
        <p:nvSpPr>
          <p:cNvPr id="524308" name="Text Box 20"/>
          <p:cNvSpPr txBox="1">
            <a:spLocks noChangeArrowheads="1"/>
          </p:cNvSpPr>
          <p:nvPr/>
        </p:nvSpPr>
        <p:spPr bwMode="auto">
          <a:xfrm>
            <a:off x="1691680" y="5157192"/>
            <a:ext cx="50292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FF0000"/>
                </a:solidFill>
                <a:effectLst>
                  <a:outerShdw blurRad="38100" dist="38100" dir="2700000" algn="tl">
                    <a:srgbClr val="C0C0C0"/>
                  </a:outerShdw>
                </a:effectLst>
              </a:rPr>
              <a:t>低速重载时，宜选大节距单排链</a:t>
            </a:r>
            <a:endParaRPr lang="zh-CN" altLang="en-US">
              <a:solidFill>
                <a:srgbClr val="FF0000"/>
              </a:solidFill>
              <a:effectLst>
                <a:outerShdw blurRad="38100" dist="38100" dir="2700000" algn="tl">
                  <a:srgbClr val="C0C0C0"/>
                </a:outerShdw>
              </a:effectLst>
            </a:endParaRPr>
          </a:p>
        </p:txBody>
      </p:sp>
      <p:sp>
        <p:nvSpPr>
          <p:cNvPr id="524309" name="AutoShape 21"/>
          <p:cNvSpPr>
            <a:spLocks noChangeArrowheads="1"/>
          </p:cNvSpPr>
          <p:nvPr/>
        </p:nvSpPr>
        <p:spPr bwMode="auto">
          <a:xfrm>
            <a:off x="395536" y="5733256"/>
            <a:ext cx="228600" cy="228600"/>
          </a:xfrm>
          <a:prstGeom prst="star4">
            <a:avLst>
              <a:gd name="adj" fmla="val 12500"/>
            </a:avLst>
          </a:prstGeom>
          <a:noFill/>
          <a:ln w="28575">
            <a:solidFill>
              <a:schemeClr val="accent2"/>
            </a:solidFill>
            <a:miter lim="800000"/>
          </a:ln>
          <a:effectLst>
            <a:prstShdw prst="shdw17" dist="17961" dir="2700000">
              <a:schemeClr val="accent2">
                <a:gamma/>
                <a:shade val="60000"/>
                <a:invGamma/>
              </a:schemeClr>
            </a:prstShdw>
          </a:effectLst>
          <a:extLst>
            <a:ext uri="{909E8E84-426E-40DD-AFC4-6F175D3DCCD1}">
              <a14:hiddenFill xmlns:a14="http://schemas.microsoft.com/office/drawing/2010/main">
                <a:solidFill>
                  <a:srgbClr val="FFCCFF"/>
                </a:solidFill>
              </a14:hiddenFill>
            </a:ext>
          </a:extLst>
        </p:spPr>
        <p:txBody>
          <a:bodyPr anchor="ctr">
            <a:spAutoFit/>
          </a:bodyPr>
          <a:lstStyle/>
          <a:p>
            <a:endParaRPr lang="zh-CN" altLang="en-US"/>
          </a:p>
        </p:txBody>
      </p:sp>
      <p:sp>
        <p:nvSpPr>
          <p:cNvPr id="524310" name="Text Box 22"/>
          <p:cNvSpPr txBox="1">
            <a:spLocks noChangeArrowheads="1"/>
          </p:cNvSpPr>
          <p:nvPr/>
        </p:nvSpPr>
        <p:spPr bwMode="auto">
          <a:xfrm>
            <a:off x="755576" y="5661248"/>
            <a:ext cx="16764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A50021"/>
                </a:solidFill>
              </a:rPr>
              <a:t>中心距 </a:t>
            </a:r>
            <a:r>
              <a:rPr lang="en-US" altLang="zh-CN" i="1" dirty="0">
                <a:solidFill>
                  <a:srgbClr val="A50021"/>
                </a:solidFill>
              </a:rPr>
              <a:t>a</a:t>
            </a:r>
            <a:endParaRPr lang="en-US" altLang="zh-CN" i="1" dirty="0">
              <a:solidFill>
                <a:srgbClr val="A50021"/>
              </a:solidFill>
            </a:endParaRPr>
          </a:p>
        </p:txBody>
      </p:sp>
      <p:sp>
        <p:nvSpPr>
          <p:cNvPr id="524311" name="Text Box 23"/>
          <p:cNvSpPr txBox="1">
            <a:spLocks noChangeArrowheads="1"/>
          </p:cNvSpPr>
          <p:nvPr/>
        </p:nvSpPr>
        <p:spPr bwMode="auto">
          <a:xfrm>
            <a:off x="2339752" y="6093296"/>
            <a:ext cx="33528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常取 </a:t>
            </a:r>
            <a:r>
              <a:rPr lang="en-US" altLang="zh-CN" i="1" dirty="0"/>
              <a:t>a </a:t>
            </a:r>
            <a:r>
              <a:rPr lang="zh-CN" altLang="en-US" dirty="0"/>
              <a:t>＝（</a:t>
            </a:r>
            <a:r>
              <a:rPr lang="en-US" altLang="zh-CN" dirty="0"/>
              <a:t>30</a:t>
            </a:r>
            <a:r>
              <a:rPr lang="zh-CN" altLang="en-US" dirty="0"/>
              <a:t>～</a:t>
            </a:r>
            <a:r>
              <a:rPr lang="en-US" altLang="zh-CN" dirty="0"/>
              <a:t>50</a:t>
            </a:r>
            <a:r>
              <a:rPr lang="zh-CN" altLang="en-US" dirty="0"/>
              <a:t>）</a:t>
            </a:r>
            <a:r>
              <a:rPr lang="en-US" altLang="zh-CN" i="1" dirty="0"/>
              <a:t>p</a:t>
            </a:r>
            <a:endParaRPr lang="en-US" altLang="zh-CN" dirty="0"/>
          </a:p>
        </p:txBody>
      </p:sp>
      <p:sp>
        <p:nvSpPr>
          <p:cNvPr id="524312" name="Text Box 24"/>
          <p:cNvSpPr txBox="1">
            <a:spLocks noChangeArrowheads="1"/>
          </p:cNvSpPr>
          <p:nvPr/>
        </p:nvSpPr>
        <p:spPr bwMode="auto">
          <a:xfrm>
            <a:off x="755576" y="2852936"/>
            <a:ext cx="7696200" cy="4308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因链节数常取偶数，故</a:t>
            </a:r>
            <a:r>
              <a:rPr lang="zh-CN" altLang="en-US" dirty="0">
                <a:solidFill>
                  <a:srgbClr val="A50021"/>
                </a:solidFill>
                <a:effectLst>
                  <a:outerShdw blurRad="38100" dist="38100" dir="2700000" algn="tl">
                    <a:srgbClr val="C0C0C0"/>
                  </a:outerShdw>
                </a:effectLst>
              </a:rPr>
              <a:t>齿数常取奇数</a:t>
            </a:r>
            <a:r>
              <a:rPr lang="zh-CN" altLang="en-US" dirty="0"/>
              <a:t>，使磨损均匀。</a:t>
            </a:r>
            <a:endParaRPr lang="zh-CN" altLang="en-US" dirty="0"/>
          </a:p>
        </p:txBody>
      </p:sp>
      <p:sp>
        <p:nvSpPr>
          <p:cNvPr id="524313" name="Text Box 25"/>
          <p:cNvSpPr txBox="1">
            <a:spLocks noChangeArrowheads="1"/>
          </p:cNvSpPr>
          <p:nvPr/>
        </p:nvSpPr>
        <p:spPr bwMode="auto">
          <a:xfrm>
            <a:off x="2339752" y="5661248"/>
            <a:ext cx="5233987"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 </a:t>
            </a:r>
            <a:r>
              <a:rPr lang="en-US" altLang="zh-CN" i="1"/>
              <a:t>a </a:t>
            </a:r>
            <a:r>
              <a:rPr lang="zh-CN" altLang="en-US"/>
              <a:t>过小，易疲劳；过大，易抖动。</a:t>
            </a:r>
            <a:endParaRPr lang="zh-CN" altLang="en-US"/>
          </a:p>
        </p:txBody>
      </p:sp>
      <p:sp>
        <p:nvSpPr>
          <p:cNvPr id="524314" name="Text Box 26"/>
          <p:cNvSpPr txBox="1">
            <a:spLocks noChangeArrowheads="1"/>
          </p:cNvSpPr>
          <p:nvPr/>
        </p:nvSpPr>
        <p:spPr bwMode="auto">
          <a:xfrm>
            <a:off x="5796136" y="6021288"/>
            <a:ext cx="20574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 </a:t>
            </a:r>
            <a:r>
              <a:rPr lang="en-US" altLang="zh-CN" i="1"/>
              <a:t>a</a:t>
            </a:r>
            <a:r>
              <a:rPr lang="en-US" altLang="zh-CN" baseline="-25000"/>
              <a:t>max</a:t>
            </a:r>
            <a:r>
              <a:rPr lang="en-US" altLang="zh-CN" i="1"/>
              <a:t> </a:t>
            </a:r>
            <a:r>
              <a:rPr lang="en-US" altLang="zh-CN"/>
              <a:t>≤ 80</a:t>
            </a:r>
            <a:r>
              <a:rPr lang="en-US" altLang="zh-CN" i="1"/>
              <a:t>p</a:t>
            </a:r>
            <a:endParaRPr lang="en-US" altLang="zh-CN" i="1"/>
          </a:p>
        </p:txBody>
      </p:sp>
      <p:graphicFrame>
        <p:nvGraphicFramePr>
          <p:cNvPr id="524315" name="Object 27"/>
          <p:cNvGraphicFramePr>
            <a:graphicFrameLocks noChangeAspect="1"/>
          </p:cNvGraphicFramePr>
          <p:nvPr/>
        </p:nvGraphicFramePr>
        <p:xfrm>
          <a:off x="6516216" y="548680"/>
          <a:ext cx="2187575" cy="819150"/>
        </p:xfrm>
        <a:graphic>
          <a:graphicData uri="http://schemas.openxmlformats.org/presentationml/2006/ole">
            <mc:AlternateContent xmlns:mc="http://schemas.openxmlformats.org/markup-compatibility/2006">
              <mc:Choice xmlns:v="urn:schemas-microsoft-com:vml" Requires="v">
                <p:oleObj spid="_x0000_s15393" name="公式" r:id="rId2" imgW="1099820" imgH="370205" progId="Equation.3">
                  <p:embed/>
                </p:oleObj>
              </mc:Choice>
              <mc:Fallback>
                <p:oleObj name="公式" r:id="rId2" imgW="1099820" imgH="370205" progId="Equation.3">
                  <p:embed/>
                  <p:pic>
                    <p:nvPicPr>
                      <p:cNvPr id="0" name="图片 153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548680"/>
                        <a:ext cx="218757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文本框 1"/>
          <p:cNvSpPr txBox="1"/>
          <p:nvPr/>
        </p:nvSpPr>
        <p:spPr>
          <a:xfrm>
            <a:off x="3995936" y="116632"/>
            <a:ext cx="1584176" cy="46166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wrap="square" rtlCol="0">
            <a:spAutoFit/>
          </a:bodyPr>
          <a:lstStyle/>
          <a:p>
            <a:pPr algn="ctr"/>
            <a:r>
              <a:rPr lang="zh-CN" altLang="en-US" sz="2400" dirty="0" smtClean="0">
                <a:solidFill>
                  <a:srgbClr val="FF0000"/>
                </a:solidFill>
                <a:latin typeface="黑体" panose="02010609060101010101" pitchFamily="49" charset="-122"/>
                <a:ea typeface="黑体" panose="02010609060101010101" pitchFamily="49" charset="-122"/>
              </a:rPr>
              <a:t>小结</a:t>
            </a:r>
            <a:endParaRPr lang="zh-CN" altLang="en-US" sz="240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4293"/>
                                        </p:tgtEl>
                                        <p:attrNameLst>
                                          <p:attrName>style.visibility</p:attrName>
                                        </p:attrNameLst>
                                      </p:cBhvr>
                                      <p:to>
                                        <p:strVal val="visible"/>
                                      </p:to>
                                    </p:set>
                                    <p:animEffect transition="in" filter="wipe(left)">
                                      <p:cBhvr>
                                        <p:cTn id="7" dur="500"/>
                                        <p:tgtEl>
                                          <p:spTgt spid="52429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24294"/>
                                        </p:tgtEl>
                                        <p:attrNameLst>
                                          <p:attrName>style.visibility</p:attrName>
                                        </p:attrNameLst>
                                      </p:cBhvr>
                                      <p:to>
                                        <p:strVal val="visible"/>
                                      </p:to>
                                    </p:set>
                                    <p:animEffect transition="in" filter="slide(fromTop)">
                                      <p:cBhvr>
                                        <p:cTn id="12" dur="500"/>
                                        <p:tgtEl>
                                          <p:spTgt spid="524294"/>
                                        </p:tgtEl>
                                      </p:cBhvr>
                                    </p:animEffect>
                                  </p:childTnLst>
                                </p:cTn>
                              </p:par>
                            </p:childTnLst>
                          </p:cTn>
                        </p:par>
                        <p:par>
                          <p:cTn id="13" fill="hold">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524295"/>
                                        </p:tgtEl>
                                        <p:attrNameLst>
                                          <p:attrName>style.visibility</p:attrName>
                                        </p:attrNameLst>
                                      </p:cBhvr>
                                      <p:to>
                                        <p:strVal val="visible"/>
                                      </p:to>
                                    </p:set>
                                    <p:animEffect transition="in" filter="slide(fromLeft)">
                                      <p:cBhvr>
                                        <p:cTn id="16" dur="500"/>
                                        <p:tgtEl>
                                          <p:spTgt spid="52429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24296"/>
                                        </p:tgtEl>
                                        <p:attrNameLst>
                                          <p:attrName>style.visibility</p:attrName>
                                        </p:attrNameLst>
                                      </p:cBhvr>
                                      <p:to>
                                        <p:strVal val="visible"/>
                                      </p:to>
                                    </p:set>
                                    <p:animEffect transition="in" filter="wipe(left)">
                                      <p:cBhvr>
                                        <p:cTn id="21" dur="500"/>
                                        <p:tgtEl>
                                          <p:spTgt spid="52429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24297"/>
                                        </p:tgtEl>
                                        <p:attrNameLst>
                                          <p:attrName>style.visibility</p:attrName>
                                        </p:attrNameLst>
                                      </p:cBhvr>
                                      <p:to>
                                        <p:strVal val="visible"/>
                                      </p:to>
                                    </p:set>
                                    <p:animEffect transition="in" filter="wipe(left)">
                                      <p:cBhvr>
                                        <p:cTn id="26" dur="500"/>
                                        <p:tgtEl>
                                          <p:spTgt spid="52429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24298"/>
                                        </p:tgtEl>
                                        <p:attrNameLst>
                                          <p:attrName>style.visibility</p:attrName>
                                        </p:attrNameLst>
                                      </p:cBhvr>
                                      <p:to>
                                        <p:strVal val="visible"/>
                                      </p:to>
                                    </p:set>
                                    <p:animEffect transition="in" filter="wipe(left)">
                                      <p:cBhvr>
                                        <p:cTn id="31" dur="500"/>
                                        <p:tgtEl>
                                          <p:spTgt spid="52429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24299"/>
                                        </p:tgtEl>
                                        <p:attrNameLst>
                                          <p:attrName>style.visibility</p:attrName>
                                        </p:attrNameLst>
                                      </p:cBhvr>
                                      <p:to>
                                        <p:strVal val="visible"/>
                                      </p:to>
                                    </p:set>
                                    <p:animEffect transition="in" filter="wipe(left)">
                                      <p:cBhvr>
                                        <p:cTn id="36" dur="500"/>
                                        <p:tgtEl>
                                          <p:spTgt spid="52429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24300"/>
                                        </p:tgtEl>
                                        <p:attrNameLst>
                                          <p:attrName>style.visibility</p:attrName>
                                        </p:attrNameLst>
                                      </p:cBhvr>
                                      <p:to>
                                        <p:strVal val="visible"/>
                                      </p:to>
                                    </p:set>
                                    <p:animEffect transition="in" filter="wipe(left)">
                                      <p:cBhvr>
                                        <p:cTn id="41" dur="500"/>
                                        <p:tgtEl>
                                          <p:spTgt spid="52430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4301"/>
                                        </p:tgtEl>
                                        <p:attrNameLst>
                                          <p:attrName>style.visibility</p:attrName>
                                        </p:attrNameLst>
                                      </p:cBhvr>
                                      <p:to>
                                        <p:strVal val="visible"/>
                                      </p:to>
                                    </p:set>
                                    <p:animEffect transition="in" filter="wipe(left)">
                                      <p:cBhvr>
                                        <p:cTn id="46" dur="500"/>
                                        <p:tgtEl>
                                          <p:spTgt spid="52430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24302"/>
                                        </p:tgtEl>
                                        <p:attrNameLst>
                                          <p:attrName>style.visibility</p:attrName>
                                        </p:attrNameLst>
                                      </p:cBhvr>
                                      <p:to>
                                        <p:strVal val="visible"/>
                                      </p:to>
                                    </p:set>
                                    <p:animEffect transition="in" filter="wipe(left)">
                                      <p:cBhvr>
                                        <p:cTn id="51" dur="500"/>
                                        <p:tgtEl>
                                          <p:spTgt spid="52430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24315"/>
                                        </p:tgtEl>
                                        <p:attrNameLst>
                                          <p:attrName>style.visibility</p:attrName>
                                        </p:attrNameLst>
                                      </p:cBhvr>
                                      <p:to>
                                        <p:strVal val="visible"/>
                                      </p:to>
                                    </p:set>
                                    <p:animEffect transition="in" filter="wipe(left)">
                                      <p:cBhvr>
                                        <p:cTn id="56" dur="500"/>
                                        <p:tgtEl>
                                          <p:spTgt spid="5243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524312"/>
                                        </p:tgtEl>
                                        <p:attrNameLst>
                                          <p:attrName>style.visibility</p:attrName>
                                        </p:attrNameLst>
                                      </p:cBhvr>
                                      <p:to>
                                        <p:strVal val="visible"/>
                                      </p:to>
                                    </p:set>
                                    <p:animEffect transition="in" filter="wipe(left)">
                                      <p:cBhvr>
                                        <p:cTn id="61" dur="500"/>
                                        <p:tgtEl>
                                          <p:spTgt spid="524312"/>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1" fill="hold" grpId="0" nodeType="clickEffect">
                                  <p:stCondLst>
                                    <p:cond delay="0"/>
                                  </p:stCondLst>
                                  <p:childTnLst>
                                    <p:set>
                                      <p:cBhvr>
                                        <p:cTn id="65" dur="1" fill="hold">
                                          <p:stCondLst>
                                            <p:cond delay="0"/>
                                          </p:stCondLst>
                                        </p:cTn>
                                        <p:tgtEl>
                                          <p:spTgt spid="524303"/>
                                        </p:tgtEl>
                                        <p:attrNameLst>
                                          <p:attrName>style.visibility</p:attrName>
                                        </p:attrNameLst>
                                      </p:cBhvr>
                                      <p:to>
                                        <p:strVal val="visible"/>
                                      </p:to>
                                    </p:set>
                                    <p:animEffect transition="in" filter="slide(fromTop)">
                                      <p:cBhvr>
                                        <p:cTn id="66" dur="500"/>
                                        <p:tgtEl>
                                          <p:spTgt spid="524303"/>
                                        </p:tgtEl>
                                      </p:cBhvr>
                                    </p:animEffect>
                                  </p:childTnLst>
                                </p:cTn>
                              </p:par>
                            </p:childTnLst>
                          </p:cTn>
                        </p:par>
                        <p:par>
                          <p:cTn id="67" fill="hold">
                            <p:stCondLst>
                              <p:cond delay="500"/>
                            </p:stCondLst>
                            <p:childTnLst>
                              <p:par>
                                <p:cTn id="68" presetID="12" presetClass="entr" presetSubtype="8" fill="hold" grpId="0" nodeType="afterEffect">
                                  <p:stCondLst>
                                    <p:cond delay="0"/>
                                  </p:stCondLst>
                                  <p:childTnLst>
                                    <p:set>
                                      <p:cBhvr>
                                        <p:cTn id="69" dur="1" fill="hold">
                                          <p:stCondLst>
                                            <p:cond delay="0"/>
                                          </p:stCondLst>
                                        </p:cTn>
                                        <p:tgtEl>
                                          <p:spTgt spid="524304"/>
                                        </p:tgtEl>
                                        <p:attrNameLst>
                                          <p:attrName>style.visibility</p:attrName>
                                        </p:attrNameLst>
                                      </p:cBhvr>
                                      <p:to>
                                        <p:strVal val="visible"/>
                                      </p:to>
                                    </p:set>
                                    <p:animEffect transition="in" filter="slide(fromLeft)">
                                      <p:cBhvr>
                                        <p:cTn id="70" dur="500"/>
                                        <p:tgtEl>
                                          <p:spTgt spid="52430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524305"/>
                                        </p:tgtEl>
                                        <p:attrNameLst>
                                          <p:attrName>style.visibility</p:attrName>
                                        </p:attrNameLst>
                                      </p:cBhvr>
                                      <p:to>
                                        <p:strVal val="visible"/>
                                      </p:to>
                                    </p:set>
                                    <p:animEffect transition="in" filter="wipe(left)">
                                      <p:cBhvr>
                                        <p:cTn id="75" dur="500"/>
                                        <p:tgtEl>
                                          <p:spTgt spid="52430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524306"/>
                                        </p:tgtEl>
                                        <p:attrNameLst>
                                          <p:attrName>style.visibility</p:attrName>
                                        </p:attrNameLst>
                                      </p:cBhvr>
                                      <p:to>
                                        <p:strVal val="visible"/>
                                      </p:to>
                                    </p:set>
                                    <p:animEffect transition="in" filter="wipe(left)">
                                      <p:cBhvr>
                                        <p:cTn id="80" dur="500"/>
                                        <p:tgtEl>
                                          <p:spTgt spid="52430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524307"/>
                                        </p:tgtEl>
                                        <p:attrNameLst>
                                          <p:attrName>style.visibility</p:attrName>
                                        </p:attrNameLst>
                                      </p:cBhvr>
                                      <p:to>
                                        <p:strVal val="visible"/>
                                      </p:to>
                                    </p:set>
                                    <p:animEffect transition="in" filter="wipe(left)">
                                      <p:cBhvr>
                                        <p:cTn id="85" dur="500"/>
                                        <p:tgtEl>
                                          <p:spTgt spid="52430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524308"/>
                                        </p:tgtEl>
                                        <p:attrNameLst>
                                          <p:attrName>style.visibility</p:attrName>
                                        </p:attrNameLst>
                                      </p:cBhvr>
                                      <p:to>
                                        <p:strVal val="visible"/>
                                      </p:to>
                                    </p:set>
                                    <p:animEffect transition="in" filter="wipe(left)">
                                      <p:cBhvr>
                                        <p:cTn id="90" dur="500"/>
                                        <p:tgtEl>
                                          <p:spTgt spid="524308"/>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grpId="0" nodeType="clickEffect">
                                  <p:stCondLst>
                                    <p:cond delay="0"/>
                                  </p:stCondLst>
                                  <p:childTnLst>
                                    <p:set>
                                      <p:cBhvr>
                                        <p:cTn id="94" dur="1" fill="hold">
                                          <p:stCondLst>
                                            <p:cond delay="0"/>
                                          </p:stCondLst>
                                        </p:cTn>
                                        <p:tgtEl>
                                          <p:spTgt spid="524309"/>
                                        </p:tgtEl>
                                        <p:attrNameLst>
                                          <p:attrName>style.visibility</p:attrName>
                                        </p:attrNameLst>
                                      </p:cBhvr>
                                      <p:to>
                                        <p:strVal val="visible"/>
                                      </p:to>
                                    </p:set>
                                    <p:animEffect transition="in" filter="slide(fromTop)">
                                      <p:cBhvr>
                                        <p:cTn id="95" dur="500"/>
                                        <p:tgtEl>
                                          <p:spTgt spid="524309"/>
                                        </p:tgtEl>
                                      </p:cBhvr>
                                    </p:animEffect>
                                  </p:childTnLst>
                                </p:cTn>
                              </p:par>
                            </p:childTnLst>
                          </p:cTn>
                        </p:par>
                        <p:par>
                          <p:cTn id="96" fill="hold">
                            <p:stCondLst>
                              <p:cond delay="500"/>
                            </p:stCondLst>
                            <p:childTnLst>
                              <p:par>
                                <p:cTn id="97" presetID="12" presetClass="entr" presetSubtype="8" fill="hold" grpId="0" nodeType="afterEffect">
                                  <p:stCondLst>
                                    <p:cond delay="0"/>
                                  </p:stCondLst>
                                  <p:childTnLst>
                                    <p:set>
                                      <p:cBhvr>
                                        <p:cTn id="98" dur="1" fill="hold">
                                          <p:stCondLst>
                                            <p:cond delay="0"/>
                                          </p:stCondLst>
                                        </p:cTn>
                                        <p:tgtEl>
                                          <p:spTgt spid="524310"/>
                                        </p:tgtEl>
                                        <p:attrNameLst>
                                          <p:attrName>style.visibility</p:attrName>
                                        </p:attrNameLst>
                                      </p:cBhvr>
                                      <p:to>
                                        <p:strVal val="visible"/>
                                      </p:to>
                                    </p:set>
                                    <p:animEffect transition="in" filter="slide(fromLeft)">
                                      <p:cBhvr>
                                        <p:cTn id="99" dur="500"/>
                                        <p:tgtEl>
                                          <p:spTgt spid="524310"/>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524313"/>
                                        </p:tgtEl>
                                        <p:attrNameLst>
                                          <p:attrName>style.visibility</p:attrName>
                                        </p:attrNameLst>
                                      </p:cBhvr>
                                      <p:to>
                                        <p:strVal val="visible"/>
                                      </p:to>
                                    </p:set>
                                    <p:animEffect transition="in" filter="wipe(left)">
                                      <p:cBhvr>
                                        <p:cTn id="104" dur="500"/>
                                        <p:tgtEl>
                                          <p:spTgt spid="524313"/>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524311"/>
                                        </p:tgtEl>
                                        <p:attrNameLst>
                                          <p:attrName>style.visibility</p:attrName>
                                        </p:attrNameLst>
                                      </p:cBhvr>
                                      <p:to>
                                        <p:strVal val="visible"/>
                                      </p:to>
                                    </p:set>
                                    <p:animEffect transition="in" filter="wipe(left)">
                                      <p:cBhvr>
                                        <p:cTn id="109" dur="500"/>
                                        <p:tgtEl>
                                          <p:spTgt spid="52431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524314"/>
                                        </p:tgtEl>
                                        <p:attrNameLst>
                                          <p:attrName>style.visibility</p:attrName>
                                        </p:attrNameLst>
                                      </p:cBhvr>
                                      <p:to>
                                        <p:strVal val="visible"/>
                                      </p:to>
                                    </p:set>
                                    <p:animEffect transition="in" filter="wipe(left)">
                                      <p:cBhvr>
                                        <p:cTn id="114" dur="500"/>
                                        <p:tgtEl>
                                          <p:spTgt spid="524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3" grpId="0" autoUpdateAnimBg="0"/>
      <p:bldP spid="524294" grpId="0" animBg="1"/>
      <p:bldP spid="524295" grpId="0" autoUpdateAnimBg="0"/>
      <p:bldP spid="524296" grpId="0" autoUpdateAnimBg="0"/>
      <p:bldP spid="524297" grpId="0" autoUpdateAnimBg="0"/>
      <p:bldP spid="524298" grpId="0" autoUpdateAnimBg="0"/>
      <p:bldP spid="524299" grpId="0" autoUpdateAnimBg="0"/>
      <p:bldP spid="524300" grpId="0" autoUpdateAnimBg="0"/>
      <p:bldP spid="524301" grpId="0" autoUpdateAnimBg="0"/>
      <p:bldP spid="524302" grpId="0" autoUpdateAnimBg="0"/>
      <p:bldP spid="524303" grpId="0" animBg="1"/>
      <p:bldP spid="524304" grpId="0" autoUpdateAnimBg="0"/>
      <p:bldP spid="524305" grpId="0" autoUpdateAnimBg="0"/>
      <p:bldP spid="524306" grpId="0" autoUpdateAnimBg="0"/>
      <p:bldP spid="524307" grpId="0" autoUpdateAnimBg="0"/>
      <p:bldP spid="524308" grpId="0" autoUpdateAnimBg="0"/>
      <p:bldP spid="524309" grpId="0" animBg="1"/>
      <p:bldP spid="524310" grpId="0" autoUpdateAnimBg="0"/>
      <p:bldP spid="524311" grpId="0" autoUpdateAnimBg="0"/>
      <p:bldP spid="524312" grpId="0" autoUpdateAnimBg="0"/>
      <p:bldP spid="524313" grpId="0" autoUpdateAnimBg="0"/>
      <p:bldP spid="524314"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6341" name="Object 5"/>
          <p:cNvGraphicFramePr>
            <a:graphicFrameLocks noChangeAspect="1"/>
          </p:cNvGraphicFramePr>
          <p:nvPr/>
        </p:nvGraphicFramePr>
        <p:xfrm>
          <a:off x="5748338" y="361950"/>
          <a:ext cx="2625725" cy="965200"/>
        </p:xfrm>
        <a:graphic>
          <a:graphicData uri="http://schemas.openxmlformats.org/presentationml/2006/ole">
            <mc:AlternateContent xmlns:mc="http://schemas.openxmlformats.org/markup-compatibility/2006">
              <mc:Choice xmlns:v="urn:schemas-microsoft-com:vml" Requires="v">
                <p:oleObj spid="_x0000_s16415" name="Equation" r:id="rId1" imgW="1117600" imgH="431800" progId="Equation.3">
                  <p:embed/>
                </p:oleObj>
              </mc:Choice>
              <mc:Fallback>
                <p:oleObj name="Equation" r:id="rId1" imgW="1117600" imgH="431800" progId="Equation.3">
                  <p:embed/>
                  <p:pic>
                    <p:nvPicPr>
                      <p:cNvPr id="0" name="图片 164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8338" y="361950"/>
                        <a:ext cx="2625725" cy="965200"/>
                      </a:xfrm>
                      <a:prstGeom prst="rect">
                        <a:avLst/>
                      </a:prstGeom>
                      <a:solidFill>
                        <a:srgbClr val="00B0F0"/>
                      </a:solidFill>
                      <a:ln>
                        <a:noFill/>
                      </a:ln>
                      <a:effectLst>
                        <a:outerShdw dist="107763" dir="2700000" algn="ctr" rotWithShape="0">
                          <a:srgbClr val="808080"/>
                        </a:outerShdw>
                      </a:effectLst>
                    </p:spPr>
                  </p:pic>
                </p:oleObj>
              </mc:Fallback>
            </mc:AlternateContent>
          </a:graphicData>
        </a:graphic>
      </p:graphicFrame>
      <p:sp>
        <p:nvSpPr>
          <p:cNvPr id="526342" name="AutoShape 6"/>
          <p:cNvSpPr>
            <a:spLocks noChangeArrowheads="1"/>
          </p:cNvSpPr>
          <p:nvPr/>
        </p:nvSpPr>
        <p:spPr bwMode="auto">
          <a:xfrm rot="16200000" flipV="1">
            <a:off x="6897370" y="14097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43" name="Text Box 7"/>
          <p:cNvSpPr txBox="1">
            <a:spLocks noChangeArrowheads="1"/>
          </p:cNvSpPr>
          <p:nvPr/>
        </p:nvSpPr>
        <p:spPr bwMode="auto">
          <a:xfrm>
            <a:off x="5859780" y="1694180"/>
            <a:ext cx="2514600" cy="768350"/>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a:solidFill>
                  <a:srgbClr val="002060"/>
                </a:solidFill>
              </a:rPr>
              <a:t>11</a:t>
            </a:r>
            <a:r>
              <a:rPr lang="zh-CN" altLang="en-US">
                <a:solidFill>
                  <a:srgbClr val="002060"/>
                </a:solidFill>
              </a:rPr>
              <a:t>、</a:t>
            </a:r>
            <a:r>
              <a:rPr lang="en-US" altLang="zh-CN" i="1">
                <a:solidFill>
                  <a:srgbClr val="002060"/>
                </a:solidFill>
              </a:rPr>
              <a:t>v </a:t>
            </a:r>
            <a:r>
              <a:rPr lang="en-US" altLang="zh-CN">
                <a:solidFill>
                  <a:srgbClr val="002060"/>
                </a:solidFill>
              </a:rPr>
              <a:t>&lt;0.6m/s</a:t>
            </a:r>
            <a:r>
              <a:rPr lang="zh-CN" altLang="en-US">
                <a:solidFill>
                  <a:srgbClr val="002060"/>
                </a:solidFill>
              </a:rPr>
              <a:t>时应校核静强度</a:t>
            </a:r>
            <a:endParaRPr lang="zh-CN" altLang="en-US" baseline="-25000">
              <a:solidFill>
                <a:srgbClr val="002060"/>
              </a:solidFill>
            </a:endParaRPr>
          </a:p>
        </p:txBody>
      </p:sp>
      <p:sp>
        <p:nvSpPr>
          <p:cNvPr id="526344" name="Text Box 8"/>
          <p:cNvSpPr txBox="1">
            <a:spLocks noChangeArrowheads="1"/>
          </p:cNvSpPr>
          <p:nvPr/>
        </p:nvSpPr>
        <p:spPr bwMode="auto">
          <a:xfrm>
            <a:off x="457200" y="457200"/>
            <a:ext cx="3962400" cy="42989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2</a:t>
            </a:r>
            <a:r>
              <a:rPr lang="zh-CN" altLang="en-US"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zh-CN" altLang="en-US" dirty="0">
                <a:solidFill>
                  <a:srgbClr val="C00000"/>
                </a:solidFill>
                <a:latin typeface="黑体" panose="02010609060101010101" pitchFamily="49" charset="-122"/>
                <a:ea typeface="黑体" panose="02010609060101010101" pitchFamily="49" charset="-122"/>
                <a:cs typeface="黑体" panose="02010609060101010101" pitchFamily="49" charset="-122"/>
              </a:rPr>
              <a:t>滚子链传动的设计方法</a:t>
            </a:r>
            <a:endParaRPr lang="zh-CN" altLang="en-US"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526345" name="Text Box 9"/>
          <p:cNvSpPr txBox="1">
            <a:spLocks noChangeArrowheads="1"/>
          </p:cNvSpPr>
          <p:nvPr/>
        </p:nvSpPr>
        <p:spPr bwMode="auto">
          <a:xfrm>
            <a:off x="306705" y="1143000"/>
            <a:ext cx="4697730" cy="521970"/>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solidFill>
                  <a:srgbClr val="002060"/>
                </a:solidFill>
              </a:rPr>
              <a:t>1</a:t>
            </a:r>
            <a:r>
              <a:rPr lang="zh-CN" altLang="en-US" dirty="0">
                <a:solidFill>
                  <a:srgbClr val="002060"/>
                </a:solidFill>
              </a:rPr>
              <a:t>、选择齿数 </a:t>
            </a:r>
            <a:r>
              <a:rPr lang="en-US" altLang="zh-CN" sz="2800" i="1" dirty="0">
                <a:solidFill>
                  <a:srgbClr val="002060"/>
                </a:solidFill>
              </a:rPr>
              <a:t>z</a:t>
            </a:r>
            <a:r>
              <a:rPr lang="en-US" altLang="zh-CN" sz="2800" baseline="-25000" dirty="0">
                <a:solidFill>
                  <a:srgbClr val="002060"/>
                </a:solidFill>
              </a:rPr>
              <a:t>1</a:t>
            </a:r>
            <a:r>
              <a:rPr lang="zh-CN" altLang="en-US" dirty="0">
                <a:solidFill>
                  <a:srgbClr val="002060"/>
                </a:solidFill>
              </a:rPr>
              <a:t>（按链速及传动比 </a:t>
            </a:r>
            <a:r>
              <a:rPr lang="en-US" altLang="zh-CN" i="1" dirty="0" err="1">
                <a:solidFill>
                  <a:srgbClr val="002060"/>
                </a:solidFill>
              </a:rPr>
              <a:t>i</a:t>
            </a:r>
            <a:r>
              <a:rPr lang="zh-CN" altLang="en-US" dirty="0">
                <a:solidFill>
                  <a:srgbClr val="002060"/>
                </a:solidFill>
              </a:rPr>
              <a:t>）</a:t>
            </a:r>
            <a:endParaRPr lang="zh-CN" altLang="en-US" i="1" dirty="0">
              <a:solidFill>
                <a:srgbClr val="002060"/>
              </a:solidFill>
            </a:endParaRPr>
          </a:p>
        </p:txBody>
      </p:sp>
      <p:sp>
        <p:nvSpPr>
          <p:cNvPr id="526346" name="AutoShape 10"/>
          <p:cNvSpPr>
            <a:spLocks noChangeArrowheads="1"/>
          </p:cNvSpPr>
          <p:nvPr/>
        </p:nvSpPr>
        <p:spPr bwMode="auto">
          <a:xfrm rot="5400000">
            <a:off x="2514600" y="17526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47" name="Text Box 11">
            <a:hlinkClick r:id="" action="ppaction://noaction" highlightClick="1"/>
          </p:cNvPr>
          <p:cNvSpPr txBox="1">
            <a:spLocks noChangeArrowheads="1"/>
          </p:cNvSpPr>
          <p:nvPr/>
        </p:nvSpPr>
        <p:spPr bwMode="auto">
          <a:xfrm>
            <a:off x="685800" y="2133600"/>
            <a:ext cx="3962400" cy="457200"/>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dirty="0">
                <a:solidFill>
                  <a:srgbClr val="002060"/>
                </a:solidFill>
              </a:rPr>
              <a:t>2</a:t>
            </a:r>
            <a:r>
              <a:rPr lang="zh-CN" altLang="en-US" dirty="0">
                <a:solidFill>
                  <a:srgbClr val="002060"/>
                </a:solidFill>
              </a:rPr>
              <a:t>、确定齿数 </a:t>
            </a:r>
            <a:r>
              <a:rPr lang="en-US" altLang="zh-CN" i="1" dirty="0">
                <a:solidFill>
                  <a:srgbClr val="002060"/>
                </a:solidFill>
              </a:rPr>
              <a:t>z</a:t>
            </a:r>
            <a:r>
              <a:rPr lang="en-US" altLang="zh-CN" baseline="-25000" dirty="0">
                <a:solidFill>
                  <a:srgbClr val="002060"/>
                </a:solidFill>
              </a:rPr>
              <a:t>2</a:t>
            </a:r>
            <a:r>
              <a:rPr lang="zh-CN" altLang="en-US" dirty="0">
                <a:solidFill>
                  <a:srgbClr val="002060"/>
                </a:solidFill>
              </a:rPr>
              <a:t>＝</a:t>
            </a:r>
            <a:r>
              <a:rPr lang="en-US" altLang="zh-CN" i="1" dirty="0">
                <a:solidFill>
                  <a:srgbClr val="002060"/>
                </a:solidFill>
              </a:rPr>
              <a:t>z</a:t>
            </a:r>
            <a:r>
              <a:rPr lang="en-US" altLang="zh-CN" baseline="-25000" dirty="0">
                <a:solidFill>
                  <a:srgbClr val="002060"/>
                </a:solidFill>
              </a:rPr>
              <a:t>1</a:t>
            </a:r>
            <a:r>
              <a:rPr lang="en-US" altLang="zh-CN" i="1" dirty="0">
                <a:solidFill>
                  <a:srgbClr val="002060"/>
                </a:solidFill>
              </a:rPr>
              <a:t>i </a:t>
            </a:r>
            <a:r>
              <a:rPr lang="en-US" altLang="zh-CN" dirty="0">
                <a:solidFill>
                  <a:srgbClr val="002060"/>
                </a:solidFill>
              </a:rPr>
              <a:t>≤120</a:t>
            </a:r>
            <a:endParaRPr lang="en-US" altLang="zh-CN" dirty="0">
              <a:solidFill>
                <a:srgbClr val="002060"/>
              </a:solidFill>
            </a:endParaRPr>
          </a:p>
        </p:txBody>
      </p:sp>
      <p:sp>
        <p:nvSpPr>
          <p:cNvPr id="526348" name="AutoShape 12"/>
          <p:cNvSpPr>
            <a:spLocks noChangeArrowheads="1"/>
          </p:cNvSpPr>
          <p:nvPr/>
        </p:nvSpPr>
        <p:spPr bwMode="auto">
          <a:xfrm rot="5400000">
            <a:off x="2514600" y="26670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49" name="Text Box 13"/>
          <p:cNvSpPr txBox="1">
            <a:spLocks noChangeArrowheads="1"/>
          </p:cNvSpPr>
          <p:nvPr/>
        </p:nvSpPr>
        <p:spPr bwMode="auto">
          <a:xfrm>
            <a:off x="1259632" y="4725144"/>
            <a:ext cx="2514600" cy="430887"/>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dirty="0" smtClean="0">
                <a:solidFill>
                  <a:srgbClr val="002060"/>
                </a:solidFill>
              </a:rPr>
              <a:t>5</a:t>
            </a:r>
            <a:r>
              <a:rPr lang="zh-CN" altLang="en-US" dirty="0" smtClean="0">
                <a:solidFill>
                  <a:srgbClr val="002060"/>
                </a:solidFill>
              </a:rPr>
              <a:t>、</a:t>
            </a:r>
            <a:r>
              <a:rPr lang="zh-CN" altLang="en-US" dirty="0">
                <a:solidFill>
                  <a:srgbClr val="002060"/>
                </a:solidFill>
              </a:rPr>
              <a:t>确定链排数</a:t>
            </a:r>
            <a:endParaRPr lang="zh-CN" altLang="en-US" i="1" dirty="0">
              <a:solidFill>
                <a:srgbClr val="002060"/>
              </a:solidFill>
            </a:endParaRPr>
          </a:p>
        </p:txBody>
      </p:sp>
      <p:sp>
        <p:nvSpPr>
          <p:cNvPr id="526350" name="AutoShape 14"/>
          <p:cNvSpPr>
            <a:spLocks noChangeArrowheads="1"/>
          </p:cNvSpPr>
          <p:nvPr/>
        </p:nvSpPr>
        <p:spPr bwMode="auto">
          <a:xfrm rot="5400000">
            <a:off x="2514600" y="35814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51" name="Text Box 15"/>
          <p:cNvSpPr txBox="1">
            <a:spLocks noChangeArrowheads="1"/>
          </p:cNvSpPr>
          <p:nvPr/>
        </p:nvSpPr>
        <p:spPr bwMode="auto">
          <a:xfrm>
            <a:off x="539552" y="3068960"/>
            <a:ext cx="4267200" cy="430887"/>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dirty="0" smtClean="0">
                <a:solidFill>
                  <a:srgbClr val="002060"/>
                </a:solidFill>
              </a:rPr>
              <a:t>3</a:t>
            </a:r>
            <a:r>
              <a:rPr lang="zh-CN" altLang="en-US" dirty="0" smtClean="0">
                <a:solidFill>
                  <a:srgbClr val="002060"/>
                </a:solidFill>
              </a:rPr>
              <a:t>、</a:t>
            </a:r>
            <a:r>
              <a:rPr lang="zh-CN" altLang="en-US" dirty="0">
                <a:solidFill>
                  <a:srgbClr val="002060"/>
                </a:solidFill>
              </a:rPr>
              <a:t>确定系数</a:t>
            </a:r>
            <a:r>
              <a:rPr lang="en-US" altLang="zh-CN" i="1" dirty="0">
                <a:solidFill>
                  <a:srgbClr val="002060"/>
                </a:solidFill>
              </a:rPr>
              <a:t>K</a:t>
            </a:r>
            <a:r>
              <a:rPr lang="en-US" altLang="zh-CN" baseline="-25000" dirty="0">
                <a:solidFill>
                  <a:srgbClr val="002060"/>
                </a:solidFill>
              </a:rPr>
              <a:t>A</a:t>
            </a:r>
            <a:r>
              <a:rPr lang="zh-CN" altLang="en-US" dirty="0">
                <a:solidFill>
                  <a:srgbClr val="002060"/>
                </a:solidFill>
              </a:rPr>
              <a:t>、</a:t>
            </a:r>
            <a:r>
              <a:rPr lang="en-US" altLang="zh-CN" i="1" dirty="0" err="1">
                <a:solidFill>
                  <a:srgbClr val="002060"/>
                </a:solidFill>
              </a:rPr>
              <a:t>K</a:t>
            </a:r>
            <a:r>
              <a:rPr lang="en-US" altLang="zh-CN" baseline="-25000" dirty="0" err="1">
                <a:solidFill>
                  <a:srgbClr val="002060"/>
                </a:solidFill>
              </a:rPr>
              <a:t>z</a:t>
            </a:r>
            <a:r>
              <a:rPr lang="zh-CN" altLang="en-US" dirty="0">
                <a:solidFill>
                  <a:srgbClr val="002060"/>
                </a:solidFill>
              </a:rPr>
              <a:t>、</a:t>
            </a:r>
            <a:r>
              <a:rPr lang="en-US" altLang="zh-CN" i="1" dirty="0">
                <a:solidFill>
                  <a:srgbClr val="002060"/>
                </a:solidFill>
              </a:rPr>
              <a:t>K</a:t>
            </a:r>
            <a:r>
              <a:rPr lang="en-US" altLang="zh-CN" baseline="-25000" dirty="0">
                <a:solidFill>
                  <a:srgbClr val="002060"/>
                </a:solidFill>
              </a:rPr>
              <a:t>L</a:t>
            </a:r>
            <a:r>
              <a:rPr lang="zh-CN" altLang="en-US" dirty="0">
                <a:solidFill>
                  <a:srgbClr val="002060"/>
                </a:solidFill>
              </a:rPr>
              <a:t>及</a:t>
            </a:r>
            <a:r>
              <a:rPr lang="en-US" altLang="zh-CN" i="1" dirty="0" err="1">
                <a:solidFill>
                  <a:srgbClr val="002060"/>
                </a:solidFill>
              </a:rPr>
              <a:t>K</a:t>
            </a:r>
            <a:r>
              <a:rPr lang="en-US" altLang="zh-CN" baseline="-25000" dirty="0" err="1">
                <a:solidFill>
                  <a:srgbClr val="002060"/>
                </a:solidFill>
              </a:rPr>
              <a:t>p</a:t>
            </a:r>
            <a:endParaRPr lang="en-US" altLang="zh-CN" baseline="-25000" dirty="0" err="1">
              <a:solidFill>
                <a:srgbClr val="002060"/>
              </a:solidFill>
            </a:endParaRPr>
          </a:p>
        </p:txBody>
      </p:sp>
      <p:sp>
        <p:nvSpPr>
          <p:cNvPr id="526352" name="AutoShape 16"/>
          <p:cNvSpPr>
            <a:spLocks noChangeArrowheads="1"/>
          </p:cNvSpPr>
          <p:nvPr/>
        </p:nvSpPr>
        <p:spPr bwMode="auto">
          <a:xfrm rot="5400000">
            <a:off x="2517676" y="52673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53" name="Text Box 17"/>
          <p:cNvSpPr txBox="1">
            <a:spLocks noChangeArrowheads="1"/>
          </p:cNvSpPr>
          <p:nvPr/>
        </p:nvSpPr>
        <p:spPr bwMode="auto">
          <a:xfrm>
            <a:off x="467544" y="3933056"/>
            <a:ext cx="4536504" cy="430887"/>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smtClean="0">
                <a:solidFill>
                  <a:srgbClr val="002060"/>
                </a:solidFill>
              </a:rPr>
              <a:t>4</a:t>
            </a:r>
            <a:r>
              <a:rPr lang="zh-CN" altLang="en-US" dirty="0" smtClean="0">
                <a:solidFill>
                  <a:srgbClr val="002060"/>
                </a:solidFill>
              </a:rPr>
              <a:t>、计算当量的单排链计算功率</a:t>
            </a:r>
            <a:r>
              <a:rPr lang="en-US" altLang="zh-CN" dirty="0" err="1" smtClean="0">
                <a:solidFill>
                  <a:srgbClr val="002060"/>
                </a:solidFill>
              </a:rPr>
              <a:t>P</a:t>
            </a:r>
            <a:r>
              <a:rPr lang="en-US" altLang="zh-CN" baseline="-25000" dirty="0" err="1" smtClean="0">
                <a:solidFill>
                  <a:srgbClr val="002060"/>
                </a:solidFill>
              </a:rPr>
              <a:t>ca</a:t>
            </a:r>
            <a:endParaRPr lang="en-US" altLang="zh-CN" baseline="-25000" dirty="0" err="1" smtClean="0">
              <a:solidFill>
                <a:srgbClr val="002060"/>
              </a:solidFill>
            </a:endParaRPr>
          </a:p>
        </p:txBody>
      </p:sp>
      <p:sp>
        <p:nvSpPr>
          <p:cNvPr id="526354" name="Text Box 18">
            <a:hlinkClick r:id="rId3" action="ppaction://hlinkfile"/>
          </p:cNvPr>
          <p:cNvSpPr txBox="1">
            <a:spLocks noChangeArrowheads="1"/>
          </p:cNvSpPr>
          <p:nvPr/>
        </p:nvSpPr>
        <p:spPr bwMode="auto">
          <a:xfrm>
            <a:off x="251520" y="5589240"/>
            <a:ext cx="4896544" cy="769441"/>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smtClean="0">
                <a:solidFill>
                  <a:srgbClr val="002060"/>
                </a:solidFill>
              </a:rPr>
              <a:t>6</a:t>
            </a:r>
            <a:r>
              <a:rPr lang="zh-CN" altLang="en-US" dirty="0" smtClean="0">
                <a:solidFill>
                  <a:srgbClr val="002060"/>
                </a:solidFill>
              </a:rPr>
              <a:t>、</a:t>
            </a:r>
            <a:r>
              <a:rPr lang="zh-CN" altLang="en-US" dirty="0">
                <a:solidFill>
                  <a:srgbClr val="002060"/>
                </a:solidFill>
              </a:rPr>
              <a:t>根据</a:t>
            </a:r>
            <a:r>
              <a:rPr lang="en-US" altLang="zh-CN" i="1" dirty="0">
                <a:solidFill>
                  <a:srgbClr val="FF0000"/>
                </a:solidFill>
                <a:effectLst>
                  <a:outerShdw blurRad="38100" dist="38100" dir="2700000" algn="tl">
                    <a:srgbClr val="000000"/>
                  </a:outerShdw>
                </a:effectLst>
              </a:rPr>
              <a:t>n</a:t>
            </a:r>
            <a:r>
              <a:rPr lang="en-US" altLang="zh-CN" baseline="-25000" dirty="0">
                <a:solidFill>
                  <a:srgbClr val="FF0000"/>
                </a:solidFill>
                <a:effectLst>
                  <a:outerShdw blurRad="38100" dist="38100" dir="2700000" algn="tl">
                    <a:srgbClr val="000000"/>
                  </a:outerShdw>
                </a:effectLst>
              </a:rPr>
              <a:t>1</a:t>
            </a:r>
            <a:r>
              <a:rPr lang="zh-CN" altLang="en-US" dirty="0">
                <a:solidFill>
                  <a:srgbClr val="002060"/>
                </a:solidFill>
              </a:rPr>
              <a:t>及</a:t>
            </a:r>
            <a:r>
              <a:rPr lang="en-US" altLang="zh-CN" i="1" dirty="0" err="1" smtClean="0">
                <a:solidFill>
                  <a:srgbClr val="FF0000"/>
                </a:solidFill>
                <a:effectLst>
                  <a:outerShdw blurRad="38100" dist="38100" dir="2700000" algn="tl">
                    <a:srgbClr val="000000"/>
                  </a:outerShdw>
                </a:effectLst>
              </a:rPr>
              <a:t>P</a:t>
            </a:r>
            <a:r>
              <a:rPr lang="en-US" altLang="zh-CN" baseline="-25000" dirty="0" err="1" smtClean="0">
                <a:solidFill>
                  <a:srgbClr val="FF0000"/>
                </a:solidFill>
                <a:effectLst>
                  <a:outerShdw blurRad="38100" dist="38100" dir="2700000" algn="tl">
                    <a:srgbClr val="000000"/>
                  </a:outerShdw>
                </a:effectLst>
              </a:rPr>
              <a:t>ca</a:t>
            </a:r>
            <a:r>
              <a:rPr lang="zh-CN" altLang="en-US" dirty="0" smtClean="0">
                <a:solidFill>
                  <a:srgbClr val="002060"/>
                </a:solidFill>
              </a:rPr>
              <a:t>查</a:t>
            </a:r>
            <a:r>
              <a:rPr lang="zh-CN" altLang="en-US" dirty="0">
                <a:solidFill>
                  <a:srgbClr val="002060"/>
                </a:solidFill>
              </a:rPr>
              <a:t>额定功率曲线，确定链的</a:t>
            </a:r>
            <a:r>
              <a:rPr lang="zh-CN" altLang="en-US" dirty="0">
                <a:solidFill>
                  <a:srgbClr val="FF0000"/>
                </a:solidFill>
                <a:effectLst>
                  <a:outerShdw blurRad="38100" dist="38100" dir="2700000" algn="tl">
                    <a:srgbClr val="000000"/>
                  </a:outerShdw>
                </a:effectLst>
              </a:rPr>
              <a:t>型号</a:t>
            </a:r>
            <a:r>
              <a:rPr lang="zh-CN" altLang="en-US" dirty="0">
                <a:solidFill>
                  <a:srgbClr val="002060"/>
                </a:solidFill>
              </a:rPr>
              <a:t>和</a:t>
            </a:r>
            <a:r>
              <a:rPr lang="zh-CN" altLang="en-US" dirty="0">
                <a:solidFill>
                  <a:srgbClr val="FF0000"/>
                </a:solidFill>
                <a:effectLst>
                  <a:outerShdw blurRad="38100" dist="38100" dir="2700000" algn="tl">
                    <a:srgbClr val="000000"/>
                  </a:outerShdw>
                </a:effectLst>
              </a:rPr>
              <a:t>节距</a:t>
            </a:r>
            <a:endParaRPr lang="zh-CN" altLang="en-US" dirty="0">
              <a:solidFill>
                <a:srgbClr val="FF0000"/>
              </a:solidFill>
              <a:effectLst>
                <a:outerShdw blurRad="38100" dist="38100" dir="2700000" algn="tl">
                  <a:srgbClr val="000000"/>
                </a:outerShdw>
              </a:effectLst>
            </a:endParaRPr>
          </a:p>
        </p:txBody>
      </p:sp>
      <p:sp>
        <p:nvSpPr>
          <p:cNvPr id="526356" name="Text Box 20"/>
          <p:cNvSpPr txBox="1">
            <a:spLocks noChangeArrowheads="1"/>
          </p:cNvSpPr>
          <p:nvPr/>
        </p:nvSpPr>
        <p:spPr bwMode="auto">
          <a:xfrm>
            <a:off x="5292080" y="5373727"/>
            <a:ext cx="3657600" cy="430887"/>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dirty="0" smtClean="0">
                <a:solidFill>
                  <a:srgbClr val="002060"/>
                </a:solidFill>
              </a:rPr>
              <a:t>7</a:t>
            </a:r>
            <a:r>
              <a:rPr lang="zh-CN" altLang="en-US" dirty="0" smtClean="0">
                <a:solidFill>
                  <a:srgbClr val="002060"/>
                </a:solidFill>
              </a:rPr>
              <a:t>、</a:t>
            </a:r>
            <a:r>
              <a:rPr lang="zh-CN" altLang="en-US" dirty="0">
                <a:solidFill>
                  <a:srgbClr val="002060"/>
                </a:solidFill>
              </a:rPr>
              <a:t>初定中心距和链节数</a:t>
            </a:r>
            <a:endParaRPr lang="zh-CN" altLang="en-US" i="1" dirty="0">
              <a:solidFill>
                <a:srgbClr val="002060"/>
              </a:solidFill>
            </a:endParaRPr>
          </a:p>
        </p:txBody>
      </p:sp>
      <p:sp>
        <p:nvSpPr>
          <p:cNvPr id="526357" name="AutoShape 21"/>
          <p:cNvSpPr>
            <a:spLocks noChangeArrowheads="1"/>
          </p:cNvSpPr>
          <p:nvPr/>
        </p:nvSpPr>
        <p:spPr bwMode="auto">
          <a:xfrm rot="5400000">
            <a:off x="2514600" y="44958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64" name="Text Box 28"/>
          <p:cNvSpPr txBox="1">
            <a:spLocks noChangeArrowheads="1"/>
          </p:cNvSpPr>
          <p:nvPr/>
        </p:nvSpPr>
        <p:spPr bwMode="auto">
          <a:xfrm>
            <a:off x="5558155" y="4533900"/>
            <a:ext cx="3200400" cy="457200"/>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dirty="0">
                <a:solidFill>
                  <a:srgbClr val="002060"/>
                </a:solidFill>
              </a:rPr>
              <a:t>8</a:t>
            </a:r>
            <a:r>
              <a:rPr lang="zh-CN" altLang="en-US" dirty="0">
                <a:solidFill>
                  <a:srgbClr val="002060"/>
                </a:solidFill>
              </a:rPr>
              <a:t>、计算实际中心距 </a:t>
            </a:r>
            <a:r>
              <a:rPr lang="en-US" altLang="zh-CN" i="1" dirty="0">
                <a:solidFill>
                  <a:srgbClr val="002060"/>
                </a:solidFill>
              </a:rPr>
              <a:t>a</a:t>
            </a:r>
            <a:endParaRPr lang="en-US" altLang="zh-CN" i="1" dirty="0">
              <a:solidFill>
                <a:srgbClr val="002060"/>
              </a:solidFill>
            </a:endParaRPr>
          </a:p>
        </p:txBody>
      </p:sp>
      <p:sp>
        <p:nvSpPr>
          <p:cNvPr id="526365" name="AutoShape 29"/>
          <p:cNvSpPr>
            <a:spLocks noChangeArrowheads="1"/>
          </p:cNvSpPr>
          <p:nvPr/>
        </p:nvSpPr>
        <p:spPr bwMode="auto">
          <a:xfrm rot="16200000" flipV="1">
            <a:off x="6896100" y="510667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26366" name="Text Box 30"/>
          <p:cNvSpPr txBox="1">
            <a:spLocks noChangeArrowheads="1"/>
          </p:cNvSpPr>
          <p:nvPr/>
        </p:nvSpPr>
        <p:spPr bwMode="auto">
          <a:xfrm>
            <a:off x="5748655" y="2882900"/>
            <a:ext cx="2819400" cy="429895"/>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a:solidFill>
                  <a:srgbClr val="002060"/>
                </a:solidFill>
              </a:rPr>
              <a:t>10</a:t>
            </a:r>
            <a:r>
              <a:rPr lang="zh-CN" altLang="en-US">
                <a:solidFill>
                  <a:srgbClr val="002060"/>
                </a:solidFill>
              </a:rPr>
              <a:t>、计算压轴力 </a:t>
            </a:r>
            <a:r>
              <a:rPr lang="en-US" altLang="zh-CN" i="1">
                <a:solidFill>
                  <a:srgbClr val="002060"/>
                </a:solidFill>
              </a:rPr>
              <a:t>F</a:t>
            </a:r>
            <a:r>
              <a:rPr lang="en-US" altLang="zh-CN" baseline="-25000">
                <a:solidFill>
                  <a:srgbClr val="002060"/>
                </a:solidFill>
              </a:rPr>
              <a:t>Q</a:t>
            </a:r>
            <a:endParaRPr lang="en-US" altLang="zh-CN" baseline="-25000">
              <a:solidFill>
                <a:srgbClr val="002060"/>
              </a:solidFill>
            </a:endParaRPr>
          </a:p>
        </p:txBody>
      </p:sp>
      <p:sp>
        <p:nvSpPr>
          <p:cNvPr id="526372" name="AutoShape 36"/>
          <p:cNvSpPr>
            <a:spLocks noChangeArrowheads="1"/>
          </p:cNvSpPr>
          <p:nvPr/>
        </p:nvSpPr>
        <p:spPr bwMode="auto">
          <a:xfrm rot="16200000" flipV="1">
            <a:off x="6897370" y="2539365"/>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 name="直角上箭头 1"/>
          <p:cNvSpPr/>
          <p:nvPr/>
        </p:nvSpPr>
        <p:spPr bwMode="auto">
          <a:xfrm>
            <a:off x="5220072" y="5805264"/>
            <a:ext cx="1944216" cy="432048"/>
          </a:xfrm>
          <a:prstGeom prst="bentUpArrow">
            <a:avLst/>
          </a:prstGeom>
          <a:solidFill>
            <a:schemeClr val="accent3">
              <a:lumMod val="65000"/>
            </a:schemeClr>
          </a:solidFill>
          <a:ln w="19050" cap="flat" cmpd="sng" algn="ctr">
            <a:solidFill>
              <a:srgbClr val="002060"/>
            </a:solidFill>
            <a:prstDash val="solid"/>
            <a:round/>
            <a:headEnd type="none" w="med" len="med"/>
            <a:tailEnd type="none" w="med" len="med"/>
          </a:ln>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3" name="Text Box 30"/>
          <p:cNvSpPr txBox="1">
            <a:spLocks noChangeArrowheads="1"/>
          </p:cNvSpPr>
          <p:nvPr/>
        </p:nvSpPr>
        <p:spPr bwMode="auto">
          <a:xfrm>
            <a:off x="5486400" y="3656965"/>
            <a:ext cx="3353435" cy="429895"/>
          </a:xfrm>
          <a:prstGeom prst="rect">
            <a:avLst/>
          </a:prstGeom>
          <a:solidFill>
            <a:srgbClr val="FDDFE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p>
            <a:r>
              <a:rPr lang="en-US" altLang="zh-CN">
                <a:solidFill>
                  <a:srgbClr val="002060"/>
                </a:solidFill>
              </a:rPr>
              <a:t>9</a:t>
            </a:r>
            <a:r>
              <a:rPr lang="zh-CN" altLang="en-US">
                <a:solidFill>
                  <a:srgbClr val="002060"/>
                </a:solidFill>
              </a:rPr>
              <a:t>、确定润滑方式</a:t>
            </a:r>
            <a:r>
              <a:rPr lang="en-US" altLang="zh-CN">
                <a:solidFill>
                  <a:srgbClr val="002060"/>
                </a:solidFill>
              </a:rPr>
              <a:t>(</a:t>
            </a:r>
            <a:r>
              <a:rPr lang="zh-CN" altLang="en-US">
                <a:solidFill>
                  <a:srgbClr val="002060"/>
                </a:solidFill>
              </a:rPr>
              <a:t>按</a:t>
            </a:r>
            <a:r>
              <a:rPr lang="zh-CN" altLang="en-US">
                <a:solidFill>
                  <a:srgbClr val="002060"/>
                </a:solidFill>
              </a:rPr>
              <a:t>链速）</a:t>
            </a:r>
            <a:endParaRPr lang="zh-CN" altLang="en-US">
              <a:solidFill>
                <a:srgbClr val="002060"/>
              </a:solidFill>
            </a:endParaRPr>
          </a:p>
        </p:txBody>
      </p:sp>
      <p:sp>
        <p:nvSpPr>
          <p:cNvPr id="5" name="AutoShape 29"/>
          <p:cNvSpPr>
            <a:spLocks noChangeArrowheads="1"/>
          </p:cNvSpPr>
          <p:nvPr/>
        </p:nvSpPr>
        <p:spPr bwMode="auto">
          <a:xfrm rot="16200000" flipV="1">
            <a:off x="6945630" y="335153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p>
            <a:endParaRPr lang="zh-CN" altLang="en-US"/>
          </a:p>
        </p:txBody>
      </p:sp>
      <p:sp>
        <p:nvSpPr>
          <p:cNvPr id="6" name="AutoShape 29"/>
          <p:cNvSpPr>
            <a:spLocks noChangeArrowheads="1"/>
          </p:cNvSpPr>
          <p:nvPr/>
        </p:nvSpPr>
        <p:spPr bwMode="auto">
          <a:xfrm rot="16200000" flipV="1">
            <a:off x="6945630" y="4229100"/>
            <a:ext cx="342900" cy="266700"/>
          </a:xfrm>
          <a:prstGeom prst="rightArrow">
            <a:avLst>
              <a:gd name="adj1" fmla="val 50000"/>
              <a:gd name="adj2" fmla="val 32143"/>
            </a:avLst>
          </a:prstGeom>
          <a:solidFill>
            <a:schemeClr val="accent2"/>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6344"/>
                                        </p:tgtEl>
                                        <p:attrNameLst>
                                          <p:attrName>style.visibility</p:attrName>
                                        </p:attrNameLst>
                                      </p:cBhvr>
                                      <p:to>
                                        <p:strVal val="visible"/>
                                      </p:to>
                                    </p:set>
                                    <p:animEffect transition="in" filter="wipe(left)">
                                      <p:cBhvr>
                                        <p:cTn id="7" dur="500"/>
                                        <p:tgtEl>
                                          <p:spTgt spid="52634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iterate type="lt">
                                    <p:tmPct val="100000"/>
                                  </p:iterate>
                                  <p:childTnLst>
                                    <p:set>
                                      <p:cBhvr>
                                        <p:cTn id="11" dur="1" fill="hold">
                                          <p:stCondLst>
                                            <p:cond delay="0"/>
                                          </p:stCondLst>
                                        </p:cTn>
                                        <p:tgtEl>
                                          <p:spTgt spid="526345"/>
                                        </p:tgtEl>
                                        <p:attrNameLst>
                                          <p:attrName>style.visibility</p:attrName>
                                        </p:attrNameLst>
                                      </p:cBhvr>
                                      <p:to>
                                        <p:strVal val="visible"/>
                                      </p:to>
                                    </p:set>
                                    <p:animEffect transition="in" filter="slide(fromTop)">
                                      <p:cBhvr>
                                        <p:cTn id="12" dur="75"/>
                                        <p:tgtEl>
                                          <p:spTgt spid="52634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526346"/>
                                        </p:tgtEl>
                                        <p:attrNameLst>
                                          <p:attrName>style.visibility</p:attrName>
                                        </p:attrNameLst>
                                      </p:cBhvr>
                                      <p:to>
                                        <p:strVal val="visible"/>
                                      </p:to>
                                    </p:set>
                                    <p:animEffect transition="in" filter="slide(fromTop)">
                                      <p:cBhvr>
                                        <p:cTn id="17" dur="500"/>
                                        <p:tgtEl>
                                          <p:spTgt spid="526346"/>
                                        </p:tgtEl>
                                      </p:cBhvr>
                                    </p:animEffect>
                                  </p:childTnLst>
                                </p:cTn>
                              </p:par>
                            </p:childTnLst>
                          </p:cTn>
                        </p:par>
                        <p:par>
                          <p:cTn id="18" fill="hold">
                            <p:stCondLst>
                              <p:cond delay="500"/>
                            </p:stCondLst>
                            <p:childTnLst>
                              <p:par>
                                <p:cTn id="19" presetID="12" presetClass="entr" presetSubtype="1" fill="hold" grpId="0" nodeType="afterEffect">
                                  <p:stCondLst>
                                    <p:cond delay="0"/>
                                  </p:stCondLst>
                                  <p:iterate type="lt">
                                    <p:tmPct val="100000"/>
                                  </p:iterate>
                                  <p:childTnLst>
                                    <p:set>
                                      <p:cBhvr>
                                        <p:cTn id="20" dur="1" fill="hold">
                                          <p:stCondLst>
                                            <p:cond delay="0"/>
                                          </p:stCondLst>
                                        </p:cTn>
                                        <p:tgtEl>
                                          <p:spTgt spid="526347"/>
                                        </p:tgtEl>
                                        <p:attrNameLst>
                                          <p:attrName>style.visibility</p:attrName>
                                        </p:attrNameLst>
                                      </p:cBhvr>
                                      <p:to>
                                        <p:strVal val="visible"/>
                                      </p:to>
                                    </p:set>
                                    <p:animEffect transition="in" filter="slide(fromTop)">
                                      <p:cBhvr>
                                        <p:cTn id="21" dur="75"/>
                                        <p:tgtEl>
                                          <p:spTgt spid="526347"/>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526348"/>
                                        </p:tgtEl>
                                        <p:attrNameLst>
                                          <p:attrName>style.visibility</p:attrName>
                                        </p:attrNameLst>
                                      </p:cBhvr>
                                      <p:to>
                                        <p:strVal val="visible"/>
                                      </p:to>
                                    </p:set>
                                    <p:animEffect transition="in" filter="slide(fromTop)">
                                      <p:cBhvr>
                                        <p:cTn id="26" dur="500"/>
                                        <p:tgtEl>
                                          <p:spTgt spid="526348"/>
                                        </p:tgtEl>
                                      </p:cBhvr>
                                    </p:animEffect>
                                  </p:childTnLst>
                                </p:cTn>
                              </p:par>
                            </p:childTnLst>
                          </p:cTn>
                        </p:par>
                        <p:par>
                          <p:cTn id="27" fill="hold">
                            <p:stCondLst>
                              <p:cond delay="500"/>
                            </p:stCondLst>
                            <p:childTnLst>
                              <p:par>
                                <p:cTn id="28" presetID="12" presetClass="entr" presetSubtype="1" fill="hold" grpId="0" nodeType="afterEffect">
                                  <p:stCondLst>
                                    <p:cond delay="0"/>
                                  </p:stCondLst>
                                  <p:iterate type="lt">
                                    <p:tmPct val="100000"/>
                                  </p:iterate>
                                  <p:childTnLst>
                                    <p:set>
                                      <p:cBhvr>
                                        <p:cTn id="29" dur="1" fill="hold">
                                          <p:stCondLst>
                                            <p:cond delay="0"/>
                                          </p:stCondLst>
                                        </p:cTn>
                                        <p:tgtEl>
                                          <p:spTgt spid="526351"/>
                                        </p:tgtEl>
                                        <p:attrNameLst>
                                          <p:attrName>style.visibility</p:attrName>
                                        </p:attrNameLst>
                                      </p:cBhvr>
                                      <p:to>
                                        <p:strVal val="visible"/>
                                      </p:to>
                                    </p:set>
                                    <p:animEffect transition="in" filter="slide(fromTop)">
                                      <p:cBhvr>
                                        <p:cTn id="30" dur="75"/>
                                        <p:tgtEl>
                                          <p:spTgt spid="526351"/>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526350"/>
                                        </p:tgtEl>
                                        <p:attrNameLst>
                                          <p:attrName>style.visibility</p:attrName>
                                        </p:attrNameLst>
                                      </p:cBhvr>
                                      <p:to>
                                        <p:strVal val="visible"/>
                                      </p:to>
                                    </p:set>
                                    <p:animEffect transition="in" filter="slide(fromTop)">
                                      <p:cBhvr>
                                        <p:cTn id="35" dur="500"/>
                                        <p:tgtEl>
                                          <p:spTgt spid="526350"/>
                                        </p:tgtEl>
                                      </p:cBhvr>
                                    </p:animEffect>
                                  </p:childTnLst>
                                </p:cTn>
                              </p:par>
                            </p:childTnLst>
                          </p:cTn>
                        </p:par>
                        <p:par>
                          <p:cTn id="36" fill="hold">
                            <p:stCondLst>
                              <p:cond delay="500"/>
                            </p:stCondLst>
                            <p:childTnLst>
                              <p:par>
                                <p:cTn id="37" presetID="12" presetClass="entr" presetSubtype="1" fill="hold" grpId="0" nodeType="afterEffect">
                                  <p:stCondLst>
                                    <p:cond delay="0"/>
                                  </p:stCondLst>
                                  <p:iterate type="lt">
                                    <p:tmPct val="100000"/>
                                  </p:iterate>
                                  <p:childTnLst>
                                    <p:set>
                                      <p:cBhvr>
                                        <p:cTn id="38" dur="1" fill="hold">
                                          <p:stCondLst>
                                            <p:cond delay="0"/>
                                          </p:stCondLst>
                                        </p:cTn>
                                        <p:tgtEl>
                                          <p:spTgt spid="526353"/>
                                        </p:tgtEl>
                                        <p:attrNameLst>
                                          <p:attrName>style.visibility</p:attrName>
                                        </p:attrNameLst>
                                      </p:cBhvr>
                                      <p:to>
                                        <p:strVal val="visible"/>
                                      </p:to>
                                    </p:set>
                                    <p:animEffect transition="in" filter="slide(fromTop)">
                                      <p:cBhvr>
                                        <p:cTn id="39" dur="75"/>
                                        <p:tgtEl>
                                          <p:spTgt spid="52635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childTnLst>
                                    <p:set>
                                      <p:cBhvr>
                                        <p:cTn id="43" dur="1" fill="hold">
                                          <p:stCondLst>
                                            <p:cond delay="0"/>
                                          </p:stCondLst>
                                        </p:cTn>
                                        <p:tgtEl>
                                          <p:spTgt spid="526357"/>
                                        </p:tgtEl>
                                        <p:attrNameLst>
                                          <p:attrName>style.visibility</p:attrName>
                                        </p:attrNameLst>
                                      </p:cBhvr>
                                      <p:to>
                                        <p:strVal val="visible"/>
                                      </p:to>
                                    </p:set>
                                    <p:animEffect transition="in" filter="slide(fromTop)">
                                      <p:cBhvr>
                                        <p:cTn id="44" dur="500"/>
                                        <p:tgtEl>
                                          <p:spTgt spid="526357"/>
                                        </p:tgtEl>
                                      </p:cBhvr>
                                    </p:animEffect>
                                  </p:childTnLst>
                                </p:cTn>
                              </p:par>
                            </p:childTnLst>
                          </p:cTn>
                        </p:par>
                        <p:par>
                          <p:cTn id="45" fill="hold">
                            <p:stCondLst>
                              <p:cond delay="500"/>
                            </p:stCondLst>
                            <p:childTnLst>
                              <p:par>
                                <p:cTn id="46" presetID="12" presetClass="entr" presetSubtype="1" fill="hold" grpId="0" nodeType="afterEffect">
                                  <p:stCondLst>
                                    <p:cond delay="0"/>
                                  </p:stCondLst>
                                  <p:iterate type="lt">
                                    <p:tmPct val="100000"/>
                                  </p:iterate>
                                  <p:childTnLst>
                                    <p:set>
                                      <p:cBhvr>
                                        <p:cTn id="47" dur="1" fill="hold">
                                          <p:stCondLst>
                                            <p:cond delay="0"/>
                                          </p:stCondLst>
                                        </p:cTn>
                                        <p:tgtEl>
                                          <p:spTgt spid="526349"/>
                                        </p:tgtEl>
                                        <p:attrNameLst>
                                          <p:attrName>style.visibility</p:attrName>
                                        </p:attrNameLst>
                                      </p:cBhvr>
                                      <p:to>
                                        <p:strVal val="visible"/>
                                      </p:to>
                                    </p:set>
                                    <p:animEffect transition="in" filter="slide(fromTop)">
                                      <p:cBhvr>
                                        <p:cTn id="48" dur="75"/>
                                        <p:tgtEl>
                                          <p:spTgt spid="526349"/>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1" fill="hold" grpId="0" nodeType="clickEffect">
                                  <p:stCondLst>
                                    <p:cond delay="0"/>
                                  </p:stCondLst>
                                  <p:childTnLst>
                                    <p:set>
                                      <p:cBhvr>
                                        <p:cTn id="52" dur="1" fill="hold">
                                          <p:stCondLst>
                                            <p:cond delay="0"/>
                                          </p:stCondLst>
                                        </p:cTn>
                                        <p:tgtEl>
                                          <p:spTgt spid="526352"/>
                                        </p:tgtEl>
                                        <p:attrNameLst>
                                          <p:attrName>style.visibility</p:attrName>
                                        </p:attrNameLst>
                                      </p:cBhvr>
                                      <p:to>
                                        <p:strVal val="visible"/>
                                      </p:to>
                                    </p:set>
                                    <p:animEffect transition="in" filter="slide(fromTop)">
                                      <p:cBhvr>
                                        <p:cTn id="53" dur="500"/>
                                        <p:tgtEl>
                                          <p:spTgt spid="526352"/>
                                        </p:tgtEl>
                                      </p:cBhvr>
                                    </p:animEffect>
                                  </p:childTnLst>
                                </p:cTn>
                              </p:par>
                            </p:childTnLst>
                          </p:cTn>
                        </p:par>
                        <p:par>
                          <p:cTn id="54" fill="hold">
                            <p:stCondLst>
                              <p:cond delay="500"/>
                            </p:stCondLst>
                            <p:childTnLst>
                              <p:par>
                                <p:cTn id="55" presetID="12" presetClass="entr" presetSubtype="8" fill="hold" grpId="0" nodeType="afterEffect">
                                  <p:stCondLst>
                                    <p:cond delay="0"/>
                                  </p:stCondLst>
                                  <p:iterate type="lt">
                                    <p:tmPct val="100000"/>
                                  </p:iterate>
                                  <p:childTnLst>
                                    <p:set>
                                      <p:cBhvr>
                                        <p:cTn id="56" dur="1" fill="hold">
                                          <p:stCondLst>
                                            <p:cond delay="0"/>
                                          </p:stCondLst>
                                        </p:cTn>
                                        <p:tgtEl>
                                          <p:spTgt spid="526354"/>
                                        </p:tgtEl>
                                        <p:attrNameLst>
                                          <p:attrName>style.visibility</p:attrName>
                                        </p:attrNameLst>
                                      </p:cBhvr>
                                      <p:to>
                                        <p:strVal val="visible"/>
                                      </p:to>
                                    </p:set>
                                    <p:animEffect transition="in" filter="slide(fromLeft)">
                                      <p:cBhvr>
                                        <p:cTn id="57" dur="75"/>
                                        <p:tgtEl>
                                          <p:spTgt spid="52635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down)">
                                      <p:cBhvr>
                                        <p:cTn id="62" dur="500"/>
                                        <p:tgtEl>
                                          <p:spTgt spid="2"/>
                                        </p:tgtEl>
                                      </p:cBhvr>
                                    </p:animEffect>
                                  </p:childTnLst>
                                </p:cTn>
                              </p:par>
                            </p:childTnLst>
                          </p:cTn>
                        </p:par>
                        <p:par>
                          <p:cTn id="63" fill="hold">
                            <p:stCondLst>
                              <p:cond delay="500"/>
                            </p:stCondLst>
                            <p:childTnLst>
                              <p:par>
                                <p:cTn id="64" presetID="12" presetClass="entr" presetSubtype="1" fill="hold" grpId="0" nodeType="afterEffect">
                                  <p:stCondLst>
                                    <p:cond delay="0"/>
                                  </p:stCondLst>
                                  <p:iterate type="lt">
                                    <p:tmPct val="100000"/>
                                  </p:iterate>
                                  <p:childTnLst>
                                    <p:set>
                                      <p:cBhvr>
                                        <p:cTn id="65" dur="1" fill="hold">
                                          <p:stCondLst>
                                            <p:cond delay="0"/>
                                          </p:stCondLst>
                                        </p:cTn>
                                        <p:tgtEl>
                                          <p:spTgt spid="526356"/>
                                        </p:tgtEl>
                                        <p:attrNameLst>
                                          <p:attrName>style.visibility</p:attrName>
                                        </p:attrNameLst>
                                      </p:cBhvr>
                                      <p:to>
                                        <p:strVal val="visible"/>
                                      </p:to>
                                    </p:set>
                                    <p:animEffect transition="in" filter="slide(fromTop)">
                                      <p:cBhvr>
                                        <p:cTn id="66" dur="75"/>
                                        <p:tgtEl>
                                          <p:spTgt spid="526356"/>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grpId="0" nodeType="clickEffect">
                                  <p:stCondLst>
                                    <p:cond delay="0"/>
                                  </p:stCondLst>
                                  <p:childTnLst>
                                    <p:set>
                                      <p:cBhvr>
                                        <p:cTn id="70" dur="1" fill="hold">
                                          <p:stCondLst>
                                            <p:cond delay="0"/>
                                          </p:stCondLst>
                                        </p:cTn>
                                        <p:tgtEl>
                                          <p:spTgt spid="526365"/>
                                        </p:tgtEl>
                                        <p:attrNameLst>
                                          <p:attrName>style.visibility</p:attrName>
                                        </p:attrNameLst>
                                      </p:cBhvr>
                                      <p:to>
                                        <p:strVal val="visible"/>
                                      </p:to>
                                    </p:set>
                                    <p:animEffect transition="in" filter="slide(fromBottom)">
                                      <p:cBhvr>
                                        <p:cTn id="71" dur="500"/>
                                        <p:tgtEl>
                                          <p:spTgt spid="526365"/>
                                        </p:tgtEl>
                                      </p:cBhvr>
                                    </p:animEffect>
                                  </p:childTnLst>
                                </p:cTn>
                              </p:par>
                            </p:childTnLst>
                          </p:cTn>
                        </p:par>
                        <p:par>
                          <p:cTn id="72" fill="hold">
                            <p:stCondLst>
                              <p:cond delay="500"/>
                            </p:stCondLst>
                            <p:childTnLst>
                              <p:par>
                                <p:cTn id="73" presetID="12" presetClass="entr" presetSubtype="4" fill="hold" grpId="0" nodeType="afterEffect">
                                  <p:stCondLst>
                                    <p:cond delay="0"/>
                                  </p:stCondLst>
                                  <p:iterate type="lt">
                                    <p:tmPct val="100000"/>
                                  </p:iterate>
                                  <p:childTnLst>
                                    <p:set>
                                      <p:cBhvr>
                                        <p:cTn id="74" dur="1" fill="hold">
                                          <p:stCondLst>
                                            <p:cond delay="0"/>
                                          </p:stCondLst>
                                        </p:cTn>
                                        <p:tgtEl>
                                          <p:spTgt spid="526364"/>
                                        </p:tgtEl>
                                        <p:attrNameLst>
                                          <p:attrName>style.visibility</p:attrName>
                                        </p:attrNameLst>
                                      </p:cBhvr>
                                      <p:to>
                                        <p:strVal val="visible"/>
                                      </p:to>
                                    </p:set>
                                    <p:animEffect transition="in" filter="slide(fromBottom)">
                                      <p:cBhvr>
                                        <p:cTn id="75" dur="75"/>
                                        <p:tgtEl>
                                          <p:spTgt spid="526364"/>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slide(fromBottom)">
                                      <p:cBhvr>
                                        <p:cTn id="80" dur="500"/>
                                        <p:tgtEl>
                                          <p:spTgt spid="6"/>
                                        </p:tgtEl>
                                      </p:cBhvr>
                                    </p:animEffect>
                                  </p:childTnLst>
                                </p:cTn>
                              </p:par>
                            </p:childTnLst>
                          </p:cTn>
                        </p:par>
                        <p:par>
                          <p:cTn id="81" fill="hold">
                            <p:stCondLst>
                              <p:cond delay="500"/>
                            </p:stCondLst>
                            <p:childTnLst>
                              <p:par>
                                <p:cTn id="82" presetID="12" presetClass="entr" presetSubtype="4" fill="hold" grpId="0" nodeType="afterEffect">
                                  <p:stCondLst>
                                    <p:cond delay="0"/>
                                  </p:stCondLst>
                                  <p:iterate type="lt">
                                    <p:tmPct val="100000"/>
                                  </p:iterate>
                                  <p:childTnLst>
                                    <p:set>
                                      <p:cBhvr>
                                        <p:cTn id="83" dur="1" fill="hold">
                                          <p:stCondLst>
                                            <p:cond delay="0"/>
                                          </p:stCondLst>
                                        </p:cTn>
                                        <p:tgtEl>
                                          <p:spTgt spid="3"/>
                                        </p:tgtEl>
                                        <p:attrNameLst>
                                          <p:attrName>style.visibility</p:attrName>
                                        </p:attrNameLst>
                                      </p:cBhvr>
                                      <p:to>
                                        <p:strVal val="visible"/>
                                      </p:to>
                                    </p:set>
                                    <p:animEffect transition="in" filter="slide(fromBottom)">
                                      <p:cBhvr>
                                        <p:cTn id="84" dur="75"/>
                                        <p:tgtEl>
                                          <p:spTgt spid="3"/>
                                        </p:tgtEl>
                                      </p:cBhvr>
                                    </p:animEffect>
                                  </p:childTnLst>
                                </p:cTn>
                              </p:par>
                            </p:childTnLst>
                          </p:cTn>
                        </p:par>
                      </p:childTnLst>
                    </p:cTn>
                  </p:par>
                  <p:par>
                    <p:cTn id="85" fill="hold">
                      <p:stCondLst>
                        <p:cond delay="indefinite"/>
                      </p:stCondLst>
                      <p:childTnLst>
                        <p:par>
                          <p:cTn id="86" fill="hold">
                            <p:stCondLst>
                              <p:cond delay="0"/>
                            </p:stCondLst>
                            <p:childTnLst>
                              <p:par>
                                <p:cTn id="87" presetID="12" presetClass="entr" presetSubtype="4" fill="hold" grpId="0" nodeType="click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slide(fromBottom)">
                                      <p:cBhvr>
                                        <p:cTn id="89" dur="500"/>
                                        <p:tgtEl>
                                          <p:spTgt spid="5"/>
                                        </p:tgtEl>
                                      </p:cBhvr>
                                    </p:animEffect>
                                  </p:childTnLst>
                                </p:cTn>
                              </p:par>
                            </p:childTnLst>
                          </p:cTn>
                        </p:par>
                        <p:par>
                          <p:cTn id="90" fill="hold">
                            <p:stCondLst>
                              <p:cond delay="500"/>
                            </p:stCondLst>
                            <p:childTnLst>
                              <p:par>
                                <p:cTn id="91" presetID="12" presetClass="entr" presetSubtype="4" fill="hold" grpId="0" nodeType="afterEffect">
                                  <p:stCondLst>
                                    <p:cond delay="0"/>
                                  </p:stCondLst>
                                  <p:iterate type="lt">
                                    <p:tmPct val="100000"/>
                                  </p:iterate>
                                  <p:childTnLst>
                                    <p:set>
                                      <p:cBhvr>
                                        <p:cTn id="92" dur="1" fill="hold">
                                          <p:stCondLst>
                                            <p:cond delay="0"/>
                                          </p:stCondLst>
                                        </p:cTn>
                                        <p:tgtEl>
                                          <p:spTgt spid="526366"/>
                                        </p:tgtEl>
                                        <p:attrNameLst>
                                          <p:attrName>style.visibility</p:attrName>
                                        </p:attrNameLst>
                                      </p:cBhvr>
                                      <p:to>
                                        <p:strVal val="visible"/>
                                      </p:to>
                                    </p:set>
                                    <p:animEffect transition="in" filter="slide(fromBottom)">
                                      <p:cBhvr>
                                        <p:cTn id="93" dur="75"/>
                                        <p:tgtEl>
                                          <p:spTgt spid="526366"/>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4" fill="hold" grpId="0" nodeType="clickEffect">
                                  <p:stCondLst>
                                    <p:cond delay="0"/>
                                  </p:stCondLst>
                                  <p:childTnLst>
                                    <p:set>
                                      <p:cBhvr>
                                        <p:cTn id="97" dur="1" fill="hold">
                                          <p:stCondLst>
                                            <p:cond delay="0"/>
                                          </p:stCondLst>
                                        </p:cTn>
                                        <p:tgtEl>
                                          <p:spTgt spid="526372"/>
                                        </p:tgtEl>
                                        <p:attrNameLst>
                                          <p:attrName>style.visibility</p:attrName>
                                        </p:attrNameLst>
                                      </p:cBhvr>
                                      <p:to>
                                        <p:strVal val="visible"/>
                                      </p:to>
                                    </p:set>
                                    <p:animEffect transition="in" filter="slide(fromBottom)">
                                      <p:cBhvr>
                                        <p:cTn id="98" dur="500"/>
                                        <p:tgtEl>
                                          <p:spTgt spid="526372"/>
                                        </p:tgtEl>
                                      </p:cBhvr>
                                    </p:animEffect>
                                  </p:childTnLst>
                                </p:cTn>
                              </p:par>
                            </p:childTnLst>
                          </p:cTn>
                        </p:par>
                        <p:par>
                          <p:cTn id="99" fill="hold">
                            <p:stCondLst>
                              <p:cond delay="500"/>
                            </p:stCondLst>
                            <p:childTnLst>
                              <p:par>
                                <p:cTn id="100" presetID="12" presetClass="entr" presetSubtype="4" fill="hold" grpId="0" nodeType="afterEffect">
                                  <p:stCondLst>
                                    <p:cond delay="0"/>
                                  </p:stCondLst>
                                  <p:iterate type="lt">
                                    <p:tmPct val="100000"/>
                                  </p:iterate>
                                  <p:childTnLst>
                                    <p:set>
                                      <p:cBhvr>
                                        <p:cTn id="101" dur="1" fill="hold">
                                          <p:stCondLst>
                                            <p:cond delay="0"/>
                                          </p:stCondLst>
                                        </p:cTn>
                                        <p:tgtEl>
                                          <p:spTgt spid="526343"/>
                                        </p:tgtEl>
                                        <p:attrNameLst>
                                          <p:attrName>style.visibility</p:attrName>
                                        </p:attrNameLst>
                                      </p:cBhvr>
                                      <p:to>
                                        <p:strVal val="visible"/>
                                      </p:to>
                                    </p:set>
                                    <p:animEffect transition="in" filter="slide(fromBottom)">
                                      <p:cBhvr>
                                        <p:cTn id="102" dur="75"/>
                                        <p:tgtEl>
                                          <p:spTgt spid="526343"/>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526342"/>
                                        </p:tgtEl>
                                        <p:attrNameLst>
                                          <p:attrName>style.visibility</p:attrName>
                                        </p:attrNameLst>
                                      </p:cBhvr>
                                      <p:to>
                                        <p:strVal val="visible"/>
                                      </p:to>
                                    </p:set>
                                    <p:animEffect transition="in" filter="slide(fromBottom)">
                                      <p:cBhvr>
                                        <p:cTn id="107" dur="500"/>
                                        <p:tgtEl>
                                          <p:spTgt spid="526342"/>
                                        </p:tgtEl>
                                      </p:cBhvr>
                                    </p:animEffect>
                                  </p:childTnLst>
                                </p:cTn>
                              </p:par>
                            </p:childTnLst>
                          </p:cTn>
                        </p:par>
                        <p:par>
                          <p:cTn id="108" fill="hold">
                            <p:stCondLst>
                              <p:cond delay="500"/>
                            </p:stCondLst>
                            <p:childTnLst>
                              <p:par>
                                <p:cTn id="109" presetID="12" presetClass="entr" presetSubtype="4" fill="hold" nodeType="afterEffect">
                                  <p:stCondLst>
                                    <p:cond delay="0"/>
                                  </p:stCondLst>
                                  <p:childTnLst>
                                    <p:set>
                                      <p:cBhvr>
                                        <p:cTn id="110" dur="1" fill="hold">
                                          <p:stCondLst>
                                            <p:cond delay="0"/>
                                          </p:stCondLst>
                                        </p:cTn>
                                        <p:tgtEl>
                                          <p:spTgt spid="526341"/>
                                        </p:tgtEl>
                                        <p:attrNameLst>
                                          <p:attrName>style.visibility</p:attrName>
                                        </p:attrNameLst>
                                      </p:cBhvr>
                                      <p:to>
                                        <p:strVal val="visible"/>
                                      </p:to>
                                    </p:set>
                                    <p:animEffect transition="in" filter="slide(fromBottom)">
                                      <p:cBhvr>
                                        <p:cTn id="111" dur="500"/>
                                        <p:tgtEl>
                                          <p:spTgt spid="526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42" grpId="0" bldLvl="0" animBg="1"/>
      <p:bldP spid="526343" grpId="0" bldLvl="0" animBg="1" autoUpdateAnimBg="0"/>
      <p:bldP spid="526344" grpId="0" bldLvl="0" animBg="1" autoUpdateAnimBg="0"/>
      <p:bldP spid="526345" grpId="0" bldLvl="0" animBg="1" autoUpdateAnimBg="0"/>
      <p:bldP spid="526346" grpId="0" animBg="1"/>
      <p:bldP spid="526347" grpId="0" bldLvl="0" animBg="1" autoUpdateAnimBg="0"/>
      <p:bldP spid="526348" grpId="0" animBg="1"/>
      <p:bldP spid="526349" grpId="0" bldLvl="0" animBg="1" autoUpdateAnimBg="0"/>
      <p:bldP spid="526350" grpId="0" animBg="1"/>
      <p:bldP spid="526351" grpId="0" bldLvl="0" animBg="1" autoUpdateAnimBg="0"/>
      <p:bldP spid="526352" grpId="0" animBg="1"/>
      <p:bldP spid="526353" grpId="0" bldLvl="0" animBg="1" autoUpdateAnimBg="0"/>
      <p:bldP spid="526354" grpId="0" bldLvl="0" animBg="1" autoUpdateAnimBg="0"/>
      <p:bldP spid="526356" grpId="0" bldLvl="0" animBg="1" autoUpdateAnimBg="0"/>
      <p:bldP spid="526357" grpId="0" animBg="1"/>
      <p:bldP spid="526364" grpId="0" bldLvl="0" animBg="1" autoUpdateAnimBg="0"/>
      <p:bldP spid="526365" grpId="0" bldLvl="0" animBg="1"/>
      <p:bldP spid="526366" grpId="0" bldLvl="0" animBg="1" autoUpdateAnimBg="0"/>
      <p:bldP spid="526372" grpId="0" bldLvl="0" animBg="1"/>
      <p:bldP spid="2" grpId="0" animBg="1"/>
      <p:bldP spid="3" grpId="0" bldLvl="0" animBg="1" autoUpdateAnimBg="0"/>
      <p:bldP spid="5" grpId="0" bldLvl="0" animBg="1"/>
      <p:bldP spid="6"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AutoShape 2">
            <a:hlinkClick r:id="" action="ppaction://hlinkshowjump?jump=previousslide" highlightClick="1"/>
          </p:cNvPr>
          <p:cNvSpPr>
            <a:spLocks noChangeArrowheads="1"/>
          </p:cNvSpPr>
          <p:nvPr/>
        </p:nvSpPr>
        <p:spPr bwMode="auto">
          <a:xfrm>
            <a:off x="8001000" y="6400800"/>
            <a:ext cx="4572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530435" name="AutoShape 3">
            <a:hlinkClick r:id="" action="ppaction://hlinkshowjump?jump=nextslide" highlightClick="1"/>
          </p:cNvPr>
          <p:cNvSpPr>
            <a:spLocks noChangeArrowheads="1"/>
          </p:cNvSpPr>
          <p:nvPr/>
        </p:nvSpPr>
        <p:spPr bwMode="auto">
          <a:xfrm flipH="1">
            <a:off x="8610600" y="6400800"/>
            <a:ext cx="381000" cy="381000"/>
          </a:xfrm>
          <a:prstGeom prst="actionButtonBackPrevious">
            <a:avLst/>
          </a:prstGeom>
          <a:gradFill rotWithShape="0">
            <a:gsLst>
              <a:gs pos="0">
                <a:srgbClr val="FFFF99">
                  <a:gamma/>
                  <a:shade val="46275"/>
                  <a:invGamma/>
                </a:srgbClr>
              </a:gs>
              <a:gs pos="50000">
                <a:srgbClr val="FFFF99"/>
              </a:gs>
              <a:gs pos="100000">
                <a:srgbClr val="FFFF99">
                  <a:gamma/>
                  <a:shade val="46275"/>
                  <a:invGamma/>
                </a:srgbClr>
              </a:gs>
            </a:gsLst>
            <a:lin ang="18900000" scaled="1"/>
          </a:gra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spAutoFit/>
          </a:bodyPr>
          <a:lstStyle/>
          <a:p>
            <a:endParaRPr lang="zh-CN" altLang="en-US"/>
          </a:p>
        </p:txBody>
      </p:sp>
      <p:sp>
        <p:nvSpPr>
          <p:cNvPr id="530437" name="Rectangle 5"/>
          <p:cNvSpPr>
            <a:spLocks noChangeArrowheads="1"/>
          </p:cNvSpPr>
          <p:nvPr/>
        </p:nvSpPr>
        <p:spPr bwMode="auto">
          <a:xfrm>
            <a:off x="1295400" y="3802063"/>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轴上受力较小</a:t>
            </a:r>
            <a:endParaRPr lang="zh-CN" altLang="en-US" sz="2000">
              <a:ea typeface="楷体" panose="02010609060101010101" pitchFamily="49" charset="-122"/>
            </a:endParaRPr>
          </a:p>
        </p:txBody>
      </p:sp>
      <p:sp>
        <p:nvSpPr>
          <p:cNvPr id="530438" name="Rectangle 6"/>
          <p:cNvSpPr>
            <a:spLocks noChangeArrowheads="1"/>
          </p:cNvSpPr>
          <p:nvPr/>
        </p:nvSpPr>
        <p:spPr bwMode="auto">
          <a:xfrm>
            <a:off x="1295400" y="3360738"/>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传动装置复杂</a:t>
            </a:r>
            <a:endParaRPr lang="zh-CN" altLang="en-US" sz="2000">
              <a:ea typeface="楷体" panose="02010609060101010101" pitchFamily="49" charset="-122"/>
            </a:endParaRPr>
          </a:p>
        </p:txBody>
      </p:sp>
      <p:sp>
        <p:nvSpPr>
          <p:cNvPr id="530439" name="Rectangle 7"/>
          <p:cNvSpPr>
            <a:spLocks noChangeArrowheads="1"/>
          </p:cNvSpPr>
          <p:nvPr/>
        </p:nvSpPr>
        <p:spPr bwMode="auto">
          <a:xfrm>
            <a:off x="1295400" y="2919413"/>
            <a:ext cx="171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过载无保护</a:t>
            </a:r>
            <a:endParaRPr lang="zh-CN" altLang="en-US" sz="2000">
              <a:ea typeface="楷体" panose="02010609060101010101" pitchFamily="49" charset="-122"/>
            </a:endParaRPr>
          </a:p>
        </p:txBody>
      </p:sp>
      <p:sp>
        <p:nvSpPr>
          <p:cNvPr id="530440" name="Rectangle 8"/>
          <p:cNvSpPr>
            <a:spLocks noChangeArrowheads="1"/>
          </p:cNvSpPr>
          <p:nvPr/>
        </p:nvSpPr>
        <p:spPr bwMode="auto">
          <a:xfrm>
            <a:off x="1295400" y="1981200"/>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缓冲性不好</a:t>
            </a:r>
            <a:endParaRPr lang="zh-CN" altLang="en-US" sz="2000">
              <a:ea typeface="楷体" panose="02010609060101010101" pitchFamily="49" charset="-122"/>
            </a:endParaRPr>
          </a:p>
        </p:txBody>
      </p:sp>
      <p:sp>
        <p:nvSpPr>
          <p:cNvPr id="530441" name="Rectangle 9"/>
          <p:cNvSpPr>
            <a:spLocks noChangeArrowheads="1"/>
          </p:cNvSpPr>
          <p:nvPr/>
        </p:nvSpPr>
        <p:spPr bwMode="auto">
          <a:xfrm>
            <a:off x="3810000" y="1524000"/>
            <a:ext cx="171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靠摩擦传动</a:t>
            </a:r>
            <a:endParaRPr lang="zh-CN" altLang="en-US" sz="2000">
              <a:ea typeface="楷体" panose="02010609060101010101" pitchFamily="49" charset="-122"/>
            </a:endParaRPr>
          </a:p>
        </p:txBody>
      </p:sp>
      <p:sp>
        <p:nvSpPr>
          <p:cNvPr id="530442" name="Rectangle 10"/>
          <p:cNvSpPr>
            <a:spLocks noChangeArrowheads="1"/>
          </p:cNvSpPr>
          <p:nvPr/>
        </p:nvSpPr>
        <p:spPr bwMode="auto">
          <a:xfrm>
            <a:off x="1295400" y="1524000"/>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靠啮合传动</a:t>
            </a:r>
            <a:endParaRPr lang="zh-CN" altLang="en-US" sz="2000">
              <a:ea typeface="楷体" panose="02010609060101010101" pitchFamily="49" charset="-122"/>
            </a:endParaRPr>
          </a:p>
        </p:txBody>
      </p:sp>
      <p:sp>
        <p:nvSpPr>
          <p:cNvPr id="530443" name="Rectangle 11"/>
          <p:cNvSpPr>
            <a:spLocks noChangeArrowheads="1"/>
          </p:cNvSpPr>
          <p:nvPr/>
        </p:nvSpPr>
        <p:spPr bwMode="auto">
          <a:xfrm>
            <a:off x="3810000" y="1981200"/>
            <a:ext cx="171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缓冲、吸振</a:t>
            </a:r>
            <a:endParaRPr lang="zh-CN" altLang="en-US" sz="2000">
              <a:ea typeface="楷体" panose="02010609060101010101" pitchFamily="49" charset="-122"/>
            </a:endParaRPr>
          </a:p>
        </p:txBody>
      </p:sp>
      <p:sp>
        <p:nvSpPr>
          <p:cNvPr id="530444" name="Rectangle 12"/>
          <p:cNvSpPr>
            <a:spLocks noChangeArrowheads="1"/>
          </p:cNvSpPr>
          <p:nvPr/>
        </p:nvSpPr>
        <p:spPr bwMode="auto">
          <a:xfrm>
            <a:off x="3810000" y="2903538"/>
            <a:ext cx="1395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过载保护</a:t>
            </a:r>
            <a:endParaRPr lang="zh-CN" altLang="en-US" sz="2000">
              <a:ea typeface="楷体" panose="02010609060101010101" pitchFamily="49" charset="-122"/>
            </a:endParaRPr>
          </a:p>
        </p:txBody>
      </p:sp>
      <p:sp>
        <p:nvSpPr>
          <p:cNvPr id="530445" name="Rectangle 13"/>
          <p:cNvSpPr>
            <a:spLocks noChangeArrowheads="1"/>
          </p:cNvSpPr>
          <p:nvPr/>
        </p:nvSpPr>
        <p:spPr bwMode="auto">
          <a:xfrm>
            <a:off x="3810000" y="3360738"/>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传动装置简单</a:t>
            </a:r>
            <a:endParaRPr lang="zh-CN" altLang="en-US" sz="2000">
              <a:ea typeface="楷体" panose="02010609060101010101" pitchFamily="49" charset="-122"/>
            </a:endParaRPr>
          </a:p>
        </p:txBody>
      </p:sp>
      <p:sp>
        <p:nvSpPr>
          <p:cNvPr id="530446" name="Rectangle 14"/>
          <p:cNvSpPr>
            <a:spLocks noChangeArrowheads="1"/>
          </p:cNvSpPr>
          <p:nvPr/>
        </p:nvSpPr>
        <p:spPr bwMode="auto">
          <a:xfrm>
            <a:off x="3810000" y="3802063"/>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轴上受力较大</a:t>
            </a:r>
            <a:endParaRPr lang="zh-CN" altLang="en-US" sz="2000">
              <a:ea typeface="楷体" panose="02010609060101010101" pitchFamily="49" charset="-122"/>
            </a:endParaRPr>
          </a:p>
        </p:txBody>
      </p:sp>
      <p:sp>
        <p:nvSpPr>
          <p:cNvPr id="530447" name="Rectangle 15"/>
          <p:cNvSpPr>
            <a:spLocks noChangeArrowheads="1"/>
          </p:cNvSpPr>
          <p:nvPr/>
        </p:nvSpPr>
        <p:spPr bwMode="auto">
          <a:xfrm>
            <a:off x="1295400" y="4275138"/>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传动比恒定</a:t>
            </a:r>
            <a:endParaRPr lang="zh-CN" altLang="en-US" sz="2000">
              <a:ea typeface="楷体" panose="02010609060101010101" pitchFamily="49" charset="-122"/>
            </a:endParaRPr>
          </a:p>
        </p:txBody>
      </p:sp>
      <p:sp>
        <p:nvSpPr>
          <p:cNvPr id="530448" name="Rectangle 16"/>
          <p:cNvSpPr>
            <a:spLocks noChangeArrowheads="1"/>
          </p:cNvSpPr>
          <p:nvPr/>
        </p:nvSpPr>
        <p:spPr bwMode="auto">
          <a:xfrm>
            <a:off x="3810000" y="4275138"/>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传动比不恒定</a:t>
            </a:r>
            <a:endParaRPr lang="zh-CN" altLang="en-US" sz="2000">
              <a:ea typeface="楷体" panose="02010609060101010101" pitchFamily="49" charset="-122"/>
            </a:endParaRPr>
          </a:p>
        </p:txBody>
      </p:sp>
      <p:sp>
        <p:nvSpPr>
          <p:cNvPr id="530449" name="Rectangle 17"/>
          <p:cNvSpPr>
            <a:spLocks noChangeArrowheads="1"/>
          </p:cNvSpPr>
          <p:nvPr/>
        </p:nvSpPr>
        <p:spPr bwMode="auto">
          <a:xfrm>
            <a:off x="1295400" y="4716463"/>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外廓尺寸较小</a:t>
            </a:r>
            <a:endParaRPr lang="zh-CN" altLang="en-US" sz="2000">
              <a:ea typeface="楷体" panose="02010609060101010101" pitchFamily="49" charset="-122"/>
            </a:endParaRPr>
          </a:p>
        </p:txBody>
      </p:sp>
      <p:sp>
        <p:nvSpPr>
          <p:cNvPr id="530450" name="Rectangle 18"/>
          <p:cNvSpPr>
            <a:spLocks noChangeArrowheads="1"/>
          </p:cNvSpPr>
          <p:nvPr/>
        </p:nvSpPr>
        <p:spPr bwMode="auto">
          <a:xfrm>
            <a:off x="3810000" y="4732338"/>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外廓尺寸较大</a:t>
            </a:r>
            <a:endParaRPr lang="zh-CN" altLang="en-US" sz="2000">
              <a:ea typeface="楷体" panose="02010609060101010101" pitchFamily="49" charset="-122"/>
            </a:endParaRPr>
          </a:p>
        </p:txBody>
      </p:sp>
      <p:sp>
        <p:nvSpPr>
          <p:cNvPr id="530451" name="Rectangle 19"/>
          <p:cNvSpPr>
            <a:spLocks noChangeArrowheads="1"/>
          </p:cNvSpPr>
          <p:nvPr/>
        </p:nvSpPr>
        <p:spPr bwMode="auto">
          <a:xfrm>
            <a:off x="1295400" y="5173663"/>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寿命较长</a:t>
            </a:r>
            <a:endParaRPr lang="zh-CN" altLang="en-US" sz="2000">
              <a:ea typeface="楷体" panose="02010609060101010101" pitchFamily="49" charset="-122"/>
            </a:endParaRPr>
          </a:p>
        </p:txBody>
      </p:sp>
      <p:sp>
        <p:nvSpPr>
          <p:cNvPr id="530452" name="Rectangle 20"/>
          <p:cNvSpPr>
            <a:spLocks noChangeArrowheads="1"/>
          </p:cNvSpPr>
          <p:nvPr/>
        </p:nvSpPr>
        <p:spPr bwMode="auto">
          <a:xfrm>
            <a:off x="3810000" y="5189538"/>
            <a:ext cx="1395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寿命较短</a:t>
            </a:r>
            <a:endParaRPr lang="zh-CN" altLang="en-US" sz="2000">
              <a:ea typeface="楷体" panose="02010609060101010101" pitchFamily="49" charset="-122"/>
            </a:endParaRPr>
          </a:p>
        </p:txBody>
      </p:sp>
      <p:sp>
        <p:nvSpPr>
          <p:cNvPr id="530453" name="Rectangle 21"/>
          <p:cNvSpPr>
            <a:spLocks noChangeArrowheads="1"/>
          </p:cNvSpPr>
          <p:nvPr/>
        </p:nvSpPr>
        <p:spPr bwMode="auto">
          <a:xfrm>
            <a:off x="6064250" y="1524000"/>
            <a:ext cx="171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靠啮合传动</a:t>
            </a:r>
            <a:endParaRPr lang="zh-CN" altLang="en-US" sz="2000">
              <a:ea typeface="楷体" panose="02010609060101010101" pitchFamily="49" charset="-122"/>
            </a:endParaRPr>
          </a:p>
        </p:txBody>
      </p:sp>
      <p:sp>
        <p:nvSpPr>
          <p:cNvPr id="530454" name="Rectangle 22"/>
          <p:cNvSpPr>
            <a:spLocks noChangeArrowheads="1"/>
          </p:cNvSpPr>
          <p:nvPr/>
        </p:nvSpPr>
        <p:spPr bwMode="auto">
          <a:xfrm>
            <a:off x="6064250" y="1981200"/>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dirty="0">
                <a:ea typeface="楷体" panose="02010609060101010101" pitchFamily="49" charset="-122"/>
              </a:rPr>
              <a:t>振动冲击较大</a:t>
            </a:r>
            <a:endParaRPr lang="zh-CN" altLang="en-US" sz="2000" dirty="0">
              <a:ea typeface="楷体" panose="02010609060101010101" pitchFamily="49" charset="-122"/>
            </a:endParaRPr>
          </a:p>
        </p:txBody>
      </p:sp>
      <p:sp>
        <p:nvSpPr>
          <p:cNvPr id="530455" name="Rectangle 23"/>
          <p:cNvSpPr>
            <a:spLocks noChangeArrowheads="1"/>
          </p:cNvSpPr>
          <p:nvPr/>
        </p:nvSpPr>
        <p:spPr bwMode="auto">
          <a:xfrm>
            <a:off x="6064250" y="2903538"/>
            <a:ext cx="171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过载无保护</a:t>
            </a:r>
            <a:endParaRPr lang="zh-CN" altLang="en-US" sz="2000">
              <a:ea typeface="楷体" panose="02010609060101010101" pitchFamily="49" charset="-122"/>
            </a:endParaRPr>
          </a:p>
        </p:txBody>
      </p:sp>
      <p:sp>
        <p:nvSpPr>
          <p:cNvPr id="530456" name="Rectangle 24"/>
          <p:cNvSpPr>
            <a:spLocks noChangeArrowheads="1"/>
          </p:cNvSpPr>
          <p:nvPr/>
        </p:nvSpPr>
        <p:spPr bwMode="auto">
          <a:xfrm>
            <a:off x="6064250" y="3360738"/>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传动装置简单</a:t>
            </a:r>
            <a:endParaRPr lang="zh-CN" altLang="en-US" sz="2000">
              <a:ea typeface="楷体" panose="02010609060101010101" pitchFamily="49" charset="-122"/>
            </a:endParaRPr>
          </a:p>
        </p:txBody>
      </p:sp>
      <p:sp>
        <p:nvSpPr>
          <p:cNvPr id="530457" name="Rectangle 25"/>
          <p:cNvSpPr>
            <a:spLocks noChangeArrowheads="1"/>
          </p:cNvSpPr>
          <p:nvPr/>
        </p:nvSpPr>
        <p:spPr bwMode="auto">
          <a:xfrm>
            <a:off x="6064250" y="3802063"/>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轴上受力较小</a:t>
            </a:r>
            <a:endParaRPr lang="zh-CN" altLang="en-US" sz="2000">
              <a:ea typeface="楷体" panose="02010609060101010101" pitchFamily="49" charset="-122"/>
            </a:endParaRPr>
          </a:p>
        </p:txBody>
      </p:sp>
      <p:sp>
        <p:nvSpPr>
          <p:cNvPr id="530458" name="Rectangle 26"/>
          <p:cNvSpPr>
            <a:spLocks noChangeArrowheads="1"/>
          </p:cNvSpPr>
          <p:nvPr/>
        </p:nvSpPr>
        <p:spPr bwMode="auto">
          <a:xfrm>
            <a:off x="6064250" y="4275138"/>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瞬时速比变化</a:t>
            </a:r>
            <a:endParaRPr lang="zh-CN" altLang="en-US" sz="2000">
              <a:ea typeface="楷体" panose="02010609060101010101" pitchFamily="49" charset="-122"/>
            </a:endParaRPr>
          </a:p>
        </p:txBody>
      </p:sp>
      <p:sp>
        <p:nvSpPr>
          <p:cNvPr id="530459" name="Rectangle 27"/>
          <p:cNvSpPr>
            <a:spLocks noChangeArrowheads="1"/>
          </p:cNvSpPr>
          <p:nvPr/>
        </p:nvSpPr>
        <p:spPr bwMode="auto">
          <a:xfrm>
            <a:off x="6064250" y="4732338"/>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外廓尺寸较大</a:t>
            </a:r>
            <a:endParaRPr lang="zh-CN" altLang="en-US" sz="2000">
              <a:ea typeface="楷体" panose="02010609060101010101" pitchFamily="49" charset="-122"/>
            </a:endParaRPr>
          </a:p>
        </p:txBody>
      </p:sp>
      <p:sp>
        <p:nvSpPr>
          <p:cNvPr id="530460" name="Rectangle 28"/>
          <p:cNvSpPr>
            <a:spLocks noChangeArrowheads="1"/>
          </p:cNvSpPr>
          <p:nvPr/>
        </p:nvSpPr>
        <p:spPr bwMode="auto">
          <a:xfrm>
            <a:off x="6064250" y="5189538"/>
            <a:ext cx="1479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寿命较长</a:t>
            </a:r>
            <a:endParaRPr lang="zh-CN" altLang="en-US" sz="2000">
              <a:ea typeface="楷体" panose="02010609060101010101" pitchFamily="49" charset="-122"/>
            </a:endParaRPr>
          </a:p>
        </p:txBody>
      </p:sp>
      <p:grpSp>
        <p:nvGrpSpPr>
          <p:cNvPr id="530461" name="Group 29"/>
          <p:cNvGrpSpPr/>
          <p:nvPr/>
        </p:nvGrpSpPr>
        <p:grpSpPr bwMode="auto">
          <a:xfrm>
            <a:off x="914400" y="1066800"/>
            <a:ext cx="7010400" cy="4519613"/>
            <a:chOff x="576" y="672"/>
            <a:chExt cx="4416" cy="2847"/>
          </a:xfrm>
        </p:grpSpPr>
        <p:sp>
          <p:nvSpPr>
            <p:cNvPr id="530462" name="Text Box 30"/>
            <p:cNvSpPr txBox="1">
              <a:spLocks noChangeArrowheads="1"/>
            </p:cNvSpPr>
            <p:nvPr/>
          </p:nvSpPr>
          <p:spPr bwMode="auto">
            <a:xfrm>
              <a:off x="902" y="687"/>
              <a:ext cx="82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zh-CN" altLang="en-US" b="0" dirty="0">
                  <a:solidFill>
                    <a:srgbClr val="FF0000"/>
                  </a:solidFill>
                  <a:effectLst>
                    <a:outerShdw blurRad="38100" dist="38100" dir="2700000" algn="tl">
                      <a:srgbClr val="C0C0C0"/>
                    </a:outerShdw>
                  </a:effectLst>
                </a:rPr>
                <a:t>齿轮传动</a:t>
              </a:r>
              <a:endParaRPr lang="zh-CN" altLang="en-US" b="0" dirty="0">
                <a:solidFill>
                  <a:srgbClr val="FF0000"/>
                </a:solidFill>
                <a:effectLst>
                  <a:outerShdw blurRad="38100" dist="38100" dir="2700000" algn="tl">
                    <a:srgbClr val="C0C0C0"/>
                  </a:outerShdw>
                </a:effectLst>
              </a:endParaRPr>
            </a:p>
          </p:txBody>
        </p:sp>
        <p:sp>
          <p:nvSpPr>
            <p:cNvPr id="530463" name="Rectangle 31"/>
            <p:cNvSpPr>
              <a:spLocks noChangeArrowheads="1"/>
            </p:cNvSpPr>
            <p:nvPr/>
          </p:nvSpPr>
          <p:spPr bwMode="auto">
            <a:xfrm>
              <a:off x="2448" y="687"/>
              <a:ext cx="75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b="0" dirty="0">
                  <a:solidFill>
                    <a:srgbClr val="FF0000"/>
                  </a:solidFill>
                  <a:effectLst>
                    <a:outerShdw blurRad="38100" dist="38100" dir="2700000" algn="tl">
                      <a:srgbClr val="C0C0C0"/>
                    </a:outerShdw>
                  </a:effectLst>
                </a:rPr>
                <a:t>V</a:t>
              </a:r>
              <a:r>
                <a:rPr lang="zh-CN" altLang="en-US" b="0" dirty="0">
                  <a:solidFill>
                    <a:srgbClr val="FF0000"/>
                  </a:solidFill>
                  <a:effectLst>
                    <a:outerShdw blurRad="38100" dist="38100" dir="2700000" algn="tl">
                      <a:srgbClr val="C0C0C0"/>
                    </a:outerShdw>
                  </a:effectLst>
                </a:rPr>
                <a:t>带传动</a:t>
              </a:r>
              <a:endParaRPr lang="zh-CN" altLang="en-US" b="0" dirty="0">
                <a:solidFill>
                  <a:srgbClr val="FF0000"/>
                </a:solidFill>
                <a:effectLst>
                  <a:outerShdw blurRad="38100" dist="38100" dir="2700000" algn="tl">
                    <a:srgbClr val="C0C0C0"/>
                  </a:outerShdw>
                </a:effectLst>
              </a:endParaRPr>
            </a:p>
          </p:txBody>
        </p:sp>
        <p:sp>
          <p:nvSpPr>
            <p:cNvPr id="530464" name="Line 32"/>
            <p:cNvSpPr>
              <a:spLocks noChangeShapeType="1"/>
            </p:cNvSpPr>
            <p:nvPr/>
          </p:nvSpPr>
          <p:spPr bwMode="auto">
            <a:xfrm>
              <a:off x="624" y="672"/>
              <a:ext cx="4368" cy="0"/>
            </a:xfrm>
            <a:prstGeom prst="line">
              <a:avLst/>
            </a:prstGeom>
            <a:noFill/>
            <a:ln w="28575">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65" name="Line 33"/>
            <p:cNvSpPr>
              <a:spLocks noChangeShapeType="1"/>
            </p:cNvSpPr>
            <p:nvPr/>
          </p:nvSpPr>
          <p:spPr bwMode="auto">
            <a:xfrm>
              <a:off x="576" y="2400"/>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66" name="Line 34"/>
            <p:cNvSpPr>
              <a:spLocks noChangeShapeType="1"/>
            </p:cNvSpPr>
            <p:nvPr/>
          </p:nvSpPr>
          <p:spPr bwMode="auto">
            <a:xfrm>
              <a:off x="576" y="2112"/>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67" name="Line 35"/>
            <p:cNvSpPr>
              <a:spLocks noChangeShapeType="1"/>
            </p:cNvSpPr>
            <p:nvPr/>
          </p:nvSpPr>
          <p:spPr bwMode="auto">
            <a:xfrm>
              <a:off x="576" y="960"/>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68" name="Line 36"/>
            <p:cNvSpPr>
              <a:spLocks noChangeShapeType="1"/>
            </p:cNvSpPr>
            <p:nvPr/>
          </p:nvSpPr>
          <p:spPr bwMode="auto">
            <a:xfrm>
              <a:off x="576" y="2688"/>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69" name="Line 37"/>
            <p:cNvSpPr>
              <a:spLocks noChangeShapeType="1"/>
            </p:cNvSpPr>
            <p:nvPr/>
          </p:nvSpPr>
          <p:spPr bwMode="auto">
            <a:xfrm>
              <a:off x="576" y="2976"/>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0" name="Line 38"/>
            <p:cNvSpPr>
              <a:spLocks noChangeShapeType="1"/>
            </p:cNvSpPr>
            <p:nvPr/>
          </p:nvSpPr>
          <p:spPr bwMode="auto">
            <a:xfrm>
              <a:off x="576" y="3519"/>
              <a:ext cx="4416" cy="0"/>
            </a:xfrm>
            <a:prstGeom prst="line">
              <a:avLst/>
            </a:prstGeom>
            <a:noFill/>
            <a:ln w="28575">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1" name="Line 39"/>
            <p:cNvSpPr>
              <a:spLocks noChangeShapeType="1"/>
            </p:cNvSpPr>
            <p:nvPr/>
          </p:nvSpPr>
          <p:spPr bwMode="auto">
            <a:xfrm>
              <a:off x="576" y="1824"/>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2" name="Line 40"/>
            <p:cNvSpPr>
              <a:spLocks noChangeShapeType="1"/>
            </p:cNvSpPr>
            <p:nvPr/>
          </p:nvSpPr>
          <p:spPr bwMode="auto">
            <a:xfrm>
              <a:off x="576" y="1536"/>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3" name="Line 41"/>
            <p:cNvSpPr>
              <a:spLocks noChangeShapeType="1"/>
            </p:cNvSpPr>
            <p:nvPr/>
          </p:nvSpPr>
          <p:spPr bwMode="auto">
            <a:xfrm>
              <a:off x="576" y="1248"/>
              <a:ext cx="4416"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4" name="Line 42"/>
            <p:cNvSpPr>
              <a:spLocks noChangeShapeType="1"/>
            </p:cNvSpPr>
            <p:nvPr/>
          </p:nvSpPr>
          <p:spPr bwMode="auto">
            <a:xfrm>
              <a:off x="2064" y="672"/>
              <a:ext cx="0" cy="2832"/>
            </a:xfrm>
            <a:prstGeom prst="line">
              <a:avLst/>
            </a:prstGeom>
            <a:noFill/>
            <a:ln w="28575">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5" name="Line 43"/>
            <p:cNvSpPr>
              <a:spLocks noChangeShapeType="1"/>
            </p:cNvSpPr>
            <p:nvPr/>
          </p:nvSpPr>
          <p:spPr bwMode="auto">
            <a:xfrm flipV="1">
              <a:off x="576" y="3264"/>
              <a:ext cx="4368" cy="0"/>
            </a:xfrm>
            <a:prstGeom prst="line">
              <a:avLst/>
            </a:prstGeom>
            <a:noFill/>
            <a:ln w="127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6" name="Line 44"/>
            <p:cNvSpPr>
              <a:spLocks noChangeShapeType="1"/>
            </p:cNvSpPr>
            <p:nvPr/>
          </p:nvSpPr>
          <p:spPr bwMode="auto">
            <a:xfrm>
              <a:off x="3648" y="687"/>
              <a:ext cx="0" cy="2832"/>
            </a:xfrm>
            <a:prstGeom prst="line">
              <a:avLst/>
            </a:prstGeom>
            <a:noFill/>
            <a:ln w="28575">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0477" name="Rectangle 45"/>
            <p:cNvSpPr>
              <a:spLocks noChangeArrowheads="1"/>
            </p:cNvSpPr>
            <p:nvPr/>
          </p:nvSpPr>
          <p:spPr bwMode="auto">
            <a:xfrm>
              <a:off x="3840" y="674"/>
              <a:ext cx="1005"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zh-CN" altLang="en-US" b="0" dirty="0">
                  <a:solidFill>
                    <a:srgbClr val="FF0000"/>
                  </a:solidFill>
                  <a:effectLst>
                    <a:outerShdw blurRad="38100" dist="38100" dir="2700000" algn="tl">
                      <a:srgbClr val="C0C0C0"/>
                    </a:outerShdw>
                  </a:effectLst>
                </a:rPr>
                <a:t>滚子链传动</a:t>
              </a:r>
              <a:endParaRPr lang="zh-CN" altLang="en-US" b="0" dirty="0">
                <a:solidFill>
                  <a:srgbClr val="FF0000"/>
                </a:solidFill>
                <a:effectLst>
                  <a:outerShdw blurRad="38100" dist="38100" dir="2700000" algn="tl">
                    <a:srgbClr val="C0C0C0"/>
                  </a:outerShdw>
                </a:effectLst>
              </a:endParaRPr>
            </a:p>
          </p:txBody>
        </p:sp>
      </p:grpSp>
      <p:sp>
        <p:nvSpPr>
          <p:cNvPr id="530478" name="Rectangle 46"/>
          <p:cNvSpPr>
            <a:spLocks noChangeArrowheads="1"/>
          </p:cNvSpPr>
          <p:nvPr/>
        </p:nvSpPr>
        <p:spPr bwMode="auto">
          <a:xfrm>
            <a:off x="1295400" y="2446338"/>
            <a:ext cx="213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速度适应范围广</a:t>
            </a:r>
            <a:endParaRPr lang="zh-CN" altLang="en-US" sz="2000">
              <a:ea typeface="楷体" panose="02010609060101010101" pitchFamily="49" charset="-122"/>
            </a:endParaRPr>
          </a:p>
        </p:txBody>
      </p:sp>
      <p:sp>
        <p:nvSpPr>
          <p:cNvPr id="530479" name="Rectangle 47"/>
          <p:cNvSpPr>
            <a:spLocks noChangeArrowheads="1"/>
          </p:cNvSpPr>
          <p:nvPr/>
        </p:nvSpPr>
        <p:spPr bwMode="auto">
          <a:xfrm>
            <a:off x="3810000" y="2446338"/>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适合于高速级</a:t>
            </a:r>
            <a:endParaRPr lang="zh-CN" altLang="en-US" sz="2000">
              <a:ea typeface="楷体" panose="02010609060101010101" pitchFamily="49" charset="-122"/>
            </a:endParaRPr>
          </a:p>
        </p:txBody>
      </p:sp>
      <p:sp>
        <p:nvSpPr>
          <p:cNvPr id="530480" name="Rectangle 48"/>
          <p:cNvSpPr>
            <a:spLocks noChangeArrowheads="1"/>
          </p:cNvSpPr>
          <p:nvPr/>
        </p:nvSpPr>
        <p:spPr bwMode="auto">
          <a:xfrm>
            <a:off x="6064250" y="2462213"/>
            <a:ext cx="186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000">
                <a:ea typeface="楷体" panose="02010609060101010101" pitchFamily="49" charset="-122"/>
              </a:rPr>
              <a:t>适合于低速级</a:t>
            </a:r>
            <a:endParaRPr lang="zh-CN" altLang="en-US" sz="2000">
              <a:ea typeface="楷体" panose="02010609060101010101" pitchFamily="49" charset="-122"/>
            </a:endParaRPr>
          </a:p>
        </p:txBody>
      </p:sp>
      <p:sp>
        <p:nvSpPr>
          <p:cNvPr id="530481" name="Rectangle 49"/>
          <p:cNvSpPr>
            <a:spLocks noChangeArrowheads="1"/>
          </p:cNvSpPr>
          <p:nvPr/>
        </p:nvSpPr>
        <p:spPr bwMode="auto">
          <a:xfrm>
            <a:off x="838200" y="457200"/>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a:solidFill>
                  <a:srgbClr val="800000"/>
                </a:solidFill>
                <a:latin typeface="黑体" panose="02010609060101010101" pitchFamily="49" charset="-122"/>
              </a:rPr>
              <a:t>几种传动形式的优、缺点比较：</a:t>
            </a:r>
            <a:endParaRPr lang="zh-CN" altLang="en-US">
              <a:solidFill>
                <a:srgbClr val="800000"/>
              </a:solidFill>
              <a:latin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30481"/>
                                        </p:tgtEl>
                                        <p:attrNameLst>
                                          <p:attrName>style.visibility</p:attrName>
                                        </p:attrNameLst>
                                      </p:cBhvr>
                                      <p:to>
                                        <p:strVal val="visible"/>
                                      </p:to>
                                    </p:set>
                                    <p:animEffect transition="in" filter="dissolve">
                                      <p:cBhvr>
                                        <p:cTn id="7" dur="500"/>
                                        <p:tgtEl>
                                          <p:spTgt spid="5304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0461"/>
                                        </p:tgtEl>
                                        <p:attrNameLst>
                                          <p:attrName>style.visibility</p:attrName>
                                        </p:attrNameLst>
                                      </p:cBhvr>
                                      <p:to>
                                        <p:strVal val="visible"/>
                                      </p:to>
                                    </p:set>
                                    <p:animEffect transition="in" filter="wipe(up)">
                                      <p:cBhvr>
                                        <p:cTn id="11" dur="500"/>
                                        <p:tgtEl>
                                          <p:spTgt spid="53046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30442"/>
                                        </p:tgtEl>
                                        <p:attrNameLst>
                                          <p:attrName>style.visibility</p:attrName>
                                        </p:attrNameLst>
                                      </p:cBhvr>
                                      <p:to>
                                        <p:strVal val="visible"/>
                                      </p:to>
                                    </p:set>
                                    <p:animEffect transition="in" filter="dissolve">
                                      <p:cBhvr>
                                        <p:cTn id="16" dur="500"/>
                                        <p:tgtEl>
                                          <p:spTgt spid="53044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530441"/>
                                        </p:tgtEl>
                                        <p:attrNameLst>
                                          <p:attrName>style.visibility</p:attrName>
                                        </p:attrNameLst>
                                      </p:cBhvr>
                                      <p:to>
                                        <p:strVal val="visible"/>
                                      </p:to>
                                    </p:set>
                                    <p:animEffect transition="in" filter="dissolve">
                                      <p:cBhvr>
                                        <p:cTn id="20" dur="500"/>
                                        <p:tgtEl>
                                          <p:spTgt spid="530441"/>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530453"/>
                                        </p:tgtEl>
                                        <p:attrNameLst>
                                          <p:attrName>style.visibility</p:attrName>
                                        </p:attrNameLst>
                                      </p:cBhvr>
                                      <p:to>
                                        <p:strVal val="visible"/>
                                      </p:to>
                                    </p:set>
                                    <p:animEffect transition="in" filter="dissolve">
                                      <p:cBhvr>
                                        <p:cTn id="24" dur="500"/>
                                        <p:tgtEl>
                                          <p:spTgt spid="53045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530440"/>
                                        </p:tgtEl>
                                        <p:attrNameLst>
                                          <p:attrName>style.visibility</p:attrName>
                                        </p:attrNameLst>
                                      </p:cBhvr>
                                      <p:to>
                                        <p:strVal val="visible"/>
                                      </p:to>
                                    </p:set>
                                    <p:animEffect transition="in" filter="dissolve">
                                      <p:cBhvr>
                                        <p:cTn id="29" dur="500"/>
                                        <p:tgtEl>
                                          <p:spTgt spid="530440"/>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530443"/>
                                        </p:tgtEl>
                                        <p:attrNameLst>
                                          <p:attrName>style.visibility</p:attrName>
                                        </p:attrNameLst>
                                      </p:cBhvr>
                                      <p:to>
                                        <p:strVal val="visible"/>
                                      </p:to>
                                    </p:set>
                                    <p:animEffect transition="in" filter="dissolve">
                                      <p:cBhvr>
                                        <p:cTn id="33" dur="500"/>
                                        <p:tgtEl>
                                          <p:spTgt spid="530443"/>
                                        </p:tgtEl>
                                      </p:cBhvr>
                                    </p:animEffect>
                                  </p:childTnLst>
                                </p:cTn>
                              </p:par>
                            </p:childTnLst>
                          </p:cTn>
                        </p:par>
                        <p:par>
                          <p:cTn id="34" fill="hold">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530454"/>
                                        </p:tgtEl>
                                        <p:attrNameLst>
                                          <p:attrName>style.visibility</p:attrName>
                                        </p:attrNameLst>
                                      </p:cBhvr>
                                      <p:to>
                                        <p:strVal val="visible"/>
                                      </p:to>
                                    </p:set>
                                    <p:animEffect transition="in" filter="dissolve">
                                      <p:cBhvr>
                                        <p:cTn id="37" dur="500"/>
                                        <p:tgtEl>
                                          <p:spTgt spid="53045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30478"/>
                                        </p:tgtEl>
                                        <p:attrNameLst>
                                          <p:attrName>style.visibility</p:attrName>
                                        </p:attrNameLst>
                                      </p:cBhvr>
                                      <p:to>
                                        <p:strVal val="visible"/>
                                      </p:to>
                                    </p:set>
                                    <p:animEffect transition="in" filter="dissolve">
                                      <p:cBhvr>
                                        <p:cTn id="42" dur="500"/>
                                        <p:tgtEl>
                                          <p:spTgt spid="530478"/>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530479"/>
                                        </p:tgtEl>
                                        <p:attrNameLst>
                                          <p:attrName>style.visibility</p:attrName>
                                        </p:attrNameLst>
                                      </p:cBhvr>
                                      <p:to>
                                        <p:strVal val="visible"/>
                                      </p:to>
                                    </p:set>
                                    <p:animEffect transition="in" filter="dissolve">
                                      <p:cBhvr>
                                        <p:cTn id="46" dur="500"/>
                                        <p:tgtEl>
                                          <p:spTgt spid="530479"/>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530480"/>
                                        </p:tgtEl>
                                        <p:attrNameLst>
                                          <p:attrName>style.visibility</p:attrName>
                                        </p:attrNameLst>
                                      </p:cBhvr>
                                      <p:to>
                                        <p:strVal val="visible"/>
                                      </p:to>
                                    </p:set>
                                    <p:animEffect transition="in" filter="dissolve">
                                      <p:cBhvr>
                                        <p:cTn id="50" dur="500"/>
                                        <p:tgtEl>
                                          <p:spTgt spid="53048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30439"/>
                                        </p:tgtEl>
                                        <p:attrNameLst>
                                          <p:attrName>style.visibility</p:attrName>
                                        </p:attrNameLst>
                                      </p:cBhvr>
                                      <p:to>
                                        <p:strVal val="visible"/>
                                      </p:to>
                                    </p:set>
                                    <p:animEffect transition="in" filter="dissolve">
                                      <p:cBhvr>
                                        <p:cTn id="55" dur="500"/>
                                        <p:tgtEl>
                                          <p:spTgt spid="530439"/>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530444"/>
                                        </p:tgtEl>
                                        <p:attrNameLst>
                                          <p:attrName>style.visibility</p:attrName>
                                        </p:attrNameLst>
                                      </p:cBhvr>
                                      <p:to>
                                        <p:strVal val="visible"/>
                                      </p:to>
                                    </p:set>
                                    <p:animEffect transition="in" filter="dissolve">
                                      <p:cBhvr>
                                        <p:cTn id="59" dur="500"/>
                                        <p:tgtEl>
                                          <p:spTgt spid="530444"/>
                                        </p:tgtEl>
                                      </p:cBhvr>
                                    </p:animEffect>
                                  </p:childTnLst>
                                </p:cTn>
                              </p:par>
                            </p:childTnLst>
                          </p:cTn>
                        </p:par>
                        <p:par>
                          <p:cTn id="60" fill="hold">
                            <p:stCondLst>
                              <p:cond delay="1000"/>
                            </p:stCondLst>
                            <p:childTnLst>
                              <p:par>
                                <p:cTn id="61" presetID="9" presetClass="entr" presetSubtype="0" fill="hold" grpId="0" nodeType="afterEffect">
                                  <p:stCondLst>
                                    <p:cond delay="0"/>
                                  </p:stCondLst>
                                  <p:childTnLst>
                                    <p:set>
                                      <p:cBhvr>
                                        <p:cTn id="62" dur="1" fill="hold">
                                          <p:stCondLst>
                                            <p:cond delay="0"/>
                                          </p:stCondLst>
                                        </p:cTn>
                                        <p:tgtEl>
                                          <p:spTgt spid="530455"/>
                                        </p:tgtEl>
                                        <p:attrNameLst>
                                          <p:attrName>style.visibility</p:attrName>
                                        </p:attrNameLst>
                                      </p:cBhvr>
                                      <p:to>
                                        <p:strVal val="visible"/>
                                      </p:to>
                                    </p:set>
                                    <p:animEffect transition="in" filter="dissolve">
                                      <p:cBhvr>
                                        <p:cTn id="63" dur="500"/>
                                        <p:tgtEl>
                                          <p:spTgt spid="530455"/>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30438"/>
                                        </p:tgtEl>
                                        <p:attrNameLst>
                                          <p:attrName>style.visibility</p:attrName>
                                        </p:attrNameLst>
                                      </p:cBhvr>
                                      <p:to>
                                        <p:strVal val="visible"/>
                                      </p:to>
                                    </p:set>
                                    <p:animEffect transition="in" filter="dissolve">
                                      <p:cBhvr>
                                        <p:cTn id="68" dur="500"/>
                                        <p:tgtEl>
                                          <p:spTgt spid="530438"/>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530445"/>
                                        </p:tgtEl>
                                        <p:attrNameLst>
                                          <p:attrName>style.visibility</p:attrName>
                                        </p:attrNameLst>
                                      </p:cBhvr>
                                      <p:to>
                                        <p:strVal val="visible"/>
                                      </p:to>
                                    </p:set>
                                    <p:animEffect transition="in" filter="dissolve">
                                      <p:cBhvr>
                                        <p:cTn id="72" dur="500"/>
                                        <p:tgtEl>
                                          <p:spTgt spid="530445"/>
                                        </p:tgtEl>
                                      </p:cBhvr>
                                    </p:animEffect>
                                  </p:childTnLst>
                                </p:cTn>
                              </p:par>
                            </p:childTnLst>
                          </p:cTn>
                        </p:par>
                        <p:par>
                          <p:cTn id="73" fill="hold">
                            <p:stCondLst>
                              <p:cond delay="1000"/>
                            </p:stCondLst>
                            <p:childTnLst>
                              <p:par>
                                <p:cTn id="74" presetID="9" presetClass="entr" presetSubtype="0" fill="hold" grpId="0" nodeType="afterEffect">
                                  <p:stCondLst>
                                    <p:cond delay="0"/>
                                  </p:stCondLst>
                                  <p:childTnLst>
                                    <p:set>
                                      <p:cBhvr>
                                        <p:cTn id="75" dur="1" fill="hold">
                                          <p:stCondLst>
                                            <p:cond delay="0"/>
                                          </p:stCondLst>
                                        </p:cTn>
                                        <p:tgtEl>
                                          <p:spTgt spid="530456"/>
                                        </p:tgtEl>
                                        <p:attrNameLst>
                                          <p:attrName>style.visibility</p:attrName>
                                        </p:attrNameLst>
                                      </p:cBhvr>
                                      <p:to>
                                        <p:strVal val="visible"/>
                                      </p:to>
                                    </p:set>
                                    <p:animEffect transition="in" filter="dissolve">
                                      <p:cBhvr>
                                        <p:cTn id="76" dur="500"/>
                                        <p:tgtEl>
                                          <p:spTgt spid="530456"/>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530437"/>
                                        </p:tgtEl>
                                        <p:attrNameLst>
                                          <p:attrName>style.visibility</p:attrName>
                                        </p:attrNameLst>
                                      </p:cBhvr>
                                      <p:to>
                                        <p:strVal val="visible"/>
                                      </p:to>
                                    </p:set>
                                    <p:animEffect transition="in" filter="dissolve">
                                      <p:cBhvr>
                                        <p:cTn id="81" dur="500"/>
                                        <p:tgtEl>
                                          <p:spTgt spid="530437"/>
                                        </p:tgtEl>
                                      </p:cBhvr>
                                    </p:animEffect>
                                  </p:childTnLst>
                                </p:cTn>
                              </p:par>
                            </p:childTnLst>
                          </p:cTn>
                        </p:par>
                        <p:par>
                          <p:cTn id="82" fill="hold">
                            <p:stCondLst>
                              <p:cond delay="500"/>
                            </p:stCondLst>
                            <p:childTnLst>
                              <p:par>
                                <p:cTn id="83" presetID="9" presetClass="entr" presetSubtype="0" fill="hold" grpId="0" nodeType="afterEffect">
                                  <p:stCondLst>
                                    <p:cond delay="0"/>
                                  </p:stCondLst>
                                  <p:childTnLst>
                                    <p:set>
                                      <p:cBhvr>
                                        <p:cTn id="84" dur="1" fill="hold">
                                          <p:stCondLst>
                                            <p:cond delay="0"/>
                                          </p:stCondLst>
                                        </p:cTn>
                                        <p:tgtEl>
                                          <p:spTgt spid="530446"/>
                                        </p:tgtEl>
                                        <p:attrNameLst>
                                          <p:attrName>style.visibility</p:attrName>
                                        </p:attrNameLst>
                                      </p:cBhvr>
                                      <p:to>
                                        <p:strVal val="visible"/>
                                      </p:to>
                                    </p:set>
                                    <p:animEffect transition="in" filter="dissolve">
                                      <p:cBhvr>
                                        <p:cTn id="85" dur="500"/>
                                        <p:tgtEl>
                                          <p:spTgt spid="530446"/>
                                        </p:tgtEl>
                                      </p:cBhvr>
                                    </p:animEffect>
                                  </p:childTnLst>
                                </p:cTn>
                              </p:par>
                            </p:childTnLst>
                          </p:cTn>
                        </p:par>
                        <p:par>
                          <p:cTn id="86" fill="hold">
                            <p:stCondLst>
                              <p:cond delay="1000"/>
                            </p:stCondLst>
                            <p:childTnLst>
                              <p:par>
                                <p:cTn id="87" presetID="9" presetClass="entr" presetSubtype="0" fill="hold" grpId="0" nodeType="afterEffect">
                                  <p:stCondLst>
                                    <p:cond delay="0"/>
                                  </p:stCondLst>
                                  <p:childTnLst>
                                    <p:set>
                                      <p:cBhvr>
                                        <p:cTn id="88" dur="1" fill="hold">
                                          <p:stCondLst>
                                            <p:cond delay="0"/>
                                          </p:stCondLst>
                                        </p:cTn>
                                        <p:tgtEl>
                                          <p:spTgt spid="530457"/>
                                        </p:tgtEl>
                                        <p:attrNameLst>
                                          <p:attrName>style.visibility</p:attrName>
                                        </p:attrNameLst>
                                      </p:cBhvr>
                                      <p:to>
                                        <p:strVal val="visible"/>
                                      </p:to>
                                    </p:set>
                                    <p:animEffect transition="in" filter="dissolve">
                                      <p:cBhvr>
                                        <p:cTn id="89" dur="500"/>
                                        <p:tgtEl>
                                          <p:spTgt spid="530457"/>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530447"/>
                                        </p:tgtEl>
                                        <p:attrNameLst>
                                          <p:attrName>style.visibility</p:attrName>
                                        </p:attrNameLst>
                                      </p:cBhvr>
                                      <p:to>
                                        <p:strVal val="visible"/>
                                      </p:to>
                                    </p:set>
                                    <p:animEffect transition="in" filter="dissolve">
                                      <p:cBhvr>
                                        <p:cTn id="94" dur="500"/>
                                        <p:tgtEl>
                                          <p:spTgt spid="530447"/>
                                        </p:tgtEl>
                                      </p:cBhvr>
                                    </p:animEffect>
                                  </p:childTnLst>
                                </p:cTn>
                              </p:par>
                            </p:childTnLst>
                          </p:cTn>
                        </p:par>
                        <p:par>
                          <p:cTn id="95" fill="hold">
                            <p:stCondLst>
                              <p:cond delay="500"/>
                            </p:stCondLst>
                            <p:childTnLst>
                              <p:par>
                                <p:cTn id="96" presetID="9" presetClass="entr" presetSubtype="0" fill="hold" grpId="0" nodeType="afterEffect">
                                  <p:stCondLst>
                                    <p:cond delay="0"/>
                                  </p:stCondLst>
                                  <p:childTnLst>
                                    <p:set>
                                      <p:cBhvr>
                                        <p:cTn id="97" dur="1" fill="hold">
                                          <p:stCondLst>
                                            <p:cond delay="0"/>
                                          </p:stCondLst>
                                        </p:cTn>
                                        <p:tgtEl>
                                          <p:spTgt spid="530448"/>
                                        </p:tgtEl>
                                        <p:attrNameLst>
                                          <p:attrName>style.visibility</p:attrName>
                                        </p:attrNameLst>
                                      </p:cBhvr>
                                      <p:to>
                                        <p:strVal val="visible"/>
                                      </p:to>
                                    </p:set>
                                    <p:animEffect transition="in" filter="dissolve">
                                      <p:cBhvr>
                                        <p:cTn id="98" dur="500"/>
                                        <p:tgtEl>
                                          <p:spTgt spid="530448"/>
                                        </p:tgtEl>
                                      </p:cBhvr>
                                    </p:animEffect>
                                  </p:childTnLst>
                                </p:cTn>
                              </p:par>
                            </p:childTnLst>
                          </p:cTn>
                        </p:par>
                        <p:par>
                          <p:cTn id="99" fill="hold">
                            <p:stCondLst>
                              <p:cond delay="1000"/>
                            </p:stCondLst>
                            <p:childTnLst>
                              <p:par>
                                <p:cTn id="100" presetID="9" presetClass="entr" presetSubtype="0" fill="hold" grpId="0" nodeType="afterEffect">
                                  <p:stCondLst>
                                    <p:cond delay="0"/>
                                  </p:stCondLst>
                                  <p:childTnLst>
                                    <p:set>
                                      <p:cBhvr>
                                        <p:cTn id="101" dur="1" fill="hold">
                                          <p:stCondLst>
                                            <p:cond delay="0"/>
                                          </p:stCondLst>
                                        </p:cTn>
                                        <p:tgtEl>
                                          <p:spTgt spid="530458"/>
                                        </p:tgtEl>
                                        <p:attrNameLst>
                                          <p:attrName>style.visibility</p:attrName>
                                        </p:attrNameLst>
                                      </p:cBhvr>
                                      <p:to>
                                        <p:strVal val="visible"/>
                                      </p:to>
                                    </p:set>
                                    <p:animEffect transition="in" filter="dissolve">
                                      <p:cBhvr>
                                        <p:cTn id="102" dur="500"/>
                                        <p:tgtEl>
                                          <p:spTgt spid="530458"/>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530449"/>
                                        </p:tgtEl>
                                        <p:attrNameLst>
                                          <p:attrName>style.visibility</p:attrName>
                                        </p:attrNameLst>
                                      </p:cBhvr>
                                      <p:to>
                                        <p:strVal val="visible"/>
                                      </p:to>
                                    </p:set>
                                    <p:animEffect transition="in" filter="dissolve">
                                      <p:cBhvr>
                                        <p:cTn id="107" dur="500"/>
                                        <p:tgtEl>
                                          <p:spTgt spid="530449"/>
                                        </p:tgtEl>
                                      </p:cBhvr>
                                    </p:animEffect>
                                  </p:childTnLst>
                                </p:cTn>
                              </p:par>
                            </p:childTnLst>
                          </p:cTn>
                        </p:par>
                        <p:par>
                          <p:cTn id="108" fill="hold">
                            <p:stCondLst>
                              <p:cond delay="500"/>
                            </p:stCondLst>
                            <p:childTnLst>
                              <p:par>
                                <p:cTn id="109" presetID="9" presetClass="entr" presetSubtype="0" fill="hold" grpId="0" nodeType="afterEffect">
                                  <p:stCondLst>
                                    <p:cond delay="0"/>
                                  </p:stCondLst>
                                  <p:childTnLst>
                                    <p:set>
                                      <p:cBhvr>
                                        <p:cTn id="110" dur="1" fill="hold">
                                          <p:stCondLst>
                                            <p:cond delay="0"/>
                                          </p:stCondLst>
                                        </p:cTn>
                                        <p:tgtEl>
                                          <p:spTgt spid="530450"/>
                                        </p:tgtEl>
                                        <p:attrNameLst>
                                          <p:attrName>style.visibility</p:attrName>
                                        </p:attrNameLst>
                                      </p:cBhvr>
                                      <p:to>
                                        <p:strVal val="visible"/>
                                      </p:to>
                                    </p:set>
                                    <p:animEffect transition="in" filter="dissolve">
                                      <p:cBhvr>
                                        <p:cTn id="111" dur="500"/>
                                        <p:tgtEl>
                                          <p:spTgt spid="530450"/>
                                        </p:tgtEl>
                                      </p:cBhvr>
                                    </p:animEffect>
                                  </p:childTnLst>
                                </p:cTn>
                              </p:par>
                            </p:childTnLst>
                          </p:cTn>
                        </p:par>
                        <p:par>
                          <p:cTn id="112" fill="hold">
                            <p:stCondLst>
                              <p:cond delay="1000"/>
                            </p:stCondLst>
                            <p:childTnLst>
                              <p:par>
                                <p:cTn id="113" presetID="9" presetClass="entr" presetSubtype="0" fill="hold" grpId="0" nodeType="afterEffect">
                                  <p:stCondLst>
                                    <p:cond delay="0"/>
                                  </p:stCondLst>
                                  <p:childTnLst>
                                    <p:set>
                                      <p:cBhvr>
                                        <p:cTn id="114" dur="1" fill="hold">
                                          <p:stCondLst>
                                            <p:cond delay="0"/>
                                          </p:stCondLst>
                                        </p:cTn>
                                        <p:tgtEl>
                                          <p:spTgt spid="530459"/>
                                        </p:tgtEl>
                                        <p:attrNameLst>
                                          <p:attrName>style.visibility</p:attrName>
                                        </p:attrNameLst>
                                      </p:cBhvr>
                                      <p:to>
                                        <p:strVal val="visible"/>
                                      </p:to>
                                    </p:set>
                                    <p:animEffect transition="in" filter="dissolve">
                                      <p:cBhvr>
                                        <p:cTn id="115" dur="500"/>
                                        <p:tgtEl>
                                          <p:spTgt spid="530459"/>
                                        </p:tgtEl>
                                      </p:cBhvr>
                                    </p:animEffec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530451"/>
                                        </p:tgtEl>
                                        <p:attrNameLst>
                                          <p:attrName>style.visibility</p:attrName>
                                        </p:attrNameLst>
                                      </p:cBhvr>
                                      <p:to>
                                        <p:strVal val="visible"/>
                                      </p:to>
                                    </p:set>
                                    <p:animEffect transition="in" filter="dissolve">
                                      <p:cBhvr>
                                        <p:cTn id="120" dur="500"/>
                                        <p:tgtEl>
                                          <p:spTgt spid="530451"/>
                                        </p:tgtEl>
                                      </p:cBhvr>
                                    </p:animEffect>
                                  </p:childTnLst>
                                </p:cTn>
                              </p:par>
                            </p:childTnLst>
                          </p:cTn>
                        </p:par>
                        <p:par>
                          <p:cTn id="121" fill="hold">
                            <p:stCondLst>
                              <p:cond delay="500"/>
                            </p:stCondLst>
                            <p:childTnLst>
                              <p:par>
                                <p:cTn id="122" presetID="9" presetClass="entr" presetSubtype="0" fill="hold" grpId="0" nodeType="afterEffect">
                                  <p:stCondLst>
                                    <p:cond delay="0"/>
                                  </p:stCondLst>
                                  <p:childTnLst>
                                    <p:set>
                                      <p:cBhvr>
                                        <p:cTn id="123" dur="1" fill="hold">
                                          <p:stCondLst>
                                            <p:cond delay="0"/>
                                          </p:stCondLst>
                                        </p:cTn>
                                        <p:tgtEl>
                                          <p:spTgt spid="530452"/>
                                        </p:tgtEl>
                                        <p:attrNameLst>
                                          <p:attrName>style.visibility</p:attrName>
                                        </p:attrNameLst>
                                      </p:cBhvr>
                                      <p:to>
                                        <p:strVal val="visible"/>
                                      </p:to>
                                    </p:set>
                                    <p:animEffect transition="in" filter="dissolve">
                                      <p:cBhvr>
                                        <p:cTn id="124" dur="500"/>
                                        <p:tgtEl>
                                          <p:spTgt spid="530452"/>
                                        </p:tgtEl>
                                      </p:cBhvr>
                                    </p:animEffect>
                                  </p:childTnLst>
                                </p:cTn>
                              </p:par>
                            </p:childTnLst>
                          </p:cTn>
                        </p:par>
                        <p:par>
                          <p:cTn id="125" fill="hold">
                            <p:stCondLst>
                              <p:cond delay="1000"/>
                            </p:stCondLst>
                            <p:childTnLst>
                              <p:par>
                                <p:cTn id="126" presetID="9" presetClass="entr" presetSubtype="0" fill="hold" grpId="0" nodeType="afterEffect">
                                  <p:stCondLst>
                                    <p:cond delay="0"/>
                                  </p:stCondLst>
                                  <p:childTnLst>
                                    <p:set>
                                      <p:cBhvr>
                                        <p:cTn id="127" dur="1" fill="hold">
                                          <p:stCondLst>
                                            <p:cond delay="0"/>
                                          </p:stCondLst>
                                        </p:cTn>
                                        <p:tgtEl>
                                          <p:spTgt spid="530460"/>
                                        </p:tgtEl>
                                        <p:attrNameLst>
                                          <p:attrName>style.visibility</p:attrName>
                                        </p:attrNameLst>
                                      </p:cBhvr>
                                      <p:to>
                                        <p:strVal val="visible"/>
                                      </p:to>
                                    </p:set>
                                    <p:animEffect transition="in" filter="dissolve">
                                      <p:cBhvr>
                                        <p:cTn id="128" dur="500"/>
                                        <p:tgtEl>
                                          <p:spTgt spid="530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7" grpId="0" autoUpdateAnimBg="0"/>
      <p:bldP spid="530438" grpId="0" autoUpdateAnimBg="0"/>
      <p:bldP spid="530439" grpId="0" autoUpdateAnimBg="0"/>
      <p:bldP spid="530440" grpId="0" autoUpdateAnimBg="0"/>
      <p:bldP spid="530441" grpId="0" autoUpdateAnimBg="0"/>
      <p:bldP spid="530442" grpId="0" autoUpdateAnimBg="0"/>
      <p:bldP spid="530443" grpId="0" autoUpdateAnimBg="0"/>
      <p:bldP spid="530444" grpId="0" autoUpdateAnimBg="0"/>
      <p:bldP spid="530445" grpId="0" autoUpdateAnimBg="0"/>
      <p:bldP spid="530446" grpId="0" autoUpdateAnimBg="0"/>
      <p:bldP spid="530447" grpId="0" autoUpdateAnimBg="0"/>
      <p:bldP spid="530448" grpId="0" autoUpdateAnimBg="0"/>
      <p:bldP spid="530449" grpId="0" autoUpdateAnimBg="0"/>
      <p:bldP spid="530450" grpId="0" autoUpdateAnimBg="0"/>
      <p:bldP spid="530451" grpId="0" autoUpdateAnimBg="0"/>
      <p:bldP spid="530452" grpId="0" autoUpdateAnimBg="0"/>
      <p:bldP spid="530453" grpId="0" autoUpdateAnimBg="0"/>
      <p:bldP spid="530454" grpId="0" autoUpdateAnimBg="0"/>
      <p:bldP spid="530455" grpId="0" autoUpdateAnimBg="0"/>
      <p:bldP spid="530456" grpId="0" autoUpdateAnimBg="0"/>
      <p:bldP spid="530457" grpId="0" autoUpdateAnimBg="0"/>
      <p:bldP spid="530458" grpId="0" autoUpdateAnimBg="0"/>
      <p:bldP spid="530459" grpId="0" autoUpdateAnimBg="0"/>
      <p:bldP spid="530460" grpId="0" autoUpdateAnimBg="0"/>
      <p:bldP spid="530478" grpId="0" autoUpdateAnimBg="0"/>
      <p:bldP spid="530479" grpId="0" autoUpdateAnimBg="0"/>
      <p:bldP spid="530480" grpId="0" autoUpdateAnimBg="0"/>
      <p:bldP spid="53048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485" name="Text Box 5"/>
          <p:cNvSpPr txBox="1">
            <a:spLocks noChangeArrowheads="1"/>
          </p:cNvSpPr>
          <p:nvPr/>
        </p:nvSpPr>
        <p:spPr bwMode="auto">
          <a:xfrm>
            <a:off x="2555776" y="188640"/>
            <a:ext cx="4395936" cy="523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dirty="0" smtClean="0">
                <a:solidFill>
                  <a:schemeClr val="hlink"/>
                </a:solidFill>
                <a:effectLst>
                  <a:outerShdw blurRad="38100" dist="38100" dir="2700000" algn="tl">
                    <a:srgbClr val="C0C0C0"/>
                  </a:outerShdw>
                </a:effectLst>
              </a:rPr>
              <a:t>带传动和链传动 </a:t>
            </a:r>
            <a:r>
              <a:rPr lang="zh-CN" altLang="en-US" sz="2800" dirty="0">
                <a:solidFill>
                  <a:schemeClr val="hlink"/>
                </a:solidFill>
                <a:effectLst>
                  <a:outerShdw blurRad="38100" dist="38100" dir="2700000" algn="tl">
                    <a:srgbClr val="C0C0C0"/>
                  </a:outerShdw>
                </a:effectLst>
              </a:rPr>
              <a:t>小 结</a:t>
            </a:r>
            <a:endParaRPr lang="zh-CN" altLang="en-US" sz="2800" dirty="0">
              <a:solidFill>
                <a:schemeClr val="hlink"/>
              </a:solidFill>
              <a:effectLst>
                <a:outerShdw blurRad="38100" dist="38100" dir="2700000" algn="tl">
                  <a:srgbClr val="C0C0C0"/>
                </a:outerShdw>
              </a:effectLst>
            </a:endParaRPr>
          </a:p>
        </p:txBody>
      </p:sp>
      <p:sp>
        <p:nvSpPr>
          <p:cNvPr id="532486" name="Text Box 6"/>
          <p:cNvSpPr txBox="1">
            <a:spLocks noChangeArrowheads="1"/>
          </p:cNvSpPr>
          <p:nvPr/>
        </p:nvSpPr>
        <p:spPr bwMode="auto">
          <a:xfrm>
            <a:off x="939800" y="812800"/>
            <a:ext cx="41783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a:t>
            </a:r>
            <a:r>
              <a:rPr lang="en-US" altLang="zh-CN" dirty="0">
                <a:solidFill>
                  <a:srgbClr val="FF0000"/>
                </a:solidFill>
              </a:rPr>
              <a:t> </a:t>
            </a:r>
            <a:r>
              <a:rPr lang="zh-CN" altLang="en-US" u="sng" dirty="0">
                <a:solidFill>
                  <a:srgbClr val="FF0000"/>
                </a:solidFill>
              </a:rPr>
              <a:t>带传动的工作原理及特点</a:t>
            </a:r>
            <a:endParaRPr lang="zh-CN" altLang="en-US" u="sng" dirty="0">
              <a:solidFill>
                <a:srgbClr val="FF0000"/>
              </a:solidFill>
            </a:endParaRPr>
          </a:p>
        </p:txBody>
      </p:sp>
      <p:sp>
        <p:nvSpPr>
          <p:cNvPr id="532487" name="Text Box 7"/>
          <p:cNvSpPr txBox="1">
            <a:spLocks noChangeArrowheads="1"/>
          </p:cNvSpPr>
          <p:nvPr/>
        </p:nvSpPr>
        <p:spPr bwMode="auto">
          <a:xfrm>
            <a:off x="1308100" y="1270000"/>
            <a:ext cx="7061200" cy="822325"/>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摩擦传动，结构简单，中心距大，平稳，吸振，适合于高速级（转速高则转矩小，有利于带传动）</a:t>
            </a:r>
            <a:endParaRPr lang="zh-CN" altLang="en-US"/>
          </a:p>
        </p:txBody>
      </p:sp>
      <p:sp>
        <p:nvSpPr>
          <p:cNvPr id="532488" name="Text Box 8"/>
          <p:cNvSpPr txBox="1">
            <a:spLocks noChangeArrowheads="1"/>
          </p:cNvSpPr>
          <p:nvPr/>
        </p:nvSpPr>
        <p:spPr bwMode="auto">
          <a:xfrm>
            <a:off x="952500" y="2095500"/>
            <a:ext cx="44831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带传动受力分析、应力分析</a:t>
            </a:r>
            <a:endParaRPr lang="zh-CN" altLang="en-US" u="sng" dirty="0">
              <a:solidFill>
                <a:srgbClr val="FF0000"/>
              </a:solidFill>
            </a:endParaRPr>
          </a:p>
        </p:txBody>
      </p:sp>
      <p:sp>
        <p:nvSpPr>
          <p:cNvPr id="532489" name="Text Box 9"/>
          <p:cNvSpPr txBox="1">
            <a:spLocks noChangeArrowheads="1"/>
          </p:cNvSpPr>
          <p:nvPr/>
        </p:nvSpPr>
        <p:spPr bwMode="auto">
          <a:xfrm>
            <a:off x="1371600" y="2552700"/>
            <a:ext cx="7353300" cy="45720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F</a:t>
            </a:r>
            <a:r>
              <a:rPr lang="zh-CN" altLang="en-US"/>
              <a:t>、</a:t>
            </a:r>
            <a:r>
              <a:rPr lang="en-US" altLang="zh-CN" i="1"/>
              <a:t>F</a:t>
            </a:r>
            <a:r>
              <a:rPr lang="en-US" altLang="zh-CN" i="1" baseline="-16000"/>
              <a:t>f</a:t>
            </a:r>
            <a:r>
              <a:rPr lang="zh-CN" altLang="en-US"/>
              <a:t>、</a:t>
            </a:r>
            <a:r>
              <a:rPr lang="en-US" altLang="zh-CN" i="1"/>
              <a:t>F</a:t>
            </a:r>
            <a:r>
              <a:rPr lang="en-US" altLang="zh-CN" baseline="-16000"/>
              <a:t>1</a:t>
            </a:r>
            <a:r>
              <a:rPr lang="zh-CN" altLang="en-US"/>
              <a:t>、</a:t>
            </a:r>
            <a:r>
              <a:rPr lang="en-US" altLang="zh-CN" i="1"/>
              <a:t>F</a:t>
            </a:r>
            <a:r>
              <a:rPr lang="en-US" altLang="zh-CN" baseline="-16000"/>
              <a:t>2</a:t>
            </a:r>
            <a:r>
              <a:rPr lang="zh-CN" altLang="en-US"/>
              <a:t>、</a:t>
            </a:r>
            <a:r>
              <a:rPr lang="en-US" altLang="zh-CN" i="1"/>
              <a:t>F</a:t>
            </a:r>
            <a:r>
              <a:rPr lang="en-US" altLang="zh-CN" baseline="-16000"/>
              <a:t>0</a:t>
            </a:r>
            <a:r>
              <a:rPr lang="zh-CN" altLang="en-US"/>
              <a:t>之间的关系，欧拉公式的含义；</a:t>
            </a:r>
            <a:endParaRPr lang="zh-CN" altLang="en-US"/>
          </a:p>
        </p:txBody>
      </p:sp>
      <p:sp>
        <p:nvSpPr>
          <p:cNvPr id="532490" name="Text Box 10"/>
          <p:cNvSpPr txBox="1">
            <a:spLocks noChangeArrowheads="1"/>
          </p:cNvSpPr>
          <p:nvPr/>
        </p:nvSpPr>
        <p:spPr bwMode="auto">
          <a:xfrm>
            <a:off x="1331640" y="2996952"/>
            <a:ext cx="6807200" cy="45720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三种应力，变化规律，与带传动参数之关系</a:t>
            </a:r>
            <a:endParaRPr lang="zh-CN" altLang="en-US"/>
          </a:p>
        </p:txBody>
      </p:sp>
      <p:sp>
        <p:nvSpPr>
          <p:cNvPr id="532491" name="Text Box 11"/>
          <p:cNvSpPr txBox="1">
            <a:spLocks noChangeArrowheads="1"/>
          </p:cNvSpPr>
          <p:nvPr/>
        </p:nvSpPr>
        <p:spPr bwMode="auto">
          <a:xfrm>
            <a:off x="977900" y="3492500"/>
            <a:ext cx="21082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弹性滑动</a:t>
            </a:r>
            <a:endParaRPr lang="zh-CN" altLang="en-US" u="sng" dirty="0">
              <a:solidFill>
                <a:srgbClr val="FF0000"/>
              </a:solidFill>
            </a:endParaRPr>
          </a:p>
        </p:txBody>
      </p:sp>
      <p:sp>
        <p:nvSpPr>
          <p:cNvPr id="532492" name="Text Box 12"/>
          <p:cNvSpPr txBox="1">
            <a:spLocks noChangeArrowheads="1"/>
          </p:cNvSpPr>
          <p:nvPr/>
        </p:nvSpPr>
        <p:spPr bwMode="auto">
          <a:xfrm>
            <a:off x="1358900" y="3937000"/>
            <a:ext cx="7010400" cy="822325"/>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产生的原因，不可避免，使传动比不恒定，与打滑有本质区别</a:t>
            </a:r>
            <a:endParaRPr lang="zh-CN" altLang="en-US" dirty="0"/>
          </a:p>
        </p:txBody>
      </p:sp>
      <p:sp>
        <p:nvSpPr>
          <p:cNvPr id="532493" name="Text Box 13"/>
          <p:cNvSpPr txBox="1">
            <a:spLocks noChangeArrowheads="1"/>
          </p:cNvSpPr>
          <p:nvPr/>
        </p:nvSpPr>
        <p:spPr bwMode="auto">
          <a:xfrm>
            <a:off x="990600" y="4787900"/>
            <a:ext cx="40894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失效形式及设计准则</a:t>
            </a:r>
            <a:endParaRPr lang="zh-CN" altLang="en-US" u="sng" dirty="0">
              <a:solidFill>
                <a:srgbClr val="FF0000"/>
              </a:solidFill>
            </a:endParaRPr>
          </a:p>
        </p:txBody>
      </p:sp>
      <p:sp>
        <p:nvSpPr>
          <p:cNvPr id="532494" name="Text Box 14"/>
          <p:cNvSpPr txBox="1">
            <a:spLocks noChangeArrowheads="1"/>
          </p:cNvSpPr>
          <p:nvPr/>
        </p:nvSpPr>
        <p:spPr bwMode="auto">
          <a:xfrm>
            <a:off x="1331640" y="5157192"/>
            <a:ext cx="7073900" cy="822325"/>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打滑、疲劳破坏；在保证不打滑的前提下使带具有足够的疲劳寿命</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2485"/>
                                        </p:tgtEl>
                                        <p:attrNameLst>
                                          <p:attrName>style.visibility</p:attrName>
                                        </p:attrNameLst>
                                      </p:cBhvr>
                                      <p:to>
                                        <p:strVal val="visible"/>
                                      </p:to>
                                    </p:set>
                                    <p:animEffect transition="in" filter="wipe(left)">
                                      <p:cBhvr>
                                        <p:cTn id="7" dur="500"/>
                                        <p:tgtEl>
                                          <p:spTgt spid="53248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iterate type="lt">
                                    <p:tmPct val="100000"/>
                                  </p:iterate>
                                  <p:childTnLst>
                                    <p:set>
                                      <p:cBhvr>
                                        <p:cTn id="11" dur="1" fill="hold">
                                          <p:stCondLst>
                                            <p:cond delay="0"/>
                                          </p:stCondLst>
                                        </p:cTn>
                                        <p:tgtEl>
                                          <p:spTgt spid="532486"/>
                                        </p:tgtEl>
                                        <p:attrNameLst>
                                          <p:attrName>style.visibility</p:attrName>
                                        </p:attrNameLst>
                                      </p:cBhvr>
                                      <p:to>
                                        <p:strVal val="visible"/>
                                      </p:to>
                                    </p:set>
                                    <p:animEffect transition="in" filter="slide(fromTop)">
                                      <p:cBhvr>
                                        <p:cTn id="12" dur="75"/>
                                        <p:tgtEl>
                                          <p:spTgt spid="53248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iterate type="lt">
                                    <p:tmPct val="100000"/>
                                  </p:iterate>
                                  <p:childTnLst>
                                    <p:set>
                                      <p:cBhvr>
                                        <p:cTn id="16" dur="1" fill="hold">
                                          <p:stCondLst>
                                            <p:cond delay="0"/>
                                          </p:stCondLst>
                                        </p:cTn>
                                        <p:tgtEl>
                                          <p:spTgt spid="532487"/>
                                        </p:tgtEl>
                                        <p:attrNameLst>
                                          <p:attrName>style.visibility</p:attrName>
                                        </p:attrNameLst>
                                      </p:cBhvr>
                                      <p:to>
                                        <p:strVal val="visible"/>
                                      </p:to>
                                    </p:set>
                                    <p:animEffect transition="in" filter="slide(fromTop)">
                                      <p:cBhvr>
                                        <p:cTn id="17" dur="75"/>
                                        <p:tgtEl>
                                          <p:spTgt spid="53248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iterate type="lt">
                                    <p:tmPct val="100000"/>
                                  </p:iterate>
                                  <p:childTnLst>
                                    <p:set>
                                      <p:cBhvr>
                                        <p:cTn id="21" dur="1" fill="hold">
                                          <p:stCondLst>
                                            <p:cond delay="0"/>
                                          </p:stCondLst>
                                        </p:cTn>
                                        <p:tgtEl>
                                          <p:spTgt spid="532488"/>
                                        </p:tgtEl>
                                        <p:attrNameLst>
                                          <p:attrName>style.visibility</p:attrName>
                                        </p:attrNameLst>
                                      </p:cBhvr>
                                      <p:to>
                                        <p:strVal val="visible"/>
                                      </p:to>
                                    </p:set>
                                    <p:animEffect transition="in" filter="slide(fromTop)">
                                      <p:cBhvr>
                                        <p:cTn id="22" dur="75"/>
                                        <p:tgtEl>
                                          <p:spTgt spid="53248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iterate type="lt">
                                    <p:tmPct val="100000"/>
                                  </p:iterate>
                                  <p:childTnLst>
                                    <p:set>
                                      <p:cBhvr>
                                        <p:cTn id="26" dur="1" fill="hold">
                                          <p:stCondLst>
                                            <p:cond delay="0"/>
                                          </p:stCondLst>
                                        </p:cTn>
                                        <p:tgtEl>
                                          <p:spTgt spid="532489"/>
                                        </p:tgtEl>
                                        <p:attrNameLst>
                                          <p:attrName>style.visibility</p:attrName>
                                        </p:attrNameLst>
                                      </p:cBhvr>
                                      <p:to>
                                        <p:strVal val="visible"/>
                                      </p:to>
                                    </p:set>
                                    <p:animEffect transition="in" filter="slide(fromTop)">
                                      <p:cBhvr>
                                        <p:cTn id="27" dur="75"/>
                                        <p:tgtEl>
                                          <p:spTgt spid="53248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lt">
                                    <p:tmPct val="100000"/>
                                  </p:iterate>
                                  <p:childTnLst>
                                    <p:set>
                                      <p:cBhvr>
                                        <p:cTn id="31" dur="1" fill="hold">
                                          <p:stCondLst>
                                            <p:cond delay="0"/>
                                          </p:stCondLst>
                                        </p:cTn>
                                        <p:tgtEl>
                                          <p:spTgt spid="532490"/>
                                        </p:tgtEl>
                                        <p:attrNameLst>
                                          <p:attrName>style.visibility</p:attrName>
                                        </p:attrNameLst>
                                      </p:cBhvr>
                                      <p:to>
                                        <p:strVal val="visible"/>
                                      </p:to>
                                    </p:set>
                                    <p:animEffect transition="in" filter="slide(fromTop)">
                                      <p:cBhvr>
                                        <p:cTn id="32" dur="75"/>
                                        <p:tgtEl>
                                          <p:spTgt spid="53249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iterate type="lt">
                                    <p:tmPct val="100000"/>
                                  </p:iterate>
                                  <p:childTnLst>
                                    <p:set>
                                      <p:cBhvr>
                                        <p:cTn id="36" dur="1" fill="hold">
                                          <p:stCondLst>
                                            <p:cond delay="0"/>
                                          </p:stCondLst>
                                        </p:cTn>
                                        <p:tgtEl>
                                          <p:spTgt spid="532491"/>
                                        </p:tgtEl>
                                        <p:attrNameLst>
                                          <p:attrName>style.visibility</p:attrName>
                                        </p:attrNameLst>
                                      </p:cBhvr>
                                      <p:to>
                                        <p:strVal val="visible"/>
                                      </p:to>
                                    </p:set>
                                    <p:animEffect transition="in" filter="slide(fromTop)">
                                      <p:cBhvr>
                                        <p:cTn id="37" dur="75"/>
                                        <p:tgtEl>
                                          <p:spTgt spid="53249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lt">
                                    <p:tmPct val="100000"/>
                                  </p:iterate>
                                  <p:childTnLst>
                                    <p:set>
                                      <p:cBhvr>
                                        <p:cTn id="41" dur="1" fill="hold">
                                          <p:stCondLst>
                                            <p:cond delay="0"/>
                                          </p:stCondLst>
                                        </p:cTn>
                                        <p:tgtEl>
                                          <p:spTgt spid="532492"/>
                                        </p:tgtEl>
                                        <p:attrNameLst>
                                          <p:attrName>style.visibility</p:attrName>
                                        </p:attrNameLst>
                                      </p:cBhvr>
                                      <p:to>
                                        <p:strVal val="visible"/>
                                      </p:to>
                                    </p:set>
                                    <p:animEffect transition="in" filter="slide(fromTop)">
                                      <p:cBhvr>
                                        <p:cTn id="42" dur="75"/>
                                        <p:tgtEl>
                                          <p:spTgt spid="532492"/>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grpId="0" nodeType="clickEffect">
                                  <p:stCondLst>
                                    <p:cond delay="0"/>
                                  </p:stCondLst>
                                  <p:iterate type="lt">
                                    <p:tmPct val="100000"/>
                                  </p:iterate>
                                  <p:childTnLst>
                                    <p:set>
                                      <p:cBhvr>
                                        <p:cTn id="46" dur="1" fill="hold">
                                          <p:stCondLst>
                                            <p:cond delay="0"/>
                                          </p:stCondLst>
                                        </p:cTn>
                                        <p:tgtEl>
                                          <p:spTgt spid="532493"/>
                                        </p:tgtEl>
                                        <p:attrNameLst>
                                          <p:attrName>style.visibility</p:attrName>
                                        </p:attrNameLst>
                                      </p:cBhvr>
                                      <p:to>
                                        <p:strVal val="visible"/>
                                      </p:to>
                                    </p:set>
                                    <p:animEffect transition="in" filter="slide(fromTop)">
                                      <p:cBhvr>
                                        <p:cTn id="47" dur="75"/>
                                        <p:tgtEl>
                                          <p:spTgt spid="53249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iterate type="lt">
                                    <p:tmPct val="100000"/>
                                  </p:iterate>
                                  <p:childTnLst>
                                    <p:set>
                                      <p:cBhvr>
                                        <p:cTn id="51" dur="1" fill="hold">
                                          <p:stCondLst>
                                            <p:cond delay="0"/>
                                          </p:stCondLst>
                                        </p:cTn>
                                        <p:tgtEl>
                                          <p:spTgt spid="532494"/>
                                        </p:tgtEl>
                                        <p:attrNameLst>
                                          <p:attrName>style.visibility</p:attrName>
                                        </p:attrNameLst>
                                      </p:cBhvr>
                                      <p:to>
                                        <p:strVal val="visible"/>
                                      </p:to>
                                    </p:set>
                                    <p:animEffect transition="in" filter="slide(fromTop)">
                                      <p:cBhvr>
                                        <p:cTn id="52" dur="75"/>
                                        <p:tgtEl>
                                          <p:spTgt spid="532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5" grpId="0" autoUpdateAnimBg="0"/>
      <p:bldP spid="532486" grpId="0" autoUpdateAnimBg="0"/>
      <p:bldP spid="532487" grpId="0" autoUpdateAnimBg="0"/>
      <p:bldP spid="532488" grpId="0" autoUpdateAnimBg="0"/>
      <p:bldP spid="532489" grpId="0" autoUpdateAnimBg="0"/>
      <p:bldP spid="532490" grpId="0" autoUpdateAnimBg="0"/>
      <p:bldP spid="532491" grpId="0" autoUpdateAnimBg="0"/>
      <p:bldP spid="532492" grpId="0" autoUpdateAnimBg="0"/>
      <p:bldP spid="532493" grpId="0" autoUpdateAnimBg="0"/>
      <p:bldP spid="532494"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4533" name="Text Box 5"/>
          <p:cNvSpPr txBox="1">
            <a:spLocks noChangeArrowheads="1"/>
          </p:cNvSpPr>
          <p:nvPr/>
        </p:nvSpPr>
        <p:spPr bwMode="auto">
          <a:xfrm>
            <a:off x="939800" y="520700"/>
            <a:ext cx="54991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a:t>
            </a:r>
            <a:r>
              <a:rPr lang="en-US" altLang="zh-CN" dirty="0">
                <a:solidFill>
                  <a:srgbClr val="FF0000"/>
                </a:solidFill>
              </a:rPr>
              <a:t> </a:t>
            </a:r>
            <a:r>
              <a:rPr lang="zh-CN" altLang="en-US" u="sng" dirty="0">
                <a:solidFill>
                  <a:srgbClr val="FF0000"/>
                </a:solidFill>
              </a:rPr>
              <a:t>各参数对带传动工作能力的影响</a:t>
            </a:r>
            <a:endParaRPr lang="zh-CN" altLang="en-US" u="sng" dirty="0">
              <a:solidFill>
                <a:srgbClr val="FF0000"/>
              </a:solidFill>
            </a:endParaRPr>
          </a:p>
        </p:txBody>
      </p:sp>
      <p:sp>
        <p:nvSpPr>
          <p:cNvPr id="534534" name="Text Box 6"/>
          <p:cNvSpPr txBox="1">
            <a:spLocks noChangeArrowheads="1"/>
          </p:cNvSpPr>
          <p:nvPr/>
        </p:nvSpPr>
        <p:spPr bwMode="auto">
          <a:xfrm>
            <a:off x="1308100" y="977900"/>
            <a:ext cx="7226300" cy="45720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F</a:t>
            </a:r>
            <a:r>
              <a:rPr lang="en-US" altLang="zh-CN" baseline="-16000"/>
              <a:t>0</a:t>
            </a:r>
            <a:r>
              <a:rPr lang="en-US" altLang="zh-CN"/>
              <a:t> </a:t>
            </a:r>
            <a:r>
              <a:rPr lang="zh-CN" altLang="en-US"/>
              <a:t>、</a:t>
            </a:r>
            <a:r>
              <a:rPr lang="en-US" altLang="zh-CN" i="1"/>
              <a:t>d</a:t>
            </a:r>
            <a:r>
              <a:rPr lang="en-US" altLang="zh-CN" baseline="-16000"/>
              <a:t>d1</a:t>
            </a:r>
            <a:r>
              <a:rPr lang="zh-CN" altLang="en-US"/>
              <a:t>、</a:t>
            </a:r>
            <a:r>
              <a:rPr lang="en-US" altLang="zh-CN" i="1"/>
              <a:t>a</a:t>
            </a:r>
            <a:r>
              <a:rPr lang="zh-CN" altLang="en-US"/>
              <a:t>、</a:t>
            </a:r>
            <a:r>
              <a:rPr lang="en-US" altLang="zh-CN" i="1"/>
              <a:t>L</a:t>
            </a:r>
            <a:r>
              <a:rPr lang="en-US" altLang="zh-CN" baseline="-16000"/>
              <a:t>d</a:t>
            </a:r>
            <a:r>
              <a:rPr lang="zh-CN" altLang="en-US"/>
              <a:t>、</a:t>
            </a:r>
            <a:r>
              <a:rPr lang="en-US" altLang="zh-CN" i="1">
                <a:ea typeface="方正舒体" panose="02010601030101010101" pitchFamily="2" charset="-122"/>
              </a:rPr>
              <a:t>α</a:t>
            </a:r>
            <a:r>
              <a:rPr lang="zh-CN" altLang="en-US"/>
              <a:t>、</a:t>
            </a:r>
            <a:r>
              <a:rPr lang="en-US" altLang="zh-CN" i="1"/>
              <a:t>i </a:t>
            </a:r>
            <a:r>
              <a:rPr lang="zh-CN" altLang="en-US"/>
              <a:t>、</a:t>
            </a:r>
            <a:r>
              <a:rPr lang="en-US" altLang="zh-CN" i="1"/>
              <a:t>v </a:t>
            </a:r>
            <a:r>
              <a:rPr lang="zh-CN" altLang="en-US" i="1"/>
              <a:t>、</a:t>
            </a:r>
            <a:r>
              <a:rPr lang="en-US" altLang="zh-CN" i="1"/>
              <a:t>z</a:t>
            </a:r>
            <a:r>
              <a:rPr lang="zh-CN" altLang="en-US" i="1"/>
              <a:t>、</a:t>
            </a:r>
            <a:r>
              <a:rPr lang="zh-CN" altLang="en-US"/>
              <a:t>型号等；如何选择</a:t>
            </a:r>
            <a:endParaRPr lang="zh-CN" altLang="en-US"/>
          </a:p>
        </p:txBody>
      </p:sp>
      <p:sp>
        <p:nvSpPr>
          <p:cNvPr id="534535" name="Text Box 7"/>
          <p:cNvSpPr txBox="1">
            <a:spLocks noChangeArrowheads="1"/>
          </p:cNvSpPr>
          <p:nvPr/>
        </p:nvSpPr>
        <p:spPr bwMode="auto">
          <a:xfrm>
            <a:off x="952500" y="1485900"/>
            <a:ext cx="44831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en-US" altLang="zh-CN" u="sng" dirty="0">
                <a:solidFill>
                  <a:srgbClr val="FF0000"/>
                </a:solidFill>
              </a:rPr>
              <a:t>V</a:t>
            </a:r>
            <a:r>
              <a:rPr lang="zh-CN" altLang="en-US" u="sng" dirty="0">
                <a:solidFill>
                  <a:srgbClr val="FF0000"/>
                </a:solidFill>
              </a:rPr>
              <a:t>带传动的设计步骤和方法</a:t>
            </a:r>
            <a:endParaRPr lang="zh-CN" altLang="en-US" u="sng" dirty="0">
              <a:solidFill>
                <a:srgbClr val="FF0000"/>
              </a:solidFill>
            </a:endParaRPr>
          </a:p>
        </p:txBody>
      </p:sp>
      <p:sp>
        <p:nvSpPr>
          <p:cNvPr id="534536" name="Text Box 8"/>
          <p:cNvSpPr txBox="1">
            <a:spLocks noChangeArrowheads="1"/>
          </p:cNvSpPr>
          <p:nvPr/>
        </p:nvSpPr>
        <p:spPr bwMode="auto">
          <a:xfrm>
            <a:off x="952500" y="2082800"/>
            <a:ext cx="42672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链传动的工作原理及特点</a:t>
            </a:r>
            <a:endParaRPr lang="zh-CN" altLang="en-US" u="sng" dirty="0">
              <a:solidFill>
                <a:srgbClr val="FF0000"/>
              </a:solidFill>
            </a:endParaRPr>
          </a:p>
        </p:txBody>
      </p:sp>
      <p:sp>
        <p:nvSpPr>
          <p:cNvPr id="534537" name="Text Box 9"/>
          <p:cNvSpPr txBox="1">
            <a:spLocks noChangeArrowheads="1"/>
          </p:cNvSpPr>
          <p:nvPr/>
        </p:nvSpPr>
        <p:spPr bwMode="auto">
          <a:xfrm>
            <a:off x="1333500" y="2540000"/>
            <a:ext cx="7010400" cy="822325"/>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啮合传动，中心距大，瞬时速比周期性变化，振动，适合于低速级</a:t>
            </a:r>
            <a:endParaRPr lang="zh-CN" altLang="en-US"/>
          </a:p>
        </p:txBody>
      </p:sp>
      <p:sp>
        <p:nvSpPr>
          <p:cNvPr id="534538" name="Text Box 10"/>
          <p:cNvSpPr txBox="1">
            <a:spLocks noChangeArrowheads="1"/>
          </p:cNvSpPr>
          <p:nvPr/>
        </p:nvSpPr>
        <p:spPr bwMode="auto">
          <a:xfrm>
            <a:off x="965200" y="3390900"/>
            <a:ext cx="40894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链传动运动的不均匀性</a:t>
            </a:r>
            <a:endParaRPr lang="zh-CN" altLang="en-US" u="sng" dirty="0">
              <a:solidFill>
                <a:srgbClr val="FF0000"/>
              </a:solidFill>
            </a:endParaRPr>
          </a:p>
        </p:txBody>
      </p:sp>
      <p:sp>
        <p:nvSpPr>
          <p:cNvPr id="534539" name="Text Box 11"/>
          <p:cNvSpPr txBox="1">
            <a:spLocks noChangeArrowheads="1"/>
          </p:cNvSpPr>
          <p:nvPr/>
        </p:nvSpPr>
        <p:spPr bwMode="auto">
          <a:xfrm>
            <a:off x="1346200" y="3848100"/>
            <a:ext cx="7289800" cy="45720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多边形效应，设计参数（如 </a:t>
            </a:r>
            <a:r>
              <a:rPr lang="en-US" altLang="zh-CN" i="1"/>
              <a:t>p</a:t>
            </a:r>
            <a:r>
              <a:rPr lang="zh-CN" altLang="en-US"/>
              <a:t>、</a:t>
            </a:r>
            <a:r>
              <a:rPr lang="en-US" altLang="zh-CN" i="1"/>
              <a:t>z </a:t>
            </a:r>
            <a:r>
              <a:rPr lang="zh-CN" altLang="en-US"/>
              <a:t>等）对运动的影响</a:t>
            </a:r>
            <a:endParaRPr lang="zh-CN" altLang="en-US"/>
          </a:p>
        </p:txBody>
      </p:sp>
      <p:sp>
        <p:nvSpPr>
          <p:cNvPr id="534540" name="Text Box 12"/>
          <p:cNvSpPr txBox="1">
            <a:spLocks noChangeArrowheads="1"/>
          </p:cNvSpPr>
          <p:nvPr/>
        </p:nvSpPr>
        <p:spPr bwMode="auto">
          <a:xfrm>
            <a:off x="977900" y="4305300"/>
            <a:ext cx="7073900" cy="430887"/>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effectLst>
                  <a:outerShdw blurRad="38100" dist="38100" dir="2700000" algn="tl">
                    <a:srgbClr val="C0C0C0"/>
                  </a:outerShdw>
                </a:effectLst>
              </a:rPr>
              <a:t>● </a:t>
            </a:r>
            <a:r>
              <a:rPr lang="zh-CN" altLang="en-US" u="sng" dirty="0">
                <a:solidFill>
                  <a:srgbClr val="FF0000"/>
                </a:solidFill>
              </a:rPr>
              <a:t>滚子链传动的失效形式，参数选择</a:t>
            </a:r>
            <a:endParaRPr lang="zh-CN" altLang="en-US" u="sng" dirty="0">
              <a:solidFill>
                <a:srgbClr val="FF0000"/>
              </a:solidFill>
            </a:endParaRPr>
          </a:p>
        </p:txBody>
      </p:sp>
      <p:sp>
        <p:nvSpPr>
          <p:cNvPr id="534541" name="Text Box 13"/>
          <p:cNvSpPr txBox="1">
            <a:spLocks noChangeArrowheads="1"/>
          </p:cNvSpPr>
          <p:nvPr/>
        </p:nvSpPr>
        <p:spPr bwMode="auto">
          <a:xfrm>
            <a:off x="1485900" y="4737100"/>
            <a:ext cx="4495800" cy="457200"/>
          </a:xfrm>
          <a:prstGeom prst="rect">
            <a:avLst/>
          </a:prstGeom>
          <a:noFill/>
          <a:ln>
            <a:noFill/>
          </a:ln>
          <a:effectLst/>
          <a:extLst>
            <a:ext uri="{909E8E84-426E-40DD-AFC4-6F175D3DCCD1}">
              <a14:hiddenFill xmlns:a14="http://schemas.microsoft.com/office/drawing/2010/main">
                <a:solidFill>
                  <a:srgbClr val="F2F6CE"/>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z</a:t>
            </a:r>
            <a:r>
              <a:rPr lang="en-US" altLang="zh-CN"/>
              <a:t> </a:t>
            </a:r>
            <a:r>
              <a:rPr lang="zh-CN" altLang="en-US"/>
              <a:t>、</a:t>
            </a:r>
            <a:r>
              <a:rPr lang="en-US" altLang="zh-CN" i="1"/>
              <a:t>p</a:t>
            </a:r>
            <a:r>
              <a:rPr lang="zh-CN" altLang="en-US"/>
              <a:t>、</a:t>
            </a:r>
            <a:r>
              <a:rPr lang="en-US" altLang="zh-CN" i="1"/>
              <a:t>L</a:t>
            </a:r>
            <a:r>
              <a:rPr lang="en-US" altLang="zh-CN" baseline="-16000"/>
              <a:t>p</a:t>
            </a:r>
            <a:r>
              <a:rPr lang="zh-CN" altLang="en-US"/>
              <a:t>、</a:t>
            </a:r>
            <a:r>
              <a:rPr lang="en-US" altLang="zh-CN" i="1"/>
              <a:t>a</a:t>
            </a:r>
            <a:r>
              <a:rPr lang="zh-CN" altLang="en-US"/>
              <a:t>、排数等</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iterate type="lt">
                                    <p:tmPct val="100000"/>
                                  </p:iterate>
                                  <p:childTnLst>
                                    <p:set>
                                      <p:cBhvr>
                                        <p:cTn id="6" dur="1" fill="hold">
                                          <p:stCondLst>
                                            <p:cond delay="0"/>
                                          </p:stCondLst>
                                        </p:cTn>
                                        <p:tgtEl>
                                          <p:spTgt spid="534533"/>
                                        </p:tgtEl>
                                        <p:attrNameLst>
                                          <p:attrName>style.visibility</p:attrName>
                                        </p:attrNameLst>
                                      </p:cBhvr>
                                      <p:to>
                                        <p:strVal val="visible"/>
                                      </p:to>
                                    </p:set>
                                    <p:animEffect transition="in" filter="slide(fromTop)">
                                      <p:cBhvr>
                                        <p:cTn id="7" dur="75"/>
                                        <p:tgtEl>
                                          <p:spTgt spid="53453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iterate type="lt">
                                    <p:tmPct val="100000"/>
                                  </p:iterate>
                                  <p:childTnLst>
                                    <p:set>
                                      <p:cBhvr>
                                        <p:cTn id="11" dur="1" fill="hold">
                                          <p:stCondLst>
                                            <p:cond delay="0"/>
                                          </p:stCondLst>
                                        </p:cTn>
                                        <p:tgtEl>
                                          <p:spTgt spid="534534"/>
                                        </p:tgtEl>
                                        <p:attrNameLst>
                                          <p:attrName>style.visibility</p:attrName>
                                        </p:attrNameLst>
                                      </p:cBhvr>
                                      <p:to>
                                        <p:strVal val="visible"/>
                                      </p:to>
                                    </p:set>
                                    <p:animEffect transition="in" filter="slide(fromTop)">
                                      <p:cBhvr>
                                        <p:cTn id="12" dur="75"/>
                                        <p:tgtEl>
                                          <p:spTgt spid="53453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iterate type="lt">
                                    <p:tmPct val="100000"/>
                                  </p:iterate>
                                  <p:childTnLst>
                                    <p:set>
                                      <p:cBhvr>
                                        <p:cTn id="16" dur="1" fill="hold">
                                          <p:stCondLst>
                                            <p:cond delay="0"/>
                                          </p:stCondLst>
                                        </p:cTn>
                                        <p:tgtEl>
                                          <p:spTgt spid="534535"/>
                                        </p:tgtEl>
                                        <p:attrNameLst>
                                          <p:attrName>style.visibility</p:attrName>
                                        </p:attrNameLst>
                                      </p:cBhvr>
                                      <p:to>
                                        <p:strVal val="visible"/>
                                      </p:to>
                                    </p:set>
                                    <p:animEffect transition="in" filter="slide(fromTop)">
                                      <p:cBhvr>
                                        <p:cTn id="17" dur="75"/>
                                        <p:tgtEl>
                                          <p:spTgt spid="53453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iterate type="lt">
                                    <p:tmPct val="100000"/>
                                  </p:iterate>
                                  <p:childTnLst>
                                    <p:set>
                                      <p:cBhvr>
                                        <p:cTn id="21" dur="1" fill="hold">
                                          <p:stCondLst>
                                            <p:cond delay="0"/>
                                          </p:stCondLst>
                                        </p:cTn>
                                        <p:tgtEl>
                                          <p:spTgt spid="534536"/>
                                        </p:tgtEl>
                                        <p:attrNameLst>
                                          <p:attrName>style.visibility</p:attrName>
                                        </p:attrNameLst>
                                      </p:cBhvr>
                                      <p:to>
                                        <p:strVal val="visible"/>
                                      </p:to>
                                    </p:set>
                                    <p:animEffect transition="in" filter="slide(fromTop)">
                                      <p:cBhvr>
                                        <p:cTn id="22" dur="75"/>
                                        <p:tgtEl>
                                          <p:spTgt spid="53453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iterate type="lt">
                                    <p:tmPct val="100000"/>
                                  </p:iterate>
                                  <p:childTnLst>
                                    <p:set>
                                      <p:cBhvr>
                                        <p:cTn id="26" dur="1" fill="hold">
                                          <p:stCondLst>
                                            <p:cond delay="0"/>
                                          </p:stCondLst>
                                        </p:cTn>
                                        <p:tgtEl>
                                          <p:spTgt spid="534537"/>
                                        </p:tgtEl>
                                        <p:attrNameLst>
                                          <p:attrName>style.visibility</p:attrName>
                                        </p:attrNameLst>
                                      </p:cBhvr>
                                      <p:to>
                                        <p:strVal val="visible"/>
                                      </p:to>
                                    </p:set>
                                    <p:animEffect transition="in" filter="slide(fromTop)">
                                      <p:cBhvr>
                                        <p:cTn id="27" dur="75"/>
                                        <p:tgtEl>
                                          <p:spTgt spid="53453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lt">
                                    <p:tmPct val="100000"/>
                                  </p:iterate>
                                  <p:childTnLst>
                                    <p:set>
                                      <p:cBhvr>
                                        <p:cTn id="31" dur="1" fill="hold">
                                          <p:stCondLst>
                                            <p:cond delay="0"/>
                                          </p:stCondLst>
                                        </p:cTn>
                                        <p:tgtEl>
                                          <p:spTgt spid="534538"/>
                                        </p:tgtEl>
                                        <p:attrNameLst>
                                          <p:attrName>style.visibility</p:attrName>
                                        </p:attrNameLst>
                                      </p:cBhvr>
                                      <p:to>
                                        <p:strVal val="visible"/>
                                      </p:to>
                                    </p:set>
                                    <p:animEffect transition="in" filter="slide(fromTop)">
                                      <p:cBhvr>
                                        <p:cTn id="32" dur="75"/>
                                        <p:tgtEl>
                                          <p:spTgt spid="534538"/>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iterate type="lt">
                                    <p:tmPct val="100000"/>
                                  </p:iterate>
                                  <p:childTnLst>
                                    <p:set>
                                      <p:cBhvr>
                                        <p:cTn id="36" dur="1" fill="hold">
                                          <p:stCondLst>
                                            <p:cond delay="0"/>
                                          </p:stCondLst>
                                        </p:cTn>
                                        <p:tgtEl>
                                          <p:spTgt spid="534539"/>
                                        </p:tgtEl>
                                        <p:attrNameLst>
                                          <p:attrName>style.visibility</p:attrName>
                                        </p:attrNameLst>
                                      </p:cBhvr>
                                      <p:to>
                                        <p:strVal val="visible"/>
                                      </p:to>
                                    </p:set>
                                    <p:animEffect transition="in" filter="slide(fromTop)">
                                      <p:cBhvr>
                                        <p:cTn id="37" dur="75"/>
                                        <p:tgtEl>
                                          <p:spTgt spid="53453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lt">
                                    <p:tmPct val="100000"/>
                                  </p:iterate>
                                  <p:childTnLst>
                                    <p:set>
                                      <p:cBhvr>
                                        <p:cTn id="41" dur="1" fill="hold">
                                          <p:stCondLst>
                                            <p:cond delay="0"/>
                                          </p:stCondLst>
                                        </p:cTn>
                                        <p:tgtEl>
                                          <p:spTgt spid="534540"/>
                                        </p:tgtEl>
                                        <p:attrNameLst>
                                          <p:attrName>style.visibility</p:attrName>
                                        </p:attrNameLst>
                                      </p:cBhvr>
                                      <p:to>
                                        <p:strVal val="visible"/>
                                      </p:to>
                                    </p:set>
                                    <p:animEffect transition="in" filter="slide(fromTop)">
                                      <p:cBhvr>
                                        <p:cTn id="42" dur="75"/>
                                        <p:tgtEl>
                                          <p:spTgt spid="534540"/>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grpId="0" nodeType="clickEffect">
                                  <p:stCondLst>
                                    <p:cond delay="0"/>
                                  </p:stCondLst>
                                  <p:iterate type="lt">
                                    <p:tmPct val="100000"/>
                                  </p:iterate>
                                  <p:childTnLst>
                                    <p:set>
                                      <p:cBhvr>
                                        <p:cTn id="46" dur="1" fill="hold">
                                          <p:stCondLst>
                                            <p:cond delay="0"/>
                                          </p:stCondLst>
                                        </p:cTn>
                                        <p:tgtEl>
                                          <p:spTgt spid="534541"/>
                                        </p:tgtEl>
                                        <p:attrNameLst>
                                          <p:attrName>style.visibility</p:attrName>
                                        </p:attrNameLst>
                                      </p:cBhvr>
                                      <p:to>
                                        <p:strVal val="visible"/>
                                      </p:to>
                                    </p:set>
                                    <p:animEffect transition="in" filter="slide(fromTop)">
                                      <p:cBhvr>
                                        <p:cTn id="47" dur="75"/>
                                        <p:tgtEl>
                                          <p:spTgt spid="534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3" grpId="0" autoUpdateAnimBg="0"/>
      <p:bldP spid="534534" grpId="0" autoUpdateAnimBg="0"/>
      <p:bldP spid="534535" grpId="0" autoUpdateAnimBg="0"/>
      <p:bldP spid="534536" grpId="0" autoUpdateAnimBg="0"/>
      <p:bldP spid="534537" grpId="0" autoUpdateAnimBg="0"/>
      <p:bldP spid="534538" grpId="0" autoUpdateAnimBg="0"/>
      <p:bldP spid="534539" grpId="0" autoUpdateAnimBg="0"/>
      <p:bldP spid="534540" grpId="0" autoUpdateAnimBg="0"/>
      <p:bldP spid="534541"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29920"/>
            <a:ext cx="7315200" cy="2143125"/>
          </a:xfrm>
          <a:prstGeom prst="rect">
            <a:avLst/>
          </a:prstGeom>
          <a:noFill/>
        </p:spPr>
        <p:txBody>
          <a:bodyPr wrap="square" rtlCol="0" anchor="ctr" anchorCtr="0">
            <a:noAutofit/>
          </a:bodyPr>
          <a:p>
            <a:pPr lvl="0" algn="l">
              <a:buNone/>
            </a:pPr>
            <a:r>
              <a:rPr lang="en-US" sz="2600" dirty="0" smtClean="0">
                <a:latin typeface="黑体" panose="02010609060101010101" pitchFamily="49" charset="-122"/>
                <a:ea typeface="黑体" panose="02010609060101010101" pitchFamily="49" charset="-122"/>
                <a:sym typeface="+mn-ea"/>
              </a:rPr>
              <a:t>1</a:t>
            </a:r>
            <a:r>
              <a:rPr lang="zh-CN" altLang="en-US" sz="2600" dirty="0">
                <a:latin typeface="黑体" panose="02010609060101010101" pitchFamily="49" charset="-122"/>
                <a:ea typeface="黑体" panose="02010609060101010101" pitchFamily="49" charset="-122"/>
                <a:sym typeface="+mn-ea"/>
              </a:rPr>
              <a:t>、链传动中，限制链轮最少齿数的目的之一是为了：</a:t>
            </a:r>
            <a:r>
              <a:rPr lang="zh-CN" altLang="en-US" sz="2600" u="sng" dirty="0">
                <a:latin typeface="黑体" panose="02010609060101010101" pitchFamily="49" charset="-122"/>
                <a:ea typeface="黑体" panose="02010609060101010101" pitchFamily="49"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81810" y="2780030"/>
            <a:ext cx="6400800" cy="642620"/>
          </a:xfrm>
          <a:prstGeom prst="rect">
            <a:avLst/>
          </a:prstGeom>
          <a:noFill/>
        </p:spPr>
        <p:txBody>
          <a:bodyPr wrap="square" rtlCol="0" anchor="ctr" anchorCtr="0">
            <a:noAutofit/>
          </a:bodyPr>
          <a:p>
            <a:pPr marL="0" indent="0" algn="just" eaLnBrk="1" hangingPunct="1">
              <a:lnSpc>
                <a:spcPct val="120000"/>
              </a:lnSpc>
              <a:buFontTx/>
              <a:buNone/>
            </a:pPr>
            <a:r>
              <a:rPr lang="zh-CN" altLang="en-US" sz="2400" dirty="0">
                <a:latin typeface="黑体" panose="02010609060101010101" pitchFamily="49" charset="-122"/>
                <a:ea typeface="黑体" panose="02010609060101010101" pitchFamily="49" charset="-122"/>
                <a:sym typeface="+mn-ea"/>
              </a:rPr>
              <a:t>减少传动的运动不均匀性和动载荷</a:t>
            </a:r>
            <a:r>
              <a:rPr lang="zh-CN" altLang="en-US" sz="2400" dirty="0" smtClean="0">
                <a:latin typeface="黑体" panose="02010609060101010101" pitchFamily="49" charset="-122"/>
                <a:ea typeface="黑体" panose="02010609060101010101" pitchFamily="49" charset="-122"/>
                <a:sym typeface="+mn-ea"/>
              </a:rPr>
              <a:t>；</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3221990" y="1944370"/>
            <a:ext cx="6400800" cy="642620"/>
          </a:xfrm>
          <a:prstGeom prst="rect">
            <a:avLst/>
          </a:prstGeom>
          <a:noFill/>
        </p:spPr>
        <p:txBody>
          <a:bodyPr wrap="square" rtlCol="0" anchor="ctr" anchorCtr="0">
            <a:noAutofit/>
          </a:bodyPr>
          <a:p>
            <a:pPr lvl="0" algn="l">
              <a:buNone/>
            </a:pP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6895" y="450913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sym typeface="+mn-ea"/>
              </a:rPr>
              <a:t>使小链轮轮齿受力均匀</a:t>
            </a:r>
            <a:r>
              <a:rPr lang="zh-CN" altLang="en-US" sz="2400" dirty="0" smtClean="0">
                <a:latin typeface="黑体" panose="02010609060101010101" pitchFamily="49" charset="-122"/>
                <a:ea typeface="黑体" panose="02010609060101010101" pitchFamily="49" charset="-122"/>
                <a:sym typeface="+mn-ea"/>
              </a:rPr>
              <a:t>；</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sym typeface="+mn-ea"/>
              </a:rPr>
              <a:t>防止润滑不良时轮齿加速磨损</a:t>
            </a:r>
            <a:r>
              <a:rPr lang="zh-CN" altLang="en-US" sz="2600" dirty="0">
                <a:latin typeface="黑体" panose="02010609060101010101" pitchFamily="49" charset="-122"/>
                <a:ea typeface="黑体" panose="02010609060101010101" pitchFamily="49"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9" name="文本框 18"/>
          <p:cNvSpPr txBox="1"/>
          <p:nvPr/>
        </p:nvSpPr>
        <p:spPr>
          <a:xfrm>
            <a:off x="1781810" y="3698875"/>
            <a:ext cx="3230880" cy="534035"/>
          </a:xfrm>
          <a:prstGeom prst="rect">
            <a:avLst/>
          </a:prstGeom>
          <a:noFill/>
        </p:spPr>
        <p:txBody>
          <a:bodyPr wrap="none" rtlCol="0" anchor="t">
            <a:spAutoFit/>
          </a:bodyPr>
          <a:p>
            <a:pPr marL="0" indent="0" algn="just" eaLnBrk="1" hangingPunct="1">
              <a:lnSpc>
                <a:spcPct val="120000"/>
              </a:lnSpc>
              <a:buFontTx/>
              <a:buNone/>
            </a:pPr>
            <a:r>
              <a:rPr lang="zh-CN" altLang="en-US" sz="2400" dirty="0">
                <a:latin typeface="黑体" panose="02010609060101010101" pitchFamily="49" charset="-122"/>
                <a:ea typeface="黑体" panose="02010609060101010101" pitchFamily="49" charset="-122"/>
                <a:sym typeface="+mn-ea"/>
              </a:rPr>
              <a:t>防止链节磨损后脱链</a:t>
            </a:r>
            <a:r>
              <a:rPr lang="zh-CN" altLang="en-US" sz="2400" dirty="0" smtClean="0">
                <a:latin typeface="黑体" panose="02010609060101010101" pitchFamily="49" charset="-122"/>
                <a:ea typeface="黑体" panose="02010609060101010101" pitchFamily="49" charset="-122"/>
                <a:sym typeface="+mn-ea"/>
              </a:rPr>
              <a:t>；</a:t>
            </a:r>
            <a:endParaRPr lang="zh-CN" altLang="en-US" sz="2400"/>
          </a:p>
        </p:txBody>
      </p:sp>
      <p:sp>
        <p:nvSpPr>
          <p:cNvPr id="20" name="矩形 19"/>
          <p:cNvSpPr/>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F8E"/>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marL="0" marR="0" algn="just">
              <a:lnSpc>
                <a:spcPct val="150000"/>
              </a:lnSpc>
              <a:spcBef>
                <a:spcPts val="0"/>
              </a:spcBef>
              <a:spcAft>
                <a:spcPts val="0"/>
              </a:spcAft>
            </a:pPr>
            <a:r>
              <a:rPr lang="en-US" altLang="zh-CN" sz="2400" kern="100" dirty="0" smtClean="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2</a:t>
            </a:r>
            <a:r>
              <a:rPr lang="zh-CN" altLang="en-US" sz="2400" kern="100" dirty="0" smtClean="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400" kern="1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滚子链链条的主要参数是</a:t>
            </a:r>
            <a:r>
              <a:rPr lang="en-US" altLang="zh-CN" sz="2400" kern="1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____</a:t>
            </a:r>
            <a:r>
              <a:rPr lang="zh-CN" altLang="en-US" sz="2400" kern="1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600" b="1" kern="100" dirty="0">
                <a:latin typeface="宋体" panose="02010600030101010101" pitchFamily="2" charset="-122"/>
                <a:ea typeface="宋体" panose="02010600030101010101" pitchFamily="2"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962150" y="2857500"/>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链板</a:t>
            </a:r>
            <a:r>
              <a:rPr lang="zh-CN" altLang="en-US" sz="2400" b="1" kern="100" dirty="0">
                <a:latin typeface="宋体" panose="02010600030101010101" pitchFamily="2" charset="-122"/>
                <a:ea typeface="宋体" panose="02010600030101010101" pitchFamily="2" charset="-122"/>
                <a:sym typeface="+mn-ea"/>
              </a:rPr>
              <a:t>的厚度； </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b="1" kern="100" dirty="0" smtClean="0">
                <a:latin typeface="宋体" panose="02010600030101010101" pitchFamily="2" charset="-122"/>
                <a:ea typeface="宋体" panose="02010600030101010101" pitchFamily="2" charset="-122"/>
                <a:sym typeface="+mn-ea"/>
              </a:rPr>
              <a:t> </a:t>
            </a:r>
            <a:r>
              <a:rPr lang="zh-CN" altLang="en-US" sz="2400" b="1" kern="100" dirty="0" smtClean="0">
                <a:latin typeface="宋体" panose="02010600030101010101" pitchFamily="2" charset="-122"/>
                <a:ea typeface="宋体" panose="02010600030101010101" pitchFamily="2" charset="-122"/>
                <a:sym typeface="+mn-ea"/>
              </a:rPr>
              <a:t>销轴</a:t>
            </a:r>
            <a:r>
              <a:rPr lang="zh-CN" altLang="en-US" sz="2400" b="1" kern="100" dirty="0">
                <a:latin typeface="宋体" panose="02010600030101010101" pitchFamily="2" charset="-122"/>
                <a:ea typeface="宋体" panose="02010600030101010101" pitchFamily="2" charset="-122"/>
                <a:sym typeface="+mn-ea"/>
              </a:rPr>
              <a:t>的直径 ；</a:t>
            </a:r>
            <a:endParaRPr lang="zh-CN" altLang="en-US" sz="24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2007235" y="4509135"/>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链节</a:t>
            </a:r>
            <a:r>
              <a:rPr lang="zh-CN" altLang="en-US" sz="2400" b="1" kern="100" dirty="0">
                <a:latin typeface="宋体" panose="02010600030101010101" pitchFamily="2" charset="-122"/>
                <a:ea typeface="宋体" panose="02010600030101010101" pitchFamily="2" charset="-122"/>
                <a:sym typeface="+mn-ea"/>
              </a:rPr>
              <a:t>距；  </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2007235" y="5318760"/>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销轴</a:t>
            </a:r>
            <a:r>
              <a:rPr lang="zh-CN" altLang="en-US" sz="2400" b="1" kern="100" dirty="0">
                <a:latin typeface="宋体" panose="02010600030101010101" pitchFamily="2" charset="-122"/>
                <a:ea typeface="宋体" panose="02010600030101010101" pitchFamily="2" charset="-122"/>
                <a:sym typeface="+mn-ea"/>
              </a:rPr>
              <a:t>的长度。</a:t>
            </a:r>
            <a:endParaRPr lang="zh-CN" altLang="en-US" sz="24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F8E"/>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1239520"/>
            <a:ext cx="7315200" cy="1737360"/>
          </a:xfrm>
          <a:prstGeom prst="rect">
            <a:avLst/>
          </a:prstGeom>
          <a:noFill/>
        </p:spPr>
        <p:txBody>
          <a:bodyPr wrap="square" rtlCol="0" anchor="ctr" anchorCtr="0">
            <a:noAutofit/>
          </a:bodyPr>
          <a:p>
            <a:pPr marL="0" marR="0" algn="just">
              <a:lnSpc>
                <a:spcPct val="150000"/>
              </a:lnSpc>
              <a:spcBef>
                <a:spcPts val="0"/>
              </a:spcBef>
              <a:spcAft>
                <a:spcPts val="0"/>
              </a:spcAft>
            </a:pPr>
            <a:r>
              <a:rPr lang="en-US" altLang="zh-CN" sz="2400" b="1" kern="100" dirty="0" smtClean="0">
                <a:solidFill>
                  <a:schemeClr val="tx1"/>
                </a:solidFill>
                <a:latin typeface="宋体" panose="02010600030101010101" pitchFamily="2" charset="-122"/>
                <a:ea typeface="宋体" panose="02010600030101010101" pitchFamily="2" charset="-122"/>
                <a:sym typeface="+mn-ea"/>
              </a:rPr>
              <a:t>3</a:t>
            </a:r>
            <a:r>
              <a:rPr lang="zh-CN" altLang="en-US" sz="2400" b="1" kern="100" dirty="0" smtClean="0">
                <a:solidFill>
                  <a:schemeClr val="tx1"/>
                </a:solidFill>
                <a:latin typeface="宋体" panose="02010600030101010101" pitchFamily="2" charset="-122"/>
                <a:ea typeface="宋体" panose="02010600030101010101" pitchFamily="2" charset="-122"/>
                <a:sym typeface="+mn-ea"/>
              </a:rPr>
              <a:t>、</a:t>
            </a:r>
            <a:r>
              <a:rPr lang="zh-CN" altLang="en-US" sz="2400" b="1" kern="100" dirty="0">
                <a:solidFill>
                  <a:schemeClr val="tx1"/>
                </a:solidFill>
                <a:latin typeface="宋体" panose="02010600030101010101" pitchFamily="2" charset="-122"/>
                <a:ea typeface="宋体" panose="02010600030101010101" pitchFamily="2" charset="-122"/>
                <a:sym typeface="+mn-ea"/>
              </a:rPr>
              <a:t>润滑</a:t>
            </a:r>
            <a:r>
              <a:rPr lang="zh-CN" altLang="en-US" sz="2400" b="1" kern="100" dirty="0" smtClean="0">
                <a:solidFill>
                  <a:schemeClr val="tx1"/>
                </a:solidFill>
                <a:latin typeface="宋体" panose="02010600030101010101" pitchFamily="2" charset="-122"/>
                <a:ea typeface="宋体" panose="02010600030101010101" pitchFamily="2" charset="-122"/>
                <a:sym typeface="+mn-ea"/>
              </a:rPr>
              <a:t>良好、中等速度的</a:t>
            </a:r>
            <a:r>
              <a:rPr lang="zh-CN" altLang="en-US" sz="2400" b="1" kern="100" dirty="0">
                <a:solidFill>
                  <a:schemeClr val="tx1"/>
                </a:solidFill>
                <a:latin typeface="宋体" panose="02010600030101010101" pitchFamily="2" charset="-122"/>
                <a:ea typeface="宋体" panose="02010600030101010101" pitchFamily="2" charset="-122"/>
                <a:sym typeface="+mn-ea"/>
              </a:rPr>
              <a:t>情况下，决定链传动能力的主要因素是</a:t>
            </a:r>
            <a:r>
              <a:rPr lang="en-US" altLang="zh-CN" sz="2400" b="1" kern="100" dirty="0">
                <a:solidFill>
                  <a:schemeClr val="tx1"/>
                </a:solidFill>
                <a:latin typeface="Times New Roman" panose="02020603050405020304" pitchFamily="18" charset="0"/>
                <a:ea typeface="宋体" panose="02010600030101010101" pitchFamily="2" charset="-122"/>
                <a:sym typeface="+mn-ea"/>
              </a:rPr>
              <a:t>____</a:t>
            </a:r>
            <a:r>
              <a:rPr lang="zh-CN" altLang="en-US" sz="2400" b="1" kern="100" dirty="0">
                <a:solidFill>
                  <a:schemeClr val="tx1"/>
                </a:solidFill>
                <a:latin typeface="宋体" panose="02010600030101010101" pitchFamily="2" charset="-122"/>
                <a:ea typeface="宋体" panose="02010600030101010101" pitchFamily="2" charset="-122"/>
                <a:sym typeface="+mn-ea"/>
              </a:rPr>
              <a:t>。</a:t>
            </a:r>
            <a:r>
              <a:rPr lang="zh-CN" altLang="en-US" sz="2600" b="1" kern="100" dirty="0">
                <a:solidFill>
                  <a:schemeClr val="tx1"/>
                </a:solidFill>
                <a:latin typeface="宋体" panose="02010600030101010101" pitchFamily="2" charset="-122"/>
                <a:ea typeface="宋体" panose="02010600030101010101" pitchFamily="2" charset="-122"/>
                <a:sym typeface="+mn-ea"/>
              </a:rPr>
              <a:t>  </a:t>
            </a:r>
            <a:r>
              <a:rPr lang="zh-CN" altLang="en-US" sz="2600" b="1" kern="100" dirty="0">
                <a:latin typeface="宋体" panose="02010600030101010101" pitchFamily="2" charset="-122"/>
                <a:ea typeface="宋体" panose="02010600030101010101" pitchFamily="2" charset="-122"/>
                <a:sym typeface="+mn-ea"/>
              </a:rPr>
              <a:t>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37360" y="2978785"/>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链条</a:t>
            </a:r>
            <a:r>
              <a:rPr lang="zh-CN" altLang="en-US" sz="2400" b="1" kern="100" dirty="0">
                <a:latin typeface="宋体" panose="02010600030101010101" pitchFamily="2" charset="-122"/>
                <a:ea typeface="宋体" panose="02010600030101010101" pitchFamily="2" charset="-122"/>
                <a:sym typeface="+mn-ea"/>
              </a:rPr>
              <a:t>的静力强度； </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789045"/>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销轴</a:t>
            </a:r>
            <a:r>
              <a:rPr lang="zh-CN" altLang="en-US" sz="2400" b="1" kern="100" dirty="0">
                <a:latin typeface="宋体" panose="02010600030101010101" pitchFamily="2" charset="-122"/>
                <a:ea typeface="宋体" panose="02010600030101010101" pitchFamily="2" charset="-122"/>
                <a:sym typeface="+mn-ea"/>
              </a:rPr>
              <a:t>和套筒的抗胶合能力；</a:t>
            </a:r>
            <a:endParaRPr lang="zh-CN" altLang="en-US" sz="24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链板</a:t>
            </a:r>
            <a:r>
              <a:rPr lang="zh-CN" altLang="en-US" sz="2400" b="1" kern="100" dirty="0">
                <a:latin typeface="宋体" panose="02010600030101010101" pitchFamily="2" charset="-122"/>
                <a:ea typeface="宋体" panose="02010600030101010101" pitchFamily="2" charset="-122"/>
                <a:sym typeface="+mn-ea"/>
              </a:rPr>
              <a:t>的疲劳强度；    </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400" b="1" kern="100" dirty="0" smtClean="0">
                <a:latin typeface="宋体" panose="02010600030101010101" pitchFamily="2" charset="-122"/>
                <a:ea typeface="宋体" panose="02010600030101010101" pitchFamily="2" charset="-122"/>
                <a:sym typeface="+mn-ea"/>
              </a:rPr>
              <a:t>滚子</a:t>
            </a:r>
            <a:r>
              <a:rPr lang="zh-CN" altLang="en-US" sz="2400" b="1" kern="100" dirty="0">
                <a:latin typeface="宋体" panose="02010600030101010101" pitchFamily="2" charset="-122"/>
                <a:ea typeface="宋体" panose="02010600030101010101" pitchFamily="2" charset="-122"/>
                <a:sym typeface="+mn-ea"/>
              </a:rPr>
              <a:t>和套筒的冲击疲劳强度。</a:t>
            </a:r>
            <a:endParaRPr lang="zh-CN" altLang="en-US" sz="24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ctr" anchorCtr="1" compatLnSpc="1">
            <a:noAutofit/>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0"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custDataLst>
              <p:tags r:id="rId11"/>
            </p:custDataLst>
          </p:nvPr>
        </p:nvSpPr>
        <p:spPr>
          <a:xfrm>
            <a:off x="866775" y="2669540"/>
            <a:ext cx="944245" cy="34982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ffectLst>
              <a:outerShdw dist="17961" dir="2700000" algn="ctr" rotWithShape="0">
                <a:schemeClr val="tx1">
                  <a:gamma/>
                  <a:shade val="60000"/>
                  <a:invGamma/>
                  <a:alpha val="50000"/>
                </a:schemeClr>
              </a:outerShdw>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F8E"/>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634" name="Rectangle 3"/>
          <p:cNvSpPr>
            <a:spLocks noGrp="1" noChangeArrowheads="1"/>
          </p:cNvSpPr>
          <p:nvPr>
            <p:ph type="body" idx="4294967295"/>
          </p:nvPr>
        </p:nvSpPr>
        <p:spPr>
          <a:xfrm>
            <a:off x="611560" y="332656"/>
            <a:ext cx="7772400" cy="6248400"/>
          </a:xfrm>
        </p:spPr>
        <p:txBody>
          <a:bodyPr/>
          <a:lstStyle/>
          <a:p>
            <a:pPr marL="0" indent="0" algn="just" eaLnBrk="1" hangingPunct="1">
              <a:lnSpc>
                <a:spcPct val="120000"/>
              </a:lnSpc>
              <a:buFontTx/>
              <a:buNone/>
            </a:pP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、链传动中，最适宜的中心距是</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2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20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p</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20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30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p</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30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50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p</a:t>
            </a:r>
            <a:r>
              <a:rPr lang="zh-CN" altLang="en-US" sz="2000" dirty="0" smtClean="0">
                <a:latin typeface="黑体" panose="02010609060101010101" pitchFamily="49" charset="-122"/>
                <a:ea typeface="黑体" panose="02010609060101010101" pitchFamily="49" charset="-122"/>
              </a:rPr>
              <a:t>；</a:t>
            </a:r>
            <a:endParaRPr lang="en-US" altLang="zh-CN" sz="2000" dirty="0" smtClean="0">
              <a:latin typeface="黑体" panose="02010609060101010101" pitchFamily="49" charset="-122"/>
              <a:ea typeface="黑体" panose="02010609060101010101" pitchFamily="49" charset="-122"/>
            </a:endParaRPr>
          </a:p>
          <a:p>
            <a:pPr marL="0" indent="0" algn="just" eaLnBrk="1" hangingPunct="1">
              <a:lnSpc>
                <a:spcPct val="120000"/>
              </a:lnSpc>
              <a:buFontTx/>
              <a:buNone/>
            </a:pPr>
            <a:r>
              <a:rPr lang="zh-CN" altLang="en-US" sz="2000" dirty="0" smtClean="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50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80</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p</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20000"/>
              </a:lnSpc>
              <a:spcBef>
                <a:spcPts val="1200"/>
              </a:spcBef>
              <a:buFontTx/>
              <a:buNone/>
            </a:pPr>
            <a:endParaRPr lang="en-US" sz="2000" dirty="0">
              <a:latin typeface="黑体" panose="02010609060101010101" pitchFamily="49" charset="-122"/>
              <a:ea typeface="黑体" panose="02010609060101010101" pitchFamily="49" charset="-122"/>
            </a:endParaRPr>
          </a:p>
          <a:p>
            <a:pPr marL="0" indent="0" algn="just" eaLnBrk="1" hangingPunct="1">
              <a:lnSpc>
                <a:spcPct val="120000"/>
              </a:lnSpc>
              <a:spcBef>
                <a:spcPts val="1200"/>
              </a:spcBef>
              <a:buFontTx/>
              <a:buNone/>
            </a:pPr>
            <a:r>
              <a:rPr lang="en-US"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、设计链传动时，链节数最好取</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2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）偶数；（</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）奇数；（</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）质数；（</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）链轮齿数的整数倍；</a:t>
            </a:r>
            <a:endParaRPr lang="zh-CN" altLang="en-US" sz="2000" dirty="0">
              <a:latin typeface="黑体" panose="02010609060101010101" pitchFamily="49" charset="-122"/>
              <a:ea typeface="黑体" panose="02010609060101010101" pitchFamily="49" charset="-122"/>
            </a:endParaRPr>
          </a:p>
          <a:p>
            <a:pPr marL="0" indent="0" eaLnBrk="1" hangingPunct="1">
              <a:lnSpc>
                <a:spcPct val="120000"/>
              </a:lnSpc>
              <a:spcBef>
                <a:spcPts val="1200"/>
              </a:spcBef>
              <a:buFontTx/>
              <a:buNone/>
            </a:pPr>
            <a:endParaRPr lang="en-US" sz="2000" dirty="0">
              <a:latin typeface="黑体" panose="02010609060101010101" pitchFamily="49" charset="-122"/>
              <a:ea typeface="黑体" panose="02010609060101010101" pitchFamily="49" charset="-122"/>
            </a:endParaRPr>
          </a:p>
          <a:p>
            <a:pPr marL="0" indent="0" eaLnBrk="1" hangingPunct="1">
              <a:lnSpc>
                <a:spcPct val="120000"/>
              </a:lnSpc>
              <a:spcBef>
                <a:spcPts val="1200"/>
              </a:spcBef>
              <a:buFontTx/>
              <a:buNone/>
            </a:pPr>
            <a:r>
              <a:rPr lang="en-US" sz="2000" dirty="0">
                <a:latin typeface="黑体" panose="02010609060101010101" pitchFamily="49" charset="-122"/>
                <a:ea typeface="黑体" panose="02010609060101010101" pitchFamily="49" charset="-122"/>
              </a:rPr>
              <a:t>6</a:t>
            </a:r>
            <a:r>
              <a:rPr lang="zh-CN" altLang="en-US" sz="2000" dirty="0">
                <a:latin typeface="黑体" panose="02010609060101010101" pitchFamily="49" charset="-122"/>
                <a:ea typeface="黑体" panose="02010609060101010101" pitchFamily="49" charset="-122"/>
              </a:rPr>
              <a:t>、多排链排数一般不超过</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或</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排，主要是为了</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eaLnBrk="1" hangingPunct="1">
              <a:lnSpc>
                <a:spcPct val="12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）不使安装困难；（</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）使各排受力均匀；（</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）不使轴向过宽；（</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）减轻链的重量；</a:t>
            </a:r>
            <a:endParaRPr lang="zh-CN" altLang="en-US" dirty="0">
              <a:latin typeface="黑体" panose="02010609060101010101" pitchFamily="49" charset="-122"/>
              <a:ea typeface="黑体" panose="02010609060101010101" pitchFamily="49" charset="-122"/>
            </a:endParaRPr>
          </a:p>
        </p:txBody>
      </p:sp>
      <p:sp>
        <p:nvSpPr>
          <p:cNvPr id="197636" name="Text Box 5"/>
          <p:cNvSpPr txBox="1">
            <a:spLocks noChangeArrowheads="1"/>
          </p:cNvSpPr>
          <p:nvPr/>
        </p:nvSpPr>
        <p:spPr bwMode="auto">
          <a:xfrm>
            <a:off x="6416799" y="3564523"/>
            <a:ext cx="3048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2</a:t>
            </a:r>
            <a:endParaRPr lang="en-US" dirty="0">
              <a:solidFill>
                <a:srgbClr val="FF3300"/>
              </a:solidFill>
            </a:endParaRPr>
          </a:p>
        </p:txBody>
      </p:sp>
      <p:sp>
        <p:nvSpPr>
          <p:cNvPr id="197637" name="Text Box 6"/>
          <p:cNvSpPr txBox="1">
            <a:spLocks noChangeArrowheads="1"/>
          </p:cNvSpPr>
          <p:nvPr/>
        </p:nvSpPr>
        <p:spPr bwMode="auto">
          <a:xfrm>
            <a:off x="4796661" y="2161535"/>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1</a:t>
            </a:r>
            <a:endParaRPr lang="en-US" dirty="0">
              <a:solidFill>
                <a:srgbClr val="FF3300"/>
              </a:solidFill>
            </a:endParaRPr>
          </a:p>
        </p:txBody>
      </p:sp>
      <p:sp>
        <p:nvSpPr>
          <p:cNvPr id="197638" name="Text Box 7"/>
          <p:cNvSpPr txBox="1">
            <a:spLocks noChangeArrowheads="1"/>
          </p:cNvSpPr>
          <p:nvPr/>
        </p:nvSpPr>
        <p:spPr bwMode="auto">
          <a:xfrm>
            <a:off x="4796512" y="278492"/>
            <a:ext cx="304800" cy="46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solidFill>
                  <a:srgbClr val="FF3300"/>
                </a:solidFill>
              </a:rPr>
              <a:t>3</a:t>
            </a:r>
            <a:endParaRPr lang="en-US">
              <a:solidFill>
                <a:srgbClr val="FF33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97634">
                                            <p:txEl>
                                              <p:pRg st="1" end="1"/>
                                            </p:txEl>
                                          </p:spTgt>
                                        </p:tgtEl>
                                        <p:attrNameLst>
                                          <p:attrName>style.visibility</p:attrName>
                                        </p:attrNameLst>
                                      </p:cBhvr>
                                      <p:to>
                                        <p:strVal val="visible"/>
                                      </p:to>
                                    </p:set>
                                    <p:animEffect transition="in" filter="wipe(left)">
                                      <p:cBhvr>
                                        <p:cTn id="7" dur="500"/>
                                        <p:tgtEl>
                                          <p:spTgt spid="197634">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97634">
                                            <p:txEl>
                                              <p:pRg st="2" end="2"/>
                                            </p:txEl>
                                          </p:spTgt>
                                        </p:tgtEl>
                                        <p:attrNameLst>
                                          <p:attrName>style.visibility</p:attrName>
                                        </p:attrNameLst>
                                      </p:cBhvr>
                                      <p:to>
                                        <p:strVal val="visible"/>
                                      </p:to>
                                    </p:set>
                                    <p:animEffect transition="in" filter="wipe(left)">
                                      <p:cBhvr>
                                        <p:cTn id="10" dur="500"/>
                                        <p:tgtEl>
                                          <p:spTgt spid="19763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00" fill="hold">
                                          <p:stCondLst>
                                            <p:cond delay="0"/>
                                          </p:stCondLst>
                                        </p:cTn>
                                        <p:tgtEl>
                                          <p:spTgt spid="197638">
                                            <p:txEl>
                                              <p:pRg st="0" end="0"/>
                                            </p:txEl>
                                          </p:spTgt>
                                        </p:tgtEl>
                                        <p:attrNameLst>
                                          <p:attrName>style.visibility</p:attrName>
                                        </p:attrNameLst>
                                      </p:cBhvr>
                                      <p:to>
                                        <p:strVal val="visible"/>
                                      </p:to>
                                    </p:set>
                                    <p:anim calcmode="lin" valueType="num">
                                      <p:cBhvr additive="base">
                                        <p:cTn id="15" dur="100" fill="hold"/>
                                        <p:tgtEl>
                                          <p:spTgt spid="197638">
                                            <p:txEl>
                                              <p:pRg st="0" end="0"/>
                                            </p:txEl>
                                          </p:spTgt>
                                        </p:tgtEl>
                                        <p:attrNameLst>
                                          <p:attrName>ppt_x</p:attrName>
                                        </p:attrNameLst>
                                      </p:cBhvr>
                                      <p:tavLst>
                                        <p:tav tm="0">
                                          <p:val>
                                            <p:strVal val="1+#ppt_w/2"/>
                                          </p:val>
                                        </p:tav>
                                        <p:tav tm="100000">
                                          <p:val>
                                            <p:strVal val="#ppt_x"/>
                                          </p:val>
                                        </p:tav>
                                      </p:tavLst>
                                    </p:anim>
                                    <p:anim calcmode="lin" valueType="num">
                                      <p:cBhvr additive="base">
                                        <p:cTn id="16" dur="100" fill="hold"/>
                                        <p:tgtEl>
                                          <p:spTgt spid="19763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97634">
                                            <p:txEl>
                                              <p:pRg st="4" end="4"/>
                                            </p:txEl>
                                          </p:spTgt>
                                        </p:tgtEl>
                                        <p:attrNameLst>
                                          <p:attrName>style.visibility</p:attrName>
                                        </p:attrNameLst>
                                      </p:cBhvr>
                                      <p:to>
                                        <p:strVal val="visible"/>
                                      </p:to>
                                    </p:set>
                                    <p:animEffect transition="in" filter="wipe(left)">
                                      <p:cBhvr>
                                        <p:cTn id="21" dur="500"/>
                                        <p:tgtEl>
                                          <p:spTgt spid="197634">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197634">
                                            <p:txEl>
                                              <p:pRg st="5" end="5"/>
                                            </p:txEl>
                                          </p:spTgt>
                                        </p:tgtEl>
                                        <p:attrNameLst>
                                          <p:attrName>style.visibility</p:attrName>
                                        </p:attrNameLst>
                                      </p:cBhvr>
                                      <p:to>
                                        <p:strVal val="visible"/>
                                      </p:to>
                                    </p:set>
                                    <p:animEffect transition="in" filter="wipe(left)">
                                      <p:cBhvr>
                                        <p:cTn id="24" dur="500"/>
                                        <p:tgtEl>
                                          <p:spTgt spid="19763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00" fill="hold">
                                          <p:stCondLst>
                                            <p:cond delay="0"/>
                                          </p:stCondLst>
                                        </p:cTn>
                                        <p:tgtEl>
                                          <p:spTgt spid="197637">
                                            <p:txEl>
                                              <p:pRg st="0" end="0"/>
                                            </p:txEl>
                                          </p:spTgt>
                                        </p:tgtEl>
                                        <p:attrNameLst>
                                          <p:attrName>style.visibility</p:attrName>
                                        </p:attrNameLst>
                                      </p:cBhvr>
                                      <p:to>
                                        <p:strVal val="visible"/>
                                      </p:to>
                                    </p:set>
                                    <p:anim calcmode="lin" valueType="num">
                                      <p:cBhvr additive="base">
                                        <p:cTn id="29" dur="100" fill="hold"/>
                                        <p:tgtEl>
                                          <p:spTgt spid="197637">
                                            <p:txEl>
                                              <p:pRg st="0" end="0"/>
                                            </p:txEl>
                                          </p:spTgt>
                                        </p:tgtEl>
                                        <p:attrNameLst>
                                          <p:attrName>ppt_x</p:attrName>
                                        </p:attrNameLst>
                                      </p:cBhvr>
                                      <p:tavLst>
                                        <p:tav tm="0">
                                          <p:val>
                                            <p:strVal val="1+#ppt_w/2"/>
                                          </p:val>
                                        </p:tav>
                                        <p:tav tm="100000">
                                          <p:val>
                                            <p:strVal val="#ppt_x"/>
                                          </p:val>
                                        </p:tav>
                                      </p:tavLst>
                                    </p:anim>
                                    <p:anim calcmode="lin" valueType="num">
                                      <p:cBhvr additive="base">
                                        <p:cTn id="30" dur="100" fill="hold"/>
                                        <p:tgtEl>
                                          <p:spTgt spid="19763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97634">
                                            <p:txEl>
                                              <p:pRg st="7" end="7"/>
                                            </p:txEl>
                                          </p:spTgt>
                                        </p:tgtEl>
                                        <p:attrNameLst>
                                          <p:attrName>style.visibility</p:attrName>
                                        </p:attrNameLst>
                                      </p:cBhvr>
                                      <p:to>
                                        <p:strVal val="visible"/>
                                      </p:to>
                                    </p:set>
                                    <p:animEffect transition="in" filter="wipe(left)">
                                      <p:cBhvr>
                                        <p:cTn id="35" dur="500"/>
                                        <p:tgtEl>
                                          <p:spTgt spid="197634">
                                            <p:txEl>
                                              <p:pRg st="7" end="7"/>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197634">
                                            <p:txEl>
                                              <p:pRg st="8" end="8"/>
                                            </p:txEl>
                                          </p:spTgt>
                                        </p:tgtEl>
                                        <p:attrNameLst>
                                          <p:attrName>style.visibility</p:attrName>
                                        </p:attrNameLst>
                                      </p:cBhvr>
                                      <p:to>
                                        <p:strVal val="visible"/>
                                      </p:to>
                                    </p:set>
                                    <p:animEffect transition="in" filter="wipe(left)">
                                      <p:cBhvr>
                                        <p:cTn id="38" dur="500"/>
                                        <p:tgtEl>
                                          <p:spTgt spid="197634">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3" fill="hold" grpId="0" nodeType="clickEffect">
                                  <p:stCondLst>
                                    <p:cond delay="0"/>
                                  </p:stCondLst>
                                  <p:iterate type="lt">
                                    <p:tmPct val="100000"/>
                                  </p:iterate>
                                  <p:childTnLst>
                                    <p:set>
                                      <p:cBhvr>
                                        <p:cTn id="42" dur="100" fill="hold">
                                          <p:stCondLst>
                                            <p:cond delay="0"/>
                                          </p:stCondLst>
                                        </p:cTn>
                                        <p:tgtEl>
                                          <p:spTgt spid="197636">
                                            <p:txEl>
                                              <p:pRg st="0" end="0"/>
                                            </p:txEl>
                                          </p:spTgt>
                                        </p:tgtEl>
                                        <p:attrNameLst>
                                          <p:attrName>style.visibility</p:attrName>
                                        </p:attrNameLst>
                                      </p:cBhvr>
                                      <p:to>
                                        <p:strVal val="visible"/>
                                      </p:to>
                                    </p:set>
                                    <p:anim calcmode="lin" valueType="num">
                                      <p:cBhvr additive="base">
                                        <p:cTn id="43" dur="100" fill="hold"/>
                                        <p:tgtEl>
                                          <p:spTgt spid="197636">
                                            <p:txEl>
                                              <p:pRg st="0" end="0"/>
                                            </p:txEl>
                                          </p:spTgt>
                                        </p:tgtEl>
                                        <p:attrNameLst>
                                          <p:attrName>ppt_x</p:attrName>
                                        </p:attrNameLst>
                                      </p:cBhvr>
                                      <p:tavLst>
                                        <p:tav tm="0">
                                          <p:val>
                                            <p:strVal val="1+#ppt_w/2"/>
                                          </p:val>
                                        </p:tav>
                                        <p:tav tm="100000">
                                          <p:val>
                                            <p:strVal val="#ppt_x"/>
                                          </p:val>
                                        </p:tav>
                                      </p:tavLst>
                                    </p:anim>
                                    <p:anim calcmode="lin" valueType="num">
                                      <p:cBhvr additive="base">
                                        <p:cTn id="44" dur="100" fill="hold"/>
                                        <p:tgtEl>
                                          <p:spTgt spid="197636">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6" grpId="0" autoUpdateAnimBg="0" build="p"/>
      <p:bldP spid="197637" grpId="0" autoUpdateAnimBg="0" build="p"/>
      <p:bldP spid="197638" grpId="0" autoUpdateAnimBg="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3"/>
          <p:cNvSpPr>
            <a:spLocks noGrp="1" noChangeArrowheads="1"/>
          </p:cNvSpPr>
          <p:nvPr>
            <p:ph type="body" idx="4294967295"/>
          </p:nvPr>
        </p:nvSpPr>
        <p:spPr>
          <a:xfrm>
            <a:off x="685800" y="304800"/>
            <a:ext cx="7772400" cy="6172200"/>
          </a:xfrm>
        </p:spPr>
        <p:txBody>
          <a:bodyPr/>
          <a:lstStyle/>
          <a:p>
            <a:pPr marL="0" indent="0" algn="just" eaLnBrk="1" hangingPunct="1">
              <a:lnSpc>
                <a:spcPct val="240000"/>
              </a:lnSpc>
              <a:buFontTx/>
              <a:buNone/>
            </a:pPr>
            <a:r>
              <a:rPr lang="en-US"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、链传动只能用于轴线</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的传动。</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）相交成</a:t>
            </a:r>
            <a:r>
              <a:rPr lang="en-US" sz="2000" dirty="0">
                <a:latin typeface="黑体" panose="02010609060101010101" pitchFamily="49" charset="-122"/>
                <a:ea typeface="黑体" panose="02010609060101010101" pitchFamily="49" charset="-122"/>
              </a:rPr>
              <a:t>90</a:t>
            </a:r>
            <a:r>
              <a:rPr lang="en-US" sz="2000" dirty="0">
                <a:latin typeface="黑体" panose="02010609060101010101" pitchFamily="49" charset="-122"/>
                <a:ea typeface="黑体" panose="02010609060101010101" pitchFamily="49" charset="-122"/>
                <a:sym typeface="Symbol" panose="05050102010706020507" pitchFamily="18" charset="2"/>
              </a:rPr>
              <a:t></a:t>
            </a: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）相交成任意角度</a:t>
            </a:r>
            <a:r>
              <a:rPr lang="zh-CN" altLang="en-US" sz="2000" dirty="0" smtClean="0">
                <a:latin typeface="黑体" panose="02010609060101010101" pitchFamily="49" charset="-122"/>
                <a:ea typeface="黑体" panose="02010609060101010101" pitchFamily="49" charset="-122"/>
              </a:rPr>
              <a:t>；</a:t>
            </a:r>
            <a:endParaRPr lang="en-US" altLang="zh-CN" sz="2000" dirty="0" smtClean="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smtClean="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）空间</a:t>
            </a:r>
            <a:r>
              <a:rPr lang="en-US" sz="2000" dirty="0">
                <a:latin typeface="黑体" panose="02010609060101010101" pitchFamily="49" charset="-122"/>
                <a:ea typeface="黑体" panose="02010609060101010101" pitchFamily="49" charset="-122"/>
              </a:rPr>
              <a:t>90</a:t>
            </a:r>
            <a:r>
              <a:rPr lang="en-US" sz="2000" dirty="0">
                <a:latin typeface="黑体" panose="02010609060101010101" pitchFamily="49" charset="-122"/>
                <a:ea typeface="黑体" panose="02010609060101010101" pitchFamily="49" charset="-122"/>
                <a:sym typeface="Symbol" panose="05050102010706020507" pitchFamily="18" charset="2"/>
              </a:rPr>
              <a:t></a:t>
            </a:r>
            <a:r>
              <a:rPr lang="zh-CN" altLang="en-US" sz="2000" dirty="0">
                <a:latin typeface="黑体" panose="02010609060101010101" pitchFamily="49" charset="-122"/>
                <a:ea typeface="黑体" panose="02010609060101010101" pitchFamily="49" charset="-122"/>
              </a:rPr>
              <a:t>交错；（</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）平行；</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en-US"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、链传动张紧的目的主要是</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）同带传动一样；（</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）提高链传动工作能力</a:t>
            </a:r>
            <a:r>
              <a:rPr lang="zh-CN" altLang="en-US" sz="2000" dirty="0" smtClean="0">
                <a:latin typeface="黑体" panose="02010609060101010101" pitchFamily="49" charset="-122"/>
                <a:ea typeface="黑体" panose="02010609060101010101" pitchFamily="49" charset="-122"/>
              </a:rPr>
              <a:t>；</a:t>
            </a:r>
            <a:endParaRPr lang="en-US" altLang="zh-CN" sz="2000" dirty="0" smtClean="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smtClean="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）避免松边垂度过大而引起啮合不良和链条振动</a:t>
            </a:r>
            <a:r>
              <a:rPr lang="zh-CN" altLang="en-US" sz="2000" dirty="0" smtClean="0">
                <a:latin typeface="黑体" panose="02010609060101010101" pitchFamily="49" charset="-122"/>
                <a:ea typeface="黑体" panose="02010609060101010101" pitchFamily="49" charset="-122"/>
              </a:rPr>
              <a:t>；</a:t>
            </a:r>
            <a:endParaRPr lang="en-US" altLang="zh-CN" sz="2000" dirty="0" smtClean="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smtClean="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）增大包角；</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en-US"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、链传动人工润滑时，润滑油应加在</a:t>
            </a:r>
            <a:r>
              <a:rPr lang="zh-CN" altLang="en-US" sz="2000" u="sng"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zh-CN" altLang="en-US"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）紧边上；（</a:t>
            </a:r>
            <a:r>
              <a:rPr lang="en-US"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）链条和链轮啮合处；（</a:t>
            </a:r>
            <a:r>
              <a:rPr lang="en-US"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）松边上；</a:t>
            </a:r>
            <a:endParaRPr lang="zh-CN" altLang="en-US" dirty="0">
              <a:latin typeface="黑体" panose="02010609060101010101" pitchFamily="49" charset="-122"/>
              <a:ea typeface="黑体" panose="02010609060101010101" pitchFamily="49" charset="-122"/>
            </a:endParaRPr>
          </a:p>
        </p:txBody>
      </p:sp>
      <p:sp>
        <p:nvSpPr>
          <p:cNvPr id="198659" name="Text Box 8"/>
          <p:cNvSpPr txBox="1">
            <a:spLocks noChangeArrowheads="1"/>
          </p:cNvSpPr>
          <p:nvPr/>
        </p:nvSpPr>
        <p:spPr bwMode="auto">
          <a:xfrm>
            <a:off x="3851920" y="548680"/>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4</a:t>
            </a:r>
            <a:endParaRPr lang="en-US" dirty="0">
              <a:solidFill>
                <a:srgbClr val="FF3300"/>
              </a:solidFill>
            </a:endParaRPr>
          </a:p>
        </p:txBody>
      </p:sp>
      <p:sp>
        <p:nvSpPr>
          <p:cNvPr id="198660" name="Text Box 9"/>
          <p:cNvSpPr txBox="1">
            <a:spLocks noChangeArrowheads="1"/>
          </p:cNvSpPr>
          <p:nvPr/>
        </p:nvSpPr>
        <p:spPr bwMode="auto">
          <a:xfrm>
            <a:off x="4391660" y="2484120"/>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3</a:t>
            </a:r>
            <a:endParaRPr lang="en-US" dirty="0">
              <a:solidFill>
                <a:srgbClr val="FF3300"/>
              </a:solidFill>
            </a:endParaRPr>
          </a:p>
        </p:txBody>
      </p:sp>
      <p:sp>
        <p:nvSpPr>
          <p:cNvPr id="198661" name="Text Box 10"/>
          <p:cNvSpPr txBox="1">
            <a:spLocks noChangeArrowheads="1"/>
          </p:cNvSpPr>
          <p:nvPr/>
        </p:nvSpPr>
        <p:spPr bwMode="auto">
          <a:xfrm>
            <a:off x="5381615" y="4688835"/>
            <a:ext cx="30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3</a:t>
            </a:r>
            <a:endParaRPr lang="en-US" dirty="0">
              <a:solidFill>
                <a:srgbClr val="FF33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8658">
                                            <p:txEl>
                                              <p:pRg st="0" end="0"/>
                                            </p:txEl>
                                          </p:spTgt>
                                        </p:tgtEl>
                                        <p:attrNameLst>
                                          <p:attrName>style.visibility</p:attrName>
                                        </p:attrNameLst>
                                      </p:cBhvr>
                                      <p:to>
                                        <p:strVal val="visible"/>
                                      </p:to>
                                    </p:set>
                                    <p:animEffect transition="in" filter="wipe(left)">
                                      <p:cBhvr>
                                        <p:cTn id="7" dur="500"/>
                                        <p:tgtEl>
                                          <p:spTgt spid="198658">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98658">
                                            <p:txEl>
                                              <p:pRg st="1" end="1"/>
                                            </p:txEl>
                                          </p:spTgt>
                                        </p:tgtEl>
                                        <p:attrNameLst>
                                          <p:attrName>style.visibility</p:attrName>
                                        </p:attrNameLst>
                                      </p:cBhvr>
                                      <p:to>
                                        <p:strVal val="visible"/>
                                      </p:to>
                                    </p:set>
                                    <p:animEffect transition="in" filter="wipe(left)">
                                      <p:cBhvr>
                                        <p:cTn id="10" dur="500"/>
                                        <p:tgtEl>
                                          <p:spTgt spid="198658">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98658">
                                            <p:txEl>
                                              <p:pRg st="2" end="2"/>
                                            </p:txEl>
                                          </p:spTgt>
                                        </p:tgtEl>
                                        <p:attrNameLst>
                                          <p:attrName>style.visibility</p:attrName>
                                        </p:attrNameLst>
                                      </p:cBhvr>
                                      <p:to>
                                        <p:strVal val="visible"/>
                                      </p:to>
                                    </p:set>
                                    <p:animEffect transition="in" filter="wipe(left)">
                                      <p:cBhvr>
                                        <p:cTn id="13" dur="500"/>
                                        <p:tgtEl>
                                          <p:spTgt spid="19865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3" fill="hold" grpId="0" nodeType="clickEffect">
                                  <p:stCondLst>
                                    <p:cond delay="0"/>
                                  </p:stCondLst>
                                  <p:iterate type="lt">
                                    <p:tmPct val="100000"/>
                                  </p:iterate>
                                  <p:childTnLst>
                                    <p:set>
                                      <p:cBhvr>
                                        <p:cTn id="17" dur="100" fill="hold">
                                          <p:stCondLst>
                                            <p:cond delay="0"/>
                                          </p:stCondLst>
                                        </p:cTn>
                                        <p:tgtEl>
                                          <p:spTgt spid="198659">
                                            <p:txEl>
                                              <p:pRg st="0" end="0"/>
                                            </p:txEl>
                                          </p:spTgt>
                                        </p:tgtEl>
                                        <p:attrNameLst>
                                          <p:attrName>style.visibility</p:attrName>
                                        </p:attrNameLst>
                                      </p:cBhvr>
                                      <p:to>
                                        <p:strVal val="visible"/>
                                      </p:to>
                                    </p:set>
                                    <p:anim calcmode="lin" valueType="num">
                                      <p:cBhvr additive="base">
                                        <p:cTn id="18" dur="100" fill="hold"/>
                                        <p:tgtEl>
                                          <p:spTgt spid="198659">
                                            <p:txEl>
                                              <p:pRg st="0" end="0"/>
                                            </p:txEl>
                                          </p:spTgt>
                                        </p:tgtEl>
                                        <p:attrNameLst>
                                          <p:attrName>ppt_x</p:attrName>
                                        </p:attrNameLst>
                                      </p:cBhvr>
                                      <p:tavLst>
                                        <p:tav tm="0">
                                          <p:val>
                                            <p:strVal val="1+#ppt_w/2"/>
                                          </p:val>
                                        </p:tav>
                                        <p:tav tm="100000">
                                          <p:val>
                                            <p:strVal val="#ppt_x"/>
                                          </p:val>
                                        </p:tav>
                                      </p:tavLst>
                                    </p:anim>
                                    <p:anim calcmode="lin" valueType="num">
                                      <p:cBhvr additive="base">
                                        <p:cTn id="19" dur="100" fill="hold"/>
                                        <p:tgtEl>
                                          <p:spTgt spid="19865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98658">
                                            <p:txEl>
                                              <p:pRg st="4" end="4"/>
                                            </p:txEl>
                                          </p:spTgt>
                                        </p:tgtEl>
                                        <p:attrNameLst>
                                          <p:attrName>style.visibility</p:attrName>
                                        </p:attrNameLst>
                                      </p:cBhvr>
                                      <p:to>
                                        <p:strVal val="visible"/>
                                      </p:to>
                                    </p:set>
                                    <p:animEffect transition="in" filter="wipe(left)">
                                      <p:cBhvr>
                                        <p:cTn id="24" dur="500"/>
                                        <p:tgtEl>
                                          <p:spTgt spid="198658">
                                            <p:txEl>
                                              <p:pRg st="4" end="4"/>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198658">
                                            <p:txEl>
                                              <p:pRg st="5" end="5"/>
                                            </p:txEl>
                                          </p:spTgt>
                                        </p:tgtEl>
                                        <p:attrNameLst>
                                          <p:attrName>style.visibility</p:attrName>
                                        </p:attrNameLst>
                                      </p:cBhvr>
                                      <p:to>
                                        <p:strVal val="visible"/>
                                      </p:to>
                                    </p:set>
                                    <p:animEffect transition="in" filter="wipe(left)">
                                      <p:cBhvr>
                                        <p:cTn id="27" dur="500"/>
                                        <p:tgtEl>
                                          <p:spTgt spid="198658">
                                            <p:txEl>
                                              <p:pRg st="5" end="5"/>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198658">
                                            <p:txEl>
                                              <p:pRg st="6" end="6"/>
                                            </p:txEl>
                                          </p:spTgt>
                                        </p:tgtEl>
                                        <p:attrNameLst>
                                          <p:attrName>style.visibility</p:attrName>
                                        </p:attrNameLst>
                                      </p:cBhvr>
                                      <p:to>
                                        <p:strVal val="visible"/>
                                      </p:to>
                                    </p:set>
                                    <p:animEffect transition="in" filter="wipe(left)">
                                      <p:cBhvr>
                                        <p:cTn id="30" dur="500"/>
                                        <p:tgtEl>
                                          <p:spTgt spid="198658">
                                            <p:txEl>
                                              <p:pRg st="6" end="6"/>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198658">
                                            <p:txEl>
                                              <p:pRg st="7" end="7"/>
                                            </p:txEl>
                                          </p:spTgt>
                                        </p:tgtEl>
                                        <p:attrNameLst>
                                          <p:attrName>style.visibility</p:attrName>
                                        </p:attrNameLst>
                                      </p:cBhvr>
                                      <p:to>
                                        <p:strVal val="visible"/>
                                      </p:to>
                                    </p:set>
                                    <p:animEffect transition="in" filter="wipe(left)">
                                      <p:cBhvr>
                                        <p:cTn id="33" dur="500"/>
                                        <p:tgtEl>
                                          <p:spTgt spid="198658">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iterate type="lt">
                                    <p:tmPct val="100000"/>
                                  </p:iterate>
                                  <p:childTnLst>
                                    <p:set>
                                      <p:cBhvr>
                                        <p:cTn id="37" dur="100" fill="hold">
                                          <p:stCondLst>
                                            <p:cond delay="0"/>
                                          </p:stCondLst>
                                        </p:cTn>
                                        <p:tgtEl>
                                          <p:spTgt spid="198660">
                                            <p:txEl>
                                              <p:pRg st="0" end="0"/>
                                            </p:txEl>
                                          </p:spTgt>
                                        </p:tgtEl>
                                        <p:attrNameLst>
                                          <p:attrName>style.visibility</p:attrName>
                                        </p:attrNameLst>
                                      </p:cBhvr>
                                      <p:to>
                                        <p:strVal val="visible"/>
                                      </p:to>
                                    </p:set>
                                    <p:anim calcmode="lin" valueType="num">
                                      <p:cBhvr additive="base">
                                        <p:cTn id="38" dur="100" fill="hold"/>
                                        <p:tgtEl>
                                          <p:spTgt spid="198660">
                                            <p:txEl>
                                              <p:pRg st="0" end="0"/>
                                            </p:txEl>
                                          </p:spTgt>
                                        </p:tgtEl>
                                        <p:attrNameLst>
                                          <p:attrName>ppt_x</p:attrName>
                                        </p:attrNameLst>
                                      </p:cBhvr>
                                      <p:tavLst>
                                        <p:tav tm="0">
                                          <p:val>
                                            <p:strVal val="1+#ppt_w/2"/>
                                          </p:val>
                                        </p:tav>
                                        <p:tav tm="100000">
                                          <p:val>
                                            <p:strVal val="#ppt_x"/>
                                          </p:val>
                                        </p:tav>
                                      </p:tavLst>
                                    </p:anim>
                                    <p:anim calcmode="lin" valueType="num">
                                      <p:cBhvr additive="base">
                                        <p:cTn id="39" dur="100" fill="hold"/>
                                        <p:tgtEl>
                                          <p:spTgt spid="19866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98658">
                                            <p:txEl>
                                              <p:pRg st="9" end="9"/>
                                            </p:txEl>
                                          </p:spTgt>
                                        </p:tgtEl>
                                        <p:attrNameLst>
                                          <p:attrName>style.visibility</p:attrName>
                                        </p:attrNameLst>
                                      </p:cBhvr>
                                      <p:to>
                                        <p:strVal val="visible"/>
                                      </p:to>
                                    </p:set>
                                    <p:animEffect transition="in" filter="wipe(left)">
                                      <p:cBhvr>
                                        <p:cTn id="44" dur="500"/>
                                        <p:tgtEl>
                                          <p:spTgt spid="198658">
                                            <p:txEl>
                                              <p:pRg st="9" end="9"/>
                                            </p:txEl>
                                          </p:spTgt>
                                        </p:tgtEl>
                                      </p:cBhvr>
                                    </p:animEffect>
                                  </p:childTnLst>
                                </p:cTn>
                              </p:par>
                              <p:par>
                                <p:cTn id="45" presetID="22" presetClass="entr" presetSubtype="8" fill="hold" nodeType="withEffect">
                                  <p:stCondLst>
                                    <p:cond delay="0"/>
                                  </p:stCondLst>
                                  <p:childTnLst>
                                    <p:set>
                                      <p:cBhvr>
                                        <p:cTn id="46" dur="1" fill="hold">
                                          <p:stCondLst>
                                            <p:cond delay="0"/>
                                          </p:stCondLst>
                                        </p:cTn>
                                        <p:tgtEl>
                                          <p:spTgt spid="198658">
                                            <p:txEl>
                                              <p:pRg st="10" end="10"/>
                                            </p:txEl>
                                          </p:spTgt>
                                        </p:tgtEl>
                                        <p:attrNameLst>
                                          <p:attrName>style.visibility</p:attrName>
                                        </p:attrNameLst>
                                      </p:cBhvr>
                                      <p:to>
                                        <p:strVal val="visible"/>
                                      </p:to>
                                    </p:set>
                                    <p:animEffect transition="in" filter="wipe(left)">
                                      <p:cBhvr>
                                        <p:cTn id="47" dur="500"/>
                                        <p:tgtEl>
                                          <p:spTgt spid="198658">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3" fill="hold" grpId="0" nodeType="clickEffect">
                                  <p:stCondLst>
                                    <p:cond delay="0"/>
                                  </p:stCondLst>
                                  <p:iterate type="lt">
                                    <p:tmPct val="100000"/>
                                  </p:iterate>
                                  <p:childTnLst>
                                    <p:set>
                                      <p:cBhvr>
                                        <p:cTn id="51" dur="100" fill="hold">
                                          <p:stCondLst>
                                            <p:cond delay="0"/>
                                          </p:stCondLst>
                                        </p:cTn>
                                        <p:tgtEl>
                                          <p:spTgt spid="198661">
                                            <p:txEl>
                                              <p:pRg st="0" end="0"/>
                                            </p:txEl>
                                          </p:spTgt>
                                        </p:tgtEl>
                                        <p:attrNameLst>
                                          <p:attrName>style.visibility</p:attrName>
                                        </p:attrNameLst>
                                      </p:cBhvr>
                                      <p:to>
                                        <p:strVal val="visible"/>
                                      </p:to>
                                    </p:set>
                                    <p:anim calcmode="lin" valueType="num">
                                      <p:cBhvr additive="base">
                                        <p:cTn id="52" dur="100" fill="hold"/>
                                        <p:tgtEl>
                                          <p:spTgt spid="198661">
                                            <p:txEl>
                                              <p:pRg st="0" end="0"/>
                                            </p:txEl>
                                          </p:spTgt>
                                        </p:tgtEl>
                                        <p:attrNameLst>
                                          <p:attrName>ppt_x</p:attrName>
                                        </p:attrNameLst>
                                      </p:cBhvr>
                                      <p:tavLst>
                                        <p:tav tm="0">
                                          <p:val>
                                            <p:strVal val="1+#ppt_w/2"/>
                                          </p:val>
                                        </p:tav>
                                        <p:tav tm="100000">
                                          <p:val>
                                            <p:strVal val="#ppt_x"/>
                                          </p:val>
                                        </p:tav>
                                      </p:tavLst>
                                    </p:anim>
                                    <p:anim calcmode="lin" valueType="num">
                                      <p:cBhvr additive="base">
                                        <p:cTn id="53" dur="100" fill="hold"/>
                                        <p:tgtEl>
                                          <p:spTgt spid="198661">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autoUpdateAnimBg="0" build="p"/>
      <p:bldP spid="198660" grpId="0" autoUpdateAnimBg="0" build="p"/>
      <p:bldP spid="198661" grpId="0" autoUpdateAnimBg="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3528" y="692696"/>
            <a:ext cx="8352928" cy="1476375"/>
          </a:xfrm>
          <a:prstGeom prst="rect">
            <a:avLst/>
          </a:prstGeom>
        </p:spPr>
        <p:txBody>
          <a:bodyPr wrap="square">
            <a:spAutoFit/>
          </a:bodyPr>
          <a:lstStyle/>
          <a:p>
            <a:pPr marL="0" marR="0" algn="just">
              <a:lnSpc>
                <a:spcPct val="150000"/>
              </a:lnSpc>
              <a:spcBef>
                <a:spcPts val="0"/>
              </a:spcBef>
              <a:spcAft>
                <a:spcPts val="0"/>
              </a:spcAft>
            </a:pPr>
            <a:r>
              <a:rPr lang="en-US" altLang="zh-CN" sz="2000" b="1" kern="100" dirty="0" smtClean="0">
                <a:solidFill>
                  <a:schemeClr val="accent6">
                    <a:lumMod val="50000"/>
                  </a:schemeClr>
                </a:solidFill>
                <a:latin typeface="宋体" panose="02010600030101010101" pitchFamily="2" charset="-122"/>
                <a:ea typeface="宋体" panose="02010600030101010101" pitchFamily="2" charset="-122"/>
              </a:rPr>
              <a:t>10</a:t>
            </a:r>
            <a:r>
              <a:rPr lang="zh-CN" altLang="en-US" sz="2000" b="1" kern="100" dirty="0" smtClean="0">
                <a:solidFill>
                  <a:schemeClr val="accent6">
                    <a:lumMod val="50000"/>
                  </a:schemeClr>
                </a:solidFill>
                <a:latin typeface="宋体" panose="02010600030101010101" pitchFamily="2" charset="-122"/>
                <a:ea typeface="宋体" panose="02010600030101010101" pitchFamily="2" charset="-122"/>
              </a:rPr>
              <a:t>、</a:t>
            </a:r>
            <a:r>
              <a:rPr lang="zh-CN" altLang="en-US" sz="2000" b="1" kern="100" dirty="0">
                <a:solidFill>
                  <a:schemeClr val="accent6">
                    <a:lumMod val="50000"/>
                  </a:schemeClr>
                </a:solidFill>
                <a:latin typeface="宋体" panose="02010600030101010101" pitchFamily="2" charset="-122"/>
                <a:ea typeface="宋体" panose="02010600030101010101" pitchFamily="2" charset="-122"/>
              </a:rPr>
              <a:t>链传动属于</a:t>
            </a:r>
            <a:r>
              <a:rPr lang="en-US" altLang="zh-CN" sz="2000" b="1" kern="100" dirty="0">
                <a:solidFill>
                  <a:schemeClr val="accent6">
                    <a:lumMod val="50000"/>
                  </a:schemeClr>
                </a:solidFill>
                <a:latin typeface="Times New Roman" panose="02020603050405020304" pitchFamily="18" charset="0"/>
                <a:ea typeface="宋体" panose="02010600030101010101" pitchFamily="2" charset="-122"/>
              </a:rPr>
              <a:t>____</a:t>
            </a:r>
            <a:r>
              <a:rPr lang="zh-CN" altLang="en-US" sz="2000" b="1" kern="100" dirty="0">
                <a:solidFill>
                  <a:schemeClr val="accent6">
                    <a:lumMod val="50000"/>
                  </a:schemeClr>
                </a:solidFill>
                <a:latin typeface="宋体" panose="02010600030101010101" pitchFamily="2" charset="-122"/>
                <a:ea typeface="宋体" panose="02010600030101010101" pitchFamily="2" charset="-122"/>
              </a:rPr>
              <a:t>。</a:t>
            </a:r>
            <a:endParaRPr lang="zh-CN" altLang="en-US" sz="2000" kern="100" dirty="0">
              <a:latin typeface="Times New Roman" panose="02020603050405020304" pitchFamily="18" charset="0"/>
              <a:ea typeface="宋体" panose="02010600030101010101" pitchFamily="2" charset="-122"/>
            </a:endParaRPr>
          </a:p>
          <a:p>
            <a:pPr marL="0" marR="0" indent="229235" algn="just">
              <a:lnSpc>
                <a:spcPct val="150000"/>
              </a:lnSpc>
              <a:spcBef>
                <a:spcPts val="0"/>
              </a:spcBef>
              <a:spcAft>
                <a:spcPts val="0"/>
              </a:spcAft>
            </a:pPr>
            <a:r>
              <a:rPr lang="en-US" altLang="zh-CN" sz="2000" b="1" kern="100" dirty="0" smtClean="0">
                <a:latin typeface="宋体" panose="02010600030101010101" pitchFamily="2" charset="-122"/>
                <a:ea typeface="宋体" panose="02010600030101010101" pitchFamily="2" charset="-122"/>
              </a:rPr>
              <a:t>(1)</a:t>
            </a:r>
            <a:r>
              <a:rPr lang="zh-CN" altLang="en-US" sz="2000" b="1" kern="100" dirty="0" smtClean="0">
                <a:latin typeface="宋体" panose="02010600030101010101" pitchFamily="2" charset="-122"/>
                <a:ea typeface="宋体" panose="02010600030101010101" pitchFamily="2" charset="-122"/>
              </a:rPr>
              <a:t>带有</a:t>
            </a:r>
            <a:r>
              <a:rPr lang="zh-CN" altLang="en-US" sz="2000" b="1" kern="100" dirty="0">
                <a:latin typeface="宋体" panose="02010600030101010101" pitchFamily="2" charset="-122"/>
                <a:ea typeface="宋体" panose="02010600030101010101" pitchFamily="2" charset="-122"/>
              </a:rPr>
              <a:t>中间挠性件的摩擦传动      </a:t>
            </a:r>
            <a:r>
              <a:rPr lang="en-US" altLang="zh-CN" sz="2000" b="1" kern="100" dirty="0" smtClean="0">
                <a:latin typeface="宋体" panose="02010600030101010101" pitchFamily="2" charset="-122"/>
                <a:ea typeface="宋体" panose="02010600030101010101" pitchFamily="2" charset="-122"/>
              </a:rPr>
              <a:t>(2)</a:t>
            </a:r>
            <a:r>
              <a:rPr lang="zh-CN" altLang="en-US" sz="2000" b="1" kern="100" dirty="0" smtClean="0">
                <a:latin typeface="宋体" panose="02010600030101010101" pitchFamily="2" charset="-122"/>
                <a:ea typeface="宋体" panose="02010600030101010101" pitchFamily="2" charset="-122"/>
              </a:rPr>
              <a:t>两</a:t>
            </a:r>
            <a:r>
              <a:rPr lang="zh-CN" altLang="en-US" sz="2000" b="1" kern="100" dirty="0">
                <a:latin typeface="宋体" panose="02010600030101010101" pitchFamily="2" charset="-122"/>
                <a:ea typeface="宋体" panose="02010600030101010101" pitchFamily="2" charset="-122"/>
              </a:rPr>
              <a:t>零件直接接触的啮合传动</a:t>
            </a:r>
            <a:endParaRPr lang="zh-CN" altLang="en-US" sz="2000" kern="100" dirty="0">
              <a:latin typeface="Times New Roman" panose="02020603050405020304" pitchFamily="18" charset="0"/>
              <a:ea typeface="宋体" panose="02010600030101010101" pitchFamily="2" charset="-122"/>
            </a:endParaRPr>
          </a:p>
          <a:p>
            <a:pPr marL="0" marR="0" indent="229235" algn="just">
              <a:lnSpc>
                <a:spcPct val="150000"/>
              </a:lnSpc>
              <a:spcBef>
                <a:spcPts val="0"/>
              </a:spcBef>
              <a:spcAft>
                <a:spcPts val="0"/>
              </a:spcAft>
            </a:pPr>
            <a:r>
              <a:rPr lang="en-US" altLang="zh-CN" sz="2000" b="1" kern="100" dirty="0" smtClean="0">
                <a:latin typeface="宋体" panose="02010600030101010101" pitchFamily="2" charset="-122"/>
                <a:ea typeface="宋体" panose="02010600030101010101" pitchFamily="2" charset="-122"/>
              </a:rPr>
              <a:t>(3)</a:t>
            </a:r>
            <a:r>
              <a:rPr lang="zh-CN" altLang="en-US" sz="2000" b="1" kern="100" dirty="0" smtClean="0">
                <a:latin typeface="宋体" panose="02010600030101010101" pitchFamily="2" charset="-122"/>
                <a:ea typeface="宋体" panose="02010600030101010101" pitchFamily="2" charset="-122"/>
              </a:rPr>
              <a:t>两</a:t>
            </a:r>
            <a:r>
              <a:rPr lang="zh-CN" altLang="en-US" sz="2000" b="1" kern="100" dirty="0">
                <a:latin typeface="宋体" panose="02010600030101010101" pitchFamily="2" charset="-122"/>
                <a:ea typeface="宋体" panose="02010600030101010101" pitchFamily="2" charset="-122"/>
              </a:rPr>
              <a:t>零件直接接触的摩擦传动       </a:t>
            </a:r>
            <a:r>
              <a:rPr lang="en-US" altLang="zh-CN" sz="2000" b="1" kern="100" dirty="0" smtClean="0">
                <a:latin typeface="宋体" panose="02010600030101010101" pitchFamily="2" charset="-122"/>
                <a:ea typeface="宋体" panose="02010600030101010101" pitchFamily="2" charset="-122"/>
              </a:rPr>
              <a:t>(4)</a:t>
            </a:r>
            <a:r>
              <a:rPr lang="zh-CN" altLang="en-US" sz="2000" b="1" kern="100" dirty="0" smtClean="0">
                <a:latin typeface="宋体" panose="02010600030101010101" pitchFamily="2" charset="-122"/>
                <a:ea typeface="宋体" panose="02010600030101010101" pitchFamily="2" charset="-122"/>
              </a:rPr>
              <a:t>带有</a:t>
            </a:r>
            <a:r>
              <a:rPr lang="zh-CN" altLang="en-US" sz="2000" b="1" kern="100" dirty="0">
                <a:latin typeface="宋体" panose="02010600030101010101" pitchFamily="2" charset="-122"/>
                <a:ea typeface="宋体" panose="02010600030101010101" pitchFamily="2" charset="-122"/>
              </a:rPr>
              <a:t>中间挠性件的啮合传动</a:t>
            </a:r>
            <a:endParaRPr lang="zh-CN" altLang="en-US" sz="2000" kern="100" dirty="0">
              <a:effectLst/>
              <a:latin typeface="Times New Roman" panose="02020603050405020304" pitchFamily="18" charset="0"/>
              <a:ea typeface="宋体" panose="02010600030101010101" pitchFamily="2" charset="-122"/>
            </a:endParaRPr>
          </a:p>
        </p:txBody>
      </p:sp>
      <p:sp>
        <p:nvSpPr>
          <p:cNvPr id="5" name="矩形 4"/>
          <p:cNvSpPr/>
          <p:nvPr/>
        </p:nvSpPr>
        <p:spPr>
          <a:xfrm>
            <a:off x="387410" y="2663572"/>
            <a:ext cx="8748464" cy="1014730"/>
          </a:xfrm>
          <a:prstGeom prst="rect">
            <a:avLst/>
          </a:prstGeom>
        </p:spPr>
        <p:txBody>
          <a:bodyPr wrap="square">
            <a:spAutoFit/>
          </a:bodyPr>
          <a:lstStyle/>
          <a:p>
            <a:pPr marL="0" marR="0" algn="just">
              <a:lnSpc>
                <a:spcPct val="150000"/>
              </a:lnSpc>
              <a:spcBef>
                <a:spcPts val="0"/>
              </a:spcBef>
              <a:spcAft>
                <a:spcPts val="0"/>
              </a:spcAft>
            </a:pPr>
            <a:r>
              <a:rPr lang="en-US" altLang="zh-CN" sz="2000" b="1" kern="100" dirty="0" smtClean="0">
                <a:solidFill>
                  <a:schemeClr val="accent6">
                    <a:lumMod val="50000"/>
                  </a:schemeClr>
                </a:solidFill>
                <a:latin typeface="宋体" panose="02010600030101010101" pitchFamily="2" charset="-122"/>
                <a:ea typeface="宋体" panose="02010600030101010101" pitchFamily="2" charset="-122"/>
              </a:rPr>
              <a:t>11</a:t>
            </a:r>
            <a:r>
              <a:rPr lang="zh-CN" altLang="en-US" sz="2000" b="1" kern="100" dirty="0">
                <a:solidFill>
                  <a:schemeClr val="accent6">
                    <a:lumMod val="50000"/>
                  </a:schemeClr>
                </a:solidFill>
                <a:latin typeface="宋体" panose="02010600030101010101" pitchFamily="2" charset="-122"/>
                <a:ea typeface="宋体" panose="02010600030101010101" pitchFamily="2" charset="-122"/>
              </a:rPr>
              <a:t>、选择链轮结构型式的主要依据是</a:t>
            </a:r>
            <a:r>
              <a:rPr lang="en-US" altLang="zh-CN" sz="2000" b="1" kern="100" dirty="0">
                <a:solidFill>
                  <a:schemeClr val="accent6">
                    <a:lumMod val="50000"/>
                  </a:schemeClr>
                </a:solidFill>
                <a:latin typeface="Times New Roman" panose="02020603050405020304" pitchFamily="18" charset="0"/>
                <a:ea typeface="宋体" panose="02010600030101010101" pitchFamily="2" charset="-122"/>
              </a:rPr>
              <a:t>____</a:t>
            </a:r>
            <a:r>
              <a:rPr lang="zh-CN" altLang="en-US" sz="2000" b="1" kern="100" dirty="0">
                <a:solidFill>
                  <a:schemeClr val="accent6">
                    <a:lumMod val="50000"/>
                  </a:schemeClr>
                </a:solidFill>
                <a:latin typeface="宋体" panose="02010600030101010101" pitchFamily="2" charset="-122"/>
                <a:ea typeface="宋体" panose="02010600030101010101" pitchFamily="2" charset="-122"/>
              </a:rPr>
              <a:t>。</a:t>
            </a:r>
            <a:endParaRPr lang="zh-CN" altLang="en-US" sz="2000" kern="100" dirty="0">
              <a:latin typeface="Times New Roman" panose="02020603050405020304" pitchFamily="18" charset="0"/>
              <a:ea typeface="宋体" panose="02010600030101010101" pitchFamily="2" charset="-122"/>
            </a:endParaRPr>
          </a:p>
          <a:p>
            <a:pPr marL="0" marR="0" indent="306070" algn="just">
              <a:lnSpc>
                <a:spcPct val="150000"/>
              </a:lnSpc>
              <a:spcBef>
                <a:spcPts val="0"/>
              </a:spcBef>
              <a:spcAft>
                <a:spcPts val="0"/>
              </a:spcAft>
            </a:pPr>
            <a:r>
              <a:rPr lang="en-US" altLang="zh-CN" sz="2000" b="1" kern="100" dirty="0" smtClean="0">
                <a:latin typeface="宋体" panose="02010600030101010101" pitchFamily="2" charset="-122"/>
                <a:ea typeface="宋体" panose="02010600030101010101" pitchFamily="2" charset="-122"/>
              </a:rPr>
              <a:t>(1)</a:t>
            </a:r>
            <a:r>
              <a:rPr lang="zh-CN" altLang="en-US" sz="2000" b="1" kern="100" dirty="0" smtClean="0">
                <a:latin typeface="宋体" panose="02010600030101010101" pitchFamily="2" charset="-122"/>
                <a:ea typeface="宋体" panose="02010600030101010101" pitchFamily="2" charset="-122"/>
              </a:rPr>
              <a:t>传递</a:t>
            </a:r>
            <a:r>
              <a:rPr lang="zh-CN" altLang="en-US" sz="2000" b="1" kern="100" dirty="0">
                <a:latin typeface="宋体" panose="02010600030101010101" pitchFamily="2" charset="-122"/>
                <a:ea typeface="宋体" panose="02010600030101010101" pitchFamily="2" charset="-122"/>
              </a:rPr>
              <a:t>的圆周力    </a:t>
            </a:r>
            <a:r>
              <a:rPr lang="en-US" altLang="zh-CN" sz="2000" b="1" kern="100" dirty="0" smtClean="0">
                <a:latin typeface="宋体" panose="02010600030101010101" pitchFamily="2" charset="-122"/>
                <a:ea typeface="宋体" panose="02010600030101010101" pitchFamily="2" charset="-122"/>
              </a:rPr>
              <a:t>(2)</a:t>
            </a:r>
            <a:r>
              <a:rPr lang="zh-CN" altLang="en-US" sz="2000" b="1" kern="100" dirty="0" smtClean="0">
                <a:latin typeface="宋体" panose="02010600030101010101" pitchFamily="2" charset="-122"/>
                <a:ea typeface="宋体" panose="02010600030101010101" pitchFamily="2" charset="-122"/>
              </a:rPr>
              <a:t>链</a:t>
            </a:r>
            <a:r>
              <a:rPr lang="zh-CN" altLang="en-US" sz="2000" b="1" kern="100" dirty="0">
                <a:latin typeface="宋体" panose="02010600030101010101" pitchFamily="2" charset="-122"/>
                <a:ea typeface="宋体" panose="02010600030101010101" pitchFamily="2" charset="-122"/>
              </a:rPr>
              <a:t>速     </a:t>
            </a:r>
            <a:r>
              <a:rPr lang="en-US" altLang="zh-CN" sz="2000" b="1" kern="100" dirty="0" smtClean="0">
                <a:latin typeface="宋体" panose="02010600030101010101" pitchFamily="2" charset="-122"/>
                <a:ea typeface="宋体" panose="02010600030101010101" pitchFamily="2" charset="-122"/>
              </a:rPr>
              <a:t>(3)</a:t>
            </a:r>
            <a:r>
              <a:rPr lang="zh-CN" altLang="en-US" sz="2000" b="1" kern="100" dirty="0" smtClean="0">
                <a:latin typeface="宋体" panose="02010600030101010101" pitchFamily="2" charset="-122"/>
                <a:ea typeface="宋体" panose="02010600030101010101" pitchFamily="2" charset="-122"/>
              </a:rPr>
              <a:t>传递</a:t>
            </a:r>
            <a:r>
              <a:rPr lang="zh-CN" altLang="en-US" sz="2000" b="1" kern="100" dirty="0">
                <a:latin typeface="宋体" panose="02010600030101010101" pitchFamily="2" charset="-122"/>
                <a:ea typeface="宋体" panose="02010600030101010101" pitchFamily="2" charset="-122"/>
              </a:rPr>
              <a:t>的功率     </a:t>
            </a:r>
            <a:r>
              <a:rPr lang="en-US" altLang="zh-CN" sz="2000" b="1" kern="100" dirty="0" smtClean="0">
                <a:latin typeface="Times New Roman" panose="02020603050405020304" pitchFamily="18" charset="0"/>
                <a:ea typeface="宋体" panose="02010600030101010101" pitchFamily="2" charset="-122"/>
              </a:rPr>
              <a:t>(4)</a:t>
            </a:r>
            <a:r>
              <a:rPr lang="zh-CN" altLang="en-US" sz="2000" b="1" kern="100" dirty="0" smtClean="0">
                <a:latin typeface="宋体" panose="02010600030101010101" pitchFamily="2" charset="-122"/>
                <a:ea typeface="宋体" panose="02010600030101010101" pitchFamily="2" charset="-122"/>
              </a:rPr>
              <a:t>链轮</a:t>
            </a:r>
            <a:r>
              <a:rPr lang="zh-CN" altLang="en-US" sz="2000" b="1" kern="100" dirty="0">
                <a:latin typeface="宋体" panose="02010600030101010101" pitchFamily="2" charset="-122"/>
                <a:ea typeface="宋体" panose="02010600030101010101" pitchFamily="2" charset="-122"/>
              </a:rPr>
              <a:t>的直径</a:t>
            </a:r>
            <a:endParaRPr lang="zh-CN" altLang="en-US" sz="2000" kern="100" dirty="0">
              <a:effectLst/>
              <a:latin typeface="Times New Roman" panose="02020603050405020304" pitchFamily="18" charset="0"/>
              <a:ea typeface="宋体" panose="02010600030101010101" pitchFamily="2" charset="-122"/>
            </a:endParaRPr>
          </a:p>
        </p:txBody>
      </p:sp>
      <p:sp>
        <p:nvSpPr>
          <p:cNvPr id="7" name="Text Box 5"/>
          <p:cNvSpPr txBox="1">
            <a:spLocks noChangeArrowheads="1"/>
          </p:cNvSpPr>
          <p:nvPr/>
        </p:nvSpPr>
        <p:spPr bwMode="auto">
          <a:xfrm>
            <a:off x="2123728" y="692696"/>
            <a:ext cx="304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a:solidFill>
                  <a:srgbClr val="FF3300"/>
                </a:solidFill>
              </a:rPr>
              <a:t>4</a:t>
            </a:r>
            <a:endParaRPr lang="en-US" dirty="0">
              <a:solidFill>
                <a:srgbClr val="FF3300"/>
              </a:solidFill>
            </a:endParaRPr>
          </a:p>
        </p:txBody>
      </p:sp>
      <p:sp>
        <p:nvSpPr>
          <p:cNvPr id="9" name="Text Box 5"/>
          <p:cNvSpPr txBox="1">
            <a:spLocks noChangeArrowheads="1"/>
          </p:cNvSpPr>
          <p:nvPr/>
        </p:nvSpPr>
        <p:spPr bwMode="auto">
          <a:xfrm>
            <a:off x="4607942" y="2688590"/>
            <a:ext cx="304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dirty="0" smtClean="0">
                <a:solidFill>
                  <a:srgbClr val="FF3300"/>
                </a:solidFill>
              </a:rPr>
              <a:t>4</a:t>
            </a:r>
            <a:endParaRPr lang="en-US" dirty="0">
              <a:solidFill>
                <a:srgbClr val="FF33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3" fill="hold" grpId="0" nodeType="clickEffect">
                                  <p:stCondLst>
                                    <p:cond delay="0"/>
                                  </p:stCondLst>
                                  <p:iterate type="lt">
                                    <p:tmPct val="100000"/>
                                  </p:iterate>
                                  <p:childTnLst>
                                    <p:set>
                                      <p:cBhvr>
                                        <p:cTn id="11" dur="100" fill="hold">
                                          <p:stCondLst>
                                            <p:cond delay="0"/>
                                          </p:stCondLst>
                                        </p:cTn>
                                        <p:tgtEl>
                                          <p:spTgt spid="7">
                                            <p:txEl>
                                              <p:pRg st="0" end="0"/>
                                            </p:txEl>
                                          </p:spTgt>
                                        </p:tgtEl>
                                        <p:attrNameLst>
                                          <p:attrName>style.visibility</p:attrName>
                                        </p:attrNameLst>
                                      </p:cBhvr>
                                      <p:to>
                                        <p:strVal val="visible"/>
                                      </p:to>
                                    </p:set>
                                    <p:anim calcmode="lin" valueType="num">
                                      <p:cBhvr additive="base">
                                        <p:cTn id="12" dur="1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13" dur="1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3" fill="hold" grpId="0" nodeType="clickEffect">
                                  <p:stCondLst>
                                    <p:cond delay="0"/>
                                  </p:stCondLst>
                                  <p:iterate type="lt">
                                    <p:tmPct val="100000"/>
                                  </p:iterate>
                                  <p:childTnLst>
                                    <p:set>
                                      <p:cBhvr>
                                        <p:cTn id="22" dur="100" fill="hold">
                                          <p:stCondLst>
                                            <p:cond delay="0"/>
                                          </p:stCondLst>
                                        </p:cTn>
                                        <p:tgtEl>
                                          <p:spTgt spid="9">
                                            <p:txEl>
                                              <p:pRg st="0" end="0"/>
                                            </p:txEl>
                                          </p:spTgt>
                                        </p:tgtEl>
                                        <p:attrNameLst>
                                          <p:attrName>style.visibility</p:attrName>
                                        </p:attrNameLst>
                                      </p:cBhvr>
                                      <p:to>
                                        <p:strVal val="visible"/>
                                      </p:to>
                                    </p:set>
                                    <p:anim calcmode="lin" valueType="num">
                                      <p:cBhvr additive="base">
                                        <p:cTn id="23" dur="1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4" dur="100" fill="hold"/>
                                        <p:tgtEl>
                                          <p:spTgt spid="9">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autoUpdateAnimBg="0" build="p"/>
      <p:bldP spid="9" grpId="0" autoUpdateAnimBg="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6477000" y="838200"/>
            <a:ext cx="1981200" cy="152400"/>
          </a:xfrm>
          <a:noFill/>
          <a:ln>
            <a:noFill/>
          </a:ln>
        </p:spPr>
        <p:txBody>
          <a:bodyPr/>
          <a:p>
            <a:pPr eaLnBrk="1" hangingPunct="1"/>
            <a:r>
              <a:rPr lang="zh-CN" altLang="en-US" sz="800" dirty="0">
                <a:solidFill>
                  <a:schemeClr val="bg1"/>
                </a:solidFill>
              </a:rPr>
              <a:t>第一节</a:t>
            </a:r>
            <a:endParaRPr lang="zh-CN" altLang="en-US" sz="800" dirty="0">
              <a:solidFill>
                <a:schemeClr val="bg1"/>
              </a:solidFill>
            </a:endParaRPr>
          </a:p>
        </p:txBody>
      </p:sp>
      <p:pic>
        <p:nvPicPr>
          <p:cNvPr id="167940" name="Picture 4" descr="rewind1">
            <a:hlinkClick r:id="" action="ppaction://hlinkshowjump?jump=firstslide"/>
          </p:cNvPr>
          <p:cNvPicPr>
            <a:picLocks noChangeAspect="1"/>
          </p:cNvPicPr>
          <p:nvPr/>
        </p:nvPicPr>
        <p:blipFill>
          <a:blip r:embed="rId1"/>
          <a:stretch>
            <a:fillRect/>
          </a:stretch>
        </p:blipFill>
        <p:spPr>
          <a:xfrm>
            <a:off x="8763000" y="6523038"/>
            <a:ext cx="287338" cy="287337"/>
          </a:xfrm>
          <a:prstGeom prst="rect">
            <a:avLst/>
          </a:prstGeom>
          <a:noFill/>
          <a:ln w="9525">
            <a:noFill/>
          </a:ln>
        </p:spPr>
      </p:pic>
      <p:sp>
        <p:nvSpPr>
          <p:cNvPr id="167947" name="Text Box 11"/>
          <p:cNvSpPr txBox="1"/>
          <p:nvPr/>
        </p:nvSpPr>
        <p:spPr>
          <a:xfrm>
            <a:off x="6308725" y="6186488"/>
            <a:ext cx="438150" cy="396875"/>
          </a:xfrm>
          <a:prstGeom prst="rect">
            <a:avLst/>
          </a:prstGeom>
          <a:noFill/>
          <a:ln w="9525">
            <a:noFill/>
          </a:ln>
        </p:spPr>
        <p:txBody>
          <a:bodyPr wrap="none">
            <a:spAutoFit/>
          </a:bodyPr>
          <a:p>
            <a:pPr eaLnBrk="1" hangingPunct="1"/>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2" name="Text Box 1028"/>
          <p:cNvSpPr txBox="1"/>
          <p:nvPr/>
        </p:nvSpPr>
        <p:spPr>
          <a:xfrm>
            <a:off x="779145" y="104458"/>
            <a:ext cx="4416425" cy="554037"/>
          </a:xfrm>
          <a:prstGeom prst="rect">
            <a:avLst/>
          </a:prstGeom>
          <a:noFill/>
          <a:ln w="9525">
            <a:noFill/>
          </a:ln>
        </p:spPr>
        <p:txBody>
          <a:bodyPr wrap="none">
            <a:spAutoFit/>
          </a:bodyPr>
          <a:p>
            <a:pPr eaLnBrk="1" hangingPunct="1"/>
            <a:r>
              <a:rPr lang="zh-CN" altLang="en-US" sz="3000" dirty="0">
                <a:solidFill>
                  <a:schemeClr val="bg1"/>
                </a:solidFill>
                <a:latin typeface="Tahoma" panose="020B0604030504040204" pitchFamily="34" charset="0"/>
                <a:ea typeface="黑体" panose="02010609060101010101" pitchFamily="49" charset="-122"/>
              </a:rPr>
              <a:t>任务的提出及设计任务书</a:t>
            </a:r>
            <a:endParaRPr lang="zh-CN" altLang="en-US" sz="3000" dirty="0">
              <a:solidFill>
                <a:schemeClr val="bg1"/>
              </a:solidFill>
              <a:latin typeface="Tahoma" panose="020B0604030504040204" pitchFamily="34" charset="0"/>
              <a:ea typeface="黑体" panose="02010609060101010101" pitchFamily="49" charset="-122"/>
            </a:endParaRPr>
          </a:p>
        </p:txBody>
      </p:sp>
      <p:pic>
        <p:nvPicPr>
          <p:cNvPr id="3" name="图片 2" descr="第二个设计任务"/>
          <p:cNvPicPr>
            <a:picLocks noChangeAspect="1"/>
          </p:cNvPicPr>
          <p:nvPr/>
        </p:nvPicPr>
        <p:blipFill>
          <a:blip r:embed="rId2"/>
          <a:srcRect t="2361" b="3157"/>
          <a:stretch>
            <a:fillRect/>
          </a:stretch>
        </p:blipFill>
        <p:spPr>
          <a:xfrm>
            <a:off x="460375" y="37465"/>
            <a:ext cx="7363460" cy="67729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0-#ppt_w/2"/>
                                          </p:val>
                                        </p:tav>
                                        <p:tav tm="100000">
                                          <p:val>
                                            <p:strVal val="#ppt_x"/>
                                          </p:val>
                                        </p:tav>
                                      </p:tavLst>
                                    </p:anim>
                                    <p:anim calcmode="lin" valueType="num">
                                      <p:cBhvr additive="base">
                                        <p:cTn id="8"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47"/>
                                        </p:tgtEl>
                                        <p:attrNameLst>
                                          <p:attrName>style.visibility</p:attrName>
                                        </p:attrNameLst>
                                      </p:cBhvr>
                                      <p:to>
                                        <p:strVal val="visible"/>
                                      </p:to>
                                    </p:set>
                                    <p:anim calcmode="lin" valueType="num">
                                      <p:cBhvr additive="base">
                                        <p:cTn id="13" dur="500" fill="hold"/>
                                        <p:tgtEl>
                                          <p:spTgt spid="167947"/>
                                        </p:tgtEl>
                                        <p:attrNameLst>
                                          <p:attrName>ppt_x</p:attrName>
                                        </p:attrNameLst>
                                      </p:cBhvr>
                                      <p:tavLst>
                                        <p:tav tm="0">
                                          <p:val>
                                            <p:strVal val="0-#ppt_w/2"/>
                                          </p:val>
                                        </p:tav>
                                        <p:tav tm="100000">
                                          <p:val>
                                            <p:strVal val="#ppt_x"/>
                                          </p:val>
                                        </p:tav>
                                      </p:tavLst>
                                    </p:anim>
                                    <p:anim calcmode="lin" valueType="num">
                                      <p:cBhvr additive="base">
                                        <p:cTn id="14" dur="500" fill="hold"/>
                                        <p:tgtEl>
                                          <p:spTgt spid="1679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12"/>
          <p:cNvPicPr>
            <a:picLocks noChangeAspect="1"/>
          </p:cNvPicPr>
          <p:nvPr>
            <p:custDataLst>
              <p:tags r:id="rId1"/>
            </p:custDataLst>
          </p:nvPr>
        </p:nvPicPr>
        <p:blipFill>
          <a:blip r:embed="rId2"/>
          <a:stretch>
            <a:fillRect/>
          </a:stretch>
        </p:blipFill>
        <p:spPr>
          <a:xfrm>
            <a:off x="2276475" y="888365"/>
            <a:ext cx="5588635" cy="5817235"/>
          </a:xfrm>
          <a:prstGeom prst="rect">
            <a:avLst/>
          </a:prstGeom>
        </p:spPr>
      </p:pic>
      <p:sp>
        <p:nvSpPr>
          <p:cNvPr id="2" name="文本框 1"/>
          <p:cNvSpPr txBox="1"/>
          <p:nvPr/>
        </p:nvSpPr>
        <p:spPr>
          <a:xfrm>
            <a:off x="69215" y="436880"/>
            <a:ext cx="4572000" cy="829945"/>
          </a:xfrm>
          <a:prstGeom prst="rect">
            <a:avLst/>
          </a:prstGeom>
          <a:noFill/>
        </p:spPr>
        <p:txBody>
          <a:bodyPr wrap="square" rtlCol="0" anchor="t">
            <a:spAutoFit/>
          </a:bodyPr>
          <a:p>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确定</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执行机构主轴圆周力</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F</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、所需功率</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P</a:t>
            </a:r>
            <a:r>
              <a:rPr lang="en-US" altLang="zh-CN" sz="2400" i="1"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w</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和转速</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n</a:t>
            </a:r>
            <a:r>
              <a:rPr lang="en-US" altLang="zh-CN" sz="2400" i="1"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w</a:t>
            </a:r>
            <a:endParaRPr lang="en-US" altLang="zh-CN" sz="2400" i="1"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endParaRPr>
          </a:p>
        </p:txBody>
      </p:sp>
      <p:cxnSp>
        <p:nvCxnSpPr>
          <p:cNvPr id="3" name="直接箭头连接符 2"/>
          <p:cNvCxnSpPr/>
          <p:nvPr/>
        </p:nvCxnSpPr>
        <p:spPr>
          <a:xfrm>
            <a:off x="2590800" y="1266825"/>
            <a:ext cx="189865" cy="919480"/>
          </a:xfrm>
          <a:prstGeom prst="straightConnector1">
            <a:avLst/>
          </a:prstGeom>
          <a:solidFill>
            <a:schemeClr val="accent1"/>
          </a:solidFill>
          <a:ln w="9525" cap="flat" cmpd="sng" algn="ctr">
            <a:solidFill>
              <a:srgbClr val="A50021"/>
            </a:solidFill>
            <a:prstDash val="solid"/>
            <a:round/>
            <a:headEnd type="none" w="med" len="med"/>
            <a:tailEnd type="arrow" w="sm" len="lg"/>
          </a:ln>
          <a:effectLst>
            <a:outerShdw dist="17961" dir="2700000" algn="ctr" rotWithShape="0">
              <a:schemeClr val="tx1">
                <a:gamma/>
                <a:shade val="60000"/>
                <a:invGamma/>
                <a:alpha val="50000"/>
              </a:schemeClr>
            </a:outerShdw>
          </a:effectLst>
        </p:spPr>
      </p:cxnSp>
      <p:sp>
        <p:nvSpPr>
          <p:cNvPr id="4" name="文本框 3"/>
          <p:cNvSpPr txBox="1"/>
          <p:nvPr/>
        </p:nvSpPr>
        <p:spPr>
          <a:xfrm>
            <a:off x="5525135" y="250825"/>
            <a:ext cx="3402965" cy="460375"/>
          </a:xfrm>
          <a:prstGeom prst="rect">
            <a:avLst/>
          </a:prstGeom>
          <a:noFill/>
        </p:spPr>
        <p:txBody>
          <a:bodyPr wrap="square" rtlCol="0" anchor="t">
            <a:spAutoFit/>
          </a:bodyPr>
          <a:p>
            <a:r>
              <a:rPr lang="zh-CN" altLang="en-US" sz="2400">
                <a:solidFill>
                  <a:schemeClr val="accent2"/>
                </a:solidFill>
                <a:latin typeface="黑体" panose="02010609060101010101" pitchFamily="49" charset="-122"/>
                <a:ea typeface="黑体" panose="02010609060101010101" pitchFamily="49" charset="-122"/>
                <a:cs typeface="黑体" panose="02010609060101010101" pitchFamily="49" charset="-122"/>
                <a:sym typeface="+mn-ea"/>
              </a:rPr>
              <a:t>传动系统特性参数计算</a:t>
            </a:r>
            <a:endParaRPr lang="zh-CN" altLang="en-US" sz="2400">
              <a:solidFill>
                <a:schemeClr val="accent2"/>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1470" y="176530"/>
            <a:ext cx="5814060" cy="460375"/>
          </a:xfrm>
          <a:prstGeom prst="rect">
            <a:avLst/>
          </a:prstGeom>
          <a:noFill/>
        </p:spPr>
        <p:txBody>
          <a:bodyPr wrap="square" rtlCol="0">
            <a:spAutoFit/>
          </a:bodyPr>
          <a:p>
            <a:r>
              <a:rPr lang="zh-CN" altLang="en-US" sz="2400">
                <a:solidFill>
                  <a:schemeClr val="tx1"/>
                </a:solidFill>
                <a:latin typeface="黑体" panose="02010609060101010101" pitchFamily="49" charset="-122"/>
                <a:ea typeface="黑体" panose="02010609060101010101" pitchFamily="49" charset="-122"/>
              </a:rPr>
              <a:t>一、斗式提升机的整体功能性需求计算</a:t>
            </a:r>
            <a:endParaRPr lang="zh-CN" altLang="en-US" sz="2400">
              <a:solidFill>
                <a:schemeClr val="tx1"/>
              </a:solidFill>
              <a:latin typeface="黑体" panose="02010609060101010101" pitchFamily="49" charset="-122"/>
              <a:ea typeface="黑体" panose="02010609060101010101" pitchFamily="49" charset="-122"/>
            </a:endParaRPr>
          </a:p>
        </p:txBody>
      </p:sp>
      <p:sp>
        <p:nvSpPr>
          <p:cNvPr id="3" name="文本框 2"/>
          <p:cNvSpPr txBox="1"/>
          <p:nvPr/>
        </p:nvSpPr>
        <p:spPr>
          <a:xfrm>
            <a:off x="263525" y="774065"/>
            <a:ext cx="888047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设计任务：</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sym typeface="+mn-ea"/>
              </a:rPr>
              <a:t>确定</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执行机构主轴圆周力</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rPr>
              <a:t>F</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、所需功率</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rPr>
              <a:t>P</a:t>
            </a:r>
            <a:r>
              <a:rPr lang="en-US" altLang="zh-CN" sz="2400" i="1" baseline="-25000">
                <a:solidFill>
                  <a:srgbClr val="FF0000"/>
                </a:solidFill>
                <a:latin typeface="黑体" panose="02010609060101010101" pitchFamily="49" charset="-122"/>
                <a:ea typeface="黑体" panose="02010609060101010101" pitchFamily="49" charset="-122"/>
                <a:cs typeface="黑体" panose="02010609060101010101" pitchFamily="49" charset="-122"/>
              </a:rPr>
              <a:t>w</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和转速</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rPr>
              <a:t>n</a:t>
            </a:r>
            <a:r>
              <a:rPr lang="en-US" altLang="zh-CN" sz="2400" i="1" baseline="-25000">
                <a:solidFill>
                  <a:srgbClr val="FF0000"/>
                </a:solidFill>
                <a:latin typeface="黑体" panose="02010609060101010101" pitchFamily="49" charset="-122"/>
                <a:ea typeface="黑体" panose="02010609060101010101" pitchFamily="49" charset="-122"/>
                <a:cs typeface="黑体" panose="02010609060101010101" pitchFamily="49" charset="-122"/>
              </a:rPr>
              <a:t>w</a:t>
            </a:r>
            <a:endPar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896803" y="1547495"/>
          <a:ext cx="1112520" cy="476885"/>
        </p:xfrm>
        <a:graphic>
          <a:graphicData uri="http://schemas.openxmlformats.org/presentationml/2006/ole">
            <mc:AlternateContent xmlns:mc="http://schemas.openxmlformats.org/markup-compatibility/2006">
              <mc:Choice xmlns:v="urn:schemas-microsoft-com:vml" Requires="v">
                <p:oleObj spid="_x0000_s1025" name="" r:id="rId1" imgW="533400" imgH="228600" progId="Equation.KSEE3">
                  <p:embed/>
                </p:oleObj>
              </mc:Choice>
              <mc:Fallback>
                <p:oleObj name="" r:id="rId1" imgW="533400" imgH="228600" progId="Equation.KSEE3">
                  <p:embed/>
                  <p:pic>
                    <p:nvPicPr>
                      <p:cNvPr id="0" name="图片 1024"/>
                      <p:cNvPicPr/>
                      <p:nvPr/>
                    </p:nvPicPr>
                    <p:blipFill>
                      <a:blip r:embed="rId2"/>
                      <a:stretch>
                        <a:fillRect/>
                      </a:stretch>
                    </p:blipFill>
                    <p:spPr>
                      <a:xfrm>
                        <a:off x="4896803" y="1547495"/>
                        <a:ext cx="1112520" cy="476885"/>
                      </a:xfrm>
                      <a:prstGeom prst="rect">
                        <a:avLst/>
                      </a:prstGeom>
                    </p:spPr>
                  </p:pic>
                </p:oleObj>
              </mc:Fallback>
            </mc:AlternateContent>
          </a:graphicData>
        </a:graphic>
      </p:graphicFrame>
      <p:sp>
        <p:nvSpPr>
          <p:cNvPr id="6" name="文本框 5"/>
          <p:cNvSpPr txBox="1"/>
          <p:nvPr/>
        </p:nvSpPr>
        <p:spPr>
          <a:xfrm>
            <a:off x="374650" y="1611630"/>
            <a:ext cx="3456305" cy="429895"/>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1</a:t>
            </a:r>
            <a:r>
              <a:rPr lang="zh-CN" altLang="en-US">
                <a:solidFill>
                  <a:srgbClr val="002060"/>
                </a:solidFill>
                <a:latin typeface="黑体" panose="02010609060101010101" pitchFamily="49" charset="-122"/>
                <a:ea typeface="黑体" panose="02010609060101010101" pitchFamily="49" charset="-122"/>
              </a:rPr>
              <a:t>、实际每小时需处理物料</a:t>
            </a:r>
            <a:endParaRPr lang="zh-CN" altLang="en-US">
              <a:solidFill>
                <a:srgbClr val="002060"/>
              </a:solidFill>
              <a:latin typeface="黑体" panose="02010609060101010101" pitchFamily="49" charset="-122"/>
              <a:ea typeface="黑体" panose="02010609060101010101" pitchFamily="49" charset="-122"/>
            </a:endParaRPr>
          </a:p>
        </p:txBody>
      </p:sp>
      <p:graphicFrame>
        <p:nvGraphicFramePr>
          <p:cNvPr id="7" name="对象 6">
            <a:hlinkClick r:id="" action="ppaction://ole?verb="/>
          </p:cNvPr>
          <p:cNvGraphicFramePr>
            <a:graphicFrameLocks noChangeAspect="1"/>
          </p:cNvGraphicFramePr>
          <p:nvPr/>
        </p:nvGraphicFramePr>
        <p:xfrm>
          <a:off x="3830955" y="1572260"/>
          <a:ext cx="396875" cy="476885"/>
        </p:xfrm>
        <a:graphic>
          <a:graphicData uri="http://schemas.openxmlformats.org/presentationml/2006/ole">
            <mc:AlternateContent xmlns:mc="http://schemas.openxmlformats.org/markup-compatibility/2006">
              <mc:Choice xmlns:v="urn:schemas-microsoft-com:vml" Requires="v">
                <p:oleObj spid="_x0000_s4" name="" r:id="rId3" imgW="190500" imgH="228600" progId="Equation.KSEE3">
                  <p:embed/>
                </p:oleObj>
              </mc:Choice>
              <mc:Fallback>
                <p:oleObj name="" r:id="rId3" imgW="190500" imgH="228600" progId="Equation.KSEE3">
                  <p:embed/>
                  <p:pic>
                    <p:nvPicPr>
                      <p:cNvPr id="0" name="图片 1024"/>
                      <p:cNvPicPr/>
                      <p:nvPr/>
                    </p:nvPicPr>
                    <p:blipFill>
                      <a:blip r:embed="rId4"/>
                      <a:stretch>
                        <a:fillRect/>
                      </a:stretch>
                    </p:blipFill>
                    <p:spPr>
                      <a:xfrm>
                        <a:off x="3830955" y="1572260"/>
                        <a:ext cx="396875" cy="47688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495935" y="2223770"/>
          <a:ext cx="3138805" cy="836930"/>
        </p:xfrm>
        <a:graphic>
          <a:graphicData uri="http://schemas.openxmlformats.org/presentationml/2006/ole">
            <mc:AlternateContent xmlns:mc="http://schemas.openxmlformats.org/markup-compatibility/2006">
              <mc:Choice xmlns:v="urn:schemas-microsoft-com:vml" Requires="v">
                <p:oleObj spid="_x0000_s9" name="" r:id="rId5" imgW="1358900" imgH="419100" progId="Equation.KSEE3">
                  <p:embed/>
                </p:oleObj>
              </mc:Choice>
              <mc:Fallback>
                <p:oleObj name="" r:id="rId5" imgW="1358900" imgH="419100" progId="Equation.KSEE3">
                  <p:embed/>
                  <p:pic>
                    <p:nvPicPr>
                      <p:cNvPr id="0" name="图片 1024"/>
                      <p:cNvPicPr/>
                      <p:nvPr/>
                    </p:nvPicPr>
                    <p:blipFill>
                      <a:blip r:embed="rId6"/>
                      <a:stretch>
                        <a:fillRect/>
                      </a:stretch>
                    </p:blipFill>
                    <p:spPr>
                      <a:xfrm>
                        <a:off x="495935" y="2223770"/>
                        <a:ext cx="3138805" cy="836930"/>
                      </a:xfrm>
                      <a:prstGeom prst="rect">
                        <a:avLst/>
                      </a:prstGeom>
                    </p:spPr>
                  </p:pic>
                </p:oleObj>
              </mc:Fallback>
            </mc:AlternateContent>
          </a:graphicData>
        </a:graphic>
      </p:graphicFrame>
      <p:sp>
        <p:nvSpPr>
          <p:cNvPr id="10" name="文本框 9"/>
          <p:cNvSpPr txBox="1"/>
          <p:nvPr/>
        </p:nvSpPr>
        <p:spPr>
          <a:xfrm>
            <a:off x="4446270" y="2379345"/>
            <a:ext cx="4575175" cy="398780"/>
          </a:xfrm>
          <a:prstGeom prst="rect">
            <a:avLst/>
          </a:prstGeom>
          <a:noFill/>
        </p:spPr>
        <p:txBody>
          <a:bodyPr wrap="square" rtlCol="0">
            <a:spAutoFit/>
          </a:bodyPr>
          <a:p>
            <a:r>
              <a:rPr lang="zh-CN" altLang="en-US">
                <a:solidFill>
                  <a:srgbClr val="002060"/>
                </a:solidFill>
                <a:latin typeface="黑体" panose="02010609060101010101" pitchFamily="49" charset="-122"/>
                <a:ea typeface="黑体" panose="02010609060101010101" pitchFamily="49" charset="-122"/>
              </a:rPr>
              <a:t>查表</a:t>
            </a:r>
            <a:r>
              <a:rPr lang="en-US" altLang="zh-CN">
                <a:solidFill>
                  <a:srgbClr val="002060"/>
                </a:solidFill>
                <a:latin typeface="黑体" panose="02010609060101010101" pitchFamily="49" charset="-122"/>
                <a:ea typeface="黑体" panose="02010609060101010101" pitchFamily="49" charset="-122"/>
              </a:rPr>
              <a:t>3.1-4</a:t>
            </a:r>
            <a:r>
              <a:rPr lang="zh-CN" altLang="en-US">
                <a:solidFill>
                  <a:srgbClr val="002060"/>
                </a:solidFill>
                <a:latin typeface="黑体" panose="02010609060101010101" pitchFamily="49" charset="-122"/>
                <a:ea typeface="黑体" panose="02010609060101010101" pitchFamily="49" charset="-122"/>
              </a:rPr>
              <a:t>确定</a:t>
            </a:r>
            <a:r>
              <a:rPr lang="en-US" altLang="zh-CN">
                <a:solidFill>
                  <a:srgbClr val="002060"/>
                </a:solidFill>
                <a:latin typeface="黑体" panose="02010609060101010101" pitchFamily="49" charset="-122"/>
                <a:ea typeface="黑体" panose="02010609060101010101" pitchFamily="49" charset="-122"/>
              </a:rPr>
              <a:t>NE</a:t>
            </a:r>
            <a:r>
              <a:rPr lang="zh-CN" altLang="en-US">
                <a:solidFill>
                  <a:srgbClr val="002060"/>
                </a:solidFill>
                <a:latin typeface="黑体" panose="02010609060101010101" pitchFamily="49" charset="-122"/>
                <a:ea typeface="黑体" panose="02010609060101010101" pitchFamily="49" charset="-122"/>
              </a:rPr>
              <a:t>板链斗提机型号，</a:t>
            </a:r>
            <a:endParaRPr lang="zh-CN" altLang="en-US">
              <a:solidFill>
                <a:srgbClr val="002060"/>
              </a:solidFill>
              <a:latin typeface="黑体" panose="02010609060101010101" pitchFamily="49" charset="-122"/>
              <a:ea typeface="黑体" panose="02010609060101010101" pitchFamily="49" charset="-122"/>
            </a:endParaRPr>
          </a:p>
        </p:txBody>
      </p:sp>
      <p:sp>
        <p:nvSpPr>
          <p:cNvPr id="11" name="文本框 10"/>
          <p:cNvSpPr txBox="1"/>
          <p:nvPr/>
        </p:nvSpPr>
        <p:spPr>
          <a:xfrm>
            <a:off x="601345" y="3274060"/>
            <a:ext cx="311213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3</a:t>
            </a:r>
            <a:r>
              <a:rPr lang="zh-CN" altLang="en-US">
                <a:solidFill>
                  <a:srgbClr val="002060"/>
                </a:solidFill>
                <a:latin typeface="黑体" panose="02010609060101010101" pitchFamily="49" charset="-122"/>
                <a:ea typeface="黑体" panose="02010609060101010101" pitchFamily="49" charset="-122"/>
              </a:rPr>
              <a:t>、计算每米物料质量</a:t>
            </a:r>
            <a:endParaRPr lang="zh-CN" altLang="en-US">
              <a:solidFill>
                <a:srgbClr val="002060"/>
              </a:solidFill>
              <a:latin typeface="黑体" panose="02010609060101010101" pitchFamily="49" charset="-122"/>
              <a:ea typeface="黑体" panose="02010609060101010101" pitchFamily="49" charset="-122"/>
            </a:endParaRPr>
          </a:p>
        </p:txBody>
      </p:sp>
      <p:cxnSp>
        <p:nvCxnSpPr>
          <p:cNvPr id="12" name="直接箭头连接符 11"/>
          <p:cNvCxnSpPr/>
          <p:nvPr/>
        </p:nvCxnSpPr>
        <p:spPr>
          <a:xfrm>
            <a:off x="4299585" y="1811020"/>
            <a:ext cx="487680" cy="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15" name="直接箭头连接符 14"/>
          <p:cNvCxnSpPr/>
          <p:nvPr/>
        </p:nvCxnSpPr>
        <p:spPr>
          <a:xfrm>
            <a:off x="3758565" y="2599690"/>
            <a:ext cx="541020" cy="635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graphicFrame>
        <p:nvGraphicFramePr>
          <p:cNvPr id="16" name="对象 15">
            <a:hlinkClick r:id="" action="ppaction://ole?verb="/>
          </p:cNvPr>
          <p:cNvGraphicFramePr>
            <a:graphicFrameLocks noChangeAspect="1"/>
          </p:cNvGraphicFramePr>
          <p:nvPr/>
        </p:nvGraphicFramePr>
        <p:xfrm>
          <a:off x="3796665" y="3115945"/>
          <a:ext cx="1438910" cy="756285"/>
        </p:xfrm>
        <a:graphic>
          <a:graphicData uri="http://schemas.openxmlformats.org/presentationml/2006/ole">
            <mc:AlternateContent xmlns:mc="http://schemas.openxmlformats.org/markup-compatibility/2006">
              <mc:Choice xmlns:v="urn:schemas-microsoft-com:vml" Requires="v">
                <p:oleObj spid="_x0000_s17" name="" r:id="rId7" imgW="647700" imgH="393700" progId="Equation.KSEE3">
                  <p:embed/>
                </p:oleObj>
              </mc:Choice>
              <mc:Fallback>
                <p:oleObj name="" r:id="rId7" imgW="647700" imgH="393700" progId="Equation.KSEE3">
                  <p:embed/>
                  <p:pic>
                    <p:nvPicPr>
                      <p:cNvPr id="0" name="图片 1024"/>
                      <p:cNvPicPr/>
                      <p:nvPr/>
                    </p:nvPicPr>
                    <p:blipFill>
                      <a:blip r:embed="rId8"/>
                      <a:stretch>
                        <a:fillRect/>
                      </a:stretch>
                    </p:blipFill>
                    <p:spPr>
                      <a:xfrm>
                        <a:off x="3796665" y="3115945"/>
                        <a:ext cx="1438910" cy="756285"/>
                      </a:xfrm>
                      <a:prstGeom prst="rect">
                        <a:avLst/>
                      </a:prstGeom>
                    </p:spPr>
                  </p:pic>
                </p:oleObj>
              </mc:Fallback>
            </mc:AlternateContent>
          </a:graphicData>
        </a:graphic>
      </p:graphicFrame>
      <p:sp>
        <p:nvSpPr>
          <p:cNvPr id="18" name="文本框 17"/>
          <p:cNvSpPr txBox="1"/>
          <p:nvPr/>
        </p:nvSpPr>
        <p:spPr>
          <a:xfrm>
            <a:off x="601345" y="3886200"/>
            <a:ext cx="3777615" cy="429895"/>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4</a:t>
            </a:r>
            <a:r>
              <a:rPr lang="zh-CN" altLang="en-US">
                <a:solidFill>
                  <a:srgbClr val="002060"/>
                </a:solidFill>
                <a:latin typeface="黑体" panose="02010609060101010101" pitchFamily="49" charset="-122"/>
                <a:ea typeface="黑体" panose="02010609060101010101" pitchFamily="49" charset="-122"/>
              </a:rPr>
              <a:t>、计算牵引链各</a:t>
            </a:r>
            <a:r>
              <a:rPr lang="zh-CN" altLang="en-US">
                <a:solidFill>
                  <a:srgbClr val="002060"/>
                </a:solidFill>
                <a:latin typeface="黑体" panose="02010609060101010101" pitchFamily="49" charset="-122"/>
                <a:ea typeface="黑体" panose="02010609060101010101" pitchFamily="49" charset="-122"/>
              </a:rPr>
              <a:t>点张力</a:t>
            </a:r>
            <a:endParaRPr lang="zh-CN" altLang="en-US">
              <a:solidFill>
                <a:srgbClr val="002060"/>
              </a:solidFill>
              <a:latin typeface="黑体" panose="02010609060101010101" pitchFamily="49" charset="-122"/>
              <a:ea typeface="黑体" panose="02010609060101010101" pitchFamily="49" charset="-122"/>
            </a:endParaRPr>
          </a:p>
        </p:txBody>
      </p:sp>
      <p:sp>
        <p:nvSpPr>
          <p:cNvPr id="19" name="文本框 18"/>
          <p:cNvSpPr txBox="1"/>
          <p:nvPr/>
        </p:nvSpPr>
        <p:spPr>
          <a:xfrm>
            <a:off x="601345" y="4449445"/>
            <a:ext cx="4438650"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5</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执行机构主轴圆周力</a:t>
            </a:r>
            <a:r>
              <a:rPr lang="en-US" altLang="zh-CN" i="1">
                <a:solidFill>
                  <a:srgbClr val="002060"/>
                </a:solidFill>
                <a:latin typeface="黑体" panose="02010609060101010101" pitchFamily="49" charset="-122"/>
                <a:ea typeface="黑体" panose="02010609060101010101" pitchFamily="49" charset="-122"/>
              </a:rPr>
              <a:t>F</a:t>
            </a:r>
            <a:endParaRPr lang="en-US" altLang="zh-CN" i="1">
              <a:solidFill>
                <a:srgbClr val="002060"/>
              </a:solidFill>
              <a:latin typeface="黑体" panose="02010609060101010101" pitchFamily="49" charset="-122"/>
              <a:ea typeface="黑体" panose="02010609060101010101" pitchFamily="49" charset="-122"/>
            </a:endParaRPr>
          </a:p>
        </p:txBody>
      </p:sp>
      <p:sp>
        <p:nvSpPr>
          <p:cNvPr id="20" name="文本框 19"/>
          <p:cNvSpPr txBox="1"/>
          <p:nvPr/>
        </p:nvSpPr>
        <p:spPr>
          <a:xfrm>
            <a:off x="601345" y="5012690"/>
            <a:ext cx="502348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6</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执行机构主轴所需输入功率</a:t>
            </a:r>
            <a:r>
              <a:rPr lang="en-US" altLang="zh-CN" i="1">
                <a:solidFill>
                  <a:srgbClr val="002060"/>
                </a:solidFill>
                <a:ea typeface="黑体" panose="02010609060101010101" pitchFamily="49" charset="-122"/>
                <a:cs typeface="Times New Roman" panose="02020603050405020304" pitchFamily="18" charset="0"/>
              </a:rPr>
              <a:t>Pw</a:t>
            </a:r>
            <a:endParaRPr lang="en-US" altLang="zh-CN" i="1">
              <a:solidFill>
                <a:srgbClr val="002060"/>
              </a:solidFill>
              <a:ea typeface="黑体" panose="02010609060101010101" pitchFamily="49" charset="-122"/>
              <a:cs typeface="Times New Roman" panose="02020603050405020304" pitchFamily="18" charset="0"/>
            </a:endParaRPr>
          </a:p>
        </p:txBody>
      </p:sp>
      <p:sp>
        <p:nvSpPr>
          <p:cNvPr id="21" name="文本框 20"/>
          <p:cNvSpPr txBox="1"/>
          <p:nvPr/>
        </p:nvSpPr>
        <p:spPr>
          <a:xfrm>
            <a:off x="601345" y="5558790"/>
            <a:ext cx="6035040"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7</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执行机构主轴所需转速</a:t>
            </a:r>
            <a:r>
              <a:rPr lang="en-US" altLang="zh-CN" i="1">
                <a:solidFill>
                  <a:srgbClr val="002060"/>
                </a:solidFill>
                <a:latin typeface="黑体" panose="02010609060101010101" pitchFamily="49" charset="-122"/>
                <a:ea typeface="黑体" panose="02010609060101010101" pitchFamily="49" charset="-122"/>
              </a:rPr>
              <a:t>n</a:t>
            </a:r>
            <a:r>
              <a:rPr lang="en-US" altLang="zh-CN" i="1" baseline="-25000">
                <a:solidFill>
                  <a:srgbClr val="002060"/>
                </a:solidFill>
                <a:latin typeface="黑体" panose="02010609060101010101" pitchFamily="49" charset="-122"/>
                <a:ea typeface="黑体" panose="02010609060101010101" pitchFamily="49" charset="-122"/>
              </a:rPr>
              <a:t>w</a:t>
            </a:r>
            <a:endParaRPr lang="en-US" altLang="zh-CN" i="1" baseline="-25000">
              <a:solidFill>
                <a:srgbClr val="002060"/>
              </a:solidFill>
              <a:latin typeface="黑体" panose="02010609060101010101" pitchFamily="49" charset="-122"/>
              <a:ea typeface="黑体" panose="02010609060101010101" pitchFamily="49" charset="-122"/>
            </a:endParaRPr>
          </a:p>
        </p:txBody>
      </p:sp>
      <p:sp>
        <p:nvSpPr>
          <p:cNvPr id="14" name="文本框 13"/>
          <p:cNvSpPr txBox="1"/>
          <p:nvPr/>
        </p:nvSpPr>
        <p:spPr>
          <a:xfrm>
            <a:off x="4227830" y="6153150"/>
            <a:ext cx="4237355" cy="460375"/>
          </a:xfrm>
          <a:prstGeom prst="rect">
            <a:avLst/>
          </a:prstGeom>
          <a:noFill/>
        </p:spPr>
        <p:txBody>
          <a:bodyPr wrap="square" rtlCol="0">
            <a:spAutoFit/>
          </a:bodyPr>
          <a:p>
            <a:r>
              <a:rPr lang="zh-CN" altLang="en-US" sz="2400">
                <a:solidFill>
                  <a:srgbClr val="C00000"/>
                </a:solidFill>
              </a:rPr>
              <a:t>参考教材</a:t>
            </a:r>
            <a:r>
              <a:rPr lang="en-US" altLang="zh-CN" sz="2400">
                <a:solidFill>
                  <a:srgbClr val="C00000"/>
                </a:solidFill>
              </a:rPr>
              <a:t>P157~158</a:t>
            </a:r>
            <a:endParaRPr lang="en-US" altLang="zh-CN" sz="24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ldLvl="0" animBg="1"/>
      <p:bldP spid="10" grpId="0"/>
      <p:bldP spid="11" grpId="0" bldLvl="0" animBg="1"/>
      <p:bldP spid="18" grpId="0" bldLvl="0" animBg="1"/>
      <p:bldP spid="19" grpId="0" bldLvl="0" animBg="1"/>
      <p:bldP spid="20" grpId="0" bldLvl="0" animBg="1"/>
      <p:bldP spid="21"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46710" y="263525"/>
            <a:ext cx="6174740" cy="460375"/>
          </a:xfrm>
          <a:prstGeom prst="rect">
            <a:avLst/>
          </a:prstGeom>
          <a:noFill/>
        </p:spPr>
        <p:txBody>
          <a:bodyPr wrap="square" rtlCol="0">
            <a:spAutoFit/>
          </a:bodyPr>
          <a:p>
            <a:r>
              <a:rPr lang="zh-CN" altLang="en-US" sz="2400">
                <a:solidFill>
                  <a:schemeClr val="tx1"/>
                </a:solidFill>
                <a:latin typeface="黑体" panose="02010609060101010101" pitchFamily="49" charset="-122"/>
                <a:ea typeface="黑体" panose="02010609060101010101" pitchFamily="49" charset="-122"/>
                <a:cs typeface="黑体" panose="02010609060101010101" pitchFamily="49" charset="-122"/>
              </a:rPr>
              <a:t>二、传动方案</a:t>
            </a:r>
            <a:r>
              <a:rPr lang="en-US" altLang="zh-CN" sz="2400">
                <a:solidFill>
                  <a:schemeClr val="tx1"/>
                </a:solidFill>
                <a:latin typeface="黑体" panose="02010609060101010101" pitchFamily="49" charset="-122"/>
                <a:ea typeface="黑体" panose="02010609060101010101" pitchFamily="49" charset="-122"/>
                <a:cs typeface="黑体" panose="02010609060101010101" pitchFamily="49" charset="-122"/>
              </a:rPr>
              <a:t>1</a:t>
            </a:r>
            <a:r>
              <a:rPr lang="zh-CN" altLang="en-US" sz="2400">
                <a:solidFill>
                  <a:schemeClr val="tx1"/>
                </a:solidFill>
                <a:latin typeface="黑体" panose="02010609060101010101" pitchFamily="49" charset="-122"/>
                <a:ea typeface="黑体" panose="02010609060101010101" pitchFamily="49" charset="-122"/>
                <a:cs typeface="黑体" panose="02010609060101010101" pitchFamily="49" charset="-122"/>
              </a:rPr>
              <a:t>传动系统特性参数计算</a:t>
            </a:r>
            <a:endParaRPr lang="zh-CN" altLang="en-US" sz="240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254635" y="1206500"/>
            <a:ext cx="542544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（一）求传动系统总效率和电动机功率</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6" name="文本框 5"/>
          <p:cNvSpPr txBox="1"/>
          <p:nvPr/>
        </p:nvSpPr>
        <p:spPr>
          <a:xfrm>
            <a:off x="254635" y="1979295"/>
            <a:ext cx="542544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（二）选择电动机</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7" name="文本框 6"/>
          <p:cNvSpPr txBox="1"/>
          <p:nvPr/>
        </p:nvSpPr>
        <p:spPr>
          <a:xfrm>
            <a:off x="240665" y="2703830"/>
            <a:ext cx="538099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（三）总传动比及各级传动比分配</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8" name="文本框 7"/>
          <p:cNvSpPr txBox="1"/>
          <p:nvPr/>
        </p:nvSpPr>
        <p:spPr>
          <a:xfrm>
            <a:off x="240030" y="3512185"/>
            <a:ext cx="5380355"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（四）计算各轴转速</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9" name="文本框 8"/>
          <p:cNvSpPr txBox="1"/>
          <p:nvPr/>
        </p:nvSpPr>
        <p:spPr>
          <a:xfrm>
            <a:off x="240665" y="4201160"/>
            <a:ext cx="543941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（五）计算各轴功率</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10" name="文本框 9"/>
          <p:cNvSpPr txBox="1"/>
          <p:nvPr/>
        </p:nvSpPr>
        <p:spPr>
          <a:xfrm>
            <a:off x="240665" y="4887595"/>
            <a:ext cx="543814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（六）计算各轴转矩</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3" name="文本框 2"/>
          <p:cNvSpPr txBox="1"/>
          <p:nvPr/>
        </p:nvSpPr>
        <p:spPr>
          <a:xfrm>
            <a:off x="4227830" y="5853430"/>
            <a:ext cx="4237355" cy="460375"/>
          </a:xfrm>
          <a:prstGeom prst="rect">
            <a:avLst/>
          </a:prstGeom>
          <a:noFill/>
        </p:spPr>
        <p:txBody>
          <a:bodyPr wrap="square" rtlCol="0">
            <a:spAutoFit/>
          </a:bodyPr>
          <a:p>
            <a:r>
              <a:rPr lang="zh-CN" altLang="en-US" sz="2400">
                <a:solidFill>
                  <a:srgbClr val="C00000"/>
                </a:solidFill>
              </a:rPr>
              <a:t>参考教材</a:t>
            </a:r>
            <a:r>
              <a:rPr lang="en-US" altLang="zh-CN" sz="2400">
                <a:solidFill>
                  <a:srgbClr val="C00000"/>
                </a:solidFill>
              </a:rPr>
              <a:t>P159~161</a:t>
            </a:r>
            <a:endParaRPr lang="en-US" altLang="zh-CN" sz="2400">
              <a:solidFill>
                <a:srgbClr val="C00000"/>
              </a:solidFill>
            </a:endParaRPr>
          </a:p>
        </p:txBody>
      </p:sp>
      <p:pic>
        <p:nvPicPr>
          <p:cNvPr id="2" name="图片 1"/>
          <p:cNvPicPr>
            <a:picLocks noChangeAspect="1"/>
          </p:cNvPicPr>
          <p:nvPr>
            <p:custDataLst>
              <p:tags r:id="rId1"/>
            </p:custDataLst>
          </p:nvPr>
        </p:nvPicPr>
        <p:blipFill>
          <a:blip r:embed="rId2"/>
          <a:srcRect l="39924" r="7836" b="16422"/>
          <a:stretch>
            <a:fillRect/>
          </a:stretch>
        </p:blipFill>
        <p:spPr>
          <a:xfrm>
            <a:off x="5730240" y="263525"/>
            <a:ext cx="3354705" cy="5587365"/>
          </a:xfrm>
          <a:prstGeom prst="rect">
            <a:avLst/>
          </a:prstGeom>
        </p:spPr>
      </p:pic>
      <p:cxnSp>
        <p:nvCxnSpPr>
          <p:cNvPr id="12" name="直接连接符 11"/>
          <p:cNvCxnSpPr/>
          <p:nvPr/>
        </p:nvCxnSpPr>
        <p:spPr>
          <a:xfrm flipH="1">
            <a:off x="5673090" y="1744980"/>
            <a:ext cx="304165" cy="0"/>
          </a:xfrm>
          <a:prstGeom prst="line">
            <a:avLst/>
          </a:prstGeom>
          <a:solidFill>
            <a:schemeClr val="accent1"/>
          </a:solidFill>
          <a:ln w="28575" cap="flat" cmpd="sng" algn="ctr">
            <a:solidFill>
              <a:srgbClr val="C00000"/>
            </a:solidFill>
            <a:prstDash val="solid"/>
            <a:round/>
            <a:headEnd type="none" w="med" len="med"/>
            <a:tailEnd type="none" w="med" len="med"/>
          </a:ln>
          <a:effectLst>
            <a:outerShdw dist="17961" dir="2700000" algn="ctr" rotWithShape="0">
              <a:schemeClr val="tx1">
                <a:gamma/>
                <a:shade val="60000"/>
                <a:invGamma/>
                <a:alpha val="50000"/>
              </a:schemeClr>
            </a:outerShdw>
          </a:effectLst>
        </p:spPr>
      </p:cxnSp>
      <p:sp>
        <p:nvSpPr>
          <p:cNvPr id="13" name="文本框 12"/>
          <p:cNvSpPr txBox="1"/>
          <p:nvPr/>
        </p:nvSpPr>
        <p:spPr>
          <a:xfrm>
            <a:off x="2218690" y="821690"/>
            <a:ext cx="3035935" cy="429895"/>
          </a:xfrm>
          <a:prstGeom prst="rect">
            <a:avLst/>
          </a:prstGeom>
          <a:noFill/>
        </p:spPr>
        <p:txBody>
          <a:bodyPr wrap="square" rtlCol="0">
            <a:spAutoFit/>
          </a:bodyPr>
          <a:p>
            <a:r>
              <a:rPr lang="zh-CN" altLang="en-US">
                <a:solidFill>
                  <a:srgbClr val="C00000"/>
                </a:solidFill>
              </a:rPr>
              <a:t>设计手册</a:t>
            </a:r>
            <a:r>
              <a:rPr lang="en-US" altLang="zh-CN">
                <a:solidFill>
                  <a:srgbClr val="C00000"/>
                </a:solidFill>
              </a:rPr>
              <a:t>P4</a:t>
            </a:r>
            <a:r>
              <a:rPr lang="zh-CN" altLang="en-US">
                <a:solidFill>
                  <a:srgbClr val="C00000"/>
                </a:solidFill>
              </a:rPr>
              <a:t>表</a:t>
            </a:r>
            <a:r>
              <a:rPr lang="en-US" altLang="zh-CN">
                <a:solidFill>
                  <a:srgbClr val="C00000"/>
                </a:solidFill>
              </a:rPr>
              <a:t>1-5</a:t>
            </a:r>
            <a:endParaRPr lang="en-US" altLang="zh-CN">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240030" y="848360"/>
            <a:ext cx="8790940" cy="2129790"/>
            <a:chOff x="278" y="318"/>
            <a:chExt cx="13844" cy="3354"/>
          </a:xfrm>
        </p:grpSpPr>
        <p:sp>
          <p:nvSpPr>
            <p:cNvPr id="6" name="圆角矩形 5"/>
            <p:cNvSpPr/>
            <p:nvPr/>
          </p:nvSpPr>
          <p:spPr>
            <a:xfrm>
              <a:off x="278" y="318"/>
              <a:ext cx="13845" cy="3354"/>
            </a:xfrm>
            <a:prstGeom prst="round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2" name="文本框 1"/>
            <p:cNvSpPr txBox="1"/>
            <p:nvPr/>
          </p:nvSpPr>
          <p:spPr>
            <a:xfrm>
              <a:off x="667" y="659"/>
              <a:ext cx="4800" cy="677"/>
            </a:xfrm>
            <a:prstGeom prst="rect">
              <a:avLst/>
            </a:prstGeom>
            <a:noFill/>
          </p:spPr>
          <p:txBody>
            <a:bodyPr wrap="square" rtlCol="0">
              <a:spAutoFit/>
            </a:bodyPr>
            <a:p>
              <a:r>
                <a:rPr lang="en-US" altLang="zh-CN"/>
                <a:t>P187</a:t>
              </a:r>
              <a:endParaRPr lang="en-US" altLang="zh-CN"/>
            </a:p>
          </p:txBody>
        </p:sp>
        <p:sp>
          <p:nvSpPr>
            <p:cNvPr id="3" name="文本框 2"/>
            <p:cNvSpPr txBox="1"/>
            <p:nvPr/>
          </p:nvSpPr>
          <p:spPr>
            <a:xfrm>
              <a:off x="886" y="1508"/>
              <a:ext cx="12068" cy="1307"/>
            </a:xfrm>
            <a:prstGeom prst="rect">
              <a:avLst/>
            </a:prstGeom>
            <a:noFill/>
          </p:spPr>
          <p:txBody>
            <a:bodyPr wrap="square" rtlCol="0">
              <a:spAutoFit/>
            </a:bodyPr>
            <a:p>
              <a:r>
                <a:rPr lang="en-US" altLang="zh-CN" sz="2400">
                  <a:latin typeface="黑体" panose="02010609060101010101" pitchFamily="49" charset="-122"/>
                  <a:ea typeface="黑体" panose="02010609060101010101" pitchFamily="49" charset="-122"/>
                  <a:cs typeface="黑体" panose="02010609060101010101" pitchFamily="49" charset="-122"/>
                </a:rPr>
                <a:t>3.2-9 </a:t>
              </a:r>
              <a:r>
                <a:rPr lang="zh-CN" altLang="en-US" sz="2400">
                  <a:latin typeface="黑体" panose="02010609060101010101" pitchFamily="49" charset="-122"/>
                  <a:ea typeface="黑体" panose="02010609060101010101" pitchFamily="49" charset="-122"/>
                  <a:cs typeface="黑体" panose="02010609060101010101" pitchFamily="49" charset="-122"/>
                </a:rPr>
                <a:t>完成你的设计任务中</a:t>
              </a:r>
              <a:r>
                <a:rPr lang="en-US" altLang="zh-CN" sz="2400">
                  <a:latin typeface="黑体" panose="02010609060101010101" pitchFamily="49" charset="-122"/>
                  <a:ea typeface="黑体" panose="02010609060101010101" pitchFamily="49" charset="-122"/>
                  <a:cs typeface="黑体" panose="02010609060101010101" pitchFamily="49" charset="-122"/>
                </a:rPr>
                <a:t>“</a:t>
              </a:r>
              <a:r>
                <a:rPr lang="zh-CN" altLang="en-US" sz="2400">
                  <a:latin typeface="黑体" panose="02010609060101010101" pitchFamily="49" charset="-122"/>
                  <a:ea typeface="黑体" panose="02010609060101010101" pitchFamily="49" charset="-122"/>
                  <a:cs typeface="黑体" panose="02010609060101010101" pitchFamily="49" charset="-122"/>
                </a:rPr>
                <a:t>传动方案</a:t>
              </a: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rPr>
                <a:t>的带传动设计，并画出主动带轮的结构图。</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grpSp>
      <p:grpSp>
        <p:nvGrpSpPr>
          <p:cNvPr id="9" name="组合 8"/>
          <p:cNvGrpSpPr/>
          <p:nvPr/>
        </p:nvGrpSpPr>
        <p:grpSpPr>
          <a:xfrm>
            <a:off x="138430" y="3738880"/>
            <a:ext cx="8790940" cy="2129790"/>
            <a:chOff x="218" y="4940"/>
            <a:chExt cx="13844" cy="3354"/>
          </a:xfrm>
        </p:grpSpPr>
        <p:sp>
          <p:nvSpPr>
            <p:cNvPr id="7" name="圆角矩形 6"/>
            <p:cNvSpPr/>
            <p:nvPr/>
          </p:nvSpPr>
          <p:spPr>
            <a:xfrm>
              <a:off x="218" y="4940"/>
              <a:ext cx="13845" cy="3354"/>
            </a:xfrm>
            <a:prstGeom prst="roundRect">
              <a:avLst/>
            </a:prstGeom>
            <a:solidFill>
              <a:schemeClr val="accent2">
                <a:lumMod val="40000"/>
                <a:lumOff val="60000"/>
              </a:schemeClr>
            </a:solidFill>
            <a:ln w="9525" cap="flat" cmpd="sng" algn="ctr">
              <a:solidFill>
                <a:schemeClr val="accent2">
                  <a:lumMod val="40000"/>
                  <a:lumOff val="60000"/>
                </a:schemeClr>
              </a:solidFill>
              <a:prstDash val="solid"/>
              <a:round/>
              <a:headEnd type="none" w="med" len="med"/>
              <a:tailEnd type="none" w="med" len="med"/>
            </a:ln>
            <a:effectLst>
              <a:outerShdw dist="17961" dir="2700000" algn="ctr" rotWithShape="0">
                <a:schemeClr val="tx1">
                  <a:gamma/>
                  <a:shade val="60000"/>
                  <a:invGamma/>
                  <a:alpha val="50000"/>
                </a:schemeClr>
              </a:outerShdw>
            </a:effectLst>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4" name="文本框 3"/>
            <p:cNvSpPr txBox="1"/>
            <p:nvPr/>
          </p:nvSpPr>
          <p:spPr>
            <a:xfrm>
              <a:off x="667" y="6627"/>
              <a:ext cx="12996" cy="725"/>
            </a:xfrm>
            <a:prstGeom prst="rect">
              <a:avLst/>
            </a:prstGeom>
            <a:noFill/>
          </p:spPr>
          <p:txBody>
            <a:bodyPr wrap="square" rtlCol="0">
              <a:spAutoFit/>
            </a:bodyPr>
            <a:p>
              <a:r>
                <a:rPr lang="en-US" altLang="zh-CN" sz="2400">
                  <a:latin typeface="黑体" panose="02010609060101010101" pitchFamily="49" charset="-122"/>
                  <a:ea typeface="黑体" panose="02010609060101010101" pitchFamily="49" charset="-122"/>
                  <a:cs typeface="黑体" panose="02010609060101010101" pitchFamily="49" charset="-122"/>
                </a:rPr>
                <a:t>3.3-11 </a:t>
              </a:r>
              <a:r>
                <a:rPr lang="zh-CN" altLang="en-US" sz="2400">
                  <a:latin typeface="黑体" panose="02010609060101010101" pitchFamily="49" charset="-122"/>
                  <a:ea typeface="黑体" panose="02010609060101010101" pitchFamily="49" charset="-122"/>
                  <a:cs typeface="黑体" panose="02010609060101010101" pitchFamily="49" charset="-122"/>
                </a:rPr>
                <a:t>完成你的设计任务中</a:t>
              </a:r>
              <a:r>
                <a:rPr lang="en-US" altLang="zh-CN" sz="2400">
                  <a:latin typeface="黑体" panose="02010609060101010101" pitchFamily="49" charset="-122"/>
                  <a:ea typeface="黑体" panose="02010609060101010101" pitchFamily="49" charset="-122"/>
                  <a:cs typeface="黑体" panose="02010609060101010101" pitchFamily="49" charset="-122"/>
                </a:rPr>
                <a:t>“</a:t>
              </a:r>
              <a:r>
                <a:rPr lang="zh-CN" altLang="en-US" sz="2400">
                  <a:latin typeface="黑体" panose="02010609060101010101" pitchFamily="49" charset="-122"/>
                  <a:ea typeface="黑体" panose="02010609060101010101" pitchFamily="49" charset="-122"/>
                  <a:cs typeface="黑体" panose="02010609060101010101" pitchFamily="49" charset="-122"/>
                </a:rPr>
                <a:t>传动方案</a:t>
              </a: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rPr>
                <a:t>的</a:t>
              </a:r>
              <a:r>
                <a:rPr lang="zh-CN" altLang="en-US" sz="2400">
                  <a:latin typeface="黑体" panose="02010609060101010101" pitchFamily="49" charset="-122"/>
                  <a:ea typeface="黑体" panose="02010609060101010101" pitchFamily="49" charset="-122"/>
                  <a:cs typeface="黑体" panose="02010609060101010101" pitchFamily="49" charset="-122"/>
                </a:rPr>
                <a:t>链传动设计。</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457" y="5482"/>
              <a:ext cx="4800" cy="677"/>
            </a:xfrm>
            <a:prstGeom prst="rect">
              <a:avLst/>
            </a:prstGeom>
            <a:noFill/>
          </p:spPr>
          <p:txBody>
            <a:bodyPr wrap="square" rtlCol="0">
              <a:spAutoFit/>
            </a:bodyPr>
            <a:p>
              <a:r>
                <a:rPr lang="en-US" altLang="zh-CN"/>
                <a:t>P208</a:t>
              </a:r>
              <a:endParaRPr lang="en-US" altLang="zh-C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Correct"/>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MultipleChoice"/>
</p:tagLst>
</file>

<file path=ppt/tags/tag18.xml><?xml version="1.0" encoding="utf-8"?>
<p:tagLst xmlns:p="http://schemas.openxmlformats.org/presentationml/2006/main">
  <p:tag name="RAINPROBLEM" val="MultipleChoice"/>
  <p:tag name="PROBLEMSCORE" val="1.0"/>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Bullet"/>
  <p:tag name="RAINPROBLEMTYPE" val="MultipleChoice"/>
  <p:tag name="RAINBULLET" val="Correct"/>
</p:tagLst>
</file>

<file path=ppt/tags/tag28.xml><?xml version="1.0" encoding="utf-8"?>
<p:tagLst xmlns:p="http://schemas.openxmlformats.org/presentationml/2006/main">
  <p:tag name="RAINPROBLEM" val="ProblemSubmit"/>
  <p:tag name="RAINPROBLEMTYPE" val="MultipleChoice"/>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 val="ProblemSetting"/>
  <p:tag name="RAINPROBLEMTYPE" val="MultipleChoice"/>
</p:tagLst>
</file>

<file path=ppt/tags/tag36.xml><?xml version="1.0" encoding="utf-8"?>
<p:tagLst xmlns:p="http://schemas.openxmlformats.org/presentationml/2006/main">
  <p:tag name="RAINPROBLEM" val="MultipleChoice"/>
  <p:tag name="PROBLEMSCORE" val="1.0"/>
</p:tagLst>
</file>

<file path=ppt/tags/tag37.xml><?xml version="1.0" encoding="utf-8"?>
<p:tagLst xmlns:p="http://schemas.openxmlformats.org/presentationml/2006/main">
  <p:tag name="RAINPROBLEM" val="ProblemBody"/>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Bullet"/>
  <p:tag name="RAINPROBLEMTYPE" val="MultipleChoice"/>
  <p:tag name="RAINBULLET" val="Wrong"/>
</p:tagLst>
</file>

<file path=ppt/tags/tag43.xml><?xml version="1.0" encoding="utf-8"?>
<p:tagLst xmlns:p="http://schemas.openxmlformats.org/presentationml/2006/main">
  <p:tag name="RAINPROBLEM" val="ProblemBullet"/>
  <p:tag name="RAINPROBLEMTYPE" val="MultipleChoice"/>
  <p:tag name="RAINBULLET" val="Correct"/>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Bullet"/>
  <p:tag name="RAINPROBLEMTYPE" val="MultipleChoice"/>
  <p:tag name="RAINBULLET" val="Wrong"/>
</p:tagLst>
</file>

<file path=ppt/tags/tag46.xml><?xml version="1.0" encoding="utf-8"?>
<p:tagLst xmlns:p="http://schemas.openxmlformats.org/presentationml/2006/main">
  <p:tag name="RAINPROBLEM" val="ProblemSubmit"/>
  <p:tag name="RAINPROBLEMTYPE" val="MultipleChoice"/>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 val="ProblemSetting"/>
  <p:tag name="RAINPROBLEMTYPE" val="MultipleChoice"/>
</p:tagLst>
</file>

<file path=ppt/tags/tag54.xml><?xml version="1.0" encoding="utf-8"?>
<p:tagLst xmlns:p="http://schemas.openxmlformats.org/presentationml/2006/main">
  <p:tag name="RAINPROBLEM" val="MultipleChoice"/>
  <p:tag name="PROBLEMSCORE" val="1.0"/>
</p:tagLst>
</file>

<file path=ppt/tags/tag55.xml><?xml version="1.0" encoding="utf-8"?>
<p:tagLst xmlns:p="http://schemas.openxmlformats.org/presentationml/2006/main">
  <p:tag name="RAINPROBLEM" val="ProblemBody"/>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Item"/>
</p:tagLst>
</file>

<file path=ppt/tags/tag60.xml><?xml version="1.0" encoding="utf-8"?>
<p:tagLst xmlns:p="http://schemas.openxmlformats.org/presentationml/2006/main">
  <p:tag name="RAINPROBLEM" val="ProblemBullet"/>
  <p:tag name="RAINPROBLEMTYPE" val="MultipleChoice"/>
  <p:tag name="RAINBULLET" val="Correct"/>
</p:tagLst>
</file>

<file path=ppt/tags/tag61.xml><?xml version="1.0" encoding="utf-8"?>
<p:tagLst xmlns:p="http://schemas.openxmlformats.org/presentationml/2006/main">
  <p:tag name="RAINPROBLEM" val="ProblemBullet"/>
  <p:tag name="RAINPROBLEMTYPE" val="MultipleChoice"/>
  <p:tag name="RAINBULLET" val="Wrong"/>
</p:tagLst>
</file>

<file path=ppt/tags/tag62.xml><?xml version="1.0" encoding="utf-8"?>
<p:tagLst xmlns:p="http://schemas.openxmlformats.org/presentationml/2006/main">
  <p:tag name="RAINPROBLEM" val="ProblemBullet"/>
  <p:tag name="RAINPROBLEMTYPE" val="MultipleChoice"/>
  <p:tag name="RAINBULLET" val="Wrong"/>
</p:tagLst>
</file>

<file path=ppt/tags/tag63.xml><?xml version="1.0" encoding="utf-8"?>
<p:tagLst xmlns:p="http://schemas.openxmlformats.org/presentationml/2006/main">
  <p:tag name="RAINPROBLEM" val="ProblemBullet"/>
  <p:tag name="RAINPROBLEMTYPE" val="MultipleChoice"/>
  <p:tag name="RAINBULLET" val="Wrong"/>
</p:tagLst>
</file>

<file path=ppt/tags/tag64.xml><?xml version="1.0" encoding="utf-8"?>
<p:tagLst xmlns:p="http://schemas.openxmlformats.org/presentationml/2006/main">
  <p:tag name="RAINPROBLEM" val="ProblemSubmit"/>
  <p:tag name="RAINPROBLEMTYPE" val="MultipleChoice"/>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 val="ProblemSetting"/>
  <p:tag name="RAINPROBLEMTYPE" val="MultipleChoice"/>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RAINPROBLEM" val="MultipleChoice"/>
  <p:tag name="PROBLEMSCORE" val="1.0"/>
</p:tagLst>
</file>

<file path=ppt/tags/tag73.xml><?xml version="1.0" encoding="utf-8"?>
<p:tagLst xmlns:p="http://schemas.openxmlformats.org/presentationml/2006/main">
  <p:tag name="RAINPROBLEM" val="ProblemBody"/>
</p:tagLst>
</file>

<file path=ppt/tags/tag74.xml><?xml version="1.0" encoding="utf-8"?>
<p:tagLst xmlns:p="http://schemas.openxmlformats.org/presentationml/2006/main">
  <p:tag name="RAINPROBLEM" val="ProblemItem"/>
</p:tagLst>
</file>

<file path=ppt/tags/tag75.xml><?xml version="1.0" encoding="utf-8"?>
<p:tagLst xmlns:p="http://schemas.openxmlformats.org/presentationml/2006/main">
  <p:tag name="RAINPROBLEM" val="ProblemItem"/>
</p:tagLst>
</file>

<file path=ppt/tags/tag76.xml><?xml version="1.0" encoding="utf-8"?>
<p:tagLst xmlns:p="http://schemas.openxmlformats.org/presentationml/2006/main">
  <p:tag name="RAINPROBLEM" val="ProblemItem"/>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Bullet"/>
  <p:tag name="RAINPROBLEMTYPE" val="MultipleChoice"/>
  <p:tag name="RAINBULLET" val="Wrong"/>
</p:tagLst>
</file>

<file path=ppt/tags/tag79.xml><?xml version="1.0" encoding="utf-8"?>
<p:tagLst xmlns:p="http://schemas.openxmlformats.org/presentationml/2006/main">
  <p:tag name="RAINPROBLEM" val="ProblemBullet"/>
  <p:tag name="RAINPROBLEMTYPE" val="MultipleChoice"/>
  <p:tag name="RAINBULLET" val="Wrong"/>
</p:tagLst>
</file>

<file path=ppt/tags/tag80.xml><?xml version="1.0" encoding="utf-8"?>
<p:tagLst xmlns:p="http://schemas.openxmlformats.org/presentationml/2006/main">
  <p:tag name="RAINPROBLEM" val="ProblemBullet"/>
  <p:tag name="RAINPROBLEMTYPE" val="MultipleChoice"/>
  <p:tag name="RAINBULLET" val="Wrong"/>
</p:tagLst>
</file>

<file path=ppt/tags/tag81.xml><?xml version="1.0" encoding="utf-8"?>
<p:tagLst xmlns:p="http://schemas.openxmlformats.org/presentationml/2006/main">
  <p:tag name="RAINPROBLEM" val="ProblemBullet"/>
  <p:tag name="RAINPROBLEMTYPE" val="MultipleChoice"/>
  <p:tag name="RAINBULLET" val="Correct"/>
</p:tagLst>
</file>

<file path=ppt/tags/tag82.xml><?xml version="1.0" encoding="utf-8"?>
<p:tagLst xmlns:p="http://schemas.openxmlformats.org/presentationml/2006/main">
  <p:tag name="RAINPROBLEM" val="ProblemSubmit"/>
  <p:tag name="RAINPROBLEMTYPE" val="MultipleChoice"/>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RAINPROBLEMTYPE" val="ProblemTypeMarker"/>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 val="ProblemSetting"/>
  <p:tag name="RAINPROBLEMTYPE" val="MultipleChoice"/>
</p:tagLst>
</file>

<file path=ppt/tags/tag90.xml><?xml version="1.0" encoding="utf-8"?>
<p:tagLst xmlns:p="http://schemas.openxmlformats.org/presentationml/2006/main">
  <p:tag name="RAINPROBLEM" val="MultipleChoice"/>
  <p:tag name="PROBLEMSCORE" val="1.0"/>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UNIT_TABLE_BEAUTIFY" val="smartTable{95447457-1e74-45fd-9c29-8d71c4e94949}"/>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UNIT_TABLE_BEAUTIFY" val="smartTable{5ea84daa-eb10-45db-8ccb-e7ff633841ae}"/>
</p:tagLst>
</file>

<file path=ppt/tags/tag164.xml><?xml version="1.0" encoding="utf-8"?>
<p:tagLst xmlns:p="http://schemas.openxmlformats.org/presentationml/2006/main">
  <p:tag name="KSO_WM_UNIT_TABLE_BEAUTIFY" val="smartTable{94ae3b64-adc9-4906-b508-4efb2a3355b0}"/>
</p:tagLst>
</file>

<file path=ppt/tags/tag165.xml><?xml version="1.0" encoding="utf-8"?>
<p:tagLst xmlns:p="http://schemas.openxmlformats.org/presentationml/2006/main">
  <p:tag name="RAINPROBLEM" val="ProblemBody"/>
</p:tagLst>
</file>

<file path=ppt/tags/tag166.xml><?xml version="1.0" encoding="utf-8"?>
<p:tagLst xmlns:p="http://schemas.openxmlformats.org/presentationml/2006/main">
  <p:tag name="RAINPROBLEM" val="ProblemItem"/>
</p:tagLst>
</file>

<file path=ppt/tags/tag167.xml><?xml version="1.0" encoding="utf-8"?>
<p:tagLst xmlns:p="http://schemas.openxmlformats.org/presentationml/2006/main">
  <p:tag name="RAINPROBLEM" val="ProblemItem"/>
</p:tagLst>
</file>

<file path=ppt/tags/tag168.xml><?xml version="1.0" encoding="utf-8"?>
<p:tagLst xmlns:p="http://schemas.openxmlformats.org/presentationml/2006/main">
  <p:tag name="RAINPROBLEM" val="ProblemItem"/>
</p:tagLst>
</file>

<file path=ppt/tags/tag169.xml><?xml version="1.0" encoding="utf-8"?>
<p:tagLst xmlns:p="http://schemas.openxmlformats.org/presentationml/2006/main">
  <p:tag name="RAINPROBLEM" val="ProblemItem"/>
</p:tagLst>
</file>

<file path=ppt/tags/tag170.xml><?xml version="1.0" encoding="utf-8"?>
<p:tagLst xmlns:p="http://schemas.openxmlformats.org/presentationml/2006/main">
  <p:tag name="RAINPROBLEM" val="ProblemBullet"/>
  <p:tag name="RAINPROBLEMTYPE" val="MultipleChoice"/>
  <p:tag name="RAINBULLET" val="Correct"/>
</p:tagLst>
</file>

<file path=ppt/tags/tag171.xml><?xml version="1.0" encoding="utf-8"?>
<p:tagLst xmlns:p="http://schemas.openxmlformats.org/presentationml/2006/main">
  <p:tag name="RAINPROBLEM" val="ProblemBullet"/>
  <p:tag name="RAINPROBLEMTYPE" val="MultipleChoice"/>
  <p:tag name="RAINBULLET" val="Wrong"/>
</p:tagLst>
</file>

<file path=ppt/tags/tag172.xml><?xml version="1.0" encoding="utf-8"?>
<p:tagLst xmlns:p="http://schemas.openxmlformats.org/presentationml/2006/main">
  <p:tag name="RAINPROBLEM" val="ProblemBullet"/>
  <p:tag name="RAINPROBLEMTYPE" val="MultipleChoice"/>
  <p:tag name="RAINBULLET" val="Wrong"/>
</p:tagLst>
</file>

<file path=ppt/tags/tag173.xml><?xml version="1.0" encoding="utf-8"?>
<p:tagLst xmlns:p="http://schemas.openxmlformats.org/presentationml/2006/main">
  <p:tag name="RAINPROBLEM" val="ProblemBullet"/>
  <p:tag name="RAINPROBLEMTYPE" val="MultipleChoice"/>
  <p:tag name="RAINBULLET" val="Wrong"/>
</p:tagLst>
</file>

<file path=ppt/tags/tag174.xml><?xml version="1.0" encoding="utf-8"?>
<p:tagLst xmlns:p="http://schemas.openxmlformats.org/presentationml/2006/main">
  <p:tag name="RAINPROBLEM" val="ProblemSubmit"/>
  <p:tag name="RAINPROBLEMTYPE" val="MultipleChoice"/>
</p:tagLst>
</file>

<file path=ppt/tags/tag175.xml><?xml version="1.0" encoding="utf-8"?>
<p:tagLst xmlns:p="http://schemas.openxmlformats.org/presentationml/2006/main">
  <p:tag name="RAINPROBLEMTYPE" val="ProblemTypeMarker"/>
</p:tagLst>
</file>

<file path=ppt/tags/tag176.xml><?xml version="1.0" encoding="utf-8"?>
<p:tagLst xmlns:p="http://schemas.openxmlformats.org/presentationml/2006/main">
  <p:tag name="RAINPROBLEMTYPE" val="ProblemTypeMarker"/>
</p:tagLst>
</file>

<file path=ppt/tags/tag177.xml><?xml version="1.0" encoding="utf-8"?>
<p:tagLst xmlns:p="http://schemas.openxmlformats.org/presentationml/2006/main">
  <p:tag name="RAINPROBLEMTYPE" val="ProblemTypeMarker"/>
</p:tagLst>
</file>

<file path=ppt/tags/tag178.xml><?xml version="1.0" encoding="utf-8"?>
<p:tagLst xmlns:p="http://schemas.openxmlformats.org/presentationml/2006/main">
  <p:tag name="RAINPROBLEMTYPE" val="ProblemTypeMarker"/>
</p:tagLst>
</file>

<file path=ppt/tags/tag179.xml><?xml version="1.0" encoding="utf-8"?>
<p:tagLst xmlns:p="http://schemas.openxmlformats.org/presentationml/2006/main">
  <p:tag name="RAINPROBLEMTYPE" val="ProblemTypeMarker"/>
</p:tagLst>
</file>

<file path=ppt/tags/tag180.xml><?xml version="1.0" encoding="utf-8"?>
<p:tagLst xmlns:p="http://schemas.openxmlformats.org/presentationml/2006/main">
  <p:tag name="RAINPROBLEM" val="ProblemSetting"/>
  <p:tag name="RAINPROBLEMTYPE" val="MultipleChoice"/>
</p:tagLst>
</file>

<file path=ppt/tags/tag181.xml><?xml version="1.0" encoding="utf-8"?>
<p:tagLst xmlns:p="http://schemas.openxmlformats.org/presentationml/2006/main">
  <p:tag name="RAINPROBLEM" val="MultipleChoice"/>
  <p:tag name="PROBLEMSCORE" val="1.0"/>
</p:tagLst>
</file>

<file path=ppt/tags/tag182.xml><?xml version="1.0" encoding="utf-8"?>
<p:tagLst xmlns:p="http://schemas.openxmlformats.org/presentationml/2006/main">
  <p:tag name="RAINPROBLEM" val="ProblemBody"/>
</p:tagLst>
</file>

<file path=ppt/tags/tag183.xml><?xml version="1.0" encoding="utf-8"?>
<p:tagLst xmlns:p="http://schemas.openxmlformats.org/presentationml/2006/main">
  <p:tag name="RAINPROBLEM" val="ProblemItem"/>
</p:tagLst>
</file>

<file path=ppt/tags/tag184.xml><?xml version="1.0" encoding="utf-8"?>
<p:tagLst xmlns:p="http://schemas.openxmlformats.org/presentationml/2006/main">
  <p:tag name="RAINPROBLEM" val="ProblemItem"/>
</p:tagLst>
</file>

<file path=ppt/tags/tag185.xml><?xml version="1.0" encoding="utf-8"?>
<p:tagLst xmlns:p="http://schemas.openxmlformats.org/presentationml/2006/main">
  <p:tag name="RAINPROBLEM" val="ProblemItem"/>
</p:tagLst>
</file>

<file path=ppt/tags/tag186.xml><?xml version="1.0" encoding="utf-8"?>
<p:tagLst xmlns:p="http://schemas.openxmlformats.org/presentationml/2006/main">
  <p:tag name="RAINPROBLEM" val="ProblemItem"/>
</p:tagLst>
</file>

<file path=ppt/tags/tag187.xml><?xml version="1.0" encoding="utf-8"?>
<p:tagLst xmlns:p="http://schemas.openxmlformats.org/presentationml/2006/main">
  <p:tag name="RAINPROBLEM" val="ProblemBullet"/>
  <p:tag name="RAINPROBLEMTYPE" val="MultipleChoice"/>
  <p:tag name="RAINBULLET" val="Wrong"/>
</p:tagLst>
</file>

<file path=ppt/tags/tag188.xml><?xml version="1.0" encoding="utf-8"?>
<p:tagLst xmlns:p="http://schemas.openxmlformats.org/presentationml/2006/main">
  <p:tag name="RAINPROBLEM" val="ProblemBullet"/>
  <p:tag name="RAINPROBLEMTYPE" val="MultipleChoice"/>
  <p:tag name="RAINBULLET" val="Wrong"/>
</p:tagLst>
</file>

<file path=ppt/tags/tag189.xml><?xml version="1.0" encoding="utf-8"?>
<p:tagLst xmlns:p="http://schemas.openxmlformats.org/presentationml/2006/main">
  <p:tag name="RAINPROBLEM" val="ProblemBullet"/>
  <p:tag name="RAINPROBLEMTYPE" val="MultipleChoice"/>
  <p:tag name="RAINBULLET" val="Correct"/>
</p:tagLst>
</file>

<file path=ppt/tags/tag190.xml><?xml version="1.0" encoding="utf-8"?>
<p:tagLst xmlns:p="http://schemas.openxmlformats.org/presentationml/2006/main">
  <p:tag name="RAINPROBLEM" val="ProblemBullet"/>
  <p:tag name="RAINPROBLEMTYPE" val="MultipleChoice"/>
  <p:tag name="RAINBULLET" val="Wrong"/>
</p:tagLst>
</file>

<file path=ppt/tags/tag191.xml><?xml version="1.0" encoding="utf-8"?>
<p:tagLst xmlns:p="http://schemas.openxmlformats.org/presentationml/2006/main">
  <p:tag name="RAINPROBLEM" val="ProblemSubmit"/>
  <p:tag name="RAINPROBLEMTYPE" val="MultipleChoice"/>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RAINPROBLEMTYPE" val="ProblemTypeMarker"/>
</p:tagLst>
</file>

<file path=ppt/tags/tag194.xml><?xml version="1.0" encoding="utf-8"?>
<p:tagLst xmlns:p="http://schemas.openxmlformats.org/presentationml/2006/main">
  <p:tag name="RAINPROBLEMTYPE" val="ProblemTypeMarker"/>
</p:tagLst>
</file>

<file path=ppt/tags/tag195.xml><?xml version="1.0" encoding="utf-8"?>
<p:tagLst xmlns:p="http://schemas.openxmlformats.org/presentationml/2006/main">
  <p:tag name="RAINPROBLEMTYPE" val="ProblemTypeMarker"/>
</p:tagLst>
</file>

<file path=ppt/tags/tag196.xml><?xml version="1.0" encoding="utf-8"?>
<p:tagLst xmlns:p="http://schemas.openxmlformats.org/presentationml/2006/main">
  <p:tag name="RAINPROBLEMTYPE" val="ProblemTypeMarker"/>
</p:tagLst>
</file>

<file path=ppt/tags/tag197.xml><?xml version="1.0" encoding="utf-8"?>
<p:tagLst xmlns:p="http://schemas.openxmlformats.org/presentationml/2006/main">
  <p:tag name="RAINPROBLEMTYPE" val="ProblemTypeMarker"/>
</p:tagLst>
</file>

<file path=ppt/tags/tag198.xml><?xml version="1.0" encoding="utf-8"?>
<p:tagLst xmlns:p="http://schemas.openxmlformats.org/presentationml/2006/main">
  <p:tag name="RAINPROBLEM" val="ProblemSetting"/>
  <p:tag name="RAINPROBLEMTYPE" val="MultipleChoice"/>
</p:tagLst>
</file>

<file path=ppt/tags/tag199.xml><?xml version="1.0" encoding="utf-8"?>
<p:tagLst xmlns:p="http://schemas.openxmlformats.org/presentationml/2006/main">
  <p:tag name="RAINPROBLEM" val="MultipleChoice"/>
  <p:tag name="PROBLEMSCORE" val="1.0"/>
</p:tagLst>
</file>

<file path=ppt/tags/tag200.xml><?xml version="1.0" encoding="utf-8"?>
<p:tagLst xmlns:p="http://schemas.openxmlformats.org/presentationml/2006/main">
  <p:tag name="RAINPROBLEM" val="ProblemBody"/>
</p:tagLst>
</file>

<file path=ppt/tags/tag201.xml><?xml version="1.0" encoding="utf-8"?>
<p:tagLst xmlns:p="http://schemas.openxmlformats.org/presentationml/2006/main">
  <p:tag name="RAINPROBLEM" val="ProblemItem"/>
</p:tagLst>
</file>

<file path=ppt/tags/tag202.xml><?xml version="1.0" encoding="utf-8"?>
<p:tagLst xmlns:p="http://schemas.openxmlformats.org/presentationml/2006/main">
  <p:tag name="RAINPROBLEM" val="ProblemItem"/>
</p:tagLst>
</file>

<file path=ppt/tags/tag203.xml><?xml version="1.0" encoding="utf-8"?>
<p:tagLst xmlns:p="http://schemas.openxmlformats.org/presentationml/2006/main">
  <p:tag name="RAINPROBLEM" val="ProblemItem"/>
</p:tagLst>
</file>

<file path=ppt/tags/tag204.xml><?xml version="1.0" encoding="utf-8"?>
<p:tagLst xmlns:p="http://schemas.openxmlformats.org/presentationml/2006/main">
  <p:tag name="RAINPROBLEM" val="ProblemItem"/>
</p:tagLst>
</file>

<file path=ppt/tags/tag205.xml><?xml version="1.0" encoding="utf-8"?>
<p:tagLst xmlns:p="http://schemas.openxmlformats.org/presentationml/2006/main">
  <p:tag name="RAINPROBLEM" val="ProblemBullet"/>
  <p:tag name="RAINPROBLEMTYPE" val="MultipleChoice"/>
  <p:tag name="RAINBULLET" val="Wrong"/>
</p:tagLst>
</file>

<file path=ppt/tags/tag206.xml><?xml version="1.0" encoding="utf-8"?>
<p:tagLst xmlns:p="http://schemas.openxmlformats.org/presentationml/2006/main">
  <p:tag name="RAINPROBLEM" val="ProblemBullet"/>
  <p:tag name="RAINPROBLEMTYPE" val="MultipleChoice"/>
  <p:tag name="RAINBULLET" val="Wrong"/>
</p:tagLst>
</file>

<file path=ppt/tags/tag207.xml><?xml version="1.0" encoding="utf-8"?>
<p:tagLst xmlns:p="http://schemas.openxmlformats.org/presentationml/2006/main">
  <p:tag name="RAINPROBLEM" val="ProblemBullet"/>
  <p:tag name="RAINPROBLEMTYPE" val="MultipleChoice"/>
  <p:tag name="RAINBULLET" val="Correct"/>
</p:tagLst>
</file>

<file path=ppt/tags/tag208.xml><?xml version="1.0" encoding="utf-8"?>
<p:tagLst xmlns:p="http://schemas.openxmlformats.org/presentationml/2006/main">
  <p:tag name="RAINPROBLEM" val="ProblemBullet"/>
  <p:tag name="RAINPROBLEMTYPE" val="MultipleChoice"/>
  <p:tag name="RAINBULLET" val="Wrong"/>
</p:tagLst>
</file>

<file path=ppt/tags/tag209.xml><?xml version="1.0" encoding="utf-8"?>
<p:tagLst xmlns:p="http://schemas.openxmlformats.org/presentationml/2006/main">
  <p:tag name="RAINPROBLEM" val="ProblemSubmit"/>
  <p:tag name="RAINPROBLEMTYPE" val="MultipleChoice"/>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RAINPROBLEMTYPE" val="ProblemTypeMarker"/>
</p:tagLst>
</file>

<file path=ppt/tags/tag212.xml><?xml version="1.0" encoding="utf-8"?>
<p:tagLst xmlns:p="http://schemas.openxmlformats.org/presentationml/2006/main">
  <p:tag name="RAINPROBLEMTYPE" val="ProblemTypeMarker"/>
</p:tagLst>
</file>

<file path=ppt/tags/tag213.xml><?xml version="1.0" encoding="utf-8"?>
<p:tagLst xmlns:p="http://schemas.openxmlformats.org/presentationml/2006/main">
  <p:tag name="RAINPROBLEMTYPE" val="ProblemTypeMarker"/>
</p:tagLst>
</file>

<file path=ppt/tags/tag214.xml><?xml version="1.0" encoding="utf-8"?>
<p:tagLst xmlns:p="http://schemas.openxmlformats.org/presentationml/2006/main">
  <p:tag name="RAINPROBLEMTYPE" val="ProblemTypeMarker"/>
</p:tagLst>
</file>

<file path=ppt/tags/tag215.xml><?xml version="1.0" encoding="utf-8"?>
<p:tagLst xmlns:p="http://schemas.openxmlformats.org/presentationml/2006/main">
  <p:tag name="RAINPROBLEMTYPE" val="ProblemTypeMarker"/>
</p:tagLst>
</file>

<file path=ppt/tags/tag216.xml><?xml version="1.0" encoding="utf-8"?>
<p:tagLst xmlns:p="http://schemas.openxmlformats.org/presentationml/2006/main">
  <p:tag name="RAINPROBLEM" val="ProblemSetting"/>
  <p:tag name="RAINPROBLEMTYPE" val="MultipleChoice"/>
</p:tagLst>
</file>

<file path=ppt/tags/tag217.xml><?xml version="1.0" encoding="utf-8"?>
<p:tagLst xmlns:p="http://schemas.openxmlformats.org/presentationml/2006/main">
  <p:tag name="RAINPROBLEM" val="MultipleChoice"/>
  <p:tag name="PROBLEMSCORE" val="1.0"/>
</p:tagLst>
</file>

<file path=ppt/tags/tag218.xml><?xml version="1.0" encoding="utf-8"?>
<p:tagLst xmlns:p="http://schemas.openxmlformats.org/presentationml/2006/main">
  <p:tag name="picid" val="{7644156c-cd0f-43ca-b825-9c3983a337e6}"/>
</p:tagLst>
</file>

<file path=ppt/tags/tag219.xml><?xml version="1.0" encoding="utf-8"?>
<p:tagLst xmlns:p="http://schemas.openxmlformats.org/presentationml/2006/main">
  <p:tag name="picid" val="{7644156c-cd0f-43ca-b825-9c3983a337e6}"/>
</p:tagLst>
</file>

<file path=ppt/tags/tag220.xml><?xml version="1.0" encoding="utf-8"?>
<p:tagLst xmlns:p="http://schemas.openxmlformats.org/presentationml/2006/main">
  <p:tag name="KSO_WPP_MARK_KEY" val="e0d4b856-3aee-4280-aaaf-a3dad9d124fb"/>
  <p:tag name="COMMONDATA" val="eyJoZGlkIjoiYjY1MTdjZTU4N2MxZTc3YjNiNGY1ZTFhYzY1NTM0ZTMifQ=="/>
  <p:tag name="commondata" val="eyJoZGlkIjoiZmYwY2UxNzI0ODdjMTkzYTM2NmQ4OTdkNGYwMzJlYmM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8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20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2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2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2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8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1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1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2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0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11696</Words>
  <Application>WPS 演示</Application>
  <PresentationFormat>全屏显示(4:3)</PresentationFormat>
  <Paragraphs>1992</Paragraphs>
  <Slides>78</Slides>
  <Notes>17</Notes>
  <HiddenSlides>8</HiddenSlides>
  <MMClips>0</MMClips>
  <ScaleCrop>false</ScaleCrop>
  <HeadingPairs>
    <vt:vector size="8" baseType="variant">
      <vt:variant>
        <vt:lpstr>已用的字体</vt:lpstr>
      </vt:variant>
      <vt:variant>
        <vt:i4>16</vt:i4>
      </vt:variant>
      <vt:variant>
        <vt:lpstr>主题</vt:lpstr>
      </vt:variant>
      <vt:variant>
        <vt:i4>33</vt:i4>
      </vt:variant>
      <vt:variant>
        <vt:lpstr>嵌入 OLE 服务器</vt:lpstr>
      </vt:variant>
      <vt:variant>
        <vt:i4>52</vt:i4>
      </vt:variant>
      <vt:variant>
        <vt:lpstr>幻灯片标题</vt:lpstr>
      </vt:variant>
      <vt:variant>
        <vt:i4>78</vt:i4>
      </vt:variant>
    </vt:vector>
  </HeadingPairs>
  <TitlesOfParts>
    <vt:vector size="179" baseType="lpstr">
      <vt:lpstr>Arial</vt:lpstr>
      <vt:lpstr>宋体</vt:lpstr>
      <vt:lpstr>Wingdings</vt:lpstr>
      <vt:lpstr>Tahoma</vt:lpstr>
      <vt:lpstr>华文中宋</vt:lpstr>
      <vt:lpstr>Calibri</vt:lpstr>
      <vt:lpstr>Times New Roman</vt:lpstr>
      <vt:lpstr>黑体</vt:lpstr>
      <vt:lpstr>微软雅黑</vt:lpstr>
      <vt:lpstr>Arial Unicode MS</vt:lpstr>
      <vt:lpstr>Cambria Math</vt:lpstr>
      <vt:lpstr>Wingdings</vt:lpstr>
      <vt:lpstr>Symbol</vt:lpstr>
      <vt:lpstr>楷体</vt:lpstr>
      <vt:lpstr>方正舒体</vt:lpstr>
      <vt:lpstr>Symbol</vt:lpstr>
      <vt:lpstr>Blueprint</vt:lpstr>
      <vt:lpstr>自定义设计方案</vt:lpstr>
      <vt:lpstr>1_Blueprint</vt:lpstr>
      <vt:lpstr>2_Blueprint</vt:lpstr>
      <vt:lpstr>6_Blueprint</vt:lpstr>
      <vt:lpstr>8_Blueprint</vt:lpstr>
      <vt:lpstr>10_Blueprint</vt:lpstr>
      <vt:lpstr>11_Blueprint</vt:lpstr>
      <vt:lpstr>14_Blueprint</vt:lpstr>
      <vt:lpstr>18_Blueprint</vt:lpstr>
      <vt:lpstr>4_Blueprint</vt:lpstr>
      <vt:lpstr>20_Blueprint</vt:lpstr>
      <vt:lpstr>5_Blueprint</vt:lpstr>
      <vt:lpstr>16_Blueprint</vt:lpstr>
      <vt:lpstr>17_Blueprint</vt:lpstr>
      <vt:lpstr>23_Blueprint</vt:lpstr>
      <vt:lpstr>24_Blueprint</vt:lpstr>
      <vt:lpstr>25_Blueprint</vt:lpstr>
      <vt:lpstr>26_Blueprint</vt:lpstr>
      <vt:lpstr>19_Blueprint</vt:lpstr>
      <vt:lpstr>27_Blueprint</vt:lpstr>
      <vt:lpstr>28_Blueprint</vt:lpstr>
      <vt:lpstr>空演示文稿</vt:lpstr>
      <vt:lpstr>3_Blueprint</vt:lpstr>
      <vt:lpstr>7_Blueprint</vt:lpstr>
      <vt:lpstr>9_Blueprint</vt:lpstr>
      <vt:lpstr>12_Blueprint</vt:lpstr>
      <vt:lpstr>13_Blueprint</vt:lpstr>
      <vt:lpstr>21_Blueprint</vt:lpstr>
      <vt:lpstr>22_Blueprint</vt:lpstr>
      <vt:lpstr>15_Blueprint</vt:lpstr>
      <vt:lpstr>29_Blueprint</vt:lpstr>
      <vt:lpstr>30_Blueprint</vt:lpstr>
      <vt:lpstr>Paint.Picture</vt:lpstr>
      <vt:lpstr>Equation.KSEE3</vt:lpstr>
      <vt:lpstr>Equation.KSEE3</vt:lpstr>
      <vt:lpstr>Equation.KSEE3</vt:lpstr>
      <vt:lpstr>Equation.KSEE3</vt:lpstr>
      <vt:lpstr>Equation.3</vt:lpstr>
      <vt:lpstr>Equation.3</vt:lpstr>
      <vt:lpstr>Equation.KSEE3</vt:lpstr>
      <vt:lpstr>Equation.KSEE3</vt:lpstr>
      <vt:lpstr>Equation.KSEE3</vt:lpstr>
      <vt:lpstr>Equation.KSEE3</vt:lpstr>
      <vt:lpstr>Paint.Picture</vt:lpstr>
      <vt:lpstr>Equation.KSEE3</vt:lpstr>
      <vt:lpstr>Equation.KSEE3</vt:lpstr>
      <vt:lpstr>Equation.KSEE3</vt:lpstr>
      <vt:lpstr>Equation.KSEE3</vt:lpstr>
      <vt:lpstr>Equation.KSEE3</vt:lpstr>
      <vt:lpstr>Equation.KSEE3</vt:lpstr>
      <vt:lpstr>Equation.3</vt:lpstr>
      <vt:lpstr>Equation.3</vt:lpstr>
      <vt:lpstr>Equation.3</vt:lpstr>
      <vt:lpstr>Equation.3</vt:lpstr>
      <vt:lpstr>Paint.Picture</vt:lpstr>
      <vt:lpstr>Equation.KSEE3</vt:lpstr>
      <vt:lpstr>Equation.3</vt:lpstr>
      <vt:lpstr>Paint.Picture</vt:lpstr>
      <vt:lpstr>Paint.Picture</vt:lpstr>
      <vt:lpstr>Paint.Picture</vt:lpstr>
      <vt:lpstr>Paint.Picture</vt:lpstr>
      <vt:lpstr>Equation.KSEE3</vt:lpstr>
      <vt:lpstr>Equation.KSEE3</vt:lpstr>
      <vt:lpstr>Equation.3</vt:lpstr>
      <vt:lpstr>Equation.3</vt:lpstr>
      <vt:lpstr>Paint.Picture</vt:lpstr>
      <vt:lpstr>Equation.KSEE3</vt:lpstr>
      <vt:lpstr>Equation.KSEE3</vt:lpstr>
      <vt:lpstr>Equation.3</vt:lpstr>
      <vt:lpstr>Equation.KSEE3</vt:lpstr>
      <vt:lpstr>Equation.3</vt:lpstr>
      <vt:lpstr>Equation.KSEE3</vt:lpstr>
      <vt:lpstr>Equation.KSEE3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3.3章   链传动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3.3章 链传动</vt:lpstr>
      <vt:lpstr>3.3-1 概述</vt:lpstr>
      <vt:lpstr>PowerPoint 演示文稿</vt:lpstr>
      <vt:lpstr>PowerPoint 演示文稿</vt:lpstr>
      <vt:lpstr>PowerPoint 演示文稿</vt:lpstr>
      <vt:lpstr>3.3-2 传动链的结构特点</vt:lpstr>
      <vt:lpstr>PowerPoint 演示文稿</vt:lpstr>
      <vt:lpstr>PowerPoint 演示文稿</vt:lpstr>
      <vt:lpstr>3.3-2 传动链的结构特点</vt:lpstr>
      <vt:lpstr>3.3-2 传动链的结构特点</vt:lpstr>
      <vt:lpstr>3.3-2 传动链的结构特点</vt:lpstr>
      <vt:lpstr>3.3-3 滚子链链轮的结构和材料</vt:lpstr>
      <vt:lpstr>PowerPoint 演示文稿</vt:lpstr>
      <vt:lpstr>PowerPoint 演示文稿</vt:lpstr>
      <vt:lpstr>3.3-3 滚子链链轮的结构和材料</vt:lpstr>
      <vt:lpstr>3.3-3 滚子链链轮的结构和材料</vt:lpstr>
      <vt:lpstr>PowerPoint 演示文稿</vt:lpstr>
      <vt:lpstr>PowerPoint 演示文稿</vt:lpstr>
      <vt:lpstr>PowerPoint 演示文稿</vt:lpstr>
      <vt:lpstr>3.3-3 滚子链链轮的结构和材料</vt:lpstr>
      <vt:lpstr>3.3-3 滚子链链轮的结构和材料</vt:lpstr>
      <vt:lpstr>3.3-4 链传动的工作情况分析</vt:lpstr>
      <vt:lpstr>3.3-4 链传动的工作情况分析</vt:lpstr>
      <vt:lpstr>3.3-4 链传动的工作情况分析</vt:lpstr>
      <vt:lpstr>PowerPoint 演示文稿</vt:lpstr>
      <vt:lpstr>3.3-4 链传动的工作情况分析</vt:lpstr>
      <vt:lpstr>3.3-4 链传动的工作情况分析</vt:lpstr>
      <vt:lpstr>3.3-5 链传动的设计计算</vt:lpstr>
      <vt:lpstr>3.3-5 链传动的设计计算</vt:lpstr>
      <vt:lpstr>PowerPoint 演示文稿</vt:lpstr>
      <vt:lpstr>3.3-5 链传动的设计计算</vt:lpstr>
      <vt:lpstr>3.3-5 链传动的设计计算</vt:lpstr>
      <vt:lpstr>3.3-5 链传动的设计计算</vt:lpstr>
      <vt:lpstr>PowerPoint 演示文稿</vt:lpstr>
      <vt:lpstr>3.3-5 链传动的设计计算</vt:lpstr>
      <vt:lpstr>PowerPoint 演示文稿</vt:lpstr>
      <vt:lpstr>3.3-5 链传动的设计计算</vt:lpstr>
      <vt:lpstr>3.3-5 链传动的设计计算</vt:lpstr>
      <vt:lpstr>3.3-6 链传动的布置、张紧、润滑</vt:lpstr>
      <vt:lpstr>PowerPoint 演示文稿</vt:lpstr>
      <vt:lpstr>3.3-6 链传动的布置、张紧、润滑</vt:lpstr>
      <vt:lpstr>PowerPoint 演示文稿</vt:lpstr>
      <vt:lpstr>链传动的设计计算</vt:lpstr>
      <vt:lpstr>PowerPoint 演示文稿</vt:lpstr>
      <vt:lpstr>PowerPoint 演示文稿</vt:lpstr>
      <vt:lpstr>传动链的结构特点</vt:lpstr>
      <vt:lpstr>传动链的结构特点</vt:lpstr>
      <vt:lpstr>传动链的结构特点</vt:lpstr>
      <vt:lpstr>链传动的运动特性</vt:lpstr>
      <vt:lpstr>PowerPoint 演示文稿</vt:lpstr>
      <vt:lpstr>PowerPoint 演示文稿</vt:lpstr>
      <vt:lpstr>链传动的设计计算</vt:lpstr>
      <vt:lpstr>链传动的布置、张紧、润滑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437</cp:revision>
  <dcterms:created xsi:type="dcterms:W3CDTF">2002-03-15T12:39:00Z</dcterms:created>
  <dcterms:modified xsi:type="dcterms:W3CDTF">2025-10-13T01:46:54Z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KSOSaveFontToCloudKey">
    <vt:lpwstr>241354880_btnclosed</vt:lpwstr>
  </property>
  <property fmtid="{D5CDD505-2E9C-101B-9397-08002B2CF9AE}" pid="4" name="ICV">
    <vt:lpwstr>821A289F3D624C0895DB902D534E3A30</vt:lpwstr>
  </property>
</Properties>
</file>