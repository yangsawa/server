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10"/>
  </p:notesMasterIdLst>
  <p:sldIdLst>
    <p:sldId id="256" r:id="rId6"/>
    <p:sldId id="322" r:id="rId7"/>
    <p:sldId id="454" r:id="rId8"/>
    <p:sldId id="383" r:id="rId9"/>
    <p:sldId id="348" r:id="rId11"/>
    <p:sldId id="381" r:id="rId12"/>
    <p:sldId id="555" r:id="rId13"/>
    <p:sldId id="458" r:id="rId14"/>
    <p:sldId id="460" r:id="rId15"/>
    <p:sldId id="496" r:id="rId16"/>
    <p:sldId id="495" r:id="rId17"/>
    <p:sldId id="455" r:id="rId18"/>
    <p:sldId id="456" r:id="rId19"/>
    <p:sldId id="461" r:id="rId20"/>
    <p:sldId id="462" r:id="rId21"/>
    <p:sldId id="463" r:id="rId22"/>
    <p:sldId id="341" r:id="rId23"/>
    <p:sldId id="379" r:id="rId24"/>
    <p:sldId id="367" r:id="rId25"/>
    <p:sldId id="384" r:id="rId26"/>
    <p:sldId id="428" r:id="rId27"/>
    <p:sldId id="429" r:id="rId28"/>
    <p:sldId id="257" r:id="rId29"/>
    <p:sldId id="385" r:id="rId30"/>
    <p:sldId id="386" r:id="rId31"/>
    <p:sldId id="389" r:id="rId32"/>
    <p:sldId id="533" r:id="rId33"/>
    <p:sldId id="388" r:id="rId34"/>
    <p:sldId id="351" r:id="rId35"/>
    <p:sldId id="323" r:id="rId36"/>
    <p:sldId id="371" r:id="rId37"/>
    <p:sldId id="412" r:id="rId38"/>
    <p:sldId id="413" r:id="rId39"/>
    <p:sldId id="414" r:id="rId40"/>
    <p:sldId id="415" r:id="rId41"/>
    <p:sldId id="416" r:id="rId42"/>
    <p:sldId id="313" r:id="rId43"/>
    <p:sldId id="382" r:id="rId44"/>
    <p:sldId id="347" r:id="rId45"/>
    <p:sldId id="364" r:id="rId46"/>
    <p:sldId id="365" r:id="rId47"/>
    <p:sldId id="380" r:id="rId48"/>
    <p:sldId id="372" r:id="rId49"/>
    <p:sldId id="392" r:id="rId50"/>
    <p:sldId id="597" r:id="rId51"/>
    <p:sldId id="408" r:id="rId52"/>
    <p:sldId id="390" r:id="rId53"/>
    <p:sldId id="534" r:id="rId54"/>
    <p:sldId id="427" r:id="rId55"/>
  </p:sldIdLst>
  <p:sldSz cx="9144000" cy="6858000" type="screen4x3"/>
  <p:notesSz cx="6858000" cy="9144000"/>
  <p:custDataLst>
    <p:tags r:id="rId59"/>
  </p:custDataLst>
  <p:defaultTextStyle>
    <a:defPPr>
      <a:defRPr lang="zh-CN"/>
    </a:defPPr>
    <a:lvl1pPr algn="l" rtl="0" fontAlgn="base">
      <a:spcBef>
        <a:spcPct val="0"/>
      </a:spcBef>
      <a:spcAft>
        <a:spcPct val="0"/>
      </a:spcAft>
      <a:buFont typeface="Arial" panose="020B0604020202020204" pitchFamily="34" charset="0"/>
      <a:defRPr sz="2200" kern="1200">
        <a:solidFill>
          <a:schemeClr val="tx1"/>
        </a:solidFill>
        <a:latin typeface="Tahoma" panose="020B0604030504040204" pitchFamily="34" charset="0"/>
        <a:ea typeface="华文中宋" panose="02010600040101010101" pitchFamily="2" charset="-122"/>
        <a:cs typeface="+mn-cs"/>
      </a:defRPr>
    </a:lvl1pPr>
    <a:lvl2pPr marL="457200" algn="l" rtl="0" fontAlgn="base">
      <a:spcBef>
        <a:spcPct val="0"/>
      </a:spcBef>
      <a:spcAft>
        <a:spcPct val="0"/>
      </a:spcAft>
      <a:buFont typeface="Arial" panose="020B0604020202020204" pitchFamily="34" charset="0"/>
      <a:defRPr sz="2200" kern="1200">
        <a:solidFill>
          <a:schemeClr val="tx1"/>
        </a:solidFill>
        <a:latin typeface="Tahoma" panose="020B0604030504040204" pitchFamily="34" charset="0"/>
        <a:ea typeface="华文中宋" panose="02010600040101010101" pitchFamily="2" charset="-122"/>
        <a:cs typeface="+mn-cs"/>
      </a:defRPr>
    </a:lvl2pPr>
    <a:lvl3pPr marL="914400" algn="l" rtl="0" fontAlgn="base">
      <a:spcBef>
        <a:spcPct val="0"/>
      </a:spcBef>
      <a:spcAft>
        <a:spcPct val="0"/>
      </a:spcAft>
      <a:buFont typeface="Arial" panose="020B0604020202020204" pitchFamily="34" charset="0"/>
      <a:defRPr sz="2200" kern="1200">
        <a:solidFill>
          <a:schemeClr val="tx1"/>
        </a:solidFill>
        <a:latin typeface="Tahoma" panose="020B0604030504040204" pitchFamily="34" charset="0"/>
        <a:ea typeface="华文中宋" panose="02010600040101010101" pitchFamily="2" charset="-122"/>
        <a:cs typeface="+mn-cs"/>
      </a:defRPr>
    </a:lvl3pPr>
    <a:lvl4pPr marL="1371600" algn="l" rtl="0" fontAlgn="base">
      <a:spcBef>
        <a:spcPct val="0"/>
      </a:spcBef>
      <a:spcAft>
        <a:spcPct val="0"/>
      </a:spcAft>
      <a:buFont typeface="Arial" panose="020B0604020202020204" pitchFamily="34" charset="0"/>
      <a:defRPr sz="2200" kern="1200">
        <a:solidFill>
          <a:schemeClr val="tx1"/>
        </a:solidFill>
        <a:latin typeface="Tahoma" panose="020B0604030504040204" pitchFamily="34" charset="0"/>
        <a:ea typeface="华文中宋" panose="02010600040101010101" pitchFamily="2" charset="-122"/>
        <a:cs typeface="+mn-cs"/>
      </a:defRPr>
    </a:lvl4pPr>
    <a:lvl5pPr marL="1828800" algn="l" rtl="0" fontAlgn="base">
      <a:spcBef>
        <a:spcPct val="0"/>
      </a:spcBef>
      <a:spcAft>
        <a:spcPct val="0"/>
      </a:spcAft>
      <a:buFont typeface="Arial" panose="020B0604020202020204" pitchFamily="34" charset="0"/>
      <a:defRPr sz="2200" kern="1200">
        <a:solidFill>
          <a:schemeClr val="tx1"/>
        </a:solidFill>
        <a:latin typeface="Tahoma" panose="020B0604030504040204" pitchFamily="34" charset="0"/>
        <a:ea typeface="华文中宋" panose="02010600040101010101" pitchFamily="2" charset="-122"/>
        <a:cs typeface="+mn-cs"/>
      </a:defRPr>
    </a:lvl5pPr>
    <a:lvl6pPr marL="2286000" algn="l" defTabSz="914400" rtl="0" eaLnBrk="1" latinLnBrk="0" hangingPunct="1">
      <a:defRPr sz="2200" kern="1200">
        <a:solidFill>
          <a:schemeClr val="tx1"/>
        </a:solidFill>
        <a:latin typeface="Tahoma" panose="020B0604030504040204" pitchFamily="34" charset="0"/>
        <a:ea typeface="华文中宋" panose="02010600040101010101" pitchFamily="2" charset="-122"/>
        <a:cs typeface="+mn-cs"/>
      </a:defRPr>
    </a:lvl6pPr>
    <a:lvl7pPr marL="2743200" algn="l" defTabSz="914400" rtl="0" eaLnBrk="1" latinLnBrk="0" hangingPunct="1">
      <a:defRPr sz="2200" kern="1200">
        <a:solidFill>
          <a:schemeClr val="tx1"/>
        </a:solidFill>
        <a:latin typeface="Tahoma" panose="020B0604030504040204" pitchFamily="34" charset="0"/>
        <a:ea typeface="华文中宋" panose="02010600040101010101" pitchFamily="2" charset="-122"/>
        <a:cs typeface="+mn-cs"/>
      </a:defRPr>
    </a:lvl7pPr>
    <a:lvl8pPr marL="3200400" algn="l" defTabSz="914400" rtl="0" eaLnBrk="1" latinLnBrk="0" hangingPunct="1">
      <a:defRPr sz="2200" kern="1200">
        <a:solidFill>
          <a:schemeClr val="tx1"/>
        </a:solidFill>
        <a:latin typeface="Tahoma" panose="020B0604030504040204" pitchFamily="34" charset="0"/>
        <a:ea typeface="华文中宋" panose="02010600040101010101" pitchFamily="2" charset="-122"/>
        <a:cs typeface="+mn-cs"/>
      </a:defRPr>
    </a:lvl8pPr>
    <a:lvl9pPr marL="3657600" algn="l" defTabSz="914400" rtl="0" eaLnBrk="1" latinLnBrk="0" hangingPunct="1">
      <a:defRPr sz="2200" kern="1200">
        <a:solidFill>
          <a:schemeClr val="tx1"/>
        </a:solidFill>
        <a:latin typeface="Tahoma" panose="020B0604030504040204" pitchFamily="34"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2114" userDrawn="1">
          <p15:clr>
            <a:srgbClr val="A4A3A4"/>
          </p15:clr>
        </p15:guide>
        <p15:guide id="2" pos="27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003399"/>
    <a:srgbClr val="0000FF"/>
    <a:srgbClr val="FF3300"/>
    <a:srgbClr val="EB6623"/>
    <a:srgbClr val="000099"/>
    <a:srgbClr val="CC33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4" autoAdjust="0"/>
    <p:restoredTop sz="95615" autoAdjust="0"/>
  </p:normalViewPr>
  <p:slideViewPr>
    <p:cSldViewPr snapToGrid="0" showGuides="1">
      <p:cViewPr varScale="1">
        <p:scale>
          <a:sx n="62" d="100"/>
          <a:sy n="62" d="100"/>
        </p:scale>
        <p:origin x="1416" y="44"/>
      </p:cViewPr>
      <p:guideLst>
        <p:guide orient="horz" pos="2114"/>
        <p:guide pos="2735"/>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75" d="100"/>
        <a:sy n="75" d="100"/>
      </p:scale>
      <p:origin x="0" y="0"/>
    </p:cViewPr>
  </p:sorterViewPr>
  <p:gridSpacing cx="45000" cy="450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9" Type="http://schemas.openxmlformats.org/officeDocument/2006/relationships/tags" Target="tags/tag6.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2.vml.rels><?xml version="1.0" encoding="UTF-8" standalone="yes"?>
<Relationships xmlns="http://schemas.openxmlformats.org/package/2006/relationships"><Relationship Id="rId7" Type="http://schemas.openxmlformats.org/officeDocument/2006/relationships/image" Target="../media/image49.wmf"/><Relationship Id="rId6" Type="http://schemas.openxmlformats.org/officeDocument/2006/relationships/image" Target="../media/image48.wmf"/><Relationship Id="rId5" Type="http://schemas.openxmlformats.org/officeDocument/2006/relationships/image" Target="../media/image47.wmf"/><Relationship Id="rId4" Type="http://schemas.openxmlformats.org/officeDocument/2006/relationships/image" Target="../media/image46.wmf"/><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0.wmf"/><Relationship Id="rId1" Type="http://schemas.openxmlformats.org/officeDocument/2006/relationships/image" Target="../media/image4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79.wmf"/><Relationship Id="rId4" Type="http://schemas.openxmlformats.org/officeDocument/2006/relationships/image" Target="../media/image77.wmf"/><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kumimoji="1" sz="1200" b="1">
                <a:ea typeface="宋体" panose="02010600030101010101" pitchFamily="2" charset="-122"/>
              </a:defRPr>
            </a:lvl1pPr>
          </a:lstStyle>
          <a:p>
            <a:pPr>
              <a:defRPr/>
            </a:pPr>
            <a:endParaRPr lang="en-US" altLang="zh-CN"/>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kumimoji="1" sz="1200" b="1">
                <a:ea typeface="宋体" panose="02010600030101010101" pitchFamily="2" charset="-122"/>
              </a:defRPr>
            </a:lvl1pPr>
          </a:lstStyle>
          <a:p>
            <a:pPr>
              <a:defRPr/>
            </a:pPr>
            <a:endParaRPr lang="en-US" altLang="zh-CN"/>
          </a:p>
        </p:txBody>
      </p:sp>
      <p:sp>
        <p:nvSpPr>
          <p:cNvPr id="20484"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kumimoji="1" sz="1200" b="1">
                <a:ea typeface="宋体" panose="02010600030101010101" pitchFamily="2" charset="-122"/>
              </a:defRPr>
            </a:lvl1pPr>
          </a:lstStyle>
          <a:p>
            <a:pPr>
              <a:defRPr/>
            </a:pPr>
            <a:endParaRPr lang="en-US" altLang="zh-CN"/>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1">
                <a:ea typeface="宋体" panose="02010600030101010101" pitchFamily="2" charset="-122"/>
              </a:defRPr>
            </a:lvl1pPr>
          </a:lstStyle>
          <a:p>
            <a:fld id="{6738C6C9-D555-4801-9904-EFDDC5AA4395}"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38C6C9-D555-4801-9904-EFDDC5AA4395}"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4294967295"/>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4294967295"/>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ChangeArrowheads="1" noTextEdit="1"/>
          </p:cNvSpPr>
          <p:nvPr>
            <p:ph type="sldImg" idx="4294967295"/>
          </p:nvPr>
        </p:nvSpPr>
        <p:spPr/>
      </p:sp>
      <p:sp>
        <p:nvSpPr>
          <p:cNvPr id="21507"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fld id="{A6A9C38A-81F0-486A-88A6-24ADC0D5B0E4}" type="slidenum">
              <a:rPr lang="en-US" altLang="zh-CN" sz="1200"/>
            </a:fld>
            <a:endParaRPr lang="en-US" altLang="zh-CN" sz="1200"/>
          </a:p>
        </p:txBody>
      </p:sp>
      <p:sp>
        <p:nvSpPr>
          <p:cNvPr id="28675" name="Rectangle 2"/>
          <p:cNvSpPr>
            <a:spLocks noGrp="1" noChangeArrowheads="1"/>
          </p:cNvSpPr>
          <p:nvPr>
            <p:ph type="body" idx="1"/>
          </p:nvPr>
        </p:nvSpPr>
        <p:spPr bwMode="auto">
          <a:xfrm>
            <a:off x="914400" y="4344988"/>
            <a:ext cx="5029200" cy="38496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lstStyle/>
          <a:p>
            <a:pPr eaLnBrk="1" hangingPunct="1"/>
            <a:endParaRPr lang="zh-CN" altLang="zh-CN" smtClean="0"/>
          </a:p>
        </p:txBody>
      </p:sp>
      <p:sp>
        <p:nvSpPr>
          <p:cNvPr id="28676" name="Rectangle 3"/>
          <p:cNvSpPr>
            <a:spLocks noGrp="1" noRot="1" noChangeAspect="1" noChangeArrowheads="1" noTextEdit="1"/>
          </p:cNvSpPr>
          <p:nvPr>
            <p:ph type="sldImg"/>
          </p:nvPr>
        </p:nvSpPr>
        <p:spPr bwMode="auto">
          <a:xfrm>
            <a:off x="1289050" y="793750"/>
            <a:ext cx="4279900" cy="3209925"/>
          </a:xfrm>
          <a:noFill/>
          <a:ln cap="flat">
            <a:solidFill>
              <a:schemeClr val="tx1"/>
            </a:solidFill>
            <a:miter lim="800000"/>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38C6C9-D555-4801-9904-EFDDC5AA4395}"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38C6C9-D555-4801-9904-EFDDC5AA4395}"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38C6C9-D555-4801-9904-EFDDC5AA4395}"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idx="4294967295"/>
          </p:nvPr>
        </p:nvSpPr>
        <p:spPr/>
      </p:sp>
      <p:sp>
        <p:nvSpPr>
          <p:cNvPr id="22531"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加热法用于配合直径较大的场合；冷却法常用于配合直径较小的场合。</a:t>
            </a:r>
            <a:endParaRPr lang="zh-CN" altLang="en-US" dirty="0"/>
          </a:p>
        </p:txBody>
      </p:sp>
      <p:sp>
        <p:nvSpPr>
          <p:cNvPr id="4" name="灯片编号占位符 3"/>
          <p:cNvSpPr>
            <a:spLocks noGrp="1"/>
          </p:cNvSpPr>
          <p:nvPr>
            <p:ph type="sldNum" sz="quarter" idx="10"/>
          </p:nvPr>
        </p:nvSpPr>
        <p:spPr/>
        <p:txBody>
          <a:bodyPr/>
          <a:lstStyle/>
          <a:p>
            <a:fld id="{786888E0-117C-44FD-BF97-26633D306BB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12" y="848"/>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5" y="333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F61FDB71-6929-4B8E-8380-3FECB2F70DFF}"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12" y="848"/>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5" y="333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F61FDB71-6929-4B8E-8380-3FECB2F70DFF}"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12" y="848"/>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5" y="333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F61FDB71-6929-4B8E-8380-3FECB2F70DFF}" type="slidenum">
              <a:rPr lang="en-US" altLang="zh-CN"/>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12" y="848"/>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5" y="333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F61FDB71-6929-4B8E-8380-3FECB2F70DFF}" type="slidenum">
              <a:rPr lang="en-US" altLang="zh-CN"/>
            </a:fld>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slide" Target="slide37.xml"/><Relationship Id="rId3" Type="http://schemas.openxmlformats.org/officeDocument/2006/relationships/slide" Target="slide2.xml"/><Relationship Id="rId2" Type="http://schemas.openxmlformats.org/officeDocument/2006/relationships/slide" Target="slide30.xml"/><Relationship Id="rId1" Type="http://schemas.openxmlformats.org/officeDocument/2006/relationships/slide" Target="slide23.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media" Target="file:///E:\Document\&#25945;&#23398;\&#26412;&#31185;&#25945;&#23398;\&#26426;&#26800;&#35774;&#35745;\&#36817;&#26426;&#31867;\&#32993;&#20110;&#36827;\&#31532;&#20116;&#31456;%20&#36830;&#25509;\&#20984;&#32536;.avi" TargetMode="External"/><Relationship Id="rId4" Type="http://schemas.openxmlformats.org/officeDocument/2006/relationships/video" Target="file:///E:\Document\&#25945;&#23398;\&#26412;&#31185;&#25945;&#23398;\&#26426;&#26800;&#35774;&#35745;\&#36817;&#26426;&#31867;\&#32993;&#20110;&#36827;\&#31532;&#20116;&#31456;%20&#36830;&#25509;\&#20984;&#32536;.avi" TargetMode="Externa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3.jpeg"/><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2.xml"/><Relationship Id="rId7" Type="http://schemas.openxmlformats.org/officeDocument/2006/relationships/slide" Target="slide39.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 Target="slide1.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png"/><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 Target="slide1.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tags" Target="../tags/tag1.xml"/><Relationship Id="rId4" Type="http://schemas.openxmlformats.org/officeDocument/2006/relationships/image" Target="../media/image4.png"/><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 Target="slide1.xml"/></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24.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media/image4.png"/><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 Target="slide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slide" Target="slide4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slide" Target="slide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7.wmf"/></Relationships>
</file>

<file path=ppt/slides/_rels/slide13.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slide" Target="slide1.xml"/><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31.wmf"/><Relationship Id="rId4" Type="http://schemas.openxmlformats.org/officeDocument/2006/relationships/image" Target="../media/image30.wmf"/><Relationship Id="rId3" Type="http://schemas.openxmlformats.org/officeDocument/2006/relationships/image" Target="../media/image29.wmf"/><Relationship Id="rId2" Type="http://schemas.openxmlformats.org/officeDocument/2006/relationships/image" Target="../media/image28.wmf"/><Relationship Id="rId11" Type="http://schemas.openxmlformats.org/officeDocument/2006/relationships/notesSlide" Target="../notesSlides/notesSlide3.xml"/><Relationship Id="rId10" Type="http://schemas.openxmlformats.org/officeDocument/2006/relationships/slideLayout" Target="../slideLayouts/slideLayout7.xml"/><Relationship Id="rId1" Type="http://schemas.openxmlformats.org/officeDocument/2006/relationships/image" Target="../media/image27.wmf"/></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40.wmf"/><Relationship Id="rId3" Type="http://schemas.openxmlformats.org/officeDocument/2006/relationships/oleObject" Target="../embeddings/oleObject1.bin"/><Relationship Id="rId2" Type="http://schemas.openxmlformats.org/officeDocument/2006/relationships/image" Target="../media/image39.png"/><Relationship Id="rId1" Type="http://schemas.openxmlformats.org/officeDocument/2006/relationships/image" Target="../media/image3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9" Type="http://schemas.openxmlformats.org/officeDocument/2006/relationships/image" Target="../media/image43.jpeg"/><Relationship Id="rId8" Type="http://schemas.openxmlformats.org/officeDocument/2006/relationships/oleObject" Target="../embeddings/oleObject3.bin"/><Relationship Id="rId7" Type="http://schemas.openxmlformats.org/officeDocument/2006/relationships/image" Target="../media/image42.wmf"/><Relationship Id="rId6" Type="http://schemas.openxmlformats.org/officeDocument/2006/relationships/oleObject" Target="../embeddings/oleObject2.bin"/><Relationship Id="rId5" Type="http://schemas.openxmlformats.org/officeDocument/2006/relationships/image" Target="../media/image41.jpeg"/><Relationship Id="rId4" Type="http://schemas.openxmlformats.org/officeDocument/2006/relationships/image" Target="../media/image4.png"/><Relationship Id="rId3" Type="http://schemas.openxmlformats.org/officeDocument/2006/relationships/image" Target="../media/image17.png"/><Relationship Id="rId25" Type="http://schemas.openxmlformats.org/officeDocument/2006/relationships/notesSlide" Target="../notesSlides/notesSlide5.xml"/><Relationship Id="rId24" Type="http://schemas.openxmlformats.org/officeDocument/2006/relationships/vmlDrawing" Target="../drawings/vmlDrawing2.vml"/><Relationship Id="rId23" Type="http://schemas.openxmlformats.org/officeDocument/2006/relationships/slideLayout" Target="../slideLayouts/slideLayout2.xml"/><Relationship Id="rId22" Type="http://schemas.openxmlformats.org/officeDocument/2006/relationships/slide" Target="slide42.xml"/><Relationship Id="rId21" Type="http://schemas.openxmlformats.org/officeDocument/2006/relationships/image" Target="../media/image49.wmf"/><Relationship Id="rId20" Type="http://schemas.openxmlformats.org/officeDocument/2006/relationships/oleObject" Target="../embeddings/oleObject9.bin"/><Relationship Id="rId2" Type="http://schemas.openxmlformats.org/officeDocument/2006/relationships/image" Target="../media/image3.png"/><Relationship Id="rId19" Type="http://schemas.openxmlformats.org/officeDocument/2006/relationships/image" Target="../media/image48.wmf"/><Relationship Id="rId18" Type="http://schemas.openxmlformats.org/officeDocument/2006/relationships/oleObject" Target="../embeddings/oleObject8.bin"/><Relationship Id="rId17" Type="http://schemas.openxmlformats.org/officeDocument/2006/relationships/image" Target="../media/image47.wmf"/><Relationship Id="rId16" Type="http://schemas.openxmlformats.org/officeDocument/2006/relationships/oleObject" Target="../embeddings/oleObject7.bin"/><Relationship Id="rId15" Type="http://schemas.openxmlformats.org/officeDocument/2006/relationships/image" Target="../media/image46.wmf"/><Relationship Id="rId14" Type="http://schemas.openxmlformats.org/officeDocument/2006/relationships/oleObject" Target="../embeddings/oleObject6.bin"/><Relationship Id="rId13" Type="http://schemas.openxmlformats.org/officeDocument/2006/relationships/image" Target="../media/image45.wmf"/><Relationship Id="rId12" Type="http://schemas.openxmlformats.org/officeDocument/2006/relationships/oleObject" Target="../embeddings/oleObject5.bin"/><Relationship Id="rId11" Type="http://schemas.openxmlformats.org/officeDocument/2006/relationships/image" Target="../media/image44.wmf"/><Relationship Id="rId10" Type="http://schemas.openxmlformats.org/officeDocument/2006/relationships/oleObject" Target="../embeddings/oleObject4.bin"/><Relationship Id="rId1" Type="http://schemas.openxmlformats.org/officeDocument/2006/relationships/slide" Target="slide1.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2.wmf"/><Relationship Id="rId7" Type="http://schemas.openxmlformats.org/officeDocument/2006/relationships/oleObject" Target="../embeddings/oleObject13.bin"/><Relationship Id="rId6" Type="http://schemas.openxmlformats.org/officeDocument/2006/relationships/image" Target="../media/image51.png"/><Relationship Id="rId5" Type="http://schemas.openxmlformats.org/officeDocument/2006/relationships/image" Target="../media/image50.wmf"/><Relationship Id="rId4" Type="http://schemas.openxmlformats.org/officeDocument/2006/relationships/oleObject" Target="../embeddings/oleObject12.bin"/><Relationship Id="rId3" Type="http://schemas.openxmlformats.org/officeDocument/2006/relationships/oleObject" Target="../embeddings/oleObject11.bin"/><Relationship Id="rId2" Type="http://schemas.openxmlformats.org/officeDocument/2006/relationships/image" Target="../media/image42.wmf"/><Relationship Id="rId10" Type="http://schemas.openxmlformats.org/officeDocument/2006/relationships/vmlDrawing" Target="../drawings/vmlDrawing3.vml"/><Relationship Id="rId1" Type="http://schemas.openxmlformats.org/officeDocument/2006/relationships/oleObject" Target="../embeddings/oleObject10.bin"/></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4.jpeg"/><Relationship Id="rId7" Type="http://schemas.openxmlformats.org/officeDocument/2006/relationships/oleObject" Target="../embeddings/oleObject17.bin"/><Relationship Id="rId6" Type="http://schemas.openxmlformats.org/officeDocument/2006/relationships/audio" Target="../media/audio1.wav"/><Relationship Id="rId5" Type="http://schemas.openxmlformats.org/officeDocument/2006/relationships/hyperlink" Target="&#22810;&#38190;.jpg" TargetMode="External"/><Relationship Id="rId4" Type="http://schemas.openxmlformats.org/officeDocument/2006/relationships/oleObject" Target="../embeddings/oleObject16.bin"/><Relationship Id="rId3" Type="http://schemas.openxmlformats.org/officeDocument/2006/relationships/oleObject" Target="../embeddings/oleObject15.bin"/><Relationship Id="rId2" Type="http://schemas.openxmlformats.org/officeDocument/2006/relationships/image" Target="../media/image53.wmf"/><Relationship Id="rId11" Type="http://schemas.openxmlformats.org/officeDocument/2006/relationships/notesSlide" Target="../notesSlides/notesSlide6.xml"/><Relationship Id="rId10" Type="http://schemas.openxmlformats.org/officeDocument/2006/relationships/vmlDrawing" Target="../drawings/vmlDrawing4.vml"/><Relationship Id="rId1" Type="http://schemas.openxmlformats.org/officeDocument/2006/relationships/oleObject" Target="../embeddings/oleObject14.bin"/></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1.png"/><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3.png"/><Relationship Id="rId1" Type="http://schemas.openxmlformats.org/officeDocument/2006/relationships/image" Target="../media/image62.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66.png"/><Relationship Id="rId2" Type="http://schemas.openxmlformats.org/officeDocument/2006/relationships/image" Target="../media/image65.jpeg"/><Relationship Id="rId1" Type="http://schemas.openxmlformats.org/officeDocument/2006/relationships/image" Target="../media/image6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7.jpeg"/><Relationship Id="rId1" Type="http://schemas.openxmlformats.org/officeDocument/2006/relationships/image" Target="../media/image68.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70.jpeg"/><Relationship Id="rId1" Type="http://schemas.openxmlformats.org/officeDocument/2006/relationships/image" Target="../media/image69.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1.jpeg"/><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73.wmf"/><Relationship Id="rId3" Type="http://schemas.openxmlformats.org/officeDocument/2006/relationships/oleObject" Target="../embeddings/oleObject18.bin"/><Relationship Id="rId2" Type="http://schemas.openxmlformats.org/officeDocument/2006/relationships/image" Target="../media/image72.png"/><Relationship Id="rId1" Type="http://schemas.openxmlformats.org/officeDocument/2006/relationships/image" Target="../media/image70.jpeg"/></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75.wmf"/><Relationship Id="rId7" Type="http://schemas.openxmlformats.org/officeDocument/2006/relationships/oleObject" Target="../embeddings/oleObject20.bin"/><Relationship Id="rId6" Type="http://schemas.openxmlformats.org/officeDocument/2006/relationships/image" Target="../media/image74.wmf"/><Relationship Id="rId5" Type="http://schemas.openxmlformats.org/officeDocument/2006/relationships/oleObject" Target="../embeddings/oleObject19.bin"/><Relationship Id="rId4" Type="http://schemas.openxmlformats.org/officeDocument/2006/relationships/slide" Target="slide43.xml"/><Relationship Id="rId3" Type="http://schemas.openxmlformats.org/officeDocument/2006/relationships/image" Target="../media/image17.png"/><Relationship Id="rId2" Type="http://schemas.openxmlformats.org/officeDocument/2006/relationships/image" Target="../media/image3.png"/><Relationship Id="rId17" Type="http://schemas.openxmlformats.org/officeDocument/2006/relationships/vmlDrawing" Target="../drawings/vmlDrawing6.vml"/><Relationship Id="rId16" Type="http://schemas.openxmlformats.org/officeDocument/2006/relationships/slideLayout" Target="../slideLayouts/slideLayout2.xml"/><Relationship Id="rId15" Type="http://schemas.openxmlformats.org/officeDocument/2006/relationships/image" Target="../media/image79.wmf"/><Relationship Id="rId14" Type="http://schemas.openxmlformats.org/officeDocument/2006/relationships/oleObject" Target="../embeddings/oleObject23.bin"/><Relationship Id="rId13" Type="http://schemas.openxmlformats.org/officeDocument/2006/relationships/image" Target="../media/image78.png"/><Relationship Id="rId12" Type="http://schemas.openxmlformats.org/officeDocument/2006/relationships/image" Target="../media/image77.wmf"/><Relationship Id="rId11" Type="http://schemas.openxmlformats.org/officeDocument/2006/relationships/oleObject" Target="../embeddings/oleObject22.bin"/><Relationship Id="rId10" Type="http://schemas.openxmlformats.org/officeDocument/2006/relationships/image" Target="../media/image76.wmf"/><Relationship Id="rId1" Type="http://schemas.openxmlformats.org/officeDocument/2006/relationships/slide" Target="slide1.xml"/></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80.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 Target="slide1.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image" Target="../media/image81.png"/><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 Target="slide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 Id="rId3" Type="http://schemas.openxmlformats.org/officeDocument/2006/relationships/image" Target="../media/image82.png"/><Relationship Id="rId2" Type="http://schemas.openxmlformats.org/officeDocument/2006/relationships/image" Target="../media/image3.png"/><Relationship Id="rId1" Type="http://schemas.openxmlformats.org/officeDocument/2006/relationships/slide" Target="slide1.xml"/></Relationships>
</file>

<file path=ppt/slides/_rels/slide38.xml.rels><?xml version="1.0" encoding="UTF-8" standalone="yes"?>
<Relationships xmlns="http://schemas.openxmlformats.org/package/2006/relationships"><Relationship Id="rId9" Type="http://schemas.openxmlformats.org/officeDocument/2006/relationships/image" Target="../media/image91.png"/><Relationship Id="rId8" Type="http://schemas.openxmlformats.org/officeDocument/2006/relationships/image" Target="../media/image90.png"/><Relationship Id="rId7" Type="http://schemas.openxmlformats.org/officeDocument/2006/relationships/image" Target="../media/image89.png"/><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3" Type="http://schemas.openxmlformats.org/officeDocument/2006/relationships/image" Target="../media/image85.png"/><Relationship Id="rId2" Type="http://schemas.openxmlformats.org/officeDocument/2006/relationships/image" Target="../media/image3.png"/><Relationship Id="rId12" Type="http://schemas.openxmlformats.org/officeDocument/2006/relationships/slideLayout" Target="../slideLayouts/slideLayout2.xml"/><Relationship Id="rId11" Type="http://schemas.openxmlformats.org/officeDocument/2006/relationships/image" Target="../media/image93.png"/><Relationship Id="rId10" Type="http://schemas.openxmlformats.org/officeDocument/2006/relationships/image" Target="../media/image92.png"/><Relationship Id="rId1" Type="http://schemas.openxmlformats.org/officeDocument/2006/relationships/slide" Target="slide1.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4.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 Target="slide1.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5.png"/><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17.png"/><Relationship Id="rId3" Type="http://schemas.openxmlformats.org/officeDocument/2006/relationships/image" Target="../media/image3.png"/><Relationship Id="rId2" Type="http://schemas.openxmlformats.org/officeDocument/2006/relationships/slide" Target="slide1.xml"/><Relationship Id="rId1" Type="http://schemas.openxmlformats.org/officeDocument/2006/relationships/image" Target="../media/image96.png"/></Relationships>
</file>

<file path=ppt/slides/_rels/slide42.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oleObject" Target="../embeddings/oleObject25.bin"/><Relationship Id="rId4" Type="http://schemas.openxmlformats.org/officeDocument/2006/relationships/image" Target="../media/image42.wmf"/><Relationship Id="rId3" Type="http://schemas.openxmlformats.org/officeDocument/2006/relationships/oleObject" Target="../embeddings/oleObject24.bin"/><Relationship Id="rId2" Type="http://schemas.openxmlformats.org/officeDocument/2006/relationships/image" Target="../media/image3.png"/><Relationship Id="rId1" Type="http://schemas.openxmlformats.org/officeDocument/2006/relationships/slide" Target="slide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2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image" Target="../media/image97.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8.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9.jpeg"/></Relationships>
</file>

<file path=ppt/slides/_rels/slide4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07.png"/><Relationship Id="rId7" Type="http://schemas.openxmlformats.org/officeDocument/2006/relationships/image" Target="../media/image106.png"/><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image" Target="../media/image100.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 Target="slide17.xml"/><Relationship Id="rId1" Type="http://schemas.openxmlformats.org/officeDocument/2006/relationships/image" Target="../media/image10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2">
            <a:hlinkClick r:id="rId1" action="ppaction://hlinksldjump"/>
          </p:cNvPr>
          <p:cNvSpPr>
            <a:spLocks noChangeArrowheads="1"/>
          </p:cNvSpPr>
          <p:nvPr/>
        </p:nvSpPr>
        <p:spPr bwMode="auto">
          <a:xfrm>
            <a:off x="2915920" y="2708910"/>
            <a:ext cx="3738880"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50000"/>
              </a:lnSpc>
              <a:spcBef>
                <a:spcPct val="20000"/>
              </a:spcBef>
              <a:buClr>
                <a:schemeClr val="hlink"/>
              </a:buClr>
              <a:buSzPct val="110000"/>
              <a:buFont typeface="Wingdings" panose="05000000000000000000" pitchFamily="2" charset="2"/>
              <a:buNone/>
            </a:pPr>
            <a:r>
              <a:rPr lang="en-US" altLang="zh-CN" sz="2800" dirty="0" smtClean="0">
                <a:solidFill>
                  <a:srgbClr val="000099"/>
                </a:solidFill>
                <a:latin typeface="黑体" panose="02010609060101010101" pitchFamily="49" charset="-122"/>
                <a:ea typeface="黑体" panose="02010609060101010101" pitchFamily="49" charset="-122"/>
              </a:rPr>
              <a:t>3.5-2 </a:t>
            </a:r>
            <a:r>
              <a:rPr lang="zh-CN" altLang="en-US" sz="2800" u="sng" dirty="0">
                <a:solidFill>
                  <a:srgbClr val="000099"/>
                </a:solidFill>
                <a:latin typeface="黑体" panose="02010609060101010101" pitchFamily="49" charset="-122"/>
                <a:ea typeface="黑体" panose="02010609060101010101" pitchFamily="49" charset="-122"/>
                <a:hlinkClick r:id="rId1" tooltip="材料的疲劳特性" action="ppaction://hlinksldjump"/>
              </a:rPr>
              <a:t>花键连接</a:t>
            </a:r>
            <a:endParaRPr lang="zh-CN" altLang="en-US" sz="2800" u="sng" dirty="0">
              <a:solidFill>
                <a:srgbClr val="000099"/>
              </a:solidFill>
              <a:latin typeface="黑体" panose="02010609060101010101" pitchFamily="49" charset="-122"/>
              <a:ea typeface="黑体" panose="02010609060101010101" pitchFamily="49" charset="-122"/>
            </a:endParaRPr>
          </a:p>
        </p:txBody>
      </p:sp>
      <p:sp>
        <p:nvSpPr>
          <p:cNvPr id="6147" name="Rectangle 23"/>
          <p:cNvSpPr>
            <a:spLocks noChangeArrowheads="1"/>
          </p:cNvSpPr>
          <p:nvPr/>
        </p:nvSpPr>
        <p:spPr bwMode="auto">
          <a:xfrm>
            <a:off x="2915816" y="3573016"/>
            <a:ext cx="2672080"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50000"/>
              </a:lnSpc>
              <a:spcBef>
                <a:spcPct val="20000"/>
              </a:spcBef>
              <a:buClr>
                <a:schemeClr val="hlink"/>
              </a:buClr>
              <a:buSzPct val="110000"/>
              <a:buFont typeface="Wingdings" panose="05000000000000000000" pitchFamily="2" charset="2"/>
              <a:buNone/>
            </a:pPr>
            <a:r>
              <a:rPr lang="en-US" altLang="zh-CN" sz="2800" dirty="0" smtClean="0">
                <a:solidFill>
                  <a:srgbClr val="000099"/>
                </a:solidFill>
                <a:latin typeface="黑体" panose="02010609060101010101" pitchFamily="49" charset="-122"/>
                <a:ea typeface="黑体" panose="02010609060101010101" pitchFamily="49" charset="-122"/>
              </a:rPr>
              <a:t>3.5-3 </a:t>
            </a:r>
            <a:r>
              <a:rPr lang="zh-CN" altLang="en-US" sz="2800" dirty="0">
                <a:solidFill>
                  <a:srgbClr val="000099"/>
                </a:solidFill>
                <a:latin typeface="黑体" panose="02010609060101010101" pitchFamily="49" charset="-122"/>
                <a:ea typeface="黑体" panose="02010609060101010101" pitchFamily="49" charset="-122"/>
                <a:hlinkClick r:id="rId2" tooltip="机械零件的疲劳强度计算" action="ppaction://hlinksldjump"/>
              </a:rPr>
              <a:t>无键连接</a:t>
            </a:r>
            <a:endParaRPr lang="zh-CN" altLang="en-US" sz="2800" dirty="0">
              <a:solidFill>
                <a:srgbClr val="000099"/>
              </a:solidFill>
              <a:latin typeface="黑体" panose="02010609060101010101" pitchFamily="49" charset="-122"/>
              <a:ea typeface="黑体" panose="02010609060101010101" pitchFamily="49" charset="-122"/>
            </a:endParaRPr>
          </a:p>
        </p:txBody>
      </p:sp>
      <p:sp>
        <p:nvSpPr>
          <p:cNvPr id="6148" name="Rectangle 24"/>
          <p:cNvSpPr>
            <a:spLocks noChangeArrowheads="1"/>
          </p:cNvSpPr>
          <p:nvPr/>
        </p:nvSpPr>
        <p:spPr bwMode="auto">
          <a:xfrm>
            <a:off x="2915816" y="1844824"/>
            <a:ext cx="2316480"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50000"/>
              </a:lnSpc>
              <a:spcBef>
                <a:spcPct val="20000"/>
              </a:spcBef>
              <a:buClr>
                <a:schemeClr val="hlink"/>
              </a:buClr>
              <a:buSzPct val="110000"/>
              <a:buFont typeface="Wingdings" panose="05000000000000000000" pitchFamily="2" charset="2"/>
              <a:buNone/>
            </a:pPr>
            <a:r>
              <a:rPr lang="en-US" altLang="zh-CN" sz="2800" dirty="0" smtClean="0">
                <a:solidFill>
                  <a:srgbClr val="000099"/>
                </a:solidFill>
                <a:latin typeface="黑体" panose="02010609060101010101" pitchFamily="49" charset="-122"/>
                <a:ea typeface="黑体" panose="02010609060101010101" pitchFamily="49" charset="-122"/>
              </a:rPr>
              <a:t>3.5-1 </a:t>
            </a:r>
            <a:r>
              <a:rPr lang="zh-CN" altLang="en-US" sz="2800" dirty="0">
                <a:solidFill>
                  <a:srgbClr val="000099"/>
                </a:solidFill>
                <a:latin typeface="黑体" panose="02010609060101010101" pitchFamily="49" charset="-122"/>
                <a:ea typeface="黑体" panose="02010609060101010101" pitchFamily="49" charset="-122"/>
                <a:hlinkClick r:id="rId3" tooltip="机械零件的抗断裂强度" action="ppaction://hlinksldjump"/>
              </a:rPr>
              <a:t>键连接</a:t>
            </a:r>
            <a:endParaRPr lang="zh-CN" altLang="en-US" sz="2800" dirty="0">
              <a:solidFill>
                <a:srgbClr val="000099"/>
              </a:solidFill>
              <a:latin typeface="黑体" panose="02010609060101010101" pitchFamily="49" charset="-122"/>
              <a:ea typeface="黑体" panose="02010609060101010101" pitchFamily="49" charset="-122"/>
            </a:endParaRPr>
          </a:p>
        </p:txBody>
      </p:sp>
      <p:sp>
        <p:nvSpPr>
          <p:cNvPr id="6149" name="Rectangle 26"/>
          <p:cNvSpPr>
            <a:spLocks noGrp="1" noChangeArrowheads="1"/>
          </p:cNvSpPr>
          <p:nvPr>
            <p:ph type="title" idx="4294967295"/>
          </p:nvPr>
        </p:nvSpPr>
        <p:spPr bwMode="auto">
          <a:xfrm>
            <a:off x="2838450" y="372745"/>
            <a:ext cx="5447030" cy="53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3200" dirty="0" smtClean="0">
                <a:solidFill>
                  <a:srgbClr val="A50021"/>
                </a:solidFill>
                <a:latin typeface="黑体" panose="02010609060101010101" pitchFamily="49" charset="-122"/>
                <a:ea typeface="黑体" panose="02010609060101010101" pitchFamily="49" charset="-122"/>
              </a:rPr>
              <a:t>第</a:t>
            </a:r>
            <a:r>
              <a:rPr lang="en-US" altLang="zh-CN" sz="3200" dirty="0" smtClean="0">
                <a:solidFill>
                  <a:srgbClr val="A50021"/>
                </a:solidFill>
                <a:latin typeface="黑体" panose="02010609060101010101" pitchFamily="49" charset="-122"/>
                <a:ea typeface="黑体" panose="02010609060101010101" pitchFamily="49" charset="-122"/>
              </a:rPr>
              <a:t>3.5</a:t>
            </a:r>
            <a:r>
              <a:rPr lang="zh-CN" altLang="en-US" sz="3200" dirty="0" smtClean="0">
                <a:solidFill>
                  <a:srgbClr val="A50021"/>
                </a:solidFill>
                <a:latin typeface="黑体" panose="02010609060101010101" pitchFamily="49" charset="-122"/>
                <a:ea typeface="黑体" panose="02010609060101010101" pitchFamily="49" charset="-122"/>
              </a:rPr>
              <a:t>章    轴毂连接</a:t>
            </a:r>
            <a:endParaRPr lang="zh-CN" altLang="en-US" sz="3200" dirty="0" smtClean="0">
              <a:solidFill>
                <a:srgbClr val="A50021"/>
              </a:solidFill>
              <a:latin typeface="黑体" panose="02010609060101010101" pitchFamily="49" charset="-122"/>
              <a:ea typeface="黑体" panose="02010609060101010101" pitchFamily="49" charset="-122"/>
            </a:endParaRPr>
          </a:p>
        </p:txBody>
      </p:sp>
      <p:sp>
        <p:nvSpPr>
          <p:cNvPr id="6150" name="Rectangle 25"/>
          <p:cNvSpPr>
            <a:spLocks noChangeArrowheads="1"/>
          </p:cNvSpPr>
          <p:nvPr/>
        </p:nvSpPr>
        <p:spPr bwMode="auto">
          <a:xfrm>
            <a:off x="2915816" y="4365104"/>
            <a:ext cx="2316480"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50000"/>
              </a:lnSpc>
              <a:spcBef>
                <a:spcPct val="20000"/>
              </a:spcBef>
              <a:buClr>
                <a:schemeClr val="hlink"/>
              </a:buClr>
              <a:buSzPct val="110000"/>
              <a:buFont typeface="Wingdings" panose="05000000000000000000" pitchFamily="2" charset="2"/>
              <a:buNone/>
            </a:pPr>
            <a:r>
              <a:rPr lang="en-US" altLang="zh-CN" sz="2800" dirty="0" smtClean="0">
                <a:solidFill>
                  <a:srgbClr val="000099"/>
                </a:solidFill>
                <a:latin typeface="黑体" panose="02010609060101010101" pitchFamily="49" charset="-122"/>
                <a:ea typeface="黑体" panose="02010609060101010101" pitchFamily="49" charset="-122"/>
              </a:rPr>
              <a:t>3.5-4 </a:t>
            </a:r>
            <a:r>
              <a:rPr lang="zh-CN" altLang="en-US" sz="2800" dirty="0">
                <a:solidFill>
                  <a:srgbClr val="000099"/>
                </a:solidFill>
                <a:latin typeface="黑体" panose="02010609060101010101" pitchFamily="49" charset="-122"/>
                <a:ea typeface="黑体" panose="02010609060101010101" pitchFamily="49" charset="-122"/>
                <a:hlinkClick r:id="rId4" tooltip="机械零件的接触疲劳强度" action="ppaction://hlinksldjump"/>
              </a:rPr>
              <a:t>销连接</a:t>
            </a:r>
            <a:endParaRPr lang="zh-CN" altLang="en-US" sz="2800" dirty="0">
              <a:solidFill>
                <a:srgbClr val="000099"/>
              </a:solidFill>
              <a:latin typeface="黑体" panose="02010609060101010101" pitchFamily="49" charset="-122"/>
              <a:ea typeface="黑体" panose="02010609060101010101" pitchFamily="49" charset="-122"/>
            </a:endParaRPr>
          </a:p>
        </p:txBody>
      </p:sp>
      <p:sp>
        <p:nvSpPr>
          <p:cNvPr id="6154" name="直接连接符 6"/>
          <p:cNvSpPr>
            <a:spLocks noChangeShapeType="1"/>
          </p:cNvSpPr>
          <p:nvPr/>
        </p:nvSpPr>
        <p:spPr bwMode="auto">
          <a:xfrm>
            <a:off x="0" y="980728"/>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1" name="组合 1"/>
          <p:cNvGrpSpPr/>
          <p:nvPr/>
        </p:nvGrpSpPr>
        <p:grpSpPr>
          <a:xfrm>
            <a:off x="6228184" y="5949280"/>
            <a:ext cx="2630487" cy="827087"/>
            <a:chOff x="10088" y="9497"/>
            <a:chExt cx="4141" cy="1302"/>
          </a:xfrm>
        </p:grpSpPr>
        <p:sp>
          <p:nvSpPr>
            <p:cNvPr id="12"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3" name="图片 1073742872" descr="44303071dc0a1f9688d599dbc999570副本"/>
            <p:cNvPicPr>
              <a:picLocks noChangeAspect="1"/>
            </p:cNvPicPr>
            <p:nvPr/>
          </p:nvPicPr>
          <p:blipFill>
            <a:blip r:embed="rId5"/>
            <a:stretch>
              <a:fillRect/>
            </a:stretch>
          </p:blipFill>
          <p:spPr>
            <a:xfrm>
              <a:off x="10088" y="9497"/>
              <a:ext cx="1435" cy="1303"/>
            </a:xfrm>
            <a:prstGeom prst="rect">
              <a:avLst/>
            </a:prstGeom>
            <a:noFill/>
            <a:ln w="9525">
              <a:noFill/>
            </a:ln>
          </p:spPr>
        </p:pic>
      </p:grpSp>
    </p:spTree>
  </p:cSld>
  <p:clrMapOvr>
    <a:masterClrMapping/>
  </p:clrMapOvr>
  <mc:AlternateContent xmlns:mc="http://schemas.openxmlformats.org/markup-compatibility/2006">
    <mc:Choice xmlns:p14="http://schemas.microsoft.com/office/powerpoint/2010/main" Requires="p14">
      <p:transition spd="slow" p14:dur="999" advClick="0"/>
    </mc:Choice>
    <mc:Fallback>
      <p:transition spd="slow" advClick="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8"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75663" y="650875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30"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39200" y="650875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49" name="Rectangle 33"/>
          <p:cNvSpPr>
            <a:spLocks noChangeArrowheads="1"/>
          </p:cNvSpPr>
          <p:nvPr/>
        </p:nvSpPr>
        <p:spPr bwMode="auto">
          <a:xfrm>
            <a:off x="323528" y="980728"/>
            <a:ext cx="6029513"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C00000"/>
                </a:solidFill>
                <a:latin typeface="黑体" panose="02010609060101010101" pitchFamily="49" charset="-122"/>
                <a:ea typeface="黑体" panose="02010609060101010101" pitchFamily="49" charset="-122"/>
              </a:rPr>
              <a:t>一、键连接的功能、分类、结构形式及应用</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14338" name="Rectangle 2"/>
          <p:cNvSpPr>
            <a:spLocks noGrp="1" noChangeArrowheads="1"/>
          </p:cNvSpPr>
          <p:nvPr>
            <p:ph type="title"/>
          </p:nvPr>
        </p:nvSpPr>
        <p:spPr bwMode="auto">
          <a:xfrm>
            <a:off x="6082348" y="133668"/>
            <a:ext cx="2986087"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rPr>
              <a:t>3.5-1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5126" name="文本框 99"/>
          <p:cNvSpPr txBox="1">
            <a:spLocks noChangeArrowheads="1"/>
          </p:cNvSpPr>
          <p:nvPr/>
        </p:nvSpPr>
        <p:spPr bwMode="auto">
          <a:xfrm>
            <a:off x="168717" y="1446937"/>
            <a:ext cx="8374062"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048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50000"/>
              </a:lnSpc>
            </a:pPr>
            <a:r>
              <a:rPr lang="zh-CN" altLang="en-US" sz="2400" dirty="0" smtClean="0">
                <a:solidFill>
                  <a:srgbClr val="000099"/>
                </a:solidFill>
                <a:latin typeface="宋体" panose="02010600030101010101" pitchFamily="2" charset="-122"/>
              </a:rPr>
              <a:t>作用：实现</a:t>
            </a:r>
            <a:r>
              <a:rPr lang="zh-CN" altLang="en-US" sz="2400" dirty="0">
                <a:solidFill>
                  <a:srgbClr val="000099"/>
                </a:solidFill>
                <a:latin typeface="宋体" panose="02010600030101010101" pitchFamily="2" charset="-122"/>
              </a:rPr>
              <a:t>轴与轴上零件之间的</a:t>
            </a:r>
            <a:r>
              <a:rPr lang="zh-CN" altLang="en-US" sz="2400" dirty="0">
                <a:solidFill>
                  <a:srgbClr val="FF0000"/>
                </a:solidFill>
                <a:latin typeface="宋体" panose="02010600030101010101" pitchFamily="2" charset="-122"/>
              </a:rPr>
              <a:t>周向固定</a:t>
            </a:r>
            <a:r>
              <a:rPr lang="zh-CN" altLang="en-US" sz="2400" dirty="0" smtClean="0">
                <a:solidFill>
                  <a:srgbClr val="000099"/>
                </a:solidFill>
                <a:latin typeface="宋体" panose="02010600030101010101" pitchFamily="2" charset="-122"/>
              </a:rPr>
              <a:t>，并传递转矩。</a:t>
            </a:r>
            <a:endParaRPr lang="en-US" altLang="zh-CN" sz="2400" dirty="0" smtClean="0">
              <a:solidFill>
                <a:srgbClr val="000099"/>
              </a:solidFill>
              <a:latin typeface="宋体" panose="02010600030101010101" pitchFamily="2" charset="-122"/>
            </a:endParaRPr>
          </a:p>
        </p:txBody>
      </p:sp>
      <p:sp>
        <p:nvSpPr>
          <p:cNvPr id="7184"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17" name="凸缘.avi">
            <a:hlinkClick r:id="" action="ppaction://media"/>
          </p:cNvPr>
          <p:cNvPicPr>
            <a:picLocks noRot="1" noChangeAspect="1" noChangeArrowheads="1"/>
          </p:cNvPicPr>
          <p:nvPr>
            <a:videoFile r:link="rId4"/>
            <p:extLst>
              <p:ext uri="{DAA4B4D4-6D71-4841-9C94-3DE7FCFB9230}">
                <p14:media xmlns:p14="http://schemas.microsoft.com/office/powerpoint/2010/main" r:link="rId5"/>
              </p:ext>
            </p:extLst>
          </p:nvPr>
        </p:nvPicPr>
        <p:blipFill>
          <a:blip r:embed="rId6">
            <a:extLst>
              <a:ext uri="{28A0092B-C50C-407E-A947-70E740481C1C}">
                <a14:useLocalDpi xmlns:a14="http://schemas.microsoft.com/office/drawing/2010/main" val="0"/>
              </a:ext>
            </a:extLst>
          </a:blip>
          <a:srcRect/>
          <a:stretch>
            <a:fillRect/>
          </a:stretch>
        </p:blipFill>
        <p:spPr bwMode="auto">
          <a:xfrm>
            <a:off x="5550902" y="2446670"/>
            <a:ext cx="3335338"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274633" y="2536845"/>
            <a:ext cx="2808312" cy="3138170"/>
          </a:xfrm>
          <a:prstGeom prst="rect">
            <a:avLst/>
          </a:prstGeom>
        </p:spPr>
        <p:txBody>
          <a:bodyPr wrap="square">
            <a:spAutoFit/>
          </a:bodyPr>
          <a:lstStyle/>
          <a:p>
            <a:pPr eaLnBrk="1" hangingPunct="1">
              <a:lnSpc>
                <a:spcPct val="150000"/>
              </a:lnSpc>
            </a:pPr>
            <a:r>
              <a:rPr lang="zh-CN" altLang="en-US" dirty="0">
                <a:solidFill>
                  <a:srgbClr val="000099"/>
                </a:solidFill>
                <a:latin typeface="宋体" panose="02010600030101010101" pitchFamily="2" charset="-122"/>
                <a:sym typeface="宋体" panose="02010600030101010101" pitchFamily="2" charset="-122"/>
              </a:rPr>
              <a:t>键连接的</a:t>
            </a:r>
            <a:r>
              <a:rPr lang="zh-CN" altLang="en-US" dirty="0">
                <a:solidFill>
                  <a:srgbClr val="000099"/>
                </a:solidFill>
                <a:latin typeface="宋体" panose="02010600030101010101" pitchFamily="2" charset="-122"/>
                <a:sym typeface="宋体" panose="02010600030101010101" pitchFamily="2" charset="-122"/>
                <a:hlinkClick r:id="" action="ppaction://hlinkshowjump?jump=nextslide"/>
              </a:rPr>
              <a:t>主要类型</a:t>
            </a:r>
            <a:r>
              <a:rPr lang="zh-CN" altLang="en-US" dirty="0">
                <a:solidFill>
                  <a:srgbClr val="000099"/>
                </a:solidFill>
                <a:latin typeface="宋体" panose="02010600030101010101" pitchFamily="2" charset="-122"/>
                <a:sym typeface="宋体" panose="02010600030101010101" pitchFamily="2" charset="-122"/>
              </a:rPr>
              <a:t>有：</a:t>
            </a:r>
            <a:endParaRPr lang="en-US" altLang="zh-CN" dirty="0">
              <a:solidFill>
                <a:srgbClr val="000099"/>
              </a:solidFill>
              <a:latin typeface="宋体" panose="02010600030101010101" pitchFamily="2" charset="-122"/>
              <a:sym typeface="宋体" panose="02010600030101010101" pitchFamily="2" charset="-122"/>
            </a:endParaRPr>
          </a:p>
          <a:p>
            <a:pPr marL="342900" indent="-342900" eaLnBrk="1" hangingPunct="1">
              <a:lnSpc>
                <a:spcPct val="150000"/>
              </a:lnSpc>
              <a:buClr>
                <a:srgbClr val="CC3300"/>
              </a:buClr>
              <a:buFont typeface="Wingdings" panose="05000000000000000000" pitchFamily="2" charset="2"/>
              <a:buChar char="ü"/>
            </a:pPr>
            <a:r>
              <a:rPr lang="zh-CN" altLang="en-US" dirty="0">
                <a:solidFill>
                  <a:srgbClr val="000099"/>
                </a:solidFill>
              </a:rPr>
              <a:t>平键连接</a:t>
            </a:r>
            <a:endParaRPr lang="en-US" altLang="zh-CN" dirty="0">
              <a:solidFill>
                <a:srgbClr val="000099"/>
              </a:solidFill>
              <a:latin typeface="宋体" panose="02010600030101010101" pitchFamily="2" charset="-122"/>
              <a:sym typeface="宋体" panose="02010600030101010101" pitchFamily="2" charset="-122"/>
            </a:endParaRPr>
          </a:p>
          <a:p>
            <a:pPr marL="342900" indent="-342900" eaLnBrk="1" hangingPunct="1">
              <a:lnSpc>
                <a:spcPct val="150000"/>
              </a:lnSpc>
              <a:buClr>
                <a:srgbClr val="CC3300"/>
              </a:buClr>
              <a:buFont typeface="Wingdings" panose="05000000000000000000" pitchFamily="2" charset="2"/>
              <a:buChar char="ü"/>
            </a:pPr>
            <a:r>
              <a:rPr lang="zh-CN" altLang="en-US" dirty="0">
                <a:solidFill>
                  <a:srgbClr val="000099"/>
                </a:solidFill>
                <a:latin typeface="宋体" panose="02010600030101010101" pitchFamily="2" charset="-122"/>
                <a:sym typeface="宋体" panose="02010600030101010101" pitchFamily="2" charset="-122"/>
              </a:rPr>
              <a:t>半圆键连接</a:t>
            </a:r>
            <a:endParaRPr lang="en-US" altLang="zh-CN" dirty="0">
              <a:solidFill>
                <a:srgbClr val="000099"/>
              </a:solidFill>
              <a:latin typeface="宋体" panose="02010600030101010101" pitchFamily="2" charset="-122"/>
              <a:sym typeface="宋体" panose="02010600030101010101" pitchFamily="2" charset="-122"/>
            </a:endParaRPr>
          </a:p>
          <a:p>
            <a:pPr marL="342900" indent="-342900" eaLnBrk="1" hangingPunct="1">
              <a:lnSpc>
                <a:spcPct val="150000"/>
              </a:lnSpc>
              <a:buClr>
                <a:srgbClr val="CC3300"/>
              </a:buClr>
              <a:buFont typeface="Wingdings" panose="05000000000000000000" pitchFamily="2" charset="2"/>
              <a:buChar char="ü"/>
            </a:pPr>
            <a:r>
              <a:rPr lang="zh-CN" altLang="en-US" dirty="0">
                <a:solidFill>
                  <a:srgbClr val="000099"/>
                </a:solidFill>
                <a:latin typeface="宋体" panose="02010600030101010101" pitchFamily="2" charset="-122"/>
                <a:sym typeface="宋体" panose="02010600030101010101" pitchFamily="2" charset="-122"/>
              </a:rPr>
              <a:t>楔键连接</a:t>
            </a:r>
            <a:endParaRPr lang="en-US" altLang="zh-CN" dirty="0">
              <a:solidFill>
                <a:srgbClr val="000099"/>
              </a:solidFill>
              <a:latin typeface="宋体" panose="02010600030101010101" pitchFamily="2" charset="-122"/>
              <a:sym typeface="宋体" panose="02010600030101010101" pitchFamily="2" charset="-122"/>
            </a:endParaRPr>
          </a:p>
          <a:p>
            <a:pPr marL="342900" indent="-342900" eaLnBrk="1" hangingPunct="1">
              <a:lnSpc>
                <a:spcPct val="150000"/>
              </a:lnSpc>
              <a:buClr>
                <a:srgbClr val="CC3300"/>
              </a:buClr>
              <a:buFont typeface="Wingdings" panose="05000000000000000000" pitchFamily="2" charset="2"/>
              <a:buChar char="ü"/>
            </a:pPr>
            <a:r>
              <a:rPr lang="zh-CN" altLang="en-US" dirty="0">
                <a:solidFill>
                  <a:srgbClr val="000099"/>
                </a:solidFill>
                <a:latin typeface="宋体" panose="02010600030101010101" pitchFamily="2" charset="-122"/>
                <a:sym typeface="宋体" panose="02010600030101010101" pitchFamily="2" charset="-122"/>
              </a:rPr>
              <a:t>切向键连接</a:t>
            </a:r>
            <a:endParaRPr lang="en-US" altLang="zh-CN" dirty="0">
              <a:solidFill>
                <a:srgbClr val="000099"/>
              </a:solidFill>
              <a:latin typeface="宋体" panose="02010600030101010101" pitchFamily="2" charset="-122"/>
              <a:sym typeface="宋体" panose="02010600030101010101" pitchFamily="2" charset="-122"/>
            </a:endParaRPr>
          </a:p>
          <a:p>
            <a:pPr marL="342900" indent="-342900" eaLnBrk="1" hangingPunct="1">
              <a:lnSpc>
                <a:spcPct val="150000"/>
              </a:lnSpc>
              <a:buClr>
                <a:srgbClr val="CC3300"/>
              </a:buClr>
              <a:buFont typeface="Wingdings" panose="05000000000000000000" pitchFamily="2" charset="2"/>
              <a:buChar char="ü"/>
            </a:pPr>
            <a:r>
              <a:rPr lang="zh-CN" altLang="en-US" dirty="0">
                <a:solidFill>
                  <a:srgbClr val="000099"/>
                </a:solidFill>
                <a:latin typeface="宋体" panose="02010600030101010101" pitchFamily="2" charset="-122"/>
                <a:sym typeface="宋体" panose="02010600030101010101" pitchFamily="2" charset="-122"/>
              </a:rPr>
              <a:t>花键</a:t>
            </a:r>
            <a:endParaRPr lang="zh-CN" altLang="en-US" dirty="0">
              <a:solidFill>
                <a:srgbClr val="000099"/>
              </a:solidFill>
            </a:endParaRPr>
          </a:p>
        </p:txBody>
      </p:sp>
      <p:sp>
        <p:nvSpPr>
          <p:cNvPr id="4" name="文本框 3"/>
          <p:cNvSpPr txBox="1"/>
          <p:nvPr/>
        </p:nvSpPr>
        <p:spPr>
          <a:xfrm>
            <a:off x="3468767" y="3066683"/>
            <a:ext cx="1872208" cy="1107996"/>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txBody>
          <a:bodyPr wrap="square" rtlCol="0">
            <a:spAutoFit/>
          </a:bodyPr>
          <a:lstStyle/>
          <a:p>
            <a:r>
              <a:rPr lang="zh-CN" altLang="en-US" dirty="0" smtClean="0">
                <a:solidFill>
                  <a:srgbClr val="002060"/>
                </a:solidFill>
              </a:rPr>
              <a:t>普通平键</a:t>
            </a:r>
            <a:endParaRPr lang="en-US" altLang="zh-CN" dirty="0" smtClean="0">
              <a:solidFill>
                <a:srgbClr val="002060"/>
              </a:solidFill>
            </a:endParaRPr>
          </a:p>
          <a:p>
            <a:r>
              <a:rPr lang="zh-CN" altLang="en-US" dirty="0" smtClean="0">
                <a:solidFill>
                  <a:srgbClr val="002060"/>
                </a:solidFill>
              </a:rPr>
              <a:t>导向平键</a:t>
            </a:r>
            <a:endParaRPr lang="en-US" altLang="zh-CN" dirty="0" smtClean="0">
              <a:solidFill>
                <a:srgbClr val="002060"/>
              </a:solidFill>
            </a:endParaRPr>
          </a:p>
          <a:p>
            <a:r>
              <a:rPr lang="zh-CN" altLang="en-US" dirty="0">
                <a:solidFill>
                  <a:srgbClr val="002060"/>
                </a:solidFill>
              </a:rPr>
              <a:t>滑键</a:t>
            </a:r>
            <a:endParaRPr lang="zh-CN" altLang="en-US" dirty="0">
              <a:solidFill>
                <a:srgbClr val="002060"/>
              </a:solidFill>
            </a:endParaRPr>
          </a:p>
        </p:txBody>
      </p:sp>
      <p:sp>
        <p:nvSpPr>
          <p:cNvPr id="5" name="右箭头 4"/>
          <p:cNvSpPr/>
          <p:nvPr/>
        </p:nvSpPr>
        <p:spPr bwMode="auto">
          <a:xfrm>
            <a:off x="2267744" y="2852936"/>
            <a:ext cx="936104" cy="216024"/>
          </a:xfrm>
          <a:prstGeom prst="rightArrow">
            <a:avLst/>
          </a:prstGeom>
          <a:noFill/>
          <a:ln w="9525" cap="flat" cmpd="sng" algn="ctr">
            <a:noFill/>
            <a:prstDash val="solid"/>
            <a:round/>
            <a:headEnd type="none" w="med" len="med"/>
            <a:tailEnd type="none" w="med" len="med"/>
          </a:ln>
        </p:spPr>
        <p:txBody>
          <a:bodyPr vert="horz" wrap="square" lIns="90000" tIns="46800" rIns="90000" bIns="468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6" name="右箭头 5"/>
          <p:cNvSpPr/>
          <p:nvPr/>
        </p:nvSpPr>
        <p:spPr bwMode="auto">
          <a:xfrm>
            <a:off x="2483768" y="2852936"/>
            <a:ext cx="648072" cy="144016"/>
          </a:xfrm>
          <a:prstGeom prst="rightArrow">
            <a:avLst/>
          </a:prstGeom>
          <a:noFill/>
          <a:ln w="9525" cap="flat" cmpd="sng" algn="ctr">
            <a:noFill/>
            <a:prstDash val="solid"/>
            <a:round/>
            <a:headEnd type="none" w="med" len="med"/>
            <a:tailEnd type="none" w="med" len="med"/>
          </a:ln>
        </p:spPr>
        <p:txBody>
          <a:bodyPr vert="horz" wrap="square" lIns="90000" tIns="46800" rIns="90000" bIns="468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solidFill>
                  <a:srgbClr val="FF3300"/>
                </a:solidFill>
              </a:ln>
              <a:solidFill>
                <a:srgbClr val="92D050"/>
              </a:solidFill>
              <a:effectLst/>
              <a:latin typeface="Tahoma" panose="020B0604030504040204" pitchFamily="34" charset="0"/>
              <a:ea typeface="华文中宋" panose="02010600040101010101" pitchFamily="2" charset="-122"/>
            </a:endParaRPr>
          </a:p>
        </p:txBody>
      </p:sp>
      <p:sp>
        <p:nvSpPr>
          <p:cNvPr id="7" name="右箭头 6"/>
          <p:cNvSpPr/>
          <p:nvPr/>
        </p:nvSpPr>
        <p:spPr bwMode="auto">
          <a:xfrm>
            <a:off x="2067977" y="3276610"/>
            <a:ext cx="1368152" cy="288032"/>
          </a:xfrm>
          <a:prstGeom prst="rightArrow">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0" scaled="1"/>
            <a:tileRect/>
          </a:gradFill>
          <a:ln w="9525" cap="flat" cmpd="sng" algn="ctr">
            <a:solidFill>
              <a:srgbClr val="002060"/>
            </a:solidFill>
            <a:prstDash val="solid"/>
            <a:round/>
            <a:headEnd type="none" w="med" len="med"/>
            <a:tailEnd type="none" w="med" len="med"/>
          </a:ln>
        </p:spPr>
        <p:txBody>
          <a:bodyPr vert="horz" wrap="square" lIns="90000" tIns="46800" rIns="90000" bIns="468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solidFill>
                  <a:srgbClr val="003399"/>
                </a:solid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49"/>
                                        </p:tgtEl>
                                        <p:attrNameLst>
                                          <p:attrName>style.visibility</p:attrName>
                                        </p:attrNameLst>
                                      </p:cBhvr>
                                      <p:to>
                                        <p:strVal val="visible"/>
                                      </p:to>
                                    </p:set>
                                    <p:animEffect transition="in" filter="wipe(left)">
                                      <p:cBhvr>
                                        <p:cTn id="7" dur="500"/>
                                        <p:tgtEl>
                                          <p:spTgt spid="92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1" fill="hold">
                                          <p:stCondLst>
                                            <p:cond delay="0"/>
                                          </p:stCondLst>
                                        </p:cTn>
                                        <p:tgtEl>
                                          <p:spTgt spid="5126"/>
                                        </p:tgtEl>
                                        <p:attrNameLst>
                                          <p:attrName>style.visibility</p:attrName>
                                        </p:attrNameLst>
                                      </p:cBhvr>
                                      <p:to>
                                        <p:strVal val="visible"/>
                                      </p:to>
                                    </p:set>
                                    <p:animEffect transition="in" filter="wipe(left)">
                                      <p:cBhvr>
                                        <p:cTn id="12" dur="500"/>
                                        <p:tgtEl>
                                          <p:spTgt spid="51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par>
                          <p:cTn id="18" fill="hold">
                            <p:stCondLst>
                              <p:cond delay="500"/>
                            </p:stCondLst>
                            <p:childTnLst>
                              <p:par>
                                <p:cTn id="19" presetID="1" presetClass="mediacall" presetSubtype="0" fill="hold" nodeType="afterEffect">
                                  <p:stCondLst>
                                    <p:cond delay="0"/>
                                  </p:stCondLst>
                                  <p:childTnLst>
                                    <p:cmd type="call" cmd="playFrom(0.0)">
                                      <p:cBhvr>
                                        <p:cTn id="20" dur="1" fill="hold"/>
                                        <p:tgtEl>
                                          <p:spTgt spid="17"/>
                                        </p:tgtEl>
                                      </p:cBhvr>
                                    </p:cmd>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left)">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p:cTn id="34" fill="hold" display="0">
                  <p:stCondLst>
                    <p:cond delay="indefinite"/>
                  </p:stCondLst>
                  <p:endCondLst>
                    <p:cond evt="onPrev" delay="0">
                      <p:tgtEl>
                        <p:sldTgt/>
                      </p:tgtEl>
                    </p:cond>
                  </p:endCondLst>
                </p:cTn>
                <p:tgtEl>
                  <p:spTgt spid="17"/>
                </p:tgtEl>
              </p:cMediaNode>
            </p:video>
          </p:childTnLst>
        </p:cTn>
      </p:par>
    </p:tnLst>
    <p:bldLst>
      <p:bldP spid="9249" grpId="0"/>
      <p:bldP spid="5126" grpId="0"/>
      <p:bldP spid="5126" grpId="1"/>
      <p:bldP spid="3" grpId="0"/>
      <p:bldP spid="4" grpId="0" bldLvl="0" animBg="1"/>
      <p:bldP spid="7"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053"/>
          <p:cNvSpPr>
            <a:spLocks noChangeArrowheads="1"/>
          </p:cNvSpPr>
          <p:nvPr/>
        </p:nvSpPr>
        <p:spPr bwMode="auto">
          <a:xfrm>
            <a:off x="1373188" y="1047433"/>
            <a:ext cx="8940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ahoma" panose="020B0604030504040204" pitchFamily="34" charset="0"/>
                <a:ea typeface="华文中宋" panose="02010600040101010101" pitchFamily="2" charset="-122"/>
              </a:defRPr>
            </a:lvl1pPr>
            <a:lvl2pPr marL="742950" indent="-285750">
              <a:defRPr kumimoji="1" sz="2200">
                <a:solidFill>
                  <a:schemeClr val="tx1"/>
                </a:solidFill>
                <a:latin typeface="Tahoma" panose="020B0604030504040204" pitchFamily="34" charset="0"/>
                <a:ea typeface="华文中宋" panose="02010600040101010101" pitchFamily="2" charset="-122"/>
              </a:defRPr>
            </a:lvl2pPr>
            <a:lvl3pPr marL="1143000" indent="-228600">
              <a:defRPr kumimoji="1" sz="2200">
                <a:solidFill>
                  <a:schemeClr val="tx1"/>
                </a:solidFill>
                <a:latin typeface="Tahoma" panose="020B0604030504040204" pitchFamily="34" charset="0"/>
                <a:ea typeface="华文中宋" panose="02010600040101010101" pitchFamily="2" charset="-122"/>
              </a:defRPr>
            </a:lvl3pPr>
            <a:lvl4pPr marL="1600200" indent="-228600">
              <a:defRPr kumimoji="1" sz="2200">
                <a:solidFill>
                  <a:schemeClr val="tx1"/>
                </a:solidFill>
                <a:latin typeface="Tahoma" panose="020B0604030504040204" pitchFamily="34" charset="0"/>
                <a:ea typeface="华文中宋" panose="02010600040101010101" pitchFamily="2" charset="-122"/>
              </a:defRPr>
            </a:lvl4pPr>
            <a:lvl5pPr marL="2057400" indent="-22860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r>
              <a:rPr lang="zh-CN" altLang="en-US" sz="2800">
                <a:solidFill>
                  <a:srgbClr val="0000FF"/>
                </a:solidFill>
                <a:ea typeface="仿宋_GB2312" pitchFamily="49" charset="-122"/>
              </a:rPr>
              <a:t>平键</a:t>
            </a:r>
            <a:endParaRPr lang="zh-CN" altLang="en-US" sz="2800">
              <a:ea typeface="幼圆" panose="02010509060101010101" pitchFamily="49" charset="-122"/>
            </a:endParaRPr>
          </a:p>
        </p:txBody>
      </p:sp>
      <p:sp>
        <p:nvSpPr>
          <p:cNvPr id="34822" name="Rectangle 2054"/>
          <p:cNvSpPr>
            <a:spLocks noChangeArrowheads="1"/>
          </p:cNvSpPr>
          <p:nvPr/>
        </p:nvSpPr>
        <p:spPr bwMode="auto">
          <a:xfrm>
            <a:off x="4232593" y="981075"/>
            <a:ext cx="12496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ahoma" panose="020B0604030504040204" pitchFamily="34" charset="0"/>
                <a:ea typeface="华文中宋" panose="02010600040101010101" pitchFamily="2" charset="-122"/>
              </a:defRPr>
            </a:lvl1pPr>
            <a:lvl2pPr marL="742950" indent="-285750">
              <a:defRPr kumimoji="1" sz="2200">
                <a:solidFill>
                  <a:schemeClr val="tx1"/>
                </a:solidFill>
                <a:latin typeface="Tahoma" panose="020B0604030504040204" pitchFamily="34" charset="0"/>
                <a:ea typeface="华文中宋" panose="02010600040101010101" pitchFamily="2" charset="-122"/>
              </a:defRPr>
            </a:lvl2pPr>
            <a:lvl3pPr marL="1143000" indent="-228600">
              <a:defRPr kumimoji="1" sz="2200">
                <a:solidFill>
                  <a:schemeClr val="tx1"/>
                </a:solidFill>
                <a:latin typeface="Tahoma" panose="020B0604030504040204" pitchFamily="34" charset="0"/>
                <a:ea typeface="华文中宋" panose="02010600040101010101" pitchFamily="2" charset="-122"/>
              </a:defRPr>
            </a:lvl3pPr>
            <a:lvl4pPr marL="1600200" indent="-228600">
              <a:defRPr kumimoji="1" sz="2200">
                <a:solidFill>
                  <a:schemeClr val="tx1"/>
                </a:solidFill>
                <a:latin typeface="Tahoma" panose="020B0604030504040204" pitchFamily="34" charset="0"/>
                <a:ea typeface="华文中宋" panose="02010600040101010101" pitchFamily="2" charset="-122"/>
              </a:defRPr>
            </a:lvl4pPr>
            <a:lvl5pPr marL="2057400" indent="-22860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r>
              <a:rPr lang="zh-CN" altLang="en-US" sz="2800">
                <a:solidFill>
                  <a:srgbClr val="0000FF"/>
                </a:solidFill>
                <a:ea typeface="仿宋_GB2312" pitchFamily="49" charset="-122"/>
              </a:rPr>
              <a:t>半圆键</a:t>
            </a:r>
            <a:endParaRPr lang="zh-CN" altLang="en-US" sz="4000">
              <a:solidFill>
                <a:srgbClr val="0000FF"/>
              </a:solidFill>
              <a:ea typeface="仿宋_GB2312" pitchFamily="49" charset="-122"/>
            </a:endParaRPr>
          </a:p>
        </p:txBody>
      </p:sp>
      <p:sp>
        <p:nvSpPr>
          <p:cNvPr id="34823" name="Rectangle 2055"/>
          <p:cNvSpPr>
            <a:spLocks noChangeArrowheads="1"/>
          </p:cNvSpPr>
          <p:nvPr/>
        </p:nvSpPr>
        <p:spPr bwMode="auto">
          <a:xfrm>
            <a:off x="6965633" y="1021080"/>
            <a:ext cx="8940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ahoma" panose="020B0604030504040204" pitchFamily="34" charset="0"/>
                <a:ea typeface="华文中宋" panose="02010600040101010101" pitchFamily="2" charset="-122"/>
              </a:defRPr>
            </a:lvl1pPr>
            <a:lvl2pPr marL="742950" indent="-285750">
              <a:defRPr kumimoji="1" sz="2200">
                <a:solidFill>
                  <a:schemeClr val="tx1"/>
                </a:solidFill>
                <a:latin typeface="Tahoma" panose="020B0604030504040204" pitchFamily="34" charset="0"/>
                <a:ea typeface="华文中宋" panose="02010600040101010101" pitchFamily="2" charset="-122"/>
              </a:defRPr>
            </a:lvl2pPr>
            <a:lvl3pPr marL="1143000" indent="-228600">
              <a:defRPr kumimoji="1" sz="2200">
                <a:solidFill>
                  <a:schemeClr val="tx1"/>
                </a:solidFill>
                <a:latin typeface="Tahoma" panose="020B0604030504040204" pitchFamily="34" charset="0"/>
                <a:ea typeface="华文中宋" panose="02010600040101010101" pitchFamily="2" charset="-122"/>
              </a:defRPr>
            </a:lvl3pPr>
            <a:lvl4pPr marL="1600200" indent="-228600">
              <a:defRPr kumimoji="1" sz="2200">
                <a:solidFill>
                  <a:schemeClr val="tx1"/>
                </a:solidFill>
                <a:latin typeface="Tahoma" panose="020B0604030504040204" pitchFamily="34" charset="0"/>
                <a:ea typeface="华文中宋" panose="02010600040101010101" pitchFamily="2" charset="-122"/>
              </a:defRPr>
            </a:lvl4pPr>
            <a:lvl5pPr marL="2057400" indent="-22860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r>
              <a:rPr lang="zh-CN" altLang="en-US" sz="2800">
                <a:solidFill>
                  <a:srgbClr val="0000FF"/>
                </a:solidFill>
                <a:ea typeface="仿宋_GB2312" pitchFamily="49" charset="-122"/>
              </a:rPr>
              <a:t>楔键</a:t>
            </a:r>
            <a:endParaRPr lang="zh-CN" altLang="en-US" sz="4000">
              <a:solidFill>
                <a:srgbClr val="0000FF"/>
              </a:solidFill>
              <a:ea typeface="仿宋_GB2312" pitchFamily="49" charset="-122"/>
            </a:endParaRPr>
          </a:p>
        </p:txBody>
      </p:sp>
      <p:sp>
        <p:nvSpPr>
          <p:cNvPr id="34824" name="Rectangle 2056"/>
          <p:cNvSpPr>
            <a:spLocks noChangeArrowheads="1"/>
          </p:cNvSpPr>
          <p:nvPr/>
        </p:nvSpPr>
        <p:spPr bwMode="auto">
          <a:xfrm>
            <a:off x="5921375" y="3093085"/>
            <a:ext cx="8940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ahoma" panose="020B0604030504040204" pitchFamily="34" charset="0"/>
                <a:ea typeface="华文中宋" panose="02010600040101010101" pitchFamily="2" charset="-122"/>
              </a:defRPr>
            </a:lvl1pPr>
            <a:lvl2pPr marL="742950" indent="-285750">
              <a:defRPr kumimoji="1" sz="2200">
                <a:solidFill>
                  <a:schemeClr val="tx1"/>
                </a:solidFill>
                <a:latin typeface="Tahoma" panose="020B0604030504040204" pitchFamily="34" charset="0"/>
                <a:ea typeface="华文中宋" panose="02010600040101010101" pitchFamily="2" charset="-122"/>
              </a:defRPr>
            </a:lvl2pPr>
            <a:lvl3pPr marL="1143000" indent="-228600">
              <a:defRPr kumimoji="1" sz="2200">
                <a:solidFill>
                  <a:schemeClr val="tx1"/>
                </a:solidFill>
                <a:latin typeface="Tahoma" panose="020B0604030504040204" pitchFamily="34" charset="0"/>
                <a:ea typeface="华文中宋" panose="02010600040101010101" pitchFamily="2" charset="-122"/>
              </a:defRPr>
            </a:lvl3pPr>
            <a:lvl4pPr marL="1600200" indent="-228600">
              <a:defRPr kumimoji="1" sz="2200">
                <a:solidFill>
                  <a:schemeClr val="tx1"/>
                </a:solidFill>
                <a:latin typeface="Tahoma" panose="020B0604030504040204" pitchFamily="34" charset="0"/>
                <a:ea typeface="华文中宋" panose="02010600040101010101" pitchFamily="2" charset="-122"/>
              </a:defRPr>
            </a:lvl4pPr>
            <a:lvl5pPr marL="2057400" indent="-22860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r>
              <a:rPr lang="zh-CN" altLang="en-US" sz="2800">
                <a:solidFill>
                  <a:srgbClr val="0000FF"/>
                </a:solidFill>
                <a:latin typeface="黑体" panose="02010609060101010101" pitchFamily="49" charset="-122"/>
                <a:ea typeface="黑体" panose="02010609060101010101" pitchFamily="49" charset="-122"/>
              </a:rPr>
              <a:t>花键</a:t>
            </a:r>
            <a:endParaRPr lang="zh-CN" altLang="en-US" sz="3200">
              <a:latin typeface="黑体" panose="02010609060101010101" pitchFamily="49" charset="-122"/>
              <a:ea typeface="黑体" panose="02010609060101010101" pitchFamily="49" charset="-122"/>
            </a:endParaRPr>
          </a:p>
        </p:txBody>
      </p:sp>
      <p:pic>
        <p:nvPicPr>
          <p:cNvPr id="34829" name="Picture 2061" descr="t11-28a"/>
          <p:cNvPicPr>
            <a:picLocks noChangeAspect="1" noChangeArrowheads="1"/>
          </p:cNvPicPr>
          <p:nvPr/>
        </p:nvPicPr>
        <p:blipFill>
          <a:blip r:embed="rId1">
            <a:extLst>
              <a:ext uri="{28A0092B-C50C-407E-A947-70E740481C1C}">
                <a14:useLocalDpi xmlns:a14="http://schemas.microsoft.com/office/drawing/2010/main" val="0"/>
              </a:ext>
            </a:extLst>
          </a:blip>
          <a:srcRect l="1517" r="1422"/>
          <a:stretch>
            <a:fillRect/>
          </a:stretch>
        </p:blipFill>
        <p:spPr bwMode="auto">
          <a:xfrm>
            <a:off x="4720590" y="3679190"/>
            <a:ext cx="437769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31" name="Picture 2063" descr="键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6703" y="1460500"/>
            <a:ext cx="2128837" cy="166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32" name="Picture 2064" descr="键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8425" y="1533525"/>
            <a:ext cx="1784350" cy="1250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33" name="Picture 2065" descr="键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6065" y="1479550"/>
            <a:ext cx="1880870" cy="1370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1" name="矩形 1"/>
          <p:cNvSpPr>
            <a:spLocks noChangeArrowheads="1"/>
          </p:cNvSpPr>
          <p:nvPr/>
        </p:nvSpPr>
        <p:spPr bwMode="auto">
          <a:xfrm>
            <a:off x="1047750" y="19050"/>
            <a:ext cx="1825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200">
                <a:solidFill>
                  <a:schemeClr val="tx1"/>
                </a:solidFill>
                <a:latin typeface="Tahoma" panose="020B0604030504040204" pitchFamily="34" charset="0"/>
                <a:ea typeface="华文中宋" panose="02010600040101010101" pitchFamily="2" charset="-122"/>
              </a:defRPr>
            </a:lvl1pPr>
            <a:lvl2pPr marL="742950" indent="-285750">
              <a:defRPr kumimoji="1" sz="2200">
                <a:solidFill>
                  <a:schemeClr val="tx1"/>
                </a:solidFill>
                <a:latin typeface="Tahoma" panose="020B0604030504040204" pitchFamily="34" charset="0"/>
                <a:ea typeface="华文中宋" panose="02010600040101010101" pitchFamily="2" charset="-122"/>
              </a:defRPr>
            </a:lvl2pPr>
            <a:lvl3pPr marL="1143000" indent="-228600">
              <a:defRPr kumimoji="1" sz="2200">
                <a:solidFill>
                  <a:schemeClr val="tx1"/>
                </a:solidFill>
                <a:latin typeface="Tahoma" panose="020B0604030504040204" pitchFamily="34" charset="0"/>
                <a:ea typeface="华文中宋" panose="02010600040101010101" pitchFamily="2" charset="-122"/>
              </a:defRPr>
            </a:lvl3pPr>
            <a:lvl4pPr marL="1600200" indent="-228600">
              <a:defRPr kumimoji="1" sz="2200">
                <a:solidFill>
                  <a:schemeClr val="tx1"/>
                </a:solidFill>
                <a:latin typeface="Tahoma" panose="020B0604030504040204" pitchFamily="34" charset="0"/>
                <a:ea typeface="华文中宋" panose="02010600040101010101" pitchFamily="2" charset="-122"/>
              </a:defRPr>
            </a:lvl4pPr>
            <a:lvl5pPr marL="2057400" indent="-22860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3200">
                <a:solidFill>
                  <a:schemeClr val="bg1"/>
                </a:solidFill>
                <a:latin typeface="黑体" panose="02010609060101010101" pitchFamily="49" charset="-122"/>
                <a:ea typeface="黑体" panose="02010609060101010101" pitchFamily="49" charset="-122"/>
              </a:rPr>
              <a:t>键 连 接</a:t>
            </a:r>
            <a:endParaRPr lang="zh-CN" altLang="en-US" sz="3200">
              <a:solidFill>
                <a:schemeClr val="bg1"/>
              </a:solidFill>
              <a:latin typeface="黑体" panose="02010609060101010101" pitchFamily="49" charset="-122"/>
              <a:ea typeface="黑体" panose="02010609060101010101" pitchFamily="49" charset="-122"/>
            </a:endParaRPr>
          </a:p>
        </p:txBody>
      </p:sp>
      <p:pic>
        <p:nvPicPr>
          <p:cNvPr id="12" name="Picture 31" descr="back">
            <a:hlinkClick r:id="" action="ppaction://hlinkshowjump?jump=previousslid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32788" y="6542088"/>
            <a:ext cx="28733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32" descr="NEXT">
            <a:hlinkClick r:id="" action="ppaction://hlinkshowjump?jump=nextslide"/>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42363" y="6542088"/>
            <a:ext cx="28733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3" descr="rewind">
            <a:hlinkClick r:id="" action="ppaction://noaction"/>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51788" y="6542088"/>
            <a:ext cx="28733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8" name="Rectangle 2"/>
          <p:cNvSpPr>
            <a:spLocks noGrp="1" noChangeArrowheads="1"/>
          </p:cNvSpPr>
          <p:nvPr>
            <p:ph type="title"/>
          </p:nvPr>
        </p:nvSpPr>
        <p:spPr bwMode="auto">
          <a:xfrm>
            <a:off x="6051868" y="165418"/>
            <a:ext cx="2986087" cy="490537"/>
          </a:xfrm>
          <a:ln>
            <a:miter lim="800000"/>
          </a:ln>
        </p:spPr>
        <p:txBody>
          <a:bodyPr vert="horz" wrap="square" lIns="91440" tIns="45720" rIns="91440" bIns="45720" numCol="1" anchor="t" anchorCtr="0" compatLnSpc="1"/>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rPr>
              <a:t>3.5-1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7184" name="直接连接符 6"/>
          <p:cNvSpPr>
            <a:spLocks noChangeShapeType="1"/>
          </p:cNvSpPr>
          <p:nvPr/>
        </p:nvSpPr>
        <p:spPr bwMode="auto">
          <a:xfrm>
            <a:off x="-29845" y="875030"/>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p>
            <a:endParaRPr lang="zh-CN" altLang="en-US"/>
          </a:p>
        </p:txBody>
      </p:sp>
      <p:grpSp>
        <p:nvGrpSpPr>
          <p:cNvPr id="7" name="组合 6"/>
          <p:cNvGrpSpPr/>
          <p:nvPr/>
        </p:nvGrpSpPr>
        <p:grpSpPr>
          <a:xfrm>
            <a:off x="6754495" y="1741170"/>
            <a:ext cx="1555115" cy="978535"/>
            <a:chOff x="10421" y="3712"/>
            <a:chExt cx="2449" cy="1541"/>
          </a:xfrm>
        </p:grpSpPr>
        <p:cxnSp>
          <p:nvCxnSpPr>
            <p:cNvPr id="3" name="直接连接符 2"/>
            <p:cNvCxnSpPr/>
            <p:nvPr/>
          </p:nvCxnSpPr>
          <p:spPr>
            <a:xfrm>
              <a:off x="10422" y="4945"/>
              <a:ext cx="431" cy="308"/>
            </a:xfrm>
            <a:prstGeom prst="line">
              <a:avLst/>
            </a:prstGeom>
            <a:noFill/>
            <a:ln w="19050" cap="flat" cmpd="sng" algn="ctr">
              <a:solidFill>
                <a:srgbClr val="FF0000"/>
              </a:solidFill>
              <a:prstDash val="solid"/>
              <a:round/>
              <a:headEnd type="none" w="med" len="med"/>
              <a:tailEnd type="none" w="med" len="med"/>
            </a:ln>
          </p:spPr>
        </p:cxnSp>
        <p:cxnSp>
          <p:nvCxnSpPr>
            <p:cNvPr id="4" name="直接连接符 3"/>
            <p:cNvCxnSpPr/>
            <p:nvPr/>
          </p:nvCxnSpPr>
          <p:spPr>
            <a:xfrm flipV="1">
              <a:off x="10899" y="4020"/>
              <a:ext cx="1957" cy="1217"/>
            </a:xfrm>
            <a:prstGeom prst="line">
              <a:avLst/>
            </a:prstGeom>
            <a:noFill/>
            <a:ln w="19050" cap="flat" cmpd="sng" algn="ctr">
              <a:solidFill>
                <a:srgbClr val="FF0000"/>
              </a:solidFill>
              <a:prstDash val="solid"/>
              <a:round/>
              <a:headEnd type="none" w="med" len="med"/>
              <a:tailEnd type="none" w="med" len="med"/>
            </a:ln>
          </p:spPr>
        </p:cxnSp>
        <p:cxnSp>
          <p:nvCxnSpPr>
            <p:cNvPr id="5" name="直接连接符 4"/>
            <p:cNvCxnSpPr/>
            <p:nvPr/>
          </p:nvCxnSpPr>
          <p:spPr>
            <a:xfrm flipV="1">
              <a:off x="10421" y="3742"/>
              <a:ext cx="1957" cy="1217"/>
            </a:xfrm>
            <a:prstGeom prst="line">
              <a:avLst/>
            </a:prstGeom>
            <a:noFill/>
            <a:ln w="19050" cap="flat" cmpd="sng" algn="ctr">
              <a:solidFill>
                <a:srgbClr val="FF0000"/>
              </a:solidFill>
              <a:prstDash val="solid"/>
              <a:round/>
              <a:headEnd type="none" w="med" len="med"/>
              <a:tailEnd type="none" w="med" len="med"/>
            </a:ln>
          </p:spPr>
        </p:cxnSp>
        <p:cxnSp>
          <p:nvCxnSpPr>
            <p:cNvPr id="6" name="直接连接符 5"/>
            <p:cNvCxnSpPr/>
            <p:nvPr/>
          </p:nvCxnSpPr>
          <p:spPr>
            <a:xfrm>
              <a:off x="12440" y="3712"/>
              <a:ext cx="431" cy="308"/>
            </a:xfrm>
            <a:prstGeom prst="line">
              <a:avLst/>
            </a:prstGeom>
            <a:noFill/>
            <a:ln w="19050" cap="flat" cmpd="sng" algn="ctr">
              <a:solidFill>
                <a:srgbClr val="FF0000"/>
              </a:solidFill>
              <a:prstDash val="solid"/>
              <a:round/>
              <a:headEnd type="none" w="med" len="med"/>
              <a:tailEnd type="none" w="med" len="med"/>
            </a:ln>
          </p:spPr>
        </p:cxnSp>
      </p:grpSp>
      <p:pic>
        <p:nvPicPr>
          <p:cNvPr id="100" name="图片 99"/>
          <p:cNvPicPr/>
          <p:nvPr/>
        </p:nvPicPr>
        <p:blipFill>
          <a:blip r:embed="rId8">
            <a:clrChange>
              <a:clrFrom>
                <a:srgbClr val="010101">
                  <a:alpha val="100000"/>
                </a:srgbClr>
              </a:clrFrom>
              <a:clrTo>
                <a:srgbClr val="010101">
                  <a:alpha val="100000"/>
                  <a:alpha val="0"/>
                </a:srgbClr>
              </a:clrTo>
            </a:clrChange>
          </a:blip>
          <a:stretch>
            <a:fillRect/>
          </a:stretch>
        </p:blipFill>
        <p:spPr>
          <a:xfrm>
            <a:off x="268605" y="3662045"/>
            <a:ext cx="4371975" cy="2381250"/>
          </a:xfrm>
          <a:prstGeom prst="rect">
            <a:avLst/>
          </a:prstGeom>
          <a:noFill/>
          <a:ln w="9525">
            <a:noFill/>
          </a:ln>
        </p:spPr>
      </p:pic>
      <p:sp>
        <p:nvSpPr>
          <p:cNvPr id="8" name="Rectangle 2056"/>
          <p:cNvSpPr>
            <a:spLocks noChangeArrowheads="1"/>
          </p:cNvSpPr>
          <p:nvPr/>
        </p:nvSpPr>
        <p:spPr bwMode="auto">
          <a:xfrm>
            <a:off x="1715135" y="3024505"/>
            <a:ext cx="12496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200">
                <a:solidFill>
                  <a:schemeClr val="tx1"/>
                </a:solidFill>
                <a:latin typeface="Tahoma" panose="020B0604030504040204" pitchFamily="34" charset="0"/>
                <a:ea typeface="华文中宋" panose="02010600040101010101" pitchFamily="2" charset="-122"/>
              </a:defRPr>
            </a:lvl1pPr>
            <a:lvl2pPr marL="742950" indent="-285750">
              <a:defRPr kumimoji="1" sz="2200">
                <a:solidFill>
                  <a:schemeClr val="tx1"/>
                </a:solidFill>
                <a:latin typeface="Tahoma" panose="020B0604030504040204" pitchFamily="34" charset="0"/>
                <a:ea typeface="华文中宋" panose="02010600040101010101" pitchFamily="2" charset="-122"/>
              </a:defRPr>
            </a:lvl2pPr>
            <a:lvl3pPr marL="1143000" indent="-228600">
              <a:defRPr kumimoji="1" sz="2200">
                <a:solidFill>
                  <a:schemeClr val="tx1"/>
                </a:solidFill>
                <a:latin typeface="Tahoma" panose="020B0604030504040204" pitchFamily="34" charset="0"/>
                <a:ea typeface="华文中宋" panose="02010600040101010101" pitchFamily="2" charset="-122"/>
              </a:defRPr>
            </a:lvl3pPr>
            <a:lvl4pPr marL="1600200" indent="-228600">
              <a:defRPr kumimoji="1" sz="2200">
                <a:solidFill>
                  <a:schemeClr val="tx1"/>
                </a:solidFill>
                <a:latin typeface="Tahoma" panose="020B0604030504040204" pitchFamily="34" charset="0"/>
                <a:ea typeface="华文中宋" panose="02010600040101010101" pitchFamily="2" charset="-122"/>
              </a:defRPr>
            </a:lvl4pPr>
            <a:lvl5pPr marL="2057400" indent="-22860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r>
              <a:rPr lang="zh-CN" altLang="en-US" sz="2800">
                <a:solidFill>
                  <a:srgbClr val="0000FF"/>
                </a:solidFill>
                <a:latin typeface="黑体" panose="02010609060101010101" pitchFamily="49" charset="-122"/>
                <a:ea typeface="黑体" panose="02010609060101010101" pitchFamily="49" charset="-122"/>
              </a:rPr>
              <a:t>切向键</a:t>
            </a:r>
            <a:endParaRPr lang="zh-CN" altLang="en-US" sz="320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34832"/>
                                        </p:tgtEl>
                                        <p:attrNameLst>
                                          <p:attrName>style.visibility</p:attrName>
                                        </p:attrNameLst>
                                      </p:cBhvr>
                                      <p:to>
                                        <p:strVal val="visible"/>
                                      </p:to>
                                    </p:set>
                                    <p:anim calcmode="lin" valueType="num">
                                      <p:cBhvr>
                                        <p:cTn id="7" dur="500" fill="hold"/>
                                        <p:tgtEl>
                                          <p:spTgt spid="34832"/>
                                        </p:tgtEl>
                                        <p:attrNameLst>
                                          <p:attrName>ppt_x</p:attrName>
                                        </p:attrNameLst>
                                      </p:cBhvr>
                                      <p:tavLst>
                                        <p:tav tm="0">
                                          <p:val>
                                            <p:strVal val="#ppt_x-#ppt_w/2"/>
                                          </p:val>
                                        </p:tav>
                                        <p:tav tm="100000">
                                          <p:val>
                                            <p:strVal val="#ppt_x"/>
                                          </p:val>
                                        </p:tav>
                                      </p:tavLst>
                                    </p:anim>
                                    <p:anim calcmode="lin" valueType="num">
                                      <p:cBhvr>
                                        <p:cTn id="8" dur="500" fill="hold"/>
                                        <p:tgtEl>
                                          <p:spTgt spid="34832"/>
                                        </p:tgtEl>
                                        <p:attrNameLst>
                                          <p:attrName>ppt_y</p:attrName>
                                        </p:attrNameLst>
                                      </p:cBhvr>
                                      <p:tavLst>
                                        <p:tav tm="0">
                                          <p:val>
                                            <p:strVal val="#ppt_y"/>
                                          </p:val>
                                        </p:tav>
                                        <p:tav tm="100000">
                                          <p:val>
                                            <p:strVal val="#ppt_y"/>
                                          </p:val>
                                        </p:tav>
                                      </p:tavLst>
                                    </p:anim>
                                    <p:anim calcmode="lin" valueType="num">
                                      <p:cBhvr>
                                        <p:cTn id="9" dur="500" fill="hold"/>
                                        <p:tgtEl>
                                          <p:spTgt spid="34832"/>
                                        </p:tgtEl>
                                        <p:attrNameLst>
                                          <p:attrName>ppt_w</p:attrName>
                                        </p:attrNameLst>
                                      </p:cBhvr>
                                      <p:tavLst>
                                        <p:tav tm="0">
                                          <p:val>
                                            <p:fltVal val="0"/>
                                          </p:val>
                                        </p:tav>
                                        <p:tav tm="100000">
                                          <p:val>
                                            <p:strVal val="#ppt_w"/>
                                          </p:val>
                                        </p:tav>
                                      </p:tavLst>
                                    </p:anim>
                                    <p:anim calcmode="lin" valueType="num">
                                      <p:cBhvr>
                                        <p:cTn id="10" dur="500" fill="hold"/>
                                        <p:tgtEl>
                                          <p:spTgt spid="34832"/>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4" presetClass="entr" presetSubtype="0" fill="hold" grpId="0" nodeType="clickEffect">
                                  <p:stCondLst>
                                    <p:cond delay="0"/>
                                  </p:stCondLst>
                                  <p:childTnLst>
                                    <p:set>
                                      <p:cBhvr>
                                        <p:cTn id="14" dur="1" fill="hold">
                                          <p:stCondLst>
                                            <p:cond delay="499"/>
                                          </p:stCondLst>
                                        </p:cTn>
                                        <p:tgtEl>
                                          <p:spTgt spid="34821"/>
                                        </p:tgtEl>
                                        <p:attrNameLst>
                                          <p:attrName>style.visibility</p:attrName>
                                        </p:attrNameLst>
                                      </p:cBhvr>
                                      <p:to>
                                        <p:strVal val="visible"/>
                                      </p:to>
                                    </p:set>
                                    <p:anim to="" calcmode="lin" valueType="num">
                                      <p:cBhvr>
                                        <p:cTn id="15" dur="1" fill="hold"/>
                                        <p:tgtEl>
                                          <p:spTgt spid="34821"/>
                                        </p:tgtEl>
                                      </p:cBhvr>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nodeType="clickEffect">
                                  <p:stCondLst>
                                    <p:cond delay="0"/>
                                  </p:stCondLst>
                                  <p:childTnLst>
                                    <p:set>
                                      <p:cBhvr>
                                        <p:cTn id="19" dur="1" fill="hold">
                                          <p:stCondLst>
                                            <p:cond delay="0"/>
                                          </p:stCondLst>
                                        </p:cTn>
                                        <p:tgtEl>
                                          <p:spTgt spid="34833"/>
                                        </p:tgtEl>
                                        <p:attrNameLst>
                                          <p:attrName>style.visibility</p:attrName>
                                        </p:attrNameLst>
                                      </p:cBhvr>
                                      <p:to>
                                        <p:strVal val="visible"/>
                                      </p:to>
                                    </p:set>
                                    <p:anim calcmode="lin" valueType="num">
                                      <p:cBhvr>
                                        <p:cTn id="20" dur="500" fill="hold"/>
                                        <p:tgtEl>
                                          <p:spTgt spid="34833"/>
                                        </p:tgtEl>
                                        <p:attrNameLst>
                                          <p:attrName>ppt_x</p:attrName>
                                        </p:attrNameLst>
                                      </p:cBhvr>
                                      <p:tavLst>
                                        <p:tav tm="0">
                                          <p:val>
                                            <p:strVal val="#ppt_x-#ppt_w/2"/>
                                          </p:val>
                                        </p:tav>
                                        <p:tav tm="100000">
                                          <p:val>
                                            <p:strVal val="#ppt_x"/>
                                          </p:val>
                                        </p:tav>
                                      </p:tavLst>
                                    </p:anim>
                                    <p:anim calcmode="lin" valueType="num">
                                      <p:cBhvr>
                                        <p:cTn id="21" dur="500" fill="hold"/>
                                        <p:tgtEl>
                                          <p:spTgt spid="34833"/>
                                        </p:tgtEl>
                                        <p:attrNameLst>
                                          <p:attrName>ppt_y</p:attrName>
                                        </p:attrNameLst>
                                      </p:cBhvr>
                                      <p:tavLst>
                                        <p:tav tm="0">
                                          <p:val>
                                            <p:strVal val="#ppt_y"/>
                                          </p:val>
                                        </p:tav>
                                        <p:tav tm="100000">
                                          <p:val>
                                            <p:strVal val="#ppt_y"/>
                                          </p:val>
                                        </p:tav>
                                      </p:tavLst>
                                    </p:anim>
                                    <p:anim calcmode="lin" valueType="num">
                                      <p:cBhvr>
                                        <p:cTn id="22" dur="500" fill="hold"/>
                                        <p:tgtEl>
                                          <p:spTgt spid="34833"/>
                                        </p:tgtEl>
                                        <p:attrNameLst>
                                          <p:attrName>ppt_w</p:attrName>
                                        </p:attrNameLst>
                                      </p:cBhvr>
                                      <p:tavLst>
                                        <p:tav tm="0">
                                          <p:val>
                                            <p:fltVal val="0"/>
                                          </p:val>
                                        </p:tav>
                                        <p:tav tm="100000">
                                          <p:val>
                                            <p:strVal val="#ppt_w"/>
                                          </p:val>
                                        </p:tav>
                                      </p:tavLst>
                                    </p:anim>
                                    <p:anim calcmode="lin" valueType="num">
                                      <p:cBhvr>
                                        <p:cTn id="23" dur="500" fill="hold"/>
                                        <p:tgtEl>
                                          <p:spTgt spid="34833"/>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4" presetClass="entr" presetSubtype="0" fill="hold" grpId="0" nodeType="clickEffect">
                                  <p:stCondLst>
                                    <p:cond delay="0"/>
                                  </p:stCondLst>
                                  <p:childTnLst>
                                    <p:set>
                                      <p:cBhvr>
                                        <p:cTn id="27" dur="1" fill="hold">
                                          <p:stCondLst>
                                            <p:cond delay="499"/>
                                          </p:stCondLst>
                                        </p:cTn>
                                        <p:tgtEl>
                                          <p:spTgt spid="34822"/>
                                        </p:tgtEl>
                                        <p:attrNameLst>
                                          <p:attrName>style.visibility</p:attrName>
                                        </p:attrNameLst>
                                      </p:cBhvr>
                                      <p:to>
                                        <p:strVal val="visible"/>
                                      </p:to>
                                    </p:set>
                                    <p:anim to="" calcmode="lin" valueType="num">
                                      <p:cBhvr>
                                        <p:cTn id="28" dur="1" fill="hold"/>
                                        <p:tgtEl>
                                          <p:spTgt spid="34822"/>
                                        </p:tgtEl>
                                      </p:cBhvr>
                                    </p:anim>
                                  </p:childTnLst>
                                </p:cTn>
                              </p:par>
                            </p:childTnLst>
                          </p:cTn>
                        </p:par>
                      </p:childTnLst>
                    </p:cTn>
                  </p:par>
                  <p:par>
                    <p:cTn id="29" fill="hold">
                      <p:stCondLst>
                        <p:cond delay="indefinite"/>
                      </p:stCondLst>
                      <p:childTnLst>
                        <p:par>
                          <p:cTn id="30" fill="hold">
                            <p:stCondLst>
                              <p:cond delay="0"/>
                            </p:stCondLst>
                            <p:childTnLst>
                              <p:par>
                                <p:cTn id="31" presetID="17" presetClass="entr" presetSubtype="8" fill="hold" nodeType="clickEffect">
                                  <p:stCondLst>
                                    <p:cond delay="0"/>
                                  </p:stCondLst>
                                  <p:childTnLst>
                                    <p:set>
                                      <p:cBhvr>
                                        <p:cTn id="32" dur="1" fill="hold">
                                          <p:stCondLst>
                                            <p:cond delay="0"/>
                                          </p:stCondLst>
                                        </p:cTn>
                                        <p:tgtEl>
                                          <p:spTgt spid="34831"/>
                                        </p:tgtEl>
                                        <p:attrNameLst>
                                          <p:attrName>style.visibility</p:attrName>
                                        </p:attrNameLst>
                                      </p:cBhvr>
                                      <p:to>
                                        <p:strVal val="visible"/>
                                      </p:to>
                                    </p:set>
                                    <p:anim calcmode="lin" valueType="num">
                                      <p:cBhvr>
                                        <p:cTn id="33" dur="500" fill="hold"/>
                                        <p:tgtEl>
                                          <p:spTgt spid="34831"/>
                                        </p:tgtEl>
                                        <p:attrNameLst>
                                          <p:attrName>ppt_x</p:attrName>
                                        </p:attrNameLst>
                                      </p:cBhvr>
                                      <p:tavLst>
                                        <p:tav tm="0">
                                          <p:val>
                                            <p:strVal val="#ppt_x-#ppt_w/2"/>
                                          </p:val>
                                        </p:tav>
                                        <p:tav tm="100000">
                                          <p:val>
                                            <p:strVal val="#ppt_x"/>
                                          </p:val>
                                        </p:tav>
                                      </p:tavLst>
                                    </p:anim>
                                    <p:anim calcmode="lin" valueType="num">
                                      <p:cBhvr>
                                        <p:cTn id="34" dur="500" fill="hold"/>
                                        <p:tgtEl>
                                          <p:spTgt spid="34831"/>
                                        </p:tgtEl>
                                        <p:attrNameLst>
                                          <p:attrName>ppt_y</p:attrName>
                                        </p:attrNameLst>
                                      </p:cBhvr>
                                      <p:tavLst>
                                        <p:tav tm="0">
                                          <p:val>
                                            <p:strVal val="#ppt_y"/>
                                          </p:val>
                                        </p:tav>
                                        <p:tav tm="100000">
                                          <p:val>
                                            <p:strVal val="#ppt_y"/>
                                          </p:val>
                                        </p:tav>
                                      </p:tavLst>
                                    </p:anim>
                                    <p:anim calcmode="lin" valueType="num">
                                      <p:cBhvr>
                                        <p:cTn id="35" dur="500" fill="hold"/>
                                        <p:tgtEl>
                                          <p:spTgt spid="34831"/>
                                        </p:tgtEl>
                                        <p:attrNameLst>
                                          <p:attrName>ppt_w</p:attrName>
                                        </p:attrNameLst>
                                      </p:cBhvr>
                                      <p:tavLst>
                                        <p:tav tm="0">
                                          <p:val>
                                            <p:fltVal val="0"/>
                                          </p:val>
                                        </p:tav>
                                        <p:tav tm="100000">
                                          <p:val>
                                            <p:strVal val="#ppt_w"/>
                                          </p:val>
                                        </p:tav>
                                      </p:tavLst>
                                    </p:anim>
                                    <p:anim calcmode="lin" valueType="num">
                                      <p:cBhvr>
                                        <p:cTn id="36" dur="500" fill="hold"/>
                                        <p:tgtEl>
                                          <p:spTgt spid="34831"/>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down)">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4" presetClass="entr" presetSubtype="0" fill="hold" grpId="0" nodeType="clickEffect">
                                  <p:stCondLst>
                                    <p:cond delay="0"/>
                                  </p:stCondLst>
                                  <p:childTnLst>
                                    <p:set>
                                      <p:cBhvr>
                                        <p:cTn id="45" dur="1" fill="hold">
                                          <p:stCondLst>
                                            <p:cond delay="499"/>
                                          </p:stCondLst>
                                        </p:cTn>
                                        <p:tgtEl>
                                          <p:spTgt spid="34823"/>
                                        </p:tgtEl>
                                        <p:attrNameLst>
                                          <p:attrName>style.visibility</p:attrName>
                                        </p:attrNameLst>
                                      </p:cBhvr>
                                      <p:to>
                                        <p:strVal val="visible"/>
                                      </p:to>
                                    </p:set>
                                    <p:anim to="" calcmode="lin" valueType="num">
                                      <p:cBhvr>
                                        <p:cTn id="46" dur="1" fill="hold"/>
                                        <p:tgtEl>
                                          <p:spTgt spid="34823"/>
                                        </p:tgtEl>
                                      </p:cBhvr>
                                    </p:anim>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00"/>
                                        </p:tgtEl>
                                        <p:attrNameLst>
                                          <p:attrName>style.visibility</p:attrName>
                                        </p:attrNameLst>
                                      </p:cBhvr>
                                      <p:to>
                                        <p:strVal val="visible"/>
                                      </p:to>
                                    </p:set>
                                    <p:animEffect transition="in" filter="wipe(left)">
                                      <p:cBhvr>
                                        <p:cTn id="51" dur="500"/>
                                        <p:tgtEl>
                                          <p:spTgt spid="100"/>
                                        </p:tgtEl>
                                      </p:cBhvr>
                                    </p:animEffect>
                                  </p:childTnLst>
                                </p:cTn>
                              </p:par>
                            </p:childTnLst>
                          </p:cTn>
                        </p:par>
                      </p:childTnLst>
                    </p:cTn>
                  </p:par>
                  <p:par>
                    <p:cTn id="52" fill="hold">
                      <p:stCondLst>
                        <p:cond delay="indefinite"/>
                      </p:stCondLst>
                      <p:childTnLst>
                        <p:par>
                          <p:cTn id="53" fill="hold">
                            <p:stCondLst>
                              <p:cond delay="0"/>
                            </p:stCondLst>
                            <p:childTnLst>
                              <p:par>
                                <p:cTn id="54" presetID="24" presetClass="entr" presetSubtype="0" fill="hold" grpId="0" nodeType="clickEffect">
                                  <p:stCondLst>
                                    <p:cond delay="0"/>
                                  </p:stCondLst>
                                  <p:childTnLst>
                                    <p:set>
                                      <p:cBhvr>
                                        <p:cTn id="55" dur="1" fill="hold">
                                          <p:stCondLst>
                                            <p:cond delay="499"/>
                                          </p:stCondLst>
                                        </p:cTn>
                                        <p:tgtEl>
                                          <p:spTgt spid="8"/>
                                        </p:tgtEl>
                                        <p:attrNameLst>
                                          <p:attrName>style.visibility</p:attrName>
                                        </p:attrNameLst>
                                      </p:cBhvr>
                                      <p:to>
                                        <p:strVal val="visible"/>
                                      </p:to>
                                    </p:set>
                                    <p:anim to="" calcmode="lin" valueType="num">
                                      <p:cBhvr>
                                        <p:cTn id="56" dur="1" fill="hold"/>
                                        <p:tgtEl>
                                          <p:spTgt spid="8"/>
                                        </p:tgtEl>
                                      </p:cBhvr>
                                    </p:anim>
                                  </p:childTnLst>
                                </p:cTn>
                              </p:par>
                            </p:childTnLst>
                          </p:cTn>
                        </p:par>
                      </p:childTnLst>
                    </p:cTn>
                  </p:par>
                  <p:par>
                    <p:cTn id="57" fill="hold">
                      <p:stCondLst>
                        <p:cond delay="indefinite"/>
                      </p:stCondLst>
                      <p:childTnLst>
                        <p:par>
                          <p:cTn id="58" fill="hold">
                            <p:stCondLst>
                              <p:cond delay="0"/>
                            </p:stCondLst>
                            <p:childTnLst>
                              <p:par>
                                <p:cTn id="59" presetID="24" presetClass="entr" presetSubtype="0" fill="hold" nodeType="clickEffect">
                                  <p:stCondLst>
                                    <p:cond delay="0"/>
                                  </p:stCondLst>
                                  <p:childTnLst>
                                    <p:set>
                                      <p:cBhvr>
                                        <p:cTn id="60" dur="1" fill="hold">
                                          <p:stCondLst>
                                            <p:cond delay="499"/>
                                          </p:stCondLst>
                                        </p:cTn>
                                        <p:tgtEl>
                                          <p:spTgt spid="34829"/>
                                        </p:tgtEl>
                                        <p:attrNameLst>
                                          <p:attrName>style.visibility</p:attrName>
                                        </p:attrNameLst>
                                      </p:cBhvr>
                                      <p:to>
                                        <p:strVal val="visible"/>
                                      </p:to>
                                    </p:set>
                                    <p:anim to="" calcmode="lin" valueType="num">
                                      <p:cBhvr>
                                        <p:cTn id="61" dur="1" fill="hold"/>
                                        <p:tgtEl>
                                          <p:spTgt spid="34829"/>
                                        </p:tgtEl>
                                      </p:cBhvr>
                                    </p:anim>
                                  </p:childTnLst>
                                </p:cTn>
                              </p:par>
                            </p:childTnLst>
                          </p:cTn>
                        </p:par>
                      </p:childTnLst>
                    </p:cTn>
                  </p:par>
                  <p:par>
                    <p:cTn id="62" fill="hold">
                      <p:stCondLst>
                        <p:cond delay="indefinite"/>
                      </p:stCondLst>
                      <p:childTnLst>
                        <p:par>
                          <p:cTn id="63" fill="hold">
                            <p:stCondLst>
                              <p:cond delay="0"/>
                            </p:stCondLst>
                            <p:childTnLst>
                              <p:par>
                                <p:cTn id="64" presetID="24" presetClass="entr" presetSubtype="0" fill="hold" grpId="0" nodeType="clickEffect">
                                  <p:stCondLst>
                                    <p:cond delay="0"/>
                                  </p:stCondLst>
                                  <p:childTnLst>
                                    <p:set>
                                      <p:cBhvr>
                                        <p:cTn id="65" dur="1" fill="hold">
                                          <p:stCondLst>
                                            <p:cond delay="499"/>
                                          </p:stCondLst>
                                        </p:cTn>
                                        <p:tgtEl>
                                          <p:spTgt spid="34824"/>
                                        </p:tgtEl>
                                        <p:attrNameLst>
                                          <p:attrName>style.visibility</p:attrName>
                                        </p:attrNameLst>
                                      </p:cBhvr>
                                      <p:to>
                                        <p:strVal val="visible"/>
                                      </p:to>
                                    </p:set>
                                    <p:anim to="" calcmode="lin" valueType="num">
                                      <p:cBhvr>
                                        <p:cTn id="66" dur="1" fill="hold"/>
                                        <p:tgtEl>
                                          <p:spTgt spid="34824"/>
                                        </p:tgtEl>
                                      </p:cBhvr>
                                    </p:anim>
                                  </p:childTnLst>
                                </p:cTn>
                              </p:par>
                            </p:childTnLst>
                          </p:cTn>
                        </p:par>
                        <p:par>
                          <p:cTn id="67" fill="hold">
                            <p:stCondLst>
                              <p:cond delay="500"/>
                            </p:stCondLst>
                            <p:childTnLst>
                              <p:par>
                                <p:cTn id="68" presetID="1" presetClass="entr" presetSubtype="0" fill="hold" nodeType="afterEffect">
                                  <p:stCondLst>
                                    <p:cond delay="0"/>
                                  </p:stCondLst>
                                  <p:childTnLst>
                                    <p:set>
                                      <p:cBhvr>
                                        <p:cTn id="69" dur="1" fill="hold">
                                          <p:stCondLst>
                                            <p:cond delay="499"/>
                                          </p:stCondLst>
                                        </p:cTn>
                                        <p:tgtEl>
                                          <p:spTgt spid="13"/>
                                        </p:tgtEl>
                                        <p:attrNameLst>
                                          <p:attrName>style.visibility</p:attrName>
                                        </p:attrNameLst>
                                      </p:cBhvr>
                                      <p:to>
                                        <p:strVal val="visible"/>
                                      </p:to>
                                    </p:set>
                                  </p:childTnLst>
                                </p:cTn>
                              </p:par>
                            </p:childTnLst>
                          </p:cTn>
                        </p:par>
                        <p:par>
                          <p:cTn id="70" fill="hold">
                            <p:stCondLst>
                              <p:cond delay="1000"/>
                            </p:stCondLst>
                            <p:childTnLst>
                              <p:par>
                                <p:cTn id="71" presetID="1" presetClass="entr" presetSubtype="0" fill="hold" nodeType="afterEffect">
                                  <p:stCondLst>
                                    <p:cond delay="0"/>
                                  </p:stCondLst>
                                  <p:childTnLst>
                                    <p:set>
                                      <p:cBhvr>
                                        <p:cTn id="72" dur="1" fill="hold">
                                          <p:stCondLst>
                                            <p:cond delay="499"/>
                                          </p:stCondLst>
                                        </p:cTn>
                                        <p:tgtEl>
                                          <p:spTgt spid="12"/>
                                        </p:tgtEl>
                                        <p:attrNameLst>
                                          <p:attrName>style.visibility</p:attrName>
                                        </p:attrNameLst>
                                      </p:cBhvr>
                                      <p:to>
                                        <p:strVal val="visible"/>
                                      </p:to>
                                    </p:set>
                                  </p:childTnLst>
                                </p:cTn>
                              </p:par>
                            </p:childTnLst>
                          </p:cTn>
                        </p:par>
                        <p:par>
                          <p:cTn id="73" fill="hold">
                            <p:stCondLst>
                              <p:cond delay="1500"/>
                            </p:stCondLst>
                            <p:childTnLst>
                              <p:par>
                                <p:cTn id="74" presetID="2" presetClass="entr" presetSubtype="8" fill="hold" nodeType="afterEffect">
                                  <p:stCondLst>
                                    <p:cond delay="0"/>
                                  </p:stCondLst>
                                  <p:childTnLst>
                                    <p:set>
                                      <p:cBhvr>
                                        <p:cTn id="75" dur="1" fill="hold">
                                          <p:stCondLst>
                                            <p:cond delay="0"/>
                                          </p:stCondLst>
                                        </p:cTn>
                                        <p:tgtEl>
                                          <p:spTgt spid="14"/>
                                        </p:tgtEl>
                                        <p:attrNameLst>
                                          <p:attrName>style.visibility</p:attrName>
                                        </p:attrNameLst>
                                      </p:cBhvr>
                                      <p:to>
                                        <p:strVal val="visible"/>
                                      </p:to>
                                    </p:set>
                                    <p:anim calcmode="lin" valueType="num">
                                      <p:cBhvr additive="base">
                                        <p:cTn id="76" dur="500" fill="hold"/>
                                        <p:tgtEl>
                                          <p:spTgt spid="14"/>
                                        </p:tgtEl>
                                        <p:attrNameLst>
                                          <p:attrName>ppt_x</p:attrName>
                                        </p:attrNameLst>
                                      </p:cBhvr>
                                      <p:tavLst>
                                        <p:tav tm="0">
                                          <p:val>
                                            <p:strVal val="0-#ppt_w/2"/>
                                          </p:val>
                                        </p:tav>
                                        <p:tav tm="100000">
                                          <p:val>
                                            <p:strVal val="#ppt_x"/>
                                          </p:val>
                                        </p:tav>
                                      </p:tavLst>
                                    </p:anim>
                                    <p:anim calcmode="lin" valueType="num">
                                      <p:cBhvr additive="base">
                                        <p:cTn id="77"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bldLvl="0" animBg="1" autoUpdateAnimBg="0"/>
      <p:bldP spid="34822" grpId="0" bldLvl="0" animBg="1" autoUpdateAnimBg="0"/>
      <p:bldP spid="34823" grpId="0" bldLvl="0" animBg="1" autoUpdateAnimBg="0"/>
      <p:bldP spid="34824" grpId="0" bldLvl="0" animBg="1" autoUpdateAnimBg="0"/>
      <p:bldP spid="8" grpId="0" bldLvl="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8"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75663" y="650875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30"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39200" y="650875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t> </a:t>
            </a:r>
            <a:endParaRPr lang="en-US" altLang="zh-CN" dirty="0"/>
          </a:p>
        </p:txBody>
      </p:sp>
      <p:sp>
        <p:nvSpPr>
          <p:cNvPr id="14338" name="Rectangle 2"/>
          <p:cNvSpPr>
            <a:spLocks noGrp="1" noChangeArrowheads="1"/>
          </p:cNvSpPr>
          <p:nvPr>
            <p:ph type="title"/>
          </p:nvPr>
        </p:nvSpPr>
        <p:spPr bwMode="auto">
          <a:xfrm>
            <a:off x="6081713" y="55563"/>
            <a:ext cx="2986087"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rPr>
              <a:t>3.5-1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22563" name="图片 22562" descr="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3968" y="1412776"/>
            <a:ext cx="4645385" cy="223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65" name="图片 22564" descr="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1179420" flipV="1">
            <a:off x="5857555" y="4172899"/>
            <a:ext cx="3076460" cy="1805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6" name="矩形 22535"/>
          <p:cNvSpPr>
            <a:spLocks noChangeArrowheads="1"/>
          </p:cNvSpPr>
          <p:nvPr/>
        </p:nvSpPr>
        <p:spPr bwMode="auto">
          <a:xfrm>
            <a:off x="281365" y="925354"/>
            <a:ext cx="274320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buClr>
                <a:schemeClr val="hlink"/>
              </a:buClr>
              <a:buSzPct val="110000"/>
              <a:buFont typeface="Wingdings" panose="05000000000000000000" pitchFamily="2" charset="2"/>
              <a:buNone/>
            </a:pPr>
            <a:r>
              <a:rPr lang="en-US" altLang="zh-CN" sz="2400" dirty="0">
                <a:solidFill>
                  <a:srgbClr val="0000FF"/>
                </a:solidFill>
                <a:latin typeface="黑体" panose="02010609060101010101" pitchFamily="49" charset="-122"/>
                <a:ea typeface="黑体" panose="02010609060101010101" pitchFamily="49" charset="-122"/>
              </a:rPr>
              <a:t>1</a:t>
            </a:r>
            <a:r>
              <a:rPr lang="zh-CN" altLang="en-US" sz="2400" dirty="0">
                <a:solidFill>
                  <a:srgbClr val="0000FF"/>
                </a:solidFill>
                <a:latin typeface="黑体" panose="02010609060101010101" pitchFamily="49" charset="-122"/>
                <a:ea typeface="黑体" panose="02010609060101010101" pitchFamily="49" charset="-122"/>
              </a:rPr>
              <a:t>．平键连接</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2" name="文本框 1"/>
          <p:cNvSpPr txBox="1">
            <a:spLocks noChangeArrowheads="1"/>
          </p:cNvSpPr>
          <p:nvPr/>
        </p:nvSpPr>
        <p:spPr bwMode="auto">
          <a:xfrm>
            <a:off x="221675" y="1518945"/>
            <a:ext cx="3888432" cy="1276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zh-CN" altLang="en-US" sz="2000" dirty="0">
                <a:solidFill>
                  <a:srgbClr val="000099"/>
                </a:solidFill>
                <a:latin typeface="华文中宋" panose="02010600040101010101" pitchFamily="2" charset="-122"/>
              </a:rPr>
              <a:t>　　</a:t>
            </a:r>
            <a:r>
              <a:rPr lang="zh-CN" altLang="en-US" dirty="0">
                <a:solidFill>
                  <a:srgbClr val="000099"/>
                </a:solidFill>
                <a:latin typeface="华文中宋" panose="02010600040101010101" pitchFamily="2" charset="-122"/>
              </a:rPr>
              <a:t>平键的两侧面是工作面，上表面与轮毂的键槽底面间则留有间隙。</a:t>
            </a:r>
            <a:endParaRPr lang="zh-CN" altLang="en-US" dirty="0">
              <a:solidFill>
                <a:srgbClr val="000099"/>
              </a:solidFill>
              <a:latin typeface="华文中宋" panose="02010600040101010101" pitchFamily="2" charset="-122"/>
            </a:endParaRPr>
          </a:p>
        </p:txBody>
      </p:sp>
      <p:sp>
        <p:nvSpPr>
          <p:cNvPr id="22544" name="矩形 22543"/>
          <p:cNvSpPr>
            <a:spLocks noChangeArrowheads="1"/>
          </p:cNvSpPr>
          <p:nvPr/>
        </p:nvSpPr>
        <p:spPr bwMode="auto">
          <a:xfrm>
            <a:off x="287655" y="2889250"/>
            <a:ext cx="3700145"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zh-CN" altLang="en-US" sz="2400" dirty="0">
                <a:solidFill>
                  <a:srgbClr val="000099"/>
                </a:solidFill>
                <a:latin typeface="华文中宋" panose="02010600040101010101" pitchFamily="2" charset="-122"/>
              </a:rPr>
              <a:t>根据用途，平键又可分为</a:t>
            </a:r>
            <a:endParaRPr lang="zh-CN" altLang="en-US" sz="2400" dirty="0">
              <a:solidFill>
                <a:srgbClr val="000099"/>
              </a:solidFill>
              <a:latin typeface="华文中宋" panose="02010600040101010101" pitchFamily="2" charset="-122"/>
            </a:endParaRPr>
          </a:p>
          <a:p>
            <a:pPr eaLnBrk="1" hangingPunct="1">
              <a:lnSpc>
                <a:spcPct val="120000"/>
              </a:lnSpc>
              <a:buClr>
                <a:schemeClr val="hlink"/>
              </a:buClr>
              <a:buSzPct val="80000"/>
              <a:buFont typeface="Wingdings" panose="05000000000000000000" pitchFamily="2" charset="2"/>
              <a:buBlip>
                <a:blip r:embed="rId6"/>
              </a:buBlip>
            </a:pPr>
            <a:r>
              <a:rPr lang="zh-CN" altLang="en-US" sz="2400" dirty="0">
                <a:solidFill>
                  <a:srgbClr val="000099"/>
                </a:solidFill>
                <a:latin typeface="华文中宋" panose="02010600040101010101" pitchFamily="2" charset="-122"/>
              </a:rPr>
              <a:t> 普通平键</a:t>
            </a:r>
            <a:endParaRPr lang="zh-CN" altLang="en-US" sz="2400" dirty="0">
              <a:solidFill>
                <a:srgbClr val="000099"/>
              </a:solidFill>
              <a:latin typeface="华文中宋" panose="02010600040101010101" pitchFamily="2" charset="-122"/>
            </a:endParaRPr>
          </a:p>
          <a:p>
            <a:pPr eaLnBrk="1" hangingPunct="1">
              <a:lnSpc>
                <a:spcPct val="120000"/>
              </a:lnSpc>
              <a:buClr>
                <a:schemeClr val="hlink"/>
              </a:buClr>
              <a:buSzPct val="80000"/>
              <a:buFont typeface="Wingdings" panose="05000000000000000000" pitchFamily="2" charset="2"/>
              <a:buBlip>
                <a:blip r:embed="rId6"/>
              </a:buBlip>
            </a:pPr>
            <a:r>
              <a:rPr lang="zh-CN" altLang="en-US" sz="2400" dirty="0">
                <a:solidFill>
                  <a:srgbClr val="000099"/>
                </a:solidFill>
                <a:latin typeface="华文中宋" panose="02010600040101010101" pitchFamily="2" charset="-122"/>
              </a:rPr>
              <a:t> 导向平键</a:t>
            </a:r>
            <a:endParaRPr lang="zh-CN" altLang="en-US" sz="2400" dirty="0">
              <a:solidFill>
                <a:srgbClr val="000099"/>
              </a:solidFill>
              <a:latin typeface="华文中宋" panose="02010600040101010101" pitchFamily="2" charset="-122"/>
            </a:endParaRPr>
          </a:p>
          <a:p>
            <a:pPr eaLnBrk="1" hangingPunct="1">
              <a:lnSpc>
                <a:spcPct val="120000"/>
              </a:lnSpc>
              <a:buClr>
                <a:schemeClr val="hlink"/>
              </a:buClr>
              <a:buSzPct val="80000"/>
              <a:buFont typeface="Wingdings" panose="05000000000000000000" pitchFamily="2" charset="2"/>
              <a:buBlip>
                <a:blip r:embed="rId6"/>
              </a:buBlip>
            </a:pPr>
            <a:r>
              <a:rPr lang="zh-CN" altLang="en-US" sz="2400" dirty="0">
                <a:solidFill>
                  <a:srgbClr val="000099"/>
                </a:solidFill>
                <a:latin typeface="华文中宋" panose="02010600040101010101" pitchFamily="2" charset="-122"/>
              </a:rPr>
              <a:t> 滑键</a:t>
            </a:r>
            <a:endParaRPr lang="zh-CN" altLang="en-US" sz="2400" dirty="0">
              <a:solidFill>
                <a:srgbClr val="000099"/>
              </a:solidFill>
              <a:latin typeface="华文中宋" panose="02010600040101010101" pitchFamily="2" charset="-122"/>
            </a:endParaRPr>
          </a:p>
        </p:txBody>
      </p:sp>
      <p:sp>
        <p:nvSpPr>
          <p:cNvPr id="22534" name="矩形 22533"/>
          <p:cNvSpPr>
            <a:spLocks noChangeArrowheads="1"/>
          </p:cNvSpPr>
          <p:nvPr/>
        </p:nvSpPr>
        <p:spPr bwMode="auto">
          <a:xfrm>
            <a:off x="293370" y="4781550"/>
            <a:ext cx="566674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zh-CN" altLang="en-US" sz="2400" dirty="0">
                <a:solidFill>
                  <a:srgbClr val="000099"/>
                </a:solidFill>
                <a:latin typeface="华文中宋" panose="02010600040101010101" pitchFamily="2" charset="-122"/>
              </a:rPr>
              <a:t>普</a:t>
            </a:r>
            <a:r>
              <a:rPr lang="zh-CN" altLang="en-US" sz="2400" dirty="0">
                <a:solidFill>
                  <a:srgbClr val="000099"/>
                </a:solidFill>
                <a:latin typeface="华文中宋" panose="02010600040101010101" pitchFamily="2" charset="-122"/>
              </a:rPr>
              <a:t>通平键应用极为广泛。</a:t>
            </a:r>
            <a:endParaRPr lang="zh-CN" altLang="en-US" sz="2400" dirty="0">
              <a:solidFill>
                <a:srgbClr val="000099"/>
              </a:solidFill>
              <a:latin typeface="华文中宋" panose="02010600040101010101" pitchFamily="2" charset="-122"/>
            </a:endParaRPr>
          </a:p>
          <a:p>
            <a:pPr eaLnBrk="1" hangingPunct="1">
              <a:lnSpc>
                <a:spcPct val="120000"/>
              </a:lnSpc>
              <a:buClr>
                <a:schemeClr val="hlink"/>
              </a:buClr>
              <a:buSzPct val="110000"/>
              <a:buFont typeface="Wingdings" panose="05000000000000000000" pitchFamily="2" charset="2"/>
              <a:buNone/>
            </a:pPr>
            <a:r>
              <a:rPr lang="zh-CN" altLang="en-US" sz="2400" dirty="0">
                <a:solidFill>
                  <a:srgbClr val="000099"/>
                </a:solidFill>
                <a:latin typeface="华文中宋" panose="02010600040101010101" pitchFamily="2" charset="-122"/>
              </a:rPr>
              <a:t>轴上键槽可用指状铣刀或盘状铣刀加工，轮毂上的键槽可用线切割、拉刀、插床上的插刀加工。</a:t>
            </a:r>
            <a:endParaRPr lang="zh-CN" altLang="en-US" sz="2400" dirty="0">
              <a:solidFill>
                <a:srgbClr val="000099"/>
              </a:solidFill>
              <a:latin typeface="华文中宋" panose="02010600040101010101" pitchFamily="2" charset="-122"/>
            </a:endParaRPr>
          </a:p>
        </p:txBody>
      </p:sp>
      <p:sp>
        <p:nvSpPr>
          <p:cNvPr id="22547" name="文本框 22546"/>
          <p:cNvSpPr txBox="1">
            <a:spLocks noChangeArrowheads="1"/>
          </p:cNvSpPr>
          <p:nvPr/>
        </p:nvSpPr>
        <p:spPr bwMode="auto">
          <a:xfrm>
            <a:off x="3391178" y="4101450"/>
            <a:ext cx="172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CC3300"/>
                </a:solidFill>
                <a:hlinkClick r:id="rId7" action="ppaction://hlinksldjump"/>
              </a:rPr>
              <a:t>详细说明</a:t>
            </a:r>
            <a:r>
              <a:rPr lang="en-US" altLang="zh-CN" sz="2000" dirty="0">
                <a:solidFill>
                  <a:srgbClr val="CC3300"/>
                </a:solidFill>
                <a:hlinkClick r:id="rId7" action="ppaction://hlinksldjump"/>
              </a:rPr>
              <a:t>→</a:t>
            </a:r>
            <a:endParaRPr lang="zh-CN" altLang="en-US" sz="2000" dirty="0">
              <a:solidFill>
                <a:srgbClr val="CC3300"/>
              </a:solidFill>
            </a:endParaRPr>
          </a:p>
        </p:txBody>
      </p:sp>
      <p:sp>
        <p:nvSpPr>
          <p:cNvPr id="7184"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cxnSp>
        <p:nvCxnSpPr>
          <p:cNvPr id="4" name="直接连接符 3"/>
          <p:cNvCxnSpPr/>
          <p:nvPr/>
        </p:nvCxnSpPr>
        <p:spPr bwMode="auto">
          <a:xfrm>
            <a:off x="5212664" y="1904332"/>
            <a:ext cx="0" cy="288032"/>
          </a:xfrm>
          <a:prstGeom prst="line">
            <a:avLst/>
          </a:prstGeom>
          <a:noFill/>
          <a:ln w="28575" cap="flat" cmpd="sng" algn="ctr">
            <a:solidFill>
              <a:srgbClr val="FF3300"/>
            </a:solidFill>
            <a:prstDash val="solid"/>
            <a:round/>
            <a:headEnd type="none" w="med" len="med"/>
            <a:tailEnd type="none" w="med" len="med"/>
          </a:ln>
        </p:spPr>
      </p:cxnSp>
      <p:cxnSp>
        <p:nvCxnSpPr>
          <p:cNvPr id="16" name="直接连接符 15"/>
          <p:cNvCxnSpPr/>
          <p:nvPr/>
        </p:nvCxnSpPr>
        <p:spPr bwMode="auto">
          <a:xfrm>
            <a:off x="5464003" y="1906998"/>
            <a:ext cx="0" cy="288032"/>
          </a:xfrm>
          <a:prstGeom prst="line">
            <a:avLst/>
          </a:prstGeom>
          <a:noFill/>
          <a:ln w="28575" cap="flat" cmpd="sng" algn="ctr">
            <a:solidFill>
              <a:srgbClr val="FF3300"/>
            </a:solidFill>
            <a:prstDash val="solid"/>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6"/>
                                        </p:tgtEl>
                                        <p:attrNameLst>
                                          <p:attrName>style.visibility</p:attrName>
                                        </p:attrNameLst>
                                      </p:cBhvr>
                                      <p:to>
                                        <p:strVal val="visible"/>
                                      </p:to>
                                    </p:set>
                                    <p:animEffect transition="in" filter="wipe(left)">
                                      <p:cBhvr>
                                        <p:cTn id="7" dur="500"/>
                                        <p:tgtEl>
                                          <p:spTgt spid="225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565"/>
                                        </p:tgtEl>
                                        <p:attrNameLst>
                                          <p:attrName>style.visibility</p:attrName>
                                        </p:attrNameLst>
                                      </p:cBhvr>
                                      <p:to>
                                        <p:strVal val="visible"/>
                                      </p:to>
                                    </p:set>
                                    <p:animEffect transition="in" filter="wipe(left)">
                                      <p:cBhvr>
                                        <p:cTn id="17" dur="500"/>
                                        <p:tgtEl>
                                          <p:spTgt spid="225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563"/>
                                        </p:tgtEl>
                                        <p:attrNameLst>
                                          <p:attrName>style.visibility</p:attrName>
                                        </p:attrNameLst>
                                      </p:cBhvr>
                                      <p:to>
                                        <p:strVal val="visible"/>
                                      </p:to>
                                    </p:set>
                                    <p:animEffect transition="in" filter="wipe(left)">
                                      <p:cBhvr>
                                        <p:cTn id="22" dur="500"/>
                                        <p:tgtEl>
                                          <p:spTgt spid="2256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up)">
                                      <p:cBhvr>
                                        <p:cTn id="27" dur="500"/>
                                        <p:tgtEl>
                                          <p:spTgt spid="4"/>
                                        </p:tgtEl>
                                      </p:cBhvr>
                                    </p:animEffect>
                                  </p:childTnLst>
                                </p:cTn>
                              </p:par>
                              <p:par>
                                <p:cTn id="28" presetID="22" presetClass="entr" presetSubtype="1"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2544"/>
                                        </p:tgtEl>
                                        <p:attrNameLst>
                                          <p:attrName>style.visibility</p:attrName>
                                        </p:attrNameLst>
                                      </p:cBhvr>
                                      <p:to>
                                        <p:strVal val="visible"/>
                                      </p:to>
                                    </p:set>
                                    <p:animEffect transition="in" filter="wipe(left)">
                                      <p:cBhvr>
                                        <p:cTn id="35" dur="500"/>
                                        <p:tgtEl>
                                          <p:spTgt spid="22544"/>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22547"/>
                                        </p:tgtEl>
                                        <p:attrNameLst>
                                          <p:attrName>style.visibility</p:attrName>
                                        </p:attrNameLst>
                                      </p:cBhvr>
                                      <p:to>
                                        <p:strVal val="visible"/>
                                      </p:to>
                                    </p:set>
                                    <p:animEffect transition="in" filter="wipe(left)">
                                      <p:cBhvr>
                                        <p:cTn id="39" dur="500"/>
                                        <p:tgtEl>
                                          <p:spTgt spid="2254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2534"/>
                                        </p:tgtEl>
                                        <p:attrNameLst>
                                          <p:attrName>style.visibility</p:attrName>
                                        </p:attrNameLst>
                                      </p:cBhvr>
                                      <p:to>
                                        <p:strVal val="visible"/>
                                      </p:to>
                                    </p:set>
                                    <p:animEffect transition="in" filter="wipe(left)">
                                      <p:cBhvr>
                                        <p:cTn id="44" dur="500"/>
                                        <p:tgtEl>
                                          <p:spTgt spid="22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6" grpId="0"/>
      <p:bldP spid="2" grpId="0"/>
      <p:bldP spid="22544" grpId="0"/>
      <p:bldP spid="22534" grpId="0"/>
      <p:bldP spid="225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4338" name="Rectangle 2"/>
          <p:cNvSpPr>
            <a:spLocks noGrp="1" noChangeArrowheads="1"/>
          </p:cNvSpPr>
          <p:nvPr>
            <p:ph type="title"/>
          </p:nvPr>
        </p:nvSpPr>
        <p:spPr bwMode="auto">
          <a:xfrm>
            <a:off x="6042343" y="250190"/>
            <a:ext cx="2984500" cy="490538"/>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3.5-1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6147"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36"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4" name="矩形 26643"/>
          <p:cNvSpPr>
            <a:spLocks noChangeArrowheads="1"/>
          </p:cNvSpPr>
          <p:nvPr/>
        </p:nvSpPr>
        <p:spPr bwMode="auto">
          <a:xfrm>
            <a:off x="285750" y="857250"/>
            <a:ext cx="2033588" cy="4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buClr>
                <a:schemeClr val="hlink"/>
              </a:buClr>
              <a:buSzPct val="110000"/>
            </a:pPr>
            <a:r>
              <a:rPr lang="en-US" altLang="zh-CN" dirty="0">
                <a:solidFill>
                  <a:srgbClr val="0000FF"/>
                </a:solidFill>
                <a:latin typeface="黑体" panose="02010609060101010101" pitchFamily="49" charset="-122"/>
                <a:ea typeface="黑体" panose="02010609060101010101" pitchFamily="49" charset="-122"/>
              </a:rPr>
              <a:t>2</a:t>
            </a:r>
            <a:r>
              <a:rPr lang="zh-CN" altLang="en-US" dirty="0">
                <a:solidFill>
                  <a:srgbClr val="0000FF"/>
                </a:solidFill>
                <a:latin typeface="黑体" panose="02010609060101010101" pitchFamily="49" charset="-122"/>
                <a:ea typeface="黑体" panose="02010609060101010101" pitchFamily="49" charset="-122"/>
              </a:rPr>
              <a:t>．半圆键连接</a:t>
            </a:r>
            <a:endParaRPr lang="zh-CN" altLang="en-US" dirty="0">
              <a:solidFill>
                <a:srgbClr val="0000FF"/>
              </a:solidFill>
              <a:latin typeface="黑体" panose="02010609060101010101" pitchFamily="49" charset="-122"/>
              <a:ea typeface="黑体" panose="02010609060101010101" pitchFamily="49" charset="-122"/>
            </a:endParaRPr>
          </a:p>
        </p:txBody>
      </p:sp>
      <p:sp>
        <p:nvSpPr>
          <p:cNvPr id="6155" name="矩形 26644"/>
          <p:cNvSpPr>
            <a:spLocks noChangeArrowheads="1"/>
          </p:cNvSpPr>
          <p:nvPr/>
        </p:nvSpPr>
        <p:spPr bwMode="auto">
          <a:xfrm>
            <a:off x="251520" y="1340768"/>
            <a:ext cx="4271962" cy="1276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华文中宋" panose="02010600040101010101" pitchFamily="2" charset="-122"/>
              </a:rPr>
              <a:t>　　</a:t>
            </a:r>
            <a:r>
              <a:rPr lang="zh-CN" altLang="en-US" dirty="0">
                <a:solidFill>
                  <a:srgbClr val="000099"/>
                </a:solidFill>
                <a:latin typeface="华文中宋" panose="02010600040101010101" pitchFamily="2" charset="-122"/>
              </a:rPr>
              <a:t>半圆键的两个侧面是工作面，键的上表面与轮毂的键槽底面间则留有间隙。</a:t>
            </a:r>
            <a:endParaRPr lang="zh-CN" altLang="en-US" dirty="0">
              <a:solidFill>
                <a:srgbClr val="000099"/>
              </a:solidFill>
              <a:latin typeface="华文中宋" panose="02010600040101010101" pitchFamily="2" charset="-122"/>
            </a:endParaRPr>
          </a:p>
        </p:txBody>
      </p:sp>
      <p:sp>
        <p:nvSpPr>
          <p:cNvPr id="6161" name="文本框 26632"/>
          <p:cNvSpPr txBox="1">
            <a:spLocks noChangeArrowheads="1"/>
          </p:cNvSpPr>
          <p:nvPr/>
        </p:nvSpPr>
        <p:spPr bwMode="auto">
          <a:xfrm>
            <a:off x="0" y="3071813"/>
            <a:ext cx="9144000" cy="92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30000"/>
              </a:lnSpc>
              <a:buClr>
                <a:schemeClr val="hlink"/>
              </a:buClr>
              <a:buSzPct val="110000"/>
              <a:buFont typeface="Wingdings" panose="05000000000000000000" pitchFamily="2" charset="2"/>
              <a:buNone/>
            </a:pPr>
            <a:r>
              <a:rPr lang="zh-CN" altLang="en-US" sz="2000" dirty="0">
                <a:solidFill>
                  <a:srgbClr val="000099"/>
                </a:solidFill>
                <a:latin typeface="华文中宋" panose="02010600040101010101" pitchFamily="2" charset="-122"/>
              </a:rPr>
              <a:t>　　</a:t>
            </a:r>
            <a:r>
              <a:rPr lang="zh-CN" altLang="en-US" dirty="0">
                <a:solidFill>
                  <a:srgbClr val="000099"/>
                </a:solidFill>
                <a:latin typeface="华文中宋" panose="02010600040101010101" pitchFamily="2" charset="-122"/>
              </a:rPr>
              <a:t>楔键的上下两面是工作面，键的上下表面及与它相配合的轮毂键槽底面均具有</a:t>
            </a:r>
            <a:r>
              <a:rPr lang="en-US" altLang="zh-CN" dirty="0">
                <a:solidFill>
                  <a:srgbClr val="000099"/>
                </a:solidFill>
                <a:latin typeface="华文中宋" panose="02010600040101010101" pitchFamily="2" charset="-122"/>
              </a:rPr>
              <a:t>1:100</a:t>
            </a:r>
            <a:r>
              <a:rPr lang="zh-CN" altLang="en-US" dirty="0">
                <a:solidFill>
                  <a:srgbClr val="000099"/>
                </a:solidFill>
                <a:latin typeface="华文中宋" panose="02010600040101010101" pitchFamily="2" charset="-122"/>
              </a:rPr>
              <a:t>的斜度。</a:t>
            </a:r>
            <a:endParaRPr lang="zh-CN" altLang="en-US" dirty="0">
              <a:solidFill>
                <a:srgbClr val="000099"/>
              </a:solidFill>
              <a:latin typeface="华文中宋" panose="02010600040101010101" pitchFamily="2" charset="-122"/>
            </a:endParaRPr>
          </a:p>
        </p:txBody>
      </p:sp>
      <p:sp>
        <p:nvSpPr>
          <p:cNvPr id="6162" name="矩形 26635"/>
          <p:cNvSpPr>
            <a:spLocks noChangeArrowheads="1"/>
          </p:cNvSpPr>
          <p:nvPr/>
        </p:nvSpPr>
        <p:spPr bwMode="auto">
          <a:xfrm>
            <a:off x="214313" y="2643188"/>
            <a:ext cx="1736373" cy="444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buClr>
                <a:schemeClr val="hlink"/>
              </a:buClr>
              <a:buSzPct val="110000"/>
            </a:pPr>
            <a:r>
              <a:rPr lang="en-US" altLang="zh-CN" dirty="0">
                <a:solidFill>
                  <a:srgbClr val="0000FF"/>
                </a:solidFill>
                <a:latin typeface="黑体" panose="02010609060101010101" pitchFamily="49" charset="-122"/>
                <a:ea typeface="黑体" panose="02010609060101010101" pitchFamily="49" charset="-122"/>
              </a:rPr>
              <a:t>3</a:t>
            </a:r>
            <a:r>
              <a:rPr lang="zh-CN" altLang="en-US" dirty="0">
                <a:solidFill>
                  <a:srgbClr val="0000FF"/>
                </a:solidFill>
                <a:latin typeface="黑体" panose="02010609060101010101" pitchFamily="49" charset="-122"/>
                <a:ea typeface="黑体" panose="02010609060101010101" pitchFamily="49" charset="-122"/>
              </a:rPr>
              <a:t>．楔键连接</a:t>
            </a:r>
            <a:endParaRPr lang="zh-CN" altLang="en-US" dirty="0">
              <a:solidFill>
                <a:srgbClr val="0000FF"/>
              </a:solidFill>
              <a:latin typeface="黑体" panose="02010609060101010101" pitchFamily="49" charset="-122"/>
              <a:ea typeface="黑体" panose="02010609060101010101" pitchFamily="49" charset="-122"/>
            </a:endParaRPr>
          </a:p>
        </p:txBody>
      </p:sp>
      <p:pic>
        <p:nvPicPr>
          <p:cNvPr id="2"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6313" y="857250"/>
            <a:ext cx="4060825"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9"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5616" y="3985992"/>
            <a:ext cx="6000750" cy="287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5"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4"/>
                                        </p:tgtEl>
                                        <p:attrNameLst>
                                          <p:attrName>style.visibility</p:attrName>
                                        </p:attrNameLst>
                                      </p:cBhvr>
                                      <p:to>
                                        <p:strVal val="visible"/>
                                      </p:to>
                                    </p:set>
                                    <p:animEffect transition="in" filter="wipe(left)">
                                      <p:cBhvr>
                                        <p:cTn id="7" dur="500"/>
                                        <p:tgtEl>
                                          <p:spTgt spid="61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55"/>
                                        </p:tgtEl>
                                        <p:attrNameLst>
                                          <p:attrName>style.visibility</p:attrName>
                                        </p:attrNameLst>
                                      </p:cBhvr>
                                      <p:to>
                                        <p:strVal val="visible"/>
                                      </p:to>
                                    </p:set>
                                    <p:animEffect transition="in" filter="wipe(left)">
                                      <p:cBhvr>
                                        <p:cTn id="12" dur="500"/>
                                        <p:tgtEl>
                                          <p:spTgt spid="6155"/>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162"/>
                                        </p:tgtEl>
                                        <p:attrNameLst>
                                          <p:attrName>style.visibility</p:attrName>
                                        </p:attrNameLst>
                                      </p:cBhvr>
                                      <p:to>
                                        <p:strVal val="visible"/>
                                      </p:to>
                                    </p:set>
                                    <p:animEffect transition="in" filter="wipe(left)">
                                      <p:cBhvr>
                                        <p:cTn id="20" dur="500"/>
                                        <p:tgtEl>
                                          <p:spTgt spid="616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161"/>
                                        </p:tgtEl>
                                        <p:attrNameLst>
                                          <p:attrName>style.visibility</p:attrName>
                                        </p:attrNameLst>
                                      </p:cBhvr>
                                      <p:to>
                                        <p:strVal val="visible"/>
                                      </p:to>
                                    </p:set>
                                    <p:animEffect transition="in" filter="wipe(left)">
                                      <p:cBhvr>
                                        <p:cTn id="25" dur="500"/>
                                        <p:tgtEl>
                                          <p:spTgt spid="6161"/>
                                        </p:tgtEl>
                                      </p:cBhvr>
                                    </p:animEffec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0"/>
                                          </p:stCondLst>
                                        </p:cTn>
                                        <p:tgtEl>
                                          <p:spTgt spid="6159"/>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nodeType="afterEffect">
                                  <p:stCondLst>
                                    <p:cond delay="0"/>
                                  </p:stCondLst>
                                  <p:childTnLst>
                                    <p:set>
                                      <p:cBhvr>
                                        <p:cTn id="31" dur="1" fill="hold">
                                          <p:stCondLst>
                                            <p:cond delay="0"/>
                                          </p:stCondLst>
                                        </p:cTn>
                                        <p:tgtEl>
                                          <p:spTgt spid="6149"/>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6148"/>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nodeType="afterEffect">
                                  <p:stCondLst>
                                    <p:cond delay="0"/>
                                  </p:stCondLst>
                                  <p:childTnLst>
                                    <p:set>
                                      <p:cBhvr>
                                        <p:cTn id="37" dur="1" fill="hold">
                                          <p:stCondLst>
                                            <p:cond delay="0"/>
                                          </p:stCondLst>
                                        </p:cTn>
                                        <p:tgtEl>
                                          <p:spTgt spid="6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 grpId="0"/>
      <p:bldP spid="6155" grpId="0"/>
      <p:bldP spid="6161" grpId="0"/>
      <p:bldP spid="616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4338" name="Rectangle 2"/>
          <p:cNvSpPr>
            <a:spLocks noGrp="1" noChangeArrowheads="1"/>
          </p:cNvSpPr>
          <p:nvPr>
            <p:ph type="title"/>
          </p:nvPr>
        </p:nvSpPr>
        <p:spPr bwMode="auto">
          <a:xfrm>
            <a:off x="6142038" y="200025"/>
            <a:ext cx="2984500" cy="490538"/>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3.5-1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6147"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36"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7" name="文本框 26650"/>
          <p:cNvSpPr txBox="1">
            <a:spLocks noChangeArrowheads="1"/>
          </p:cNvSpPr>
          <p:nvPr/>
        </p:nvSpPr>
        <p:spPr bwMode="auto">
          <a:xfrm>
            <a:off x="205740" y="178435"/>
            <a:ext cx="2018501" cy="444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buClr>
                <a:schemeClr val="hlink"/>
              </a:buClr>
              <a:buSzPct val="110000"/>
            </a:pPr>
            <a:r>
              <a:rPr lang="en-US" altLang="zh-CN" dirty="0">
                <a:solidFill>
                  <a:srgbClr val="0000FF"/>
                </a:solidFill>
                <a:latin typeface="黑体" panose="02010609060101010101" pitchFamily="49" charset="-122"/>
                <a:ea typeface="黑体" panose="02010609060101010101" pitchFamily="49" charset="-122"/>
              </a:rPr>
              <a:t>4</a:t>
            </a:r>
            <a:r>
              <a:rPr lang="zh-CN" altLang="en-US" dirty="0">
                <a:solidFill>
                  <a:srgbClr val="0000FF"/>
                </a:solidFill>
                <a:latin typeface="黑体" panose="02010609060101010101" pitchFamily="49" charset="-122"/>
                <a:ea typeface="黑体" panose="02010609060101010101" pitchFamily="49" charset="-122"/>
              </a:rPr>
              <a:t>．切向键连接</a:t>
            </a:r>
            <a:endParaRPr lang="zh-CN" altLang="en-US" dirty="0">
              <a:solidFill>
                <a:srgbClr val="0000FF"/>
              </a:solidFill>
              <a:latin typeface="黑体" panose="02010609060101010101" pitchFamily="49" charset="-122"/>
              <a:ea typeface="黑体" panose="02010609060101010101" pitchFamily="49" charset="-122"/>
            </a:endParaRPr>
          </a:p>
        </p:txBody>
      </p:sp>
      <p:sp>
        <p:nvSpPr>
          <p:cNvPr id="6158" name="矩形 26651"/>
          <p:cNvSpPr>
            <a:spLocks noChangeArrowheads="1"/>
          </p:cNvSpPr>
          <p:nvPr/>
        </p:nvSpPr>
        <p:spPr bwMode="auto">
          <a:xfrm>
            <a:off x="59246" y="894105"/>
            <a:ext cx="8991600"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dirty="0">
                <a:solidFill>
                  <a:srgbClr val="000099"/>
                </a:solidFill>
                <a:latin typeface="Times New Roman" panose="02020603050405020304" pitchFamily="18" charset="0"/>
              </a:rPr>
              <a:t>由一对斜度为</a:t>
            </a:r>
            <a:r>
              <a:rPr lang="en-US" altLang="zh-CN" dirty="0">
                <a:solidFill>
                  <a:srgbClr val="000099"/>
                </a:solidFill>
                <a:latin typeface="Times New Roman" panose="02020603050405020304" pitchFamily="18" charset="0"/>
              </a:rPr>
              <a:t>1:100</a:t>
            </a:r>
            <a:r>
              <a:rPr lang="zh-CN" altLang="en-US" dirty="0">
                <a:solidFill>
                  <a:srgbClr val="000099"/>
                </a:solidFill>
                <a:latin typeface="Times New Roman" panose="02020603050405020304" pitchFamily="18" charset="0"/>
              </a:rPr>
              <a:t>的楔键组成。</a:t>
            </a:r>
            <a:r>
              <a:rPr lang="zh-CN" altLang="en-US">
                <a:sym typeface="+mn-ea"/>
              </a:rPr>
              <a:t>其上下两面（窄面）为工作面，其中之一面在通过轴心线的平面内。作面上的压力沿轴的切线方向作用，能传递很大的转矩。</a:t>
            </a:r>
            <a:r>
              <a:rPr lang="zh-CN" altLang="en-US" dirty="0">
                <a:solidFill>
                  <a:srgbClr val="000099"/>
                </a:solidFill>
                <a:latin typeface="Times New Roman" panose="02020603050405020304" pitchFamily="18" charset="0"/>
              </a:rPr>
              <a:t>用一个切向键时，只能传递单向转矩；当要传递双向转矩时，必须用两个切向键，两者间的夹角为</a:t>
            </a:r>
            <a:r>
              <a:rPr lang="en-US" altLang="zh-CN" dirty="0">
                <a:solidFill>
                  <a:srgbClr val="000099"/>
                </a:solidFill>
                <a:latin typeface="Times New Roman" panose="02020603050405020304" pitchFamily="18" charset="0"/>
              </a:rPr>
              <a:t>120°</a:t>
            </a:r>
            <a:r>
              <a:rPr lang="zh-CN" altLang="en-US" dirty="0">
                <a:solidFill>
                  <a:srgbClr val="000099"/>
                </a:solidFill>
                <a:latin typeface="Times New Roman" panose="02020603050405020304" pitchFamily="18" charset="0"/>
              </a:rPr>
              <a:t>～</a:t>
            </a:r>
            <a:r>
              <a:rPr lang="en-US" altLang="zh-CN" dirty="0">
                <a:solidFill>
                  <a:srgbClr val="000099"/>
                </a:solidFill>
                <a:latin typeface="Times New Roman" panose="02020603050405020304" pitchFamily="18" charset="0"/>
              </a:rPr>
              <a:t>130°</a:t>
            </a:r>
            <a:r>
              <a:rPr lang="zh-CN" altLang="en-US" dirty="0">
                <a:solidFill>
                  <a:srgbClr val="000099"/>
                </a:solidFill>
                <a:latin typeface="Times New Roman" panose="02020603050405020304" pitchFamily="18" charset="0"/>
              </a:rPr>
              <a:t>。</a:t>
            </a:r>
            <a:endParaRPr lang="zh-CN" altLang="en-US" dirty="0">
              <a:solidFill>
                <a:srgbClr val="000099"/>
              </a:solidFill>
              <a:latin typeface="Times New Roman" panose="02020603050405020304" pitchFamily="18" charset="0"/>
            </a:endParaRPr>
          </a:p>
          <a:p>
            <a:pPr eaLnBrk="1" hangingPunct="1">
              <a:lnSpc>
                <a:spcPct val="120000"/>
              </a:lnSpc>
            </a:pPr>
            <a:r>
              <a:rPr lang="zh-CN" altLang="en-US" dirty="0">
                <a:solidFill>
                  <a:srgbClr val="000099"/>
                </a:solidFill>
                <a:latin typeface="Times New Roman" panose="02020603050405020304" pitchFamily="18" charset="0"/>
              </a:rPr>
              <a:t> </a:t>
            </a:r>
            <a:r>
              <a:rPr lang="en-US" altLang="zh-CN" dirty="0">
                <a:solidFill>
                  <a:srgbClr val="000099"/>
                </a:solidFill>
                <a:latin typeface="Times New Roman" panose="02020603050405020304" pitchFamily="18" charset="0"/>
              </a:rPr>
              <a:t>    </a:t>
            </a:r>
            <a:r>
              <a:rPr lang="zh-CN" altLang="en-US" dirty="0">
                <a:solidFill>
                  <a:srgbClr val="FF0000"/>
                </a:solidFill>
                <a:latin typeface="Times New Roman" panose="02020603050405020304" pitchFamily="18" charset="0"/>
              </a:rPr>
              <a:t>用于轴径</a:t>
            </a:r>
            <a:r>
              <a:rPr lang="en-US" altLang="zh-CN" dirty="0">
                <a:solidFill>
                  <a:srgbClr val="FF0000"/>
                </a:solidFill>
                <a:latin typeface="Times New Roman" panose="02020603050405020304" pitchFamily="18" charset="0"/>
              </a:rPr>
              <a:t>&gt;100mm</a:t>
            </a:r>
            <a:r>
              <a:rPr lang="zh-CN" altLang="en-US" dirty="0">
                <a:solidFill>
                  <a:srgbClr val="FF0000"/>
                </a:solidFill>
                <a:latin typeface="Times New Roman" panose="02020603050405020304" pitchFamily="18" charset="0"/>
              </a:rPr>
              <a:t>、对中要求不严格而载荷很大的重型机械</a:t>
            </a:r>
            <a:r>
              <a:rPr lang="zh-CN" altLang="en-US" dirty="0">
                <a:solidFill>
                  <a:srgbClr val="000099"/>
                </a:solidFill>
                <a:latin typeface="Times New Roman" panose="02020603050405020304" pitchFamily="18" charset="0"/>
              </a:rPr>
              <a:t>。</a:t>
            </a:r>
            <a:endParaRPr lang="zh-CN" altLang="en-US" dirty="0">
              <a:solidFill>
                <a:srgbClr val="000099"/>
              </a:solidFill>
              <a:latin typeface="Times New Roman" panose="02020603050405020304" pitchFamily="18" charset="0"/>
            </a:endParaRPr>
          </a:p>
        </p:txBody>
      </p:sp>
      <p:sp>
        <p:nvSpPr>
          <p:cNvPr id="9226"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6" name="组合 5"/>
          <p:cNvGrpSpPr/>
          <p:nvPr/>
        </p:nvGrpSpPr>
        <p:grpSpPr>
          <a:xfrm>
            <a:off x="1139190" y="3182620"/>
            <a:ext cx="6121400" cy="3602990"/>
            <a:chOff x="1301" y="5012"/>
            <a:chExt cx="9640" cy="5674"/>
          </a:xfrm>
        </p:grpSpPr>
        <p:pic>
          <p:nvPicPr>
            <p:cNvPr id="100" name="图片 99"/>
            <p:cNvPicPr/>
            <p:nvPr>
              <p:custDataLst>
                <p:tags r:id="rId5"/>
              </p:custDataLst>
            </p:nvPr>
          </p:nvPicPr>
          <p:blipFill>
            <a:blip r:embed="rId6">
              <a:clrChange>
                <a:clrFrom>
                  <a:srgbClr val="010101">
                    <a:alpha val="100000"/>
                  </a:srgbClr>
                </a:clrFrom>
                <a:clrTo>
                  <a:srgbClr val="010101">
                    <a:alpha val="100000"/>
                    <a:alpha val="0"/>
                  </a:srgbClr>
                </a:clrTo>
              </a:clrChange>
            </a:blip>
            <a:stretch>
              <a:fillRect/>
            </a:stretch>
          </p:blipFill>
          <p:spPr>
            <a:xfrm>
              <a:off x="1301" y="5012"/>
              <a:ext cx="9641" cy="5675"/>
            </a:xfrm>
            <a:prstGeom prst="rect">
              <a:avLst/>
            </a:prstGeom>
            <a:noFill/>
            <a:ln w="9525">
              <a:noFill/>
            </a:ln>
          </p:spPr>
        </p:pic>
        <p:cxnSp>
          <p:nvCxnSpPr>
            <p:cNvPr id="5" name="直接连接符 4"/>
            <p:cNvCxnSpPr/>
            <p:nvPr/>
          </p:nvCxnSpPr>
          <p:spPr>
            <a:xfrm>
              <a:off x="2758" y="5793"/>
              <a:ext cx="462" cy="447"/>
            </a:xfrm>
            <a:prstGeom prst="line">
              <a:avLst/>
            </a:prstGeom>
            <a:noFill/>
            <a:ln w="9525" cap="flat" cmpd="sng" algn="ctr">
              <a:solidFill>
                <a:srgbClr val="FF0000"/>
              </a:solidFill>
              <a:prstDash val="solid"/>
              <a:round/>
              <a:headEnd type="none" w="med" len="med"/>
              <a:tailEnd type="none" w="med" len="med"/>
            </a:ln>
          </p:spPr>
        </p:cxnSp>
      </p:grpSp>
      <p:sp>
        <p:nvSpPr>
          <p:cNvPr id="8" name="任意多边形 7"/>
          <p:cNvSpPr/>
          <p:nvPr/>
        </p:nvSpPr>
        <p:spPr>
          <a:xfrm>
            <a:off x="1677670" y="5779135"/>
            <a:ext cx="227965" cy="207645"/>
          </a:xfrm>
          <a:custGeom>
            <a:avLst/>
            <a:gdLst>
              <a:gd name="connisteX0" fmla="*/ 227965 w 227965"/>
              <a:gd name="connsiteY0" fmla="*/ 0 h 207645"/>
              <a:gd name="connisteX1" fmla="*/ 186690 w 227965"/>
              <a:gd name="connsiteY1" fmla="*/ 114300 h 207645"/>
              <a:gd name="connisteX2" fmla="*/ 98425 w 227965"/>
              <a:gd name="connsiteY2" fmla="*/ 170815 h 207645"/>
              <a:gd name="connisteX3" fmla="*/ 0 w 227965"/>
              <a:gd name="connsiteY3" fmla="*/ 207645 h 207645"/>
            </a:gdLst>
            <a:ahLst/>
            <a:cxnLst>
              <a:cxn ang="0">
                <a:pos x="connisteX0" y="connsiteY0"/>
              </a:cxn>
              <a:cxn ang="0">
                <a:pos x="connisteX1" y="connsiteY1"/>
              </a:cxn>
              <a:cxn ang="0">
                <a:pos x="connisteX2" y="connsiteY2"/>
              </a:cxn>
              <a:cxn ang="0">
                <a:pos x="connisteX3" y="connsiteY3"/>
              </a:cxn>
            </a:cxnLst>
            <a:rect l="l" t="t" r="r" b="b"/>
            <a:pathLst>
              <a:path w="227965" h="207645">
                <a:moveTo>
                  <a:pt x="227965" y="0"/>
                </a:moveTo>
                <a:cubicBezTo>
                  <a:pt x="221615" y="21590"/>
                  <a:pt x="212725" y="80010"/>
                  <a:pt x="186690" y="114300"/>
                </a:cubicBezTo>
                <a:cubicBezTo>
                  <a:pt x="160655" y="148590"/>
                  <a:pt x="135890" y="152400"/>
                  <a:pt x="98425" y="170815"/>
                </a:cubicBezTo>
                <a:cubicBezTo>
                  <a:pt x="60960" y="189230"/>
                  <a:pt x="17780" y="201295"/>
                  <a:pt x="0" y="207645"/>
                </a:cubicBezTo>
              </a:path>
            </a:pathLst>
          </a:custGeom>
          <a:noFill/>
          <a:ln w="19050" cap="flat" cmpd="sng" algn="ctr">
            <a:solidFill>
              <a:srgbClr val="FF0000"/>
            </a:solidFill>
            <a:prstDash val="solid"/>
            <a:round/>
            <a:headEnd type="none" w="med" len="med"/>
            <a:tailEnd type="triangl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9" name="任意多边形 8"/>
          <p:cNvSpPr/>
          <p:nvPr/>
        </p:nvSpPr>
        <p:spPr>
          <a:xfrm>
            <a:off x="3315970" y="5732780"/>
            <a:ext cx="253365" cy="259080"/>
          </a:xfrm>
          <a:custGeom>
            <a:avLst/>
            <a:gdLst>
              <a:gd name="connisteX0" fmla="*/ 227965 w 227965"/>
              <a:gd name="connsiteY0" fmla="*/ 0 h 207645"/>
              <a:gd name="connisteX1" fmla="*/ 186690 w 227965"/>
              <a:gd name="connsiteY1" fmla="*/ 114300 h 207645"/>
              <a:gd name="connisteX2" fmla="*/ 98425 w 227965"/>
              <a:gd name="connsiteY2" fmla="*/ 170815 h 207645"/>
              <a:gd name="connisteX3" fmla="*/ 0 w 227965"/>
              <a:gd name="connsiteY3" fmla="*/ 207645 h 207645"/>
            </a:gdLst>
            <a:ahLst/>
            <a:cxnLst>
              <a:cxn ang="0">
                <a:pos x="connisteX0" y="connsiteY0"/>
              </a:cxn>
              <a:cxn ang="0">
                <a:pos x="connisteX1" y="connsiteY1"/>
              </a:cxn>
              <a:cxn ang="0">
                <a:pos x="connisteX2" y="connsiteY2"/>
              </a:cxn>
              <a:cxn ang="0">
                <a:pos x="connisteX3" y="connsiteY3"/>
              </a:cxn>
            </a:cxnLst>
            <a:rect l="l" t="t" r="r" b="b"/>
            <a:pathLst>
              <a:path w="227965" h="207645">
                <a:moveTo>
                  <a:pt x="227965" y="0"/>
                </a:moveTo>
                <a:cubicBezTo>
                  <a:pt x="221615" y="21590"/>
                  <a:pt x="212725" y="80010"/>
                  <a:pt x="186690" y="114300"/>
                </a:cubicBezTo>
                <a:cubicBezTo>
                  <a:pt x="160655" y="148590"/>
                  <a:pt x="135890" y="152400"/>
                  <a:pt x="98425" y="170815"/>
                </a:cubicBezTo>
                <a:cubicBezTo>
                  <a:pt x="60960" y="189230"/>
                  <a:pt x="17780" y="201295"/>
                  <a:pt x="0" y="207645"/>
                </a:cubicBezTo>
              </a:path>
            </a:pathLst>
          </a:custGeom>
          <a:noFill/>
          <a:ln w="19050" cap="flat" cmpd="sng" algn="ctr">
            <a:solidFill>
              <a:srgbClr val="FF0000"/>
            </a:solidFill>
            <a:prstDash val="solid"/>
            <a:round/>
            <a:headEnd type="triangle" w="med" len="med"/>
            <a:tailEnd type="triangl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7"/>
                                        </p:tgtEl>
                                        <p:attrNameLst>
                                          <p:attrName>style.visibility</p:attrName>
                                        </p:attrNameLst>
                                      </p:cBhvr>
                                      <p:to>
                                        <p:strVal val="visible"/>
                                      </p:to>
                                    </p:set>
                                    <p:animEffect transition="in" filter="wipe(left)">
                                      <p:cBhvr>
                                        <p:cTn id="7" dur="500"/>
                                        <p:tgtEl>
                                          <p:spTgt spid="61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58"/>
                                        </p:tgtEl>
                                        <p:attrNameLst>
                                          <p:attrName>style.visibility</p:attrName>
                                        </p:attrNameLst>
                                      </p:cBhvr>
                                      <p:to>
                                        <p:strVal val="visible"/>
                                      </p:to>
                                    </p:set>
                                    <p:animEffect transition="in" filter="wipe(left)">
                                      <p:cBhvr>
                                        <p:cTn id="12" dur="500"/>
                                        <p:tgtEl>
                                          <p:spTgt spid="6158"/>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6149"/>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6148"/>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nodeType="afterEffect">
                                  <p:stCondLst>
                                    <p:cond delay="0"/>
                                  </p:stCondLst>
                                  <p:childTnLst>
                                    <p:set>
                                      <p:cBhvr>
                                        <p:cTn id="21" dur="1" fill="hold">
                                          <p:stCondLst>
                                            <p:cond delay="0"/>
                                          </p:stCondLst>
                                        </p:cTn>
                                        <p:tgtEl>
                                          <p:spTgt spid="6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7" grpId="0"/>
      <p:bldP spid="615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4338" name="Rectangle 2"/>
          <p:cNvSpPr>
            <a:spLocks noGrp="1" noChangeArrowheads="1"/>
          </p:cNvSpPr>
          <p:nvPr>
            <p:ph type="title"/>
          </p:nvPr>
        </p:nvSpPr>
        <p:spPr bwMode="auto">
          <a:xfrm>
            <a:off x="6142038" y="200025"/>
            <a:ext cx="2984500" cy="490538"/>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3.5-1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6147"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36"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6"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172" name="Text Box 62"/>
          <p:cNvSpPr txBox="1">
            <a:spLocks noChangeArrowheads="1"/>
          </p:cNvSpPr>
          <p:nvPr>
            <p:custDataLst>
              <p:tags r:id="rId5"/>
            </p:custDataLst>
          </p:nvPr>
        </p:nvSpPr>
        <p:spPr bwMode="auto">
          <a:xfrm>
            <a:off x="6062028" y="2616518"/>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2" name="Text Box 7"/>
          <p:cNvSpPr txBox="1">
            <a:spLocks noChangeArrowheads="1"/>
          </p:cNvSpPr>
          <p:nvPr>
            <p:custDataLst>
              <p:tags r:id="rId6"/>
            </p:custDataLst>
          </p:nvPr>
        </p:nvSpPr>
        <p:spPr bwMode="auto">
          <a:xfrm>
            <a:off x="843965" y="2216750"/>
            <a:ext cx="5218113" cy="429895"/>
          </a:xfrm>
          <a:prstGeom prst="rect">
            <a:avLst/>
          </a:prstGeom>
          <a:noFill/>
          <a:ln w="9525">
            <a:noFill/>
            <a:miter lim="800000"/>
          </a:ln>
        </p:spPr>
        <p:txBody>
          <a:bodyPr>
            <a:spAutoFit/>
          </a:bodyPr>
          <a:p>
            <a:pPr>
              <a:spcBef>
                <a:spcPct val="50000"/>
              </a:spcBef>
              <a:defRPr/>
            </a:pPr>
            <a:r>
              <a:rPr lang="zh-CN" altLang="en-US" b="1" dirty="0">
                <a:solidFill>
                  <a:srgbClr val="FF0000"/>
                </a:solidFill>
                <a:latin typeface="+mn-ea"/>
                <a:ea typeface="+mn-ea"/>
              </a:rPr>
              <a:t>静</a:t>
            </a:r>
            <a:r>
              <a:rPr lang="zh-CN" altLang="en-US" b="1" dirty="0">
                <a:solidFill>
                  <a:srgbClr val="FF0000"/>
                </a:solidFill>
                <a:latin typeface="+mn-ea"/>
                <a:ea typeface="+mn-ea"/>
              </a:rPr>
              <a:t>连接 </a:t>
            </a:r>
            <a:r>
              <a:rPr lang="zh-CN" altLang="en-US" b="1" dirty="0">
                <a:solidFill>
                  <a:srgbClr val="003399"/>
                </a:solidFill>
                <a:latin typeface="+mn-ea"/>
                <a:ea typeface="+mn-ea"/>
              </a:rPr>
              <a:t>→ 普通平键、半圆键、花键</a:t>
            </a:r>
            <a:endParaRPr lang="zh-CN" altLang="en-US" b="1" dirty="0">
              <a:solidFill>
                <a:srgbClr val="003399"/>
              </a:solidFill>
              <a:latin typeface="+mn-ea"/>
              <a:ea typeface="+mn-ea"/>
            </a:endParaRPr>
          </a:p>
        </p:txBody>
      </p:sp>
      <p:sp>
        <p:nvSpPr>
          <p:cNvPr id="8" name="Text Box 8"/>
          <p:cNvSpPr txBox="1">
            <a:spLocks noChangeArrowheads="1"/>
          </p:cNvSpPr>
          <p:nvPr>
            <p:custDataLst>
              <p:tags r:id="rId7"/>
            </p:custDataLst>
          </p:nvPr>
        </p:nvSpPr>
        <p:spPr bwMode="auto">
          <a:xfrm>
            <a:off x="814755" y="2956525"/>
            <a:ext cx="4953000" cy="429895"/>
          </a:xfrm>
          <a:prstGeom prst="rect">
            <a:avLst/>
          </a:prstGeom>
          <a:noFill/>
          <a:ln w="9525">
            <a:noFill/>
            <a:miter lim="800000"/>
          </a:ln>
        </p:spPr>
        <p:txBody>
          <a:bodyPr>
            <a:spAutoFit/>
          </a:bodyPr>
          <a:p>
            <a:pPr>
              <a:spcBef>
                <a:spcPct val="50000"/>
              </a:spcBef>
              <a:defRPr/>
            </a:pPr>
            <a:r>
              <a:rPr lang="zh-CN" altLang="en-US" b="1" dirty="0">
                <a:solidFill>
                  <a:srgbClr val="FF0000"/>
                </a:solidFill>
                <a:latin typeface="+mn-ea"/>
                <a:ea typeface="+mn-ea"/>
              </a:rPr>
              <a:t>动</a:t>
            </a:r>
            <a:r>
              <a:rPr lang="zh-CN" altLang="en-US" b="1" dirty="0">
                <a:solidFill>
                  <a:srgbClr val="FF0000"/>
                </a:solidFill>
                <a:latin typeface="+mn-ea"/>
                <a:ea typeface="+mn-ea"/>
              </a:rPr>
              <a:t>连接 </a:t>
            </a:r>
            <a:r>
              <a:rPr lang="zh-CN" altLang="en-US" b="1" dirty="0">
                <a:solidFill>
                  <a:srgbClr val="003399"/>
                </a:solidFill>
                <a:latin typeface="+mn-ea"/>
                <a:ea typeface="+mn-ea"/>
              </a:rPr>
              <a:t>→ 导向平键、滑键、花键</a:t>
            </a:r>
            <a:endParaRPr lang="zh-CN" altLang="en-US" b="1" dirty="0">
              <a:solidFill>
                <a:srgbClr val="003399"/>
              </a:solidFill>
              <a:latin typeface="+mn-ea"/>
              <a:ea typeface="+mn-ea"/>
            </a:endParaRPr>
          </a:p>
        </p:txBody>
      </p:sp>
      <p:sp>
        <p:nvSpPr>
          <p:cNvPr id="3" name="文本框 2"/>
          <p:cNvSpPr txBox="1"/>
          <p:nvPr/>
        </p:nvSpPr>
        <p:spPr>
          <a:xfrm>
            <a:off x="254635" y="1359535"/>
            <a:ext cx="3825240" cy="429895"/>
          </a:xfrm>
          <a:prstGeom prst="rect">
            <a:avLst/>
          </a:prstGeom>
          <a:noFill/>
        </p:spPr>
        <p:txBody>
          <a:bodyPr wrap="square" rtlCol="0">
            <a:spAutoFit/>
          </a:bodyPr>
          <a:p>
            <a:r>
              <a:rPr lang="zh-CN" altLang="en-US"/>
              <a:t>键连接又可分为：</a:t>
            </a:r>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14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148"/>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61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heckerboard(across)">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4338" name="Rectangle 2"/>
          <p:cNvSpPr>
            <a:spLocks noGrp="1" noChangeArrowheads="1"/>
          </p:cNvSpPr>
          <p:nvPr>
            <p:ph type="title"/>
          </p:nvPr>
        </p:nvSpPr>
        <p:spPr bwMode="auto">
          <a:xfrm>
            <a:off x="6142038" y="271463"/>
            <a:ext cx="2984500"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3.5-1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7175" name="Rectangle 33"/>
          <p:cNvSpPr>
            <a:spLocks noChangeArrowheads="1"/>
          </p:cNvSpPr>
          <p:nvPr/>
        </p:nvSpPr>
        <p:spPr bwMode="auto">
          <a:xfrm>
            <a:off x="297498" y="769938"/>
            <a:ext cx="5992812"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C00000"/>
                </a:solidFill>
                <a:latin typeface="黑体" panose="02010609060101010101" pitchFamily="49" charset="-122"/>
                <a:ea typeface="黑体" panose="02010609060101010101" pitchFamily="49" charset="-122"/>
              </a:rPr>
              <a:t>二、键的选择和键连接强度计算</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10248" name="标题 57350"/>
          <p:cNvSpPr>
            <a:spLocks noChangeArrowheads="1"/>
          </p:cNvSpPr>
          <p:nvPr/>
        </p:nvSpPr>
        <p:spPr bwMode="auto">
          <a:xfrm>
            <a:off x="6324600" y="1408113"/>
            <a:ext cx="914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900">
                <a:solidFill>
                  <a:schemeClr val="bg1"/>
                </a:solidFill>
                <a:latin typeface="华文中宋" panose="02010600040101010101" pitchFamily="2" charset="-122"/>
              </a:rPr>
              <a:t>键联接</a:t>
            </a:r>
            <a:r>
              <a:rPr lang="en-US" altLang="zh-CN" sz="900">
                <a:solidFill>
                  <a:schemeClr val="bg1"/>
                </a:solidFill>
                <a:latin typeface="华文中宋" panose="02010600040101010101" pitchFamily="2" charset="-122"/>
              </a:rPr>
              <a:t>4</a:t>
            </a:r>
            <a:endParaRPr lang="en-US" altLang="zh-CN" sz="900">
              <a:solidFill>
                <a:schemeClr val="bg1"/>
              </a:solidFill>
              <a:latin typeface="华文中宋" panose="02010600040101010101" pitchFamily="2" charset="-122"/>
            </a:endParaRPr>
          </a:p>
        </p:txBody>
      </p:sp>
      <p:sp>
        <p:nvSpPr>
          <p:cNvPr id="7177" name="文本框 57355"/>
          <p:cNvSpPr txBox="1">
            <a:spLocks noChangeArrowheads="1"/>
          </p:cNvSpPr>
          <p:nvPr/>
        </p:nvSpPr>
        <p:spPr bwMode="auto">
          <a:xfrm>
            <a:off x="393065" y="1188720"/>
            <a:ext cx="341376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l" eaLnBrk="1" hangingPunct="1">
              <a:lnSpc>
                <a:spcPct val="120000"/>
              </a:lnSpc>
            </a:pPr>
            <a:r>
              <a:rPr lang="en-US" altLang="zh-CN" sz="2400" dirty="0">
                <a:solidFill>
                  <a:srgbClr val="0000FF"/>
                </a:solidFill>
                <a:latin typeface="黑体" panose="02010609060101010101" pitchFamily="49" charset="-122"/>
                <a:ea typeface="黑体" panose="02010609060101010101" pitchFamily="49" charset="-122"/>
              </a:rPr>
              <a:t>1</a:t>
            </a:r>
            <a:r>
              <a:rPr lang="zh-CN" altLang="en-US" sz="2400" dirty="0">
                <a:solidFill>
                  <a:srgbClr val="0000FF"/>
                </a:solidFill>
                <a:latin typeface="黑体" panose="02010609060101010101" pitchFamily="49" charset="-122"/>
                <a:ea typeface="黑体" panose="02010609060101010101" pitchFamily="49" charset="-122"/>
              </a:rPr>
              <a:t>．键的选择</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7178" name="矩形 57356"/>
          <p:cNvSpPr>
            <a:spLocks noChangeArrowheads="1"/>
          </p:cNvSpPr>
          <p:nvPr/>
        </p:nvSpPr>
        <p:spPr bwMode="auto">
          <a:xfrm>
            <a:off x="942975" y="2973070"/>
            <a:ext cx="3851910" cy="523875"/>
          </a:xfrm>
          <a:prstGeom prst="rect">
            <a:avLst/>
          </a:prstGeom>
          <a:solidFill>
            <a:srgbClr val="FFFF00"/>
          </a:solidFill>
          <a:ln>
            <a:noFill/>
          </a:ln>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35000"/>
              </a:lnSpc>
            </a:pPr>
            <a:r>
              <a:rPr lang="zh-CN" altLang="en-US" sz="2400" dirty="0" smtClean="0">
                <a:solidFill>
                  <a:srgbClr val="000099"/>
                </a:solidFill>
                <a:latin typeface="Times New Roman" panose="02020603050405020304" pitchFamily="18" charset="0"/>
              </a:rPr>
              <a:t>按</a:t>
            </a:r>
            <a:r>
              <a:rPr lang="zh-CN" altLang="en-US" sz="2400" dirty="0">
                <a:solidFill>
                  <a:srgbClr val="000099"/>
                </a:solidFill>
                <a:latin typeface="Times New Roman" panose="02020603050405020304" pitchFamily="18" charset="0"/>
              </a:rPr>
              <a:t>轴的直径</a:t>
            </a:r>
            <a:r>
              <a:rPr lang="en-US" altLang="zh-CN" sz="2400" i="1" dirty="0">
                <a:solidFill>
                  <a:srgbClr val="000099"/>
                </a:solidFill>
                <a:latin typeface="Times New Roman" panose="02020603050405020304" pitchFamily="18" charset="0"/>
              </a:rPr>
              <a:t>d</a:t>
            </a:r>
            <a:r>
              <a:rPr lang="zh-CN" altLang="en-US" sz="2400" dirty="0">
                <a:solidFill>
                  <a:srgbClr val="000099"/>
                </a:solidFill>
                <a:latin typeface="Times New Roman" panose="02020603050405020304" pitchFamily="18" charset="0"/>
              </a:rPr>
              <a:t>由</a:t>
            </a:r>
            <a:r>
              <a:rPr lang="zh-CN" altLang="en-US" sz="2400" dirty="0">
                <a:solidFill>
                  <a:srgbClr val="000099"/>
                </a:solidFill>
                <a:latin typeface="Times New Roman" panose="02020603050405020304" pitchFamily="18" charset="0"/>
                <a:hlinkClick r:id="rId1" action="ppaction://hlinksldjump"/>
              </a:rPr>
              <a:t>标准中</a:t>
            </a:r>
            <a:r>
              <a:rPr lang="zh-CN" altLang="en-US" sz="2400" dirty="0" smtClean="0">
                <a:solidFill>
                  <a:srgbClr val="000099"/>
                </a:solidFill>
                <a:latin typeface="Times New Roman" panose="02020603050405020304" pitchFamily="18" charset="0"/>
                <a:hlinkClick r:id="rId1" action="ppaction://hlinksldjump"/>
              </a:rPr>
              <a:t>选定</a:t>
            </a:r>
            <a:endParaRPr lang="zh-CN" altLang="en-US" sz="2400" dirty="0">
              <a:solidFill>
                <a:srgbClr val="000099"/>
              </a:solidFill>
              <a:latin typeface="Times New Roman" panose="02020603050405020304" pitchFamily="18" charset="0"/>
            </a:endParaRPr>
          </a:p>
        </p:txBody>
      </p:sp>
      <p:sp>
        <p:nvSpPr>
          <p:cNvPr id="7180" name="矩形 22"/>
          <p:cNvSpPr>
            <a:spLocks noChangeArrowheads="1"/>
          </p:cNvSpPr>
          <p:nvPr/>
        </p:nvSpPr>
        <p:spPr bwMode="auto">
          <a:xfrm>
            <a:off x="105597" y="1764228"/>
            <a:ext cx="80327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sz="2400" dirty="0">
                <a:solidFill>
                  <a:srgbClr val="C00000"/>
                </a:solidFill>
                <a:latin typeface="Times New Roman" panose="02020603050405020304" pitchFamily="18" charset="0"/>
              </a:rPr>
              <a:t>类型</a:t>
            </a:r>
            <a:r>
              <a:rPr lang="zh-CN" altLang="en-US" sz="2400" dirty="0" smtClean="0">
                <a:solidFill>
                  <a:srgbClr val="C00000"/>
                </a:solidFill>
                <a:latin typeface="Times New Roman" panose="02020603050405020304" pitchFamily="18" charset="0"/>
              </a:rPr>
              <a:t>选择：</a:t>
            </a:r>
            <a:r>
              <a:rPr lang="zh-CN" altLang="en-US" sz="2400" dirty="0" smtClean="0">
                <a:solidFill>
                  <a:srgbClr val="000099"/>
                </a:solidFill>
                <a:latin typeface="Times New Roman" panose="02020603050405020304" pitchFamily="18" charset="0"/>
              </a:rPr>
              <a:t>根据</a:t>
            </a:r>
            <a:r>
              <a:rPr lang="zh-CN" altLang="en-US" sz="2400" dirty="0">
                <a:solidFill>
                  <a:srgbClr val="000099"/>
                </a:solidFill>
                <a:latin typeface="Times New Roman" panose="02020603050405020304" pitchFamily="18" charset="0"/>
              </a:rPr>
              <a:t>键连接的结构特点、使用要求。</a:t>
            </a:r>
            <a:endParaRPr lang="zh-CN" altLang="en-US" sz="2400" dirty="0">
              <a:solidFill>
                <a:srgbClr val="000099"/>
              </a:solidFill>
              <a:latin typeface="Times New Roman" panose="02020603050405020304" pitchFamily="18" charset="0"/>
            </a:endParaRPr>
          </a:p>
          <a:p>
            <a:pPr eaLnBrk="1" hangingPunct="1">
              <a:lnSpc>
                <a:spcPct val="120000"/>
              </a:lnSpc>
            </a:pPr>
            <a:r>
              <a:rPr lang="zh-CN" altLang="en-US" sz="2400" dirty="0">
                <a:solidFill>
                  <a:srgbClr val="000099"/>
                </a:solidFill>
                <a:latin typeface="Times New Roman" panose="02020603050405020304" pitchFamily="18" charset="0"/>
              </a:rPr>
              <a:t>　　</a:t>
            </a:r>
            <a:r>
              <a:rPr lang="zh-CN" altLang="en-US" sz="2400" dirty="0" smtClean="0">
                <a:solidFill>
                  <a:srgbClr val="C00000"/>
                </a:solidFill>
                <a:latin typeface="Times New Roman" panose="02020603050405020304" pitchFamily="18" charset="0"/>
              </a:rPr>
              <a:t>尺寸选择：</a:t>
            </a:r>
            <a:r>
              <a:rPr lang="zh-CN" altLang="en-US" sz="2400" dirty="0">
                <a:solidFill>
                  <a:srgbClr val="000099"/>
                </a:solidFill>
                <a:latin typeface="Times New Roman" panose="02020603050405020304" pitchFamily="18" charset="0"/>
              </a:rPr>
              <a:t>键的截面尺寸（宽度</a:t>
            </a:r>
            <a:r>
              <a:rPr lang="en-US" altLang="zh-CN" sz="2400" i="1" dirty="0">
                <a:solidFill>
                  <a:srgbClr val="000099"/>
                </a:solidFill>
                <a:latin typeface="Times New Roman" panose="02020603050405020304" pitchFamily="18" charset="0"/>
              </a:rPr>
              <a:t>b</a:t>
            </a:r>
            <a:r>
              <a:rPr lang="en-US" altLang="zh-CN" sz="2400" dirty="0">
                <a:solidFill>
                  <a:srgbClr val="000099"/>
                </a:solidFill>
                <a:latin typeface="Times New Roman" panose="02020603050405020304" pitchFamily="18" charset="0"/>
              </a:rPr>
              <a:t>×</a:t>
            </a:r>
            <a:r>
              <a:rPr lang="zh-CN" altLang="en-US" sz="2400" dirty="0">
                <a:solidFill>
                  <a:srgbClr val="000099"/>
                </a:solidFill>
                <a:latin typeface="Times New Roman" panose="02020603050405020304" pitchFamily="18" charset="0"/>
              </a:rPr>
              <a:t>高度</a:t>
            </a:r>
            <a:r>
              <a:rPr lang="en-US" altLang="zh-CN" sz="2400" i="1" dirty="0">
                <a:solidFill>
                  <a:srgbClr val="000099"/>
                </a:solidFill>
                <a:latin typeface="Times New Roman" panose="02020603050405020304" pitchFamily="18" charset="0"/>
              </a:rPr>
              <a:t>h</a:t>
            </a:r>
            <a:r>
              <a:rPr lang="zh-CN" altLang="en-US" sz="2400" i="1" dirty="0">
                <a:solidFill>
                  <a:srgbClr val="000099"/>
                </a:solidFill>
                <a:latin typeface="Times New Roman" panose="02020603050405020304" pitchFamily="18" charset="0"/>
              </a:rPr>
              <a:t>）</a:t>
            </a:r>
            <a:r>
              <a:rPr lang="zh-CN" altLang="en-US" sz="2400" dirty="0">
                <a:solidFill>
                  <a:srgbClr val="000099"/>
                </a:solidFill>
                <a:latin typeface="Times New Roman" panose="02020603050405020304" pitchFamily="18" charset="0"/>
              </a:rPr>
              <a:t>及键长</a:t>
            </a:r>
            <a:r>
              <a:rPr lang="en-US" altLang="zh-CN" sz="2400" i="1" dirty="0">
                <a:solidFill>
                  <a:srgbClr val="000099"/>
                </a:solidFill>
                <a:latin typeface="Times New Roman" panose="02020603050405020304" pitchFamily="18" charset="0"/>
              </a:rPr>
              <a:t>L</a:t>
            </a:r>
            <a:r>
              <a:rPr lang="zh-CN" altLang="en-US" sz="2400" dirty="0">
                <a:solidFill>
                  <a:srgbClr val="000099"/>
                </a:solidFill>
                <a:latin typeface="Times New Roman" panose="02020603050405020304" pitchFamily="18" charset="0"/>
              </a:rPr>
              <a:t>。</a:t>
            </a:r>
            <a:endParaRPr lang="zh-CN" altLang="en-US" sz="2400" dirty="0">
              <a:solidFill>
                <a:srgbClr val="000099"/>
              </a:solidFill>
              <a:latin typeface="Times New Roman" panose="02020603050405020304" pitchFamily="18" charset="0"/>
            </a:endParaRPr>
          </a:p>
          <a:p>
            <a:pPr eaLnBrk="1" hangingPunct="1">
              <a:lnSpc>
                <a:spcPct val="120000"/>
              </a:lnSpc>
            </a:pPr>
            <a:endParaRPr lang="zh-CN" altLang="en-US" sz="2400" dirty="0">
              <a:solidFill>
                <a:srgbClr val="000099"/>
              </a:solidFill>
              <a:latin typeface="Times New Roman" panose="02020603050405020304" pitchFamily="18" charset="0"/>
            </a:endParaRPr>
          </a:p>
        </p:txBody>
      </p:sp>
      <p:sp>
        <p:nvSpPr>
          <p:cNvPr id="10257"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5440045" y="3157220"/>
            <a:ext cx="3519170" cy="1568450"/>
          </a:xfrm>
          <a:prstGeom prst="rect">
            <a:avLst/>
          </a:prstGeom>
          <a:solidFill>
            <a:srgbClr val="92D050"/>
          </a:solidFill>
        </p:spPr>
        <p:txBody>
          <a:bodyPr wrap="square">
            <a:spAutoFit/>
          </a:bodyPr>
          <a:lstStyle/>
          <a:p>
            <a:r>
              <a:rPr lang="zh-CN" altLang="en-US" sz="2400" dirty="0">
                <a:solidFill>
                  <a:srgbClr val="000099"/>
                </a:solidFill>
                <a:latin typeface="Times New Roman" panose="02020603050405020304" pitchFamily="18" charset="0"/>
              </a:rPr>
              <a:t>键的长度Ｌ参考轮毂的长度确定，一般应略短于轮毂长，并符合标准中规定的尺寸系列。 </a:t>
            </a:r>
            <a:endParaRPr lang="zh-CN" altLang="en-US" sz="2400" dirty="0"/>
          </a:p>
        </p:txBody>
      </p:sp>
      <p:cxnSp>
        <p:nvCxnSpPr>
          <p:cNvPr id="5" name="直接连接符 4"/>
          <p:cNvCxnSpPr/>
          <p:nvPr/>
        </p:nvCxnSpPr>
        <p:spPr bwMode="auto">
          <a:xfrm>
            <a:off x="2405380" y="2734945"/>
            <a:ext cx="3927475" cy="1905"/>
          </a:xfrm>
          <a:prstGeom prst="line">
            <a:avLst/>
          </a:prstGeom>
          <a:noFill/>
          <a:ln w="38100" cap="flat" cmpd="sng" algn="ctr">
            <a:solidFill>
              <a:srgbClr val="FFC000"/>
            </a:solidFill>
            <a:prstDash val="solid"/>
            <a:round/>
            <a:headEnd type="none" w="med" len="med"/>
            <a:tailEnd type="none" w="med" len="med"/>
          </a:ln>
        </p:spPr>
      </p:cxnSp>
      <p:cxnSp>
        <p:nvCxnSpPr>
          <p:cNvPr id="21" name="直接连接符 20"/>
          <p:cNvCxnSpPr/>
          <p:nvPr/>
        </p:nvCxnSpPr>
        <p:spPr bwMode="auto">
          <a:xfrm>
            <a:off x="6894622" y="2772869"/>
            <a:ext cx="659567" cy="0"/>
          </a:xfrm>
          <a:prstGeom prst="line">
            <a:avLst/>
          </a:prstGeom>
          <a:noFill/>
          <a:ln w="38100" cap="flat" cmpd="sng" algn="ctr">
            <a:solidFill>
              <a:srgbClr val="00B050"/>
            </a:solidFill>
            <a:prstDash val="solid"/>
            <a:round/>
            <a:headEnd type="none" w="med" len="med"/>
            <a:tailEnd type="none" w="med" len="med"/>
          </a:ln>
        </p:spPr>
      </p:cxnSp>
      <p:sp>
        <p:nvSpPr>
          <p:cNvPr id="7172" name="Rectangle 4"/>
          <p:cNvSpPr>
            <a:spLocks noGrp="1" noChangeArrowheads="1"/>
          </p:cNvSpPr>
          <p:nvPr>
            <p:ph type="body" idx="1"/>
          </p:nvPr>
        </p:nvSpPr>
        <p:spPr bwMode="auto">
          <a:xfrm>
            <a:off x="340995" y="4137025"/>
            <a:ext cx="8487410" cy="263271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pPr>
              <a:lnSpc>
                <a:spcPts val="4000"/>
              </a:lnSpc>
              <a:buFontTx/>
              <a:buNone/>
            </a:pPr>
            <a:r>
              <a:rPr lang="zh-CN" altLang="en-US" sz="2400" smtClean="0">
                <a:solidFill>
                  <a:srgbClr val="FF3300"/>
                </a:solidFill>
                <a:latin typeface="黑体" panose="02010609060101010101" pitchFamily="49" charset="-122"/>
                <a:ea typeface="黑体" panose="02010609060101010101" pitchFamily="49" charset="-122"/>
                <a:cs typeface="黑体" panose="02010609060101010101" pitchFamily="49" charset="-122"/>
              </a:rPr>
              <a:t>标注：键 </a:t>
            </a:r>
            <a:r>
              <a:rPr lang="en-US" altLang="zh-CN" sz="2400" smtClean="0">
                <a:solidFill>
                  <a:srgbClr val="FF3300"/>
                </a:solidFill>
                <a:latin typeface="黑体" panose="02010609060101010101" pitchFamily="49" charset="-122"/>
                <a:ea typeface="黑体" panose="02010609060101010101" pitchFamily="49" charset="-122"/>
                <a:cs typeface="黑体" panose="02010609060101010101" pitchFamily="49" charset="-122"/>
              </a:rPr>
              <a:t>b</a:t>
            </a:r>
            <a:r>
              <a:rPr lang="en-US" altLang="zh-CN" sz="2400" smtClean="0">
                <a:solidFill>
                  <a:srgbClr val="FF3300"/>
                </a:solidFill>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h</a:t>
            </a:r>
            <a:r>
              <a:rPr lang="en-US" altLang="zh-CN" sz="2400" smtClean="0">
                <a:solidFill>
                  <a:srgbClr val="FF3300"/>
                </a:solidFill>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a:t>
            </a:r>
            <a:r>
              <a:rPr lang="en-US" altLang="zh-CN" sz="2400" smtClean="0">
                <a:solidFill>
                  <a:srgbClr val="FF3300"/>
                </a:solidFill>
                <a:latin typeface="黑体" panose="02010609060101010101" pitchFamily="49" charset="-122"/>
                <a:ea typeface="黑体" panose="02010609060101010101" pitchFamily="49" charset="-122"/>
                <a:cs typeface="黑体" panose="02010609060101010101" pitchFamily="49" charset="-122"/>
              </a:rPr>
              <a:t>L  GB1096-2003</a:t>
            </a:r>
            <a:endParaRPr lang="en-US" altLang="zh-CN" sz="2400" smtClean="0">
              <a:solidFill>
                <a:srgbClr val="FF3300"/>
              </a:solidFill>
              <a:latin typeface="黑体" panose="02010609060101010101" pitchFamily="49" charset="-122"/>
              <a:ea typeface="黑体" panose="02010609060101010101" pitchFamily="49" charset="-122"/>
              <a:cs typeface="黑体" panose="02010609060101010101" pitchFamily="49" charset="-122"/>
            </a:endParaRPr>
          </a:p>
          <a:p>
            <a:pPr>
              <a:lnSpc>
                <a:spcPts val="4000"/>
              </a:lnSpc>
              <a:buFontTx/>
              <a:buNone/>
            </a:pPr>
            <a:r>
              <a:rPr lang="zh-CN" altLang="en-US" sz="2400" smtClean="0">
                <a:latin typeface="黑体" panose="02010609060101010101" pitchFamily="49" charset="-122"/>
                <a:ea typeface="黑体" panose="02010609060101010101" pitchFamily="49" charset="-122"/>
                <a:cs typeface="黑体" panose="02010609060101010101" pitchFamily="49" charset="-122"/>
              </a:rPr>
              <a:t>例如：圆头普通平键，宽</a:t>
            </a:r>
            <a:r>
              <a:rPr lang="en-US" altLang="zh-CN" sz="2400" smtClean="0">
                <a:latin typeface="黑体" panose="02010609060101010101" pitchFamily="49" charset="-122"/>
                <a:ea typeface="黑体" panose="02010609060101010101" pitchFamily="49" charset="-122"/>
                <a:cs typeface="黑体" panose="02010609060101010101" pitchFamily="49" charset="-122"/>
              </a:rPr>
              <a:t>12</a:t>
            </a:r>
            <a:r>
              <a:rPr lang="zh-CN" altLang="en-US" sz="2400" smtClean="0">
                <a:latin typeface="黑体" panose="02010609060101010101" pitchFamily="49" charset="-122"/>
                <a:ea typeface="黑体" panose="02010609060101010101" pitchFamily="49" charset="-122"/>
                <a:cs typeface="黑体" panose="02010609060101010101" pitchFamily="49" charset="-122"/>
              </a:rPr>
              <a:t>，高</a:t>
            </a:r>
            <a:r>
              <a:rPr lang="en-US" altLang="zh-CN" sz="2400" smtClean="0">
                <a:latin typeface="黑体" panose="02010609060101010101" pitchFamily="49" charset="-122"/>
                <a:ea typeface="黑体" panose="02010609060101010101" pitchFamily="49" charset="-122"/>
                <a:cs typeface="黑体" panose="02010609060101010101" pitchFamily="49" charset="-122"/>
              </a:rPr>
              <a:t>8</a:t>
            </a:r>
            <a:r>
              <a:rPr lang="zh-CN" altLang="en-US" sz="2400" smtClean="0">
                <a:latin typeface="黑体" panose="02010609060101010101" pitchFamily="49" charset="-122"/>
                <a:ea typeface="黑体" panose="02010609060101010101" pitchFamily="49" charset="-122"/>
                <a:cs typeface="黑体" panose="02010609060101010101" pitchFamily="49" charset="-122"/>
              </a:rPr>
              <a:t>，长</a:t>
            </a:r>
            <a:r>
              <a:rPr lang="en-US" altLang="zh-CN" sz="2400" smtClean="0">
                <a:latin typeface="黑体" panose="02010609060101010101" pitchFamily="49" charset="-122"/>
                <a:ea typeface="黑体" panose="02010609060101010101" pitchFamily="49" charset="-122"/>
                <a:cs typeface="黑体" panose="02010609060101010101" pitchFamily="49" charset="-122"/>
              </a:rPr>
              <a:t>50</a:t>
            </a:r>
            <a:r>
              <a:rPr lang="zh-CN" altLang="en-US" sz="2400" smtClean="0">
                <a:latin typeface="黑体" panose="02010609060101010101" pitchFamily="49" charset="-122"/>
                <a:ea typeface="黑体" panose="02010609060101010101" pitchFamily="49" charset="-122"/>
                <a:cs typeface="黑体" panose="02010609060101010101" pitchFamily="49" charset="-122"/>
              </a:rPr>
              <a:t>。</a:t>
            </a:r>
            <a:endParaRPr lang="zh-CN" altLang="en-US" sz="2400" smtClean="0">
              <a:latin typeface="黑体" panose="02010609060101010101" pitchFamily="49" charset="-122"/>
              <a:ea typeface="黑体" panose="02010609060101010101" pitchFamily="49" charset="-122"/>
              <a:cs typeface="黑体" panose="02010609060101010101" pitchFamily="49" charset="-122"/>
            </a:endParaRPr>
          </a:p>
          <a:p>
            <a:pPr>
              <a:lnSpc>
                <a:spcPts val="4000"/>
              </a:lnSpc>
              <a:buFontTx/>
              <a:buNone/>
            </a:pPr>
            <a:r>
              <a:rPr lang="zh-CN" altLang="en-US" sz="2400" smtClean="0">
                <a:latin typeface="黑体" panose="02010609060101010101" pitchFamily="49" charset="-122"/>
                <a:ea typeface="黑体" panose="02010609060101010101" pitchFamily="49" charset="-122"/>
                <a:cs typeface="黑体" panose="02010609060101010101" pitchFamily="49" charset="-122"/>
              </a:rPr>
              <a:t>标注：键 </a:t>
            </a:r>
            <a:r>
              <a:rPr lang="en-US" altLang="zh-CN" sz="2400" smtClean="0">
                <a:latin typeface="黑体" panose="02010609060101010101" pitchFamily="49" charset="-122"/>
                <a:ea typeface="黑体" panose="02010609060101010101" pitchFamily="49" charset="-122"/>
                <a:cs typeface="黑体" panose="02010609060101010101" pitchFamily="49" charset="-122"/>
              </a:rPr>
              <a:t>12</a:t>
            </a:r>
            <a:r>
              <a:rPr lang="en-US" altLang="zh-CN" sz="2400" smtClean="0">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a:t>
            </a:r>
            <a:r>
              <a:rPr lang="en-US" altLang="zh-CN" sz="2400" smtClean="0">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8</a:t>
            </a:r>
            <a:r>
              <a:rPr lang="en-US" altLang="zh-CN" sz="2400" smtClean="0">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a:t>
            </a:r>
            <a:r>
              <a:rPr lang="en-US" altLang="zh-CN" sz="2400" smtClean="0">
                <a:latin typeface="黑体" panose="02010609060101010101" pitchFamily="49" charset="-122"/>
                <a:ea typeface="黑体" panose="02010609060101010101" pitchFamily="49" charset="-122"/>
                <a:cs typeface="黑体" panose="02010609060101010101" pitchFamily="49" charset="-122"/>
              </a:rPr>
              <a:t>50 GB1096-2003</a:t>
            </a:r>
            <a:r>
              <a:rPr lang="zh-CN" altLang="en-US" sz="2400" smtClean="0">
                <a:latin typeface="黑体" panose="02010609060101010101" pitchFamily="49" charset="-122"/>
                <a:ea typeface="黑体" panose="02010609060101010101" pitchFamily="49" charset="-122"/>
                <a:cs typeface="黑体" panose="02010609060101010101" pitchFamily="49" charset="-122"/>
              </a:rPr>
              <a:t>，</a:t>
            </a:r>
            <a:r>
              <a:rPr lang="zh-CN" altLang="en-US" sz="2400" smtClean="0">
                <a:latin typeface="黑体" panose="02010609060101010101" pitchFamily="49" charset="-122"/>
                <a:ea typeface="黑体" panose="02010609060101010101" pitchFamily="49" charset="-122"/>
                <a:cs typeface="黑体" panose="02010609060101010101" pitchFamily="49" charset="-122"/>
                <a:sym typeface="+mn-ea"/>
              </a:rPr>
              <a:t>键</a:t>
            </a:r>
            <a:r>
              <a:rPr lang="en-US" altLang="zh-CN" sz="2400" smtClean="0">
                <a:latin typeface="黑体" panose="02010609060101010101" pitchFamily="49" charset="-122"/>
                <a:ea typeface="黑体" panose="02010609060101010101" pitchFamily="49" charset="-122"/>
                <a:cs typeface="黑体" panose="02010609060101010101" pitchFamily="49" charset="-122"/>
                <a:sym typeface="+mn-ea"/>
              </a:rPr>
              <a:t> B12</a:t>
            </a:r>
            <a:r>
              <a:rPr lang="en-US" altLang="zh-CN" sz="2400" smtClean="0">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8</a:t>
            </a:r>
            <a:r>
              <a:rPr lang="en-US" altLang="zh-CN" sz="2400" smtClean="0">
                <a:latin typeface="黑体" panose="02010609060101010101" pitchFamily="49" charset="-122"/>
                <a:ea typeface="黑体" panose="02010609060101010101" pitchFamily="49" charset="-122"/>
                <a:cs typeface="黑体" panose="02010609060101010101" pitchFamily="49" charset="-122"/>
                <a:sym typeface="+mn-ea"/>
              </a:rPr>
              <a:t> 50 GB1096-2003</a:t>
            </a:r>
            <a:endParaRPr lang="zh-CN" altLang="en-US" sz="2400" smtClean="0">
              <a:latin typeface="黑体" panose="02010609060101010101" pitchFamily="49" charset="-122"/>
              <a:ea typeface="黑体" panose="02010609060101010101" pitchFamily="49" charset="-122"/>
              <a:cs typeface="黑体" panose="02010609060101010101" pitchFamily="49" charset="-122"/>
            </a:endParaRPr>
          </a:p>
          <a:p>
            <a:pPr marL="800100" lvl="1" indent="457200">
              <a:lnSpc>
                <a:spcPts val="4000"/>
              </a:lnSpc>
              <a:buFontTx/>
              <a:buNone/>
            </a:pPr>
            <a:r>
              <a:rPr lang="en-US" altLang="zh-CN" sz="2400" smtClean="0">
                <a:latin typeface="黑体" panose="02010609060101010101" pitchFamily="49" charset="-122"/>
                <a:ea typeface="黑体" panose="02010609060101010101" pitchFamily="49" charset="-122"/>
                <a:cs typeface="黑体" panose="02010609060101010101" pitchFamily="49" charset="-122"/>
              </a:rPr>
              <a:t>A</a:t>
            </a:r>
            <a:r>
              <a:rPr lang="zh-CN" altLang="en-US" sz="2400" smtClean="0">
                <a:latin typeface="黑体" panose="02010609060101010101" pitchFamily="49" charset="-122"/>
                <a:ea typeface="黑体" panose="02010609060101010101" pitchFamily="49" charset="-122"/>
                <a:cs typeface="黑体" panose="02010609060101010101" pitchFamily="49" charset="-122"/>
              </a:rPr>
              <a:t>型不标注，</a:t>
            </a:r>
            <a:r>
              <a:rPr lang="en-US" altLang="zh-CN" sz="2400" smtClean="0">
                <a:latin typeface="黑体" panose="02010609060101010101" pitchFamily="49" charset="-122"/>
                <a:ea typeface="黑体" panose="02010609060101010101" pitchFamily="49" charset="-122"/>
                <a:cs typeface="黑体" panose="02010609060101010101" pitchFamily="49" charset="-122"/>
              </a:rPr>
              <a:t>B</a:t>
            </a:r>
            <a:r>
              <a:rPr lang="zh-CN" altLang="en-US" sz="2400" smtClean="0">
                <a:latin typeface="黑体" panose="02010609060101010101" pitchFamily="49" charset="-122"/>
                <a:ea typeface="黑体" panose="02010609060101010101" pitchFamily="49" charset="-122"/>
                <a:cs typeface="黑体" panose="02010609060101010101" pitchFamily="49" charset="-122"/>
              </a:rPr>
              <a:t>、</a:t>
            </a:r>
            <a:r>
              <a:rPr lang="en-US" altLang="zh-CN" sz="2400" smtClean="0">
                <a:latin typeface="黑体" panose="02010609060101010101" pitchFamily="49" charset="-122"/>
                <a:ea typeface="黑体" panose="02010609060101010101" pitchFamily="49" charset="-122"/>
                <a:cs typeface="黑体" panose="02010609060101010101" pitchFamily="49" charset="-122"/>
              </a:rPr>
              <a:t>C</a:t>
            </a:r>
            <a:r>
              <a:rPr lang="zh-CN" altLang="en-US" sz="2400" smtClean="0">
                <a:latin typeface="黑体" panose="02010609060101010101" pitchFamily="49" charset="-122"/>
                <a:ea typeface="黑体" panose="02010609060101010101" pitchFamily="49" charset="-122"/>
                <a:cs typeface="黑体" panose="02010609060101010101" pitchFamily="49" charset="-122"/>
              </a:rPr>
              <a:t>型平键应标注</a:t>
            </a:r>
            <a:r>
              <a:rPr lang="en-US" altLang="zh-CN" sz="2400" smtClean="0">
                <a:latin typeface="黑体" panose="02010609060101010101" pitchFamily="49" charset="-122"/>
                <a:ea typeface="黑体" panose="02010609060101010101" pitchFamily="49" charset="-122"/>
                <a:cs typeface="黑体" panose="02010609060101010101" pitchFamily="49" charset="-122"/>
              </a:rPr>
              <a:t>B</a:t>
            </a:r>
            <a:r>
              <a:rPr lang="zh-CN" altLang="en-US" sz="2400" smtClean="0">
                <a:latin typeface="黑体" panose="02010609060101010101" pitchFamily="49" charset="-122"/>
                <a:ea typeface="黑体" panose="02010609060101010101" pitchFamily="49" charset="-122"/>
                <a:cs typeface="黑体" panose="02010609060101010101" pitchFamily="49" charset="-122"/>
              </a:rPr>
              <a:t>或</a:t>
            </a:r>
            <a:r>
              <a:rPr lang="en-US" altLang="zh-CN" sz="2400" smtClean="0">
                <a:latin typeface="黑体" panose="02010609060101010101" pitchFamily="49" charset="-122"/>
                <a:ea typeface="黑体" panose="02010609060101010101" pitchFamily="49" charset="-122"/>
                <a:cs typeface="黑体" panose="02010609060101010101" pitchFamily="49" charset="-122"/>
              </a:rPr>
              <a:t>C</a:t>
            </a:r>
            <a:r>
              <a:rPr lang="zh-CN" altLang="en-US" sz="2400" smtClean="0">
                <a:latin typeface="黑体" panose="02010609060101010101" pitchFamily="49" charset="-122"/>
                <a:ea typeface="黑体" panose="02010609060101010101" pitchFamily="49" charset="-122"/>
                <a:cs typeface="黑体" panose="02010609060101010101" pitchFamily="49" charset="-122"/>
              </a:rPr>
              <a:t>。</a:t>
            </a:r>
            <a:endParaRPr lang="zh-CN" altLang="en-US" sz="2400" smtClean="0">
              <a:latin typeface="黑体" panose="02010609060101010101" pitchFamily="49" charset="-122"/>
              <a:ea typeface="黑体" panose="02010609060101010101" pitchFamily="49" charset="-122"/>
              <a:cs typeface="黑体" panose="02010609060101010101" pitchFamily="49" charset="-122"/>
            </a:endParaRPr>
          </a:p>
        </p:txBody>
      </p:sp>
      <p:sp>
        <p:nvSpPr>
          <p:cNvPr id="3" name="下箭头 2"/>
          <p:cNvSpPr/>
          <p:nvPr/>
        </p:nvSpPr>
        <p:spPr>
          <a:xfrm>
            <a:off x="3576320" y="2741930"/>
            <a:ext cx="75565" cy="212090"/>
          </a:xfrm>
          <a:prstGeom prst="downArrow">
            <a:avLst/>
          </a:prstGeom>
          <a:solidFill>
            <a:srgbClr val="FFC000"/>
          </a:solidFill>
          <a:ln w="9525" cap="flat" cmpd="sng" algn="ctr">
            <a:solidFill>
              <a:srgbClr val="FF0000"/>
            </a:solid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4" name="下箭头 3"/>
          <p:cNvSpPr/>
          <p:nvPr/>
        </p:nvSpPr>
        <p:spPr>
          <a:xfrm>
            <a:off x="7236460" y="2773045"/>
            <a:ext cx="76200" cy="372745"/>
          </a:xfrm>
          <a:prstGeom prst="downArrow">
            <a:avLst/>
          </a:prstGeom>
          <a:solidFill>
            <a:srgbClr val="FFC000"/>
          </a:solidFill>
          <a:ln w="9525" cap="flat" cmpd="sng" algn="ctr">
            <a:solidFill>
              <a:srgbClr val="00B050"/>
            </a:solid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6" name="文本框 5"/>
          <p:cNvSpPr txBox="1"/>
          <p:nvPr/>
        </p:nvSpPr>
        <p:spPr>
          <a:xfrm>
            <a:off x="883920" y="3652520"/>
            <a:ext cx="2933700" cy="429895"/>
          </a:xfrm>
          <a:prstGeom prst="rect">
            <a:avLst/>
          </a:prstGeom>
          <a:solidFill>
            <a:schemeClr val="tx1">
              <a:lumMod val="20000"/>
              <a:lumOff val="80000"/>
            </a:schemeClr>
          </a:solidFill>
        </p:spPr>
        <p:txBody>
          <a:bodyPr wrap="square" rtlCol="0">
            <a:spAutoFit/>
          </a:bodyPr>
          <a:p>
            <a:r>
              <a:rPr lang="zh-CN" altLang="en-US">
                <a:latin typeface="黑体" panose="02010609060101010101" pitchFamily="49" charset="-122"/>
                <a:ea typeface="黑体" panose="02010609060101010101" pitchFamily="49" charset="-122"/>
                <a:cs typeface="黑体" panose="02010609060101010101" pitchFamily="49" charset="-122"/>
              </a:rPr>
              <a:t>设计手册</a:t>
            </a:r>
            <a:r>
              <a:rPr lang="en-US" altLang="zh-CN">
                <a:latin typeface="黑体" panose="02010609060101010101" pitchFamily="49" charset="-122"/>
                <a:ea typeface="黑体" panose="02010609060101010101" pitchFamily="49" charset="-122"/>
                <a:cs typeface="黑体" panose="02010609060101010101" pitchFamily="49" charset="-122"/>
              </a:rPr>
              <a:t>P56 </a:t>
            </a:r>
            <a:r>
              <a:rPr lang="zh-CN" altLang="en-US">
                <a:latin typeface="黑体" panose="02010609060101010101" pitchFamily="49" charset="-122"/>
                <a:ea typeface="黑体" panose="02010609060101010101" pitchFamily="49" charset="-122"/>
                <a:cs typeface="黑体" panose="02010609060101010101" pitchFamily="49" charset="-122"/>
              </a:rPr>
              <a:t>表</a:t>
            </a:r>
            <a:r>
              <a:rPr lang="en-US" altLang="zh-CN">
                <a:latin typeface="黑体" panose="02010609060101010101" pitchFamily="49" charset="-122"/>
                <a:ea typeface="黑体" panose="02010609060101010101" pitchFamily="49" charset="-122"/>
                <a:cs typeface="黑体" panose="02010609060101010101" pitchFamily="49" charset="-122"/>
              </a:rPr>
              <a:t>4-1</a:t>
            </a:r>
            <a:endParaRPr lang="en-US" altLang="zh-CN">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175"/>
                                        </p:tgtEl>
                                        <p:attrNameLst>
                                          <p:attrName>style.visibility</p:attrName>
                                        </p:attrNameLst>
                                      </p:cBhvr>
                                      <p:to>
                                        <p:strVal val="visible"/>
                                      </p:to>
                                    </p:set>
                                    <p:animEffect transition="in" filter="wipe(left)">
                                      <p:cBhvr>
                                        <p:cTn id="7" dur="500"/>
                                        <p:tgtEl>
                                          <p:spTgt spid="71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77"/>
                                        </p:tgtEl>
                                        <p:attrNameLst>
                                          <p:attrName>style.visibility</p:attrName>
                                        </p:attrNameLst>
                                      </p:cBhvr>
                                      <p:to>
                                        <p:strVal val="visible"/>
                                      </p:to>
                                    </p:set>
                                    <p:animEffect transition="in" filter="wipe(left)">
                                      <p:cBhvr>
                                        <p:cTn id="12" dur="500"/>
                                        <p:tgtEl>
                                          <p:spTgt spid="717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180">
                                            <p:txEl>
                                              <p:pRg st="0" end="0"/>
                                            </p:txEl>
                                          </p:spTgt>
                                        </p:tgtEl>
                                        <p:attrNameLst>
                                          <p:attrName>style.visibility</p:attrName>
                                        </p:attrNameLst>
                                      </p:cBhvr>
                                      <p:to>
                                        <p:strVal val="visible"/>
                                      </p:to>
                                    </p:set>
                                    <p:animEffect transition="in" filter="wipe(left)">
                                      <p:cBhvr>
                                        <p:cTn id="17" dur="500"/>
                                        <p:tgtEl>
                                          <p:spTgt spid="718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180">
                                            <p:txEl>
                                              <p:pRg st="1" end="1"/>
                                            </p:txEl>
                                          </p:spTgt>
                                        </p:tgtEl>
                                        <p:attrNameLst>
                                          <p:attrName>style.visibility</p:attrName>
                                        </p:attrNameLst>
                                      </p:cBhvr>
                                      <p:to>
                                        <p:strVal val="visible"/>
                                      </p:to>
                                    </p:set>
                                    <p:animEffect transition="in" filter="wipe(left)">
                                      <p:cBhvr>
                                        <p:cTn id="22" dur="500"/>
                                        <p:tgtEl>
                                          <p:spTgt spid="718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arn(inVertic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up)">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178"/>
                                        </p:tgtEl>
                                        <p:attrNameLst>
                                          <p:attrName>style.visibility</p:attrName>
                                        </p:attrNameLst>
                                      </p:cBhvr>
                                      <p:to>
                                        <p:strVal val="visible"/>
                                      </p:to>
                                    </p:set>
                                    <p:animEffect transition="in" filter="wipe(left)">
                                      <p:cBhvr>
                                        <p:cTn id="37" dur="500"/>
                                        <p:tgtEl>
                                          <p:spTgt spid="717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left)">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up)">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37"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barn(outVertical)">
                                      <p:cBhvr>
                                        <p:cTn id="52" dur="5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left)">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7172">
                                            <p:txEl>
                                              <p:pRg st="0" end="0"/>
                                            </p:txEl>
                                          </p:spTgt>
                                        </p:tgtEl>
                                        <p:attrNameLst>
                                          <p:attrName>style.visibility</p:attrName>
                                        </p:attrNameLst>
                                      </p:cBhvr>
                                      <p:to>
                                        <p:strVal val="visible"/>
                                      </p:to>
                                    </p:set>
                                    <p:animEffect transition="in" filter="wipe(left)">
                                      <p:cBhvr>
                                        <p:cTn id="62" dur="500"/>
                                        <p:tgtEl>
                                          <p:spTgt spid="7172">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7172">
                                            <p:txEl>
                                              <p:pRg st="1" end="1"/>
                                            </p:txEl>
                                          </p:spTgt>
                                        </p:tgtEl>
                                        <p:attrNameLst>
                                          <p:attrName>style.visibility</p:attrName>
                                        </p:attrNameLst>
                                      </p:cBhvr>
                                      <p:to>
                                        <p:strVal val="visible"/>
                                      </p:to>
                                    </p:set>
                                    <p:animEffect transition="in" filter="wipe(left)">
                                      <p:cBhvr>
                                        <p:cTn id="67" dur="500"/>
                                        <p:tgtEl>
                                          <p:spTgt spid="7172">
                                            <p:txEl>
                                              <p:pRg st="1" end="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7172">
                                            <p:txEl>
                                              <p:pRg st="2" end="2"/>
                                            </p:txEl>
                                          </p:spTgt>
                                        </p:tgtEl>
                                        <p:attrNameLst>
                                          <p:attrName>style.visibility</p:attrName>
                                        </p:attrNameLst>
                                      </p:cBhvr>
                                      <p:to>
                                        <p:strVal val="visible"/>
                                      </p:to>
                                    </p:set>
                                    <p:animEffect transition="in" filter="wipe(left)">
                                      <p:cBhvr>
                                        <p:cTn id="72" dur="500"/>
                                        <p:tgtEl>
                                          <p:spTgt spid="7172">
                                            <p:txEl>
                                              <p:pRg st="2" end="2"/>
                                            </p:txEl>
                                          </p:spTgt>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7172">
                                            <p:txEl>
                                              <p:pRg st="3" end="3"/>
                                            </p:txEl>
                                          </p:spTgt>
                                        </p:tgtEl>
                                        <p:attrNameLst>
                                          <p:attrName>style.visibility</p:attrName>
                                        </p:attrNameLst>
                                      </p:cBhvr>
                                      <p:to>
                                        <p:strVal val="visible"/>
                                      </p:to>
                                    </p:set>
                                    <p:animEffect transition="in" filter="wipe(left)">
                                      <p:cBhvr>
                                        <p:cTn id="75" dur="500"/>
                                        <p:tgtEl>
                                          <p:spTgt spid="717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P spid="7177" grpId="0"/>
      <p:bldP spid="7178" grpId="0" bldLvl="0" animBg="1"/>
      <p:bldP spid="2" grpId="0" bldLvl="0" animBg="1"/>
      <p:bldP spid="7172" grpId="0" autoUpdateAnimBg="0" build="p"/>
      <p:bldP spid="3" grpId="0" animBg="1"/>
      <p:bldP spid="4" grpId="0" bldLvl="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21858" name="组合 121857"/>
          <p:cNvGrpSpPr/>
          <p:nvPr/>
        </p:nvGrpSpPr>
        <p:grpSpPr bwMode="auto">
          <a:xfrm>
            <a:off x="1617663" y="1655763"/>
            <a:ext cx="2660650" cy="2159000"/>
            <a:chOff x="1079" y="1031"/>
            <a:chExt cx="1676" cy="1360"/>
          </a:xfrm>
        </p:grpSpPr>
        <p:sp>
          <p:nvSpPr>
            <p:cNvPr id="71683" name="直接连接符 121858"/>
            <p:cNvSpPr>
              <a:spLocks noChangeShapeType="1"/>
            </p:cNvSpPr>
            <p:nvPr/>
          </p:nvSpPr>
          <p:spPr bwMode="auto">
            <a:xfrm>
              <a:off x="1255" y="1231"/>
              <a:ext cx="912" cy="0"/>
            </a:xfrm>
            <a:prstGeom prst="line">
              <a:avLst/>
            </a:prstGeom>
            <a:noFill/>
            <a:ln w="38100">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84" name="直接连接符 121859"/>
            <p:cNvSpPr>
              <a:spLocks noChangeShapeType="1"/>
            </p:cNvSpPr>
            <p:nvPr/>
          </p:nvSpPr>
          <p:spPr bwMode="auto">
            <a:xfrm>
              <a:off x="1243" y="2191"/>
              <a:ext cx="936" cy="0"/>
            </a:xfrm>
            <a:prstGeom prst="line">
              <a:avLst/>
            </a:prstGeom>
            <a:noFill/>
            <a:ln w="38100">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85" name="直接连接符 121860"/>
            <p:cNvSpPr>
              <a:spLocks noChangeShapeType="1"/>
            </p:cNvSpPr>
            <p:nvPr/>
          </p:nvSpPr>
          <p:spPr bwMode="auto">
            <a:xfrm>
              <a:off x="2170" y="1033"/>
              <a:ext cx="334" cy="0"/>
            </a:xfrm>
            <a:prstGeom prst="line">
              <a:avLst/>
            </a:prstGeom>
            <a:noFill/>
            <a:ln w="38100">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86" name="直接连接符 121861"/>
            <p:cNvSpPr>
              <a:spLocks noChangeShapeType="1"/>
            </p:cNvSpPr>
            <p:nvPr/>
          </p:nvSpPr>
          <p:spPr bwMode="auto">
            <a:xfrm>
              <a:off x="2169" y="2383"/>
              <a:ext cx="473" cy="8"/>
            </a:xfrm>
            <a:prstGeom prst="line">
              <a:avLst/>
            </a:prstGeom>
            <a:noFill/>
            <a:ln w="38100">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87" name="任意多边形 121862"/>
            <p:cNvSpPr>
              <a:spLocks noChangeArrowheads="1"/>
            </p:cNvSpPr>
            <p:nvPr/>
          </p:nvSpPr>
          <p:spPr bwMode="auto">
            <a:xfrm>
              <a:off x="2407" y="1051"/>
              <a:ext cx="348" cy="1335"/>
            </a:xfrm>
            <a:custGeom>
              <a:avLst/>
              <a:gdLst>
                <a:gd name="T0" fmla="*/ 96 w 348"/>
                <a:gd name="T1" fmla="*/ 0 h 1335"/>
                <a:gd name="T2" fmla="*/ 204 w 348"/>
                <a:gd name="T3" fmla="*/ 132 h 1335"/>
                <a:gd name="T4" fmla="*/ 228 w 348"/>
                <a:gd name="T5" fmla="*/ 288 h 1335"/>
                <a:gd name="T6" fmla="*/ 175 w 348"/>
                <a:gd name="T7" fmla="*/ 492 h 1335"/>
                <a:gd name="T8" fmla="*/ 50 w 348"/>
                <a:gd name="T9" fmla="*/ 698 h 1335"/>
                <a:gd name="T10" fmla="*/ 0 w 348"/>
                <a:gd name="T11" fmla="*/ 900 h 1335"/>
                <a:gd name="T12" fmla="*/ 2 w 348"/>
                <a:gd name="T13" fmla="*/ 991 h 1335"/>
                <a:gd name="T14" fmla="*/ 12 w 348"/>
                <a:gd name="T15" fmla="*/ 1092 h 1335"/>
                <a:gd name="T16" fmla="*/ 60 w 348"/>
                <a:gd name="T17" fmla="*/ 1224 h 1335"/>
                <a:gd name="T18" fmla="*/ 156 w 348"/>
                <a:gd name="T19" fmla="*/ 1320 h 1335"/>
                <a:gd name="T20" fmla="*/ 233 w 348"/>
                <a:gd name="T21" fmla="*/ 1335 h 1335"/>
                <a:gd name="T22" fmla="*/ 298 w 348"/>
                <a:gd name="T23" fmla="*/ 1240 h 1335"/>
                <a:gd name="T24" fmla="*/ 348 w 348"/>
                <a:gd name="T25" fmla="*/ 1092 h 1335"/>
                <a:gd name="T26" fmla="*/ 312 w 348"/>
                <a:gd name="T27" fmla="*/ 888 h 1335"/>
                <a:gd name="T28" fmla="*/ 228 w 348"/>
                <a:gd name="T29" fmla="*/ 744 h 1335"/>
                <a:gd name="T30" fmla="*/ 131 w 348"/>
                <a:gd name="T31" fmla="*/ 695 h 1335"/>
                <a:gd name="T32" fmla="*/ 84 w 348"/>
                <a:gd name="T33" fmla="*/ 672 h 1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8" h="1335">
                  <a:moveTo>
                    <a:pt x="96" y="0"/>
                  </a:moveTo>
                  <a:lnTo>
                    <a:pt x="204" y="132"/>
                  </a:lnTo>
                  <a:lnTo>
                    <a:pt x="228" y="288"/>
                  </a:lnTo>
                  <a:lnTo>
                    <a:pt x="175" y="492"/>
                  </a:lnTo>
                  <a:lnTo>
                    <a:pt x="50" y="698"/>
                  </a:lnTo>
                  <a:lnTo>
                    <a:pt x="0" y="900"/>
                  </a:lnTo>
                  <a:lnTo>
                    <a:pt x="2" y="991"/>
                  </a:lnTo>
                  <a:lnTo>
                    <a:pt x="12" y="1092"/>
                  </a:lnTo>
                  <a:lnTo>
                    <a:pt x="60" y="1224"/>
                  </a:lnTo>
                  <a:lnTo>
                    <a:pt x="156" y="1320"/>
                  </a:lnTo>
                  <a:lnTo>
                    <a:pt x="233" y="1335"/>
                  </a:lnTo>
                  <a:lnTo>
                    <a:pt x="298" y="1240"/>
                  </a:lnTo>
                  <a:lnTo>
                    <a:pt x="348" y="1092"/>
                  </a:lnTo>
                  <a:lnTo>
                    <a:pt x="312" y="888"/>
                  </a:lnTo>
                  <a:lnTo>
                    <a:pt x="228" y="744"/>
                  </a:lnTo>
                  <a:lnTo>
                    <a:pt x="131" y="695"/>
                  </a:lnTo>
                  <a:cubicBezTo>
                    <a:pt x="80" y="651"/>
                    <a:pt x="60" y="648"/>
                    <a:pt x="84" y="672"/>
                  </a:cubicBezTo>
                </a:path>
              </a:pathLst>
            </a:custGeom>
            <a:gradFill rotWithShape="0">
              <a:gsLst>
                <a:gs pos="0">
                  <a:srgbClr val="CC9900"/>
                </a:gs>
                <a:gs pos="100000">
                  <a:srgbClr val="DCB950"/>
                </a:gs>
              </a:gsLst>
              <a:lin ang="5400000" scaled="1"/>
            </a:gradFill>
            <a:ln w="9525">
              <a:solidFill>
                <a:srgbClr val="00206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688" name="直接连接符 121863"/>
            <p:cNvSpPr>
              <a:spLocks noChangeShapeType="1"/>
            </p:cNvSpPr>
            <p:nvPr/>
          </p:nvSpPr>
          <p:spPr bwMode="auto">
            <a:xfrm flipH="1">
              <a:off x="2407" y="1759"/>
              <a:ext cx="180" cy="180"/>
            </a:xfrm>
            <a:prstGeom prst="line">
              <a:avLst/>
            </a:prstGeom>
            <a:noFill/>
            <a:ln w="9525">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89" name="直接连接符 121864"/>
            <p:cNvSpPr>
              <a:spLocks noChangeShapeType="1"/>
            </p:cNvSpPr>
            <p:nvPr/>
          </p:nvSpPr>
          <p:spPr bwMode="auto">
            <a:xfrm flipH="1">
              <a:off x="2407" y="1891"/>
              <a:ext cx="276" cy="276"/>
            </a:xfrm>
            <a:prstGeom prst="line">
              <a:avLst/>
            </a:prstGeom>
            <a:noFill/>
            <a:ln w="9525">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90" name="直接连接符 121865"/>
            <p:cNvSpPr>
              <a:spLocks noChangeShapeType="1"/>
            </p:cNvSpPr>
            <p:nvPr/>
          </p:nvSpPr>
          <p:spPr bwMode="auto">
            <a:xfrm flipH="1">
              <a:off x="2503" y="2071"/>
              <a:ext cx="240" cy="240"/>
            </a:xfrm>
            <a:prstGeom prst="line">
              <a:avLst/>
            </a:prstGeom>
            <a:noFill/>
            <a:ln w="9525">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91" name="任意多边形 121866"/>
            <p:cNvSpPr>
              <a:spLocks noChangeArrowheads="1"/>
            </p:cNvSpPr>
            <p:nvPr/>
          </p:nvSpPr>
          <p:spPr bwMode="auto">
            <a:xfrm>
              <a:off x="1164" y="1237"/>
              <a:ext cx="87" cy="956"/>
            </a:xfrm>
            <a:custGeom>
              <a:avLst/>
              <a:gdLst>
                <a:gd name="T0" fmla="*/ 84 w 87"/>
                <a:gd name="T1" fmla="*/ 956 h 956"/>
                <a:gd name="T2" fmla="*/ 0 w 87"/>
                <a:gd name="T3" fmla="*/ 842 h 956"/>
                <a:gd name="T4" fmla="*/ 1 w 87"/>
                <a:gd name="T5" fmla="*/ 86 h 956"/>
                <a:gd name="T6" fmla="*/ 87 w 87"/>
                <a:gd name="T7" fmla="*/ 0 h 956"/>
                <a:gd name="T8" fmla="*/ 84 w 87"/>
                <a:gd name="T9" fmla="*/ 956 h 956"/>
              </a:gdLst>
              <a:ahLst/>
              <a:cxnLst>
                <a:cxn ang="0">
                  <a:pos x="T0" y="T1"/>
                </a:cxn>
                <a:cxn ang="0">
                  <a:pos x="T2" y="T3"/>
                </a:cxn>
                <a:cxn ang="0">
                  <a:pos x="T4" y="T5"/>
                </a:cxn>
                <a:cxn ang="0">
                  <a:pos x="T6" y="T7"/>
                </a:cxn>
                <a:cxn ang="0">
                  <a:pos x="T8" y="T9"/>
                </a:cxn>
              </a:cxnLst>
              <a:rect l="0" t="0" r="r" b="b"/>
              <a:pathLst>
                <a:path w="87" h="956">
                  <a:moveTo>
                    <a:pt x="84" y="956"/>
                  </a:moveTo>
                  <a:lnTo>
                    <a:pt x="0" y="842"/>
                  </a:lnTo>
                  <a:lnTo>
                    <a:pt x="1" y="86"/>
                  </a:lnTo>
                  <a:lnTo>
                    <a:pt x="87" y="0"/>
                  </a:lnTo>
                  <a:lnTo>
                    <a:pt x="84" y="956"/>
                  </a:lnTo>
                  <a:close/>
                </a:path>
              </a:pathLst>
            </a:custGeom>
            <a:gradFill rotWithShape="0">
              <a:gsLst>
                <a:gs pos="0">
                  <a:srgbClr val="CC9900"/>
                </a:gs>
                <a:gs pos="50000">
                  <a:srgbClr val="EFDFAF"/>
                </a:gs>
                <a:gs pos="100000">
                  <a:srgbClr val="CC9900"/>
                </a:gs>
              </a:gsLst>
              <a:lin ang="5400000" scaled="1"/>
            </a:gradFill>
            <a:ln w="38100">
              <a:solidFill>
                <a:srgbClr val="00206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692" name="任意多边形 121867"/>
            <p:cNvSpPr>
              <a:spLocks noChangeArrowheads="1"/>
            </p:cNvSpPr>
            <p:nvPr/>
          </p:nvSpPr>
          <p:spPr bwMode="auto">
            <a:xfrm>
              <a:off x="1256" y="1049"/>
              <a:ext cx="1384" cy="1329"/>
            </a:xfrm>
            <a:custGeom>
              <a:avLst/>
              <a:gdLst>
                <a:gd name="T0" fmla="*/ 1248 w 1384"/>
                <a:gd name="T1" fmla="*/ 0 h 1329"/>
                <a:gd name="T2" fmla="*/ 1324 w 1384"/>
                <a:gd name="T3" fmla="*/ 67 h 1329"/>
                <a:gd name="T4" fmla="*/ 1315 w 1384"/>
                <a:gd name="T5" fmla="*/ 67 h 1329"/>
                <a:gd name="T6" fmla="*/ 1363 w 1384"/>
                <a:gd name="T7" fmla="*/ 124 h 1329"/>
                <a:gd name="T8" fmla="*/ 1384 w 1384"/>
                <a:gd name="T9" fmla="*/ 187 h 1329"/>
                <a:gd name="T10" fmla="*/ 1382 w 1384"/>
                <a:gd name="T11" fmla="*/ 268 h 1329"/>
                <a:gd name="T12" fmla="*/ 1384 w 1384"/>
                <a:gd name="T13" fmla="*/ 333 h 1329"/>
                <a:gd name="T14" fmla="*/ 1369 w 1384"/>
                <a:gd name="T15" fmla="*/ 406 h 1329"/>
                <a:gd name="T16" fmla="*/ 1344 w 1384"/>
                <a:gd name="T17" fmla="*/ 489 h 1329"/>
                <a:gd name="T18" fmla="*/ 1305 w 1384"/>
                <a:gd name="T19" fmla="*/ 537 h 1329"/>
                <a:gd name="T20" fmla="*/ 1267 w 1384"/>
                <a:gd name="T21" fmla="*/ 604 h 1329"/>
                <a:gd name="T22" fmla="*/ 1200 w 1384"/>
                <a:gd name="T23" fmla="*/ 710 h 1329"/>
                <a:gd name="T24" fmla="*/ 1171 w 1384"/>
                <a:gd name="T25" fmla="*/ 844 h 1329"/>
                <a:gd name="T26" fmla="*/ 1158 w 1384"/>
                <a:gd name="T27" fmla="*/ 937 h 1329"/>
                <a:gd name="T28" fmla="*/ 1161 w 1384"/>
                <a:gd name="T29" fmla="*/ 1036 h 1329"/>
                <a:gd name="T30" fmla="*/ 1180 w 1384"/>
                <a:gd name="T31" fmla="*/ 1142 h 1329"/>
                <a:gd name="T32" fmla="*/ 1228 w 1384"/>
                <a:gd name="T33" fmla="*/ 1238 h 1329"/>
                <a:gd name="T34" fmla="*/ 1340 w 1384"/>
                <a:gd name="T35" fmla="*/ 1329 h 1329"/>
                <a:gd name="T36" fmla="*/ 918 w 1384"/>
                <a:gd name="T37" fmla="*/ 1329 h 1329"/>
                <a:gd name="T38" fmla="*/ 912 w 1384"/>
                <a:gd name="T39" fmla="*/ 1142 h 1329"/>
                <a:gd name="T40" fmla="*/ 0 w 1384"/>
                <a:gd name="T41" fmla="*/ 1137 h 1329"/>
                <a:gd name="T42" fmla="*/ 0 w 1384"/>
                <a:gd name="T43" fmla="*/ 177 h 1329"/>
                <a:gd name="T44" fmla="*/ 912 w 1384"/>
                <a:gd name="T45" fmla="*/ 182 h 1329"/>
                <a:gd name="T46" fmla="*/ 912 w 1384"/>
                <a:gd name="T47" fmla="*/ 0 h 1329"/>
                <a:gd name="T48" fmla="*/ 1248 w 1384"/>
                <a:gd name="T49" fmla="*/ 0 h 1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84" h="1329">
                  <a:moveTo>
                    <a:pt x="1248" y="0"/>
                  </a:moveTo>
                  <a:lnTo>
                    <a:pt x="1324" y="67"/>
                  </a:lnTo>
                  <a:lnTo>
                    <a:pt x="1315" y="67"/>
                  </a:lnTo>
                  <a:lnTo>
                    <a:pt x="1363" y="124"/>
                  </a:lnTo>
                  <a:lnTo>
                    <a:pt x="1384" y="187"/>
                  </a:lnTo>
                  <a:lnTo>
                    <a:pt x="1382" y="268"/>
                  </a:lnTo>
                  <a:lnTo>
                    <a:pt x="1384" y="333"/>
                  </a:lnTo>
                  <a:lnTo>
                    <a:pt x="1369" y="406"/>
                  </a:lnTo>
                  <a:lnTo>
                    <a:pt x="1344" y="489"/>
                  </a:lnTo>
                  <a:lnTo>
                    <a:pt x="1305" y="537"/>
                  </a:lnTo>
                  <a:cubicBezTo>
                    <a:pt x="1272" y="591"/>
                    <a:pt x="1284" y="568"/>
                    <a:pt x="1267" y="604"/>
                  </a:cubicBezTo>
                  <a:lnTo>
                    <a:pt x="1200" y="710"/>
                  </a:lnTo>
                  <a:lnTo>
                    <a:pt x="1171" y="844"/>
                  </a:lnTo>
                  <a:lnTo>
                    <a:pt x="1158" y="937"/>
                  </a:lnTo>
                  <a:lnTo>
                    <a:pt x="1161" y="1036"/>
                  </a:lnTo>
                  <a:lnTo>
                    <a:pt x="1180" y="1142"/>
                  </a:lnTo>
                  <a:lnTo>
                    <a:pt x="1228" y="1238"/>
                  </a:lnTo>
                  <a:lnTo>
                    <a:pt x="1340" y="1329"/>
                  </a:lnTo>
                  <a:lnTo>
                    <a:pt x="918" y="1329"/>
                  </a:lnTo>
                  <a:lnTo>
                    <a:pt x="912" y="1142"/>
                  </a:lnTo>
                  <a:lnTo>
                    <a:pt x="0" y="1137"/>
                  </a:lnTo>
                  <a:lnTo>
                    <a:pt x="0" y="177"/>
                  </a:lnTo>
                  <a:lnTo>
                    <a:pt x="912" y="182"/>
                  </a:lnTo>
                  <a:lnTo>
                    <a:pt x="912" y="0"/>
                  </a:lnTo>
                  <a:lnTo>
                    <a:pt x="1248" y="0"/>
                  </a:lnTo>
                  <a:close/>
                </a:path>
              </a:pathLst>
            </a:custGeom>
            <a:gradFill rotWithShape="0">
              <a:gsLst>
                <a:gs pos="0">
                  <a:srgbClr val="CC9900"/>
                </a:gs>
                <a:gs pos="50000">
                  <a:srgbClr val="EEDDAA"/>
                </a:gs>
                <a:gs pos="100000">
                  <a:srgbClr val="CC9900"/>
                </a:gs>
              </a:gsLst>
              <a:lin ang="5400000" scaled="1"/>
            </a:gradFill>
            <a:ln w="12700">
              <a:solidFill>
                <a:srgbClr val="00206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693" name="直接连接符 121868"/>
            <p:cNvSpPr>
              <a:spLocks noChangeShapeType="1"/>
            </p:cNvSpPr>
            <p:nvPr/>
          </p:nvSpPr>
          <p:spPr bwMode="auto">
            <a:xfrm>
              <a:off x="1079" y="1711"/>
              <a:ext cx="1537" cy="0"/>
            </a:xfrm>
            <a:prstGeom prst="line">
              <a:avLst/>
            </a:prstGeom>
            <a:noFill/>
            <a:ln w="9525">
              <a:solidFill>
                <a:srgbClr val="002060"/>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sp>
          <p:nvSpPr>
            <p:cNvPr id="71694" name="直接连接符 121869"/>
            <p:cNvSpPr>
              <a:spLocks noChangeShapeType="1"/>
            </p:cNvSpPr>
            <p:nvPr/>
          </p:nvSpPr>
          <p:spPr bwMode="auto">
            <a:xfrm>
              <a:off x="2177" y="1031"/>
              <a:ext cx="0" cy="1352"/>
            </a:xfrm>
            <a:prstGeom prst="line">
              <a:avLst/>
            </a:prstGeom>
            <a:noFill/>
            <a:ln w="38100">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95" name="直接连接符 121870"/>
            <p:cNvSpPr>
              <a:spLocks noChangeShapeType="1"/>
            </p:cNvSpPr>
            <p:nvPr/>
          </p:nvSpPr>
          <p:spPr bwMode="auto">
            <a:xfrm>
              <a:off x="1233" y="2191"/>
              <a:ext cx="941" cy="0"/>
            </a:xfrm>
            <a:prstGeom prst="line">
              <a:avLst/>
            </a:prstGeom>
            <a:noFill/>
            <a:ln w="38100">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97" name="任意多边形 121872"/>
            <p:cNvSpPr>
              <a:spLocks noChangeArrowheads="1"/>
            </p:cNvSpPr>
            <p:nvPr/>
          </p:nvSpPr>
          <p:spPr bwMode="auto">
            <a:xfrm>
              <a:off x="1291" y="1221"/>
              <a:ext cx="845" cy="298"/>
            </a:xfrm>
            <a:custGeom>
              <a:avLst/>
              <a:gdLst>
                <a:gd name="T0" fmla="*/ 0 w 845"/>
                <a:gd name="T1" fmla="*/ 10 h 298"/>
                <a:gd name="T2" fmla="*/ 0 w 845"/>
                <a:gd name="T3" fmla="*/ 134 h 298"/>
                <a:gd name="T4" fmla="*/ 48 w 845"/>
                <a:gd name="T5" fmla="*/ 240 h 298"/>
                <a:gd name="T6" fmla="*/ 240 w 845"/>
                <a:gd name="T7" fmla="*/ 288 h 298"/>
                <a:gd name="T8" fmla="*/ 451 w 845"/>
                <a:gd name="T9" fmla="*/ 298 h 298"/>
                <a:gd name="T10" fmla="*/ 605 w 845"/>
                <a:gd name="T11" fmla="*/ 288 h 298"/>
                <a:gd name="T12" fmla="*/ 701 w 845"/>
                <a:gd name="T13" fmla="*/ 269 h 298"/>
                <a:gd name="T14" fmla="*/ 807 w 845"/>
                <a:gd name="T15" fmla="*/ 211 h 298"/>
                <a:gd name="T16" fmla="*/ 816 w 845"/>
                <a:gd name="T17" fmla="*/ 134 h 298"/>
                <a:gd name="T18" fmla="*/ 845 w 845"/>
                <a:gd name="T19"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5" h="298">
                  <a:moveTo>
                    <a:pt x="0" y="10"/>
                  </a:moveTo>
                  <a:lnTo>
                    <a:pt x="0" y="134"/>
                  </a:lnTo>
                  <a:lnTo>
                    <a:pt x="48" y="240"/>
                  </a:lnTo>
                  <a:lnTo>
                    <a:pt x="240" y="288"/>
                  </a:lnTo>
                  <a:lnTo>
                    <a:pt x="451" y="298"/>
                  </a:lnTo>
                  <a:lnTo>
                    <a:pt x="605" y="288"/>
                  </a:lnTo>
                  <a:lnTo>
                    <a:pt x="701" y="269"/>
                  </a:lnTo>
                  <a:lnTo>
                    <a:pt x="807" y="211"/>
                  </a:lnTo>
                  <a:lnTo>
                    <a:pt x="816" y="134"/>
                  </a:lnTo>
                  <a:lnTo>
                    <a:pt x="845" y="0"/>
                  </a:lnTo>
                </a:path>
              </a:pathLst>
            </a:custGeom>
            <a:noFill/>
            <a:ln w="9525">
              <a:solidFill>
                <a:srgbClr val="002060"/>
              </a:solidFill>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698" name="直接连接符 121873"/>
            <p:cNvSpPr>
              <a:spLocks noChangeShapeType="1"/>
            </p:cNvSpPr>
            <p:nvPr/>
          </p:nvSpPr>
          <p:spPr bwMode="auto">
            <a:xfrm flipV="1">
              <a:off x="1368" y="1337"/>
              <a:ext cx="115" cy="66"/>
            </a:xfrm>
            <a:prstGeom prst="line">
              <a:avLst/>
            </a:prstGeom>
            <a:noFill/>
            <a:ln w="9525">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99" name="任意多边形 121874"/>
            <p:cNvSpPr>
              <a:spLocks noChangeArrowheads="1"/>
            </p:cNvSpPr>
            <p:nvPr/>
          </p:nvSpPr>
          <p:spPr bwMode="auto">
            <a:xfrm>
              <a:off x="1920" y="1314"/>
              <a:ext cx="194" cy="194"/>
            </a:xfrm>
            <a:custGeom>
              <a:avLst/>
              <a:gdLst>
                <a:gd name="T0" fmla="*/ 0 w 194"/>
                <a:gd name="T1" fmla="*/ 194 h 194"/>
                <a:gd name="T2" fmla="*/ 194 w 194"/>
                <a:gd name="T3" fmla="*/ 0 h 194"/>
              </a:gdLst>
              <a:ahLst/>
              <a:cxnLst>
                <a:cxn ang="0">
                  <a:pos x="T0" y="T1"/>
                </a:cxn>
                <a:cxn ang="0">
                  <a:pos x="T2" y="T3"/>
                </a:cxn>
              </a:cxnLst>
              <a:rect l="0" t="0" r="r" b="b"/>
              <a:pathLst>
                <a:path w="194" h="194">
                  <a:moveTo>
                    <a:pt x="0" y="194"/>
                  </a:moveTo>
                  <a:lnTo>
                    <a:pt x="194" y="0"/>
                  </a:lnTo>
                </a:path>
              </a:pathLst>
            </a:custGeom>
            <a:noFill/>
            <a:ln w="9525">
              <a:solidFill>
                <a:srgbClr val="002060"/>
              </a:solidFill>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700" name="任意多边形 121875"/>
            <p:cNvSpPr>
              <a:spLocks noChangeArrowheads="1"/>
            </p:cNvSpPr>
            <p:nvPr/>
          </p:nvSpPr>
          <p:spPr bwMode="auto">
            <a:xfrm>
              <a:off x="1337" y="1227"/>
              <a:ext cx="734" cy="167"/>
            </a:xfrm>
            <a:custGeom>
              <a:avLst/>
              <a:gdLst>
                <a:gd name="T0" fmla="*/ 0 w 734"/>
                <a:gd name="T1" fmla="*/ 4 h 167"/>
                <a:gd name="T2" fmla="*/ 77 w 734"/>
                <a:gd name="T3" fmla="*/ 42 h 167"/>
                <a:gd name="T4" fmla="*/ 653 w 734"/>
                <a:gd name="T5" fmla="*/ 42 h 167"/>
                <a:gd name="T6" fmla="*/ 734 w 734"/>
                <a:gd name="T7" fmla="*/ 0 h 167"/>
                <a:gd name="T8" fmla="*/ 734 w 734"/>
                <a:gd name="T9" fmla="*/ 160 h 167"/>
                <a:gd name="T10" fmla="*/ 0 w 734"/>
                <a:gd name="T11" fmla="*/ 167 h 167"/>
                <a:gd name="T12" fmla="*/ 0 w 734"/>
                <a:gd name="T13" fmla="*/ 4 h 167"/>
              </a:gdLst>
              <a:ahLst/>
              <a:cxnLst>
                <a:cxn ang="0">
                  <a:pos x="T0" y="T1"/>
                </a:cxn>
                <a:cxn ang="0">
                  <a:pos x="T2" y="T3"/>
                </a:cxn>
                <a:cxn ang="0">
                  <a:pos x="T4" y="T5"/>
                </a:cxn>
                <a:cxn ang="0">
                  <a:pos x="T6" y="T7"/>
                </a:cxn>
                <a:cxn ang="0">
                  <a:pos x="T8" y="T9"/>
                </a:cxn>
                <a:cxn ang="0">
                  <a:pos x="T10" y="T11"/>
                </a:cxn>
                <a:cxn ang="0">
                  <a:pos x="T12" y="T13"/>
                </a:cxn>
              </a:cxnLst>
              <a:rect l="0" t="0" r="r" b="b"/>
              <a:pathLst>
                <a:path w="734" h="167">
                  <a:moveTo>
                    <a:pt x="0" y="4"/>
                  </a:moveTo>
                  <a:lnTo>
                    <a:pt x="77" y="42"/>
                  </a:lnTo>
                  <a:lnTo>
                    <a:pt x="653" y="42"/>
                  </a:lnTo>
                  <a:lnTo>
                    <a:pt x="734" y="0"/>
                  </a:lnTo>
                  <a:lnTo>
                    <a:pt x="734" y="160"/>
                  </a:lnTo>
                  <a:lnTo>
                    <a:pt x="0" y="167"/>
                  </a:lnTo>
                  <a:lnTo>
                    <a:pt x="0" y="4"/>
                  </a:lnTo>
                  <a:close/>
                </a:path>
              </a:pathLst>
            </a:custGeom>
            <a:gradFill rotWithShape="0">
              <a:gsLst>
                <a:gs pos="0">
                  <a:srgbClr val="DAB546"/>
                </a:gs>
                <a:gs pos="100000">
                  <a:srgbClr val="CC9900"/>
                </a:gs>
              </a:gsLst>
              <a:lin ang="5400000" scaled="1"/>
            </a:gradFill>
            <a:ln w="38100">
              <a:solidFill>
                <a:srgbClr val="00206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701" name="直接连接符 121876"/>
            <p:cNvSpPr>
              <a:spLocks noChangeShapeType="1"/>
            </p:cNvSpPr>
            <p:nvPr/>
          </p:nvSpPr>
          <p:spPr bwMode="auto">
            <a:xfrm>
              <a:off x="2070" y="1227"/>
              <a:ext cx="102" cy="0"/>
            </a:xfrm>
            <a:prstGeom prst="line">
              <a:avLst/>
            </a:prstGeom>
            <a:noFill/>
            <a:ln w="38100">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2" name="直接连接符 121877"/>
            <p:cNvSpPr>
              <a:spLocks noChangeShapeType="1"/>
            </p:cNvSpPr>
            <p:nvPr/>
          </p:nvSpPr>
          <p:spPr bwMode="auto">
            <a:xfrm>
              <a:off x="1242" y="1227"/>
              <a:ext cx="90" cy="0"/>
            </a:xfrm>
            <a:prstGeom prst="line">
              <a:avLst/>
            </a:prstGeom>
            <a:noFill/>
            <a:ln w="38100">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3" name="直接连接符 121878"/>
            <p:cNvSpPr>
              <a:spLocks noChangeShapeType="1"/>
            </p:cNvSpPr>
            <p:nvPr/>
          </p:nvSpPr>
          <p:spPr bwMode="auto">
            <a:xfrm flipV="1">
              <a:off x="1702" y="1384"/>
              <a:ext cx="131" cy="131"/>
            </a:xfrm>
            <a:prstGeom prst="line">
              <a:avLst/>
            </a:prstGeom>
            <a:noFill/>
            <a:ln w="9525">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4" name="直接连接符 121879"/>
            <p:cNvSpPr>
              <a:spLocks noChangeShapeType="1"/>
            </p:cNvSpPr>
            <p:nvPr/>
          </p:nvSpPr>
          <p:spPr bwMode="auto">
            <a:xfrm flipV="1">
              <a:off x="1498" y="1392"/>
              <a:ext cx="109" cy="109"/>
            </a:xfrm>
            <a:prstGeom prst="line">
              <a:avLst/>
            </a:prstGeom>
            <a:noFill/>
            <a:ln w="9525">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5" name="直接连接符 121880"/>
            <p:cNvSpPr>
              <a:spLocks noChangeShapeType="1"/>
            </p:cNvSpPr>
            <p:nvPr/>
          </p:nvSpPr>
          <p:spPr bwMode="auto">
            <a:xfrm flipV="1">
              <a:off x="1323" y="1392"/>
              <a:ext cx="65" cy="65"/>
            </a:xfrm>
            <a:prstGeom prst="line">
              <a:avLst/>
            </a:prstGeom>
            <a:noFill/>
            <a:ln w="9525">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6" name="直接连接符 121881"/>
            <p:cNvSpPr>
              <a:spLocks noChangeShapeType="1"/>
            </p:cNvSpPr>
            <p:nvPr/>
          </p:nvSpPr>
          <p:spPr bwMode="auto">
            <a:xfrm flipV="1">
              <a:off x="1293" y="1226"/>
              <a:ext cx="51" cy="51"/>
            </a:xfrm>
            <a:prstGeom prst="line">
              <a:avLst/>
            </a:prstGeom>
            <a:noFill/>
            <a:ln w="9525">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96" name="矩形 121871"/>
            <p:cNvSpPr>
              <a:spLocks noChangeArrowheads="1"/>
            </p:cNvSpPr>
            <p:nvPr/>
          </p:nvSpPr>
          <p:spPr bwMode="auto">
            <a:xfrm>
              <a:off x="1336" y="1220"/>
              <a:ext cx="739" cy="171"/>
            </a:xfrm>
            <a:prstGeom prst="rect">
              <a:avLst/>
            </a:prstGeom>
            <a:gradFill flip="none" rotWithShape="1">
              <a:gsLst>
                <a:gs pos="0">
                  <a:srgbClr val="DEA900">
                    <a:tint val="66000"/>
                    <a:satMod val="160000"/>
                  </a:srgbClr>
                </a:gs>
                <a:gs pos="50000">
                  <a:srgbClr val="DEA900">
                    <a:tint val="44500"/>
                    <a:satMod val="160000"/>
                  </a:srgbClr>
                </a:gs>
                <a:gs pos="100000">
                  <a:srgbClr val="DEA900">
                    <a:tint val="23500"/>
                    <a:satMod val="160000"/>
                  </a:srgbClr>
                </a:gs>
              </a:gsLst>
              <a:path path="circle">
                <a:fillToRect t="100000" r="100000"/>
              </a:path>
              <a:tileRect l="-100000" b="-100000"/>
            </a:gradFill>
            <a:ln w="28575">
              <a:solidFill>
                <a:srgbClr val="000000"/>
              </a:solidFill>
              <a:miter lim="800000"/>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p>
          </p:txBody>
        </p:sp>
      </p:grpSp>
      <p:sp>
        <p:nvSpPr>
          <p:cNvPr id="71707" name="标题 121882"/>
          <p:cNvSpPr>
            <a:spLocks noGrp="1" noChangeArrowheads="1"/>
          </p:cNvSpPr>
          <p:nvPr>
            <p:ph type="title" idx="4294967295"/>
          </p:nvPr>
        </p:nvSpPr>
        <p:spPr>
          <a:xfrm>
            <a:off x="425450" y="304800"/>
            <a:ext cx="7648575" cy="675005"/>
          </a:xfrm>
          <a:extLst>
            <a:ext uri="{91240B29-F687-4F45-9708-019B960494DF}">
              <a14:hiddenLine xmlns:a14="http://schemas.microsoft.com/office/drawing/2010/main" w="19050">
                <a:solidFill>
                  <a:srgbClr val="000000"/>
                </a:solidFill>
                <a:miter lim="800000"/>
                <a:headEnd/>
                <a:tailEnd/>
              </a14:hiddenLine>
            </a:ext>
          </a:extLst>
        </p:spPr>
        <p:txBody>
          <a:bodyPr/>
          <a:lstStyle/>
          <a:p>
            <a:pPr algn="l"/>
            <a:r>
              <a:rPr lang="en-US" altLang="zh-CN" sz="2800" dirty="0" smtClean="0">
                <a:latin typeface="黑体" panose="02010609060101010101" pitchFamily="49" charset="-122"/>
                <a:ea typeface="黑体" panose="02010609060101010101" pitchFamily="49" charset="-122"/>
              </a:rPr>
              <a:t>2. </a:t>
            </a:r>
            <a:r>
              <a:rPr lang="zh-CN" altLang="en-US" sz="2800" dirty="0" smtClean="0">
                <a:latin typeface="黑体" panose="02010609060101010101" pitchFamily="49" charset="-122"/>
                <a:ea typeface="黑体" panose="02010609060101010101" pitchFamily="49" charset="-122"/>
              </a:rPr>
              <a:t>轴上键槽画法及尺寸注法</a:t>
            </a:r>
            <a:endParaRPr lang="zh-CN" altLang="en-US" sz="2800" dirty="0" smtClean="0">
              <a:latin typeface="黑体" panose="02010609060101010101" pitchFamily="49" charset="-122"/>
              <a:ea typeface="黑体" panose="02010609060101010101" pitchFamily="49" charset="-122"/>
            </a:endParaRPr>
          </a:p>
        </p:txBody>
      </p:sp>
      <p:grpSp>
        <p:nvGrpSpPr>
          <p:cNvPr id="121884" name="组合 121883"/>
          <p:cNvGrpSpPr/>
          <p:nvPr/>
        </p:nvGrpSpPr>
        <p:grpSpPr bwMode="auto">
          <a:xfrm>
            <a:off x="782638" y="1920875"/>
            <a:ext cx="1220787" cy="1581150"/>
            <a:chOff x="493" y="1353"/>
            <a:chExt cx="769" cy="996"/>
          </a:xfrm>
        </p:grpSpPr>
        <p:sp>
          <p:nvSpPr>
            <p:cNvPr id="71709" name="直接连接符 121884"/>
            <p:cNvSpPr>
              <a:spLocks noChangeShapeType="1"/>
            </p:cNvSpPr>
            <p:nvPr/>
          </p:nvSpPr>
          <p:spPr bwMode="auto">
            <a:xfrm flipH="1">
              <a:off x="696" y="1374"/>
              <a:ext cx="547" cy="0"/>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10" name="直接连接符 121885"/>
            <p:cNvSpPr>
              <a:spLocks noChangeShapeType="1"/>
            </p:cNvSpPr>
            <p:nvPr/>
          </p:nvSpPr>
          <p:spPr bwMode="auto">
            <a:xfrm flipH="1">
              <a:off x="673" y="2334"/>
              <a:ext cx="589" cy="0"/>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11" name="任意多边形 121886"/>
            <p:cNvSpPr>
              <a:spLocks noChangeArrowheads="1"/>
            </p:cNvSpPr>
            <p:nvPr/>
          </p:nvSpPr>
          <p:spPr bwMode="auto">
            <a:xfrm>
              <a:off x="771" y="1353"/>
              <a:ext cx="1" cy="996"/>
            </a:xfrm>
            <a:custGeom>
              <a:avLst/>
              <a:gdLst>
                <a:gd name="T0" fmla="*/ 0 w 1"/>
                <a:gd name="T1" fmla="*/ 0 h 996"/>
                <a:gd name="T2" fmla="*/ 0 w 1"/>
                <a:gd name="T3" fmla="*/ 996 h 996"/>
              </a:gdLst>
              <a:ahLst/>
              <a:cxnLst>
                <a:cxn ang="0">
                  <a:pos x="T0" y="T1"/>
                </a:cxn>
                <a:cxn ang="0">
                  <a:pos x="T2" y="T3"/>
                </a:cxn>
              </a:cxnLst>
              <a:rect l="0" t="0" r="r" b="b"/>
              <a:pathLst>
                <a:path w="1" h="996">
                  <a:moveTo>
                    <a:pt x="0" y="0"/>
                  </a:moveTo>
                  <a:lnTo>
                    <a:pt x="0" y="996"/>
                  </a:lnTo>
                </a:path>
              </a:pathLst>
            </a:custGeom>
            <a:noFill/>
            <a:ln w="12700">
              <a:solidFill>
                <a:schemeClr val="accent2"/>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712" name="文本框 121887"/>
            <p:cNvSpPr txBox="1">
              <a:spLocks noChangeArrowheads="1"/>
            </p:cNvSpPr>
            <p:nvPr/>
          </p:nvSpPr>
          <p:spPr bwMode="auto">
            <a:xfrm rot="-5400000">
              <a:off x="533" y="1714"/>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800">
                  <a:solidFill>
                    <a:schemeClr val="accent2"/>
                  </a:solidFill>
                </a:rPr>
                <a:t>d</a:t>
              </a:r>
              <a:endParaRPr lang="en-US" altLang="zh-CN" sz="2800">
                <a:solidFill>
                  <a:schemeClr val="accent2"/>
                </a:solidFill>
              </a:endParaRPr>
            </a:p>
          </p:txBody>
        </p:sp>
      </p:grpSp>
      <p:grpSp>
        <p:nvGrpSpPr>
          <p:cNvPr id="121889" name="组合 121888"/>
          <p:cNvGrpSpPr/>
          <p:nvPr/>
        </p:nvGrpSpPr>
        <p:grpSpPr bwMode="auto">
          <a:xfrm>
            <a:off x="1225550" y="3981450"/>
            <a:ext cx="1182688" cy="981075"/>
            <a:chOff x="785" y="2768"/>
            <a:chExt cx="745" cy="618"/>
          </a:xfrm>
        </p:grpSpPr>
        <p:sp>
          <p:nvSpPr>
            <p:cNvPr id="71714" name="十字星 121889"/>
            <p:cNvSpPr>
              <a:spLocks noChangeArrowheads="1"/>
            </p:cNvSpPr>
            <p:nvPr/>
          </p:nvSpPr>
          <p:spPr bwMode="auto">
            <a:xfrm>
              <a:off x="785" y="2768"/>
              <a:ext cx="745" cy="618"/>
            </a:xfrm>
            <a:prstGeom prst="star4">
              <a:avLst>
                <a:gd name="adj" fmla="val 27884"/>
              </a:avLst>
            </a:prstGeom>
            <a:gradFill rotWithShape="0">
              <a:gsLst>
                <a:gs pos="0">
                  <a:srgbClr val="F6E4FF"/>
                </a:gs>
                <a:gs pos="100000">
                  <a:srgbClr val="CC66FF"/>
                </a:gs>
              </a:gsLst>
              <a:path path="shape">
                <a:fillToRect l="50000" t="50000" r="50000" b="50000"/>
              </a:path>
            </a:gradFill>
            <a:ln w="9525">
              <a:solidFill>
                <a:srgbClr val="CC66FF"/>
              </a:solidFill>
              <a:miter lim="800000"/>
            </a:ln>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algn="ctr" eaLnBrk="0" hangingPunct="0"/>
              <a:endParaRPr lang="zh-CN" altLang="en-US"/>
            </a:p>
          </p:txBody>
        </p:sp>
        <p:sp>
          <p:nvSpPr>
            <p:cNvPr id="71715" name="矩形 121890"/>
            <p:cNvSpPr>
              <a:spLocks noChangeArrowheads="1"/>
            </p:cNvSpPr>
            <p:nvPr/>
          </p:nvSpPr>
          <p:spPr bwMode="auto">
            <a:xfrm>
              <a:off x="972" y="2893"/>
              <a:ext cx="45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algn="ctr" eaLnBrk="0" hangingPunct="0"/>
              <a:r>
                <a:rPr lang="zh-CN" altLang="en-US" sz="3200"/>
                <a:t>注</a:t>
              </a:r>
              <a:r>
                <a:rPr lang="en-US" altLang="zh-CN" sz="3200"/>
                <a:t>:</a:t>
              </a:r>
              <a:endParaRPr lang="en-US" altLang="zh-CN" sz="3200"/>
            </a:p>
          </p:txBody>
        </p:sp>
      </p:grpSp>
      <p:grpSp>
        <p:nvGrpSpPr>
          <p:cNvPr id="121892" name="组合 121891"/>
          <p:cNvGrpSpPr/>
          <p:nvPr/>
        </p:nvGrpSpPr>
        <p:grpSpPr bwMode="auto">
          <a:xfrm>
            <a:off x="5372100" y="1892300"/>
            <a:ext cx="1736725" cy="1712913"/>
            <a:chOff x="3384" y="1335"/>
            <a:chExt cx="1094" cy="1079"/>
          </a:xfrm>
        </p:grpSpPr>
        <p:sp>
          <p:nvSpPr>
            <p:cNvPr id="71717" name="椭圆 121892"/>
            <p:cNvSpPr>
              <a:spLocks noChangeArrowheads="1"/>
            </p:cNvSpPr>
            <p:nvPr/>
          </p:nvSpPr>
          <p:spPr bwMode="auto">
            <a:xfrm>
              <a:off x="3470" y="1402"/>
              <a:ext cx="922" cy="922"/>
            </a:xfrm>
            <a:prstGeom prst="ellipse">
              <a:avLst/>
            </a:prstGeom>
            <a:gradFill rotWithShape="0">
              <a:gsLst>
                <a:gs pos="0">
                  <a:srgbClr val="CC9900"/>
                </a:gs>
                <a:gs pos="50000">
                  <a:srgbClr val="F4E9C8"/>
                </a:gs>
                <a:gs pos="100000">
                  <a:srgbClr val="CC9900"/>
                </a:gs>
              </a:gsLst>
              <a:lin ang="5400000" scaled="1"/>
            </a:gradFill>
            <a:ln w="38100">
              <a:solidFill>
                <a:schemeClr val="tx1"/>
              </a:solidFill>
              <a:round/>
            </a:ln>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algn="ctr" eaLnBrk="0" hangingPunct="0"/>
              <a:endParaRPr lang="zh-CN" altLang="en-US" b="0"/>
            </a:p>
          </p:txBody>
        </p:sp>
        <p:sp>
          <p:nvSpPr>
            <p:cNvPr id="71718" name="直接连接符 121893"/>
            <p:cNvSpPr>
              <a:spLocks noChangeShapeType="1"/>
            </p:cNvSpPr>
            <p:nvPr/>
          </p:nvSpPr>
          <p:spPr bwMode="auto">
            <a:xfrm>
              <a:off x="3384" y="1854"/>
              <a:ext cx="1094" cy="0"/>
            </a:xfrm>
            <a:prstGeom prst="line">
              <a:avLst/>
            </a:prstGeom>
            <a:noFill/>
            <a:ln w="12700">
              <a:solidFill>
                <a:schemeClr val="tx1"/>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sp>
          <p:nvSpPr>
            <p:cNvPr id="71719" name="直接连接符 121894"/>
            <p:cNvSpPr>
              <a:spLocks noChangeShapeType="1"/>
            </p:cNvSpPr>
            <p:nvPr/>
          </p:nvSpPr>
          <p:spPr bwMode="auto">
            <a:xfrm>
              <a:off x="3931" y="1371"/>
              <a:ext cx="0" cy="1043"/>
            </a:xfrm>
            <a:prstGeom prst="line">
              <a:avLst/>
            </a:prstGeom>
            <a:noFill/>
            <a:ln w="12700">
              <a:solidFill>
                <a:schemeClr val="tx1"/>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sp>
          <p:nvSpPr>
            <p:cNvPr id="71720" name="直接连接符 121895"/>
            <p:cNvSpPr>
              <a:spLocks noChangeShapeType="1"/>
            </p:cNvSpPr>
            <p:nvPr/>
          </p:nvSpPr>
          <p:spPr bwMode="auto">
            <a:xfrm flipV="1">
              <a:off x="3470" y="1463"/>
              <a:ext cx="297" cy="29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21" name="直接连接符 121896"/>
            <p:cNvSpPr>
              <a:spLocks noChangeShapeType="1"/>
            </p:cNvSpPr>
            <p:nvPr/>
          </p:nvSpPr>
          <p:spPr bwMode="auto">
            <a:xfrm flipV="1">
              <a:off x="3483" y="1527"/>
              <a:ext cx="444" cy="4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22" name="直接连接符 121897"/>
            <p:cNvSpPr>
              <a:spLocks noChangeShapeType="1"/>
            </p:cNvSpPr>
            <p:nvPr/>
          </p:nvSpPr>
          <p:spPr bwMode="auto">
            <a:xfrm flipV="1">
              <a:off x="3549" y="1491"/>
              <a:ext cx="647" cy="64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23" name="直接连接符 121898"/>
            <p:cNvSpPr>
              <a:spLocks noChangeShapeType="1"/>
            </p:cNvSpPr>
            <p:nvPr/>
          </p:nvSpPr>
          <p:spPr bwMode="auto">
            <a:xfrm flipV="1">
              <a:off x="3687" y="1608"/>
              <a:ext cx="640" cy="64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24" name="直接连接符 121899"/>
            <p:cNvSpPr>
              <a:spLocks noChangeShapeType="1"/>
            </p:cNvSpPr>
            <p:nvPr/>
          </p:nvSpPr>
          <p:spPr bwMode="auto">
            <a:xfrm flipV="1">
              <a:off x="3840" y="1775"/>
              <a:ext cx="552" cy="55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25" name="直接连接符 121900"/>
            <p:cNvSpPr>
              <a:spLocks noChangeShapeType="1"/>
            </p:cNvSpPr>
            <p:nvPr/>
          </p:nvSpPr>
          <p:spPr bwMode="auto">
            <a:xfrm flipV="1">
              <a:off x="4094" y="2014"/>
              <a:ext cx="284" cy="2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26" name="矩形 121901"/>
            <p:cNvSpPr>
              <a:spLocks noChangeArrowheads="1"/>
            </p:cNvSpPr>
            <p:nvPr/>
          </p:nvSpPr>
          <p:spPr bwMode="auto">
            <a:xfrm>
              <a:off x="3767" y="1335"/>
              <a:ext cx="327" cy="1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p>
          </p:txBody>
        </p:sp>
        <p:sp>
          <p:nvSpPr>
            <p:cNvPr id="71727" name="直接连接符 121902"/>
            <p:cNvSpPr>
              <a:spLocks noChangeShapeType="1"/>
            </p:cNvSpPr>
            <p:nvPr/>
          </p:nvSpPr>
          <p:spPr bwMode="auto">
            <a:xfrm>
              <a:off x="3767" y="1433"/>
              <a:ext cx="0" cy="9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28" name="直接连接符 121903"/>
            <p:cNvSpPr>
              <a:spLocks noChangeShapeType="1"/>
            </p:cNvSpPr>
            <p:nvPr/>
          </p:nvSpPr>
          <p:spPr bwMode="auto">
            <a:xfrm>
              <a:off x="4094" y="1426"/>
              <a:ext cx="0" cy="10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29" name="直接连接符 121904"/>
            <p:cNvSpPr>
              <a:spLocks noChangeShapeType="1"/>
            </p:cNvSpPr>
            <p:nvPr/>
          </p:nvSpPr>
          <p:spPr bwMode="auto">
            <a:xfrm flipH="1">
              <a:off x="3767" y="1527"/>
              <a:ext cx="32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21906" name="组合 121905"/>
          <p:cNvGrpSpPr/>
          <p:nvPr/>
        </p:nvGrpSpPr>
        <p:grpSpPr bwMode="auto">
          <a:xfrm>
            <a:off x="6240463" y="2163763"/>
            <a:ext cx="1509712" cy="1316037"/>
            <a:chOff x="3931" y="1506"/>
            <a:chExt cx="951" cy="829"/>
          </a:xfrm>
        </p:grpSpPr>
        <p:sp>
          <p:nvSpPr>
            <p:cNvPr id="71731" name="文本框 121906"/>
            <p:cNvSpPr txBox="1">
              <a:spLocks noChangeArrowheads="1"/>
            </p:cNvSpPr>
            <p:nvPr/>
          </p:nvSpPr>
          <p:spPr bwMode="auto">
            <a:xfrm rot="-5400000">
              <a:off x="4472" y="1762"/>
              <a:ext cx="459" cy="327"/>
            </a:xfrm>
            <a:prstGeom prst="rect">
              <a:avLst/>
            </a:prstGeom>
            <a:noFill/>
            <a:ln w="12700">
              <a:no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800" dirty="0">
                  <a:solidFill>
                    <a:srgbClr val="C00000"/>
                  </a:solidFill>
                </a:rPr>
                <a:t>d-t</a:t>
              </a:r>
              <a:endParaRPr lang="en-US" altLang="zh-CN" sz="2800" b="0" dirty="0">
                <a:solidFill>
                  <a:srgbClr val="C00000"/>
                </a:solidFill>
              </a:endParaRPr>
            </a:p>
          </p:txBody>
        </p:sp>
        <p:sp>
          <p:nvSpPr>
            <p:cNvPr id="71732" name="直接连接符 121907"/>
            <p:cNvSpPr>
              <a:spLocks noChangeShapeType="1"/>
            </p:cNvSpPr>
            <p:nvPr/>
          </p:nvSpPr>
          <p:spPr bwMode="auto">
            <a:xfrm>
              <a:off x="4094" y="1527"/>
              <a:ext cx="788" cy="0"/>
            </a:xfrm>
            <a:prstGeom prst="line">
              <a:avLst/>
            </a:prstGeom>
            <a:noFill/>
            <a:ln w="12700">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33" name="直接连接符 121908"/>
            <p:cNvSpPr>
              <a:spLocks noChangeShapeType="1"/>
            </p:cNvSpPr>
            <p:nvPr/>
          </p:nvSpPr>
          <p:spPr bwMode="auto">
            <a:xfrm>
              <a:off x="3931" y="2324"/>
              <a:ext cx="933" cy="0"/>
            </a:xfrm>
            <a:prstGeom prst="line">
              <a:avLst/>
            </a:prstGeom>
            <a:noFill/>
            <a:ln w="12700">
              <a:solidFill>
                <a:srgbClr val="00206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34" name="任意多边形 121909"/>
            <p:cNvSpPr>
              <a:spLocks noChangeArrowheads="1"/>
            </p:cNvSpPr>
            <p:nvPr/>
          </p:nvSpPr>
          <p:spPr bwMode="auto">
            <a:xfrm>
              <a:off x="4814" y="1506"/>
              <a:ext cx="1" cy="829"/>
            </a:xfrm>
            <a:custGeom>
              <a:avLst/>
              <a:gdLst>
                <a:gd name="T0" fmla="*/ 0 w 1"/>
                <a:gd name="T1" fmla="*/ 0 h 829"/>
                <a:gd name="T2" fmla="*/ 0 w 1"/>
                <a:gd name="T3" fmla="*/ 829 h 829"/>
              </a:gdLst>
              <a:ahLst/>
              <a:cxnLst>
                <a:cxn ang="0">
                  <a:pos x="T0" y="T1"/>
                </a:cxn>
                <a:cxn ang="0">
                  <a:pos x="T2" y="T3"/>
                </a:cxn>
              </a:cxnLst>
              <a:rect l="0" t="0" r="r" b="b"/>
              <a:pathLst>
                <a:path w="1" h="829">
                  <a:moveTo>
                    <a:pt x="0" y="0"/>
                  </a:moveTo>
                  <a:lnTo>
                    <a:pt x="0" y="829"/>
                  </a:lnTo>
                </a:path>
              </a:pathLst>
            </a:custGeom>
            <a:noFill/>
            <a:ln w="12700">
              <a:solidFill>
                <a:srgbClr val="002060"/>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grpSp>
      <p:grpSp>
        <p:nvGrpSpPr>
          <p:cNvPr id="121911" name="组合 121910"/>
          <p:cNvGrpSpPr/>
          <p:nvPr/>
        </p:nvGrpSpPr>
        <p:grpSpPr bwMode="auto">
          <a:xfrm>
            <a:off x="2035175" y="1054100"/>
            <a:ext cx="1179513" cy="900113"/>
            <a:chOff x="1330" y="807"/>
            <a:chExt cx="743" cy="567"/>
          </a:xfrm>
        </p:grpSpPr>
        <p:sp>
          <p:nvSpPr>
            <p:cNvPr id="71736" name="直接连接符 121911"/>
            <p:cNvSpPr>
              <a:spLocks noChangeShapeType="1"/>
            </p:cNvSpPr>
            <p:nvPr/>
          </p:nvSpPr>
          <p:spPr bwMode="auto">
            <a:xfrm flipV="1">
              <a:off x="1330" y="1009"/>
              <a:ext cx="0" cy="365"/>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37" name="任意多边形 121912"/>
            <p:cNvSpPr>
              <a:spLocks noChangeArrowheads="1"/>
            </p:cNvSpPr>
            <p:nvPr/>
          </p:nvSpPr>
          <p:spPr bwMode="auto">
            <a:xfrm>
              <a:off x="1331" y="1076"/>
              <a:ext cx="742" cy="1"/>
            </a:xfrm>
            <a:custGeom>
              <a:avLst/>
              <a:gdLst>
                <a:gd name="T0" fmla="*/ 0 w 742"/>
                <a:gd name="T1" fmla="*/ 0 h 1"/>
                <a:gd name="T2" fmla="*/ 742 w 742"/>
                <a:gd name="T3" fmla="*/ 0 h 1"/>
              </a:gdLst>
              <a:ahLst/>
              <a:cxnLst>
                <a:cxn ang="0">
                  <a:pos x="T0" y="T1"/>
                </a:cxn>
                <a:cxn ang="0">
                  <a:pos x="T2" y="T3"/>
                </a:cxn>
              </a:cxnLst>
              <a:rect l="0" t="0" r="r" b="b"/>
              <a:pathLst>
                <a:path w="742" h="1">
                  <a:moveTo>
                    <a:pt x="0" y="0"/>
                  </a:moveTo>
                  <a:lnTo>
                    <a:pt x="742" y="0"/>
                  </a:lnTo>
                </a:path>
              </a:pathLst>
            </a:custGeom>
            <a:noFill/>
            <a:ln w="12700">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1738" name="文本框 121913"/>
            <p:cNvSpPr txBox="1">
              <a:spLocks noChangeArrowheads="1"/>
            </p:cNvSpPr>
            <p:nvPr/>
          </p:nvSpPr>
          <p:spPr bwMode="auto">
            <a:xfrm>
              <a:off x="1611" y="807"/>
              <a:ext cx="265" cy="327"/>
            </a:xfrm>
            <a:prstGeom prst="rect">
              <a:avLst/>
            </a:prstGeom>
            <a:noFill/>
            <a:ln w="12700">
              <a:no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800">
                  <a:solidFill>
                    <a:srgbClr val="C00000"/>
                  </a:solidFill>
                </a:rPr>
                <a:t>L</a:t>
              </a:r>
              <a:endParaRPr lang="en-US" altLang="zh-CN" sz="2800" b="0">
                <a:solidFill>
                  <a:srgbClr val="C00000"/>
                </a:solidFill>
              </a:endParaRPr>
            </a:p>
          </p:txBody>
        </p:sp>
        <p:sp>
          <p:nvSpPr>
            <p:cNvPr id="71739" name="任意多边形 121914"/>
            <p:cNvSpPr>
              <a:spLocks noChangeArrowheads="1"/>
            </p:cNvSpPr>
            <p:nvPr/>
          </p:nvSpPr>
          <p:spPr bwMode="auto">
            <a:xfrm>
              <a:off x="2065" y="1018"/>
              <a:ext cx="1" cy="356"/>
            </a:xfrm>
            <a:custGeom>
              <a:avLst/>
              <a:gdLst>
                <a:gd name="T0" fmla="*/ 0 w 1"/>
                <a:gd name="T1" fmla="*/ 356 h 356"/>
                <a:gd name="T2" fmla="*/ 0 w 1"/>
                <a:gd name="T3" fmla="*/ 0 h 356"/>
              </a:gdLst>
              <a:ahLst/>
              <a:cxnLst>
                <a:cxn ang="0">
                  <a:pos x="T0" y="T1"/>
                </a:cxn>
                <a:cxn ang="0">
                  <a:pos x="T2" y="T3"/>
                </a:cxn>
              </a:cxnLst>
              <a:rect l="0" t="0" r="r" b="b"/>
              <a:pathLst>
                <a:path w="1" h="356">
                  <a:moveTo>
                    <a:pt x="0" y="356"/>
                  </a:moveTo>
                  <a:lnTo>
                    <a:pt x="0"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grpSp>
      <p:sp>
        <p:nvSpPr>
          <p:cNvPr id="121916" name="文本框 121915"/>
          <p:cNvSpPr txBox="1">
            <a:spLocks noChangeArrowheads="1"/>
          </p:cNvSpPr>
          <p:nvPr/>
        </p:nvSpPr>
        <p:spPr bwMode="auto">
          <a:xfrm>
            <a:off x="2389188" y="4075444"/>
            <a:ext cx="6370990"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eaLnBrk="0" hangingPunct="0">
              <a:lnSpc>
                <a:spcPct val="120000"/>
              </a:lnSpc>
            </a:pPr>
            <a:r>
              <a:rPr lang="en-US" altLang="zh-CN" sz="2800" dirty="0">
                <a:solidFill>
                  <a:srgbClr val="FF3300"/>
                </a:solidFill>
              </a:rPr>
              <a:t>t </a:t>
            </a:r>
            <a:r>
              <a:rPr lang="zh-CN" altLang="en-US" sz="2800" dirty="0"/>
              <a:t>为轴上键槽深度，</a:t>
            </a:r>
            <a:endParaRPr lang="zh-CN" altLang="en-US" sz="2800" dirty="0"/>
          </a:p>
          <a:p>
            <a:pPr eaLnBrk="0" hangingPunct="0">
              <a:lnSpc>
                <a:spcPct val="120000"/>
              </a:lnSpc>
            </a:pPr>
            <a:r>
              <a:rPr lang="en-US" altLang="zh-CN" sz="2800" dirty="0">
                <a:solidFill>
                  <a:srgbClr val="FF3300"/>
                </a:solidFill>
              </a:rPr>
              <a:t>b</a:t>
            </a:r>
            <a:r>
              <a:rPr lang="zh-CN" altLang="en-US" sz="2800" dirty="0">
                <a:solidFill>
                  <a:srgbClr val="FF3300"/>
                </a:solidFill>
              </a:rPr>
              <a:t>、</a:t>
            </a:r>
            <a:r>
              <a:rPr lang="en-US" altLang="zh-CN" sz="2800" dirty="0">
                <a:solidFill>
                  <a:srgbClr val="FF3300"/>
                </a:solidFill>
              </a:rPr>
              <a:t>t</a:t>
            </a:r>
            <a:r>
              <a:rPr lang="zh-CN" altLang="en-US" sz="2800" dirty="0">
                <a:solidFill>
                  <a:srgbClr val="FF3300"/>
                </a:solidFill>
              </a:rPr>
              <a:t>、</a:t>
            </a:r>
            <a:r>
              <a:rPr lang="en-US" altLang="zh-CN" sz="2800" dirty="0">
                <a:solidFill>
                  <a:srgbClr val="FF3300"/>
                </a:solidFill>
              </a:rPr>
              <a:t>L</a:t>
            </a:r>
            <a:r>
              <a:rPr lang="zh-CN" altLang="en-US" sz="2800" dirty="0"/>
              <a:t>可按轴径</a:t>
            </a:r>
            <a:r>
              <a:rPr lang="en-US" altLang="zh-CN" sz="2800" dirty="0">
                <a:solidFill>
                  <a:srgbClr val="FF3300"/>
                </a:solidFill>
              </a:rPr>
              <a:t>d</a:t>
            </a:r>
            <a:r>
              <a:rPr lang="zh-CN" altLang="en-US" sz="2800" dirty="0"/>
              <a:t>从标准中查出。</a:t>
            </a:r>
            <a:endParaRPr lang="zh-CN" altLang="en-US" sz="2800" b="0" dirty="0"/>
          </a:p>
        </p:txBody>
      </p:sp>
      <p:grpSp>
        <p:nvGrpSpPr>
          <p:cNvPr id="121917" name="组合 121916"/>
          <p:cNvGrpSpPr/>
          <p:nvPr/>
        </p:nvGrpSpPr>
        <p:grpSpPr bwMode="auto">
          <a:xfrm>
            <a:off x="5540375" y="1166813"/>
            <a:ext cx="1524000" cy="893762"/>
            <a:chOff x="3490" y="878"/>
            <a:chExt cx="960" cy="563"/>
          </a:xfrm>
        </p:grpSpPr>
        <p:sp>
          <p:nvSpPr>
            <p:cNvPr id="71742" name="直接连接符 121917"/>
            <p:cNvSpPr>
              <a:spLocks noChangeShapeType="1"/>
            </p:cNvSpPr>
            <p:nvPr/>
          </p:nvSpPr>
          <p:spPr bwMode="auto">
            <a:xfrm flipV="1">
              <a:off x="3758" y="1095"/>
              <a:ext cx="0" cy="336"/>
            </a:xfrm>
            <a:prstGeom prst="line">
              <a:avLst/>
            </a:prstGeom>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71743" name="直接连接符 121918"/>
            <p:cNvSpPr>
              <a:spLocks noChangeShapeType="1"/>
            </p:cNvSpPr>
            <p:nvPr/>
          </p:nvSpPr>
          <p:spPr bwMode="auto">
            <a:xfrm flipV="1">
              <a:off x="4094" y="1076"/>
              <a:ext cx="0" cy="365"/>
            </a:xfrm>
            <a:prstGeom prst="line">
              <a:avLst/>
            </a:prstGeom>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71744" name="直接连接符 121919"/>
            <p:cNvSpPr>
              <a:spLocks noChangeShapeType="1"/>
            </p:cNvSpPr>
            <p:nvPr/>
          </p:nvSpPr>
          <p:spPr bwMode="auto">
            <a:xfrm>
              <a:off x="3490" y="1162"/>
              <a:ext cx="960" cy="0"/>
            </a:xfrm>
            <a:prstGeom prst="line">
              <a:avLst/>
            </a:prstGeom>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71745" name="直接连接符 121920"/>
            <p:cNvSpPr>
              <a:spLocks noChangeShapeType="1"/>
            </p:cNvSpPr>
            <p:nvPr/>
          </p:nvSpPr>
          <p:spPr bwMode="auto">
            <a:xfrm>
              <a:off x="3682" y="1162"/>
              <a:ext cx="76" cy="0"/>
            </a:xfrm>
            <a:prstGeom prst="line">
              <a:avLst/>
            </a:prstGeom>
            <a:ln>
              <a:tailEnd type="triangle" w="sm" len="lg"/>
            </a:ln>
            <a:extLst>
              <a:ext uri="{909E8E84-426E-40DD-AFC4-6F175D3DCCD1}">
                <a14:hiddenFill xmlns:a14="http://schemas.microsoft.com/office/drawing/2010/main">
                  <a:noFill/>
                </a14:hiddenFill>
              </a:ext>
            </a:extLst>
          </p:spPr>
          <p:style>
            <a:lnRef idx="2">
              <a:schemeClr val="dk1"/>
            </a:lnRef>
            <a:fillRef idx="0">
              <a:schemeClr val="dk1"/>
            </a:fillRef>
            <a:effectRef idx="1">
              <a:schemeClr val="dk1"/>
            </a:effectRef>
            <a:fontRef idx="minor">
              <a:schemeClr val="tx1"/>
            </a:fontRef>
          </p:style>
          <p:txBody>
            <a:bodyPr/>
            <a:lstStyle/>
            <a:p>
              <a:endParaRPr lang="zh-CN" altLang="en-US"/>
            </a:p>
          </p:txBody>
        </p:sp>
        <p:sp>
          <p:nvSpPr>
            <p:cNvPr id="71746" name="直接连接符 121921"/>
            <p:cNvSpPr>
              <a:spLocks noChangeShapeType="1"/>
            </p:cNvSpPr>
            <p:nvPr/>
          </p:nvSpPr>
          <p:spPr bwMode="auto">
            <a:xfrm flipH="1">
              <a:off x="4094" y="1162"/>
              <a:ext cx="164" cy="0"/>
            </a:xfrm>
            <a:prstGeom prst="line">
              <a:avLst/>
            </a:prstGeom>
            <a:noFill/>
            <a:ln w="12700">
              <a:gradFill>
                <a:gsLst>
                  <a:gs pos="0">
                    <a:srgbClr val="012D86"/>
                  </a:gs>
                  <a:gs pos="100000">
                    <a:srgbClr val="0E2557"/>
                  </a:gs>
                </a:gsLst>
              </a:gra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1747" name="文本框 121922"/>
            <p:cNvSpPr txBox="1">
              <a:spLocks noChangeArrowheads="1"/>
            </p:cNvSpPr>
            <p:nvPr/>
          </p:nvSpPr>
          <p:spPr bwMode="auto">
            <a:xfrm>
              <a:off x="3776" y="878"/>
              <a:ext cx="3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2800">
                  <a:solidFill>
                    <a:srgbClr val="C00000"/>
                  </a:solidFill>
                </a:rPr>
                <a:t>b</a:t>
              </a:r>
              <a:endParaRPr lang="en-US" altLang="zh-CN" sz="2800" b="0">
                <a:solidFill>
                  <a:srgbClr val="C00000"/>
                </a:solidFill>
              </a:endParaRPr>
            </a:p>
          </p:txBody>
        </p:sp>
      </p:grpSp>
      <mc:AlternateContent xmlns:mc="http://schemas.openxmlformats.org/markup-compatibility/2006">
        <mc:Choice xmlns:a14="http://schemas.microsoft.com/office/drawing/2010/main" Requires="a14">
          <p:sp>
            <p:nvSpPr>
              <p:cNvPr id="2" name="文本框 1"/>
              <p:cNvSpPr txBox="1"/>
              <p:nvPr/>
            </p:nvSpPr>
            <p:spPr>
              <a:xfrm>
                <a:off x="1467556" y="5350933"/>
                <a:ext cx="6953955" cy="523220"/>
              </a:xfrm>
              <a:prstGeom prst="rect">
                <a:avLst/>
              </a:prstGeom>
              <a:noFill/>
            </p:spPr>
            <p:txBody>
              <a:bodyPr wrap="square" rtlCol="0">
                <a:spAutoFit/>
              </a:bodyPr>
              <a:lstStyle/>
              <a:p>
                <a14:m>
                  <m:oMath xmlns:m="http://schemas.openxmlformats.org/officeDocument/2006/math">
                    <m:r>
                      <a:rPr lang="zh-CN" altLang="en-US" sz="2800" i="1" smtClean="0">
                        <a:latin typeface="Cambria Math" panose="02040503050406030204" pitchFamily="18" charset="0"/>
                      </a:rPr>
                      <m:t>∅</m:t>
                    </m:r>
                    <m:r>
                      <a:rPr lang="en-US" altLang="zh-CN" sz="2800" b="1" i="1" smtClean="0">
                        <a:latin typeface="Cambria Math" panose="02040503050406030204" pitchFamily="18" charset="0"/>
                      </a:rPr>
                      <m:t>𝟐𝟎</m:t>
                    </m:r>
                    <m:r>
                      <a:rPr lang="zh-CN" altLang="en-US" sz="2800" i="1">
                        <a:latin typeface="Cambria Math" panose="02040503050406030204" pitchFamily="18" charset="0"/>
                      </a:rPr>
                      <m:t>，</m:t>
                    </m:r>
                    <m:r>
                      <a:rPr lang="en-US" altLang="zh-CN" sz="2800" b="1" i="1" smtClean="0">
                        <a:latin typeface="Cambria Math" panose="02040503050406030204" pitchFamily="18" charset="0"/>
                      </a:rPr>
                      <m:t>𝒃</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𝟔</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𝒉</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𝟔</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𝒕</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𝟑</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𝟓</m:t>
                    </m:r>
                    <m:r>
                      <a:rPr lang="en-US" altLang="zh-CN" sz="2800" b="1" i="1" smtClean="0">
                        <a:latin typeface="Cambria Math" panose="02040503050406030204" pitchFamily="18" charset="0"/>
                      </a:rPr>
                      <m:t>,</m:t>
                    </m:r>
                    <m:sSub>
                      <m:sSubPr>
                        <m:ctrlPr>
                          <a:rPr lang="en-US" altLang="zh-CN" sz="2800" b="1" i="1" smtClean="0">
                            <a:latin typeface="Cambria Math" panose="02040503050406030204" pitchFamily="18" charset="0"/>
                          </a:rPr>
                        </m:ctrlPr>
                      </m:sSubPr>
                      <m:e>
                        <m:r>
                          <a:rPr lang="en-US" altLang="zh-CN" sz="2800" b="1" i="1" smtClean="0">
                            <a:latin typeface="Cambria Math" panose="02040503050406030204" pitchFamily="18" charset="0"/>
                          </a:rPr>
                          <m:t>𝒕</m:t>
                        </m:r>
                      </m:e>
                      <m:sub>
                        <m:r>
                          <a:rPr lang="en-US" altLang="zh-CN" sz="2800" b="1" i="1" smtClean="0">
                            <a:latin typeface="Cambria Math" panose="02040503050406030204" pitchFamily="18" charset="0"/>
                          </a:rPr>
                          <m:t>𝟏</m:t>
                        </m:r>
                      </m:sub>
                    </m:sSub>
                  </m:oMath>
                </a14:m>
                <a:r>
                  <a:rPr lang="en-US" altLang="zh-CN" sz="2800" dirty="0" smtClean="0"/>
                  <a:t>=2.8</a:t>
                </a:r>
                <a:endParaRPr lang="zh-CN" altLang="en-US" sz="2800" dirty="0"/>
              </a:p>
            </p:txBody>
          </p:sp>
        </mc:Choice>
        <mc:Fallback>
          <p:sp>
            <p:nvSpPr>
              <p:cNvPr id="2" name="文本框 1"/>
              <p:cNvSpPr txBox="1">
                <a:spLocks noRot="1" noChangeAspect="1" noMove="1" noResize="1" noEditPoints="1" noAdjustHandles="1" noChangeArrowheads="1" noChangeShapeType="1" noTextEdit="1"/>
              </p:cNvSpPr>
              <p:nvPr/>
            </p:nvSpPr>
            <p:spPr>
              <a:xfrm>
                <a:off x="1467556" y="5350933"/>
                <a:ext cx="6953955" cy="523220"/>
              </a:xfrm>
              <a:prstGeom prst="rect">
                <a:avLst/>
              </a:prstGeom>
              <a:blipFill rotWithShape="1">
                <a:blip r:embed="rId1"/>
                <a:stretch>
                  <a:fillRect l="-1" t="-81" r="2" b="77"/>
                </a:stretch>
              </a:blipFill>
            </p:spPr>
            <p:txBody>
              <a:bodyPr/>
              <a:lstStyle/>
              <a:p>
                <a:r>
                  <a:rPr lang="zh-CN" altLang="en-US">
                    <a:noFill/>
                  </a:rPr>
                  <a:t> </a:t>
                </a:r>
              </a:p>
            </p:txBody>
          </p:sp>
        </mc:Fallback>
      </mc:AlternateContent>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21892"/>
                                        </p:tgtEl>
                                        <p:attrNameLst>
                                          <p:attrName>style.visibility</p:attrName>
                                        </p:attrNameLst>
                                      </p:cBhvr>
                                      <p:to>
                                        <p:strVal val="visible"/>
                                      </p:to>
                                    </p:set>
                                    <p:animEffect transition="in" filter="box(out)">
                                      <p:cBhvr>
                                        <p:cTn id="7" dur="500"/>
                                        <p:tgtEl>
                                          <p:spTgt spid="12189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21858"/>
                                        </p:tgtEl>
                                        <p:attrNameLst>
                                          <p:attrName>style.visibility</p:attrName>
                                        </p:attrNameLst>
                                      </p:cBhvr>
                                      <p:to>
                                        <p:strVal val="visible"/>
                                      </p:to>
                                    </p:set>
                                    <p:animEffect transition="in" filter="blinds(vertical)">
                                      <p:cBhvr>
                                        <p:cTn id="12" dur="500"/>
                                        <p:tgtEl>
                                          <p:spTgt spid="1218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21884"/>
                                        </p:tgtEl>
                                        <p:attrNameLst>
                                          <p:attrName>style.visibility</p:attrName>
                                        </p:attrNameLst>
                                      </p:cBhvr>
                                      <p:to>
                                        <p:strVal val="visible"/>
                                      </p:to>
                                    </p:set>
                                    <p:animEffect transition="in" filter="wipe(right)">
                                      <p:cBhvr>
                                        <p:cTn id="17" dur="500"/>
                                        <p:tgtEl>
                                          <p:spTgt spid="121884"/>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121911"/>
                                        </p:tgtEl>
                                        <p:attrNameLst>
                                          <p:attrName>style.visibility</p:attrName>
                                        </p:attrNameLst>
                                      </p:cBhvr>
                                      <p:to>
                                        <p:strVal val="visible"/>
                                      </p:to>
                                    </p:set>
                                    <p:animEffect transition="in" filter="wipe(down)">
                                      <p:cBhvr>
                                        <p:cTn id="21" dur="500"/>
                                        <p:tgtEl>
                                          <p:spTgt spid="121911"/>
                                        </p:tgtEl>
                                      </p:cBhvr>
                                    </p:animEffect>
                                  </p:childTnLst>
                                </p:cTn>
                              </p:par>
                            </p:childTnLst>
                          </p:cTn>
                        </p:par>
                        <p:par>
                          <p:cTn id="22" fill="hold">
                            <p:stCondLst>
                              <p:cond delay="1000"/>
                            </p:stCondLst>
                            <p:childTnLst>
                              <p:par>
                                <p:cTn id="23" presetID="22" presetClass="entr" presetSubtype="4" fill="hold" nodeType="afterEffect">
                                  <p:stCondLst>
                                    <p:cond delay="0"/>
                                  </p:stCondLst>
                                  <p:childTnLst>
                                    <p:set>
                                      <p:cBhvr>
                                        <p:cTn id="24" dur="1" fill="hold">
                                          <p:stCondLst>
                                            <p:cond delay="0"/>
                                          </p:stCondLst>
                                        </p:cTn>
                                        <p:tgtEl>
                                          <p:spTgt spid="121917"/>
                                        </p:tgtEl>
                                        <p:attrNameLst>
                                          <p:attrName>style.visibility</p:attrName>
                                        </p:attrNameLst>
                                      </p:cBhvr>
                                      <p:to>
                                        <p:strVal val="visible"/>
                                      </p:to>
                                    </p:set>
                                    <p:animEffect transition="in" filter="wipe(down)">
                                      <p:cBhvr>
                                        <p:cTn id="25" dur="500"/>
                                        <p:tgtEl>
                                          <p:spTgt spid="121917"/>
                                        </p:tgtEl>
                                      </p:cBhvr>
                                    </p:animEffec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121906"/>
                                        </p:tgtEl>
                                        <p:attrNameLst>
                                          <p:attrName>style.visibility</p:attrName>
                                        </p:attrNameLst>
                                      </p:cBhvr>
                                      <p:to>
                                        <p:strVal val="visible"/>
                                      </p:to>
                                    </p:set>
                                    <p:animEffect transition="in" filter="wipe(left)">
                                      <p:cBhvr>
                                        <p:cTn id="29" dur="500"/>
                                        <p:tgtEl>
                                          <p:spTgt spid="121906"/>
                                        </p:tgtEl>
                                      </p:cBhvr>
                                    </p:animEffect>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nodeType="clickEffect">
                                  <p:stCondLst>
                                    <p:cond delay="0"/>
                                  </p:stCondLst>
                                  <p:childTnLst>
                                    <p:set>
                                      <p:cBhvr>
                                        <p:cTn id="33" dur="1" fill="hold">
                                          <p:stCondLst>
                                            <p:cond delay="0"/>
                                          </p:stCondLst>
                                        </p:cTn>
                                        <p:tgtEl>
                                          <p:spTgt spid="121889"/>
                                        </p:tgtEl>
                                        <p:attrNameLst>
                                          <p:attrName>style.visibility</p:attrName>
                                        </p:attrNameLst>
                                      </p:cBhvr>
                                      <p:to>
                                        <p:strVal val="visible"/>
                                      </p:to>
                                    </p:set>
                                    <p:anim calcmode="lin" valueType="num">
                                      <p:cBhvr>
                                        <p:cTn id="34" dur="500" fill="hold"/>
                                        <p:tgtEl>
                                          <p:spTgt spid="121889"/>
                                        </p:tgtEl>
                                        <p:attrNameLst>
                                          <p:attrName>ppt_w</p:attrName>
                                        </p:attrNameLst>
                                      </p:cBhvr>
                                      <p:tavLst>
                                        <p:tav tm="0">
                                          <p:val>
                                            <p:fltVal val="0"/>
                                          </p:val>
                                        </p:tav>
                                        <p:tav tm="100000">
                                          <p:val>
                                            <p:strVal val="#ppt_w"/>
                                          </p:val>
                                        </p:tav>
                                      </p:tavLst>
                                    </p:anim>
                                    <p:anim calcmode="lin" valueType="num">
                                      <p:cBhvr>
                                        <p:cTn id="35" dur="500" fill="hold"/>
                                        <p:tgtEl>
                                          <p:spTgt spid="121889"/>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21916"/>
                                        </p:tgtEl>
                                        <p:attrNameLst>
                                          <p:attrName>style.visibility</p:attrName>
                                        </p:attrNameLst>
                                      </p:cBhvr>
                                      <p:to>
                                        <p:strVal val="visible"/>
                                      </p:to>
                                    </p:set>
                                    <p:animEffect transition="in" filter="blinds(horizontal)">
                                      <p:cBhvr>
                                        <p:cTn id="40" dur="500"/>
                                        <p:tgtEl>
                                          <p:spTgt spid="121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9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312545" y="403225"/>
            <a:ext cx="3450590" cy="615315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5841936" y="2476754"/>
                <a:ext cx="2305050" cy="46037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cs typeface="Cambria Math" panose="02040503050406030204" pitchFamily="18" charset="0"/>
                        </a:rPr>
                        <m:t>𝑏</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ℎ</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14</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9</m:t>
                      </m:r>
                    </m:oMath>
                  </m:oMathPara>
                </a14:m>
                <a:endParaRPr lang="zh-CN" altLang="en-US" sz="2400"/>
              </a:p>
            </p:txBody>
          </p:sp>
        </mc:Choice>
        <mc:Fallback>
          <p:sp>
            <p:nvSpPr>
              <p:cNvPr id="3" name="文本框 2"/>
              <p:cNvSpPr txBox="1">
                <a:spLocks noRot="1" noChangeAspect="1" noMove="1" noResize="1" noEditPoints="1" noAdjustHandles="1" noChangeArrowheads="1" noChangeShapeType="1" noTextEdit="1"/>
              </p:cNvSpPr>
              <p:nvPr/>
            </p:nvSpPr>
            <p:spPr>
              <a:xfrm>
                <a:off x="5841936" y="2476754"/>
                <a:ext cx="2305050" cy="460375"/>
              </a:xfrm>
              <a:prstGeom prst="rect">
                <a:avLst/>
              </a:prstGeom>
              <a:blipFill rotWithShape="1">
                <a:blip r:embed="rId2"/>
                <a:stretch>
                  <a:fillRect l="-25" t="-55" r="25" b="55"/>
                </a:stretch>
              </a:blipFill>
            </p:spPr>
            <p:txBody>
              <a:bodyPr/>
              <a:lstStyle/>
              <a:p>
                <a:r>
                  <a:rPr lang="zh-CN" altLang="en-US">
                    <a:noFill/>
                  </a:rPr>
                  <a:t> </a:t>
                </a:r>
              </a:p>
            </p:txBody>
          </p:sp>
        </mc:Fallback>
      </mc:AlternateContent>
      <p:sp>
        <p:nvSpPr>
          <p:cNvPr id="4" name="文本框 3"/>
          <p:cNvSpPr txBox="1"/>
          <p:nvPr/>
        </p:nvSpPr>
        <p:spPr>
          <a:xfrm>
            <a:off x="5934646" y="3185414"/>
            <a:ext cx="1526540" cy="460375"/>
          </a:xfrm>
          <a:prstGeom prst="rect">
            <a:avLst/>
          </a:prstGeom>
          <a:noFill/>
        </p:spPr>
        <p:txBody>
          <a:bodyPr wrap="none" rtlCol="0" anchor="t">
            <a:spAutoFit/>
          </a:bodyPr>
          <a:p>
            <a:pPr algn="l"/>
            <a:r>
              <a:rPr lang="en-US" altLang="zh-CN" sz="2400"/>
              <a:t>L=90</a:t>
            </a:r>
            <a:r>
              <a:rPr lang="zh-CN" altLang="en-US" sz="2400"/>
              <a:t>或</a:t>
            </a:r>
            <a:r>
              <a:rPr lang="en-US" altLang="zh-CN" sz="2400"/>
              <a:t>80</a:t>
            </a:r>
            <a:endParaRPr lang="en-US" altLang="zh-CN" sz="2400"/>
          </a:p>
        </p:txBody>
      </p:sp>
      <mc:AlternateContent xmlns:mc="http://schemas.openxmlformats.org/markup-compatibility/2006">
        <mc:Choice xmlns:a14="http://schemas.microsoft.com/office/drawing/2010/main" Requires="a14">
          <p:sp>
            <p:nvSpPr>
              <p:cNvPr id="5" name="文本框 4"/>
              <p:cNvSpPr txBox="1"/>
              <p:nvPr/>
            </p:nvSpPr>
            <p:spPr>
              <a:xfrm>
                <a:off x="5284406" y="4129659"/>
                <a:ext cx="3074670" cy="52641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cs typeface="Cambria Math" panose="02040503050406030204" pitchFamily="18" charset="0"/>
                        </a:rPr>
                        <m:t>轴</m:t>
                      </m:r>
                      <m:r>
                        <a:rPr lang="en-US" altLang="zh-CN" sz="2400" i="1">
                          <a:latin typeface="Cambria Math" panose="02040503050406030204" pitchFamily="18" charset="0"/>
                          <a:cs typeface="Cambria Math" panose="02040503050406030204" pitchFamily="18" charset="0"/>
                        </a:rPr>
                        <m:t>𝑡</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5</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5</m:t>
                      </m:r>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毂</m:t>
                          </m:r>
                          <m:r>
                            <a:rPr lang="en-US" altLang="zh-CN" sz="2400" i="1">
                              <a:latin typeface="Cambria Math" panose="02040503050406030204" pitchFamily="18" charset="0"/>
                              <a:cs typeface="Cambria Math" panose="02040503050406030204" pitchFamily="18" charset="0"/>
                            </a:rPr>
                            <m:t>𝑡</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3</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8</m:t>
                      </m:r>
                    </m:oMath>
                  </m:oMathPara>
                </a14:m>
                <a:endParaRPr lang="zh-CN" altLang="en-US" sz="2400"/>
              </a:p>
            </p:txBody>
          </p:sp>
        </mc:Choice>
        <mc:Fallback>
          <p:sp>
            <p:nvSpPr>
              <p:cNvPr id="5" name="文本框 4"/>
              <p:cNvSpPr txBox="1">
                <a:spLocks noRot="1" noChangeAspect="1" noMove="1" noResize="1" noEditPoints="1" noAdjustHandles="1" noChangeArrowheads="1" noChangeShapeType="1" noTextEdit="1"/>
              </p:cNvSpPr>
              <p:nvPr/>
            </p:nvSpPr>
            <p:spPr>
              <a:xfrm>
                <a:off x="5284406" y="4129659"/>
                <a:ext cx="3074670" cy="526415"/>
              </a:xfrm>
              <a:prstGeom prst="rect">
                <a:avLst/>
              </a:prstGeom>
              <a:blipFill rotWithShape="1">
                <a:blip r:embed="rId3"/>
                <a:stretch>
                  <a:fillRect l="-19" t="-48" r="19" b="4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902970" y="844550"/>
            <a:ext cx="3813810" cy="5412740"/>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5841936" y="2476754"/>
                <a:ext cx="2473960" cy="46037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cs typeface="Cambria Math" panose="02040503050406030204" pitchFamily="18" charset="0"/>
                        </a:rPr>
                        <m:t>𝑏</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ℎ</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16</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10</m:t>
                      </m:r>
                    </m:oMath>
                  </m:oMathPara>
                </a14:m>
                <a:endParaRPr lang="zh-CN" altLang="en-US" sz="2400"/>
              </a:p>
            </p:txBody>
          </p:sp>
        </mc:Choice>
        <mc:Fallback>
          <p:sp>
            <p:nvSpPr>
              <p:cNvPr id="5" name="文本框 4"/>
              <p:cNvSpPr txBox="1">
                <a:spLocks noRot="1" noChangeAspect="1" noMove="1" noResize="1" noEditPoints="1" noAdjustHandles="1" noChangeArrowheads="1" noChangeShapeType="1" noTextEdit="1"/>
              </p:cNvSpPr>
              <p:nvPr/>
            </p:nvSpPr>
            <p:spPr>
              <a:xfrm>
                <a:off x="5841936" y="2476754"/>
                <a:ext cx="2473960" cy="460375"/>
              </a:xfrm>
              <a:prstGeom prst="rect">
                <a:avLst/>
              </a:prstGeom>
              <a:blipFill rotWithShape="1">
                <a:blip r:embed="rId2"/>
                <a:stretch>
                  <a:fillRect l="-23" t="-55" r="23" b="55"/>
                </a:stretch>
              </a:blipFill>
            </p:spPr>
            <p:txBody>
              <a:bodyPr/>
              <a:lstStyle/>
              <a:p>
                <a:r>
                  <a:rPr lang="zh-CN" altLang="en-US">
                    <a:noFill/>
                  </a:rPr>
                  <a:t> </a:t>
                </a:r>
              </a:p>
            </p:txBody>
          </p:sp>
        </mc:Fallback>
      </mc:AlternateContent>
      <p:sp>
        <p:nvSpPr>
          <p:cNvPr id="6" name="文本框 5"/>
          <p:cNvSpPr txBox="1"/>
          <p:nvPr/>
        </p:nvSpPr>
        <p:spPr>
          <a:xfrm>
            <a:off x="6090856" y="3133344"/>
            <a:ext cx="1055370" cy="460375"/>
          </a:xfrm>
          <a:prstGeom prst="rect">
            <a:avLst/>
          </a:prstGeom>
          <a:noFill/>
        </p:spPr>
        <p:txBody>
          <a:bodyPr wrap="none" rtlCol="0" anchor="t">
            <a:spAutoFit/>
          </a:bodyPr>
          <a:p>
            <a:pPr algn="l"/>
            <a:r>
              <a:rPr lang="en-US" altLang="zh-CN" sz="2400"/>
              <a:t>L=</a:t>
            </a:r>
            <a:r>
              <a:rPr lang="en-US" sz="2400"/>
              <a:t>100</a:t>
            </a:r>
            <a:endParaRPr lang="en-US" sz="2400"/>
          </a:p>
        </p:txBody>
      </p:sp>
      <mc:AlternateContent xmlns:mc="http://schemas.openxmlformats.org/markup-compatibility/2006">
        <mc:Choice xmlns:a14="http://schemas.microsoft.com/office/drawing/2010/main" Requires="a14">
          <p:sp>
            <p:nvSpPr>
              <p:cNvPr id="7" name="文本框 6"/>
              <p:cNvSpPr txBox="1"/>
              <p:nvPr/>
            </p:nvSpPr>
            <p:spPr>
              <a:xfrm>
                <a:off x="5284406" y="4129659"/>
                <a:ext cx="3074670" cy="52641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cs typeface="Cambria Math" panose="02040503050406030204" pitchFamily="18" charset="0"/>
                        </a:rPr>
                        <m:t>轴</m:t>
                      </m:r>
                      <m:r>
                        <a:rPr lang="en-US" altLang="zh-CN" sz="2400" i="1">
                          <a:latin typeface="Cambria Math" panose="02040503050406030204" pitchFamily="18" charset="0"/>
                          <a:cs typeface="Cambria Math" panose="02040503050406030204" pitchFamily="18" charset="0"/>
                        </a:rPr>
                        <m:t>𝑡</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6</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0</m:t>
                      </m:r>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毂</m:t>
                          </m:r>
                          <m:r>
                            <a:rPr lang="en-US" altLang="zh-CN" sz="2400" i="1">
                              <a:latin typeface="Cambria Math" panose="02040503050406030204" pitchFamily="18" charset="0"/>
                              <a:cs typeface="Cambria Math" panose="02040503050406030204" pitchFamily="18" charset="0"/>
                            </a:rPr>
                            <m:t>𝑡</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4</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3</m:t>
                      </m:r>
                    </m:oMath>
                  </m:oMathPara>
                </a14:m>
                <a:endParaRPr lang="zh-CN" altLang="en-US" sz="2400"/>
              </a:p>
            </p:txBody>
          </p:sp>
        </mc:Choice>
        <mc:Fallback>
          <p:sp>
            <p:nvSpPr>
              <p:cNvPr id="7" name="文本框 6"/>
              <p:cNvSpPr txBox="1">
                <a:spLocks noRot="1" noChangeAspect="1" noMove="1" noResize="1" noEditPoints="1" noAdjustHandles="1" noChangeArrowheads="1" noChangeShapeType="1" noTextEdit="1"/>
              </p:cNvSpPr>
              <p:nvPr/>
            </p:nvSpPr>
            <p:spPr>
              <a:xfrm>
                <a:off x="5284406" y="4129659"/>
                <a:ext cx="3074670" cy="526415"/>
              </a:xfrm>
              <a:prstGeom prst="rect">
                <a:avLst/>
              </a:prstGeom>
              <a:blipFill rotWithShape="1">
                <a:blip r:embed="rId3"/>
                <a:stretch>
                  <a:fillRect l="-19" t="-48" r="19" b="4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647700" y="8763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r>
              <a:rPr lang="en-US" altLang="zh-CN" sz="2800" b="1" smtClean="0">
                <a:solidFill>
                  <a:srgbClr val="CC0000"/>
                </a:solidFill>
                <a:latin typeface="仿宋_GB2312" pitchFamily="49" charset="-122"/>
                <a:ea typeface="仿宋_GB2312" pitchFamily="49" charset="-122"/>
              </a:rPr>
              <a:t> </a:t>
            </a:r>
            <a:r>
              <a:rPr lang="zh-CN" altLang="en-US" sz="2800" smtClean="0">
                <a:solidFill>
                  <a:srgbClr val="CC0000"/>
                </a:solidFill>
                <a:latin typeface="黑体" panose="02010609060101010101" pitchFamily="49" charset="-122"/>
                <a:ea typeface="黑体" panose="02010609060101010101" pitchFamily="49" charset="-122"/>
              </a:rPr>
              <a:t>键槽的画法</a:t>
            </a:r>
            <a:endParaRPr lang="zh-CN" altLang="en-US" sz="2800" smtClean="0">
              <a:solidFill>
                <a:srgbClr val="FF0000"/>
              </a:solidFill>
              <a:latin typeface="黑体" panose="02010609060101010101" pitchFamily="49" charset="-122"/>
              <a:ea typeface="黑体" panose="02010609060101010101" pitchFamily="49" charset="-122"/>
            </a:endParaRPr>
          </a:p>
        </p:txBody>
      </p:sp>
      <p:pic>
        <p:nvPicPr>
          <p:cNvPr id="8197" name="Picture 5" descr="11b"/>
          <p:cNvPicPr>
            <a:picLocks noChangeAspect="1" noChangeArrowheads="1"/>
          </p:cNvPicPr>
          <p:nvPr/>
        </p:nvPicPr>
        <p:blipFill>
          <a:blip r:embed="rId1" cstate="print">
            <a:extLst>
              <a:ext uri="{28A0092B-C50C-407E-A947-70E740481C1C}">
                <a14:useLocalDpi xmlns:a14="http://schemas.microsoft.com/office/drawing/2010/main" val="0"/>
              </a:ext>
            </a:extLst>
          </a:blip>
          <a:srcRect l="18195" t="1367" r="22560" b="3799"/>
          <a:stretch>
            <a:fillRect/>
          </a:stretch>
        </p:blipFill>
        <p:spPr bwMode="auto">
          <a:xfrm>
            <a:off x="1282065" y="1437640"/>
            <a:ext cx="6400800" cy="462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Line 6"/>
          <p:cNvSpPr>
            <a:spLocks noChangeShapeType="1"/>
          </p:cNvSpPr>
          <p:nvPr/>
        </p:nvSpPr>
        <p:spPr bwMode="auto">
          <a:xfrm>
            <a:off x="3276600" y="3643313"/>
            <a:ext cx="2514600" cy="0"/>
          </a:xfrm>
          <a:prstGeom prst="line">
            <a:avLst/>
          </a:prstGeom>
          <a:noFill/>
          <a:ln w="952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9" name="Line 7"/>
          <p:cNvSpPr>
            <a:spLocks noChangeShapeType="1"/>
          </p:cNvSpPr>
          <p:nvPr/>
        </p:nvSpPr>
        <p:spPr bwMode="auto">
          <a:xfrm>
            <a:off x="3376613" y="3479800"/>
            <a:ext cx="2409825"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6" name="矩形 1"/>
          <p:cNvSpPr>
            <a:spLocks noChangeArrowheads="1"/>
          </p:cNvSpPr>
          <p:nvPr/>
        </p:nvSpPr>
        <p:spPr bwMode="auto">
          <a:xfrm>
            <a:off x="3863975" y="3198813"/>
            <a:ext cx="1416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200">
                <a:solidFill>
                  <a:schemeClr val="tx1"/>
                </a:solidFill>
                <a:latin typeface="Tahoma" panose="020B0604030504040204" pitchFamily="34" charset="0"/>
                <a:ea typeface="华文中宋" panose="02010600040101010101" pitchFamily="2" charset="-122"/>
              </a:defRPr>
            </a:lvl1pPr>
            <a:lvl2pPr marL="742950" indent="-285750">
              <a:defRPr kumimoji="1" sz="2200">
                <a:solidFill>
                  <a:schemeClr val="tx1"/>
                </a:solidFill>
                <a:latin typeface="Tahoma" panose="020B0604030504040204" pitchFamily="34" charset="0"/>
                <a:ea typeface="华文中宋" panose="02010600040101010101" pitchFamily="2" charset="-122"/>
              </a:defRPr>
            </a:lvl2pPr>
            <a:lvl3pPr marL="1143000" indent="-228600">
              <a:defRPr kumimoji="1" sz="2200">
                <a:solidFill>
                  <a:schemeClr val="tx1"/>
                </a:solidFill>
                <a:latin typeface="Tahoma" panose="020B0604030504040204" pitchFamily="34" charset="0"/>
                <a:ea typeface="华文中宋" panose="02010600040101010101" pitchFamily="2" charset="-122"/>
              </a:defRPr>
            </a:lvl3pPr>
            <a:lvl4pPr marL="1600200" indent="-228600">
              <a:defRPr kumimoji="1" sz="2200">
                <a:solidFill>
                  <a:schemeClr val="tx1"/>
                </a:solidFill>
                <a:latin typeface="Tahoma" panose="020B0604030504040204" pitchFamily="34" charset="0"/>
                <a:ea typeface="华文中宋" panose="02010600040101010101" pitchFamily="2" charset="-122"/>
              </a:defRPr>
            </a:lvl4pPr>
            <a:lvl5pPr marL="2057400" indent="-22860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a:solidFill>
                  <a:schemeClr val="bg1"/>
                </a:solidFill>
                <a:latin typeface="黑体" panose="02010609060101010101" pitchFamily="49" charset="-122"/>
                <a:ea typeface="黑体" panose="02010609060101010101" pitchFamily="49" charset="-122"/>
              </a:rPr>
              <a:t>键 连 接</a:t>
            </a:r>
            <a:endParaRPr lang="zh-CN" altLang="en-US" sz="2400">
              <a:solidFill>
                <a:schemeClr val="bg1"/>
              </a:solidFill>
              <a:latin typeface="黑体" panose="02010609060101010101" pitchFamily="49" charset="-122"/>
              <a:ea typeface="黑体" panose="02010609060101010101" pitchFamily="49" charset="-122"/>
            </a:endParaRPr>
          </a:p>
        </p:txBody>
      </p:sp>
      <p:sp>
        <p:nvSpPr>
          <p:cNvPr id="10247" name="文本框 2"/>
          <p:cNvSpPr txBox="1">
            <a:spLocks noChangeArrowheads="1"/>
          </p:cNvSpPr>
          <p:nvPr/>
        </p:nvSpPr>
        <p:spPr bwMode="auto">
          <a:xfrm>
            <a:off x="900113" y="0"/>
            <a:ext cx="2159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200">
                <a:solidFill>
                  <a:schemeClr val="tx1"/>
                </a:solidFill>
                <a:latin typeface="Tahoma" panose="020B0604030504040204" pitchFamily="34" charset="0"/>
                <a:ea typeface="华文中宋" panose="02010600040101010101" pitchFamily="2" charset="-122"/>
              </a:defRPr>
            </a:lvl1pPr>
            <a:lvl2pPr marL="742950" indent="-285750">
              <a:defRPr kumimoji="1" sz="2200">
                <a:solidFill>
                  <a:schemeClr val="tx1"/>
                </a:solidFill>
                <a:latin typeface="Tahoma" panose="020B0604030504040204" pitchFamily="34" charset="0"/>
                <a:ea typeface="华文中宋" panose="02010600040101010101" pitchFamily="2" charset="-122"/>
              </a:defRPr>
            </a:lvl2pPr>
            <a:lvl3pPr marL="1143000" indent="-228600">
              <a:defRPr kumimoji="1" sz="2200">
                <a:solidFill>
                  <a:schemeClr val="tx1"/>
                </a:solidFill>
                <a:latin typeface="Tahoma" panose="020B0604030504040204" pitchFamily="34" charset="0"/>
                <a:ea typeface="华文中宋" panose="02010600040101010101" pitchFamily="2" charset="-122"/>
              </a:defRPr>
            </a:lvl3pPr>
            <a:lvl4pPr marL="1600200" indent="-228600">
              <a:defRPr kumimoji="1" sz="2200">
                <a:solidFill>
                  <a:schemeClr val="tx1"/>
                </a:solidFill>
                <a:latin typeface="Tahoma" panose="020B0604030504040204" pitchFamily="34" charset="0"/>
                <a:ea typeface="华文中宋" panose="02010600040101010101" pitchFamily="2" charset="-122"/>
              </a:defRPr>
            </a:lvl4pPr>
            <a:lvl5pPr marL="2057400" indent="-22860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r>
              <a:rPr lang="zh-CN" altLang="en-US" sz="3200">
                <a:solidFill>
                  <a:schemeClr val="bg1"/>
                </a:solidFill>
                <a:latin typeface="黑体" panose="02010609060101010101" pitchFamily="49" charset="-122"/>
                <a:ea typeface="黑体" panose="02010609060101010101" pitchFamily="49" charset="-122"/>
              </a:rPr>
              <a:t>键 连 接</a:t>
            </a:r>
            <a:endParaRPr lang="zh-CN" altLang="en-US" sz="3200">
              <a:solidFill>
                <a:schemeClr val="bg1"/>
              </a:solidFill>
              <a:latin typeface="黑体" panose="02010609060101010101" pitchFamily="49" charset="-122"/>
              <a:ea typeface="黑体" panose="02010609060101010101" pitchFamily="49" charset="-122"/>
            </a:endParaRPr>
          </a:p>
          <a:p>
            <a:endParaRPr lang="zh-CN" altLang="en-US"/>
          </a:p>
        </p:txBody>
      </p:sp>
      <p:pic>
        <p:nvPicPr>
          <p:cNvPr id="8" name="Picture 31" descr="back">
            <a:hlinkClick r:id="" action="ppaction://hlinkshowjump?jump=previous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2150" y="6572250"/>
            <a:ext cx="28733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2" descr="NEXT">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21725" y="6572250"/>
            <a:ext cx="28733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3" descr="rewind">
            <a:hlinkClick r:id="rId4" action="ppaction://hlinksldjump"/>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31150" y="6572250"/>
            <a:ext cx="28733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barn(inHorizontal)">
                                      <p:cBhvr>
                                        <p:cTn id="7" dur="500"/>
                                        <p:tgtEl>
                                          <p:spTgt spid="81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8"/>
                                        </p:tgtEl>
                                        <p:attrNameLst>
                                          <p:attrName>style.visibility</p:attrName>
                                        </p:attrNameLst>
                                      </p:cBhvr>
                                      <p:to>
                                        <p:strVal val="visible"/>
                                      </p:to>
                                    </p:set>
                                    <p:animEffect transition="in" filter="wipe(left)">
                                      <p:cBhvr>
                                        <p:cTn id="12" dur="500"/>
                                        <p:tgtEl>
                                          <p:spTgt spid="8198"/>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8199"/>
                                        </p:tgtEl>
                                        <p:attrNameLst>
                                          <p:attrName>style.visibility</p:attrName>
                                        </p:attrNameLst>
                                      </p:cBhvr>
                                      <p:to>
                                        <p:strVal val="visible"/>
                                      </p:to>
                                    </p:set>
                                    <p:anim calcmode="lin" valueType="num">
                                      <p:cBhvr>
                                        <p:cTn id="17" dur="500" fill="hold"/>
                                        <p:tgtEl>
                                          <p:spTgt spid="8199"/>
                                        </p:tgtEl>
                                        <p:attrNameLst>
                                          <p:attrName>ppt_x</p:attrName>
                                        </p:attrNameLst>
                                      </p:cBhvr>
                                      <p:tavLst>
                                        <p:tav tm="0">
                                          <p:val>
                                            <p:strVal val="#ppt_x-#ppt_w/2"/>
                                          </p:val>
                                        </p:tav>
                                        <p:tav tm="100000">
                                          <p:val>
                                            <p:strVal val="#ppt_x"/>
                                          </p:val>
                                        </p:tav>
                                      </p:tavLst>
                                    </p:anim>
                                    <p:anim calcmode="lin" valueType="num">
                                      <p:cBhvr>
                                        <p:cTn id="18" dur="500" fill="hold"/>
                                        <p:tgtEl>
                                          <p:spTgt spid="8199"/>
                                        </p:tgtEl>
                                        <p:attrNameLst>
                                          <p:attrName>ppt_y</p:attrName>
                                        </p:attrNameLst>
                                      </p:cBhvr>
                                      <p:tavLst>
                                        <p:tav tm="0">
                                          <p:val>
                                            <p:strVal val="#ppt_y"/>
                                          </p:val>
                                        </p:tav>
                                        <p:tav tm="100000">
                                          <p:val>
                                            <p:strVal val="#ppt_y"/>
                                          </p:val>
                                        </p:tav>
                                      </p:tavLst>
                                    </p:anim>
                                    <p:anim calcmode="lin" valueType="num">
                                      <p:cBhvr>
                                        <p:cTn id="19" dur="500" fill="hold"/>
                                        <p:tgtEl>
                                          <p:spTgt spid="8199"/>
                                        </p:tgtEl>
                                        <p:attrNameLst>
                                          <p:attrName>ppt_w</p:attrName>
                                        </p:attrNameLst>
                                      </p:cBhvr>
                                      <p:tavLst>
                                        <p:tav tm="0">
                                          <p:val>
                                            <p:fltVal val="0"/>
                                          </p:val>
                                        </p:tav>
                                        <p:tav tm="100000">
                                          <p:val>
                                            <p:strVal val="#ppt_w"/>
                                          </p:val>
                                        </p:tav>
                                      </p:tavLst>
                                    </p:anim>
                                    <p:anim calcmode="lin" valueType="num">
                                      <p:cBhvr>
                                        <p:cTn id="20" dur="500" fill="hold"/>
                                        <p:tgtEl>
                                          <p:spTgt spid="8199"/>
                                        </p:tgtEl>
                                        <p:attrNameLst>
                                          <p:attrName>ppt_h</p:attrName>
                                        </p:attrNameLst>
                                      </p:cBhvr>
                                      <p:tavLst>
                                        <p:tav tm="0">
                                          <p:val>
                                            <p:strVal val="#ppt_h"/>
                                          </p:val>
                                        </p:tav>
                                        <p:tav tm="100000">
                                          <p:val>
                                            <p:strVal val="#ppt_h"/>
                                          </p:val>
                                        </p:tav>
                                      </p:tavLst>
                                    </p:anim>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499"/>
                                          </p:stCondLst>
                                        </p:cTn>
                                        <p:tgtEl>
                                          <p:spTgt spid="9"/>
                                        </p:tgtEl>
                                        <p:attrNameLst>
                                          <p:attrName>style.visibility</p:attrName>
                                        </p:attrNameLst>
                                      </p:cBhvr>
                                      <p:to>
                                        <p:strVal val="visible"/>
                                      </p:to>
                                    </p:set>
                                  </p:childTnLst>
                                </p:cTn>
                              </p:par>
                            </p:childTnLst>
                          </p:cTn>
                        </p:par>
                        <p:par>
                          <p:cTn id="24" fill="hold">
                            <p:stCondLst>
                              <p:cond delay="1000"/>
                            </p:stCondLst>
                            <p:childTnLst>
                              <p:par>
                                <p:cTn id="25" presetID="1" presetClass="entr" presetSubtype="0" fill="hold" nodeType="afterEffect">
                                  <p:stCondLst>
                                    <p:cond delay="0"/>
                                  </p:stCondLst>
                                  <p:childTnLst>
                                    <p:set>
                                      <p:cBhvr>
                                        <p:cTn id="26" dur="1" fill="hold">
                                          <p:stCondLst>
                                            <p:cond delay="499"/>
                                          </p:stCondLst>
                                        </p:cTn>
                                        <p:tgtEl>
                                          <p:spTgt spid="8"/>
                                        </p:tgtEl>
                                        <p:attrNameLst>
                                          <p:attrName>style.visibility</p:attrName>
                                        </p:attrNameLst>
                                      </p:cBhvr>
                                      <p:to>
                                        <p:strVal val="visible"/>
                                      </p:to>
                                    </p:set>
                                  </p:childTnLst>
                                </p:cTn>
                              </p:par>
                            </p:childTnLst>
                          </p:cTn>
                        </p:par>
                        <p:par>
                          <p:cTn id="27" fill="hold">
                            <p:stCondLst>
                              <p:cond delay="1500"/>
                            </p:stCondLst>
                            <p:childTnLst>
                              <p:par>
                                <p:cTn id="28" presetID="2" presetClass="entr" presetSubtype="8" fill="hold" nodeType="after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0-#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bldLvl="0" animBg="1"/>
      <p:bldP spid="8199"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7420" name="Picture 12" descr="11b"/>
          <p:cNvPicPr>
            <a:picLocks noChangeAspect="1" noChangeArrowheads="1"/>
          </p:cNvPicPr>
          <p:nvPr/>
        </p:nvPicPr>
        <p:blipFill>
          <a:blip r:embed="rId1" cstate="print">
            <a:extLst>
              <a:ext uri="{28A0092B-C50C-407E-A947-70E740481C1C}">
                <a14:useLocalDpi xmlns:a14="http://schemas.microsoft.com/office/drawing/2010/main" val="0"/>
              </a:ext>
            </a:extLst>
          </a:blip>
          <a:srcRect l="18195" t="1367" r="22560" b="3799"/>
          <a:stretch>
            <a:fillRect/>
          </a:stretch>
        </p:blipFill>
        <p:spPr bwMode="auto">
          <a:xfrm>
            <a:off x="1531938" y="1433513"/>
            <a:ext cx="6400800" cy="462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0" name="Rectangle 2"/>
          <p:cNvSpPr>
            <a:spLocks noGrp="1" noChangeArrowheads="1"/>
          </p:cNvSpPr>
          <p:nvPr>
            <p:ph type="title" idx="4294967295"/>
          </p:nvPr>
        </p:nvSpPr>
        <p:spPr bwMode="auto">
          <a:xfrm>
            <a:off x="770890" y="360045"/>
            <a:ext cx="7142163" cy="838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3200" b="1" smtClean="0">
                <a:solidFill>
                  <a:srgbClr val="CC0000"/>
                </a:solidFill>
                <a:latin typeface="黑体" panose="02010609060101010101" pitchFamily="49" charset="-122"/>
                <a:ea typeface="黑体" panose="02010609060101010101" pitchFamily="49" charset="-122"/>
                <a:cs typeface="黑体" panose="02010609060101010101" pitchFamily="49" charset="-122"/>
              </a:rPr>
              <a:t> </a:t>
            </a:r>
            <a:r>
              <a:rPr lang="zh-CN" altLang="en-US" sz="3200" smtClean="0">
                <a:solidFill>
                  <a:srgbClr val="CC0000"/>
                </a:solidFill>
                <a:latin typeface="黑体" panose="02010609060101010101" pitchFamily="49" charset="-122"/>
                <a:ea typeface="黑体" panose="02010609060101010101" pitchFamily="49" charset="-122"/>
                <a:cs typeface="黑体" panose="02010609060101010101" pitchFamily="49" charset="-122"/>
              </a:rPr>
              <a:t>平键联接</a:t>
            </a:r>
            <a:endParaRPr lang="zh-CN" altLang="en-US" sz="3200" smtClean="0">
              <a:solidFill>
                <a:srgbClr val="FF3300"/>
              </a:solidFill>
              <a:latin typeface="黑体" panose="02010609060101010101" pitchFamily="49" charset="-122"/>
              <a:ea typeface="黑体" panose="02010609060101010101" pitchFamily="49" charset="-122"/>
              <a:cs typeface="黑体" panose="02010609060101010101" pitchFamily="49" charset="-122"/>
            </a:endParaRPr>
          </a:p>
        </p:txBody>
      </p:sp>
      <p:pic>
        <p:nvPicPr>
          <p:cNvPr id="17412" name="Picture 4" descr="12c2a"/>
          <p:cNvPicPr>
            <a:picLocks noChangeAspect="1" noChangeArrowheads="1"/>
          </p:cNvPicPr>
          <p:nvPr/>
        </p:nvPicPr>
        <p:blipFill>
          <a:blip r:embed="rId2" cstate="print">
            <a:extLst>
              <a:ext uri="{28A0092B-C50C-407E-A947-70E740481C1C}">
                <a14:useLocalDpi xmlns:a14="http://schemas.microsoft.com/office/drawing/2010/main" val="0"/>
              </a:ext>
            </a:extLst>
          </a:blip>
          <a:srcRect l="47467" t="14995" r="25391" b="38992"/>
          <a:stretch>
            <a:fillRect/>
          </a:stretch>
        </p:blipFill>
        <p:spPr bwMode="auto">
          <a:xfrm>
            <a:off x="1905000" y="3587750"/>
            <a:ext cx="1295400"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5" descr="12c2a"/>
          <p:cNvPicPr>
            <a:picLocks noChangeAspect="1" noChangeArrowheads="1"/>
          </p:cNvPicPr>
          <p:nvPr/>
        </p:nvPicPr>
        <p:blipFill>
          <a:blip r:embed="rId2" cstate="print">
            <a:extLst>
              <a:ext uri="{28A0092B-C50C-407E-A947-70E740481C1C}">
                <a14:useLocalDpi xmlns:a14="http://schemas.microsoft.com/office/drawing/2010/main" val="0"/>
              </a:ext>
            </a:extLst>
          </a:blip>
          <a:srcRect l="23172" t="6381" r="52354" b="29485"/>
          <a:stretch>
            <a:fillRect/>
          </a:stretch>
        </p:blipFill>
        <p:spPr bwMode="auto">
          <a:xfrm>
            <a:off x="790575" y="3409950"/>
            <a:ext cx="114300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6" descr="12c2b"/>
          <p:cNvPicPr>
            <a:picLocks noChangeAspect="1" noChangeArrowheads="1"/>
          </p:cNvPicPr>
          <p:nvPr/>
        </p:nvPicPr>
        <p:blipFill>
          <a:blip r:embed="rId3" cstate="print">
            <a:extLst>
              <a:ext uri="{28A0092B-C50C-407E-A947-70E740481C1C}">
                <a14:useLocalDpi xmlns:a14="http://schemas.microsoft.com/office/drawing/2010/main" val="0"/>
              </a:ext>
            </a:extLst>
          </a:blip>
          <a:srcRect l="47559" t="23512" r="35251" b="67706"/>
          <a:stretch>
            <a:fillRect/>
          </a:stretch>
        </p:blipFill>
        <p:spPr bwMode="auto">
          <a:xfrm>
            <a:off x="2049780" y="3531235"/>
            <a:ext cx="1017905" cy="224155"/>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8" name="Picture 10" descr="12c4a"/>
          <p:cNvPicPr>
            <a:picLocks noChangeAspect="1" noChangeArrowheads="1"/>
          </p:cNvPicPr>
          <p:nvPr/>
        </p:nvPicPr>
        <p:blipFill>
          <a:blip r:embed="rId4" cstate="print">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l="41658" t="23532" r="33847" b="21884"/>
          <a:stretch>
            <a:fillRect/>
          </a:stretch>
        </p:blipFill>
        <p:spPr bwMode="auto">
          <a:xfrm>
            <a:off x="5474970" y="3633470"/>
            <a:ext cx="971550" cy="943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9" name="Picture 11" descr="12c"/>
          <p:cNvPicPr>
            <a:picLocks noChangeAspect="1" noChangeArrowheads="1"/>
          </p:cNvPicPr>
          <p:nvPr/>
        </p:nvPicPr>
        <p:blipFill>
          <a:blip r:embed="rId5" cstate="print">
            <a:extLst>
              <a:ext uri="{28A0092B-C50C-407E-A947-70E740481C1C}">
                <a14:useLocalDpi xmlns:a14="http://schemas.microsoft.com/office/drawing/2010/main" val="0"/>
              </a:ext>
            </a:extLst>
          </a:blip>
          <a:srcRect l="71303" t="34038" r="27107" b="63687"/>
          <a:stretch>
            <a:fillRect/>
          </a:stretch>
        </p:blipFill>
        <p:spPr bwMode="auto">
          <a:xfrm>
            <a:off x="5819775" y="3494405"/>
            <a:ext cx="270510" cy="273050"/>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1" descr="back">
            <a:hlinkClick r:id="" action="ppaction://hlinkshowjump?jump=previousslide"/>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12150" y="6572250"/>
            <a:ext cx="28733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2" descr="NEXT">
            <a:hlinkClick r:id="" action="ppaction://hlinkshowjump?jump=nextslide"/>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21725" y="6572250"/>
            <a:ext cx="28733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3" descr="rewind">
            <a:hlinkClick r:id="rId8" action="ppaction://hlinksldjump"/>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931150" y="6572250"/>
            <a:ext cx="28733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additive="base">
                                        <p:cTn id="7" dur="500" fill="hold"/>
                                        <p:tgtEl>
                                          <p:spTgt spid="17410"/>
                                        </p:tgtEl>
                                        <p:attrNameLst>
                                          <p:attrName>ppt_x</p:attrName>
                                        </p:attrNameLst>
                                      </p:cBhvr>
                                      <p:tavLst>
                                        <p:tav tm="0">
                                          <p:val>
                                            <p:strVal val="0-#ppt_w/2"/>
                                          </p:val>
                                        </p:tav>
                                        <p:tav tm="100000">
                                          <p:val>
                                            <p:strVal val="#ppt_x"/>
                                          </p:val>
                                        </p:tav>
                                      </p:tavLst>
                                    </p:anim>
                                    <p:anim calcmode="lin" valueType="num">
                                      <p:cBhvr additive="base">
                                        <p:cTn id="8" dur="500" fill="hold"/>
                                        <p:tgtEl>
                                          <p:spTgt spid="174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7420"/>
                                        </p:tgtEl>
                                        <p:attrNameLst>
                                          <p:attrName>style.visibility</p:attrName>
                                        </p:attrNameLst>
                                      </p:cBhvr>
                                      <p:to>
                                        <p:strVal val="visible"/>
                                      </p:to>
                                    </p:set>
                                    <p:anim calcmode="lin" valueType="num">
                                      <p:cBhvr>
                                        <p:cTn id="13" dur="500" fill="hold"/>
                                        <p:tgtEl>
                                          <p:spTgt spid="17420"/>
                                        </p:tgtEl>
                                        <p:attrNameLst>
                                          <p:attrName>ppt_w</p:attrName>
                                        </p:attrNameLst>
                                      </p:cBhvr>
                                      <p:tavLst>
                                        <p:tav tm="0">
                                          <p:val>
                                            <p:fltVal val="0"/>
                                          </p:val>
                                        </p:tav>
                                        <p:tav tm="100000">
                                          <p:val>
                                            <p:strVal val="#ppt_w"/>
                                          </p:val>
                                        </p:tav>
                                      </p:tavLst>
                                    </p:anim>
                                    <p:anim calcmode="lin" valueType="num">
                                      <p:cBhvr>
                                        <p:cTn id="14" dur="500" fill="hold"/>
                                        <p:tgtEl>
                                          <p:spTgt spid="1742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17412"/>
                                        </p:tgtEl>
                                        <p:attrNameLst>
                                          <p:attrName>style.visibility</p:attrName>
                                        </p:attrNameLst>
                                      </p:cBhvr>
                                      <p:to>
                                        <p:strVal val="visible"/>
                                      </p:to>
                                    </p:set>
                                    <p:animEffect transition="in" filter="dissolve">
                                      <p:cBhvr>
                                        <p:cTn id="19" dur="500"/>
                                        <p:tgtEl>
                                          <p:spTgt spid="17412"/>
                                        </p:tgtEl>
                                      </p:cBhvr>
                                    </p:animEffect>
                                  </p:childTnLst>
                                </p:cTn>
                              </p:par>
                            </p:childTnLst>
                          </p:cTn>
                        </p:par>
                        <p:par>
                          <p:cTn id="20" fill="hold">
                            <p:stCondLst>
                              <p:cond delay="500"/>
                            </p:stCondLst>
                            <p:childTnLst>
                              <p:par>
                                <p:cTn id="21" presetID="9" presetClass="entr" presetSubtype="0" fill="hold" nodeType="afterEffect">
                                  <p:stCondLst>
                                    <p:cond delay="0"/>
                                  </p:stCondLst>
                                  <p:childTnLst>
                                    <p:set>
                                      <p:cBhvr>
                                        <p:cTn id="22" dur="1" fill="hold">
                                          <p:stCondLst>
                                            <p:cond delay="0"/>
                                          </p:stCondLst>
                                        </p:cTn>
                                        <p:tgtEl>
                                          <p:spTgt spid="17413"/>
                                        </p:tgtEl>
                                        <p:attrNameLst>
                                          <p:attrName>style.visibility</p:attrName>
                                        </p:attrNameLst>
                                      </p:cBhvr>
                                      <p:to>
                                        <p:strVal val="visible"/>
                                      </p:to>
                                    </p:set>
                                    <p:animEffect transition="in" filter="dissolve">
                                      <p:cBhvr>
                                        <p:cTn id="23" dur="500"/>
                                        <p:tgtEl>
                                          <p:spTgt spid="1741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7414"/>
                                        </p:tgtEl>
                                        <p:attrNameLst>
                                          <p:attrName>style.visibility</p:attrName>
                                        </p:attrNameLst>
                                      </p:cBhvr>
                                      <p:to>
                                        <p:strVal val="visible"/>
                                      </p:to>
                                    </p:set>
                                    <p:animEffect transition="in" filter="dissolve">
                                      <p:cBhvr>
                                        <p:cTn id="28" dur="500"/>
                                        <p:tgtEl>
                                          <p:spTgt spid="17414"/>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7418"/>
                                        </p:tgtEl>
                                        <p:attrNameLst>
                                          <p:attrName>style.visibility</p:attrName>
                                        </p:attrNameLst>
                                      </p:cBhvr>
                                      <p:to>
                                        <p:strVal val="visible"/>
                                      </p:to>
                                    </p:set>
                                    <p:animEffect transition="in" filter="dissolve">
                                      <p:cBhvr>
                                        <p:cTn id="33" dur="500"/>
                                        <p:tgtEl>
                                          <p:spTgt spid="17418"/>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17419"/>
                                        </p:tgtEl>
                                        <p:attrNameLst>
                                          <p:attrName>style.visibility</p:attrName>
                                        </p:attrNameLst>
                                      </p:cBhvr>
                                      <p:to>
                                        <p:strVal val="visible"/>
                                      </p:to>
                                    </p:set>
                                    <p:animEffect transition="in" filter="dissolve">
                                      <p:cBhvr>
                                        <p:cTn id="38" dur="500"/>
                                        <p:tgtEl>
                                          <p:spTgt spid="17419"/>
                                        </p:tgtEl>
                                      </p:cBhvr>
                                    </p:animEffect>
                                  </p:childTnLst>
                                </p:cTn>
                              </p:par>
                            </p:childTnLst>
                          </p:cTn>
                        </p:par>
                        <p:par>
                          <p:cTn id="39" fill="hold">
                            <p:stCondLst>
                              <p:cond delay="500"/>
                            </p:stCondLst>
                            <p:childTnLst>
                              <p:par>
                                <p:cTn id="40" presetID="1" presetClass="entr" presetSubtype="0" fill="hold" nodeType="afterEffect">
                                  <p:stCondLst>
                                    <p:cond delay="0"/>
                                  </p:stCondLst>
                                  <p:childTnLst>
                                    <p:set>
                                      <p:cBhvr>
                                        <p:cTn id="41" dur="1" fill="hold">
                                          <p:stCondLst>
                                            <p:cond delay="499"/>
                                          </p:stCondLst>
                                        </p:cTn>
                                        <p:tgtEl>
                                          <p:spTgt spid="11"/>
                                        </p:tgtEl>
                                        <p:attrNameLst>
                                          <p:attrName>style.visibility</p:attrName>
                                        </p:attrNameLst>
                                      </p:cBhvr>
                                      <p:to>
                                        <p:strVal val="visible"/>
                                      </p:to>
                                    </p:set>
                                  </p:childTnLst>
                                </p:cTn>
                              </p:par>
                            </p:childTnLst>
                          </p:cTn>
                        </p:par>
                        <p:par>
                          <p:cTn id="42" fill="hold">
                            <p:stCondLst>
                              <p:cond delay="1000"/>
                            </p:stCondLst>
                            <p:childTnLst>
                              <p:par>
                                <p:cTn id="43" presetID="1" presetClass="entr" presetSubtype="0" fill="hold" nodeType="afterEffect">
                                  <p:stCondLst>
                                    <p:cond delay="0"/>
                                  </p:stCondLst>
                                  <p:childTnLst>
                                    <p:set>
                                      <p:cBhvr>
                                        <p:cTn id="44" dur="1" fill="hold">
                                          <p:stCondLst>
                                            <p:cond delay="499"/>
                                          </p:stCondLst>
                                        </p:cTn>
                                        <p:tgtEl>
                                          <p:spTgt spid="10"/>
                                        </p:tgtEl>
                                        <p:attrNameLst>
                                          <p:attrName>style.visibility</p:attrName>
                                        </p:attrNameLst>
                                      </p:cBhvr>
                                      <p:to>
                                        <p:strVal val="visible"/>
                                      </p:to>
                                    </p:set>
                                  </p:childTnLst>
                                </p:cTn>
                              </p:par>
                            </p:childTnLst>
                          </p:cTn>
                        </p:par>
                        <p:par>
                          <p:cTn id="45" fill="hold">
                            <p:stCondLst>
                              <p:cond delay="1500"/>
                            </p:stCondLst>
                            <p:childTnLst>
                              <p:par>
                                <p:cTn id="46" presetID="2" presetClass="entr" presetSubtype="8" fill="hold" nodeType="after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ppt_x</p:attrName>
                                        </p:attrNameLst>
                                      </p:cBhvr>
                                      <p:tavLst>
                                        <p:tav tm="0">
                                          <p:val>
                                            <p:strVal val="0-#ppt_w/2"/>
                                          </p:val>
                                        </p:tav>
                                        <p:tav tm="100000">
                                          <p:val>
                                            <p:strVal val="#ppt_x"/>
                                          </p:val>
                                        </p:tav>
                                      </p:tavLst>
                                    </p:anim>
                                    <p:anim calcmode="lin" valueType="num">
                                      <p:cBhvr additive="base">
                                        <p:cTn id="49"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3" name="图片 189441" descr="12-1模型(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51275" y="3429000"/>
            <a:ext cx="939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5" name="图片 189443" descr="12-1模型(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549275"/>
            <a:ext cx="3136900"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6" name="图片 189444" descr="12-1模型(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3644900"/>
            <a:ext cx="2895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7" name="图片 189445" descr="12-1模型(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4025" y="3500438"/>
            <a:ext cx="1727200"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8" name="图片 189446" descr="12-1模型(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2725" y="4149725"/>
            <a:ext cx="1498600"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9" name="图片 189447" descr="12-1模型(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1738" y="628650"/>
            <a:ext cx="3124200"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0" name="矩形 189448"/>
          <p:cNvSpPr>
            <a:spLocks noChangeArrowheads="1" noChangeShapeType="1" noTextEdit="1"/>
          </p:cNvSpPr>
          <p:nvPr/>
        </p:nvSpPr>
        <p:spPr bwMode="auto">
          <a:xfrm>
            <a:off x="3419475" y="333375"/>
            <a:ext cx="1371600" cy="538480"/>
          </a:xfrm>
          <a:prstGeom prst="rect">
            <a:avLst/>
          </a:prstGeom>
        </p:spPr>
        <p:txBody>
          <a:bodyPr wrap="none" fromWordArt="1">
            <a:prstTxWarp prst="textSlantUp">
              <a:avLst>
                <a:gd name="adj" fmla="val 0"/>
              </a:avLst>
            </a:prstTxWarp>
          </a:bodyPr>
          <a:lstStyle/>
          <a:p>
            <a:pPr algn="ctr"/>
            <a:r>
              <a:rPr lang="zh-CN" altLang="en-US" sz="2800" kern="10">
                <a:ln w="9525">
                  <a:solidFill>
                    <a:srgbClr val="CC99FF"/>
                  </a:solidFill>
                  <a:round/>
                </a:ln>
                <a:solidFill>
                  <a:schemeClr val="accent4"/>
                </a:solidFill>
                <a:effectLst/>
                <a:latin typeface="黑体" panose="02010609060101010101" pitchFamily="49" charset="-122"/>
                <a:ea typeface="黑体" panose="02010609060101010101" pitchFamily="49" charset="-122"/>
              </a:rPr>
              <a:t>键连接</a:t>
            </a:r>
            <a:endParaRPr lang="zh-CN" altLang="en-US" sz="2800" kern="10">
              <a:ln w="9525">
                <a:solidFill>
                  <a:srgbClr val="CC99FF"/>
                </a:solidFill>
                <a:round/>
              </a:ln>
              <a:solidFill>
                <a:schemeClr val="accent4"/>
              </a:solidFill>
              <a:effectLst/>
              <a:latin typeface="黑体" panose="02010609060101010101" pitchFamily="49" charset="-122"/>
              <a:ea typeface="黑体" panose="02010609060101010101" pitchFamily="49" charset="-122"/>
            </a:endParaRPr>
          </a:p>
        </p:txBody>
      </p:sp>
      <p:sp>
        <p:nvSpPr>
          <p:cNvPr id="74761" name="矩形 189449"/>
          <p:cNvSpPr>
            <a:spLocks noChangeArrowheads="1" noChangeShapeType="1" noTextEdit="1"/>
          </p:cNvSpPr>
          <p:nvPr/>
        </p:nvSpPr>
        <p:spPr bwMode="auto">
          <a:xfrm>
            <a:off x="8562975" y="6357938"/>
            <a:ext cx="457200" cy="346075"/>
          </a:xfrm>
          <a:prstGeom prst="rect">
            <a:avLst/>
          </a:prstGeom>
        </p:spPr>
        <p:txBody>
          <a:bodyPr wrap="none" fromWordArt="1">
            <a:prstTxWarp prst="textFadeUp">
              <a:avLst>
                <a:gd name="adj" fmla="val 0"/>
              </a:avLst>
            </a:prstTxWarp>
          </a:bodyPr>
          <a:lstStyle/>
          <a:p>
            <a:pPr algn="ctr"/>
            <a:r>
              <a:rPr lang="en-US" altLang="zh-CN" sz="3600" kern="10">
                <a:ln w="12700">
                  <a:solidFill>
                    <a:schemeClr val="accent2"/>
                  </a:solidFill>
                  <a:round/>
                </a:ln>
                <a:solidFill>
                  <a:schemeClr val="accent2"/>
                </a:solidFill>
                <a:latin typeface="宋体" panose="02010600030101010101" pitchFamily="2" charset="-122"/>
              </a:rPr>
              <a:t>P109</a:t>
            </a:r>
            <a:endParaRPr lang="zh-CN" altLang="en-US" sz="3600" kern="10">
              <a:ln w="12700">
                <a:solidFill>
                  <a:schemeClr val="accent2"/>
                </a:solidFill>
                <a:round/>
              </a:ln>
              <a:solidFill>
                <a:schemeClr val="accent2"/>
              </a:solidFill>
              <a:latin typeface="宋体" panose="02010600030101010101" pitchFamily="2" charset="-122"/>
            </a:endParaRPr>
          </a:p>
        </p:txBody>
      </p:sp>
      <p:grpSp>
        <p:nvGrpSpPr>
          <p:cNvPr id="189451" name="组合 189450"/>
          <p:cNvGrpSpPr/>
          <p:nvPr/>
        </p:nvGrpSpPr>
        <p:grpSpPr bwMode="auto">
          <a:xfrm>
            <a:off x="3638550" y="2297113"/>
            <a:ext cx="1452563" cy="822325"/>
            <a:chOff x="2292" y="1447"/>
            <a:chExt cx="915" cy="518"/>
          </a:xfrm>
        </p:grpSpPr>
        <p:sp>
          <p:nvSpPr>
            <p:cNvPr id="74763" name="椭圆形标注 189451"/>
            <p:cNvSpPr>
              <a:spLocks noChangeArrowheads="1"/>
            </p:cNvSpPr>
            <p:nvPr/>
          </p:nvSpPr>
          <p:spPr bwMode="auto">
            <a:xfrm>
              <a:off x="2292" y="1447"/>
              <a:ext cx="915" cy="518"/>
            </a:xfrm>
            <a:prstGeom prst="wedgeEllipseCallout">
              <a:avLst>
                <a:gd name="adj1" fmla="val -1912"/>
                <a:gd name="adj2" fmla="val 98454"/>
              </a:avLst>
            </a:prstGeom>
            <a:gradFill rotWithShape="0">
              <a:gsLst>
                <a:gs pos="0">
                  <a:srgbClr val="FFFFFF"/>
                </a:gs>
                <a:gs pos="100000">
                  <a:srgbClr val="9933FF"/>
                </a:gs>
              </a:gsLst>
              <a:path path="rect">
                <a:fillToRect l="50000" t="50000" r="50000" b="50000"/>
              </a:path>
            </a:gradFill>
            <a:ln w="9525">
              <a:solidFill>
                <a:schemeClr val="tx1"/>
              </a:solidFill>
              <a:miter lim="800000"/>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algn="ctr"/>
              <a:endParaRPr lang="zh-CN" altLang="en-US" sz="1800" b="0">
                <a:latin typeface="Arial" panose="020B0604020202020204" pitchFamily="34" charset="0"/>
              </a:endParaRPr>
            </a:p>
          </p:txBody>
        </p:sp>
        <p:sp>
          <p:nvSpPr>
            <p:cNvPr id="74764" name="矩形 189452"/>
            <p:cNvSpPr>
              <a:spLocks noChangeArrowheads="1" noChangeShapeType="1" noTextEdit="1"/>
            </p:cNvSpPr>
            <p:nvPr/>
          </p:nvSpPr>
          <p:spPr bwMode="auto">
            <a:xfrm>
              <a:off x="2417" y="1564"/>
              <a:ext cx="669" cy="292"/>
            </a:xfrm>
            <a:prstGeom prst="rect">
              <a:avLst/>
            </a:prstGeom>
          </p:spPr>
          <p:txBody>
            <a:bodyPr wrap="none" fromWordArt="1">
              <a:prstTxWarp prst="textSlantUp">
                <a:avLst>
                  <a:gd name="adj" fmla="val 0"/>
                </a:avLst>
              </a:prstTxWarp>
            </a:bodyPr>
            <a:lstStyle/>
            <a:p>
              <a:pPr algn="ctr"/>
              <a:r>
                <a:rPr lang="zh-CN" altLang="en-US" sz="3600" kern="10">
                  <a:ln w="9525">
                    <a:solidFill>
                      <a:srgbClr val="0000FF"/>
                    </a:solidFill>
                    <a:round/>
                  </a:ln>
                  <a:solidFill>
                    <a:srgbClr val="0000FF"/>
                  </a:solidFill>
                  <a:effectLst>
                    <a:outerShdw dist="17961" dir="2700000" algn="ctr" rotWithShape="0">
                      <a:srgbClr val="9999FF"/>
                    </a:outerShdw>
                  </a:effectLst>
                  <a:latin typeface="宋体" panose="02010600030101010101" pitchFamily="2" charset="-122"/>
                </a:rPr>
                <a:t>普通型平键</a:t>
              </a:r>
              <a:endParaRPr lang="zh-CN" altLang="en-US" sz="3600" kern="10">
                <a:ln w="9525">
                  <a:solidFill>
                    <a:srgbClr val="0000FF"/>
                  </a:solidFill>
                  <a:round/>
                </a:ln>
                <a:solidFill>
                  <a:srgbClr val="0000FF"/>
                </a:solidFill>
                <a:effectLst>
                  <a:outerShdw dist="17961" dir="2700000" algn="ctr" rotWithShape="0">
                    <a:srgbClr val="9999FF"/>
                  </a:outerShdw>
                </a:effectLst>
                <a:latin typeface="宋体" panose="02010600030101010101" pitchFamily="2" charset="-122"/>
              </a:endParaRPr>
            </a:p>
          </p:txBody>
        </p:sp>
      </p:gr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89451"/>
                                        </p:tgtEl>
                                        <p:attrNameLst>
                                          <p:attrName>style.visibility</p:attrName>
                                        </p:attrNameLst>
                                      </p:cBhvr>
                                      <p:to>
                                        <p:strVal val="visible"/>
                                      </p:to>
                                    </p:set>
                                    <p:animEffect transition="in" filter="wipe(up)">
                                      <p:cBhvr>
                                        <p:cTn id="7" dur="500"/>
                                        <p:tgtEl>
                                          <p:spTgt spid="189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矩形 190465"/>
          <p:cNvSpPr>
            <a:spLocks noChangeArrowheads="1" noChangeShapeType="1" noTextEdit="1"/>
          </p:cNvSpPr>
          <p:nvPr/>
        </p:nvSpPr>
        <p:spPr bwMode="auto">
          <a:xfrm>
            <a:off x="8562975" y="6357938"/>
            <a:ext cx="457200" cy="346075"/>
          </a:xfrm>
          <a:prstGeom prst="rect">
            <a:avLst/>
          </a:prstGeom>
        </p:spPr>
        <p:txBody>
          <a:bodyPr wrap="none" fromWordArt="1">
            <a:prstTxWarp prst="textFadeUp">
              <a:avLst>
                <a:gd name="adj" fmla="val 0"/>
              </a:avLst>
            </a:prstTxWarp>
          </a:bodyPr>
          <a:lstStyle/>
          <a:p>
            <a:pPr algn="ctr"/>
            <a:r>
              <a:rPr lang="en-US" altLang="zh-CN" sz="3600" kern="10">
                <a:ln w="12700">
                  <a:solidFill>
                    <a:schemeClr val="accent2"/>
                  </a:solidFill>
                  <a:round/>
                </a:ln>
                <a:solidFill>
                  <a:schemeClr val="accent2"/>
                </a:solidFill>
                <a:latin typeface="宋体" panose="02010600030101010101" pitchFamily="2" charset="-122"/>
              </a:rPr>
              <a:t>P109</a:t>
            </a:r>
            <a:endParaRPr lang="zh-CN" altLang="en-US" sz="3600" kern="10">
              <a:ln w="12700">
                <a:solidFill>
                  <a:schemeClr val="accent2"/>
                </a:solidFill>
                <a:round/>
              </a:ln>
              <a:solidFill>
                <a:schemeClr val="accent2"/>
              </a:solidFill>
              <a:latin typeface="宋体" panose="02010600030101010101" pitchFamily="2" charset="-122"/>
            </a:endParaRPr>
          </a:p>
        </p:txBody>
      </p:sp>
      <p:sp>
        <p:nvSpPr>
          <p:cNvPr id="73730" name="矩形 190466"/>
          <p:cNvSpPr>
            <a:spLocks noChangeArrowheads="1"/>
          </p:cNvSpPr>
          <p:nvPr/>
        </p:nvSpPr>
        <p:spPr bwMode="auto">
          <a:xfrm>
            <a:off x="76200" y="122238"/>
            <a:ext cx="8577263"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r>
              <a:rPr lang="en-US" altLang="zh-CN" dirty="0">
                <a:latin typeface="Arial" panose="020B0604020202020204" pitchFamily="34" charset="0"/>
              </a:rPr>
              <a:t>        </a:t>
            </a:r>
            <a:r>
              <a:rPr lang="zh-CN" altLang="en-US" dirty="0">
                <a:latin typeface="Arial" panose="020B0604020202020204" pitchFamily="34" charset="0"/>
              </a:rPr>
              <a:t>轴上         段开有</a:t>
            </a:r>
            <a:r>
              <a:rPr lang="en-US" altLang="zh-CN" dirty="0">
                <a:latin typeface="Arial" panose="020B0604020202020204" pitchFamily="34" charset="0"/>
              </a:rPr>
              <a:t>GB/T1095-2003A</a:t>
            </a:r>
            <a:r>
              <a:rPr lang="zh-CN" altLang="en-US" dirty="0">
                <a:latin typeface="Arial" panose="020B0604020202020204" pitchFamily="34" charset="0"/>
              </a:rPr>
              <a:t>型普通平键用键槽，                 		</a:t>
            </a:r>
            <a:r>
              <a:rPr lang="en-US" altLang="zh-CN" dirty="0">
                <a:latin typeface="Arial" panose="020B0604020202020204" pitchFamily="34" charset="0"/>
              </a:rPr>
              <a:t>L=18</a:t>
            </a:r>
            <a:endParaRPr lang="en-US" altLang="zh-CN" dirty="0">
              <a:latin typeface="Arial" panose="020B0604020202020204" pitchFamily="34" charset="0"/>
            </a:endParaRPr>
          </a:p>
        </p:txBody>
      </p:sp>
      <p:pic>
        <p:nvPicPr>
          <p:cNvPr id="190468" name="图片 19046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2788" y="3749675"/>
            <a:ext cx="251460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2" name="图片 19046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313" y="976313"/>
            <a:ext cx="540067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3733" name="对象 190469"/>
          <p:cNvGraphicFramePr/>
          <p:nvPr/>
        </p:nvGraphicFramePr>
        <p:xfrm>
          <a:off x="1524000" y="151448"/>
          <a:ext cx="588963" cy="428625"/>
        </p:xfrm>
        <a:graphic>
          <a:graphicData uri="http://schemas.openxmlformats.org/presentationml/2006/ole">
            <mc:AlternateContent xmlns:mc="http://schemas.openxmlformats.org/markup-compatibility/2006">
              <mc:Choice xmlns:v="urn:schemas-microsoft-com:vml" Requires="v">
                <p:oleObj spid="_x0000_s73787" name="" r:id="rId3" imgW="279400" imgH="203200" progId="Equation.3">
                  <p:embed/>
                </p:oleObj>
              </mc:Choice>
              <mc:Fallback>
                <p:oleObj name="" r:id="rId3" imgW="279400" imgH="203200" progId="Equation.3">
                  <p:embed/>
                  <p:pic>
                    <p:nvPicPr>
                      <p:cNvPr id="0" name="对象 19046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51448"/>
                        <a:ext cx="5889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0468"/>
                                        </p:tgtEl>
                                        <p:attrNameLst>
                                          <p:attrName>style.visibility</p:attrName>
                                        </p:attrNameLst>
                                      </p:cBhvr>
                                      <p:to>
                                        <p:strVal val="visible"/>
                                      </p:to>
                                    </p:set>
                                    <p:anim calcmode="lin" valueType="num">
                                      <p:cBhvr additive="base">
                                        <p:cTn id="7" dur="500" fill="hold"/>
                                        <p:tgtEl>
                                          <p:spTgt spid="190468"/>
                                        </p:tgtEl>
                                        <p:attrNameLst>
                                          <p:attrName>ppt_x</p:attrName>
                                        </p:attrNameLst>
                                      </p:cBhvr>
                                      <p:tavLst>
                                        <p:tav tm="0">
                                          <p:val>
                                            <p:strVal val="#ppt_x"/>
                                          </p:val>
                                        </p:tav>
                                        <p:tav tm="100000">
                                          <p:val>
                                            <p:strVal val="#ppt_x"/>
                                          </p:val>
                                        </p:tav>
                                      </p:tavLst>
                                    </p:anim>
                                    <p:anim calcmode="lin" valueType="num">
                                      <p:cBhvr additive="base">
                                        <p:cTn id="8" dur="500" fill="hold"/>
                                        <p:tgtEl>
                                          <p:spTgt spid="190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0468" name="图片 19046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68755" y="466090"/>
            <a:ext cx="5622925" cy="589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p:nvCxnSpPr>
        <p:spPr>
          <a:xfrm flipV="1">
            <a:off x="4937760" y="2875915"/>
            <a:ext cx="87630" cy="10795"/>
          </a:xfrm>
          <a:prstGeom prst="line">
            <a:avLst/>
          </a:prstGeom>
          <a:noFill/>
          <a:ln w="57150" cap="flat" cmpd="sng" algn="ctr">
            <a:gradFill>
              <a:gsLst>
                <a:gs pos="0">
                  <a:srgbClr val="012D86"/>
                </a:gs>
                <a:gs pos="100000">
                  <a:srgbClr val="0E2557"/>
                </a:gs>
              </a:gsLst>
            </a:gradFill>
            <a:prstDash val="solid"/>
            <a:round/>
            <a:headEnd type="none" w="med" len="med"/>
            <a:tailEnd type="none" w="med" len="med"/>
          </a:ln>
        </p:spPr>
      </p:cxnSp>
      <p:cxnSp>
        <p:nvCxnSpPr>
          <p:cNvPr id="4" name="直接连接符 3"/>
          <p:cNvCxnSpPr/>
          <p:nvPr/>
        </p:nvCxnSpPr>
        <p:spPr>
          <a:xfrm flipV="1">
            <a:off x="4966335" y="3977005"/>
            <a:ext cx="87630" cy="10795"/>
          </a:xfrm>
          <a:prstGeom prst="line">
            <a:avLst/>
          </a:prstGeom>
          <a:noFill/>
          <a:ln w="57150" cap="flat" cmpd="sng" algn="ctr">
            <a:gradFill>
              <a:gsLst>
                <a:gs pos="0">
                  <a:srgbClr val="012D86"/>
                </a:gs>
                <a:gs pos="100000">
                  <a:srgbClr val="0E2557"/>
                </a:gs>
              </a:gsLst>
            </a:gradFill>
            <a:prstDash val="solid"/>
            <a:round/>
            <a:headEnd type="none" w="med" len="med"/>
            <a:tailEnd type="none" w="med" len="med"/>
          </a:ln>
        </p:spPr>
      </p:cxnSp>
      <p:cxnSp>
        <p:nvCxnSpPr>
          <p:cNvPr id="5" name="直接连接符 4"/>
          <p:cNvCxnSpPr/>
          <p:nvPr/>
        </p:nvCxnSpPr>
        <p:spPr>
          <a:xfrm flipV="1">
            <a:off x="4966335" y="2324100"/>
            <a:ext cx="87630" cy="10795"/>
          </a:xfrm>
          <a:prstGeom prst="line">
            <a:avLst/>
          </a:prstGeom>
          <a:noFill/>
          <a:ln w="57150" cap="flat" cmpd="sng" algn="ctr">
            <a:solidFill>
              <a:srgbClr val="00B05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0468"/>
                                        </p:tgtEl>
                                        <p:attrNameLst>
                                          <p:attrName>style.visibility</p:attrName>
                                        </p:attrNameLst>
                                      </p:cBhvr>
                                      <p:to>
                                        <p:strVal val="visible"/>
                                      </p:to>
                                    </p:set>
                                    <p:anim calcmode="lin" valueType="num">
                                      <p:cBhvr additive="base">
                                        <p:cTn id="7" dur="500" fill="hold"/>
                                        <p:tgtEl>
                                          <p:spTgt spid="190468"/>
                                        </p:tgtEl>
                                        <p:attrNameLst>
                                          <p:attrName>ppt_x</p:attrName>
                                        </p:attrNameLst>
                                      </p:cBhvr>
                                      <p:tavLst>
                                        <p:tav tm="0">
                                          <p:val>
                                            <p:strVal val="#ppt_x"/>
                                          </p:val>
                                        </p:tav>
                                        <p:tav tm="100000">
                                          <p:val>
                                            <p:strVal val="#ppt_x"/>
                                          </p:val>
                                        </p:tav>
                                      </p:tavLst>
                                    </p:anim>
                                    <p:anim calcmode="lin" valueType="num">
                                      <p:cBhvr additive="base">
                                        <p:cTn id="8" dur="500" fill="hold"/>
                                        <p:tgtEl>
                                          <p:spTgt spid="1904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000" fill="hold">
                                          <p:stCondLst>
                                            <p:cond delay="0"/>
                                          </p:stCondLst>
                                        </p:cTn>
                                        <p:tgtEl>
                                          <p:spTgt spid="3"/>
                                        </p:tgtEl>
                                        <p:attrNameLst>
                                          <p:attrName>style.visibility</p:attrName>
                                        </p:attrNameLst>
                                      </p:cBhvr>
                                      <p:to>
                                        <p:strVal val="visible"/>
                                      </p:to>
                                    </p:set>
                                    <p:animEffect transition="in" filter="wipe(left)">
                                      <p:cBhvr>
                                        <p:cTn id="13" dur="1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000" fill="hold">
                                          <p:stCondLst>
                                            <p:cond delay="0"/>
                                          </p:stCondLst>
                                        </p:cTn>
                                        <p:tgtEl>
                                          <p:spTgt spid="5"/>
                                        </p:tgtEl>
                                        <p:attrNameLst>
                                          <p:attrName>style.visibility</p:attrName>
                                        </p:attrNameLst>
                                      </p:cBhvr>
                                      <p:to>
                                        <p:strVal val="visible"/>
                                      </p:to>
                                    </p:set>
                                    <p:animEffect transition="in" filter="wipe(left)">
                                      <p:cBhvr>
                                        <p:cTn id="2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4338" name="Rectangle 2"/>
          <p:cNvSpPr>
            <a:spLocks noGrp="1" noChangeArrowheads="1"/>
          </p:cNvSpPr>
          <p:nvPr>
            <p:ph type="title"/>
          </p:nvPr>
        </p:nvSpPr>
        <p:spPr bwMode="auto">
          <a:xfrm>
            <a:off x="6142038" y="271463"/>
            <a:ext cx="2984500"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3.5-1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7175" name="Rectangle 33"/>
          <p:cNvSpPr>
            <a:spLocks noChangeArrowheads="1"/>
          </p:cNvSpPr>
          <p:nvPr/>
        </p:nvSpPr>
        <p:spPr bwMode="auto">
          <a:xfrm>
            <a:off x="297498" y="769938"/>
            <a:ext cx="5992812"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C00000"/>
                </a:solidFill>
                <a:latin typeface="黑体" panose="02010609060101010101" pitchFamily="49" charset="-122"/>
                <a:ea typeface="黑体" panose="02010609060101010101" pitchFamily="49" charset="-122"/>
              </a:rPr>
              <a:t>二、键的选择和键连接强度计算</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10248" name="标题 57350"/>
          <p:cNvSpPr>
            <a:spLocks noChangeArrowheads="1"/>
          </p:cNvSpPr>
          <p:nvPr/>
        </p:nvSpPr>
        <p:spPr bwMode="auto">
          <a:xfrm>
            <a:off x="6324600" y="1408113"/>
            <a:ext cx="914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900">
                <a:solidFill>
                  <a:schemeClr val="bg1"/>
                </a:solidFill>
                <a:latin typeface="华文中宋" panose="02010600040101010101" pitchFamily="2" charset="-122"/>
              </a:rPr>
              <a:t>键联接</a:t>
            </a:r>
            <a:r>
              <a:rPr lang="en-US" altLang="zh-CN" sz="900">
                <a:solidFill>
                  <a:schemeClr val="bg1"/>
                </a:solidFill>
                <a:latin typeface="华文中宋" panose="02010600040101010101" pitchFamily="2" charset="-122"/>
              </a:rPr>
              <a:t>4</a:t>
            </a:r>
            <a:endParaRPr lang="en-US" altLang="zh-CN" sz="900">
              <a:solidFill>
                <a:schemeClr val="bg1"/>
              </a:solidFill>
              <a:latin typeface="华文中宋" panose="02010600040101010101" pitchFamily="2" charset="-122"/>
            </a:endParaRPr>
          </a:p>
        </p:txBody>
      </p:sp>
      <p:sp>
        <p:nvSpPr>
          <p:cNvPr id="7181" name="文本框 24"/>
          <p:cNvSpPr txBox="1">
            <a:spLocks noChangeArrowheads="1"/>
          </p:cNvSpPr>
          <p:nvPr/>
        </p:nvSpPr>
        <p:spPr bwMode="auto">
          <a:xfrm>
            <a:off x="736600" y="1918970"/>
            <a:ext cx="3828415" cy="534035"/>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a:ln>
            <a:noFill/>
          </a:ln>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400" dirty="0">
                <a:solidFill>
                  <a:srgbClr val="000099"/>
                </a:solidFill>
                <a:latin typeface="Times New Roman" panose="02020603050405020304" pitchFamily="18" charset="0"/>
              </a:rPr>
              <a:t>（</a:t>
            </a:r>
            <a:r>
              <a:rPr lang="en-US" altLang="zh-CN" sz="2400" dirty="0">
                <a:solidFill>
                  <a:srgbClr val="000099"/>
                </a:solidFill>
                <a:latin typeface="Times New Roman" panose="02020603050405020304" pitchFamily="18" charset="0"/>
              </a:rPr>
              <a:t>1</a:t>
            </a:r>
            <a:r>
              <a:rPr lang="zh-CN" altLang="en-US" sz="2400" dirty="0">
                <a:solidFill>
                  <a:srgbClr val="000099"/>
                </a:solidFill>
                <a:latin typeface="Times New Roman" panose="02020603050405020304" pitchFamily="18" charset="0"/>
              </a:rPr>
              <a:t>）平键连接强度计算</a:t>
            </a:r>
            <a:endParaRPr lang="zh-CN" altLang="en-US" sz="2400" dirty="0">
              <a:solidFill>
                <a:srgbClr val="000099"/>
              </a:solidFill>
              <a:latin typeface="Times New Roman" panose="02020603050405020304" pitchFamily="18" charset="0"/>
            </a:endParaRPr>
          </a:p>
        </p:txBody>
      </p:sp>
      <p:sp>
        <p:nvSpPr>
          <p:cNvPr id="7182" name="矩形 25"/>
          <p:cNvSpPr>
            <a:spLocks noChangeArrowheads="1"/>
          </p:cNvSpPr>
          <p:nvPr/>
        </p:nvSpPr>
        <p:spPr bwMode="auto">
          <a:xfrm>
            <a:off x="480060" y="2610485"/>
            <a:ext cx="8328025" cy="1616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35000"/>
              </a:lnSpc>
            </a:pPr>
            <a:r>
              <a:rPr lang="zh-CN" altLang="en-US" sz="2000" dirty="0">
                <a:solidFill>
                  <a:srgbClr val="000099"/>
                </a:solidFill>
                <a:latin typeface="Times New Roman" panose="02020603050405020304" pitchFamily="18" charset="0"/>
              </a:rPr>
              <a:t>　　</a:t>
            </a:r>
            <a:r>
              <a:rPr lang="zh-CN" altLang="en-US" sz="2400" dirty="0">
                <a:solidFill>
                  <a:srgbClr val="000099"/>
                </a:solidFill>
                <a:latin typeface="Times New Roman" panose="02020603050405020304" pitchFamily="18" charset="0"/>
              </a:rPr>
              <a:t>对于普通平键连接（静连接），其主要失效形式是较弱零件工作面被</a:t>
            </a:r>
            <a:r>
              <a:rPr lang="zh-CN" altLang="en-US" sz="2400" dirty="0">
                <a:solidFill>
                  <a:srgbClr val="FF0000"/>
                </a:solidFill>
                <a:latin typeface="Times New Roman" panose="02020603050405020304" pitchFamily="18" charset="0"/>
              </a:rPr>
              <a:t>压溃</a:t>
            </a:r>
            <a:r>
              <a:rPr lang="zh-CN" altLang="en-US" sz="2400" dirty="0">
                <a:solidFill>
                  <a:srgbClr val="000099"/>
                </a:solidFill>
                <a:latin typeface="Times New Roman" panose="02020603050405020304" pitchFamily="18" charset="0"/>
              </a:rPr>
              <a:t>，一般不会出现键的剪断，通常按</a:t>
            </a:r>
            <a:r>
              <a:rPr lang="zh-CN" altLang="en-US" sz="2400" dirty="0">
                <a:solidFill>
                  <a:srgbClr val="FF0000"/>
                </a:solidFill>
                <a:latin typeface="Times New Roman" panose="02020603050405020304" pitchFamily="18" charset="0"/>
              </a:rPr>
              <a:t>工作面上的挤压应力</a:t>
            </a:r>
            <a:r>
              <a:rPr lang="zh-CN" altLang="en-US" sz="2400" dirty="0">
                <a:solidFill>
                  <a:srgbClr val="000099"/>
                </a:solidFill>
                <a:latin typeface="Times New Roman" panose="02020603050405020304" pitchFamily="18" charset="0"/>
              </a:rPr>
              <a:t>进行强度校核计算。</a:t>
            </a:r>
            <a:endParaRPr lang="zh-CN" altLang="en-US" sz="2400" dirty="0">
              <a:solidFill>
                <a:srgbClr val="000099"/>
              </a:solidFill>
              <a:latin typeface="Times New Roman" panose="02020603050405020304" pitchFamily="18" charset="0"/>
            </a:endParaRPr>
          </a:p>
        </p:txBody>
      </p:sp>
      <p:sp>
        <p:nvSpPr>
          <p:cNvPr id="7183" name="矩形 26"/>
          <p:cNvSpPr>
            <a:spLocks noChangeArrowheads="1"/>
          </p:cNvSpPr>
          <p:nvPr/>
        </p:nvSpPr>
        <p:spPr bwMode="auto">
          <a:xfrm>
            <a:off x="582295" y="4464050"/>
            <a:ext cx="8328025" cy="1678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35000"/>
              </a:lnSpc>
            </a:pPr>
            <a:r>
              <a:rPr lang="zh-CN" altLang="en-US" sz="2000" dirty="0">
                <a:solidFill>
                  <a:srgbClr val="000099"/>
                </a:solidFill>
                <a:latin typeface="Times New Roman" panose="02020603050405020304" pitchFamily="18" charset="0"/>
              </a:rPr>
              <a:t>　　</a:t>
            </a:r>
            <a:r>
              <a:rPr lang="zh-CN" altLang="en-US" sz="2400" dirty="0">
                <a:solidFill>
                  <a:srgbClr val="000099"/>
                </a:solidFill>
                <a:latin typeface="Times New Roman" panose="02020603050405020304" pitchFamily="18" charset="0"/>
              </a:rPr>
              <a:t>对于导向平键连接和滑键连接（动连接），其主要失效形式是工作面的</a:t>
            </a:r>
            <a:r>
              <a:rPr lang="zh-CN" altLang="en-US" sz="2400" dirty="0">
                <a:solidFill>
                  <a:srgbClr val="FF0000"/>
                </a:solidFill>
                <a:latin typeface="Times New Roman" panose="02020603050405020304" pitchFamily="18" charset="0"/>
              </a:rPr>
              <a:t>过度磨损</a:t>
            </a:r>
            <a:r>
              <a:rPr lang="zh-CN" altLang="en-US" sz="2400" dirty="0">
                <a:solidFill>
                  <a:srgbClr val="000099"/>
                </a:solidFill>
                <a:latin typeface="Times New Roman" panose="02020603050405020304" pitchFamily="18" charset="0"/>
              </a:rPr>
              <a:t>，通常按</a:t>
            </a:r>
            <a:r>
              <a:rPr lang="zh-CN" altLang="en-US" sz="2400" dirty="0">
                <a:solidFill>
                  <a:srgbClr val="FF0000"/>
                </a:solidFill>
                <a:latin typeface="Times New Roman" panose="02020603050405020304" pitchFamily="18" charset="0"/>
              </a:rPr>
              <a:t>工作面上的压力</a:t>
            </a:r>
            <a:r>
              <a:rPr lang="zh-CN" altLang="en-US" sz="2400" dirty="0">
                <a:solidFill>
                  <a:srgbClr val="000099"/>
                </a:solidFill>
                <a:latin typeface="Times New Roman" panose="02020603050405020304" pitchFamily="18" charset="0"/>
              </a:rPr>
              <a:t>进行条件性的强度校核计算。</a:t>
            </a:r>
            <a:endParaRPr lang="zh-CN" altLang="en-US" sz="2400" dirty="0">
              <a:solidFill>
                <a:srgbClr val="000099"/>
              </a:solidFill>
              <a:latin typeface="Times New Roman" panose="02020603050405020304" pitchFamily="18" charset="0"/>
            </a:endParaRPr>
          </a:p>
        </p:txBody>
      </p:sp>
      <p:sp>
        <p:nvSpPr>
          <p:cNvPr id="3" name="文本框 57355"/>
          <p:cNvSpPr txBox="1">
            <a:spLocks noChangeArrowheads="1"/>
          </p:cNvSpPr>
          <p:nvPr/>
        </p:nvSpPr>
        <p:spPr bwMode="auto">
          <a:xfrm>
            <a:off x="637540" y="1149985"/>
            <a:ext cx="3099435"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lnSpc>
                <a:spcPct val="120000"/>
              </a:lnSpc>
            </a:pPr>
            <a:r>
              <a:rPr lang="en-US" altLang="zh-CN" sz="2400" dirty="0">
                <a:solidFill>
                  <a:srgbClr val="0000FF"/>
                </a:solidFill>
                <a:latin typeface="黑体" panose="02010609060101010101" pitchFamily="49" charset="-122"/>
                <a:ea typeface="黑体" panose="02010609060101010101" pitchFamily="49" charset="-122"/>
              </a:rPr>
              <a:t>2</a:t>
            </a:r>
            <a:r>
              <a:rPr lang="zh-CN" altLang="en-US" sz="2400" dirty="0">
                <a:solidFill>
                  <a:srgbClr val="0000FF"/>
                </a:solidFill>
                <a:latin typeface="黑体" panose="02010609060101010101" pitchFamily="49" charset="-122"/>
                <a:ea typeface="黑体" panose="02010609060101010101" pitchFamily="49" charset="-122"/>
              </a:rPr>
              <a:t>．键连接强度计算</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10257"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175"/>
                                        </p:tgtEl>
                                        <p:attrNameLst>
                                          <p:attrName>style.visibility</p:attrName>
                                        </p:attrNameLst>
                                      </p:cBhvr>
                                      <p:to>
                                        <p:strVal val="visible"/>
                                      </p:to>
                                    </p:set>
                                    <p:animEffect transition="in" filter="wipe(left)">
                                      <p:cBhvr>
                                        <p:cTn id="7" dur="500"/>
                                        <p:tgtEl>
                                          <p:spTgt spid="71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81"/>
                                        </p:tgtEl>
                                        <p:attrNameLst>
                                          <p:attrName>style.visibility</p:attrName>
                                        </p:attrNameLst>
                                      </p:cBhvr>
                                      <p:to>
                                        <p:strVal val="visible"/>
                                      </p:to>
                                    </p:set>
                                    <p:animEffect transition="in" filter="wipe(left)">
                                      <p:cBhvr>
                                        <p:cTn id="17" dur="500"/>
                                        <p:tgtEl>
                                          <p:spTgt spid="71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82"/>
                                        </p:tgtEl>
                                        <p:attrNameLst>
                                          <p:attrName>style.visibility</p:attrName>
                                        </p:attrNameLst>
                                      </p:cBhvr>
                                      <p:to>
                                        <p:strVal val="visible"/>
                                      </p:to>
                                    </p:set>
                                    <p:animEffect transition="in" filter="wipe(left)">
                                      <p:cBhvr>
                                        <p:cTn id="22" dur="500"/>
                                        <p:tgtEl>
                                          <p:spTgt spid="718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183"/>
                                        </p:tgtEl>
                                        <p:attrNameLst>
                                          <p:attrName>style.visibility</p:attrName>
                                        </p:attrNameLst>
                                      </p:cBhvr>
                                      <p:to>
                                        <p:strVal val="visible"/>
                                      </p:to>
                                    </p:set>
                                    <p:animEffect transition="in" filter="wipe(left)">
                                      <p:cBhvr>
                                        <p:cTn id="27" dur="500"/>
                                        <p:tgtEl>
                                          <p:spTgt spid="7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P spid="7181" grpId="0" bldLvl="0" animBg="1"/>
      <p:bldP spid="7182" grpId="0"/>
      <p:bldP spid="7183"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4338" name="Rectangle 2"/>
          <p:cNvSpPr>
            <a:spLocks noGrp="1" noChangeArrowheads="1"/>
          </p:cNvSpPr>
          <p:nvPr>
            <p:ph type="title"/>
          </p:nvPr>
        </p:nvSpPr>
        <p:spPr bwMode="auto">
          <a:xfrm>
            <a:off x="6142038" y="271463"/>
            <a:ext cx="2984500"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3.5-1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1036"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7"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8" name="Picture 36"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98" name="图片 27697" descr="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8900" y="3594100"/>
            <a:ext cx="3957638"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8" name="矩形 27657"/>
          <p:cNvSpPr>
            <a:spLocks noChangeArrowheads="1"/>
          </p:cNvSpPr>
          <p:nvPr/>
        </p:nvSpPr>
        <p:spPr bwMode="auto">
          <a:xfrm>
            <a:off x="381000" y="830263"/>
            <a:ext cx="53863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zh-CN" altLang="en-US" sz="2000" dirty="0">
                <a:solidFill>
                  <a:srgbClr val="000099"/>
                </a:solidFill>
                <a:latin typeface="华文中宋" panose="02010600040101010101" pitchFamily="2" charset="-122"/>
              </a:rPr>
              <a:t>　　假定载荷在键的工作面上均匀分布。普通平键连接的强度条件为</a:t>
            </a:r>
            <a:r>
              <a:rPr lang="en-US" altLang="zh-CN" sz="2000" dirty="0">
                <a:solidFill>
                  <a:srgbClr val="000099"/>
                </a:solidFill>
                <a:latin typeface="华文中宋" panose="02010600040101010101" pitchFamily="2" charset="-122"/>
              </a:rPr>
              <a:t>: </a:t>
            </a:r>
            <a:endParaRPr lang="en-US" altLang="zh-CN" sz="2000" dirty="0">
              <a:solidFill>
                <a:srgbClr val="000099"/>
              </a:solidFill>
              <a:latin typeface="华文中宋" panose="02010600040101010101" pitchFamily="2" charset="-122"/>
            </a:endParaRPr>
          </a:p>
        </p:txBody>
      </p:sp>
      <p:graphicFrame>
        <p:nvGraphicFramePr>
          <p:cNvPr id="1026" name="对象 27671"/>
          <p:cNvGraphicFramePr/>
          <p:nvPr/>
        </p:nvGraphicFramePr>
        <p:xfrm>
          <a:off x="4591050" y="3438525"/>
          <a:ext cx="114300" cy="215900"/>
        </p:xfrm>
        <a:graphic>
          <a:graphicData uri="http://schemas.openxmlformats.org/presentationml/2006/ole">
            <mc:AlternateContent xmlns:mc="http://schemas.openxmlformats.org/markup-compatibility/2006">
              <mc:Choice xmlns:v="urn:schemas-microsoft-com:vml" Requires="v">
                <p:oleObj spid="_x0000_s1285" name="" r:id="rId6" imgW="114300" imgH="215265" progId="Equation.3">
                  <p:embed/>
                </p:oleObj>
              </mc:Choice>
              <mc:Fallback>
                <p:oleObj name="" r:id="rId6" imgW="114300" imgH="215265" progId="Equation.3">
                  <p:embed/>
                  <p:pic>
                    <p:nvPicPr>
                      <p:cNvPr id="0" name="对象 2767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91050" y="3438525"/>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27" name="对象 27672"/>
          <p:cNvGraphicFramePr/>
          <p:nvPr/>
        </p:nvGraphicFramePr>
        <p:xfrm>
          <a:off x="4572000" y="3470275"/>
          <a:ext cx="114300" cy="215900"/>
        </p:xfrm>
        <a:graphic>
          <a:graphicData uri="http://schemas.openxmlformats.org/presentationml/2006/ole">
            <mc:AlternateContent xmlns:mc="http://schemas.openxmlformats.org/markup-compatibility/2006">
              <mc:Choice xmlns:v="urn:schemas-microsoft-com:vml" Requires="v">
                <p:oleObj spid="_x0000_s1286" name="" r:id="rId8" imgW="114300" imgH="215265" progId="Equation.3">
                  <p:embed/>
                </p:oleObj>
              </mc:Choice>
              <mc:Fallback>
                <p:oleObj name="" r:id="rId8" imgW="114300" imgH="215265" progId="Equation.3">
                  <p:embed/>
                  <p:pic>
                    <p:nvPicPr>
                      <p:cNvPr id="0" name="对象 2767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3470275"/>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76" name="文本框 27675"/>
          <p:cNvSpPr txBox="1">
            <a:spLocks noChangeArrowheads="1"/>
          </p:cNvSpPr>
          <p:nvPr/>
        </p:nvSpPr>
        <p:spPr bwMode="auto">
          <a:xfrm>
            <a:off x="381000" y="2473325"/>
            <a:ext cx="54006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buClr>
                <a:schemeClr val="hlink"/>
              </a:buClr>
              <a:buSzPct val="110000"/>
              <a:buFont typeface="Wingdings" panose="05000000000000000000" pitchFamily="2" charset="2"/>
              <a:buNone/>
            </a:pPr>
            <a:r>
              <a:rPr lang="zh-CN" altLang="en-US" sz="2000">
                <a:solidFill>
                  <a:srgbClr val="000099"/>
                </a:solidFill>
                <a:latin typeface="华文中宋" panose="02010600040101010101" pitchFamily="2" charset="-122"/>
              </a:rPr>
              <a:t>　　导向平键连接和滑键连接接的强度条件为：</a:t>
            </a:r>
            <a:endParaRPr lang="zh-CN" altLang="en-US" sz="2000">
              <a:solidFill>
                <a:srgbClr val="000099"/>
              </a:solidFill>
              <a:latin typeface="华文中宋" panose="02010600040101010101" pitchFamily="2" charset="-122"/>
            </a:endParaRPr>
          </a:p>
        </p:txBody>
      </p:sp>
      <p:sp>
        <p:nvSpPr>
          <p:cNvPr id="1042" name="标题 27678"/>
          <p:cNvSpPr>
            <a:spLocks noChangeArrowheads="1"/>
          </p:cNvSpPr>
          <p:nvPr/>
        </p:nvSpPr>
        <p:spPr bwMode="auto">
          <a:xfrm>
            <a:off x="6400800" y="1336675"/>
            <a:ext cx="914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900">
                <a:solidFill>
                  <a:schemeClr val="bg1"/>
                </a:solidFill>
                <a:latin typeface="华文中宋" panose="02010600040101010101" pitchFamily="2" charset="-122"/>
              </a:rPr>
              <a:t>键联接</a:t>
            </a:r>
            <a:r>
              <a:rPr lang="en-US" altLang="zh-CN" sz="900">
                <a:solidFill>
                  <a:schemeClr val="bg1"/>
                </a:solidFill>
                <a:latin typeface="华文中宋" panose="02010600040101010101" pitchFamily="2" charset="-122"/>
              </a:rPr>
              <a:t>5</a:t>
            </a:r>
            <a:endParaRPr lang="en-US" altLang="zh-CN" sz="900">
              <a:solidFill>
                <a:schemeClr val="bg1"/>
              </a:solidFill>
              <a:latin typeface="华文中宋" panose="02010600040101010101" pitchFamily="2" charset="-122"/>
            </a:endParaRPr>
          </a:p>
        </p:txBody>
      </p:sp>
      <p:pic>
        <p:nvPicPr>
          <p:cNvPr id="27705" name="图片 27704" descr="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62650" y="993775"/>
            <a:ext cx="2952750" cy="231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对象 3">
            <a:hlinkClick r:id="" action="ppaction://ole?verb=1"/>
          </p:cNvPr>
          <p:cNvGraphicFramePr>
            <a:graphicFrameLocks noChangeAspect="1"/>
          </p:cNvGraphicFramePr>
          <p:nvPr/>
        </p:nvGraphicFramePr>
        <p:xfrm>
          <a:off x="790893" y="1676242"/>
          <a:ext cx="4168140" cy="770255"/>
        </p:xfrm>
        <a:graphic>
          <a:graphicData uri="http://schemas.openxmlformats.org/presentationml/2006/ole">
            <mc:AlternateContent xmlns:mc="http://schemas.openxmlformats.org/markup-compatibility/2006">
              <mc:Choice xmlns:v="urn:schemas-microsoft-com:vml" Requires="v">
                <p:oleObj spid="_x0000_s1287" name="" r:id="rId10" imgW="2273300" imgH="419100" progId="Equation.KSEE3">
                  <p:embed/>
                </p:oleObj>
              </mc:Choice>
              <mc:Fallback>
                <p:oleObj name="" r:id="rId10" imgW="2273300" imgH="419100" progId="Equation.KSEE3">
                  <p:embed/>
                  <p:pic>
                    <p:nvPicPr>
                      <p:cNvPr id="0" name="对象 3"/>
                      <p:cNvPicPr>
                        <a:picLocks noChangeAspect="1" noChangeArrowheads="1"/>
                      </p:cNvPicPr>
                      <p:nvPr/>
                    </p:nvPicPr>
                    <p:blipFill>
                      <a:blip r:embed="rId11"/>
                      <a:srcRect/>
                      <a:stretch>
                        <a:fillRect/>
                      </a:stretch>
                    </p:blipFill>
                    <p:spPr bwMode="auto">
                      <a:xfrm>
                        <a:off x="790893" y="1676242"/>
                        <a:ext cx="4168140" cy="770255"/>
                      </a:xfrm>
                      <a:prstGeom prst="rect">
                        <a:avLst/>
                      </a:prstGeom>
                      <a:solidFill>
                        <a:srgbClr val="92D050"/>
                      </a:solidFill>
                      <a:ln>
                        <a:noFill/>
                      </a:ln>
                    </p:spPr>
                  </p:pic>
                </p:oleObj>
              </mc:Fallback>
            </mc:AlternateContent>
          </a:graphicData>
        </a:graphic>
      </p:graphicFrame>
      <p:graphicFrame>
        <p:nvGraphicFramePr>
          <p:cNvPr id="5" name="对象 4">
            <a:hlinkClick r:id="" action="ppaction://ole?verb=1"/>
          </p:cNvPr>
          <p:cNvGraphicFramePr>
            <a:graphicFrameLocks noChangeAspect="1"/>
          </p:cNvGraphicFramePr>
          <p:nvPr/>
        </p:nvGraphicFramePr>
        <p:xfrm>
          <a:off x="1199039" y="2911951"/>
          <a:ext cx="3329940" cy="769620"/>
        </p:xfrm>
        <a:graphic>
          <a:graphicData uri="http://schemas.openxmlformats.org/presentationml/2006/ole">
            <mc:AlternateContent xmlns:mc="http://schemas.openxmlformats.org/markup-compatibility/2006">
              <mc:Choice xmlns:v="urn:schemas-microsoft-com:vml" Requires="v">
                <p:oleObj spid="_x0000_s1288" name="" r:id="rId12" imgW="1816100" imgH="419100" progId="Equation.KSEE3">
                  <p:embed/>
                </p:oleObj>
              </mc:Choice>
              <mc:Fallback>
                <p:oleObj name="" r:id="rId12" imgW="1816100" imgH="419100" progId="Equation.KSEE3">
                  <p:embed/>
                  <p:pic>
                    <p:nvPicPr>
                      <p:cNvPr id="0" name="对象 4"/>
                      <p:cNvPicPr>
                        <a:picLocks noChangeAspect="1" noChangeArrowheads="1"/>
                      </p:cNvPicPr>
                      <p:nvPr/>
                    </p:nvPicPr>
                    <p:blipFill>
                      <a:blip r:embed="rId13"/>
                      <a:srcRect/>
                      <a:stretch>
                        <a:fillRect/>
                      </a:stretch>
                    </p:blipFill>
                    <p:spPr bwMode="auto">
                      <a:xfrm>
                        <a:off x="1199039" y="2911951"/>
                        <a:ext cx="3329940" cy="769620"/>
                      </a:xfrm>
                      <a:prstGeom prst="rect">
                        <a:avLst/>
                      </a:prstGeom>
                      <a:solidFill>
                        <a:srgbClr val="FFFF00"/>
                      </a:solidFill>
                      <a:ln>
                        <a:noFill/>
                      </a:ln>
                    </p:spPr>
                  </p:pic>
                </p:oleObj>
              </mc:Fallback>
            </mc:AlternateContent>
          </a:graphicData>
        </a:graphic>
      </p:graphicFrame>
      <p:grpSp>
        <p:nvGrpSpPr>
          <p:cNvPr id="2" name="组合 22"/>
          <p:cNvGrpSpPr/>
          <p:nvPr/>
        </p:nvGrpSpPr>
        <p:grpSpPr bwMode="auto">
          <a:xfrm>
            <a:off x="838200" y="3686175"/>
            <a:ext cx="1555750" cy="754063"/>
            <a:chOff x="1320" y="5804"/>
            <a:chExt cx="2450" cy="1188"/>
          </a:xfrm>
        </p:grpSpPr>
        <p:sp>
          <p:nvSpPr>
            <p:cNvPr id="1052" name="文本框 27694"/>
            <p:cNvSpPr txBox="1">
              <a:spLocks noChangeArrowheads="1"/>
            </p:cNvSpPr>
            <p:nvPr/>
          </p:nvSpPr>
          <p:spPr bwMode="auto">
            <a:xfrm>
              <a:off x="1320" y="6018"/>
              <a:ext cx="1490" cy="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t>式中：</a:t>
              </a:r>
              <a:endParaRPr lang="zh-CN" altLang="en-US" sz="2000"/>
            </a:p>
          </p:txBody>
        </p:sp>
        <p:graphicFrame>
          <p:nvGraphicFramePr>
            <p:cNvPr id="1033" name="对象 5">
              <a:hlinkClick r:id="" action="ppaction://ole?verb=1"/>
            </p:cNvPr>
            <p:cNvGraphicFramePr>
              <a:graphicFrameLocks noChangeAspect="1"/>
            </p:cNvGraphicFramePr>
            <p:nvPr/>
          </p:nvGraphicFramePr>
          <p:xfrm>
            <a:off x="2620" y="5804"/>
            <a:ext cx="1150" cy="1189"/>
          </p:xfrm>
          <a:graphic>
            <a:graphicData uri="http://schemas.openxmlformats.org/presentationml/2006/ole">
              <mc:AlternateContent xmlns:mc="http://schemas.openxmlformats.org/markup-compatibility/2006">
                <mc:Choice xmlns:v="urn:schemas-microsoft-com:vml" Requires="v">
                  <p:oleObj spid="_x0000_s1289" name="" r:id="rId14" imgW="381000" imgH="393700" progId="Equation.KSEE3">
                    <p:embed/>
                  </p:oleObj>
                </mc:Choice>
                <mc:Fallback>
                  <p:oleObj name="" r:id="rId14" imgW="381000" imgH="393700" progId="Equation.KSEE3">
                    <p:embed/>
                    <p:pic>
                      <p:nvPicPr>
                        <p:cNvPr id="0" name="对象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20" y="5804"/>
                          <a:ext cx="1150" cy="1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3" name="组合 23"/>
          <p:cNvGrpSpPr/>
          <p:nvPr/>
        </p:nvGrpSpPr>
        <p:grpSpPr bwMode="auto">
          <a:xfrm>
            <a:off x="1635125" y="4384675"/>
            <a:ext cx="3228975" cy="1662113"/>
            <a:chOff x="2620" y="6886"/>
            <a:chExt cx="5085" cy="2616"/>
          </a:xfrm>
        </p:grpSpPr>
        <p:sp>
          <p:nvSpPr>
            <p:cNvPr id="1048" name="文本框 27668"/>
            <p:cNvSpPr txBox="1">
              <a:spLocks noChangeArrowheads="1"/>
            </p:cNvSpPr>
            <p:nvPr/>
          </p:nvSpPr>
          <p:spPr bwMode="auto">
            <a:xfrm>
              <a:off x="4465" y="6886"/>
              <a:ext cx="324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buClr>
                  <a:schemeClr val="hlink"/>
                </a:buClr>
                <a:buSzPct val="110000"/>
                <a:buFont typeface="Wingdings" panose="05000000000000000000" pitchFamily="2" charset="2"/>
                <a:buNone/>
              </a:pPr>
              <a:r>
                <a:rPr lang="zh-CN" altLang="en-US" sz="2000">
                  <a:solidFill>
                    <a:srgbClr val="000099"/>
                  </a:solidFill>
                  <a:latin typeface="华文中宋" panose="02010600040101010101" pitchFamily="2" charset="-122"/>
                </a:rPr>
                <a:t>（圆头平键）</a:t>
              </a:r>
              <a:endParaRPr lang="zh-CN" altLang="en-US" sz="2000">
                <a:solidFill>
                  <a:srgbClr val="000099"/>
                </a:solidFill>
                <a:latin typeface="华文中宋" panose="02010600040101010101" pitchFamily="2" charset="-122"/>
              </a:endParaRPr>
            </a:p>
          </p:txBody>
        </p:sp>
        <p:sp>
          <p:nvSpPr>
            <p:cNvPr id="1049" name="文本框 16"/>
            <p:cNvSpPr txBox="1">
              <a:spLocks noChangeArrowheads="1"/>
            </p:cNvSpPr>
            <p:nvPr/>
          </p:nvSpPr>
          <p:spPr bwMode="auto">
            <a:xfrm>
              <a:off x="4465" y="7548"/>
              <a:ext cx="324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buClr>
                  <a:schemeClr val="hlink"/>
                </a:buClr>
                <a:buSzPct val="110000"/>
                <a:buFont typeface="Wingdings" panose="05000000000000000000" pitchFamily="2" charset="2"/>
                <a:buNone/>
              </a:pPr>
              <a:r>
                <a:rPr lang="zh-CN" altLang="en-US" sz="2000">
                  <a:solidFill>
                    <a:srgbClr val="000099"/>
                  </a:solidFill>
                  <a:latin typeface="华文中宋" panose="02010600040101010101" pitchFamily="2" charset="-122"/>
                </a:rPr>
                <a:t>（平头平键）</a:t>
              </a:r>
              <a:endParaRPr lang="zh-CN" altLang="en-US" sz="2000">
                <a:solidFill>
                  <a:srgbClr val="000099"/>
                </a:solidFill>
                <a:latin typeface="华文中宋" panose="02010600040101010101" pitchFamily="2" charset="-122"/>
              </a:endParaRPr>
            </a:p>
          </p:txBody>
        </p:sp>
        <p:sp>
          <p:nvSpPr>
            <p:cNvPr id="1050" name="文本框 17"/>
            <p:cNvSpPr txBox="1">
              <a:spLocks noChangeArrowheads="1"/>
            </p:cNvSpPr>
            <p:nvPr/>
          </p:nvSpPr>
          <p:spPr bwMode="auto">
            <a:xfrm>
              <a:off x="4465" y="8208"/>
              <a:ext cx="2930" cy="1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buClr>
                  <a:schemeClr val="hlink"/>
                </a:buClr>
                <a:buSzPct val="110000"/>
                <a:buFont typeface="Wingdings" panose="05000000000000000000" pitchFamily="2" charset="2"/>
                <a:buNone/>
              </a:pPr>
              <a:r>
                <a:rPr lang="zh-CN" altLang="en-US" sz="2000">
                  <a:solidFill>
                    <a:srgbClr val="000099"/>
                  </a:solidFill>
                  <a:latin typeface="华文中宋" panose="02010600040101010101" pitchFamily="2" charset="-122"/>
                </a:rPr>
                <a:t>（单圆头平键）</a:t>
              </a:r>
              <a:endParaRPr lang="zh-CN" altLang="en-US" sz="2000">
                <a:solidFill>
                  <a:srgbClr val="000099"/>
                </a:solidFill>
                <a:latin typeface="华文中宋" panose="02010600040101010101" pitchFamily="2" charset="-122"/>
              </a:endParaRPr>
            </a:p>
          </p:txBody>
        </p:sp>
        <p:grpSp>
          <p:nvGrpSpPr>
            <p:cNvPr id="1051" name="组合 21"/>
            <p:cNvGrpSpPr/>
            <p:nvPr/>
          </p:nvGrpSpPr>
          <p:grpSpPr bwMode="auto">
            <a:xfrm>
              <a:off x="2620" y="6976"/>
              <a:ext cx="1713" cy="2120"/>
              <a:chOff x="2620" y="6961"/>
              <a:chExt cx="1713" cy="2120"/>
            </a:xfrm>
          </p:grpSpPr>
          <p:graphicFrame>
            <p:nvGraphicFramePr>
              <p:cNvPr id="1030" name="对象 9">
                <a:hlinkClick r:id="" action="ppaction://ole?verb=1"/>
              </p:cNvPr>
              <p:cNvGraphicFramePr>
                <a:graphicFrameLocks noChangeAspect="1"/>
              </p:cNvGraphicFramePr>
              <p:nvPr/>
            </p:nvGraphicFramePr>
            <p:xfrm>
              <a:off x="2665" y="6961"/>
              <a:ext cx="1668" cy="542"/>
            </p:xfrm>
            <a:graphic>
              <a:graphicData uri="http://schemas.openxmlformats.org/presentationml/2006/ole">
                <mc:AlternateContent xmlns:mc="http://schemas.openxmlformats.org/markup-compatibility/2006">
                  <mc:Choice xmlns:v="urn:schemas-microsoft-com:vml" Requires="v">
                    <p:oleObj spid="_x0000_s1290" name="" r:id="rId16" imgW="545465" imgH="177165" progId="Equation.KSEE3">
                      <p:embed/>
                    </p:oleObj>
                  </mc:Choice>
                  <mc:Fallback>
                    <p:oleObj name="" r:id="rId16" imgW="545465" imgH="177165" progId="Equation.KSEE3">
                      <p:embed/>
                      <p:pic>
                        <p:nvPicPr>
                          <p:cNvPr id="0" name="对象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65" y="6961"/>
                            <a:ext cx="1668"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31" name="对象 10">
                <a:hlinkClick r:id="" action="ppaction://ole?verb=1"/>
              </p:cNvPr>
              <p:cNvGraphicFramePr>
                <a:graphicFrameLocks noChangeAspect="1"/>
              </p:cNvGraphicFramePr>
              <p:nvPr/>
            </p:nvGraphicFramePr>
            <p:xfrm>
              <a:off x="2665" y="7534"/>
              <a:ext cx="1159" cy="599"/>
            </p:xfrm>
            <a:graphic>
              <a:graphicData uri="http://schemas.openxmlformats.org/presentationml/2006/ole">
                <mc:AlternateContent xmlns:mc="http://schemas.openxmlformats.org/markup-compatibility/2006">
                  <mc:Choice xmlns:v="urn:schemas-microsoft-com:vml" Requires="v">
                    <p:oleObj spid="_x0000_s1291" name="" r:id="rId18" imgW="342900" imgH="177165" progId="Equation.KSEE3">
                      <p:embed/>
                    </p:oleObj>
                  </mc:Choice>
                  <mc:Fallback>
                    <p:oleObj name="" r:id="rId18" imgW="342900" imgH="177165" progId="Equation.KSEE3">
                      <p:embed/>
                      <p:pic>
                        <p:nvPicPr>
                          <p:cNvPr id="0" name="对象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65" y="7534"/>
                            <a:ext cx="1159"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32" name="对象 11">
                <a:hlinkClick r:id="" action="ppaction://ole?verb=1"/>
              </p:cNvPr>
              <p:cNvGraphicFramePr>
                <a:graphicFrameLocks noChangeAspect="1"/>
              </p:cNvGraphicFramePr>
              <p:nvPr/>
            </p:nvGraphicFramePr>
            <p:xfrm>
              <a:off x="2620" y="7952"/>
              <a:ext cx="1638" cy="1129"/>
            </p:xfrm>
            <a:graphic>
              <a:graphicData uri="http://schemas.openxmlformats.org/presentationml/2006/ole">
                <mc:AlternateContent xmlns:mc="http://schemas.openxmlformats.org/markup-compatibility/2006">
                  <mc:Choice xmlns:v="urn:schemas-microsoft-com:vml" Requires="v">
                    <p:oleObj spid="_x0000_s1292" name="" r:id="rId20" imgW="571500" imgH="393700" progId="Equation.KSEE3">
                      <p:embed/>
                    </p:oleObj>
                  </mc:Choice>
                  <mc:Fallback>
                    <p:oleObj name="" r:id="rId20" imgW="571500" imgH="393700" progId="Equation.KSEE3">
                      <p:embed/>
                      <p:pic>
                        <p:nvPicPr>
                          <p:cNvPr id="0" name="对象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620" y="7952"/>
                            <a:ext cx="1638" cy="1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sp>
        <p:nvSpPr>
          <p:cNvPr id="8220" name="文本框 34846"/>
          <p:cNvSpPr txBox="1">
            <a:spLocks noChangeArrowheads="1"/>
          </p:cNvSpPr>
          <p:nvPr/>
        </p:nvSpPr>
        <p:spPr bwMode="auto">
          <a:xfrm>
            <a:off x="928688" y="5915025"/>
            <a:ext cx="545623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a:solidFill>
                  <a:srgbClr val="000099"/>
                </a:solidFill>
                <a:latin typeface="Times New Roman" panose="02020603050405020304" pitchFamily="18" charset="0"/>
              </a:rPr>
              <a:t>[</a:t>
            </a:r>
            <a:r>
              <a:rPr lang="en-US" altLang="zh-CN" sz="2000">
                <a:solidFill>
                  <a:srgbClr val="000099"/>
                </a:solidFill>
                <a:latin typeface="Symbol" panose="05050102010706020507" pitchFamily="18" charset="2"/>
              </a:rPr>
              <a:t>s</a:t>
            </a:r>
            <a:r>
              <a:rPr lang="en-US" altLang="zh-CN" sz="2000" baseline="-25000">
                <a:solidFill>
                  <a:srgbClr val="000099"/>
                </a:solidFill>
                <a:latin typeface="Times New Roman" panose="02020603050405020304" pitchFamily="18" charset="0"/>
              </a:rPr>
              <a:t>p</a:t>
            </a:r>
            <a:r>
              <a:rPr lang="en-US" altLang="zh-CN" sz="2000">
                <a:solidFill>
                  <a:srgbClr val="000099"/>
                </a:solidFill>
                <a:latin typeface="Times New Roman" panose="02020603050405020304" pitchFamily="18" charset="0"/>
              </a:rPr>
              <a:t>]</a:t>
            </a:r>
            <a:r>
              <a:rPr lang="zh-CN" altLang="en-US" sz="2000">
                <a:solidFill>
                  <a:srgbClr val="000099"/>
                </a:solidFill>
                <a:latin typeface="Times New Roman" panose="02020603050405020304" pitchFamily="18" charset="0"/>
              </a:rPr>
              <a:t>、</a:t>
            </a:r>
            <a:r>
              <a:rPr lang="en-US" altLang="zh-CN" sz="2000">
                <a:solidFill>
                  <a:srgbClr val="000099"/>
                </a:solidFill>
                <a:latin typeface="Times New Roman" panose="02020603050405020304" pitchFamily="18" charset="0"/>
              </a:rPr>
              <a:t>[</a:t>
            </a:r>
            <a:r>
              <a:rPr lang="en-US" altLang="zh-CN" sz="2000" i="1">
                <a:solidFill>
                  <a:srgbClr val="000099"/>
                </a:solidFill>
                <a:latin typeface="Times New Roman" panose="02020603050405020304" pitchFamily="18" charset="0"/>
              </a:rPr>
              <a:t>p</a:t>
            </a:r>
            <a:r>
              <a:rPr lang="en-US" altLang="zh-CN" sz="2000">
                <a:solidFill>
                  <a:srgbClr val="000099"/>
                </a:solidFill>
                <a:latin typeface="Times New Roman" panose="02020603050405020304" pitchFamily="18" charset="0"/>
              </a:rPr>
              <a:t>]</a:t>
            </a:r>
            <a:r>
              <a:rPr lang="zh-CN" altLang="en-US" sz="2000">
                <a:solidFill>
                  <a:srgbClr val="000099"/>
                </a:solidFill>
                <a:latin typeface="Times New Roman" panose="02020603050405020304" pitchFamily="18" charset="0"/>
              </a:rPr>
              <a:t>为键联接的</a:t>
            </a:r>
            <a:r>
              <a:rPr lang="zh-CN" altLang="en-US" sz="2000">
                <a:solidFill>
                  <a:srgbClr val="000099"/>
                </a:solidFill>
                <a:latin typeface="Times New Roman" panose="02020603050405020304" pitchFamily="18" charset="0"/>
                <a:hlinkClick r:id="rId22" action="ppaction://hlinksldjump"/>
              </a:rPr>
              <a:t>许用挤压应力和许用压力</a:t>
            </a:r>
            <a:r>
              <a:rPr lang="en-US" altLang="zh-CN" sz="2000">
                <a:solidFill>
                  <a:srgbClr val="000099"/>
                </a:solidFill>
                <a:latin typeface="Times New Roman" panose="02020603050405020304" pitchFamily="18" charset="0"/>
                <a:hlinkClick r:id="rId22" action="ppaction://hlinksldjump"/>
              </a:rPr>
              <a:t>→</a:t>
            </a:r>
            <a:endParaRPr lang="en-US" altLang="zh-CN" sz="2000">
              <a:solidFill>
                <a:srgbClr val="000099"/>
              </a:solidFill>
              <a:latin typeface="Times New Roman" panose="02020603050405020304" pitchFamily="18" charset="0"/>
            </a:endParaRPr>
          </a:p>
        </p:txBody>
      </p:sp>
      <p:sp>
        <p:nvSpPr>
          <p:cNvPr id="1047"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658"/>
                                        </p:tgtEl>
                                        <p:attrNameLst>
                                          <p:attrName>style.visibility</p:attrName>
                                        </p:attrNameLst>
                                      </p:cBhvr>
                                      <p:to>
                                        <p:strVal val="visible"/>
                                      </p:to>
                                    </p:set>
                                    <p:animEffect transition="in" filter="wipe(left)">
                                      <p:cBhvr>
                                        <p:cTn id="7" dur="500"/>
                                        <p:tgtEl>
                                          <p:spTgt spid="276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705"/>
                                        </p:tgtEl>
                                        <p:attrNameLst>
                                          <p:attrName>style.visibility</p:attrName>
                                        </p:attrNameLst>
                                      </p:cBhvr>
                                      <p:to>
                                        <p:strVal val="visible"/>
                                      </p:to>
                                    </p:set>
                                    <p:animEffect transition="in" filter="blinds(horizontal)">
                                      <p:cBhvr>
                                        <p:cTn id="12" dur="500"/>
                                        <p:tgtEl>
                                          <p:spTgt spid="277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676"/>
                                        </p:tgtEl>
                                        <p:attrNameLst>
                                          <p:attrName>style.visibility</p:attrName>
                                        </p:attrNameLst>
                                      </p:cBhvr>
                                      <p:to>
                                        <p:strVal val="visible"/>
                                      </p:to>
                                    </p:set>
                                    <p:animEffect transition="in" filter="wipe(left)">
                                      <p:cBhvr>
                                        <p:cTn id="22" dur="500"/>
                                        <p:tgtEl>
                                          <p:spTgt spid="2767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27698"/>
                                        </p:tgtEl>
                                        <p:attrNameLst>
                                          <p:attrName>style.visibility</p:attrName>
                                        </p:attrNameLst>
                                      </p:cBhvr>
                                      <p:to>
                                        <p:strVal val="visible"/>
                                      </p:to>
                                    </p:set>
                                    <p:animEffect transition="in" filter="wipe(left)">
                                      <p:cBhvr>
                                        <p:cTn id="41" dur="500"/>
                                        <p:tgtEl>
                                          <p:spTgt spid="2769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8220"/>
                                        </p:tgtEl>
                                        <p:attrNameLst>
                                          <p:attrName>style.visibility</p:attrName>
                                        </p:attrNameLst>
                                      </p:cBhvr>
                                      <p:to>
                                        <p:strVal val="visible"/>
                                      </p:to>
                                    </p:set>
                                    <p:animEffect transition="in" filter="wipe(left)">
                                      <p:cBhvr>
                                        <p:cTn id="46" dur="500"/>
                                        <p:tgtEl>
                                          <p:spTgt spid="8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8" grpId="0"/>
      <p:bldP spid="27676" grpId="0"/>
      <p:bldP spid="82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4338" name="Rectangle 2"/>
          <p:cNvSpPr>
            <a:spLocks noGrp="1" noChangeArrowheads="1"/>
          </p:cNvSpPr>
          <p:nvPr>
            <p:ph type="title"/>
          </p:nvPr>
        </p:nvSpPr>
        <p:spPr bwMode="auto">
          <a:xfrm>
            <a:off x="6142038" y="271463"/>
            <a:ext cx="2984500"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smtClean="0">
                <a:solidFill>
                  <a:srgbClr val="CC3300"/>
                </a:solidFill>
                <a:latin typeface="黑体" panose="02010609060101010101" pitchFamily="49" charset="-122"/>
                <a:ea typeface="黑体" panose="02010609060101010101" pitchFamily="49" charset="-122"/>
              </a:rPr>
              <a:t>3.5-1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27658" name="矩形 27657"/>
          <p:cNvSpPr>
            <a:spLocks noChangeArrowheads="1"/>
          </p:cNvSpPr>
          <p:nvPr/>
        </p:nvSpPr>
        <p:spPr bwMode="auto">
          <a:xfrm>
            <a:off x="357188" y="928688"/>
            <a:ext cx="3444875" cy="460375"/>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a:ln>
            <a:noFill/>
          </a:ln>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zh-CN" altLang="en-US" sz="2000" dirty="0">
                <a:solidFill>
                  <a:srgbClr val="000099"/>
                </a:solidFill>
                <a:latin typeface="华文中宋" panose="02010600040101010101" pitchFamily="2" charset="-122"/>
              </a:rPr>
              <a:t>（</a:t>
            </a:r>
            <a:r>
              <a:rPr lang="en-US" altLang="zh-CN" sz="2000" dirty="0">
                <a:solidFill>
                  <a:srgbClr val="000099"/>
                </a:solidFill>
                <a:latin typeface="华文中宋" panose="02010600040101010101" pitchFamily="2" charset="-122"/>
              </a:rPr>
              <a:t>2</a:t>
            </a:r>
            <a:r>
              <a:rPr lang="zh-CN" altLang="en-US" sz="2000" dirty="0">
                <a:solidFill>
                  <a:srgbClr val="000099"/>
                </a:solidFill>
                <a:latin typeface="华文中宋" panose="02010600040101010101" pitchFamily="2" charset="-122"/>
              </a:rPr>
              <a:t>）半圆键连接强度计算</a:t>
            </a:r>
            <a:r>
              <a:rPr lang="en-US" altLang="zh-CN" sz="2000" dirty="0">
                <a:solidFill>
                  <a:srgbClr val="000099"/>
                </a:solidFill>
                <a:latin typeface="华文中宋" panose="02010600040101010101" pitchFamily="2" charset="-122"/>
              </a:rPr>
              <a:t> </a:t>
            </a:r>
            <a:endParaRPr lang="en-US" altLang="zh-CN" sz="2000" dirty="0">
              <a:solidFill>
                <a:srgbClr val="000099"/>
              </a:solidFill>
              <a:latin typeface="华文中宋" panose="02010600040101010101" pitchFamily="2" charset="-122"/>
            </a:endParaRPr>
          </a:p>
        </p:txBody>
      </p:sp>
      <p:sp>
        <p:nvSpPr>
          <p:cNvPr id="27666" name="矩形 27665"/>
          <p:cNvSpPr>
            <a:spLocks noChangeArrowheads="1"/>
          </p:cNvSpPr>
          <p:nvPr/>
        </p:nvSpPr>
        <p:spPr bwMode="auto">
          <a:xfrm>
            <a:off x="305050" y="4855824"/>
            <a:ext cx="8534400"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a:t>
            </a:r>
            <a:r>
              <a:rPr lang="zh-CN" altLang="en-US" sz="2000">
                <a:solidFill>
                  <a:srgbClr val="002060"/>
                </a:solidFill>
                <a:latin typeface="Times New Roman" panose="02020603050405020304" pitchFamily="18" charset="0"/>
              </a:rPr>
              <a:t>当强度不足时，可适当增加键长或采用双键。两个平键应布置在沿周向相隔</a:t>
            </a:r>
            <a:r>
              <a:rPr lang="en-US" altLang="zh-CN" sz="2000">
                <a:solidFill>
                  <a:srgbClr val="002060"/>
                </a:solidFill>
                <a:latin typeface="Times New Roman" panose="02020603050405020304" pitchFamily="18" charset="0"/>
              </a:rPr>
              <a:t>180</a:t>
            </a:r>
            <a:r>
              <a:rPr lang="zh-CN" altLang="en-US" sz="2000">
                <a:solidFill>
                  <a:srgbClr val="002060"/>
                </a:solidFill>
                <a:latin typeface="Times New Roman" panose="02020603050405020304" pitchFamily="18" charset="0"/>
              </a:rPr>
              <a:t>°，两个半圆键应布置在周的同一条素线上，两个楔键则应布置在沿周向相隔</a:t>
            </a:r>
            <a:r>
              <a:rPr lang="en-US" altLang="zh-CN" sz="2000">
                <a:solidFill>
                  <a:srgbClr val="002060"/>
                </a:solidFill>
                <a:latin typeface="Times New Roman" panose="02020603050405020304" pitchFamily="18" charset="0"/>
              </a:rPr>
              <a:t>90</a:t>
            </a:r>
            <a:r>
              <a:rPr lang="zh-CN" altLang="en-US" sz="2000">
                <a:solidFill>
                  <a:srgbClr val="002060"/>
                </a:solidFill>
                <a:latin typeface="Times New Roman" panose="02020603050405020304" pitchFamily="18" charset="0"/>
              </a:rPr>
              <a:t>°</a:t>
            </a:r>
            <a:r>
              <a:rPr lang="en-US" altLang="zh-CN" sz="2000">
                <a:solidFill>
                  <a:srgbClr val="002060"/>
                </a:solidFill>
                <a:latin typeface="Times New Roman" panose="02020603050405020304" pitchFamily="18" charset="0"/>
              </a:rPr>
              <a:t>~120</a:t>
            </a:r>
            <a:r>
              <a:rPr lang="zh-CN" altLang="en-US" sz="2000">
                <a:solidFill>
                  <a:srgbClr val="002060"/>
                </a:solidFill>
                <a:latin typeface="Times New Roman" panose="02020603050405020304" pitchFamily="18" charset="0"/>
              </a:rPr>
              <a:t>°。</a:t>
            </a:r>
            <a:endParaRPr lang="zh-CN" altLang="en-US" sz="2000">
              <a:solidFill>
                <a:srgbClr val="002060"/>
              </a:solidFill>
              <a:latin typeface="Times New Roman" panose="02020603050405020304" pitchFamily="18" charset="0"/>
            </a:endParaRPr>
          </a:p>
          <a:p>
            <a:pPr eaLnBrk="1" hangingPunct="1">
              <a:lnSpc>
                <a:spcPct val="120000"/>
              </a:lnSpc>
            </a:pPr>
            <a:r>
              <a:rPr lang="zh-CN" altLang="en-US" sz="2000">
                <a:solidFill>
                  <a:srgbClr val="002060"/>
                </a:solidFill>
                <a:latin typeface="Times New Roman" panose="02020603050405020304" pitchFamily="18" charset="0"/>
              </a:rPr>
              <a:t>　　考虑到两个键的载荷分布不均匀性，在强度校核中可按</a:t>
            </a:r>
            <a:r>
              <a:rPr lang="en-US" altLang="zh-CN" sz="2000">
                <a:solidFill>
                  <a:srgbClr val="002060"/>
                </a:solidFill>
                <a:latin typeface="Times New Roman" panose="02020603050405020304" pitchFamily="18" charset="0"/>
              </a:rPr>
              <a:t>1.5</a:t>
            </a:r>
            <a:r>
              <a:rPr lang="zh-CN" altLang="en-US" sz="2000">
                <a:solidFill>
                  <a:srgbClr val="002060"/>
                </a:solidFill>
                <a:latin typeface="Times New Roman" panose="02020603050405020304" pitchFamily="18" charset="0"/>
              </a:rPr>
              <a:t>个键计算。</a:t>
            </a:r>
            <a:endParaRPr lang="zh-CN" altLang="en-US" sz="2000">
              <a:solidFill>
                <a:srgbClr val="002060"/>
              </a:solidFill>
              <a:latin typeface="Times New Roman" panose="02020603050405020304" pitchFamily="18" charset="0"/>
            </a:endParaRPr>
          </a:p>
        </p:txBody>
      </p:sp>
      <p:graphicFrame>
        <p:nvGraphicFramePr>
          <p:cNvPr id="2050" name="对象 27671"/>
          <p:cNvGraphicFramePr/>
          <p:nvPr/>
        </p:nvGraphicFramePr>
        <p:xfrm>
          <a:off x="4591050" y="3438525"/>
          <a:ext cx="114300" cy="215900"/>
        </p:xfrm>
        <a:graphic>
          <a:graphicData uri="http://schemas.openxmlformats.org/presentationml/2006/ole">
            <mc:AlternateContent xmlns:mc="http://schemas.openxmlformats.org/markup-compatibility/2006">
              <mc:Choice xmlns:v="urn:schemas-microsoft-com:vml" Requires="v">
                <p:oleObj spid="_x0000_s2151" name="" r:id="rId1" imgW="114300" imgH="215265" progId="Equation.3">
                  <p:embed/>
                </p:oleObj>
              </mc:Choice>
              <mc:Fallback>
                <p:oleObj name="" r:id="rId1" imgW="114300" imgH="215265" progId="Equation.3">
                  <p:embed/>
                  <p:pic>
                    <p:nvPicPr>
                      <p:cNvPr id="0" name="对象 2767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1050" y="3438525"/>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1" name="对象 27672"/>
          <p:cNvGraphicFramePr/>
          <p:nvPr/>
        </p:nvGraphicFramePr>
        <p:xfrm>
          <a:off x="4572000" y="3470275"/>
          <a:ext cx="114300" cy="215900"/>
        </p:xfrm>
        <a:graphic>
          <a:graphicData uri="http://schemas.openxmlformats.org/presentationml/2006/ole">
            <mc:AlternateContent xmlns:mc="http://schemas.openxmlformats.org/markup-compatibility/2006">
              <mc:Choice xmlns:v="urn:schemas-microsoft-com:vml" Requires="v">
                <p:oleObj spid="_x0000_s2152" name="" r:id="rId3" imgW="114300" imgH="215265" progId="Equation.3">
                  <p:embed/>
                </p:oleObj>
              </mc:Choice>
              <mc:Fallback>
                <p:oleObj name="" r:id="rId3" imgW="114300" imgH="215265" progId="Equation.3">
                  <p:embed/>
                  <p:pic>
                    <p:nvPicPr>
                      <p:cNvPr id="0" name="对象 2767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470275"/>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76" name="文本框 27675"/>
          <p:cNvSpPr txBox="1">
            <a:spLocks noChangeArrowheads="1"/>
          </p:cNvSpPr>
          <p:nvPr/>
        </p:nvSpPr>
        <p:spPr bwMode="auto">
          <a:xfrm>
            <a:off x="357188" y="1500188"/>
            <a:ext cx="5111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buClr>
                <a:schemeClr val="hlink"/>
              </a:buClr>
              <a:buSzPct val="110000"/>
              <a:buFont typeface="Wingdings" panose="05000000000000000000" pitchFamily="2" charset="2"/>
              <a:buNone/>
            </a:pPr>
            <a:r>
              <a:rPr lang="zh-CN" altLang="en-US" sz="2000">
                <a:solidFill>
                  <a:srgbClr val="000099"/>
                </a:solidFill>
                <a:latin typeface="华文中宋" panose="02010600040101010101" pitchFamily="2" charset="-122"/>
              </a:rPr>
              <a:t>　　半圆键只用于静连接，其主要失效形式是工作面被压溃。通常按工作面的挤压应力进行强度校核计算，强度条件为：</a:t>
            </a:r>
            <a:endParaRPr lang="zh-CN" altLang="en-US" sz="2000">
              <a:solidFill>
                <a:srgbClr val="000099"/>
              </a:solidFill>
              <a:latin typeface="华文中宋" panose="02010600040101010101" pitchFamily="2" charset="-122"/>
            </a:endParaRPr>
          </a:p>
        </p:txBody>
      </p:sp>
      <p:sp>
        <p:nvSpPr>
          <p:cNvPr id="2060" name="标题 27678"/>
          <p:cNvSpPr>
            <a:spLocks noChangeArrowheads="1"/>
          </p:cNvSpPr>
          <p:nvPr/>
        </p:nvSpPr>
        <p:spPr bwMode="auto">
          <a:xfrm>
            <a:off x="6400800" y="1336675"/>
            <a:ext cx="914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900">
                <a:solidFill>
                  <a:schemeClr val="bg1"/>
                </a:solidFill>
                <a:latin typeface="华文中宋" panose="02010600040101010101" pitchFamily="2" charset="-122"/>
              </a:rPr>
              <a:t>键联接</a:t>
            </a:r>
            <a:r>
              <a:rPr lang="en-US" altLang="zh-CN" sz="900">
                <a:solidFill>
                  <a:schemeClr val="bg1"/>
                </a:solidFill>
                <a:latin typeface="华文中宋" panose="02010600040101010101" pitchFamily="2" charset="-122"/>
              </a:rPr>
              <a:t>5</a:t>
            </a:r>
            <a:endParaRPr lang="en-US" altLang="zh-CN" sz="900">
              <a:solidFill>
                <a:schemeClr val="bg1"/>
              </a:solidFill>
              <a:latin typeface="华文中宋" panose="02010600040101010101" pitchFamily="2" charset="-122"/>
            </a:endParaRPr>
          </a:p>
        </p:txBody>
      </p:sp>
      <p:graphicFrame>
        <p:nvGraphicFramePr>
          <p:cNvPr id="4" name="对象 3">
            <a:hlinkClick r:id="" action="ppaction://ole?verb=1"/>
          </p:cNvPr>
          <p:cNvGraphicFramePr>
            <a:graphicFrameLocks noChangeAspect="1"/>
          </p:cNvGraphicFramePr>
          <p:nvPr/>
        </p:nvGraphicFramePr>
        <p:xfrm>
          <a:off x="1303497" y="2713197"/>
          <a:ext cx="2931795" cy="770255"/>
        </p:xfrm>
        <a:graphic>
          <a:graphicData uri="http://schemas.openxmlformats.org/presentationml/2006/ole">
            <mc:AlternateContent xmlns:mc="http://schemas.openxmlformats.org/markup-compatibility/2006">
              <mc:Choice xmlns:v="urn:schemas-microsoft-com:vml" Requires="v">
                <p:oleObj spid="_x0000_s2153" name="" r:id="rId4" imgW="1600200" imgH="419100" progId="Equation.KSEE3">
                  <p:embed/>
                </p:oleObj>
              </mc:Choice>
              <mc:Fallback>
                <p:oleObj name="" r:id="rId4" imgW="1600200" imgH="419100" progId="Equation.KSEE3">
                  <p:embed/>
                  <p:pic>
                    <p:nvPicPr>
                      <p:cNvPr id="0" name="对象 3"/>
                      <p:cNvPicPr>
                        <a:picLocks noChangeAspect="1" noChangeArrowheads="1"/>
                      </p:cNvPicPr>
                      <p:nvPr/>
                    </p:nvPicPr>
                    <p:blipFill>
                      <a:blip r:embed="rId5"/>
                      <a:srcRect/>
                      <a:stretch>
                        <a:fillRect/>
                      </a:stretch>
                    </p:blipFill>
                    <p:spPr bwMode="auto">
                      <a:xfrm>
                        <a:off x="1303497" y="2713197"/>
                        <a:ext cx="2931795" cy="770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13" name="文本框 27668"/>
          <p:cNvSpPr txBox="1">
            <a:spLocks noChangeArrowheads="1"/>
          </p:cNvSpPr>
          <p:nvPr/>
        </p:nvSpPr>
        <p:spPr bwMode="auto">
          <a:xfrm>
            <a:off x="391478" y="3977640"/>
            <a:ext cx="83613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zh-CN" altLang="en-US" sz="2000" dirty="0">
                <a:solidFill>
                  <a:srgbClr val="000099"/>
                </a:solidFill>
                <a:latin typeface="华文中宋" panose="02010600040101010101" pitchFamily="2" charset="-122"/>
              </a:rPr>
              <a:t>楔键连接主要失效形式是相互楔紧的工作面被压溃，切向键连接的主要失效形式是工作面被压溃，故应检核各工作面的抗挤压强度。</a:t>
            </a:r>
            <a:endParaRPr lang="zh-CN" altLang="en-US" sz="2000" dirty="0">
              <a:solidFill>
                <a:srgbClr val="000099"/>
              </a:solidFill>
              <a:latin typeface="华文中宋" panose="02010600040101010101" pitchFamily="2" charset="-122"/>
            </a:endParaRPr>
          </a:p>
        </p:txBody>
      </p:sp>
      <p:pic>
        <p:nvPicPr>
          <p:cNvPr id="10255" name="Picture 1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56250" y="1143000"/>
            <a:ext cx="35877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3"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 name="对象 1">
            <a:hlinkClick r:id="" action="ppaction://ole?verb="/>
          </p:cNvPr>
          <p:cNvGraphicFramePr>
            <a:graphicFrameLocks noChangeAspect="1"/>
          </p:cNvGraphicFramePr>
          <p:nvPr/>
        </p:nvGraphicFramePr>
        <p:xfrm>
          <a:off x="4897755" y="3079115"/>
          <a:ext cx="2113915" cy="445135"/>
        </p:xfrm>
        <a:graphic>
          <a:graphicData uri="http://schemas.openxmlformats.org/presentationml/2006/ole">
            <mc:AlternateContent xmlns:mc="http://schemas.openxmlformats.org/markup-compatibility/2006">
              <mc:Choice xmlns:v="urn:schemas-microsoft-com:vml" Requires="v">
                <p:oleObj spid="_x0000_s1025" name="" r:id="rId7" imgW="1206500" imgH="254000" progId="Equation.KSEE3">
                  <p:embed/>
                </p:oleObj>
              </mc:Choice>
              <mc:Fallback>
                <p:oleObj name="" r:id="rId7" imgW="1206500" imgH="254000" progId="Equation.KSEE3">
                  <p:embed/>
                  <p:pic>
                    <p:nvPicPr>
                      <p:cNvPr id="0" name="图片 1024"/>
                      <p:cNvPicPr/>
                      <p:nvPr/>
                    </p:nvPicPr>
                    <p:blipFill>
                      <a:blip r:embed="rId8"/>
                      <a:stretch>
                        <a:fillRect/>
                      </a:stretch>
                    </p:blipFill>
                    <p:spPr>
                      <a:xfrm>
                        <a:off x="4897755" y="3079115"/>
                        <a:ext cx="2113915" cy="445135"/>
                      </a:xfrm>
                      <a:prstGeom prst="rect">
                        <a:avLst/>
                      </a:prstGeom>
                    </p:spPr>
                  </p:pic>
                </p:oleObj>
              </mc:Fallback>
            </mc:AlternateContent>
          </a:graphicData>
        </a:graphic>
      </p:graphicFrame>
      <p:sp>
        <p:nvSpPr>
          <p:cNvPr id="3" name="文本框 2"/>
          <p:cNvSpPr txBox="1"/>
          <p:nvPr/>
        </p:nvSpPr>
        <p:spPr>
          <a:xfrm>
            <a:off x="1503045" y="3531235"/>
            <a:ext cx="6426200" cy="398780"/>
          </a:xfrm>
          <a:prstGeom prst="rect">
            <a:avLst/>
          </a:prstGeom>
          <a:noFill/>
        </p:spPr>
        <p:txBody>
          <a:bodyPr wrap="square" rtlCol="0">
            <a:spAutoFit/>
          </a:bodyPr>
          <a:p>
            <a:r>
              <a:rPr lang="zh-CN" altLang="en-US" sz="2000">
                <a:solidFill>
                  <a:srgbClr val="002060"/>
                </a:solidFill>
              </a:rPr>
              <a:t>半圆键的接触高度</a:t>
            </a:r>
            <a:r>
              <a:rPr lang="en-US" altLang="zh-CN" sz="2000">
                <a:solidFill>
                  <a:srgbClr val="002060"/>
                </a:solidFill>
              </a:rPr>
              <a:t>k</a:t>
            </a:r>
            <a:r>
              <a:rPr lang="zh-CN" altLang="en-US" sz="2000">
                <a:solidFill>
                  <a:srgbClr val="002060"/>
                </a:solidFill>
              </a:rPr>
              <a:t>应根据键的尺寸从标准中查取</a:t>
            </a:r>
            <a:endParaRPr lang="zh-CN" altLang="en-US" sz="200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658"/>
                                        </p:tgtEl>
                                        <p:attrNameLst>
                                          <p:attrName>style.visibility</p:attrName>
                                        </p:attrNameLst>
                                      </p:cBhvr>
                                      <p:to>
                                        <p:strVal val="visible"/>
                                      </p:to>
                                    </p:set>
                                    <p:animEffect transition="in" filter="wipe(left)">
                                      <p:cBhvr>
                                        <p:cTn id="7" dur="500"/>
                                        <p:tgtEl>
                                          <p:spTgt spid="276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76"/>
                                        </p:tgtEl>
                                        <p:attrNameLst>
                                          <p:attrName>style.visibility</p:attrName>
                                        </p:attrNameLst>
                                      </p:cBhvr>
                                      <p:to>
                                        <p:strVal val="visible"/>
                                      </p:to>
                                    </p:set>
                                    <p:animEffect transition="in" filter="wipe(left)">
                                      <p:cBhvr>
                                        <p:cTn id="12" dur="500"/>
                                        <p:tgtEl>
                                          <p:spTgt spid="27676"/>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1025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8213"/>
                                        </p:tgtEl>
                                        <p:attrNameLst>
                                          <p:attrName>style.visibility</p:attrName>
                                        </p:attrNameLst>
                                      </p:cBhvr>
                                      <p:to>
                                        <p:strVal val="visible"/>
                                      </p:to>
                                    </p:set>
                                    <p:animEffect transition="in" filter="wipe(left)">
                                      <p:cBhvr>
                                        <p:cTn id="35" dur="500"/>
                                        <p:tgtEl>
                                          <p:spTgt spid="821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7666"/>
                                        </p:tgtEl>
                                        <p:attrNameLst>
                                          <p:attrName>style.visibility</p:attrName>
                                        </p:attrNameLst>
                                      </p:cBhvr>
                                      <p:to>
                                        <p:strVal val="visible"/>
                                      </p:to>
                                    </p:set>
                                    <p:animEffect transition="in" filter="wipe(left)">
                                      <p:cBhvr>
                                        <p:cTn id="40" dur="500"/>
                                        <p:tgtEl>
                                          <p:spTgt spid="27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8" grpId="0" animBg="1"/>
      <p:bldP spid="27666" grpId="0"/>
      <p:bldP spid="27676" grpId="0"/>
      <p:bldP spid="8213"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Text Box 2"/>
          <p:cNvSpPr txBox="1">
            <a:spLocks noChangeArrowheads="1"/>
          </p:cNvSpPr>
          <p:nvPr/>
        </p:nvSpPr>
        <p:spPr bwMode="auto">
          <a:xfrm>
            <a:off x="685800" y="1600200"/>
            <a:ext cx="1524000" cy="708025"/>
          </a:xfrm>
          <a:prstGeom prst="rect">
            <a:avLst/>
          </a:prstGeom>
          <a:solidFill>
            <a:schemeClr val="bg1"/>
          </a:solidFill>
          <a:ln w="38100">
            <a:solidFill>
              <a:srgbClr val="993366"/>
            </a:solidFill>
            <a:miter lim="800000"/>
          </a:ln>
        </p:spPr>
        <p:txBody>
          <a:bodyPr>
            <a:spAutoFit/>
          </a:bodyPr>
          <a:lstStyle/>
          <a:p>
            <a:pPr>
              <a:spcBef>
                <a:spcPct val="50000"/>
              </a:spcBef>
              <a:defRPr/>
            </a:pPr>
            <a:r>
              <a:rPr lang="zh-CN" altLang="en-US" sz="2000" b="1" dirty="0" smtClean="0">
                <a:solidFill>
                  <a:srgbClr val="003399"/>
                </a:solidFill>
                <a:latin typeface="+mn-ea"/>
                <a:ea typeface="+mn-ea"/>
              </a:rPr>
              <a:t>选择键联接</a:t>
            </a:r>
            <a:r>
              <a:rPr lang="zh-CN" altLang="en-US" sz="2000" b="1" dirty="0">
                <a:solidFill>
                  <a:srgbClr val="003399"/>
                </a:solidFill>
                <a:latin typeface="+mn-ea"/>
                <a:ea typeface="+mn-ea"/>
              </a:rPr>
              <a:t>类型</a:t>
            </a:r>
            <a:endParaRPr lang="zh-CN" altLang="en-US" sz="2000" b="1" dirty="0">
              <a:solidFill>
                <a:srgbClr val="003399"/>
              </a:solidFill>
              <a:latin typeface="+mn-ea"/>
              <a:ea typeface="+mn-ea"/>
            </a:endParaRPr>
          </a:p>
        </p:txBody>
      </p:sp>
      <p:sp>
        <p:nvSpPr>
          <p:cNvPr id="590851" name="AutoShape 3"/>
          <p:cNvSpPr>
            <a:spLocks noChangeArrowheads="1"/>
          </p:cNvSpPr>
          <p:nvPr/>
        </p:nvSpPr>
        <p:spPr bwMode="auto">
          <a:xfrm>
            <a:off x="2370138" y="1905000"/>
            <a:ext cx="762000" cy="304800"/>
          </a:xfrm>
          <a:prstGeom prst="chevron">
            <a:avLst>
              <a:gd name="adj" fmla="val 62500"/>
            </a:avLst>
          </a:prstGeom>
          <a:solidFill>
            <a:srgbClr val="CCFFFF"/>
          </a:solidFill>
          <a:ln w="25400">
            <a:solidFill>
              <a:srgbClr val="000080"/>
            </a:solidFill>
            <a:miter lim="800000"/>
          </a:ln>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590852" name="AutoShape 4"/>
          <p:cNvSpPr>
            <a:spLocks noChangeArrowheads="1"/>
          </p:cNvSpPr>
          <p:nvPr/>
        </p:nvSpPr>
        <p:spPr bwMode="auto">
          <a:xfrm>
            <a:off x="5795963" y="1905000"/>
            <a:ext cx="762000" cy="304800"/>
          </a:xfrm>
          <a:prstGeom prst="chevron">
            <a:avLst>
              <a:gd name="adj" fmla="val 62500"/>
            </a:avLst>
          </a:prstGeom>
          <a:solidFill>
            <a:srgbClr val="CCFFFF"/>
          </a:solidFill>
          <a:ln w="25400">
            <a:solidFill>
              <a:srgbClr val="000080"/>
            </a:solidFill>
            <a:miter lim="800000"/>
          </a:ln>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590853" name="Text Box 5"/>
          <p:cNvSpPr txBox="1">
            <a:spLocks noChangeArrowheads="1"/>
          </p:cNvSpPr>
          <p:nvPr/>
        </p:nvSpPr>
        <p:spPr bwMode="auto">
          <a:xfrm>
            <a:off x="6781800" y="1600200"/>
            <a:ext cx="1606550" cy="708025"/>
          </a:xfrm>
          <a:prstGeom prst="rect">
            <a:avLst/>
          </a:prstGeom>
          <a:solidFill>
            <a:schemeClr val="bg1"/>
          </a:solidFill>
          <a:ln w="38100">
            <a:solidFill>
              <a:srgbClr val="993300"/>
            </a:solidFill>
            <a:miter lim="800000"/>
          </a:ln>
        </p:spPr>
        <p:txBody>
          <a:bodyPr>
            <a:spAutoFit/>
          </a:bodyPr>
          <a:lstStyle/>
          <a:p>
            <a:pPr>
              <a:spcBef>
                <a:spcPct val="50000"/>
              </a:spcBef>
              <a:defRPr/>
            </a:pPr>
            <a:r>
              <a:rPr lang="zh-CN" altLang="en-US" sz="2000" b="1" dirty="0">
                <a:solidFill>
                  <a:srgbClr val="003399"/>
                </a:solidFill>
                <a:latin typeface="+mn-ea"/>
                <a:ea typeface="+mn-ea"/>
              </a:rPr>
              <a:t>按静或动联接校核强度</a:t>
            </a:r>
            <a:endParaRPr lang="zh-CN" altLang="en-US" sz="2000" b="1" dirty="0">
              <a:solidFill>
                <a:srgbClr val="003399"/>
              </a:solidFill>
              <a:latin typeface="+mn-ea"/>
              <a:ea typeface="+mn-ea"/>
            </a:endParaRPr>
          </a:p>
        </p:txBody>
      </p:sp>
      <p:sp>
        <p:nvSpPr>
          <p:cNvPr id="590854" name="Text Box 6"/>
          <p:cNvSpPr txBox="1">
            <a:spLocks noChangeArrowheads="1"/>
          </p:cNvSpPr>
          <p:nvPr/>
        </p:nvSpPr>
        <p:spPr bwMode="auto">
          <a:xfrm>
            <a:off x="762000" y="3238500"/>
            <a:ext cx="4013200" cy="400050"/>
          </a:xfrm>
          <a:prstGeom prst="rect">
            <a:avLst/>
          </a:prstGeom>
          <a:solidFill>
            <a:schemeClr val="bg1"/>
          </a:solidFill>
          <a:ln w="38100">
            <a:solidFill>
              <a:srgbClr val="993300"/>
            </a:solidFill>
            <a:miter lim="800000"/>
          </a:ln>
        </p:spPr>
        <p:txBody>
          <a:bodyPr>
            <a:spAutoFit/>
          </a:bodyPr>
          <a:lstStyle/>
          <a:p>
            <a:pPr>
              <a:spcBef>
                <a:spcPct val="50000"/>
              </a:spcBef>
              <a:defRPr/>
            </a:pPr>
            <a:r>
              <a:rPr lang="zh-CN" altLang="en-US" sz="2000" b="1" dirty="0">
                <a:solidFill>
                  <a:srgbClr val="003399"/>
                </a:solidFill>
                <a:latin typeface="+mn-ea"/>
                <a:ea typeface="+mn-ea"/>
              </a:rPr>
              <a:t>取决于强度较弱的那种材料</a:t>
            </a:r>
            <a:endParaRPr lang="zh-CN" altLang="en-US" sz="2000" b="1" dirty="0">
              <a:solidFill>
                <a:srgbClr val="003399"/>
              </a:solidFill>
              <a:latin typeface="+mn-ea"/>
              <a:ea typeface="+mn-ea"/>
            </a:endParaRPr>
          </a:p>
        </p:txBody>
      </p:sp>
      <p:sp>
        <p:nvSpPr>
          <p:cNvPr id="590855" name="Text Box 7"/>
          <p:cNvSpPr txBox="1">
            <a:spLocks noChangeArrowheads="1"/>
          </p:cNvSpPr>
          <p:nvPr/>
        </p:nvSpPr>
        <p:spPr bwMode="auto">
          <a:xfrm>
            <a:off x="762000" y="4686300"/>
            <a:ext cx="1722438" cy="400050"/>
          </a:xfrm>
          <a:prstGeom prst="rect">
            <a:avLst/>
          </a:prstGeom>
          <a:solidFill>
            <a:schemeClr val="bg1"/>
          </a:solidFill>
          <a:ln w="38100">
            <a:solidFill>
              <a:srgbClr val="993300"/>
            </a:solidFill>
            <a:miter lim="800000"/>
          </a:ln>
        </p:spPr>
        <p:txBody>
          <a:bodyPr>
            <a:spAutoFit/>
          </a:bodyPr>
          <a:lstStyle/>
          <a:p>
            <a:pPr>
              <a:spcBef>
                <a:spcPct val="50000"/>
              </a:spcBef>
              <a:defRPr/>
            </a:pPr>
            <a:r>
              <a:rPr lang="en-US" altLang="zh-CN" sz="2000" b="1" dirty="0">
                <a:solidFill>
                  <a:srgbClr val="003399"/>
                </a:solidFill>
                <a:latin typeface="+mn-ea"/>
                <a:ea typeface="+mn-ea"/>
              </a:rPr>
              <a:t>▲ </a:t>
            </a:r>
            <a:r>
              <a:rPr lang="zh-CN" altLang="en-US" sz="2000" b="1" dirty="0">
                <a:solidFill>
                  <a:srgbClr val="003399"/>
                </a:solidFill>
                <a:latin typeface="+mn-ea"/>
                <a:ea typeface="+mn-ea"/>
              </a:rPr>
              <a:t>增大键长</a:t>
            </a:r>
            <a:endParaRPr lang="zh-CN" altLang="en-US" sz="2000" b="1" dirty="0">
              <a:solidFill>
                <a:srgbClr val="003399"/>
              </a:solidFill>
              <a:latin typeface="+mn-ea"/>
              <a:ea typeface="+mn-ea"/>
            </a:endParaRPr>
          </a:p>
        </p:txBody>
      </p:sp>
      <p:grpSp>
        <p:nvGrpSpPr>
          <p:cNvPr id="2" name="Group 10"/>
          <p:cNvGrpSpPr/>
          <p:nvPr/>
        </p:nvGrpSpPr>
        <p:grpSpPr bwMode="auto">
          <a:xfrm>
            <a:off x="820738" y="860425"/>
            <a:ext cx="2151062" cy="587375"/>
            <a:chOff x="517" y="542"/>
            <a:chExt cx="1355" cy="370"/>
          </a:xfrm>
        </p:grpSpPr>
        <p:sp>
          <p:nvSpPr>
            <p:cNvPr id="22549" name="Text Box 11"/>
            <p:cNvSpPr txBox="1">
              <a:spLocks noChangeArrowheads="1"/>
            </p:cNvSpPr>
            <p:nvPr/>
          </p:nvSpPr>
          <p:spPr bwMode="auto">
            <a:xfrm>
              <a:off x="816" y="624"/>
              <a:ext cx="105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sz="2000" b="1" dirty="0">
                  <a:solidFill>
                    <a:srgbClr val="002060"/>
                  </a:solidFill>
                </a:rPr>
                <a:t>设计步骤</a:t>
              </a:r>
              <a:endParaRPr lang="zh-CN" altLang="en-US" sz="2000" b="1" dirty="0">
                <a:solidFill>
                  <a:srgbClr val="002060"/>
                </a:solidFill>
              </a:endParaRPr>
            </a:p>
          </p:txBody>
        </p:sp>
        <p:graphicFrame>
          <p:nvGraphicFramePr>
            <p:cNvPr id="22550" name="Object 12"/>
            <p:cNvGraphicFramePr>
              <a:graphicFrameLocks noChangeAspect="1"/>
            </p:cNvGraphicFramePr>
            <p:nvPr/>
          </p:nvGraphicFramePr>
          <p:xfrm>
            <a:off x="517" y="542"/>
            <a:ext cx="251" cy="370"/>
          </p:xfrm>
          <a:graphic>
            <a:graphicData uri="http://schemas.openxmlformats.org/presentationml/2006/ole">
              <mc:AlternateContent xmlns:mc="http://schemas.openxmlformats.org/markup-compatibility/2006">
                <mc:Choice xmlns:v="urn:schemas-microsoft-com:vml" Requires="v">
                  <p:oleObj spid="_x0000_s5210" name="剪辑" r:id="rId1" imgW="2247900" imgH="3307080" progId="MS_ClipArt_Gallery.2">
                    <p:embed/>
                  </p:oleObj>
                </mc:Choice>
                <mc:Fallback>
                  <p:oleObj name="剪辑" r:id="rId1" imgW="2247900" imgH="3307080" progId="MS_ClipArt_Gallery.2">
                    <p:embed/>
                    <p:pic>
                      <p:nvPicPr>
                        <p:cNvPr id="0" name="图片 52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 y="542"/>
                          <a:ext cx="251" cy="3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90861" name="Text Box 13"/>
          <p:cNvSpPr txBox="1">
            <a:spLocks noChangeArrowheads="1"/>
          </p:cNvSpPr>
          <p:nvPr/>
        </p:nvSpPr>
        <p:spPr bwMode="auto">
          <a:xfrm>
            <a:off x="3340100" y="1600200"/>
            <a:ext cx="2239963" cy="708025"/>
          </a:xfrm>
          <a:prstGeom prst="rect">
            <a:avLst/>
          </a:prstGeom>
          <a:solidFill>
            <a:schemeClr val="bg1"/>
          </a:solidFill>
          <a:ln w="38100">
            <a:solidFill>
              <a:srgbClr val="993366"/>
            </a:solidFill>
            <a:miter lim="800000"/>
          </a:ln>
        </p:spPr>
        <p:txBody>
          <a:bodyPr>
            <a:spAutoFit/>
          </a:bodyPr>
          <a:lstStyle/>
          <a:p>
            <a:pPr>
              <a:spcBef>
                <a:spcPct val="50000"/>
              </a:spcBef>
              <a:defRPr/>
            </a:pPr>
            <a:r>
              <a:rPr lang="zh-CN" altLang="en-US" sz="2000" b="1" dirty="0">
                <a:solidFill>
                  <a:srgbClr val="003399"/>
                </a:solidFill>
                <a:latin typeface="+mn-ea"/>
                <a:ea typeface="+mn-ea"/>
              </a:rPr>
              <a:t>根据轴径、毂宽查标准确定键的尺寸</a:t>
            </a:r>
            <a:endParaRPr lang="zh-CN" altLang="en-US" sz="2000" b="1" dirty="0">
              <a:solidFill>
                <a:srgbClr val="003399"/>
              </a:solidFill>
              <a:latin typeface="+mn-ea"/>
              <a:ea typeface="+mn-ea"/>
            </a:endParaRPr>
          </a:p>
        </p:txBody>
      </p:sp>
      <p:sp>
        <p:nvSpPr>
          <p:cNvPr id="590862" name="Text Box 14"/>
          <p:cNvSpPr txBox="1">
            <a:spLocks noChangeArrowheads="1"/>
          </p:cNvSpPr>
          <p:nvPr/>
        </p:nvSpPr>
        <p:spPr bwMode="auto">
          <a:xfrm>
            <a:off x="755650" y="333375"/>
            <a:ext cx="2259013"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sz="2000" b="1" dirty="0">
                <a:solidFill>
                  <a:srgbClr val="002060"/>
                </a:solidFill>
              </a:rPr>
              <a:t>设计时注意：</a:t>
            </a:r>
            <a:endParaRPr lang="zh-CN" altLang="en-US" sz="2000" b="1" dirty="0">
              <a:solidFill>
                <a:srgbClr val="002060"/>
              </a:solidFill>
            </a:endParaRPr>
          </a:p>
        </p:txBody>
      </p:sp>
      <p:grpSp>
        <p:nvGrpSpPr>
          <p:cNvPr id="3" name="Group 15"/>
          <p:cNvGrpSpPr/>
          <p:nvPr/>
        </p:nvGrpSpPr>
        <p:grpSpPr bwMode="auto">
          <a:xfrm>
            <a:off x="838200" y="2536825"/>
            <a:ext cx="2151063" cy="587375"/>
            <a:chOff x="528" y="1598"/>
            <a:chExt cx="1355" cy="370"/>
          </a:xfrm>
        </p:grpSpPr>
        <p:sp>
          <p:nvSpPr>
            <p:cNvPr id="22547" name="Text Box 16"/>
            <p:cNvSpPr txBox="1">
              <a:spLocks noChangeArrowheads="1"/>
            </p:cNvSpPr>
            <p:nvPr/>
          </p:nvSpPr>
          <p:spPr bwMode="auto">
            <a:xfrm>
              <a:off x="827" y="1680"/>
              <a:ext cx="105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sz="2000" b="1" dirty="0">
                  <a:solidFill>
                    <a:srgbClr val="002060"/>
                  </a:solidFill>
                </a:rPr>
                <a:t>许用应力</a:t>
              </a:r>
              <a:endParaRPr lang="zh-CN" altLang="en-US" sz="2000" b="1" dirty="0">
                <a:solidFill>
                  <a:srgbClr val="002060"/>
                </a:solidFill>
              </a:endParaRPr>
            </a:p>
          </p:txBody>
        </p:sp>
        <p:graphicFrame>
          <p:nvGraphicFramePr>
            <p:cNvPr id="22548" name="Object 17"/>
            <p:cNvGraphicFramePr>
              <a:graphicFrameLocks noChangeAspect="1"/>
            </p:cNvGraphicFramePr>
            <p:nvPr/>
          </p:nvGraphicFramePr>
          <p:xfrm>
            <a:off x="528" y="1598"/>
            <a:ext cx="251" cy="370"/>
          </p:xfrm>
          <a:graphic>
            <a:graphicData uri="http://schemas.openxmlformats.org/presentationml/2006/ole">
              <mc:AlternateContent xmlns:mc="http://schemas.openxmlformats.org/markup-compatibility/2006">
                <mc:Choice xmlns:v="urn:schemas-microsoft-com:vml" Requires="v">
                  <p:oleObj spid="_x0000_s5211" name="剪辑" r:id="rId3" imgW="2247900" imgH="3307080" progId="MS_ClipArt_Gallery.2">
                    <p:embed/>
                  </p:oleObj>
                </mc:Choice>
                <mc:Fallback>
                  <p:oleObj name="剪辑" r:id="rId3" imgW="2247900" imgH="3307080" progId="MS_ClipArt_Gallery.2">
                    <p:embed/>
                    <p:pic>
                      <p:nvPicPr>
                        <p:cNvPr id="0" name="图片 52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1598"/>
                          <a:ext cx="251" cy="3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18"/>
          <p:cNvGrpSpPr/>
          <p:nvPr/>
        </p:nvGrpSpPr>
        <p:grpSpPr bwMode="auto">
          <a:xfrm>
            <a:off x="838200" y="3908425"/>
            <a:ext cx="2362200" cy="587375"/>
            <a:chOff x="528" y="2462"/>
            <a:chExt cx="1488" cy="370"/>
          </a:xfrm>
        </p:grpSpPr>
        <p:sp>
          <p:nvSpPr>
            <p:cNvPr id="22545" name="Text Box 19"/>
            <p:cNvSpPr txBox="1">
              <a:spLocks noChangeArrowheads="1"/>
            </p:cNvSpPr>
            <p:nvPr/>
          </p:nvSpPr>
          <p:spPr bwMode="auto">
            <a:xfrm>
              <a:off x="827" y="2544"/>
              <a:ext cx="118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sz="2000" b="1" dirty="0">
                  <a:solidFill>
                    <a:srgbClr val="002060"/>
                  </a:solidFill>
                </a:rPr>
                <a:t>强度不够时</a:t>
              </a:r>
              <a:endParaRPr lang="zh-CN" altLang="en-US" sz="2000" b="1" dirty="0">
                <a:solidFill>
                  <a:srgbClr val="002060"/>
                </a:solidFill>
              </a:endParaRPr>
            </a:p>
          </p:txBody>
        </p:sp>
        <p:graphicFrame>
          <p:nvGraphicFramePr>
            <p:cNvPr id="22546" name="Object 20"/>
            <p:cNvGraphicFramePr>
              <a:graphicFrameLocks noChangeAspect="1"/>
            </p:cNvGraphicFramePr>
            <p:nvPr/>
          </p:nvGraphicFramePr>
          <p:xfrm>
            <a:off x="528" y="2462"/>
            <a:ext cx="251" cy="370"/>
          </p:xfrm>
          <a:graphic>
            <a:graphicData uri="http://schemas.openxmlformats.org/presentationml/2006/ole">
              <mc:AlternateContent xmlns:mc="http://schemas.openxmlformats.org/markup-compatibility/2006">
                <mc:Choice xmlns:v="urn:schemas-microsoft-com:vml" Requires="v">
                  <p:oleObj spid="_x0000_s5212" name="剪辑" r:id="rId4" imgW="2247900" imgH="3307080" progId="MS_ClipArt_Gallery.2">
                    <p:embed/>
                  </p:oleObj>
                </mc:Choice>
                <mc:Fallback>
                  <p:oleObj name="剪辑" r:id="rId4" imgW="2247900" imgH="3307080" progId="MS_ClipArt_Gallery.2">
                    <p:embed/>
                    <p:pic>
                      <p:nvPicPr>
                        <p:cNvPr id="0" name="图片 52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2462"/>
                          <a:ext cx="251" cy="3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90869" name="Text Box 21"/>
          <p:cNvSpPr txBox="1">
            <a:spLocks noChangeArrowheads="1"/>
          </p:cNvSpPr>
          <p:nvPr/>
        </p:nvSpPr>
        <p:spPr bwMode="auto">
          <a:xfrm>
            <a:off x="1236663" y="5410200"/>
            <a:ext cx="53514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sz="2000" b="1" dirty="0">
                <a:solidFill>
                  <a:srgbClr val="002060"/>
                </a:solidFill>
              </a:rPr>
              <a:t>不同轴段的键槽应开在同一方位，以便加工</a:t>
            </a:r>
            <a:endParaRPr lang="zh-CN" altLang="en-US" sz="2000" b="1" dirty="0">
              <a:solidFill>
                <a:srgbClr val="002060"/>
              </a:solidFill>
            </a:endParaRPr>
          </a:p>
        </p:txBody>
      </p:sp>
      <p:graphicFrame>
        <p:nvGraphicFramePr>
          <p:cNvPr id="590870" name="Object 22">
            <a:hlinkClick r:id="rId5" action="ppaction://hlinkfile" highlightClick="1">
              <a:snd r:embed="rId6" name="PROJCTOR.WAV"/>
            </a:hlinkClick>
          </p:cNvPr>
          <p:cNvGraphicFramePr>
            <a:graphicFrameLocks noChangeAspect="1"/>
          </p:cNvGraphicFramePr>
          <p:nvPr/>
        </p:nvGraphicFramePr>
        <p:xfrm>
          <a:off x="762000" y="5280025"/>
          <a:ext cx="398463" cy="587375"/>
        </p:xfrm>
        <a:graphic>
          <a:graphicData uri="http://schemas.openxmlformats.org/presentationml/2006/ole">
            <mc:AlternateContent xmlns:mc="http://schemas.openxmlformats.org/markup-compatibility/2006">
              <mc:Choice xmlns:v="urn:schemas-microsoft-com:vml" Requires="v">
                <p:oleObj spid="_x0000_s5213" name="剪辑" r:id="rId7" imgW="2247900" imgH="3307080" progId="MS_ClipArt_Gallery.2">
                  <p:embed/>
                </p:oleObj>
              </mc:Choice>
              <mc:Fallback>
                <p:oleObj name="剪辑" r:id="rId7" imgW="2247900" imgH="3307080" progId="MS_ClipArt_Gallery.2">
                  <p:embed/>
                  <p:pic>
                    <p:nvPicPr>
                      <p:cNvPr id="0" name="图片 52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5280025"/>
                        <a:ext cx="398463" cy="587375"/>
                      </a:xfrm>
                      <a:prstGeom prst="rect">
                        <a:avLst/>
                      </a:prstGeom>
                      <a:solidFill>
                        <a:srgbClr val="0000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0871" name="Text Box 23"/>
          <p:cNvSpPr txBox="1">
            <a:spLocks noChangeArrowheads="1"/>
          </p:cNvSpPr>
          <p:nvPr/>
        </p:nvSpPr>
        <p:spPr bwMode="auto">
          <a:xfrm>
            <a:off x="2727325" y="4689475"/>
            <a:ext cx="5300663" cy="398780"/>
          </a:xfrm>
          <a:prstGeom prst="rect">
            <a:avLst/>
          </a:prstGeom>
          <a:solidFill>
            <a:schemeClr val="bg1"/>
          </a:solidFill>
          <a:ln w="38100">
            <a:solidFill>
              <a:srgbClr val="993300"/>
            </a:solidFill>
            <a:miter lim="800000"/>
          </a:ln>
          <a:effectLst/>
        </p:spPr>
        <p:txBody>
          <a:bodyPr>
            <a:spAutoFit/>
          </a:bodyPr>
          <a:lstStyle/>
          <a:p>
            <a:pPr>
              <a:spcBef>
                <a:spcPct val="50000"/>
              </a:spcBef>
              <a:defRPr/>
            </a:pPr>
            <a:r>
              <a:rPr lang="en-US" altLang="zh-CN" sz="2000" b="1" dirty="0">
                <a:solidFill>
                  <a:srgbClr val="003399"/>
                </a:solidFill>
                <a:latin typeface="+mn-ea"/>
                <a:ea typeface="+mn-ea"/>
              </a:rPr>
              <a:t>▲ </a:t>
            </a:r>
            <a:r>
              <a:rPr lang="zh-CN" altLang="en-US" sz="2000" b="1" dirty="0">
                <a:solidFill>
                  <a:srgbClr val="003399"/>
                </a:solidFill>
                <a:latin typeface="+mn-ea"/>
                <a:ea typeface="+mn-ea"/>
              </a:rPr>
              <a:t>同一截面采用</a:t>
            </a:r>
            <a:r>
              <a:rPr lang="zh-CN" altLang="en-US" sz="2000" dirty="0">
                <a:solidFill>
                  <a:srgbClr val="FF0000"/>
                </a:solidFill>
                <a:effectLst>
                  <a:outerShdw blurRad="38100" dist="38100" dir="2700000" algn="tl">
                    <a:srgbClr val="000000"/>
                  </a:outerShdw>
                </a:effectLst>
                <a:latin typeface="+mn-ea"/>
                <a:ea typeface="+mn-ea"/>
              </a:rPr>
              <a:t>双键联接</a:t>
            </a:r>
            <a:r>
              <a:rPr lang="zh-CN" altLang="en-US" sz="2000" b="1" dirty="0">
                <a:solidFill>
                  <a:srgbClr val="003399"/>
                </a:solidFill>
                <a:latin typeface="+mn-ea"/>
                <a:ea typeface="+mn-ea"/>
              </a:rPr>
              <a:t>（按</a:t>
            </a:r>
            <a:r>
              <a:rPr lang="en-US" altLang="zh-CN" sz="2000" b="1" dirty="0">
                <a:solidFill>
                  <a:srgbClr val="003399"/>
                </a:solidFill>
                <a:latin typeface="+mn-ea"/>
                <a:ea typeface="+mn-ea"/>
              </a:rPr>
              <a:t>1.5</a:t>
            </a:r>
            <a:r>
              <a:rPr lang="zh-CN" altLang="en-US" sz="2000" b="1" dirty="0">
                <a:solidFill>
                  <a:srgbClr val="003399"/>
                </a:solidFill>
                <a:latin typeface="+mn-ea"/>
                <a:ea typeface="+mn-ea"/>
              </a:rPr>
              <a:t>个键计算）</a:t>
            </a:r>
            <a:endParaRPr lang="zh-CN" altLang="en-US" sz="2000" b="1" dirty="0">
              <a:solidFill>
                <a:srgbClr val="003399"/>
              </a:solidFill>
              <a:latin typeface="+mn-ea"/>
              <a:ea typeface="+mn-ea"/>
            </a:endParaRPr>
          </a:p>
        </p:txBody>
      </p:sp>
      <p:pic>
        <p:nvPicPr>
          <p:cNvPr id="590873" name="Picture 25" descr="图10-1p"/>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95900" y="2420938"/>
            <a:ext cx="2051050"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590862"/>
                                        </p:tgtEl>
                                        <p:attrNameLst>
                                          <p:attrName>style.visibility</p:attrName>
                                        </p:attrNameLst>
                                      </p:cBhvr>
                                      <p:to>
                                        <p:strVal val="visible"/>
                                      </p:to>
                                    </p:set>
                                    <p:anim calcmode="lin" valueType="num">
                                      <p:cBhvr>
                                        <p:cTn id="7" dur="1000" fill="hold"/>
                                        <p:tgtEl>
                                          <p:spTgt spid="590862"/>
                                        </p:tgtEl>
                                        <p:attrNameLst>
                                          <p:attrName>ppt_w</p:attrName>
                                        </p:attrNameLst>
                                      </p:cBhvr>
                                      <p:tavLst>
                                        <p:tav tm="0">
                                          <p:val>
                                            <p:fltVal val="0"/>
                                          </p:val>
                                        </p:tav>
                                        <p:tav tm="100000">
                                          <p:val>
                                            <p:strVal val="#ppt_w"/>
                                          </p:val>
                                        </p:tav>
                                      </p:tavLst>
                                    </p:anim>
                                    <p:anim calcmode="lin" valueType="num">
                                      <p:cBhvr>
                                        <p:cTn id="8" dur="1000" fill="hold"/>
                                        <p:tgtEl>
                                          <p:spTgt spid="590862"/>
                                        </p:tgtEl>
                                        <p:attrNameLst>
                                          <p:attrName>ppt_h</p:attrName>
                                        </p:attrNameLst>
                                      </p:cBhvr>
                                      <p:tavLst>
                                        <p:tav tm="0">
                                          <p:val>
                                            <p:fltVal val="0"/>
                                          </p:val>
                                        </p:tav>
                                        <p:tav tm="100000">
                                          <p:val>
                                            <p:strVal val="#ppt_h"/>
                                          </p:val>
                                        </p:tav>
                                      </p:tavLst>
                                    </p:anim>
                                    <p:anim calcmode="lin" valueType="num">
                                      <p:cBhvr>
                                        <p:cTn id="9" dur="1000" fill="hold"/>
                                        <p:tgtEl>
                                          <p:spTgt spid="59086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59086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6"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1+#ppt_w/2"/>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590850"/>
                                        </p:tgtEl>
                                        <p:attrNameLst>
                                          <p:attrName>style.visibility</p:attrName>
                                        </p:attrNameLst>
                                      </p:cBhvr>
                                      <p:to>
                                        <p:strVal val="visible"/>
                                      </p:to>
                                    </p:set>
                                    <p:animEffect transition="in" filter="box(in)">
                                      <p:cBhvr>
                                        <p:cTn id="21" dur="500"/>
                                        <p:tgtEl>
                                          <p:spTgt spid="59085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590851"/>
                                        </p:tgtEl>
                                        <p:attrNameLst>
                                          <p:attrName>style.visibility</p:attrName>
                                        </p:attrNameLst>
                                      </p:cBhvr>
                                      <p:to>
                                        <p:strVal val="visible"/>
                                      </p:to>
                                    </p:set>
                                    <p:animEffect transition="in" filter="slide(fromLeft)">
                                      <p:cBhvr>
                                        <p:cTn id="26" dur="500"/>
                                        <p:tgtEl>
                                          <p:spTgt spid="590851"/>
                                        </p:tgtEl>
                                      </p:cBhvr>
                                    </p:animEffect>
                                  </p:childTnLst>
                                </p:cTn>
                              </p:par>
                            </p:childTnLst>
                          </p:cTn>
                        </p:par>
                        <p:par>
                          <p:cTn id="27" fill="hold">
                            <p:stCondLst>
                              <p:cond delay="500"/>
                            </p:stCondLst>
                            <p:childTnLst>
                              <p:par>
                                <p:cTn id="28" presetID="4" presetClass="entr" presetSubtype="16" fill="hold" grpId="0" nodeType="afterEffect">
                                  <p:stCondLst>
                                    <p:cond delay="0"/>
                                  </p:stCondLst>
                                  <p:childTnLst>
                                    <p:set>
                                      <p:cBhvr>
                                        <p:cTn id="29" dur="1" fill="hold">
                                          <p:stCondLst>
                                            <p:cond delay="0"/>
                                          </p:stCondLst>
                                        </p:cTn>
                                        <p:tgtEl>
                                          <p:spTgt spid="590861"/>
                                        </p:tgtEl>
                                        <p:attrNameLst>
                                          <p:attrName>style.visibility</p:attrName>
                                        </p:attrNameLst>
                                      </p:cBhvr>
                                      <p:to>
                                        <p:strVal val="visible"/>
                                      </p:to>
                                    </p:set>
                                    <p:animEffect transition="in" filter="box(in)">
                                      <p:cBhvr>
                                        <p:cTn id="30" dur="500"/>
                                        <p:tgtEl>
                                          <p:spTgt spid="590861"/>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grpId="0" nodeType="clickEffect">
                                  <p:stCondLst>
                                    <p:cond delay="0"/>
                                  </p:stCondLst>
                                  <p:childTnLst>
                                    <p:set>
                                      <p:cBhvr>
                                        <p:cTn id="34" dur="1" fill="hold">
                                          <p:stCondLst>
                                            <p:cond delay="0"/>
                                          </p:stCondLst>
                                        </p:cTn>
                                        <p:tgtEl>
                                          <p:spTgt spid="590852"/>
                                        </p:tgtEl>
                                        <p:attrNameLst>
                                          <p:attrName>style.visibility</p:attrName>
                                        </p:attrNameLst>
                                      </p:cBhvr>
                                      <p:to>
                                        <p:strVal val="visible"/>
                                      </p:to>
                                    </p:set>
                                    <p:animEffect transition="in" filter="slide(fromLeft)">
                                      <p:cBhvr>
                                        <p:cTn id="35" dur="500"/>
                                        <p:tgtEl>
                                          <p:spTgt spid="590852"/>
                                        </p:tgtEl>
                                      </p:cBhvr>
                                    </p:animEffect>
                                  </p:childTnLst>
                                </p:cTn>
                              </p:par>
                            </p:childTnLst>
                          </p:cTn>
                        </p:par>
                        <p:par>
                          <p:cTn id="36" fill="hold">
                            <p:stCondLst>
                              <p:cond delay="500"/>
                            </p:stCondLst>
                            <p:childTnLst>
                              <p:par>
                                <p:cTn id="37" presetID="4" presetClass="entr" presetSubtype="16" fill="hold" grpId="0" nodeType="afterEffect">
                                  <p:stCondLst>
                                    <p:cond delay="0"/>
                                  </p:stCondLst>
                                  <p:childTnLst>
                                    <p:set>
                                      <p:cBhvr>
                                        <p:cTn id="38" dur="1" fill="hold">
                                          <p:stCondLst>
                                            <p:cond delay="0"/>
                                          </p:stCondLst>
                                        </p:cTn>
                                        <p:tgtEl>
                                          <p:spTgt spid="590853"/>
                                        </p:tgtEl>
                                        <p:attrNameLst>
                                          <p:attrName>style.visibility</p:attrName>
                                        </p:attrNameLst>
                                      </p:cBhvr>
                                      <p:to>
                                        <p:strVal val="visible"/>
                                      </p:to>
                                    </p:set>
                                    <p:animEffect transition="in" filter="box(in)">
                                      <p:cBhvr>
                                        <p:cTn id="39" dur="500"/>
                                        <p:tgtEl>
                                          <p:spTgt spid="590853"/>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6"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 calcmode="lin" valueType="num">
                                      <p:cBhvr additive="base">
                                        <p:cTn id="44" dur="500" fill="hold"/>
                                        <p:tgtEl>
                                          <p:spTgt spid="3"/>
                                        </p:tgtEl>
                                        <p:attrNameLst>
                                          <p:attrName>ppt_x</p:attrName>
                                        </p:attrNameLst>
                                      </p:cBhvr>
                                      <p:tavLst>
                                        <p:tav tm="0">
                                          <p:val>
                                            <p:strVal val="1+#ppt_w/2"/>
                                          </p:val>
                                        </p:tav>
                                        <p:tav tm="100000">
                                          <p:val>
                                            <p:strVal val="#ppt_x"/>
                                          </p:val>
                                        </p:tav>
                                      </p:tavLst>
                                    </p:anim>
                                    <p:anim calcmode="lin" valueType="num">
                                      <p:cBhvr additive="base">
                                        <p:cTn id="4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590854"/>
                                        </p:tgtEl>
                                        <p:attrNameLst>
                                          <p:attrName>style.visibility</p:attrName>
                                        </p:attrNameLst>
                                      </p:cBhvr>
                                      <p:to>
                                        <p:strVal val="visible"/>
                                      </p:to>
                                    </p:set>
                                    <p:animEffect transition="in" filter="box(in)">
                                      <p:cBhvr>
                                        <p:cTn id="50" dur="500"/>
                                        <p:tgtEl>
                                          <p:spTgt spid="590854"/>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590873"/>
                                        </p:tgtEl>
                                        <p:attrNameLst>
                                          <p:attrName>style.visibility</p:attrName>
                                        </p:attrNameLst>
                                      </p:cBhvr>
                                      <p:to>
                                        <p:strVal val="visible"/>
                                      </p:to>
                                    </p:set>
                                    <p:animEffect transition="in" filter="dissolve">
                                      <p:cBhvr>
                                        <p:cTn id="55" dur="500"/>
                                        <p:tgtEl>
                                          <p:spTgt spid="590873"/>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6"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 calcmode="lin" valueType="num">
                                      <p:cBhvr additive="base">
                                        <p:cTn id="60" dur="500" fill="hold"/>
                                        <p:tgtEl>
                                          <p:spTgt spid="4"/>
                                        </p:tgtEl>
                                        <p:attrNameLst>
                                          <p:attrName>ppt_x</p:attrName>
                                        </p:attrNameLst>
                                      </p:cBhvr>
                                      <p:tavLst>
                                        <p:tav tm="0">
                                          <p:val>
                                            <p:strVal val="1+#ppt_w/2"/>
                                          </p:val>
                                        </p:tav>
                                        <p:tav tm="100000">
                                          <p:val>
                                            <p:strVal val="#ppt_x"/>
                                          </p:val>
                                        </p:tav>
                                      </p:tavLst>
                                    </p:anim>
                                    <p:anim calcmode="lin" valueType="num">
                                      <p:cBhvr additive="base">
                                        <p:cTn id="6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grpId="0" nodeType="clickEffect">
                                  <p:stCondLst>
                                    <p:cond delay="0"/>
                                  </p:stCondLst>
                                  <p:childTnLst>
                                    <p:set>
                                      <p:cBhvr>
                                        <p:cTn id="65" dur="1" fill="hold">
                                          <p:stCondLst>
                                            <p:cond delay="0"/>
                                          </p:stCondLst>
                                        </p:cTn>
                                        <p:tgtEl>
                                          <p:spTgt spid="590855"/>
                                        </p:tgtEl>
                                        <p:attrNameLst>
                                          <p:attrName>style.visibility</p:attrName>
                                        </p:attrNameLst>
                                      </p:cBhvr>
                                      <p:to>
                                        <p:strVal val="visible"/>
                                      </p:to>
                                    </p:set>
                                    <p:animEffect transition="in" filter="box(in)">
                                      <p:cBhvr>
                                        <p:cTn id="66" dur="500"/>
                                        <p:tgtEl>
                                          <p:spTgt spid="590855"/>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16" fill="hold" grpId="0" nodeType="clickEffect">
                                  <p:stCondLst>
                                    <p:cond delay="0"/>
                                  </p:stCondLst>
                                  <p:childTnLst>
                                    <p:set>
                                      <p:cBhvr>
                                        <p:cTn id="70" dur="1" fill="hold">
                                          <p:stCondLst>
                                            <p:cond delay="0"/>
                                          </p:stCondLst>
                                        </p:cTn>
                                        <p:tgtEl>
                                          <p:spTgt spid="590871"/>
                                        </p:tgtEl>
                                        <p:attrNameLst>
                                          <p:attrName>style.visibility</p:attrName>
                                        </p:attrNameLst>
                                      </p:cBhvr>
                                      <p:to>
                                        <p:strVal val="visible"/>
                                      </p:to>
                                    </p:set>
                                    <p:animEffect transition="in" filter="box(in)">
                                      <p:cBhvr>
                                        <p:cTn id="71" dur="500"/>
                                        <p:tgtEl>
                                          <p:spTgt spid="590871"/>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6" fill="hold" nodeType="clickEffect">
                                  <p:stCondLst>
                                    <p:cond delay="0"/>
                                  </p:stCondLst>
                                  <p:childTnLst>
                                    <p:set>
                                      <p:cBhvr>
                                        <p:cTn id="75" dur="1" fill="hold">
                                          <p:stCondLst>
                                            <p:cond delay="0"/>
                                          </p:stCondLst>
                                        </p:cTn>
                                        <p:tgtEl>
                                          <p:spTgt spid="590870"/>
                                        </p:tgtEl>
                                        <p:attrNameLst>
                                          <p:attrName>style.visibility</p:attrName>
                                        </p:attrNameLst>
                                      </p:cBhvr>
                                      <p:to>
                                        <p:strVal val="visible"/>
                                      </p:to>
                                    </p:set>
                                    <p:anim calcmode="lin" valueType="num">
                                      <p:cBhvr additive="base">
                                        <p:cTn id="76" dur="500" fill="hold"/>
                                        <p:tgtEl>
                                          <p:spTgt spid="590870"/>
                                        </p:tgtEl>
                                        <p:attrNameLst>
                                          <p:attrName>ppt_x</p:attrName>
                                        </p:attrNameLst>
                                      </p:cBhvr>
                                      <p:tavLst>
                                        <p:tav tm="0">
                                          <p:val>
                                            <p:strVal val="1+#ppt_w/2"/>
                                          </p:val>
                                        </p:tav>
                                        <p:tav tm="100000">
                                          <p:val>
                                            <p:strVal val="#ppt_x"/>
                                          </p:val>
                                        </p:tav>
                                      </p:tavLst>
                                    </p:anim>
                                    <p:anim calcmode="lin" valueType="num">
                                      <p:cBhvr additive="base">
                                        <p:cTn id="77" dur="500" fill="hold"/>
                                        <p:tgtEl>
                                          <p:spTgt spid="590870"/>
                                        </p:tgtEl>
                                        <p:attrNameLst>
                                          <p:attrName>ppt_y</p:attrName>
                                        </p:attrNameLst>
                                      </p:cBhvr>
                                      <p:tavLst>
                                        <p:tav tm="0">
                                          <p:val>
                                            <p:strVal val="1+#ppt_h/2"/>
                                          </p:val>
                                        </p:tav>
                                        <p:tav tm="100000">
                                          <p:val>
                                            <p:strVal val="#ppt_y"/>
                                          </p:val>
                                        </p:tav>
                                      </p:tavLst>
                                    </p:anim>
                                  </p:childTnLst>
                                </p:cTn>
                              </p:par>
                            </p:childTnLst>
                          </p:cTn>
                        </p:par>
                        <p:par>
                          <p:cTn id="78" fill="hold">
                            <p:stCondLst>
                              <p:cond delay="500"/>
                            </p:stCondLst>
                            <p:childTnLst>
                              <p:par>
                                <p:cTn id="79" presetID="2" presetClass="entr" presetSubtype="6" fill="hold" grpId="0" nodeType="afterEffect">
                                  <p:stCondLst>
                                    <p:cond delay="0"/>
                                  </p:stCondLst>
                                  <p:childTnLst>
                                    <p:set>
                                      <p:cBhvr>
                                        <p:cTn id="80" dur="1" fill="hold">
                                          <p:stCondLst>
                                            <p:cond delay="0"/>
                                          </p:stCondLst>
                                        </p:cTn>
                                        <p:tgtEl>
                                          <p:spTgt spid="590869"/>
                                        </p:tgtEl>
                                        <p:attrNameLst>
                                          <p:attrName>style.visibility</p:attrName>
                                        </p:attrNameLst>
                                      </p:cBhvr>
                                      <p:to>
                                        <p:strVal val="visible"/>
                                      </p:to>
                                    </p:set>
                                    <p:anim calcmode="lin" valueType="num">
                                      <p:cBhvr additive="base">
                                        <p:cTn id="81" dur="500" fill="hold"/>
                                        <p:tgtEl>
                                          <p:spTgt spid="590869"/>
                                        </p:tgtEl>
                                        <p:attrNameLst>
                                          <p:attrName>ppt_x</p:attrName>
                                        </p:attrNameLst>
                                      </p:cBhvr>
                                      <p:tavLst>
                                        <p:tav tm="0">
                                          <p:val>
                                            <p:strVal val="1+#ppt_w/2"/>
                                          </p:val>
                                        </p:tav>
                                        <p:tav tm="100000">
                                          <p:val>
                                            <p:strVal val="#ppt_x"/>
                                          </p:val>
                                        </p:tav>
                                      </p:tavLst>
                                    </p:anim>
                                    <p:anim calcmode="lin" valueType="num">
                                      <p:cBhvr additive="base">
                                        <p:cTn id="82" dur="500" fill="hold"/>
                                        <p:tgtEl>
                                          <p:spTgt spid="5908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50" grpId="0" animBg="1" autoUpdateAnimBg="0"/>
      <p:bldP spid="590851" grpId="0" animBg="1"/>
      <p:bldP spid="590852" grpId="0" animBg="1"/>
      <p:bldP spid="590853" grpId="0" animBg="1" autoUpdateAnimBg="0"/>
      <p:bldP spid="590854" grpId="0" animBg="1" autoUpdateAnimBg="0"/>
      <p:bldP spid="590855" grpId="0" animBg="1" autoUpdateAnimBg="0"/>
      <p:bldP spid="590861" grpId="0" animBg="1" autoUpdateAnimBg="0"/>
      <p:bldP spid="590862" grpId="0" animBg="1" autoUpdateAnimBg="0"/>
      <p:bldP spid="590869" grpId="0" autoUpdateAnimBg="0"/>
      <p:bldP spid="590871"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332740" y="713740"/>
            <a:ext cx="8544560" cy="838200"/>
          </a:xfrm>
          <a:prstGeom prst="rect">
            <a:avLst/>
          </a:prstGeom>
        </p:spPr>
      </p:pic>
      <p:pic>
        <p:nvPicPr>
          <p:cNvPr id="37" name="Picture 99"/>
          <p:cNvPicPr>
            <a:picLocks noChangeAspect="1"/>
          </p:cNvPicPr>
          <p:nvPr/>
        </p:nvPicPr>
        <p:blipFill>
          <a:blip r:embed="rId2"/>
          <a:stretch>
            <a:fillRect/>
          </a:stretch>
        </p:blipFill>
        <p:spPr>
          <a:xfrm>
            <a:off x="6146165" y="1592580"/>
            <a:ext cx="2882265" cy="3836670"/>
          </a:xfrm>
          <a:prstGeom prst="rect">
            <a:avLst/>
          </a:prstGeom>
          <a:noFill/>
          <a:ln>
            <a:noFill/>
          </a:ln>
        </p:spPr>
      </p:pic>
      <p:pic>
        <p:nvPicPr>
          <p:cNvPr id="7" name="图片 6"/>
          <p:cNvPicPr>
            <a:picLocks noChangeAspect="1"/>
          </p:cNvPicPr>
          <p:nvPr/>
        </p:nvPicPr>
        <p:blipFill>
          <a:blip r:embed="rId3"/>
          <a:stretch>
            <a:fillRect/>
          </a:stretch>
        </p:blipFill>
        <p:spPr>
          <a:xfrm>
            <a:off x="252730" y="1743710"/>
            <a:ext cx="5812155" cy="912495"/>
          </a:xfrm>
          <a:prstGeom prst="rect">
            <a:avLst/>
          </a:prstGeom>
        </p:spPr>
      </p:pic>
      <p:pic>
        <p:nvPicPr>
          <p:cNvPr id="8" name="图片 7"/>
          <p:cNvPicPr>
            <a:picLocks noChangeAspect="1"/>
          </p:cNvPicPr>
          <p:nvPr/>
        </p:nvPicPr>
        <p:blipFill>
          <a:blip r:embed="rId4"/>
          <a:stretch>
            <a:fillRect/>
          </a:stretch>
        </p:blipFill>
        <p:spPr>
          <a:xfrm>
            <a:off x="713740" y="2867025"/>
            <a:ext cx="4403725" cy="912495"/>
          </a:xfrm>
          <a:prstGeom prst="rect">
            <a:avLst/>
          </a:prstGeom>
        </p:spPr>
      </p:pic>
      <p:pic>
        <p:nvPicPr>
          <p:cNvPr id="9" name="图片 8"/>
          <p:cNvPicPr>
            <a:picLocks noChangeAspect="1"/>
          </p:cNvPicPr>
          <p:nvPr/>
        </p:nvPicPr>
        <p:blipFill>
          <a:blip r:embed="rId5"/>
          <a:stretch>
            <a:fillRect/>
          </a:stretch>
        </p:blipFill>
        <p:spPr>
          <a:xfrm>
            <a:off x="760095" y="3894455"/>
            <a:ext cx="4327525" cy="534035"/>
          </a:xfrm>
          <a:prstGeom prst="rect">
            <a:avLst/>
          </a:prstGeom>
        </p:spPr>
      </p:pic>
      <p:pic>
        <p:nvPicPr>
          <p:cNvPr id="10" name="图片 9"/>
          <p:cNvPicPr>
            <a:picLocks noChangeAspect="1"/>
          </p:cNvPicPr>
          <p:nvPr/>
        </p:nvPicPr>
        <p:blipFill>
          <a:blip r:embed="rId6"/>
          <a:stretch>
            <a:fillRect/>
          </a:stretch>
        </p:blipFill>
        <p:spPr>
          <a:xfrm>
            <a:off x="569595" y="4533265"/>
            <a:ext cx="4722495" cy="1075690"/>
          </a:xfrm>
          <a:prstGeom prst="rect">
            <a:avLst/>
          </a:prstGeom>
        </p:spPr>
      </p:pic>
      <p:pic>
        <p:nvPicPr>
          <p:cNvPr id="11" name="图片 10"/>
          <p:cNvPicPr>
            <a:picLocks noChangeAspect="1"/>
          </p:cNvPicPr>
          <p:nvPr/>
        </p:nvPicPr>
        <p:blipFill>
          <a:blip r:embed="rId7"/>
          <a:stretch>
            <a:fillRect/>
          </a:stretch>
        </p:blipFill>
        <p:spPr>
          <a:xfrm>
            <a:off x="442595" y="5773420"/>
            <a:ext cx="7963535" cy="665480"/>
          </a:xfrm>
          <a:prstGeom prst="rect">
            <a:avLst/>
          </a:prstGeom>
        </p:spPr>
      </p:pic>
      <p:sp>
        <p:nvSpPr>
          <p:cNvPr id="12" name="文本框 11"/>
          <p:cNvSpPr txBox="1"/>
          <p:nvPr/>
        </p:nvSpPr>
        <p:spPr>
          <a:xfrm>
            <a:off x="104140" y="328295"/>
            <a:ext cx="746125" cy="429895"/>
          </a:xfrm>
          <a:prstGeom prst="rect">
            <a:avLst/>
          </a:prstGeom>
          <a:noFill/>
        </p:spPr>
        <p:txBody>
          <a:bodyPr wrap="square" rtlCol="0">
            <a:spAutoFit/>
          </a:bodyPr>
          <a:p>
            <a:r>
              <a:rPr lang="zh-CN" altLang="en-US">
                <a:solidFill>
                  <a:srgbClr val="FF0000"/>
                </a:solidFill>
              </a:rPr>
              <a:t>例</a:t>
            </a:r>
            <a:endParaRPr lang="zh-CN" alt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754380" y="707390"/>
            <a:ext cx="7147560" cy="1082040"/>
          </a:xfrm>
          <a:prstGeom prst="rect">
            <a:avLst/>
          </a:prstGeom>
        </p:spPr>
      </p:pic>
      <p:sp>
        <p:nvSpPr>
          <p:cNvPr id="102" name="文本框 101"/>
          <p:cNvSpPr txBox="1"/>
          <p:nvPr/>
        </p:nvSpPr>
        <p:spPr>
          <a:xfrm>
            <a:off x="479425" y="1769745"/>
            <a:ext cx="5080000" cy="398780"/>
          </a:xfrm>
          <a:prstGeom prst="rect">
            <a:avLst/>
          </a:prstGeom>
          <a:noFill/>
          <a:ln w="9525">
            <a:noFill/>
          </a:ln>
        </p:spPr>
        <p:txBody>
          <a:bodyPr>
            <a:spAutoFit/>
          </a:bodyPr>
          <a:p>
            <a:pPr marL="0" indent="276225"/>
            <a:r>
              <a:rPr lang="zh-CN" sz="2000" b="1">
                <a:latin typeface="Times New Roman" panose="02020603050405020304" pitchFamily="18" charset="0"/>
                <a:ea typeface="宋体" panose="02010600030101010101" pitchFamily="2" charset="-122"/>
              </a:rPr>
              <a:t>整理公式求得键连接传递的最大转矩为</a:t>
            </a:r>
            <a:r>
              <a:rPr lang="en-US" altLang="zh-CN" sz="2000" b="1">
                <a:latin typeface="Times New Roman" panose="02020603050405020304" pitchFamily="18" charset="0"/>
                <a:ea typeface="宋体" panose="02010600030101010101" pitchFamily="2" charset="-122"/>
              </a:rPr>
              <a:t>:</a:t>
            </a:r>
            <a:endParaRPr lang="en-US" altLang="zh-CN" sz="2000" b="1">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2"/>
          <a:stretch>
            <a:fillRect/>
          </a:stretch>
        </p:blipFill>
        <p:spPr>
          <a:xfrm>
            <a:off x="753745" y="2318385"/>
            <a:ext cx="5672455" cy="8547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wipe(left)">
                                      <p:cBhvr>
                                        <p:cTn id="12" dur="5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9" name="Rectangle 33"/>
          <p:cNvSpPr>
            <a:spLocks noChangeArrowheads="1"/>
          </p:cNvSpPr>
          <p:nvPr/>
        </p:nvSpPr>
        <p:spPr bwMode="auto">
          <a:xfrm>
            <a:off x="168910" y="785495"/>
            <a:ext cx="5106183"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C00000"/>
                </a:solidFill>
                <a:latin typeface="黑体" panose="02010609060101010101" pitchFamily="49" charset="-122"/>
                <a:ea typeface="黑体" panose="02010609060101010101" pitchFamily="49" charset="-122"/>
              </a:rPr>
              <a:t>一、花键连接的类型、特点、和应用</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11267"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7" name="Rectangle 2"/>
          <p:cNvSpPr>
            <a:spLocks noGrp="1" noChangeArrowheads="1"/>
          </p:cNvSpPr>
          <p:nvPr>
            <p:ph type="title"/>
          </p:nvPr>
        </p:nvSpPr>
        <p:spPr bwMode="auto">
          <a:xfrm>
            <a:off x="5715000" y="214313"/>
            <a:ext cx="2984500"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3.5-2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花键连接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2774" name="矩形 32773"/>
          <p:cNvSpPr>
            <a:spLocks noChangeArrowheads="1"/>
          </p:cNvSpPr>
          <p:nvPr/>
        </p:nvSpPr>
        <p:spPr bwMode="auto">
          <a:xfrm>
            <a:off x="199868" y="1174906"/>
            <a:ext cx="8534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花键连接是由外花键和内花键组成。将具有均布的多个凸齿的轴置于轮毂相应的凹槽中所构的联接。其工作面是键齿侧。</a:t>
            </a:r>
            <a:endParaRPr lang="zh-CN" altLang="en-US" sz="2000" dirty="0">
              <a:solidFill>
                <a:srgbClr val="000099"/>
              </a:solidFill>
              <a:latin typeface="华文中宋" panose="02010600040101010101" pitchFamily="2" charset="-122"/>
            </a:endParaRPr>
          </a:p>
        </p:txBody>
      </p:sp>
      <p:sp>
        <p:nvSpPr>
          <p:cNvPr id="32775" name="矩形 32774"/>
          <p:cNvSpPr>
            <a:spLocks noChangeArrowheads="1"/>
          </p:cNvSpPr>
          <p:nvPr/>
        </p:nvSpPr>
        <p:spPr bwMode="auto">
          <a:xfrm>
            <a:off x="372255" y="4442867"/>
            <a:ext cx="8305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花键连接是多齿传递载荷，故比平键联接的承载能力高，定心性和导向性好，对轴的削弱小</a:t>
            </a:r>
            <a:r>
              <a:rPr lang="en-US" altLang="zh-CN" sz="2000"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齿浅、应力集中小</a:t>
            </a:r>
            <a:r>
              <a:rPr lang="en-US" altLang="zh-CN" sz="2000"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p:txBody>
      </p:sp>
      <p:sp>
        <p:nvSpPr>
          <p:cNvPr id="32776" name="矩形 32775"/>
          <p:cNvSpPr>
            <a:spLocks noChangeArrowheads="1"/>
          </p:cNvSpPr>
          <p:nvPr/>
        </p:nvSpPr>
        <p:spPr bwMode="auto">
          <a:xfrm>
            <a:off x="282315" y="5314404"/>
            <a:ext cx="8001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花键连接适用于定心精度要求高、载荷大或经常滑移的连接；</a:t>
            </a:r>
            <a:endParaRPr lang="zh-CN" altLang="en-US" sz="2000" dirty="0">
              <a:solidFill>
                <a:srgbClr val="000099"/>
              </a:solidFill>
              <a:latin typeface="华文中宋" panose="02010600040101010101" pitchFamily="2" charset="-122"/>
            </a:endParaRPr>
          </a:p>
        </p:txBody>
      </p:sp>
      <p:sp>
        <p:nvSpPr>
          <p:cNvPr id="32777" name="矩形 32776"/>
          <p:cNvSpPr>
            <a:spLocks noChangeArrowheads="1"/>
          </p:cNvSpPr>
          <p:nvPr/>
        </p:nvSpPr>
        <p:spPr bwMode="auto">
          <a:xfrm>
            <a:off x="327285" y="5916665"/>
            <a:ext cx="6705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花键加工需用专门的设备和工具，成本较高；</a:t>
            </a:r>
            <a:endParaRPr lang="zh-CN" altLang="en-US" sz="2000" dirty="0">
              <a:solidFill>
                <a:srgbClr val="000099"/>
              </a:solidFill>
              <a:latin typeface="华文中宋" panose="02010600040101010101" pitchFamily="2" charset="-122"/>
            </a:endParaRPr>
          </a:p>
        </p:txBody>
      </p:sp>
      <p:pic>
        <p:nvPicPr>
          <p:cNvPr id="32791" name="图片 32790" descr="内花键"/>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60755" y="2014720"/>
            <a:ext cx="1546850" cy="150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93" name="图片 32792" desc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793" y="1909945"/>
            <a:ext cx="1804676" cy="1702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8" name="直接连接符 6"/>
          <p:cNvSpPr>
            <a:spLocks noChangeShapeType="1"/>
          </p:cNvSpPr>
          <p:nvPr/>
        </p:nvSpPr>
        <p:spPr bwMode="auto">
          <a:xfrm>
            <a:off x="0" y="764704"/>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16" name="Picture 19" descr="花键"/>
          <p:cNvPicPr>
            <a:picLocks noChangeAspect="1" noChangeArrowheads="1"/>
          </p:cNvPicPr>
          <p:nvPr/>
        </p:nvPicPr>
        <p:blipFill>
          <a:blip r:embed="rId3">
            <a:extLst>
              <a:ext uri="{28A0092B-C50C-407E-A947-70E740481C1C}">
                <a14:useLocalDpi xmlns:a14="http://schemas.microsoft.com/office/drawing/2010/main" val="0"/>
              </a:ext>
            </a:extLst>
          </a:blip>
          <a:srcRect l="53125" t="48882" r="10001" b="13382"/>
          <a:stretch>
            <a:fillRect/>
          </a:stretch>
        </p:blipFill>
        <p:spPr bwMode="auto">
          <a:xfrm>
            <a:off x="7442668" y="2093444"/>
            <a:ext cx="1558925" cy="136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8" descr="花键"/>
          <p:cNvPicPr>
            <a:picLocks noChangeAspect="1" noChangeArrowheads="1"/>
          </p:cNvPicPr>
          <p:nvPr/>
        </p:nvPicPr>
        <p:blipFill>
          <a:blip r:embed="rId3">
            <a:extLst>
              <a:ext uri="{28A0092B-C50C-407E-A947-70E740481C1C}">
                <a14:useLocalDpi xmlns:a14="http://schemas.microsoft.com/office/drawing/2010/main" val="0"/>
              </a:ext>
            </a:extLst>
          </a:blip>
          <a:srcRect l="16251" t="10001" r="10001" b="51118"/>
          <a:stretch>
            <a:fillRect/>
          </a:stretch>
        </p:blipFill>
        <p:spPr bwMode="auto">
          <a:xfrm>
            <a:off x="4346005" y="2100939"/>
            <a:ext cx="3111602" cy="136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20"/>
          <p:cNvSpPr>
            <a:spLocks noChangeArrowheads="1"/>
          </p:cNvSpPr>
          <p:nvPr/>
        </p:nvSpPr>
        <p:spPr bwMode="auto">
          <a:xfrm>
            <a:off x="717760" y="3529897"/>
            <a:ext cx="3434516" cy="30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50000"/>
              </a:spcBef>
              <a:buFontTx/>
              <a:buNone/>
            </a:pPr>
            <a:r>
              <a:rPr lang="zh-CN" altLang="en-US" sz="2000" dirty="0" smtClean="0">
                <a:solidFill>
                  <a:schemeClr val="tx2">
                    <a:lumMod val="60000"/>
                    <a:lumOff val="40000"/>
                  </a:schemeClr>
                </a:solidFill>
                <a:latin typeface="黑体" panose="02010609060101010101" pitchFamily="49" charset="-122"/>
                <a:ea typeface="黑体" panose="02010609060101010101" pitchFamily="49" charset="-122"/>
              </a:rPr>
              <a:t>外花键（轴）</a:t>
            </a:r>
            <a:r>
              <a:rPr lang="zh-CN" altLang="en-US" sz="2000" dirty="0">
                <a:solidFill>
                  <a:schemeClr val="tx2">
                    <a:lumMod val="60000"/>
                    <a:lumOff val="40000"/>
                  </a:schemeClr>
                </a:solidFill>
                <a:latin typeface="黑体" panose="02010609060101010101" pitchFamily="49" charset="-122"/>
                <a:ea typeface="黑体" panose="02010609060101010101" pitchFamily="49" charset="-122"/>
              </a:rPr>
              <a:t>、</a:t>
            </a:r>
            <a:r>
              <a:rPr lang="zh-CN" altLang="en-US" sz="2000" dirty="0" smtClean="0">
                <a:solidFill>
                  <a:schemeClr val="tx2">
                    <a:lumMod val="60000"/>
                    <a:lumOff val="40000"/>
                  </a:schemeClr>
                </a:solidFill>
                <a:latin typeface="黑体" panose="02010609060101010101" pitchFamily="49" charset="-122"/>
                <a:ea typeface="黑体" panose="02010609060101010101" pitchFamily="49" charset="-122"/>
              </a:rPr>
              <a:t>内</a:t>
            </a:r>
            <a:r>
              <a:rPr lang="zh-CN" altLang="en-US" sz="2000" dirty="0">
                <a:solidFill>
                  <a:schemeClr val="tx2">
                    <a:lumMod val="60000"/>
                    <a:lumOff val="40000"/>
                  </a:schemeClr>
                </a:solidFill>
                <a:latin typeface="黑体" panose="02010609060101010101" pitchFamily="49" charset="-122"/>
                <a:ea typeface="黑体" panose="02010609060101010101" pitchFamily="49" charset="-122"/>
              </a:rPr>
              <a:t>花键（孔</a:t>
            </a:r>
            <a:r>
              <a:rPr lang="zh-CN" altLang="en-US" sz="2000" dirty="0" smtClean="0">
                <a:solidFill>
                  <a:schemeClr val="tx2">
                    <a:lumMod val="60000"/>
                    <a:lumOff val="40000"/>
                  </a:schemeClr>
                </a:solidFill>
                <a:latin typeface="黑体" panose="02010609060101010101" pitchFamily="49" charset="-122"/>
                <a:ea typeface="黑体" panose="02010609060101010101" pitchFamily="49" charset="-122"/>
              </a:rPr>
              <a:t>）</a:t>
            </a:r>
            <a:endParaRPr lang="zh-CN" altLang="en-US" sz="2000" dirty="0">
              <a:solidFill>
                <a:schemeClr val="tx2">
                  <a:lumMod val="60000"/>
                  <a:lumOff val="40000"/>
                </a:schemeClr>
              </a:solidFill>
              <a:latin typeface="黑体" panose="02010609060101010101" pitchFamily="49" charset="-122"/>
              <a:ea typeface="黑体" panose="02010609060101010101" pitchFamily="49" charset="-122"/>
            </a:endParaRPr>
          </a:p>
        </p:txBody>
      </p:sp>
      <p:sp>
        <p:nvSpPr>
          <p:cNvPr id="2" name="文本框 1"/>
          <p:cNvSpPr txBox="1"/>
          <p:nvPr/>
        </p:nvSpPr>
        <p:spPr>
          <a:xfrm>
            <a:off x="217357" y="4024859"/>
            <a:ext cx="1573968" cy="430887"/>
          </a:xfrm>
          <a:prstGeom prst="rect">
            <a:avLst/>
          </a:prstGeom>
          <a:noFill/>
        </p:spPr>
        <p:txBody>
          <a:bodyPr wrap="square" rtlCol="0">
            <a:spAutoFit/>
          </a:bodyPr>
          <a:lstStyle/>
          <a:p>
            <a:r>
              <a:rPr lang="zh-CN" altLang="en-US" dirty="0" smtClean="0">
                <a:solidFill>
                  <a:srgbClr val="FF0000"/>
                </a:solidFill>
                <a:latin typeface="黑体" panose="02010609060101010101" pitchFamily="49" charset="-122"/>
                <a:ea typeface="黑体" panose="02010609060101010101" pitchFamily="49" charset="-122"/>
              </a:rPr>
              <a:t>特点：</a:t>
            </a:r>
            <a:endParaRPr lang="zh-CN" altLang="en-US"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49"/>
                                        </p:tgtEl>
                                        <p:attrNameLst>
                                          <p:attrName>style.visibility</p:attrName>
                                        </p:attrNameLst>
                                      </p:cBhvr>
                                      <p:to>
                                        <p:strVal val="visible"/>
                                      </p:to>
                                    </p:set>
                                    <p:animEffect transition="in" filter="wipe(left)">
                                      <p:cBhvr>
                                        <p:cTn id="7" dur="500"/>
                                        <p:tgtEl>
                                          <p:spTgt spid="92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4"/>
                                        </p:tgtEl>
                                        <p:attrNameLst>
                                          <p:attrName>style.visibility</p:attrName>
                                        </p:attrNameLst>
                                      </p:cBhvr>
                                      <p:to>
                                        <p:strVal val="visible"/>
                                      </p:to>
                                    </p:set>
                                    <p:animEffect transition="in" filter="wipe(left)">
                                      <p:cBhvr>
                                        <p:cTn id="12" dur="500"/>
                                        <p:tgtEl>
                                          <p:spTgt spid="327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2793"/>
                                        </p:tgtEl>
                                        <p:attrNameLst>
                                          <p:attrName>style.visibility</p:attrName>
                                        </p:attrNameLst>
                                      </p:cBhvr>
                                      <p:to>
                                        <p:strVal val="visible"/>
                                      </p:to>
                                    </p:set>
                                    <p:animEffect transition="in" filter="wipe(up)">
                                      <p:cBhvr>
                                        <p:cTn id="17" dur="500"/>
                                        <p:tgtEl>
                                          <p:spTgt spid="32793"/>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32791"/>
                                        </p:tgtEl>
                                        <p:attrNameLst>
                                          <p:attrName>style.visibility</p:attrName>
                                        </p:attrNameLst>
                                      </p:cBhvr>
                                      <p:to>
                                        <p:strVal val="visible"/>
                                      </p:to>
                                    </p:set>
                                    <p:animEffect transition="in" filter="wipe(up)">
                                      <p:cBhvr>
                                        <p:cTn id="21" dur="500"/>
                                        <p:tgtEl>
                                          <p:spTgt spid="32791"/>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37"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barn(outVertical)">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par>
                                <p:cTn id="32" presetID="22" presetClass="entr" presetSubtype="8"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2775"/>
                                        </p:tgtEl>
                                        <p:attrNameLst>
                                          <p:attrName>style.visibility</p:attrName>
                                        </p:attrNameLst>
                                      </p:cBhvr>
                                      <p:to>
                                        <p:strVal val="visible"/>
                                      </p:to>
                                    </p:set>
                                    <p:animEffect transition="in" filter="wipe(left)">
                                      <p:cBhvr>
                                        <p:cTn id="39" dur="500"/>
                                        <p:tgtEl>
                                          <p:spTgt spid="3277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2776"/>
                                        </p:tgtEl>
                                        <p:attrNameLst>
                                          <p:attrName>style.visibility</p:attrName>
                                        </p:attrNameLst>
                                      </p:cBhvr>
                                      <p:to>
                                        <p:strVal val="visible"/>
                                      </p:to>
                                    </p:set>
                                    <p:animEffect transition="in" filter="wipe(left)">
                                      <p:cBhvr>
                                        <p:cTn id="44" dur="500"/>
                                        <p:tgtEl>
                                          <p:spTgt spid="3277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2777"/>
                                        </p:tgtEl>
                                        <p:attrNameLst>
                                          <p:attrName>style.visibility</p:attrName>
                                        </p:attrNameLst>
                                      </p:cBhvr>
                                      <p:to>
                                        <p:strVal val="visible"/>
                                      </p:to>
                                    </p:set>
                                    <p:animEffect transition="in" filter="wipe(left)">
                                      <p:cBhvr>
                                        <p:cTn id="49" dur="500"/>
                                        <p:tgtEl>
                                          <p:spTgt spid="32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9" grpId="0"/>
      <p:bldP spid="32774" grpId="0"/>
      <p:bldP spid="32775" grpId="0"/>
      <p:bldP spid="32776" grpId="0"/>
      <p:bldP spid="32777" grpId="0"/>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4" descr="8花键_副本"/>
          <p:cNvPicPr>
            <a:picLocks noChangeAspect="1" noChangeArrowheads="1"/>
          </p:cNvPicPr>
          <p:nvPr/>
        </p:nvPicPr>
        <p:blipFill>
          <a:blip r:embed="rId1">
            <a:extLst>
              <a:ext uri="{28A0092B-C50C-407E-A947-70E740481C1C}">
                <a14:useLocalDpi xmlns:a14="http://schemas.microsoft.com/office/drawing/2010/main" val="0"/>
              </a:ext>
            </a:extLst>
          </a:blip>
          <a:srcRect b="49026"/>
          <a:stretch>
            <a:fillRect/>
          </a:stretch>
        </p:blipFill>
        <p:spPr bwMode="auto">
          <a:xfrm>
            <a:off x="1041661" y="4205767"/>
            <a:ext cx="3241397" cy="2277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3"/>
          <p:cNvSpPr>
            <a:spLocks noGrp="1" noChangeArrowheads="1"/>
          </p:cNvSpPr>
          <p:nvPr>
            <p:ph type="body" idx="1"/>
          </p:nvPr>
        </p:nvSpPr>
        <p:spPr>
          <a:xfrm>
            <a:off x="353076" y="1015960"/>
            <a:ext cx="2057400" cy="453075"/>
          </a:xfrm>
          <a:noFill/>
        </p:spPr>
        <p:txBody>
          <a:bodyPr/>
          <a:lstStyle/>
          <a:p>
            <a:pPr algn="just" eaLnBrk="1" hangingPunct="1">
              <a:lnSpc>
                <a:spcPct val="90000"/>
              </a:lnSpc>
              <a:spcBef>
                <a:spcPct val="50000"/>
              </a:spcBef>
              <a:buFontTx/>
              <a:buNone/>
            </a:pPr>
            <a:r>
              <a:rPr lang="en-US" altLang="zh-CN" sz="2200" dirty="0" smtClean="0">
                <a:solidFill>
                  <a:srgbClr val="FF0000"/>
                </a:solidFill>
                <a:latin typeface="黑体" panose="02010609060101010101" pitchFamily="49" charset="-122"/>
                <a:ea typeface="黑体" panose="02010609060101010101" pitchFamily="49" charset="-122"/>
              </a:rPr>
              <a:t>1</a:t>
            </a:r>
            <a:r>
              <a:rPr lang="zh-CN" altLang="en-US" sz="2200" dirty="0" smtClean="0">
                <a:solidFill>
                  <a:srgbClr val="FF0000"/>
                </a:solidFill>
                <a:latin typeface="黑体" panose="02010609060101010101" pitchFamily="49" charset="-122"/>
                <a:ea typeface="黑体" panose="02010609060101010101" pitchFamily="49" charset="-122"/>
              </a:rPr>
              <a:t>、类   </a:t>
            </a:r>
            <a:r>
              <a:rPr lang="zh-CN" altLang="en-US" sz="2200" dirty="0">
                <a:solidFill>
                  <a:srgbClr val="FF0000"/>
                </a:solidFill>
                <a:latin typeface="黑体" panose="02010609060101010101" pitchFamily="49" charset="-122"/>
                <a:ea typeface="黑体" panose="02010609060101010101" pitchFamily="49" charset="-122"/>
              </a:rPr>
              <a:t>型：</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3076" name="Rectangle 6"/>
          <p:cNvSpPr>
            <a:spLocks noChangeArrowheads="1"/>
          </p:cNvSpPr>
          <p:nvPr/>
        </p:nvSpPr>
        <p:spPr bwMode="auto">
          <a:xfrm>
            <a:off x="532255" y="2331453"/>
            <a:ext cx="8379397"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50000"/>
              </a:spcBef>
              <a:buFontTx/>
              <a:buNone/>
            </a:pPr>
            <a:r>
              <a:rPr lang="en-US" altLang="zh-CN" sz="2200" dirty="0">
                <a:solidFill>
                  <a:srgbClr val="C00000"/>
                </a:solidFill>
                <a:latin typeface="黑体" panose="02010609060101010101" pitchFamily="49" charset="-122"/>
                <a:ea typeface="黑体" panose="02010609060101010101" pitchFamily="49" charset="-122"/>
              </a:rPr>
              <a:t>(1) </a:t>
            </a:r>
            <a:r>
              <a:rPr lang="zh-CN" altLang="en-US" sz="2200" dirty="0">
                <a:solidFill>
                  <a:srgbClr val="C00000"/>
                </a:solidFill>
                <a:latin typeface="黑体" panose="02010609060101010101" pitchFamily="49" charset="-122"/>
                <a:ea typeface="黑体" panose="02010609060101010101" pitchFamily="49" charset="-122"/>
              </a:rPr>
              <a:t>矩形花键：</a:t>
            </a:r>
            <a:endParaRPr lang="zh-CN" altLang="en-US" sz="2200" dirty="0">
              <a:solidFill>
                <a:srgbClr val="C00000"/>
              </a:solidFill>
              <a:latin typeface="黑体" panose="02010609060101010101" pitchFamily="49" charset="-122"/>
              <a:ea typeface="黑体" panose="02010609060101010101" pitchFamily="49" charset="-122"/>
            </a:endParaRPr>
          </a:p>
          <a:p>
            <a:pPr algn="just" eaLnBrk="1" hangingPunct="1">
              <a:lnSpc>
                <a:spcPct val="90000"/>
              </a:lnSpc>
              <a:spcBef>
                <a:spcPct val="50000"/>
              </a:spcBef>
              <a:buFontTx/>
              <a:buNone/>
            </a:pPr>
            <a:r>
              <a:rPr lang="zh-CN" altLang="en-US" sz="2000" dirty="0">
                <a:latin typeface="宋体" panose="02010600030101010101" pitchFamily="2" charset="-122"/>
              </a:rPr>
              <a:t>    </a:t>
            </a:r>
            <a:r>
              <a:rPr lang="zh-CN" altLang="en-US" sz="2000" b="1" dirty="0">
                <a:latin typeface="宋体" panose="02010600030101010101" pitchFamily="2" charset="-122"/>
              </a:rPr>
              <a:t>加工方便；键齿矩形、小径定心；</a:t>
            </a:r>
            <a:endParaRPr lang="zh-CN" altLang="en-US" sz="2000" b="1" dirty="0">
              <a:latin typeface="宋体" panose="02010600030101010101" pitchFamily="2" charset="-122"/>
            </a:endParaRPr>
          </a:p>
          <a:p>
            <a:pPr algn="just" eaLnBrk="1" hangingPunct="1">
              <a:lnSpc>
                <a:spcPct val="90000"/>
              </a:lnSpc>
              <a:spcBef>
                <a:spcPct val="50000"/>
              </a:spcBef>
              <a:buFontTx/>
              <a:buNone/>
            </a:pPr>
            <a:r>
              <a:rPr lang="zh-CN" altLang="en-US" sz="2000" b="1" dirty="0">
                <a:latin typeface="宋体" panose="02010600030101010101" pitchFamily="2" charset="-122"/>
              </a:rPr>
              <a:t>    定心表面热处理后磨削，定心精度</a:t>
            </a:r>
            <a:r>
              <a:rPr lang="zh-CN" altLang="en-US" sz="2000" b="1" dirty="0" smtClean="0">
                <a:latin typeface="宋体" panose="02010600030101010101" pitchFamily="2" charset="-122"/>
              </a:rPr>
              <a:t>高，应用广泛；</a:t>
            </a:r>
            <a:endParaRPr lang="zh-CN" altLang="en-US" sz="2000" b="1" dirty="0">
              <a:latin typeface="宋体" panose="02010600030101010101" pitchFamily="2" charset="-122"/>
            </a:endParaRPr>
          </a:p>
          <a:p>
            <a:pPr algn="just" eaLnBrk="1" hangingPunct="1">
              <a:lnSpc>
                <a:spcPct val="90000"/>
              </a:lnSpc>
              <a:spcBef>
                <a:spcPct val="50000"/>
              </a:spcBef>
              <a:buFontTx/>
              <a:buNone/>
            </a:pPr>
            <a:r>
              <a:rPr lang="zh-CN" altLang="en-US" sz="2000" b="1" dirty="0" smtClean="0">
                <a:latin typeface="宋体" panose="02010600030101010101" pitchFamily="2" charset="-122"/>
              </a:rPr>
              <a:t>    按</a:t>
            </a:r>
            <a:r>
              <a:rPr lang="zh-CN" altLang="en-US" sz="2000" b="1" dirty="0">
                <a:latin typeface="宋体" panose="02010600030101010101" pitchFamily="2" charset="-122"/>
              </a:rPr>
              <a:t>承载分轻系列</a:t>
            </a:r>
            <a:r>
              <a:rPr lang="zh-CN" altLang="en-US" sz="2000" b="1" dirty="0" smtClean="0">
                <a:latin typeface="宋体" panose="02010600030101010101" pitchFamily="2" charset="-122"/>
              </a:rPr>
              <a:t>、中系列， 轻系列多用于静联接或轻载，</a:t>
            </a:r>
            <a:endParaRPr lang="zh-CN" altLang="en-US" sz="2000" b="1" dirty="0">
              <a:latin typeface="宋体" panose="02010600030101010101" pitchFamily="2" charset="-122"/>
            </a:endParaRPr>
          </a:p>
        </p:txBody>
      </p:sp>
      <p:sp>
        <p:nvSpPr>
          <p:cNvPr id="6" name="矩形 5"/>
          <p:cNvSpPr>
            <a:spLocks noChangeArrowheads="1"/>
          </p:cNvSpPr>
          <p:nvPr/>
        </p:nvSpPr>
        <p:spPr bwMode="auto">
          <a:xfrm>
            <a:off x="484682" y="1453837"/>
            <a:ext cx="838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花键连接按齿形不同，可分为</a:t>
            </a:r>
            <a:r>
              <a:rPr lang="zh-CN" altLang="en-US" sz="2000" dirty="0">
                <a:solidFill>
                  <a:srgbClr val="FF0000"/>
                </a:solidFill>
                <a:latin typeface="华文中宋" panose="02010600040101010101" pitchFamily="2" charset="-122"/>
              </a:rPr>
              <a:t>矩形花键</a:t>
            </a:r>
            <a:r>
              <a:rPr lang="zh-CN" altLang="en-US" sz="2000" dirty="0">
                <a:solidFill>
                  <a:srgbClr val="000099"/>
                </a:solidFill>
                <a:latin typeface="华文中宋" panose="02010600040101010101" pitchFamily="2" charset="-122"/>
              </a:rPr>
              <a:t>和</a:t>
            </a:r>
            <a:r>
              <a:rPr lang="zh-CN" altLang="en-US" sz="2000" dirty="0">
                <a:solidFill>
                  <a:srgbClr val="FF0000"/>
                </a:solidFill>
                <a:latin typeface="华文中宋" panose="02010600040101010101" pitchFamily="2" charset="-122"/>
              </a:rPr>
              <a:t>渐开线花键</a:t>
            </a:r>
            <a:r>
              <a:rPr lang="zh-CN" altLang="en-US" sz="2000" dirty="0">
                <a:solidFill>
                  <a:srgbClr val="000099"/>
                </a:solidFill>
                <a:latin typeface="华文中宋" panose="02010600040101010101" pitchFamily="2" charset="-122"/>
              </a:rPr>
              <a:t>两类，且均已标准化。</a:t>
            </a:r>
            <a:endParaRPr lang="zh-CN" altLang="en-US" sz="2000" dirty="0">
              <a:solidFill>
                <a:srgbClr val="000099"/>
              </a:solidFill>
              <a:latin typeface="华文中宋" panose="02010600040101010101" pitchFamily="2" charset="-122"/>
            </a:endParaRPr>
          </a:p>
        </p:txBody>
      </p:sp>
      <p:sp>
        <p:nvSpPr>
          <p:cNvPr id="7" name="Rectangle 2"/>
          <p:cNvSpPr>
            <a:spLocks noGrp="1" noChangeArrowheads="1"/>
          </p:cNvSpPr>
          <p:nvPr>
            <p:ph type="title"/>
          </p:nvPr>
        </p:nvSpPr>
        <p:spPr bwMode="auto">
          <a:xfrm>
            <a:off x="5715000" y="214313"/>
            <a:ext cx="2984500"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3.5-2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花键连接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8" name="直接连接符 6"/>
          <p:cNvSpPr>
            <a:spLocks noChangeShapeType="1"/>
          </p:cNvSpPr>
          <p:nvPr/>
        </p:nvSpPr>
        <p:spPr bwMode="auto">
          <a:xfrm>
            <a:off x="0" y="764704"/>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099" name="Rectangle 5"/>
              <p:cNvSpPr>
                <a:spLocks noChangeArrowheads="1"/>
              </p:cNvSpPr>
              <p:nvPr/>
            </p:nvSpPr>
            <p:spPr bwMode="auto">
              <a:xfrm>
                <a:off x="354965" y="1242060"/>
                <a:ext cx="834009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50000"/>
                  </a:spcBef>
                  <a:buFontTx/>
                  <a:buNone/>
                </a:pPr>
                <a:r>
                  <a:rPr lang="en-US" altLang="zh-CN" sz="2200" dirty="0" smtClean="0">
                    <a:solidFill>
                      <a:srgbClr val="C00000"/>
                    </a:solidFill>
                    <a:latin typeface="黑体" panose="02010609060101010101" pitchFamily="49" charset="-122"/>
                    <a:ea typeface="黑体" panose="02010609060101010101" pitchFamily="49" charset="-122"/>
                  </a:rPr>
                  <a:t>(2) </a:t>
                </a:r>
                <a:r>
                  <a:rPr lang="zh-CN" altLang="en-US" sz="2200" dirty="0">
                    <a:solidFill>
                      <a:srgbClr val="C00000"/>
                    </a:solidFill>
                    <a:latin typeface="黑体" panose="02010609060101010101" pitchFamily="49" charset="-122"/>
                    <a:ea typeface="黑体" panose="02010609060101010101" pitchFamily="49" charset="-122"/>
                  </a:rPr>
                  <a:t>渐开线花键：</a:t>
                </a:r>
                <a:r>
                  <a:rPr lang="zh-CN" altLang="en-US" sz="2200" dirty="0" smtClean="0">
                    <a:solidFill>
                      <a:srgbClr val="C00000"/>
                    </a:solidFill>
                    <a:latin typeface="黑体" panose="02010609060101010101" pitchFamily="49" charset="-122"/>
                    <a:ea typeface="黑体" panose="02010609060101010101" pitchFamily="49" charset="-122"/>
                  </a:rPr>
                  <a:t>（分度圆压力角有</a:t>
                </a:r>
                <a14:m>
                  <m:oMath xmlns:m="http://schemas.openxmlformats.org/officeDocument/2006/math">
                    <m:r>
                      <a:rPr lang="en-US" altLang="zh-CN" sz="2200" b="0" i="1" smtClean="0">
                        <a:solidFill>
                          <a:srgbClr val="C00000"/>
                        </a:solidFill>
                        <a:latin typeface="Cambria Math" panose="02040503050406030204" pitchFamily="18" charset="0"/>
                        <a:ea typeface="黑体" panose="02010609060101010101" pitchFamily="49" charset="-122"/>
                      </a:rPr>
                      <m:t>30</m:t>
                    </m:r>
                    <m:r>
                      <a:rPr lang="en-US" altLang="zh-CN" sz="2200" b="0" i="1" smtClean="0">
                        <a:solidFill>
                          <a:srgbClr val="C00000"/>
                        </a:solidFill>
                        <a:latin typeface="Cambria Math" panose="02040503050406030204" pitchFamily="18" charset="0"/>
                        <a:ea typeface="Cambria Math" panose="02040503050406030204" pitchFamily="18" charset="0"/>
                      </a:rPr>
                      <m:t>°</m:t>
                    </m:r>
                    <m:r>
                      <a:rPr lang="zh-CN" altLang="en-US" sz="2200" i="1">
                        <a:solidFill>
                          <a:srgbClr val="C00000"/>
                        </a:solidFill>
                        <a:latin typeface="Cambria Math" panose="02040503050406030204" pitchFamily="18" charset="0"/>
                        <a:ea typeface="Cambria Math" panose="02040503050406030204" pitchFamily="18" charset="0"/>
                      </a:rPr>
                      <m:t>和</m:t>
                    </m:r>
                    <m:r>
                      <a:rPr lang="en-US" altLang="zh-CN" sz="2200" b="0" i="1" smtClean="0">
                        <a:solidFill>
                          <a:srgbClr val="C00000"/>
                        </a:solidFill>
                        <a:latin typeface="Cambria Math" panose="02040503050406030204" pitchFamily="18" charset="0"/>
                        <a:ea typeface="Cambria Math" panose="02040503050406030204" pitchFamily="18" charset="0"/>
                      </a:rPr>
                      <m:t>45</m:t>
                    </m:r>
                    <m:r>
                      <a:rPr lang="en-US" altLang="zh-CN" sz="2200" b="0" i="1" smtClean="0">
                        <a:solidFill>
                          <a:srgbClr val="C00000"/>
                        </a:solidFill>
                        <a:latin typeface="Cambria Math" panose="02040503050406030204" pitchFamily="18" charset="0"/>
                        <a:ea typeface="Cambria Math" panose="02040503050406030204" pitchFamily="18" charset="0"/>
                      </a:rPr>
                      <m:t>°</m:t>
                    </m:r>
                  </m:oMath>
                </a14:m>
                <a:r>
                  <a:rPr lang="zh-CN" altLang="en-US" sz="2200" dirty="0" smtClean="0">
                    <a:solidFill>
                      <a:srgbClr val="C00000"/>
                    </a:solidFill>
                    <a:latin typeface="黑体" panose="02010609060101010101" pitchFamily="49" charset="-122"/>
                    <a:ea typeface="黑体" panose="02010609060101010101" pitchFamily="49" charset="-122"/>
                  </a:rPr>
                  <a:t>两种</a:t>
                </a:r>
                <a:r>
                  <a:rPr lang="zh-CN" altLang="en-US" sz="2200" dirty="0">
                    <a:solidFill>
                      <a:srgbClr val="C00000"/>
                    </a:solidFill>
                    <a:latin typeface="黑体" panose="02010609060101010101" pitchFamily="49" charset="-122"/>
                    <a:ea typeface="黑体" panose="02010609060101010101" pitchFamily="49" charset="-122"/>
                  </a:rPr>
                  <a:t>）</a:t>
                </a:r>
                <a:endParaRPr lang="zh-CN" altLang="en-US" sz="2200" dirty="0">
                  <a:solidFill>
                    <a:srgbClr val="C00000"/>
                  </a:solidFill>
                  <a:latin typeface="黑体" panose="02010609060101010101" pitchFamily="49" charset="-122"/>
                  <a:ea typeface="黑体" panose="02010609060101010101" pitchFamily="49" charset="-122"/>
                </a:endParaRPr>
              </a:p>
              <a:p>
                <a:pPr algn="just" eaLnBrk="1" hangingPunct="1">
                  <a:lnSpc>
                    <a:spcPct val="90000"/>
                  </a:lnSpc>
                  <a:spcBef>
                    <a:spcPct val="50000"/>
                  </a:spcBef>
                  <a:buFontTx/>
                  <a:buNone/>
                </a:pPr>
                <a:r>
                  <a:rPr lang="zh-CN" altLang="en-US" sz="2000" dirty="0">
                    <a:latin typeface="宋体" panose="02010600030101010101" pitchFamily="2" charset="-122"/>
                  </a:rPr>
                  <a:t>    </a:t>
                </a:r>
                <a:r>
                  <a:rPr lang="zh-CN" altLang="en-US" sz="2000" b="1" dirty="0">
                    <a:latin typeface="宋体" panose="02010600030101010101" pitchFamily="2" charset="-122"/>
                  </a:rPr>
                  <a:t>齿形为渐开线，齿形定心，受载时齿上有径向力能自动定心；</a:t>
                </a:r>
                <a:endParaRPr lang="zh-CN" altLang="en-US" sz="2000" b="1" dirty="0">
                  <a:latin typeface="宋体" panose="02010600030101010101" pitchFamily="2" charset="-122"/>
                </a:endParaRPr>
              </a:p>
              <a:p>
                <a:pPr algn="just" eaLnBrk="1" hangingPunct="1">
                  <a:lnSpc>
                    <a:spcPct val="90000"/>
                  </a:lnSpc>
                  <a:spcBef>
                    <a:spcPct val="50000"/>
                  </a:spcBef>
                  <a:buFontTx/>
                  <a:buNone/>
                </a:pPr>
                <a:r>
                  <a:rPr lang="zh-CN" altLang="en-US" sz="2000" b="1" dirty="0">
                    <a:latin typeface="宋体" panose="02010600030101010101" pitchFamily="2" charset="-122"/>
                  </a:rPr>
                  <a:t>    高强度、长寿命</a:t>
                </a:r>
                <a:r>
                  <a:rPr lang="en-US" altLang="zh-CN" sz="2000" b="1" dirty="0">
                    <a:latin typeface="宋体" panose="02010600030101010101" pitchFamily="2" charset="-122"/>
                  </a:rPr>
                  <a:t>—</a:t>
                </a:r>
                <a:r>
                  <a:rPr kumimoji="0" lang="zh-CN" altLang="en-US" sz="2000" b="1" dirty="0">
                    <a:latin typeface="宋体" panose="02010600030101010101" pitchFamily="2" charset="-122"/>
                  </a:rPr>
                  <a:t>齿</a:t>
                </a:r>
                <a:r>
                  <a:rPr lang="zh-CN" altLang="en-US" sz="2000" b="1" dirty="0">
                    <a:latin typeface="宋体" panose="02010600030101010101" pitchFamily="2" charset="-122"/>
                  </a:rPr>
                  <a:t>根圆角大，应力集中小；</a:t>
                </a:r>
                <a:endParaRPr lang="zh-CN" altLang="en-US" sz="2000" b="1" dirty="0">
                  <a:latin typeface="宋体" panose="02010600030101010101" pitchFamily="2" charset="-122"/>
                </a:endParaRPr>
              </a:p>
              <a:p>
                <a:pPr algn="just" eaLnBrk="1" hangingPunct="1">
                  <a:lnSpc>
                    <a:spcPct val="90000"/>
                  </a:lnSpc>
                  <a:spcBef>
                    <a:spcPct val="50000"/>
                  </a:spcBef>
                  <a:buFontTx/>
                  <a:buNone/>
                </a:pPr>
                <a:r>
                  <a:rPr lang="zh-CN" altLang="en-US" sz="2000" b="1" dirty="0">
                    <a:latin typeface="宋体" panose="02010600030101010101" pitchFamily="2" charset="-122"/>
                  </a:rPr>
                  <a:t>    工艺性好</a:t>
                </a:r>
                <a:r>
                  <a:rPr lang="en-US" altLang="zh-CN" sz="2000" b="1" dirty="0">
                    <a:latin typeface="宋体" panose="02010600030101010101" pitchFamily="2" charset="-122"/>
                  </a:rPr>
                  <a:t>—</a:t>
                </a:r>
                <a:r>
                  <a:rPr kumimoji="0" lang="zh-CN" altLang="en-US" sz="2000" b="1" dirty="0">
                    <a:latin typeface="宋体" panose="02010600030101010101" pitchFamily="2" charset="-122"/>
                  </a:rPr>
                  <a:t>滚</a:t>
                </a:r>
                <a:r>
                  <a:rPr lang="zh-CN" altLang="en-US" sz="2000" b="1" dirty="0">
                    <a:latin typeface="宋体" panose="02010600030101010101" pitchFamily="2" charset="-122"/>
                  </a:rPr>
                  <a:t>齿加工、精度高；</a:t>
                </a:r>
                <a:endParaRPr lang="zh-CN" altLang="en-US" sz="2000" b="1" dirty="0">
                  <a:latin typeface="宋体" panose="02010600030101010101" pitchFamily="2" charset="-122"/>
                </a:endParaRPr>
              </a:p>
              <a:p>
                <a:pPr algn="just" eaLnBrk="1" hangingPunct="1">
                  <a:lnSpc>
                    <a:spcPct val="90000"/>
                  </a:lnSpc>
                  <a:spcBef>
                    <a:spcPct val="50000"/>
                  </a:spcBef>
                  <a:buFontTx/>
                  <a:buNone/>
                </a:pPr>
                <a:r>
                  <a:rPr lang="zh-CN" altLang="en-US" sz="2000" b="1" dirty="0">
                    <a:latin typeface="宋体" panose="02010600030101010101" pitchFamily="2" charset="-122"/>
                  </a:rPr>
                  <a:t>    应用于载荷大、定心精度要求高、尺寸大的联接。</a:t>
                </a:r>
                <a:endParaRPr lang="zh-CN" altLang="en-US" sz="2000" b="1" dirty="0">
                  <a:latin typeface="宋体" panose="02010600030101010101" pitchFamily="2" charset="-122"/>
                </a:endParaRPr>
              </a:p>
            </p:txBody>
          </p:sp>
        </mc:Choice>
        <mc:Fallback>
          <p:sp>
            <p:nvSpPr>
              <p:cNvPr id="4099" name="Rectangle 5"/>
              <p:cNvSpPr>
                <a:spLocks noRot="1" noChangeAspect="1" noMove="1" noResize="1" noEditPoints="1" noAdjustHandles="1" noChangeArrowheads="1" noChangeShapeType="1" noTextEdit="1"/>
              </p:cNvSpPr>
              <p:nvPr/>
            </p:nvSpPr>
            <p:spPr bwMode="auto">
              <a:xfrm>
                <a:off x="354965" y="1242060"/>
                <a:ext cx="8340090" cy="2346325"/>
              </a:xfrm>
              <a:prstGeom prst="rect">
                <a:avLst/>
              </a:prstGeom>
              <a:blipFill rotWithShape="1">
                <a:blip r:embed="rId1"/>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4101" name="Picture 7" descr="8花键_副本"/>
          <p:cNvPicPr>
            <a:picLocks noChangeAspect="1" noChangeArrowheads="1"/>
          </p:cNvPicPr>
          <p:nvPr/>
        </p:nvPicPr>
        <p:blipFill>
          <a:blip r:embed="rId2">
            <a:extLst>
              <a:ext uri="{28A0092B-C50C-407E-A947-70E740481C1C}">
                <a14:useLocalDpi xmlns:a14="http://schemas.microsoft.com/office/drawing/2010/main" val="0"/>
              </a:ext>
            </a:extLst>
          </a:blip>
          <a:srcRect t="52962"/>
          <a:stretch>
            <a:fillRect/>
          </a:stretch>
        </p:blipFill>
        <p:spPr bwMode="auto">
          <a:xfrm>
            <a:off x="1763714" y="3910807"/>
            <a:ext cx="3042668" cy="1972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a:spLocks noGrp="1" noChangeArrowheads="1"/>
          </p:cNvSpPr>
          <p:nvPr>
            <p:ph type="title"/>
          </p:nvPr>
        </p:nvSpPr>
        <p:spPr bwMode="auto">
          <a:xfrm>
            <a:off x="5715000" y="214313"/>
            <a:ext cx="2984500"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3.5-2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花键连接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7" name="直接连接符 6"/>
          <p:cNvSpPr>
            <a:spLocks noChangeShapeType="1"/>
          </p:cNvSpPr>
          <p:nvPr/>
        </p:nvSpPr>
        <p:spPr bwMode="auto">
          <a:xfrm>
            <a:off x="0" y="764704"/>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9" name="Rectangle 33"/>
          <p:cNvSpPr>
            <a:spLocks noChangeArrowheads="1"/>
          </p:cNvSpPr>
          <p:nvPr/>
        </p:nvSpPr>
        <p:spPr bwMode="auto">
          <a:xfrm>
            <a:off x="206115" y="843197"/>
            <a:ext cx="155067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smtClean="0">
                <a:solidFill>
                  <a:srgbClr val="C00000"/>
                </a:solidFill>
                <a:latin typeface="黑体" panose="02010609060101010101" pitchFamily="49" charset="-122"/>
                <a:ea typeface="黑体" panose="02010609060101010101" pitchFamily="49" charset="-122"/>
              </a:rPr>
              <a:t>2</a:t>
            </a:r>
            <a:r>
              <a:rPr lang="zh-CN" altLang="en-US" sz="2400" dirty="0" smtClean="0">
                <a:solidFill>
                  <a:srgbClr val="C00000"/>
                </a:solidFill>
                <a:latin typeface="黑体" panose="02010609060101010101" pitchFamily="49" charset="-122"/>
                <a:ea typeface="黑体" panose="02010609060101010101" pitchFamily="49" charset="-122"/>
              </a:rPr>
              <a:t>、画法：</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11267"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7" name="Rectangle 2"/>
          <p:cNvSpPr>
            <a:spLocks noGrp="1" noChangeArrowheads="1"/>
          </p:cNvSpPr>
          <p:nvPr>
            <p:ph type="title"/>
          </p:nvPr>
        </p:nvSpPr>
        <p:spPr bwMode="auto">
          <a:xfrm>
            <a:off x="5715000" y="214313"/>
            <a:ext cx="2984500"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3.5-2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花键连接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11278" name="直接连接符 6"/>
          <p:cNvSpPr>
            <a:spLocks noChangeShapeType="1"/>
          </p:cNvSpPr>
          <p:nvPr/>
        </p:nvSpPr>
        <p:spPr bwMode="auto">
          <a:xfrm>
            <a:off x="0" y="764704"/>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2367" y="1321136"/>
            <a:ext cx="5733737" cy="2266432"/>
          </a:xfrm>
          <a:prstGeom prst="rect">
            <a:avLst/>
          </a:prstGeom>
        </p:spPr>
      </p:pic>
      <p:sp>
        <p:nvSpPr>
          <p:cNvPr id="20" name="Rectangle 20"/>
          <p:cNvSpPr>
            <a:spLocks noChangeArrowheads="1"/>
          </p:cNvSpPr>
          <p:nvPr/>
        </p:nvSpPr>
        <p:spPr bwMode="auto">
          <a:xfrm>
            <a:off x="2093857" y="3587828"/>
            <a:ext cx="1755617" cy="30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50000"/>
              </a:spcBef>
              <a:buFontTx/>
              <a:buNone/>
            </a:pPr>
            <a:r>
              <a:rPr lang="zh-CN" altLang="en-US" sz="2000" dirty="0" smtClean="0">
                <a:solidFill>
                  <a:schemeClr val="tx2">
                    <a:lumMod val="60000"/>
                    <a:lumOff val="40000"/>
                  </a:schemeClr>
                </a:solidFill>
                <a:latin typeface="黑体" panose="02010609060101010101" pitchFamily="49" charset="-122"/>
                <a:ea typeface="黑体" panose="02010609060101010101" pitchFamily="49" charset="-122"/>
              </a:rPr>
              <a:t>外花键（轴）</a:t>
            </a:r>
            <a:endParaRPr lang="zh-CN" altLang="en-US" sz="2000" dirty="0">
              <a:solidFill>
                <a:schemeClr val="tx2">
                  <a:lumMod val="60000"/>
                  <a:lumOff val="40000"/>
                </a:schemeClr>
              </a:solidFill>
              <a:latin typeface="黑体" panose="02010609060101010101" pitchFamily="49" charset="-122"/>
              <a:ea typeface="黑体" panose="02010609060101010101" pitchFamily="49" charset="-122"/>
            </a:endParaRPr>
          </a:p>
        </p:txBody>
      </p:sp>
      <p:pic>
        <p:nvPicPr>
          <p:cNvPr id="22" name="图片 21"/>
          <p:cNvPicPr>
            <a:picLocks noChangeAspect="1"/>
          </p:cNvPicPr>
          <p:nvPr/>
        </p:nvPicPr>
        <p:blipFill rotWithShape="1">
          <a:blip r:embed="rId2" cstate="print">
            <a:extLst>
              <a:ext uri="{28A0092B-C50C-407E-A947-70E740481C1C}">
                <a14:useLocalDpi xmlns:a14="http://schemas.microsoft.com/office/drawing/2010/main" val="0"/>
              </a:ext>
            </a:extLst>
          </a:blip>
          <a:srcRect l="69565"/>
          <a:stretch>
            <a:fillRect/>
          </a:stretch>
        </p:blipFill>
        <p:spPr>
          <a:xfrm>
            <a:off x="6460760" y="1186295"/>
            <a:ext cx="1240841" cy="1876368"/>
          </a:xfrm>
          <a:prstGeom prst="rect">
            <a:avLst/>
          </a:prstGeom>
        </p:spPr>
      </p:pic>
      <p:cxnSp>
        <p:nvCxnSpPr>
          <p:cNvPr id="6" name="直接箭头连接符 5"/>
          <p:cNvCxnSpPr/>
          <p:nvPr/>
        </p:nvCxnSpPr>
        <p:spPr bwMode="auto">
          <a:xfrm flipH="1">
            <a:off x="2825648" y="2503357"/>
            <a:ext cx="164890" cy="1"/>
          </a:xfrm>
          <a:prstGeom prst="straightConnector1">
            <a:avLst/>
          </a:prstGeom>
          <a:noFill/>
          <a:ln w="28575" cap="flat" cmpd="sng" algn="ctr">
            <a:solidFill>
              <a:srgbClr val="FF0000"/>
            </a:solidFill>
            <a:prstDash val="solid"/>
            <a:round/>
            <a:headEnd type="none" w="med" len="med"/>
            <a:tailEnd type="triangle"/>
          </a:ln>
        </p:spPr>
      </p:cxnSp>
      <p:sp>
        <p:nvSpPr>
          <p:cNvPr id="10" name="文本框 9"/>
          <p:cNvSpPr txBox="1"/>
          <p:nvPr/>
        </p:nvSpPr>
        <p:spPr>
          <a:xfrm>
            <a:off x="2773180" y="2016177"/>
            <a:ext cx="277318" cy="430887"/>
          </a:xfrm>
          <a:prstGeom prst="rect">
            <a:avLst/>
          </a:prstGeom>
          <a:noFill/>
        </p:spPr>
        <p:txBody>
          <a:bodyPr wrap="square" rtlCol="0">
            <a:spAutoFit/>
          </a:bodyPr>
          <a:lstStyle/>
          <a:p>
            <a:r>
              <a:rPr lang="en-US" altLang="zh-CN" dirty="0" smtClean="0">
                <a:solidFill>
                  <a:srgbClr val="C00000"/>
                </a:solidFill>
              </a:rPr>
              <a:t>B</a:t>
            </a:r>
            <a:endParaRPr lang="zh-CN" altLang="en-US" dirty="0">
              <a:solidFill>
                <a:srgbClr val="C00000"/>
              </a:solidFill>
            </a:endParaRPr>
          </a:p>
        </p:txBody>
      </p:sp>
      <p:sp>
        <p:nvSpPr>
          <p:cNvPr id="26" name="文本框 25"/>
          <p:cNvSpPr txBox="1"/>
          <p:nvPr/>
        </p:nvSpPr>
        <p:spPr>
          <a:xfrm>
            <a:off x="6745574" y="1341619"/>
            <a:ext cx="277318" cy="430887"/>
          </a:xfrm>
          <a:prstGeom prst="rect">
            <a:avLst/>
          </a:prstGeom>
          <a:noFill/>
        </p:spPr>
        <p:txBody>
          <a:bodyPr wrap="square" rtlCol="0">
            <a:spAutoFit/>
          </a:bodyPr>
          <a:lstStyle/>
          <a:p>
            <a:r>
              <a:rPr lang="en-US" altLang="zh-CN" dirty="0" smtClean="0">
                <a:solidFill>
                  <a:srgbClr val="C00000"/>
                </a:solidFill>
              </a:rPr>
              <a:t>B</a:t>
            </a:r>
            <a:endParaRPr lang="zh-CN" altLang="en-US" dirty="0">
              <a:solidFill>
                <a:srgbClr val="C00000"/>
              </a:solidFill>
            </a:endParaRPr>
          </a:p>
        </p:txBody>
      </p:sp>
      <p:sp>
        <p:nvSpPr>
          <p:cNvPr id="11" name="文本框 10"/>
          <p:cNvSpPr txBox="1"/>
          <p:nvPr/>
        </p:nvSpPr>
        <p:spPr>
          <a:xfrm>
            <a:off x="407670" y="4010660"/>
            <a:ext cx="8309610" cy="2399665"/>
          </a:xfrm>
          <a:prstGeom prst="rect">
            <a:avLst/>
          </a:prstGeom>
          <a:noFill/>
        </p:spPr>
        <p:txBody>
          <a:bodyPr wrap="square" rtlCol="0">
            <a:spAutoFit/>
          </a:bodyPr>
          <a:lstStyle/>
          <a:p>
            <a:pPr eaLnBrk="1" latinLnBrk="0" hangingPunct="1">
              <a:lnSpc>
                <a:spcPct val="150000"/>
              </a:lnSpc>
            </a:pPr>
            <a:r>
              <a:rPr lang="en-US" altLang="zh-CN" sz="2000" dirty="0" smtClean="0">
                <a:solidFill>
                  <a:srgbClr val="003399"/>
                </a:solidFill>
                <a:latin typeface="黑体" panose="02010609060101010101" pitchFamily="49" charset="-122"/>
                <a:ea typeface="黑体" panose="02010609060101010101" pitchFamily="49" charset="-122"/>
              </a:rPr>
              <a:t> 1</a:t>
            </a:r>
            <a:r>
              <a:rPr lang="zh-CN" altLang="en-US" sz="2000" dirty="0" smtClean="0">
                <a:solidFill>
                  <a:srgbClr val="003399"/>
                </a:solidFill>
                <a:latin typeface="黑体" panose="02010609060101010101" pitchFamily="49" charset="-122"/>
                <a:ea typeface="黑体" panose="02010609060101010101" pitchFamily="49" charset="-122"/>
              </a:rPr>
              <a:t>）在平行于花键轴线的投影面的视图中，大径用粗实线，小径应细实线，断面图画出部分或全部齿形。</a:t>
            </a:r>
            <a:endParaRPr lang="en-US" altLang="zh-CN" sz="2000" dirty="0" smtClean="0">
              <a:solidFill>
                <a:srgbClr val="003399"/>
              </a:solidFill>
              <a:latin typeface="黑体" panose="02010609060101010101" pitchFamily="49" charset="-122"/>
              <a:ea typeface="黑体" panose="02010609060101010101" pitchFamily="49" charset="-122"/>
            </a:endParaRPr>
          </a:p>
          <a:p>
            <a:pPr eaLnBrk="1" latinLnBrk="0" hangingPunct="1">
              <a:lnSpc>
                <a:spcPct val="150000"/>
              </a:lnSpc>
            </a:pPr>
            <a:r>
              <a:rPr lang="en-US" altLang="zh-CN" sz="2000" dirty="0" smtClean="0">
                <a:solidFill>
                  <a:srgbClr val="003399"/>
                </a:solidFill>
                <a:latin typeface="黑体" panose="02010609060101010101" pitchFamily="49" charset="-122"/>
                <a:ea typeface="黑体" panose="02010609060101010101" pitchFamily="49" charset="-122"/>
              </a:rPr>
              <a:t>  </a:t>
            </a:r>
            <a:r>
              <a:rPr lang="zh-CN" altLang="en-US" sz="2000" dirty="0" smtClean="0">
                <a:solidFill>
                  <a:srgbClr val="003399"/>
                </a:solidFill>
                <a:latin typeface="黑体" panose="02010609060101010101" pitchFamily="49" charset="-122"/>
                <a:ea typeface="黑体" panose="02010609060101010101" pitchFamily="49" charset="-122"/>
              </a:rPr>
              <a:t>垂直于花键轴线的投影面上的视图大径粗实线圆，小径细实线圆。</a:t>
            </a:r>
            <a:endParaRPr lang="en-US" altLang="zh-CN" sz="2000" dirty="0" smtClean="0">
              <a:solidFill>
                <a:srgbClr val="003399"/>
              </a:solidFill>
              <a:latin typeface="黑体" panose="02010609060101010101" pitchFamily="49" charset="-122"/>
              <a:ea typeface="黑体" panose="02010609060101010101" pitchFamily="49" charset="-122"/>
            </a:endParaRPr>
          </a:p>
          <a:p>
            <a:pPr eaLnBrk="1" latinLnBrk="0" hangingPunct="1">
              <a:lnSpc>
                <a:spcPct val="150000"/>
              </a:lnSpc>
            </a:pPr>
            <a:r>
              <a:rPr lang="en-US" altLang="zh-CN" sz="2000" dirty="0">
                <a:latin typeface="黑体" panose="02010609060101010101" pitchFamily="49" charset="-122"/>
                <a:ea typeface="黑体" panose="02010609060101010101" pitchFamily="49" charset="-122"/>
                <a:cs typeface="黑体" panose="02010609060101010101" pitchFamily="49" charset="-122"/>
              </a:rPr>
              <a:t> 2</a:t>
            </a:r>
            <a:r>
              <a:rPr lang="zh-CN" altLang="en-US" sz="2000" dirty="0">
                <a:latin typeface="黑体" panose="02010609060101010101" pitchFamily="49" charset="-122"/>
                <a:ea typeface="黑体" panose="02010609060101010101" pitchFamily="49" charset="-122"/>
                <a:cs typeface="黑体" panose="02010609060101010101" pitchFamily="49" charset="-122"/>
              </a:rPr>
              <a:t>）花键工作长度的终止端和尾部长度的末端均用细实线绘制，并与轴线垂直，尾部则画成</a:t>
            </a:r>
            <a:r>
              <a:rPr lang="zh-CN" altLang="en-US" sz="2000" dirty="0">
                <a:latin typeface="黑体" panose="02010609060101010101" pitchFamily="49" charset="-122"/>
                <a:ea typeface="黑体" panose="02010609060101010101" pitchFamily="49" charset="-122"/>
                <a:cs typeface="黑体" panose="02010609060101010101" pitchFamily="49" charset="-122"/>
                <a:sym typeface="+mn-ea"/>
              </a:rPr>
              <a:t>与轴线成</a:t>
            </a:r>
            <a:r>
              <a:rPr lang="en-US" altLang="zh-CN" sz="2000" dirty="0">
                <a:latin typeface="黑体" panose="02010609060101010101" pitchFamily="49" charset="-122"/>
                <a:ea typeface="黑体" panose="02010609060101010101" pitchFamily="49" charset="-122"/>
                <a:cs typeface="黑体" panose="02010609060101010101" pitchFamily="49" charset="-122"/>
                <a:sym typeface="+mn-ea"/>
              </a:rPr>
              <a:t>30°</a:t>
            </a:r>
            <a:r>
              <a:rPr lang="zh-CN" altLang="en-US" sz="2000" dirty="0">
                <a:latin typeface="黑体" panose="02010609060101010101" pitchFamily="49" charset="-122"/>
                <a:ea typeface="黑体" panose="02010609060101010101" pitchFamily="49" charset="-122"/>
                <a:cs typeface="黑体" panose="02010609060101010101" pitchFamily="49" charset="-122"/>
                <a:sym typeface="+mn-ea"/>
              </a:rPr>
              <a:t>的</a:t>
            </a:r>
            <a:r>
              <a:rPr lang="zh-CN" altLang="en-US" sz="2000" dirty="0">
                <a:latin typeface="黑体" panose="02010609060101010101" pitchFamily="49" charset="-122"/>
                <a:ea typeface="黑体" panose="02010609060101010101" pitchFamily="49" charset="-122"/>
                <a:cs typeface="黑体" panose="02010609060101010101" pitchFamily="49" charset="-122"/>
              </a:rPr>
              <a:t>斜线。</a:t>
            </a:r>
            <a:endParaRPr lang="zh-CN" altLang="en-US" sz="2000" dirty="0">
              <a:latin typeface="黑体" panose="02010609060101010101" pitchFamily="49" charset="-122"/>
              <a:ea typeface="黑体" panose="02010609060101010101" pitchFamily="49" charset="-122"/>
              <a:cs typeface="黑体" panose="02010609060101010101" pitchFamily="49" charset="-122"/>
            </a:endParaRPr>
          </a:p>
        </p:txBody>
      </p:sp>
      <p:cxnSp>
        <p:nvCxnSpPr>
          <p:cNvPr id="13" name="直接箭头连接符 12"/>
          <p:cNvCxnSpPr/>
          <p:nvPr/>
        </p:nvCxnSpPr>
        <p:spPr bwMode="auto">
          <a:xfrm flipH="1" flipV="1">
            <a:off x="1131757" y="1821306"/>
            <a:ext cx="494676" cy="607101"/>
          </a:xfrm>
          <a:prstGeom prst="straightConnector1">
            <a:avLst/>
          </a:prstGeom>
          <a:noFill/>
          <a:ln w="9525" cap="flat" cmpd="sng" algn="ctr">
            <a:solidFill>
              <a:srgbClr val="FF0000"/>
            </a:solidFill>
            <a:prstDash val="solid"/>
            <a:round/>
            <a:headEnd type="triangle" w="med" len="med"/>
            <a:tailEnd type="none" w="med" len="med"/>
          </a:ln>
        </p:spPr>
      </p:cxnSp>
      <p:cxnSp>
        <p:nvCxnSpPr>
          <p:cNvPr id="33" name="直接箭头连接符 32"/>
          <p:cNvCxnSpPr/>
          <p:nvPr/>
        </p:nvCxnSpPr>
        <p:spPr bwMode="auto">
          <a:xfrm flipH="1" flipV="1">
            <a:off x="1079292" y="1806315"/>
            <a:ext cx="412230" cy="682054"/>
          </a:xfrm>
          <a:prstGeom prst="straightConnector1">
            <a:avLst/>
          </a:prstGeom>
          <a:noFill/>
          <a:ln w="9525" cap="flat" cmpd="sng" algn="ctr">
            <a:solidFill>
              <a:srgbClr val="FF0000"/>
            </a:solidFill>
            <a:prstDash val="solid"/>
            <a:round/>
            <a:headEnd type="triangle" w="med" len="med"/>
            <a:tailEnd type="none" w="med" len="med"/>
          </a:ln>
        </p:spPr>
      </p:cxnSp>
      <p:sp>
        <p:nvSpPr>
          <p:cNvPr id="27" name="文本框 26"/>
          <p:cNvSpPr txBox="1"/>
          <p:nvPr/>
        </p:nvSpPr>
        <p:spPr>
          <a:xfrm>
            <a:off x="337279" y="1379095"/>
            <a:ext cx="1379095" cy="400110"/>
          </a:xfrm>
          <a:prstGeom prst="rect">
            <a:avLst/>
          </a:prstGeom>
          <a:noFill/>
        </p:spPr>
        <p:txBody>
          <a:bodyPr wrap="square" rtlCol="0">
            <a:spAutoFit/>
          </a:bodyPr>
          <a:lstStyle/>
          <a:p>
            <a:r>
              <a:rPr lang="zh-CN" altLang="en-US" sz="2000" dirty="0" smtClean="0">
                <a:solidFill>
                  <a:srgbClr val="C00000"/>
                </a:solidFill>
                <a:latin typeface="黑体" panose="02010609060101010101" pitchFamily="49" charset="-122"/>
                <a:ea typeface="黑体" panose="02010609060101010101" pitchFamily="49" charset="-122"/>
              </a:rPr>
              <a:t>细实线</a:t>
            </a:r>
            <a:endParaRPr lang="zh-CN" altLang="en-US" sz="2000" dirty="0">
              <a:solidFill>
                <a:srgbClr val="C00000"/>
              </a:solidFill>
              <a:latin typeface="黑体" panose="02010609060101010101" pitchFamily="49" charset="-122"/>
              <a:ea typeface="黑体" panose="02010609060101010101" pitchFamily="49" charset="-122"/>
            </a:endParaRPr>
          </a:p>
        </p:txBody>
      </p:sp>
      <p:cxnSp>
        <p:nvCxnSpPr>
          <p:cNvPr id="38" name="直接箭头连接符 37"/>
          <p:cNvCxnSpPr/>
          <p:nvPr/>
        </p:nvCxnSpPr>
        <p:spPr bwMode="auto">
          <a:xfrm flipH="1" flipV="1">
            <a:off x="1184223" y="1813810"/>
            <a:ext cx="389745" cy="389746"/>
          </a:xfrm>
          <a:prstGeom prst="straightConnector1">
            <a:avLst/>
          </a:prstGeom>
          <a:noFill/>
          <a:ln w="9525" cap="flat" cmpd="sng" algn="ctr">
            <a:solidFill>
              <a:srgbClr val="FF0000"/>
            </a:solidFill>
            <a:prstDash val="solid"/>
            <a:round/>
            <a:headEnd type="triangle" w="med" len="med"/>
            <a:tailEnd type="none" w="med" len="med"/>
          </a:ln>
        </p:spPr>
      </p:cxn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49"/>
                                        </p:tgtEl>
                                        <p:attrNameLst>
                                          <p:attrName>style.visibility</p:attrName>
                                        </p:attrNameLst>
                                      </p:cBhvr>
                                      <p:to>
                                        <p:strVal val="visible"/>
                                      </p:to>
                                    </p:set>
                                    <p:animEffect transition="in" filter="wipe(left)">
                                      <p:cBhvr>
                                        <p:cTn id="7" dur="500"/>
                                        <p:tgtEl>
                                          <p:spTgt spid="92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arn(outVertic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right)">
                                      <p:cBhvr>
                                        <p:cTn id="22" dur="500"/>
                                        <p:tgtEl>
                                          <p:spTgt spid="6"/>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righ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500"/>
                                        <p:tgtEl>
                                          <p:spTgt spid="22"/>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wipe(left)">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up)">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wipe(down)">
                                      <p:cBhvr>
                                        <p:cTn id="43" dur="500"/>
                                        <p:tgtEl>
                                          <p:spTgt spid="33"/>
                                        </p:tgtEl>
                                      </p:cBhvr>
                                    </p:animEffect>
                                  </p:childTnLst>
                                </p:cTn>
                              </p:par>
                              <p:par>
                                <p:cTn id="44" presetID="22" presetClass="entr" presetSubtype="4"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down)">
                                      <p:cBhvr>
                                        <p:cTn id="46" dur="500"/>
                                        <p:tgtEl>
                                          <p:spTgt spid="13"/>
                                        </p:tgtEl>
                                      </p:cBhvr>
                                    </p:animEffect>
                                  </p:childTnLst>
                                </p:cTn>
                              </p:par>
                              <p:par>
                                <p:cTn id="47" presetID="22" presetClass="entr" presetSubtype="4" fill="hold"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wipe(down)">
                                      <p:cBhvr>
                                        <p:cTn id="49" dur="500"/>
                                        <p:tgtEl>
                                          <p:spTgt spid="38"/>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left)">
                                      <p:cBhvr>
                                        <p:cTn id="5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9" grpId="0"/>
      <p:bldP spid="20" grpId="0"/>
      <p:bldP spid="10" grpId="0"/>
      <p:bldP spid="26" grpId="0"/>
      <p:bldP spid="11" grpId="0"/>
      <p:bldP spid="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1826655" y="575805"/>
            <a:ext cx="5269043" cy="2978645"/>
          </a:xfrm>
          <a:prstGeom prst="rect">
            <a:avLst/>
          </a:prstGeom>
        </p:spPr>
      </p:pic>
      <p:sp>
        <p:nvSpPr>
          <p:cNvPr id="21" name="Rectangle 20"/>
          <p:cNvSpPr>
            <a:spLocks noChangeArrowheads="1"/>
          </p:cNvSpPr>
          <p:nvPr/>
        </p:nvSpPr>
        <p:spPr bwMode="auto">
          <a:xfrm>
            <a:off x="3720664" y="3898436"/>
            <a:ext cx="1703152" cy="30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50000"/>
              </a:spcBef>
              <a:buFontTx/>
              <a:buNone/>
            </a:pPr>
            <a:r>
              <a:rPr lang="zh-CN" altLang="en-US" sz="2000" dirty="0" smtClean="0">
                <a:solidFill>
                  <a:schemeClr val="tx2">
                    <a:lumMod val="60000"/>
                    <a:lumOff val="40000"/>
                  </a:schemeClr>
                </a:solidFill>
                <a:latin typeface="黑体" panose="02010609060101010101" pitchFamily="49" charset="-122"/>
                <a:ea typeface="黑体" panose="02010609060101010101" pitchFamily="49" charset="-122"/>
              </a:rPr>
              <a:t>内</a:t>
            </a:r>
            <a:r>
              <a:rPr lang="zh-CN" altLang="en-US" sz="2000" dirty="0">
                <a:solidFill>
                  <a:schemeClr val="tx2">
                    <a:lumMod val="60000"/>
                    <a:lumOff val="40000"/>
                  </a:schemeClr>
                </a:solidFill>
                <a:latin typeface="黑体" panose="02010609060101010101" pitchFamily="49" charset="-122"/>
                <a:ea typeface="黑体" panose="02010609060101010101" pitchFamily="49" charset="-122"/>
              </a:rPr>
              <a:t>花键（孔</a:t>
            </a:r>
            <a:r>
              <a:rPr lang="zh-CN" altLang="en-US" sz="2000" dirty="0" smtClean="0">
                <a:solidFill>
                  <a:schemeClr val="tx2">
                    <a:lumMod val="60000"/>
                    <a:lumOff val="40000"/>
                  </a:schemeClr>
                </a:solidFill>
                <a:latin typeface="黑体" panose="02010609060101010101" pitchFamily="49" charset="-122"/>
                <a:ea typeface="黑体" panose="02010609060101010101" pitchFamily="49" charset="-122"/>
              </a:rPr>
              <a:t>）</a:t>
            </a:r>
            <a:endParaRPr lang="zh-CN" altLang="en-US" sz="2000" dirty="0">
              <a:solidFill>
                <a:schemeClr val="tx2">
                  <a:lumMod val="60000"/>
                  <a:lumOff val="40000"/>
                </a:schemeClr>
              </a:solidFill>
              <a:latin typeface="黑体" panose="02010609060101010101" pitchFamily="49" charset="-122"/>
              <a:ea typeface="黑体" panose="02010609060101010101" pitchFamily="49" charset="-122"/>
            </a:endParaRPr>
          </a:p>
        </p:txBody>
      </p:sp>
      <p:sp>
        <p:nvSpPr>
          <p:cNvPr id="5" name="文本框 4"/>
          <p:cNvSpPr txBox="1"/>
          <p:nvPr/>
        </p:nvSpPr>
        <p:spPr>
          <a:xfrm>
            <a:off x="931545" y="4660900"/>
            <a:ext cx="7059930" cy="1014730"/>
          </a:xfrm>
          <a:prstGeom prst="rect">
            <a:avLst/>
          </a:prstGeom>
          <a:noFill/>
        </p:spPr>
        <p:txBody>
          <a:bodyPr wrap="square" rtlCol="0" anchor="t">
            <a:spAutoFit/>
          </a:bodyPr>
          <a:p>
            <a:pPr eaLnBrk="1" latinLnBrk="0" hangingPunct="1">
              <a:lnSpc>
                <a:spcPct val="150000"/>
              </a:lnSpc>
            </a:pPr>
            <a:r>
              <a:rPr lang="en-US" altLang="zh-CN" sz="2000" dirty="0" smtClean="0">
                <a:solidFill>
                  <a:srgbClr val="003399"/>
                </a:solidFill>
                <a:latin typeface="黑体" panose="02010609060101010101" pitchFamily="49" charset="-122"/>
                <a:ea typeface="黑体" panose="02010609060101010101" pitchFamily="49" charset="-122"/>
                <a:sym typeface="+mn-ea"/>
              </a:rPr>
              <a:t>  </a:t>
            </a:r>
            <a:r>
              <a:rPr lang="zh-CN" altLang="en-US" sz="2000" dirty="0" smtClean="0">
                <a:solidFill>
                  <a:srgbClr val="003399"/>
                </a:solidFill>
                <a:latin typeface="黑体" panose="02010609060101010101" pitchFamily="49" charset="-122"/>
                <a:ea typeface="黑体" panose="02010609060101010101" pitchFamily="49" charset="-122"/>
                <a:sym typeface="+mn-ea"/>
              </a:rPr>
              <a:t>在平行于花键轴线的投影面的剖视图中，大径及小径均用粗实线绘制，并用局部视图画出一部分或全部齿形。</a:t>
            </a:r>
            <a:endParaRPr lang="zh-CN" altLang="en-US" sz="2000" dirty="0" smtClean="0">
              <a:solidFill>
                <a:srgbClr val="003399"/>
              </a:solidFill>
              <a:latin typeface="黑体" panose="02010609060101010101" pitchFamily="49" charset="-122"/>
              <a:ea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outVertic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9" name="Rectangle 33"/>
          <p:cNvSpPr>
            <a:spLocks noChangeArrowheads="1"/>
          </p:cNvSpPr>
          <p:nvPr/>
        </p:nvSpPr>
        <p:spPr bwMode="auto">
          <a:xfrm>
            <a:off x="297815" y="884555"/>
            <a:ext cx="155067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smtClean="0">
                <a:solidFill>
                  <a:srgbClr val="C00000"/>
                </a:solidFill>
                <a:latin typeface="黑体" panose="02010609060101010101" pitchFamily="49" charset="-122"/>
                <a:ea typeface="黑体" panose="02010609060101010101" pitchFamily="49" charset="-122"/>
              </a:rPr>
              <a:t>3</a:t>
            </a:r>
            <a:r>
              <a:rPr lang="zh-CN" altLang="en-US" sz="2400" dirty="0" smtClean="0">
                <a:solidFill>
                  <a:srgbClr val="C00000"/>
                </a:solidFill>
                <a:latin typeface="黑体" panose="02010609060101010101" pitchFamily="49" charset="-122"/>
                <a:ea typeface="黑体" panose="02010609060101010101" pitchFamily="49" charset="-122"/>
              </a:rPr>
              <a:t>、标记：</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7" name="Rectangle 2"/>
          <p:cNvSpPr>
            <a:spLocks noGrp="1" noChangeArrowheads="1"/>
          </p:cNvSpPr>
          <p:nvPr>
            <p:ph type="title"/>
          </p:nvPr>
        </p:nvSpPr>
        <p:spPr bwMode="auto">
          <a:xfrm>
            <a:off x="5715000" y="214313"/>
            <a:ext cx="2984500"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3.5-2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花键连接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11278" name="直接连接符 6"/>
          <p:cNvSpPr>
            <a:spLocks noChangeShapeType="1"/>
          </p:cNvSpPr>
          <p:nvPr/>
        </p:nvSpPr>
        <p:spPr bwMode="auto">
          <a:xfrm>
            <a:off x="0" y="764704"/>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12095" y="1353414"/>
            <a:ext cx="4999219" cy="2300777"/>
          </a:xfrm>
          <a:prstGeom prst="rect">
            <a:avLst/>
          </a:prstGeom>
        </p:spPr>
      </p:pic>
      <mc:AlternateContent xmlns:mc="http://schemas.openxmlformats.org/markup-compatibility/2006">
        <mc:Choice xmlns:a14="http://schemas.microsoft.com/office/drawing/2010/main" Requires="a14">
          <p:sp>
            <p:nvSpPr>
              <p:cNvPr id="6" name="文本框 5"/>
              <p:cNvSpPr txBox="1"/>
              <p:nvPr/>
            </p:nvSpPr>
            <p:spPr>
              <a:xfrm>
                <a:off x="157396" y="3507698"/>
                <a:ext cx="2938073" cy="42989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𝑑</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𝐷</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𝐵</m:t>
                      </m:r>
                    </m:oMath>
                  </m:oMathPara>
                </a14:m>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157396" y="3507698"/>
                <a:ext cx="2938073" cy="429895"/>
              </a:xfrm>
              <a:prstGeom prst="rect">
                <a:avLst/>
              </a:prstGeom>
              <a:blipFill rotWithShape="1">
                <a:blip r:embed="rId2"/>
                <a:stretch>
                  <a:fillRect l="-19" t="-138" r="16" b="138"/>
                </a:stretch>
              </a:blipFill>
            </p:spPr>
            <p:txBody>
              <a:bodyPr/>
              <a:lstStyle/>
              <a:p>
                <a:r>
                  <a:rPr lang="zh-CN" altLang="en-US">
                    <a:noFill/>
                  </a:rPr>
                  <a:t> </a:t>
                </a:r>
              </a:p>
            </p:txBody>
          </p:sp>
        </mc:Fallback>
      </mc:AlternateContent>
      <p:graphicFrame>
        <p:nvGraphicFramePr>
          <p:cNvPr id="2" name="对象 1"/>
          <p:cNvGraphicFramePr/>
          <p:nvPr/>
        </p:nvGraphicFramePr>
        <p:xfrm>
          <a:off x="3343275" y="3937635"/>
          <a:ext cx="5239385" cy="2562225"/>
        </p:xfrm>
        <a:graphic>
          <a:graphicData uri="http://schemas.openxmlformats.org/presentationml/2006/ole">
            <mc:AlternateContent xmlns:mc="http://schemas.openxmlformats.org/markup-compatibility/2006">
              <mc:Choice xmlns:v="urn:schemas-microsoft-com:vml" Requires="v">
                <p:oleObj spid="_x0000_s5" name="" r:id="rId3" imgW="5234940" imgH="2560320" progId="Paint.Picture">
                  <p:embed/>
                </p:oleObj>
              </mc:Choice>
              <mc:Fallback>
                <p:oleObj name="" r:id="rId3" imgW="5234940" imgH="2560320" progId="Paint.Picture">
                  <p:embed/>
                  <p:pic>
                    <p:nvPicPr>
                      <p:cNvPr id="0" name="图片 4"/>
                      <p:cNvPicPr/>
                      <p:nvPr/>
                    </p:nvPicPr>
                    <p:blipFill>
                      <a:blip r:embed="rId4"/>
                      <a:stretch>
                        <a:fillRect/>
                      </a:stretch>
                    </p:blipFill>
                    <p:spPr>
                      <a:xfrm>
                        <a:off x="3343275" y="3937635"/>
                        <a:ext cx="5239385" cy="2562225"/>
                      </a:xfrm>
                      <a:prstGeom prst="rect">
                        <a:avLst/>
                      </a:prstGeom>
                    </p:spPr>
                  </p:pic>
                </p:oleObj>
              </mc:Fallback>
            </mc:AlternateContent>
          </a:graphicData>
        </a:graphic>
      </p:graphicFrame>
      <p:sp>
        <p:nvSpPr>
          <p:cNvPr id="4" name="文本框 3"/>
          <p:cNvSpPr txBox="1"/>
          <p:nvPr/>
        </p:nvSpPr>
        <p:spPr>
          <a:xfrm>
            <a:off x="332740" y="4001135"/>
            <a:ext cx="2905760" cy="706755"/>
          </a:xfrm>
          <a:prstGeom prst="rect">
            <a:avLst/>
          </a:prstGeom>
          <a:noFill/>
        </p:spPr>
        <p:txBody>
          <a:bodyPr wrap="square" rtlCol="0">
            <a:spAutoFit/>
          </a:bodyPr>
          <a:p>
            <a:r>
              <a:rPr lang="en-US" altLang="zh-CN" sz="2000">
                <a:solidFill>
                  <a:srgbClr val="FF0000"/>
                </a:solidFill>
              </a:rPr>
              <a:t>N</a:t>
            </a:r>
            <a:r>
              <a:rPr lang="zh-CN" altLang="en-US" sz="2000"/>
              <a:t>为键数，为偶数，分别为</a:t>
            </a:r>
            <a:r>
              <a:rPr lang="en-US" altLang="zh-CN" sz="2000"/>
              <a:t>6</a:t>
            </a:r>
            <a:r>
              <a:rPr lang="zh-CN" altLang="en-US" sz="2000"/>
              <a:t>、</a:t>
            </a:r>
            <a:r>
              <a:rPr lang="en-US" altLang="zh-CN" sz="2000"/>
              <a:t>8</a:t>
            </a:r>
            <a:r>
              <a:rPr lang="zh-CN" altLang="en-US" sz="2000"/>
              <a:t>、</a:t>
            </a:r>
            <a:r>
              <a:rPr lang="en-US" altLang="zh-CN" sz="2000"/>
              <a:t>10 </a:t>
            </a:r>
            <a:r>
              <a:rPr lang="zh-CN" altLang="en-US" sz="2000"/>
              <a:t>三种</a:t>
            </a:r>
            <a:endParaRPr lang="zh-CN" altLang="en-US" sz="2000"/>
          </a:p>
        </p:txBody>
      </p:sp>
      <p:sp>
        <p:nvSpPr>
          <p:cNvPr id="8" name="文本框 7"/>
          <p:cNvSpPr txBox="1"/>
          <p:nvPr/>
        </p:nvSpPr>
        <p:spPr>
          <a:xfrm>
            <a:off x="391160" y="4872355"/>
            <a:ext cx="2905760" cy="398780"/>
          </a:xfrm>
          <a:prstGeom prst="rect">
            <a:avLst/>
          </a:prstGeom>
          <a:noFill/>
        </p:spPr>
        <p:txBody>
          <a:bodyPr wrap="square" rtlCol="0">
            <a:spAutoFit/>
          </a:bodyPr>
          <a:p>
            <a:r>
              <a:rPr lang="en-US" sz="2000">
                <a:solidFill>
                  <a:srgbClr val="FF0000"/>
                </a:solidFill>
              </a:rPr>
              <a:t>d</a:t>
            </a:r>
            <a:r>
              <a:rPr lang="en-US" sz="2000"/>
              <a:t> </a:t>
            </a:r>
            <a:r>
              <a:rPr lang="zh-CN" altLang="en-US" sz="2000"/>
              <a:t>为小径</a:t>
            </a:r>
            <a:endParaRPr lang="zh-CN" altLang="en-US" sz="2000"/>
          </a:p>
        </p:txBody>
      </p:sp>
      <p:sp>
        <p:nvSpPr>
          <p:cNvPr id="9" name="文本框 8"/>
          <p:cNvSpPr txBox="1"/>
          <p:nvPr/>
        </p:nvSpPr>
        <p:spPr>
          <a:xfrm>
            <a:off x="361950" y="5410835"/>
            <a:ext cx="2905760" cy="398780"/>
          </a:xfrm>
          <a:prstGeom prst="rect">
            <a:avLst/>
          </a:prstGeom>
          <a:noFill/>
        </p:spPr>
        <p:txBody>
          <a:bodyPr wrap="square" rtlCol="0">
            <a:spAutoFit/>
          </a:bodyPr>
          <a:p>
            <a:r>
              <a:rPr lang="en-US" sz="2000">
                <a:solidFill>
                  <a:srgbClr val="FF0000"/>
                </a:solidFill>
              </a:rPr>
              <a:t>D</a:t>
            </a:r>
            <a:r>
              <a:rPr lang="zh-CN" altLang="en-US" sz="2000"/>
              <a:t>为大径</a:t>
            </a:r>
            <a:endParaRPr lang="zh-CN" altLang="en-US" sz="2000"/>
          </a:p>
        </p:txBody>
      </p:sp>
      <p:sp>
        <p:nvSpPr>
          <p:cNvPr id="10" name="文本框 9"/>
          <p:cNvSpPr txBox="1"/>
          <p:nvPr/>
        </p:nvSpPr>
        <p:spPr>
          <a:xfrm>
            <a:off x="440055" y="5919470"/>
            <a:ext cx="2905760" cy="398780"/>
          </a:xfrm>
          <a:prstGeom prst="rect">
            <a:avLst/>
          </a:prstGeom>
          <a:noFill/>
        </p:spPr>
        <p:txBody>
          <a:bodyPr wrap="square" rtlCol="0">
            <a:spAutoFit/>
          </a:bodyPr>
          <a:p>
            <a:r>
              <a:rPr lang="en-US" sz="2000">
                <a:solidFill>
                  <a:srgbClr val="FF0000"/>
                </a:solidFill>
              </a:rPr>
              <a:t>B</a:t>
            </a:r>
            <a:r>
              <a:rPr lang="zh-CN" altLang="en-US" sz="2000"/>
              <a:t>为键宽</a:t>
            </a:r>
            <a:endParaRPr lang="zh-CN" altLang="en-US" sz="200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49"/>
                                        </p:tgtEl>
                                        <p:attrNameLst>
                                          <p:attrName>style.visibility</p:attrName>
                                        </p:attrNameLst>
                                      </p:cBhvr>
                                      <p:to>
                                        <p:strVal val="visible"/>
                                      </p:to>
                                    </p:set>
                                    <p:animEffect transition="in" filter="wipe(left)">
                                      <p:cBhvr>
                                        <p:cTn id="7" dur="500"/>
                                        <p:tgtEl>
                                          <p:spTgt spid="92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left)">
                                      <p:cBhvr>
                                        <p:cTn id="22" dur="5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9" grpId="0"/>
      <p:bldP spid="6" grpId="0"/>
      <p:bldP spid="8" grpId="0"/>
      <p:bldP spid="9"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9" name="Rectangle 33"/>
          <p:cNvSpPr>
            <a:spLocks noChangeArrowheads="1"/>
          </p:cNvSpPr>
          <p:nvPr/>
        </p:nvSpPr>
        <p:spPr bwMode="auto">
          <a:xfrm>
            <a:off x="228600" y="685800"/>
            <a:ext cx="322707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C00000"/>
                </a:solidFill>
                <a:latin typeface="黑体" panose="02010609060101010101" pitchFamily="49" charset="-122"/>
                <a:ea typeface="黑体" panose="02010609060101010101" pitchFamily="49" charset="-122"/>
              </a:rPr>
              <a:t>二、花键连接强度计算</a:t>
            </a:r>
            <a:endParaRPr lang="en-US" altLang="zh-CN" sz="2400" dirty="0">
              <a:solidFill>
                <a:srgbClr val="C00000"/>
              </a:solidFill>
              <a:latin typeface="黑体" panose="02010609060101010101" pitchFamily="49" charset="-122"/>
              <a:ea typeface="黑体" panose="02010609060101010101" pitchFamily="49" charset="-122"/>
            </a:endParaRPr>
          </a:p>
        </p:txBody>
      </p:sp>
      <p:sp>
        <p:nvSpPr>
          <p:cNvPr id="7" name="Rectangle 2"/>
          <p:cNvSpPr>
            <a:spLocks noGrp="1" noChangeArrowheads="1"/>
          </p:cNvSpPr>
          <p:nvPr>
            <p:ph type="title"/>
          </p:nvPr>
        </p:nvSpPr>
        <p:spPr bwMode="auto">
          <a:xfrm>
            <a:off x="5929313" y="214313"/>
            <a:ext cx="2984500"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3.5-2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花键连接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3080"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50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63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9" name="文本框 34828"/>
          <p:cNvSpPr txBox="1">
            <a:spLocks noChangeArrowheads="1"/>
          </p:cNvSpPr>
          <p:nvPr/>
        </p:nvSpPr>
        <p:spPr bwMode="auto">
          <a:xfrm>
            <a:off x="457200" y="1098550"/>
            <a:ext cx="5562600"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a:solidFill>
                  <a:srgbClr val="000099"/>
                </a:solidFill>
              </a:rPr>
              <a:t>      </a:t>
            </a:r>
            <a:r>
              <a:rPr lang="zh-CN" altLang="en-US" sz="2000">
                <a:solidFill>
                  <a:srgbClr val="002060"/>
                </a:solidFill>
              </a:rPr>
              <a:t>花键连接的受力情况如右图。其主要失效形</a:t>
            </a:r>
            <a:endParaRPr lang="zh-CN" altLang="en-US" sz="2000">
              <a:solidFill>
                <a:srgbClr val="002060"/>
              </a:solidFill>
            </a:endParaRPr>
          </a:p>
          <a:p>
            <a:pPr eaLnBrk="1" hangingPunct="1">
              <a:lnSpc>
                <a:spcPct val="120000"/>
              </a:lnSpc>
            </a:pPr>
            <a:r>
              <a:rPr lang="zh-CN" altLang="en-US" sz="2000">
                <a:solidFill>
                  <a:srgbClr val="002060"/>
                </a:solidFill>
              </a:rPr>
              <a:t>式仍是工作面被压溃（静联接）或工作面过度磨</a:t>
            </a:r>
            <a:endParaRPr lang="zh-CN" altLang="en-US" sz="2000">
              <a:solidFill>
                <a:srgbClr val="002060"/>
              </a:solidFill>
            </a:endParaRPr>
          </a:p>
          <a:p>
            <a:pPr eaLnBrk="1" hangingPunct="1">
              <a:lnSpc>
                <a:spcPct val="120000"/>
              </a:lnSpc>
            </a:pPr>
            <a:r>
              <a:rPr lang="zh-CN" altLang="en-US" sz="2000">
                <a:solidFill>
                  <a:srgbClr val="002060"/>
                </a:solidFill>
              </a:rPr>
              <a:t>损（动联接）。</a:t>
            </a:r>
            <a:endParaRPr lang="zh-CN" altLang="en-US" sz="2000">
              <a:solidFill>
                <a:srgbClr val="002060"/>
              </a:solidFill>
            </a:endParaRPr>
          </a:p>
        </p:txBody>
      </p:sp>
      <p:sp>
        <p:nvSpPr>
          <p:cNvPr id="34830" name="文本框 34829"/>
          <p:cNvSpPr txBox="1">
            <a:spLocks noChangeArrowheads="1"/>
          </p:cNvSpPr>
          <p:nvPr/>
        </p:nvSpPr>
        <p:spPr bwMode="auto">
          <a:xfrm>
            <a:off x="457200" y="2286000"/>
            <a:ext cx="54864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rPr>
              <a:t>      </a:t>
            </a:r>
            <a:r>
              <a:rPr lang="zh-CN" altLang="en-US" sz="2000" dirty="0">
                <a:solidFill>
                  <a:srgbClr val="002060"/>
                </a:solidFill>
              </a:rPr>
              <a:t>强度计算时，假定载荷在键的工作面上均匀</a:t>
            </a:r>
            <a:endParaRPr lang="zh-CN" altLang="en-US" sz="2000" dirty="0">
              <a:solidFill>
                <a:srgbClr val="002060"/>
              </a:solidFill>
            </a:endParaRPr>
          </a:p>
          <a:p>
            <a:pPr eaLnBrk="1" hangingPunct="1">
              <a:lnSpc>
                <a:spcPct val="120000"/>
              </a:lnSpc>
            </a:pPr>
            <a:r>
              <a:rPr lang="zh-CN" altLang="en-US" sz="2000" dirty="0">
                <a:solidFill>
                  <a:srgbClr val="002060"/>
                </a:solidFill>
              </a:rPr>
              <a:t>分布，每个齿工作面上压力的合力</a:t>
            </a:r>
            <a:r>
              <a:rPr lang="en-US" altLang="zh-CN" sz="2000" i="1" dirty="0">
                <a:solidFill>
                  <a:srgbClr val="002060"/>
                </a:solidFill>
                <a:latin typeface="Times New Roman" panose="02020603050405020304" pitchFamily="18" charset="0"/>
              </a:rPr>
              <a:t>F</a:t>
            </a:r>
            <a:r>
              <a:rPr lang="zh-CN" altLang="en-US" sz="2000" dirty="0">
                <a:solidFill>
                  <a:srgbClr val="002060"/>
                </a:solidFill>
              </a:rPr>
              <a:t>作用在</a:t>
            </a:r>
            <a:r>
              <a:rPr lang="zh-CN" altLang="en-US" sz="2000" dirty="0">
                <a:solidFill>
                  <a:srgbClr val="FF0000"/>
                </a:solidFill>
              </a:rPr>
              <a:t>平均直径</a:t>
            </a:r>
            <a:r>
              <a:rPr lang="en-US" altLang="zh-CN" sz="2000" i="1" dirty="0" err="1">
                <a:solidFill>
                  <a:srgbClr val="FF0000"/>
                </a:solidFill>
                <a:latin typeface="Times New Roman" panose="02020603050405020304" pitchFamily="18" charset="0"/>
              </a:rPr>
              <a:t>d</a:t>
            </a:r>
            <a:r>
              <a:rPr lang="en-US" altLang="zh-CN" sz="2000" baseline="-25000" dirty="0" err="1">
                <a:solidFill>
                  <a:srgbClr val="FF0000"/>
                </a:solidFill>
              </a:rPr>
              <a:t>m</a:t>
            </a:r>
            <a:r>
              <a:rPr lang="zh-CN" altLang="en-US" sz="2000" dirty="0">
                <a:solidFill>
                  <a:srgbClr val="002060"/>
                </a:solidFill>
              </a:rPr>
              <a:t>处，并引入载荷分配不均匀系数</a:t>
            </a:r>
            <a:r>
              <a:rPr lang="en-US" altLang="zh-CN" sz="2000" i="1" dirty="0">
                <a:solidFill>
                  <a:srgbClr val="FF0000"/>
                </a:solidFill>
                <a:latin typeface="Symbol" panose="05050102010706020507" pitchFamily="18" charset="2"/>
              </a:rPr>
              <a:t>y</a:t>
            </a:r>
            <a:r>
              <a:rPr lang="zh-CN" altLang="en-US" sz="2000" i="1" dirty="0">
                <a:solidFill>
                  <a:srgbClr val="FF0000"/>
                </a:solidFill>
                <a:latin typeface="Symbol" panose="05050102010706020507" pitchFamily="18" charset="2"/>
              </a:rPr>
              <a:t>（</a:t>
            </a:r>
            <a:r>
              <a:rPr lang="zh-CN" altLang="en-US" sz="2000" dirty="0">
                <a:solidFill>
                  <a:srgbClr val="FF0000"/>
                </a:solidFill>
                <a:latin typeface="Symbol" panose="05050102010706020507" pitchFamily="18" charset="2"/>
              </a:rPr>
              <a:t>一般取</a:t>
            </a:r>
            <a:r>
              <a:rPr lang="en-US" altLang="zh-CN" sz="2000" dirty="0">
                <a:solidFill>
                  <a:srgbClr val="FF0000"/>
                </a:solidFill>
                <a:latin typeface="Symbol" panose="05050102010706020507" pitchFamily="18" charset="2"/>
              </a:rPr>
              <a:t>0.7~0.8</a:t>
            </a:r>
            <a:r>
              <a:rPr lang="zh-CN" altLang="en-US" sz="2000" dirty="0">
                <a:solidFill>
                  <a:srgbClr val="FF0000"/>
                </a:solidFill>
                <a:latin typeface="Symbol" panose="05050102010706020507" pitchFamily="18" charset="2"/>
              </a:rPr>
              <a:t>）</a:t>
            </a:r>
            <a:r>
              <a:rPr lang="zh-CN" altLang="en-US" sz="2000" dirty="0">
                <a:solidFill>
                  <a:srgbClr val="000099"/>
                </a:solidFill>
              </a:rPr>
              <a:t>，</a:t>
            </a:r>
            <a:r>
              <a:rPr lang="zh-CN" altLang="en-US" sz="2000" dirty="0">
                <a:solidFill>
                  <a:srgbClr val="002060"/>
                </a:solidFill>
              </a:rPr>
              <a:t>则花键联接的强度校核式为：</a:t>
            </a:r>
            <a:endParaRPr lang="zh-CN" altLang="en-US" sz="2000" dirty="0">
              <a:solidFill>
                <a:srgbClr val="002060"/>
              </a:solidFill>
            </a:endParaRPr>
          </a:p>
        </p:txBody>
      </p:sp>
      <p:sp>
        <p:nvSpPr>
          <p:cNvPr id="34844" name="矩形 34843"/>
          <p:cNvSpPr>
            <a:spLocks noChangeArrowheads="1"/>
          </p:cNvSpPr>
          <p:nvPr/>
        </p:nvSpPr>
        <p:spPr bwMode="auto">
          <a:xfrm>
            <a:off x="4648794" y="3784033"/>
            <a:ext cx="221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键的工作高度为：</a:t>
            </a:r>
            <a:endParaRPr lang="zh-CN" altLang="en-US" sz="2000" dirty="0">
              <a:solidFill>
                <a:srgbClr val="000099"/>
              </a:solidFill>
            </a:endParaRPr>
          </a:p>
        </p:txBody>
      </p:sp>
      <p:sp>
        <p:nvSpPr>
          <p:cNvPr id="12298" name="文本框 34846"/>
          <p:cNvSpPr txBox="1">
            <a:spLocks noChangeArrowheads="1"/>
          </p:cNvSpPr>
          <p:nvPr/>
        </p:nvSpPr>
        <p:spPr bwMode="auto">
          <a:xfrm>
            <a:off x="383915" y="6321050"/>
            <a:ext cx="570865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a:solidFill>
                  <a:srgbClr val="000099"/>
                </a:solidFill>
                <a:latin typeface="Times New Roman" panose="02020603050405020304" pitchFamily="18" charset="0"/>
              </a:rPr>
              <a:t>[</a:t>
            </a:r>
            <a:r>
              <a:rPr lang="en-US" altLang="zh-CN" sz="2000">
                <a:solidFill>
                  <a:srgbClr val="000099"/>
                </a:solidFill>
                <a:latin typeface="Symbol" panose="05050102010706020507" pitchFamily="18" charset="2"/>
              </a:rPr>
              <a:t>s</a:t>
            </a:r>
            <a:r>
              <a:rPr lang="en-US" altLang="zh-CN" sz="2000" baseline="-25000">
                <a:solidFill>
                  <a:srgbClr val="000099"/>
                </a:solidFill>
                <a:latin typeface="Times New Roman" panose="02020603050405020304" pitchFamily="18" charset="0"/>
              </a:rPr>
              <a:t>p</a:t>
            </a:r>
            <a:r>
              <a:rPr lang="en-US" altLang="zh-CN" sz="2000">
                <a:solidFill>
                  <a:srgbClr val="000099"/>
                </a:solidFill>
                <a:latin typeface="Times New Roman" panose="02020603050405020304" pitchFamily="18" charset="0"/>
              </a:rPr>
              <a:t>]</a:t>
            </a:r>
            <a:r>
              <a:rPr lang="zh-CN" altLang="en-US" sz="2000">
                <a:solidFill>
                  <a:srgbClr val="000099"/>
                </a:solidFill>
                <a:latin typeface="Times New Roman" panose="02020603050405020304" pitchFamily="18" charset="0"/>
              </a:rPr>
              <a:t>、</a:t>
            </a:r>
            <a:r>
              <a:rPr lang="en-US" altLang="zh-CN" sz="2000">
                <a:solidFill>
                  <a:srgbClr val="000099"/>
                </a:solidFill>
                <a:latin typeface="Times New Roman" panose="02020603050405020304" pitchFamily="18" charset="0"/>
              </a:rPr>
              <a:t>[</a:t>
            </a:r>
            <a:r>
              <a:rPr lang="en-US" altLang="zh-CN" sz="2000" i="1">
                <a:solidFill>
                  <a:srgbClr val="000099"/>
                </a:solidFill>
                <a:latin typeface="Times New Roman" panose="02020603050405020304" pitchFamily="18" charset="0"/>
              </a:rPr>
              <a:t>p</a:t>
            </a:r>
            <a:r>
              <a:rPr lang="en-US" altLang="zh-CN" sz="2000">
                <a:solidFill>
                  <a:srgbClr val="000099"/>
                </a:solidFill>
                <a:latin typeface="Times New Roman" panose="02020603050405020304" pitchFamily="18" charset="0"/>
              </a:rPr>
              <a:t>]</a:t>
            </a:r>
            <a:r>
              <a:rPr lang="zh-CN" altLang="en-US" sz="2000">
                <a:solidFill>
                  <a:srgbClr val="000099"/>
                </a:solidFill>
                <a:latin typeface="Times New Roman" panose="02020603050405020304" pitchFamily="18" charset="0"/>
              </a:rPr>
              <a:t>为花键联接的</a:t>
            </a:r>
            <a:r>
              <a:rPr lang="zh-CN" altLang="en-US" sz="2000">
                <a:solidFill>
                  <a:srgbClr val="000099"/>
                </a:solidFill>
                <a:latin typeface="Times New Roman" panose="02020603050405020304" pitchFamily="18" charset="0"/>
                <a:hlinkClick r:id="rId4" action="ppaction://hlinksldjump"/>
              </a:rPr>
              <a:t>许用挤压应力和许用压力</a:t>
            </a:r>
            <a:r>
              <a:rPr lang="en-US" altLang="zh-CN" sz="2000">
                <a:solidFill>
                  <a:srgbClr val="000099"/>
                </a:solidFill>
                <a:latin typeface="Times New Roman" panose="02020603050405020304" pitchFamily="18" charset="0"/>
                <a:hlinkClick r:id="rId4" action="ppaction://hlinksldjump"/>
              </a:rPr>
              <a:t>→</a:t>
            </a:r>
            <a:endParaRPr lang="en-US" altLang="zh-CN" sz="2000">
              <a:solidFill>
                <a:srgbClr val="000099"/>
              </a:solidFill>
              <a:latin typeface="Times New Roman" panose="02020603050405020304" pitchFamily="18" charset="0"/>
            </a:endParaRPr>
          </a:p>
        </p:txBody>
      </p:sp>
      <p:grpSp>
        <p:nvGrpSpPr>
          <p:cNvPr id="2" name="组合 34871"/>
          <p:cNvGrpSpPr/>
          <p:nvPr/>
        </p:nvGrpSpPr>
        <p:grpSpPr bwMode="auto">
          <a:xfrm>
            <a:off x="5276773" y="4953000"/>
            <a:ext cx="3738562" cy="884238"/>
            <a:chOff x="3357" y="3120"/>
            <a:chExt cx="2355" cy="557"/>
          </a:xfrm>
        </p:grpSpPr>
        <p:sp>
          <p:nvSpPr>
            <p:cNvPr id="3095" name="文本框 34835"/>
            <p:cNvSpPr txBox="1">
              <a:spLocks noChangeArrowheads="1"/>
            </p:cNvSpPr>
            <p:nvPr/>
          </p:nvSpPr>
          <p:spPr bwMode="auto">
            <a:xfrm>
              <a:off x="3357" y="3120"/>
              <a:ext cx="916" cy="2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渐开线花键</a:t>
              </a:r>
              <a:endParaRPr lang="zh-CN" altLang="en-US" sz="2000" dirty="0">
                <a:solidFill>
                  <a:srgbClr val="000099"/>
                </a:solidFill>
              </a:endParaRPr>
            </a:p>
          </p:txBody>
        </p:sp>
        <p:sp>
          <p:nvSpPr>
            <p:cNvPr id="3096" name="文本框 34869"/>
            <p:cNvSpPr txBox="1">
              <a:spLocks noChangeArrowheads="1"/>
            </p:cNvSpPr>
            <p:nvPr/>
          </p:nvSpPr>
          <p:spPr bwMode="auto">
            <a:xfrm>
              <a:off x="4310" y="3120"/>
              <a:ext cx="1168" cy="269"/>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i="1" dirty="0">
                  <a:solidFill>
                    <a:srgbClr val="000099"/>
                  </a:solidFill>
                  <a:latin typeface="Symbol" panose="05050102010706020507" pitchFamily="18" charset="2"/>
                </a:rPr>
                <a:t>a</a:t>
              </a:r>
              <a:r>
                <a:rPr lang="en-US" altLang="zh-CN" dirty="0">
                  <a:solidFill>
                    <a:srgbClr val="000099"/>
                  </a:solidFill>
                  <a:latin typeface="Times New Roman" panose="02020603050405020304" pitchFamily="18" charset="0"/>
                </a:rPr>
                <a:t>=30°</a:t>
              </a:r>
              <a:r>
                <a:rPr lang="zh-CN" altLang="en-US" dirty="0">
                  <a:solidFill>
                    <a:srgbClr val="000099"/>
                  </a:solidFill>
                  <a:latin typeface="Times New Roman" panose="02020603050405020304" pitchFamily="18" charset="0"/>
                  <a:ea typeface="宋体" panose="02010600030101010101" pitchFamily="2" charset="-122"/>
                </a:rPr>
                <a:t>，</a:t>
              </a:r>
              <a:r>
                <a:rPr lang="en-US" altLang="zh-CN" i="1" dirty="0">
                  <a:solidFill>
                    <a:srgbClr val="000099"/>
                  </a:solidFill>
                  <a:latin typeface="Times New Roman" panose="02020603050405020304" pitchFamily="18" charset="0"/>
                  <a:ea typeface="宋体" panose="02010600030101010101" pitchFamily="2" charset="-122"/>
                </a:rPr>
                <a:t>h</a:t>
              </a:r>
              <a:r>
                <a:rPr lang="en-US" altLang="zh-CN" dirty="0">
                  <a:solidFill>
                    <a:srgbClr val="000099"/>
                  </a:solidFill>
                  <a:latin typeface="Times New Roman" panose="02020603050405020304" pitchFamily="18" charset="0"/>
                  <a:ea typeface="宋体" panose="02010600030101010101" pitchFamily="2" charset="-122"/>
                </a:rPr>
                <a:t>=</a:t>
              </a:r>
              <a:r>
                <a:rPr lang="en-US" altLang="zh-CN" i="1" dirty="0">
                  <a:solidFill>
                    <a:srgbClr val="000099"/>
                  </a:solidFill>
                  <a:latin typeface="Times New Roman" panose="02020603050405020304" pitchFamily="18" charset="0"/>
                  <a:ea typeface="宋体" panose="02010600030101010101" pitchFamily="2" charset="-122"/>
                </a:rPr>
                <a:t>m</a:t>
              </a:r>
              <a:endParaRPr lang="en-US" altLang="zh-CN" i="1" dirty="0">
                <a:solidFill>
                  <a:srgbClr val="000099"/>
                </a:solidFill>
                <a:latin typeface="Times New Roman" panose="02020603050405020304" pitchFamily="18" charset="0"/>
                <a:ea typeface="宋体" panose="02010600030101010101" pitchFamily="2" charset="-122"/>
              </a:endParaRPr>
            </a:p>
          </p:txBody>
        </p:sp>
        <p:sp>
          <p:nvSpPr>
            <p:cNvPr id="3097" name="文本框 34870"/>
            <p:cNvSpPr txBox="1">
              <a:spLocks noChangeArrowheads="1"/>
            </p:cNvSpPr>
            <p:nvPr/>
          </p:nvSpPr>
          <p:spPr bwMode="auto">
            <a:xfrm>
              <a:off x="4324" y="3408"/>
              <a:ext cx="1388" cy="269"/>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i="1" dirty="0">
                  <a:solidFill>
                    <a:srgbClr val="000099"/>
                  </a:solidFill>
                  <a:latin typeface="Symbol" panose="05050102010706020507" pitchFamily="18" charset="2"/>
                </a:rPr>
                <a:t>a</a:t>
              </a:r>
              <a:r>
                <a:rPr lang="en-US" altLang="zh-CN" dirty="0">
                  <a:solidFill>
                    <a:srgbClr val="000099"/>
                  </a:solidFill>
                  <a:latin typeface="Times New Roman" panose="02020603050405020304" pitchFamily="18" charset="0"/>
                </a:rPr>
                <a:t>=45°</a:t>
              </a:r>
              <a:r>
                <a:rPr lang="zh-CN" altLang="en-US" dirty="0">
                  <a:solidFill>
                    <a:srgbClr val="000099"/>
                  </a:solidFill>
                  <a:latin typeface="Times New Roman" panose="02020603050405020304" pitchFamily="18" charset="0"/>
                  <a:ea typeface="宋体" panose="02010600030101010101" pitchFamily="2" charset="-122"/>
                </a:rPr>
                <a:t>，</a:t>
              </a:r>
              <a:r>
                <a:rPr lang="en-US" altLang="zh-CN" i="1" dirty="0">
                  <a:solidFill>
                    <a:srgbClr val="000099"/>
                  </a:solidFill>
                  <a:latin typeface="Times New Roman" panose="02020603050405020304" pitchFamily="18" charset="0"/>
                  <a:ea typeface="宋体" panose="02010600030101010101" pitchFamily="2" charset="-122"/>
                </a:rPr>
                <a:t>h</a:t>
              </a:r>
              <a:r>
                <a:rPr lang="en-US" altLang="zh-CN" dirty="0">
                  <a:solidFill>
                    <a:srgbClr val="000099"/>
                  </a:solidFill>
                  <a:latin typeface="Times New Roman" panose="02020603050405020304" pitchFamily="18" charset="0"/>
                  <a:ea typeface="宋体" panose="02010600030101010101" pitchFamily="2" charset="-122"/>
                </a:rPr>
                <a:t>=0.8</a:t>
              </a:r>
              <a:r>
                <a:rPr lang="en-US" altLang="zh-CN" i="1" dirty="0">
                  <a:solidFill>
                    <a:srgbClr val="000099"/>
                  </a:solidFill>
                  <a:latin typeface="Times New Roman" panose="02020603050405020304" pitchFamily="18" charset="0"/>
                  <a:ea typeface="宋体" panose="02010600030101010101" pitchFamily="2" charset="-122"/>
                </a:rPr>
                <a:t>m</a:t>
              </a:r>
              <a:endParaRPr lang="en-US" altLang="zh-CN" i="1" dirty="0">
                <a:solidFill>
                  <a:srgbClr val="000099"/>
                </a:solidFill>
                <a:latin typeface="Times New Roman" panose="02020603050405020304" pitchFamily="18" charset="0"/>
                <a:ea typeface="宋体" panose="02010600030101010101" pitchFamily="2" charset="-122"/>
              </a:endParaRPr>
            </a:p>
          </p:txBody>
        </p:sp>
      </p:grpSp>
      <p:grpSp>
        <p:nvGrpSpPr>
          <p:cNvPr id="3" name="组合 5"/>
          <p:cNvGrpSpPr/>
          <p:nvPr/>
        </p:nvGrpSpPr>
        <p:grpSpPr bwMode="auto">
          <a:xfrm>
            <a:off x="473439" y="3916259"/>
            <a:ext cx="3519488" cy="785812"/>
            <a:chOff x="774" y="6036"/>
            <a:chExt cx="5543" cy="1238"/>
          </a:xfrm>
          <a:solidFill>
            <a:srgbClr val="FFFF00"/>
          </a:solidFill>
        </p:grpSpPr>
        <p:sp>
          <p:nvSpPr>
            <p:cNvPr id="3094" name="文本框 34830"/>
            <p:cNvSpPr txBox="1">
              <a:spLocks noChangeArrowheads="1"/>
            </p:cNvSpPr>
            <p:nvPr/>
          </p:nvSpPr>
          <p:spPr bwMode="auto">
            <a:xfrm>
              <a:off x="774" y="6343"/>
              <a:ext cx="1890" cy="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静联接：</a:t>
              </a:r>
              <a:endParaRPr lang="zh-CN" altLang="en-US" sz="2000">
                <a:solidFill>
                  <a:srgbClr val="000099"/>
                </a:solidFill>
              </a:endParaRPr>
            </a:p>
          </p:txBody>
        </p:sp>
        <p:graphicFrame>
          <p:nvGraphicFramePr>
            <p:cNvPr id="3077" name="对象 1">
              <a:hlinkClick r:id="" action="ppaction://ole?verb=1"/>
            </p:cNvPr>
            <p:cNvGraphicFramePr>
              <a:graphicFrameLocks noChangeAspect="1"/>
            </p:cNvGraphicFramePr>
            <p:nvPr/>
          </p:nvGraphicFramePr>
          <p:xfrm>
            <a:off x="2913" y="6036"/>
            <a:ext cx="3404" cy="1238"/>
          </p:xfrm>
          <a:graphic>
            <a:graphicData uri="http://schemas.openxmlformats.org/presentationml/2006/ole">
              <mc:AlternateContent xmlns:mc="http://schemas.openxmlformats.org/markup-compatibility/2006">
                <mc:Choice xmlns:v="urn:schemas-microsoft-com:vml" Requires="v">
                  <p:oleObj spid="_x0000_s3222" name="" r:id="rId5" imgW="1257300" imgH="457200" progId="Equation.KSEE3">
                    <p:embed/>
                  </p:oleObj>
                </mc:Choice>
                <mc:Fallback>
                  <p:oleObj name="" r:id="rId5" imgW="1257300" imgH="457200" progId="Equation.KSEE3">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6036"/>
                          <a:ext cx="3404" cy="1238"/>
                        </a:xfrm>
                        <a:prstGeom prst="rect">
                          <a:avLst/>
                        </a:prstGeom>
                        <a:solidFill>
                          <a:srgbClr val="FFFF00"/>
                        </a:solidFill>
                        <a:ln>
                          <a:noFill/>
                        </a:ln>
                      </p:spPr>
                    </p:pic>
                  </p:oleObj>
                </mc:Fallback>
              </mc:AlternateContent>
            </a:graphicData>
          </a:graphic>
        </p:graphicFrame>
      </p:grpSp>
      <p:grpSp>
        <p:nvGrpSpPr>
          <p:cNvPr id="4" name="组合 7"/>
          <p:cNvGrpSpPr/>
          <p:nvPr/>
        </p:nvGrpSpPr>
        <p:grpSpPr bwMode="auto">
          <a:xfrm>
            <a:off x="443459" y="4856735"/>
            <a:ext cx="3395663" cy="798512"/>
            <a:chOff x="840" y="7282"/>
            <a:chExt cx="5347" cy="1258"/>
          </a:xfrm>
        </p:grpSpPr>
        <p:sp>
          <p:nvSpPr>
            <p:cNvPr id="3093" name="文本框 34831"/>
            <p:cNvSpPr txBox="1">
              <a:spLocks noChangeArrowheads="1"/>
            </p:cNvSpPr>
            <p:nvPr/>
          </p:nvSpPr>
          <p:spPr bwMode="auto">
            <a:xfrm>
              <a:off x="840" y="7598"/>
              <a:ext cx="1890" cy="625"/>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动联接：</a:t>
              </a:r>
              <a:endParaRPr lang="zh-CN" altLang="en-US" sz="2000" dirty="0">
                <a:solidFill>
                  <a:srgbClr val="000099"/>
                </a:solidFill>
              </a:endParaRPr>
            </a:p>
          </p:txBody>
        </p:sp>
        <p:graphicFrame>
          <p:nvGraphicFramePr>
            <p:cNvPr id="3076" name="对象 2">
              <a:hlinkClick r:id="" action="ppaction://ole?verb=1"/>
            </p:cNvPr>
            <p:cNvGraphicFramePr>
              <a:graphicFrameLocks noChangeAspect="1"/>
            </p:cNvGraphicFramePr>
            <p:nvPr/>
          </p:nvGraphicFramePr>
          <p:xfrm>
            <a:off x="3043" y="7282"/>
            <a:ext cx="3144" cy="1258"/>
          </p:xfrm>
          <a:graphic>
            <a:graphicData uri="http://schemas.openxmlformats.org/presentationml/2006/ole">
              <mc:AlternateContent xmlns:mc="http://schemas.openxmlformats.org/markup-compatibility/2006">
                <mc:Choice xmlns:v="urn:schemas-microsoft-com:vml" Requires="v">
                  <p:oleObj spid="_x0000_s3223" name="" r:id="rId7" imgW="1143000" imgH="457200" progId="Equation.KSEE3">
                    <p:embed/>
                  </p:oleObj>
                </mc:Choice>
                <mc:Fallback>
                  <p:oleObj name="" r:id="rId7" imgW="1143000" imgH="457200" progId="Equation.KSEE3">
                    <p:embed/>
                    <p:pic>
                      <p:nvPicPr>
                        <p:cNvPr id="0" name="对象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3" y="7282"/>
                          <a:ext cx="3144" cy="1258"/>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a:ln>
                          <a:noFill/>
                        </a:ln>
                      </p:spPr>
                    </p:pic>
                  </p:oleObj>
                </mc:Fallback>
              </mc:AlternateContent>
            </a:graphicData>
          </a:graphic>
        </p:graphicFrame>
      </p:grpSp>
      <p:graphicFrame>
        <p:nvGraphicFramePr>
          <p:cNvPr id="3074" name="对象 3">
            <a:hlinkClick r:id="" action="ppaction://ole?verb=1"/>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3224" name="" r:id="rId9" imgW="914400" imgH="215900" progId="Equation.KSEE3">
                  <p:embed/>
                </p:oleObj>
              </mc:Choice>
              <mc:Fallback>
                <p:oleObj name="" r:id="rId9" imgW="914400" imgH="215900" progId="Equation.KSEE3">
                  <p:embed/>
                  <p:pic>
                    <p:nvPicPr>
                      <p:cNvPr id="0" name="对象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 name="组合 8"/>
          <p:cNvGrpSpPr/>
          <p:nvPr/>
        </p:nvGrpSpPr>
        <p:grpSpPr bwMode="auto">
          <a:xfrm>
            <a:off x="5520787" y="4161906"/>
            <a:ext cx="3063632" cy="720725"/>
            <a:chOff x="8800" y="6625"/>
            <a:chExt cx="4826" cy="1135"/>
          </a:xfrm>
        </p:grpSpPr>
        <p:sp>
          <p:nvSpPr>
            <p:cNvPr id="3092" name="文本框 34834"/>
            <p:cNvSpPr txBox="1">
              <a:spLocks noChangeArrowheads="1"/>
            </p:cNvSpPr>
            <p:nvPr/>
          </p:nvSpPr>
          <p:spPr bwMode="auto">
            <a:xfrm>
              <a:off x="8800" y="6963"/>
              <a:ext cx="1890" cy="625"/>
            </a:xfrm>
            <a:prstGeom prst="rect">
              <a:avLst/>
            </a:prstGeom>
            <a:noFill/>
            <a:ln w="9525">
              <a:solidFill>
                <a:srgbClr val="00B0F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矩形花键</a:t>
              </a:r>
              <a:endParaRPr lang="zh-CN" altLang="en-US" sz="2000" dirty="0">
                <a:solidFill>
                  <a:srgbClr val="000099"/>
                </a:solidFill>
              </a:endParaRPr>
            </a:p>
          </p:txBody>
        </p:sp>
        <p:graphicFrame>
          <p:nvGraphicFramePr>
            <p:cNvPr id="3075" name="对象 4">
              <a:hlinkClick r:id="" action="ppaction://ole?verb=1"/>
            </p:cNvPr>
            <p:cNvGraphicFramePr>
              <a:graphicFrameLocks noChangeAspect="1"/>
            </p:cNvGraphicFramePr>
            <p:nvPr/>
          </p:nvGraphicFramePr>
          <p:xfrm>
            <a:off x="10844" y="6625"/>
            <a:ext cx="2782" cy="1135"/>
          </p:xfrm>
          <a:graphic>
            <a:graphicData uri="http://schemas.openxmlformats.org/presentationml/2006/ole">
              <mc:AlternateContent xmlns:mc="http://schemas.openxmlformats.org/markup-compatibility/2006">
                <mc:Choice xmlns:v="urn:schemas-microsoft-com:vml" Requires="v">
                  <p:oleObj spid="_x0000_s3225" name="" r:id="rId11" imgW="965200" imgH="393700" progId="Equation.KSEE3">
                    <p:embed/>
                  </p:oleObj>
                </mc:Choice>
                <mc:Fallback>
                  <p:oleObj name="" r:id="rId11" imgW="965200" imgH="393700" progId="Equation.KSEE3">
                    <p:embed/>
                    <p:pic>
                      <p:nvPicPr>
                        <p:cNvPr id="0" name="对象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844" y="6625"/>
                          <a:ext cx="2782" cy="1135"/>
                        </a:xfrm>
                        <a:prstGeom prst="rect">
                          <a:avLst/>
                        </a:prstGeom>
                        <a:noFill/>
                        <a:ln>
                          <a:solidFill>
                            <a:srgbClr val="00B0F0"/>
                          </a:solidFill>
                        </a:ln>
                      </p:spPr>
                    </p:pic>
                  </p:oleObj>
                </mc:Fallback>
              </mc:AlternateContent>
            </a:graphicData>
          </a:graphic>
        </p:graphicFrame>
      </p:grpSp>
      <p:pic>
        <p:nvPicPr>
          <p:cNvPr id="3090" name="Picture 2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357938" y="928688"/>
            <a:ext cx="2316162" cy="265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1"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6" name="组合 8"/>
          <p:cNvGrpSpPr/>
          <p:nvPr/>
        </p:nvGrpSpPr>
        <p:grpSpPr bwMode="auto">
          <a:xfrm>
            <a:off x="2666462" y="5590021"/>
            <a:ext cx="2854777" cy="720725"/>
            <a:chOff x="8800" y="6625"/>
            <a:chExt cx="4497" cy="1135"/>
          </a:xfrm>
        </p:grpSpPr>
        <p:sp>
          <p:nvSpPr>
            <p:cNvPr id="8" name="文本框 34834"/>
            <p:cNvSpPr txBox="1">
              <a:spLocks noChangeArrowheads="1"/>
            </p:cNvSpPr>
            <p:nvPr/>
          </p:nvSpPr>
          <p:spPr bwMode="auto">
            <a:xfrm>
              <a:off x="8800" y="6963"/>
              <a:ext cx="1889" cy="628"/>
            </a:xfrm>
            <a:prstGeom prst="rect">
              <a:avLst/>
            </a:prstGeom>
            <a:noFill/>
            <a:ln w="9525">
              <a:solidFill>
                <a:srgbClr val="00B0F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平均直径</a:t>
              </a:r>
              <a:endParaRPr lang="zh-CN" altLang="en-US" sz="2000" dirty="0">
                <a:solidFill>
                  <a:srgbClr val="000099"/>
                </a:solidFill>
              </a:endParaRPr>
            </a:p>
          </p:txBody>
        </p:sp>
        <p:graphicFrame>
          <p:nvGraphicFramePr>
            <p:cNvPr id="9" name="对象 4">
              <a:hlinkClick r:id="" action="ppaction://ole?verb=1"/>
            </p:cNvPr>
            <p:cNvGraphicFramePr>
              <a:graphicFrameLocks noChangeAspect="1"/>
            </p:cNvGraphicFramePr>
            <p:nvPr/>
          </p:nvGraphicFramePr>
          <p:xfrm>
            <a:off x="11173" y="6625"/>
            <a:ext cx="2124" cy="1135"/>
          </p:xfrm>
          <a:graphic>
            <a:graphicData uri="http://schemas.openxmlformats.org/presentationml/2006/ole">
              <mc:AlternateContent xmlns:mc="http://schemas.openxmlformats.org/markup-compatibility/2006">
                <mc:Choice xmlns:v="urn:schemas-microsoft-com:vml" Requires="v">
                  <p:oleObj spid="_x0000_s10" name="" r:id="rId14" imgW="736600" imgH="393700" progId="Equation.KSEE3">
                    <p:embed/>
                  </p:oleObj>
                </mc:Choice>
                <mc:Fallback>
                  <p:oleObj name="" r:id="rId14" imgW="736600" imgH="393700" progId="Equation.KSEE3">
                    <p:embed/>
                    <p:pic>
                      <p:nvPicPr>
                        <p:cNvPr id="0" name="对象 4"/>
                        <p:cNvPicPr>
                          <a:picLocks noChangeAspect="1" noChangeArrowheads="1"/>
                        </p:cNvPicPr>
                        <p:nvPr/>
                      </p:nvPicPr>
                      <p:blipFill>
                        <a:blip r:embed="rId15"/>
                        <a:srcRect/>
                        <a:stretch>
                          <a:fillRect/>
                        </a:stretch>
                      </p:blipFill>
                      <p:spPr bwMode="auto">
                        <a:xfrm>
                          <a:off x="11173" y="6625"/>
                          <a:ext cx="2124" cy="1135"/>
                        </a:xfrm>
                        <a:prstGeom prst="rect">
                          <a:avLst/>
                        </a:prstGeom>
                        <a:noFill/>
                        <a:ln>
                          <a:solidFill>
                            <a:srgbClr val="00B0F0"/>
                          </a:solidFill>
                        </a:ln>
                      </p:spPr>
                    </p:pic>
                  </p:oleObj>
                </mc:Fallback>
              </mc:AlternateContent>
            </a:graphicData>
          </a:graphic>
        </p:graphicFrame>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49"/>
                                        </p:tgtEl>
                                        <p:attrNameLst>
                                          <p:attrName>style.visibility</p:attrName>
                                        </p:attrNameLst>
                                      </p:cBhvr>
                                      <p:to>
                                        <p:strVal val="visible"/>
                                      </p:to>
                                    </p:set>
                                    <p:animEffect transition="in" filter="wipe(left)">
                                      <p:cBhvr>
                                        <p:cTn id="7" dur="500"/>
                                        <p:tgtEl>
                                          <p:spTgt spid="92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9"/>
                                        </p:tgtEl>
                                        <p:attrNameLst>
                                          <p:attrName>style.visibility</p:attrName>
                                        </p:attrNameLst>
                                      </p:cBhvr>
                                      <p:to>
                                        <p:strVal val="visible"/>
                                      </p:to>
                                    </p:set>
                                    <p:animEffect transition="in" filter="wipe(left)">
                                      <p:cBhvr>
                                        <p:cTn id="12" dur="500"/>
                                        <p:tgtEl>
                                          <p:spTgt spid="348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30"/>
                                        </p:tgtEl>
                                        <p:attrNameLst>
                                          <p:attrName>style.visibility</p:attrName>
                                        </p:attrNameLst>
                                      </p:cBhvr>
                                      <p:to>
                                        <p:strVal val="visible"/>
                                      </p:to>
                                    </p:set>
                                    <p:animEffect transition="in" filter="wipe(left)">
                                      <p:cBhvr>
                                        <p:cTn id="17" dur="500"/>
                                        <p:tgtEl>
                                          <p:spTgt spid="348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844"/>
                                        </p:tgtEl>
                                        <p:attrNameLst>
                                          <p:attrName>style.visibility</p:attrName>
                                        </p:attrNameLst>
                                      </p:cBhvr>
                                      <p:to>
                                        <p:strVal val="visible"/>
                                      </p:to>
                                    </p:set>
                                    <p:animEffect transition="in" filter="wipe(left)">
                                      <p:cBhvr>
                                        <p:cTn id="32" dur="500"/>
                                        <p:tgtEl>
                                          <p:spTgt spid="3484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298"/>
                                        </p:tgtEl>
                                        <p:attrNameLst>
                                          <p:attrName>style.visibility</p:attrName>
                                        </p:attrNameLst>
                                      </p:cBhvr>
                                      <p:to>
                                        <p:strVal val="visible"/>
                                      </p:to>
                                    </p:set>
                                    <p:animEffect transition="in" filter="wipe(left)">
                                      <p:cBhvr>
                                        <p:cTn id="52" dur="500"/>
                                        <p:tgtEl>
                                          <p:spTgt spid="12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9" grpId="0"/>
      <p:bldP spid="34829" grpId="0"/>
      <p:bldP spid="34830" grpId="0"/>
      <p:bldP spid="34844" grpId="0"/>
      <p:bldP spid="1229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rrowheads="1"/>
          </p:cNvSpPr>
          <p:nvPr/>
        </p:nvSpPr>
        <p:spPr bwMode="auto">
          <a:xfrm>
            <a:off x="433465" y="4616632"/>
            <a:ext cx="83058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rPr>
              <a:t>　　由于型面联接要用到非圆形孔，以前其加工困难，限制了型面联接的应用。</a:t>
            </a:r>
            <a:endParaRPr lang="zh-CN" altLang="en-US" sz="2000" dirty="0">
              <a:solidFill>
                <a:srgbClr val="000099"/>
              </a:solidFill>
            </a:endParaRPr>
          </a:p>
          <a:p>
            <a:pPr eaLnBrk="1" hangingPunct="1">
              <a:lnSpc>
                <a:spcPct val="120000"/>
              </a:lnSpc>
            </a:pPr>
            <a:r>
              <a:rPr lang="zh-CN" altLang="en-US" sz="2000" dirty="0">
                <a:solidFill>
                  <a:srgbClr val="000099"/>
                </a:solidFill>
                <a:latin typeface="华文中宋" panose="02010600040101010101" pitchFamily="2" charset="-122"/>
              </a:rPr>
              <a:t>　　</a:t>
            </a:r>
            <a:r>
              <a:rPr lang="zh-CN" altLang="en-US" sz="2000" dirty="0">
                <a:solidFill>
                  <a:srgbClr val="000099"/>
                </a:solidFill>
              </a:rPr>
              <a:t>在家用机械、办公机械等中，采用了大量的压铸、注塑零件。要注塑出各种各样的非圆形孔是毫无困难的，故型面联接的应用获得了发展</a:t>
            </a:r>
            <a:r>
              <a:rPr lang="zh-CN" altLang="en-US" sz="2000" dirty="0" smtClean="0">
                <a:solidFill>
                  <a:srgbClr val="000099"/>
                </a:solidFill>
              </a:rPr>
              <a:t>。</a:t>
            </a:r>
            <a:r>
              <a:rPr lang="zh-CN" altLang="en-US" sz="2000" dirty="0">
                <a:solidFill>
                  <a:srgbClr val="000099"/>
                </a:solidFill>
              </a:rPr>
              <a:t>也</a:t>
            </a:r>
            <a:r>
              <a:rPr lang="zh-CN" altLang="en-US" sz="2000" dirty="0" smtClean="0">
                <a:solidFill>
                  <a:srgbClr val="000099"/>
                </a:solidFill>
              </a:rPr>
              <a:t>有采用的是</a:t>
            </a:r>
            <a:r>
              <a:rPr lang="zh-CN" altLang="en-US" sz="2000" dirty="0">
                <a:solidFill>
                  <a:srgbClr val="000099"/>
                </a:solidFill>
              </a:rPr>
              <a:t>带切口圆形和正</a:t>
            </a:r>
            <a:r>
              <a:rPr lang="zh-CN" altLang="en-US" sz="2000" dirty="0" smtClean="0">
                <a:solidFill>
                  <a:srgbClr val="000099"/>
                </a:solidFill>
              </a:rPr>
              <a:t>六边形、方形型</a:t>
            </a:r>
            <a:r>
              <a:rPr lang="zh-CN" altLang="en-US" sz="2000" dirty="0">
                <a:solidFill>
                  <a:srgbClr val="000099"/>
                </a:solidFill>
              </a:rPr>
              <a:t>面。</a:t>
            </a:r>
            <a:endParaRPr lang="zh-CN" altLang="en-US" sz="2000" dirty="0">
              <a:solidFill>
                <a:srgbClr val="000099"/>
              </a:solidFill>
            </a:endParaRPr>
          </a:p>
        </p:txBody>
      </p:sp>
      <p:sp>
        <p:nvSpPr>
          <p:cNvPr id="12291" name="Text Box 28"/>
          <p:cNvSpPr txBox="1">
            <a:spLocks noChangeArrowheads="1"/>
          </p:cNvSpPr>
          <p:nvPr/>
        </p:nvSpPr>
        <p:spPr bwMode="auto">
          <a:xfrm>
            <a:off x="6538913" y="62341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229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2293"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3" name="Rectangle 2"/>
          <p:cNvSpPr>
            <a:spLocks noGrp="1" noChangeArrowheads="1"/>
          </p:cNvSpPr>
          <p:nvPr>
            <p:ph type="title"/>
          </p:nvPr>
        </p:nvSpPr>
        <p:spPr bwMode="auto">
          <a:xfrm>
            <a:off x="5786438" y="214313"/>
            <a:ext cx="2984500" cy="490537"/>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3.5-3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无键连接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9249" name="Rectangle 33"/>
          <p:cNvSpPr>
            <a:spLocks noChangeArrowheads="1"/>
          </p:cNvSpPr>
          <p:nvPr/>
        </p:nvSpPr>
        <p:spPr bwMode="auto">
          <a:xfrm>
            <a:off x="228600" y="1474788"/>
            <a:ext cx="2028417"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C00000"/>
                </a:solidFill>
                <a:latin typeface="黑体" panose="02010609060101010101" pitchFamily="49" charset="-122"/>
                <a:ea typeface="黑体" panose="02010609060101010101" pitchFamily="49" charset="-122"/>
              </a:rPr>
              <a:t>一、型面连接</a:t>
            </a:r>
            <a:endParaRPr lang="zh-CN" altLang="en-US" sz="2400" dirty="0">
              <a:solidFill>
                <a:srgbClr val="C00000"/>
              </a:solidFill>
              <a:latin typeface="黑体" panose="02010609060101010101" pitchFamily="49" charset="-122"/>
              <a:ea typeface="黑体" panose="02010609060101010101" pitchFamily="49" charset="-122"/>
            </a:endParaRPr>
          </a:p>
        </p:txBody>
      </p:sp>
      <p:pic>
        <p:nvPicPr>
          <p:cNvPr id="12296"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50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7" name="Picture 36"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a:spLocks noChangeArrowheads="1"/>
          </p:cNvSpPr>
          <p:nvPr/>
        </p:nvSpPr>
        <p:spPr bwMode="auto">
          <a:xfrm>
            <a:off x="388495" y="1844311"/>
            <a:ext cx="8458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zh-CN" altLang="en-US" sz="2000" dirty="0">
                <a:solidFill>
                  <a:srgbClr val="000099"/>
                </a:solidFill>
              </a:rPr>
              <a:t>　　型面连接是用非圆截面的轴与相同轮廓的毂孔配合而构成的连接，用以传递运动和转矩，它是无键联接的一种型式。</a:t>
            </a:r>
            <a:endParaRPr lang="zh-CN" altLang="en-US" sz="2000" dirty="0">
              <a:solidFill>
                <a:srgbClr val="000099"/>
              </a:solidFill>
            </a:endParaRPr>
          </a:p>
        </p:txBody>
      </p:sp>
      <p:sp>
        <p:nvSpPr>
          <p:cNvPr id="7" name="Rectangle 33"/>
          <p:cNvSpPr>
            <a:spLocks noChangeArrowheads="1"/>
          </p:cNvSpPr>
          <p:nvPr/>
        </p:nvSpPr>
        <p:spPr bwMode="auto">
          <a:xfrm>
            <a:off x="381000" y="781570"/>
            <a:ext cx="82645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华文中宋" panose="02010600040101010101" pitchFamily="2" charset="-122"/>
              </a:rPr>
              <a:t>　　凡是轴与毂的连接不用键或花键时，统称为无键连接。无键连接主要有</a:t>
            </a:r>
            <a:r>
              <a:rPr lang="zh-CN" altLang="en-US" sz="2000" dirty="0">
                <a:solidFill>
                  <a:srgbClr val="FF0000"/>
                </a:solidFill>
                <a:latin typeface="华文中宋" panose="02010600040101010101" pitchFamily="2" charset="-122"/>
              </a:rPr>
              <a:t>型面连接</a:t>
            </a:r>
            <a:r>
              <a:rPr lang="zh-CN" altLang="en-US" sz="2000" dirty="0">
                <a:solidFill>
                  <a:srgbClr val="000099"/>
                </a:solidFill>
                <a:latin typeface="华文中宋" panose="02010600040101010101" pitchFamily="2" charset="-122"/>
              </a:rPr>
              <a:t>、</a:t>
            </a:r>
            <a:r>
              <a:rPr lang="zh-CN" altLang="en-US" sz="2000" dirty="0">
                <a:solidFill>
                  <a:srgbClr val="FF0000"/>
                </a:solidFill>
                <a:latin typeface="华文中宋" panose="02010600040101010101" pitchFamily="2" charset="-122"/>
              </a:rPr>
              <a:t>胀紧连接、过盈连接</a:t>
            </a:r>
            <a:r>
              <a:rPr lang="zh-CN" altLang="en-US" sz="2000" dirty="0">
                <a:solidFill>
                  <a:srgbClr val="000099"/>
                </a:solidFill>
                <a:latin typeface="华文中宋" panose="02010600040101010101" pitchFamily="2" charset="-122"/>
              </a:rPr>
              <a:t>等。</a:t>
            </a:r>
            <a:endParaRPr lang="zh-CN" altLang="en-US" sz="2000" dirty="0">
              <a:solidFill>
                <a:srgbClr val="000099"/>
              </a:solidFill>
              <a:latin typeface="华文中宋" panose="02010600040101010101" pitchFamily="2" charset="-122"/>
            </a:endParaRPr>
          </a:p>
        </p:txBody>
      </p:sp>
      <p:pic>
        <p:nvPicPr>
          <p:cNvPr id="13324"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3000" y="2714625"/>
            <a:ext cx="6748463" cy="192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1"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49"/>
                                        </p:tgtEl>
                                        <p:attrNameLst>
                                          <p:attrName>style.visibility</p:attrName>
                                        </p:attrNameLst>
                                      </p:cBhvr>
                                      <p:to>
                                        <p:strVal val="visible"/>
                                      </p:to>
                                    </p:set>
                                    <p:animEffect transition="in" filter="wipe(left)">
                                      <p:cBhvr>
                                        <p:cTn id="12" dur="500"/>
                                        <p:tgtEl>
                                          <p:spTgt spid="92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332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249" grpId="0"/>
      <p:bldP spid="2"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8"/>
          <p:cNvSpPr txBox="1">
            <a:spLocks noChangeArrowheads="1"/>
          </p:cNvSpPr>
          <p:nvPr/>
        </p:nvSpPr>
        <p:spPr bwMode="auto">
          <a:xfrm>
            <a:off x="6538913" y="62341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3315"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16"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3" name="Rectangle 2"/>
          <p:cNvSpPr>
            <a:spLocks noGrp="1" noChangeArrowheads="1"/>
          </p:cNvSpPr>
          <p:nvPr>
            <p:ph type="title"/>
          </p:nvPr>
        </p:nvSpPr>
        <p:spPr bwMode="auto">
          <a:xfrm>
            <a:off x="5929313" y="285750"/>
            <a:ext cx="2984500" cy="490538"/>
          </a:xfrm>
          <a:ln>
            <a:miter lim="800000"/>
          </a:ln>
        </p:spPr>
        <p:txBody>
          <a:bodyPr vert="horz" wrap="square" lIns="91440" tIns="45720" rIns="91440" bIns="45720" numCol="1" anchor="t" anchorCtr="0" compatLnSpc="1"/>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3.5-3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无键连接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9249" name="Rectangle 33"/>
          <p:cNvSpPr>
            <a:spLocks noChangeArrowheads="1"/>
          </p:cNvSpPr>
          <p:nvPr/>
        </p:nvSpPr>
        <p:spPr bwMode="auto">
          <a:xfrm>
            <a:off x="285750" y="785813"/>
            <a:ext cx="2028417"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C00000"/>
                </a:solidFill>
                <a:latin typeface="黑体" panose="02010609060101010101" pitchFamily="49" charset="-122"/>
                <a:ea typeface="黑体" panose="02010609060101010101" pitchFamily="49" charset="-122"/>
              </a:rPr>
              <a:t>二、胀紧连接</a:t>
            </a:r>
            <a:endParaRPr lang="zh-CN" altLang="en-US" sz="2400" dirty="0">
              <a:solidFill>
                <a:srgbClr val="C00000"/>
              </a:solidFill>
              <a:latin typeface="黑体" panose="02010609060101010101" pitchFamily="49" charset="-122"/>
              <a:ea typeface="黑体" panose="02010609060101010101" pitchFamily="49" charset="-122"/>
            </a:endParaRPr>
          </a:p>
        </p:txBody>
      </p:sp>
      <p:pic>
        <p:nvPicPr>
          <p:cNvPr id="13319"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50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0"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63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文本框 36867"/>
          <p:cNvSpPr txBox="1">
            <a:spLocks noChangeArrowheads="1"/>
          </p:cNvSpPr>
          <p:nvPr/>
        </p:nvSpPr>
        <p:spPr bwMode="auto">
          <a:xfrm>
            <a:off x="500063" y="4357688"/>
            <a:ext cx="2800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胀套</a:t>
            </a:r>
            <a:r>
              <a:rPr lang="zh-CN" altLang="en-US" sz="2000">
                <a:solidFill>
                  <a:srgbClr val="000099"/>
                </a:solidFill>
                <a:latin typeface="Times New Roman" panose="02020603050405020304" pitchFamily="18" charset="0"/>
              </a:rPr>
              <a:t>的尺寸选择：</a:t>
            </a:r>
            <a:endParaRPr lang="zh-CN" altLang="en-US" sz="2000">
              <a:solidFill>
                <a:srgbClr val="000099"/>
              </a:solidFill>
              <a:latin typeface="Times New Roman" panose="02020603050405020304" pitchFamily="18" charset="0"/>
            </a:endParaRPr>
          </a:p>
        </p:txBody>
      </p:sp>
      <p:sp>
        <p:nvSpPr>
          <p:cNvPr id="36878" name="文本框 36877"/>
          <p:cNvSpPr txBox="1">
            <a:spLocks noChangeArrowheads="1"/>
          </p:cNvSpPr>
          <p:nvPr/>
        </p:nvSpPr>
        <p:spPr bwMode="auto">
          <a:xfrm>
            <a:off x="214630" y="1249680"/>
            <a:ext cx="876998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a:solidFill>
                  <a:srgbClr val="000099"/>
                </a:solidFill>
              </a:rPr>
              <a:t>      </a:t>
            </a:r>
            <a:r>
              <a:rPr lang="zh-CN" altLang="en-US" sz="2000">
                <a:solidFill>
                  <a:srgbClr val="000099"/>
                </a:solidFill>
              </a:rPr>
              <a:t>胀紧连接是在毂孔与轴之间装入一对或数对内、外锥面贴合的胀紧连接套（简称胀套），在轴向力作用下，同时胀紧轴与毂而构成的一种静联接。</a:t>
            </a:r>
            <a:endParaRPr lang="zh-CN" altLang="en-US" sz="2000">
              <a:solidFill>
                <a:srgbClr val="000099"/>
              </a:solidFill>
            </a:endParaRPr>
          </a:p>
        </p:txBody>
      </p:sp>
      <p:sp>
        <p:nvSpPr>
          <p:cNvPr id="36882" name="文本框 36881"/>
          <p:cNvSpPr txBox="1">
            <a:spLocks noChangeArrowheads="1"/>
          </p:cNvSpPr>
          <p:nvPr/>
        </p:nvSpPr>
        <p:spPr bwMode="auto">
          <a:xfrm>
            <a:off x="500063" y="4786313"/>
            <a:ext cx="82819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rPr>
              <a:t>      </a:t>
            </a:r>
            <a:r>
              <a:rPr lang="zh-CN" altLang="en-US" sz="2000" dirty="0">
                <a:solidFill>
                  <a:srgbClr val="000099"/>
                </a:solidFill>
              </a:rPr>
              <a:t>各型胀套已标准化，选用时可根据轴、毂尺寸及传递载荷大小，从标准中选择合适的型号和尺寸。</a:t>
            </a:r>
            <a:endParaRPr lang="zh-CN" altLang="en-US" sz="2000" dirty="0">
              <a:solidFill>
                <a:srgbClr val="000099"/>
              </a:solidFill>
            </a:endParaRPr>
          </a:p>
        </p:txBody>
      </p:sp>
      <p:sp>
        <p:nvSpPr>
          <p:cNvPr id="36883" name="文本框 36882"/>
          <p:cNvSpPr txBox="1">
            <a:spLocks noChangeArrowheads="1"/>
          </p:cNvSpPr>
          <p:nvPr/>
        </p:nvSpPr>
        <p:spPr bwMode="auto">
          <a:xfrm>
            <a:off x="500063" y="5616258"/>
            <a:ext cx="8358187"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　　胀紧连接的定心性好，装拆方便，引起的应力集中较小，承载能力高，并且有密封作用。</a:t>
            </a:r>
            <a:endParaRPr lang="zh-CN" altLang="en-US" sz="2000">
              <a:solidFill>
                <a:srgbClr val="000099"/>
              </a:solidFill>
            </a:endParaRPr>
          </a:p>
        </p:txBody>
      </p:sp>
      <p:pic>
        <p:nvPicPr>
          <p:cNvPr id="15374"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4313" y="2159953"/>
            <a:ext cx="8570912"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7"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49"/>
                                        </p:tgtEl>
                                        <p:attrNameLst>
                                          <p:attrName>style.visibility</p:attrName>
                                        </p:attrNameLst>
                                      </p:cBhvr>
                                      <p:to>
                                        <p:strVal val="visible"/>
                                      </p:to>
                                    </p:set>
                                    <p:animEffect transition="in" filter="wipe(left)">
                                      <p:cBhvr>
                                        <p:cTn id="7" dur="500"/>
                                        <p:tgtEl>
                                          <p:spTgt spid="92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78"/>
                                        </p:tgtEl>
                                        <p:attrNameLst>
                                          <p:attrName>style.visibility</p:attrName>
                                        </p:attrNameLst>
                                      </p:cBhvr>
                                      <p:to>
                                        <p:strVal val="visible"/>
                                      </p:to>
                                    </p:set>
                                    <p:animEffect transition="in" filter="wipe(left)">
                                      <p:cBhvr>
                                        <p:cTn id="12" dur="500"/>
                                        <p:tgtEl>
                                          <p:spTgt spid="36878"/>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1537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6868"/>
                                        </p:tgtEl>
                                        <p:attrNameLst>
                                          <p:attrName>style.visibility</p:attrName>
                                        </p:attrNameLst>
                                      </p:cBhvr>
                                      <p:to>
                                        <p:strVal val="visible"/>
                                      </p:to>
                                    </p:set>
                                    <p:animEffect transition="in" filter="wipe(left)">
                                      <p:cBhvr>
                                        <p:cTn id="20" dur="500"/>
                                        <p:tgtEl>
                                          <p:spTgt spid="36868"/>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36882"/>
                                        </p:tgtEl>
                                        <p:attrNameLst>
                                          <p:attrName>style.visibility</p:attrName>
                                        </p:attrNameLst>
                                      </p:cBhvr>
                                      <p:to>
                                        <p:strVal val="visible"/>
                                      </p:to>
                                    </p:set>
                                    <p:animEffect transition="in" filter="wipe(left)">
                                      <p:cBhvr>
                                        <p:cTn id="24" dur="500"/>
                                        <p:tgtEl>
                                          <p:spTgt spid="3688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6883"/>
                                        </p:tgtEl>
                                        <p:attrNameLst>
                                          <p:attrName>style.visibility</p:attrName>
                                        </p:attrNameLst>
                                      </p:cBhvr>
                                      <p:to>
                                        <p:strVal val="visible"/>
                                      </p:to>
                                    </p:set>
                                    <p:animEffect transition="in" filter="wipe(left)">
                                      <p:cBhvr>
                                        <p:cTn id="29" dur="500"/>
                                        <p:tgtEl>
                                          <p:spTgt spid="36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9" grpId="0"/>
      <p:bldP spid="36868" grpId="0"/>
      <p:bldP spid="36878" grpId="0"/>
      <p:bldP spid="36882" grpId="0"/>
      <p:bldP spid="3688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bwMode="auto">
          <a:xfrm>
            <a:off x="5181600" y="762000"/>
            <a:ext cx="2133600" cy="1524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eaLnBrk="1" hangingPunct="1"/>
            <a:r>
              <a:rPr lang="zh-CN" altLang="en-US" sz="900" smtClean="0">
                <a:solidFill>
                  <a:schemeClr val="bg1"/>
                </a:solidFill>
                <a:ea typeface="华文中宋" panose="02010600040101010101" pitchFamily="2" charset="-122"/>
              </a:rPr>
              <a:t>过盈连接</a:t>
            </a:r>
            <a:r>
              <a:rPr lang="en-US" altLang="zh-CN" sz="900" smtClean="0">
                <a:solidFill>
                  <a:schemeClr val="bg1"/>
                </a:solidFill>
                <a:ea typeface="华文中宋" panose="02010600040101010101" pitchFamily="2" charset="-122"/>
              </a:rPr>
              <a:t>1</a:t>
            </a:r>
            <a:endParaRPr lang="en-US" altLang="zh-CN" sz="900" smtClean="0">
              <a:solidFill>
                <a:schemeClr val="bg1"/>
              </a:solidFill>
              <a:ea typeface="华文中宋" panose="02010600040101010101" pitchFamily="2" charset="-122"/>
            </a:endParaRPr>
          </a:p>
        </p:txBody>
      </p:sp>
      <p:sp>
        <p:nvSpPr>
          <p:cNvPr id="13315" name="Rectangle 5"/>
          <p:cNvSpPr>
            <a:spLocks noGrp="1" noChangeArrowheads="1"/>
          </p:cNvSpPr>
          <p:nvPr/>
        </p:nvSpPr>
        <p:spPr bwMode="auto">
          <a:xfrm>
            <a:off x="6804248" y="188640"/>
            <a:ext cx="2057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kumimoji="0" lang="zh-CN" altLang="en-US" sz="3000" dirty="0">
              <a:solidFill>
                <a:srgbClr val="CC3300"/>
              </a:solidFill>
              <a:latin typeface="黑体" panose="02010609060101010101" pitchFamily="49" charset="-122"/>
              <a:ea typeface="黑体" panose="02010609060101010101" pitchFamily="49" charset="-122"/>
            </a:endParaRPr>
          </a:p>
        </p:txBody>
      </p:sp>
      <p:sp>
        <p:nvSpPr>
          <p:cNvPr id="13316" name="Rectangle 7"/>
          <p:cNvSpPr>
            <a:spLocks noChangeArrowheads="1"/>
          </p:cNvSpPr>
          <p:nvPr/>
        </p:nvSpPr>
        <p:spPr bwMode="auto">
          <a:xfrm>
            <a:off x="472753" y="1886873"/>
            <a:ext cx="39624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en-US" altLang="zh-CN" sz="2200" dirty="0">
                <a:solidFill>
                  <a:srgbClr val="C00000"/>
                </a:solidFill>
                <a:latin typeface="黑体" panose="02010609060101010101" pitchFamily="49" charset="-122"/>
                <a:ea typeface="黑体" panose="02010609060101010101" pitchFamily="49" charset="-122"/>
              </a:rPr>
              <a:t>1</a:t>
            </a:r>
            <a:r>
              <a:rPr lang="zh-CN" altLang="en-US" sz="2200" dirty="0">
                <a:solidFill>
                  <a:srgbClr val="C00000"/>
                </a:solidFill>
                <a:latin typeface="黑体" panose="02010609060101010101" pitchFamily="49" charset="-122"/>
                <a:ea typeface="黑体" panose="02010609060101010101" pitchFamily="49" charset="-122"/>
              </a:rPr>
              <a:t>、过盈连接的特点及应用</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56328" name="Rectangle 8"/>
          <p:cNvSpPr>
            <a:spLocks noChangeArrowheads="1"/>
          </p:cNvSpPr>
          <p:nvPr/>
        </p:nvSpPr>
        <p:spPr bwMode="auto">
          <a:xfrm>
            <a:off x="433383" y="2484780"/>
            <a:ext cx="8305800"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dirty="0"/>
              <a:t>　</a:t>
            </a:r>
            <a:r>
              <a:rPr lang="zh-CN" altLang="en-US" sz="2200" dirty="0" smtClean="0"/>
              <a:t>过盈</a:t>
            </a:r>
            <a:r>
              <a:rPr lang="zh-CN" altLang="en-US" sz="2200" dirty="0"/>
              <a:t>连接是利用被联件间的过盈配合直接把被连接件连接在一起。　</a:t>
            </a:r>
            <a:endParaRPr lang="zh-CN" altLang="en-US" sz="2200" dirty="0"/>
          </a:p>
        </p:txBody>
      </p:sp>
      <p:sp>
        <p:nvSpPr>
          <p:cNvPr id="56329" name="Text Box 9"/>
          <p:cNvSpPr txBox="1">
            <a:spLocks noChangeArrowheads="1"/>
          </p:cNvSpPr>
          <p:nvPr/>
        </p:nvSpPr>
        <p:spPr bwMode="auto">
          <a:xfrm>
            <a:off x="495231" y="3212862"/>
            <a:ext cx="8305800" cy="87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en-US" altLang="zh-CN" dirty="0"/>
              <a:t>        </a:t>
            </a:r>
            <a:r>
              <a:rPr lang="zh-CN" altLang="en-US" sz="2200" dirty="0">
                <a:solidFill>
                  <a:srgbClr val="FF0000"/>
                </a:solidFill>
              </a:rPr>
              <a:t>过盈连接的优点</a:t>
            </a:r>
            <a:r>
              <a:rPr lang="zh-CN" altLang="en-US" sz="2200" dirty="0"/>
              <a:t>：构造简单、定心性好、承载能力高，在振动下能可靠地工作。</a:t>
            </a:r>
            <a:endParaRPr lang="zh-CN" altLang="en-US" sz="2200" dirty="0"/>
          </a:p>
        </p:txBody>
      </p:sp>
      <p:sp>
        <p:nvSpPr>
          <p:cNvPr id="56330" name="Text Box 10"/>
          <p:cNvSpPr txBox="1">
            <a:spLocks noChangeArrowheads="1"/>
          </p:cNvSpPr>
          <p:nvPr/>
        </p:nvSpPr>
        <p:spPr bwMode="auto">
          <a:xfrm>
            <a:off x="482913" y="4349621"/>
            <a:ext cx="8077200" cy="463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en-US" altLang="zh-CN" dirty="0">
                <a:solidFill>
                  <a:srgbClr val="FF0000"/>
                </a:solidFill>
              </a:rPr>
              <a:t>         </a:t>
            </a:r>
            <a:r>
              <a:rPr lang="zh-CN" altLang="en-US" sz="2200" dirty="0">
                <a:solidFill>
                  <a:srgbClr val="FF0000"/>
                </a:solidFill>
              </a:rPr>
              <a:t>主要缺点</a:t>
            </a:r>
            <a:r>
              <a:rPr lang="zh-CN" altLang="en-US" sz="2200" dirty="0"/>
              <a:t>：装配困难和对配合尺寸的精度要求较高。</a:t>
            </a:r>
            <a:endParaRPr lang="zh-CN" altLang="en-US" sz="2200" dirty="0"/>
          </a:p>
        </p:txBody>
      </p:sp>
      <p:sp>
        <p:nvSpPr>
          <p:cNvPr id="56331" name="Text Box 11"/>
          <p:cNvSpPr txBox="1">
            <a:spLocks noChangeArrowheads="1"/>
          </p:cNvSpPr>
          <p:nvPr/>
        </p:nvSpPr>
        <p:spPr bwMode="auto">
          <a:xfrm>
            <a:off x="405696" y="5029438"/>
            <a:ext cx="8458200" cy="87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en-US" altLang="zh-CN" dirty="0"/>
              <a:t>         </a:t>
            </a:r>
            <a:r>
              <a:rPr lang="zh-CN" altLang="en-US" sz="2200" dirty="0"/>
              <a:t>过盈连接主要用于轴与毂、轮圈与轮芯、</a:t>
            </a:r>
            <a:r>
              <a:rPr lang="zh-CN" altLang="en-US" sz="2200" dirty="0"/>
              <a:t>滚动轴承与轴或座孔的</a:t>
            </a:r>
            <a:r>
              <a:rPr lang="zh-CN" altLang="en-US" sz="2200" dirty="0"/>
              <a:t>装配连接。</a:t>
            </a:r>
            <a:endParaRPr lang="zh-CN" altLang="en-US" sz="2200" dirty="0"/>
          </a:p>
        </p:txBody>
      </p:sp>
      <p:pic>
        <p:nvPicPr>
          <p:cNvPr id="56338" name="Picture 18"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23263" y="647700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0" name="Picture 20"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5375" y="647700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41" name="Text Box 21"/>
          <p:cNvSpPr txBox="1">
            <a:spLocks noChangeArrowheads="1"/>
          </p:cNvSpPr>
          <p:nvPr/>
        </p:nvSpPr>
        <p:spPr bwMode="auto">
          <a:xfrm>
            <a:off x="5927725" y="6157913"/>
            <a:ext cx="271463"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a:solidFill>
                  <a:schemeClr val="tx1"/>
                </a:solidFill>
                <a:latin typeface="Tahoma" panose="020B0604030504040204" pitchFamily="34" charset="0"/>
              </a:rPr>
              <a:t> </a:t>
            </a:r>
            <a:endParaRPr lang="en-US" altLang="zh-CN" sz="2200">
              <a:solidFill>
                <a:schemeClr val="tx1"/>
              </a:solidFill>
              <a:latin typeface="Tahoma" panose="020B0604030504040204" pitchFamily="34" charset="0"/>
            </a:endParaRPr>
          </a:p>
        </p:txBody>
      </p:sp>
      <p:cxnSp>
        <p:nvCxnSpPr>
          <p:cNvPr id="15" name="直接连接符 14"/>
          <p:cNvCxnSpPr/>
          <p:nvPr/>
        </p:nvCxnSpPr>
        <p:spPr bwMode="auto">
          <a:xfrm>
            <a:off x="0" y="764704"/>
            <a:ext cx="9144000" cy="0"/>
          </a:xfrm>
          <a:prstGeom prst="line">
            <a:avLst/>
          </a:prstGeom>
          <a:solidFill>
            <a:schemeClr val="accent1"/>
          </a:solidFill>
          <a:ln w="38100" cap="flat" cmpd="thickThin" algn="ctr">
            <a:solidFill>
              <a:srgbClr val="A5002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Rectangle 2"/>
          <p:cNvSpPr>
            <a:spLocks noGrp="1" noChangeArrowheads="1"/>
          </p:cNvSpPr>
          <p:nvPr/>
        </p:nvSpPr>
        <p:spPr bwMode="auto">
          <a:xfrm>
            <a:off x="5929313" y="285750"/>
            <a:ext cx="2984500" cy="490538"/>
          </a:xfrm>
          <a:prstGeom prst="rect">
            <a:avLst/>
          </a:prstGeom>
          <a:ln>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3.5-3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无键连接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9249" name="Rectangle 33"/>
          <p:cNvSpPr>
            <a:spLocks noChangeArrowheads="1"/>
          </p:cNvSpPr>
          <p:nvPr/>
        </p:nvSpPr>
        <p:spPr bwMode="auto">
          <a:xfrm>
            <a:off x="307975" y="1126173"/>
            <a:ext cx="200787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C00000"/>
                </a:solidFill>
                <a:latin typeface="黑体" panose="02010609060101010101" pitchFamily="49" charset="-122"/>
                <a:ea typeface="黑体" panose="02010609060101010101" pitchFamily="49" charset="-122"/>
              </a:rPr>
              <a:t>三、过盈连接</a:t>
            </a:r>
            <a:endParaRPr lang="zh-CN" altLang="en-US" sz="2400" dirty="0">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49"/>
                                        </p:tgtEl>
                                        <p:attrNameLst>
                                          <p:attrName>style.visibility</p:attrName>
                                        </p:attrNameLst>
                                      </p:cBhvr>
                                      <p:to>
                                        <p:strVal val="visible"/>
                                      </p:to>
                                    </p:set>
                                    <p:animEffect transition="in" filter="wipe(left)">
                                      <p:cBhvr>
                                        <p:cTn id="7" dur="500"/>
                                        <p:tgtEl>
                                          <p:spTgt spid="92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6"/>
                                        </p:tgtEl>
                                        <p:attrNameLst>
                                          <p:attrName>style.visibility</p:attrName>
                                        </p:attrNameLst>
                                      </p:cBhvr>
                                      <p:to>
                                        <p:strVal val="visible"/>
                                      </p:to>
                                    </p:set>
                                    <p:animEffect transition="in" filter="wipe(left)">
                                      <p:cBhvr>
                                        <p:cTn id="12" dur="500"/>
                                        <p:tgtEl>
                                          <p:spTgt spid="133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6328"/>
                                        </p:tgtEl>
                                        <p:attrNameLst>
                                          <p:attrName>style.visibility</p:attrName>
                                        </p:attrNameLst>
                                      </p:cBhvr>
                                      <p:to>
                                        <p:strVal val="visible"/>
                                      </p:to>
                                    </p:set>
                                    <p:animEffect transition="in" filter="slide(fromBottom)">
                                      <p:cBhvr>
                                        <p:cTn id="17" dur="500"/>
                                        <p:tgtEl>
                                          <p:spTgt spid="5632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6329"/>
                                        </p:tgtEl>
                                        <p:attrNameLst>
                                          <p:attrName>style.visibility</p:attrName>
                                        </p:attrNameLst>
                                      </p:cBhvr>
                                      <p:to>
                                        <p:strVal val="visible"/>
                                      </p:to>
                                    </p:set>
                                    <p:animEffect transition="in" filter="slide(fromBottom)">
                                      <p:cBhvr>
                                        <p:cTn id="22" dur="500"/>
                                        <p:tgtEl>
                                          <p:spTgt spid="56329"/>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56330"/>
                                        </p:tgtEl>
                                        <p:attrNameLst>
                                          <p:attrName>style.visibility</p:attrName>
                                        </p:attrNameLst>
                                      </p:cBhvr>
                                      <p:to>
                                        <p:strVal val="visible"/>
                                      </p:to>
                                    </p:set>
                                    <p:animEffect transition="in" filter="slide(fromBottom)">
                                      <p:cBhvr>
                                        <p:cTn id="27" dur="500"/>
                                        <p:tgtEl>
                                          <p:spTgt spid="563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56331"/>
                                        </p:tgtEl>
                                        <p:attrNameLst>
                                          <p:attrName>style.visibility</p:attrName>
                                        </p:attrNameLst>
                                      </p:cBhvr>
                                      <p:to>
                                        <p:strVal val="visible"/>
                                      </p:to>
                                    </p:set>
                                    <p:animEffect transition="in" filter="slide(fromBottom)">
                                      <p:cBhvr>
                                        <p:cTn id="32" dur="500"/>
                                        <p:tgtEl>
                                          <p:spTgt spid="56331"/>
                                        </p:tgtEl>
                                      </p:cBhvr>
                                    </p:animEffect>
                                  </p:childTnLst>
                                </p:cTn>
                              </p:par>
                            </p:childTnLst>
                          </p:cTn>
                        </p:par>
                        <p:par>
                          <p:cTn id="33" fill="hold">
                            <p:stCondLst>
                              <p:cond delay="500"/>
                            </p:stCondLst>
                            <p:childTnLst>
                              <p:par>
                                <p:cTn id="34" presetID="1" presetClass="entr" presetSubtype="0" fill="hold" nodeType="afterEffect">
                                  <p:stCondLst>
                                    <p:cond delay="0"/>
                                  </p:stCondLst>
                                  <p:childTnLst>
                                    <p:set>
                                      <p:cBhvr>
                                        <p:cTn id="35" dur="1" fill="hold">
                                          <p:stCondLst>
                                            <p:cond delay="499"/>
                                          </p:stCondLst>
                                        </p:cTn>
                                        <p:tgtEl>
                                          <p:spTgt spid="56340"/>
                                        </p:tgtEl>
                                        <p:attrNameLst>
                                          <p:attrName>style.visibility</p:attrName>
                                        </p:attrNameLst>
                                      </p:cBhvr>
                                      <p:to>
                                        <p:strVal val="visible"/>
                                      </p:to>
                                    </p:set>
                                  </p:childTnLst>
                                </p:cTn>
                              </p:par>
                            </p:childTnLst>
                          </p:cTn>
                        </p:par>
                        <p:par>
                          <p:cTn id="36" fill="hold">
                            <p:stCondLst>
                              <p:cond delay="1000"/>
                            </p:stCondLst>
                            <p:childTnLst>
                              <p:par>
                                <p:cTn id="37" presetID="2" presetClass="entr" presetSubtype="8" fill="hold" nodeType="afterEffect">
                                  <p:stCondLst>
                                    <p:cond delay="0"/>
                                  </p:stCondLst>
                                  <p:childTnLst>
                                    <p:set>
                                      <p:cBhvr>
                                        <p:cTn id="38" dur="1" fill="hold">
                                          <p:stCondLst>
                                            <p:cond delay="0"/>
                                          </p:stCondLst>
                                        </p:cTn>
                                        <p:tgtEl>
                                          <p:spTgt spid="56338"/>
                                        </p:tgtEl>
                                        <p:attrNameLst>
                                          <p:attrName>style.visibility</p:attrName>
                                        </p:attrNameLst>
                                      </p:cBhvr>
                                      <p:to>
                                        <p:strVal val="visible"/>
                                      </p:to>
                                    </p:set>
                                    <p:anim calcmode="lin" valueType="num">
                                      <p:cBhvr additive="base">
                                        <p:cTn id="39" dur="500" fill="hold"/>
                                        <p:tgtEl>
                                          <p:spTgt spid="56338"/>
                                        </p:tgtEl>
                                        <p:attrNameLst>
                                          <p:attrName>ppt_x</p:attrName>
                                        </p:attrNameLst>
                                      </p:cBhvr>
                                      <p:tavLst>
                                        <p:tav tm="0">
                                          <p:val>
                                            <p:strVal val="0-#ppt_w/2"/>
                                          </p:val>
                                        </p:tav>
                                        <p:tav tm="100000">
                                          <p:val>
                                            <p:strVal val="#ppt_x"/>
                                          </p:val>
                                        </p:tav>
                                      </p:tavLst>
                                    </p:anim>
                                    <p:anim calcmode="lin" valueType="num">
                                      <p:cBhvr additive="base">
                                        <p:cTn id="40" dur="500" fill="hold"/>
                                        <p:tgtEl>
                                          <p:spTgt spid="56338"/>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56341"/>
                                        </p:tgtEl>
                                        <p:attrNameLst>
                                          <p:attrName>style.visibility</p:attrName>
                                        </p:attrNameLst>
                                      </p:cBhvr>
                                      <p:to>
                                        <p:strVal val="visible"/>
                                      </p:to>
                                    </p:set>
                                    <p:anim calcmode="lin" valueType="num">
                                      <p:cBhvr additive="base">
                                        <p:cTn id="45" dur="500" fill="hold"/>
                                        <p:tgtEl>
                                          <p:spTgt spid="56341"/>
                                        </p:tgtEl>
                                        <p:attrNameLst>
                                          <p:attrName>ppt_x</p:attrName>
                                        </p:attrNameLst>
                                      </p:cBhvr>
                                      <p:tavLst>
                                        <p:tav tm="0">
                                          <p:val>
                                            <p:strVal val="0-#ppt_w/2"/>
                                          </p:val>
                                        </p:tav>
                                        <p:tav tm="100000">
                                          <p:val>
                                            <p:strVal val="#ppt_x"/>
                                          </p:val>
                                        </p:tav>
                                      </p:tavLst>
                                    </p:anim>
                                    <p:anim calcmode="lin" valueType="num">
                                      <p:cBhvr additive="base">
                                        <p:cTn id="46" dur="500" fill="hold"/>
                                        <p:tgtEl>
                                          <p:spTgt spid="563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8" grpId="0" bldLvl="0" animBg="1" autoUpdateAnimBg="0"/>
      <p:bldP spid="56329" grpId="0" bldLvl="0" animBg="1" autoUpdateAnimBg="0"/>
      <p:bldP spid="56330" grpId="0" bldLvl="0" animBg="1" autoUpdateAnimBg="0"/>
      <p:bldP spid="56331" grpId="0" bldLvl="0" animBg="1" autoUpdateAnimBg="0"/>
      <p:bldP spid="56341" grpId="0" bldLvl="0" animBg="1" autoUpdateAnimBg="0"/>
      <p:bldP spid="9249" grpId="0"/>
      <p:bldP spid="133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bwMode="auto">
          <a:xfrm>
            <a:off x="5181600" y="762000"/>
            <a:ext cx="2133600" cy="1524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eaLnBrk="1" hangingPunct="1"/>
            <a:r>
              <a:rPr lang="zh-CN" altLang="en-US" sz="900" smtClean="0">
                <a:solidFill>
                  <a:schemeClr val="bg1"/>
                </a:solidFill>
                <a:ea typeface="华文中宋" panose="02010600040101010101" pitchFamily="2" charset="-122"/>
              </a:rPr>
              <a:t>过盈连接</a:t>
            </a:r>
            <a:r>
              <a:rPr lang="en-US" altLang="zh-CN" sz="900" smtClean="0">
                <a:solidFill>
                  <a:schemeClr val="bg1"/>
                </a:solidFill>
                <a:ea typeface="华文中宋" panose="02010600040101010101" pitchFamily="2" charset="-122"/>
              </a:rPr>
              <a:t>1</a:t>
            </a:r>
            <a:endParaRPr lang="en-US" altLang="zh-CN" sz="900" smtClean="0">
              <a:solidFill>
                <a:schemeClr val="bg1"/>
              </a:solidFill>
              <a:ea typeface="华文中宋" panose="02010600040101010101" pitchFamily="2" charset="-122"/>
            </a:endParaRPr>
          </a:p>
        </p:txBody>
      </p:sp>
      <p:sp>
        <p:nvSpPr>
          <p:cNvPr id="13315" name="Rectangle 5"/>
          <p:cNvSpPr>
            <a:spLocks noGrp="1" noChangeArrowheads="1"/>
          </p:cNvSpPr>
          <p:nvPr/>
        </p:nvSpPr>
        <p:spPr bwMode="auto">
          <a:xfrm>
            <a:off x="6588224" y="116632"/>
            <a:ext cx="2057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kumimoji="0" lang="zh-CN" altLang="en-US" sz="3000" dirty="0">
              <a:solidFill>
                <a:srgbClr val="CC3300"/>
              </a:solidFill>
              <a:latin typeface="黑体" panose="02010609060101010101" pitchFamily="49" charset="-122"/>
              <a:ea typeface="黑体" panose="02010609060101010101" pitchFamily="49" charset="-122"/>
            </a:endParaRPr>
          </a:p>
        </p:txBody>
      </p:sp>
      <p:sp>
        <p:nvSpPr>
          <p:cNvPr id="56332" name="Rectangle 12"/>
          <p:cNvSpPr>
            <a:spLocks noChangeArrowheads="1"/>
          </p:cNvSpPr>
          <p:nvPr/>
        </p:nvSpPr>
        <p:spPr bwMode="auto">
          <a:xfrm>
            <a:off x="362640" y="1062003"/>
            <a:ext cx="487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en-US" altLang="zh-CN" sz="2200" dirty="0">
                <a:solidFill>
                  <a:srgbClr val="C00000"/>
                </a:solidFill>
                <a:latin typeface="黑体" panose="02010609060101010101" pitchFamily="49" charset="-122"/>
                <a:ea typeface="黑体" panose="02010609060101010101" pitchFamily="49" charset="-122"/>
              </a:rPr>
              <a:t>2</a:t>
            </a:r>
            <a:r>
              <a:rPr lang="zh-CN" altLang="en-US" sz="2200" dirty="0">
                <a:solidFill>
                  <a:srgbClr val="C00000"/>
                </a:solidFill>
                <a:latin typeface="黑体" panose="02010609060101010101" pitchFamily="49" charset="-122"/>
                <a:ea typeface="黑体" panose="02010609060101010101" pitchFamily="49" charset="-122"/>
              </a:rPr>
              <a:t>、过盈连接的工作原理及装配方法</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56333" name="Rectangle 13"/>
          <p:cNvSpPr>
            <a:spLocks noChangeArrowheads="1"/>
          </p:cNvSpPr>
          <p:nvPr/>
        </p:nvSpPr>
        <p:spPr bwMode="auto">
          <a:xfrm>
            <a:off x="100330" y="2960370"/>
            <a:ext cx="8496935" cy="2553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pPr>
            <a:r>
              <a:rPr lang="zh-CN" altLang="en-US" dirty="0">
                <a:latin typeface="华文中宋" panose="02010600040101010101" pitchFamily="2" charset="-122"/>
              </a:rPr>
              <a:t>　</a:t>
            </a:r>
            <a:r>
              <a:rPr lang="zh-CN" altLang="en-US" sz="2200" dirty="0"/>
              <a:t>　</a:t>
            </a:r>
            <a:r>
              <a:rPr lang="zh-CN" altLang="en-US" sz="2200" dirty="0">
                <a:solidFill>
                  <a:srgbClr val="002060"/>
                </a:solidFill>
              </a:rPr>
              <a:t>当配合面为圆柱面时，可采用</a:t>
            </a:r>
            <a:r>
              <a:rPr lang="zh-CN" altLang="en-US" sz="2200" dirty="0">
                <a:solidFill>
                  <a:srgbClr val="FF0000"/>
                </a:solidFill>
              </a:rPr>
              <a:t>压入法</a:t>
            </a:r>
            <a:r>
              <a:rPr lang="zh-CN" altLang="en-US" sz="2200" dirty="0">
                <a:solidFill>
                  <a:srgbClr val="002060"/>
                </a:solidFill>
              </a:rPr>
              <a:t>或</a:t>
            </a:r>
            <a:r>
              <a:rPr lang="zh-CN" altLang="en-US" sz="2200" dirty="0">
                <a:solidFill>
                  <a:srgbClr val="FF0000"/>
                </a:solidFill>
              </a:rPr>
              <a:t>胀缩法</a:t>
            </a:r>
            <a:r>
              <a:rPr lang="en-US" altLang="zh-CN" sz="2200" dirty="0">
                <a:solidFill>
                  <a:srgbClr val="002060"/>
                </a:solidFill>
              </a:rPr>
              <a:t>(</a:t>
            </a:r>
            <a:r>
              <a:rPr lang="zh-CN" altLang="en-US" sz="2200" dirty="0">
                <a:solidFill>
                  <a:srgbClr val="002060"/>
                </a:solidFill>
              </a:rPr>
              <a:t>加热包容件或冷却被包容件</a:t>
            </a:r>
            <a:r>
              <a:rPr lang="en-US" altLang="zh-CN" sz="2200" dirty="0">
                <a:solidFill>
                  <a:srgbClr val="002060"/>
                </a:solidFill>
              </a:rPr>
              <a:t>)</a:t>
            </a:r>
            <a:r>
              <a:rPr lang="zh-CN" altLang="en-US" sz="2200" dirty="0">
                <a:solidFill>
                  <a:srgbClr val="002060"/>
                </a:solidFill>
              </a:rPr>
              <a:t>装配。当其他条件相同时，用胀缩法能获得较高的摩擦力或力矩，因为它不像压入法那样会擦伤配合表面</a:t>
            </a:r>
            <a:r>
              <a:rPr lang="zh-CN" altLang="en-US" dirty="0" smtClean="0">
                <a:solidFill>
                  <a:srgbClr val="002060"/>
                </a:solidFill>
                <a:latin typeface="华文中宋" panose="02010600040101010101" pitchFamily="2" charset="-122"/>
              </a:rPr>
              <a:t>。</a:t>
            </a:r>
            <a:endParaRPr lang="en-US" altLang="zh-CN" dirty="0" smtClean="0">
              <a:latin typeface="华文中宋" panose="02010600040101010101" pitchFamily="2" charset="-122"/>
            </a:endParaRPr>
          </a:p>
          <a:p>
            <a:pPr eaLnBrk="1" hangingPunct="1">
              <a:lnSpc>
                <a:spcPct val="150000"/>
              </a:lnSpc>
            </a:pPr>
            <a:r>
              <a:rPr lang="en-US" altLang="zh-CN" dirty="0">
                <a:latin typeface="华文中宋" panose="02010600040101010101" pitchFamily="2" charset="-122"/>
              </a:rPr>
              <a:t> </a:t>
            </a:r>
            <a:r>
              <a:rPr lang="en-US" altLang="zh-CN" dirty="0" smtClean="0">
                <a:latin typeface="华文中宋" panose="02010600040101010101" pitchFamily="2" charset="-122"/>
              </a:rPr>
              <a:t>   </a:t>
            </a:r>
            <a:r>
              <a:rPr lang="zh-CN" altLang="en-US" sz="2400" dirty="0" smtClean="0">
                <a:solidFill>
                  <a:srgbClr val="FF0000"/>
                </a:solidFill>
                <a:latin typeface="华文中宋" panose="02010600040101010101" pitchFamily="2" charset="-122"/>
              </a:rPr>
              <a:t>油压法：</a:t>
            </a:r>
            <a:r>
              <a:rPr lang="zh-CN" altLang="en-US" sz="2200" dirty="0" smtClean="0">
                <a:solidFill>
                  <a:srgbClr val="002060"/>
                </a:solidFill>
                <a:latin typeface="华文中宋" panose="02010600040101010101" pitchFamily="2" charset="-122"/>
              </a:rPr>
              <a:t>可采用液压拆卸，即在配合面注入高压油，使包容件的内径胀大，被包容件的外径缩小，便于拆卸。</a:t>
            </a:r>
            <a:endParaRPr lang="zh-CN" altLang="en-US" sz="2200" dirty="0" smtClean="0">
              <a:solidFill>
                <a:srgbClr val="002060"/>
              </a:solidFill>
              <a:latin typeface="华文中宋" panose="02010600040101010101" pitchFamily="2" charset="-122"/>
            </a:endParaRPr>
          </a:p>
        </p:txBody>
      </p:sp>
      <p:sp>
        <p:nvSpPr>
          <p:cNvPr id="56334" name="Text Box 14"/>
          <p:cNvSpPr txBox="1">
            <a:spLocks noChangeArrowheads="1"/>
          </p:cNvSpPr>
          <p:nvPr/>
        </p:nvSpPr>
        <p:spPr bwMode="auto">
          <a:xfrm>
            <a:off x="266631" y="1450995"/>
            <a:ext cx="8280920" cy="1555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pPr>
            <a:r>
              <a:rPr lang="en-US" altLang="zh-CN" dirty="0">
                <a:latin typeface="华文中宋" panose="02010600040101010101" pitchFamily="2" charset="-122"/>
              </a:rPr>
              <a:t>      </a:t>
            </a:r>
            <a:r>
              <a:rPr lang="zh-CN" altLang="en-US" sz="2200" dirty="0">
                <a:solidFill>
                  <a:srgbClr val="002060"/>
                </a:solidFill>
              </a:rPr>
              <a:t>装配后包容件和被包容件的径向变形使配合面间产生了很大的径向压力，工作时配合面上产生摩擦阻力或摩擦阻力矩来抵抗和传递外载荷。</a:t>
            </a:r>
            <a:endParaRPr lang="zh-CN" altLang="en-US" sz="2200" dirty="0">
              <a:solidFill>
                <a:srgbClr val="002060"/>
              </a:solidFill>
            </a:endParaRPr>
          </a:p>
        </p:txBody>
      </p:sp>
      <p:pic>
        <p:nvPicPr>
          <p:cNvPr id="56338" name="Picture 18"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23263" y="647700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0" name="Picture 20"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5375" y="647700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41" name="Text Box 21"/>
          <p:cNvSpPr txBox="1">
            <a:spLocks noChangeArrowheads="1"/>
          </p:cNvSpPr>
          <p:nvPr/>
        </p:nvSpPr>
        <p:spPr bwMode="auto">
          <a:xfrm>
            <a:off x="5927725" y="6157913"/>
            <a:ext cx="271463"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a:solidFill>
                  <a:schemeClr val="tx1"/>
                </a:solidFill>
                <a:latin typeface="Tahoma" panose="020B0604030504040204" pitchFamily="34" charset="0"/>
              </a:rPr>
              <a:t> </a:t>
            </a:r>
            <a:endParaRPr lang="en-US" altLang="zh-CN" sz="2200">
              <a:solidFill>
                <a:schemeClr val="tx1"/>
              </a:solidFill>
              <a:latin typeface="Tahoma" panose="020B0604030504040204" pitchFamily="34" charset="0"/>
            </a:endParaRPr>
          </a:p>
        </p:txBody>
      </p:sp>
      <p:cxnSp>
        <p:nvCxnSpPr>
          <p:cNvPr id="15" name="直接连接符 14"/>
          <p:cNvCxnSpPr/>
          <p:nvPr/>
        </p:nvCxnSpPr>
        <p:spPr bwMode="auto">
          <a:xfrm>
            <a:off x="0" y="764704"/>
            <a:ext cx="9144000" cy="0"/>
          </a:xfrm>
          <a:prstGeom prst="line">
            <a:avLst/>
          </a:prstGeom>
          <a:solidFill>
            <a:schemeClr val="accent1"/>
          </a:solidFill>
          <a:ln w="38100" cap="flat" cmpd="thickThin" algn="ctr">
            <a:solidFill>
              <a:srgbClr val="A5002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Rectangle 2"/>
          <p:cNvSpPr>
            <a:spLocks noGrp="1" noChangeArrowheads="1"/>
          </p:cNvSpPr>
          <p:nvPr/>
        </p:nvSpPr>
        <p:spPr bwMode="auto">
          <a:xfrm>
            <a:off x="5929313" y="285750"/>
            <a:ext cx="2984500" cy="490538"/>
          </a:xfrm>
          <a:prstGeom prst="rect">
            <a:avLst/>
          </a:prstGeom>
          <a:ln>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3.5-3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无键连接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2" name="文本框 1"/>
          <p:cNvSpPr txBox="1"/>
          <p:nvPr/>
        </p:nvSpPr>
        <p:spPr>
          <a:xfrm>
            <a:off x="362585" y="5610860"/>
            <a:ext cx="8161020" cy="768350"/>
          </a:xfrm>
          <a:prstGeom prst="rect">
            <a:avLst/>
          </a:prstGeom>
          <a:noFill/>
        </p:spPr>
        <p:txBody>
          <a:bodyPr wrap="square" rtlCol="0">
            <a:spAutoFit/>
          </a:bodyPr>
          <a:p>
            <a:r>
              <a:rPr lang="zh-CN" altLang="en-US">
                <a:solidFill>
                  <a:srgbClr val="FF0000"/>
                </a:solidFill>
              </a:rPr>
              <a:t>螺母压紧法：</a:t>
            </a:r>
            <a:r>
              <a:rPr lang="zh-CN" altLang="en-US">
                <a:solidFill>
                  <a:srgbClr val="002060"/>
                </a:solidFill>
              </a:rPr>
              <a:t>圆锥面的一种过盈连接方法，通过拧紧螺母，使接合面压紧形成过盈配合。</a:t>
            </a:r>
            <a:endParaRPr lang="zh-CN" altLang="en-US">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32"/>
                                        </p:tgtEl>
                                        <p:attrNameLst>
                                          <p:attrName>style.visibility</p:attrName>
                                        </p:attrNameLst>
                                      </p:cBhvr>
                                      <p:to>
                                        <p:strVal val="visible"/>
                                      </p:to>
                                    </p:set>
                                    <p:animEffect transition="in" filter="wipe(left)">
                                      <p:cBhvr>
                                        <p:cTn id="7" dur="500"/>
                                        <p:tgtEl>
                                          <p:spTgt spid="5633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6334"/>
                                        </p:tgtEl>
                                        <p:attrNameLst>
                                          <p:attrName>style.visibility</p:attrName>
                                        </p:attrNameLst>
                                      </p:cBhvr>
                                      <p:to>
                                        <p:strVal val="visible"/>
                                      </p:to>
                                    </p:set>
                                    <p:animEffect transition="in" filter="slide(fromBottom)">
                                      <p:cBhvr>
                                        <p:cTn id="12" dur="500"/>
                                        <p:tgtEl>
                                          <p:spTgt spid="5633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6333"/>
                                        </p:tgtEl>
                                        <p:attrNameLst>
                                          <p:attrName>style.visibility</p:attrName>
                                        </p:attrNameLst>
                                      </p:cBhvr>
                                      <p:to>
                                        <p:strVal val="visible"/>
                                      </p:to>
                                    </p:set>
                                    <p:animEffect transition="in" filter="slide(fromBottom)">
                                      <p:cBhvr>
                                        <p:cTn id="17" dur="500"/>
                                        <p:tgtEl>
                                          <p:spTgt spid="56333"/>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499"/>
                                          </p:stCondLst>
                                        </p:cTn>
                                        <p:tgtEl>
                                          <p:spTgt spid="56340"/>
                                        </p:tgtEl>
                                        <p:attrNameLst>
                                          <p:attrName>style.visibility</p:attrName>
                                        </p:attrNameLst>
                                      </p:cBhvr>
                                      <p:to>
                                        <p:strVal val="visible"/>
                                      </p:to>
                                    </p:set>
                                  </p:childTnLst>
                                </p:cTn>
                              </p:par>
                            </p:childTnLst>
                          </p:cTn>
                        </p:par>
                        <p:par>
                          <p:cTn id="21" fill="hold">
                            <p:stCondLst>
                              <p:cond delay="1000"/>
                            </p:stCondLst>
                            <p:childTnLst>
                              <p:par>
                                <p:cTn id="22" presetID="2" presetClass="entr" presetSubtype="8" fill="hold" nodeType="afterEffect">
                                  <p:stCondLst>
                                    <p:cond delay="0"/>
                                  </p:stCondLst>
                                  <p:childTnLst>
                                    <p:set>
                                      <p:cBhvr>
                                        <p:cTn id="23" dur="1" fill="hold">
                                          <p:stCondLst>
                                            <p:cond delay="0"/>
                                          </p:stCondLst>
                                        </p:cTn>
                                        <p:tgtEl>
                                          <p:spTgt spid="56338"/>
                                        </p:tgtEl>
                                        <p:attrNameLst>
                                          <p:attrName>style.visibility</p:attrName>
                                        </p:attrNameLst>
                                      </p:cBhvr>
                                      <p:to>
                                        <p:strVal val="visible"/>
                                      </p:to>
                                    </p:set>
                                    <p:anim calcmode="lin" valueType="num">
                                      <p:cBhvr additive="base">
                                        <p:cTn id="24" dur="500" fill="hold"/>
                                        <p:tgtEl>
                                          <p:spTgt spid="56338"/>
                                        </p:tgtEl>
                                        <p:attrNameLst>
                                          <p:attrName>ppt_x</p:attrName>
                                        </p:attrNameLst>
                                      </p:cBhvr>
                                      <p:tavLst>
                                        <p:tav tm="0">
                                          <p:val>
                                            <p:strVal val="0-#ppt_w/2"/>
                                          </p:val>
                                        </p:tav>
                                        <p:tav tm="100000">
                                          <p:val>
                                            <p:strVal val="#ppt_x"/>
                                          </p:val>
                                        </p:tav>
                                      </p:tavLst>
                                    </p:anim>
                                    <p:anim calcmode="lin" valueType="num">
                                      <p:cBhvr additive="base">
                                        <p:cTn id="25" dur="500" fill="hold"/>
                                        <p:tgtEl>
                                          <p:spTgt spid="5633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56341"/>
                                        </p:tgtEl>
                                        <p:attrNameLst>
                                          <p:attrName>style.visibility</p:attrName>
                                        </p:attrNameLst>
                                      </p:cBhvr>
                                      <p:to>
                                        <p:strVal val="visible"/>
                                      </p:to>
                                    </p:set>
                                    <p:anim calcmode="lin" valueType="num">
                                      <p:cBhvr additive="base">
                                        <p:cTn id="30" dur="500" fill="hold"/>
                                        <p:tgtEl>
                                          <p:spTgt spid="56341"/>
                                        </p:tgtEl>
                                        <p:attrNameLst>
                                          <p:attrName>ppt_x</p:attrName>
                                        </p:attrNameLst>
                                      </p:cBhvr>
                                      <p:tavLst>
                                        <p:tav tm="0">
                                          <p:val>
                                            <p:strVal val="0-#ppt_w/2"/>
                                          </p:val>
                                        </p:tav>
                                        <p:tav tm="100000">
                                          <p:val>
                                            <p:strVal val="#ppt_x"/>
                                          </p:val>
                                        </p:tav>
                                      </p:tavLst>
                                    </p:anim>
                                    <p:anim calcmode="lin" valueType="num">
                                      <p:cBhvr additive="base">
                                        <p:cTn id="31" dur="500" fill="hold"/>
                                        <p:tgtEl>
                                          <p:spTgt spid="56341"/>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2" grpId="0" bldLvl="0" animBg="1" autoUpdateAnimBg="0"/>
      <p:bldP spid="56333" grpId="0" bldLvl="0" animBg="1" autoUpdateAnimBg="0"/>
      <p:bldP spid="56334" grpId="0" bldLvl="0" animBg="1" autoUpdateAnimBg="0"/>
      <p:bldP spid="56341" grpId="0" bldLvl="0" animBg="1" autoUpdateAnimBg="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7"/>
          <p:cNvSpPr>
            <a:spLocks noGrp="1" noChangeArrowheads="1"/>
          </p:cNvSpPr>
          <p:nvPr/>
        </p:nvSpPr>
        <p:spPr bwMode="auto">
          <a:xfrm>
            <a:off x="6372200" y="188640"/>
            <a:ext cx="2057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kumimoji="0" lang="zh-CN" altLang="en-US" sz="3000" dirty="0">
              <a:solidFill>
                <a:srgbClr val="CC3300"/>
              </a:solidFill>
              <a:latin typeface="黑体" panose="02010609060101010101" pitchFamily="49" charset="-122"/>
              <a:ea typeface="黑体" panose="02010609060101010101" pitchFamily="49" charset="-122"/>
            </a:endParaRPr>
          </a:p>
        </p:txBody>
      </p:sp>
      <p:sp>
        <p:nvSpPr>
          <p:cNvPr id="14339" name="Rectangle 8"/>
          <p:cNvSpPr>
            <a:spLocks noChangeArrowheads="1"/>
          </p:cNvSpPr>
          <p:nvPr/>
        </p:nvSpPr>
        <p:spPr bwMode="auto">
          <a:xfrm>
            <a:off x="457200" y="914400"/>
            <a:ext cx="32766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C00000"/>
                </a:solidFill>
                <a:latin typeface="黑体" panose="02010609060101010101" pitchFamily="49" charset="-122"/>
                <a:ea typeface="黑体" panose="02010609060101010101" pitchFamily="49" charset="-122"/>
              </a:rPr>
              <a:t>3</a:t>
            </a:r>
            <a:r>
              <a:rPr lang="zh-CN" altLang="en-US" sz="2200" dirty="0">
                <a:solidFill>
                  <a:srgbClr val="C00000"/>
                </a:solidFill>
                <a:latin typeface="黑体" panose="02010609060101010101" pitchFamily="49" charset="-122"/>
                <a:ea typeface="黑体" panose="02010609060101010101" pitchFamily="49" charset="-122"/>
              </a:rPr>
              <a:t>、圆柱面过盈连接</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57353" name="Rectangle 9"/>
          <p:cNvSpPr>
            <a:spLocks noChangeArrowheads="1"/>
          </p:cNvSpPr>
          <p:nvPr/>
        </p:nvSpPr>
        <p:spPr bwMode="auto">
          <a:xfrm>
            <a:off x="293683" y="1437412"/>
            <a:ext cx="83820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latin typeface="华文中宋" panose="02010600040101010101" pitchFamily="2" charset="-122"/>
              </a:rPr>
              <a:t>　　</a:t>
            </a:r>
            <a:r>
              <a:rPr lang="zh-CN" altLang="en-US" dirty="0">
                <a:solidFill>
                  <a:srgbClr val="002060"/>
                </a:solidFill>
                <a:latin typeface="华文中宋" panose="02010600040101010101" pitchFamily="2" charset="-122"/>
              </a:rPr>
              <a:t>设计这种过盈连接时，被连接件的材料、构造和尺寸一般都已初步确</a:t>
            </a:r>
            <a:endParaRPr lang="zh-CN" altLang="en-US" dirty="0">
              <a:solidFill>
                <a:srgbClr val="002060"/>
              </a:solidFill>
              <a:latin typeface="华文中宋" panose="02010600040101010101" pitchFamily="2" charset="-122"/>
            </a:endParaRPr>
          </a:p>
          <a:p>
            <a:pPr eaLnBrk="1" hangingPunct="1">
              <a:lnSpc>
                <a:spcPct val="125000"/>
              </a:lnSpc>
            </a:pPr>
            <a:r>
              <a:rPr lang="zh-CN" altLang="en-US" dirty="0">
                <a:solidFill>
                  <a:srgbClr val="002060"/>
                </a:solidFill>
                <a:latin typeface="华文中宋" panose="02010600040101010101" pitchFamily="2" charset="-122"/>
              </a:rPr>
              <a:t>定，连接的载荷也已求得。因此，设计的主要问题是：</a:t>
            </a:r>
            <a:endParaRPr lang="zh-CN" altLang="en-US" dirty="0">
              <a:solidFill>
                <a:srgbClr val="002060"/>
              </a:solidFill>
              <a:latin typeface="华文中宋" panose="02010600040101010101" pitchFamily="2" charset="-122"/>
            </a:endParaRPr>
          </a:p>
        </p:txBody>
      </p:sp>
      <p:sp>
        <p:nvSpPr>
          <p:cNvPr id="57355" name="Rectangle 11"/>
          <p:cNvSpPr>
            <a:spLocks noChangeArrowheads="1"/>
          </p:cNvSpPr>
          <p:nvPr/>
        </p:nvSpPr>
        <p:spPr bwMode="auto">
          <a:xfrm>
            <a:off x="738942" y="2363356"/>
            <a:ext cx="4911725"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2060"/>
                </a:solidFill>
                <a:latin typeface="华文中宋" panose="02010600040101010101" pitchFamily="2" charset="-122"/>
              </a:rPr>
              <a:t>1) </a:t>
            </a:r>
            <a:r>
              <a:rPr lang="zh-CN" altLang="en-US" sz="2200" dirty="0">
                <a:solidFill>
                  <a:srgbClr val="002060"/>
                </a:solidFill>
                <a:latin typeface="华文中宋" panose="02010600040101010101" pitchFamily="2" charset="-122"/>
              </a:rPr>
              <a:t>选择具有所需要的承载能力的配合；</a:t>
            </a:r>
            <a:endParaRPr lang="zh-CN" altLang="en-US" sz="2200" dirty="0">
              <a:solidFill>
                <a:srgbClr val="002060"/>
              </a:solidFill>
              <a:latin typeface="华文中宋" panose="02010600040101010101" pitchFamily="2" charset="-122"/>
            </a:endParaRPr>
          </a:p>
        </p:txBody>
      </p:sp>
      <p:sp>
        <p:nvSpPr>
          <p:cNvPr id="57356" name="Rectangle 12"/>
          <p:cNvSpPr>
            <a:spLocks noChangeArrowheads="1"/>
          </p:cNvSpPr>
          <p:nvPr/>
        </p:nvSpPr>
        <p:spPr bwMode="auto">
          <a:xfrm>
            <a:off x="797997" y="2857252"/>
            <a:ext cx="403860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2060"/>
                </a:solidFill>
                <a:latin typeface="华文中宋" panose="02010600040101010101" pitchFamily="2" charset="-122"/>
              </a:rPr>
              <a:t>2) </a:t>
            </a:r>
            <a:r>
              <a:rPr lang="zh-CN" altLang="en-US" sz="2200" dirty="0">
                <a:solidFill>
                  <a:srgbClr val="002060"/>
                </a:solidFill>
                <a:latin typeface="华文中宋" panose="02010600040101010101" pitchFamily="2" charset="-122"/>
              </a:rPr>
              <a:t>安排合理的结构；</a:t>
            </a:r>
            <a:endParaRPr lang="zh-CN" altLang="en-US" sz="2200" dirty="0">
              <a:solidFill>
                <a:srgbClr val="002060"/>
              </a:solidFill>
              <a:latin typeface="华文中宋" panose="02010600040101010101" pitchFamily="2" charset="-122"/>
            </a:endParaRPr>
          </a:p>
        </p:txBody>
      </p:sp>
      <p:sp>
        <p:nvSpPr>
          <p:cNvPr id="57357" name="Rectangle 13"/>
          <p:cNvSpPr>
            <a:spLocks noChangeArrowheads="1"/>
          </p:cNvSpPr>
          <p:nvPr/>
        </p:nvSpPr>
        <p:spPr bwMode="auto">
          <a:xfrm>
            <a:off x="636454" y="3441318"/>
            <a:ext cx="472059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2060"/>
                </a:solidFill>
                <a:latin typeface="华文中宋" panose="02010600040101010101" pitchFamily="2" charset="-122"/>
              </a:rPr>
              <a:t>3) </a:t>
            </a:r>
            <a:r>
              <a:rPr lang="zh-CN" altLang="en-US" sz="2200" dirty="0">
                <a:solidFill>
                  <a:srgbClr val="002060"/>
                </a:solidFill>
                <a:latin typeface="华文中宋" panose="02010600040101010101" pitchFamily="2" charset="-122"/>
              </a:rPr>
              <a:t>确定对零件配合表面的工艺要求；</a:t>
            </a:r>
            <a:endParaRPr lang="zh-CN" altLang="en-US" sz="2200" dirty="0">
              <a:solidFill>
                <a:srgbClr val="002060"/>
              </a:solidFill>
              <a:latin typeface="华文中宋" panose="02010600040101010101" pitchFamily="2" charset="-122"/>
            </a:endParaRPr>
          </a:p>
        </p:txBody>
      </p:sp>
      <p:sp>
        <p:nvSpPr>
          <p:cNvPr id="57358" name="Rectangle 14"/>
          <p:cNvSpPr>
            <a:spLocks noChangeArrowheads="1"/>
          </p:cNvSpPr>
          <p:nvPr/>
        </p:nvSpPr>
        <p:spPr bwMode="auto">
          <a:xfrm>
            <a:off x="686619" y="4086597"/>
            <a:ext cx="472059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2060"/>
                </a:solidFill>
                <a:latin typeface="华文中宋" panose="02010600040101010101" pitchFamily="2" charset="-122"/>
              </a:rPr>
              <a:t>4) </a:t>
            </a:r>
            <a:r>
              <a:rPr lang="zh-CN" altLang="en-US" sz="2200" dirty="0">
                <a:solidFill>
                  <a:srgbClr val="002060"/>
                </a:solidFill>
                <a:latin typeface="华文中宋" panose="02010600040101010101" pitchFamily="2" charset="-122"/>
              </a:rPr>
              <a:t>决定装配方法和提出装配要求等。</a:t>
            </a:r>
            <a:endParaRPr lang="zh-CN" altLang="en-US" sz="2200" dirty="0">
              <a:solidFill>
                <a:srgbClr val="002060"/>
              </a:solidFill>
              <a:latin typeface="华文中宋" panose="02010600040101010101" pitchFamily="2" charset="-122"/>
            </a:endParaRPr>
          </a:p>
        </p:txBody>
      </p:sp>
      <p:sp>
        <p:nvSpPr>
          <p:cNvPr id="57359" name="Rectangle 15"/>
          <p:cNvSpPr>
            <a:spLocks noChangeArrowheads="1"/>
          </p:cNvSpPr>
          <p:nvPr/>
        </p:nvSpPr>
        <p:spPr bwMode="auto">
          <a:xfrm>
            <a:off x="328737" y="4593446"/>
            <a:ext cx="8458200" cy="1323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5000"/>
              </a:lnSpc>
            </a:pPr>
            <a:r>
              <a:rPr lang="en-US" altLang="zh-CN" dirty="0">
                <a:latin typeface="华文中宋" panose="02010600040101010101" pitchFamily="2" charset="-122"/>
              </a:rPr>
              <a:t>      </a:t>
            </a:r>
            <a:r>
              <a:rPr lang="zh-CN" altLang="en-US" sz="2200" dirty="0">
                <a:solidFill>
                  <a:srgbClr val="002060"/>
                </a:solidFill>
                <a:latin typeface="华文中宋" panose="02010600040101010101" pitchFamily="2" charset="-122"/>
              </a:rPr>
              <a:t>过盈连接的承载能力取决于连接的摩擦力或力矩和连接中各零件的</a:t>
            </a:r>
            <a:r>
              <a:rPr lang="zh-CN" altLang="en-US" sz="2200" dirty="0" smtClean="0">
                <a:solidFill>
                  <a:srgbClr val="002060"/>
                </a:solidFill>
                <a:latin typeface="华文中宋" panose="02010600040101010101" pitchFamily="2" charset="-122"/>
              </a:rPr>
              <a:t>强度</a:t>
            </a:r>
            <a:r>
              <a:rPr lang="zh-CN" altLang="en-US" sz="2200" dirty="0">
                <a:solidFill>
                  <a:srgbClr val="002060"/>
                </a:solidFill>
                <a:latin typeface="华文中宋" panose="02010600040101010101" pitchFamily="2" charset="-122"/>
              </a:rPr>
              <a:t>。选择配合时，既要使连接具有足够的固持力以保证在载荷作用下不</a:t>
            </a:r>
            <a:r>
              <a:rPr lang="zh-CN" altLang="en-US" sz="2200" dirty="0" smtClean="0">
                <a:solidFill>
                  <a:srgbClr val="002060"/>
                </a:solidFill>
                <a:latin typeface="华文中宋" panose="02010600040101010101" pitchFamily="2" charset="-122"/>
              </a:rPr>
              <a:t>发生</a:t>
            </a:r>
            <a:r>
              <a:rPr lang="zh-CN" altLang="en-US" sz="2200" dirty="0">
                <a:solidFill>
                  <a:srgbClr val="002060"/>
                </a:solidFill>
                <a:latin typeface="华文中宋" panose="02010600040101010101" pitchFamily="2" charset="-122"/>
              </a:rPr>
              <a:t>相对滑动，又要注意到零件在装配应力下不致损坏。</a:t>
            </a:r>
            <a:endParaRPr lang="zh-CN" altLang="en-US" sz="2200" dirty="0">
              <a:solidFill>
                <a:srgbClr val="002060"/>
              </a:solidFill>
              <a:latin typeface="华文中宋" panose="02010600040101010101" pitchFamily="2" charset="-122"/>
            </a:endParaRPr>
          </a:p>
        </p:txBody>
      </p:sp>
      <p:sp>
        <p:nvSpPr>
          <p:cNvPr id="14346" name="Rectangle 17"/>
          <p:cNvSpPr>
            <a:spLocks noGrp="1" noChangeArrowheads="1"/>
          </p:cNvSpPr>
          <p:nvPr>
            <p:ph type="title"/>
          </p:nvPr>
        </p:nvSpPr>
        <p:spPr bwMode="auto">
          <a:xfrm>
            <a:off x="5410200" y="838200"/>
            <a:ext cx="2133600" cy="1524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eaLnBrk="1" hangingPunct="1"/>
            <a:r>
              <a:rPr lang="zh-CN" altLang="en-US" sz="900" smtClean="0">
                <a:solidFill>
                  <a:schemeClr val="bg1"/>
                </a:solidFill>
                <a:ea typeface="华文中宋" panose="02010600040101010101" pitchFamily="2" charset="-122"/>
              </a:rPr>
              <a:t>过盈连接</a:t>
            </a:r>
            <a:r>
              <a:rPr lang="en-US" altLang="zh-CN" sz="900" smtClean="0">
                <a:solidFill>
                  <a:schemeClr val="bg1"/>
                </a:solidFill>
                <a:ea typeface="华文中宋" panose="02010600040101010101" pitchFamily="2" charset="-122"/>
              </a:rPr>
              <a:t>2</a:t>
            </a:r>
            <a:endParaRPr lang="en-US" altLang="zh-CN" sz="900" smtClean="0">
              <a:solidFill>
                <a:schemeClr val="bg1"/>
              </a:solidFill>
              <a:ea typeface="华文中宋" panose="02010600040101010101" pitchFamily="2" charset="-122"/>
            </a:endParaRPr>
          </a:p>
        </p:txBody>
      </p:sp>
      <p:pic>
        <p:nvPicPr>
          <p:cNvPr id="57369" name="Picture 25"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962900" y="647700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70" name="Picture 26" descr="back1">
            <a:hlinkClick r:id="" action="ppaction://hlinkshowjump?jump=previous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0888" y="647700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71" name="Picture 27"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80463" y="647700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72" name="Text Box 28"/>
          <p:cNvSpPr txBox="1">
            <a:spLocks noChangeArrowheads="1"/>
          </p:cNvSpPr>
          <p:nvPr/>
        </p:nvSpPr>
        <p:spPr bwMode="auto">
          <a:xfrm>
            <a:off x="5699125" y="6248400"/>
            <a:ext cx="271463"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a:solidFill>
                  <a:schemeClr val="tx1"/>
                </a:solidFill>
                <a:latin typeface="Tahoma" panose="020B0604030504040204" pitchFamily="34" charset="0"/>
              </a:rPr>
              <a:t> </a:t>
            </a:r>
            <a:endParaRPr lang="en-US" altLang="zh-CN" sz="2200">
              <a:solidFill>
                <a:schemeClr val="tx1"/>
              </a:solidFill>
              <a:latin typeface="Tahoma" panose="020B0604030504040204" pitchFamily="34" charset="0"/>
            </a:endParaRPr>
          </a:p>
        </p:txBody>
      </p:sp>
      <p:cxnSp>
        <p:nvCxnSpPr>
          <p:cNvPr id="19" name="直接连接符 18"/>
          <p:cNvCxnSpPr/>
          <p:nvPr/>
        </p:nvCxnSpPr>
        <p:spPr bwMode="auto">
          <a:xfrm>
            <a:off x="0" y="836712"/>
            <a:ext cx="9144000" cy="0"/>
          </a:xfrm>
          <a:prstGeom prst="line">
            <a:avLst/>
          </a:prstGeom>
          <a:solidFill>
            <a:schemeClr val="accent1"/>
          </a:solidFill>
          <a:ln w="38100" cap="flat" cmpd="thickThin" algn="ctr">
            <a:solidFill>
              <a:srgbClr val="A5002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Rectangle 2"/>
          <p:cNvSpPr>
            <a:spLocks noGrp="1" noChangeArrowheads="1"/>
          </p:cNvSpPr>
          <p:nvPr/>
        </p:nvSpPr>
        <p:spPr bwMode="auto">
          <a:xfrm>
            <a:off x="5929313" y="285750"/>
            <a:ext cx="2984500" cy="490538"/>
          </a:xfrm>
          <a:prstGeom prst="rect">
            <a:avLst/>
          </a:prstGeom>
          <a:ln>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3.5-3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无键连接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7353"/>
                                        </p:tgtEl>
                                        <p:attrNameLst>
                                          <p:attrName>style.visibility</p:attrName>
                                        </p:attrNameLst>
                                      </p:cBhvr>
                                      <p:to>
                                        <p:strVal val="visible"/>
                                      </p:to>
                                    </p:set>
                                    <p:animEffect transition="in" filter="slide(fromBottom)">
                                      <p:cBhvr>
                                        <p:cTn id="7" dur="500"/>
                                        <p:tgtEl>
                                          <p:spTgt spid="573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55"/>
                                        </p:tgtEl>
                                        <p:attrNameLst>
                                          <p:attrName>style.visibility</p:attrName>
                                        </p:attrNameLst>
                                      </p:cBhvr>
                                      <p:to>
                                        <p:strVal val="visible"/>
                                      </p:to>
                                    </p:set>
                                    <p:animEffect transition="in" filter="wipe(left)">
                                      <p:cBhvr>
                                        <p:cTn id="12" dur="500"/>
                                        <p:tgtEl>
                                          <p:spTgt spid="573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356"/>
                                        </p:tgtEl>
                                        <p:attrNameLst>
                                          <p:attrName>style.visibility</p:attrName>
                                        </p:attrNameLst>
                                      </p:cBhvr>
                                      <p:to>
                                        <p:strVal val="visible"/>
                                      </p:to>
                                    </p:set>
                                    <p:animEffect transition="in" filter="wipe(left)">
                                      <p:cBhvr>
                                        <p:cTn id="17" dur="500"/>
                                        <p:tgtEl>
                                          <p:spTgt spid="573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357"/>
                                        </p:tgtEl>
                                        <p:attrNameLst>
                                          <p:attrName>style.visibility</p:attrName>
                                        </p:attrNameLst>
                                      </p:cBhvr>
                                      <p:to>
                                        <p:strVal val="visible"/>
                                      </p:to>
                                    </p:set>
                                    <p:animEffect transition="in" filter="wipe(left)">
                                      <p:cBhvr>
                                        <p:cTn id="22" dur="500"/>
                                        <p:tgtEl>
                                          <p:spTgt spid="5735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7358"/>
                                        </p:tgtEl>
                                        <p:attrNameLst>
                                          <p:attrName>style.visibility</p:attrName>
                                        </p:attrNameLst>
                                      </p:cBhvr>
                                      <p:to>
                                        <p:strVal val="visible"/>
                                      </p:to>
                                    </p:set>
                                    <p:animEffect transition="in" filter="wipe(left)">
                                      <p:cBhvr>
                                        <p:cTn id="27" dur="500"/>
                                        <p:tgtEl>
                                          <p:spTgt spid="57358"/>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57359"/>
                                        </p:tgtEl>
                                        <p:attrNameLst>
                                          <p:attrName>style.visibility</p:attrName>
                                        </p:attrNameLst>
                                      </p:cBhvr>
                                      <p:to>
                                        <p:strVal val="visible"/>
                                      </p:to>
                                    </p:set>
                                    <p:animEffect transition="in" filter="slide(fromBottom)">
                                      <p:cBhvr>
                                        <p:cTn id="32" dur="500"/>
                                        <p:tgtEl>
                                          <p:spTgt spid="57359"/>
                                        </p:tgtEl>
                                      </p:cBhvr>
                                    </p:animEffect>
                                  </p:childTnLst>
                                </p:cTn>
                              </p:par>
                            </p:childTnLst>
                          </p:cTn>
                        </p:par>
                        <p:par>
                          <p:cTn id="33" fill="hold">
                            <p:stCondLst>
                              <p:cond delay="500"/>
                            </p:stCondLst>
                            <p:childTnLst>
                              <p:par>
                                <p:cTn id="34" presetID="1" presetClass="entr" presetSubtype="0" fill="hold" nodeType="afterEffect">
                                  <p:stCondLst>
                                    <p:cond delay="0"/>
                                  </p:stCondLst>
                                  <p:childTnLst>
                                    <p:set>
                                      <p:cBhvr>
                                        <p:cTn id="35" dur="1" fill="hold">
                                          <p:stCondLst>
                                            <p:cond delay="499"/>
                                          </p:stCondLst>
                                        </p:cTn>
                                        <p:tgtEl>
                                          <p:spTgt spid="57371"/>
                                        </p:tgtEl>
                                        <p:attrNameLst>
                                          <p:attrName>style.visibility</p:attrName>
                                        </p:attrNameLst>
                                      </p:cBhvr>
                                      <p:to>
                                        <p:strVal val="visible"/>
                                      </p:to>
                                    </p:set>
                                  </p:childTnLst>
                                </p:cTn>
                              </p:par>
                            </p:childTnLst>
                          </p:cTn>
                        </p:par>
                        <p:par>
                          <p:cTn id="36" fill="hold">
                            <p:stCondLst>
                              <p:cond delay="1000"/>
                            </p:stCondLst>
                            <p:childTnLst>
                              <p:par>
                                <p:cTn id="37" presetID="1" presetClass="entr" presetSubtype="0" fill="hold" nodeType="afterEffect">
                                  <p:stCondLst>
                                    <p:cond delay="0"/>
                                  </p:stCondLst>
                                  <p:childTnLst>
                                    <p:set>
                                      <p:cBhvr>
                                        <p:cTn id="38" dur="1" fill="hold">
                                          <p:stCondLst>
                                            <p:cond delay="499"/>
                                          </p:stCondLst>
                                        </p:cTn>
                                        <p:tgtEl>
                                          <p:spTgt spid="57370"/>
                                        </p:tgtEl>
                                        <p:attrNameLst>
                                          <p:attrName>style.visibility</p:attrName>
                                        </p:attrNameLst>
                                      </p:cBhvr>
                                      <p:to>
                                        <p:strVal val="visible"/>
                                      </p:to>
                                    </p:set>
                                  </p:childTnLst>
                                </p:cTn>
                              </p:par>
                            </p:childTnLst>
                          </p:cTn>
                        </p:par>
                        <p:par>
                          <p:cTn id="39" fill="hold">
                            <p:stCondLst>
                              <p:cond delay="1500"/>
                            </p:stCondLst>
                            <p:childTnLst>
                              <p:par>
                                <p:cTn id="40" presetID="2" presetClass="entr" presetSubtype="8" fill="hold" nodeType="afterEffect">
                                  <p:stCondLst>
                                    <p:cond delay="0"/>
                                  </p:stCondLst>
                                  <p:childTnLst>
                                    <p:set>
                                      <p:cBhvr>
                                        <p:cTn id="41" dur="1" fill="hold">
                                          <p:stCondLst>
                                            <p:cond delay="0"/>
                                          </p:stCondLst>
                                        </p:cTn>
                                        <p:tgtEl>
                                          <p:spTgt spid="57369"/>
                                        </p:tgtEl>
                                        <p:attrNameLst>
                                          <p:attrName>style.visibility</p:attrName>
                                        </p:attrNameLst>
                                      </p:cBhvr>
                                      <p:to>
                                        <p:strVal val="visible"/>
                                      </p:to>
                                    </p:set>
                                    <p:anim calcmode="lin" valueType="num">
                                      <p:cBhvr additive="base">
                                        <p:cTn id="42" dur="500" fill="hold"/>
                                        <p:tgtEl>
                                          <p:spTgt spid="57369"/>
                                        </p:tgtEl>
                                        <p:attrNameLst>
                                          <p:attrName>ppt_x</p:attrName>
                                        </p:attrNameLst>
                                      </p:cBhvr>
                                      <p:tavLst>
                                        <p:tav tm="0">
                                          <p:val>
                                            <p:strVal val="0-#ppt_w/2"/>
                                          </p:val>
                                        </p:tav>
                                        <p:tav tm="100000">
                                          <p:val>
                                            <p:strVal val="#ppt_x"/>
                                          </p:val>
                                        </p:tav>
                                      </p:tavLst>
                                    </p:anim>
                                    <p:anim calcmode="lin" valueType="num">
                                      <p:cBhvr additive="base">
                                        <p:cTn id="43" dur="500" fill="hold"/>
                                        <p:tgtEl>
                                          <p:spTgt spid="57369"/>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57372"/>
                                        </p:tgtEl>
                                        <p:attrNameLst>
                                          <p:attrName>style.visibility</p:attrName>
                                        </p:attrNameLst>
                                      </p:cBhvr>
                                      <p:to>
                                        <p:strVal val="visible"/>
                                      </p:to>
                                    </p:set>
                                    <p:anim calcmode="lin" valueType="num">
                                      <p:cBhvr additive="base">
                                        <p:cTn id="48" dur="500" fill="hold"/>
                                        <p:tgtEl>
                                          <p:spTgt spid="57372"/>
                                        </p:tgtEl>
                                        <p:attrNameLst>
                                          <p:attrName>ppt_x</p:attrName>
                                        </p:attrNameLst>
                                      </p:cBhvr>
                                      <p:tavLst>
                                        <p:tav tm="0">
                                          <p:val>
                                            <p:strVal val="0-#ppt_w/2"/>
                                          </p:val>
                                        </p:tav>
                                        <p:tav tm="100000">
                                          <p:val>
                                            <p:strVal val="#ppt_x"/>
                                          </p:val>
                                        </p:tav>
                                      </p:tavLst>
                                    </p:anim>
                                    <p:anim calcmode="lin" valueType="num">
                                      <p:cBhvr additive="base">
                                        <p:cTn id="49" dur="500" fill="hold"/>
                                        <p:tgtEl>
                                          <p:spTgt spid="573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3" grpId="0" bldLvl="0" animBg="1" autoUpdateAnimBg="0"/>
      <p:bldP spid="57355" grpId="0" bldLvl="0" animBg="1" autoUpdateAnimBg="0"/>
      <p:bldP spid="57356" grpId="0" bldLvl="0" animBg="1" autoUpdateAnimBg="0"/>
      <p:bldP spid="57357" grpId="0" bldLvl="0" animBg="1" autoUpdateAnimBg="0"/>
      <p:bldP spid="57358" grpId="0" bldLvl="0" animBg="1" autoUpdateAnimBg="0"/>
      <p:bldP spid="57359" grpId="0" bldLvl="0" animBg="1" autoUpdateAnimBg="0"/>
      <p:bldP spid="57372" grpId="0" bldLvl="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p:nvPr>
        </p:nvSpPr>
        <p:spPr bwMode="auto">
          <a:xfrm>
            <a:off x="6400800" y="838200"/>
            <a:ext cx="2133600" cy="1524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eaLnBrk="1" hangingPunct="1"/>
            <a:r>
              <a:rPr lang="zh-CN" altLang="en-US" sz="900" smtClean="0">
                <a:solidFill>
                  <a:schemeClr val="bg1"/>
                </a:solidFill>
                <a:ea typeface="华文中宋" panose="02010600040101010101" pitchFamily="2" charset="-122"/>
              </a:rPr>
              <a:t>过盈连接</a:t>
            </a:r>
            <a:r>
              <a:rPr lang="en-US" altLang="zh-CN" sz="900" smtClean="0">
                <a:solidFill>
                  <a:schemeClr val="bg1"/>
                </a:solidFill>
                <a:ea typeface="华文中宋" panose="02010600040101010101" pitchFamily="2" charset="-122"/>
              </a:rPr>
              <a:t>3</a:t>
            </a:r>
            <a:endParaRPr lang="en-US" altLang="zh-CN" sz="900" smtClean="0">
              <a:solidFill>
                <a:schemeClr val="bg1"/>
              </a:solidFill>
              <a:ea typeface="华文中宋" panose="02010600040101010101" pitchFamily="2" charset="-122"/>
            </a:endParaRPr>
          </a:p>
        </p:txBody>
      </p:sp>
      <p:sp>
        <p:nvSpPr>
          <p:cNvPr id="15363" name="Rectangle 5"/>
          <p:cNvSpPr>
            <a:spLocks noGrp="1" noChangeArrowheads="1"/>
          </p:cNvSpPr>
          <p:nvPr/>
        </p:nvSpPr>
        <p:spPr bwMode="auto">
          <a:xfrm>
            <a:off x="6372200" y="116632"/>
            <a:ext cx="2057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kumimoji="0" lang="zh-CN" altLang="en-US" sz="3000" dirty="0">
              <a:solidFill>
                <a:srgbClr val="CC3300"/>
              </a:solidFill>
              <a:latin typeface="黑体" panose="02010609060101010101" pitchFamily="49" charset="-122"/>
              <a:ea typeface="黑体" panose="02010609060101010101" pitchFamily="49" charset="-122"/>
            </a:endParaRPr>
          </a:p>
        </p:txBody>
      </p:sp>
      <p:sp>
        <p:nvSpPr>
          <p:cNvPr id="15364" name="Rectangle 6"/>
          <p:cNvSpPr>
            <a:spLocks noChangeArrowheads="1"/>
          </p:cNvSpPr>
          <p:nvPr/>
        </p:nvSpPr>
        <p:spPr bwMode="auto">
          <a:xfrm>
            <a:off x="865947" y="1229648"/>
            <a:ext cx="3771900"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C00000"/>
                </a:solidFill>
                <a:latin typeface="黑体" panose="02010609060101010101" pitchFamily="49" charset="-122"/>
                <a:ea typeface="黑体" panose="02010609060101010101" pitchFamily="49" charset="-122"/>
              </a:rPr>
              <a:t>4</a:t>
            </a:r>
            <a:r>
              <a:rPr lang="zh-CN" altLang="en-US" sz="2200" dirty="0">
                <a:solidFill>
                  <a:srgbClr val="C00000"/>
                </a:solidFill>
                <a:latin typeface="黑体" panose="02010609060101010101" pitchFamily="49" charset="-122"/>
                <a:ea typeface="黑体" panose="02010609060101010101" pitchFamily="49" charset="-122"/>
              </a:rPr>
              <a:t>、圆锥面过盈连接</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58375" name="Rectangle 7"/>
          <p:cNvSpPr>
            <a:spLocks noChangeArrowheads="1"/>
          </p:cNvSpPr>
          <p:nvPr/>
        </p:nvSpPr>
        <p:spPr bwMode="auto">
          <a:xfrm>
            <a:off x="323528" y="1700808"/>
            <a:ext cx="8280920" cy="155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pPr>
            <a:r>
              <a:rPr lang="zh-CN" altLang="en-US" dirty="0">
                <a:latin typeface="华文中宋" panose="02010600040101010101" pitchFamily="2" charset="-122"/>
              </a:rPr>
              <a:t>　　</a:t>
            </a:r>
            <a:r>
              <a:rPr lang="zh-CN" altLang="en-US" sz="2200" dirty="0">
                <a:solidFill>
                  <a:srgbClr val="002060"/>
                </a:solidFill>
                <a:latin typeface="华文中宋" panose="02010600040101010101" pitchFamily="2" charset="-122"/>
              </a:rPr>
              <a:t>圆锥面过盈连接在机床主轴的轴端上应用很普遍。装配时，借助转动端螺母并通过压板施力使轮毂作微量轴向移动以实现过盈连接。这种连接定心性好，便于装拆，压紧程度也易于调整。</a:t>
            </a:r>
            <a:endParaRPr lang="zh-CN" altLang="en-US" sz="2200" dirty="0">
              <a:solidFill>
                <a:srgbClr val="002060"/>
              </a:solidFill>
              <a:latin typeface="华文中宋" panose="02010600040101010101" pitchFamily="2" charset="-122"/>
            </a:endParaRPr>
          </a:p>
        </p:txBody>
      </p:sp>
      <p:pic>
        <p:nvPicPr>
          <p:cNvPr id="58388" name="Picture 20"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72475" y="64944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9" name="Picture 21" descr="back1">
            <a:hlinkClick r:id="" action="ppaction://hlinkshowjump?jump=previous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80463" y="64944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91" name="Text Box 23"/>
          <p:cNvSpPr txBox="1">
            <a:spLocks noChangeArrowheads="1"/>
          </p:cNvSpPr>
          <p:nvPr/>
        </p:nvSpPr>
        <p:spPr bwMode="auto">
          <a:xfrm>
            <a:off x="179512" y="3573016"/>
            <a:ext cx="8424936" cy="1048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pPr>
            <a:r>
              <a:rPr lang="en-US" altLang="zh-CN" dirty="0">
                <a:latin typeface="华文中宋" panose="02010600040101010101" pitchFamily="2" charset="-122"/>
              </a:rPr>
              <a:t>      </a:t>
            </a:r>
            <a:r>
              <a:rPr lang="zh-CN" altLang="en-US" sz="2200" dirty="0">
                <a:latin typeface="华文中宋" panose="02010600040101010101" pitchFamily="2" charset="-122"/>
              </a:rPr>
              <a:t>采</a:t>
            </a:r>
            <a:r>
              <a:rPr lang="zh-CN" altLang="en-US" sz="2200" dirty="0">
                <a:solidFill>
                  <a:srgbClr val="002060"/>
                </a:solidFill>
                <a:latin typeface="华文中宋" panose="02010600040101010101" pitchFamily="2" charset="-122"/>
              </a:rPr>
              <a:t>用这种连接，配合表面不宜擦伤，能传递更大的载荷，尤其是</a:t>
            </a:r>
            <a:r>
              <a:rPr lang="zh-CN" altLang="en-US" sz="2200" dirty="0" smtClean="0">
                <a:solidFill>
                  <a:srgbClr val="002060"/>
                </a:solidFill>
                <a:latin typeface="华文中宋" panose="02010600040101010101" pitchFamily="2" charset="-122"/>
              </a:rPr>
              <a:t>适用于大型</a:t>
            </a:r>
            <a:r>
              <a:rPr lang="zh-CN" altLang="en-US" sz="2200" dirty="0">
                <a:solidFill>
                  <a:srgbClr val="002060"/>
                </a:solidFill>
                <a:latin typeface="华文中宋" panose="02010600040101010101" pitchFamily="2" charset="-122"/>
              </a:rPr>
              <a:t>被连接件，但对配合面的接触精度要求较高。</a:t>
            </a:r>
            <a:endParaRPr lang="zh-CN" altLang="en-US" sz="2200" dirty="0">
              <a:solidFill>
                <a:srgbClr val="002060"/>
              </a:solidFill>
              <a:latin typeface="华文中宋" panose="02010600040101010101" pitchFamily="2" charset="-122"/>
            </a:endParaRPr>
          </a:p>
        </p:txBody>
      </p:sp>
      <p:sp>
        <p:nvSpPr>
          <p:cNvPr id="58401" name="Text Box 33"/>
          <p:cNvSpPr txBox="1">
            <a:spLocks noChangeArrowheads="1"/>
          </p:cNvSpPr>
          <p:nvPr/>
        </p:nvSpPr>
        <p:spPr bwMode="auto">
          <a:xfrm>
            <a:off x="7494588" y="6203950"/>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t>　</a:t>
            </a:r>
            <a:endParaRPr lang="zh-CN" altLang="en-US"/>
          </a:p>
        </p:txBody>
      </p:sp>
      <p:cxnSp>
        <p:nvCxnSpPr>
          <p:cNvPr id="18" name="直接连接符 17"/>
          <p:cNvCxnSpPr/>
          <p:nvPr/>
        </p:nvCxnSpPr>
        <p:spPr bwMode="auto">
          <a:xfrm>
            <a:off x="10160" y="824394"/>
            <a:ext cx="9144000" cy="0"/>
          </a:xfrm>
          <a:prstGeom prst="line">
            <a:avLst/>
          </a:prstGeom>
          <a:solidFill>
            <a:schemeClr val="accent1"/>
          </a:solidFill>
          <a:ln w="38100" cap="flat" cmpd="thickThin" algn="ctr">
            <a:solidFill>
              <a:srgbClr val="A5002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Rectangle 2"/>
          <p:cNvSpPr>
            <a:spLocks noGrp="1" noChangeArrowheads="1"/>
          </p:cNvSpPr>
          <p:nvPr/>
        </p:nvSpPr>
        <p:spPr bwMode="auto">
          <a:xfrm>
            <a:off x="5929313" y="285750"/>
            <a:ext cx="2984500" cy="490538"/>
          </a:xfrm>
          <a:prstGeom prst="rect">
            <a:avLst/>
          </a:prstGeom>
          <a:ln>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3.5-3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无键连接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375"/>
                                        </p:tgtEl>
                                        <p:attrNameLst>
                                          <p:attrName>style.visibility</p:attrName>
                                        </p:attrNameLst>
                                      </p:cBhvr>
                                      <p:to>
                                        <p:strVal val="visible"/>
                                      </p:to>
                                    </p:set>
                                    <p:animEffect transition="in" filter="wipe(up)">
                                      <p:cBhvr>
                                        <p:cTn id="7" dur="500"/>
                                        <p:tgtEl>
                                          <p:spTgt spid="583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391"/>
                                        </p:tgtEl>
                                        <p:attrNameLst>
                                          <p:attrName>style.visibility</p:attrName>
                                        </p:attrNameLst>
                                      </p:cBhvr>
                                      <p:to>
                                        <p:strVal val="visible"/>
                                      </p:to>
                                    </p:set>
                                    <p:animEffect transition="in" filter="wipe(left)">
                                      <p:cBhvr>
                                        <p:cTn id="12" dur="500"/>
                                        <p:tgtEl>
                                          <p:spTgt spid="58391"/>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499"/>
                                          </p:stCondLst>
                                        </p:cTn>
                                        <p:tgtEl>
                                          <p:spTgt spid="58389"/>
                                        </p:tgtEl>
                                        <p:attrNameLst>
                                          <p:attrName>style.visibility</p:attrName>
                                        </p:attrNameLst>
                                      </p:cBhvr>
                                      <p:to>
                                        <p:strVal val="visible"/>
                                      </p:to>
                                    </p:set>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58388"/>
                                        </p:tgtEl>
                                        <p:attrNameLst>
                                          <p:attrName>style.visibility</p:attrName>
                                        </p:attrNameLst>
                                      </p:cBhvr>
                                      <p:to>
                                        <p:strVal val="visible"/>
                                      </p:to>
                                    </p:set>
                                    <p:anim calcmode="lin" valueType="num">
                                      <p:cBhvr additive="base">
                                        <p:cTn id="19" dur="500" fill="hold"/>
                                        <p:tgtEl>
                                          <p:spTgt spid="58388"/>
                                        </p:tgtEl>
                                        <p:attrNameLst>
                                          <p:attrName>ppt_x</p:attrName>
                                        </p:attrNameLst>
                                      </p:cBhvr>
                                      <p:tavLst>
                                        <p:tav tm="0">
                                          <p:val>
                                            <p:strVal val="0-#ppt_w/2"/>
                                          </p:val>
                                        </p:tav>
                                        <p:tav tm="100000">
                                          <p:val>
                                            <p:strVal val="#ppt_x"/>
                                          </p:val>
                                        </p:tav>
                                      </p:tavLst>
                                    </p:anim>
                                    <p:anim calcmode="lin" valueType="num">
                                      <p:cBhvr additive="base">
                                        <p:cTn id="20" dur="500" fill="hold"/>
                                        <p:tgtEl>
                                          <p:spTgt spid="5838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8401"/>
                                        </p:tgtEl>
                                        <p:attrNameLst>
                                          <p:attrName>style.visibility</p:attrName>
                                        </p:attrNameLst>
                                      </p:cBhvr>
                                      <p:to>
                                        <p:strVal val="visible"/>
                                      </p:to>
                                    </p:set>
                                    <p:anim calcmode="lin" valueType="num">
                                      <p:cBhvr additive="base">
                                        <p:cTn id="25" dur="500" fill="hold"/>
                                        <p:tgtEl>
                                          <p:spTgt spid="58401"/>
                                        </p:tgtEl>
                                        <p:attrNameLst>
                                          <p:attrName>ppt_x</p:attrName>
                                        </p:attrNameLst>
                                      </p:cBhvr>
                                      <p:tavLst>
                                        <p:tav tm="0">
                                          <p:val>
                                            <p:strVal val="0-#ppt_w/2"/>
                                          </p:val>
                                        </p:tav>
                                        <p:tav tm="100000">
                                          <p:val>
                                            <p:strVal val="#ppt_x"/>
                                          </p:val>
                                        </p:tav>
                                      </p:tavLst>
                                    </p:anim>
                                    <p:anim calcmode="lin" valueType="num">
                                      <p:cBhvr additive="base">
                                        <p:cTn id="26" dur="500" fill="hold"/>
                                        <p:tgtEl>
                                          <p:spTgt spid="584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5" grpId="0" bldLvl="0" animBg="1" autoUpdateAnimBg="0"/>
      <p:bldP spid="58391" grpId="0" bldLvl="0" animBg="1" autoUpdateAnimBg="0"/>
      <p:bldP spid="58401" grpId="0" bldLvl="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p:nvPr>
        </p:nvSpPr>
        <p:spPr bwMode="auto">
          <a:xfrm>
            <a:off x="6400800" y="838200"/>
            <a:ext cx="2133600" cy="1524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eaLnBrk="1" hangingPunct="1"/>
            <a:r>
              <a:rPr lang="zh-CN" altLang="en-US" sz="900" smtClean="0">
                <a:solidFill>
                  <a:schemeClr val="bg1"/>
                </a:solidFill>
                <a:ea typeface="华文中宋" panose="02010600040101010101" pitchFamily="2" charset="-122"/>
              </a:rPr>
              <a:t>过盈连接</a:t>
            </a:r>
            <a:r>
              <a:rPr lang="en-US" altLang="zh-CN" sz="900" smtClean="0">
                <a:solidFill>
                  <a:schemeClr val="bg1"/>
                </a:solidFill>
                <a:ea typeface="华文中宋" panose="02010600040101010101" pitchFamily="2" charset="-122"/>
              </a:rPr>
              <a:t>3</a:t>
            </a:r>
            <a:endParaRPr lang="en-US" altLang="zh-CN" sz="900" smtClean="0">
              <a:solidFill>
                <a:schemeClr val="bg1"/>
              </a:solidFill>
              <a:ea typeface="华文中宋" panose="02010600040101010101" pitchFamily="2" charset="-122"/>
            </a:endParaRPr>
          </a:p>
        </p:txBody>
      </p:sp>
      <p:sp>
        <p:nvSpPr>
          <p:cNvPr id="15363" name="Rectangle 5"/>
          <p:cNvSpPr>
            <a:spLocks noGrp="1" noChangeArrowheads="1"/>
          </p:cNvSpPr>
          <p:nvPr/>
        </p:nvSpPr>
        <p:spPr bwMode="auto">
          <a:xfrm>
            <a:off x="6732240" y="116632"/>
            <a:ext cx="2057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kumimoji="0" lang="zh-CN" altLang="en-US" sz="3000" dirty="0">
              <a:solidFill>
                <a:srgbClr val="CC3300"/>
              </a:solidFill>
              <a:latin typeface="黑体" panose="02010609060101010101" pitchFamily="49" charset="-122"/>
              <a:ea typeface="黑体" panose="02010609060101010101" pitchFamily="49" charset="-122"/>
            </a:endParaRPr>
          </a:p>
        </p:txBody>
      </p:sp>
      <p:pic>
        <p:nvPicPr>
          <p:cNvPr id="58388" name="Picture 20"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72475" y="64944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9" name="Picture 21" descr="back1">
            <a:hlinkClick r:id="" action="ppaction://hlinkshowjump?jump=previous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80463" y="64944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92" name="Text Box 24"/>
          <p:cNvSpPr txBox="1">
            <a:spLocks noChangeArrowheads="1"/>
          </p:cNvSpPr>
          <p:nvPr/>
        </p:nvSpPr>
        <p:spPr bwMode="auto">
          <a:xfrm>
            <a:off x="179512" y="980728"/>
            <a:ext cx="3257550" cy="530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30000"/>
              </a:lnSpc>
            </a:pPr>
            <a:r>
              <a:rPr lang="en-US" altLang="zh-CN" sz="2200" dirty="0">
                <a:solidFill>
                  <a:srgbClr val="C00000"/>
                </a:solidFill>
                <a:latin typeface="黑体" panose="02010609060101010101" pitchFamily="49" charset="-122"/>
                <a:ea typeface="黑体" panose="02010609060101010101" pitchFamily="49" charset="-122"/>
              </a:rPr>
              <a:t>5</a:t>
            </a:r>
            <a:r>
              <a:rPr lang="zh-CN" altLang="en-US" sz="2200" dirty="0">
                <a:solidFill>
                  <a:srgbClr val="C00000"/>
                </a:solidFill>
                <a:latin typeface="黑体" panose="02010609060101010101" pitchFamily="49" charset="-122"/>
                <a:ea typeface="黑体" panose="02010609060101010101" pitchFamily="49" charset="-122"/>
              </a:rPr>
              <a:t>、过盈连接的设计计算</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58393" name="Text Box 25"/>
          <p:cNvSpPr txBox="1">
            <a:spLocks noChangeArrowheads="1"/>
          </p:cNvSpPr>
          <p:nvPr/>
        </p:nvSpPr>
        <p:spPr bwMode="auto">
          <a:xfrm>
            <a:off x="107504" y="1772816"/>
            <a:ext cx="8712968"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dirty="0">
                <a:latin typeface="华文中宋" panose="02010600040101010101" pitchFamily="2" charset="-122"/>
              </a:rPr>
              <a:t>　　</a:t>
            </a:r>
            <a:r>
              <a:rPr lang="zh-CN" altLang="en-US" sz="2200" dirty="0">
                <a:latin typeface="华文中宋" panose="02010600040101010101" pitchFamily="2" charset="-122"/>
              </a:rPr>
              <a:t>过盈连接主要用以承受轴向力、传递转矩，或者同时承受以上两种载荷。</a:t>
            </a:r>
            <a:endParaRPr lang="zh-CN" altLang="en-US" sz="2200" dirty="0">
              <a:latin typeface="华文中宋" panose="02010600040101010101" pitchFamily="2" charset="-122"/>
            </a:endParaRPr>
          </a:p>
          <a:p>
            <a:pPr eaLnBrk="1" hangingPunct="1">
              <a:lnSpc>
                <a:spcPct val="120000"/>
              </a:lnSpc>
            </a:pPr>
            <a:r>
              <a:rPr lang="zh-CN" altLang="en-US" sz="2200" dirty="0" smtClean="0">
                <a:latin typeface="华文中宋" panose="02010600040101010101" pitchFamily="2" charset="-122"/>
              </a:rPr>
              <a:t>   为了</a:t>
            </a:r>
            <a:r>
              <a:rPr lang="zh-CN" altLang="en-US" sz="2200" dirty="0">
                <a:latin typeface="华文中宋" panose="02010600040101010101" pitchFamily="2" charset="-122"/>
              </a:rPr>
              <a:t>保证过盈连接的工作能力，须作以下两方面的分析计算：</a:t>
            </a:r>
            <a:endParaRPr lang="zh-CN" altLang="en-US" sz="2200" dirty="0">
              <a:latin typeface="华文中宋" panose="02010600040101010101" pitchFamily="2" charset="-122"/>
            </a:endParaRPr>
          </a:p>
        </p:txBody>
      </p:sp>
      <p:sp>
        <p:nvSpPr>
          <p:cNvPr id="58394" name="Text Box 26"/>
          <p:cNvSpPr txBox="1">
            <a:spLocks noChangeArrowheads="1"/>
          </p:cNvSpPr>
          <p:nvPr/>
        </p:nvSpPr>
        <p:spPr bwMode="auto">
          <a:xfrm>
            <a:off x="288925" y="3356992"/>
            <a:ext cx="8315523" cy="870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buSzPct val="80000"/>
              <a:buFontTx/>
              <a:buBlip>
                <a:blip r:embed="rId3"/>
              </a:buBlip>
            </a:pPr>
            <a:r>
              <a:rPr lang="en-US" altLang="zh-CN" dirty="0">
                <a:latin typeface="华文中宋" panose="02010600040101010101" pitchFamily="2" charset="-122"/>
              </a:rPr>
              <a:t> </a:t>
            </a:r>
            <a:r>
              <a:rPr lang="zh-CN" altLang="en-US" sz="2200" dirty="0">
                <a:latin typeface="华文中宋" panose="02010600040101010101" pitchFamily="2" charset="-122"/>
              </a:rPr>
              <a:t>在已知载荷的条件下，计算配合面间所需产生的压力和产生这个压力所需</a:t>
            </a:r>
            <a:r>
              <a:rPr lang="zh-CN" altLang="en-US" sz="2200" dirty="0" smtClean="0">
                <a:latin typeface="华文中宋" panose="02010600040101010101" pitchFamily="2" charset="-122"/>
              </a:rPr>
              <a:t>的最小过盈</a:t>
            </a:r>
            <a:r>
              <a:rPr lang="zh-CN" altLang="en-US" sz="2200" dirty="0">
                <a:latin typeface="华文中宋" panose="02010600040101010101" pitchFamily="2" charset="-122"/>
              </a:rPr>
              <a:t>量；</a:t>
            </a:r>
            <a:endParaRPr lang="zh-CN" altLang="en-US" sz="2200" dirty="0">
              <a:latin typeface="华文中宋" panose="02010600040101010101" pitchFamily="2" charset="-122"/>
            </a:endParaRPr>
          </a:p>
        </p:txBody>
      </p:sp>
      <p:sp>
        <p:nvSpPr>
          <p:cNvPr id="58395" name="Text Box 27"/>
          <p:cNvSpPr txBox="1">
            <a:spLocks noChangeArrowheads="1"/>
          </p:cNvSpPr>
          <p:nvPr/>
        </p:nvSpPr>
        <p:spPr bwMode="auto">
          <a:xfrm>
            <a:off x="293993" y="4437112"/>
            <a:ext cx="8845550" cy="46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buSzPct val="80000"/>
              <a:buFontTx/>
              <a:buBlip>
                <a:blip r:embed="rId3"/>
              </a:buBlip>
            </a:pPr>
            <a:r>
              <a:rPr lang="en-US" altLang="zh-CN" dirty="0">
                <a:latin typeface="华文中宋" panose="02010600040101010101" pitchFamily="2" charset="-122"/>
              </a:rPr>
              <a:t> </a:t>
            </a:r>
            <a:r>
              <a:rPr lang="zh-CN" altLang="en-US" sz="2200" dirty="0">
                <a:latin typeface="华文中宋" panose="02010600040101010101" pitchFamily="2" charset="-122"/>
              </a:rPr>
              <a:t>在选定的标准过盈配合下，校核连接诸零件在最大过盈量时的强度。</a:t>
            </a:r>
            <a:endParaRPr lang="zh-CN" altLang="en-US" sz="2200" dirty="0">
              <a:latin typeface="华文中宋" panose="02010600040101010101" pitchFamily="2" charset="-122"/>
            </a:endParaRPr>
          </a:p>
        </p:txBody>
      </p:sp>
      <p:sp>
        <p:nvSpPr>
          <p:cNvPr id="58401" name="Text Box 33"/>
          <p:cNvSpPr txBox="1">
            <a:spLocks noChangeArrowheads="1"/>
          </p:cNvSpPr>
          <p:nvPr/>
        </p:nvSpPr>
        <p:spPr bwMode="auto">
          <a:xfrm>
            <a:off x="7494588" y="6203950"/>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t>　</a:t>
            </a:r>
            <a:endParaRPr lang="zh-CN" altLang="en-US"/>
          </a:p>
        </p:txBody>
      </p:sp>
      <p:cxnSp>
        <p:nvCxnSpPr>
          <p:cNvPr id="18" name="直接连接符 17"/>
          <p:cNvCxnSpPr/>
          <p:nvPr/>
        </p:nvCxnSpPr>
        <p:spPr bwMode="auto">
          <a:xfrm>
            <a:off x="0" y="764704"/>
            <a:ext cx="9144000" cy="0"/>
          </a:xfrm>
          <a:prstGeom prst="line">
            <a:avLst/>
          </a:prstGeom>
          <a:solidFill>
            <a:schemeClr val="accent1"/>
          </a:solidFill>
          <a:ln w="38100" cap="flat" cmpd="thickThin" algn="ctr">
            <a:solidFill>
              <a:srgbClr val="A5002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Rectangle 2"/>
          <p:cNvSpPr>
            <a:spLocks noGrp="1" noChangeArrowheads="1"/>
          </p:cNvSpPr>
          <p:nvPr/>
        </p:nvSpPr>
        <p:spPr bwMode="auto">
          <a:xfrm>
            <a:off x="5938838" y="176530"/>
            <a:ext cx="2984500" cy="490538"/>
          </a:xfrm>
          <a:prstGeom prst="rect">
            <a:avLst/>
          </a:prstGeom>
          <a:ln>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algn="ct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3.5-3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无键连接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2" name="文本框 1"/>
          <p:cNvSpPr txBox="1"/>
          <p:nvPr/>
        </p:nvSpPr>
        <p:spPr>
          <a:xfrm>
            <a:off x="1296670" y="5483860"/>
            <a:ext cx="5086350" cy="429895"/>
          </a:xfrm>
          <a:prstGeom prst="rect">
            <a:avLst/>
          </a:prstGeom>
          <a:noFill/>
        </p:spPr>
        <p:txBody>
          <a:bodyPr wrap="square" rtlCol="0">
            <a:spAutoFit/>
          </a:bodyPr>
          <a:p>
            <a:r>
              <a:rPr lang="zh-CN" altLang="en-US"/>
              <a:t>查阅专业机械设计手册</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92"/>
                                        </p:tgtEl>
                                        <p:attrNameLst>
                                          <p:attrName>style.visibility</p:attrName>
                                        </p:attrNameLst>
                                      </p:cBhvr>
                                      <p:to>
                                        <p:strVal val="visible"/>
                                      </p:to>
                                    </p:set>
                                    <p:animEffect transition="in" filter="wipe(left)">
                                      <p:cBhvr>
                                        <p:cTn id="7" dur="500"/>
                                        <p:tgtEl>
                                          <p:spTgt spid="5839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8393"/>
                                        </p:tgtEl>
                                        <p:attrNameLst>
                                          <p:attrName>style.visibility</p:attrName>
                                        </p:attrNameLst>
                                      </p:cBhvr>
                                      <p:to>
                                        <p:strVal val="visible"/>
                                      </p:to>
                                    </p:set>
                                    <p:animEffect transition="in" filter="wipe(left)">
                                      <p:cBhvr>
                                        <p:cTn id="11" dur="500"/>
                                        <p:tgtEl>
                                          <p:spTgt spid="5839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8394"/>
                                        </p:tgtEl>
                                        <p:attrNameLst>
                                          <p:attrName>style.visibility</p:attrName>
                                        </p:attrNameLst>
                                      </p:cBhvr>
                                      <p:to>
                                        <p:strVal val="visible"/>
                                      </p:to>
                                    </p:set>
                                    <p:animEffect transition="in" filter="wipe(left)">
                                      <p:cBhvr>
                                        <p:cTn id="16" dur="500"/>
                                        <p:tgtEl>
                                          <p:spTgt spid="5839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8395"/>
                                        </p:tgtEl>
                                        <p:attrNameLst>
                                          <p:attrName>style.visibility</p:attrName>
                                        </p:attrNameLst>
                                      </p:cBhvr>
                                      <p:to>
                                        <p:strVal val="visible"/>
                                      </p:to>
                                    </p:set>
                                    <p:animEffect transition="in" filter="wipe(left)">
                                      <p:cBhvr>
                                        <p:cTn id="21" dur="500"/>
                                        <p:tgtEl>
                                          <p:spTgt spid="58395"/>
                                        </p:tgtEl>
                                      </p:cBhvr>
                                    </p:animEffect>
                                  </p:childTnLst>
                                </p:cTn>
                              </p:par>
                            </p:childTnLst>
                          </p:cTn>
                        </p:par>
                        <p:par>
                          <p:cTn id="22" fill="hold">
                            <p:stCondLst>
                              <p:cond delay="500"/>
                            </p:stCondLst>
                            <p:childTnLst>
                              <p:par>
                                <p:cTn id="23" presetID="1" presetClass="entr" presetSubtype="0" fill="hold" nodeType="afterEffect">
                                  <p:stCondLst>
                                    <p:cond delay="0"/>
                                  </p:stCondLst>
                                  <p:childTnLst>
                                    <p:set>
                                      <p:cBhvr>
                                        <p:cTn id="24" dur="1" fill="hold">
                                          <p:stCondLst>
                                            <p:cond delay="499"/>
                                          </p:stCondLst>
                                        </p:cTn>
                                        <p:tgtEl>
                                          <p:spTgt spid="58389"/>
                                        </p:tgtEl>
                                        <p:attrNameLst>
                                          <p:attrName>style.visibility</p:attrName>
                                        </p:attrNameLst>
                                      </p:cBhvr>
                                      <p:to>
                                        <p:strVal val="visible"/>
                                      </p:to>
                                    </p:set>
                                  </p:childTnLst>
                                </p:cTn>
                              </p:par>
                            </p:childTnLst>
                          </p:cTn>
                        </p:par>
                        <p:par>
                          <p:cTn id="25" fill="hold">
                            <p:stCondLst>
                              <p:cond delay="1000"/>
                            </p:stCondLst>
                            <p:childTnLst>
                              <p:par>
                                <p:cTn id="26" presetID="2" presetClass="entr" presetSubtype="8" fill="hold" nodeType="afterEffect">
                                  <p:stCondLst>
                                    <p:cond delay="0"/>
                                  </p:stCondLst>
                                  <p:childTnLst>
                                    <p:set>
                                      <p:cBhvr>
                                        <p:cTn id="27" dur="1" fill="hold">
                                          <p:stCondLst>
                                            <p:cond delay="0"/>
                                          </p:stCondLst>
                                        </p:cTn>
                                        <p:tgtEl>
                                          <p:spTgt spid="58388"/>
                                        </p:tgtEl>
                                        <p:attrNameLst>
                                          <p:attrName>style.visibility</p:attrName>
                                        </p:attrNameLst>
                                      </p:cBhvr>
                                      <p:to>
                                        <p:strVal val="visible"/>
                                      </p:to>
                                    </p:set>
                                    <p:anim calcmode="lin" valueType="num">
                                      <p:cBhvr additive="base">
                                        <p:cTn id="28" dur="500" fill="hold"/>
                                        <p:tgtEl>
                                          <p:spTgt spid="58388"/>
                                        </p:tgtEl>
                                        <p:attrNameLst>
                                          <p:attrName>ppt_x</p:attrName>
                                        </p:attrNameLst>
                                      </p:cBhvr>
                                      <p:tavLst>
                                        <p:tav tm="0">
                                          <p:val>
                                            <p:strVal val="0-#ppt_w/2"/>
                                          </p:val>
                                        </p:tav>
                                        <p:tav tm="100000">
                                          <p:val>
                                            <p:strVal val="#ppt_x"/>
                                          </p:val>
                                        </p:tav>
                                      </p:tavLst>
                                    </p:anim>
                                    <p:anim calcmode="lin" valueType="num">
                                      <p:cBhvr additive="base">
                                        <p:cTn id="29" dur="500" fill="hold"/>
                                        <p:tgtEl>
                                          <p:spTgt spid="58388"/>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58401"/>
                                        </p:tgtEl>
                                        <p:attrNameLst>
                                          <p:attrName>style.visibility</p:attrName>
                                        </p:attrNameLst>
                                      </p:cBhvr>
                                      <p:to>
                                        <p:strVal val="visible"/>
                                      </p:to>
                                    </p:set>
                                    <p:anim calcmode="lin" valueType="num">
                                      <p:cBhvr additive="base">
                                        <p:cTn id="34" dur="500" fill="hold"/>
                                        <p:tgtEl>
                                          <p:spTgt spid="58401"/>
                                        </p:tgtEl>
                                        <p:attrNameLst>
                                          <p:attrName>ppt_x</p:attrName>
                                        </p:attrNameLst>
                                      </p:cBhvr>
                                      <p:tavLst>
                                        <p:tav tm="0">
                                          <p:val>
                                            <p:strVal val="0-#ppt_w/2"/>
                                          </p:val>
                                        </p:tav>
                                        <p:tav tm="100000">
                                          <p:val>
                                            <p:strVal val="#ppt_x"/>
                                          </p:val>
                                        </p:tav>
                                      </p:tavLst>
                                    </p:anim>
                                    <p:anim calcmode="lin" valueType="num">
                                      <p:cBhvr additive="base">
                                        <p:cTn id="35" dur="500" fill="hold"/>
                                        <p:tgtEl>
                                          <p:spTgt spid="58401"/>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left)">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92" grpId="0" bldLvl="0" animBg="1" autoUpdateAnimBg="0"/>
      <p:bldP spid="58393" grpId="0" bldLvl="0" animBg="1" autoUpdateAnimBg="0"/>
      <p:bldP spid="58394" grpId="0" bldLvl="0" animBg="1" autoUpdateAnimBg="0"/>
      <p:bldP spid="58395" grpId="0" bldLvl="0" animBg="1" autoUpdateAnimBg="0"/>
      <p:bldP spid="58401" grpId="0" bldLvl="0" animBg="1" autoUpdateAnimBg="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3"/>
          <p:cNvSpPr txBox="1">
            <a:spLocks noChangeArrowheads="1"/>
          </p:cNvSpPr>
          <p:nvPr/>
        </p:nvSpPr>
        <p:spPr bwMode="auto">
          <a:xfrm>
            <a:off x="6786563" y="6143625"/>
            <a:ext cx="874712"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800">
                <a:solidFill>
                  <a:srgbClr val="000099"/>
                </a:solidFill>
              </a:rPr>
              <a:t>安全销</a:t>
            </a:r>
            <a:endParaRPr lang="zh-CN" altLang="en-US" sz="1800"/>
          </a:p>
        </p:txBody>
      </p:sp>
      <p:pic>
        <p:nvPicPr>
          <p:cNvPr id="14339"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85225"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5764530" y="181928"/>
            <a:ext cx="2847975"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3.5-4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销连接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7901" name="文本框 37900"/>
          <p:cNvSpPr txBox="1">
            <a:spLocks noChangeArrowheads="1"/>
          </p:cNvSpPr>
          <p:nvPr/>
        </p:nvSpPr>
        <p:spPr bwMode="auto">
          <a:xfrm>
            <a:off x="285750" y="1357313"/>
            <a:ext cx="845185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rgbClr val="000099"/>
                </a:solidFill>
              </a:rPr>
              <a:t>　　</a:t>
            </a:r>
            <a:r>
              <a:rPr lang="zh-CN" altLang="en-US" sz="2000" dirty="0">
                <a:solidFill>
                  <a:srgbClr val="C00000"/>
                </a:solidFill>
              </a:rPr>
              <a:t>定位销：</a:t>
            </a:r>
            <a:r>
              <a:rPr lang="zh-CN" altLang="en-US" sz="2000" dirty="0">
                <a:solidFill>
                  <a:srgbClr val="000099"/>
                </a:solidFill>
              </a:rPr>
              <a:t>用来固定零件之间的相对位置的销，是组合加工和装配时的重要辅助零件；</a:t>
            </a:r>
            <a:endParaRPr lang="zh-CN" altLang="en-US" sz="2000" dirty="0">
              <a:solidFill>
                <a:srgbClr val="000099"/>
              </a:solidFill>
            </a:endParaRPr>
          </a:p>
          <a:p>
            <a:pPr eaLnBrk="1" hangingPunct="1">
              <a:lnSpc>
                <a:spcPct val="125000"/>
              </a:lnSpc>
            </a:pPr>
            <a:r>
              <a:rPr lang="zh-CN" altLang="en-US" sz="2000" dirty="0">
                <a:solidFill>
                  <a:srgbClr val="000099"/>
                </a:solidFill>
              </a:rPr>
              <a:t>　　</a:t>
            </a:r>
            <a:r>
              <a:rPr lang="zh-CN" altLang="en-US" sz="2000" dirty="0">
                <a:solidFill>
                  <a:srgbClr val="C00000"/>
                </a:solidFill>
              </a:rPr>
              <a:t>连接销：</a:t>
            </a:r>
            <a:r>
              <a:rPr lang="zh-CN" altLang="en-US" sz="2000" dirty="0">
                <a:solidFill>
                  <a:srgbClr val="000099"/>
                </a:solidFill>
              </a:rPr>
              <a:t>用于连接的销，可传递不大的载荷；</a:t>
            </a:r>
            <a:endParaRPr lang="zh-CN" altLang="en-US" sz="2000" dirty="0">
              <a:solidFill>
                <a:srgbClr val="000099"/>
              </a:solidFill>
            </a:endParaRPr>
          </a:p>
          <a:p>
            <a:pPr eaLnBrk="1" hangingPunct="1">
              <a:lnSpc>
                <a:spcPct val="125000"/>
              </a:lnSpc>
            </a:pPr>
            <a:r>
              <a:rPr lang="zh-CN" altLang="en-US" sz="2000" dirty="0">
                <a:solidFill>
                  <a:srgbClr val="000099"/>
                </a:solidFill>
              </a:rPr>
              <a:t>　　</a:t>
            </a:r>
            <a:r>
              <a:rPr lang="zh-CN" altLang="en-US" sz="2000" dirty="0">
                <a:solidFill>
                  <a:srgbClr val="C00000"/>
                </a:solidFill>
              </a:rPr>
              <a:t>安全销：</a:t>
            </a:r>
            <a:r>
              <a:rPr lang="zh-CN" altLang="en-US" sz="2000" dirty="0">
                <a:solidFill>
                  <a:srgbClr val="000099"/>
                </a:solidFill>
              </a:rPr>
              <a:t>作为安全装置的过载剪断原件的销，在机器过载时被剪断。</a:t>
            </a:r>
            <a:endParaRPr lang="zh-CN" altLang="en-US" sz="2000" dirty="0">
              <a:solidFill>
                <a:srgbClr val="000099"/>
              </a:solidFill>
            </a:endParaRPr>
          </a:p>
        </p:txBody>
      </p:sp>
      <p:sp>
        <p:nvSpPr>
          <p:cNvPr id="37903" name="矩形 37902"/>
          <p:cNvSpPr>
            <a:spLocks noChangeArrowheads="1"/>
          </p:cNvSpPr>
          <p:nvPr/>
        </p:nvSpPr>
        <p:spPr bwMode="auto">
          <a:xfrm>
            <a:off x="285750" y="857250"/>
            <a:ext cx="8858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zh-CN" altLang="en-US" sz="2000">
                <a:solidFill>
                  <a:srgbClr val="000099"/>
                </a:solidFill>
              </a:rPr>
              <a:t>　　销连接是通过销将两个被连接件连接在一起。</a:t>
            </a:r>
            <a:endParaRPr lang="zh-CN" altLang="en-US" sz="2000">
              <a:solidFill>
                <a:srgbClr val="000099"/>
              </a:solidFill>
            </a:endParaRPr>
          </a:p>
        </p:txBody>
      </p:sp>
      <p:pic>
        <p:nvPicPr>
          <p:cNvPr id="15383" name="Picture 2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50" y="3714750"/>
            <a:ext cx="2643188" cy="189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矩形 23"/>
          <p:cNvSpPr>
            <a:spLocks noChangeArrowheads="1"/>
          </p:cNvSpPr>
          <p:nvPr/>
        </p:nvSpPr>
        <p:spPr bwMode="auto">
          <a:xfrm>
            <a:off x="1071563" y="6143625"/>
            <a:ext cx="877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800">
                <a:solidFill>
                  <a:srgbClr val="000099"/>
                </a:solidFill>
              </a:rPr>
              <a:t>定位销</a:t>
            </a:r>
            <a:endParaRPr lang="zh-CN" altLang="en-US" sz="1800"/>
          </a:p>
        </p:txBody>
      </p:sp>
      <p:pic>
        <p:nvPicPr>
          <p:cNvPr id="15384" name="Picture 2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71813" y="3357563"/>
            <a:ext cx="2347912"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矩形 25"/>
          <p:cNvSpPr>
            <a:spLocks noChangeArrowheads="1"/>
          </p:cNvSpPr>
          <p:nvPr/>
        </p:nvSpPr>
        <p:spPr bwMode="auto">
          <a:xfrm>
            <a:off x="3786188" y="6143625"/>
            <a:ext cx="877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800">
                <a:solidFill>
                  <a:srgbClr val="000099"/>
                </a:solidFill>
              </a:rPr>
              <a:t>连接销</a:t>
            </a:r>
            <a:endParaRPr lang="zh-CN" altLang="en-US" sz="1800"/>
          </a:p>
        </p:txBody>
      </p:sp>
      <p:pic>
        <p:nvPicPr>
          <p:cNvPr id="15385" name="Picture 2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76900" y="3714750"/>
            <a:ext cx="346710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8"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7903"/>
                                        </p:tgtEl>
                                        <p:attrNameLst>
                                          <p:attrName>style.visibility</p:attrName>
                                        </p:attrNameLst>
                                      </p:cBhvr>
                                      <p:to>
                                        <p:strVal val="visible"/>
                                      </p:to>
                                    </p:set>
                                    <p:animEffect transition="in" filter="wipe(left)">
                                      <p:cBhvr>
                                        <p:cTn id="7" dur="500"/>
                                        <p:tgtEl>
                                          <p:spTgt spid="379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901"/>
                                        </p:tgtEl>
                                        <p:attrNameLst>
                                          <p:attrName>style.visibility</p:attrName>
                                        </p:attrNameLst>
                                      </p:cBhvr>
                                      <p:to>
                                        <p:strVal val="visible"/>
                                      </p:to>
                                    </p:set>
                                    <p:animEffect transition="in" filter="wipe(left)">
                                      <p:cBhvr>
                                        <p:cTn id="12" dur="500"/>
                                        <p:tgtEl>
                                          <p:spTgt spid="3790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383"/>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5384"/>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85"/>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15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37901" grpId="0"/>
      <p:bldP spid="37903" grpId="0"/>
      <p:bldP spid="24" grpId="0"/>
      <p:bldP spid="2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3"/>
          <p:cNvSpPr txBox="1">
            <a:spLocks noChangeArrowheads="1"/>
          </p:cNvSpPr>
          <p:nvPr/>
        </p:nvSpPr>
        <p:spPr bwMode="auto">
          <a:xfrm>
            <a:off x="7377113" y="61626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pic>
        <p:nvPicPr>
          <p:cNvPr id="15363"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85225"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5715000" y="214313"/>
            <a:ext cx="2847975"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3.5-4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销连接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7902" name="文本框 37901"/>
          <p:cNvSpPr txBox="1">
            <a:spLocks noChangeArrowheads="1"/>
          </p:cNvSpPr>
          <p:nvPr/>
        </p:nvSpPr>
        <p:spPr bwMode="auto">
          <a:xfrm>
            <a:off x="214313" y="714375"/>
            <a:ext cx="83058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　　销有多种类型，如圆柱销、圆锥销、槽销、销轴和开口销等。</a:t>
            </a:r>
            <a:endParaRPr lang="zh-CN" altLang="en-US" sz="2000">
              <a:solidFill>
                <a:srgbClr val="000099"/>
              </a:solidFill>
            </a:endParaRPr>
          </a:p>
        </p:txBody>
      </p:sp>
      <p:sp>
        <p:nvSpPr>
          <p:cNvPr id="37929" name="文本框 37928"/>
          <p:cNvSpPr txBox="1">
            <a:spLocks noChangeArrowheads="1"/>
          </p:cNvSpPr>
          <p:nvPr/>
        </p:nvSpPr>
        <p:spPr bwMode="auto">
          <a:xfrm>
            <a:off x="357188" y="6035675"/>
            <a:ext cx="84518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销的材料为</a:t>
            </a:r>
            <a:r>
              <a:rPr lang="en-US" altLang="zh-CN" sz="2000">
                <a:solidFill>
                  <a:srgbClr val="000099"/>
                </a:solidFill>
                <a:latin typeface="Times New Roman" panose="02020603050405020304" pitchFamily="18" charset="0"/>
              </a:rPr>
              <a:t>35</a:t>
            </a:r>
            <a:r>
              <a:rPr lang="zh-CN" altLang="en-US" sz="2000">
                <a:solidFill>
                  <a:srgbClr val="000099"/>
                </a:solidFill>
                <a:latin typeface="Times New Roman" panose="02020603050405020304" pitchFamily="18" charset="0"/>
              </a:rPr>
              <a:t>、</a:t>
            </a:r>
            <a:r>
              <a:rPr lang="en-US" altLang="zh-CN" sz="2000">
                <a:solidFill>
                  <a:srgbClr val="000099"/>
                </a:solidFill>
                <a:latin typeface="Times New Roman" panose="02020603050405020304" pitchFamily="18" charset="0"/>
              </a:rPr>
              <a:t>45</a:t>
            </a:r>
            <a:r>
              <a:rPr lang="zh-CN" altLang="en-US" sz="2000">
                <a:solidFill>
                  <a:srgbClr val="000099"/>
                </a:solidFill>
                <a:latin typeface="Times New Roman" panose="02020603050405020304" pitchFamily="18" charset="0"/>
              </a:rPr>
              <a:t>钢（开口销为低碳钢），许用应力</a:t>
            </a:r>
            <a:r>
              <a:rPr lang="en-US" altLang="zh-CN" sz="2000">
                <a:solidFill>
                  <a:srgbClr val="000099"/>
                </a:solidFill>
                <a:latin typeface="Times New Roman" panose="02020603050405020304" pitchFamily="18" charset="0"/>
              </a:rPr>
              <a:t>[</a:t>
            </a:r>
            <a:r>
              <a:rPr lang="en-US" altLang="zh-CN" sz="2000">
                <a:solidFill>
                  <a:srgbClr val="000099"/>
                </a:solidFill>
                <a:latin typeface="Symbol" panose="05050102010706020507" pitchFamily="18" charset="2"/>
              </a:rPr>
              <a:t>t</a:t>
            </a:r>
            <a:r>
              <a:rPr lang="en-US" altLang="zh-CN" sz="2000">
                <a:solidFill>
                  <a:srgbClr val="000099"/>
                </a:solidFill>
                <a:latin typeface="Times New Roman" panose="02020603050405020304" pitchFamily="18" charset="0"/>
              </a:rPr>
              <a:t>]=80MPa</a:t>
            </a:r>
            <a:r>
              <a:rPr lang="zh-CN" altLang="en-US" sz="2000">
                <a:solidFill>
                  <a:srgbClr val="000099"/>
                </a:solidFill>
                <a:latin typeface="Times New Roman" panose="02020603050405020304" pitchFamily="18" charset="0"/>
              </a:rPr>
              <a:t>，许用</a:t>
            </a:r>
            <a:endParaRPr lang="zh-CN" altLang="en-US" sz="2000">
              <a:solidFill>
                <a:srgbClr val="000099"/>
              </a:solidFill>
              <a:latin typeface="Times New Roman" panose="02020603050405020304" pitchFamily="18" charset="0"/>
            </a:endParaRPr>
          </a:p>
          <a:p>
            <a:pPr eaLnBrk="1" hangingPunct="1">
              <a:lnSpc>
                <a:spcPct val="120000"/>
              </a:lnSpc>
            </a:pPr>
            <a:r>
              <a:rPr lang="zh-CN" altLang="en-US" sz="2000">
                <a:solidFill>
                  <a:srgbClr val="000099"/>
                </a:solidFill>
                <a:latin typeface="Times New Roman" panose="02020603050405020304" pitchFamily="18" charset="0"/>
              </a:rPr>
              <a:t>挤压应力</a:t>
            </a:r>
            <a:r>
              <a:rPr lang="en-US" altLang="zh-CN" sz="2000">
                <a:solidFill>
                  <a:srgbClr val="000099"/>
                </a:solidFill>
                <a:latin typeface="Times New Roman" panose="02020603050405020304" pitchFamily="18" charset="0"/>
              </a:rPr>
              <a:t>[</a:t>
            </a:r>
            <a:r>
              <a:rPr lang="en-US" altLang="zh-CN" sz="2000">
                <a:solidFill>
                  <a:srgbClr val="000099"/>
                </a:solidFill>
                <a:latin typeface="Symbol" panose="05050102010706020507" pitchFamily="18" charset="2"/>
              </a:rPr>
              <a:t>s</a:t>
            </a:r>
            <a:r>
              <a:rPr lang="en-US" altLang="zh-CN" sz="2000" baseline="-25000">
                <a:solidFill>
                  <a:srgbClr val="000099"/>
                </a:solidFill>
                <a:latin typeface="Times New Roman" panose="02020603050405020304" pitchFamily="18" charset="0"/>
              </a:rPr>
              <a:t>p</a:t>
            </a:r>
            <a:r>
              <a:rPr lang="en-US" altLang="zh-CN" sz="2000">
                <a:solidFill>
                  <a:srgbClr val="000099"/>
                </a:solidFill>
                <a:latin typeface="Times New Roman" panose="02020603050405020304" pitchFamily="18" charset="0"/>
              </a:rPr>
              <a:t>]</a:t>
            </a:r>
            <a:r>
              <a:rPr lang="zh-CN" altLang="en-US" sz="2000">
                <a:solidFill>
                  <a:srgbClr val="000099"/>
                </a:solidFill>
                <a:latin typeface="Times New Roman" panose="02020603050405020304" pitchFamily="18" charset="0"/>
              </a:rPr>
              <a:t>与键联接的挤压应力相同。</a:t>
            </a:r>
            <a:endParaRPr lang="zh-CN" altLang="en-US" sz="2000">
              <a:solidFill>
                <a:srgbClr val="000099"/>
              </a:solidFill>
              <a:latin typeface="Times New Roman" panose="02020603050405020304" pitchFamily="18" charset="0"/>
            </a:endParaRPr>
          </a:p>
        </p:txBody>
      </p:sp>
      <p:grpSp>
        <p:nvGrpSpPr>
          <p:cNvPr id="2" name="组合 37938"/>
          <p:cNvGrpSpPr>
            <a:grpSpLocks noChangeAspect="1"/>
          </p:cNvGrpSpPr>
          <p:nvPr/>
        </p:nvGrpSpPr>
        <p:grpSpPr bwMode="auto">
          <a:xfrm>
            <a:off x="1428750" y="2571750"/>
            <a:ext cx="5180013" cy="1273175"/>
            <a:chOff x="1097" y="2640"/>
            <a:chExt cx="3467" cy="852"/>
          </a:xfrm>
        </p:grpSpPr>
        <p:pic>
          <p:nvPicPr>
            <p:cNvPr id="15379" name="图片 37904" descr="Xiao-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6" y="2640"/>
              <a:ext cx="770" cy="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0" name="图片 37907" descr="Xiao-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 y="2701"/>
              <a:ext cx="626"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1" name="图片 37909" descr="Xiao-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7" y="2691"/>
              <a:ext cx="684"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82" name="文本框 37931"/>
            <p:cNvSpPr txBox="1">
              <a:spLocks noChangeArrowheads="1"/>
            </p:cNvSpPr>
            <p:nvPr/>
          </p:nvSpPr>
          <p:spPr bwMode="auto">
            <a:xfrm>
              <a:off x="1144" y="3213"/>
              <a:ext cx="721"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槽  销</a:t>
              </a:r>
              <a:endParaRPr lang="zh-CN" altLang="en-US" sz="2000">
                <a:solidFill>
                  <a:srgbClr val="000099"/>
                </a:solidFill>
              </a:endParaRPr>
            </a:p>
          </p:txBody>
        </p:sp>
        <p:sp>
          <p:nvSpPr>
            <p:cNvPr id="15383" name="文本框 37932"/>
            <p:cNvSpPr txBox="1">
              <a:spLocks noChangeArrowheads="1"/>
            </p:cNvSpPr>
            <p:nvPr/>
          </p:nvSpPr>
          <p:spPr bwMode="auto">
            <a:xfrm>
              <a:off x="3408" y="3225"/>
              <a:ext cx="1156"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销轴和开口销</a:t>
              </a:r>
              <a:endParaRPr lang="zh-CN" altLang="en-US" sz="2000">
                <a:solidFill>
                  <a:srgbClr val="000099"/>
                </a:solidFill>
              </a:endParaRPr>
            </a:p>
          </p:txBody>
        </p:sp>
        <p:sp>
          <p:nvSpPr>
            <p:cNvPr id="15384" name="文本框 37933"/>
            <p:cNvSpPr txBox="1">
              <a:spLocks noChangeArrowheads="1"/>
            </p:cNvSpPr>
            <p:nvPr/>
          </p:nvSpPr>
          <p:spPr bwMode="auto">
            <a:xfrm>
              <a:off x="2156" y="3225"/>
              <a:ext cx="1010"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开尾圆锥销</a:t>
              </a:r>
              <a:endParaRPr lang="zh-CN" altLang="en-US" sz="2000">
                <a:solidFill>
                  <a:srgbClr val="000099"/>
                </a:solidFill>
              </a:endParaRPr>
            </a:p>
          </p:txBody>
        </p:sp>
      </p:grpSp>
      <p:grpSp>
        <p:nvGrpSpPr>
          <p:cNvPr id="3" name="组合 37937"/>
          <p:cNvGrpSpPr>
            <a:grpSpLocks noChangeAspect="1"/>
          </p:cNvGrpSpPr>
          <p:nvPr/>
        </p:nvGrpSpPr>
        <p:grpSpPr bwMode="auto">
          <a:xfrm>
            <a:off x="1571625" y="1285875"/>
            <a:ext cx="5192713" cy="1147763"/>
            <a:chOff x="1200" y="1728"/>
            <a:chExt cx="3391" cy="749"/>
          </a:xfrm>
        </p:grpSpPr>
        <p:pic>
          <p:nvPicPr>
            <p:cNvPr id="15373" name="图片 37905" descr="Xiao-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6" y="1743"/>
              <a:ext cx="574"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4" name="图片 37906" descr="Xiao-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8" y="1749"/>
              <a:ext cx="578"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5" name="图片 37908" descr="Xiao-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4" y="1728"/>
              <a:ext cx="619"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6" name="文本框 37929"/>
            <p:cNvSpPr txBox="1">
              <a:spLocks noChangeArrowheads="1"/>
            </p:cNvSpPr>
            <p:nvPr/>
          </p:nvSpPr>
          <p:spPr bwMode="auto">
            <a:xfrm>
              <a:off x="1200" y="2217"/>
              <a:ext cx="734"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圆柱销</a:t>
              </a:r>
              <a:endParaRPr lang="zh-CN" altLang="en-US" sz="2000">
                <a:solidFill>
                  <a:srgbClr val="000099"/>
                </a:solidFill>
              </a:endParaRPr>
            </a:p>
          </p:txBody>
        </p:sp>
        <p:sp>
          <p:nvSpPr>
            <p:cNvPr id="15377" name="文本框 37930"/>
            <p:cNvSpPr txBox="1">
              <a:spLocks noChangeArrowheads="1"/>
            </p:cNvSpPr>
            <p:nvPr/>
          </p:nvSpPr>
          <p:spPr bwMode="auto">
            <a:xfrm>
              <a:off x="2448" y="2217"/>
              <a:ext cx="64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圆锥销</a:t>
              </a:r>
              <a:endParaRPr lang="zh-CN" altLang="en-US" sz="2000">
                <a:solidFill>
                  <a:srgbClr val="000099"/>
                </a:solidFill>
              </a:endParaRPr>
            </a:p>
          </p:txBody>
        </p:sp>
        <p:sp>
          <p:nvSpPr>
            <p:cNvPr id="15378" name="文本框 37934"/>
            <p:cNvSpPr txBox="1">
              <a:spLocks noChangeArrowheads="1"/>
            </p:cNvSpPr>
            <p:nvPr/>
          </p:nvSpPr>
          <p:spPr bwMode="auto">
            <a:xfrm>
              <a:off x="3456" y="2217"/>
              <a:ext cx="113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内螺纹圆锥销</a:t>
              </a:r>
              <a:endParaRPr lang="zh-CN" altLang="en-US" sz="2000">
                <a:solidFill>
                  <a:srgbClr val="000099"/>
                </a:solidFill>
              </a:endParaRPr>
            </a:p>
          </p:txBody>
        </p:sp>
      </p:grpSp>
      <p:pic>
        <p:nvPicPr>
          <p:cNvPr id="36866" name="Picture 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286125" y="3929063"/>
            <a:ext cx="1919288"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7"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57188" y="3857625"/>
            <a:ext cx="2938462"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8" name="Picture 4"/>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429250" y="3857625"/>
            <a:ext cx="3154363"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2"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902"/>
                                        </p:tgtEl>
                                        <p:attrNameLst>
                                          <p:attrName>style.visibility</p:attrName>
                                        </p:attrNameLst>
                                      </p:cBhvr>
                                      <p:to>
                                        <p:strVal val="visible"/>
                                      </p:to>
                                    </p:set>
                                    <p:animEffect transition="in" filter="wipe(left)">
                                      <p:cBhvr>
                                        <p:cTn id="7" dur="500"/>
                                        <p:tgtEl>
                                          <p:spTgt spid="379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6867"/>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36866"/>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nodeType="afterEffect">
                                  <p:stCondLst>
                                    <p:cond delay="0"/>
                                  </p:stCondLst>
                                  <p:childTnLst>
                                    <p:set>
                                      <p:cBhvr>
                                        <p:cTn id="26" dur="1" fill="hold">
                                          <p:stCondLst>
                                            <p:cond delay="0"/>
                                          </p:stCondLst>
                                        </p:cTn>
                                        <p:tgtEl>
                                          <p:spTgt spid="3686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7929"/>
                                        </p:tgtEl>
                                        <p:attrNameLst>
                                          <p:attrName>style.visibility</p:attrName>
                                        </p:attrNameLst>
                                      </p:cBhvr>
                                      <p:to>
                                        <p:strVal val="visible"/>
                                      </p:to>
                                    </p:set>
                                    <p:animEffect transition="in" filter="wipe(left)">
                                      <p:cBhvr>
                                        <p:cTn id="31" dur="500"/>
                                        <p:tgtEl>
                                          <p:spTgt spid="379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2" grpId="0"/>
      <p:bldP spid="37929" grpId="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4338" name="Rectangle 2"/>
          <p:cNvSpPr>
            <a:spLocks noGrp="1" noChangeArrowheads="1"/>
          </p:cNvSpPr>
          <p:nvPr>
            <p:ph type="title"/>
          </p:nvPr>
        </p:nvSpPr>
        <p:spPr bwMode="auto">
          <a:xfrm>
            <a:off x="6159500" y="136551"/>
            <a:ext cx="2984500" cy="490537"/>
          </a:xfrm>
          <a:ln>
            <a:miter lim="800000"/>
          </a:ln>
        </p:spPr>
        <p:txBody>
          <a:bodyPr vert="horz" wrap="square" lIns="91440" tIns="45720" rIns="91440" bIns="45720" numCol="1" anchor="t" anchorCtr="0" compatLnSpc="1"/>
          <a:lstStyle/>
          <a:p>
            <a:pPr eaLnBrk="1" hangingPunct="1">
              <a:defRPr/>
            </a:pP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16388"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50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36"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矩形 8"/>
          <p:cNvSpPr>
            <a:spLocks noChangeArrowheads="1"/>
          </p:cNvSpPr>
          <p:nvPr/>
        </p:nvSpPr>
        <p:spPr bwMode="auto">
          <a:xfrm>
            <a:off x="519034" y="215719"/>
            <a:ext cx="16770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0000FF"/>
                </a:solidFill>
              </a:rPr>
              <a:t>1.</a:t>
            </a:r>
            <a:r>
              <a:rPr lang="zh-CN" altLang="en-US" sz="2400" dirty="0">
                <a:solidFill>
                  <a:srgbClr val="0000FF"/>
                </a:solidFill>
              </a:rPr>
              <a:t>普通平键</a:t>
            </a:r>
            <a:endParaRPr lang="zh-CN" altLang="en-US" sz="2400" dirty="0">
              <a:solidFill>
                <a:srgbClr val="0000FF"/>
              </a:solidFill>
            </a:endParaRPr>
          </a:p>
        </p:txBody>
      </p:sp>
      <p:sp>
        <p:nvSpPr>
          <p:cNvPr id="16391" name="文本框 2"/>
          <p:cNvSpPr txBox="1">
            <a:spLocks noChangeArrowheads="1"/>
          </p:cNvSpPr>
          <p:nvPr/>
        </p:nvSpPr>
        <p:spPr bwMode="auto">
          <a:xfrm>
            <a:off x="352348" y="869013"/>
            <a:ext cx="859155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　　普通平键按构造分，有圆头（Ａ型）、平头（</a:t>
            </a:r>
            <a:r>
              <a:rPr lang="en-US" altLang="zh-CN" sz="2000" dirty="0">
                <a:solidFill>
                  <a:srgbClr val="000099"/>
                </a:solidFill>
              </a:rPr>
              <a:t>B</a:t>
            </a:r>
            <a:r>
              <a:rPr lang="zh-CN" altLang="en-US" sz="2000" dirty="0">
                <a:solidFill>
                  <a:srgbClr val="000099"/>
                </a:solidFill>
              </a:rPr>
              <a:t>型）以及单圆头（Ｃ型）三种，其结构形式如下图所示：</a:t>
            </a:r>
            <a:endParaRPr lang="zh-CN" altLang="en-US" sz="2000" dirty="0">
              <a:solidFill>
                <a:srgbClr val="000099"/>
              </a:solidFill>
            </a:endParaRPr>
          </a:p>
        </p:txBody>
      </p:sp>
      <p:sp>
        <p:nvSpPr>
          <p:cNvPr id="16392" name="文本框 3"/>
          <p:cNvSpPr txBox="1">
            <a:spLocks noChangeArrowheads="1"/>
          </p:cNvSpPr>
          <p:nvPr/>
        </p:nvSpPr>
        <p:spPr bwMode="auto">
          <a:xfrm>
            <a:off x="404813" y="4641850"/>
            <a:ext cx="83375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　　</a:t>
            </a:r>
            <a:r>
              <a:rPr lang="zh-CN" altLang="en-US" sz="2000" dirty="0">
                <a:solidFill>
                  <a:srgbClr val="FF0000"/>
                </a:solidFill>
              </a:rPr>
              <a:t>Ａ型</a:t>
            </a:r>
            <a:r>
              <a:rPr lang="zh-CN" altLang="en-US" sz="2000" dirty="0">
                <a:solidFill>
                  <a:srgbClr val="000099"/>
                </a:solidFill>
              </a:rPr>
              <a:t>平键的轴槽用端铣刀加工，键在槽中固定良好，但轴上键槽引起的应力集中较大；</a:t>
            </a:r>
            <a:endParaRPr lang="zh-CN" altLang="en-US" sz="2000" dirty="0">
              <a:solidFill>
                <a:srgbClr val="000099"/>
              </a:solidFill>
            </a:endParaRPr>
          </a:p>
        </p:txBody>
      </p:sp>
      <p:sp>
        <p:nvSpPr>
          <p:cNvPr id="16393" name="文本框 4"/>
          <p:cNvSpPr txBox="1">
            <a:spLocks noChangeArrowheads="1"/>
          </p:cNvSpPr>
          <p:nvPr/>
        </p:nvSpPr>
        <p:spPr bwMode="auto">
          <a:xfrm>
            <a:off x="446088" y="5840413"/>
            <a:ext cx="8537575"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　</a:t>
            </a:r>
            <a:r>
              <a:rPr lang="zh-CN" altLang="en-US" sz="2000" dirty="0">
                <a:solidFill>
                  <a:srgbClr val="FF0000"/>
                </a:solidFill>
              </a:rPr>
              <a:t>　Ｃ型</a:t>
            </a:r>
            <a:r>
              <a:rPr lang="zh-CN" altLang="en-US" sz="2000" dirty="0">
                <a:solidFill>
                  <a:srgbClr val="000099"/>
                </a:solidFill>
              </a:rPr>
              <a:t>平键常用于轴端与毂类零件连接，与Ａ型平键一样，其圆头部分的侧面与键槽领不接触，未能充分利用。</a:t>
            </a:r>
            <a:endParaRPr lang="zh-CN" altLang="en-US" sz="2000" dirty="0">
              <a:solidFill>
                <a:srgbClr val="000099"/>
              </a:solidFill>
            </a:endParaRPr>
          </a:p>
        </p:txBody>
      </p:sp>
      <p:sp>
        <p:nvSpPr>
          <p:cNvPr id="16394" name="文本框 6"/>
          <p:cNvSpPr txBox="1">
            <a:spLocks noChangeArrowheads="1"/>
          </p:cNvSpPr>
          <p:nvPr/>
        </p:nvSpPr>
        <p:spPr bwMode="auto">
          <a:xfrm>
            <a:off x="534035" y="5380355"/>
            <a:ext cx="870521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FF0000"/>
                </a:solidFill>
              </a:rPr>
              <a:t>Ｂ型</a:t>
            </a:r>
            <a:r>
              <a:rPr lang="zh-CN" altLang="en-US" sz="2000">
                <a:solidFill>
                  <a:srgbClr val="000099"/>
                </a:solidFill>
              </a:rPr>
              <a:t>平键用于盘铣刀加工的轴槽，轴的应力集中较小，用紧定螺钉固定；</a:t>
            </a:r>
            <a:endParaRPr lang="zh-CN" altLang="en-US" sz="2000">
              <a:solidFill>
                <a:srgbClr val="000099"/>
              </a:solidFill>
            </a:endParaRPr>
          </a:p>
        </p:txBody>
      </p:sp>
      <p:pic>
        <p:nvPicPr>
          <p:cNvPr id="1639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695" y="1567815"/>
            <a:ext cx="8119745" cy="3024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6" name="直接连接符 6"/>
          <p:cNvSpPr>
            <a:spLocks noChangeShapeType="1"/>
          </p:cNvSpPr>
          <p:nvPr/>
        </p:nvSpPr>
        <p:spPr bwMode="auto">
          <a:xfrm>
            <a:off x="-89941" y="667739"/>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395"/>
                                        </p:tgtEl>
                                        <p:attrNameLst>
                                          <p:attrName>style.visibility</p:attrName>
                                        </p:attrNameLst>
                                      </p:cBhvr>
                                      <p:to>
                                        <p:strVal val="visible"/>
                                      </p:to>
                                    </p:set>
                                    <p:animEffect transition="in" filter="wipe(left)">
                                      <p:cBhvr>
                                        <p:cTn id="7" dur="500"/>
                                        <p:tgtEl>
                                          <p:spTgt spid="163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392">
                                            <p:txEl>
                                              <p:pRg st="0" end="0"/>
                                            </p:txEl>
                                          </p:spTgt>
                                        </p:tgtEl>
                                        <p:attrNameLst>
                                          <p:attrName>style.visibility</p:attrName>
                                        </p:attrNameLst>
                                      </p:cBhvr>
                                      <p:to>
                                        <p:strVal val="visible"/>
                                      </p:to>
                                    </p:set>
                                    <p:animEffect transition="in" filter="wipe(left)">
                                      <p:cBhvr>
                                        <p:cTn id="12" dur="500"/>
                                        <p:tgtEl>
                                          <p:spTgt spid="1639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394">
                                            <p:txEl>
                                              <p:pRg st="0" end="0"/>
                                            </p:txEl>
                                          </p:spTgt>
                                        </p:tgtEl>
                                        <p:attrNameLst>
                                          <p:attrName>style.visibility</p:attrName>
                                        </p:attrNameLst>
                                      </p:cBhvr>
                                      <p:to>
                                        <p:strVal val="visible"/>
                                      </p:to>
                                    </p:set>
                                    <p:animEffect transition="in" filter="wipe(left)">
                                      <p:cBhvr>
                                        <p:cTn id="17" dur="500"/>
                                        <p:tgtEl>
                                          <p:spTgt spid="1639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393">
                                            <p:txEl>
                                              <p:pRg st="0" end="0"/>
                                            </p:txEl>
                                          </p:spTgt>
                                        </p:tgtEl>
                                        <p:attrNameLst>
                                          <p:attrName>style.visibility</p:attrName>
                                        </p:attrNameLst>
                                      </p:cBhvr>
                                      <p:to>
                                        <p:strVal val="visible"/>
                                      </p:to>
                                    </p:set>
                                    <p:animEffect transition="in" filter="wipe(left)">
                                      <p:cBhvr>
                                        <p:cTn id="22" dur="500"/>
                                        <p:tgtEl>
                                          <p:spTgt spid="163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4338" name="Rectangle 2"/>
          <p:cNvSpPr>
            <a:spLocks noGrp="1" noChangeArrowheads="1"/>
          </p:cNvSpPr>
          <p:nvPr>
            <p:ph type="title"/>
          </p:nvPr>
        </p:nvSpPr>
        <p:spPr bwMode="auto">
          <a:xfrm>
            <a:off x="6159500" y="106194"/>
            <a:ext cx="2984500" cy="490537"/>
          </a:xfrm>
          <a:ln>
            <a:miter lim="800000"/>
          </a:ln>
        </p:spPr>
        <p:txBody>
          <a:bodyPr vert="horz" wrap="square" lIns="91440" tIns="45720" rIns="91440" bIns="45720" numCol="1" anchor="t" anchorCtr="0" compatLnSpc="1"/>
          <a:lstStyle/>
          <a:p>
            <a:pPr eaLnBrk="1" hangingPunct="1">
              <a:defRPr/>
            </a:pP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17412" name="Picture 36" descr="NEXT1">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矩形 8"/>
          <p:cNvSpPr>
            <a:spLocks noChangeArrowheads="1"/>
          </p:cNvSpPr>
          <p:nvPr/>
        </p:nvSpPr>
        <p:spPr bwMode="auto">
          <a:xfrm>
            <a:off x="496549" y="223214"/>
            <a:ext cx="16770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0000FF"/>
                </a:solidFill>
              </a:rPr>
              <a:t>2.</a:t>
            </a:r>
            <a:r>
              <a:rPr lang="zh-CN" altLang="en-US" sz="2400" dirty="0">
                <a:solidFill>
                  <a:srgbClr val="0000FF"/>
                </a:solidFill>
              </a:rPr>
              <a:t>导向平键</a:t>
            </a:r>
            <a:endParaRPr lang="zh-CN" altLang="en-US" sz="2400" dirty="0">
              <a:solidFill>
                <a:srgbClr val="0000FF"/>
              </a:solidFill>
            </a:endParaRPr>
          </a:p>
        </p:txBody>
      </p:sp>
      <p:sp>
        <p:nvSpPr>
          <p:cNvPr id="17414" name="文本框 1"/>
          <p:cNvSpPr txBox="1">
            <a:spLocks noChangeArrowheads="1"/>
          </p:cNvSpPr>
          <p:nvPr/>
        </p:nvSpPr>
        <p:spPr bwMode="auto">
          <a:xfrm>
            <a:off x="301625" y="1041400"/>
            <a:ext cx="8318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　　当被连接的毂类零件在工作中必须在轴上作轴向移动时，则可采用导向平键。导向平键是一种较长的平键，结构形式如下图：</a:t>
            </a:r>
            <a:endParaRPr lang="zh-CN" altLang="en-US" sz="2000" dirty="0">
              <a:solidFill>
                <a:srgbClr val="000099"/>
              </a:solidFill>
            </a:endParaRPr>
          </a:p>
        </p:txBody>
      </p:sp>
      <p:sp>
        <p:nvSpPr>
          <p:cNvPr id="17415" name="文本框 2"/>
          <p:cNvSpPr txBox="1">
            <a:spLocks noChangeArrowheads="1"/>
          </p:cNvSpPr>
          <p:nvPr/>
        </p:nvSpPr>
        <p:spPr bwMode="auto">
          <a:xfrm>
            <a:off x="301625" y="6142038"/>
            <a:ext cx="7878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　　用于轴上零件轴向移动量不大的场合，如变速箱中的滑移齿轮。</a:t>
            </a:r>
            <a:endParaRPr lang="zh-CN" altLang="en-US" sz="2000">
              <a:solidFill>
                <a:srgbClr val="000099"/>
              </a:solidFill>
            </a:endParaRPr>
          </a:p>
        </p:txBody>
      </p:sp>
      <p:sp>
        <p:nvSpPr>
          <p:cNvPr id="17416" name="文本框 3"/>
          <p:cNvSpPr txBox="1">
            <a:spLocks noChangeArrowheads="1"/>
          </p:cNvSpPr>
          <p:nvPr/>
        </p:nvSpPr>
        <p:spPr bwMode="auto">
          <a:xfrm>
            <a:off x="301625" y="5411788"/>
            <a:ext cx="8537575"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　　键用螺钉固定在轴上，键与轮毂键槽为间隙配合，轴上零件能做轴向移动。为了拆卸时方便，设有起键螺钉孔，以便拧入螺钉使键退出键槽。</a:t>
            </a:r>
            <a:endParaRPr lang="zh-CN" altLang="en-US" sz="2000">
              <a:solidFill>
                <a:srgbClr val="000099"/>
              </a:solidFill>
            </a:endParaRPr>
          </a:p>
        </p:txBody>
      </p:sp>
      <p:pic>
        <p:nvPicPr>
          <p:cNvPr id="17417"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3" y="1785938"/>
            <a:ext cx="8724900"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8" name="直接连接符 6"/>
          <p:cNvSpPr>
            <a:spLocks noChangeShapeType="1"/>
          </p:cNvSpPr>
          <p:nvPr/>
        </p:nvSpPr>
        <p:spPr bwMode="auto">
          <a:xfrm>
            <a:off x="0" y="685201"/>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417"/>
                                        </p:tgtEl>
                                        <p:attrNameLst>
                                          <p:attrName>style.visibility</p:attrName>
                                        </p:attrNameLst>
                                      </p:cBhvr>
                                      <p:to>
                                        <p:strVal val="visible"/>
                                      </p:to>
                                    </p:set>
                                    <p:animEffect transition="in" filter="wipe(left)">
                                      <p:cBhvr>
                                        <p:cTn id="7" dur="500"/>
                                        <p:tgtEl>
                                          <p:spTgt spid="174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6"/>
                                        </p:tgtEl>
                                        <p:attrNameLst>
                                          <p:attrName>style.visibility</p:attrName>
                                        </p:attrNameLst>
                                      </p:cBhvr>
                                      <p:to>
                                        <p:strVal val="visible"/>
                                      </p:to>
                                    </p:set>
                                    <p:animEffect transition="in" filter="wipe(left)">
                                      <p:cBhvr>
                                        <p:cTn id="12" dur="500"/>
                                        <p:tgtEl>
                                          <p:spTgt spid="174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5"/>
                                        </p:tgtEl>
                                        <p:attrNameLst>
                                          <p:attrName>style.visibility</p:attrName>
                                        </p:attrNameLst>
                                      </p:cBhvr>
                                      <p:to>
                                        <p:strVal val="visible"/>
                                      </p:to>
                                    </p:set>
                                    <p:animEffect transition="in" filter="wipe(left)">
                                      <p:cBhvr>
                                        <p:cTn id="17" dur="500"/>
                                        <p:tgtEl>
                                          <p:spTgt spid="17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6" grpId="0"/>
      <p:bldP spid="17415" grpId="0"/>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434" name="图片 61443"/>
          <p:cNvPicPr>
            <a:picLocks noChangeAspect="1" noChangeArrowheads="1"/>
          </p:cNvPicPr>
          <p:nvPr/>
        </p:nvPicPr>
        <p:blipFill>
          <a:blip r:embed="rId1">
            <a:extLst>
              <a:ext uri="{28A0092B-C50C-407E-A947-70E740481C1C}">
                <a14:useLocalDpi xmlns:a14="http://schemas.microsoft.com/office/drawing/2010/main" val="0"/>
              </a:ext>
            </a:extLst>
          </a:blip>
          <a:srcRect l="16754" t="25684" r="17970" b="23131"/>
          <a:stretch>
            <a:fillRect/>
          </a:stretch>
        </p:blipFill>
        <p:spPr bwMode="auto">
          <a:xfrm>
            <a:off x="846773" y="1540828"/>
            <a:ext cx="7429500" cy="364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4338" name="Rectangle 2"/>
          <p:cNvSpPr>
            <a:spLocks noGrp="1" noChangeArrowheads="1"/>
          </p:cNvSpPr>
          <p:nvPr>
            <p:ph type="title"/>
          </p:nvPr>
        </p:nvSpPr>
        <p:spPr bwMode="auto">
          <a:xfrm>
            <a:off x="6142038" y="271463"/>
            <a:ext cx="2984500" cy="490537"/>
          </a:xfrm>
          <a:ln>
            <a:miter lim="800000"/>
          </a:ln>
        </p:spPr>
        <p:txBody>
          <a:bodyPr vert="horz" wrap="square" lIns="91440" tIns="45720" rIns="91440" bIns="45720" numCol="1" anchor="t" anchorCtr="0" compatLnSpc="1"/>
          <a:lstStyle/>
          <a:p>
            <a:pPr eaLnBrk="1" hangingPunct="1">
              <a:defRPr/>
            </a:pP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18437" name="Picture 34" descr="rewind1">
            <a:hlinkClick r:id="rId2" action="ppaction://hlinksldjump"/>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550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35" descr="back1">
            <a:hlinkClick r:id="" action="ppaction://hlinkshowjump?jump=previous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63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矩形 8"/>
          <p:cNvSpPr>
            <a:spLocks noChangeArrowheads="1"/>
          </p:cNvSpPr>
          <p:nvPr/>
        </p:nvSpPr>
        <p:spPr bwMode="auto">
          <a:xfrm>
            <a:off x="611560" y="327047"/>
            <a:ext cx="10615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0000FF"/>
                </a:solidFill>
              </a:rPr>
              <a:t>3.</a:t>
            </a:r>
            <a:r>
              <a:rPr lang="zh-CN" altLang="en-US" sz="2400" dirty="0">
                <a:solidFill>
                  <a:srgbClr val="0000FF"/>
                </a:solidFill>
              </a:rPr>
              <a:t>滑键</a:t>
            </a:r>
            <a:endParaRPr lang="zh-CN" altLang="en-US" sz="2400" dirty="0">
              <a:solidFill>
                <a:srgbClr val="0000FF"/>
              </a:solidFill>
            </a:endParaRPr>
          </a:p>
        </p:txBody>
      </p:sp>
      <p:sp>
        <p:nvSpPr>
          <p:cNvPr id="18440" name="文本框 1"/>
          <p:cNvSpPr txBox="1">
            <a:spLocks noChangeArrowheads="1"/>
          </p:cNvSpPr>
          <p:nvPr/>
        </p:nvSpPr>
        <p:spPr bwMode="auto">
          <a:xfrm>
            <a:off x="6729413" y="6257925"/>
            <a:ext cx="6905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hlinkClick r:id="rId5" action="ppaction://hlinksldjump"/>
              </a:rPr>
              <a:t>返回</a:t>
            </a:r>
            <a:endParaRPr lang="zh-CN" altLang="en-US" sz="2000">
              <a:solidFill>
                <a:srgbClr val="000099"/>
              </a:solidFill>
            </a:endParaRPr>
          </a:p>
        </p:txBody>
      </p:sp>
      <p:sp>
        <p:nvSpPr>
          <p:cNvPr id="18441" name="文本框 2"/>
          <p:cNvSpPr txBox="1">
            <a:spLocks noChangeArrowheads="1"/>
          </p:cNvSpPr>
          <p:nvPr/>
        </p:nvSpPr>
        <p:spPr bwMode="auto">
          <a:xfrm>
            <a:off x="323528" y="970310"/>
            <a:ext cx="8255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　　当零件需要滑移的距离较大时，因所需导向平键的长度过大，制造困难，故宜采用滑键。</a:t>
            </a:r>
            <a:endParaRPr lang="zh-CN" altLang="en-US" sz="2000">
              <a:solidFill>
                <a:srgbClr val="000099"/>
              </a:solidFill>
            </a:endParaRPr>
          </a:p>
        </p:txBody>
      </p:sp>
      <p:sp>
        <p:nvSpPr>
          <p:cNvPr id="18442" name="文本框 3"/>
          <p:cNvSpPr txBox="1">
            <a:spLocks noChangeArrowheads="1"/>
          </p:cNvSpPr>
          <p:nvPr/>
        </p:nvSpPr>
        <p:spPr bwMode="auto">
          <a:xfrm>
            <a:off x="365125" y="5467350"/>
            <a:ext cx="7878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　　滑键固定在轮毂上，轴上零件带键在轴上的键槽中作轴向移动。</a:t>
            </a:r>
            <a:endParaRPr lang="zh-CN" altLang="en-US" sz="2000">
              <a:solidFill>
                <a:srgbClr val="000099"/>
              </a:solidFill>
            </a:endParaRPr>
          </a:p>
        </p:txBody>
      </p:sp>
      <p:sp>
        <p:nvSpPr>
          <p:cNvPr id="18443" name="文本框 4"/>
          <p:cNvSpPr txBox="1">
            <a:spLocks noChangeArrowheads="1"/>
          </p:cNvSpPr>
          <p:nvPr/>
        </p:nvSpPr>
        <p:spPr bwMode="auto">
          <a:xfrm>
            <a:off x="365125" y="5865813"/>
            <a:ext cx="5570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　　滑键主要用于轮上零件移动量较大的场合。</a:t>
            </a:r>
            <a:endParaRPr lang="zh-CN" altLang="en-US" sz="2000">
              <a:solidFill>
                <a:srgbClr val="000099"/>
              </a:solidFill>
            </a:endParaRPr>
          </a:p>
        </p:txBody>
      </p:sp>
      <p:sp>
        <p:nvSpPr>
          <p:cNvPr id="18444"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42"/>
                                        </p:tgtEl>
                                        <p:attrNameLst>
                                          <p:attrName>style.visibility</p:attrName>
                                        </p:attrNameLst>
                                      </p:cBhvr>
                                      <p:to>
                                        <p:strVal val="visible"/>
                                      </p:to>
                                    </p:set>
                                    <p:animEffect transition="in" filter="wipe(left)">
                                      <p:cBhvr>
                                        <p:cTn id="7" dur="500"/>
                                        <p:tgtEl>
                                          <p:spTgt spid="184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43"/>
                                        </p:tgtEl>
                                        <p:attrNameLst>
                                          <p:attrName>style.visibility</p:attrName>
                                        </p:attrNameLst>
                                      </p:cBhvr>
                                      <p:to>
                                        <p:strVal val="visible"/>
                                      </p:to>
                                    </p:set>
                                    <p:animEffect transition="in" filter="wipe(left)">
                                      <p:cBhvr>
                                        <p:cTn id="12" dur="500"/>
                                        <p:tgtEl>
                                          <p:spTgt spid="18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2" grpId="0"/>
      <p:bldP spid="18443"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6142038" y="271463"/>
            <a:ext cx="2984500" cy="490537"/>
          </a:xfrm>
          <a:ln>
            <a:miter lim="800000"/>
          </a:ln>
        </p:spPr>
        <p:txBody>
          <a:bodyPr vert="horz" wrap="square" lIns="91440" tIns="45720" rIns="91440" bIns="45720" numCol="1" anchor="t" anchorCtr="0" compatLnSpc="1"/>
          <a:lstStyle/>
          <a:p>
            <a:pPr eaLnBrk="1" hangingPunct="1">
              <a:defRPr/>
            </a:pP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4101"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3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098" name="对象 27671"/>
          <p:cNvGraphicFramePr/>
          <p:nvPr/>
        </p:nvGraphicFramePr>
        <p:xfrm>
          <a:off x="4591050" y="3222625"/>
          <a:ext cx="114300" cy="215900"/>
        </p:xfrm>
        <a:graphic>
          <a:graphicData uri="http://schemas.openxmlformats.org/presentationml/2006/ole">
            <mc:AlternateContent xmlns:mc="http://schemas.openxmlformats.org/markup-compatibility/2006">
              <mc:Choice xmlns:v="urn:schemas-microsoft-com:vml" Requires="v">
                <p:oleObj spid="_x0000_s4163" name="" r:id="rId3" imgW="114300" imgH="215265" progId="Equation.3">
                  <p:embed/>
                </p:oleObj>
              </mc:Choice>
              <mc:Fallback>
                <p:oleObj name="" r:id="rId3" imgW="114300" imgH="215265" progId="Equation.3">
                  <p:embed/>
                  <p:pic>
                    <p:nvPicPr>
                      <p:cNvPr id="0" name="对象 2767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1050" y="3222625"/>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099" name="对象 27672"/>
          <p:cNvGraphicFramePr/>
          <p:nvPr/>
        </p:nvGraphicFramePr>
        <p:xfrm>
          <a:off x="4572000" y="3254375"/>
          <a:ext cx="114300" cy="215900"/>
        </p:xfrm>
        <a:graphic>
          <a:graphicData uri="http://schemas.openxmlformats.org/presentationml/2006/ole">
            <mc:AlternateContent xmlns:mc="http://schemas.openxmlformats.org/markup-compatibility/2006">
              <mc:Choice xmlns:v="urn:schemas-microsoft-com:vml" Requires="v">
                <p:oleObj spid="_x0000_s4164" name="" r:id="rId5" imgW="114300" imgH="215265" progId="Equation.3">
                  <p:embed/>
                </p:oleObj>
              </mc:Choice>
              <mc:Fallback>
                <p:oleObj name="" r:id="rId5" imgW="114300" imgH="215265" progId="Equation.3">
                  <p:embed/>
                  <p:pic>
                    <p:nvPicPr>
                      <p:cNvPr id="0" name="对象 2767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254375"/>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02" name="文本框 132"/>
          <p:cNvSpPr txBox="1">
            <a:spLocks noChangeArrowheads="1"/>
          </p:cNvSpPr>
          <p:nvPr/>
        </p:nvSpPr>
        <p:spPr bwMode="auto">
          <a:xfrm>
            <a:off x="2393950" y="1165225"/>
            <a:ext cx="43561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270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宋体" panose="02010600030101010101" pitchFamily="2" charset="-122"/>
              </a:rPr>
              <a:t>键连接的许用挤压应力、许用压力</a:t>
            </a:r>
            <a:endParaRPr lang="zh-CN" altLang="en-US" sz="2000">
              <a:solidFill>
                <a:srgbClr val="000099"/>
              </a:solidFill>
              <a:latin typeface="宋体" panose="02010600030101010101" pitchFamily="2" charset="-122"/>
            </a:endParaRPr>
          </a:p>
        </p:txBody>
      </p:sp>
      <p:graphicFrame>
        <p:nvGraphicFramePr>
          <p:cNvPr id="3" name="表格 2"/>
          <p:cNvGraphicFramePr/>
          <p:nvPr/>
        </p:nvGraphicFramePr>
        <p:xfrm>
          <a:off x="611560" y="1773575"/>
          <a:ext cx="8014970" cy="2745643"/>
        </p:xfrm>
        <a:graphic>
          <a:graphicData uri="http://schemas.openxmlformats.org/drawingml/2006/table">
            <a:tbl>
              <a:tblPr firstRow="1" bandRow="1">
                <a:tableStyleId>{5940675A-B579-460E-94D1-54222C63F5DA}</a:tableStyleId>
              </a:tblPr>
              <a:tblGrid>
                <a:gridCol w="1824990"/>
                <a:gridCol w="1112520"/>
                <a:gridCol w="1266190"/>
                <a:gridCol w="1271905"/>
                <a:gridCol w="1270000"/>
                <a:gridCol w="1269365"/>
              </a:tblGrid>
              <a:tr h="537210">
                <a:tc rowSpan="2">
                  <a:txBody>
                    <a:bodyPr/>
                    <a:lstStyle/>
                    <a:p>
                      <a:pPr indent="0" algn="ctr">
                        <a:lnSpc>
                          <a:spcPct val="150000"/>
                        </a:lnSpc>
                        <a:buNone/>
                      </a:pP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许用挤压应力、许用压力</a:t>
                      </a:r>
                      <a:endPar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lnSpc>
                          <a:spcPct val="150000"/>
                        </a:lnSpc>
                        <a:buNone/>
                      </a:pP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连接工作方式</a:t>
                      </a:r>
                      <a:endPar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lnSpc>
                          <a:spcPct val="150000"/>
                        </a:lnSpc>
                        <a:buNone/>
                      </a:pP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键或毂、轴的材料</a:t>
                      </a:r>
                      <a:endPar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3">
                  <a:txBody>
                    <a:bodyPr/>
                    <a:lstStyle/>
                    <a:p>
                      <a:pPr indent="0" algn="ctr">
                        <a:lnSpc>
                          <a:spcPct val="150000"/>
                        </a:lnSpc>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载荷性质</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735232">
                <a:tc vMerge="1">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lnSpc>
                          <a:spcPct val="150000"/>
                        </a:lnSpc>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静载荷</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轻微冲击</a:t>
                      </a:r>
                      <a:endPar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冲击</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9142">
                <a:tc rowSpan="2">
                  <a:txBody>
                    <a:bodyPr/>
                    <a:lstStyle/>
                    <a:p>
                      <a:pPr indent="0" algn="ctr">
                        <a:lnSpc>
                          <a:spcPct val="150000"/>
                        </a:lnSpc>
                        <a:buNone/>
                      </a:pP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i="1">
                          <a:solidFill>
                            <a:srgbClr val="000099"/>
                          </a:solidFill>
                          <a:highlight>
                            <a:srgbClr val="FFFFFF"/>
                          </a:highlight>
                          <a:latin typeface="Times New Roman" panose="02020603050405020304" pitchFamily="18" charset="0"/>
                          <a:ea typeface="华文中宋" panose="02010600040101010101" pitchFamily="2" charset="-122"/>
                          <a:cs typeface="Times New Roman" panose="02020603050405020304" pitchFamily="18" charset="0"/>
                        </a:rPr>
                        <a:t>σ</a:t>
                      </a:r>
                      <a:r>
                        <a:rPr lang="en-US" altLang="zh-CN" sz="2000" b="0" i="1" baseline="-25000">
                          <a:solidFill>
                            <a:srgbClr val="000099"/>
                          </a:solidFill>
                          <a:highlight>
                            <a:srgbClr val="FFFFFF"/>
                          </a:highlight>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lnSpc>
                          <a:spcPct val="150000"/>
                        </a:lnSpc>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静连接</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钢</a:t>
                      </a:r>
                      <a:endPar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120</a:t>
                      </a: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150</a:t>
                      </a:r>
                      <a:endPar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100</a:t>
                      </a: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120</a:t>
                      </a:r>
                      <a:endPar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60</a:t>
                      </a: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90</a:t>
                      </a:r>
                      <a:endPar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6858">
                <a:tc vMerge="1">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lnSpc>
                          <a:spcPct val="150000"/>
                        </a:lnSpc>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铸铁</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70</a:t>
                      </a: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80</a:t>
                      </a:r>
                      <a:endPar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50</a:t>
                      </a: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60</a:t>
                      </a:r>
                      <a:endPar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30</a:t>
                      </a: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45</a:t>
                      </a:r>
                      <a:endPar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24210">
                <a:tc>
                  <a:txBody>
                    <a:bodyPr/>
                    <a:lstStyle/>
                    <a:p>
                      <a:pPr indent="0" algn="ctr">
                        <a:lnSpc>
                          <a:spcPct val="150000"/>
                        </a:lnSpc>
                        <a:buNone/>
                      </a:pP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i="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动连接</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钢</a:t>
                      </a:r>
                      <a:endPar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50</a:t>
                      </a:r>
                      <a:endPar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40</a:t>
                      </a:r>
                      <a:endPar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30</a:t>
                      </a:r>
                      <a:endPar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00" name="文本框 99"/>
          <p:cNvSpPr txBox="1"/>
          <p:nvPr/>
        </p:nvSpPr>
        <p:spPr>
          <a:xfrm>
            <a:off x="467544" y="5301208"/>
            <a:ext cx="8182609" cy="646330"/>
          </a:xfrm>
          <a:prstGeom prst="rect">
            <a:avLst/>
          </a:prstGeom>
          <a:noFill/>
          <a:ln w="9525">
            <a:noFill/>
          </a:ln>
        </p:spPr>
        <p:txBody>
          <a:bodyPr>
            <a:spAutoFit/>
          </a:bodyPr>
          <a:lstStyle/>
          <a:p>
            <a:pPr indent="400050">
              <a:defRPr/>
            </a:pPr>
            <a:r>
              <a:rPr lang="zh-CN" altLang="en-US" sz="1800" noProof="1">
                <a:solidFill>
                  <a:srgbClr val="000099"/>
                </a:solidFill>
                <a:latin typeface="宋体" panose="02010600030101010101" pitchFamily="2" charset="-122"/>
                <a:ea typeface="华文中宋" panose="02010600040101010101" pitchFamily="2" charset="-122"/>
                <a:cs typeface="宋体" panose="02010600030101010101" pitchFamily="2" charset="-122"/>
              </a:rPr>
              <a:t>注：如与键有相对滑动的被连接件表面经过淬火，则动连接的许可应力</a:t>
            </a:r>
            <a:r>
              <a:rPr lang="en-US" altLang="zh-CN" sz="1800" noProof="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i="1" noProof="1">
                <a:solidFill>
                  <a:srgbClr val="000099"/>
                </a:solidFill>
                <a:highlight>
                  <a:srgbClr val="FFFFFF"/>
                </a:highlight>
                <a:latin typeface="宋体" panose="02010600030101010101" pitchFamily="2" charset="-122"/>
                <a:ea typeface="华文中宋" panose="02010600040101010101" pitchFamily="2" charset="-122"/>
                <a:cs typeface="宋体" panose="02010600030101010101" pitchFamily="2" charset="-122"/>
              </a:rPr>
              <a:t>p</a:t>
            </a:r>
            <a:r>
              <a:rPr lang="en-US" altLang="zh-CN" sz="1800" noProof="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1800" noProof="1">
                <a:solidFill>
                  <a:srgbClr val="000099"/>
                </a:solidFill>
                <a:latin typeface="宋体" panose="02010600030101010101" pitchFamily="2" charset="-122"/>
                <a:ea typeface="华文中宋" panose="02010600040101010101" pitchFamily="2" charset="-122"/>
                <a:cs typeface="宋体" panose="02010600030101010101" pitchFamily="2" charset="-122"/>
              </a:rPr>
              <a:t>可提高</a:t>
            </a:r>
            <a:r>
              <a:rPr lang="en-US" altLang="zh-CN" sz="1800" noProof="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1800" noProof="1">
                <a:solidFill>
                  <a:srgbClr val="000099"/>
                </a:solidFill>
                <a:latin typeface="宋体" panose="02010600030101010101" pitchFamily="2" charset="-122"/>
                <a:ea typeface="华文中宋" panose="02010600040101010101" pitchFamily="2" charset="-122"/>
                <a:cs typeface="宋体" panose="02010600030101010101" pitchFamily="2" charset="-122"/>
              </a:rPr>
              <a:t>～</a:t>
            </a:r>
            <a:r>
              <a:rPr lang="en-US" altLang="zh-CN" sz="1800" noProof="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1800" noProof="1">
                <a:solidFill>
                  <a:srgbClr val="000099"/>
                </a:solidFill>
                <a:latin typeface="宋体" panose="02010600030101010101" pitchFamily="2" charset="-122"/>
                <a:ea typeface="华文中宋" panose="02010600040101010101" pitchFamily="2" charset="-122"/>
                <a:cs typeface="宋体" panose="02010600030101010101" pitchFamily="2" charset="-122"/>
              </a:rPr>
              <a:t>倍。</a:t>
            </a:r>
            <a:endParaRPr lang="zh-CN" altLang="en-US" sz="1800" noProof="1">
              <a:solidFill>
                <a:srgbClr val="000099"/>
              </a:solidFill>
              <a:latin typeface="宋体" panose="02010600030101010101" pitchFamily="2" charset="-122"/>
              <a:ea typeface="华文中宋" panose="02010600040101010101" pitchFamily="2" charset="-122"/>
              <a:cs typeface="宋体" panose="02010600030101010101" pitchFamily="2" charset="-122"/>
            </a:endParaRPr>
          </a:p>
        </p:txBody>
      </p:sp>
      <p:sp>
        <p:nvSpPr>
          <p:cNvPr id="4105" name="文本框 5"/>
          <p:cNvSpPr txBox="1">
            <a:spLocks noChangeArrowheads="1"/>
          </p:cNvSpPr>
          <p:nvPr/>
        </p:nvSpPr>
        <p:spPr bwMode="auto">
          <a:xfrm>
            <a:off x="6729413" y="6257925"/>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hlinkClick r:id="rId6" action="ppaction://hlinksldjump"/>
              </a:rPr>
              <a:t>返回</a:t>
            </a:r>
            <a:endParaRPr lang="zh-CN" altLang="en-US" sz="2000" dirty="0">
              <a:solidFill>
                <a:srgbClr val="000099"/>
              </a:solidFill>
            </a:endParaRPr>
          </a:p>
        </p:txBody>
      </p:sp>
      <p:sp>
        <p:nvSpPr>
          <p:cNvPr id="4106"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auto">
          <a:xfrm>
            <a:off x="6159500" y="195263"/>
            <a:ext cx="2984500" cy="490537"/>
          </a:xfrm>
          <a:ln>
            <a:miter lim="800000"/>
          </a:ln>
        </p:spPr>
        <p:txBody>
          <a:bodyPr vert="horz" wrap="square" lIns="91440" tIns="45720" rIns="91440" bIns="45720" numCol="1" anchor="t" anchorCtr="0" compatLnSpc="1"/>
          <a:lstStyle/>
          <a:p>
            <a:pPr eaLnBrk="1" hangingPunct="1">
              <a:defRPr/>
            </a:pP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花键连接</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19459" name="文本框 1"/>
          <p:cNvSpPr txBox="1">
            <a:spLocks noChangeArrowheads="1"/>
          </p:cNvSpPr>
          <p:nvPr/>
        </p:nvSpPr>
        <p:spPr bwMode="auto">
          <a:xfrm>
            <a:off x="7159625" y="6270625"/>
            <a:ext cx="696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hlinkClick r:id="rId1" action="ppaction://hlinksldjump"/>
              </a:rPr>
              <a:t>返回</a:t>
            </a:r>
            <a:endParaRPr lang="zh-CN" altLang="en-US" sz="2000">
              <a:solidFill>
                <a:srgbClr val="000099"/>
              </a:solidFill>
              <a:latin typeface="Times New Roman" panose="02020603050405020304" pitchFamily="18" charset="0"/>
              <a:cs typeface="Times New Roman" panose="02020603050405020304" pitchFamily="18" charset="0"/>
            </a:endParaRPr>
          </a:p>
        </p:txBody>
      </p:sp>
      <p:graphicFrame>
        <p:nvGraphicFramePr>
          <p:cNvPr id="19462" name="表格 19461"/>
          <p:cNvGraphicFramePr/>
          <p:nvPr/>
        </p:nvGraphicFramePr>
        <p:xfrm>
          <a:off x="395288" y="1412875"/>
          <a:ext cx="8416925" cy="3449640"/>
        </p:xfrm>
        <a:graphic>
          <a:graphicData uri="http://schemas.openxmlformats.org/drawingml/2006/table">
            <a:tbl>
              <a:tblPr/>
              <a:tblGrid>
                <a:gridCol w="1589088"/>
                <a:gridCol w="1774825"/>
                <a:gridCol w="1684337"/>
                <a:gridCol w="1684338"/>
                <a:gridCol w="1684337"/>
              </a:tblGrid>
              <a:tr h="706437">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l"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许用挤压应</a:t>
                      </a:r>
                      <a:r>
                        <a:rPr lang="zh-CN" altLang="en-US" sz="2000"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力、许</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用压力</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连接工作方式</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使用和制造情况</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齿面未经热处理</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齿面经热处理</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144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i="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σ</a:t>
                      </a:r>
                      <a:r>
                        <a:rPr lang="en-US" altLang="zh-CN" sz="2000" i="1" baseline="-25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静连接</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不良</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中等</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良好</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35</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60</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100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80</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40</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70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100</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140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120</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14400">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i="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空载下移动的动连接</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不良</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中等</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良好</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25</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35</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30</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60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40</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70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14400">
                <a:tc vMerge="1">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在载荷作用下移动的动连接</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不良</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中等</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良好</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lvl="0" algn="ctr" eaLnBrk="1" hangingPunct="1">
                        <a:buNone/>
                      </a:pP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10</a:t>
                      </a: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9492" name="文本框 132"/>
          <p:cNvSpPr txBox="1">
            <a:spLocks noChangeArrowheads="1"/>
          </p:cNvSpPr>
          <p:nvPr/>
        </p:nvSpPr>
        <p:spPr bwMode="auto">
          <a:xfrm>
            <a:off x="2260600" y="919163"/>
            <a:ext cx="462280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270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花键连接的许用挤压应力、许用压力</a:t>
            </a:r>
            <a:endParaRPr lang="zh-CN" altLang="en-US" sz="2000">
              <a:solidFill>
                <a:srgbClr val="000099"/>
              </a:solidFill>
              <a:latin typeface="Times New Roman" panose="02020603050405020304" pitchFamily="18" charset="0"/>
              <a:cs typeface="Times New Roman" panose="02020603050405020304" pitchFamily="18" charset="0"/>
            </a:endParaRPr>
          </a:p>
        </p:txBody>
      </p:sp>
      <p:sp>
        <p:nvSpPr>
          <p:cNvPr id="19493" name="文本框 99"/>
          <p:cNvSpPr txBox="1">
            <a:spLocks noChangeArrowheads="1"/>
          </p:cNvSpPr>
          <p:nvPr/>
        </p:nvSpPr>
        <p:spPr bwMode="auto">
          <a:xfrm>
            <a:off x="395288" y="4941888"/>
            <a:ext cx="84169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800">
                <a:solidFill>
                  <a:srgbClr val="000099"/>
                </a:solidFill>
                <a:latin typeface="Times New Roman" panose="02020603050405020304" pitchFamily="18" charset="0"/>
              </a:rPr>
              <a:t>注：</a:t>
            </a:r>
            <a:r>
              <a:rPr lang="en-US" altLang="zh-CN" sz="1800">
                <a:solidFill>
                  <a:srgbClr val="000099"/>
                </a:solidFill>
                <a:latin typeface="Times New Roman" panose="02020603050405020304" pitchFamily="18" charset="0"/>
              </a:rPr>
              <a:t>1</a:t>
            </a:r>
            <a:r>
              <a:rPr lang="zh-CN" altLang="en-US" sz="1800">
                <a:solidFill>
                  <a:srgbClr val="000099"/>
                </a:solidFill>
                <a:latin typeface="Times New Roman" panose="02020603050405020304" pitchFamily="18" charset="0"/>
              </a:rPr>
              <a:t>）使用和制造情况不良系指受变载荷，有双向冲击、振动频率高和振幅大、</a:t>
            </a:r>
            <a:endParaRPr lang="en-US" altLang="zh-CN" sz="1800">
              <a:solidFill>
                <a:srgbClr val="000099"/>
              </a:solidFill>
              <a:latin typeface="Times New Roman" panose="02020603050405020304" pitchFamily="18" charset="0"/>
            </a:endParaRPr>
          </a:p>
          <a:p>
            <a:pPr eaLnBrk="1" hangingPunct="1"/>
            <a:r>
              <a:rPr lang="en-US" altLang="zh-CN" sz="1800">
                <a:solidFill>
                  <a:srgbClr val="000099"/>
                </a:solidFill>
                <a:latin typeface="Times New Roman" panose="02020603050405020304" pitchFamily="18" charset="0"/>
              </a:rPr>
              <a:t>               </a:t>
            </a:r>
            <a:r>
              <a:rPr lang="zh-CN" altLang="en-US" sz="1800">
                <a:solidFill>
                  <a:srgbClr val="000099"/>
                </a:solidFill>
                <a:latin typeface="Times New Roman" panose="02020603050405020304" pitchFamily="18" charset="0"/>
              </a:rPr>
              <a:t>润滑不良（对动连接）、材料硬度不高或精度不高等；</a:t>
            </a:r>
            <a:endParaRPr lang="zh-CN" altLang="en-US" sz="1800">
              <a:solidFill>
                <a:srgbClr val="000099"/>
              </a:solidFill>
              <a:latin typeface="Times New Roman" panose="02020603050405020304" pitchFamily="18" charset="0"/>
            </a:endParaRPr>
          </a:p>
          <a:p>
            <a:pPr eaLnBrk="1" hangingPunct="1"/>
            <a:r>
              <a:rPr lang="zh-CN" altLang="en-US" sz="1800">
                <a:solidFill>
                  <a:srgbClr val="000099"/>
                </a:solidFill>
                <a:latin typeface="Times New Roman" panose="02020603050405020304" pitchFamily="18" charset="0"/>
              </a:rPr>
              <a:t>　　</a:t>
            </a:r>
            <a:r>
              <a:rPr lang="en-US" altLang="zh-CN" sz="1800">
                <a:solidFill>
                  <a:srgbClr val="000099"/>
                </a:solidFill>
                <a:latin typeface="Times New Roman" panose="02020603050405020304" pitchFamily="18" charset="0"/>
              </a:rPr>
              <a:t>2</a:t>
            </a:r>
            <a:r>
              <a:rPr lang="zh-CN" altLang="en-US" sz="1800">
                <a:solidFill>
                  <a:srgbClr val="000099"/>
                </a:solidFill>
                <a:latin typeface="Times New Roman" panose="02020603050405020304" pitchFamily="18" charset="0"/>
              </a:rPr>
              <a:t>）同一情况下，</a:t>
            </a:r>
            <a:r>
              <a:rPr lang="en-US" altLang="zh-CN" sz="1800">
                <a:solidFill>
                  <a:srgbClr val="000099"/>
                </a:solidFill>
                <a:latin typeface="Times New Roman" panose="02020603050405020304" pitchFamily="18" charset="0"/>
              </a:rPr>
              <a:t>[</a:t>
            </a:r>
            <a:r>
              <a:rPr lang="en-US" altLang="zh-CN" sz="1800" i="1">
                <a:solidFill>
                  <a:srgbClr val="000099"/>
                </a:solidFill>
                <a:latin typeface="Times New Roman" panose="02020603050405020304" pitchFamily="18" charset="0"/>
              </a:rPr>
              <a:t>σ</a:t>
            </a:r>
            <a:r>
              <a:rPr lang="en-US" altLang="zh-CN" sz="1800" i="1" baseline="-25000">
                <a:solidFill>
                  <a:srgbClr val="000099"/>
                </a:solidFill>
                <a:latin typeface="Times New Roman" panose="02020603050405020304" pitchFamily="18" charset="0"/>
              </a:rPr>
              <a:t>p</a:t>
            </a:r>
            <a:r>
              <a:rPr lang="en-US" altLang="zh-CN" sz="1800">
                <a:solidFill>
                  <a:srgbClr val="000099"/>
                </a:solidFill>
                <a:latin typeface="Times New Roman" panose="02020603050405020304" pitchFamily="18" charset="0"/>
              </a:rPr>
              <a:t>]</a:t>
            </a:r>
            <a:r>
              <a:rPr lang="zh-CN" altLang="en-US" sz="1800">
                <a:solidFill>
                  <a:srgbClr val="000099"/>
                </a:solidFill>
                <a:latin typeface="Times New Roman" panose="02020603050405020304" pitchFamily="18" charset="0"/>
              </a:rPr>
              <a:t>或 </a:t>
            </a:r>
            <a:r>
              <a:rPr lang="en-US" altLang="zh-CN" sz="1800">
                <a:solidFill>
                  <a:srgbClr val="000099"/>
                </a:solidFill>
                <a:latin typeface="Times New Roman" panose="02020603050405020304" pitchFamily="18" charset="0"/>
              </a:rPr>
              <a:t>[</a:t>
            </a:r>
            <a:r>
              <a:rPr lang="en-US" altLang="zh-CN" sz="1800" i="1">
                <a:solidFill>
                  <a:srgbClr val="000099"/>
                </a:solidFill>
                <a:latin typeface="Times New Roman" panose="02020603050405020304" pitchFamily="18" charset="0"/>
              </a:rPr>
              <a:t>p</a:t>
            </a:r>
            <a:r>
              <a:rPr lang="en-US" altLang="zh-CN" sz="1800">
                <a:solidFill>
                  <a:srgbClr val="000099"/>
                </a:solidFill>
                <a:latin typeface="Times New Roman" panose="02020603050405020304" pitchFamily="18" charset="0"/>
              </a:rPr>
              <a:t>]</a:t>
            </a:r>
            <a:r>
              <a:rPr lang="zh-CN" altLang="en-US" sz="1800">
                <a:solidFill>
                  <a:srgbClr val="000099"/>
                </a:solidFill>
                <a:latin typeface="Times New Roman" panose="02020603050405020304" pitchFamily="18" charset="0"/>
              </a:rPr>
              <a:t>的较小值用于工作时间长和较重要的场合；</a:t>
            </a:r>
            <a:endParaRPr lang="zh-CN" altLang="en-US" sz="1800">
              <a:solidFill>
                <a:srgbClr val="000099"/>
              </a:solidFill>
              <a:latin typeface="Times New Roman" panose="02020603050405020304" pitchFamily="18" charset="0"/>
            </a:endParaRPr>
          </a:p>
          <a:p>
            <a:pPr eaLnBrk="1" hangingPunct="1"/>
            <a:r>
              <a:rPr lang="zh-CN" altLang="en-US" sz="1800">
                <a:solidFill>
                  <a:srgbClr val="000099"/>
                </a:solidFill>
                <a:latin typeface="Times New Roman" panose="02020603050405020304" pitchFamily="18" charset="0"/>
              </a:rPr>
              <a:t>　　</a:t>
            </a:r>
            <a:r>
              <a:rPr lang="en-US" altLang="zh-CN" sz="1800">
                <a:solidFill>
                  <a:srgbClr val="000099"/>
                </a:solidFill>
                <a:latin typeface="Times New Roman" panose="02020603050405020304" pitchFamily="18" charset="0"/>
              </a:rPr>
              <a:t>3</a:t>
            </a:r>
            <a:r>
              <a:rPr lang="zh-CN" altLang="en-US" sz="1800">
                <a:solidFill>
                  <a:srgbClr val="000099"/>
                </a:solidFill>
                <a:latin typeface="Times New Roman" panose="02020603050405020304" pitchFamily="18" charset="0"/>
              </a:rPr>
              <a:t>）花键材料的抗拉强度不低于</a:t>
            </a:r>
            <a:r>
              <a:rPr lang="en-US" altLang="zh-CN" sz="1800">
                <a:solidFill>
                  <a:srgbClr val="000099"/>
                </a:solidFill>
                <a:latin typeface="Times New Roman" panose="02020603050405020304" pitchFamily="18" charset="0"/>
              </a:rPr>
              <a:t>600MPa.</a:t>
            </a:r>
            <a:endParaRPr lang="en-US" altLang="zh-CN" sz="1800">
              <a:solidFill>
                <a:srgbClr val="000099"/>
              </a:solidFill>
              <a:latin typeface="Times New Roman" panose="02020603050405020304" pitchFamily="18" charset="0"/>
              <a:cs typeface="Times New Roman" panose="02020603050405020304" pitchFamily="18" charset="0"/>
            </a:endParaRPr>
          </a:p>
        </p:txBody>
      </p:sp>
      <p:sp>
        <p:nvSpPr>
          <p:cNvPr id="19494"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6131878" y="161608"/>
            <a:ext cx="2984500" cy="490537"/>
          </a:xfrm>
          <a:prstGeom prst="rect">
            <a:avLst/>
          </a:prstGeom>
          <a:ln>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eaLnBrk="1" hangingPunct="1">
              <a:buFontTx/>
              <a:defRPr/>
            </a:pP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第</a:t>
            </a:r>
            <a:r>
              <a:rPr kumimoji="1" lang="en-US" altLang="zh-CN" sz="3000" kern="1200" dirty="0" smtClean="0">
                <a:solidFill>
                  <a:srgbClr val="CC3300"/>
                </a:solidFill>
                <a:latin typeface="黑体" panose="02010609060101010101" pitchFamily="49" charset="-122"/>
                <a:ea typeface="黑体" panose="02010609060101010101" pitchFamily="49" charset="-122"/>
                <a:cs typeface="+mn-cs"/>
              </a:rPr>
              <a:t>3.5</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章</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文本框 3"/>
          <p:cNvSpPr txBox="1"/>
          <p:nvPr/>
        </p:nvSpPr>
        <p:spPr>
          <a:xfrm>
            <a:off x="642025" y="1692613"/>
            <a:ext cx="3608962" cy="769441"/>
          </a:xfrm>
          <a:prstGeom prst="rect">
            <a:avLst/>
          </a:prstGeom>
          <a:noFill/>
        </p:spPr>
        <p:txBody>
          <a:bodyPr wrap="square" rtlCol="0">
            <a:spAutoFit/>
          </a:bodyPr>
          <a:lstStyle/>
          <a:p>
            <a:r>
              <a:rPr lang="zh-CN" altLang="en-US" sz="4400" dirty="0" smtClean="0">
                <a:solidFill>
                  <a:srgbClr val="003399"/>
                </a:solidFill>
                <a:latin typeface="黑体" panose="02010609060101010101" pitchFamily="49" charset="-122"/>
                <a:ea typeface="黑体" panose="02010609060101010101" pitchFamily="49" charset="-122"/>
              </a:rPr>
              <a:t>作  业：</a:t>
            </a:r>
            <a:endParaRPr lang="zh-CN" altLang="en-US" sz="4400" dirty="0">
              <a:solidFill>
                <a:srgbClr val="003399"/>
              </a:solidFill>
              <a:latin typeface="黑体" panose="02010609060101010101" pitchFamily="49" charset="-122"/>
              <a:ea typeface="黑体" panose="02010609060101010101" pitchFamily="49" charset="-122"/>
            </a:endParaRPr>
          </a:p>
        </p:txBody>
      </p:sp>
      <p:sp>
        <p:nvSpPr>
          <p:cNvPr id="5" name="文本框 4"/>
          <p:cNvSpPr txBox="1"/>
          <p:nvPr/>
        </p:nvSpPr>
        <p:spPr>
          <a:xfrm>
            <a:off x="1086189" y="2589111"/>
            <a:ext cx="3608962" cy="706755"/>
          </a:xfrm>
          <a:prstGeom prst="rect">
            <a:avLst/>
          </a:prstGeom>
          <a:noFill/>
        </p:spPr>
        <p:txBody>
          <a:bodyPr wrap="square" rtlCol="0">
            <a:spAutoFit/>
          </a:bodyPr>
          <a:lstStyle/>
          <a:p>
            <a:r>
              <a:rPr lang="en-US" altLang="zh-CN" sz="4000" dirty="0" smtClean="0">
                <a:solidFill>
                  <a:srgbClr val="002060"/>
                </a:solidFill>
                <a:latin typeface="黑体" panose="02010609060101010101" pitchFamily="49" charset="-122"/>
                <a:ea typeface="黑体" panose="02010609060101010101" pitchFamily="49" charset="-122"/>
              </a:rPr>
              <a:t>P248</a:t>
            </a:r>
            <a:endParaRPr lang="zh-CN" altLang="en-US" sz="4000" dirty="0">
              <a:solidFill>
                <a:srgbClr val="002060"/>
              </a:solidFill>
              <a:latin typeface="黑体" panose="02010609060101010101" pitchFamily="49" charset="-122"/>
              <a:ea typeface="黑体" panose="02010609060101010101" pitchFamily="49" charset="-122"/>
            </a:endParaRPr>
          </a:p>
        </p:txBody>
      </p:sp>
      <p:sp>
        <p:nvSpPr>
          <p:cNvPr id="6" name="文本框 5"/>
          <p:cNvSpPr txBox="1"/>
          <p:nvPr/>
        </p:nvSpPr>
        <p:spPr>
          <a:xfrm>
            <a:off x="1776730" y="3531235"/>
            <a:ext cx="5518785" cy="706755"/>
          </a:xfrm>
          <a:prstGeom prst="rect">
            <a:avLst/>
          </a:prstGeom>
          <a:noFill/>
        </p:spPr>
        <p:txBody>
          <a:bodyPr wrap="square" rtlCol="0">
            <a:spAutoFit/>
          </a:bodyPr>
          <a:lstStyle/>
          <a:p>
            <a:r>
              <a:rPr lang="en-US" altLang="zh-CN" sz="4000" dirty="0" smtClean="0">
                <a:solidFill>
                  <a:srgbClr val="C00000"/>
                </a:solidFill>
                <a:latin typeface="黑体" panose="02010609060101010101" pitchFamily="49" charset="-122"/>
                <a:ea typeface="黑体" panose="02010609060101010101" pitchFamily="49" charset="-122"/>
              </a:rPr>
              <a:t>3.5-3</a:t>
            </a:r>
            <a:r>
              <a:rPr lang="zh-CN" altLang="en-US" sz="4000" dirty="0" smtClean="0">
                <a:solidFill>
                  <a:srgbClr val="C00000"/>
                </a:solidFill>
                <a:latin typeface="黑体" panose="02010609060101010101" pitchFamily="49" charset="-122"/>
                <a:ea typeface="黑体" panose="02010609060101010101" pitchFamily="49" charset="-122"/>
              </a:rPr>
              <a:t>、</a:t>
            </a:r>
            <a:r>
              <a:rPr lang="en-US" altLang="zh-CN" sz="4000" dirty="0" smtClean="0">
                <a:solidFill>
                  <a:srgbClr val="C00000"/>
                </a:solidFill>
                <a:latin typeface="黑体" panose="02010609060101010101" pitchFamily="49" charset="-122"/>
                <a:ea typeface="黑体" panose="02010609060101010101" pitchFamily="49" charset="-122"/>
              </a:rPr>
              <a:t>3.5-4</a:t>
            </a:r>
            <a:r>
              <a:rPr lang="zh-CN" altLang="en-US" sz="4000" dirty="0" smtClean="0">
                <a:solidFill>
                  <a:srgbClr val="C00000"/>
                </a:solidFill>
                <a:latin typeface="黑体" panose="02010609060101010101" pitchFamily="49" charset="-122"/>
                <a:ea typeface="黑体" panose="02010609060101010101" pitchFamily="49" charset="-122"/>
              </a:rPr>
              <a:t>、</a:t>
            </a:r>
            <a:r>
              <a:rPr lang="en-US" altLang="zh-CN" sz="4000" dirty="0" smtClean="0">
                <a:solidFill>
                  <a:srgbClr val="C00000"/>
                </a:solidFill>
                <a:latin typeface="黑体" panose="02010609060101010101" pitchFamily="49" charset="-122"/>
                <a:ea typeface="黑体" panose="02010609060101010101" pitchFamily="49" charset="-122"/>
              </a:rPr>
              <a:t>3.5-</a:t>
            </a:r>
            <a:r>
              <a:rPr lang="en-US" sz="4000" dirty="0" smtClean="0">
                <a:solidFill>
                  <a:srgbClr val="C00000"/>
                </a:solidFill>
                <a:latin typeface="黑体" panose="02010609060101010101" pitchFamily="49" charset="-122"/>
                <a:ea typeface="黑体" panose="02010609060101010101" pitchFamily="49" charset="-122"/>
              </a:rPr>
              <a:t>5</a:t>
            </a:r>
            <a:endParaRPr lang="en-US" sz="4000" dirty="0">
              <a:solidFill>
                <a:srgbClr val="C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40468" y="340468"/>
            <a:ext cx="2791838" cy="429895"/>
          </a:xfrm>
          <a:prstGeom prst="rect">
            <a:avLst/>
          </a:prstGeom>
          <a:noFill/>
        </p:spPr>
        <p:txBody>
          <a:bodyPr wrap="square" rtlCol="0">
            <a:spAutoFit/>
          </a:bodyPr>
          <a:lstStyle/>
          <a:p>
            <a:r>
              <a:rPr lang="zh-CN" altLang="en-US" dirty="0" smtClean="0"/>
              <a:t>教材</a:t>
            </a:r>
            <a:r>
              <a:rPr lang="en-US" altLang="zh-CN" dirty="0" smtClean="0"/>
              <a:t>P242</a:t>
            </a:r>
            <a:endParaRPr lang="zh-CN" altLang="en-US" dirty="0"/>
          </a:p>
        </p:txBody>
      </p:sp>
      <p:sp>
        <p:nvSpPr>
          <p:cNvPr id="6" name="文本框 5"/>
          <p:cNvSpPr txBox="1"/>
          <p:nvPr/>
        </p:nvSpPr>
        <p:spPr>
          <a:xfrm>
            <a:off x="1725687" y="249042"/>
            <a:ext cx="1741251" cy="429895"/>
          </a:xfrm>
          <a:prstGeom prst="rect">
            <a:avLst/>
          </a:prstGeom>
          <a:noFill/>
        </p:spPr>
        <p:txBody>
          <a:bodyPr wrap="square" rtlCol="0">
            <a:spAutoFit/>
          </a:bodyPr>
          <a:lstStyle/>
          <a:p>
            <a:r>
              <a:rPr lang="zh-CN" altLang="en-US" dirty="0" smtClean="0">
                <a:solidFill>
                  <a:srgbClr val="FF0000"/>
                </a:solidFill>
              </a:rPr>
              <a:t>例</a:t>
            </a:r>
            <a:r>
              <a:rPr lang="en-US" altLang="zh-CN" dirty="0" smtClean="0">
                <a:solidFill>
                  <a:srgbClr val="FF0000"/>
                </a:solidFill>
              </a:rPr>
              <a:t> 3.5-1</a:t>
            </a:r>
            <a:endParaRPr lang="zh-CN" altLang="en-US" dirty="0">
              <a:solidFill>
                <a:srgbClr val="FF0000"/>
              </a:solidFill>
            </a:endParaRPr>
          </a:p>
        </p:txBody>
      </p:sp>
      <p:sp>
        <p:nvSpPr>
          <p:cNvPr id="3" name="文本框 2"/>
          <p:cNvSpPr txBox="1"/>
          <p:nvPr/>
        </p:nvSpPr>
        <p:spPr>
          <a:xfrm>
            <a:off x="6566535" y="135255"/>
            <a:ext cx="2099310" cy="429895"/>
          </a:xfrm>
          <a:prstGeom prst="rect">
            <a:avLst/>
          </a:prstGeom>
          <a:noFill/>
        </p:spPr>
        <p:txBody>
          <a:bodyPr wrap="square" rtlCol="0">
            <a:spAutoFit/>
          </a:bodyPr>
          <a:p>
            <a:r>
              <a:rPr lang="zh-CN" altLang="en-US">
                <a:solidFill>
                  <a:srgbClr val="FF0000"/>
                </a:solidFill>
              </a:rPr>
              <a:t>齿轮轮毂长</a:t>
            </a:r>
            <a:r>
              <a:rPr lang="en-US" altLang="zh-CN">
                <a:solidFill>
                  <a:srgbClr val="FF0000"/>
                </a:solidFill>
              </a:rPr>
              <a:t>70</a:t>
            </a:r>
            <a:endParaRPr lang="en-US" altLang="zh-CN">
              <a:solidFill>
                <a:srgbClr val="FF0000"/>
              </a:solidFill>
            </a:endParaRPr>
          </a:p>
        </p:txBody>
      </p:sp>
      <p:pic>
        <p:nvPicPr>
          <p:cNvPr id="9" name="图片 8"/>
          <p:cNvPicPr>
            <a:picLocks noChangeAspect="1"/>
          </p:cNvPicPr>
          <p:nvPr/>
        </p:nvPicPr>
        <p:blipFill>
          <a:blip r:embed="rId1"/>
          <a:stretch>
            <a:fillRect/>
          </a:stretch>
        </p:blipFill>
        <p:spPr>
          <a:xfrm>
            <a:off x="264160" y="719455"/>
            <a:ext cx="8239125" cy="6105525"/>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7620" y="404495"/>
            <a:ext cx="9067800" cy="6248400"/>
          </a:xfrm>
          <a:prstGeom prst="rect">
            <a:avLst/>
          </a:prstGeom>
        </p:spPr>
      </p:pic>
      <p:sp>
        <p:nvSpPr>
          <p:cNvPr id="3" name="文本框 2"/>
          <p:cNvSpPr txBox="1"/>
          <p:nvPr/>
        </p:nvSpPr>
        <p:spPr>
          <a:xfrm>
            <a:off x="340468" y="340468"/>
            <a:ext cx="2791838" cy="429895"/>
          </a:xfrm>
          <a:prstGeom prst="rect">
            <a:avLst/>
          </a:prstGeom>
          <a:noFill/>
        </p:spPr>
        <p:txBody>
          <a:bodyPr wrap="square" rtlCol="0">
            <a:spAutoFit/>
          </a:bodyPr>
          <a:p>
            <a:r>
              <a:rPr lang="zh-CN" altLang="en-US" dirty="0" smtClean="0"/>
              <a:t>教材</a:t>
            </a:r>
            <a:r>
              <a:rPr lang="en-US" altLang="zh-CN" dirty="0" smtClean="0"/>
              <a:t>P</a:t>
            </a:r>
            <a:r>
              <a:rPr lang="en-US" dirty="0" smtClean="0">
                <a:solidFill>
                  <a:srgbClr val="FF0000"/>
                </a:solidFill>
                <a:sym typeface="+mn-ea"/>
              </a:rPr>
              <a:t>248</a:t>
            </a:r>
            <a:endParaRPr lang="en-US" dirty="0"/>
          </a:p>
        </p:txBody>
      </p:sp>
      <p:sp>
        <p:nvSpPr>
          <p:cNvPr id="4" name="文本框 3"/>
          <p:cNvSpPr txBox="1"/>
          <p:nvPr/>
        </p:nvSpPr>
        <p:spPr>
          <a:xfrm>
            <a:off x="719847" y="1011677"/>
            <a:ext cx="1741251" cy="429895"/>
          </a:xfrm>
          <a:prstGeom prst="rect">
            <a:avLst/>
          </a:prstGeom>
          <a:noFill/>
        </p:spPr>
        <p:txBody>
          <a:bodyPr wrap="square" rtlCol="0">
            <a:spAutoFit/>
          </a:bodyPr>
          <a:p>
            <a:r>
              <a:rPr lang="en-US" altLang="zh-CN" dirty="0" smtClean="0">
                <a:solidFill>
                  <a:srgbClr val="FF0000"/>
                </a:solidFill>
              </a:rPr>
              <a:t>3.5-3</a:t>
            </a:r>
            <a:endParaRPr lang="zh-CN" altLang="en-US"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rcRect b="14637"/>
          <a:stretch>
            <a:fillRect/>
          </a:stretch>
        </p:blipFill>
        <p:spPr>
          <a:xfrm>
            <a:off x="3300095" y="478790"/>
            <a:ext cx="5074920" cy="5395595"/>
          </a:xfrm>
          <a:prstGeom prst="rect">
            <a:avLst/>
          </a:prstGeom>
        </p:spPr>
      </p:pic>
      <p:sp>
        <p:nvSpPr>
          <p:cNvPr id="5" name="文本框 4"/>
          <p:cNvSpPr txBox="1"/>
          <p:nvPr/>
        </p:nvSpPr>
        <p:spPr>
          <a:xfrm>
            <a:off x="340468" y="340468"/>
            <a:ext cx="2791838" cy="429895"/>
          </a:xfrm>
          <a:prstGeom prst="rect">
            <a:avLst/>
          </a:prstGeom>
          <a:noFill/>
        </p:spPr>
        <p:txBody>
          <a:bodyPr wrap="square" rtlCol="0">
            <a:spAutoFit/>
          </a:bodyPr>
          <a:lstStyle/>
          <a:p>
            <a:r>
              <a:rPr lang="zh-CN" altLang="en-US" dirty="0" smtClean="0"/>
              <a:t>教材</a:t>
            </a:r>
            <a:r>
              <a:rPr lang="en-US" altLang="zh-CN" dirty="0" smtClean="0"/>
              <a:t>P242</a:t>
            </a:r>
            <a:endParaRPr lang="zh-CN" altLang="en-US" dirty="0"/>
          </a:p>
        </p:txBody>
      </p:sp>
      <p:sp>
        <p:nvSpPr>
          <p:cNvPr id="6" name="文本框 5"/>
          <p:cNvSpPr txBox="1"/>
          <p:nvPr/>
        </p:nvSpPr>
        <p:spPr>
          <a:xfrm>
            <a:off x="719847" y="1011677"/>
            <a:ext cx="1741251" cy="429895"/>
          </a:xfrm>
          <a:prstGeom prst="rect">
            <a:avLst/>
          </a:prstGeom>
          <a:noFill/>
        </p:spPr>
        <p:txBody>
          <a:bodyPr wrap="square" rtlCol="0">
            <a:spAutoFit/>
          </a:bodyPr>
          <a:lstStyle/>
          <a:p>
            <a:r>
              <a:rPr lang="zh-CN" altLang="en-US" dirty="0" smtClean="0">
                <a:solidFill>
                  <a:srgbClr val="FF0000"/>
                </a:solidFill>
              </a:rPr>
              <a:t>例</a:t>
            </a:r>
            <a:r>
              <a:rPr lang="en-US" altLang="zh-CN" dirty="0" smtClean="0">
                <a:solidFill>
                  <a:srgbClr val="FF0000"/>
                </a:solidFill>
              </a:rPr>
              <a:t> 3.5-1</a:t>
            </a:r>
            <a:endParaRPr lang="zh-CN" altLang="en-US" dirty="0">
              <a:solidFill>
                <a:srgbClr val="FF0000"/>
              </a:solidFill>
            </a:endParaRPr>
          </a:p>
        </p:txBody>
      </p:sp>
      <p:grpSp>
        <p:nvGrpSpPr>
          <p:cNvPr id="19" name="组合 18"/>
          <p:cNvGrpSpPr/>
          <p:nvPr/>
        </p:nvGrpSpPr>
        <p:grpSpPr>
          <a:xfrm>
            <a:off x="5038928" y="2256819"/>
            <a:ext cx="116732" cy="1352143"/>
            <a:chOff x="5038928" y="2256819"/>
            <a:chExt cx="116732" cy="1352143"/>
          </a:xfrm>
        </p:grpSpPr>
        <p:cxnSp>
          <p:nvCxnSpPr>
            <p:cNvPr id="8" name="直接连接符 7"/>
            <p:cNvCxnSpPr/>
            <p:nvPr/>
          </p:nvCxnSpPr>
          <p:spPr bwMode="auto">
            <a:xfrm flipH="1">
              <a:off x="5038928" y="2295728"/>
              <a:ext cx="9727" cy="1225685"/>
            </a:xfrm>
            <a:prstGeom prst="line">
              <a:avLst/>
            </a:prstGeom>
            <a:noFill/>
            <a:ln w="28575" cap="flat" cmpd="sng" algn="ctr">
              <a:solidFill>
                <a:srgbClr val="FF0000"/>
              </a:solidFill>
              <a:prstDash val="solid"/>
              <a:round/>
              <a:headEnd type="none" w="med" len="med"/>
              <a:tailEnd type="none" w="med" len="med"/>
            </a:ln>
          </p:spPr>
        </p:cxnSp>
        <p:cxnSp>
          <p:nvCxnSpPr>
            <p:cNvPr id="10" name="直接连接符 9"/>
            <p:cNvCxnSpPr/>
            <p:nvPr/>
          </p:nvCxnSpPr>
          <p:spPr bwMode="auto">
            <a:xfrm>
              <a:off x="5048655" y="3501957"/>
              <a:ext cx="68094" cy="107005"/>
            </a:xfrm>
            <a:prstGeom prst="line">
              <a:avLst/>
            </a:prstGeom>
            <a:noFill/>
            <a:ln w="28575" cap="flat" cmpd="sng" algn="ctr">
              <a:solidFill>
                <a:srgbClr val="FF0000"/>
              </a:solidFill>
              <a:prstDash val="solid"/>
              <a:round/>
              <a:headEnd type="none" w="med" len="med"/>
              <a:tailEnd type="none" w="med" len="med"/>
            </a:ln>
          </p:spPr>
        </p:cxnSp>
        <p:cxnSp>
          <p:nvCxnSpPr>
            <p:cNvPr id="12" name="直接连接符 11"/>
            <p:cNvCxnSpPr/>
            <p:nvPr/>
          </p:nvCxnSpPr>
          <p:spPr bwMode="auto">
            <a:xfrm flipV="1">
              <a:off x="5038928" y="2256819"/>
              <a:ext cx="116732" cy="97275"/>
            </a:xfrm>
            <a:prstGeom prst="line">
              <a:avLst/>
            </a:prstGeom>
            <a:noFill/>
            <a:ln w="28575" cap="flat" cmpd="sng" algn="ctr">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708660" y="306705"/>
            <a:ext cx="7849235" cy="368300"/>
          </a:xfrm>
          <a:prstGeom prst="rect">
            <a:avLst/>
          </a:prstGeom>
          <a:noFill/>
          <a:ln w="9525">
            <a:noFill/>
          </a:ln>
        </p:spPr>
        <p:txBody>
          <a:bodyPr wrap="square">
            <a:spAutoFit/>
          </a:bodyPr>
          <a:p>
            <a:pPr marL="0" indent="0"/>
            <a:r>
              <a:rPr lang="zh-CN" sz="1800" b="1">
                <a:latin typeface="Times New Roman" panose="02020603050405020304" pitchFamily="18" charset="0"/>
                <a:ea typeface="宋体" panose="02010600030101010101" pitchFamily="2" charset="-122"/>
              </a:rPr>
              <a:t>滑移齿轮传递的转矩：</a:t>
            </a:r>
            <a:endParaRPr lang="zh-CN" altLang="en-US" sz="1800" b="1">
              <a:latin typeface="Times New Roman" panose="02020603050405020304" pitchFamily="18" charset="0"/>
              <a:ea typeface="宋体" panose="02010600030101010101" pitchFamily="2" charset="-122"/>
            </a:endParaRPr>
          </a:p>
        </p:txBody>
      </p:sp>
      <p:pic>
        <p:nvPicPr>
          <p:cNvPr id="2" name="图片 1"/>
          <p:cNvPicPr/>
          <p:nvPr/>
        </p:nvPicPr>
        <p:blipFill>
          <a:blip r:embed="rId1"/>
          <a:stretch>
            <a:fillRect/>
          </a:stretch>
        </p:blipFill>
        <p:spPr>
          <a:xfrm>
            <a:off x="1361440" y="638810"/>
            <a:ext cx="5495925" cy="624205"/>
          </a:xfrm>
          <a:prstGeom prst="rect">
            <a:avLst/>
          </a:prstGeom>
          <a:noFill/>
          <a:ln w="9525">
            <a:noFill/>
          </a:ln>
        </p:spPr>
      </p:pic>
      <p:sp>
        <p:nvSpPr>
          <p:cNvPr id="101" name="文本框 100"/>
          <p:cNvSpPr txBox="1"/>
          <p:nvPr/>
        </p:nvSpPr>
        <p:spPr>
          <a:xfrm>
            <a:off x="796925" y="965835"/>
            <a:ext cx="7849235" cy="1198880"/>
          </a:xfrm>
          <a:prstGeom prst="rect">
            <a:avLst/>
          </a:prstGeom>
          <a:noFill/>
          <a:ln w="9525">
            <a:noFill/>
          </a:ln>
        </p:spPr>
        <p:txBody>
          <a:bodyPr wrap="square">
            <a:spAutoFit/>
          </a:bodyPr>
          <a:p>
            <a:pPr marL="0" indent="266700"/>
            <a:r>
              <a:rPr lang="zh-CN" sz="1800" b="1">
                <a:latin typeface="Times New Roman" panose="02020603050405020304" pitchFamily="18" charset="0"/>
                <a:ea typeface="宋体" panose="02010600030101010101" pitchFamily="2" charset="-122"/>
              </a:rPr>
              <a:t>选用矩形花键。根据图中标注的尺寸，其外径</a:t>
            </a:r>
            <a:r>
              <a:rPr lang="en-US" sz="1800" b="1">
                <a:latin typeface="Times New Roman" panose="02020603050405020304" pitchFamily="18" charset="0"/>
                <a:ea typeface="宋体" panose="02010600030101010101" pitchFamily="2" charset="-122"/>
              </a:rPr>
              <a:t>D=40mm,</a:t>
            </a:r>
            <a:r>
              <a:rPr lang="zh-CN" sz="1800" b="1">
                <a:latin typeface="Times New Roman" panose="02020603050405020304" pitchFamily="18" charset="0"/>
                <a:ea typeface="宋体" panose="02010600030101010101" pitchFamily="2" charset="-122"/>
              </a:rPr>
              <a:t>查手册可得，</a:t>
            </a:r>
            <a:r>
              <a:rPr lang="en-US" sz="1800" b="1">
                <a:latin typeface="Times New Roman" panose="02020603050405020304" pitchFamily="18" charset="0"/>
                <a:ea typeface="宋体" panose="02010600030101010101" pitchFamily="2" charset="-122"/>
              </a:rPr>
              <a:t>d=36</a:t>
            </a:r>
            <a:r>
              <a:rPr lang="en-US" sz="1800" b="1">
                <a:latin typeface="Times New Roman" panose="02020603050405020304" pitchFamily="18" charset="0"/>
                <a:ea typeface="宋体" panose="02010600030101010101" pitchFamily="2" charset="-122"/>
                <a:cs typeface="Times New Roman" panose="02020603050405020304" pitchFamily="18" charset="0"/>
              </a:rPr>
              <a:t>  </a:t>
            </a:r>
            <a:r>
              <a:rPr lang="zh-CN" sz="1800" b="1">
                <a:latin typeface="Times New Roman" panose="02020603050405020304" pitchFamily="18" charset="0"/>
                <a:ea typeface="宋体" panose="02010600030101010101" pitchFamily="2" charset="-122"/>
              </a:rPr>
              <a:t>花键的标记</a:t>
            </a:r>
            <a:r>
              <a:rPr lang="en-US" sz="1800" b="1">
                <a:latin typeface="Times New Roman" panose="02020603050405020304" pitchFamily="18" charset="0"/>
                <a:ea typeface="宋体" panose="02010600030101010101" pitchFamily="2" charset="-122"/>
                <a:cs typeface="Times New Roman" panose="02020603050405020304" pitchFamily="18" charset="0"/>
              </a:rPr>
              <a:t>  </a:t>
            </a:r>
            <a:r>
              <a:rPr lang="zh-CN" sz="1800" b="1">
                <a:solidFill>
                  <a:schemeClr val="accent5">
                    <a:lumMod val="10000"/>
                  </a:schemeClr>
                </a:solidFill>
                <a:latin typeface="Times New Roman" panose="02020603050405020304" pitchFamily="18" charset="0"/>
                <a:ea typeface="宋体" panose="02010600030101010101" pitchFamily="2" charset="-122"/>
              </a:rPr>
              <a:t>键</a:t>
            </a:r>
            <a:endParaRPr lang="zh-CN" altLang="en-US" sz="1800" b="1">
              <a:solidFill>
                <a:schemeClr val="accent5">
                  <a:lumMod val="10000"/>
                </a:schemeClr>
              </a:solidFill>
              <a:latin typeface="Times New Roman" panose="02020603050405020304" pitchFamily="18" charset="0"/>
              <a:ea typeface="宋体" panose="02010600030101010101" pitchFamily="2" charset="-122"/>
            </a:endParaRPr>
          </a:p>
        </p:txBody>
      </p:sp>
      <p:pic>
        <p:nvPicPr>
          <p:cNvPr id="3" name="图片 2"/>
          <p:cNvPicPr/>
          <p:nvPr/>
        </p:nvPicPr>
        <p:blipFill>
          <a:blip r:embed="rId2"/>
          <a:stretch>
            <a:fillRect/>
          </a:stretch>
        </p:blipFill>
        <p:spPr>
          <a:xfrm>
            <a:off x="2583180" y="1855470"/>
            <a:ext cx="2484755" cy="252730"/>
          </a:xfrm>
          <a:prstGeom prst="rect">
            <a:avLst/>
          </a:prstGeom>
          <a:noFill/>
          <a:ln w="9525">
            <a:noFill/>
          </a:ln>
        </p:spPr>
      </p:pic>
      <p:sp>
        <p:nvSpPr>
          <p:cNvPr id="102" name="文本框 101"/>
          <p:cNvSpPr txBox="1"/>
          <p:nvPr/>
        </p:nvSpPr>
        <p:spPr>
          <a:xfrm>
            <a:off x="885190" y="2272665"/>
            <a:ext cx="7849235" cy="368300"/>
          </a:xfrm>
          <a:prstGeom prst="rect">
            <a:avLst/>
          </a:prstGeom>
          <a:noFill/>
          <a:ln w="9525">
            <a:noFill/>
          </a:ln>
        </p:spPr>
        <p:txBody>
          <a:bodyPr wrap="square">
            <a:spAutoFit/>
          </a:bodyPr>
          <a:p>
            <a:pPr marL="0" indent="0"/>
            <a:r>
              <a:rPr lang="zh-CN" sz="1800" b="1">
                <a:latin typeface="Times New Roman" panose="02020603050405020304" pitchFamily="18" charset="0"/>
                <a:ea typeface="宋体" panose="02010600030101010101" pitchFamily="2" charset="-122"/>
              </a:rPr>
              <a:t>倒角</a:t>
            </a:r>
            <a:r>
              <a:rPr lang="en-US" sz="1800" b="1">
                <a:latin typeface="Times New Roman" panose="02020603050405020304" pitchFamily="18" charset="0"/>
                <a:ea typeface="宋体" panose="02010600030101010101" pitchFamily="2" charset="-122"/>
              </a:rPr>
              <a:t>C=0.3mm</a:t>
            </a:r>
            <a:r>
              <a:rPr lang="zh-CN" sz="1800" b="1">
                <a:latin typeface="Times New Roman" panose="02020603050405020304" pitchFamily="18" charset="0"/>
                <a:ea typeface="宋体" panose="02010600030101010101" pitchFamily="2" charset="-122"/>
              </a:rPr>
              <a:t>，取载荷不均匀系数</a:t>
            </a:r>
            <a:endParaRPr lang="zh-CN" altLang="en-US" sz="1800" b="1">
              <a:latin typeface="Times New Roman" panose="02020603050405020304" pitchFamily="18" charset="0"/>
              <a:ea typeface="宋体" panose="02010600030101010101" pitchFamily="2" charset="-122"/>
            </a:endParaRPr>
          </a:p>
        </p:txBody>
      </p:sp>
      <p:pic>
        <p:nvPicPr>
          <p:cNvPr id="4" name="图片 3"/>
          <p:cNvPicPr/>
          <p:nvPr/>
        </p:nvPicPr>
        <p:blipFill>
          <a:blip r:embed="rId3"/>
          <a:stretch>
            <a:fillRect/>
          </a:stretch>
        </p:blipFill>
        <p:spPr>
          <a:xfrm>
            <a:off x="4488815" y="2279015"/>
            <a:ext cx="972820" cy="354965"/>
          </a:xfrm>
          <a:prstGeom prst="rect">
            <a:avLst/>
          </a:prstGeom>
          <a:noFill/>
          <a:ln w="9525">
            <a:noFill/>
          </a:ln>
        </p:spPr>
      </p:pic>
      <p:sp>
        <p:nvSpPr>
          <p:cNvPr id="103" name="文本框 102"/>
          <p:cNvSpPr txBox="1"/>
          <p:nvPr/>
        </p:nvSpPr>
        <p:spPr>
          <a:xfrm>
            <a:off x="796925" y="2703830"/>
            <a:ext cx="7849235" cy="368300"/>
          </a:xfrm>
          <a:prstGeom prst="rect">
            <a:avLst/>
          </a:prstGeom>
          <a:noFill/>
          <a:ln w="9525">
            <a:noFill/>
          </a:ln>
        </p:spPr>
        <p:txBody>
          <a:bodyPr wrap="square">
            <a:spAutoFit/>
          </a:bodyPr>
          <a:p>
            <a:pPr marL="0" indent="0"/>
            <a:r>
              <a:rPr lang="en-US" sz="1800" b="1">
                <a:latin typeface="Times New Roman" panose="02020603050405020304" pitchFamily="18" charset="0"/>
                <a:ea typeface="宋体" panose="02010600030101010101" pitchFamily="2" charset="-122"/>
                <a:cs typeface="Times New Roman" panose="02020603050405020304" pitchFamily="18" charset="0"/>
              </a:rPr>
              <a:t>   </a:t>
            </a:r>
            <a:r>
              <a:rPr lang="zh-CN" sz="1800" b="1">
                <a:latin typeface="Times New Roman" panose="02020603050405020304" pitchFamily="18" charset="0"/>
                <a:ea typeface="宋体" panose="02010600030101010101" pitchFamily="2" charset="-122"/>
              </a:rPr>
              <a:t>工作长度</a:t>
            </a:r>
            <a:endParaRPr lang="zh-CN" altLang="en-US" sz="1800" b="1">
              <a:latin typeface="Times New Roman" panose="02020603050405020304" pitchFamily="18" charset="0"/>
              <a:ea typeface="宋体" panose="02010600030101010101" pitchFamily="2" charset="-122"/>
            </a:endParaRPr>
          </a:p>
        </p:txBody>
      </p:sp>
      <p:pic>
        <p:nvPicPr>
          <p:cNvPr id="5" name="图片 4"/>
          <p:cNvPicPr/>
          <p:nvPr/>
        </p:nvPicPr>
        <p:blipFill>
          <a:blip r:embed="rId4"/>
          <a:stretch>
            <a:fillRect/>
          </a:stretch>
        </p:blipFill>
        <p:spPr>
          <a:xfrm>
            <a:off x="2529840" y="2700655"/>
            <a:ext cx="1482090" cy="290830"/>
          </a:xfrm>
          <a:prstGeom prst="rect">
            <a:avLst/>
          </a:prstGeom>
          <a:noFill/>
          <a:ln w="9525">
            <a:noFill/>
          </a:ln>
        </p:spPr>
      </p:pic>
      <p:sp>
        <p:nvSpPr>
          <p:cNvPr id="104" name="文本框 103"/>
          <p:cNvSpPr txBox="1"/>
          <p:nvPr/>
        </p:nvSpPr>
        <p:spPr>
          <a:xfrm>
            <a:off x="549910" y="3372485"/>
            <a:ext cx="7849235" cy="368300"/>
          </a:xfrm>
          <a:prstGeom prst="rect">
            <a:avLst/>
          </a:prstGeom>
          <a:noFill/>
          <a:ln w="9525">
            <a:noFill/>
          </a:ln>
        </p:spPr>
        <p:txBody>
          <a:bodyPr wrap="square">
            <a:spAutoFit/>
          </a:bodyPr>
          <a:p>
            <a:pPr marL="0" indent="401320"/>
            <a:r>
              <a:rPr lang="zh-CN" sz="1800" b="1">
                <a:latin typeface="Times New Roman" panose="02020603050405020304" pitchFamily="18" charset="0"/>
                <a:ea typeface="宋体" panose="02010600030101010101" pitchFamily="2" charset="-122"/>
              </a:rPr>
              <a:t>键的工作高度</a:t>
            </a:r>
            <a:endParaRPr lang="zh-CN" altLang="en-US" sz="1800" b="1">
              <a:latin typeface="Times New Roman" panose="02020603050405020304" pitchFamily="18" charset="0"/>
              <a:ea typeface="宋体" panose="02010600030101010101" pitchFamily="2" charset="-122"/>
            </a:endParaRPr>
          </a:p>
        </p:txBody>
      </p:sp>
      <p:pic>
        <p:nvPicPr>
          <p:cNvPr id="6" name="图片 5"/>
          <p:cNvPicPr/>
          <p:nvPr/>
        </p:nvPicPr>
        <p:blipFill>
          <a:blip r:embed="rId5"/>
          <a:stretch>
            <a:fillRect/>
          </a:stretch>
        </p:blipFill>
        <p:spPr>
          <a:xfrm>
            <a:off x="2724785" y="3288665"/>
            <a:ext cx="3499485" cy="537210"/>
          </a:xfrm>
          <a:prstGeom prst="rect">
            <a:avLst/>
          </a:prstGeom>
          <a:noFill/>
          <a:ln w="9525">
            <a:noFill/>
          </a:ln>
        </p:spPr>
      </p:pic>
      <p:sp>
        <p:nvSpPr>
          <p:cNvPr id="105" name="文本框 104"/>
          <p:cNvSpPr txBox="1"/>
          <p:nvPr/>
        </p:nvSpPr>
        <p:spPr>
          <a:xfrm>
            <a:off x="549910" y="3890010"/>
            <a:ext cx="7849235" cy="368300"/>
          </a:xfrm>
          <a:prstGeom prst="rect">
            <a:avLst/>
          </a:prstGeom>
          <a:noFill/>
          <a:ln w="9525">
            <a:noFill/>
          </a:ln>
        </p:spPr>
        <p:txBody>
          <a:bodyPr wrap="square">
            <a:spAutoFit/>
          </a:bodyPr>
          <a:p>
            <a:pPr marL="0" indent="401320"/>
            <a:r>
              <a:rPr lang="zh-CN" sz="1800" b="1">
                <a:latin typeface="Times New Roman" panose="02020603050405020304" pitchFamily="18" charset="0"/>
                <a:ea typeface="宋体" panose="02010600030101010101" pitchFamily="2" charset="-122"/>
              </a:rPr>
              <a:t>键的平均直径</a:t>
            </a:r>
            <a:endParaRPr lang="zh-CN" altLang="en-US" sz="1800" b="1">
              <a:latin typeface="Times New Roman" panose="02020603050405020304" pitchFamily="18" charset="0"/>
              <a:ea typeface="宋体" panose="02010600030101010101" pitchFamily="2" charset="-122"/>
            </a:endParaRPr>
          </a:p>
        </p:txBody>
      </p:sp>
      <p:pic>
        <p:nvPicPr>
          <p:cNvPr id="7" name="图片 6"/>
          <p:cNvPicPr/>
          <p:nvPr/>
        </p:nvPicPr>
        <p:blipFill>
          <a:blip r:embed="rId6"/>
          <a:stretch>
            <a:fillRect/>
          </a:stretch>
        </p:blipFill>
        <p:spPr>
          <a:xfrm>
            <a:off x="2883535" y="3763645"/>
            <a:ext cx="1777365" cy="500380"/>
          </a:xfrm>
          <a:prstGeom prst="rect">
            <a:avLst/>
          </a:prstGeom>
          <a:noFill/>
          <a:ln w="9525">
            <a:noFill/>
          </a:ln>
        </p:spPr>
      </p:pic>
      <p:sp>
        <p:nvSpPr>
          <p:cNvPr id="106" name="文本框 105"/>
          <p:cNvSpPr txBox="1"/>
          <p:nvPr/>
        </p:nvSpPr>
        <p:spPr>
          <a:xfrm>
            <a:off x="708660" y="4383405"/>
            <a:ext cx="7849235" cy="368300"/>
          </a:xfrm>
          <a:prstGeom prst="rect">
            <a:avLst/>
          </a:prstGeom>
          <a:noFill/>
          <a:ln w="9525">
            <a:noFill/>
          </a:ln>
        </p:spPr>
        <p:txBody>
          <a:bodyPr wrap="square">
            <a:spAutoFit/>
          </a:bodyPr>
          <a:p>
            <a:pPr marL="0" indent="401320"/>
            <a:r>
              <a:rPr lang="zh-CN" sz="1800" b="1">
                <a:latin typeface="Times New Roman" panose="02020603050405020304" pitchFamily="18" charset="0"/>
                <a:ea typeface="宋体" panose="02010600030101010101" pitchFamily="2" charset="-122"/>
              </a:rPr>
              <a:t>空载下移动，工作情况良好，故取许用压强</a:t>
            </a:r>
            <a:endParaRPr lang="zh-CN" altLang="en-US" sz="1800" b="1">
              <a:latin typeface="Times New Roman" panose="02020603050405020304" pitchFamily="18" charset="0"/>
              <a:ea typeface="宋体" panose="02010600030101010101" pitchFamily="2" charset="-122"/>
            </a:endParaRPr>
          </a:p>
        </p:txBody>
      </p:sp>
      <p:pic>
        <p:nvPicPr>
          <p:cNvPr id="8" name="图片 7"/>
          <p:cNvPicPr/>
          <p:nvPr/>
        </p:nvPicPr>
        <p:blipFill>
          <a:blip r:embed="rId7"/>
          <a:stretch>
            <a:fillRect/>
          </a:stretch>
        </p:blipFill>
        <p:spPr>
          <a:xfrm>
            <a:off x="5770245" y="4384675"/>
            <a:ext cx="1102995" cy="298450"/>
          </a:xfrm>
          <a:prstGeom prst="rect">
            <a:avLst/>
          </a:prstGeom>
          <a:noFill/>
          <a:ln w="9525">
            <a:noFill/>
          </a:ln>
        </p:spPr>
      </p:pic>
      <p:sp>
        <p:nvSpPr>
          <p:cNvPr id="107" name="文本框 106"/>
          <p:cNvSpPr txBox="1"/>
          <p:nvPr/>
        </p:nvSpPr>
        <p:spPr>
          <a:xfrm>
            <a:off x="549910" y="4900295"/>
            <a:ext cx="7849235" cy="645160"/>
          </a:xfrm>
          <a:prstGeom prst="rect">
            <a:avLst/>
          </a:prstGeom>
          <a:noFill/>
          <a:ln w="9525">
            <a:noFill/>
          </a:ln>
        </p:spPr>
        <p:txBody>
          <a:bodyPr wrap="square">
            <a:spAutoFit/>
          </a:bodyPr>
          <a:p>
            <a:pPr marL="0" indent="535305"/>
            <a:r>
              <a:rPr lang="zh-CN" sz="1800" b="1">
                <a:latin typeface="Times New Roman" panose="02020603050405020304" pitchFamily="18" charset="0"/>
                <a:ea typeface="宋体" panose="02010600030101010101" pitchFamily="2" charset="-122"/>
              </a:rPr>
              <a:t>根据公式（</a:t>
            </a:r>
            <a:r>
              <a:rPr lang="en-US" sz="1800" b="1">
                <a:latin typeface="Times New Roman" panose="02020603050405020304" pitchFamily="18" charset="0"/>
                <a:ea typeface="宋体" panose="02010600030101010101" pitchFamily="2" charset="-122"/>
              </a:rPr>
              <a:t>3.5</a:t>
            </a:r>
            <a:r>
              <a:rPr lang="en-US" sz="1800" b="1">
                <a:latin typeface="Times New Roman" panose="02020603050405020304" pitchFamily="18" charset="0"/>
                <a:ea typeface="宋体" panose="02010600030101010101" pitchFamily="2" charset="-122"/>
              </a:rPr>
              <a:t>-5</a:t>
            </a:r>
            <a:r>
              <a:rPr lang="zh-CN" sz="1800" b="1">
                <a:latin typeface="Times New Roman" panose="02020603050405020304" pitchFamily="18" charset="0"/>
                <a:ea typeface="宋体" panose="02010600030101010101" pitchFamily="2" charset="-122"/>
              </a:rPr>
              <a:t>） 计算花键连接的强度条件为：</a:t>
            </a:r>
            <a:r>
              <a:rPr lang="en-US" sz="1800" b="1">
                <a:latin typeface="Times New Roman" panose="02020603050405020304" pitchFamily="18" charset="0"/>
                <a:ea typeface="宋体" panose="02010600030101010101" pitchFamily="2" charset="-122"/>
                <a:cs typeface="Times New Roman" panose="02020603050405020304" pitchFamily="18" charset="0"/>
              </a:rPr>
              <a:t> </a:t>
            </a:r>
            <a:endParaRPr lang="en-US" altLang="en-US" sz="1800" b="1">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9" name="图片 8"/>
          <p:cNvPicPr/>
          <p:nvPr/>
        </p:nvPicPr>
        <p:blipFill>
          <a:blip r:embed="rId8"/>
          <a:stretch>
            <a:fillRect/>
          </a:stretch>
        </p:blipFill>
        <p:spPr>
          <a:xfrm>
            <a:off x="1361440" y="5299075"/>
            <a:ext cx="5615940" cy="654050"/>
          </a:xfrm>
          <a:prstGeom prst="rect">
            <a:avLst/>
          </a:prstGeom>
          <a:noFill/>
          <a:ln w="9525">
            <a:noFill/>
          </a:ln>
        </p:spPr>
      </p:pic>
      <p:sp>
        <p:nvSpPr>
          <p:cNvPr id="108" name="文本框 107"/>
          <p:cNvSpPr txBox="1"/>
          <p:nvPr/>
        </p:nvSpPr>
        <p:spPr>
          <a:xfrm>
            <a:off x="480695" y="6075045"/>
            <a:ext cx="7849235" cy="368300"/>
          </a:xfrm>
          <a:prstGeom prst="rect">
            <a:avLst/>
          </a:prstGeom>
          <a:noFill/>
          <a:ln w="9525">
            <a:noFill/>
          </a:ln>
        </p:spPr>
        <p:txBody>
          <a:bodyPr wrap="square">
            <a:spAutoFit/>
          </a:bodyPr>
          <a:p>
            <a:pPr marL="0" indent="803275"/>
            <a:r>
              <a:rPr lang="zh-CN" sz="1800" b="1">
                <a:latin typeface="Times New Roman" panose="02020603050405020304" pitchFamily="18" charset="0"/>
                <a:ea typeface="宋体" panose="02010600030101010101" pitchFamily="2" charset="-122"/>
              </a:rPr>
              <a:t>满足强度要求。</a:t>
            </a:r>
            <a:endParaRPr lang="zh-CN" altLang="en-US" sz="1800" b="1">
              <a:latin typeface="Times New Roman" panose="02020603050405020304" pitchFamily="18" charset="0"/>
              <a:ea typeface="宋体" panose="02010600030101010101" pitchFamily="2" charset="-122"/>
            </a:endParaRPr>
          </a:p>
        </p:txBody>
      </p:sp>
      <p:sp>
        <p:nvSpPr>
          <p:cNvPr id="10" name="文本框 9"/>
          <p:cNvSpPr txBox="1"/>
          <p:nvPr/>
        </p:nvSpPr>
        <p:spPr>
          <a:xfrm>
            <a:off x="-243" y="122"/>
            <a:ext cx="1741251" cy="429895"/>
          </a:xfrm>
          <a:prstGeom prst="rect">
            <a:avLst/>
          </a:prstGeom>
          <a:noFill/>
        </p:spPr>
        <p:txBody>
          <a:bodyPr wrap="square" rtlCol="0">
            <a:spAutoFit/>
          </a:bodyPr>
          <a:p>
            <a:r>
              <a:rPr lang="en-US" altLang="zh-CN" dirty="0" smtClean="0">
                <a:solidFill>
                  <a:srgbClr val="FF0000"/>
                </a:solidFill>
              </a:rPr>
              <a:t>3.5-4</a:t>
            </a:r>
            <a:endParaRPr lang="zh-CN" altLang="en-US" dirty="0">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2446" r="6997"/>
          <a:stretch>
            <a:fillRect/>
          </a:stretch>
        </p:blipFill>
        <p:spPr>
          <a:xfrm>
            <a:off x="219075" y="701675"/>
            <a:ext cx="8595360" cy="5263515"/>
          </a:xfrm>
          <a:prstGeom prst="rect">
            <a:avLst/>
          </a:prstGeom>
        </p:spPr>
      </p:pic>
      <p:sp>
        <p:nvSpPr>
          <p:cNvPr id="4" name="动作按钮: 后退或前一项 3">
            <a:hlinkClick r:id="rId2" action="ppaction://hlinksldjump"/>
          </p:cNvPr>
          <p:cNvSpPr/>
          <p:nvPr/>
        </p:nvSpPr>
        <p:spPr>
          <a:xfrm>
            <a:off x="7054215" y="6061075"/>
            <a:ext cx="497840" cy="269240"/>
          </a:xfrm>
          <a:prstGeom prst="actionButtonBackPrevious">
            <a:avLst/>
          </a:prstGeom>
          <a:gradFill>
            <a:gsLst>
              <a:gs pos="0">
                <a:srgbClr val="14CD68"/>
              </a:gs>
              <a:gs pos="100000">
                <a:srgbClr val="0B6E38"/>
              </a:gs>
            </a:gsLst>
            <a:lin scaled="0"/>
          </a:gra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UNIT_PLACING_PICTURE_USER_VIEWPORT" val="{&quot;height&quot;:4690.779527559055,&quot;width&quot;:8297.705511811024}"/>
</p:tagLst>
</file>

<file path=ppt/tags/tag6.xml><?xml version="1.0" encoding="utf-8"?>
<p:tagLst xmlns:p="http://schemas.openxmlformats.org/presentationml/2006/main">
  <p:tag name="KSO_WPP_MARK_KEY" val="6efeca8c-ba49-433d-a3b6-e90a38867302"/>
  <p:tag name="COMMONDATA" val="eyJoZGlkIjoiZmYwY2UxNzI0ODdjMTkzYTM2NmQ4OTdkNGYwMzJlYmMifQ=="/>
  <p:tag name="commondata" val="eyJoZGlkIjoiNDFlMTNlOGUzMzA2YWFjZWU2YmQ1ZmM4Zjg4ZjUxOWYifQ=="/>
</p:tagLst>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0</TotalTime>
  <Words>5818</Words>
  <Application>WPS 演示</Application>
  <PresentationFormat>全屏显示(4:3)</PresentationFormat>
  <Paragraphs>714</Paragraphs>
  <Slides>49</Slides>
  <Notes>7</Notes>
  <HiddenSlides>5</HiddenSlides>
  <MMClips>1</MMClips>
  <ScaleCrop>false</ScaleCrop>
  <HeadingPairs>
    <vt:vector size="8" baseType="variant">
      <vt:variant>
        <vt:lpstr>已用的字体</vt:lpstr>
      </vt:variant>
      <vt:variant>
        <vt:i4>14</vt:i4>
      </vt:variant>
      <vt:variant>
        <vt:lpstr>主题</vt:lpstr>
      </vt:variant>
      <vt:variant>
        <vt:i4>4</vt:i4>
      </vt:variant>
      <vt:variant>
        <vt:lpstr>嵌入 OLE 服务器</vt:lpstr>
      </vt:variant>
      <vt:variant>
        <vt:i4>25</vt:i4>
      </vt:variant>
      <vt:variant>
        <vt:lpstr>幻灯片标题</vt:lpstr>
      </vt:variant>
      <vt:variant>
        <vt:i4>49</vt:i4>
      </vt:variant>
    </vt:vector>
  </HeadingPairs>
  <TitlesOfParts>
    <vt:vector size="92" baseType="lpstr">
      <vt:lpstr>Arial</vt:lpstr>
      <vt:lpstr>宋体</vt:lpstr>
      <vt:lpstr>Wingdings</vt:lpstr>
      <vt:lpstr>Tahoma</vt:lpstr>
      <vt:lpstr>华文中宋</vt:lpstr>
      <vt:lpstr>Times New Roman</vt:lpstr>
      <vt:lpstr>黑体</vt:lpstr>
      <vt:lpstr>仿宋_GB2312</vt:lpstr>
      <vt:lpstr>仿宋</vt:lpstr>
      <vt:lpstr>幼圆</vt:lpstr>
      <vt:lpstr>Symbol</vt:lpstr>
      <vt:lpstr>Cambria Math</vt:lpstr>
      <vt:lpstr>微软雅黑</vt:lpstr>
      <vt:lpstr>Arial Unicode MS</vt:lpstr>
      <vt:lpstr>Blueprint</vt:lpstr>
      <vt:lpstr>1_Blueprint</vt:lpstr>
      <vt:lpstr>2_Blueprint</vt:lpstr>
      <vt:lpstr>3_Blueprint</vt:lpstr>
      <vt:lpstr>Equation.3</vt:lpstr>
      <vt:lpstr>Equation.3</vt:lpstr>
      <vt:lpstr>Equation.3</vt:lpstr>
      <vt:lpstr>Equation.KSEE3</vt:lpstr>
      <vt:lpstr>Equation.KSEE3</vt:lpstr>
      <vt:lpstr>MS_ClipArt_Gallery.2</vt:lpstr>
      <vt:lpstr>MS_ClipArt_Gallery.2</vt:lpstr>
      <vt:lpstr>MS_ClipArt_Gallery.2</vt:lpstr>
      <vt:lpstr>MS_ClipArt_Gallery.2</vt:lpstr>
      <vt:lpstr>Paint.Picture</vt:lpstr>
      <vt:lpstr>Equation.KSEE3</vt:lpstr>
      <vt:lpstr>Equation.3</vt:lpstr>
      <vt:lpstr>Equation.KSEE3</vt:lpstr>
      <vt:lpstr>Equation.KSEE3</vt:lpstr>
      <vt:lpstr>Equation.KSEE3</vt:lpstr>
      <vt:lpstr>Equation.KSEE3</vt:lpstr>
      <vt:lpstr>Equation.3</vt:lpstr>
      <vt:lpstr>Equation.3</vt:lpstr>
      <vt:lpstr>Equation.3</vt:lpstr>
      <vt:lpstr>Equation.KSEE3</vt:lpstr>
      <vt:lpstr>Equation.KSEE3</vt:lpstr>
      <vt:lpstr>Equation.KSEE3</vt:lpstr>
      <vt:lpstr>Equation.KSEE3</vt:lpstr>
      <vt:lpstr>Equation.KSEE3</vt:lpstr>
      <vt:lpstr>Equation.KSEE3</vt:lpstr>
      <vt:lpstr>第3.5章    轴毂连接</vt:lpstr>
      <vt:lpstr>3.5-1 键连接</vt:lpstr>
      <vt:lpstr>3.5-1 键连接</vt:lpstr>
      <vt:lpstr>3.5-1 键连接</vt:lpstr>
      <vt:lpstr>3.5-1 键连接</vt:lpstr>
      <vt:lpstr>3.5-1 键连接</vt:lpstr>
      <vt:lpstr>3.5-1 键连接</vt:lpstr>
      <vt:lpstr>3.5-1 键连接</vt:lpstr>
      <vt:lpstr>2. 轴上键槽画法及尺寸注法</vt:lpstr>
      <vt:lpstr>PowerPoint 演示文稿</vt:lpstr>
      <vt:lpstr>PowerPoint 演示文稿</vt:lpstr>
      <vt:lpstr> 键槽的画法</vt:lpstr>
      <vt:lpstr> 平键联接</vt:lpstr>
      <vt:lpstr>PowerPoint 演示文稿</vt:lpstr>
      <vt:lpstr>PowerPoint 演示文稿</vt:lpstr>
      <vt:lpstr>PowerPoint 演示文稿</vt:lpstr>
      <vt:lpstr>3.5-1 键连接</vt:lpstr>
      <vt:lpstr>3.5-1 键连接</vt:lpstr>
      <vt:lpstr>3.5-1 键连接</vt:lpstr>
      <vt:lpstr>PowerPoint 演示文稿</vt:lpstr>
      <vt:lpstr>PowerPoint 演示文稿</vt:lpstr>
      <vt:lpstr>PowerPoint 演示文稿</vt:lpstr>
      <vt:lpstr>3.5-2 花键连接</vt:lpstr>
      <vt:lpstr>3.5-2 花键连接</vt:lpstr>
      <vt:lpstr>3.5-2 花键连接</vt:lpstr>
      <vt:lpstr>3.5-2 花键连接</vt:lpstr>
      <vt:lpstr>PowerPoint 演示文稿</vt:lpstr>
      <vt:lpstr>3.5-2 花键连接</vt:lpstr>
      <vt:lpstr>3.5-2 花键连接</vt:lpstr>
      <vt:lpstr>3.5-3 无键连接</vt:lpstr>
      <vt:lpstr>3.5-3 无键连接</vt:lpstr>
      <vt:lpstr>过盈连接1</vt:lpstr>
      <vt:lpstr>过盈连接1</vt:lpstr>
      <vt:lpstr>过盈连接2</vt:lpstr>
      <vt:lpstr>过盈连接3</vt:lpstr>
      <vt:lpstr>过盈连接3</vt:lpstr>
      <vt:lpstr>3.5-4 销连接</vt:lpstr>
      <vt:lpstr>3.5-4 销连接</vt:lpstr>
      <vt:lpstr>键连接</vt:lpstr>
      <vt:lpstr>键连接</vt:lpstr>
      <vt:lpstr>键连接</vt:lpstr>
      <vt:lpstr>键连接</vt:lpstr>
      <vt:lpstr>花键连接</vt:lpstr>
      <vt:lpstr>PowerPoint 演示文稿</vt:lpstr>
      <vt:lpstr>PowerPoint 演示文稿</vt:lpstr>
      <vt:lpstr>PowerPoint 演示文稿</vt:lpstr>
      <vt:lpstr>PowerPoint 演示文稿</vt:lpstr>
      <vt:lpstr>PowerPoint 演示文稿</vt:lpstr>
      <vt:lpstr>PowerPoint 演示文稿</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DQH</cp:lastModifiedBy>
  <cp:revision>357</cp:revision>
  <dcterms:created xsi:type="dcterms:W3CDTF">2002-03-15T12:39:00Z</dcterms:created>
  <dcterms:modified xsi:type="dcterms:W3CDTF">2024-10-23T03:30:08Z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ED020AFE6AD14C859844044EE935E736</vt:lpwstr>
  </property>
</Properties>
</file>